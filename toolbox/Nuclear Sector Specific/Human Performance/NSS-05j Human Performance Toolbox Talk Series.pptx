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media/image-3-1.jpg" ContentType="image/jpg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media/image-4-1.jpg" ContentType="image/jpg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media/image-5-1.jpg" ContentType="image/jpg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media/image-6-1.jpg" ContentType="image/jpg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media/image-7-1.jpg" ContentType="image/jpg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media/image-8-1.jpg" ContentType="image/jpg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media/image-9-1.jpg" ContentType="image/jpg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media/image-10-1.jpg" ContentType="image/jpg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media/image-11-1.jpg" ContentType="image/jpg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media/image-12-1.jpg" ContentType="image/jpg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media/image-13-1.jpg" ContentType="image/jpg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media/image-14-1.jpg" ContentType="image/jpg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media/image-15-1.jpg" ContentType="image/jpg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media/image-16-1.jpg" ContentType="image/jpg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media/image-17-1.jpg" ContentType="image/jpg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media/image-18-1.jpg" ContentType="image/jpg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media/image-19-1.jpg" ContentType="image/jpg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media/image-20-1.jpg" ContentType="image/jpg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media/image-21-1.jpg" ContentType="image/jpg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media/image-22-1.jpg" ContentType="image/jpg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media/image-23-1.jpg" ContentType="image/jpg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media/image-24-1.jpg" ContentType="image/jpg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54864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1 OF 4</a:t>
            </a:r>
            <a:endParaRPr lang="en-US" sz="1400" dirty="0"/>
          </a:p>
        </p:txBody>
      </p:sp>
      <p:pic>
        <p:nvPicPr>
          <p:cNvPr id="5" name="Image 0" descr="/home/claude/nuccol_logo_hea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868680"/>
            <a:ext cx="201168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2605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Human Performance Matters in Nuclear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57200" y="3530727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1: What HP is, why humans make mistakes, and the eight error traps</a:t>
            </a:r>
            <a:endParaRPr lang="en-US" sz="115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Human Performance?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Performance (HP) is a discipline that accepts humans are fallible and designs tasks to minimise errors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about blaming individuals when things go wrong. It is about creating conditions where errors are caught before they cause harm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was developed in nuclear operations and is now a core expectation for the entire nuclear supply chain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working on nuclear contracts is expected to understand and apply HP tools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is assessed during F4N NSS assessments and nuclear client audits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is not optional extra. It is a professional standard that every nuclear worker is expected to meet.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1 OF 4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Mistakes Happen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nuclear HP framework does not treat errors as character failings. Errors are predictable outcomes of specific conditions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conditions are called error traps or precursors. Recognising them before a task is the first step in managing them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error precursors appear repeatedly in nuclear incident investigations worldwide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error traps lets us raise our level of care at the right moment, not after something has gone wrong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Recognising a trap does not mean stopping the task. It means applying HP tools more deliberately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shows the same eight error traps appear in the majority of nuclear supply chain incidents.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1 OF 4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EIGHT NUCLEAR ERROR TRAPS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228600" y="914400"/>
            <a:ext cx="2171700" cy="1691640"/>
          </a:xfrm>
          <a:prstGeom prst="roundRect">
            <a:avLst>
              <a:gd name="adj" fmla="val 2703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914400"/>
            <a:ext cx="217170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914400"/>
            <a:ext cx="20345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Time Pressure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0040" y="1389888"/>
            <a:ext cx="20071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drives behaviour: steps get skipped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36876" y="914400"/>
            <a:ext cx="2171700" cy="1691640"/>
          </a:xfrm>
          <a:prstGeom prst="roundRect">
            <a:avLst>
              <a:gd name="adj" fmla="val 2703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36876" y="914400"/>
            <a:ext cx="217170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28316" y="914400"/>
            <a:ext cx="20345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Distraction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528316" y="1389888"/>
            <a:ext cx="20071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Interrupted mid-task: lose place, lose focus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45152" y="914400"/>
            <a:ext cx="2171700" cy="1691640"/>
          </a:xfrm>
          <a:prstGeom prst="roundRect">
            <a:avLst>
              <a:gd name="adj" fmla="val 2703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914400"/>
            <a:ext cx="217170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36592" y="914400"/>
            <a:ext cx="20345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Habit / Complacency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736592" y="1389888"/>
            <a:ext cx="20071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before: stops actively checking each step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53428" y="914400"/>
            <a:ext cx="2171700" cy="1691640"/>
          </a:xfrm>
          <a:prstGeom prst="roundRect">
            <a:avLst>
              <a:gd name="adj" fmla="val 2703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3428" y="914400"/>
            <a:ext cx="217170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4868" y="914400"/>
            <a:ext cx="20345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First Time / Infrequent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944868" y="1389888"/>
            <a:ext cx="20071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practice: more likely to miss something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28600" y="2743200"/>
            <a:ext cx="2171700" cy="1691640"/>
          </a:xfrm>
          <a:prstGeom prst="roundRect">
            <a:avLst>
              <a:gd name="adj" fmla="val 2703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8600" y="2743200"/>
            <a:ext cx="217170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2743200"/>
            <a:ext cx="20345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Overconfidence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20040" y="3218688"/>
            <a:ext cx="20071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replaces vigilance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436876" y="2743200"/>
            <a:ext cx="2171700" cy="1691640"/>
          </a:xfrm>
          <a:prstGeom prst="roundRect">
            <a:avLst>
              <a:gd name="adj" fmla="val 2703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36876" y="2743200"/>
            <a:ext cx="217170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28316" y="2743200"/>
            <a:ext cx="20345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Unclear Procedure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528316" y="3218688"/>
            <a:ext cx="20071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leads to assumptions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645152" y="2743200"/>
            <a:ext cx="2171700" cy="1691640"/>
          </a:xfrm>
          <a:prstGeom prst="roundRect">
            <a:avLst>
              <a:gd name="adj" fmla="val 2703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45152" y="2743200"/>
            <a:ext cx="217170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36592" y="2743200"/>
            <a:ext cx="20345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Physical Environment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736592" y="3218688"/>
            <a:ext cx="20071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Noise, heat, poor lighting reduce performance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853428" y="2743200"/>
            <a:ext cx="2171700" cy="1691640"/>
          </a:xfrm>
          <a:prstGeom prst="roundRect">
            <a:avLst>
              <a:gd name="adj" fmla="val 2703"/>
            </a:avLst>
          </a:prstGeom>
          <a:solidFill>
            <a:srgbClr val="FB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53428" y="2743200"/>
            <a:ext cx="2171700" cy="40233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44868" y="2743200"/>
            <a:ext cx="20345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Simultaneous Tasks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944868" y="3218688"/>
            <a:ext cx="20071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attention increases error likelihood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1 OF 4</a:t>
            </a:r>
            <a:endParaRPr lang="en-US" sz="800" dirty="0"/>
          </a:p>
        </p:txBody>
      </p:sp>
      <p:sp>
        <p:nvSpPr>
          <p:cNvPr id="40" name="Rectangle 3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Scenario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0789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399032"/>
            <a:ext cx="7680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is under pressure to complete a fabrication task before end of shift. It is a job they have done many times before. The supervisor suggests skipping the peer check to save time.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18211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error traps are active here? What should the team do and why?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1 OF 4</a:t>
            </a:r>
            <a:endParaRPr lang="en-US" sz="800" dirty="0"/>
          </a:p>
        </p:txBody>
      </p:sp>
      <p:sp>
        <p:nvSpPr>
          <p:cNvPr id="14" name="Rectangle 1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1371600"/>
            <a:ext cx="7680960" cy="2103120"/>
          </a:xfrm>
          <a:prstGeom prst="roundRect">
            <a:avLst>
              <a:gd name="adj" fmla="val 3478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5087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happen. That is human. What we do about them is what makes us nuclear-ready.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1 OF 4</a:t>
            </a:r>
            <a:endParaRPr lang="en-US" sz="800" dirty="0"/>
          </a:p>
        </p:txBody>
      </p:sp>
      <p:sp>
        <p:nvSpPr>
          <p:cNvPr id="9" name="Rectangle 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54864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2 OF 4</a:t>
            </a:r>
            <a:endParaRPr lang="en-US" sz="1400" dirty="0"/>
          </a:p>
        </p:txBody>
      </p:sp>
      <p:pic>
        <p:nvPicPr>
          <p:cNvPr id="5" name="Image 0" descr="/home/claude/nuccol_logo_hea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868680"/>
            <a:ext cx="201168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2605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Pre-Job Briefing and Self-Check (STAR)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57200" y="3530727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2: HP-1 and HP-2 in practice</a:t>
            </a:r>
            <a:endParaRPr lang="en-US" sz="115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Pre-Job Briefing (HP-1): What It Is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pre-job briefing is a structured discussion before every nuclear-significant task. Not a quick chat. A deliberate process.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ensures everyone knows: exactly what is to be done, in what order, to what standard, and with what controls in place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identifies error traps relevant to this specific task, not generic ones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confirms hold/witness points, contingency actions, and stop-work criteria before work starts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Grade 1/2 work it is recorded using the Pre-Job Briefing Template (NSS-05c) and retained as a quality record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quality of the pre-job briefing is the single biggest predictor of whether HP tools are used well during the task that follows.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2 OF 4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Pre-Job Briefing (HP-1): The Eight Elements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Task scope and sequence: what exactly is being done, in what order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Procedure revision: confirm the correct and current procedure is being used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Nuclear safety significance and quality grade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Error traps relevant to THIS task: time pressure? First time? Noisy environment?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Hold and witness points: who must be notified and when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Contingency actions: what to do if something unexpected happens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Stop-work criteria: at what point does work stop and who is called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Attendee sign-off: everyone confirms they understood before work begins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8-minute pre-job briefing conducted properly is worth more than any amount of paperwork completed after an error.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2 OF 4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 (STAR): HP-2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stands for: Stop, Think, Act, Review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STOP: pause before the action. Do not proceed on autopilot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confirm the action, the expected result, and what could go wrong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ACT: perform the action deliberately and with full attention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check immediately that the expected result was achieved before moving to the next step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is used before any safety-significant action, especially irreversible ones, and at every hold point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is the individual's most personal HP tool. Nobody can do it for you. It is a mental habit that saves errors.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2 OF 4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Scenario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0789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399032"/>
            <a:ext cx="7680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welder is working through a multi-step procedure. Partway through, a colleague calls over with a question. The welder stops, answers the question, and returns to the work.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18211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welder use HP-2 (Self-Check STAR) when resuming? What should they specifically do before carrying on?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2 OF 4</a:t>
            </a:r>
            <a:endParaRPr lang="en-US" sz="800" dirty="0"/>
          </a:p>
        </p:txBody>
      </p:sp>
      <p:sp>
        <p:nvSpPr>
          <p:cNvPr id="14" name="Rectangle 1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1371600"/>
            <a:ext cx="7680960" cy="2103120"/>
          </a:xfrm>
          <a:prstGeom prst="roundRect">
            <a:avLst>
              <a:gd name="adj" fmla="val 3478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5087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pre-job briefing and a disciplined STAR habit stop more errors than any inspection activity ever will.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2 OF 4</a:t>
            </a:r>
            <a:endParaRPr lang="en-US" sz="800" dirty="0"/>
          </a:p>
        </p:txBody>
      </p:sp>
      <p:sp>
        <p:nvSpPr>
          <p:cNvPr id="9" name="Rectangle 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54864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3 OF 4</a:t>
            </a:r>
            <a:endParaRPr lang="en-US" sz="1400" dirty="0"/>
          </a:p>
        </p:txBody>
      </p:sp>
      <p:pic>
        <p:nvPicPr>
          <p:cNvPr id="5" name="Image 0" descr="/home/claude/nuccol_logo_hea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868680"/>
            <a:ext cx="201168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2605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Check, Three-Way Communication, and Place Keeping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57200" y="3530727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3: HP-3, HP-4, and HP-5</a:t>
            </a:r>
            <a:endParaRPr lang="en-US" sz="115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Check (HP-3)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peer check is NOT the same as someone looking over your shoulder and agreeing with you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checker independently evaluates the action or result BEFORE it is confirmed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checker must not see the first person's finding before forming their own independent view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two findings agree: proceed. If they disagree: STOP and resolve before any action is taken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checks are used for Grade 1/2 activities, irreversible actions, and any task where an error precursor has been identified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 doer and checker record their involvement in the relevant quality record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is the point. A peer check where both people look together and nod is not a peer check.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3 OF 4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Three-Way Communication (HP-4)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Three-way communication confirms mutual understanding of any safety-significant verbal instruction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Sender states the information or instruction clearly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Receiver repeats back the information in their own words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Sender confirms the repeat-back is correct, or corrects it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uncertainty remains after the repeat-back: repeat from the beginning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hold point status, stop-work instructions, procedure step changes, shift handovers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Three-way communication feels formal at first. After a while it feels natural. It catches misunderstandings that cause real incidents.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3 OF 4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Keeping (HP-5)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keeping physically marks position in a multi-step procedure so no step can be skipped or repeated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each completed step on the procedure document before moving to the next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rely on memory alone, especially during a long or complex procedure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interrupted: mark the last completed step before stopping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resuming: verify position from the marking before continuing, not from memory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skip a step even if it seems unnecessary: complete or formally defer each step in sequence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keeping is especially important when interruptions are likely. In a busy fabrication environment, they always are.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3 OF 4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Scenario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0789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399032"/>
            <a:ext cx="7680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quality inspector is conducting a dimensional check on a nuclear component with 12 measurement points. Halfway through, they are called away briefly to deal with a delivery query. They return five minutes later.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18211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two HP tools from this talk are most relevant here? Describe what the inspector should do before continuing the inspection.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3 OF 4</a:t>
            </a:r>
            <a:endParaRPr lang="en-US" sz="800" dirty="0"/>
          </a:p>
        </p:txBody>
      </p:sp>
      <p:sp>
        <p:nvSpPr>
          <p:cNvPr id="14" name="Rectangle 1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1371600"/>
            <a:ext cx="7680960" cy="2103120"/>
          </a:xfrm>
          <a:prstGeom prst="roundRect">
            <a:avLst>
              <a:gd name="adj" fmla="val 3478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5087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HP-3, HP-4, HP-5. Three tools that turn individual attention into collective reliability.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3 OF 4</a:t>
            </a:r>
            <a:endParaRPr lang="en-US" sz="800" dirty="0"/>
          </a:p>
        </p:txBody>
      </p:sp>
      <p:sp>
        <p:nvSpPr>
          <p:cNvPr id="9" name="Rectangle 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54864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4 OF 4</a:t>
            </a:r>
            <a:endParaRPr lang="en-US" sz="1400" dirty="0"/>
          </a:p>
        </p:txBody>
      </p:sp>
      <p:pic>
        <p:nvPicPr>
          <p:cNvPr id="5" name="Image 0" descr="/home/claude/nuccol_logo_hea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868680"/>
            <a:ext cx="201168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2605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Stop-Work Authority and Concurrent Verification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57200" y="3530727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4: HP-6 and HP-7, and putting it all together</a:t>
            </a:r>
            <a:endParaRPr lang="en-US" sz="115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Verification (HP-6)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verification: two people simultaneously and independently verify a critical measurement, safety setting, or system state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person tells the other their result before they have each independently reached their own conclusion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then state their findings. If they agree: verified. If they disagree: STOP before any action is taken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word is independently: looking at the same thing together is NOT concurrent verification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where a single verification carries an unacceptably high consequence of error: safety-critical measurements, Grade 1 accept/reject decisions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between concurrent verification and a peer check: both parties form their view independently at the same time, without any communication until they have both concluded.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4 OF 4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Stop-Work Authority (HP-7): The Most Important Tool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working on a nuclear contract has the right and RESPONSIBILITY to stop any task at any time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threshold is a concern, not certainty of an error. If something does not seem right: STOP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Stop-work authority cannot be overridden by schedule, commercial pressure, or seniority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concern clearly. Do not proceed past the point of concern. Escalate to the Nuclear Quality Lead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does not restart until the concern has been investigated and resolved by an authorised person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the stop-work event. Use it as learning. Stopping work is a professional act, not a failure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organisation that penalises stop-work calls will quickly stop hearing them. Then events happen instead.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4 OF 4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All Seven Tools Together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841248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HP-1 Pre-Job Briefing: before every nuclear-significant task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HP-2 Self-Check (STAR): before every safety-significant action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HP-3 Peer Check: for Grade 1/2 work and irreversible actions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HP-4 Three-Way Communication: for safety-significant instructions and handovers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HP-5 Place Keeping: throughout every multi-step procedure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HP-6 Concurrent Verification: for critical measurements with high consequences of error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HP-7 Stop-Work Authority: any time, any person, any concern. Non-negotiable.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card NSS-05b has all seven at a glance for use at your workstation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418338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D6EE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92524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tools. Used together, consistently, on every nuclear-significant task. That is what a human performance programme looks like in practice.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4 OF 4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Scenario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0789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399032"/>
            <a:ext cx="7680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has completed their pre-job briefing and started work. Midway through, the person performing a Grade 1 final check notices that the measurement result is 0.05mm outside the drawing tolerance. The supervisor says the tolerance is probably conservative and suggests pressing 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8046720" cy="1005840"/>
          </a:xfrm>
          <a:prstGeom prst="roundRect">
            <a:avLst>
              <a:gd name="adj" fmla="val 5455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18211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HP tools apply here? Who has authority to decide what happens next?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4 OF 4</a:t>
            </a:r>
            <a:endParaRPr lang="en-US" sz="800" dirty="0"/>
          </a:p>
        </p:txBody>
      </p:sp>
      <p:sp>
        <p:nvSpPr>
          <p:cNvPr id="14" name="Rectangle 1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1371600"/>
            <a:ext cx="7680960" cy="2103120"/>
          </a:xfrm>
          <a:prstGeom prst="roundRect">
            <a:avLst>
              <a:gd name="adj" fmla="val 3478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5087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tools. Seven habits. The difference between a near miss and a nuclear safety event.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48874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NSS-05j  |  TALK 4 OF 4</a:t>
            </a:r>
            <a:endParaRPr lang="en-US" sz="800" dirty="0"/>
          </a:p>
        </p:txBody>
      </p:sp>
      <p:sp>
        <p:nvSpPr>
          <p:cNvPr id="9" name="Rectangle 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6D4B682-A735-4F80-9429-547D989B62BA}"/>
</file>

<file path=customXml/itemProps2.xml><?xml version="1.0" encoding="utf-8"?>
<ds:datastoreItem xmlns:ds="http://schemas.openxmlformats.org/officeDocument/2006/customXml" ds:itemID="{963B9C96-BEA7-4EC7-8AC5-7B91B2D344F4}"/>
</file>

<file path=customXml/itemProps3.xml><?xml version="1.0" encoding="utf-8"?>
<ds:datastoreItem xmlns:ds="http://schemas.openxmlformats.org/officeDocument/2006/customXml" ds:itemID="{8C15D152-AEAB-42CF-AB64-B464D8A9304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NSS-05j Human Performance Toolbox Talk Series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