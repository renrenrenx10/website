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HUMAN PERFORMANCE TOOLS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5760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tools every nuclear worker applies on every safety-significant task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960120"/>
            <a:ext cx="2171700" cy="932688"/>
          </a:xfrm>
          <a:prstGeom prst="roundRect">
            <a:avLst>
              <a:gd name="adj" fmla="val 4902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9966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996696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Pre-Job Briefing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20040" y="1344168"/>
            <a:ext cx="19888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every nuclear task: scope, procedure, error traps, hold points, stop-work criteria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36876" y="960120"/>
            <a:ext cx="2171700" cy="932688"/>
          </a:xfrm>
          <a:prstGeom prst="roundRect">
            <a:avLst>
              <a:gd name="adj" fmla="val 4902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28316" y="9966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59836" y="996696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 (STAR)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528316" y="1344168"/>
            <a:ext cx="19888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Stop, Think, Act, Review: before every safety-significant action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45152" y="960120"/>
            <a:ext cx="2171700" cy="932688"/>
          </a:xfrm>
          <a:prstGeom prst="roundRect">
            <a:avLst>
              <a:gd name="adj" fmla="val 4902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9966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68112" y="996696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Check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736592" y="1344168"/>
            <a:ext cx="19888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second-person check before acting on Grade 1/2 work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53428" y="960120"/>
            <a:ext cx="2171700" cy="932688"/>
          </a:xfrm>
          <a:prstGeom prst="roundRect">
            <a:avLst>
              <a:gd name="adj" fmla="val 4902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4868" y="9966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76388" y="996696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3-Way Communication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944868" y="1344168"/>
            <a:ext cx="19888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states, receiver repeats back, sender confirms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8600" y="1984248"/>
            <a:ext cx="2171700" cy="932688"/>
          </a:xfrm>
          <a:prstGeom prst="roundRect">
            <a:avLst>
              <a:gd name="adj" fmla="val 4902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0208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51560" y="2020824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Keeping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20040" y="2368296"/>
            <a:ext cx="19888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each step on procedure. Never rely on memory alone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436876" y="1984248"/>
            <a:ext cx="2171700" cy="932688"/>
          </a:xfrm>
          <a:prstGeom prst="roundRect">
            <a:avLst>
              <a:gd name="adj" fmla="val 4902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28316" y="20208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259836" y="2020824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Verification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2528316" y="2368296"/>
            <a:ext cx="19888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people independently verify critical measurements simultaneously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645152" y="1984248"/>
            <a:ext cx="4379976" cy="932688"/>
          </a:xfrm>
          <a:prstGeom prst="roundRect">
            <a:avLst>
              <a:gd name="adj" fmla="val 4902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36592" y="20208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HP-7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468112" y="2020824"/>
            <a:ext cx="3465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Stop-Work Authority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736592" y="2368296"/>
            <a:ext cx="41970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person. ANY time. ANY concern. Cannot be overridden.</a:t>
            </a:r>
            <a:endParaRPr 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ERROR TRAPS: SPOT THEM BEFORE THEY GET YOU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74320" y="5760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spot an error trap: use more HP tools, not fewer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960120"/>
            <a:ext cx="2171700" cy="1005840"/>
          </a:xfrm>
          <a:prstGeom prst="roundRect">
            <a:avLst>
              <a:gd name="adj" fmla="val 4545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960120"/>
            <a:ext cx="217170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96012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Time Pressure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752" y="1399032"/>
            <a:ext cx="20436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HP tool use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36876" y="960120"/>
            <a:ext cx="2171700" cy="1005840"/>
          </a:xfrm>
          <a:prstGeom prst="roundRect">
            <a:avLst>
              <a:gd name="adj" fmla="val 4545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6876" y="960120"/>
            <a:ext cx="217170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0028" y="96012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Distraction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10028" y="1399032"/>
            <a:ext cx="20436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HP tool use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45152" y="960120"/>
            <a:ext cx="2171700" cy="1005840"/>
          </a:xfrm>
          <a:prstGeom prst="roundRect">
            <a:avLst>
              <a:gd name="adj" fmla="val 4545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960120"/>
            <a:ext cx="217170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18304" y="96012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Habit / Complacency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18304" y="1399032"/>
            <a:ext cx="20436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HP tool use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3428" y="960120"/>
            <a:ext cx="2171700" cy="1005840"/>
          </a:xfrm>
          <a:prstGeom prst="roundRect">
            <a:avLst>
              <a:gd name="adj" fmla="val 4545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3428" y="960120"/>
            <a:ext cx="217170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26580" y="96012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First Time / Infrequent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26580" y="1399032"/>
            <a:ext cx="20436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HP tool use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28600" y="2057400"/>
            <a:ext cx="2171700" cy="1005840"/>
          </a:xfrm>
          <a:prstGeom prst="roundRect">
            <a:avLst>
              <a:gd name="adj" fmla="val 4545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8600" y="2057400"/>
            <a:ext cx="217170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" y="205740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Overconfidence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01752" y="2496312"/>
            <a:ext cx="20436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HP tool use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436876" y="2057400"/>
            <a:ext cx="2171700" cy="1005840"/>
          </a:xfrm>
          <a:prstGeom prst="roundRect">
            <a:avLst>
              <a:gd name="adj" fmla="val 4545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36876" y="2057400"/>
            <a:ext cx="217170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510028" y="205740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Unclear Procedure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510028" y="2496312"/>
            <a:ext cx="20436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HP tool use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45152" y="2057400"/>
            <a:ext cx="2171700" cy="1005840"/>
          </a:xfrm>
          <a:prstGeom prst="roundRect">
            <a:avLst>
              <a:gd name="adj" fmla="val 4545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45152" y="2057400"/>
            <a:ext cx="217170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18304" y="205740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Poor Environment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718304" y="2496312"/>
            <a:ext cx="20436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HP tool use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853428" y="2057400"/>
            <a:ext cx="2171700" cy="1005840"/>
          </a:xfrm>
          <a:prstGeom prst="roundRect">
            <a:avLst>
              <a:gd name="adj" fmla="val 4545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53428" y="2057400"/>
            <a:ext cx="217170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26580" y="205740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Simultaneous Tasks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26580" y="2496312"/>
            <a:ext cx="20436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HP tool use</a:t>
            </a:r>
            <a:endParaRPr lang="en-US" sz="1000" dirty="0"/>
          </a:p>
        </p:txBody>
      </p:sp>
      <p:sp>
        <p:nvSpPr>
          <p:cNvPr id="38" name="Rectangle 3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CE79385-944E-4CCE-8140-3C2BB4B51657}"/>
</file>

<file path=customXml/itemProps2.xml><?xml version="1.0" encoding="utf-8"?>
<ds:datastoreItem xmlns:ds="http://schemas.openxmlformats.org/officeDocument/2006/customXml" ds:itemID="{A52CEDD4-F538-47C6-8BBA-F5C378131B9A}"/>
</file>

<file path=customXml/itemProps3.xml><?xml version="1.0" encoding="utf-8"?>
<ds:datastoreItem xmlns:ds="http://schemas.openxmlformats.org/officeDocument/2006/customXml" ds:itemID="{CFE0930B-F848-49DF-B0E2-75C2483BF16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NSS-05k Human Performance Awareness Poster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