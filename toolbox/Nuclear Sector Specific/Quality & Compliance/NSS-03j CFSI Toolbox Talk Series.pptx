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media/image-1-1.jpg" ContentType="image/jpg"/>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media/image-2-1.jpg" ContentType="image/jpg"/>
  <Override PartName="/ppt/notesSlides/notesSlide2.xml" ContentType="application/vnd.openxmlformats-officedocument.presentationml.notesSlide+xml"/>
  <Override PartName="/ppt/slides/slide3.xml" ContentType="application/vnd.openxmlformats-officedocument.presentationml.slide+xml"/>
  <Override PartName="/ppt/media/image-3-1.jpg" ContentType="image/jpg"/>
  <Override PartName="/ppt/notesSlides/notesSlide3.xml" ContentType="application/vnd.openxmlformats-officedocument.presentationml.notesSlide+xml"/>
  <Override PartName="/ppt/slides/slide4.xml" ContentType="application/vnd.openxmlformats-officedocument.presentationml.slide+xml"/>
  <Override PartName="/ppt/media/image-4-1.jpg" ContentType="image/jpg"/>
  <Override PartName="/ppt/notesSlides/notesSlide4.xml" ContentType="application/vnd.openxmlformats-officedocument.presentationml.notesSlide+xml"/>
  <Override PartName="/ppt/slides/slide5.xml" ContentType="application/vnd.openxmlformats-officedocument.presentationml.slide+xml"/>
  <Override PartName="/ppt/media/image-5-1.jpg" ContentType="image/jpg"/>
  <Override PartName="/ppt/notesSlides/notesSlide5.xml" ContentType="application/vnd.openxmlformats-officedocument.presentationml.notesSlide+xml"/>
  <Override PartName="/ppt/slides/slide6.xml" ContentType="application/vnd.openxmlformats-officedocument.presentationml.slide+xml"/>
  <Override PartName="/ppt/media/image-6-1.jpg" ContentType="image/jpg"/>
  <Override PartName="/ppt/notesSlides/notesSlide6.xml" ContentType="application/vnd.openxmlformats-officedocument.presentationml.notesSlide+xml"/>
  <Override PartName="/ppt/slides/slide7.xml" ContentType="application/vnd.openxmlformats-officedocument.presentationml.slide+xml"/>
  <Override PartName="/ppt/media/image-7-1.jpg" ContentType="image/jpg"/>
  <Override PartName="/ppt/notesSlides/notesSlide7.xml" ContentType="application/vnd.openxmlformats-officedocument.presentationml.notesSlide+xml"/>
  <Override PartName="/ppt/slides/slide8.xml" ContentType="application/vnd.openxmlformats-officedocument.presentationml.slide+xml"/>
  <Override PartName="/ppt/media/image-8-1.jpg" ContentType="image/jpg"/>
  <Override PartName="/ppt/notesSlides/notesSlide8.xml" ContentType="application/vnd.openxmlformats-officedocument.presentationml.notesSlide+xml"/>
  <Override PartName="/ppt/slides/slide9.xml" ContentType="application/vnd.openxmlformats-officedocument.presentationml.slide+xml"/>
  <Override PartName="/ppt/media/image-9-1.jpg" ContentType="image/jpg"/>
  <Override PartName="/ppt/notesSlides/notesSlide9.xml" ContentType="application/vnd.openxmlformats-officedocument.presentationml.notesSlide+xml"/>
  <Override PartName="/ppt/slides/slide10.xml" ContentType="application/vnd.openxmlformats-officedocument.presentationml.slide+xml"/>
  <Override PartName="/ppt/media/image-10-1.jpg" ContentType="image/jpg"/>
  <Override PartName="/ppt/notesSlides/notesSlide10.xml" ContentType="application/vnd.openxmlformats-officedocument.presentationml.notesSlide+xml"/>
  <Override PartName="/ppt/slides/slide11.xml" ContentType="application/vnd.openxmlformats-officedocument.presentationml.slide+xml"/>
  <Override PartName="/ppt/media/image-11-1.jpg" ContentType="image/jpg"/>
  <Override PartName="/ppt/notesSlides/notesSlide11.xml" ContentType="application/vnd.openxmlformats-officedocument.presentationml.notesSlide+xml"/>
  <Override PartName="/ppt/slides/slide12.xml" ContentType="application/vnd.openxmlformats-officedocument.presentationml.slide+xml"/>
  <Override PartName="/ppt/media/image-12-1.jpg" ContentType="image/jpg"/>
  <Override PartName="/ppt/notesSlides/notesSlide12.xml" ContentType="application/vnd.openxmlformats-officedocument.presentationml.notesSlide+xml"/>
  <Override PartName="/ppt/slides/slide13.xml" ContentType="application/vnd.openxmlformats-officedocument.presentationml.slide+xml"/>
  <Override PartName="/ppt/media/image-13-1.jpg" ContentType="image/jpg"/>
  <Override PartName="/ppt/notesSlides/notesSlide13.xml" ContentType="application/vnd.openxmlformats-officedocument.presentationml.notesSlide+xml"/>
  <Override PartName="/ppt/slides/slide14.xml" ContentType="application/vnd.openxmlformats-officedocument.presentationml.slide+xml"/>
  <Override PartName="/ppt/media/image-14-1.jpg" ContentType="image/jpg"/>
  <Override PartName="/ppt/notesSlides/notesSlide14.xml" ContentType="application/vnd.openxmlformats-officedocument.presentationml.notesSlide+xml"/>
  <Override PartName="/ppt/slides/slide15.xml" ContentType="application/vnd.openxmlformats-officedocument.presentationml.slide+xml"/>
  <Override PartName="/ppt/media/image-15-1.jpg" ContentType="image/jpg"/>
  <Override PartName="/ppt/notesSlides/notesSlide15.xml" ContentType="application/vnd.openxmlformats-officedocument.presentationml.notesSlide+xml"/>
  <Override PartName="/ppt/slides/slide16.xml" ContentType="application/vnd.openxmlformats-officedocument.presentationml.slide+xml"/>
  <Override PartName="/ppt/media/image-16-1.jpg" ContentType="image/jpg"/>
  <Override PartName="/ppt/notesSlides/notesSlide16.xml" ContentType="application/vnd.openxmlformats-officedocument.presentationml.notesSlide+xml"/>
  <Override PartName="/ppt/slides/slide17.xml" ContentType="application/vnd.openxmlformats-officedocument.presentationml.slide+xml"/>
  <Override PartName="/ppt/media/image-17-1.jpg" ContentType="image/jpg"/>
  <Override PartName="/ppt/notesSlides/notesSlide17.xml" ContentType="application/vnd.openxmlformats-officedocument.presentationml.notesSlide+xml"/>
  <Override PartName="/ppt/slides/slide18.xml" ContentType="application/vnd.openxmlformats-officedocument.presentationml.slide+xml"/>
  <Override PartName="/ppt/media/image-18-1.jpg" ContentType="image/jpg"/>
  <Override PartName="/ppt/notesSlides/notesSlide18.xml" ContentType="application/vnd.openxmlformats-officedocument.presentationml.notesSlide+xml"/>
  <Override PartName="/ppt/slides/slide19.xml" ContentType="application/vnd.openxmlformats-officedocument.presentationml.slide+xml"/>
  <Override PartName="/ppt/media/image-19-1.jpg" ContentType="image/jpg"/>
  <Override PartName="/ppt/notesSlides/notesSlide19.xml" ContentType="application/vnd.openxmlformats-officedocument.presentationml.notesSlide+xml"/>
  <Override PartName="/ppt/slides/slide20.xml" ContentType="application/vnd.openxmlformats-officedocument.presentationml.slide+xml"/>
  <Override PartName="/ppt/media/image-20-1.jpg" ContentType="image/jpg"/>
  <Override PartName="/ppt/notesSlides/notesSlide20.xml" ContentType="application/vnd.openxmlformats-officedocument.presentationml.notesSlide+xml"/>
  <Override PartName="/ppt/slides/slide21.xml" ContentType="application/vnd.openxmlformats-officedocument.presentationml.slide+xml"/>
  <Override PartName="/ppt/media/image-21-1.jpg" ContentType="image/jpg"/>
  <Override PartName="/ppt/notesSlides/notesSlide21.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1.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 Id="rId5" Type="http://schemas.openxmlformats.org/officeDocument/2006/relationships/image" Target="../media/image1.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image" Target="../media/image1.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image" Target="../media/image1.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image1.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1.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1.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1.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1.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 Id="rId4" Type="http://schemas.openxmlformats.org/officeDocument/2006/relationships/image" Target="../media/image1.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 Id="rId5" Type="http://schemas.openxmlformats.org/officeDocument/2006/relationships/image" Target="../media/image1.pn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 Id="rId5" Type="http://schemas.openxmlformats.org/officeDocument/2006/relationships/image" Target="../media/image1.png"/><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 Id="rId5" Type="http://schemas.openxmlformats.org/officeDocument/2006/relationships/image" Target="../media/image1.png"/><Relationship Id="rId6"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 Id="rId5" Type="http://schemas.openxmlformats.org/officeDocument/2006/relationships/image" Target="../media/image1.png"/><Relationship Id="rId6"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1.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2571750"/>
            <a:ext cx="9144000" cy="2571750"/>
          </a:xfrm>
          <a:prstGeom prst="rect">
            <a:avLst/>
          </a:prstGeom>
          <a:solidFill>
            <a:srgbClr val="009FE3"/>
          </a:solidFill>
          <a:ln w="12700">
            <a:solidFill>
              <a:srgbClr val="009FE3"/>
            </a:solidFill>
            <a:prstDash val="solid"/>
          </a:ln>
        </p:spPr>
      </p:sp>
      <p:sp>
        <p:nvSpPr>
          <p:cNvPr id="3" name="Shape 1"/>
          <p:cNvSpPr/>
          <p:nvPr/>
        </p:nvSpPr>
        <p:spPr>
          <a:xfrm>
            <a:off x="0" y="2571750"/>
            <a:ext cx="9144000" cy="54864"/>
          </a:xfrm>
          <a:prstGeom prst="rect">
            <a:avLst/>
          </a:prstGeom>
          <a:solidFill>
            <a:srgbClr val="83348F"/>
          </a:solidFill>
          <a:ln w="12700">
            <a:solidFill>
              <a:srgbClr val="83348F"/>
            </a:solidFill>
            <a:prstDash val="solid"/>
          </a:ln>
        </p:spPr>
      </p:sp>
      <p:sp>
        <p:nvSpPr>
          <p:cNvPr id="4" name="Text 2"/>
          <p:cNvSpPr/>
          <p:nvPr/>
        </p:nvSpPr>
        <p:spPr>
          <a:xfrm>
            <a:off x="457200" y="365760"/>
            <a:ext cx="8229600" cy="457200"/>
          </a:xfrm>
          <a:prstGeom prst="rect">
            <a:avLst/>
          </a:prstGeom>
          <a:noFill/>
          <a:ln/>
        </p:spPr>
        <p:txBody>
          <a:bodyPr wrap="square" rtlCol="0" anchor="ctr"/>
          <a:lstStyle/>
          <a:p>
            <a:pPr algn="ctr" indent="0" marL="0">
              <a:buNone/>
            </a:pPr>
            <a:r>
              <a:rPr lang="en-US" sz="1400" b="1" dirty="0">
                <a:solidFill>
                  <a:srgbClr val="D6EEF8"/>
                </a:solidFill>
                <a:latin typeface="Arial" pitchFamily="34" charset="0"/>
                <a:ea typeface="Arial" pitchFamily="34" charset="-122"/>
                <a:cs typeface="Arial" pitchFamily="34" charset="-120"/>
              </a:rPr>
              <a:t>TALK 1 OF 3</a:t>
            </a:r>
            <a:endParaRPr lang="en-US" sz="1400" dirty="0"/>
          </a:p>
        </p:txBody>
      </p:sp>
      <p:pic>
        <p:nvPicPr>
          <p:cNvPr id="5" name="Image 0" descr="/home/claude/nuccol_logo_header.jpg">    </p:cNvPr>
          <p:cNvPicPr>
            <a:picLocks noChangeAspect="1"/>
          </p:cNvPicPr>
          <p:nvPr/>
        </p:nvPicPr>
        <p:blipFill>
          <a:blip r:embed="rId1"/>
          <a:stretch>
            <a:fillRect/>
          </a:stretch>
        </p:blipFill>
        <p:spPr>
          <a:xfrm>
            <a:off x="3566160" y="960120"/>
            <a:ext cx="2011680" cy="1280160"/>
          </a:xfrm>
          <a:prstGeom prst="rect">
            <a:avLst/>
          </a:prstGeom>
        </p:spPr>
      </p:pic>
      <p:sp>
        <p:nvSpPr>
          <p:cNvPr id="6" name="Text 3"/>
          <p:cNvSpPr/>
          <p:nvPr/>
        </p:nvSpPr>
        <p:spPr>
          <a:xfrm>
            <a:off x="457200" y="2726055"/>
            <a:ext cx="8229600" cy="82296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What is CFSI and Why Does It Matter?</a:t>
            </a:r>
            <a:endParaRPr lang="en-US" sz="2600" dirty="0"/>
          </a:p>
        </p:txBody>
      </p:sp>
      <p:sp>
        <p:nvSpPr>
          <p:cNvPr id="7" name="Text 4"/>
          <p:cNvSpPr/>
          <p:nvPr/>
        </p:nvSpPr>
        <p:spPr>
          <a:xfrm>
            <a:off x="457200" y="3503295"/>
            <a:ext cx="8229600" cy="640080"/>
          </a:xfrm>
          <a:prstGeom prst="rect">
            <a:avLst/>
          </a:prstGeom>
          <a:noFill/>
          <a:ln/>
        </p:spPr>
        <p:txBody>
          <a:bodyPr wrap="square" rtlCol="0" anchor="ctr"/>
          <a:lstStyle/>
          <a:p>
            <a:pPr algn="ctr" indent="0" marL="0">
              <a:buNone/>
            </a:pPr>
            <a:r>
              <a:rPr lang="en-US" sz="1300" dirty="0">
                <a:solidFill>
                  <a:srgbClr val="D6EEF8"/>
                </a:solidFill>
                <a:latin typeface="Arial" pitchFamily="34" charset="0"/>
                <a:ea typeface="Arial" pitchFamily="34" charset="-122"/>
                <a:cs typeface="Arial" pitchFamily="34" charset="-120"/>
              </a:rPr>
              <a:t>Talk 1 of 3: Definitions, risks, and the nuclear supply chain obligation</a:t>
            </a:r>
            <a:endParaRPr lang="en-US" sz="1300" dirty="0"/>
          </a:p>
        </p:txBody>
      </p:sp>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What Does CFSI Mean?</a:t>
            </a:r>
            <a:endParaRPr lang="en-US" sz="1900" dirty="0"/>
          </a:p>
        </p:txBody>
      </p:sp>
      <p:pic>
        <p:nvPicPr>
          <p:cNvPr id="5" name="Image 1" descr="preencoded.png">    </p:cNvPr>
          <p:cNvPicPr>
            <a:picLocks noChangeAspect="1"/>
          </p:cNvPicPr>
          <p:nvPr/>
        </p:nvPicPr>
        <p:blipFill>
          <a:blip r:embed="rId2"/>
          <a:stretch>
            <a:fillRect/>
          </a:stretch>
        </p:blipFill>
        <p:spPr>
          <a:xfrm>
            <a:off x="365760" y="960120"/>
            <a:ext cx="2423160" cy="2423160"/>
          </a:xfrm>
          <a:prstGeom prst="rect">
            <a:avLst/>
          </a:prstGeom>
        </p:spPr>
      </p:pic>
      <p:sp>
        <p:nvSpPr>
          <p:cNvPr id="6" name="Text 2"/>
          <p:cNvSpPr/>
          <p:nvPr/>
        </p:nvSpPr>
        <p:spPr>
          <a:xfrm>
            <a:off x="3291840" y="841248"/>
            <a:ext cx="5486400" cy="3291840"/>
          </a:xfrm>
          <a:prstGeom prst="rect">
            <a:avLst/>
          </a:prstGeom>
          <a:noFill/>
          <a:ln/>
        </p:spPr>
        <p:txBody>
          <a:bodyPr wrap="square" rtlCol="0" anchor="t"/>
          <a:lstStyle/>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CFSI stands for Counterfeit, Fraudulent, and Suspect Items</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Counterfeit: items made or altered to look like a genuine product without authorisation</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Fraudulent: items intentionally misrepresented through false documentation or identity</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Suspect: items where something suggests they may not be genuine, pending investigation</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CFSI includes documentation and certification, not just physical items</a:t>
            </a:r>
            <a:endParaRPr lang="en-US" sz="1200" dirty="0"/>
          </a:p>
        </p:txBody>
      </p:sp>
      <p:sp>
        <p:nvSpPr>
          <p:cNvPr id="7" name="Shape 3"/>
          <p:cNvSpPr/>
          <p:nvPr/>
        </p:nvSpPr>
        <p:spPr>
          <a:xfrm>
            <a:off x="320040" y="4183380"/>
            <a:ext cx="8503920" cy="594360"/>
          </a:xfrm>
          <a:prstGeom prst="roundRect">
            <a:avLst>
              <a:gd name="adj" fmla="val 9231"/>
            </a:avLst>
          </a:prstGeom>
          <a:solidFill>
            <a:srgbClr val="D6EEF8"/>
          </a:solidFill>
          <a:ln w="12700">
            <a:solidFill>
              <a:srgbClr val="009FE3"/>
            </a:solidFill>
            <a:prstDash val="solid"/>
          </a:ln>
        </p:spPr>
      </p:sp>
      <p:sp>
        <p:nvSpPr>
          <p:cNvPr id="8" name="Text 4"/>
          <p:cNvSpPr/>
          <p:nvPr/>
        </p:nvSpPr>
        <p:spPr>
          <a:xfrm>
            <a:off x="457200" y="4192524"/>
            <a:ext cx="8229600" cy="585216"/>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Every one of us in this organisation has a role in preventing CFSI from entering our nuclear work.</a:t>
            </a:r>
            <a:endParaRPr lang="en-US" sz="950" dirty="0"/>
          </a:p>
        </p:txBody>
      </p:sp>
      <p:sp>
        <p:nvSpPr>
          <p:cNvPr id="11" name="Text 7"/>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1 OF 3</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Why CFSI Is a Critical Nuclear Risk</a:t>
            </a:r>
            <a:endParaRPr lang="en-US" sz="1900" dirty="0"/>
          </a:p>
        </p:txBody>
      </p:sp>
      <p:pic>
        <p:nvPicPr>
          <p:cNvPr id="5" name="Image 1" descr="preencoded.png">    </p:cNvPr>
          <p:cNvPicPr>
            <a:picLocks noChangeAspect="1"/>
          </p:cNvPicPr>
          <p:nvPr/>
        </p:nvPicPr>
        <p:blipFill>
          <a:blip r:embed="rId2"/>
          <a:stretch>
            <a:fillRect/>
          </a:stretch>
        </p:blipFill>
        <p:spPr>
          <a:xfrm>
            <a:off x="365760" y="960120"/>
            <a:ext cx="2423160" cy="2423160"/>
          </a:xfrm>
          <a:prstGeom prst="rect">
            <a:avLst/>
          </a:prstGeom>
        </p:spPr>
      </p:pic>
      <p:sp>
        <p:nvSpPr>
          <p:cNvPr id="6" name="Text 2"/>
          <p:cNvSpPr/>
          <p:nvPr/>
        </p:nvSpPr>
        <p:spPr>
          <a:xfrm>
            <a:off x="3291840" y="841248"/>
            <a:ext cx="5486400" cy="3291840"/>
          </a:xfrm>
          <a:prstGeom prst="rect">
            <a:avLst/>
          </a:prstGeom>
          <a:noFill/>
          <a:ln/>
        </p:spPr>
        <p:txBody>
          <a:bodyPr wrap="square" rtlCol="0" anchor="t"/>
          <a:lstStyle/>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A CFSI component in a safety-critical application can fail without warning in service</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CFSI corrupts the traceability that underpins the nuclear facility safety case</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Nuclear regulations require CFSI incidents to be reported to the regulator via the licensee</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Knowing introduction of CFSI into a nuclear application can result in criminal liability</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The financial and reputational consequences for a company found responsible are severe</a:t>
            </a:r>
            <a:endParaRPr lang="en-US" sz="1200" dirty="0"/>
          </a:p>
        </p:txBody>
      </p:sp>
      <p:sp>
        <p:nvSpPr>
          <p:cNvPr id="7" name="Shape 3"/>
          <p:cNvSpPr/>
          <p:nvPr/>
        </p:nvSpPr>
        <p:spPr>
          <a:xfrm>
            <a:off x="320040" y="4183380"/>
            <a:ext cx="8503920" cy="594360"/>
          </a:xfrm>
          <a:prstGeom prst="roundRect">
            <a:avLst>
              <a:gd name="adj" fmla="val 9231"/>
            </a:avLst>
          </a:prstGeom>
          <a:solidFill>
            <a:srgbClr val="D6EEF8"/>
          </a:solidFill>
          <a:ln w="12700">
            <a:solidFill>
              <a:srgbClr val="009FE3"/>
            </a:solidFill>
            <a:prstDash val="solid"/>
          </a:ln>
        </p:spPr>
      </p:sp>
      <p:sp>
        <p:nvSpPr>
          <p:cNvPr id="8" name="Text 4"/>
          <p:cNvSpPr/>
          <p:nvPr/>
        </p:nvSpPr>
        <p:spPr>
          <a:xfrm>
            <a:off x="457200" y="4192524"/>
            <a:ext cx="8229600" cy="585216"/>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This is not a theoretical risk. CFSI incidents have been confirmed in the UK nuclear supply chain.</a:t>
            </a:r>
            <a:endParaRPr lang="en-US" sz="950" dirty="0"/>
          </a:p>
        </p:txBody>
      </p:sp>
      <p:sp>
        <p:nvSpPr>
          <p:cNvPr id="11" name="Text 7"/>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1 OF 3</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The Scale of the Problem</a:t>
            </a:r>
            <a:endParaRPr lang="en-US" sz="1900" dirty="0"/>
          </a:p>
        </p:txBody>
      </p:sp>
      <p:pic>
        <p:nvPicPr>
          <p:cNvPr id="5" name="Image 1" descr="preencoded.png">    </p:cNvPr>
          <p:cNvPicPr>
            <a:picLocks noChangeAspect="1"/>
          </p:cNvPicPr>
          <p:nvPr/>
        </p:nvPicPr>
        <p:blipFill>
          <a:blip r:embed="rId2"/>
          <a:stretch>
            <a:fillRect/>
          </a:stretch>
        </p:blipFill>
        <p:spPr>
          <a:xfrm>
            <a:off x="365760" y="960120"/>
            <a:ext cx="2423160" cy="2423160"/>
          </a:xfrm>
          <a:prstGeom prst="rect">
            <a:avLst/>
          </a:prstGeom>
        </p:spPr>
      </p:pic>
      <p:sp>
        <p:nvSpPr>
          <p:cNvPr id="6" name="Text 2"/>
          <p:cNvSpPr/>
          <p:nvPr/>
        </p:nvSpPr>
        <p:spPr>
          <a:xfrm>
            <a:off x="3291840" y="841248"/>
            <a:ext cx="5486400" cy="3291840"/>
          </a:xfrm>
          <a:prstGeom prst="rect">
            <a:avLst/>
          </a:prstGeom>
          <a:noFill/>
          <a:ln/>
        </p:spPr>
        <p:txBody>
          <a:bodyPr wrap="square" rtlCol="0" anchor="t"/>
          <a:lstStyle/>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Approximately 10% of all worldwide manufactured products are estimated to be counterfeit</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Fasteners, mechanical components, and electronic components are among the most counterfeited items in industrial supply chains</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ONR has issued multiple CFSI alert notices targeting specific product categories in the nuclear supply chain</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Grey market supply, obsolete items becoming 'available', and below-market pricing are the most common entry routes</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Certification documents are as likely to be fraudulent as the items themselves</a:t>
            </a:r>
            <a:endParaRPr lang="en-US" sz="1200" dirty="0"/>
          </a:p>
        </p:txBody>
      </p:sp>
      <p:sp>
        <p:nvSpPr>
          <p:cNvPr id="7" name="Shape 3"/>
          <p:cNvSpPr/>
          <p:nvPr/>
        </p:nvSpPr>
        <p:spPr>
          <a:xfrm>
            <a:off x="320040" y="4183380"/>
            <a:ext cx="8503920" cy="594360"/>
          </a:xfrm>
          <a:prstGeom prst="roundRect">
            <a:avLst>
              <a:gd name="adj" fmla="val 9231"/>
            </a:avLst>
          </a:prstGeom>
          <a:solidFill>
            <a:srgbClr val="D6EEF8"/>
          </a:solidFill>
          <a:ln w="12700">
            <a:solidFill>
              <a:srgbClr val="009FE3"/>
            </a:solidFill>
            <a:prstDash val="solid"/>
          </a:ln>
        </p:spPr>
      </p:sp>
      <p:sp>
        <p:nvSpPr>
          <p:cNvPr id="8" name="Text 4"/>
          <p:cNvSpPr/>
          <p:nvPr/>
        </p:nvSpPr>
        <p:spPr>
          <a:xfrm>
            <a:off x="457200" y="4192524"/>
            <a:ext cx="8229600" cy="585216"/>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The CFSI threat changes constantly. New incidents are added to the industry alert database regularly.</a:t>
            </a:r>
            <a:endParaRPr lang="en-US" sz="950" dirty="0"/>
          </a:p>
        </p:txBody>
      </p:sp>
      <p:sp>
        <p:nvSpPr>
          <p:cNvPr id="11" name="Text 7"/>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1 OF 3</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Your Obligation</a:t>
            </a:r>
            <a:endParaRPr lang="en-US" sz="1900" dirty="0"/>
          </a:p>
        </p:txBody>
      </p:sp>
      <p:pic>
        <p:nvPicPr>
          <p:cNvPr id="5" name="Image 1" descr="preencoded.png">    </p:cNvPr>
          <p:cNvPicPr>
            <a:picLocks noChangeAspect="1"/>
          </p:cNvPicPr>
          <p:nvPr/>
        </p:nvPicPr>
        <p:blipFill>
          <a:blip r:embed="rId2"/>
          <a:stretch>
            <a:fillRect/>
          </a:stretch>
        </p:blipFill>
        <p:spPr>
          <a:xfrm>
            <a:off x="365760" y="960120"/>
            <a:ext cx="2423160" cy="2423160"/>
          </a:xfrm>
          <a:prstGeom prst="rect">
            <a:avLst/>
          </a:prstGeom>
        </p:spPr>
      </p:pic>
      <p:sp>
        <p:nvSpPr>
          <p:cNvPr id="6" name="Text 2"/>
          <p:cNvSpPr/>
          <p:nvPr/>
        </p:nvSpPr>
        <p:spPr>
          <a:xfrm>
            <a:off x="3291840" y="841248"/>
            <a:ext cx="5486400" cy="3291840"/>
          </a:xfrm>
          <a:prstGeom prst="rect">
            <a:avLst/>
          </a:prstGeom>
          <a:noFill/>
          <a:ln/>
        </p:spPr>
        <p:txBody>
          <a:bodyPr wrap="square" rtlCol="0" anchor="t"/>
          <a:lstStyle/>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Everyone in purchasing, goods receipt, stores, and production has a CFSI obligation</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Purchasing staff: know the at-risk procurement scenarios and act on them</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Goods receipt staff: apply the CFSI checklist to every nuclear contract delivery</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Anyone: if something does not look right, report it immediately, do not pass it through</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Quality Manager: notified the same day any concern is identified</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No suspected CFSI item may be used, released, or returned without Quality Manager sign-off</a:t>
            </a:r>
            <a:endParaRPr lang="en-US" sz="1200" dirty="0"/>
          </a:p>
        </p:txBody>
      </p:sp>
      <p:sp>
        <p:nvSpPr>
          <p:cNvPr id="7" name="Shape 3"/>
          <p:cNvSpPr/>
          <p:nvPr/>
        </p:nvSpPr>
        <p:spPr>
          <a:xfrm>
            <a:off x="320040" y="4183380"/>
            <a:ext cx="8503920" cy="594360"/>
          </a:xfrm>
          <a:prstGeom prst="roundRect">
            <a:avLst>
              <a:gd name="adj" fmla="val 9231"/>
            </a:avLst>
          </a:prstGeom>
          <a:solidFill>
            <a:srgbClr val="D6EEF8"/>
          </a:solidFill>
          <a:ln w="12700">
            <a:solidFill>
              <a:srgbClr val="009FE3"/>
            </a:solidFill>
            <a:prstDash val="solid"/>
          </a:ln>
        </p:spPr>
      </p:sp>
      <p:sp>
        <p:nvSpPr>
          <p:cNvPr id="8" name="Text 4"/>
          <p:cNvSpPr/>
          <p:nvPr/>
        </p:nvSpPr>
        <p:spPr>
          <a:xfrm>
            <a:off x="457200" y="4192524"/>
            <a:ext cx="8229600" cy="585216"/>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The CFSI Goods Receipt Checklist (NSS-03h) and Suspect Item Report Form (NSS-03i) are the working tools for this.</a:t>
            </a:r>
            <a:endParaRPr lang="en-US" sz="950" dirty="0"/>
          </a:p>
        </p:txBody>
      </p:sp>
      <p:sp>
        <p:nvSpPr>
          <p:cNvPr id="11" name="Text 7"/>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1 OF 3</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Discussion Scenario</a:t>
            </a:r>
            <a:endParaRPr lang="en-US" sz="1800" dirty="0"/>
          </a:p>
        </p:txBody>
      </p:sp>
      <p:sp>
        <p:nvSpPr>
          <p:cNvPr id="5" name="Shape 2"/>
          <p:cNvSpPr/>
          <p:nvPr/>
        </p:nvSpPr>
        <p:spPr>
          <a:xfrm>
            <a:off x="548640" y="960120"/>
            <a:ext cx="8046720" cy="1783080"/>
          </a:xfrm>
          <a:prstGeom prst="roundRect">
            <a:avLst>
              <a:gd name="adj" fmla="val 3077"/>
            </a:avLst>
          </a:prstGeom>
          <a:solidFill>
            <a:srgbClr val="FFFFFF">
              <a:alpha val="8000"/>
            </a:srgbClr>
          </a:solidFill>
          <a:ln w="12700">
            <a:solidFill>
              <a:srgbClr val="009FE3"/>
            </a:solidFill>
            <a:prstDash val="solid"/>
          </a:ln>
        </p:spPr>
      </p:sp>
      <p:sp>
        <p:nvSpPr>
          <p:cNvPr id="6" name="Text 3"/>
          <p:cNvSpPr/>
          <p:nvPr/>
        </p:nvSpPr>
        <p:spPr>
          <a:xfrm>
            <a:off x="731520" y="1097280"/>
            <a:ext cx="7680960" cy="320040"/>
          </a:xfrm>
          <a:prstGeom prst="rect">
            <a:avLst/>
          </a:prstGeom>
          <a:noFill/>
          <a:ln/>
        </p:spPr>
        <p:txBody>
          <a:bodyPr wrap="square" rtlCol="0" anchor="ctr"/>
          <a:lstStyle/>
          <a:p>
            <a:pPr indent="0" marL="0">
              <a:buNone/>
            </a:pPr>
            <a:r>
              <a:rPr lang="en-US" sz="1100" b="1" dirty="0">
                <a:solidFill>
                  <a:srgbClr val="009FE3"/>
                </a:solidFill>
                <a:latin typeface="Arial" pitchFamily="34" charset="0"/>
                <a:ea typeface="Arial" pitchFamily="34" charset="-122"/>
                <a:cs typeface="Arial" pitchFamily="34" charset="-120"/>
              </a:rPr>
              <a:t>SCENARIO</a:t>
            </a:r>
            <a:endParaRPr lang="en-US" sz="1100" dirty="0"/>
          </a:p>
        </p:txBody>
      </p:sp>
      <p:sp>
        <p:nvSpPr>
          <p:cNvPr id="7" name="Text 4"/>
          <p:cNvSpPr/>
          <p:nvPr/>
        </p:nvSpPr>
        <p:spPr>
          <a:xfrm>
            <a:off x="731520" y="1417320"/>
            <a:ext cx="7680960" cy="1234440"/>
          </a:xfrm>
          <a:prstGeom prst="rect">
            <a:avLst/>
          </a:prstGeom>
          <a:noFill/>
          <a:ln/>
        </p:spPr>
        <p:txBody>
          <a:bodyPr wrap="square" rtlCol="0" anchor="t"/>
          <a:lstStyle/>
          <a:p>
            <a:pPr indent="0" marL="0">
              <a:buNone/>
            </a:pPr>
            <a:r>
              <a:rPr lang="en-US" sz="1250" dirty="0">
                <a:solidFill>
                  <a:srgbClr val="FFFFFF"/>
                </a:solidFill>
                <a:latin typeface="Arial" pitchFamily="34" charset="0"/>
                <a:ea typeface="Arial" pitchFamily="34" charset="-122"/>
                <a:cs typeface="Arial" pitchFamily="34" charset="-120"/>
              </a:rPr>
              <a:t>A batch of fasteners arrives for use on a Grade 2 nuclear component. The price was 40% below your usual supplier's quote. The delivery came from a distributor you have not used before. The certificates look fine at first glance.</a:t>
            </a:r>
            <a:endParaRPr lang="en-US" sz="1250" dirty="0"/>
          </a:p>
        </p:txBody>
      </p:sp>
      <p:sp>
        <p:nvSpPr>
          <p:cNvPr id="8" name="Shape 5"/>
          <p:cNvSpPr/>
          <p:nvPr/>
        </p:nvSpPr>
        <p:spPr>
          <a:xfrm>
            <a:off x="548640" y="2880360"/>
            <a:ext cx="8046720" cy="960120"/>
          </a:xfrm>
          <a:prstGeom prst="roundRect">
            <a:avLst>
              <a:gd name="adj" fmla="val 5714"/>
            </a:avLst>
          </a:prstGeom>
          <a:solidFill>
            <a:srgbClr val="009FE3"/>
          </a:solidFill>
          <a:ln w="12700">
            <a:solidFill>
              <a:srgbClr val="009FE3"/>
            </a:solidFill>
            <a:prstDash val="solid"/>
          </a:ln>
        </p:spPr>
      </p:sp>
      <p:sp>
        <p:nvSpPr>
          <p:cNvPr id="9" name="Text 6"/>
          <p:cNvSpPr/>
          <p:nvPr/>
        </p:nvSpPr>
        <p:spPr>
          <a:xfrm>
            <a:off x="731520" y="2971800"/>
            <a:ext cx="7680960" cy="274320"/>
          </a:xfrm>
          <a:prstGeom prst="rect">
            <a:avLst/>
          </a:prstGeom>
          <a:noFill/>
          <a:ln/>
        </p:spPr>
        <p:txBody>
          <a:bodyPr wrap="square" rtlCol="0" anchor="ctr"/>
          <a:lstStyle/>
          <a:p>
            <a:pPr indent="0" marL="0">
              <a:buNone/>
            </a:pPr>
            <a:r>
              <a:rPr lang="en-US" sz="1000" b="1" dirty="0">
                <a:solidFill>
                  <a:srgbClr val="D6EEF8"/>
                </a:solidFill>
                <a:latin typeface="Arial" pitchFamily="34" charset="0"/>
                <a:ea typeface="Arial" pitchFamily="34" charset="-122"/>
                <a:cs typeface="Arial" pitchFamily="34" charset="-120"/>
              </a:rPr>
              <a:t>DISCUSS:</a:t>
            </a:r>
            <a:endParaRPr lang="en-US" sz="1000" dirty="0"/>
          </a:p>
        </p:txBody>
      </p:sp>
      <p:sp>
        <p:nvSpPr>
          <p:cNvPr id="10" name="Text 7"/>
          <p:cNvSpPr/>
          <p:nvPr/>
        </p:nvSpPr>
        <p:spPr>
          <a:xfrm>
            <a:off x="731520" y="3218688"/>
            <a:ext cx="7680960" cy="54864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What warning signs are present here? What should happen before these fasteners are used on the nuclear component?</a:t>
            </a:r>
            <a:endParaRPr lang="en-US" sz="1250" dirty="0"/>
          </a:p>
        </p:txBody>
      </p:sp>
      <p:sp>
        <p:nvSpPr>
          <p:cNvPr id="13" name="Text 10"/>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1 OF 3</a:t>
            </a:r>
            <a:endParaRPr lang="en-US" sz="8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4" name="Shape 1"/>
          <p:cNvSpPr/>
          <p:nvPr/>
        </p:nvSpPr>
        <p:spPr>
          <a:xfrm>
            <a:off x="731520" y="1371600"/>
            <a:ext cx="7680960" cy="2103120"/>
          </a:xfrm>
          <a:prstGeom prst="roundRect">
            <a:avLst>
              <a:gd name="adj" fmla="val 3478"/>
            </a:avLst>
          </a:prstGeom>
          <a:solidFill>
            <a:srgbClr val="8B0000"/>
          </a:solidFill>
          <a:ln w="12700">
            <a:solidFill>
              <a:srgbClr val="8B0000"/>
            </a:solidFill>
            <a:prstDash val="solid"/>
          </a:ln>
        </p:spPr>
      </p:sp>
      <p:sp>
        <p:nvSpPr>
          <p:cNvPr id="5" name="Text 2"/>
          <p:cNvSpPr/>
          <p:nvPr/>
        </p:nvSpPr>
        <p:spPr>
          <a:xfrm>
            <a:off x="914400" y="1508760"/>
            <a:ext cx="7315200" cy="182880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CFSI starts in the supply chain. It ends at the point where someone stops it. That person could be any of us.</a:t>
            </a:r>
            <a:endParaRPr lang="en-US" sz="1700" dirty="0"/>
          </a:p>
        </p:txBody>
      </p:sp>
      <p:sp>
        <p:nvSpPr>
          <p:cNvPr id="8" name="Text 5"/>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1 OF 3</a:t>
            </a:r>
            <a:endParaRPr lang="en-US" sz="800" dirty="0"/>
          </a:p>
        </p:txBody>
      </p:sp>
      <p:sp>
        <p:nvSpPr>
          <p:cNvPr id="9" name="Rectangle 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562088"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8174736" y="100584"/>
            <a:ext cx="658368" cy="347472"/>
          </a:xfrm>
          <a:prstGeom prst="rect">
            <a:avLst/>
          </a:prstGeom>
        </p:spPr>
      </p:pic>
      <p:sp>
        <p:nvSpPr>
          <p:cNvPr id="12" name="Rectangle 1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2571750"/>
            <a:ext cx="9144000" cy="2571750"/>
          </a:xfrm>
          <a:prstGeom prst="rect">
            <a:avLst/>
          </a:prstGeom>
          <a:solidFill>
            <a:srgbClr val="83348F"/>
          </a:solidFill>
          <a:ln w="12700">
            <a:solidFill>
              <a:srgbClr val="83348F"/>
            </a:solidFill>
            <a:prstDash val="solid"/>
          </a:ln>
        </p:spPr>
      </p:sp>
      <p:sp>
        <p:nvSpPr>
          <p:cNvPr id="3" name="Shape 1"/>
          <p:cNvSpPr/>
          <p:nvPr/>
        </p:nvSpPr>
        <p:spPr>
          <a:xfrm>
            <a:off x="0" y="2571750"/>
            <a:ext cx="9144000" cy="54864"/>
          </a:xfrm>
          <a:prstGeom prst="rect">
            <a:avLst/>
          </a:prstGeom>
          <a:solidFill>
            <a:srgbClr val="83348F"/>
          </a:solidFill>
          <a:ln w="12700">
            <a:solidFill>
              <a:srgbClr val="83348F"/>
            </a:solidFill>
            <a:prstDash val="solid"/>
          </a:ln>
        </p:spPr>
      </p:sp>
      <p:sp>
        <p:nvSpPr>
          <p:cNvPr id="4" name="Text 2"/>
          <p:cNvSpPr/>
          <p:nvPr/>
        </p:nvSpPr>
        <p:spPr>
          <a:xfrm>
            <a:off x="457200" y="365760"/>
            <a:ext cx="8229600" cy="457200"/>
          </a:xfrm>
          <a:prstGeom prst="rect">
            <a:avLst/>
          </a:prstGeom>
          <a:noFill/>
          <a:ln/>
        </p:spPr>
        <p:txBody>
          <a:bodyPr wrap="square" rtlCol="0" anchor="ctr"/>
          <a:lstStyle/>
          <a:p>
            <a:pPr algn="ctr" indent="0" marL="0">
              <a:buNone/>
            </a:pPr>
            <a:r>
              <a:rPr lang="en-US" sz="1400" b="1" dirty="0">
                <a:solidFill>
                  <a:srgbClr val="D6EEF8"/>
                </a:solidFill>
                <a:latin typeface="Arial" pitchFamily="34" charset="0"/>
                <a:ea typeface="Arial" pitchFamily="34" charset="-122"/>
                <a:cs typeface="Arial" pitchFamily="34" charset="-120"/>
              </a:rPr>
              <a:t>TALK 2 OF 3</a:t>
            </a:r>
            <a:endParaRPr lang="en-US" sz="1400" dirty="0"/>
          </a:p>
        </p:txBody>
      </p:sp>
      <p:pic>
        <p:nvPicPr>
          <p:cNvPr id="5" name="Image 0" descr="/home/claude/nuccol_logo_header.jpg">    </p:cNvPr>
          <p:cNvPicPr>
            <a:picLocks noChangeAspect="1"/>
          </p:cNvPicPr>
          <p:nvPr/>
        </p:nvPicPr>
        <p:blipFill>
          <a:blip r:embed="rId1"/>
          <a:stretch>
            <a:fillRect/>
          </a:stretch>
        </p:blipFill>
        <p:spPr>
          <a:xfrm>
            <a:off x="3566160" y="960120"/>
            <a:ext cx="2011680" cy="1280160"/>
          </a:xfrm>
          <a:prstGeom prst="rect">
            <a:avLst/>
          </a:prstGeom>
        </p:spPr>
      </p:pic>
      <p:sp>
        <p:nvSpPr>
          <p:cNvPr id="6" name="Text 3"/>
          <p:cNvSpPr/>
          <p:nvPr/>
        </p:nvSpPr>
        <p:spPr>
          <a:xfrm>
            <a:off x="457200" y="2726055"/>
            <a:ext cx="8229600" cy="82296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Warning Signs at Purchasing and Goods Receipt</a:t>
            </a:r>
            <a:endParaRPr lang="en-US" sz="2600" dirty="0"/>
          </a:p>
        </p:txBody>
      </p:sp>
      <p:sp>
        <p:nvSpPr>
          <p:cNvPr id="7" name="Text 4"/>
          <p:cNvSpPr/>
          <p:nvPr/>
        </p:nvSpPr>
        <p:spPr>
          <a:xfrm>
            <a:off x="457200" y="3503295"/>
            <a:ext cx="8229600" cy="640080"/>
          </a:xfrm>
          <a:prstGeom prst="rect">
            <a:avLst/>
          </a:prstGeom>
          <a:noFill/>
          <a:ln/>
        </p:spPr>
        <p:txBody>
          <a:bodyPr wrap="square" rtlCol="0" anchor="ctr"/>
          <a:lstStyle/>
          <a:p>
            <a:pPr algn="ctr" indent="0" marL="0">
              <a:buNone/>
            </a:pPr>
            <a:r>
              <a:rPr lang="en-US" sz="1300" dirty="0">
                <a:solidFill>
                  <a:srgbClr val="D6EEF8"/>
                </a:solidFill>
                <a:latin typeface="Arial" pitchFamily="34" charset="0"/>
                <a:ea typeface="Arial" pitchFamily="34" charset="-122"/>
                <a:cs typeface="Arial" pitchFamily="34" charset="-120"/>
              </a:rPr>
              <a:t>Talk 2 of 3: The indicators to look for before and when items arrive</a:t>
            </a:r>
            <a:endParaRPr lang="en-US" sz="1300" dirty="0"/>
          </a:p>
        </p:txBody>
      </p:sp>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3348F"/>
          </a:solidFill>
          <a:ln w="12700">
            <a:solidFill>
              <a:srgbClr val="83348F"/>
            </a:solidFill>
            <a:prstDash val="solid"/>
          </a:ln>
        </p:spPr>
      </p:sp>
      <p:sp>
        <p:nvSpPr>
          <p:cNvPr id="3" name="Text 1"/>
          <p:cNvSpPr/>
          <p:nvPr/>
        </p:nvSpPr>
        <p:spPr>
          <a:xfrm>
            <a:off x="274320" y="73152"/>
            <a:ext cx="7955280" cy="59436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Two Lines of Defence</a:t>
            </a:r>
            <a:endParaRPr lang="en-US" sz="1900" dirty="0"/>
          </a:p>
        </p:txBody>
      </p:sp>
      <p:pic>
        <p:nvPicPr>
          <p:cNvPr id="5" name="Image 1" descr="preencoded.png">    </p:cNvPr>
          <p:cNvPicPr>
            <a:picLocks noChangeAspect="1"/>
          </p:cNvPicPr>
          <p:nvPr/>
        </p:nvPicPr>
        <p:blipFill>
          <a:blip r:embed="rId2"/>
          <a:stretch>
            <a:fillRect/>
          </a:stretch>
        </p:blipFill>
        <p:spPr>
          <a:xfrm>
            <a:off x="365760" y="960120"/>
            <a:ext cx="2423160" cy="2423160"/>
          </a:xfrm>
          <a:prstGeom prst="rect">
            <a:avLst/>
          </a:prstGeom>
        </p:spPr>
      </p:pic>
      <p:sp>
        <p:nvSpPr>
          <p:cNvPr id="6" name="Text 2"/>
          <p:cNvSpPr/>
          <p:nvPr/>
        </p:nvSpPr>
        <p:spPr>
          <a:xfrm>
            <a:off x="3291840" y="841248"/>
            <a:ext cx="5486400" cy="3291840"/>
          </a:xfrm>
          <a:prstGeom prst="rect">
            <a:avLst/>
          </a:prstGeom>
          <a:noFill/>
          <a:ln/>
        </p:spPr>
        <p:txBody>
          <a:bodyPr wrap="square" rtlCol="0" anchor="t"/>
          <a:lstStyle/>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CFSI prevention has two distinct stages: purchasing and goods receipt</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Purchasing defence: recognise risk before you order, and apply enhanced scrutiny</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Goods receipt defence: inspect every delivery on a nuclear contract against the nine warning sign categories</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Both lines matter. Passing either without adequate checks creates a CFSI risk</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The checklists and tools exist so neither defence relies on individual judgement alone</a:t>
            </a:r>
            <a:endParaRPr lang="en-US" sz="1200" dirty="0"/>
          </a:p>
        </p:txBody>
      </p:sp>
      <p:sp>
        <p:nvSpPr>
          <p:cNvPr id="7" name="Shape 3"/>
          <p:cNvSpPr/>
          <p:nvPr/>
        </p:nvSpPr>
        <p:spPr>
          <a:xfrm>
            <a:off x="320040" y="4183380"/>
            <a:ext cx="8503920" cy="594360"/>
          </a:xfrm>
          <a:prstGeom prst="roundRect">
            <a:avLst>
              <a:gd name="adj" fmla="val 9231"/>
            </a:avLst>
          </a:prstGeom>
          <a:solidFill>
            <a:srgbClr val="D6EEF8"/>
          </a:solidFill>
          <a:ln w="12700">
            <a:solidFill>
              <a:srgbClr val="009FE3"/>
            </a:solidFill>
            <a:prstDash val="solid"/>
          </a:ln>
        </p:spPr>
      </p:sp>
      <p:sp>
        <p:nvSpPr>
          <p:cNvPr id="8" name="Text 4"/>
          <p:cNvSpPr/>
          <p:nvPr/>
        </p:nvSpPr>
        <p:spPr>
          <a:xfrm>
            <a:off x="457200" y="4192524"/>
            <a:ext cx="8229600" cy="585216"/>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Refer to NSS-03g Section 3 for purchasing warnings and Section 4 for goods receipt warnings.</a:t>
            </a:r>
            <a:endParaRPr lang="en-US" sz="950" dirty="0"/>
          </a:p>
        </p:txBody>
      </p:sp>
      <p:sp>
        <p:nvSpPr>
          <p:cNvPr id="11" name="Text 7"/>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2 OF 3</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0000"/>
          </a:solidFill>
          <a:ln w="12700">
            <a:solidFill>
              <a:srgbClr val="8B0000"/>
            </a:solidFill>
            <a:prstDash val="solid"/>
          </a:ln>
        </p:spPr>
      </p:sp>
      <p:sp>
        <p:nvSpPr>
          <p:cNvPr id="3" name="Text 1"/>
          <p:cNvSpPr/>
          <p:nvPr/>
        </p:nvSpPr>
        <p:spPr>
          <a:xfrm>
            <a:off x="274320" y="73152"/>
            <a:ext cx="7955280" cy="594360"/>
          </a:xfrm>
          <a:prstGeom prst="rect">
            <a:avLst/>
          </a:prstGeom>
          <a:noFill/>
          <a:ln/>
        </p:spPr>
        <p:txBody>
          <a:bodyPr wrap="square"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6 Purchasing Warning Signs</a:t>
            </a:r>
            <a:endParaRPr lang="en-US" sz="1800" dirty="0"/>
          </a:p>
        </p:txBody>
      </p:sp>
      <p:sp>
        <p:nvSpPr>
          <p:cNvPr id="5" name="Shape 2"/>
          <p:cNvSpPr/>
          <p:nvPr/>
        </p:nvSpPr>
        <p:spPr>
          <a:xfrm>
            <a:off x="228600" y="868680"/>
            <a:ext cx="4343400" cy="914400"/>
          </a:xfrm>
          <a:prstGeom prst="roundRect">
            <a:avLst>
              <a:gd name="adj" fmla="val 5000"/>
            </a:avLst>
          </a:prstGeom>
          <a:solidFill>
            <a:srgbClr val="FBE8E8"/>
          </a:solidFill>
          <a:ln w="12700">
            <a:solidFill>
              <a:srgbClr val="CC0000"/>
            </a:solidFill>
            <a:prstDash val="solid"/>
          </a:ln>
        </p:spPr>
      </p:sp>
      <p:sp>
        <p:nvSpPr>
          <p:cNvPr id="6" name="Text 3"/>
          <p:cNvSpPr/>
          <p:nvPr/>
        </p:nvSpPr>
        <p:spPr>
          <a:xfrm>
            <a:off x="301752" y="923544"/>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1</a:t>
            </a:r>
            <a:endParaRPr lang="en-US" sz="2000" dirty="0"/>
          </a:p>
        </p:txBody>
      </p:sp>
      <p:sp>
        <p:nvSpPr>
          <p:cNvPr id="7" name="Text 4"/>
          <p:cNvSpPr/>
          <p:nvPr/>
        </p:nvSpPr>
        <p:spPr>
          <a:xfrm>
            <a:off x="795528" y="914400"/>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Unusual Availability</a:t>
            </a:r>
            <a:endParaRPr lang="en-US" sz="1200" dirty="0"/>
          </a:p>
        </p:txBody>
      </p:sp>
      <p:sp>
        <p:nvSpPr>
          <p:cNvPr id="8" name="Text 5"/>
          <p:cNvSpPr/>
          <p:nvPr/>
        </p:nvSpPr>
        <p:spPr>
          <a:xfrm>
            <a:off x="320040" y="1325880"/>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Obsolete or hard-to-source item suddenly available from a non-approved source</a:t>
            </a:r>
            <a:endParaRPr lang="en-US" sz="950" dirty="0"/>
          </a:p>
        </p:txBody>
      </p:sp>
      <p:sp>
        <p:nvSpPr>
          <p:cNvPr id="9" name="Shape 6"/>
          <p:cNvSpPr/>
          <p:nvPr/>
        </p:nvSpPr>
        <p:spPr>
          <a:xfrm>
            <a:off x="4617720" y="868680"/>
            <a:ext cx="4343400" cy="914400"/>
          </a:xfrm>
          <a:prstGeom prst="roundRect">
            <a:avLst>
              <a:gd name="adj" fmla="val 5000"/>
            </a:avLst>
          </a:prstGeom>
          <a:solidFill>
            <a:srgbClr val="FBE8E8"/>
          </a:solidFill>
          <a:ln w="12700">
            <a:solidFill>
              <a:srgbClr val="CC0000"/>
            </a:solidFill>
            <a:prstDash val="solid"/>
          </a:ln>
        </p:spPr>
      </p:sp>
      <p:sp>
        <p:nvSpPr>
          <p:cNvPr id="10" name="Text 7"/>
          <p:cNvSpPr/>
          <p:nvPr/>
        </p:nvSpPr>
        <p:spPr>
          <a:xfrm>
            <a:off x="4690872" y="923544"/>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2</a:t>
            </a:r>
            <a:endParaRPr lang="en-US" sz="2000" dirty="0"/>
          </a:p>
        </p:txBody>
      </p:sp>
      <p:sp>
        <p:nvSpPr>
          <p:cNvPr id="11" name="Text 8"/>
          <p:cNvSpPr/>
          <p:nvPr/>
        </p:nvSpPr>
        <p:spPr>
          <a:xfrm>
            <a:off x="5184648" y="914400"/>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Unusual Supplier / Location</a:t>
            </a:r>
            <a:endParaRPr lang="en-US" sz="1200" dirty="0"/>
          </a:p>
        </p:txBody>
      </p:sp>
      <p:sp>
        <p:nvSpPr>
          <p:cNvPr id="12" name="Text 9"/>
          <p:cNvSpPr/>
          <p:nvPr/>
        </p:nvSpPr>
        <p:spPr>
          <a:xfrm>
            <a:off x="4709160" y="1325880"/>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Item offered by a supplier or from a country you have not used before</a:t>
            </a:r>
            <a:endParaRPr lang="en-US" sz="950" dirty="0"/>
          </a:p>
        </p:txBody>
      </p:sp>
      <p:sp>
        <p:nvSpPr>
          <p:cNvPr id="13" name="Shape 10"/>
          <p:cNvSpPr/>
          <p:nvPr/>
        </p:nvSpPr>
        <p:spPr>
          <a:xfrm>
            <a:off x="228600" y="1856232"/>
            <a:ext cx="4343400" cy="914400"/>
          </a:xfrm>
          <a:prstGeom prst="roundRect">
            <a:avLst>
              <a:gd name="adj" fmla="val 5000"/>
            </a:avLst>
          </a:prstGeom>
          <a:solidFill>
            <a:srgbClr val="FBE8E8"/>
          </a:solidFill>
          <a:ln w="12700">
            <a:solidFill>
              <a:srgbClr val="CC0000"/>
            </a:solidFill>
            <a:prstDash val="solid"/>
          </a:ln>
        </p:spPr>
      </p:sp>
      <p:sp>
        <p:nvSpPr>
          <p:cNvPr id="14" name="Text 11"/>
          <p:cNvSpPr/>
          <p:nvPr/>
        </p:nvSpPr>
        <p:spPr>
          <a:xfrm>
            <a:off x="301752" y="1911096"/>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3</a:t>
            </a:r>
            <a:endParaRPr lang="en-US" sz="2000" dirty="0"/>
          </a:p>
        </p:txBody>
      </p:sp>
      <p:sp>
        <p:nvSpPr>
          <p:cNvPr id="15" name="Text 12"/>
          <p:cNvSpPr/>
          <p:nvPr/>
        </p:nvSpPr>
        <p:spPr>
          <a:xfrm>
            <a:off x="795528" y="1901952"/>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Below-Market Price</a:t>
            </a:r>
            <a:endParaRPr lang="en-US" sz="1200" dirty="0"/>
          </a:p>
        </p:txBody>
      </p:sp>
      <p:sp>
        <p:nvSpPr>
          <p:cNvPr id="16" name="Text 13"/>
          <p:cNvSpPr/>
          <p:nvPr/>
        </p:nvSpPr>
        <p:spPr>
          <a:xfrm>
            <a:off x="320040" y="2313432"/>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Price significantly lower than market rate or your previous purchases</a:t>
            </a:r>
            <a:endParaRPr lang="en-US" sz="950" dirty="0"/>
          </a:p>
        </p:txBody>
      </p:sp>
      <p:sp>
        <p:nvSpPr>
          <p:cNvPr id="17" name="Shape 14"/>
          <p:cNvSpPr/>
          <p:nvPr/>
        </p:nvSpPr>
        <p:spPr>
          <a:xfrm>
            <a:off x="4617720" y="1856232"/>
            <a:ext cx="4343400" cy="914400"/>
          </a:xfrm>
          <a:prstGeom prst="roundRect">
            <a:avLst>
              <a:gd name="adj" fmla="val 5000"/>
            </a:avLst>
          </a:prstGeom>
          <a:solidFill>
            <a:srgbClr val="FBE8E8"/>
          </a:solidFill>
          <a:ln w="12700">
            <a:solidFill>
              <a:srgbClr val="CC0000"/>
            </a:solidFill>
            <a:prstDash val="solid"/>
          </a:ln>
        </p:spPr>
      </p:sp>
      <p:sp>
        <p:nvSpPr>
          <p:cNvPr id="18" name="Text 15"/>
          <p:cNvSpPr/>
          <p:nvPr/>
        </p:nvSpPr>
        <p:spPr>
          <a:xfrm>
            <a:off x="4690872" y="1911096"/>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4</a:t>
            </a:r>
            <a:endParaRPr lang="en-US" sz="2000" dirty="0"/>
          </a:p>
        </p:txBody>
      </p:sp>
      <p:sp>
        <p:nvSpPr>
          <p:cNvPr id="19" name="Text 16"/>
          <p:cNvSpPr/>
          <p:nvPr/>
        </p:nvSpPr>
        <p:spPr>
          <a:xfrm>
            <a:off x="5184648" y="1901952"/>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Short Lead Time</a:t>
            </a:r>
            <a:endParaRPr lang="en-US" sz="1200" dirty="0"/>
          </a:p>
        </p:txBody>
      </p:sp>
      <p:sp>
        <p:nvSpPr>
          <p:cNvPr id="20" name="Text 17"/>
          <p:cNvSpPr/>
          <p:nvPr/>
        </p:nvSpPr>
        <p:spPr>
          <a:xfrm>
            <a:off x="4709160" y="2313432"/>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Delivery offered much faster than normal for this item type</a:t>
            </a:r>
            <a:endParaRPr lang="en-US" sz="950" dirty="0"/>
          </a:p>
        </p:txBody>
      </p:sp>
      <p:sp>
        <p:nvSpPr>
          <p:cNvPr id="21" name="Shape 18"/>
          <p:cNvSpPr/>
          <p:nvPr/>
        </p:nvSpPr>
        <p:spPr>
          <a:xfrm>
            <a:off x="228600" y="2843784"/>
            <a:ext cx="4343400" cy="914400"/>
          </a:xfrm>
          <a:prstGeom prst="roundRect">
            <a:avLst>
              <a:gd name="adj" fmla="val 5000"/>
            </a:avLst>
          </a:prstGeom>
          <a:solidFill>
            <a:srgbClr val="FBE8E8"/>
          </a:solidFill>
          <a:ln w="12700">
            <a:solidFill>
              <a:srgbClr val="CC0000"/>
            </a:solidFill>
            <a:prstDash val="solid"/>
          </a:ln>
        </p:spPr>
      </p:sp>
      <p:sp>
        <p:nvSpPr>
          <p:cNvPr id="22" name="Text 19"/>
          <p:cNvSpPr/>
          <p:nvPr/>
        </p:nvSpPr>
        <p:spPr>
          <a:xfrm>
            <a:off x="301752" y="2898648"/>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5</a:t>
            </a:r>
            <a:endParaRPr lang="en-US" sz="2000" dirty="0"/>
          </a:p>
        </p:txBody>
      </p:sp>
      <p:sp>
        <p:nvSpPr>
          <p:cNvPr id="23" name="Text 20"/>
          <p:cNvSpPr/>
          <p:nvPr/>
        </p:nvSpPr>
        <p:spPr>
          <a:xfrm>
            <a:off x="795528" y="2889504"/>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Unverifiable Ownership Chain</a:t>
            </a:r>
            <a:endParaRPr lang="en-US" sz="1200" dirty="0"/>
          </a:p>
        </p:txBody>
      </p:sp>
      <p:sp>
        <p:nvSpPr>
          <p:cNvPr id="24" name="Text 21"/>
          <p:cNvSpPr/>
          <p:nvPr/>
        </p:nvSpPr>
        <p:spPr>
          <a:xfrm>
            <a:off x="320040" y="3300984"/>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Traceability to the OEM cannot be established</a:t>
            </a:r>
            <a:endParaRPr lang="en-US" sz="950" dirty="0"/>
          </a:p>
        </p:txBody>
      </p:sp>
      <p:sp>
        <p:nvSpPr>
          <p:cNvPr id="25" name="Shape 22"/>
          <p:cNvSpPr/>
          <p:nvPr/>
        </p:nvSpPr>
        <p:spPr>
          <a:xfrm>
            <a:off x="4617720" y="2843784"/>
            <a:ext cx="4343400" cy="914400"/>
          </a:xfrm>
          <a:prstGeom prst="roundRect">
            <a:avLst>
              <a:gd name="adj" fmla="val 5000"/>
            </a:avLst>
          </a:prstGeom>
          <a:solidFill>
            <a:srgbClr val="FBE8E8"/>
          </a:solidFill>
          <a:ln w="12700">
            <a:solidFill>
              <a:srgbClr val="CC0000"/>
            </a:solidFill>
            <a:prstDash val="solid"/>
          </a:ln>
        </p:spPr>
      </p:sp>
      <p:sp>
        <p:nvSpPr>
          <p:cNvPr id="26" name="Text 23"/>
          <p:cNvSpPr/>
          <p:nvPr/>
        </p:nvSpPr>
        <p:spPr>
          <a:xfrm>
            <a:off x="4690872" y="2898648"/>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6</a:t>
            </a:r>
            <a:endParaRPr lang="en-US" sz="2000" dirty="0"/>
          </a:p>
        </p:txBody>
      </p:sp>
      <p:sp>
        <p:nvSpPr>
          <p:cNvPr id="27" name="Text 24"/>
          <p:cNvSpPr/>
          <p:nvPr/>
        </p:nvSpPr>
        <p:spPr>
          <a:xfrm>
            <a:off x="5184648" y="2889504"/>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Grey Market Supply</a:t>
            </a:r>
            <a:endParaRPr lang="en-US" sz="1200" dirty="0"/>
          </a:p>
        </p:txBody>
      </p:sp>
      <p:sp>
        <p:nvSpPr>
          <p:cNvPr id="28" name="Text 25"/>
          <p:cNvSpPr/>
          <p:nvPr/>
        </p:nvSpPr>
        <p:spPr>
          <a:xfrm>
            <a:off x="4709160" y="3300984"/>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Not supplied by the OEM or an OEM-authorised distributor</a:t>
            </a:r>
            <a:endParaRPr lang="en-US" sz="950" dirty="0"/>
          </a:p>
        </p:txBody>
      </p:sp>
      <p:sp>
        <p:nvSpPr>
          <p:cNvPr id="31" name="Text 28"/>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2 OF 3</a:t>
            </a:r>
            <a:endParaRPr lang="en-US" sz="800" dirty="0"/>
          </a:p>
        </p:txBody>
      </p:sp>
      <p:sp>
        <p:nvSpPr>
          <p:cNvPr id="32" name="Rectangle 3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5"/>
          <a:stretch>
            <a:fillRect/>
          </a:stretch>
        </p:blipFill>
        <p:spPr>
          <a:xfrm>
            <a:off x="7562088" y="100584"/>
            <a:ext cx="566928" cy="347472"/>
          </a:xfrm>
          <a:prstGeom prst="rect">
            <a:avLst/>
          </a:prstGeom>
        </p:spPr>
      </p:pic>
      <p:pic>
        <p:nvPicPr>
          <p:cNvPr id="34" name="Picture 33" descr="image.png"/>
          <p:cNvPicPr>
            <a:picLocks noChangeAspect="1"/>
          </p:cNvPicPr>
          <p:nvPr/>
        </p:nvPicPr>
        <p:blipFill>
          <a:blip r:embed="rId4"/>
          <a:stretch>
            <a:fillRect/>
          </a:stretch>
        </p:blipFill>
        <p:spPr>
          <a:xfrm>
            <a:off x="8174736" y="100584"/>
            <a:ext cx="658368" cy="347472"/>
          </a:xfrm>
          <a:prstGeom prst="rect">
            <a:avLst/>
          </a:prstGeom>
        </p:spPr>
      </p:pic>
      <p:sp>
        <p:nvSpPr>
          <p:cNvPr id="35" name="Rectangle 3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0000"/>
          </a:solidFill>
          <a:ln w="12700">
            <a:solidFill>
              <a:srgbClr val="8B0000"/>
            </a:solidFill>
            <a:prstDash val="solid"/>
          </a:ln>
        </p:spPr>
      </p:sp>
      <p:sp>
        <p:nvSpPr>
          <p:cNvPr id="3" name="Text 1"/>
          <p:cNvSpPr/>
          <p:nvPr/>
        </p:nvSpPr>
        <p:spPr>
          <a:xfrm>
            <a:off x="274320" y="73152"/>
            <a:ext cx="7955280" cy="594360"/>
          </a:xfrm>
          <a:prstGeom prst="rect">
            <a:avLst/>
          </a:prstGeom>
          <a:noFill/>
          <a:ln/>
        </p:spPr>
        <p:txBody>
          <a:bodyPr wrap="square"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9 Goods Receipt Warning Signs (Part 1: Documentation and Physical)</a:t>
            </a:r>
            <a:endParaRPr lang="en-US" sz="1800" dirty="0"/>
          </a:p>
        </p:txBody>
      </p:sp>
      <p:sp>
        <p:nvSpPr>
          <p:cNvPr id="5" name="Shape 2"/>
          <p:cNvSpPr/>
          <p:nvPr/>
        </p:nvSpPr>
        <p:spPr>
          <a:xfrm>
            <a:off x="228600" y="868680"/>
            <a:ext cx="4343400" cy="914400"/>
          </a:xfrm>
          <a:prstGeom prst="roundRect">
            <a:avLst>
              <a:gd name="adj" fmla="val 5000"/>
            </a:avLst>
          </a:prstGeom>
          <a:solidFill>
            <a:srgbClr val="FBE8E8"/>
          </a:solidFill>
          <a:ln w="12700">
            <a:solidFill>
              <a:srgbClr val="CC0000"/>
            </a:solidFill>
            <a:prstDash val="solid"/>
          </a:ln>
        </p:spPr>
      </p:sp>
      <p:sp>
        <p:nvSpPr>
          <p:cNvPr id="6" name="Text 3"/>
          <p:cNvSpPr/>
          <p:nvPr/>
        </p:nvSpPr>
        <p:spPr>
          <a:xfrm>
            <a:off x="301752" y="923544"/>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1</a:t>
            </a:r>
            <a:endParaRPr lang="en-US" sz="2000" dirty="0"/>
          </a:p>
        </p:txBody>
      </p:sp>
      <p:sp>
        <p:nvSpPr>
          <p:cNvPr id="7" name="Text 4"/>
          <p:cNvSpPr/>
          <p:nvPr/>
        </p:nvSpPr>
        <p:spPr>
          <a:xfrm>
            <a:off x="795528" y="914400"/>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Paperwork Anomalies</a:t>
            </a:r>
            <a:endParaRPr lang="en-US" sz="1200" dirty="0"/>
          </a:p>
        </p:txBody>
      </p:sp>
      <p:sp>
        <p:nvSpPr>
          <p:cNvPr id="8" name="Text 5"/>
          <p:cNvSpPr/>
          <p:nvPr/>
        </p:nvSpPr>
        <p:spPr>
          <a:xfrm>
            <a:off x="320040" y="1325880"/>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Poor spelling, grammar errors, signs of tampering, incorrect or missing information</a:t>
            </a:r>
            <a:endParaRPr lang="en-US" sz="950" dirty="0"/>
          </a:p>
        </p:txBody>
      </p:sp>
      <p:sp>
        <p:nvSpPr>
          <p:cNvPr id="9" name="Shape 6"/>
          <p:cNvSpPr/>
          <p:nvPr/>
        </p:nvSpPr>
        <p:spPr>
          <a:xfrm>
            <a:off x="4617720" y="868680"/>
            <a:ext cx="4343400" cy="914400"/>
          </a:xfrm>
          <a:prstGeom prst="roundRect">
            <a:avLst>
              <a:gd name="adj" fmla="val 5000"/>
            </a:avLst>
          </a:prstGeom>
          <a:solidFill>
            <a:srgbClr val="FBE8E8"/>
          </a:solidFill>
          <a:ln w="12700">
            <a:solidFill>
              <a:srgbClr val="CC0000"/>
            </a:solidFill>
            <a:prstDash val="solid"/>
          </a:ln>
        </p:spPr>
      </p:sp>
      <p:sp>
        <p:nvSpPr>
          <p:cNvPr id="10" name="Text 7"/>
          <p:cNvSpPr/>
          <p:nvPr/>
        </p:nvSpPr>
        <p:spPr>
          <a:xfrm>
            <a:off x="4690872" y="923544"/>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2</a:t>
            </a:r>
            <a:endParaRPr lang="en-US" sz="2000" dirty="0"/>
          </a:p>
        </p:txBody>
      </p:sp>
      <p:sp>
        <p:nvSpPr>
          <p:cNvPr id="11" name="Text 8"/>
          <p:cNvSpPr/>
          <p:nvPr/>
        </p:nvSpPr>
        <p:spPr>
          <a:xfrm>
            <a:off x="5184648" y="914400"/>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Certificate Issues</a:t>
            </a:r>
            <a:endParaRPr lang="en-US" sz="1200" dirty="0"/>
          </a:p>
        </p:txBody>
      </p:sp>
      <p:sp>
        <p:nvSpPr>
          <p:cNvPr id="12" name="Text 9"/>
          <p:cNvSpPr/>
          <p:nvPr/>
        </p:nvSpPr>
        <p:spPr>
          <a:xfrm>
            <a:off x="4709160" y="1325880"/>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Alterations, Tippex, not traceable to items, or superseded standards referenced</a:t>
            </a:r>
            <a:endParaRPr lang="en-US" sz="950" dirty="0"/>
          </a:p>
        </p:txBody>
      </p:sp>
      <p:sp>
        <p:nvSpPr>
          <p:cNvPr id="13" name="Shape 10"/>
          <p:cNvSpPr/>
          <p:nvPr/>
        </p:nvSpPr>
        <p:spPr>
          <a:xfrm>
            <a:off x="228600" y="1856232"/>
            <a:ext cx="4343400" cy="914400"/>
          </a:xfrm>
          <a:prstGeom prst="roundRect">
            <a:avLst>
              <a:gd name="adj" fmla="val 5000"/>
            </a:avLst>
          </a:prstGeom>
          <a:solidFill>
            <a:srgbClr val="FBE8E8"/>
          </a:solidFill>
          <a:ln w="12700">
            <a:solidFill>
              <a:srgbClr val="CC0000"/>
            </a:solidFill>
            <a:prstDash val="solid"/>
          </a:ln>
        </p:spPr>
      </p:sp>
      <p:sp>
        <p:nvSpPr>
          <p:cNvPr id="14" name="Text 11"/>
          <p:cNvSpPr/>
          <p:nvPr/>
        </p:nvSpPr>
        <p:spPr>
          <a:xfrm>
            <a:off x="301752" y="1911096"/>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3</a:t>
            </a:r>
            <a:endParaRPr lang="en-US" sz="2000" dirty="0"/>
          </a:p>
        </p:txBody>
      </p:sp>
      <p:sp>
        <p:nvSpPr>
          <p:cNvPr id="15" name="Text 12"/>
          <p:cNvSpPr/>
          <p:nvPr/>
        </p:nvSpPr>
        <p:spPr>
          <a:xfrm>
            <a:off x="795528" y="1901952"/>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Packaging Differences</a:t>
            </a:r>
            <a:endParaRPr lang="en-US" sz="1200" dirty="0"/>
          </a:p>
        </p:txBody>
      </p:sp>
      <p:sp>
        <p:nvSpPr>
          <p:cNvPr id="16" name="Text 13"/>
          <p:cNvSpPr/>
          <p:nvPr/>
        </p:nvSpPr>
        <p:spPr>
          <a:xfrm>
            <a:off x="320040" y="2313432"/>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Colour, font, logo, or layout different from previous genuine deliveries</a:t>
            </a:r>
            <a:endParaRPr lang="en-US" sz="950" dirty="0"/>
          </a:p>
        </p:txBody>
      </p:sp>
      <p:sp>
        <p:nvSpPr>
          <p:cNvPr id="17" name="Shape 14"/>
          <p:cNvSpPr/>
          <p:nvPr/>
        </p:nvSpPr>
        <p:spPr>
          <a:xfrm>
            <a:off x="4617720" y="1856232"/>
            <a:ext cx="4343400" cy="914400"/>
          </a:xfrm>
          <a:prstGeom prst="roundRect">
            <a:avLst>
              <a:gd name="adj" fmla="val 5000"/>
            </a:avLst>
          </a:prstGeom>
          <a:solidFill>
            <a:srgbClr val="FBE8E8"/>
          </a:solidFill>
          <a:ln w="12700">
            <a:solidFill>
              <a:srgbClr val="CC0000"/>
            </a:solidFill>
            <a:prstDash val="solid"/>
          </a:ln>
        </p:spPr>
      </p:sp>
      <p:sp>
        <p:nvSpPr>
          <p:cNvPr id="18" name="Text 15"/>
          <p:cNvSpPr/>
          <p:nvPr/>
        </p:nvSpPr>
        <p:spPr>
          <a:xfrm>
            <a:off x="4690872" y="1911096"/>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4</a:t>
            </a:r>
            <a:endParaRPr lang="en-US" sz="2000" dirty="0"/>
          </a:p>
        </p:txBody>
      </p:sp>
      <p:sp>
        <p:nvSpPr>
          <p:cNvPr id="19" name="Text 16"/>
          <p:cNvSpPr/>
          <p:nvPr/>
        </p:nvSpPr>
        <p:spPr>
          <a:xfrm>
            <a:off x="5184648" y="1901952"/>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Product Condition</a:t>
            </a:r>
            <a:endParaRPr lang="en-US" sz="1200" dirty="0"/>
          </a:p>
        </p:txBody>
      </p:sp>
      <p:sp>
        <p:nvSpPr>
          <p:cNvPr id="20" name="Text 17"/>
          <p:cNvSpPr/>
          <p:nvPr/>
        </p:nvSpPr>
        <p:spPr>
          <a:xfrm>
            <a:off x="4709160" y="2313432"/>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Evidence of rework, refinishing, or repainting on the items</a:t>
            </a:r>
            <a:endParaRPr lang="en-US" sz="950" dirty="0"/>
          </a:p>
        </p:txBody>
      </p:sp>
      <p:sp>
        <p:nvSpPr>
          <p:cNvPr id="21" name="Shape 18"/>
          <p:cNvSpPr/>
          <p:nvPr/>
        </p:nvSpPr>
        <p:spPr>
          <a:xfrm>
            <a:off x="228600" y="2843784"/>
            <a:ext cx="4343400" cy="914400"/>
          </a:xfrm>
          <a:prstGeom prst="roundRect">
            <a:avLst>
              <a:gd name="adj" fmla="val 5000"/>
            </a:avLst>
          </a:prstGeom>
          <a:solidFill>
            <a:srgbClr val="FBE8E8"/>
          </a:solidFill>
          <a:ln w="12700">
            <a:solidFill>
              <a:srgbClr val="CC0000"/>
            </a:solidFill>
            <a:prstDash val="solid"/>
          </a:ln>
        </p:spPr>
      </p:sp>
      <p:sp>
        <p:nvSpPr>
          <p:cNvPr id="22" name="Text 19"/>
          <p:cNvSpPr/>
          <p:nvPr/>
        </p:nvSpPr>
        <p:spPr>
          <a:xfrm>
            <a:off x="301752" y="2898648"/>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5</a:t>
            </a:r>
            <a:endParaRPr lang="en-US" sz="2000" dirty="0"/>
          </a:p>
        </p:txBody>
      </p:sp>
      <p:sp>
        <p:nvSpPr>
          <p:cNvPr id="23" name="Text 20"/>
          <p:cNvSpPr/>
          <p:nvPr/>
        </p:nvSpPr>
        <p:spPr>
          <a:xfrm>
            <a:off x="795528" y="2889504"/>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ID Mark Anomalies</a:t>
            </a:r>
            <a:endParaRPr lang="en-US" sz="1200" dirty="0"/>
          </a:p>
        </p:txBody>
      </p:sp>
      <p:sp>
        <p:nvSpPr>
          <p:cNvPr id="24" name="Text 21"/>
          <p:cNvSpPr/>
          <p:nvPr/>
        </p:nvSpPr>
        <p:spPr>
          <a:xfrm>
            <a:off x="320040" y="3300984"/>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Marks altered, missing, smudged, or using a different marking method than expected</a:t>
            </a:r>
            <a:endParaRPr lang="en-US" sz="950" dirty="0"/>
          </a:p>
        </p:txBody>
      </p:sp>
      <p:sp>
        <p:nvSpPr>
          <p:cNvPr id="25" name="Shape 22"/>
          <p:cNvSpPr/>
          <p:nvPr/>
        </p:nvSpPr>
        <p:spPr>
          <a:xfrm>
            <a:off x="4617720" y="2843784"/>
            <a:ext cx="4343400" cy="914400"/>
          </a:xfrm>
          <a:prstGeom prst="roundRect">
            <a:avLst>
              <a:gd name="adj" fmla="val 5000"/>
            </a:avLst>
          </a:prstGeom>
          <a:solidFill>
            <a:srgbClr val="FBE8E8"/>
          </a:solidFill>
          <a:ln w="12700">
            <a:solidFill>
              <a:srgbClr val="CC0000"/>
            </a:solidFill>
            <a:prstDash val="solid"/>
          </a:ln>
        </p:spPr>
      </p:sp>
      <p:sp>
        <p:nvSpPr>
          <p:cNvPr id="26" name="Text 23"/>
          <p:cNvSpPr/>
          <p:nvPr/>
        </p:nvSpPr>
        <p:spPr>
          <a:xfrm>
            <a:off x="4690872" y="2898648"/>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6</a:t>
            </a:r>
            <a:endParaRPr lang="en-US" sz="2000" dirty="0"/>
          </a:p>
        </p:txBody>
      </p:sp>
      <p:sp>
        <p:nvSpPr>
          <p:cNvPr id="27" name="Text 24"/>
          <p:cNvSpPr/>
          <p:nvPr/>
        </p:nvSpPr>
        <p:spPr>
          <a:xfrm>
            <a:off x="5184648" y="2889504"/>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Lot Information Issues</a:t>
            </a:r>
            <a:endParaRPr lang="en-US" sz="1200" dirty="0"/>
          </a:p>
        </p:txBody>
      </p:sp>
      <p:sp>
        <p:nvSpPr>
          <p:cNvPr id="28" name="Text 25"/>
          <p:cNvSpPr/>
          <p:nvPr/>
        </p:nvSpPr>
        <p:spPr>
          <a:xfrm>
            <a:off x="4709160" y="3300984"/>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Batch/serial numbers unusual for this supplier or missing entirely</a:t>
            </a:r>
            <a:endParaRPr lang="en-US" sz="950" dirty="0"/>
          </a:p>
        </p:txBody>
      </p:sp>
      <p:sp>
        <p:nvSpPr>
          <p:cNvPr id="31" name="Text 28"/>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2 OF 3</a:t>
            </a:r>
            <a:endParaRPr lang="en-US" sz="800" dirty="0"/>
          </a:p>
        </p:txBody>
      </p:sp>
      <p:sp>
        <p:nvSpPr>
          <p:cNvPr id="32" name="Rectangle 3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5"/>
          <a:stretch>
            <a:fillRect/>
          </a:stretch>
        </p:blipFill>
        <p:spPr>
          <a:xfrm>
            <a:off x="7562088" y="100584"/>
            <a:ext cx="566928" cy="347472"/>
          </a:xfrm>
          <a:prstGeom prst="rect">
            <a:avLst/>
          </a:prstGeom>
        </p:spPr>
      </p:pic>
      <p:pic>
        <p:nvPicPr>
          <p:cNvPr id="34" name="Picture 33" descr="image.png"/>
          <p:cNvPicPr>
            <a:picLocks noChangeAspect="1"/>
          </p:cNvPicPr>
          <p:nvPr/>
        </p:nvPicPr>
        <p:blipFill>
          <a:blip r:embed="rId4"/>
          <a:stretch>
            <a:fillRect/>
          </a:stretch>
        </p:blipFill>
        <p:spPr>
          <a:xfrm>
            <a:off x="8174736" y="100584"/>
            <a:ext cx="658368" cy="347472"/>
          </a:xfrm>
          <a:prstGeom prst="rect">
            <a:avLst/>
          </a:prstGeom>
        </p:spPr>
      </p:pic>
      <p:sp>
        <p:nvSpPr>
          <p:cNvPr id="35" name="Rectangle 3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0000"/>
          </a:solidFill>
          <a:ln w="12700">
            <a:solidFill>
              <a:srgbClr val="8B0000"/>
            </a:solidFill>
            <a:prstDash val="solid"/>
          </a:ln>
        </p:spPr>
      </p:sp>
      <p:sp>
        <p:nvSpPr>
          <p:cNvPr id="3" name="Text 1"/>
          <p:cNvSpPr/>
          <p:nvPr/>
        </p:nvSpPr>
        <p:spPr>
          <a:xfrm>
            <a:off x="274320" y="73152"/>
            <a:ext cx="7955280" cy="594360"/>
          </a:xfrm>
          <a:prstGeom prst="rect">
            <a:avLst/>
          </a:prstGeom>
          <a:noFill/>
          <a:ln/>
        </p:spPr>
        <p:txBody>
          <a:bodyPr wrap="square"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9 Goods Receipt Warning Signs (Part 2: Certification and Appearance)</a:t>
            </a:r>
            <a:endParaRPr lang="en-US" sz="1800" dirty="0"/>
          </a:p>
        </p:txBody>
      </p:sp>
      <p:sp>
        <p:nvSpPr>
          <p:cNvPr id="5" name="Shape 2"/>
          <p:cNvSpPr/>
          <p:nvPr/>
        </p:nvSpPr>
        <p:spPr>
          <a:xfrm>
            <a:off x="228600" y="868680"/>
            <a:ext cx="4343400" cy="914400"/>
          </a:xfrm>
          <a:prstGeom prst="roundRect">
            <a:avLst>
              <a:gd name="adj" fmla="val 5000"/>
            </a:avLst>
          </a:prstGeom>
          <a:solidFill>
            <a:srgbClr val="FBE8E8"/>
          </a:solidFill>
          <a:ln w="12700">
            <a:solidFill>
              <a:srgbClr val="CC0000"/>
            </a:solidFill>
            <a:prstDash val="solid"/>
          </a:ln>
        </p:spPr>
      </p:sp>
      <p:sp>
        <p:nvSpPr>
          <p:cNvPr id="6" name="Text 3"/>
          <p:cNvSpPr/>
          <p:nvPr/>
        </p:nvSpPr>
        <p:spPr>
          <a:xfrm>
            <a:off x="301752" y="923544"/>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7</a:t>
            </a:r>
            <a:endParaRPr lang="en-US" sz="2000" dirty="0"/>
          </a:p>
        </p:txBody>
      </p:sp>
      <p:sp>
        <p:nvSpPr>
          <p:cNvPr id="7" name="Text 4"/>
          <p:cNvSpPr/>
          <p:nvPr/>
        </p:nvSpPr>
        <p:spPr>
          <a:xfrm>
            <a:off x="795528" y="914400"/>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OEM Cert Missing</a:t>
            </a:r>
            <a:endParaRPr lang="en-US" sz="1200" dirty="0"/>
          </a:p>
        </p:txBody>
      </p:sp>
      <p:sp>
        <p:nvSpPr>
          <p:cNvPr id="8" name="Text 5"/>
          <p:cNvSpPr/>
          <p:nvPr/>
        </p:nvSpPr>
        <p:spPr>
          <a:xfrm>
            <a:off x="320040" y="1325880"/>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Manufacturer certification absent, untraceable, or using electronic signature when wet signature is required</a:t>
            </a:r>
            <a:endParaRPr lang="en-US" sz="950" dirty="0"/>
          </a:p>
        </p:txBody>
      </p:sp>
      <p:sp>
        <p:nvSpPr>
          <p:cNvPr id="9" name="Shape 6"/>
          <p:cNvSpPr/>
          <p:nvPr/>
        </p:nvSpPr>
        <p:spPr>
          <a:xfrm>
            <a:off x="4617720" y="868680"/>
            <a:ext cx="4343400" cy="914400"/>
          </a:xfrm>
          <a:prstGeom prst="roundRect">
            <a:avLst>
              <a:gd name="adj" fmla="val 5000"/>
            </a:avLst>
          </a:prstGeom>
          <a:solidFill>
            <a:srgbClr val="FBE8E8"/>
          </a:solidFill>
          <a:ln w="12700">
            <a:solidFill>
              <a:srgbClr val="CC0000"/>
            </a:solidFill>
            <a:prstDash val="solid"/>
          </a:ln>
        </p:spPr>
      </p:sp>
      <p:sp>
        <p:nvSpPr>
          <p:cNvPr id="10" name="Text 7"/>
          <p:cNvSpPr/>
          <p:nvPr/>
        </p:nvSpPr>
        <p:spPr>
          <a:xfrm>
            <a:off x="4690872" y="923544"/>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8</a:t>
            </a:r>
            <a:endParaRPr lang="en-US" sz="2000" dirty="0"/>
          </a:p>
        </p:txBody>
      </p:sp>
      <p:sp>
        <p:nvSpPr>
          <p:cNvPr id="11" name="Text 8"/>
          <p:cNvSpPr/>
          <p:nvPr/>
        </p:nvSpPr>
        <p:spPr>
          <a:xfrm>
            <a:off x="5184648" y="914400"/>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Physical Appearance Differences</a:t>
            </a:r>
            <a:endParaRPr lang="en-US" sz="1200" dirty="0"/>
          </a:p>
        </p:txBody>
      </p:sp>
      <p:sp>
        <p:nvSpPr>
          <p:cNvPr id="12" name="Text 9"/>
          <p:cNvSpPr/>
          <p:nvPr/>
        </p:nvSpPr>
        <p:spPr>
          <a:xfrm>
            <a:off x="4709160" y="1325880"/>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Colour, shape, size, weight, or finish does not match specification or previous deliveries</a:t>
            </a:r>
            <a:endParaRPr lang="en-US" sz="950" dirty="0"/>
          </a:p>
        </p:txBody>
      </p:sp>
      <p:sp>
        <p:nvSpPr>
          <p:cNvPr id="13" name="Shape 10"/>
          <p:cNvSpPr/>
          <p:nvPr/>
        </p:nvSpPr>
        <p:spPr>
          <a:xfrm>
            <a:off x="228600" y="1856232"/>
            <a:ext cx="4343400" cy="914400"/>
          </a:xfrm>
          <a:prstGeom prst="roundRect">
            <a:avLst>
              <a:gd name="adj" fmla="val 5000"/>
            </a:avLst>
          </a:prstGeom>
          <a:solidFill>
            <a:srgbClr val="FBE8E8"/>
          </a:solidFill>
          <a:ln w="12700">
            <a:solidFill>
              <a:srgbClr val="CC0000"/>
            </a:solidFill>
            <a:prstDash val="solid"/>
          </a:ln>
        </p:spPr>
      </p:sp>
      <p:sp>
        <p:nvSpPr>
          <p:cNvPr id="14" name="Text 11"/>
          <p:cNvSpPr/>
          <p:nvPr/>
        </p:nvSpPr>
        <p:spPr>
          <a:xfrm>
            <a:off x="301752" y="1911096"/>
            <a:ext cx="457200" cy="457200"/>
          </a:xfrm>
          <a:prstGeom prst="rect">
            <a:avLst/>
          </a:prstGeom>
          <a:noFill/>
          <a:ln/>
        </p:spPr>
        <p:txBody>
          <a:bodyPr wrap="square" rtlCol="0" anchor="ctr"/>
          <a:lstStyle/>
          <a:p>
            <a:pPr algn="l" indent="0" marL="0">
              <a:buNone/>
            </a:pPr>
            <a:r>
              <a:rPr lang="en-US" sz="2000" b="1" dirty="0">
                <a:solidFill>
                  <a:srgbClr val="8B0000"/>
                </a:solidFill>
                <a:latin typeface="Arial" pitchFamily="34" charset="0"/>
                <a:ea typeface="Arial" pitchFamily="34" charset="-122"/>
                <a:cs typeface="Arial" pitchFamily="34" charset="-120"/>
              </a:rPr>
              <a:t>9</a:t>
            </a:r>
            <a:endParaRPr lang="en-US" sz="2000" dirty="0"/>
          </a:p>
        </p:txBody>
      </p:sp>
      <p:sp>
        <p:nvSpPr>
          <p:cNvPr id="15" name="Text 12"/>
          <p:cNvSpPr/>
          <p:nvPr/>
        </p:nvSpPr>
        <p:spPr>
          <a:xfrm>
            <a:off x="795528" y="1901952"/>
            <a:ext cx="3685032" cy="411480"/>
          </a:xfrm>
          <a:prstGeom prst="rect">
            <a:avLst/>
          </a:prstGeom>
          <a:noFill/>
          <a:ln/>
        </p:spPr>
        <p:txBody>
          <a:bodyPr wrap="square" rtlCol="0" anchor="ctr"/>
          <a:lstStyle/>
          <a:p>
            <a:pPr algn="l" indent="0" marL="0">
              <a:buNone/>
            </a:pPr>
            <a:r>
              <a:rPr lang="en-US" sz="1200" b="1" dirty="0">
                <a:solidFill>
                  <a:srgbClr val="001E3C"/>
                </a:solidFill>
                <a:latin typeface="Arial" pitchFamily="34" charset="0"/>
                <a:ea typeface="Arial" pitchFamily="34" charset="-122"/>
                <a:cs typeface="Arial" pitchFamily="34" charset="-120"/>
              </a:rPr>
              <a:t>Quantity / Lot Anomaly</a:t>
            </a:r>
            <a:endParaRPr lang="en-US" sz="1200" dirty="0"/>
          </a:p>
        </p:txBody>
      </p:sp>
      <p:sp>
        <p:nvSpPr>
          <p:cNvPr id="16" name="Text 13"/>
          <p:cNvSpPr/>
          <p:nvPr/>
        </p:nvSpPr>
        <p:spPr>
          <a:xfrm>
            <a:off x="320040" y="2313432"/>
            <a:ext cx="4178808" cy="420624"/>
          </a:xfrm>
          <a:prstGeom prst="rect">
            <a:avLst/>
          </a:prstGeom>
          <a:noFill/>
          <a:ln/>
        </p:spPr>
        <p:txBody>
          <a:bodyPr wrap="square" rtlCol="0" anchor="t"/>
          <a:lstStyle/>
          <a:p>
            <a:pPr algn="l" indent="0" marL="0">
              <a:buNone/>
            </a:pPr>
            <a:r>
              <a:rPr lang="en-US" sz="950" dirty="0">
                <a:solidFill>
                  <a:srgbClr val="5B595A"/>
                </a:solidFill>
                <a:latin typeface="Arial" pitchFamily="34" charset="0"/>
                <a:ea typeface="Arial" pitchFamily="34" charset="-122"/>
                <a:cs typeface="Arial" pitchFamily="34" charset="-120"/>
              </a:rPr>
              <a:t>Delivered quantity does not match PO, or lot size inconsistent with known production volumes</a:t>
            </a:r>
            <a:endParaRPr lang="en-US" sz="950" dirty="0"/>
          </a:p>
        </p:txBody>
      </p:sp>
      <p:sp>
        <p:nvSpPr>
          <p:cNvPr id="19" name="Text 16"/>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2 OF 3</a:t>
            </a:r>
            <a:endParaRPr lang="en-US" sz="800" dirty="0"/>
          </a:p>
        </p:txBody>
      </p:sp>
      <p:sp>
        <p:nvSpPr>
          <p:cNvPr id="20" name="Rectangle 1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562088" y="100584"/>
            <a:ext cx="566928" cy="347472"/>
          </a:xfrm>
          <a:prstGeom prst="rect">
            <a:avLst/>
          </a:prstGeom>
        </p:spPr>
      </p:pic>
      <p:pic>
        <p:nvPicPr>
          <p:cNvPr id="22" name="Picture 21" descr="image.png"/>
          <p:cNvPicPr>
            <a:picLocks noChangeAspect="1"/>
          </p:cNvPicPr>
          <p:nvPr/>
        </p:nvPicPr>
        <p:blipFill>
          <a:blip r:embed="rId4"/>
          <a:stretch>
            <a:fillRect/>
          </a:stretch>
        </p:blipFill>
        <p:spPr>
          <a:xfrm>
            <a:off x="8174736" y="100584"/>
            <a:ext cx="658368" cy="347472"/>
          </a:xfrm>
          <a:prstGeom prst="rect">
            <a:avLst/>
          </a:prstGeom>
        </p:spPr>
      </p:pic>
      <p:sp>
        <p:nvSpPr>
          <p:cNvPr id="23" name="Rectangle 2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3348F"/>
          </a:solidFill>
          <a:ln w="12700">
            <a:solidFill>
              <a:srgbClr val="83348F"/>
            </a:solidFill>
            <a:prstDash val="solid"/>
          </a:ln>
        </p:spPr>
      </p:sp>
      <p:sp>
        <p:nvSpPr>
          <p:cNvPr id="3" name="Text 1"/>
          <p:cNvSpPr/>
          <p:nvPr/>
        </p:nvSpPr>
        <p:spPr>
          <a:xfrm>
            <a:off x="274320" y="73152"/>
            <a:ext cx="7955280" cy="594360"/>
          </a:xfrm>
          <a:prstGeom prst="rect">
            <a:avLst/>
          </a:prstGeom>
          <a:noFill/>
          <a:ln/>
        </p:spPr>
        <p:txBody>
          <a:bodyPr wrap="square"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Discussion Scenario</a:t>
            </a:r>
            <a:endParaRPr lang="en-US" sz="1800" dirty="0"/>
          </a:p>
        </p:txBody>
      </p:sp>
      <p:sp>
        <p:nvSpPr>
          <p:cNvPr id="5" name="Shape 2"/>
          <p:cNvSpPr/>
          <p:nvPr/>
        </p:nvSpPr>
        <p:spPr>
          <a:xfrm>
            <a:off x="548640" y="960120"/>
            <a:ext cx="8046720" cy="1783080"/>
          </a:xfrm>
          <a:prstGeom prst="roundRect">
            <a:avLst>
              <a:gd name="adj" fmla="val 3077"/>
            </a:avLst>
          </a:prstGeom>
          <a:solidFill>
            <a:srgbClr val="FFFFFF">
              <a:alpha val="8000"/>
            </a:srgbClr>
          </a:solidFill>
          <a:ln w="12700">
            <a:solidFill>
              <a:srgbClr val="009FE3"/>
            </a:solidFill>
            <a:prstDash val="solid"/>
          </a:ln>
        </p:spPr>
      </p:sp>
      <p:sp>
        <p:nvSpPr>
          <p:cNvPr id="6" name="Text 3"/>
          <p:cNvSpPr/>
          <p:nvPr/>
        </p:nvSpPr>
        <p:spPr>
          <a:xfrm>
            <a:off x="731520" y="1097280"/>
            <a:ext cx="7680960" cy="320040"/>
          </a:xfrm>
          <a:prstGeom prst="rect">
            <a:avLst/>
          </a:prstGeom>
          <a:noFill/>
          <a:ln/>
        </p:spPr>
        <p:txBody>
          <a:bodyPr wrap="square" rtlCol="0" anchor="ctr"/>
          <a:lstStyle/>
          <a:p>
            <a:pPr indent="0" marL="0">
              <a:buNone/>
            </a:pPr>
            <a:r>
              <a:rPr lang="en-US" sz="1100" b="1" dirty="0">
                <a:solidFill>
                  <a:srgbClr val="009FE3"/>
                </a:solidFill>
                <a:latin typeface="Arial" pitchFamily="34" charset="0"/>
                <a:ea typeface="Arial" pitchFamily="34" charset="-122"/>
                <a:cs typeface="Arial" pitchFamily="34" charset="-120"/>
              </a:rPr>
              <a:t>SCENARIO</a:t>
            </a:r>
            <a:endParaRPr lang="en-US" sz="1100" dirty="0"/>
          </a:p>
        </p:txBody>
      </p:sp>
      <p:sp>
        <p:nvSpPr>
          <p:cNvPr id="7" name="Text 4"/>
          <p:cNvSpPr/>
          <p:nvPr/>
        </p:nvSpPr>
        <p:spPr>
          <a:xfrm>
            <a:off x="731520" y="1417320"/>
            <a:ext cx="7680960" cy="1234440"/>
          </a:xfrm>
          <a:prstGeom prst="rect">
            <a:avLst/>
          </a:prstGeom>
          <a:noFill/>
          <a:ln/>
        </p:spPr>
        <p:txBody>
          <a:bodyPr wrap="square" rtlCol="0" anchor="t"/>
          <a:lstStyle/>
          <a:p>
            <a:pPr indent="0" marL="0">
              <a:buNone/>
            </a:pPr>
            <a:r>
              <a:rPr lang="en-US" sz="1250" dirty="0">
                <a:solidFill>
                  <a:srgbClr val="FFFFFF"/>
                </a:solidFill>
                <a:latin typeface="Arial" pitchFamily="34" charset="0"/>
                <a:ea typeface="Arial" pitchFamily="34" charset="-122"/>
                <a:cs typeface="Arial" pitchFamily="34" charset="-120"/>
              </a:rPr>
              <a:t>A delivery arrives. The quantity is correct. The delivery note looks fine. But one person on the goods receipt team notices that the markings on the components look slightly different from the last batch, and the certificates have a typed signature where previous certificates had a wet ink signature.</a:t>
            </a:r>
            <a:endParaRPr lang="en-US" sz="1250" dirty="0"/>
          </a:p>
        </p:txBody>
      </p:sp>
      <p:sp>
        <p:nvSpPr>
          <p:cNvPr id="8" name="Shape 5"/>
          <p:cNvSpPr/>
          <p:nvPr/>
        </p:nvSpPr>
        <p:spPr>
          <a:xfrm>
            <a:off x="548640" y="2880360"/>
            <a:ext cx="8046720" cy="960120"/>
          </a:xfrm>
          <a:prstGeom prst="roundRect">
            <a:avLst>
              <a:gd name="adj" fmla="val 5714"/>
            </a:avLst>
          </a:prstGeom>
          <a:solidFill>
            <a:srgbClr val="009FE3"/>
          </a:solidFill>
          <a:ln w="12700">
            <a:solidFill>
              <a:srgbClr val="009FE3"/>
            </a:solidFill>
            <a:prstDash val="solid"/>
          </a:ln>
        </p:spPr>
      </p:sp>
      <p:sp>
        <p:nvSpPr>
          <p:cNvPr id="9" name="Text 6"/>
          <p:cNvSpPr/>
          <p:nvPr/>
        </p:nvSpPr>
        <p:spPr>
          <a:xfrm>
            <a:off x="731520" y="2971800"/>
            <a:ext cx="7680960" cy="274320"/>
          </a:xfrm>
          <a:prstGeom prst="rect">
            <a:avLst/>
          </a:prstGeom>
          <a:noFill/>
          <a:ln/>
        </p:spPr>
        <p:txBody>
          <a:bodyPr wrap="square" rtlCol="0" anchor="ctr"/>
          <a:lstStyle/>
          <a:p>
            <a:pPr indent="0" marL="0">
              <a:buNone/>
            </a:pPr>
            <a:r>
              <a:rPr lang="en-US" sz="1000" b="1" dirty="0">
                <a:solidFill>
                  <a:srgbClr val="D6EEF8"/>
                </a:solidFill>
                <a:latin typeface="Arial" pitchFamily="34" charset="0"/>
                <a:ea typeface="Arial" pitchFamily="34" charset="-122"/>
                <a:cs typeface="Arial" pitchFamily="34" charset="-120"/>
              </a:rPr>
              <a:t>DISCUSS:</a:t>
            </a:r>
            <a:endParaRPr lang="en-US" sz="1000" dirty="0"/>
          </a:p>
        </p:txBody>
      </p:sp>
      <p:sp>
        <p:nvSpPr>
          <p:cNvPr id="10" name="Text 7"/>
          <p:cNvSpPr/>
          <p:nvPr/>
        </p:nvSpPr>
        <p:spPr>
          <a:xfrm>
            <a:off x="731520" y="3218688"/>
            <a:ext cx="7680960" cy="54864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Does this trigger a CFSI concern? What should happen next?</a:t>
            </a:r>
            <a:endParaRPr lang="en-US" sz="1250" dirty="0"/>
          </a:p>
        </p:txBody>
      </p:sp>
      <p:sp>
        <p:nvSpPr>
          <p:cNvPr id="13" name="Text 10"/>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2 OF 3</a:t>
            </a:r>
            <a:endParaRPr lang="en-US" sz="8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4" name="Shape 1"/>
          <p:cNvSpPr/>
          <p:nvPr/>
        </p:nvSpPr>
        <p:spPr>
          <a:xfrm>
            <a:off x="731520" y="1371600"/>
            <a:ext cx="7680960" cy="2103120"/>
          </a:xfrm>
          <a:prstGeom prst="roundRect">
            <a:avLst>
              <a:gd name="adj" fmla="val 3478"/>
            </a:avLst>
          </a:prstGeom>
          <a:solidFill>
            <a:srgbClr val="8B0000"/>
          </a:solidFill>
          <a:ln w="12700">
            <a:solidFill>
              <a:srgbClr val="8B0000"/>
            </a:solidFill>
            <a:prstDash val="solid"/>
          </a:ln>
        </p:spPr>
      </p:sp>
      <p:sp>
        <p:nvSpPr>
          <p:cNvPr id="5" name="Text 2"/>
          <p:cNvSpPr/>
          <p:nvPr/>
        </p:nvSpPr>
        <p:spPr>
          <a:xfrm>
            <a:off x="914400" y="1508760"/>
            <a:ext cx="7315200" cy="182880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One person who notices something unusual and acts on it can stop CFSI entering a nuclear facility. Be that person.</a:t>
            </a:r>
            <a:endParaRPr lang="en-US" sz="1700" dirty="0"/>
          </a:p>
        </p:txBody>
      </p:sp>
      <p:sp>
        <p:nvSpPr>
          <p:cNvPr id="8" name="Text 5"/>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2 OF 3</a:t>
            </a:r>
            <a:endParaRPr lang="en-US" sz="800" dirty="0"/>
          </a:p>
        </p:txBody>
      </p:sp>
      <p:sp>
        <p:nvSpPr>
          <p:cNvPr id="9" name="Rectangle 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562088"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8174736" y="100584"/>
            <a:ext cx="658368" cy="347472"/>
          </a:xfrm>
          <a:prstGeom prst="rect">
            <a:avLst/>
          </a:prstGeom>
        </p:spPr>
      </p:pic>
      <p:sp>
        <p:nvSpPr>
          <p:cNvPr id="12" name="Rectangle 1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2571750"/>
            <a:ext cx="9144000" cy="2571750"/>
          </a:xfrm>
          <a:prstGeom prst="rect">
            <a:avLst/>
          </a:prstGeom>
          <a:solidFill>
            <a:srgbClr val="009FE3"/>
          </a:solidFill>
          <a:ln w="12700">
            <a:solidFill>
              <a:srgbClr val="009FE3"/>
            </a:solidFill>
            <a:prstDash val="solid"/>
          </a:ln>
        </p:spPr>
      </p:sp>
      <p:sp>
        <p:nvSpPr>
          <p:cNvPr id="3" name="Shape 1"/>
          <p:cNvSpPr/>
          <p:nvPr/>
        </p:nvSpPr>
        <p:spPr>
          <a:xfrm>
            <a:off x="0" y="2571750"/>
            <a:ext cx="9144000" cy="54864"/>
          </a:xfrm>
          <a:prstGeom prst="rect">
            <a:avLst/>
          </a:prstGeom>
          <a:solidFill>
            <a:srgbClr val="83348F"/>
          </a:solidFill>
          <a:ln w="12700">
            <a:solidFill>
              <a:srgbClr val="83348F"/>
            </a:solidFill>
            <a:prstDash val="solid"/>
          </a:ln>
        </p:spPr>
      </p:sp>
      <p:sp>
        <p:nvSpPr>
          <p:cNvPr id="4" name="Text 2"/>
          <p:cNvSpPr/>
          <p:nvPr/>
        </p:nvSpPr>
        <p:spPr>
          <a:xfrm>
            <a:off x="457200" y="365760"/>
            <a:ext cx="8229600" cy="457200"/>
          </a:xfrm>
          <a:prstGeom prst="rect">
            <a:avLst/>
          </a:prstGeom>
          <a:noFill/>
          <a:ln/>
        </p:spPr>
        <p:txBody>
          <a:bodyPr wrap="square" rtlCol="0" anchor="ctr"/>
          <a:lstStyle/>
          <a:p>
            <a:pPr algn="ctr" indent="0" marL="0">
              <a:buNone/>
            </a:pPr>
            <a:r>
              <a:rPr lang="en-US" sz="1400" b="1" dirty="0">
                <a:solidFill>
                  <a:srgbClr val="D6EEF8"/>
                </a:solidFill>
                <a:latin typeface="Arial" pitchFamily="34" charset="0"/>
                <a:ea typeface="Arial" pitchFamily="34" charset="-122"/>
                <a:cs typeface="Arial" pitchFamily="34" charset="-120"/>
              </a:rPr>
              <a:t>TALK 3 OF 3</a:t>
            </a:r>
            <a:endParaRPr lang="en-US" sz="1400" dirty="0"/>
          </a:p>
        </p:txBody>
      </p:sp>
      <p:pic>
        <p:nvPicPr>
          <p:cNvPr id="5" name="Image 0" descr="/home/claude/nuccol_logo_header.jpg">    </p:cNvPr>
          <p:cNvPicPr>
            <a:picLocks noChangeAspect="1"/>
          </p:cNvPicPr>
          <p:nvPr/>
        </p:nvPicPr>
        <p:blipFill>
          <a:blip r:embed="rId1"/>
          <a:stretch>
            <a:fillRect/>
          </a:stretch>
        </p:blipFill>
        <p:spPr>
          <a:xfrm>
            <a:off x="3566160" y="960120"/>
            <a:ext cx="2011680" cy="1280160"/>
          </a:xfrm>
          <a:prstGeom prst="rect">
            <a:avLst/>
          </a:prstGeom>
        </p:spPr>
      </p:pic>
      <p:sp>
        <p:nvSpPr>
          <p:cNvPr id="6" name="Text 3"/>
          <p:cNvSpPr/>
          <p:nvPr/>
        </p:nvSpPr>
        <p:spPr>
          <a:xfrm>
            <a:off x="457200" y="2726055"/>
            <a:ext cx="8229600" cy="82296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What to Do If You Suspect CFSI</a:t>
            </a:r>
            <a:endParaRPr lang="en-US" sz="2600" dirty="0"/>
          </a:p>
        </p:txBody>
      </p:sp>
      <p:sp>
        <p:nvSpPr>
          <p:cNvPr id="7" name="Text 4"/>
          <p:cNvSpPr/>
          <p:nvPr/>
        </p:nvSpPr>
        <p:spPr>
          <a:xfrm>
            <a:off x="457200" y="3503295"/>
            <a:ext cx="8229600" cy="640080"/>
          </a:xfrm>
          <a:prstGeom prst="rect">
            <a:avLst/>
          </a:prstGeom>
          <a:noFill/>
          <a:ln/>
        </p:spPr>
        <p:txBody>
          <a:bodyPr wrap="square" rtlCol="0" anchor="ctr"/>
          <a:lstStyle/>
          <a:p>
            <a:pPr algn="ctr" indent="0" marL="0">
              <a:buNone/>
            </a:pPr>
            <a:r>
              <a:rPr lang="en-US" sz="1300" dirty="0">
                <a:solidFill>
                  <a:srgbClr val="D6EEF8"/>
                </a:solidFill>
                <a:latin typeface="Arial" pitchFamily="34" charset="0"/>
                <a:ea typeface="Arial" pitchFamily="34" charset="-122"/>
                <a:cs typeface="Arial" pitchFamily="34" charset="-120"/>
              </a:rPr>
              <a:t>Talk 3 of 3: The four-step response and reporting obligations</a:t>
            </a:r>
            <a:endParaRPr lang="en-US" sz="1300" dirty="0"/>
          </a:p>
        </p:txBody>
      </p:sp>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The Four-Step Response</a:t>
            </a:r>
            <a:endParaRPr lang="en-US" sz="1900" dirty="0"/>
          </a:p>
        </p:txBody>
      </p:sp>
      <p:pic>
        <p:nvPicPr>
          <p:cNvPr id="5" name="Image 1" descr="preencoded.png">    </p:cNvPr>
          <p:cNvPicPr>
            <a:picLocks noChangeAspect="1"/>
          </p:cNvPicPr>
          <p:nvPr/>
        </p:nvPicPr>
        <p:blipFill>
          <a:blip r:embed="rId2"/>
          <a:stretch>
            <a:fillRect/>
          </a:stretch>
        </p:blipFill>
        <p:spPr>
          <a:xfrm>
            <a:off x="365760" y="960120"/>
            <a:ext cx="2423160" cy="2423160"/>
          </a:xfrm>
          <a:prstGeom prst="rect">
            <a:avLst/>
          </a:prstGeom>
        </p:spPr>
      </p:pic>
      <p:sp>
        <p:nvSpPr>
          <p:cNvPr id="6" name="Text 2"/>
          <p:cNvSpPr/>
          <p:nvPr/>
        </p:nvSpPr>
        <p:spPr>
          <a:xfrm>
            <a:off x="3291840" y="841248"/>
            <a:ext cx="5486400" cy="3291840"/>
          </a:xfrm>
          <a:prstGeom prst="rect">
            <a:avLst/>
          </a:prstGeom>
          <a:noFill/>
          <a:ln/>
        </p:spPr>
        <p:txBody>
          <a:bodyPr wrap="square" rtlCol="0" anchor="t"/>
          <a:lstStyle/>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Step 1: STOP and QUARANTINE. Do not use, process, return to stores, or send back to the supplier</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Step 2: REPORT to the Quality Manager immediately, the same working day</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Step 3: DO NOT INVESTIGATE ALONE. The Quality Manager takes over. Do not call the supplier</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Step 4: RETAIN ALL EVIDENCE. The item, packaging, documentation, and photos exactly as received</a:t>
            </a:r>
            <a:endParaRPr lang="en-US" sz="1200" dirty="0"/>
          </a:p>
        </p:txBody>
      </p:sp>
      <p:sp>
        <p:nvSpPr>
          <p:cNvPr id="7" name="Shape 3"/>
          <p:cNvSpPr/>
          <p:nvPr/>
        </p:nvSpPr>
        <p:spPr>
          <a:xfrm>
            <a:off x="320040" y="4183380"/>
            <a:ext cx="8503920" cy="594360"/>
          </a:xfrm>
          <a:prstGeom prst="roundRect">
            <a:avLst>
              <a:gd name="adj" fmla="val 9231"/>
            </a:avLst>
          </a:prstGeom>
          <a:solidFill>
            <a:srgbClr val="D6EEF8"/>
          </a:solidFill>
          <a:ln w="12700">
            <a:solidFill>
              <a:srgbClr val="009FE3"/>
            </a:solidFill>
            <a:prstDash val="solid"/>
          </a:ln>
        </p:spPr>
      </p:sp>
      <p:sp>
        <p:nvSpPr>
          <p:cNvPr id="8" name="Text 4"/>
          <p:cNvSpPr/>
          <p:nvPr/>
        </p:nvSpPr>
        <p:spPr>
          <a:xfrm>
            <a:off x="457200" y="4192524"/>
            <a:ext cx="8229600" cy="585216"/>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Complete the CFSI Suspect Item Report Form (NSS-03i) as part of Step 2. This is a controlled quality record.</a:t>
            </a:r>
            <a:endParaRPr lang="en-US" sz="950" dirty="0"/>
          </a:p>
        </p:txBody>
      </p:sp>
      <p:sp>
        <p:nvSpPr>
          <p:cNvPr id="11" name="Text 7"/>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3 OF 3</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What Quarantine Means</a:t>
            </a:r>
            <a:endParaRPr lang="en-US" sz="1900" dirty="0"/>
          </a:p>
        </p:txBody>
      </p:sp>
      <p:pic>
        <p:nvPicPr>
          <p:cNvPr id="5" name="Image 1" descr="preencoded.png">    </p:cNvPr>
          <p:cNvPicPr>
            <a:picLocks noChangeAspect="1"/>
          </p:cNvPicPr>
          <p:nvPr/>
        </p:nvPicPr>
        <p:blipFill>
          <a:blip r:embed="rId2"/>
          <a:stretch>
            <a:fillRect/>
          </a:stretch>
        </p:blipFill>
        <p:spPr>
          <a:xfrm>
            <a:off x="365760" y="960120"/>
            <a:ext cx="2423160" cy="2423160"/>
          </a:xfrm>
          <a:prstGeom prst="rect">
            <a:avLst/>
          </a:prstGeom>
        </p:spPr>
      </p:pic>
      <p:sp>
        <p:nvSpPr>
          <p:cNvPr id="6" name="Text 2"/>
          <p:cNvSpPr/>
          <p:nvPr/>
        </p:nvSpPr>
        <p:spPr>
          <a:xfrm>
            <a:off x="3291840" y="841248"/>
            <a:ext cx="5486400" cy="3291840"/>
          </a:xfrm>
          <a:prstGeom prst="rect">
            <a:avLst/>
          </a:prstGeom>
          <a:noFill/>
          <a:ln/>
        </p:spPr>
        <p:txBody>
          <a:bodyPr wrap="square" rtlCol="0" anchor="t"/>
          <a:lstStyle/>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Physical quarantine: the item must be physically moved to a designated quarantine area</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Labelling: the quarantine area and the item must be clearly labelled 'SUSPECT CFSI - DO NOT USE, PENDING INVESTIGATION'</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No movement: the item must not leave quarantine without written Quality Manager authorisation</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No return: do NOT return the item to the supplier without Quality Manager and potentially ONR involvement</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All packaging, documentation, and photographs must remain with the item</a:t>
            </a:r>
            <a:endParaRPr lang="en-US" sz="1200" dirty="0"/>
          </a:p>
        </p:txBody>
      </p:sp>
      <p:sp>
        <p:nvSpPr>
          <p:cNvPr id="7" name="Shape 3"/>
          <p:cNvSpPr/>
          <p:nvPr/>
        </p:nvSpPr>
        <p:spPr>
          <a:xfrm>
            <a:off x="320040" y="4183380"/>
            <a:ext cx="8503920" cy="594360"/>
          </a:xfrm>
          <a:prstGeom prst="roundRect">
            <a:avLst>
              <a:gd name="adj" fmla="val 9231"/>
            </a:avLst>
          </a:prstGeom>
          <a:solidFill>
            <a:srgbClr val="D6EEF8"/>
          </a:solidFill>
          <a:ln w="12700">
            <a:solidFill>
              <a:srgbClr val="009FE3"/>
            </a:solidFill>
            <a:prstDash val="solid"/>
          </a:ln>
        </p:spPr>
      </p:sp>
      <p:sp>
        <p:nvSpPr>
          <p:cNvPr id="8" name="Text 4"/>
          <p:cNvSpPr/>
          <p:nvPr/>
        </p:nvSpPr>
        <p:spPr>
          <a:xfrm>
            <a:off x="457200" y="4192524"/>
            <a:ext cx="8229600" cy="585216"/>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An informal 'I'll keep an eye on it' is not quarantine. Physical isolation and clear labelling are required.</a:t>
            </a:r>
            <a:endParaRPr lang="en-US" sz="950" dirty="0"/>
          </a:p>
        </p:txBody>
      </p:sp>
      <p:sp>
        <p:nvSpPr>
          <p:cNvPr id="11" name="Text 7"/>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3 OF 3</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Reporting Up the Chain</a:t>
            </a:r>
            <a:endParaRPr lang="en-US" sz="1900" dirty="0"/>
          </a:p>
        </p:txBody>
      </p:sp>
      <p:pic>
        <p:nvPicPr>
          <p:cNvPr id="5" name="Image 1" descr="preencoded.png">    </p:cNvPr>
          <p:cNvPicPr>
            <a:picLocks noChangeAspect="1"/>
          </p:cNvPicPr>
          <p:nvPr/>
        </p:nvPicPr>
        <p:blipFill>
          <a:blip r:embed="rId2"/>
          <a:stretch>
            <a:fillRect/>
          </a:stretch>
        </p:blipFill>
        <p:spPr>
          <a:xfrm>
            <a:off x="365760" y="960120"/>
            <a:ext cx="2423160" cy="2423160"/>
          </a:xfrm>
          <a:prstGeom prst="rect">
            <a:avLst/>
          </a:prstGeom>
        </p:spPr>
      </p:pic>
      <p:sp>
        <p:nvSpPr>
          <p:cNvPr id="6" name="Text 2"/>
          <p:cNvSpPr/>
          <p:nvPr/>
        </p:nvSpPr>
        <p:spPr>
          <a:xfrm>
            <a:off x="3291840" y="841248"/>
            <a:ext cx="5486400" cy="3291840"/>
          </a:xfrm>
          <a:prstGeom prst="rect">
            <a:avLst/>
          </a:prstGeom>
          <a:noFill/>
          <a:ln/>
        </p:spPr>
        <p:txBody>
          <a:bodyPr wrap="square" rtlCol="0" anchor="t"/>
          <a:lstStyle/>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Nuclear client notification: Grade 1 significance items must be notified to the client within 24 hours</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The Quality Manager assesses significance and owns the client communication</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ONR notification: where a confirmed CFSI has potential nuclear safety significance, the licensee is responsible for notifying ONR</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Industry OPEX reporting: confirmed CFSI should be shared via SDF Supply Chain Quality Working Group and NIA channels</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The Suspect Item Report Form (NSS-03i) records the full reporting trail as a lifetime quality record</a:t>
            </a:r>
            <a:endParaRPr lang="en-US" sz="1200" dirty="0"/>
          </a:p>
        </p:txBody>
      </p:sp>
      <p:sp>
        <p:nvSpPr>
          <p:cNvPr id="7" name="Shape 3"/>
          <p:cNvSpPr/>
          <p:nvPr/>
        </p:nvSpPr>
        <p:spPr>
          <a:xfrm>
            <a:off x="320040" y="4183380"/>
            <a:ext cx="8503920" cy="594360"/>
          </a:xfrm>
          <a:prstGeom prst="roundRect">
            <a:avLst>
              <a:gd name="adj" fmla="val 9231"/>
            </a:avLst>
          </a:prstGeom>
          <a:solidFill>
            <a:srgbClr val="D6EEF8"/>
          </a:solidFill>
          <a:ln w="12700">
            <a:solidFill>
              <a:srgbClr val="009FE3"/>
            </a:solidFill>
            <a:prstDash val="solid"/>
          </a:ln>
        </p:spPr>
      </p:sp>
      <p:sp>
        <p:nvSpPr>
          <p:cNvPr id="8" name="Text 4"/>
          <p:cNvSpPr/>
          <p:nvPr/>
        </p:nvSpPr>
        <p:spPr>
          <a:xfrm>
            <a:off x="457200" y="4192524"/>
            <a:ext cx="8229600" cy="585216"/>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Confirmed CFSI incidents shared across the industry have prevented the same item from being used on other nuclear sites.</a:t>
            </a:r>
            <a:endParaRPr lang="en-US" sz="950" dirty="0"/>
          </a:p>
        </p:txBody>
      </p:sp>
      <p:sp>
        <p:nvSpPr>
          <p:cNvPr id="11" name="Text 7"/>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3 OF 3</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What Not to Do</a:t>
            </a:r>
            <a:endParaRPr lang="en-US" sz="1900" dirty="0"/>
          </a:p>
        </p:txBody>
      </p:sp>
      <p:pic>
        <p:nvPicPr>
          <p:cNvPr id="5" name="Image 1" descr="preencoded.png">    </p:cNvPr>
          <p:cNvPicPr>
            <a:picLocks noChangeAspect="1"/>
          </p:cNvPicPr>
          <p:nvPr/>
        </p:nvPicPr>
        <p:blipFill>
          <a:blip r:embed="rId2"/>
          <a:stretch>
            <a:fillRect/>
          </a:stretch>
        </p:blipFill>
        <p:spPr>
          <a:xfrm>
            <a:off x="365760" y="960120"/>
            <a:ext cx="2423160" cy="2423160"/>
          </a:xfrm>
          <a:prstGeom prst="rect">
            <a:avLst/>
          </a:prstGeom>
        </p:spPr>
      </p:pic>
      <p:sp>
        <p:nvSpPr>
          <p:cNvPr id="6" name="Text 2"/>
          <p:cNvSpPr/>
          <p:nvPr/>
        </p:nvSpPr>
        <p:spPr>
          <a:xfrm>
            <a:off x="3291840" y="841248"/>
            <a:ext cx="5486400" cy="3291840"/>
          </a:xfrm>
          <a:prstGeom prst="rect">
            <a:avLst/>
          </a:prstGeom>
          <a:noFill/>
          <a:ln/>
        </p:spPr>
        <p:txBody>
          <a:bodyPr wrap="square" rtlCol="0" anchor="t"/>
          <a:lstStyle/>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Do NOT use the item just because you are not certain it is CFSI. Uncertainty is the trigger for quarantine, not for release</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Do NOT contact the supplier to resolve a CFSI concern yourself without Quality Manager involvement</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Do NOT return the item to stores, the production area, or the supplier without authorisation</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Do NOT assume someone else will deal with it. The person who identifies the concern is responsible for starting the process</a:t>
            </a:r>
            <a:endParaRPr lang="en-US" sz="1200" dirty="0"/>
          </a:p>
          <a:p>
            <a:pPr marL="342900" indent="-342900">
              <a:spcAft>
                <a:spcPts val="1000"/>
              </a:spcAft>
              <a:buSzPct val="100000"/>
              <a:buChar char="•"/>
            </a:pPr>
            <a:r>
              <a:rPr lang="en-US" sz="1200" dirty="0">
                <a:solidFill>
                  <a:srgbClr val="5B595A"/>
                </a:solidFill>
                <a:latin typeface="Arial" pitchFamily="34" charset="0"/>
                <a:ea typeface="Arial" pitchFamily="34" charset="-122"/>
                <a:cs typeface="Arial" pitchFamily="34" charset="-120"/>
              </a:rPr>
              <a:t>Do NOT discard, repackage, or clean the item before investigation. Evidence must be preserved</a:t>
            </a:r>
            <a:endParaRPr lang="en-US" sz="1200" dirty="0"/>
          </a:p>
        </p:txBody>
      </p:sp>
      <p:sp>
        <p:nvSpPr>
          <p:cNvPr id="7" name="Shape 3"/>
          <p:cNvSpPr/>
          <p:nvPr/>
        </p:nvSpPr>
        <p:spPr>
          <a:xfrm>
            <a:off x="320040" y="4183380"/>
            <a:ext cx="8503920" cy="594360"/>
          </a:xfrm>
          <a:prstGeom prst="roundRect">
            <a:avLst>
              <a:gd name="adj" fmla="val 9231"/>
            </a:avLst>
          </a:prstGeom>
          <a:solidFill>
            <a:srgbClr val="D6EEF8"/>
          </a:solidFill>
          <a:ln w="12700">
            <a:solidFill>
              <a:srgbClr val="009FE3"/>
            </a:solidFill>
            <a:prstDash val="solid"/>
          </a:ln>
        </p:spPr>
      </p:sp>
      <p:sp>
        <p:nvSpPr>
          <p:cNvPr id="8" name="Text 4"/>
          <p:cNvSpPr/>
          <p:nvPr/>
        </p:nvSpPr>
        <p:spPr>
          <a:xfrm>
            <a:off x="457200" y="4192524"/>
            <a:ext cx="8229600" cy="585216"/>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None of these actions make the problem go away. They make it worse and expose the company to regulatory and legal risk.</a:t>
            </a:r>
            <a:endParaRPr lang="en-US" sz="950" dirty="0"/>
          </a:p>
        </p:txBody>
      </p:sp>
      <p:sp>
        <p:nvSpPr>
          <p:cNvPr id="11" name="Text 7"/>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3 OF 3</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3" name="Text 1"/>
          <p:cNvSpPr/>
          <p:nvPr/>
        </p:nvSpPr>
        <p:spPr>
          <a:xfrm>
            <a:off x="274320" y="73152"/>
            <a:ext cx="7955280" cy="594360"/>
          </a:xfrm>
          <a:prstGeom prst="rect">
            <a:avLst/>
          </a:prstGeom>
          <a:noFill/>
          <a:ln/>
        </p:spPr>
        <p:txBody>
          <a:bodyPr wrap="square"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Discussion Scenario</a:t>
            </a:r>
            <a:endParaRPr lang="en-US" sz="1800" dirty="0"/>
          </a:p>
        </p:txBody>
      </p:sp>
      <p:sp>
        <p:nvSpPr>
          <p:cNvPr id="5" name="Shape 2"/>
          <p:cNvSpPr/>
          <p:nvPr/>
        </p:nvSpPr>
        <p:spPr>
          <a:xfrm>
            <a:off x="548640" y="960120"/>
            <a:ext cx="8046720" cy="1783080"/>
          </a:xfrm>
          <a:prstGeom prst="roundRect">
            <a:avLst>
              <a:gd name="adj" fmla="val 3077"/>
            </a:avLst>
          </a:prstGeom>
          <a:solidFill>
            <a:srgbClr val="FFFFFF">
              <a:alpha val="8000"/>
            </a:srgbClr>
          </a:solidFill>
          <a:ln w="12700">
            <a:solidFill>
              <a:srgbClr val="009FE3"/>
            </a:solidFill>
            <a:prstDash val="solid"/>
          </a:ln>
        </p:spPr>
      </p:sp>
      <p:sp>
        <p:nvSpPr>
          <p:cNvPr id="6" name="Text 3"/>
          <p:cNvSpPr/>
          <p:nvPr/>
        </p:nvSpPr>
        <p:spPr>
          <a:xfrm>
            <a:off x="731520" y="1097280"/>
            <a:ext cx="7680960" cy="320040"/>
          </a:xfrm>
          <a:prstGeom prst="rect">
            <a:avLst/>
          </a:prstGeom>
          <a:noFill/>
          <a:ln/>
        </p:spPr>
        <p:txBody>
          <a:bodyPr wrap="square" rtlCol="0" anchor="ctr"/>
          <a:lstStyle/>
          <a:p>
            <a:pPr indent="0" marL="0">
              <a:buNone/>
            </a:pPr>
            <a:r>
              <a:rPr lang="en-US" sz="1100" b="1" dirty="0">
                <a:solidFill>
                  <a:srgbClr val="009FE3"/>
                </a:solidFill>
                <a:latin typeface="Arial" pitchFamily="34" charset="0"/>
                <a:ea typeface="Arial" pitchFamily="34" charset="-122"/>
                <a:cs typeface="Arial" pitchFamily="34" charset="-120"/>
              </a:rPr>
              <a:t>SCENARIO</a:t>
            </a:r>
            <a:endParaRPr lang="en-US" sz="1100" dirty="0"/>
          </a:p>
        </p:txBody>
      </p:sp>
      <p:sp>
        <p:nvSpPr>
          <p:cNvPr id="7" name="Text 4"/>
          <p:cNvSpPr/>
          <p:nvPr/>
        </p:nvSpPr>
        <p:spPr>
          <a:xfrm>
            <a:off x="731520" y="1417320"/>
            <a:ext cx="7680960" cy="1234440"/>
          </a:xfrm>
          <a:prstGeom prst="rect">
            <a:avLst/>
          </a:prstGeom>
          <a:noFill/>
          <a:ln/>
        </p:spPr>
        <p:txBody>
          <a:bodyPr wrap="square" rtlCol="0" anchor="t"/>
          <a:lstStyle/>
          <a:p>
            <a:pPr indent="0" marL="0">
              <a:buNone/>
            </a:pPr>
            <a:r>
              <a:rPr lang="en-US" sz="1250" dirty="0">
                <a:solidFill>
                  <a:srgbClr val="FFFFFF"/>
                </a:solidFill>
                <a:latin typeface="Arial" pitchFamily="34" charset="0"/>
                <a:ea typeface="Arial" pitchFamily="34" charset="-122"/>
                <a:cs typeface="Arial" pitchFamily="34" charset="-120"/>
              </a:rPr>
              <a:t>You have just completed a CFSI goods receipt check and identified two warning signs on a batch of valves. Your supervisor says 'we have a delivery deadline tomorrow, can we just use them and raise a concern report afterwards?'</a:t>
            </a:r>
            <a:endParaRPr lang="en-US" sz="1250" dirty="0"/>
          </a:p>
        </p:txBody>
      </p:sp>
      <p:sp>
        <p:nvSpPr>
          <p:cNvPr id="8" name="Shape 5"/>
          <p:cNvSpPr/>
          <p:nvPr/>
        </p:nvSpPr>
        <p:spPr>
          <a:xfrm>
            <a:off x="548640" y="2880360"/>
            <a:ext cx="8046720" cy="960120"/>
          </a:xfrm>
          <a:prstGeom prst="roundRect">
            <a:avLst>
              <a:gd name="adj" fmla="val 5714"/>
            </a:avLst>
          </a:prstGeom>
          <a:solidFill>
            <a:srgbClr val="009FE3"/>
          </a:solidFill>
          <a:ln w="12700">
            <a:solidFill>
              <a:srgbClr val="009FE3"/>
            </a:solidFill>
            <a:prstDash val="solid"/>
          </a:ln>
        </p:spPr>
      </p:sp>
      <p:sp>
        <p:nvSpPr>
          <p:cNvPr id="9" name="Text 6"/>
          <p:cNvSpPr/>
          <p:nvPr/>
        </p:nvSpPr>
        <p:spPr>
          <a:xfrm>
            <a:off x="731520" y="2971800"/>
            <a:ext cx="7680960" cy="274320"/>
          </a:xfrm>
          <a:prstGeom prst="rect">
            <a:avLst/>
          </a:prstGeom>
          <a:noFill/>
          <a:ln/>
        </p:spPr>
        <p:txBody>
          <a:bodyPr wrap="square" rtlCol="0" anchor="ctr"/>
          <a:lstStyle/>
          <a:p>
            <a:pPr indent="0" marL="0">
              <a:buNone/>
            </a:pPr>
            <a:r>
              <a:rPr lang="en-US" sz="1000" b="1" dirty="0">
                <a:solidFill>
                  <a:srgbClr val="D6EEF8"/>
                </a:solidFill>
                <a:latin typeface="Arial" pitchFamily="34" charset="0"/>
                <a:ea typeface="Arial" pitchFamily="34" charset="-122"/>
                <a:cs typeface="Arial" pitchFamily="34" charset="-120"/>
              </a:rPr>
              <a:t>DISCUSS:</a:t>
            </a:r>
            <a:endParaRPr lang="en-US" sz="1000" dirty="0"/>
          </a:p>
        </p:txBody>
      </p:sp>
      <p:sp>
        <p:nvSpPr>
          <p:cNvPr id="10" name="Text 7"/>
          <p:cNvSpPr/>
          <p:nvPr/>
        </p:nvSpPr>
        <p:spPr>
          <a:xfrm>
            <a:off x="731520" y="3218688"/>
            <a:ext cx="7680960" cy="54864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What does the four-step response tell you to do? Who do you need to involve and when?</a:t>
            </a:r>
            <a:endParaRPr lang="en-US" sz="1250" dirty="0"/>
          </a:p>
        </p:txBody>
      </p:sp>
      <p:sp>
        <p:nvSpPr>
          <p:cNvPr id="13" name="Text 10"/>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3 OF 3</a:t>
            </a:r>
            <a:endParaRPr lang="en-US" sz="8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9FE3"/>
          </a:solidFill>
          <a:ln w="12700">
            <a:solidFill>
              <a:srgbClr val="009FE3"/>
            </a:solidFill>
            <a:prstDash val="solid"/>
          </a:ln>
        </p:spPr>
      </p:sp>
      <p:sp>
        <p:nvSpPr>
          <p:cNvPr id="4" name="Shape 1"/>
          <p:cNvSpPr/>
          <p:nvPr/>
        </p:nvSpPr>
        <p:spPr>
          <a:xfrm>
            <a:off x="731520" y="1371600"/>
            <a:ext cx="7680960" cy="2103120"/>
          </a:xfrm>
          <a:prstGeom prst="roundRect">
            <a:avLst>
              <a:gd name="adj" fmla="val 3478"/>
            </a:avLst>
          </a:prstGeom>
          <a:solidFill>
            <a:srgbClr val="8B0000"/>
          </a:solidFill>
          <a:ln w="12700">
            <a:solidFill>
              <a:srgbClr val="8B0000"/>
            </a:solidFill>
            <a:prstDash val="solid"/>
          </a:ln>
        </p:spPr>
      </p:sp>
      <p:sp>
        <p:nvSpPr>
          <p:cNvPr id="5" name="Text 2"/>
          <p:cNvSpPr/>
          <p:nvPr/>
        </p:nvSpPr>
        <p:spPr>
          <a:xfrm>
            <a:off x="914400" y="1508760"/>
            <a:ext cx="7315200" cy="182880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If in doubt, stop. Report it. Protect the nuclear facility, protect the company, and protect yourself.</a:t>
            </a:r>
            <a:endParaRPr lang="en-US" sz="1700" dirty="0"/>
          </a:p>
        </p:txBody>
      </p:sp>
      <p:sp>
        <p:nvSpPr>
          <p:cNvPr id="8" name="Text 5"/>
          <p:cNvSpPr/>
          <p:nvPr/>
        </p:nvSpPr>
        <p:spPr>
          <a:xfrm>
            <a:off x="6858000" y="4887468"/>
            <a:ext cx="2103120" cy="219456"/>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NSS-03j  |  TALK 3 OF 3</a:t>
            </a:r>
            <a:endParaRPr lang="en-US" sz="800" dirty="0"/>
          </a:p>
        </p:txBody>
      </p:sp>
      <p:sp>
        <p:nvSpPr>
          <p:cNvPr id="9" name="Rectangle 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562088"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8174736" y="100584"/>
            <a:ext cx="658368" cy="347472"/>
          </a:xfrm>
          <a:prstGeom prst="rect">
            <a:avLst/>
          </a:prstGeom>
        </p:spPr>
      </p:pic>
      <p:sp>
        <p:nvSpPr>
          <p:cNvPr id="12" name="Rectangle 1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C020E92-DB5B-49E1-A034-6A4DACEA96B7}"/>
</file>

<file path=customXml/itemProps2.xml><?xml version="1.0" encoding="utf-8"?>
<ds:datastoreItem xmlns:ds="http://schemas.openxmlformats.org/officeDocument/2006/customXml" ds:itemID="{6A2681AE-1FC5-43A5-B6F5-2907136BC1A2}"/>
</file>

<file path=customXml/itemProps3.xml><?xml version="1.0" encoding="utf-8"?>
<ds:datastoreItem xmlns:ds="http://schemas.openxmlformats.org/officeDocument/2006/customXml" ds:itemID="{8B07DA1C-6A3D-46BF-BAAB-ECDC2862B00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NSS-03j CFSI Toolbox Talk Series</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