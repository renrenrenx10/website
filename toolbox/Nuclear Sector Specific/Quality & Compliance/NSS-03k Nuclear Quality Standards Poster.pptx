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4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STANDARDS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5669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are, how they relate, and what they mean for you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241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SITE LICENCE CONDITIONS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24358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ONR licence requirements governing the site operator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14400" y="1572768"/>
            <a:ext cx="7315200" cy="4572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57276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19443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79222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supply chain QMS - additional requirements beyond ISO 9001 for ITNS work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63040" y="2121408"/>
            <a:ext cx="6217920" cy="4572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1214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00200" y="234086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quality management system - the foundation all nuclear suppliers must hold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0" y="2670048"/>
            <a:ext cx="5120640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8840" y="267004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CODES: ASME NQA-1  |  RCC-M  |  ISO 17025  |  BS EN codes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48840" y="288950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at component, project, or application level as specified by the client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" y="3291840"/>
            <a:ext cx="201168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291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" y="3547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nuclear safety impact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68880" y="3291840"/>
            <a:ext cx="2011680" cy="457200"/>
          </a:xfrm>
          <a:prstGeom prst="rect">
            <a:avLst/>
          </a:prstGeom>
          <a:solidFill>
            <a:srgbClr val="9C6500"/>
          </a:solidFill>
          <a:ln w="12700">
            <a:solidFill>
              <a:srgbClr val="9C6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3291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468880" y="3547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nuclear safety impact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17720" y="3291840"/>
            <a:ext cx="2011680" cy="457200"/>
          </a:xfrm>
          <a:prstGeom prst="rect">
            <a:avLst/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3291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617720" y="3547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performance impact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766560" y="3291840"/>
            <a:ext cx="2011680" cy="45720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0" y="3291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3547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grade - no safety impact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0" y="4338828"/>
            <a:ext cx="9144000" cy="53035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357116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nuclear client specifies the quality grade for your scope. If no grade is specified, ask before you start. Never assume a lower grade than required.</a:t>
            </a:r>
            <a:endParaRPr lang="en-US" sz="12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19443: WHAT IT DEMANDS OF YOU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669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additional requirements that go beyond ISO 9001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960120"/>
            <a:ext cx="1280160" cy="4754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9601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54480" y="960120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45920" y="960120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culture: visible leadership commitment to quality as a nuclear safety priority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8600" y="1490472"/>
            <a:ext cx="1280160" cy="47548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14904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554480" y="1490472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1490472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ITNS scope: formally determine and document which products and services are Important to Nuclear Safety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28600" y="2020824"/>
            <a:ext cx="1280160" cy="4754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" y="20208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SQEP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54480" y="2020824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0" y="2020824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SQEP: every person on safety-significant work must be demonstrably suitably qualified and experienced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28600" y="2551176"/>
            <a:ext cx="1280160" cy="47548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" y="25511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554480" y="2551176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45920" y="2551176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records: quality records for ITNS work retained for the life of the facility, typically 40+ years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28600" y="3081528"/>
            <a:ext cx="1280160" cy="4754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30815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554480" y="3081528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45920" y="3081528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NCR: non-conformances graded for safety significance; concessions require formal approval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28600" y="3611880"/>
            <a:ext cx="1280160" cy="47548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" y="36118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54480" y="3611880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45920" y="3611880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chain: qualified suppliers, CFSI controls, nuclear requirement flow-down, right of access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28600" y="4142232"/>
            <a:ext cx="1280160" cy="4754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8600" y="4142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554480" y="4142232"/>
            <a:ext cx="7315200" cy="475488"/>
          </a:xfrm>
          <a:prstGeom prst="rect">
            <a:avLst/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45920" y="4142232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Traceability: full material and process traceability from finished item back to source material</a:t>
            </a:r>
            <a:endParaRPr lang="en-US" sz="1150" dirty="0"/>
          </a:p>
        </p:txBody>
      </p:sp>
      <p:sp>
        <p:nvSpPr>
          <p:cNvPr id="34" name="Rectangle 3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CFSI: WHAT TO WATCH FOR AND WHAT TO DO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74320" y="5760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Fraudulent, and Suspect Items - everyone in this building has a role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8600" y="960120"/>
            <a:ext cx="4206240" cy="3200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WARNING SIGNS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325880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3258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325880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325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well below market 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1764792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17647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1764792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suddenly available from unusual source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2203704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" y="22037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2203704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22037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or labelling looks different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" y="2642616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264261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2642616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26426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Markings on items altered or missing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8600" y="3081528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30815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3081528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0815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has Tippex, typed signatures, or untraceable lot numbers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28600" y="3520440"/>
            <a:ext cx="36576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600" y="35204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3520440"/>
            <a:ext cx="3794760" cy="347472"/>
          </a:xfrm>
          <a:prstGeom prst="rect">
            <a:avLst/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appearance differs from previous deliveries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709160" y="960120"/>
            <a:ext cx="4206240" cy="320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916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SPOT CFSI: 4 STEPS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09160" y="1325880"/>
            <a:ext cx="4206240" cy="804672"/>
          </a:xfrm>
          <a:prstGeom prst="roundRect">
            <a:avLst>
              <a:gd name="adj" fmla="val 568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1435608"/>
            <a:ext cx="548640" cy="548640"/>
          </a:xfrm>
          <a:prstGeom prst="oval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5349240" y="13990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QUARANTINE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349240" y="1709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use, process, or return. Label clearly.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09160" y="2203704"/>
            <a:ext cx="4206240" cy="804672"/>
          </a:xfrm>
          <a:prstGeom prst="roundRect">
            <a:avLst>
              <a:gd name="adj" fmla="val 568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2313432"/>
            <a:ext cx="548640" cy="548640"/>
          </a:xfrm>
          <a:prstGeom prst="oval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09160" y="2313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5349240" y="22768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to Quality Manager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5349240" y="2587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working day. Complete NSS-03i form.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09160" y="3081528"/>
            <a:ext cx="4206240" cy="804672"/>
          </a:xfrm>
          <a:prstGeom prst="roundRect">
            <a:avLst>
              <a:gd name="adj" fmla="val 568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09160" y="3191256"/>
            <a:ext cx="548640" cy="548640"/>
          </a:xfrm>
          <a:prstGeom prst="oval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9160" y="3191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5349240" y="31546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investigate alone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349240" y="3465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Manager takes over. Do not call supplier.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709160" y="3959352"/>
            <a:ext cx="4206240" cy="804672"/>
          </a:xfrm>
          <a:prstGeom prst="roundRect">
            <a:avLst>
              <a:gd name="adj" fmla="val 568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09160" y="4069080"/>
            <a:ext cx="548640" cy="548640"/>
          </a:xfrm>
          <a:prstGeom prst="oval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5349240" y="40325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ALL EVIDENCE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5349240" y="4343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Item, packaging, docs, photos as received.</a:t>
            </a:r>
            <a:endParaRPr lang="en-US" sz="950" dirty="0"/>
          </a:p>
        </p:txBody>
      </p:sp>
      <p:sp>
        <p:nvSpPr>
          <p:cNvPr id="54" name="Rectangle 5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5299C3F-C90D-4542-ACAB-9FF1802E7EED}"/>
</file>

<file path=customXml/itemProps2.xml><?xml version="1.0" encoding="utf-8"?>
<ds:datastoreItem xmlns:ds="http://schemas.openxmlformats.org/officeDocument/2006/customXml" ds:itemID="{17896F05-EA22-4BB9-A564-6D0284DAD69F}"/>
</file>

<file path=customXml/itemProps3.xml><?xml version="1.0" encoding="utf-8"?>
<ds:datastoreItem xmlns:ds="http://schemas.openxmlformats.org/officeDocument/2006/customXml" ds:itemID="{05F4ABAE-5AD8-4B84-A9C0-2D6052D7189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NSS-03k Nuclear Quality Standards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