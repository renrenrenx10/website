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media/image-1-1.jpg" ContentType="image/jpg"/>
  <Override PartName="/ppt/notesSlides/notesSlide1.xml" ContentType="application/vnd.openxmlformats-officedocument.presentationml.notesSlide+xml"/>
  <Override PartName="/ppt/notesMasters/notesMaster1.xml" ContentType="application/vnd.openxmlformats-officedocument.presentationml.notesMaster+xml"/>
  <Override PartName="/ppt/slides/slide2.xml" ContentType="application/vnd.openxmlformats-officedocument.presentationml.slide+xml"/>
  <Override PartName="/ppt/media/image-2-1.jpg" ContentType="image/jpg"/>
  <Override PartName="/ppt/notesSlides/notesSlide2.xml" ContentType="application/vnd.openxmlformats-officedocument.presentationml.notesSlide+xml"/>
  <Override PartName="/ppt/slides/slide3.xml" ContentType="application/vnd.openxmlformats-officedocument.presentationml.slide+xml"/>
  <Override PartName="/ppt/media/image-3-1.jpg" ContentType="image/jpg"/>
  <Override PartName="/ppt/notesSlides/notesSlide3.xml" ContentType="application/vnd.openxmlformats-officedocument.presentationml.notesSlide+xml"/>
  <Override PartName="/ppt/slides/slide4.xml" ContentType="application/vnd.openxmlformats-officedocument.presentationml.slide+xml"/>
  <Override PartName="/ppt/media/image-4-1.jpg" ContentType="image/jpg"/>
  <Override PartName="/ppt/notesSlides/notesSlide4.xml" ContentType="application/vnd.openxmlformats-officedocument.presentationml.notesSlide+xml"/>
  <Override PartName="/ppt/slides/slide5.xml" ContentType="application/vnd.openxmlformats-officedocument.presentationml.slide+xml"/>
  <Override PartName="/ppt/media/image-5-1.jpg" ContentType="image/jpg"/>
  <Override PartName="/ppt/notesSlides/notesSlide5.xml" ContentType="application/vnd.openxmlformats-officedocument.presentationml.notesSlide+xml"/>
  <Override PartName="/ppt/slides/slide6.xml" ContentType="application/vnd.openxmlformats-officedocument.presentationml.slide+xml"/>
  <Override PartName="/ppt/media/image-6-1.jpg" ContentType="image/jpg"/>
  <Override PartName="/ppt/notesSlides/notesSlide6.xml" ContentType="application/vnd.openxmlformats-officedocument.presentationml.notesSlide+xml"/>
  <Override PartName="/ppt/slides/slide7.xml" ContentType="application/vnd.openxmlformats-officedocument.presentationml.slide+xml"/>
  <Override PartName="/ppt/media/image-7-1.jpg" ContentType="image/jpg"/>
  <Override PartName="/ppt/notesSlides/notesSlide7.xml" ContentType="application/vnd.openxmlformats-officedocument.presentationml.notesSlide+xml"/>
  <Override PartName="/ppt/slides/slide8.xml" ContentType="application/vnd.openxmlformats-officedocument.presentationml.slide+xml"/>
  <Override PartName="/ppt/media/image-8-1.jpg" ContentType="image/jpg"/>
  <Override PartName="/ppt/notesSlides/notesSlide8.xml" ContentType="application/vnd.openxmlformats-officedocument.presentationml.notesSlide+xml"/>
  <Override PartName="/ppt/slides/slide9.xml" ContentType="application/vnd.openxmlformats-officedocument.presentationml.slide+xml"/>
  <Override PartName="/ppt/media/image-9-1.jpg" ContentType="image/jpg"/>
  <Override PartName="/ppt/notesSlides/notesSlide9.xml" ContentType="application/vnd.openxmlformats-officedocument.presentationml.notesSlide+xml"/>
  <Override PartName="/ppt/slides/slide10.xml" ContentType="application/vnd.openxmlformats-officedocument.presentationml.slide+xml"/>
  <Override PartName="/ppt/media/image-10-1.jpg" ContentType="image/jpg"/>
  <Override PartName="/ppt/notesSlides/notesSlide10.xml" ContentType="application/vnd.openxmlformats-officedocument.presentationml.notesSlide+xml"/>
  <Override PartName="/ppt/slides/slide11.xml" ContentType="application/vnd.openxmlformats-officedocument.presentationml.slide+xml"/>
  <Override PartName="/ppt/media/image-11-1.jpg" ContentType="image/jpg"/>
  <Override PartName="/ppt/notesSlides/notesSlide11.xml" ContentType="application/vnd.openxmlformats-officedocument.presentationml.notesSlide+xml"/>
  <Override PartName="/ppt/slides/slide12.xml" ContentType="application/vnd.openxmlformats-officedocument.presentationml.slide+xml"/>
  <Override PartName="/ppt/media/image-12-1.jpg" ContentType="image/jpg"/>
  <Override PartName="/ppt/notesSlides/notesSlide12.xml" ContentType="application/vnd.openxmlformats-officedocument.presentationml.notesSlide+xml"/>
  <Override PartName="/ppt/slides/slide13.xml" ContentType="application/vnd.openxmlformats-officedocument.presentationml.slide+xml"/>
  <Override PartName="/ppt/media/image-13-1.jpg" ContentType="image/jpg"/>
  <Override PartName="/ppt/notesSlides/notesSlide13.xml" ContentType="application/vnd.openxmlformats-officedocument.presentationml.notesSlide+xml"/>
  <Override PartName="/ppt/slides/slide14.xml" ContentType="application/vnd.openxmlformats-officedocument.presentationml.slide+xml"/>
  <Override PartName="/ppt/media/image-14-1.jpg" ContentType="image/jpg"/>
  <Override PartName="/ppt/notesSlides/notesSlide14.xml" ContentType="application/vnd.openxmlformats-officedocument.presentationml.notesSlide+xml"/>
  <Override PartName="/ppt/slides/slide15.xml" ContentType="application/vnd.openxmlformats-officedocument.presentationml.slide+xml"/>
  <Override PartName="/ppt/media/image-15-1.jpg" ContentType="image/jpg"/>
  <Override PartName="/ppt/notesSlides/notesSlide15.xml" ContentType="application/vnd.openxmlformats-officedocument.presentationml.notesSlide+xml"/>
  <Override PartName="/ppt/slides/slide16.xml" ContentType="application/vnd.openxmlformats-officedocument.presentationml.slide+xml"/>
  <Override PartName="/ppt/media/image-16-1.jpg" ContentType="image/jpg"/>
  <Override PartName="/ppt/notesSlides/notesSlide16.xml" ContentType="application/vnd.openxmlformats-officedocument.presentationml.notesSlide+xml"/>
  <Override PartName="/ppt/slides/slide17.xml" ContentType="application/vnd.openxmlformats-officedocument.presentationml.slide+xml"/>
  <Override PartName="/ppt/media/image-17-1.jpg" ContentType="image/jpg"/>
  <Override PartName="/ppt/notesSlides/notesSlide17.xml" ContentType="application/vnd.openxmlformats-officedocument.presentationml.notesSlide+xml"/>
  <Override PartName="/ppt/slides/slide18.xml" ContentType="application/vnd.openxmlformats-officedocument.presentationml.slide+xml"/>
  <Override PartName="/ppt/media/image-18-1.jpg" ContentType="image/jpg"/>
  <Override PartName="/ppt/notesSlides/notesSlide18.xml" ContentType="application/vnd.openxmlformats-officedocument.presentationml.notesSlide+xml"/>
  <Override PartName="/ppt/slides/slide19.xml" ContentType="application/vnd.openxmlformats-officedocument.presentationml.slide+xml"/>
  <Override PartName="/ppt/media/image-19-1.jpg" ContentType="image/jpg"/>
  <Override PartName="/ppt/notesSlides/notesSlide19.xml" ContentType="application/vnd.openxmlformats-officedocument.presentationml.notesSlide+xml"/>
  <Override PartName="/ppt/slides/slide20.xml" ContentType="application/vnd.openxmlformats-officedocument.presentationml.slide+xml"/>
  <Override PartName="/ppt/media/image-20-1.jpg" ContentType="image/jpg"/>
  <Override PartName="/ppt/notesSlides/notesSlide20.xml" ContentType="application/vnd.openxmlformats-officedocument.presentationml.notesSlide+xml"/>
  <Override PartName="/ppt/slides/slide21.xml" ContentType="application/vnd.openxmlformats-officedocument.presentationml.slide+xml"/>
  <Override PartName="/ppt/media/image-21-1.jpg" ContentType="image/jpg"/>
  <Override PartName="/ppt/notesSlides/notesSlide21.xml" ContentType="application/vnd.openxmlformats-officedocument.presentationml.notesSlide+xml"/>
  <Override PartName="/ppt/slides/slide22.xml" ContentType="application/vnd.openxmlformats-officedocument.presentationml.slide+xml"/>
  <Override PartName="/ppt/media/image-22-1.jpg" ContentType="image/jpg"/>
  <Override PartName="/ppt/notesSlides/notesSlide22.xml" ContentType="application/vnd.openxmlformats-officedocument.presentationml.notesSlide+xml"/>
  <Override PartName="/ppt/slides/slide23.xml" ContentType="application/vnd.openxmlformats-officedocument.presentationml.slide+xml"/>
  <Override PartName="/ppt/media/image-23-1.jpg" ContentType="image/jpg"/>
  <Override PartName="/ppt/notesSlides/notesSlide23.xml" ContentType="application/vnd.openxmlformats-officedocument.presentationml.notesSlide+xml"/>
  <Override PartName="/ppt/slides/slide24.xml" ContentType="application/vnd.openxmlformats-officedocument.presentationml.slide+xml"/>
  <Override PartName="/ppt/media/image-24-1.jpg" ContentType="image/jpg"/>
  <Override PartName="/ppt/notesSlides/notesSlide24.xml" ContentType="application/vnd.openxmlformats-officedocument.presentationml.notesSlide+xml"/>
  <Override PartName="/ppt/slides/slide25.xml" ContentType="application/vnd.openxmlformats-officedocument.presentationml.slide+xml"/>
  <Override PartName="/ppt/media/image-25-1.jpg" ContentType="image/jpg"/>
  <Override PartName="/ppt/notesSlides/notesSlide25.xml" ContentType="application/vnd.openxmlformats-officedocument.presentationml.notesSlide+xml"/>
  <Override PartName="/ppt/slides/slide26.xml" ContentType="application/vnd.openxmlformats-officedocument.presentationml.slide+xml"/>
  <Override PartName="/ppt/media/image-26-1.jpg" ContentType="image/jpg"/>
  <Override PartName="/ppt/notesSlides/notesSlide26.xml" ContentType="application/vnd.openxmlformats-officedocument.presentationml.notesSlide+xml"/>
  <Override PartName="/ppt/slides/slide27.xml" ContentType="application/vnd.openxmlformats-officedocument.presentationml.slide+xml"/>
  <Override PartName="/ppt/media/image-27-1.jpg" ContentType="image/jpg"/>
  <Override PartName="/ppt/notesSlides/notesSlide27.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openxmlformats.org/officeDocument/2006/relationships/customXml" Target="../customXml/item2.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 Id="rId5" Type="http://schemas.openxmlformats.org/officeDocument/2006/relationships/image" Target="../media/image1.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 Id="rId5" Type="http://schemas.openxmlformats.org/officeDocument/2006/relationships/image" Target="../media/image1.pn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 Id="rId5" Type="http://schemas.openxmlformats.org/officeDocument/2006/relationships/image" Target="../media/image1.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 Id="rId5" Type="http://schemas.openxmlformats.org/officeDocument/2006/relationships/image" Target="../media/image1.png"/><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1.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1.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image1.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 Id="rId5" Type="http://schemas.openxmlformats.org/officeDocument/2006/relationships/image" Target="../media/image1.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 Id="rId5" Type="http://schemas.openxmlformats.org/officeDocument/2006/relationships/image" Target="../media/image1.png"/><Relationship Id="rId6"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 Id="rId5" Type="http://schemas.openxmlformats.org/officeDocument/2006/relationships/image" Target="../media/image1.png"/><Relationship Id="rId6"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 Id="rId5" Type="http://schemas.openxmlformats.org/officeDocument/2006/relationships/image" Target="../media/image1.png"/><Relationship Id="rId6"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image" Target="../media/image1.pn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 Id="rId4" Type="http://schemas.openxmlformats.org/officeDocument/2006/relationships/image" Target="../media/image1.pn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 Id="rId4" Type="http://schemas.openxmlformats.org/officeDocument/2006/relationships/image" Target="../media/image1.png"/><Relationship Id="rId5"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 Id="rId5" Type="http://schemas.openxmlformats.org/officeDocument/2006/relationships/image" Target="../media/image1.png"/><Relationship Id="rId6"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 Id="rId5" Type="http://schemas.openxmlformats.org/officeDocument/2006/relationships/image" Target="../media/image1.png"/><Relationship Id="rId6"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 Id="rId5" Type="http://schemas.openxmlformats.org/officeDocument/2006/relationships/image" Target="../media/image1.png"/><Relationship Id="rId6"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 Id="rId4" Type="http://schemas.openxmlformats.org/officeDocument/2006/relationships/image" Target="../media/image1.png"/><Relationship Id="rId5"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 Id="rId4" Type="http://schemas.openxmlformats.org/officeDocument/2006/relationships/image" Target="../media/image1.png"/><Relationship Id="rId5"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 Id="rId4" Type="http://schemas.openxmlformats.org/officeDocument/2006/relationships/image" Target="../media/image1.png"/><Relationship Id="rId5"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 Id="rId5" Type="http://schemas.openxmlformats.org/officeDocument/2006/relationships/image" Target="../media/image1.png"/><Relationship Id="rId6"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 Id="rId5" Type="http://schemas.openxmlformats.org/officeDocument/2006/relationships/image" Target="../media/image1.png"/><Relationship Id="rId6"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 Id="rId5" Type="http://schemas.openxmlformats.org/officeDocument/2006/relationships/image" Target="../media/image1.png"/><Relationship Id="rId6"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 Id="rId5" Type="http://schemas.openxmlformats.org/officeDocument/2006/relationships/image" Target="../media/image1.png"/><Relationship Id="rId6"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 Id="rId4" Type="http://schemas.openxmlformats.org/officeDocument/2006/relationships/image" Target="../media/image1.png"/><Relationship Id="rId5"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 Id="rId4" Type="http://schemas.openxmlformats.org/officeDocument/2006/relationships/image" Target="../media/image1.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2571750"/>
            <a:ext cx="9144000" cy="2571750"/>
          </a:xfrm>
          <a:prstGeom prst="rect">
            <a:avLst/>
          </a:prstGeom>
          <a:solidFill>
            <a:srgbClr val="009FE3"/>
          </a:solidFill>
          <a:ln w="12700">
            <a:solidFill>
              <a:srgbClr val="009FE3"/>
            </a:solidFill>
            <a:prstDash val="solid"/>
          </a:ln>
        </p:spPr>
      </p:sp>
      <p:sp>
        <p:nvSpPr>
          <p:cNvPr id="3" name="Shape 1"/>
          <p:cNvSpPr/>
          <p:nvPr/>
        </p:nvSpPr>
        <p:spPr>
          <a:xfrm>
            <a:off x="0" y="2571750"/>
            <a:ext cx="9144000" cy="54864"/>
          </a:xfrm>
          <a:prstGeom prst="rect">
            <a:avLst/>
          </a:prstGeom>
          <a:solidFill>
            <a:srgbClr val="83348F"/>
          </a:solidFill>
          <a:ln w="12700">
            <a:solidFill>
              <a:srgbClr val="83348F"/>
            </a:solidFill>
            <a:prstDash val="solid"/>
          </a:ln>
        </p:spPr>
      </p:sp>
      <p:sp>
        <p:nvSpPr>
          <p:cNvPr id="4" name="Text 2"/>
          <p:cNvSpPr/>
          <p:nvPr/>
        </p:nvSpPr>
        <p:spPr>
          <a:xfrm>
            <a:off x="457200" y="457200"/>
            <a:ext cx="8229600" cy="548640"/>
          </a:xfrm>
          <a:prstGeom prst="rect">
            <a:avLst/>
          </a:prstGeom>
          <a:noFill/>
          <a:ln/>
        </p:spPr>
        <p:txBody>
          <a:bodyPr wrap="square" rtlCol="0" anchor="ctr"/>
          <a:lstStyle/>
          <a:p>
            <a:pPr algn="ctr" indent="0" marL="0">
              <a:buNone/>
            </a:pPr>
            <a:r>
              <a:rPr lang="en-US" sz="1600" b="1" dirty="0">
                <a:solidFill>
                  <a:srgbClr val="D6EEF8"/>
                </a:solidFill>
                <a:latin typeface="Arial" pitchFamily="34" charset="0"/>
                <a:ea typeface="Arial" pitchFamily="34" charset="-122"/>
                <a:cs typeface="Arial" pitchFamily="34" charset="-120"/>
              </a:rPr>
              <a:t>TALK 1 OF 4</a:t>
            </a:r>
            <a:endParaRPr lang="en-US" sz="1600" dirty="0"/>
          </a:p>
        </p:txBody>
      </p:sp>
      <p:pic>
        <p:nvPicPr>
          <p:cNvPr id="5" name="Image 0" descr="/home/claude/nuccol_logo_header.jpg">    </p:cNvPr>
          <p:cNvPicPr>
            <a:picLocks noChangeAspect="1"/>
          </p:cNvPicPr>
          <p:nvPr/>
        </p:nvPicPr>
        <p:blipFill>
          <a:blip r:embed="rId1"/>
          <a:stretch>
            <a:fillRect/>
          </a:stretch>
        </p:blipFill>
        <p:spPr>
          <a:xfrm>
            <a:off x="3566160" y="1005840"/>
            <a:ext cx="2011680" cy="1280160"/>
          </a:xfrm>
          <a:prstGeom prst="rect">
            <a:avLst/>
          </a:prstGeom>
        </p:spPr>
      </p:pic>
      <p:sp>
        <p:nvSpPr>
          <p:cNvPr id="6" name="Text 3"/>
          <p:cNvSpPr/>
          <p:nvPr/>
        </p:nvSpPr>
        <p:spPr>
          <a:xfrm>
            <a:off x="457200" y="2726055"/>
            <a:ext cx="8229600" cy="91440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Individual Commitment to Safety</a:t>
            </a:r>
            <a:endParaRPr lang="en-US" sz="2800" dirty="0"/>
          </a:p>
        </p:txBody>
      </p:sp>
      <p:sp>
        <p:nvSpPr>
          <p:cNvPr id="7" name="Text 4"/>
          <p:cNvSpPr/>
          <p:nvPr/>
        </p:nvSpPr>
        <p:spPr>
          <a:xfrm>
            <a:off x="457200" y="3594735"/>
            <a:ext cx="8229600" cy="640080"/>
          </a:xfrm>
          <a:prstGeom prst="rect">
            <a:avLst/>
          </a:prstGeom>
          <a:noFill/>
          <a:ln/>
        </p:spPr>
        <p:txBody>
          <a:bodyPr wrap="square" rtlCol="0" anchor="ctr"/>
          <a:lstStyle/>
          <a:p>
            <a:pPr algn="ctr" indent="0" marL="0">
              <a:buNone/>
            </a:pPr>
            <a:r>
              <a:rPr lang="en-US" sz="1400" dirty="0">
                <a:solidFill>
                  <a:srgbClr val="D6EEF8"/>
                </a:solidFill>
                <a:latin typeface="Arial" pitchFamily="34" charset="0"/>
                <a:ea typeface="Arial" pitchFamily="34" charset="-122"/>
                <a:cs typeface="Arial" pitchFamily="34" charset="-120"/>
              </a:rPr>
              <a:t>Talk 1 of 4: Individual Responsibility, Questioning Attitude, Communication</a:t>
            </a:r>
            <a:endParaRPr lang="en-US" sz="1400" dirty="0"/>
          </a:p>
        </p:txBody>
      </p:sp>
      <p:sp>
        <p:nvSpPr>
          <p:cNvPr id="8" name="Rectangle 7"/>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5"/>
          <a:stretch>
            <a:fillRect/>
          </a:stretch>
        </p:blipFill>
        <p:spPr>
          <a:xfrm>
            <a:off x="7562088" y="100584"/>
            <a:ext cx="566928" cy="347472"/>
          </a:xfrm>
          <a:prstGeom prst="rect">
            <a:avLst/>
          </a:prstGeom>
        </p:spPr>
      </p:pic>
      <p:pic>
        <p:nvPicPr>
          <p:cNvPr id="10" name="Picture 9" descr="image.png"/>
          <p:cNvPicPr>
            <a:picLocks noChangeAspect="1"/>
          </p:cNvPicPr>
          <p:nvPr/>
        </p:nvPicPr>
        <p:blipFill>
          <a:blip r:embed="rId4"/>
          <a:stretch>
            <a:fillRect/>
          </a:stretch>
        </p:blipFill>
        <p:spPr>
          <a:xfrm>
            <a:off x="8174736" y="100584"/>
            <a:ext cx="658368" cy="347472"/>
          </a:xfrm>
          <a:prstGeom prst="rect">
            <a:avLst/>
          </a:prstGeom>
        </p:spPr>
      </p:pic>
      <p:sp>
        <p:nvSpPr>
          <p:cNvPr id="11" name="Rectangle 10"/>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9FE3"/>
          </a:solidFill>
          <a:ln w="12700">
            <a:solidFill>
              <a:srgbClr val="009FE3"/>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What Individual Commitment Means</a:t>
            </a:r>
            <a:endParaRPr lang="en-US" sz="2000" dirty="0"/>
          </a:p>
        </p:txBody>
      </p:sp>
      <p:pic>
        <p:nvPicPr>
          <p:cNvPr id="5" name="Image 1" descr="preencoded.png">    </p:cNvPr>
          <p:cNvPicPr>
            <a:picLocks noChangeAspect="1"/>
          </p:cNvPicPr>
          <p:nvPr/>
        </p:nvPicPr>
        <p:blipFill>
          <a:blip r:embed="rId2"/>
          <a:stretch>
            <a:fillRect/>
          </a:stretch>
        </p:blipFill>
        <p:spPr>
          <a:xfrm>
            <a:off x="457200" y="1005840"/>
            <a:ext cx="2377440" cy="2377440"/>
          </a:xfrm>
          <a:prstGeom prst="rect">
            <a:avLst/>
          </a:prstGeom>
        </p:spPr>
      </p:pic>
      <p:sp>
        <p:nvSpPr>
          <p:cNvPr id="6" name="Text 2"/>
          <p:cNvSpPr/>
          <p:nvPr/>
        </p:nvSpPr>
        <p:spPr>
          <a:xfrm>
            <a:off x="3383280" y="914400"/>
            <a:ext cx="5394960" cy="3474720"/>
          </a:xfrm>
          <a:prstGeom prst="rect">
            <a:avLst/>
          </a:prstGeom>
          <a:noFill/>
          <a:ln/>
        </p:spPr>
        <p:txBody>
          <a:bodyPr wrap="square" rtlCol="0" anchor="t"/>
          <a:lstStyle/>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Three traits make up your individual commitment to nuclear safety: Individual Responsibility, Questioning Attitude, and Communication</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These are not abstract ideas. They describe specific things every one of us does, or fails to do, every working day</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No system, procedure, or piece of equipment can substitute for an individual who is personally committed to getting it right</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Today we will look at what these three traits actually look like in our day-to-day work</a:t>
            </a:r>
            <a:endParaRPr lang="en-US" sz="1250" dirty="0"/>
          </a:p>
        </p:txBody>
      </p:sp>
      <p:sp>
        <p:nvSpPr>
          <p:cNvPr id="7" name="Shape 3"/>
          <p:cNvSpPr/>
          <p:nvPr/>
        </p:nvSpPr>
        <p:spPr>
          <a:xfrm>
            <a:off x="365760" y="4137660"/>
            <a:ext cx="8412480" cy="640080"/>
          </a:xfrm>
          <a:prstGeom prst="roundRect">
            <a:avLst>
              <a:gd name="adj" fmla="val 10000"/>
            </a:avLst>
          </a:prstGeom>
          <a:solidFill>
            <a:srgbClr val="D6EEF8"/>
          </a:solidFill>
          <a:ln w="12700">
            <a:solidFill>
              <a:srgbClr val="009FE3"/>
            </a:solidFill>
            <a:prstDash val="solid"/>
          </a:ln>
        </p:spPr>
      </p:sp>
      <p:sp>
        <p:nvSpPr>
          <p:cNvPr id="8" name="Text 4"/>
          <p:cNvSpPr/>
          <p:nvPr/>
        </p:nvSpPr>
        <p:spPr>
          <a:xfrm>
            <a:off x="502920" y="4155948"/>
            <a:ext cx="8138160" cy="603504"/>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These three traits sit alongside six others that make up the full ten-trait nuclear safety culture framework.</a:t>
            </a:r>
            <a:endParaRPr lang="en-US" sz="950" dirty="0"/>
          </a:p>
        </p:txBody>
      </p:sp>
      <p:sp>
        <p:nvSpPr>
          <p:cNvPr id="11" name="Text 7"/>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1 OF 4</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9FE3"/>
          </a:solidFill>
          <a:ln w="12700">
            <a:solidFill>
              <a:srgbClr val="009FE3"/>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Individual Responsibility</a:t>
            </a:r>
            <a:endParaRPr lang="en-US" sz="2000" dirty="0"/>
          </a:p>
        </p:txBody>
      </p:sp>
      <p:pic>
        <p:nvPicPr>
          <p:cNvPr id="5" name="Image 1" descr="preencoded.png">    </p:cNvPr>
          <p:cNvPicPr>
            <a:picLocks noChangeAspect="1"/>
          </p:cNvPicPr>
          <p:nvPr/>
        </p:nvPicPr>
        <p:blipFill>
          <a:blip r:embed="rId2"/>
          <a:stretch>
            <a:fillRect/>
          </a:stretch>
        </p:blipFill>
        <p:spPr>
          <a:xfrm>
            <a:off x="457200" y="1005840"/>
            <a:ext cx="2377440" cy="2377440"/>
          </a:xfrm>
          <a:prstGeom prst="rect">
            <a:avLst/>
          </a:prstGeom>
        </p:spPr>
      </p:pic>
      <p:sp>
        <p:nvSpPr>
          <p:cNvPr id="6" name="Text 2"/>
          <p:cNvSpPr/>
          <p:nvPr/>
        </p:nvSpPr>
        <p:spPr>
          <a:xfrm>
            <a:off x="3383280" y="914400"/>
            <a:ext cx="5394960" cy="3474720"/>
          </a:xfrm>
          <a:prstGeom prst="rect">
            <a:avLst/>
          </a:prstGeom>
          <a:noFill/>
          <a:ln/>
        </p:spPr>
        <p:txBody>
          <a:bodyPr wrap="square" rtlCol="0" anchor="t"/>
          <a:lstStyle/>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You understand the standards and expectations that apply to your work, and you follow them, not just when someone is watching</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You take personal ownership of the quality and safety of what you do</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You coach a colleague if you see them cutting a corner, rather than walking past it</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You communicate and coordinate with others rather than treating safety as someone else's job</a:t>
            </a:r>
            <a:endParaRPr lang="en-US" sz="1250" dirty="0"/>
          </a:p>
        </p:txBody>
      </p:sp>
      <p:sp>
        <p:nvSpPr>
          <p:cNvPr id="7" name="Shape 3"/>
          <p:cNvSpPr/>
          <p:nvPr/>
        </p:nvSpPr>
        <p:spPr>
          <a:xfrm>
            <a:off x="365760" y="4137660"/>
            <a:ext cx="8412480" cy="640080"/>
          </a:xfrm>
          <a:prstGeom prst="roundRect">
            <a:avLst>
              <a:gd name="adj" fmla="val 10000"/>
            </a:avLst>
          </a:prstGeom>
          <a:solidFill>
            <a:srgbClr val="D6EEF8"/>
          </a:solidFill>
          <a:ln w="12700">
            <a:solidFill>
              <a:srgbClr val="009FE3"/>
            </a:solidFill>
            <a:prstDash val="solid"/>
          </a:ln>
        </p:spPr>
      </p:sp>
      <p:sp>
        <p:nvSpPr>
          <p:cNvPr id="8" name="Text 4"/>
          <p:cNvSpPr/>
          <p:nvPr/>
        </p:nvSpPr>
        <p:spPr>
          <a:xfrm>
            <a:off x="502920" y="4155948"/>
            <a:ext cx="8138160" cy="603504"/>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Ask yourself: if everyone in this room worked exactly the way I do, would our nuclear safety standard go up or down?</a:t>
            </a:r>
            <a:endParaRPr lang="en-US" sz="950" dirty="0"/>
          </a:p>
        </p:txBody>
      </p:sp>
      <p:sp>
        <p:nvSpPr>
          <p:cNvPr id="11" name="Text 7"/>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1 OF 4</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9FE3"/>
          </a:solidFill>
          <a:ln w="12700">
            <a:solidFill>
              <a:srgbClr val="009FE3"/>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Questioning Attitude</a:t>
            </a:r>
            <a:endParaRPr lang="en-US" sz="2000" dirty="0"/>
          </a:p>
        </p:txBody>
      </p:sp>
      <p:pic>
        <p:nvPicPr>
          <p:cNvPr id="5" name="Image 1" descr="preencoded.png">    </p:cNvPr>
          <p:cNvPicPr>
            <a:picLocks noChangeAspect="1"/>
          </p:cNvPicPr>
          <p:nvPr/>
        </p:nvPicPr>
        <p:blipFill>
          <a:blip r:embed="rId2"/>
          <a:stretch>
            <a:fillRect/>
          </a:stretch>
        </p:blipFill>
        <p:spPr>
          <a:xfrm>
            <a:off x="457200" y="1005840"/>
            <a:ext cx="2377440" cy="2377440"/>
          </a:xfrm>
          <a:prstGeom prst="rect">
            <a:avLst/>
          </a:prstGeom>
        </p:spPr>
      </p:pic>
      <p:sp>
        <p:nvSpPr>
          <p:cNvPr id="6" name="Text 2"/>
          <p:cNvSpPr/>
          <p:nvPr/>
        </p:nvSpPr>
        <p:spPr>
          <a:xfrm>
            <a:off x="3383280" y="914400"/>
            <a:ext cx="5394960" cy="3474720"/>
          </a:xfrm>
          <a:prstGeom prst="rect">
            <a:avLst/>
          </a:prstGeom>
          <a:noFill/>
          <a:ln/>
        </p:spPr>
        <p:txBody>
          <a:bodyPr wrap="square" rtlCol="0" anchor="t"/>
          <a:lstStyle/>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Nuclear and radiation technology is complex and can fail in unexpected ways. We never assume it cannot happen here</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Success can breed complacency. Just because something worked fine the last fifty times does not mean it is safe the fifty-first time</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If you are uncertain, stop. Ask. Get clarity before you carry on</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Be willing to question an assumption, even if it means challenging someone more senior than you</a:t>
            </a:r>
            <a:endParaRPr lang="en-US" sz="1250" dirty="0"/>
          </a:p>
        </p:txBody>
      </p:sp>
      <p:sp>
        <p:nvSpPr>
          <p:cNvPr id="7" name="Shape 3"/>
          <p:cNvSpPr/>
          <p:nvPr/>
        </p:nvSpPr>
        <p:spPr>
          <a:xfrm>
            <a:off x="365760" y="4137660"/>
            <a:ext cx="8412480" cy="640080"/>
          </a:xfrm>
          <a:prstGeom prst="roundRect">
            <a:avLst>
              <a:gd name="adj" fmla="val 10000"/>
            </a:avLst>
          </a:prstGeom>
          <a:solidFill>
            <a:srgbClr val="D6EEF8"/>
          </a:solidFill>
          <a:ln w="12700">
            <a:solidFill>
              <a:srgbClr val="009FE3"/>
            </a:solidFill>
            <a:prstDash val="solid"/>
          </a:ln>
        </p:spPr>
      </p:sp>
      <p:sp>
        <p:nvSpPr>
          <p:cNvPr id="8" name="Text 4"/>
          <p:cNvSpPr/>
          <p:nvPr/>
        </p:nvSpPr>
        <p:spPr>
          <a:xfrm>
            <a:off x="502920" y="4155948"/>
            <a:ext cx="8138160" cy="603504"/>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A questioning attitude is not the same as being difficult. It is one of the most valued behaviours in the nuclear sector.</a:t>
            </a:r>
            <a:endParaRPr lang="en-US" sz="950" dirty="0"/>
          </a:p>
        </p:txBody>
      </p:sp>
      <p:sp>
        <p:nvSpPr>
          <p:cNvPr id="11" name="Text 7"/>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1 OF 4</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9FE3"/>
          </a:solidFill>
          <a:ln w="12700">
            <a:solidFill>
              <a:srgbClr val="009FE3"/>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Communication</a:t>
            </a:r>
            <a:endParaRPr lang="en-US" sz="2000" dirty="0"/>
          </a:p>
        </p:txBody>
      </p:sp>
      <p:pic>
        <p:nvPicPr>
          <p:cNvPr id="5" name="Image 1" descr="preencoded.png">    </p:cNvPr>
          <p:cNvPicPr>
            <a:picLocks noChangeAspect="1"/>
          </p:cNvPicPr>
          <p:nvPr/>
        </p:nvPicPr>
        <p:blipFill>
          <a:blip r:embed="rId2"/>
          <a:stretch>
            <a:fillRect/>
          </a:stretch>
        </p:blipFill>
        <p:spPr>
          <a:xfrm>
            <a:off x="457200" y="1005840"/>
            <a:ext cx="2377440" cy="2377440"/>
          </a:xfrm>
          <a:prstGeom prst="rect">
            <a:avLst/>
          </a:prstGeom>
        </p:spPr>
      </p:pic>
      <p:sp>
        <p:nvSpPr>
          <p:cNvPr id="6" name="Text 2"/>
          <p:cNvSpPr/>
          <p:nvPr/>
        </p:nvSpPr>
        <p:spPr>
          <a:xfrm>
            <a:off x="3383280" y="914400"/>
            <a:ext cx="5394960" cy="3474720"/>
          </a:xfrm>
          <a:prstGeom prst="rect">
            <a:avLst/>
          </a:prstGeom>
          <a:noFill/>
          <a:ln/>
        </p:spPr>
        <p:txBody>
          <a:bodyPr wrap="square" rtlCol="0" anchor="t"/>
          <a:lstStyle/>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Use repeat-backs, pre-job briefings, and clear handovers so everyone has a mutual understanding of the task</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Self-check your own work against what you intended to achieve before moving on</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Use peer checks to challenge your own thinking before you proceed on something significant</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Ask questions to validate assumptions rather than guessing what someone meant</a:t>
            </a:r>
            <a:endParaRPr lang="en-US" sz="1250" dirty="0"/>
          </a:p>
        </p:txBody>
      </p:sp>
      <p:sp>
        <p:nvSpPr>
          <p:cNvPr id="7" name="Shape 3"/>
          <p:cNvSpPr/>
          <p:nvPr/>
        </p:nvSpPr>
        <p:spPr>
          <a:xfrm>
            <a:off x="365760" y="4137660"/>
            <a:ext cx="8412480" cy="640080"/>
          </a:xfrm>
          <a:prstGeom prst="roundRect">
            <a:avLst>
              <a:gd name="adj" fmla="val 10000"/>
            </a:avLst>
          </a:prstGeom>
          <a:solidFill>
            <a:srgbClr val="D6EEF8"/>
          </a:solidFill>
          <a:ln w="12700">
            <a:solidFill>
              <a:srgbClr val="009FE3"/>
            </a:solidFill>
            <a:prstDash val="solid"/>
          </a:ln>
        </p:spPr>
      </p:sp>
      <p:sp>
        <p:nvSpPr>
          <p:cNvPr id="8" name="Text 4"/>
          <p:cNvSpPr/>
          <p:nvPr/>
        </p:nvSpPr>
        <p:spPr>
          <a:xfrm>
            <a:off x="502920" y="4155948"/>
            <a:ext cx="8138160" cy="603504"/>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Good communication in nuclear work is structured and deliberate, not just 'we had a chat about it'.</a:t>
            </a:r>
            <a:endParaRPr lang="en-US" sz="950" dirty="0"/>
          </a:p>
        </p:txBody>
      </p:sp>
      <p:sp>
        <p:nvSpPr>
          <p:cNvPr id="11" name="Text 7"/>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1 OF 4</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9FE3"/>
          </a:solidFill>
          <a:ln w="12700">
            <a:solidFill>
              <a:srgbClr val="009FE3"/>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Discussion Scenario</a:t>
            </a:r>
            <a:endParaRPr lang="en-US" sz="2000" dirty="0"/>
          </a:p>
        </p:txBody>
      </p:sp>
      <p:sp>
        <p:nvSpPr>
          <p:cNvPr id="5" name="Shape 2"/>
          <p:cNvSpPr/>
          <p:nvPr/>
        </p:nvSpPr>
        <p:spPr>
          <a:xfrm>
            <a:off x="548640" y="1005840"/>
            <a:ext cx="8046720" cy="1828800"/>
          </a:xfrm>
          <a:prstGeom prst="roundRect">
            <a:avLst>
              <a:gd name="adj" fmla="val 3000"/>
            </a:avLst>
          </a:prstGeom>
          <a:solidFill>
            <a:srgbClr val="FFFFFF">
              <a:alpha val="8000"/>
            </a:srgbClr>
          </a:solidFill>
          <a:ln w="12700">
            <a:solidFill>
              <a:srgbClr val="009FE3"/>
            </a:solidFill>
            <a:prstDash val="solid"/>
          </a:ln>
        </p:spPr>
      </p:sp>
      <p:sp>
        <p:nvSpPr>
          <p:cNvPr id="6" name="Text 3"/>
          <p:cNvSpPr/>
          <p:nvPr/>
        </p:nvSpPr>
        <p:spPr>
          <a:xfrm>
            <a:off x="731520" y="1143000"/>
            <a:ext cx="7680960" cy="365760"/>
          </a:xfrm>
          <a:prstGeom prst="rect">
            <a:avLst/>
          </a:prstGeom>
          <a:noFill/>
          <a:ln/>
        </p:spPr>
        <p:txBody>
          <a:bodyPr wrap="square" rtlCol="0" anchor="ctr"/>
          <a:lstStyle/>
          <a:p>
            <a:pPr algn="l" indent="0" marL="0">
              <a:buNone/>
            </a:pPr>
            <a:r>
              <a:rPr lang="en-US" sz="1200" b="1" dirty="0">
                <a:solidFill>
                  <a:srgbClr val="009FE3"/>
                </a:solidFill>
                <a:latin typeface="Arial" pitchFamily="34" charset="0"/>
                <a:ea typeface="Arial" pitchFamily="34" charset="-122"/>
                <a:cs typeface="Arial" pitchFamily="34" charset="-120"/>
              </a:rPr>
              <a:t>SCENARIO</a:t>
            </a:r>
            <a:endParaRPr lang="en-US" sz="1200" dirty="0"/>
          </a:p>
        </p:txBody>
      </p:sp>
      <p:sp>
        <p:nvSpPr>
          <p:cNvPr id="7" name="Text 4"/>
          <p:cNvSpPr/>
          <p:nvPr/>
        </p:nvSpPr>
        <p:spPr>
          <a:xfrm>
            <a:off x="731520" y="1508760"/>
            <a:ext cx="7680960" cy="1234440"/>
          </a:xfrm>
          <a:prstGeom prst="rect">
            <a:avLst/>
          </a:prstGeom>
          <a:noFill/>
          <a:ln/>
        </p:spPr>
        <p:txBody>
          <a:bodyPr wrap="square" rtlCol="0" anchor="t"/>
          <a:lstStyle/>
          <a:p>
            <a:pPr algn="l" indent="0" marL="0">
              <a:buNone/>
            </a:pPr>
            <a:r>
              <a:rPr lang="en-US" sz="1300" dirty="0">
                <a:solidFill>
                  <a:srgbClr val="FFFFFF"/>
                </a:solidFill>
                <a:latin typeface="Arial" pitchFamily="34" charset="0"/>
                <a:ea typeface="Arial" pitchFamily="34" charset="-122"/>
                <a:cs typeface="Arial" pitchFamily="34" charset="-120"/>
              </a:rPr>
              <a:t>A colleague asks you to sign off a check that you didn't personally carry out, telling you 'it's basically the same as last time, it'll be fine'.</a:t>
            </a:r>
            <a:endParaRPr lang="en-US" sz="1300" dirty="0"/>
          </a:p>
        </p:txBody>
      </p:sp>
      <p:sp>
        <p:nvSpPr>
          <p:cNvPr id="8" name="Shape 5"/>
          <p:cNvSpPr/>
          <p:nvPr/>
        </p:nvSpPr>
        <p:spPr>
          <a:xfrm>
            <a:off x="548640" y="3017520"/>
            <a:ext cx="8046720" cy="1005840"/>
          </a:xfrm>
          <a:prstGeom prst="roundRect">
            <a:avLst>
              <a:gd name="adj" fmla="val 5455"/>
            </a:avLst>
          </a:prstGeom>
          <a:solidFill>
            <a:srgbClr val="009FE3"/>
          </a:solidFill>
          <a:ln w="12700">
            <a:solidFill>
              <a:srgbClr val="009FE3"/>
            </a:solidFill>
            <a:prstDash val="solid"/>
          </a:ln>
        </p:spPr>
      </p:sp>
      <p:sp>
        <p:nvSpPr>
          <p:cNvPr id="9" name="Text 6"/>
          <p:cNvSpPr/>
          <p:nvPr/>
        </p:nvSpPr>
        <p:spPr>
          <a:xfrm>
            <a:off x="731520" y="3108960"/>
            <a:ext cx="7680960" cy="320040"/>
          </a:xfrm>
          <a:prstGeom prst="rect">
            <a:avLst/>
          </a:prstGeom>
          <a:noFill/>
          <a:ln/>
        </p:spPr>
        <p:txBody>
          <a:bodyPr wrap="square" rtlCol="0" anchor="ctr"/>
          <a:lstStyle/>
          <a:p>
            <a:pPr indent="0" marL="0">
              <a:buNone/>
            </a:pPr>
            <a:r>
              <a:rPr lang="en-US" sz="1100" b="1" dirty="0">
                <a:solidFill>
                  <a:srgbClr val="D6EEF8"/>
                </a:solidFill>
                <a:latin typeface="Arial" pitchFamily="34" charset="0"/>
                <a:ea typeface="Arial" pitchFamily="34" charset="-122"/>
                <a:cs typeface="Arial" pitchFamily="34" charset="-120"/>
              </a:rPr>
              <a:t>DISCUSS</a:t>
            </a:r>
            <a:endParaRPr lang="en-US" sz="1100" dirty="0"/>
          </a:p>
        </p:txBody>
      </p:sp>
      <p:sp>
        <p:nvSpPr>
          <p:cNvPr id="10" name="Text 7"/>
          <p:cNvSpPr/>
          <p:nvPr/>
        </p:nvSpPr>
        <p:spPr>
          <a:xfrm>
            <a:off x="731520" y="3383280"/>
            <a:ext cx="7680960" cy="594360"/>
          </a:xfrm>
          <a:prstGeom prst="rect">
            <a:avLst/>
          </a:prstGeom>
          <a:noFill/>
          <a:ln/>
        </p:spPr>
        <p:txBody>
          <a:bodyPr wrap="square" rtlCol="0" anchor="t"/>
          <a:lstStyle/>
          <a:p>
            <a:pPr indent="0" marL="0">
              <a:buNone/>
            </a:pPr>
            <a:r>
              <a:rPr lang="en-US" sz="1300" b="1" dirty="0">
                <a:solidFill>
                  <a:srgbClr val="FFFFFF"/>
                </a:solidFill>
                <a:latin typeface="Arial" pitchFamily="34" charset="0"/>
                <a:ea typeface="Arial" pitchFamily="34" charset="-122"/>
                <a:cs typeface="Arial" pitchFamily="34" charset="-120"/>
              </a:rPr>
              <a:t>What does Individual Responsibility and Questioning Attitude tell you to do here? What would you actually say to your colleague?</a:t>
            </a:r>
            <a:endParaRPr lang="en-US" sz="1300" dirty="0"/>
          </a:p>
        </p:txBody>
      </p:sp>
      <p:sp>
        <p:nvSpPr>
          <p:cNvPr id="13" name="Text 10"/>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1 OF 4</a:t>
            </a:r>
            <a:endParaRPr lang="en-US" sz="800" dirty="0"/>
          </a:p>
        </p:txBody>
      </p:sp>
      <p:sp>
        <p:nvSpPr>
          <p:cNvPr id="14" name="Rectangle 13"/>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5"/>
          <a:stretch>
            <a:fillRect/>
          </a:stretch>
        </p:blipFill>
        <p:spPr>
          <a:xfrm>
            <a:off x="7562088" y="100584"/>
            <a:ext cx="566928" cy="347472"/>
          </a:xfrm>
          <a:prstGeom prst="rect">
            <a:avLst/>
          </a:prstGeom>
        </p:spPr>
      </p:pic>
      <p:pic>
        <p:nvPicPr>
          <p:cNvPr id="16" name="Picture 15" descr="image.png"/>
          <p:cNvPicPr>
            <a:picLocks noChangeAspect="1"/>
          </p:cNvPicPr>
          <p:nvPr/>
        </p:nvPicPr>
        <p:blipFill>
          <a:blip r:embed="rId4"/>
          <a:stretch>
            <a:fillRect/>
          </a:stretch>
        </p:blipFill>
        <p:spPr>
          <a:xfrm>
            <a:off x="8174736" y="100584"/>
            <a:ext cx="658368" cy="347472"/>
          </a:xfrm>
          <a:prstGeom prst="rect">
            <a:avLst/>
          </a:prstGeom>
        </p:spPr>
      </p:pic>
      <p:sp>
        <p:nvSpPr>
          <p:cNvPr id="17" name="Rectangle 16"/>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9FE3"/>
          </a:solidFill>
          <a:ln w="12700">
            <a:solidFill>
              <a:srgbClr val="009FE3"/>
            </a:solidFill>
            <a:prstDash val="solid"/>
          </a:ln>
        </p:spPr>
      </p:sp>
      <p:sp>
        <p:nvSpPr>
          <p:cNvPr id="4" name="Shape 1"/>
          <p:cNvSpPr/>
          <p:nvPr/>
        </p:nvSpPr>
        <p:spPr>
          <a:xfrm>
            <a:off x="731520" y="1463040"/>
            <a:ext cx="7680960" cy="2011680"/>
          </a:xfrm>
          <a:prstGeom prst="roundRect">
            <a:avLst>
              <a:gd name="adj" fmla="val 3636"/>
            </a:avLst>
          </a:prstGeom>
          <a:solidFill>
            <a:srgbClr val="009FE3"/>
          </a:solidFill>
          <a:ln w="12700">
            <a:solidFill>
              <a:srgbClr val="009FE3"/>
            </a:solidFill>
            <a:prstDash val="solid"/>
          </a:ln>
        </p:spPr>
      </p:sp>
      <p:sp>
        <p:nvSpPr>
          <p:cNvPr id="5" name="Text 2"/>
          <p:cNvSpPr/>
          <p:nvPr/>
        </p:nvSpPr>
        <p:spPr>
          <a:xfrm>
            <a:off x="914400" y="1600200"/>
            <a:ext cx="7315200" cy="173736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Individual commitment to safety starts with you. Not the procedure. Not the system. You.</a:t>
            </a:r>
            <a:endParaRPr lang="en-US" sz="1800" dirty="0"/>
          </a:p>
        </p:txBody>
      </p:sp>
      <p:sp>
        <p:nvSpPr>
          <p:cNvPr id="8" name="Text 5"/>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1 OF 4</a:t>
            </a:r>
            <a:endParaRPr lang="en-US" sz="800" dirty="0"/>
          </a:p>
        </p:txBody>
      </p:sp>
      <p:sp>
        <p:nvSpPr>
          <p:cNvPr id="9" name="Rectangle 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562088" y="100584"/>
            <a:ext cx="566928" cy="347472"/>
          </a:xfrm>
          <a:prstGeom prst="rect">
            <a:avLst/>
          </a:prstGeom>
        </p:spPr>
      </p:pic>
      <p:pic>
        <p:nvPicPr>
          <p:cNvPr id="11" name="Picture 10" descr="image.png"/>
          <p:cNvPicPr>
            <a:picLocks noChangeAspect="1"/>
          </p:cNvPicPr>
          <p:nvPr/>
        </p:nvPicPr>
        <p:blipFill>
          <a:blip r:embed="rId4"/>
          <a:stretch>
            <a:fillRect/>
          </a:stretch>
        </p:blipFill>
        <p:spPr>
          <a:xfrm>
            <a:off x="8174736" y="100584"/>
            <a:ext cx="658368" cy="347472"/>
          </a:xfrm>
          <a:prstGeom prst="rect">
            <a:avLst/>
          </a:prstGeom>
        </p:spPr>
      </p:pic>
      <p:sp>
        <p:nvSpPr>
          <p:cNvPr id="12" name="Rectangle 1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2571750"/>
            <a:ext cx="9144000" cy="2571750"/>
          </a:xfrm>
          <a:prstGeom prst="rect">
            <a:avLst/>
          </a:prstGeom>
          <a:solidFill>
            <a:srgbClr val="83348F"/>
          </a:solidFill>
          <a:ln w="12700">
            <a:solidFill>
              <a:srgbClr val="83348F"/>
            </a:solidFill>
            <a:prstDash val="solid"/>
          </a:ln>
        </p:spPr>
      </p:sp>
      <p:sp>
        <p:nvSpPr>
          <p:cNvPr id="3" name="Shape 1"/>
          <p:cNvSpPr/>
          <p:nvPr/>
        </p:nvSpPr>
        <p:spPr>
          <a:xfrm>
            <a:off x="0" y="2571750"/>
            <a:ext cx="9144000" cy="54864"/>
          </a:xfrm>
          <a:prstGeom prst="rect">
            <a:avLst/>
          </a:prstGeom>
          <a:solidFill>
            <a:srgbClr val="83348F"/>
          </a:solidFill>
          <a:ln w="12700">
            <a:solidFill>
              <a:srgbClr val="83348F"/>
            </a:solidFill>
            <a:prstDash val="solid"/>
          </a:ln>
        </p:spPr>
      </p:sp>
      <p:sp>
        <p:nvSpPr>
          <p:cNvPr id="4" name="Text 2"/>
          <p:cNvSpPr/>
          <p:nvPr/>
        </p:nvSpPr>
        <p:spPr>
          <a:xfrm>
            <a:off x="457200" y="457200"/>
            <a:ext cx="8229600" cy="548640"/>
          </a:xfrm>
          <a:prstGeom prst="rect">
            <a:avLst/>
          </a:prstGeom>
          <a:noFill/>
          <a:ln/>
        </p:spPr>
        <p:txBody>
          <a:bodyPr wrap="square" rtlCol="0" anchor="ctr"/>
          <a:lstStyle/>
          <a:p>
            <a:pPr algn="ctr" indent="0" marL="0">
              <a:buNone/>
            </a:pPr>
            <a:r>
              <a:rPr lang="en-US" sz="1600" b="1" dirty="0">
                <a:solidFill>
                  <a:srgbClr val="D6EEF8"/>
                </a:solidFill>
                <a:latin typeface="Arial" pitchFamily="34" charset="0"/>
                <a:ea typeface="Arial" pitchFamily="34" charset="-122"/>
                <a:cs typeface="Arial" pitchFamily="34" charset="-120"/>
              </a:rPr>
              <a:t>TALK 2 OF 4</a:t>
            </a:r>
            <a:endParaRPr lang="en-US" sz="1600" dirty="0"/>
          </a:p>
        </p:txBody>
      </p:sp>
      <p:pic>
        <p:nvPicPr>
          <p:cNvPr id="5" name="Image 0" descr="/home/claude/nuccol_logo_header.jpg">    </p:cNvPr>
          <p:cNvPicPr>
            <a:picLocks noChangeAspect="1"/>
          </p:cNvPicPr>
          <p:nvPr/>
        </p:nvPicPr>
        <p:blipFill>
          <a:blip r:embed="rId1"/>
          <a:stretch>
            <a:fillRect/>
          </a:stretch>
        </p:blipFill>
        <p:spPr>
          <a:xfrm>
            <a:off x="3566160" y="1005840"/>
            <a:ext cx="2011680" cy="1280160"/>
          </a:xfrm>
          <a:prstGeom prst="rect">
            <a:avLst/>
          </a:prstGeom>
        </p:spPr>
      </p:pic>
      <p:sp>
        <p:nvSpPr>
          <p:cNvPr id="6" name="Text 3"/>
          <p:cNvSpPr/>
          <p:nvPr/>
        </p:nvSpPr>
        <p:spPr>
          <a:xfrm>
            <a:off x="457200" y="2726055"/>
            <a:ext cx="8229600" cy="91440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Management Commitment to Safety</a:t>
            </a:r>
            <a:endParaRPr lang="en-US" sz="2800" dirty="0"/>
          </a:p>
        </p:txBody>
      </p:sp>
      <p:sp>
        <p:nvSpPr>
          <p:cNvPr id="7" name="Text 4"/>
          <p:cNvSpPr/>
          <p:nvPr/>
        </p:nvSpPr>
        <p:spPr>
          <a:xfrm>
            <a:off x="457200" y="3594735"/>
            <a:ext cx="8229600" cy="640080"/>
          </a:xfrm>
          <a:prstGeom prst="rect">
            <a:avLst/>
          </a:prstGeom>
          <a:noFill/>
          <a:ln/>
        </p:spPr>
        <p:txBody>
          <a:bodyPr wrap="square" rtlCol="0" anchor="ctr"/>
          <a:lstStyle/>
          <a:p>
            <a:pPr algn="ctr" indent="0" marL="0">
              <a:buNone/>
            </a:pPr>
            <a:r>
              <a:rPr lang="en-US" sz="1400" dirty="0">
                <a:solidFill>
                  <a:srgbClr val="D6EEF8"/>
                </a:solidFill>
                <a:latin typeface="Arial" pitchFamily="34" charset="0"/>
                <a:ea typeface="Arial" pitchFamily="34" charset="-122"/>
                <a:cs typeface="Arial" pitchFamily="34" charset="-120"/>
              </a:rPr>
              <a:t>Talk 2 of 4: Leader Responsibility, Decision-Making, Work Environment</a:t>
            </a:r>
            <a:endParaRPr lang="en-US" sz="1400" dirty="0"/>
          </a:p>
        </p:txBody>
      </p:sp>
      <p:sp>
        <p:nvSpPr>
          <p:cNvPr id="8" name="Rectangle 7"/>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5"/>
          <a:stretch>
            <a:fillRect/>
          </a:stretch>
        </p:blipFill>
        <p:spPr>
          <a:xfrm>
            <a:off x="7562088" y="100584"/>
            <a:ext cx="566928" cy="347472"/>
          </a:xfrm>
          <a:prstGeom prst="rect">
            <a:avLst/>
          </a:prstGeom>
        </p:spPr>
      </p:pic>
      <p:pic>
        <p:nvPicPr>
          <p:cNvPr id="10" name="Picture 9" descr="image.png"/>
          <p:cNvPicPr>
            <a:picLocks noChangeAspect="1"/>
          </p:cNvPicPr>
          <p:nvPr/>
        </p:nvPicPr>
        <p:blipFill>
          <a:blip r:embed="rId4"/>
          <a:stretch>
            <a:fillRect/>
          </a:stretch>
        </p:blipFill>
        <p:spPr>
          <a:xfrm>
            <a:off x="8174736" y="100584"/>
            <a:ext cx="658368" cy="347472"/>
          </a:xfrm>
          <a:prstGeom prst="rect">
            <a:avLst/>
          </a:prstGeom>
        </p:spPr>
      </p:pic>
      <p:sp>
        <p:nvSpPr>
          <p:cNvPr id="11" name="Rectangle 10"/>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83348F"/>
          </a:solidFill>
          <a:ln w="12700">
            <a:solidFill>
              <a:srgbClr val="83348F"/>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What Management Commitment Means</a:t>
            </a:r>
            <a:endParaRPr lang="en-US" sz="2000" dirty="0"/>
          </a:p>
        </p:txBody>
      </p:sp>
      <p:pic>
        <p:nvPicPr>
          <p:cNvPr id="5" name="Image 1" descr="preencoded.png">    </p:cNvPr>
          <p:cNvPicPr>
            <a:picLocks noChangeAspect="1"/>
          </p:cNvPicPr>
          <p:nvPr/>
        </p:nvPicPr>
        <p:blipFill>
          <a:blip r:embed="rId2"/>
          <a:stretch>
            <a:fillRect/>
          </a:stretch>
        </p:blipFill>
        <p:spPr>
          <a:xfrm>
            <a:off x="457200" y="1005840"/>
            <a:ext cx="2377440" cy="2377440"/>
          </a:xfrm>
          <a:prstGeom prst="rect">
            <a:avLst/>
          </a:prstGeom>
        </p:spPr>
      </p:pic>
      <p:sp>
        <p:nvSpPr>
          <p:cNvPr id="6" name="Text 2"/>
          <p:cNvSpPr/>
          <p:nvPr/>
        </p:nvSpPr>
        <p:spPr>
          <a:xfrm>
            <a:off x="3383280" y="914400"/>
            <a:ext cx="5394960" cy="3474720"/>
          </a:xfrm>
          <a:prstGeom prst="rect">
            <a:avLst/>
          </a:prstGeom>
          <a:noFill/>
          <a:ln/>
        </p:spPr>
        <p:txBody>
          <a:bodyPr wrap="square" rtlCol="0" anchor="t"/>
          <a:lstStyle/>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These three traits describe what is expected of anyone with leadership or supervisory responsibility, regardless of seniority</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This talk applies whether you lead a team of twenty or you are the one person other colleagues naturally turn to for guidance</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Leadership in nuclear safety is judged by behaviour, not job title</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We will look at what good leadership behaviour looks like, and how every one of us can hold leaders to this standard</a:t>
            </a:r>
            <a:endParaRPr lang="en-US" sz="1250" dirty="0"/>
          </a:p>
        </p:txBody>
      </p:sp>
      <p:sp>
        <p:nvSpPr>
          <p:cNvPr id="7" name="Shape 3"/>
          <p:cNvSpPr/>
          <p:nvPr/>
        </p:nvSpPr>
        <p:spPr>
          <a:xfrm>
            <a:off x="365760" y="4137660"/>
            <a:ext cx="8412480" cy="640080"/>
          </a:xfrm>
          <a:prstGeom prst="roundRect">
            <a:avLst>
              <a:gd name="adj" fmla="val 10000"/>
            </a:avLst>
          </a:prstGeom>
          <a:solidFill>
            <a:srgbClr val="D6EEF8"/>
          </a:solidFill>
          <a:ln w="12700">
            <a:solidFill>
              <a:srgbClr val="009FE3"/>
            </a:solidFill>
            <a:prstDash val="solid"/>
          </a:ln>
        </p:spPr>
      </p:sp>
      <p:sp>
        <p:nvSpPr>
          <p:cNvPr id="8" name="Text 4"/>
          <p:cNvSpPr/>
          <p:nvPr/>
        </p:nvSpPr>
        <p:spPr>
          <a:xfrm>
            <a:off x="502920" y="4155948"/>
            <a:ext cx="8138160" cy="603504"/>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If you are not in a formal leadership role, this talk still matters. It tells you what you should expect to see from those who lead you.</a:t>
            </a:r>
            <a:endParaRPr lang="en-US" sz="950" dirty="0"/>
          </a:p>
        </p:txBody>
      </p:sp>
      <p:sp>
        <p:nvSpPr>
          <p:cNvPr id="11" name="Text 7"/>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2 OF 4</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83348F"/>
          </a:solidFill>
          <a:ln w="12700">
            <a:solidFill>
              <a:srgbClr val="83348F"/>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Leader Responsibility</a:t>
            </a:r>
            <a:endParaRPr lang="en-US" sz="2000" dirty="0"/>
          </a:p>
        </p:txBody>
      </p:sp>
      <p:pic>
        <p:nvPicPr>
          <p:cNvPr id="5" name="Image 1" descr="preencoded.png">    </p:cNvPr>
          <p:cNvPicPr>
            <a:picLocks noChangeAspect="1"/>
          </p:cNvPicPr>
          <p:nvPr/>
        </p:nvPicPr>
        <p:blipFill>
          <a:blip r:embed="rId2"/>
          <a:stretch>
            <a:fillRect/>
          </a:stretch>
        </p:blipFill>
        <p:spPr>
          <a:xfrm>
            <a:off x="457200" y="1005840"/>
            <a:ext cx="2377440" cy="2377440"/>
          </a:xfrm>
          <a:prstGeom prst="rect">
            <a:avLst/>
          </a:prstGeom>
        </p:spPr>
      </p:pic>
      <p:sp>
        <p:nvSpPr>
          <p:cNvPr id="6" name="Text 2"/>
          <p:cNvSpPr/>
          <p:nvPr/>
        </p:nvSpPr>
        <p:spPr>
          <a:xfrm>
            <a:off x="3383280" y="914400"/>
            <a:ext cx="5394960" cy="3474720"/>
          </a:xfrm>
          <a:prstGeom prst="rect">
            <a:avLst/>
          </a:prstGeom>
          <a:noFill/>
          <a:ln/>
        </p:spPr>
        <p:txBody>
          <a:bodyPr wrap="square" rtlCol="0" anchor="t"/>
          <a:lstStyle/>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Leaders model the safety behaviours they expect of others. They do not just talk about safety, they demonstrate it</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Leaders are present in work areas, asking questions, observing, and listening, not just managing from an office</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Leaders make sure people and resources are available to do nuclear work safely, not just available to hit a deadline</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Leaders recognise and reward safety behaviour, not just output</a:t>
            </a:r>
            <a:endParaRPr lang="en-US" sz="1250" dirty="0"/>
          </a:p>
        </p:txBody>
      </p:sp>
      <p:sp>
        <p:nvSpPr>
          <p:cNvPr id="7" name="Shape 3"/>
          <p:cNvSpPr/>
          <p:nvPr/>
        </p:nvSpPr>
        <p:spPr>
          <a:xfrm>
            <a:off x="365760" y="4137660"/>
            <a:ext cx="8412480" cy="640080"/>
          </a:xfrm>
          <a:prstGeom prst="roundRect">
            <a:avLst>
              <a:gd name="adj" fmla="val 10000"/>
            </a:avLst>
          </a:prstGeom>
          <a:solidFill>
            <a:srgbClr val="D6EEF8"/>
          </a:solidFill>
          <a:ln w="12700">
            <a:solidFill>
              <a:srgbClr val="009FE3"/>
            </a:solidFill>
            <a:prstDash val="solid"/>
          </a:ln>
        </p:spPr>
      </p:sp>
      <p:sp>
        <p:nvSpPr>
          <p:cNvPr id="8" name="Text 4"/>
          <p:cNvSpPr/>
          <p:nvPr/>
        </p:nvSpPr>
        <p:spPr>
          <a:xfrm>
            <a:off x="502920" y="4155948"/>
            <a:ext cx="8138160" cy="603504"/>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A leader who says safety comes first, but always asks about schedule first, is teaching the opposite lesson.</a:t>
            </a:r>
            <a:endParaRPr lang="en-US" sz="950" dirty="0"/>
          </a:p>
        </p:txBody>
      </p:sp>
      <p:sp>
        <p:nvSpPr>
          <p:cNvPr id="11" name="Text 7"/>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2 OF 4</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83348F"/>
          </a:solidFill>
          <a:ln w="12700">
            <a:solidFill>
              <a:srgbClr val="83348F"/>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Decision-Making</a:t>
            </a:r>
            <a:endParaRPr lang="en-US" sz="2000" dirty="0"/>
          </a:p>
        </p:txBody>
      </p:sp>
      <p:pic>
        <p:nvPicPr>
          <p:cNvPr id="5" name="Image 1" descr="preencoded.png">    </p:cNvPr>
          <p:cNvPicPr>
            <a:picLocks noChangeAspect="1"/>
          </p:cNvPicPr>
          <p:nvPr/>
        </p:nvPicPr>
        <p:blipFill>
          <a:blip r:embed="rId2"/>
          <a:stretch>
            <a:fillRect/>
          </a:stretch>
        </p:blipFill>
        <p:spPr>
          <a:xfrm>
            <a:off x="457200" y="1005840"/>
            <a:ext cx="2377440" cy="2377440"/>
          </a:xfrm>
          <a:prstGeom prst="rect">
            <a:avLst/>
          </a:prstGeom>
        </p:spPr>
      </p:pic>
      <p:sp>
        <p:nvSpPr>
          <p:cNvPr id="6" name="Text 2"/>
          <p:cNvSpPr/>
          <p:nvPr/>
        </p:nvSpPr>
        <p:spPr>
          <a:xfrm>
            <a:off x="3383280" y="914400"/>
            <a:ext cx="5394960" cy="3474720"/>
          </a:xfrm>
          <a:prstGeom prst="rect">
            <a:avLst/>
          </a:prstGeom>
          <a:noFill/>
          <a:ln/>
        </p:spPr>
        <p:txBody>
          <a:bodyPr wrap="square" rtlCol="0" anchor="t"/>
          <a:lstStyle/>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Decisions involving risk should be systematic, not based on gut feel or pressure of the moment</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The safe choice is chosen over the merely allowable choice. Confirm something is safe before proceeding, not proceed until proven unsafe</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Authority for decisions should be clear. Everyone should know who actually has the authority to make a call</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When something unexpected happens and no procedure covers it, a measured, prudent approach is taken, not a rushed one</a:t>
            </a:r>
            <a:endParaRPr lang="en-US" sz="1250" dirty="0"/>
          </a:p>
        </p:txBody>
      </p:sp>
      <p:sp>
        <p:nvSpPr>
          <p:cNvPr id="7" name="Shape 3"/>
          <p:cNvSpPr/>
          <p:nvPr/>
        </p:nvSpPr>
        <p:spPr>
          <a:xfrm>
            <a:off x="365760" y="4137660"/>
            <a:ext cx="8412480" cy="640080"/>
          </a:xfrm>
          <a:prstGeom prst="roundRect">
            <a:avLst>
              <a:gd name="adj" fmla="val 10000"/>
            </a:avLst>
          </a:prstGeom>
          <a:solidFill>
            <a:srgbClr val="D6EEF8"/>
          </a:solidFill>
          <a:ln w="12700">
            <a:solidFill>
              <a:srgbClr val="009FE3"/>
            </a:solidFill>
            <a:prstDash val="solid"/>
          </a:ln>
        </p:spPr>
      </p:sp>
      <p:sp>
        <p:nvSpPr>
          <p:cNvPr id="8" name="Text 4"/>
          <p:cNvSpPr/>
          <p:nvPr/>
        </p:nvSpPr>
        <p:spPr>
          <a:xfrm>
            <a:off x="502920" y="4155948"/>
            <a:ext cx="8138160" cy="603504"/>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Conservative decision-making is not slow decision-making. It is decision-making that properly accounts for risk.</a:t>
            </a:r>
            <a:endParaRPr lang="en-US" sz="950" dirty="0"/>
          </a:p>
        </p:txBody>
      </p:sp>
      <p:sp>
        <p:nvSpPr>
          <p:cNvPr id="11" name="Text 7"/>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2 OF 4</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83348F"/>
          </a:solidFill>
          <a:ln w="12700">
            <a:solidFill>
              <a:srgbClr val="83348F"/>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Work Environment</a:t>
            </a:r>
            <a:endParaRPr lang="en-US" sz="2000" dirty="0"/>
          </a:p>
        </p:txBody>
      </p:sp>
      <p:pic>
        <p:nvPicPr>
          <p:cNvPr id="5" name="Image 1" descr="preencoded.png">    </p:cNvPr>
          <p:cNvPicPr>
            <a:picLocks noChangeAspect="1"/>
          </p:cNvPicPr>
          <p:nvPr/>
        </p:nvPicPr>
        <p:blipFill>
          <a:blip r:embed="rId2"/>
          <a:stretch>
            <a:fillRect/>
          </a:stretch>
        </p:blipFill>
        <p:spPr>
          <a:xfrm>
            <a:off x="457200" y="1005840"/>
            <a:ext cx="2377440" cy="2377440"/>
          </a:xfrm>
          <a:prstGeom prst="rect">
            <a:avLst/>
          </a:prstGeom>
        </p:spPr>
      </p:pic>
      <p:sp>
        <p:nvSpPr>
          <p:cNvPr id="6" name="Text 2"/>
          <p:cNvSpPr/>
          <p:nvPr/>
        </p:nvSpPr>
        <p:spPr>
          <a:xfrm>
            <a:off x="3383280" y="914400"/>
            <a:ext cx="5394960" cy="3474720"/>
          </a:xfrm>
          <a:prstGeom prst="rect">
            <a:avLst/>
          </a:prstGeom>
          <a:noFill/>
          <a:ln/>
        </p:spPr>
        <p:txBody>
          <a:bodyPr wrap="square" rtlCol="0" anchor="t"/>
          <a:lstStyle/>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Trust and respect should be obvious in how people treat each other day to day</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Differing opinions are genuinely welcomed, not just tolerated</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Conflicts are resolved fairly and quickly, not left to fester</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The physical state of the workplace, tidy, organised, well maintained, reflects respect for the people who work there</a:t>
            </a:r>
            <a:endParaRPr lang="en-US" sz="1250" dirty="0"/>
          </a:p>
        </p:txBody>
      </p:sp>
      <p:sp>
        <p:nvSpPr>
          <p:cNvPr id="7" name="Shape 3"/>
          <p:cNvSpPr/>
          <p:nvPr/>
        </p:nvSpPr>
        <p:spPr>
          <a:xfrm>
            <a:off x="365760" y="4137660"/>
            <a:ext cx="8412480" cy="640080"/>
          </a:xfrm>
          <a:prstGeom prst="roundRect">
            <a:avLst>
              <a:gd name="adj" fmla="val 10000"/>
            </a:avLst>
          </a:prstGeom>
          <a:solidFill>
            <a:srgbClr val="D6EEF8"/>
          </a:solidFill>
          <a:ln w="12700">
            <a:solidFill>
              <a:srgbClr val="009FE3"/>
            </a:solidFill>
            <a:prstDash val="solid"/>
          </a:ln>
        </p:spPr>
      </p:sp>
      <p:sp>
        <p:nvSpPr>
          <p:cNvPr id="8" name="Text 4"/>
          <p:cNvSpPr/>
          <p:nvPr/>
        </p:nvSpPr>
        <p:spPr>
          <a:xfrm>
            <a:off x="502920" y="4155948"/>
            <a:ext cx="8138160" cy="603504"/>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A respectful work environment is not a soft add-on to safety culture. It is one of the ten core traits for a reason.</a:t>
            </a:r>
            <a:endParaRPr lang="en-US" sz="950" dirty="0"/>
          </a:p>
        </p:txBody>
      </p:sp>
      <p:sp>
        <p:nvSpPr>
          <p:cNvPr id="11" name="Text 7"/>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2 OF 4</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83348F"/>
          </a:solidFill>
          <a:ln w="12700">
            <a:solidFill>
              <a:srgbClr val="83348F"/>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Discussion Scenario</a:t>
            </a:r>
            <a:endParaRPr lang="en-US" sz="2000" dirty="0"/>
          </a:p>
        </p:txBody>
      </p:sp>
      <p:sp>
        <p:nvSpPr>
          <p:cNvPr id="5" name="Shape 2"/>
          <p:cNvSpPr/>
          <p:nvPr/>
        </p:nvSpPr>
        <p:spPr>
          <a:xfrm>
            <a:off x="548640" y="1005840"/>
            <a:ext cx="8046720" cy="1828800"/>
          </a:xfrm>
          <a:prstGeom prst="roundRect">
            <a:avLst>
              <a:gd name="adj" fmla="val 3000"/>
            </a:avLst>
          </a:prstGeom>
          <a:solidFill>
            <a:srgbClr val="FFFFFF">
              <a:alpha val="8000"/>
            </a:srgbClr>
          </a:solidFill>
          <a:ln w="12700">
            <a:solidFill>
              <a:srgbClr val="009FE3"/>
            </a:solidFill>
            <a:prstDash val="solid"/>
          </a:ln>
        </p:spPr>
      </p:sp>
      <p:sp>
        <p:nvSpPr>
          <p:cNvPr id="6" name="Text 3"/>
          <p:cNvSpPr/>
          <p:nvPr/>
        </p:nvSpPr>
        <p:spPr>
          <a:xfrm>
            <a:off x="731520" y="1143000"/>
            <a:ext cx="7680960" cy="365760"/>
          </a:xfrm>
          <a:prstGeom prst="rect">
            <a:avLst/>
          </a:prstGeom>
          <a:noFill/>
          <a:ln/>
        </p:spPr>
        <p:txBody>
          <a:bodyPr wrap="square" rtlCol="0" anchor="ctr"/>
          <a:lstStyle/>
          <a:p>
            <a:pPr algn="l" indent="0" marL="0">
              <a:buNone/>
            </a:pPr>
            <a:r>
              <a:rPr lang="en-US" sz="1200" b="1" dirty="0">
                <a:solidFill>
                  <a:srgbClr val="009FE3"/>
                </a:solidFill>
                <a:latin typeface="Arial" pitchFamily="34" charset="0"/>
                <a:ea typeface="Arial" pitchFamily="34" charset="-122"/>
                <a:cs typeface="Arial" pitchFamily="34" charset="-120"/>
              </a:rPr>
              <a:t>SCENARIO</a:t>
            </a:r>
            <a:endParaRPr lang="en-US" sz="1200" dirty="0"/>
          </a:p>
        </p:txBody>
      </p:sp>
      <p:sp>
        <p:nvSpPr>
          <p:cNvPr id="7" name="Text 4"/>
          <p:cNvSpPr/>
          <p:nvPr/>
        </p:nvSpPr>
        <p:spPr>
          <a:xfrm>
            <a:off x="731520" y="1508760"/>
            <a:ext cx="7680960" cy="1234440"/>
          </a:xfrm>
          <a:prstGeom prst="rect">
            <a:avLst/>
          </a:prstGeom>
          <a:noFill/>
          <a:ln/>
        </p:spPr>
        <p:txBody>
          <a:bodyPr wrap="square" rtlCol="0" anchor="t"/>
          <a:lstStyle/>
          <a:p>
            <a:pPr algn="l" indent="0" marL="0">
              <a:buNone/>
            </a:pPr>
            <a:r>
              <a:rPr lang="en-US" sz="1300" dirty="0">
                <a:solidFill>
                  <a:srgbClr val="FFFFFF"/>
                </a:solidFill>
                <a:latin typeface="Arial" pitchFamily="34" charset="0"/>
                <a:ea typeface="Arial" pitchFamily="34" charset="-122"/>
                <a:cs typeface="Arial" pitchFamily="34" charset="-120"/>
              </a:rPr>
              <a:t>A supervisor is under pressure to hit a delivery deadline. A team member flags a concern about a process step, but the supervisor says 'we'll sort it properly next time, let's just get this batch out'.</a:t>
            </a:r>
            <a:endParaRPr lang="en-US" sz="1300" dirty="0"/>
          </a:p>
        </p:txBody>
      </p:sp>
      <p:sp>
        <p:nvSpPr>
          <p:cNvPr id="8" name="Shape 5"/>
          <p:cNvSpPr/>
          <p:nvPr/>
        </p:nvSpPr>
        <p:spPr>
          <a:xfrm>
            <a:off x="548640" y="3017520"/>
            <a:ext cx="8046720" cy="1005840"/>
          </a:xfrm>
          <a:prstGeom prst="roundRect">
            <a:avLst>
              <a:gd name="adj" fmla="val 5455"/>
            </a:avLst>
          </a:prstGeom>
          <a:solidFill>
            <a:srgbClr val="009FE3"/>
          </a:solidFill>
          <a:ln w="12700">
            <a:solidFill>
              <a:srgbClr val="009FE3"/>
            </a:solidFill>
            <a:prstDash val="solid"/>
          </a:ln>
        </p:spPr>
      </p:sp>
      <p:sp>
        <p:nvSpPr>
          <p:cNvPr id="9" name="Text 6"/>
          <p:cNvSpPr/>
          <p:nvPr/>
        </p:nvSpPr>
        <p:spPr>
          <a:xfrm>
            <a:off x="731520" y="3108960"/>
            <a:ext cx="7680960" cy="320040"/>
          </a:xfrm>
          <a:prstGeom prst="rect">
            <a:avLst/>
          </a:prstGeom>
          <a:noFill/>
          <a:ln/>
        </p:spPr>
        <p:txBody>
          <a:bodyPr wrap="square" rtlCol="0" anchor="ctr"/>
          <a:lstStyle/>
          <a:p>
            <a:pPr indent="0" marL="0">
              <a:buNone/>
            </a:pPr>
            <a:r>
              <a:rPr lang="en-US" sz="1100" b="1" dirty="0">
                <a:solidFill>
                  <a:srgbClr val="D6EEF8"/>
                </a:solidFill>
                <a:latin typeface="Arial" pitchFamily="34" charset="0"/>
                <a:ea typeface="Arial" pitchFamily="34" charset="-122"/>
                <a:cs typeface="Arial" pitchFamily="34" charset="-120"/>
              </a:rPr>
              <a:t>DISCUSS</a:t>
            </a:r>
            <a:endParaRPr lang="en-US" sz="1100" dirty="0"/>
          </a:p>
        </p:txBody>
      </p:sp>
      <p:sp>
        <p:nvSpPr>
          <p:cNvPr id="10" name="Text 7"/>
          <p:cNvSpPr/>
          <p:nvPr/>
        </p:nvSpPr>
        <p:spPr>
          <a:xfrm>
            <a:off x="731520" y="3383280"/>
            <a:ext cx="7680960" cy="594360"/>
          </a:xfrm>
          <a:prstGeom prst="rect">
            <a:avLst/>
          </a:prstGeom>
          <a:noFill/>
          <a:ln/>
        </p:spPr>
        <p:txBody>
          <a:bodyPr wrap="square" rtlCol="0" anchor="t"/>
          <a:lstStyle/>
          <a:p>
            <a:pPr indent="0" marL="0">
              <a:buNone/>
            </a:pPr>
            <a:r>
              <a:rPr lang="en-US" sz="1300" b="1" dirty="0">
                <a:solidFill>
                  <a:srgbClr val="FFFFFF"/>
                </a:solidFill>
                <a:latin typeface="Arial" pitchFamily="34" charset="0"/>
                <a:ea typeface="Arial" pitchFamily="34" charset="-122"/>
                <a:cs typeface="Arial" pitchFamily="34" charset="-120"/>
              </a:rPr>
              <a:t>Which of the three traits in this talk does this situation touch on? What should the supervisor have done differently?</a:t>
            </a:r>
            <a:endParaRPr lang="en-US" sz="1300" dirty="0"/>
          </a:p>
        </p:txBody>
      </p:sp>
      <p:sp>
        <p:nvSpPr>
          <p:cNvPr id="13" name="Text 10"/>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2 OF 4</a:t>
            </a:r>
            <a:endParaRPr lang="en-US" sz="800" dirty="0"/>
          </a:p>
        </p:txBody>
      </p:sp>
      <p:sp>
        <p:nvSpPr>
          <p:cNvPr id="14" name="Rectangle 13"/>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5"/>
          <a:stretch>
            <a:fillRect/>
          </a:stretch>
        </p:blipFill>
        <p:spPr>
          <a:xfrm>
            <a:off x="7562088" y="100584"/>
            <a:ext cx="566928" cy="347472"/>
          </a:xfrm>
          <a:prstGeom prst="rect">
            <a:avLst/>
          </a:prstGeom>
        </p:spPr>
      </p:pic>
      <p:pic>
        <p:nvPicPr>
          <p:cNvPr id="16" name="Picture 15" descr="image.png"/>
          <p:cNvPicPr>
            <a:picLocks noChangeAspect="1"/>
          </p:cNvPicPr>
          <p:nvPr/>
        </p:nvPicPr>
        <p:blipFill>
          <a:blip r:embed="rId4"/>
          <a:stretch>
            <a:fillRect/>
          </a:stretch>
        </p:blipFill>
        <p:spPr>
          <a:xfrm>
            <a:off x="8174736" y="100584"/>
            <a:ext cx="658368" cy="347472"/>
          </a:xfrm>
          <a:prstGeom prst="rect">
            <a:avLst/>
          </a:prstGeom>
        </p:spPr>
      </p:pic>
      <p:sp>
        <p:nvSpPr>
          <p:cNvPr id="17" name="Rectangle 16"/>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9FE3"/>
          </a:solidFill>
          <a:ln w="12700">
            <a:solidFill>
              <a:srgbClr val="009FE3"/>
            </a:solidFill>
            <a:prstDash val="solid"/>
          </a:ln>
        </p:spPr>
      </p:sp>
      <p:sp>
        <p:nvSpPr>
          <p:cNvPr id="4" name="Shape 1"/>
          <p:cNvSpPr/>
          <p:nvPr/>
        </p:nvSpPr>
        <p:spPr>
          <a:xfrm>
            <a:off x="731520" y="1463040"/>
            <a:ext cx="7680960" cy="2011680"/>
          </a:xfrm>
          <a:prstGeom prst="roundRect">
            <a:avLst>
              <a:gd name="adj" fmla="val 3636"/>
            </a:avLst>
          </a:prstGeom>
          <a:solidFill>
            <a:srgbClr val="009FE3"/>
          </a:solidFill>
          <a:ln w="12700">
            <a:solidFill>
              <a:srgbClr val="009FE3"/>
            </a:solidFill>
            <a:prstDash val="solid"/>
          </a:ln>
        </p:spPr>
      </p:sp>
      <p:sp>
        <p:nvSpPr>
          <p:cNvPr id="5" name="Text 2"/>
          <p:cNvSpPr/>
          <p:nvPr/>
        </p:nvSpPr>
        <p:spPr>
          <a:xfrm>
            <a:off x="914400" y="1600200"/>
            <a:ext cx="7315200" cy="173736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Management commitment to safety is proven in the moments when safety and schedule pull in different directions.</a:t>
            </a:r>
            <a:endParaRPr lang="en-US" sz="1800" dirty="0"/>
          </a:p>
        </p:txBody>
      </p:sp>
      <p:sp>
        <p:nvSpPr>
          <p:cNvPr id="8" name="Text 5"/>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2 OF 4</a:t>
            </a:r>
            <a:endParaRPr lang="en-US" sz="800" dirty="0"/>
          </a:p>
        </p:txBody>
      </p:sp>
      <p:sp>
        <p:nvSpPr>
          <p:cNvPr id="9" name="Rectangle 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562088" y="100584"/>
            <a:ext cx="566928" cy="347472"/>
          </a:xfrm>
          <a:prstGeom prst="rect">
            <a:avLst/>
          </a:prstGeom>
        </p:spPr>
      </p:pic>
      <p:pic>
        <p:nvPicPr>
          <p:cNvPr id="11" name="Picture 10" descr="image.png"/>
          <p:cNvPicPr>
            <a:picLocks noChangeAspect="1"/>
          </p:cNvPicPr>
          <p:nvPr/>
        </p:nvPicPr>
        <p:blipFill>
          <a:blip r:embed="rId4"/>
          <a:stretch>
            <a:fillRect/>
          </a:stretch>
        </p:blipFill>
        <p:spPr>
          <a:xfrm>
            <a:off x="8174736" y="100584"/>
            <a:ext cx="658368" cy="347472"/>
          </a:xfrm>
          <a:prstGeom prst="rect">
            <a:avLst/>
          </a:prstGeom>
        </p:spPr>
      </p:pic>
      <p:sp>
        <p:nvSpPr>
          <p:cNvPr id="12" name="Rectangle 1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2571750"/>
            <a:ext cx="9144000" cy="2571750"/>
          </a:xfrm>
          <a:prstGeom prst="rect">
            <a:avLst/>
          </a:prstGeom>
          <a:solidFill>
            <a:srgbClr val="009FE3"/>
          </a:solidFill>
          <a:ln w="12700">
            <a:solidFill>
              <a:srgbClr val="009FE3"/>
            </a:solidFill>
            <a:prstDash val="solid"/>
          </a:ln>
        </p:spPr>
      </p:sp>
      <p:sp>
        <p:nvSpPr>
          <p:cNvPr id="3" name="Shape 1"/>
          <p:cNvSpPr/>
          <p:nvPr/>
        </p:nvSpPr>
        <p:spPr>
          <a:xfrm>
            <a:off x="0" y="2571750"/>
            <a:ext cx="9144000" cy="54864"/>
          </a:xfrm>
          <a:prstGeom prst="rect">
            <a:avLst/>
          </a:prstGeom>
          <a:solidFill>
            <a:srgbClr val="83348F"/>
          </a:solidFill>
          <a:ln w="12700">
            <a:solidFill>
              <a:srgbClr val="83348F"/>
            </a:solidFill>
            <a:prstDash val="solid"/>
          </a:ln>
        </p:spPr>
      </p:sp>
      <p:sp>
        <p:nvSpPr>
          <p:cNvPr id="4" name="Text 2"/>
          <p:cNvSpPr/>
          <p:nvPr/>
        </p:nvSpPr>
        <p:spPr>
          <a:xfrm>
            <a:off x="457200" y="457200"/>
            <a:ext cx="8229600" cy="548640"/>
          </a:xfrm>
          <a:prstGeom prst="rect">
            <a:avLst/>
          </a:prstGeom>
          <a:noFill/>
          <a:ln/>
        </p:spPr>
        <p:txBody>
          <a:bodyPr wrap="square" rtlCol="0" anchor="ctr"/>
          <a:lstStyle/>
          <a:p>
            <a:pPr algn="ctr" indent="0" marL="0">
              <a:buNone/>
            </a:pPr>
            <a:r>
              <a:rPr lang="en-US" sz="1600" b="1" dirty="0">
                <a:solidFill>
                  <a:srgbClr val="D6EEF8"/>
                </a:solidFill>
                <a:latin typeface="Arial" pitchFamily="34" charset="0"/>
                <a:ea typeface="Arial" pitchFamily="34" charset="-122"/>
                <a:cs typeface="Arial" pitchFamily="34" charset="-120"/>
              </a:rPr>
              <a:t>TALK 3 OF 4</a:t>
            </a:r>
            <a:endParaRPr lang="en-US" sz="1600" dirty="0"/>
          </a:p>
        </p:txBody>
      </p:sp>
      <p:pic>
        <p:nvPicPr>
          <p:cNvPr id="5" name="Image 0" descr="/home/claude/nuccol_logo_header.jpg">    </p:cNvPr>
          <p:cNvPicPr>
            <a:picLocks noChangeAspect="1"/>
          </p:cNvPicPr>
          <p:nvPr/>
        </p:nvPicPr>
        <p:blipFill>
          <a:blip r:embed="rId1"/>
          <a:stretch>
            <a:fillRect/>
          </a:stretch>
        </p:blipFill>
        <p:spPr>
          <a:xfrm>
            <a:off x="3566160" y="1005840"/>
            <a:ext cx="2011680" cy="1280160"/>
          </a:xfrm>
          <a:prstGeom prst="rect">
            <a:avLst/>
          </a:prstGeom>
        </p:spPr>
      </p:pic>
      <p:sp>
        <p:nvSpPr>
          <p:cNvPr id="6" name="Text 3"/>
          <p:cNvSpPr/>
          <p:nvPr/>
        </p:nvSpPr>
        <p:spPr>
          <a:xfrm>
            <a:off x="457200" y="2726055"/>
            <a:ext cx="8229600" cy="91440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Learning and Problem Resolution</a:t>
            </a:r>
            <a:endParaRPr lang="en-US" sz="2800" dirty="0"/>
          </a:p>
        </p:txBody>
      </p:sp>
      <p:sp>
        <p:nvSpPr>
          <p:cNvPr id="7" name="Text 4"/>
          <p:cNvSpPr/>
          <p:nvPr/>
        </p:nvSpPr>
        <p:spPr>
          <a:xfrm>
            <a:off x="457200" y="3594735"/>
            <a:ext cx="8229600" cy="640080"/>
          </a:xfrm>
          <a:prstGeom prst="rect">
            <a:avLst/>
          </a:prstGeom>
          <a:noFill/>
          <a:ln/>
        </p:spPr>
        <p:txBody>
          <a:bodyPr wrap="square" rtlCol="0" anchor="ctr"/>
          <a:lstStyle/>
          <a:p>
            <a:pPr algn="ctr" indent="0" marL="0">
              <a:buNone/>
            </a:pPr>
            <a:r>
              <a:rPr lang="en-US" sz="1400" dirty="0">
                <a:solidFill>
                  <a:srgbClr val="D6EEF8"/>
                </a:solidFill>
                <a:latin typeface="Arial" pitchFamily="34" charset="0"/>
                <a:ea typeface="Arial" pitchFamily="34" charset="-122"/>
                <a:cs typeface="Arial" pitchFamily="34" charset="-120"/>
              </a:rPr>
              <a:t>Talk 3 of 4: Continuous Learning, Problem Identification and Resolution</a:t>
            </a:r>
            <a:endParaRPr lang="en-US" sz="1400" dirty="0"/>
          </a:p>
        </p:txBody>
      </p:sp>
      <p:sp>
        <p:nvSpPr>
          <p:cNvPr id="8" name="Rectangle 7"/>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5"/>
          <a:stretch>
            <a:fillRect/>
          </a:stretch>
        </p:blipFill>
        <p:spPr>
          <a:xfrm>
            <a:off x="7562088" y="100584"/>
            <a:ext cx="566928" cy="347472"/>
          </a:xfrm>
          <a:prstGeom prst="rect">
            <a:avLst/>
          </a:prstGeom>
        </p:spPr>
      </p:pic>
      <p:pic>
        <p:nvPicPr>
          <p:cNvPr id="10" name="Picture 9" descr="image.png"/>
          <p:cNvPicPr>
            <a:picLocks noChangeAspect="1"/>
          </p:cNvPicPr>
          <p:nvPr/>
        </p:nvPicPr>
        <p:blipFill>
          <a:blip r:embed="rId4"/>
          <a:stretch>
            <a:fillRect/>
          </a:stretch>
        </p:blipFill>
        <p:spPr>
          <a:xfrm>
            <a:off x="8174736" y="100584"/>
            <a:ext cx="658368" cy="347472"/>
          </a:xfrm>
          <a:prstGeom prst="rect">
            <a:avLst/>
          </a:prstGeom>
        </p:spPr>
      </p:pic>
      <p:sp>
        <p:nvSpPr>
          <p:cNvPr id="11" name="Rectangle 10"/>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9FE3"/>
          </a:solidFill>
          <a:ln w="12700">
            <a:solidFill>
              <a:srgbClr val="009FE3"/>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What These Traits Mean</a:t>
            </a:r>
            <a:endParaRPr lang="en-US" sz="2000" dirty="0"/>
          </a:p>
        </p:txBody>
      </p:sp>
      <p:pic>
        <p:nvPicPr>
          <p:cNvPr id="5" name="Image 1" descr="preencoded.png">    </p:cNvPr>
          <p:cNvPicPr>
            <a:picLocks noChangeAspect="1"/>
          </p:cNvPicPr>
          <p:nvPr/>
        </p:nvPicPr>
        <p:blipFill>
          <a:blip r:embed="rId2"/>
          <a:stretch>
            <a:fillRect/>
          </a:stretch>
        </p:blipFill>
        <p:spPr>
          <a:xfrm>
            <a:off x="457200" y="1005840"/>
            <a:ext cx="2377440" cy="2377440"/>
          </a:xfrm>
          <a:prstGeom prst="rect">
            <a:avLst/>
          </a:prstGeom>
        </p:spPr>
      </p:pic>
      <p:sp>
        <p:nvSpPr>
          <p:cNvPr id="6" name="Text 2"/>
          <p:cNvSpPr/>
          <p:nvPr/>
        </p:nvSpPr>
        <p:spPr>
          <a:xfrm>
            <a:off x="3383280" y="914400"/>
            <a:ext cx="5394960" cy="3474720"/>
          </a:xfrm>
          <a:prstGeom prst="rect">
            <a:avLst/>
          </a:prstGeom>
          <a:noFill/>
          <a:ln/>
        </p:spPr>
        <p:txBody>
          <a:bodyPr wrap="square" rtlCol="0" anchor="t"/>
          <a:lstStyle/>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These two traits are about how the organisation as a whole learns and improves, not just individuals</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A strong organisation does not wait for a serious event to learn a lesson. It learns from the small things first</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Today's talk covers Continuous Learning and Problem Identification and Resolution</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Both connect directly to our Near Miss and OPEX Log, which is where we actually capture and act on this learning</a:t>
            </a:r>
            <a:endParaRPr lang="en-US" sz="1250" dirty="0"/>
          </a:p>
        </p:txBody>
      </p:sp>
      <p:sp>
        <p:nvSpPr>
          <p:cNvPr id="7" name="Shape 3"/>
          <p:cNvSpPr/>
          <p:nvPr/>
        </p:nvSpPr>
        <p:spPr>
          <a:xfrm>
            <a:off x="365760" y="4137660"/>
            <a:ext cx="8412480" cy="640080"/>
          </a:xfrm>
          <a:prstGeom prst="roundRect">
            <a:avLst>
              <a:gd name="adj" fmla="val 10000"/>
            </a:avLst>
          </a:prstGeom>
          <a:solidFill>
            <a:srgbClr val="D6EEF8"/>
          </a:solidFill>
          <a:ln w="12700">
            <a:solidFill>
              <a:srgbClr val="009FE3"/>
            </a:solidFill>
            <a:prstDash val="solid"/>
          </a:ln>
        </p:spPr>
      </p:sp>
      <p:sp>
        <p:nvSpPr>
          <p:cNvPr id="8" name="Text 4"/>
          <p:cNvSpPr/>
          <p:nvPr/>
        </p:nvSpPr>
        <p:spPr>
          <a:xfrm>
            <a:off x="502920" y="4155948"/>
            <a:ext cx="8138160" cy="603504"/>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These traits explain why we want you to report things, even small things, and why nothing bad happens to you for doing so.</a:t>
            </a:r>
            <a:endParaRPr lang="en-US" sz="950" dirty="0"/>
          </a:p>
        </p:txBody>
      </p:sp>
      <p:sp>
        <p:nvSpPr>
          <p:cNvPr id="11" name="Text 7"/>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3 OF 4</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9FE3"/>
          </a:solidFill>
          <a:ln w="12700">
            <a:solidFill>
              <a:srgbClr val="009FE3"/>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Continuous Learning</a:t>
            </a:r>
            <a:endParaRPr lang="en-US" sz="2000" dirty="0"/>
          </a:p>
        </p:txBody>
      </p:sp>
      <p:pic>
        <p:nvPicPr>
          <p:cNvPr id="5" name="Image 1" descr="preencoded.png">    </p:cNvPr>
          <p:cNvPicPr>
            <a:picLocks noChangeAspect="1"/>
          </p:cNvPicPr>
          <p:nvPr/>
        </p:nvPicPr>
        <p:blipFill>
          <a:blip r:embed="rId2"/>
          <a:stretch>
            <a:fillRect/>
          </a:stretch>
        </p:blipFill>
        <p:spPr>
          <a:xfrm>
            <a:off x="457200" y="1005840"/>
            <a:ext cx="2377440" cy="2377440"/>
          </a:xfrm>
          <a:prstGeom prst="rect">
            <a:avLst/>
          </a:prstGeom>
        </p:spPr>
      </p:pic>
      <p:sp>
        <p:nvSpPr>
          <p:cNvPr id="6" name="Text 2"/>
          <p:cNvSpPr/>
          <p:nvPr/>
        </p:nvSpPr>
        <p:spPr>
          <a:xfrm>
            <a:off x="3383280" y="914400"/>
            <a:ext cx="5394960" cy="3474720"/>
          </a:xfrm>
          <a:prstGeom prst="rect">
            <a:avLst/>
          </a:prstGeom>
          <a:noFill/>
          <a:ln/>
        </p:spPr>
        <p:txBody>
          <a:bodyPr wrap="square" rtlCol="0" anchor="t"/>
          <a:lstStyle/>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Safety performance is regularly checked, not assumed to be fine because nothing has gone wrong recently</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Lessons from inside and outside the organisation are collected, evaluated, and acted on quickly</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Training keeps people knowledgeable and competent, not just compliant with a minimum requirement</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We benchmark against other organisations, including outside our own sector, to find better ways of working</a:t>
            </a:r>
            <a:endParaRPr lang="en-US" sz="1250" dirty="0"/>
          </a:p>
        </p:txBody>
      </p:sp>
      <p:sp>
        <p:nvSpPr>
          <p:cNvPr id="7" name="Shape 3"/>
          <p:cNvSpPr/>
          <p:nvPr/>
        </p:nvSpPr>
        <p:spPr>
          <a:xfrm>
            <a:off x="365760" y="4137660"/>
            <a:ext cx="8412480" cy="640080"/>
          </a:xfrm>
          <a:prstGeom prst="roundRect">
            <a:avLst>
              <a:gd name="adj" fmla="val 10000"/>
            </a:avLst>
          </a:prstGeom>
          <a:solidFill>
            <a:srgbClr val="D6EEF8"/>
          </a:solidFill>
          <a:ln w="12700">
            <a:solidFill>
              <a:srgbClr val="009FE3"/>
            </a:solidFill>
            <a:prstDash val="solid"/>
          </a:ln>
        </p:spPr>
      </p:sp>
      <p:sp>
        <p:nvSpPr>
          <p:cNvPr id="8" name="Text 4"/>
          <p:cNvSpPr/>
          <p:nvPr/>
        </p:nvSpPr>
        <p:spPr>
          <a:xfrm>
            <a:off x="502920" y="4155948"/>
            <a:ext cx="8138160" cy="603504"/>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Every industry alert we receive, every external lesson we hear about, is a chance to check ourselves before it happens to us.</a:t>
            </a:r>
            <a:endParaRPr lang="en-US" sz="950" dirty="0"/>
          </a:p>
        </p:txBody>
      </p:sp>
      <p:sp>
        <p:nvSpPr>
          <p:cNvPr id="11" name="Text 7"/>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3 OF 4</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9FE3"/>
          </a:solidFill>
          <a:ln w="12700">
            <a:solidFill>
              <a:srgbClr val="009FE3"/>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Problem Identification and Resolution</a:t>
            </a:r>
            <a:endParaRPr lang="en-US" sz="2000" dirty="0"/>
          </a:p>
        </p:txBody>
      </p:sp>
      <p:pic>
        <p:nvPicPr>
          <p:cNvPr id="5" name="Image 1" descr="preencoded.png">    </p:cNvPr>
          <p:cNvPicPr>
            <a:picLocks noChangeAspect="1"/>
          </p:cNvPicPr>
          <p:nvPr/>
        </p:nvPicPr>
        <p:blipFill>
          <a:blip r:embed="rId2"/>
          <a:stretch>
            <a:fillRect/>
          </a:stretch>
        </p:blipFill>
        <p:spPr>
          <a:xfrm>
            <a:off x="457200" y="1005840"/>
            <a:ext cx="2377440" cy="2377440"/>
          </a:xfrm>
          <a:prstGeom prst="rect">
            <a:avLst/>
          </a:prstGeom>
        </p:spPr>
      </p:pic>
      <p:sp>
        <p:nvSpPr>
          <p:cNvPr id="6" name="Text 2"/>
          <p:cNvSpPr/>
          <p:nvPr/>
        </p:nvSpPr>
        <p:spPr>
          <a:xfrm>
            <a:off x="3383280" y="914400"/>
            <a:ext cx="5394960" cy="3474720"/>
          </a:xfrm>
          <a:prstGeom prst="rect">
            <a:avLst/>
          </a:prstGeom>
          <a:noFill/>
          <a:ln/>
        </p:spPr>
        <p:txBody>
          <a:bodyPr wrap="square" rtlCol="0" anchor="t"/>
          <a:lstStyle/>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A low threshold for reporting issues means even minor problems get captured, because minor issues can become major ones</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Self-reporting is expected and valued. Reporting your own mistake is not a weakness, it is exactly what should happen</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Issues are properly investigated to find the real cause, not just patched over</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We look for patterns and trends across multiple reports, not just dealing with each one in isolation</a:t>
            </a:r>
            <a:endParaRPr lang="en-US" sz="1250" dirty="0"/>
          </a:p>
        </p:txBody>
      </p:sp>
      <p:sp>
        <p:nvSpPr>
          <p:cNvPr id="7" name="Shape 3"/>
          <p:cNvSpPr/>
          <p:nvPr/>
        </p:nvSpPr>
        <p:spPr>
          <a:xfrm>
            <a:off x="365760" y="4137660"/>
            <a:ext cx="8412480" cy="640080"/>
          </a:xfrm>
          <a:prstGeom prst="roundRect">
            <a:avLst>
              <a:gd name="adj" fmla="val 10000"/>
            </a:avLst>
          </a:prstGeom>
          <a:solidFill>
            <a:srgbClr val="D6EEF8"/>
          </a:solidFill>
          <a:ln w="12700">
            <a:solidFill>
              <a:srgbClr val="009FE3"/>
            </a:solidFill>
            <a:prstDash val="solid"/>
          </a:ln>
        </p:spPr>
      </p:sp>
      <p:sp>
        <p:nvSpPr>
          <p:cNvPr id="8" name="Text 4"/>
          <p:cNvSpPr/>
          <p:nvPr/>
        </p:nvSpPr>
        <p:spPr>
          <a:xfrm>
            <a:off x="502920" y="4155948"/>
            <a:ext cx="8138160" cy="603504"/>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Use the Near Miss and OPEX Log to record anything relevant, however small it feels. That is exactly what it is there for.</a:t>
            </a:r>
            <a:endParaRPr lang="en-US" sz="950" dirty="0"/>
          </a:p>
        </p:txBody>
      </p:sp>
      <p:sp>
        <p:nvSpPr>
          <p:cNvPr id="11" name="Text 7"/>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3 OF 4</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9FE3"/>
          </a:solidFill>
          <a:ln w="12700">
            <a:solidFill>
              <a:srgbClr val="009FE3"/>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Discussion Scenario</a:t>
            </a:r>
            <a:endParaRPr lang="en-US" sz="2000" dirty="0"/>
          </a:p>
        </p:txBody>
      </p:sp>
      <p:sp>
        <p:nvSpPr>
          <p:cNvPr id="5" name="Shape 2"/>
          <p:cNvSpPr/>
          <p:nvPr/>
        </p:nvSpPr>
        <p:spPr>
          <a:xfrm>
            <a:off x="548640" y="1005840"/>
            <a:ext cx="8046720" cy="1828800"/>
          </a:xfrm>
          <a:prstGeom prst="roundRect">
            <a:avLst>
              <a:gd name="adj" fmla="val 3000"/>
            </a:avLst>
          </a:prstGeom>
          <a:solidFill>
            <a:srgbClr val="FFFFFF">
              <a:alpha val="8000"/>
            </a:srgbClr>
          </a:solidFill>
          <a:ln w="12700">
            <a:solidFill>
              <a:srgbClr val="009FE3"/>
            </a:solidFill>
            <a:prstDash val="solid"/>
          </a:ln>
        </p:spPr>
      </p:sp>
      <p:sp>
        <p:nvSpPr>
          <p:cNvPr id="6" name="Text 3"/>
          <p:cNvSpPr/>
          <p:nvPr/>
        </p:nvSpPr>
        <p:spPr>
          <a:xfrm>
            <a:off x="731520" y="1143000"/>
            <a:ext cx="7680960" cy="365760"/>
          </a:xfrm>
          <a:prstGeom prst="rect">
            <a:avLst/>
          </a:prstGeom>
          <a:noFill/>
          <a:ln/>
        </p:spPr>
        <p:txBody>
          <a:bodyPr wrap="square" rtlCol="0" anchor="ctr"/>
          <a:lstStyle/>
          <a:p>
            <a:pPr algn="l" indent="0" marL="0">
              <a:buNone/>
            </a:pPr>
            <a:r>
              <a:rPr lang="en-US" sz="1200" b="1" dirty="0">
                <a:solidFill>
                  <a:srgbClr val="009FE3"/>
                </a:solidFill>
                <a:latin typeface="Arial" pitchFamily="34" charset="0"/>
                <a:ea typeface="Arial" pitchFamily="34" charset="-122"/>
                <a:cs typeface="Arial" pitchFamily="34" charset="-120"/>
              </a:rPr>
              <a:t>SCENARIO</a:t>
            </a:r>
            <a:endParaRPr lang="en-US" sz="1200" dirty="0"/>
          </a:p>
        </p:txBody>
      </p:sp>
      <p:sp>
        <p:nvSpPr>
          <p:cNvPr id="7" name="Text 4"/>
          <p:cNvSpPr/>
          <p:nvPr/>
        </p:nvSpPr>
        <p:spPr>
          <a:xfrm>
            <a:off x="731520" y="1508760"/>
            <a:ext cx="7680960" cy="1234440"/>
          </a:xfrm>
          <a:prstGeom prst="rect">
            <a:avLst/>
          </a:prstGeom>
          <a:noFill/>
          <a:ln/>
        </p:spPr>
        <p:txBody>
          <a:bodyPr wrap="square" rtlCol="0" anchor="t"/>
          <a:lstStyle/>
          <a:p>
            <a:pPr algn="l" indent="0" marL="0">
              <a:buNone/>
            </a:pPr>
            <a:r>
              <a:rPr lang="en-US" sz="1300" dirty="0">
                <a:solidFill>
                  <a:srgbClr val="FFFFFF"/>
                </a:solidFill>
                <a:latin typeface="Arial" pitchFamily="34" charset="0"/>
                <a:ea typeface="Arial" pitchFamily="34" charset="-122"/>
                <a:cs typeface="Arial" pitchFamily="34" charset="-120"/>
              </a:rPr>
              <a:t>You notice that a particular tool is regularly slightly out of position on the rack, suggesting it might be getting knocked or used without being properly checked back in. No incident has ever resulted from this.</a:t>
            </a:r>
            <a:endParaRPr lang="en-US" sz="1300" dirty="0"/>
          </a:p>
        </p:txBody>
      </p:sp>
      <p:sp>
        <p:nvSpPr>
          <p:cNvPr id="8" name="Shape 5"/>
          <p:cNvSpPr/>
          <p:nvPr/>
        </p:nvSpPr>
        <p:spPr>
          <a:xfrm>
            <a:off x="548640" y="3017520"/>
            <a:ext cx="8046720" cy="1005840"/>
          </a:xfrm>
          <a:prstGeom prst="roundRect">
            <a:avLst>
              <a:gd name="adj" fmla="val 5455"/>
            </a:avLst>
          </a:prstGeom>
          <a:solidFill>
            <a:srgbClr val="009FE3"/>
          </a:solidFill>
          <a:ln w="12700">
            <a:solidFill>
              <a:srgbClr val="009FE3"/>
            </a:solidFill>
            <a:prstDash val="solid"/>
          </a:ln>
        </p:spPr>
      </p:sp>
      <p:sp>
        <p:nvSpPr>
          <p:cNvPr id="9" name="Text 6"/>
          <p:cNvSpPr/>
          <p:nvPr/>
        </p:nvSpPr>
        <p:spPr>
          <a:xfrm>
            <a:off x="731520" y="3108960"/>
            <a:ext cx="7680960" cy="320040"/>
          </a:xfrm>
          <a:prstGeom prst="rect">
            <a:avLst/>
          </a:prstGeom>
          <a:noFill/>
          <a:ln/>
        </p:spPr>
        <p:txBody>
          <a:bodyPr wrap="square" rtlCol="0" anchor="ctr"/>
          <a:lstStyle/>
          <a:p>
            <a:pPr indent="0" marL="0">
              <a:buNone/>
            </a:pPr>
            <a:r>
              <a:rPr lang="en-US" sz="1100" b="1" dirty="0">
                <a:solidFill>
                  <a:srgbClr val="D6EEF8"/>
                </a:solidFill>
                <a:latin typeface="Arial" pitchFamily="34" charset="0"/>
                <a:ea typeface="Arial" pitchFamily="34" charset="-122"/>
                <a:cs typeface="Arial" pitchFamily="34" charset="-120"/>
              </a:rPr>
              <a:t>DISCUSS</a:t>
            </a:r>
            <a:endParaRPr lang="en-US" sz="1100" dirty="0"/>
          </a:p>
        </p:txBody>
      </p:sp>
      <p:sp>
        <p:nvSpPr>
          <p:cNvPr id="10" name="Text 7"/>
          <p:cNvSpPr/>
          <p:nvPr/>
        </p:nvSpPr>
        <p:spPr>
          <a:xfrm>
            <a:off x="731520" y="3383280"/>
            <a:ext cx="7680960" cy="594360"/>
          </a:xfrm>
          <a:prstGeom prst="rect">
            <a:avLst/>
          </a:prstGeom>
          <a:noFill/>
          <a:ln/>
        </p:spPr>
        <p:txBody>
          <a:bodyPr wrap="square" rtlCol="0" anchor="t"/>
          <a:lstStyle/>
          <a:p>
            <a:pPr indent="0" marL="0">
              <a:buNone/>
            </a:pPr>
            <a:r>
              <a:rPr lang="en-US" sz="1300" b="1" dirty="0">
                <a:solidFill>
                  <a:srgbClr val="FFFFFF"/>
                </a:solidFill>
                <a:latin typeface="Arial" pitchFamily="34" charset="0"/>
                <a:ea typeface="Arial" pitchFamily="34" charset="-122"/>
                <a:cs typeface="Arial" pitchFamily="34" charset="-120"/>
              </a:rPr>
              <a:t>Should this be reported? What does Problem Identification and Resolution suggest about minor, repeated observations like this?</a:t>
            </a:r>
            <a:endParaRPr lang="en-US" sz="1300" dirty="0"/>
          </a:p>
        </p:txBody>
      </p:sp>
      <p:sp>
        <p:nvSpPr>
          <p:cNvPr id="13" name="Text 10"/>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3 OF 4</a:t>
            </a:r>
            <a:endParaRPr lang="en-US" sz="800" dirty="0"/>
          </a:p>
        </p:txBody>
      </p:sp>
      <p:sp>
        <p:nvSpPr>
          <p:cNvPr id="14" name="Rectangle 13"/>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5"/>
          <a:stretch>
            <a:fillRect/>
          </a:stretch>
        </p:blipFill>
        <p:spPr>
          <a:xfrm>
            <a:off x="7562088" y="100584"/>
            <a:ext cx="566928" cy="347472"/>
          </a:xfrm>
          <a:prstGeom prst="rect">
            <a:avLst/>
          </a:prstGeom>
        </p:spPr>
      </p:pic>
      <p:pic>
        <p:nvPicPr>
          <p:cNvPr id="16" name="Picture 15" descr="image.png"/>
          <p:cNvPicPr>
            <a:picLocks noChangeAspect="1"/>
          </p:cNvPicPr>
          <p:nvPr/>
        </p:nvPicPr>
        <p:blipFill>
          <a:blip r:embed="rId4"/>
          <a:stretch>
            <a:fillRect/>
          </a:stretch>
        </p:blipFill>
        <p:spPr>
          <a:xfrm>
            <a:off x="8174736" y="100584"/>
            <a:ext cx="658368" cy="347472"/>
          </a:xfrm>
          <a:prstGeom prst="rect">
            <a:avLst/>
          </a:prstGeom>
        </p:spPr>
      </p:pic>
      <p:sp>
        <p:nvSpPr>
          <p:cNvPr id="17" name="Rectangle 16"/>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9FE3"/>
          </a:solidFill>
          <a:ln w="12700">
            <a:solidFill>
              <a:srgbClr val="009FE3"/>
            </a:solidFill>
            <a:prstDash val="solid"/>
          </a:ln>
        </p:spPr>
      </p:sp>
      <p:sp>
        <p:nvSpPr>
          <p:cNvPr id="4" name="Shape 1"/>
          <p:cNvSpPr/>
          <p:nvPr/>
        </p:nvSpPr>
        <p:spPr>
          <a:xfrm>
            <a:off x="731520" y="1463040"/>
            <a:ext cx="7680960" cy="2011680"/>
          </a:xfrm>
          <a:prstGeom prst="roundRect">
            <a:avLst>
              <a:gd name="adj" fmla="val 3636"/>
            </a:avLst>
          </a:prstGeom>
          <a:solidFill>
            <a:srgbClr val="009FE3"/>
          </a:solidFill>
          <a:ln w="12700">
            <a:solidFill>
              <a:srgbClr val="009FE3"/>
            </a:solidFill>
            <a:prstDash val="solid"/>
          </a:ln>
        </p:spPr>
      </p:sp>
      <p:sp>
        <p:nvSpPr>
          <p:cNvPr id="5" name="Text 2"/>
          <p:cNvSpPr/>
          <p:nvPr/>
        </p:nvSpPr>
        <p:spPr>
          <a:xfrm>
            <a:off x="914400" y="1600200"/>
            <a:ext cx="7315200" cy="173736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The organisations that learn from the small stuff are the ones that never have to learn from the big stuff.</a:t>
            </a:r>
            <a:endParaRPr lang="en-US" sz="1800" dirty="0"/>
          </a:p>
        </p:txBody>
      </p:sp>
      <p:sp>
        <p:nvSpPr>
          <p:cNvPr id="8" name="Text 5"/>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3 OF 4</a:t>
            </a:r>
            <a:endParaRPr lang="en-US" sz="800" dirty="0"/>
          </a:p>
        </p:txBody>
      </p:sp>
      <p:sp>
        <p:nvSpPr>
          <p:cNvPr id="9" name="Rectangle 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562088" y="100584"/>
            <a:ext cx="566928" cy="347472"/>
          </a:xfrm>
          <a:prstGeom prst="rect">
            <a:avLst/>
          </a:prstGeom>
        </p:spPr>
      </p:pic>
      <p:pic>
        <p:nvPicPr>
          <p:cNvPr id="11" name="Picture 10" descr="image.png"/>
          <p:cNvPicPr>
            <a:picLocks noChangeAspect="1"/>
          </p:cNvPicPr>
          <p:nvPr/>
        </p:nvPicPr>
        <p:blipFill>
          <a:blip r:embed="rId4"/>
          <a:stretch>
            <a:fillRect/>
          </a:stretch>
        </p:blipFill>
        <p:spPr>
          <a:xfrm>
            <a:off x="8174736" y="100584"/>
            <a:ext cx="658368" cy="347472"/>
          </a:xfrm>
          <a:prstGeom prst="rect">
            <a:avLst/>
          </a:prstGeom>
        </p:spPr>
      </p:pic>
      <p:sp>
        <p:nvSpPr>
          <p:cNvPr id="12" name="Rectangle 1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2571750"/>
            <a:ext cx="9144000" cy="2571750"/>
          </a:xfrm>
          <a:prstGeom prst="rect">
            <a:avLst/>
          </a:prstGeom>
          <a:solidFill>
            <a:srgbClr val="83348F"/>
          </a:solidFill>
          <a:ln w="12700">
            <a:solidFill>
              <a:srgbClr val="83348F"/>
            </a:solidFill>
            <a:prstDash val="solid"/>
          </a:ln>
        </p:spPr>
      </p:sp>
      <p:sp>
        <p:nvSpPr>
          <p:cNvPr id="3" name="Shape 1"/>
          <p:cNvSpPr/>
          <p:nvPr/>
        </p:nvSpPr>
        <p:spPr>
          <a:xfrm>
            <a:off x="0" y="2571750"/>
            <a:ext cx="9144000" cy="54864"/>
          </a:xfrm>
          <a:prstGeom prst="rect">
            <a:avLst/>
          </a:prstGeom>
          <a:solidFill>
            <a:srgbClr val="83348F"/>
          </a:solidFill>
          <a:ln w="12700">
            <a:solidFill>
              <a:srgbClr val="83348F"/>
            </a:solidFill>
            <a:prstDash val="solid"/>
          </a:ln>
        </p:spPr>
      </p:sp>
      <p:sp>
        <p:nvSpPr>
          <p:cNvPr id="4" name="Text 2"/>
          <p:cNvSpPr/>
          <p:nvPr/>
        </p:nvSpPr>
        <p:spPr>
          <a:xfrm>
            <a:off x="457200" y="457200"/>
            <a:ext cx="8229600" cy="548640"/>
          </a:xfrm>
          <a:prstGeom prst="rect">
            <a:avLst/>
          </a:prstGeom>
          <a:noFill/>
          <a:ln/>
        </p:spPr>
        <p:txBody>
          <a:bodyPr wrap="square" rtlCol="0" anchor="ctr"/>
          <a:lstStyle/>
          <a:p>
            <a:pPr algn="ctr" indent="0" marL="0">
              <a:buNone/>
            </a:pPr>
            <a:r>
              <a:rPr lang="en-US" sz="1600" b="1" dirty="0">
                <a:solidFill>
                  <a:srgbClr val="D6EEF8"/>
                </a:solidFill>
                <a:latin typeface="Arial" pitchFamily="34" charset="0"/>
                <a:ea typeface="Arial" pitchFamily="34" charset="-122"/>
                <a:cs typeface="Arial" pitchFamily="34" charset="-120"/>
              </a:rPr>
              <a:t>TALK 4 OF 4</a:t>
            </a:r>
            <a:endParaRPr lang="en-US" sz="1600" dirty="0"/>
          </a:p>
        </p:txBody>
      </p:sp>
      <p:pic>
        <p:nvPicPr>
          <p:cNvPr id="5" name="Image 0" descr="/home/claude/nuccol_logo_header.jpg">    </p:cNvPr>
          <p:cNvPicPr>
            <a:picLocks noChangeAspect="1"/>
          </p:cNvPicPr>
          <p:nvPr/>
        </p:nvPicPr>
        <p:blipFill>
          <a:blip r:embed="rId1"/>
          <a:stretch>
            <a:fillRect/>
          </a:stretch>
        </p:blipFill>
        <p:spPr>
          <a:xfrm>
            <a:off x="3566160" y="1005840"/>
            <a:ext cx="2011680" cy="1280160"/>
          </a:xfrm>
          <a:prstGeom prst="rect">
            <a:avLst/>
          </a:prstGeom>
        </p:spPr>
      </p:pic>
      <p:sp>
        <p:nvSpPr>
          <p:cNvPr id="6" name="Text 3"/>
          <p:cNvSpPr/>
          <p:nvPr/>
        </p:nvSpPr>
        <p:spPr>
          <a:xfrm>
            <a:off x="457200" y="2726055"/>
            <a:ext cx="8229600" cy="91440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Raising Concerns and Work Planning</a:t>
            </a:r>
            <a:endParaRPr lang="en-US" sz="2800" dirty="0"/>
          </a:p>
        </p:txBody>
      </p:sp>
      <p:sp>
        <p:nvSpPr>
          <p:cNvPr id="7" name="Text 4"/>
          <p:cNvSpPr/>
          <p:nvPr/>
        </p:nvSpPr>
        <p:spPr>
          <a:xfrm>
            <a:off x="457200" y="3594735"/>
            <a:ext cx="8229600" cy="640080"/>
          </a:xfrm>
          <a:prstGeom prst="rect">
            <a:avLst/>
          </a:prstGeom>
          <a:noFill/>
          <a:ln/>
        </p:spPr>
        <p:txBody>
          <a:bodyPr wrap="square" rtlCol="0" anchor="ctr"/>
          <a:lstStyle/>
          <a:p>
            <a:pPr algn="ctr" indent="0" marL="0">
              <a:buNone/>
            </a:pPr>
            <a:r>
              <a:rPr lang="en-US" sz="1400" dirty="0">
                <a:solidFill>
                  <a:srgbClr val="D6EEF8"/>
                </a:solidFill>
                <a:latin typeface="Arial" pitchFamily="34" charset="0"/>
                <a:ea typeface="Arial" pitchFamily="34" charset="-122"/>
                <a:cs typeface="Arial" pitchFamily="34" charset="-120"/>
              </a:rPr>
              <a:t>Talk 4 of 4: Raising Concerns, Work Planning</a:t>
            </a:r>
            <a:endParaRPr lang="en-US" sz="1400" dirty="0"/>
          </a:p>
        </p:txBody>
      </p:sp>
      <p:sp>
        <p:nvSpPr>
          <p:cNvPr id="8" name="Rectangle 7"/>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5"/>
          <a:stretch>
            <a:fillRect/>
          </a:stretch>
        </p:blipFill>
        <p:spPr>
          <a:xfrm>
            <a:off x="7562088" y="100584"/>
            <a:ext cx="566928" cy="347472"/>
          </a:xfrm>
          <a:prstGeom prst="rect">
            <a:avLst/>
          </a:prstGeom>
        </p:spPr>
      </p:pic>
      <p:pic>
        <p:nvPicPr>
          <p:cNvPr id="10" name="Picture 9" descr="image.png"/>
          <p:cNvPicPr>
            <a:picLocks noChangeAspect="1"/>
          </p:cNvPicPr>
          <p:nvPr/>
        </p:nvPicPr>
        <p:blipFill>
          <a:blip r:embed="rId4"/>
          <a:stretch>
            <a:fillRect/>
          </a:stretch>
        </p:blipFill>
        <p:spPr>
          <a:xfrm>
            <a:off x="8174736" y="100584"/>
            <a:ext cx="658368" cy="347472"/>
          </a:xfrm>
          <a:prstGeom prst="rect">
            <a:avLst/>
          </a:prstGeom>
        </p:spPr>
      </p:pic>
      <p:sp>
        <p:nvSpPr>
          <p:cNvPr id="11" name="Rectangle 10"/>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83348F"/>
          </a:solidFill>
          <a:ln w="12700">
            <a:solidFill>
              <a:srgbClr val="83348F"/>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What These Traits Mean</a:t>
            </a:r>
            <a:endParaRPr lang="en-US" sz="2000" dirty="0"/>
          </a:p>
        </p:txBody>
      </p:sp>
      <p:pic>
        <p:nvPicPr>
          <p:cNvPr id="5" name="Image 1" descr="preencoded.png">    </p:cNvPr>
          <p:cNvPicPr>
            <a:picLocks noChangeAspect="1"/>
          </p:cNvPicPr>
          <p:nvPr/>
        </p:nvPicPr>
        <p:blipFill>
          <a:blip r:embed="rId2"/>
          <a:stretch>
            <a:fillRect/>
          </a:stretch>
        </p:blipFill>
        <p:spPr>
          <a:xfrm>
            <a:off x="457200" y="1005840"/>
            <a:ext cx="2377440" cy="2377440"/>
          </a:xfrm>
          <a:prstGeom prst="rect">
            <a:avLst/>
          </a:prstGeom>
        </p:spPr>
      </p:pic>
      <p:sp>
        <p:nvSpPr>
          <p:cNvPr id="6" name="Text 2"/>
          <p:cNvSpPr/>
          <p:nvPr/>
        </p:nvSpPr>
        <p:spPr>
          <a:xfrm>
            <a:off x="3383280" y="914400"/>
            <a:ext cx="5394960" cy="3474720"/>
          </a:xfrm>
          <a:prstGeom prst="rect">
            <a:avLst/>
          </a:prstGeom>
          <a:noFill/>
          <a:ln/>
        </p:spPr>
        <p:txBody>
          <a:bodyPr wrap="square" rtlCol="0" anchor="t"/>
          <a:lstStyle/>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This final talk covers Raising Concerns and Work Planning, completing all ten traits across the four-part series</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Raising Concerns is about whether people genuinely feel safe to speak up, not just whether a process exists on paper</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Work Planning is about how we organise and control work so that safety is built in from the start, not bolted on afterwards</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Together, these traits close the loop on everything covered in talks one to three</a:t>
            </a:r>
            <a:endParaRPr lang="en-US" sz="1250" dirty="0"/>
          </a:p>
        </p:txBody>
      </p:sp>
      <p:sp>
        <p:nvSpPr>
          <p:cNvPr id="7" name="Shape 3"/>
          <p:cNvSpPr/>
          <p:nvPr/>
        </p:nvSpPr>
        <p:spPr>
          <a:xfrm>
            <a:off x="365760" y="4137660"/>
            <a:ext cx="8412480" cy="640080"/>
          </a:xfrm>
          <a:prstGeom prst="roundRect">
            <a:avLst>
              <a:gd name="adj" fmla="val 10000"/>
            </a:avLst>
          </a:prstGeom>
          <a:solidFill>
            <a:srgbClr val="D6EEF8"/>
          </a:solidFill>
          <a:ln w="12700">
            <a:solidFill>
              <a:srgbClr val="009FE3"/>
            </a:solidFill>
            <a:prstDash val="solid"/>
          </a:ln>
        </p:spPr>
      </p:sp>
      <p:sp>
        <p:nvSpPr>
          <p:cNvPr id="8" name="Text 4"/>
          <p:cNvSpPr/>
          <p:nvPr/>
        </p:nvSpPr>
        <p:spPr>
          <a:xfrm>
            <a:off x="502920" y="4155948"/>
            <a:ext cx="8138160" cy="603504"/>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This talk connects directly to our Just Culture Framework, which explains exactly how concerns and errors are handled fairly.</a:t>
            </a:r>
            <a:endParaRPr lang="en-US" sz="950" dirty="0"/>
          </a:p>
        </p:txBody>
      </p:sp>
      <p:sp>
        <p:nvSpPr>
          <p:cNvPr id="11" name="Text 7"/>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4 OF 4</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83348F"/>
          </a:solidFill>
          <a:ln w="12700">
            <a:solidFill>
              <a:srgbClr val="83348F"/>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Raising Concerns</a:t>
            </a:r>
            <a:endParaRPr lang="en-US" sz="2000" dirty="0"/>
          </a:p>
        </p:txBody>
      </p:sp>
      <p:pic>
        <p:nvPicPr>
          <p:cNvPr id="5" name="Image 1" descr="preencoded.png">    </p:cNvPr>
          <p:cNvPicPr>
            <a:picLocks noChangeAspect="1"/>
          </p:cNvPicPr>
          <p:nvPr/>
        </p:nvPicPr>
        <p:blipFill>
          <a:blip r:embed="rId2"/>
          <a:stretch>
            <a:fillRect/>
          </a:stretch>
        </p:blipFill>
        <p:spPr>
          <a:xfrm>
            <a:off x="457200" y="1005840"/>
            <a:ext cx="2377440" cy="2377440"/>
          </a:xfrm>
          <a:prstGeom prst="rect">
            <a:avLst/>
          </a:prstGeom>
        </p:spPr>
      </p:pic>
      <p:sp>
        <p:nvSpPr>
          <p:cNvPr id="6" name="Text 2"/>
          <p:cNvSpPr/>
          <p:nvPr/>
        </p:nvSpPr>
        <p:spPr>
          <a:xfrm>
            <a:off x="3383280" y="914400"/>
            <a:ext cx="5394960" cy="3474720"/>
          </a:xfrm>
          <a:prstGeom prst="rect">
            <a:avLst/>
          </a:prstGeom>
          <a:noFill/>
          <a:ln/>
        </p:spPr>
        <p:txBody>
          <a:bodyPr wrap="square" rtlCol="0" anchor="t"/>
          <a:lstStyle/>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Everyone has the right and responsibility to raise a safety concern without fear of retaliation, intimidation, or being treated differently afterwards</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There is a route to raise a concern that does not go through your direct line manager, for situations where that feels difficult</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Concerns can be raised in confidence, and will still be investigated and resolved properly</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If you raise a concern, you should hear what happened as a result, even if you cannot be told every detail</a:t>
            </a:r>
            <a:endParaRPr lang="en-US" sz="1250" dirty="0"/>
          </a:p>
        </p:txBody>
      </p:sp>
      <p:sp>
        <p:nvSpPr>
          <p:cNvPr id="7" name="Shape 3"/>
          <p:cNvSpPr/>
          <p:nvPr/>
        </p:nvSpPr>
        <p:spPr>
          <a:xfrm>
            <a:off x="365760" y="4137660"/>
            <a:ext cx="8412480" cy="640080"/>
          </a:xfrm>
          <a:prstGeom prst="roundRect">
            <a:avLst>
              <a:gd name="adj" fmla="val 10000"/>
            </a:avLst>
          </a:prstGeom>
          <a:solidFill>
            <a:srgbClr val="D6EEF8"/>
          </a:solidFill>
          <a:ln w="12700">
            <a:solidFill>
              <a:srgbClr val="009FE3"/>
            </a:solidFill>
            <a:prstDash val="solid"/>
          </a:ln>
        </p:spPr>
      </p:sp>
      <p:sp>
        <p:nvSpPr>
          <p:cNvPr id="8" name="Text 4"/>
          <p:cNvSpPr/>
          <p:nvPr/>
        </p:nvSpPr>
        <p:spPr>
          <a:xfrm>
            <a:off x="502920" y="4155948"/>
            <a:ext cx="8138160" cy="603504"/>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Find out who the independent contact is in our organisation for raising a nuclear safety concern. Everyone in this room should know.</a:t>
            </a:r>
            <a:endParaRPr lang="en-US" sz="950" dirty="0"/>
          </a:p>
        </p:txBody>
      </p:sp>
      <p:sp>
        <p:nvSpPr>
          <p:cNvPr id="11" name="Text 7"/>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4 OF 4</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83348F"/>
          </a:solidFill>
          <a:ln w="12700">
            <a:solidFill>
              <a:srgbClr val="83348F"/>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Work Planning</a:t>
            </a:r>
            <a:endParaRPr lang="en-US" sz="2000" dirty="0"/>
          </a:p>
        </p:txBody>
      </p:sp>
      <p:pic>
        <p:nvPicPr>
          <p:cNvPr id="5" name="Image 1" descr="preencoded.png">    </p:cNvPr>
          <p:cNvPicPr>
            <a:picLocks noChangeAspect="1"/>
          </p:cNvPicPr>
          <p:nvPr/>
        </p:nvPicPr>
        <p:blipFill>
          <a:blip r:embed="rId2"/>
          <a:stretch>
            <a:fillRect/>
          </a:stretch>
        </p:blipFill>
        <p:spPr>
          <a:xfrm>
            <a:off x="457200" y="1005840"/>
            <a:ext cx="2377440" cy="2377440"/>
          </a:xfrm>
          <a:prstGeom prst="rect">
            <a:avLst/>
          </a:prstGeom>
        </p:spPr>
      </p:pic>
      <p:sp>
        <p:nvSpPr>
          <p:cNvPr id="6" name="Text 2"/>
          <p:cNvSpPr/>
          <p:nvPr/>
        </p:nvSpPr>
        <p:spPr>
          <a:xfrm>
            <a:off x="3383280" y="914400"/>
            <a:ext cx="5394960" cy="3474720"/>
          </a:xfrm>
          <a:prstGeom prst="rect">
            <a:avLst/>
          </a:prstGeom>
          <a:noFill/>
          <a:ln/>
        </p:spPr>
        <p:txBody>
          <a:bodyPr wrap="square" rtlCol="0" anchor="t"/>
          <a:lstStyle/>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Work is planned properly before it starts: identified, scheduled, resourced, and risk-assessed, not just started and figured out as we go</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Safety stays the overriding priority throughout the work, not just at the planning stage</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Equipment and processes are kept within their proper limits. Those limits are protected, not quietly stretched</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After work is finished, we review it. What went well, what didn't, and what should change next time</a:t>
            </a:r>
            <a:endParaRPr lang="en-US" sz="1250" dirty="0"/>
          </a:p>
        </p:txBody>
      </p:sp>
      <p:sp>
        <p:nvSpPr>
          <p:cNvPr id="7" name="Shape 3"/>
          <p:cNvSpPr/>
          <p:nvPr/>
        </p:nvSpPr>
        <p:spPr>
          <a:xfrm>
            <a:off x="365760" y="4137660"/>
            <a:ext cx="8412480" cy="640080"/>
          </a:xfrm>
          <a:prstGeom prst="roundRect">
            <a:avLst>
              <a:gd name="adj" fmla="val 10000"/>
            </a:avLst>
          </a:prstGeom>
          <a:solidFill>
            <a:srgbClr val="D6EEF8"/>
          </a:solidFill>
          <a:ln w="12700">
            <a:solidFill>
              <a:srgbClr val="009FE3"/>
            </a:solidFill>
            <a:prstDash val="solid"/>
          </a:ln>
        </p:spPr>
      </p:sp>
      <p:sp>
        <p:nvSpPr>
          <p:cNvPr id="8" name="Text 4"/>
          <p:cNvSpPr/>
          <p:nvPr/>
        </p:nvSpPr>
        <p:spPr>
          <a:xfrm>
            <a:off x="502920" y="4155948"/>
            <a:ext cx="8138160" cy="603504"/>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Rushed planning is one of the most common root causes behind near misses across the whole nuclear sector.</a:t>
            </a:r>
            <a:endParaRPr lang="en-US" sz="950" dirty="0"/>
          </a:p>
        </p:txBody>
      </p:sp>
      <p:sp>
        <p:nvSpPr>
          <p:cNvPr id="11" name="Text 7"/>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4 OF 4</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83348F"/>
          </a:solidFill>
          <a:ln w="12700">
            <a:solidFill>
              <a:srgbClr val="83348F"/>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All Ten Traits: A Quick Recap</a:t>
            </a:r>
            <a:endParaRPr lang="en-US" sz="2000" dirty="0"/>
          </a:p>
        </p:txBody>
      </p:sp>
      <p:pic>
        <p:nvPicPr>
          <p:cNvPr id="5" name="Image 1" descr="preencoded.png">    </p:cNvPr>
          <p:cNvPicPr>
            <a:picLocks noChangeAspect="1"/>
          </p:cNvPicPr>
          <p:nvPr/>
        </p:nvPicPr>
        <p:blipFill>
          <a:blip r:embed="rId2"/>
          <a:stretch>
            <a:fillRect/>
          </a:stretch>
        </p:blipFill>
        <p:spPr>
          <a:xfrm>
            <a:off x="457200" y="1005840"/>
            <a:ext cx="2377440" cy="2377440"/>
          </a:xfrm>
          <a:prstGeom prst="rect">
            <a:avLst/>
          </a:prstGeom>
        </p:spPr>
      </p:pic>
      <p:sp>
        <p:nvSpPr>
          <p:cNvPr id="6" name="Text 2"/>
          <p:cNvSpPr/>
          <p:nvPr/>
        </p:nvSpPr>
        <p:spPr>
          <a:xfrm>
            <a:off x="3383280" y="914400"/>
            <a:ext cx="5394960" cy="3474720"/>
          </a:xfrm>
          <a:prstGeom prst="rect">
            <a:avLst/>
          </a:prstGeom>
          <a:noFill/>
          <a:ln/>
        </p:spPr>
        <p:txBody>
          <a:bodyPr wrap="square" rtlCol="0" anchor="t"/>
          <a:lstStyle/>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Individual Commitment to Safety: Individual Responsibility, Questioning Attitude, Communication</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Management Commitment to Safety: Leader Responsibility, Decision-Making, Work Environment</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Management Systems: Continuous Learning, Problem Identification and Resolution, Raising Concerns, Work Planning</a:t>
            </a:r>
            <a:endParaRPr lang="en-US" sz="1250" dirty="0"/>
          </a:p>
          <a:p>
            <a:pPr algn="l" marL="342900" indent="-342900">
              <a:spcAft>
                <a:spcPts val="900"/>
              </a:spcAft>
              <a:buSzPct val="100000"/>
              <a:buChar char="•"/>
            </a:pPr>
            <a:r>
              <a:rPr lang="en-US" sz="1250" dirty="0">
                <a:solidFill>
                  <a:srgbClr val="5B595A"/>
                </a:solidFill>
                <a:latin typeface="Arial" pitchFamily="34" charset="0"/>
                <a:ea typeface="Arial" pitchFamily="34" charset="-122"/>
                <a:cs typeface="Arial" pitchFamily="34" charset="-120"/>
              </a:rPr>
              <a:t>Ten traits, three categories, one shared purpose: keeping nuclear work safe through everything we do, every day</a:t>
            </a:r>
            <a:endParaRPr lang="en-US" sz="1250" dirty="0"/>
          </a:p>
        </p:txBody>
      </p:sp>
      <p:sp>
        <p:nvSpPr>
          <p:cNvPr id="7" name="Shape 3"/>
          <p:cNvSpPr/>
          <p:nvPr/>
        </p:nvSpPr>
        <p:spPr>
          <a:xfrm>
            <a:off x="365760" y="4137660"/>
            <a:ext cx="8412480" cy="640080"/>
          </a:xfrm>
          <a:prstGeom prst="roundRect">
            <a:avLst>
              <a:gd name="adj" fmla="val 10000"/>
            </a:avLst>
          </a:prstGeom>
          <a:solidFill>
            <a:srgbClr val="D6EEF8"/>
          </a:solidFill>
          <a:ln w="12700">
            <a:solidFill>
              <a:srgbClr val="009FE3"/>
            </a:solidFill>
            <a:prstDash val="solid"/>
          </a:ln>
        </p:spPr>
      </p:sp>
      <p:sp>
        <p:nvSpPr>
          <p:cNvPr id="8" name="Text 4"/>
          <p:cNvSpPr/>
          <p:nvPr/>
        </p:nvSpPr>
        <p:spPr>
          <a:xfrm>
            <a:off x="502920" y="4155948"/>
            <a:ext cx="8138160" cy="603504"/>
          </a:xfrm>
          <a:prstGeom prst="rect">
            <a:avLst/>
          </a:prstGeom>
          <a:noFill/>
          <a:ln/>
        </p:spPr>
        <p:txBody>
          <a:bodyPr wrap="square" rtlCol="0" anchor="ctr"/>
          <a:lstStyle/>
          <a:p>
            <a:pPr indent="0" marL="0">
              <a:buNone/>
            </a:pPr>
            <a:r>
              <a:rPr lang="en-US" sz="950" i="1" dirty="0">
                <a:solidFill>
                  <a:srgbClr val="001E3C"/>
                </a:solidFill>
                <a:latin typeface="Arial" pitchFamily="34" charset="0"/>
                <a:ea typeface="Arial" pitchFamily="34" charset="-122"/>
                <a:cs typeface="Arial" pitchFamily="34" charset="-120"/>
              </a:rPr>
              <a:t>See the NSS-02a Training Guide for the full detail behind each trait, and NSS-02b to assess where we currently stand.</a:t>
            </a:r>
            <a:endParaRPr lang="en-US" sz="950" dirty="0"/>
          </a:p>
        </p:txBody>
      </p:sp>
      <p:sp>
        <p:nvSpPr>
          <p:cNvPr id="11" name="Text 7"/>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4 OF 4</a:t>
            </a:r>
            <a:endParaRPr lang="en-US" sz="8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6"/>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5"/>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83348F"/>
          </a:solidFill>
          <a:ln w="12700">
            <a:solidFill>
              <a:srgbClr val="83348F"/>
            </a:solidFill>
            <a:prstDash val="solid"/>
          </a:ln>
        </p:spPr>
      </p:sp>
      <p:sp>
        <p:nvSpPr>
          <p:cNvPr id="3" name="Text 1"/>
          <p:cNvSpPr/>
          <p:nvPr/>
        </p:nvSpPr>
        <p:spPr>
          <a:xfrm>
            <a:off x="274320" y="73152"/>
            <a:ext cx="768096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Discussion Scenario</a:t>
            </a:r>
            <a:endParaRPr lang="en-US" sz="2000" dirty="0"/>
          </a:p>
        </p:txBody>
      </p:sp>
      <p:sp>
        <p:nvSpPr>
          <p:cNvPr id="5" name="Shape 2"/>
          <p:cNvSpPr/>
          <p:nvPr/>
        </p:nvSpPr>
        <p:spPr>
          <a:xfrm>
            <a:off x="548640" y="1005840"/>
            <a:ext cx="8046720" cy="1828800"/>
          </a:xfrm>
          <a:prstGeom prst="roundRect">
            <a:avLst>
              <a:gd name="adj" fmla="val 3000"/>
            </a:avLst>
          </a:prstGeom>
          <a:solidFill>
            <a:srgbClr val="FFFFFF">
              <a:alpha val="8000"/>
            </a:srgbClr>
          </a:solidFill>
          <a:ln w="12700">
            <a:solidFill>
              <a:srgbClr val="009FE3"/>
            </a:solidFill>
            <a:prstDash val="solid"/>
          </a:ln>
        </p:spPr>
      </p:sp>
      <p:sp>
        <p:nvSpPr>
          <p:cNvPr id="6" name="Text 3"/>
          <p:cNvSpPr/>
          <p:nvPr/>
        </p:nvSpPr>
        <p:spPr>
          <a:xfrm>
            <a:off x="731520" y="1143000"/>
            <a:ext cx="7680960" cy="365760"/>
          </a:xfrm>
          <a:prstGeom prst="rect">
            <a:avLst/>
          </a:prstGeom>
          <a:noFill/>
          <a:ln/>
        </p:spPr>
        <p:txBody>
          <a:bodyPr wrap="square" rtlCol="0" anchor="ctr"/>
          <a:lstStyle/>
          <a:p>
            <a:pPr algn="l" indent="0" marL="0">
              <a:buNone/>
            </a:pPr>
            <a:r>
              <a:rPr lang="en-US" sz="1200" b="1" dirty="0">
                <a:solidFill>
                  <a:srgbClr val="009FE3"/>
                </a:solidFill>
                <a:latin typeface="Arial" pitchFamily="34" charset="0"/>
                <a:ea typeface="Arial" pitchFamily="34" charset="-122"/>
                <a:cs typeface="Arial" pitchFamily="34" charset="-120"/>
              </a:rPr>
              <a:t>SCENARIO</a:t>
            </a:r>
            <a:endParaRPr lang="en-US" sz="1200" dirty="0"/>
          </a:p>
        </p:txBody>
      </p:sp>
      <p:sp>
        <p:nvSpPr>
          <p:cNvPr id="7" name="Text 4"/>
          <p:cNvSpPr/>
          <p:nvPr/>
        </p:nvSpPr>
        <p:spPr>
          <a:xfrm>
            <a:off x="731520" y="1508760"/>
            <a:ext cx="7680960" cy="1234440"/>
          </a:xfrm>
          <a:prstGeom prst="rect">
            <a:avLst/>
          </a:prstGeom>
          <a:noFill/>
          <a:ln/>
        </p:spPr>
        <p:txBody>
          <a:bodyPr wrap="square" rtlCol="0" anchor="t"/>
          <a:lstStyle/>
          <a:p>
            <a:pPr algn="l" indent="0" marL="0">
              <a:buNone/>
            </a:pPr>
            <a:r>
              <a:rPr lang="en-US" sz="1300" dirty="0">
                <a:solidFill>
                  <a:srgbClr val="FFFFFF"/>
                </a:solidFill>
                <a:latin typeface="Arial" pitchFamily="34" charset="0"/>
                <a:ea typeface="Arial" pitchFamily="34" charset="-122"/>
                <a:cs typeface="Arial" pitchFamily="34" charset="-120"/>
              </a:rPr>
              <a:t>A piece of work is running behind schedule. The supervisor suggests skipping the formal pre-job briefing 'just this once' to save time, since the team has done similar work many times before.</a:t>
            </a:r>
            <a:endParaRPr lang="en-US" sz="1300" dirty="0"/>
          </a:p>
        </p:txBody>
      </p:sp>
      <p:sp>
        <p:nvSpPr>
          <p:cNvPr id="8" name="Shape 5"/>
          <p:cNvSpPr/>
          <p:nvPr/>
        </p:nvSpPr>
        <p:spPr>
          <a:xfrm>
            <a:off x="548640" y="3017520"/>
            <a:ext cx="8046720" cy="1005840"/>
          </a:xfrm>
          <a:prstGeom prst="roundRect">
            <a:avLst>
              <a:gd name="adj" fmla="val 5455"/>
            </a:avLst>
          </a:prstGeom>
          <a:solidFill>
            <a:srgbClr val="009FE3"/>
          </a:solidFill>
          <a:ln w="12700">
            <a:solidFill>
              <a:srgbClr val="009FE3"/>
            </a:solidFill>
            <a:prstDash val="solid"/>
          </a:ln>
        </p:spPr>
      </p:sp>
      <p:sp>
        <p:nvSpPr>
          <p:cNvPr id="9" name="Text 6"/>
          <p:cNvSpPr/>
          <p:nvPr/>
        </p:nvSpPr>
        <p:spPr>
          <a:xfrm>
            <a:off x="731520" y="3108960"/>
            <a:ext cx="7680960" cy="320040"/>
          </a:xfrm>
          <a:prstGeom prst="rect">
            <a:avLst/>
          </a:prstGeom>
          <a:noFill/>
          <a:ln/>
        </p:spPr>
        <p:txBody>
          <a:bodyPr wrap="square" rtlCol="0" anchor="ctr"/>
          <a:lstStyle/>
          <a:p>
            <a:pPr indent="0" marL="0">
              <a:buNone/>
            </a:pPr>
            <a:r>
              <a:rPr lang="en-US" sz="1100" b="1" dirty="0">
                <a:solidFill>
                  <a:srgbClr val="D6EEF8"/>
                </a:solidFill>
                <a:latin typeface="Arial" pitchFamily="34" charset="0"/>
                <a:ea typeface="Arial" pitchFamily="34" charset="-122"/>
                <a:cs typeface="Arial" pitchFamily="34" charset="-120"/>
              </a:rPr>
              <a:t>DISCUSS</a:t>
            </a:r>
            <a:endParaRPr lang="en-US" sz="1100" dirty="0"/>
          </a:p>
        </p:txBody>
      </p:sp>
      <p:sp>
        <p:nvSpPr>
          <p:cNvPr id="10" name="Text 7"/>
          <p:cNvSpPr/>
          <p:nvPr/>
        </p:nvSpPr>
        <p:spPr>
          <a:xfrm>
            <a:off x="731520" y="3383280"/>
            <a:ext cx="7680960" cy="594360"/>
          </a:xfrm>
          <a:prstGeom prst="rect">
            <a:avLst/>
          </a:prstGeom>
          <a:noFill/>
          <a:ln/>
        </p:spPr>
        <p:txBody>
          <a:bodyPr wrap="square" rtlCol="0" anchor="t"/>
          <a:lstStyle/>
          <a:p>
            <a:pPr indent="0" marL="0">
              <a:buNone/>
            </a:pPr>
            <a:r>
              <a:rPr lang="en-US" sz="1300" b="1" dirty="0">
                <a:solidFill>
                  <a:srgbClr val="FFFFFF"/>
                </a:solidFill>
                <a:latin typeface="Arial" pitchFamily="34" charset="0"/>
                <a:ea typeface="Arial" pitchFamily="34" charset="-122"/>
                <a:cs typeface="Arial" pitchFamily="34" charset="-120"/>
              </a:rPr>
              <a:t>Which traits from across all four talks does this situation touch on? What would you do if you were on that team?</a:t>
            </a:r>
            <a:endParaRPr lang="en-US" sz="1300" dirty="0"/>
          </a:p>
        </p:txBody>
      </p:sp>
      <p:sp>
        <p:nvSpPr>
          <p:cNvPr id="13" name="Text 10"/>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4 OF 4</a:t>
            </a:r>
            <a:endParaRPr lang="en-US" sz="800" dirty="0"/>
          </a:p>
        </p:txBody>
      </p:sp>
      <p:sp>
        <p:nvSpPr>
          <p:cNvPr id="14" name="Rectangle 13"/>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5"/>
          <a:stretch>
            <a:fillRect/>
          </a:stretch>
        </p:blipFill>
        <p:spPr>
          <a:xfrm>
            <a:off x="7562088" y="100584"/>
            <a:ext cx="566928" cy="347472"/>
          </a:xfrm>
          <a:prstGeom prst="rect">
            <a:avLst/>
          </a:prstGeom>
        </p:spPr>
      </p:pic>
      <p:pic>
        <p:nvPicPr>
          <p:cNvPr id="16" name="Picture 15" descr="image.png"/>
          <p:cNvPicPr>
            <a:picLocks noChangeAspect="1"/>
          </p:cNvPicPr>
          <p:nvPr/>
        </p:nvPicPr>
        <p:blipFill>
          <a:blip r:embed="rId4"/>
          <a:stretch>
            <a:fillRect/>
          </a:stretch>
        </p:blipFill>
        <p:spPr>
          <a:xfrm>
            <a:off x="8174736" y="100584"/>
            <a:ext cx="658368" cy="347472"/>
          </a:xfrm>
          <a:prstGeom prst="rect">
            <a:avLst/>
          </a:prstGeom>
        </p:spPr>
      </p:pic>
      <p:sp>
        <p:nvSpPr>
          <p:cNvPr id="17" name="Rectangle 16"/>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9FE3"/>
          </a:solidFill>
          <a:ln w="12700">
            <a:solidFill>
              <a:srgbClr val="009FE3"/>
            </a:solidFill>
            <a:prstDash val="solid"/>
          </a:ln>
        </p:spPr>
      </p:sp>
      <p:sp>
        <p:nvSpPr>
          <p:cNvPr id="4" name="Shape 1"/>
          <p:cNvSpPr/>
          <p:nvPr/>
        </p:nvSpPr>
        <p:spPr>
          <a:xfrm>
            <a:off x="731520" y="1463040"/>
            <a:ext cx="7680960" cy="2011680"/>
          </a:xfrm>
          <a:prstGeom prst="roundRect">
            <a:avLst>
              <a:gd name="adj" fmla="val 3636"/>
            </a:avLst>
          </a:prstGeom>
          <a:solidFill>
            <a:srgbClr val="009FE3"/>
          </a:solidFill>
          <a:ln w="12700">
            <a:solidFill>
              <a:srgbClr val="009FE3"/>
            </a:solidFill>
            <a:prstDash val="solid"/>
          </a:ln>
        </p:spPr>
      </p:sp>
      <p:sp>
        <p:nvSpPr>
          <p:cNvPr id="5" name="Text 2"/>
          <p:cNvSpPr/>
          <p:nvPr/>
        </p:nvSpPr>
        <p:spPr>
          <a:xfrm>
            <a:off x="914400" y="1600200"/>
            <a:ext cx="7315200" cy="173736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Ten traits. Every one of us, every day. That is what a genuine nuclear safety culture looks like.</a:t>
            </a:r>
            <a:endParaRPr lang="en-US" sz="1800" dirty="0"/>
          </a:p>
        </p:txBody>
      </p:sp>
      <p:sp>
        <p:nvSpPr>
          <p:cNvPr id="8" name="Text 5"/>
          <p:cNvSpPr/>
          <p:nvPr/>
        </p:nvSpPr>
        <p:spPr>
          <a:xfrm>
            <a:off x="6766560" y="4869180"/>
            <a:ext cx="2194560" cy="237744"/>
          </a:xfrm>
          <a:prstGeom prst="rect">
            <a:avLst/>
          </a:prstGeom>
          <a:noFill/>
          <a:ln/>
        </p:spPr>
        <p:txBody>
          <a:bodyPr wrap="square" lIns="0" tIns="0" rIns="0" bIns="0" rtlCol="0" anchor="ctr"/>
          <a:lstStyle/>
          <a:p>
            <a:pPr algn="r" indent="0" marL="0">
              <a:buNone/>
            </a:pPr>
            <a:r>
              <a:rPr lang="en-US" sz="800" dirty="0">
                <a:solidFill>
                  <a:srgbClr val="AAAAAA"/>
                </a:solidFill>
                <a:latin typeface="Arial" pitchFamily="34" charset="0"/>
                <a:ea typeface="Arial" pitchFamily="34" charset="-122"/>
                <a:cs typeface="Arial" pitchFamily="34" charset="-120"/>
              </a:rPr>
              <a:t>NSS-02f  |  TALK 4 OF 4</a:t>
            </a:r>
            <a:endParaRPr lang="en-US" sz="800" dirty="0"/>
          </a:p>
        </p:txBody>
      </p:sp>
      <p:sp>
        <p:nvSpPr>
          <p:cNvPr id="9" name="Rectangle 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562088" y="100584"/>
            <a:ext cx="566928" cy="347472"/>
          </a:xfrm>
          <a:prstGeom prst="rect">
            <a:avLst/>
          </a:prstGeom>
        </p:spPr>
      </p:pic>
      <p:pic>
        <p:nvPicPr>
          <p:cNvPr id="11" name="Picture 10" descr="image.png"/>
          <p:cNvPicPr>
            <a:picLocks noChangeAspect="1"/>
          </p:cNvPicPr>
          <p:nvPr/>
        </p:nvPicPr>
        <p:blipFill>
          <a:blip r:embed="rId4"/>
          <a:stretch>
            <a:fillRect/>
          </a:stretch>
        </p:blipFill>
        <p:spPr>
          <a:xfrm>
            <a:off x="8174736" y="100584"/>
            <a:ext cx="658368" cy="347472"/>
          </a:xfrm>
          <a:prstGeom prst="rect">
            <a:avLst/>
          </a:prstGeom>
        </p:spPr>
      </p:pic>
      <p:sp>
        <p:nvSpPr>
          <p:cNvPr id="12" name="Rectangle 1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78CB118-481A-47A8-926F-516C8C29005A}"/>
</file>

<file path=customXml/itemProps2.xml><?xml version="1.0" encoding="utf-8"?>
<ds:datastoreItem xmlns:ds="http://schemas.openxmlformats.org/officeDocument/2006/customXml" ds:itemID="{92D1364B-883C-4B8F-9C1A-D2047BCE965D}"/>
</file>

<file path=customXml/itemProps3.xml><?xml version="1.0" encoding="utf-8"?>
<ds:datastoreItem xmlns:ds="http://schemas.openxmlformats.org/officeDocument/2006/customXml" ds:itemID="{527199F9-8410-49FE-87FB-EFEB305E8C50}"/>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NSS-02f Nuclear Safety Culture Toolbox Talk Series</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