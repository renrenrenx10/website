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828925"/>
            <a:ext cx="9144000" cy="2314575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Supplier Qualification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and Oversight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9FE3"/>
                </a:solidFill>
              </a:rPr>
              <a:t>NSS-06 | Nuclear Supply Chain Readiness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30861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Nuc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30861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FE3"/>
                </a:solidFill>
              </a:rPr>
              <a:t>Col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Nuclear Collaboration Ltd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69105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F4N Programme | Fit For Nuclear</a:t>
            </a:r>
            <a:endParaRPr lang="en-US" sz="1000" dirty="0"/>
          </a:p>
        </p:txBody>
      </p:sp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Session Overview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</a:rPr>
              <a:t>This session covers the full lifecycle of nuclear supplier qualification and ongoing oversight, from initial assessment through to performance management and escalation.
</a:t>
            </a:r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</a:rPr>
              <a:t>Topics covered: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114800" cy="82296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08760"/>
            <a:ext cx="457200" cy="8229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087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1554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The Qualification Lifecycle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18928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595A"/>
                </a:solidFill>
              </a:rPr>
              <a:t>Five stages from initial contact to approved supplier status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4114800" cy="82296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508760"/>
            <a:ext cx="457200" cy="8229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5087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1554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Pre-Qualification Assessment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18928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595A"/>
                </a:solidFill>
              </a:rPr>
              <a:t>Questionnaire structure and minimum entry criteria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468880"/>
            <a:ext cx="4114800" cy="82296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468880"/>
            <a:ext cx="457200" cy="8229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688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2514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Audit Planning and Conduct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2852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595A"/>
                </a:solidFill>
              </a:rPr>
              <a:t>Preparing, executing, and reporting supplier audits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4114800" cy="82296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468880"/>
            <a:ext cx="457200" cy="8229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4688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2514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Finding Classification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2852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595A"/>
                </a:solidFill>
              </a:rPr>
              <a:t>Major NC, Minor NC, Observation, and Good Practice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429000"/>
            <a:ext cx="4114800" cy="82296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29000"/>
            <a:ext cx="457200" cy="8229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290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3474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ASL Management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" y="38130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595A"/>
                </a:solidFill>
              </a:rPr>
              <a:t>Maintaining the Approved Supplier List and approval boundaries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429000"/>
            <a:ext cx="4114800" cy="82296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429000"/>
            <a:ext cx="457200" cy="8229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290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57800" y="3474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Performance Monitoring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38130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595A"/>
                </a:solidFill>
              </a:rPr>
              <a:t>KPI frameworks and ongoing surveillance obligations</a:t>
            </a:r>
            <a:endParaRPr lang="en-US" sz="850" dirty="0"/>
          </a:p>
        </p:txBody>
      </p:sp>
      <p:sp>
        <p:nvSpPr>
          <p:cNvPr id="41" name="Rectangle 4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Supplier Qualification Lifecycle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95A"/>
                </a:solidFill>
              </a:rPr>
              <a:t>Nuclear qualification is a structured, evidence-based process. Each stage must be completed before progression to the next. Approval is always bounded by scope.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1463040" cy="50292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80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146304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Initial Contact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1463040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04288"/>
            <a:ext cx="13167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Scope definition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NDA / confidentiality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Capability statement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37360" y="1444752"/>
            <a:ext cx="256032" cy="18288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1280160"/>
            <a:ext cx="1463040" cy="50292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1280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993392" y="1828800"/>
            <a:ext cx="146304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Pre-Qualification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93392" y="2240280"/>
            <a:ext cx="1463040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66544" y="2304288"/>
            <a:ext cx="13167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PQQ submission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Document 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Minimum criteria check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56432" y="1444752"/>
            <a:ext cx="256032" cy="18288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12464" y="1280160"/>
            <a:ext cx="1463040" cy="50292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1280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12464" y="1828800"/>
            <a:ext cx="146304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Audit / Assessment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12464" y="2240280"/>
            <a:ext cx="1463040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2304288"/>
            <a:ext cx="13167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Desk audit or site visit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Finding classification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CAPA agreement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75504" y="1444752"/>
            <a:ext cx="256032" cy="18288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31536" y="1280160"/>
            <a:ext cx="1463040" cy="50292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31536" y="1280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31536" y="1828800"/>
            <a:ext cx="146304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31536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Approval Decision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31536" y="2240280"/>
            <a:ext cx="1463040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2304288"/>
            <a:ext cx="13167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Full / Conditional / Provisional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ASL entry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Scope boundary set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94576" y="1444752"/>
            <a:ext cx="256032" cy="18288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50608" y="1280160"/>
            <a:ext cx="1463040" cy="50292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0608" y="1280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150608" y="1828800"/>
            <a:ext cx="146304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Ongoing Monitoring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50608" y="2240280"/>
            <a:ext cx="1463040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2304288"/>
            <a:ext cx="13167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Performance KPIs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Surveillance programme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Re-qualification cycle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solidFill>
            <a:srgbClr val="FFF3CD"/>
          </a:solidFill>
          <a:ln w="9525">
            <a:solidFill>
              <a:srgbClr val="FFC10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7033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5B00"/>
                </a:solidFill>
              </a:rPr>
              <a:t>Key principle: Qualification approval is always bounded by scope. An approval to supply forgings does not extend to machined components, even from the same supplier.</a:t>
            </a:r>
            <a:endParaRPr lang="en-US" sz="950" dirty="0"/>
          </a:p>
        </p:txBody>
      </p:sp>
      <p:sp>
        <p:nvSpPr>
          <p:cNvPr id="47" name="Rectangle 4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Pre-Qualification Assessment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95A"/>
                </a:solidFill>
              </a:rPr>
              <a:t>The Pre-Qualification Questionnaire (PQQ) establishes whether a supplier meets minimum entry criteria before audit resources are committed. Six assessment areas are evaluated.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3108960"/>
        </p:xfrm>
        <a:graphic>
          <a:graphicData uri="http://schemas.openxmlformats.org/drawingml/2006/table">
            <a:tbl>
              <a:tblPr/>
              <a:tblGrid>
                <a:gridCol w="1554480"/>
                <a:gridCol w="502920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Assessment Area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Minimum Criteria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1E3C"/>
                          </a:solidFill>
                        </a:rPr>
                        <a:t>Quality Management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595A"/>
                          </a:solidFill>
                        </a:rPr>
                        <a:t>ISO 9001 certification or equivalent; quality manual; documented procedures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Mandatory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1E3C"/>
                          </a:solidFill>
                        </a:rPr>
                        <a:t>Nuclear Experience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595A"/>
                          </a:solidFill>
                        </a:rPr>
                        <a:t>Previous nuclear supply references; understanding of CFSI and traceability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Scored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1E3C"/>
                          </a:solidFill>
                        </a:rPr>
                        <a:t>Technical Capability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595A"/>
                          </a:solidFill>
                        </a:rPr>
                        <a:t>Process scope; equipment list; accreditations (NADCAP, UKAS, etc.)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Mandatory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1E3C"/>
                          </a:solidFill>
                        </a:rPr>
                        <a:t>Financial Stability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595A"/>
                          </a:solidFill>
                        </a:rPr>
                        <a:t>Two years audited accounts; credit rating; key customer dependency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Scored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1E3C"/>
                          </a:solidFill>
                        </a:rPr>
                        <a:t>Ethical and Legal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595A"/>
                          </a:solidFill>
                        </a:rPr>
                        <a:t>Modern Slavery Act compliance; export control awareness; sanctions screening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Mandatory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1E3C"/>
                          </a:solidFill>
                        </a:rPr>
                        <a:t>CFSI Controls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595A"/>
                          </a:solidFill>
                        </a:rPr>
                        <a:t>Approved sources policy; incoming inspection; obsolescence management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Scored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1234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Assessment Area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965960" y="12344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Minimum Criteria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95160" y="1234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1719072"/>
            <a:ext cx="8412480" cy="420624"/>
          </a:xfrm>
          <a:prstGeom prst="rect">
            <a:avLst/>
          </a:prstGeom>
          <a:solidFill>
            <a:srgbClr val="F5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1719072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Quality Management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965960" y="1719072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ISO 9001 certification or equivalent; quality manual; documented procedures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995160" y="171907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Mandatory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5760" y="2157984"/>
            <a:ext cx="8412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2157984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Nuclear Experience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965960" y="2157984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Previous nuclear supply references; understanding of CFSI and traceability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995160" y="215798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Scored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65760" y="2596896"/>
            <a:ext cx="8412480" cy="420624"/>
          </a:xfrm>
          <a:prstGeom prst="rect">
            <a:avLst/>
          </a:prstGeom>
          <a:solidFill>
            <a:srgbClr val="F5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2596896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Technical Capability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965960" y="2596896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Process scope; equipment list; accreditations (NADCAP, UKAS, etc.)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95160" y="259689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Mandatory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65760" y="3035808"/>
            <a:ext cx="8412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3035808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Financial Stability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965960" y="3035808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Two years audited accounts; credit rating; key customer dependency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995160" y="303580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Scored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65760" y="3474720"/>
            <a:ext cx="8412480" cy="420624"/>
          </a:xfrm>
          <a:prstGeom prst="rect">
            <a:avLst/>
          </a:prstGeom>
          <a:solidFill>
            <a:srgbClr val="F5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8912" y="3474720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Ethical and Legal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965960" y="347472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Modern Slavery Act compliance; export control awareness; sanctions screening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995160" y="347472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Mandatory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65760" y="3913632"/>
            <a:ext cx="8412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8912" y="3913632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CFSI Controls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965960" y="3913632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Approved sources policy; incoming inspection; obsolescence management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995160" y="391363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Scored</a:t>
            </a:r>
            <a:endParaRPr lang="en-US" sz="850" dirty="0"/>
          </a:p>
        </p:txBody>
      </p:sp>
      <p:sp>
        <p:nvSpPr>
          <p:cNvPr id="40" name="Rectangle 3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Audit Planning and Conduct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95A"/>
                </a:solidFill>
              </a:rPr>
              <a:t>A well-planned audit is a professional process, not an adversarial inspection. The objective is objective evidence of system effectiveness, not a gotcha exercise.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2011680" cy="38404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Preparation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2011680" cy="2468880"/>
          </a:xfrm>
          <a:prstGeom prst="rect">
            <a:avLst/>
          </a:prstGeom>
          <a:solidFill>
            <a:srgbClr val="F0F8FF"/>
          </a:solidFill>
          <a:ln w="6350">
            <a:solidFill>
              <a:srgbClr val="C5D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0078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Define audit scope and objectives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17627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Compile audit checklist (clause-by-clause)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Request pre-audit documentation pack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31272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Confirm attendees and logistics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36027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Review previous audit findings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50592" y="1234440"/>
            <a:ext cx="2011680" cy="38404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Opening Meeting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50592" y="1645920"/>
            <a:ext cx="2011680" cy="2468880"/>
          </a:xfrm>
          <a:prstGeom prst="rect">
            <a:avLst/>
          </a:prstGeom>
          <a:solidFill>
            <a:srgbClr val="F0F8FF"/>
          </a:solidFill>
          <a:ln w="6350">
            <a:solidFill>
              <a:srgbClr val="C5D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170078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Introduce audit team and purpose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42032" y="217627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Confirm scope, timing, and access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42032" y="2651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Explain finding classification system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42032" y="31272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Agree communication channel during audit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42032" y="36027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Obtain guide / escort arrangements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2011680" cy="384048"/>
          </a:xfrm>
          <a:prstGeom prst="rect">
            <a:avLst/>
          </a:prstGeom>
          <a:solidFill>
            <a:srgbClr val="1A6FA0"/>
          </a:solidFill>
          <a:ln w="12700">
            <a:solidFill>
              <a:srgbClr val="1A6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 Execution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1645920"/>
            <a:ext cx="2011680" cy="2468880"/>
          </a:xfrm>
          <a:prstGeom prst="rect">
            <a:avLst/>
          </a:prstGeom>
          <a:solidFill>
            <a:srgbClr val="F0F8FF"/>
          </a:solidFill>
          <a:ln w="6350">
            <a:solidFill>
              <a:srgbClr val="C5D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170078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Document review: procedures vs practice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18304" y="217627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Process walk-through and observation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8304" y="2651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Records sampling (traceability, calibration)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18304" y="31272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Personnel interviews (objective evidence)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18304" y="36027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Note potential findings in real time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03136" y="1234440"/>
            <a:ext cx="20116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136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Closing Meeting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03136" y="1645920"/>
            <a:ext cx="2011680" cy="2468880"/>
          </a:xfrm>
          <a:prstGeom prst="rect">
            <a:avLst/>
          </a:prstGeom>
          <a:solidFill>
            <a:srgbClr val="F0F8FF"/>
          </a:solidFill>
          <a:ln w="6350">
            <a:solidFill>
              <a:srgbClr val="C5DF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4576" y="170078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Summarise findings and categories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94576" y="217627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Agree CAPA timescales for each NC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94576" y="2651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Confirm draft report issue date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94576" y="31272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Obtain signed attendance record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94576" y="36027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1E3C"/>
                </a:solidFill>
              </a:rPr>
              <a:t>● Thank host and confirm next steps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4206240"/>
            <a:ext cx="8595360" cy="411480"/>
          </a:xfrm>
          <a:prstGeom prst="rect">
            <a:avLst/>
          </a:prstGeom>
          <a:solidFill>
            <a:srgbClr val="E8F0FE"/>
          </a:solidFill>
          <a:ln w="9525">
            <a:solidFill>
              <a:srgbClr val="8334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2062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3348F"/>
                </a:solidFill>
              </a:rPr>
              <a:t>Audit rule: Every finding must be supported by objective evidence. "I think they might not..." is not a finding. "Procedure REF-04 requires X; record REF-04/22 shows Y was done instead" is a finding.</a:t>
            </a:r>
            <a:endParaRPr lang="en-US" sz="850" dirty="0"/>
          </a:p>
        </p:txBody>
      </p:sp>
      <p:sp>
        <p:nvSpPr>
          <p:cNvPr id="45" name="Rectangle 4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Finding Classification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95A"/>
                </a:solidFill>
              </a:rPr>
              <a:t>Consistent classification of audit findings is critical to credibility and to driving proportionate corrective action. These definitions align with ISO 19011 and industry practice.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1371600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3444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Major 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91640" y="1234440"/>
            <a:ext cx="7178040" cy="804672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12618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1E3C"/>
                </a:solidFill>
              </a:rPr>
              <a:t>Definition: 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377440" y="1261872"/>
            <a:ext cx="5440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Complete absence of a required system, process, or control; or a systemic failure affecting product quality or nuclear safety.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83080" y="15087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1E3C"/>
                </a:solidFill>
              </a:rPr>
              <a:t>Response: 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331720" y="1508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Immediate containment required. Supply hold until CAPA verified closed. Re-audit may be required.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783080" y="173736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C0392B"/>
                </a:solidFill>
              </a:rPr>
              <a:t>Example: 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304288" y="17373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595A"/>
                </a:solidFill>
              </a:rPr>
              <a:t>No calibration system in place for measuring equipment used on nuclear components.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13716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121408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Minor NC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91640" y="2121408"/>
            <a:ext cx="7178040" cy="804672"/>
          </a:xfrm>
          <a:prstGeom prst="rect">
            <a:avLst/>
          </a:prstGeom>
          <a:solidFill>
            <a:srgbClr val="FEF9E7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2148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1E3C"/>
                </a:solidFill>
              </a:rPr>
              <a:t>Definition: 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377440" y="2148840"/>
            <a:ext cx="5440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Isolated failure to comply with a requirement where the overall system is in place and functioning.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783080" y="23957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1E3C"/>
                </a:solidFill>
              </a:rPr>
              <a:t>Response: 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331720" y="23957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CAPA required within agreed timescale (typically 30 days). Verification by document review.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783080" y="262432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E67E22"/>
                </a:solidFill>
              </a:rPr>
              <a:t>Example: 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304288" y="2624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595A"/>
                </a:solidFill>
              </a:rPr>
              <a:t>Two calibration records missing from batch of 24 instruments; system and procedure are otherwise in place.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1371600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008376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91640" y="3008376"/>
            <a:ext cx="7178040" cy="804672"/>
          </a:xfrm>
          <a:prstGeom prst="rect">
            <a:avLst/>
          </a:prstGeom>
          <a:solidFill>
            <a:srgbClr val="EAFAF1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30358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1E3C"/>
                </a:solidFill>
              </a:rPr>
              <a:t>Definition: 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377440" y="3035808"/>
            <a:ext cx="5440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A potential weakness or area for improvement that does not constitute a non-conformance at this time.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783080" y="32826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1E3C"/>
                </a:solidFill>
              </a:rPr>
              <a:t>Response: 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331720" y="32826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No formal CAPA required. Supplier encouraged to address. Monitored at next audit.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783080" y="351129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27AE60"/>
                </a:solidFill>
              </a:rPr>
              <a:t>Example: 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04288" y="35112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595A"/>
                </a:solidFill>
              </a:rPr>
              <a:t>CFSI awareness training delivered verbally; no written records of completion maintained.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3895344"/>
            <a:ext cx="1371600" cy="8046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895344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Good Practice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91640" y="3895344"/>
            <a:ext cx="7178040" cy="804672"/>
          </a:xfrm>
          <a:prstGeom prst="rect">
            <a:avLst/>
          </a:prstGeom>
          <a:solidFill>
            <a:srgbClr val="EBF5FB"/>
          </a:solidFill>
          <a:ln w="6350">
            <a:solidFill>
              <a:srgbClr val="009F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83080" y="39227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1E3C"/>
                </a:solidFill>
              </a:rPr>
              <a:t>Definition: 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377440" y="3922776"/>
            <a:ext cx="5440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An area where the supplier demonstrates performance that significantly exceeds requirements and could be shared as OPEX.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783080" y="41696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1E3C"/>
                </a:solidFill>
              </a:rPr>
              <a:t>Response: 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331720" y="416966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Documented and shared with Nuclear AMRC OPEX programme if supplier consents.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783080" y="4398264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009FE3"/>
                </a:solidFill>
              </a:rPr>
              <a:t>Example: 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304288" y="439826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595A"/>
                </a:solidFill>
              </a:rPr>
              <a:t>Supplier operates a supplier development programme for their own Tier 3 sub-contractors.</a:t>
            </a:r>
            <a:endParaRPr lang="en-US" sz="750" dirty="0"/>
          </a:p>
        </p:txBody>
      </p:sp>
      <p:sp>
        <p:nvSpPr>
          <p:cNvPr id="47" name="Rectangle 4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Approved Supplier List Management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95A"/>
                </a:solidFill>
              </a:rPr>
              <a:t>The ASL is a living document, not a historical archive. Approval status must reflect current performance and capability. Unreviewed approvals become liabilities.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48F"/>
                </a:solidFill>
              </a:rPr>
              <a:t>ASL Entry Requirements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6002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● Supplier name, site address, and legal entity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901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● Approved scope (specific products or services only)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2037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● Quality grade classification (NSC1 to NN)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505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● Approval date and expiry / next review date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8072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● Current status: Approved / Conditional / Suspended / Removed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089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● Lead auditor and audit reference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4107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● CFSI risk category (Critical / Standard / Low)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124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1E3C"/>
                </a:solidFill>
              </a:rPr>
              <a:t>● Any active corrective action references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4206240" cy="3200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Approval Status Types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627632"/>
            <a:ext cx="13716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276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Full Approval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0760" y="1627632"/>
            <a:ext cx="2788920" cy="475488"/>
          </a:xfrm>
          <a:prstGeom prst="rect">
            <a:avLst/>
          </a:prstGeom>
          <a:solidFill>
            <a:srgbClr val="F8F9FA"/>
          </a:solidFill>
          <a:ln w="381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6276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All requirements met. No active major NCs. Next review within grade cycle.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63440" y="2176272"/>
            <a:ext cx="13716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1762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Conditional Approval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2176272"/>
            <a:ext cx="2788920" cy="475488"/>
          </a:xfrm>
          <a:prstGeom prst="rect">
            <a:avLst/>
          </a:prstGeom>
          <a:solidFill>
            <a:srgbClr val="F8F9FA"/>
          </a:solidFill>
          <a:ln w="381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21762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Minor NCs open. Approved to supply within defined constraints pending closure.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2724912"/>
            <a:ext cx="1371600" cy="47548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7249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Provisional Approval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80760" y="2724912"/>
            <a:ext cx="2788920" cy="475488"/>
          </a:xfrm>
          <a:prstGeom prst="rect">
            <a:avLst/>
          </a:prstGeom>
          <a:solidFill>
            <a:srgbClr val="F8F9FA"/>
          </a:solidFill>
          <a:ln w="381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27249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New supplier. First order placed before full audit cycle complete. Time-limited.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3273552"/>
            <a:ext cx="13716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2735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Suspended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0760" y="3273552"/>
            <a:ext cx="2788920" cy="475488"/>
          </a:xfrm>
          <a:prstGeom prst="rect">
            <a:avLst/>
          </a:prstGeom>
          <a:solidFill>
            <a:srgbClr val="F8F9FA"/>
          </a:solidFill>
          <a:ln w="381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3273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Active major NC or product quality failure. No new orders until resolved.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63440" y="3822192"/>
            <a:ext cx="1371600" cy="47548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82219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Removed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0760" y="3822192"/>
            <a:ext cx="2788920" cy="475488"/>
          </a:xfrm>
          <a:prstGeom prst="rect">
            <a:avLst/>
          </a:prstGeom>
          <a:solidFill>
            <a:srgbClr val="F8F9FA"/>
          </a:solidFill>
          <a:ln w="3810">
            <a:solidFill>
              <a:srgbClr val="D0D7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38221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95A"/>
                </a:solidFill>
              </a:rPr>
              <a:t>Supplier has failed to remediate or has withdrawn. Historical record retained.</a:t>
            </a:r>
            <a:endParaRPr lang="en-US" sz="750" dirty="0"/>
          </a:p>
        </p:txBody>
      </p:sp>
      <p:sp>
        <p:nvSpPr>
          <p:cNvPr id="42" name="Rectangle 4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Supplier Performance Monitoring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95A"/>
                </a:solidFill>
              </a:rPr>
              <a:t>Reactive management of supplier problems is too late for nuclear supply. A structured KPI framework enables early intervention before quality escapes occur.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219456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34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234440"/>
            <a:ext cx="82296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234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Freq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234440"/>
            <a:ext cx="18288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Green (Target)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1234440"/>
            <a:ext cx="178308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Amber (Monitor)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86600" y="1234440"/>
            <a:ext cx="178308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 (Escalate)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645920"/>
            <a:ext cx="8595360" cy="402336"/>
          </a:xfrm>
          <a:prstGeom prst="rect">
            <a:avLst/>
          </a:prstGeom>
          <a:solidFill>
            <a:srgbClr val="F5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64592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On-Time Delivery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164592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Monthly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16459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&gt;95%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57800" y="164592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4000"/>
                </a:solidFill>
              </a:rPr>
              <a:t>90-95%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86600" y="164592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&lt;90%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075688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07568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NCR Rate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14600" y="207568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Monthly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83280" y="20756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&lt;2%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57800" y="207568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4000"/>
                </a:solidFill>
              </a:rPr>
              <a:t>2-5%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86600" y="207568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&gt;5%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505456"/>
            <a:ext cx="8595360" cy="402336"/>
          </a:xfrm>
          <a:prstGeom prst="rect">
            <a:avLst/>
          </a:prstGeom>
          <a:solidFill>
            <a:srgbClr val="F5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50545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Documentation Quality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14600" y="25054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Per delivery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83280" y="25054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First-time right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57800" y="2505456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4000"/>
                </a:solidFill>
              </a:rPr>
              <a:t>1 resubmit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86600" y="2505456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&gt;1 resubmit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935224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93522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Audit Cooperation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14600" y="293522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Per audit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0" y="293522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Full access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57800" y="293522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4000"/>
                </a:solidFill>
              </a:rPr>
              <a:t>Minor restriction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86600" y="293522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Access refused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364992"/>
            <a:ext cx="8595360" cy="402336"/>
          </a:xfrm>
          <a:prstGeom prst="rect">
            <a:avLst/>
          </a:prstGeom>
          <a:solidFill>
            <a:srgbClr val="F5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36499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CFSI Compliance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14600" y="33649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Per delivery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83280" y="33649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Full traceability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57800" y="336499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4000"/>
                </a:solidFill>
              </a:rPr>
              <a:t>Minor gaps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86600" y="336499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Unverified source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3794760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79476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</a:rPr>
              <a:t>Safety Culture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95A"/>
                </a:solidFill>
              </a:rPr>
              <a:t>Annual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383280" y="37947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No concerns raised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57800" y="379476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4000"/>
                </a:solidFill>
              </a:rPr>
              <a:t>Issues noted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086600" y="379476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Significant concern</a:t>
            </a:r>
            <a:endParaRPr lang="en-US" sz="800" dirty="0"/>
          </a:p>
        </p:txBody>
      </p:sp>
      <p:sp>
        <p:nvSpPr>
          <p:cNvPr id="57" name="Rectangle 5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Messages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804672"/>
            <a:ext cx="4206240" cy="1170432"/>
          </a:xfrm>
          <a:prstGeom prst="rect">
            <a:avLst/>
          </a:prstGeom>
          <a:solidFill>
            <a:srgbClr val="F0F8FF"/>
          </a:solidFill>
          <a:ln w="9525">
            <a:solidFill>
              <a:srgbClr val="009F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804672"/>
            <a:ext cx="164592" cy="11704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877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Qualification is scope-bounded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21615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</a:rPr>
              <a:t>Approval to supply one product does not confer approval for another. ASL entries must specify exact scope.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804672"/>
            <a:ext cx="4206240" cy="1170432"/>
          </a:xfrm>
          <a:prstGeom prst="rect">
            <a:avLst/>
          </a:prstGeom>
          <a:solidFill>
            <a:srgbClr val="F0F8FF"/>
          </a:solidFill>
          <a:ln w="9525">
            <a:solidFill>
              <a:srgbClr val="009F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804672"/>
            <a:ext cx="164592" cy="11704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877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Evidence, not assertion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21615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</a:rPr>
              <a:t>Every audit finding must reference a specific requirement and a specific piece of objective evidence. Opinion is not a finding.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066544"/>
            <a:ext cx="4206240" cy="1170432"/>
          </a:xfrm>
          <a:prstGeom prst="rect">
            <a:avLst/>
          </a:prstGeom>
          <a:solidFill>
            <a:srgbClr val="F0F8FF"/>
          </a:solidFill>
          <a:ln w="9525">
            <a:solidFill>
              <a:srgbClr val="009F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066544"/>
            <a:ext cx="164592" cy="11704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1396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Classification drives response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4780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</a:rPr>
              <a:t>Major NCs require immediate containment. Minor NCs require CAPA. Observations require monitoring. Proportionality is key.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066544"/>
            <a:ext cx="4206240" cy="1170432"/>
          </a:xfrm>
          <a:prstGeom prst="rect">
            <a:avLst/>
          </a:prstGeom>
          <a:solidFill>
            <a:srgbClr val="F0F8FF"/>
          </a:solidFill>
          <a:ln w="9525">
            <a:solidFill>
              <a:srgbClr val="009F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066544"/>
            <a:ext cx="164592" cy="11704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1396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The ASL is a live document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4780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</a:rPr>
              <a:t>Approvals expire. Performance changes. A supplier approved two years ago and never reviewed since is not a managed supplier.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328416"/>
            <a:ext cx="4206240" cy="1170432"/>
          </a:xfrm>
          <a:prstGeom prst="rect">
            <a:avLst/>
          </a:prstGeom>
          <a:solidFill>
            <a:srgbClr val="F0F8FF"/>
          </a:solidFill>
          <a:ln w="9525">
            <a:solidFill>
              <a:srgbClr val="009F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328416"/>
            <a:ext cx="164592" cy="11704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Early intervention beats late reaction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73989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</a:rPr>
              <a:t>KPI trends signal problems before quality escapes. Amber performance triggers conversation; red triggers formal escalation.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328416"/>
            <a:ext cx="4206240" cy="1170432"/>
          </a:xfrm>
          <a:prstGeom prst="rect">
            <a:avLst/>
          </a:prstGeom>
          <a:solidFill>
            <a:srgbClr val="F0F8FF"/>
          </a:solidFill>
          <a:ln w="9525">
            <a:solidFill>
              <a:srgbClr val="009F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328416"/>
            <a:ext cx="164592" cy="11704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</a:rPr>
              <a:t>Oversight protects the programme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73989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</a:rPr>
              <a:t>Surveillance and inspection obligations flow from the customer downward. Failure to oversee sub-tiers is a failure of the prime.</a:t>
            </a:r>
            <a:endParaRPr lang="en-US" sz="900" dirty="0"/>
          </a:p>
        </p:txBody>
      </p:sp>
      <p:sp>
        <p:nvSpPr>
          <p:cNvPr id="34" name="Rectangle 3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E8AE0E0-D6AD-474E-ACE7-076236658C97}"/>
</file>

<file path=customXml/itemProps2.xml><?xml version="1.0" encoding="utf-8"?>
<ds:datastoreItem xmlns:ds="http://schemas.openxmlformats.org/officeDocument/2006/customXml" ds:itemID="{9E05BB15-2C8C-4FBE-850E-D3AC183D0500}"/>
</file>

<file path=customXml/itemProps3.xml><?xml version="1.0" encoding="utf-8"?>
<ds:datastoreItem xmlns:ds="http://schemas.openxmlformats.org/officeDocument/2006/customXml" ds:itemID="{A2BD49B2-9CCF-4302-9DC7-CDAAC50A037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NSS-06-PP-02 Supplier Qualification and Oversight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