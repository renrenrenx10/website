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0"/>
            <a:ext cx="9144000" cy="2286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9144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Nuclear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Requirements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supplier needs to know before working in nuclear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NSS-06-PP-01  |  Nuclear Sector Specific  |  Supply Chain Readiness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NucCol  |  Nuclear Collaboration Ltd</a:t>
            </a:r>
            <a:endParaRPr lang="en-US" sz="1000" dirty="0"/>
          </a:p>
        </p:txBody>
      </p:sp>
      <p:sp>
        <p:nvSpPr>
          <p:cNvPr id="13" name="Rectangle 1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68680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886968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nuclear procurement is different from standard commercial buying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307592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435608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35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453896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regulatory landscape: ONR, TAG 77 and ISO 19443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1874520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002536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025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020824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grading: classifying items by safety significance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441448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69464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69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587752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effective nuclear procurement specifications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008376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36392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36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154680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Supplier Lists and supplier qualification requirements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575304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3721608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 and Suspect Items (CFSI) controls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142232"/>
            <a:ext cx="8046720" cy="9144"/>
          </a:xfrm>
          <a:prstGeom prst="rect">
            <a:avLst/>
          </a:prstGeom>
          <a:solidFill>
            <a:srgbClr val="E5F5FD"/>
          </a:solidFill>
          <a:ln w="12700">
            <a:solidFill>
              <a:srgbClr val="E5F5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270248"/>
            <a:ext cx="457200" cy="41148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70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4288536"/>
            <a:ext cx="77724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Records, documentation and traceability requirements</a:t>
            </a:r>
            <a:endParaRPr lang="en-US" sz="1300" dirty="0"/>
          </a:p>
        </p:txBody>
      </p:sp>
      <p:sp>
        <p:nvSpPr>
          <p:cNvPr id="36" name="Rectangle 3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Nuclear Procurement Is Different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4160520" cy="402336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777240"/>
            <a:ext cx="4160520" cy="402336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777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Differences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777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188720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of failure can directly affect nuclear safety and public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are often safety-critical, with no margin for latent defects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obligations under the Nuclear Installations Act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oversight by ONR with right of access to the entire supply chain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188720"/>
            <a:ext cx="3977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must maintain an "Intelligent Customer" capability at all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must prove every step of the process, not just the final outcome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do not stop at tier one: they flow through every subcontractor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culture is assessed, not just quality management system compliance</a:t>
            </a:r>
            <a:endParaRPr lang="en-US" sz="1100" dirty="0"/>
          </a:p>
        </p:txBody>
      </p:sp>
      <p:sp>
        <p:nvSpPr>
          <p:cNvPr id="15" name="Rectangle 1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UK Nuclear Regulatory Framework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2834640" cy="475488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77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77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10698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ONR Technical Assessment Guide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52728"/>
            <a:ext cx="2834640" cy="3520440"/>
          </a:xfrm>
          <a:prstGeom prst="rect">
            <a:avLst/>
          </a:prstGeom>
          <a:solidFill>
            <a:srgbClr val="F8F8F8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ONR expectations for supply chain management for nuclear safety-related items. Covers specification, supplier evaluation, quality plans, inspection, CFSI and operational experience. The benchmark for what nuclear buyers expect.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777240"/>
            <a:ext cx="2834640" cy="47548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777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19443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10698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QMS Standard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252728"/>
            <a:ext cx="2834640" cy="3520440"/>
          </a:xfrm>
          <a:prstGeom prst="rect">
            <a:avLst/>
          </a:prstGeom>
          <a:solidFill>
            <a:srgbClr val="F8F8F8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37160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ISO 9001 for the nuclear sector. Addresses nuclear safety culture, graded quality management, CFSI controls and management of nuclear safety significant activities. Increasingly required by major buyers.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777240"/>
            <a:ext cx="2834640" cy="475488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777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Good Practice Guide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0698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Quality Requirements (2018)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252728"/>
            <a:ext cx="2834640" cy="3520440"/>
          </a:xfrm>
          <a:prstGeom prst="rect">
            <a:avLst/>
          </a:prstGeom>
          <a:solidFill>
            <a:srgbClr val="F8F8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37160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by the Nuclear Industry Safety Directors Forum. Practical guidance on quality grading, supplier qualification, ITPs, records management and performance measurement.</a:t>
            </a:r>
            <a:endParaRPr lang="en-US" sz="110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Grading in Nuclear Procurement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quality management: the most rigorous controls are applied where the consequences of failure are greatest.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1005840" cy="6858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887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NSC1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Safety Significance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153619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directly causes or contributes to a nuclear accident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5029200" cy="68580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1887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nuclear quality programme, ITP, third-party inspection, extensive 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1005840" cy="6858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031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NSC2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to Safety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45059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could impair nuclear safety functions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103120"/>
            <a:ext cx="5029200" cy="68580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1031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plan, ITP, approved supplier, documented inspection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1005840" cy="6858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175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NSC3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Related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36499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nuclear significance, controlled accordingly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3017520"/>
            <a:ext cx="5029200" cy="68580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0175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procurement, approved supplier, receiving inspection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1005840" cy="68580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319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Non-Nuclear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279392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nuclear safety significance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0" y="3931920"/>
            <a:ext cx="5029200" cy="68580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9319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commercial procurement with basic quality records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1051560"/>
            <a:ext cx="5029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Required</a:t>
            </a:r>
            <a:endParaRPr lang="en-US" sz="90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 and Suspect Items (CFSI)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FFF0CC"/>
          </a:solidFill>
          <a:ln w="12700">
            <a:solidFill>
              <a:srgbClr val="C07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are items misrepresented as to their identity, origin or quality. They may appear to meet specification while being fundamentally incapable of performing their intended safety function.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16052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17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SIGNS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4160520" cy="320040"/>
          </a:xfrm>
          <a:prstGeom prst="rect">
            <a:avLst/>
          </a:prstGeom>
          <a:solidFill>
            <a:srgbClr val="007000"/>
          </a:solidFill>
          <a:ln w="12700">
            <a:solidFill>
              <a:srgbClr val="007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173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CONTROLS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4160520" cy="30632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737360"/>
            <a:ext cx="4160520" cy="3063240"/>
          </a:xfrm>
          <a:prstGeom prst="rect">
            <a:avLst/>
          </a:prstGeom>
          <a:solidFill>
            <a:srgbClr val="F0FFF4"/>
          </a:solidFill>
          <a:ln w="12700">
            <a:solidFill>
              <a:srgbClr val="007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288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with unusually short lead times or prices significantly below market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unable or unwilling to provide full material traceability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from online marketplaces or brokers without nuclear credentials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markings, poor packaging or documentation that does not match the item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OEM or authorised distributor sourcing in every nuclear purchase order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full material traceability from mill certificate to delivery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positive material identification (PMI) testing for at-risk items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purchasing staff to recognise warning signs and raise concerns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Supplier List: What It Means in Practice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822960"/>
            <a:ext cx="1600200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Pre-Qualification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280160"/>
            <a:ext cx="1600200" cy="3429000"/>
          </a:xfrm>
          <a:prstGeom prst="rect">
            <a:avLst/>
          </a:prstGeom>
          <a:solidFill>
            <a:srgbClr val="E5F5FD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3716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completes a structured questionnaire covering QMS, technical capability, nuclear experience, financial status and CFSI controls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56232" y="987552"/>
            <a:ext cx="109728" cy="274320"/>
          </a:xfrm>
          <a:prstGeom prst="rightArrow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84248" y="822960"/>
            <a:ext cx="1600200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Qualification Audit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4248" y="1280160"/>
            <a:ext cx="1600200" cy="342900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3716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or remote audit by a qualified lead auditor. Findings classified as Major NC, Minor NC or Observation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987552"/>
            <a:ext cx="109728" cy="274320"/>
          </a:xfrm>
          <a:prstGeom prst="rightArrow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822960"/>
            <a:ext cx="1600200" cy="4572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Approval Decision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39896" y="1280160"/>
            <a:ext cx="1600200" cy="3429000"/>
          </a:xfrm>
          <a:prstGeom prst="rect">
            <a:avLst/>
          </a:prstGeom>
          <a:solidFill>
            <a:srgbClr val="E5F5FD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13716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authority reviews audit report and grants Full, Conditional or Provisional approval, or declines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67528" y="987552"/>
            <a:ext cx="109728" cy="274320"/>
          </a:xfrm>
          <a:prstGeom prst="rightArrow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822960"/>
            <a:ext cx="1600200" cy="4572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ASL Entry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95544" y="1280160"/>
            <a:ext cx="1600200" cy="3429000"/>
          </a:xfrm>
          <a:prstGeom prst="rect">
            <a:avLst/>
          </a:prstGeom>
          <a:solidFill>
            <a:srgbClr val="F0E6F6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13716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added to ASL with defined scope, grade and approval period. Conditions and contacts recorded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23176" y="987552"/>
            <a:ext cx="109728" cy="274320"/>
          </a:xfrm>
          <a:prstGeom prst="rightArrow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51192" y="822960"/>
            <a:ext cx="1600200" cy="4572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82296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Ongoing Oversight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51192" y="1280160"/>
            <a:ext cx="1600200" cy="342900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24344" y="13716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certification check, performance review, periodic re-audit (12-24 months depending on grade). Triggered review on significant events</a:t>
            </a:r>
            <a:endParaRPr lang="en-US" sz="1050" dirty="0"/>
          </a:p>
        </p:txBody>
      </p:sp>
      <p:sp>
        <p:nvSpPr>
          <p:cNvPr id="33" name="Rectangle 3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and Documentation: The Nuclear Standard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8595360" cy="384048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nuclear: if it is not documented, it did not happen. Records are safety evidence, not administrative overhead.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4206240" cy="73152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 and specification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ordered and to what requirement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206240" cy="73152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qualification records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 supplier was assessed and approved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4206240" cy="73152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214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quality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468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inspection and control regime for the contract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121408"/>
            <a:ext cx="4206240" cy="73152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214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 with completed sign-offs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inspections were conducted at each stage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44368"/>
            <a:ext cx="4206240" cy="73152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certificates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291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from raw material to finished item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06240" cy="73152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records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291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deviations and their authorised disposition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4206240" cy="731520"/>
          </a:xfrm>
          <a:prstGeom prst="rect">
            <a:avLst/>
          </a:prstGeom>
          <a:solidFill>
            <a:srgbClr val="E5F5FD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67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of conformance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1148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Supplier's formal declaration of conformance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67328"/>
            <a:ext cx="4206240" cy="731520"/>
          </a:xfrm>
          <a:prstGeom prst="rect">
            <a:avLst/>
          </a:prstGeom>
          <a:solidFill>
            <a:srgbClr val="F0E6F6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67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receipt inspection record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148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conformance at delivery</a:t>
            </a:r>
            <a:endParaRPr lang="en-US" sz="100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54864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8229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requirement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822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buyers expect comprehensive, documented procurement controls, not just ISO 9001 certification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426464"/>
            <a:ext cx="8595360" cy="9144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45920"/>
            <a:ext cx="54864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645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1645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everything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every item and service by nuclear safety significance before you decide what controls to apply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249424"/>
            <a:ext cx="8595360" cy="9144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68880"/>
            <a:ext cx="54864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688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4688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down completely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468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nuclear requirements must flow to every subcontractor that contributes to your delivery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8595360" cy="9144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91840"/>
            <a:ext cx="54864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291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CFSI risk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your people, source from authorised channels and verify traceability at every step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95344"/>
            <a:ext cx="8595360" cy="9144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14800"/>
            <a:ext cx="54864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14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4114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everything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F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nuclear safety-significant items, records may be retained for the life of the plant and beyond</a:t>
            </a:r>
            <a:endParaRPr lang="en-US" sz="1100" dirty="0"/>
          </a:p>
        </p:txBody>
      </p:sp>
      <p:sp>
        <p:nvSpPr>
          <p:cNvPr id="33" name="Rectangle 3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9770DF-A7C6-4C02-9267-F1816CCB20B9}"/>
</file>

<file path=customXml/itemProps2.xml><?xml version="1.0" encoding="utf-8"?>
<ds:datastoreItem xmlns:ds="http://schemas.openxmlformats.org/officeDocument/2006/customXml" ds:itemID="{CD35152E-5040-456E-8E55-59C1A6E0786F}"/>
</file>

<file path=customXml/itemProps3.xml><?xml version="1.0" encoding="utf-8"?>
<ds:datastoreItem xmlns:ds="http://schemas.openxmlformats.org/officeDocument/2006/customXml" ds:itemID="{CF124E81-7496-46BC-9AD0-482710123D7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NSS-06-PP-01 Introduction to Nuclear Supply Chain Requirements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