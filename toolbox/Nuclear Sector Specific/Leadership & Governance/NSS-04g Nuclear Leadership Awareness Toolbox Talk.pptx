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media/image-1-1.jpg" ContentType="image/jpg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media/image-2-1.jpg" ContentType="image/jpg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media/image-3-1.jpg" ContentType="image/jpg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media/image-4-1.jpg" ContentType="image/jpg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media/image-5-1.jpg" ContentType="image/jpg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media/image-6-1.jpg" ContentType="image/jpg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media/image-7-1.jpg" ContentType="image/jpg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media/image-8-1.jpg" ContentType="image/jpg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71750"/>
            <a:ext cx="9144000" cy="54864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GOVERNANCE</a:t>
            </a:r>
            <a:endParaRPr lang="en-US" sz="1400" dirty="0"/>
          </a:p>
        </p:txBody>
      </p:sp>
      <p:pic>
        <p:nvPicPr>
          <p:cNvPr id="5" name="Image 0" descr="/home/claude/nuccol_logo_hea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914400"/>
            <a:ext cx="201168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26055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Leadership and Governance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3503295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 for our organisation and why it matters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Nuclear Governance Is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2423160" cy="2423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841248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governance means having clear, documented accountabilities for nuclear safety quality in our organisation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means specific people holding specific authorities for nuclear decisions, not everyone and no one at the same time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what gives our nuclear clients and ONR confidence that someone is genuinely in charge of quality on our nuclear work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required by ISO 19443 and assessed during F4N, client audits, and ONR supply chain inspections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different from our general business governance, which is covered in our BE programme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418338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D6EEF8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19252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governance is not bureaucracy. It is the structure that ensures nuclear safety decisions are made by the right person, with the right information, at the right time.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949440" y="48874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NSS-04g  |  NUCLEAR GOVERNANCE</a:t>
            </a:r>
            <a:endParaRPr lang="en-US" sz="800" dirty="0"/>
          </a:p>
        </p:txBody>
      </p:sp>
      <p:sp>
        <p:nvSpPr>
          <p:cNvPr id="12" name="Rectangle 1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Holds Nuclear Accountability in Our Organisation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2423160" cy="2423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841248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Executive Sponsor: [Director Name]. Overall accountability for nuclear safety quality. Signs our commitment statement.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Quality Lead: [Name]. Day-to-day QMS ownership. Authority to stop work. Approves NCR dispositions.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Safety Champion: [Name, if applicable]. Operational advocate for safety culture. Leads walkdowns.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Concerns Contact: [Name]. The person any of us can go to with a nuclear concern if we are not comfortable raising it with our direct manager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these roles has specific authorities and accountabilities defined in our Nuclear Governance Framework (NSS-04b)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418338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D6EEF8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19252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NSS-04b Nuclear Governance Framework for the full list of named individuals and what they are specifically accountable for.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949440" y="48874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NSS-04g  |  NUCLEAR GOVERNANCE</a:t>
            </a:r>
            <a:endParaRPr lang="en-US" sz="800" dirty="0"/>
          </a:p>
        </p:txBody>
      </p:sp>
      <p:sp>
        <p:nvSpPr>
          <p:cNvPr id="12" name="Rectangle 1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Visible Nuclear Leadership Looks Like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2423160" cy="2423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841248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conduct planned nuclear safety walkdowns: structured visits to work areas to observe nuclear quality practices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quality is a standing agenda item at management meetings, not an occasional topic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nuclear quality concern is raised, the response is visible and the person who raised it is told the outcome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decisions are made openly and explained: choosing the safe option over the schedule option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Nuclear Safety Leadership Commitment Statement is displayed and means something, not just a document on a wall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418338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D6EEF8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19252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nuclear leadership is what transforms governance documents into genuine safety culture.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949440" y="48874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NSS-04g  |  NUCLEAR GOVERNANCE</a:t>
            </a:r>
            <a:endParaRPr lang="en-US" sz="800" dirty="0"/>
          </a:p>
        </p:txBody>
      </p:sp>
      <p:sp>
        <p:nvSpPr>
          <p:cNvPr id="12" name="Rectangle 1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Nuclear Decisions Are Made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2423160" cy="2423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841248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decision requires director approval, but every nuclear decision type has a defined authority level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certificate anomalies: Nuclear Quality Lead has authority to reject. If Grade 1, director is notified.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Concessions on nuclear NCRs: Nuclear Quality Lead approves technically. Director endorses. Client agrees.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Releasing nuclear product: Nuclear Quality Lead signs off. Client QA at contracted hold points.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 work for nuclear quality: Any of us can raise a stop-work concern. Nuclear Quality Lead has the authority to act on it. No commercial override.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 doubt about a decision: escalate to Nuclear Quality Lead rather than making an informal call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418338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D6EEF8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19252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Nuclear Governance Framework defines exactly who decides what. If you are ever unsure, ask rather than assume.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949440" y="48874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NSS-04g  |  NUCLEAR GOVERNANCE</a:t>
            </a:r>
            <a:endParaRPr lang="en-US" sz="800" dirty="0"/>
          </a:p>
        </p:txBody>
      </p:sp>
      <p:sp>
        <p:nvSpPr>
          <p:cNvPr id="12" name="Rectangle 1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Should Expect to See and Do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2423160" cy="2423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841248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safety walkdowns by leaders: look out for them, engage with them, answer questions honestly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quality updates in team briefings: listen and act on any relevant information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Nuclear Safety Leadership Commitment Statement on display: it represents a genuine commitment, not window dressing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and trusted route to raise concerns: if you are uncomfortable raising something with your direct manager, you can go to [Independent Concerns Contact Name] directly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witness something that does not look right for a nuclear application: stop, report it, and do not proceed until it is resolved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418338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D6EEF8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19252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governance only works when everyone in the organisation plays their part.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949440" y="48874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NSS-04g  |  NUCLEAR GOVERNANCE</a:t>
            </a:r>
            <a:endParaRPr lang="en-US" sz="800" dirty="0"/>
          </a:p>
        </p:txBody>
      </p:sp>
      <p:sp>
        <p:nvSpPr>
          <p:cNvPr id="12" name="Rectangle 1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Scenario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960120"/>
            <a:ext cx="8046720" cy="1783080"/>
          </a:xfrm>
          <a:prstGeom prst="roundRect">
            <a:avLst>
              <a:gd name="adj" fmla="val 307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1417320"/>
            <a:ext cx="7680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production manager is under pressure to deliver a batch for a nuclear contract by end of week. The Nuclear Quality Lead has raised an NCR on one of the items and has not yet agreed a disposition. The production manager suggests 'just sending it and sorting the paperwork afterwards'.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8046720" cy="960120"/>
          </a:xfrm>
          <a:prstGeom prst="roundRect">
            <a:avLst>
              <a:gd name="adj" fmla="val 5714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971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321868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our nuclear governance structure say about this situation? Who has the authority to decide what happens next? What should you do if you are the production manager?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949440" y="48874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NSS-04g  |  NUCLEAR GOVERNANCE</a:t>
            </a:r>
            <a:endParaRPr lang="en-US" sz="800" dirty="0"/>
          </a:p>
        </p:txBody>
      </p:sp>
      <p:sp>
        <p:nvSpPr>
          <p:cNvPr id="14" name="Rectangle 1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31520" y="1371600"/>
            <a:ext cx="7680960" cy="2103120"/>
          </a:xfrm>
          <a:prstGeom prst="roundRect">
            <a:avLst>
              <a:gd name="adj" fmla="val 3478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5087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governance is not about paperwork. It is about who is accountable, who decides, and whether we all trust the system enough to use it.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49440" y="48874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NSS-04g  |  NUCLEAR GOVERNANCE</a:t>
            </a:r>
            <a:endParaRPr lang="en-US" sz="800" dirty="0"/>
          </a:p>
        </p:txBody>
      </p:sp>
      <p:sp>
        <p:nvSpPr>
          <p:cNvPr id="9" name="Rectangle 8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9B20545-1075-4F5D-B38B-B6F0DEA31E07}"/>
</file>

<file path=customXml/itemProps2.xml><?xml version="1.0" encoding="utf-8"?>
<ds:datastoreItem xmlns:ds="http://schemas.openxmlformats.org/officeDocument/2006/customXml" ds:itemID="{CA9E2C7A-05C6-4BD2-ADFE-DC2FF8D5BBEA}"/>
</file>

<file path=customXml/itemProps3.xml><?xml version="1.0" encoding="utf-8"?>
<ds:datastoreItem xmlns:ds="http://schemas.openxmlformats.org/officeDocument/2006/customXml" ds:itemID="{0EF8FD76-2D8F-4E9B-BBF4-455252FBB6B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NSS-04g Nuclear Leadership Awareness Toolbox Talk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