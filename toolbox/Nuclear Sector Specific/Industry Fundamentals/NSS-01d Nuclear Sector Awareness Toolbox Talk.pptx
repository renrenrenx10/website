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media/image-1-1.jpg" ContentType="image/jpg"/>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media/image-2-1.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media/image-3-1.jpg" ContentType="image/jpg"/>
  <Override PartName="/ppt/notesSlides/notesSlide3.xml" ContentType="application/vnd.openxmlformats-officedocument.presentationml.notesSlide+xml"/>
  <Override PartName="/ppt/slides/slide4.xml" ContentType="application/vnd.openxmlformats-officedocument.presentationml.slide+xml"/>
  <Override PartName="/ppt/media/image-4-1.jpg" ContentType="image/jpg"/>
  <Override PartName="/ppt/notesSlides/notesSlide4.xml" ContentType="application/vnd.openxmlformats-officedocument.presentationml.notesSlide+xml"/>
  <Override PartName="/ppt/slides/slide5.xml" ContentType="application/vnd.openxmlformats-officedocument.presentationml.slide+xml"/>
  <Override PartName="/ppt/media/image-5-1.jpg" ContentType="image/jpg"/>
  <Override PartName="/ppt/notesSlides/notesSlide5.xml" ContentType="application/vnd.openxmlformats-officedocument.presentationml.notesSlide+xml"/>
  <Override PartName="/ppt/slides/slide6.xml" ContentType="application/vnd.openxmlformats-officedocument.presentationml.slide+xml"/>
  <Override PartName="/ppt/media/image-6-1.jpg" ContentType="image/jpg"/>
  <Override PartName="/ppt/notesSlides/notesSlide6.xml" ContentType="application/vnd.openxmlformats-officedocument.presentationml.notesSlide+xml"/>
  <Override PartName="/ppt/slides/slide7.xml" ContentType="application/vnd.openxmlformats-officedocument.presentationml.slide+xml"/>
  <Override PartName="/ppt/media/image-7-1.jpg" ContentType="image/jpg"/>
  <Override PartName="/ppt/notesSlides/notesSlide7.xml" ContentType="application/vnd.openxmlformats-officedocument.presentationml.notesSlide+xml"/>
  <Override PartName="/ppt/slides/slide8.xml" ContentType="application/vnd.openxmlformats-officedocument.presentationml.slide+xml"/>
  <Override PartName="/ppt/media/image-8-1.jpg" ContentType="image/jpg"/>
  <Override PartName="/ppt/notesSlides/notesSlide8.xml" ContentType="application/vnd.openxmlformats-officedocument.presentationml.notesSlide+xml"/>
  <Override PartName="/ppt/slides/slide9.xml" ContentType="application/vnd.openxmlformats-officedocument.presentationml.slide+xml"/>
  <Override PartName="/ppt/media/image-9-1.jpg" ContentType="image/jpg"/>
  <Override PartName="/ppt/notesSlides/notesSlide9.xml" ContentType="application/vnd.openxmlformats-officedocument.presentationml.notesSlide+xml"/>
  <Override PartName="/ppt/slides/slide10.xml" ContentType="application/vnd.openxmlformats-officedocument.presentationml.slide+xml"/>
  <Override PartName="/ppt/media/image-10-1.jpg" ContentType="image/jpg"/>
  <Override PartName="/ppt/notesSlides/notesSlide10.xml" ContentType="application/vnd.openxmlformats-officedocument.presentationml.notesSlide+xml"/>
  <Override PartName="/ppt/slides/slide11.xml" ContentType="application/vnd.openxmlformats-officedocument.presentationml.slide+xml"/>
  <Override PartName="/ppt/media/image-11-1.jpg" ContentType="image/jpg"/>
  <Override PartName="/ppt/notesSlides/notesSlide11.xml" ContentType="application/vnd.openxmlformats-officedocument.presentationml.notesSlide+xml"/>
  <Override PartName="/ppt/slides/slide12.xml" ContentType="application/vnd.openxmlformats-officedocument.presentationml.slide+xml"/>
  <Override PartName="/ppt/media/image-12-1.jpg" ContentType="image/jpg"/>
  <Override PartName="/ppt/notesSlides/notesSlide12.xml" ContentType="application/vnd.openxmlformats-officedocument.presentationml.notesSlide+xml"/>
  <Override PartName="/ppt/slides/slide13.xml" ContentType="application/vnd.openxmlformats-officedocument.presentationml.slide+xml"/>
  <Override PartName="/ppt/media/image-13-1.jpg" ContentType="image/jpg"/>
  <Override PartName="/ppt/notesSlides/notesSlide13.xml" ContentType="application/vnd.openxmlformats-officedocument.presentationml.notesSlide+xml"/>
  <Override PartName="/ppt/slides/slide14.xml" ContentType="application/vnd.openxmlformats-officedocument.presentationml.slide+xml"/>
  <Override PartName="/ppt/media/image-14-1.jpg" ContentType="image/jpg"/>
  <Override PartName="/ppt/notesSlides/notesSlide14.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1.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 Id="rId7" Type="http://schemas.openxmlformats.org/officeDocument/2006/relationships/image" Target="../media/image1.png"/><Relationship Id="rId8"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1.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5" Type="http://schemas.openxmlformats.org/officeDocument/2006/relationships/image" Target="../media/image1.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1.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1.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 Id="rId9" Type="http://schemas.openxmlformats.org/officeDocument/2006/relationships/image" Target="../media/image1.png"/><Relationship Id="rId10"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828925"/>
            <a:ext cx="9144000" cy="2314575"/>
          </a:xfrm>
          <a:prstGeom prst="rect">
            <a:avLst/>
          </a:prstGeom>
          <a:solidFill>
            <a:srgbClr val="009FE3"/>
          </a:solidFill>
          <a:ln w="12700">
            <a:solidFill>
              <a:srgbClr val="009FE3"/>
            </a:solidFill>
            <a:prstDash val="solid"/>
          </a:ln>
        </p:spPr>
      </p:sp>
      <p:sp>
        <p:nvSpPr>
          <p:cNvPr id="3" name="Shape 1"/>
          <p:cNvSpPr/>
          <p:nvPr/>
        </p:nvSpPr>
        <p:spPr>
          <a:xfrm>
            <a:off x="0" y="2828925"/>
            <a:ext cx="9144000" cy="54864"/>
          </a:xfrm>
          <a:prstGeom prst="rect">
            <a:avLst/>
          </a:prstGeom>
          <a:solidFill>
            <a:srgbClr val="83348F"/>
          </a:solidFill>
          <a:ln w="12700">
            <a:solidFill>
              <a:srgbClr val="83348F"/>
            </a:solidFill>
            <a:prstDash val="solid"/>
          </a:ln>
        </p:spPr>
      </p:sp>
      <p:pic>
        <p:nvPicPr>
          <p:cNvPr id="4" name="Image 0" descr="/home/claude/nuccol_logo_header.jpg">    </p:cNvPr>
          <p:cNvPicPr>
            <a:picLocks noChangeAspect="1"/>
          </p:cNvPicPr>
          <p:nvPr/>
        </p:nvPicPr>
        <p:blipFill>
          <a:blip r:embed="rId1"/>
          <a:stretch>
            <a:fillRect/>
          </a:stretch>
        </p:blipFill>
        <p:spPr>
          <a:xfrm>
            <a:off x="3474720" y="365760"/>
            <a:ext cx="2194560" cy="1463040"/>
          </a:xfrm>
          <a:prstGeom prst="rect">
            <a:avLst/>
          </a:prstGeom>
        </p:spPr>
      </p:pic>
      <p:sp>
        <p:nvSpPr>
          <p:cNvPr id="5" name="Text 2"/>
          <p:cNvSpPr/>
          <p:nvPr/>
        </p:nvSpPr>
        <p:spPr>
          <a:xfrm>
            <a:off x="457200" y="2983230"/>
            <a:ext cx="8229600" cy="109728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Nuclear Sector Awareness</a:t>
            </a:r>
            <a:endParaRPr lang="en-US" sz="3200" dirty="0"/>
          </a:p>
        </p:txBody>
      </p:sp>
      <p:sp>
        <p:nvSpPr>
          <p:cNvPr id="6" name="Text 3"/>
          <p:cNvSpPr/>
          <p:nvPr/>
        </p:nvSpPr>
        <p:spPr>
          <a:xfrm>
            <a:off x="457200" y="3989070"/>
            <a:ext cx="8229600" cy="731520"/>
          </a:xfrm>
          <a:prstGeom prst="rect">
            <a:avLst/>
          </a:prstGeom>
          <a:noFill/>
          <a:ln/>
        </p:spPr>
        <p:txBody>
          <a:bodyPr wrap="square" rtlCol="0" anchor="ctr"/>
          <a:lstStyle/>
          <a:p>
            <a:pPr algn="ctr" indent="0" marL="0">
              <a:buNone/>
            </a:pPr>
            <a:r>
              <a:rPr lang="en-US" sz="1800" dirty="0">
                <a:solidFill>
                  <a:srgbClr val="D6EEF8"/>
                </a:solidFill>
                <a:latin typeface="Arial" pitchFamily="34" charset="0"/>
                <a:ea typeface="Arial" pitchFamily="34" charset="-122"/>
                <a:cs typeface="Arial" pitchFamily="34" charset="-120"/>
              </a:rPr>
              <a:t>Understanding What Makes Nuclear Different</a:t>
            </a:r>
            <a:endParaRPr lang="en-US" sz="1800" dirty="0"/>
          </a:p>
        </p:txBody>
      </p:sp>
      <p:sp>
        <p:nvSpPr>
          <p:cNvPr id="7" name="Rectangle 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5"/>
          <a:stretch>
            <a:fillRect/>
          </a:stretch>
        </p:blipFill>
        <p:spPr>
          <a:xfrm>
            <a:off x="7562088" y="100584"/>
            <a:ext cx="566928" cy="347472"/>
          </a:xfrm>
          <a:prstGeom prst="rect">
            <a:avLst/>
          </a:prstGeom>
        </p:spPr>
      </p:pic>
      <p:pic>
        <p:nvPicPr>
          <p:cNvPr id="9" name="Picture 8" descr="image.png"/>
          <p:cNvPicPr>
            <a:picLocks noChangeAspect="1"/>
          </p:cNvPicPr>
          <p:nvPr/>
        </p:nvPicPr>
        <p:blipFill>
          <a:blip r:embed="rId4"/>
          <a:stretch>
            <a:fillRect/>
          </a:stretch>
        </p:blipFill>
        <p:spPr>
          <a:xfrm>
            <a:off x="8174736" y="100584"/>
            <a:ext cx="658368" cy="347472"/>
          </a:xfrm>
          <a:prstGeom prst="rect">
            <a:avLst/>
          </a:prstGeom>
        </p:spPr>
      </p:pic>
      <p:sp>
        <p:nvSpPr>
          <p:cNvPr id="10" name="Rectangle 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1E3C"/>
          </a:solidFill>
          <a:ln w="12700">
            <a:solidFill>
              <a:srgbClr val="001E3C"/>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What We Will Cover Today</a:t>
            </a:r>
            <a:endParaRPr lang="en-US" sz="2200" dirty="0"/>
          </a:p>
        </p:txBody>
      </p:sp>
      <p:pic>
        <p:nvPicPr>
          <p:cNvPr id="5" name="Image 1" descr="preencoded.png">    </p:cNvPr>
          <p:cNvPicPr>
            <a:picLocks noChangeAspect="1"/>
          </p:cNvPicPr>
          <p:nvPr/>
        </p:nvPicPr>
        <p:blipFill>
          <a:blip r:embed="rId2"/>
          <a:stretch>
            <a:fillRect/>
          </a:stretch>
        </p:blipFill>
        <p:spPr>
          <a:xfrm>
            <a:off x="365760" y="914400"/>
            <a:ext cx="2743200" cy="2743200"/>
          </a:xfrm>
          <a:prstGeom prst="rect">
            <a:avLst/>
          </a:prstGeom>
        </p:spPr>
      </p:pic>
      <p:sp>
        <p:nvSpPr>
          <p:cNvPr id="6" name="Text 2"/>
          <p:cNvSpPr/>
          <p:nvPr/>
        </p:nvSpPr>
        <p:spPr>
          <a:xfrm>
            <a:off x="3474720" y="914400"/>
            <a:ext cx="5303520" cy="3474720"/>
          </a:xfrm>
          <a:prstGeom prst="rect">
            <a:avLst/>
          </a:prstGeom>
          <a:noFill/>
          <a:ln/>
        </p:spPr>
        <p:txBody>
          <a:bodyPr wrap="square" rtlCol="0" anchor="t"/>
          <a:lstStyle/>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Section 1: The UK Nuclear Sector and the Opportunity</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Section 2: The Regulatory Framework</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Section 3: Core Nuclear Safety Principles</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Section 4: Nuclear Risks You Need to Know About</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Section 5: What is Expected of Our Business</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Section 6: Your Personal Responsibilities</a:t>
            </a:r>
            <a:endParaRPr lang="en-US" sz="1300" dirty="0"/>
          </a:p>
        </p:txBody>
      </p:sp>
      <p:sp>
        <p:nvSpPr>
          <p:cNvPr id="7" name="Shape 3"/>
          <p:cNvSpPr/>
          <p:nvPr/>
        </p:nvSpPr>
        <p:spPr>
          <a:xfrm>
            <a:off x="365760" y="4137660"/>
            <a:ext cx="8412480" cy="658368"/>
          </a:xfrm>
          <a:prstGeom prst="roundRect">
            <a:avLst>
              <a:gd name="adj" fmla="val 11111"/>
            </a:avLst>
          </a:prstGeom>
          <a:solidFill>
            <a:srgbClr val="D6EEF8"/>
          </a:solidFill>
          <a:ln w="12700">
            <a:solidFill>
              <a:srgbClr val="009FE3"/>
            </a:solidFill>
            <a:prstDash val="solid"/>
          </a:ln>
        </p:spPr>
      </p:sp>
      <p:sp>
        <p:nvSpPr>
          <p:cNvPr id="8" name="Text 4"/>
          <p:cNvSpPr/>
          <p:nvPr/>
        </p:nvSpPr>
        <p:spPr>
          <a:xfrm>
            <a:off x="502920" y="4155948"/>
            <a:ext cx="8138160" cy="621792"/>
          </a:xfrm>
          <a:prstGeom prst="rect">
            <a:avLst/>
          </a:prstGeom>
          <a:noFill/>
          <a:ln/>
        </p:spPr>
        <p:txBody>
          <a:bodyPr wrap="square" rtlCol="0" anchor="ctr"/>
          <a:lstStyle/>
          <a:p>
            <a:pPr indent="0" marL="0">
              <a:buNone/>
            </a:pPr>
            <a:r>
              <a:rPr lang="en-US" sz="1000" i="1" dirty="0">
                <a:solidFill>
                  <a:srgbClr val="001E3C"/>
                </a:solidFill>
                <a:latin typeface="Arial" pitchFamily="34" charset="0"/>
                <a:ea typeface="Arial" pitchFamily="34" charset="-122"/>
                <a:cs typeface="Arial" pitchFamily="34" charset="-120"/>
              </a:rPr>
              <a:t>This session will take approximately 45-60 minutes. Please ask questions as we go.</a:t>
            </a:r>
            <a:endParaRPr lang="en-US" sz="1000" dirty="0"/>
          </a:p>
        </p:txBody>
      </p:sp>
      <p:sp>
        <p:nvSpPr>
          <p:cNvPr id="11" name="Text 7"/>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4411980"/>
            <a:ext cx="9144000" cy="731520"/>
          </a:xfrm>
          <a:prstGeom prst="rect">
            <a:avLst/>
          </a:prstGeom>
          <a:solidFill>
            <a:srgbClr val="001E3C"/>
          </a:solidFill>
          <a:ln w="12700">
            <a:solidFill>
              <a:srgbClr val="001E3C"/>
            </a:solidFill>
            <a:prstDash val="solid"/>
          </a:ln>
        </p:spPr>
      </p:sp>
      <p:sp>
        <p:nvSpPr>
          <p:cNvPr id="3" name="Text 1"/>
          <p:cNvSpPr/>
          <p:nvPr/>
        </p:nvSpPr>
        <p:spPr>
          <a:xfrm>
            <a:off x="457200" y="731520"/>
            <a:ext cx="1828800" cy="2286000"/>
          </a:xfrm>
          <a:prstGeom prst="rect">
            <a:avLst/>
          </a:prstGeom>
          <a:noFill/>
          <a:ln/>
        </p:spPr>
        <p:txBody>
          <a:bodyPr wrap="square" rtlCol="0" anchor="ctr"/>
          <a:lstStyle/>
          <a:p>
            <a:pPr algn="l" indent="0" marL="0">
              <a:buNone/>
            </a:pPr>
            <a:r>
              <a:rPr lang="en-US" sz="12000" b="1" dirty="0">
                <a:solidFill>
                  <a:srgbClr val="FFFFFF">
                    <a:alpha val="80000"/>
                  </a:srgbClr>
                </a:solidFill>
                <a:latin typeface="Arial" pitchFamily="34" charset="0"/>
                <a:ea typeface="Arial" pitchFamily="34" charset="-122"/>
                <a:cs typeface="Arial" pitchFamily="34" charset="-120"/>
              </a:rPr>
              <a:t>01</a:t>
            </a:r>
            <a:endParaRPr lang="en-US" sz="12000" dirty="0"/>
          </a:p>
        </p:txBody>
      </p:sp>
      <p:sp>
        <p:nvSpPr>
          <p:cNvPr id="4" name="Text 2"/>
          <p:cNvSpPr/>
          <p:nvPr/>
        </p:nvSpPr>
        <p:spPr>
          <a:xfrm>
            <a:off x="2377440" y="1645920"/>
            <a:ext cx="6400800" cy="128016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The UK Nuclear Sector</a:t>
            </a:r>
            <a:endParaRPr lang="en-US" sz="3800" dirty="0"/>
          </a:p>
        </p:txBody>
      </p:sp>
      <p:sp>
        <p:nvSpPr>
          <p:cNvPr id="5" name="Rectangle 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5"/>
          <a:stretch>
            <a:fillRect/>
          </a:stretch>
        </p:blipFill>
        <p:spPr>
          <a:xfrm>
            <a:off x="7562088" y="100584"/>
            <a:ext cx="566928" cy="347472"/>
          </a:xfrm>
          <a:prstGeom prst="rect">
            <a:avLst/>
          </a:prstGeom>
        </p:spPr>
      </p:pic>
      <p:pic>
        <p:nvPicPr>
          <p:cNvPr id="7" name="Picture 6" descr="image.png"/>
          <p:cNvPicPr>
            <a:picLocks noChangeAspect="1"/>
          </p:cNvPicPr>
          <p:nvPr/>
        </p:nvPicPr>
        <p:blipFill>
          <a:blip r:embed="rId4"/>
          <a:stretch>
            <a:fillRect/>
          </a:stretch>
        </p:blipFill>
        <p:spPr>
          <a:xfrm>
            <a:off x="8174736" y="100584"/>
            <a:ext cx="658368" cy="347472"/>
          </a:xfrm>
          <a:prstGeom prst="rect">
            <a:avLst/>
          </a:prstGeom>
        </p:spPr>
      </p:pic>
      <p:sp>
        <p:nvSpPr>
          <p:cNvPr id="8" name="Rectangle 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1E3C"/>
          </a:solidFill>
          <a:ln w="12700">
            <a:solidFill>
              <a:srgbClr val="001E3C"/>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Why Nuclear Matters to Our Business</a:t>
            </a:r>
            <a:endParaRPr lang="en-US" sz="2200" dirty="0"/>
          </a:p>
        </p:txBody>
      </p:sp>
      <p:sp>
        <p:nvSpPr>
          <p:cNvPr id="5" name="Shape 2"/>
          <p:cNvSpPr/>
          <p:nvPr/>
        </p:nvSpPr>
        <p:spPr>
          <a:xfrm>
            <a:off x="274320" y="914400"/>
            <a:ext cx="4160520" cy="347472"/>
          </a:xfrm>
          <a:prstGeom prst="rect">
            <a:avLst/>
          </a:prstGeom>
          <a:solidFill>
            <a:srgbClr val="009FE3"/>
          </a:solidFill>
          <a:ln w="12700">
            <a:solidFill>
              <a:srgbClr val="009FE3"/>
            </a:solidFill>
            <a:prstDash val="solid"/>
          </a:ln>
        </p:spPr>
      </p:sp>
      <p:sp>
        <p:nvSpPr>
          <p:cNvPr id="6" name="Text 3"/>
          <p:cNvSpPr/>
          <p:nvPr/>
        </p:nvSpPr>
        <p:spPr>
          <a:xfrm>
            <a:off x="274320" y="914400"/>
            <a:ext cx="4160520" cy="347472"/>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 Scale of the Sector</a:t>
            </a:r>
            <a:endParaRPr lang="en-US" sz="1300" dirty="0"/>
          </a:p>
        </p:txBody>
      </p:sp>
      <p:sp>
        <p:nvSpPr>
          <p:cNvPr id="7" name="Text 4"/>
          <p:cNvSpPr/>
          <p:nvPr/>
        </p:nvSpPr>
        <p:spPr>
          <a:xfrm>
            <a:off x="274320" y="1298448"/>
            <a:ext cx="4160520" cy="3291840"/>
          </a:xfrm>
          <a:prstGeom prst="rect">
            <a:avLst/>
          </a:prstGeom>
          <a:noFill/>
          <a:ln/>
        </p:spPr>
        <p:txBody>
          <a:bodyPr wrap="square" rtlCol="0" anchor="t"/>
          <a:lstStyle/>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New build: Hinkley Point C and Sizewell C represent billions of pounds of supply chain opportunity</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Decommissioning: the Nuclear Decommissioning Authority manages clean-up across 18 sites</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SMR programmes: smaller factory-built reactors creating new manufacturing demand from the early 2030s</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Existing fleet: sustained maintenance and life extension work at operating stations</a:t>
            </a:r>
            <a:endParaRPr lang="en-US" sz="1200" dirty="0"/>
          </a:p>
        </p:txBody>
      </p:sp>
      <p:sp>
        <p:nvSpPr>
          <p:cNvPr id="8" name="Shape 5"/>
          <p:cNvSpPr/>
          <p:nvPr/>
        </p:nvSpPr>
        <p:spPr>
          <a:xfrm>
            <a:off x="4709160" y="914400"/>
            <a:ext cx="4160520" cy="347472"/>
          </a:xfrm>
          <a:prstGeom prst="rect">
            <a:avLst/>
          </a:prstGeom>
          <a:solidFill>
            <a:srgbClr val="83348F"/>
          </a:solidFill>
          <a:ln w="12700">
            <a:solidFill>
              <a:srgbClr val="83348F"/>
            </a:solidFill>
            <a:prstDash val="solid"/>
          </a:ln>
        </p:spPr>
      </p:sp>
      <p:sp>
        <p:nvSpPr>
          <p:cNvPr id="9" name="Text 6"/>
          <p:cNvSpPr/>
          <p:nvPr/>
        </p:nvSpPr>
        <p:spPr>
          <a:xfrm>
            <a:off x="4709160" y="914400"/>
            <a:ext cx="4160520" cy="347472"/>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What Makes Nuclear Different</a:t>
            </a:r>
            <a:endParaRPr lang="en-US" sz="1300" dirty="0"/>
          </a:p>
        </p:txBody>
      </p:sp>
      <p:sp>
        <p:nvSpPr>
          <p:cNvPr id="10" name="Text 7"/>
          <p:cNvSpPr/>
          <p:nvPr/>
        </p:nvSpPr>
        <p:spPr>
          <a:xfrm>
            <a:off x="4709160" y="1298448"/>
            <a:ext cx="4160520" cy="3291840"/>
          </a:xfrm>
          <a:prstGeom prst="rect">
            <a:avLst/>
          </a:prstGeom>
          <a:noFill/>
          <a:ln/>
        </p:spPr>
        <p:txBody>
          <a:bodyPr wrap="square" rtlCol="0" anchor="t"/>
          <a:lstStyle/>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Safety is the overriding priority in every decision, always</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Quality requirements are more rigorous and more thoroughly verified than any other sector</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Documentation must be traceable for decades, not just the life of a contract</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Cultural standards around reporting and accountability are actively assessed by clients</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The consequences of getting it wrong can affect people and the environment for generations</a:t>
            </a:r>
            <a:endParaRPr lang="en-US" sz="1200" dirty="0"/>
          </a:p>
        </p:txBody>
      </p:sp>
      <p:sp>
        <p:nvSpPr>
          <p:cNvPr id="13" name="Text 10"/>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The Standard We Are Working To</a:t>
            </a:r>
            <a:endParaRPr lang="en-US" sz="2200" dirty="0"/>
          </a:p>
        </p:txBody>
      </p:sp>
      <p:sp>
        <p:nvSpPr>
          <p:cNvPr id="5" name="Shape 2"/>
          <p:cNvSpPr/>
          <p:nvPr/>
        </p:nvSpPr>
        <p:spPr>
          <a:xfrm>
            <a:off x="1097280" y="1097280"/>
            <a:ext cx="6949440" cy="2011680"/>
          </a:xfrm>
          <a:prstGeom prst="rect">
            <a:avLst/>
          </a:prstGeom>
          <a:solidFill>
            <a:srgbClr val="FFFFFF">
              <a:alpha val="95000"/>
            </a:srgbClr>
          </a:solidFill>
          <a:ln w="12700">
            <a:solidFill>
              <a:srgbClr val="009FE3"/>
            </a:solidFill>
            <a:prstDash val="solid"/>
          </a:ln>
        </p:spPr>
      </p:sp>
      <p:sp>
        <p:nvSpPr>
          <p:cNvPr id="6" name="Text 3"/>
          <p:cNvSpPr/>
          <p:nvPr/>
        </p:nvSpPr>
        <p:spPr>
          <a:xfrm>
            <a:off x="1280160" y="1188720"/>
            <a:ext cx="6583680" cy="1828800"/>
          </a:xfrm>
          <a:prstGeom prst="rect">
            <a:avLst/>
          </a:prstGeom>
          <a:noFill/>
          <a:ln/>
        </p:spPr>
        <p:txBody>
          <a:bodyPr wrap="square" rtlCol="0" anchor="ctr"/>
          <a:lstStyle/>
          <a:p>
            <a:pPr algn="ctr" indent="0" marL="0">
              <a:buNone/>
            </a:pPr>
            <a:r>
              <a:rPr lang="en-US" sz="2000" b="1" dirty="0">
                <a:solidFill>
                  <a:srgbClr val="001E3C"/>
                </a:solidFill>
                <a:latin typeface="Arial" pitchFamily="34" charset="0"/>
                <a:ea typeface="Arial" pitchFamily="34" charset="-122"/>
                <a:cs typeface="Arial" pitchFamily="34" charset="-120"/>
              </a:rPr>
              <a:t>Working in nuclear is not like working in any other sector. The consequences of errors can be severe, long-lasting, and impossible to reverse.</a:t>
            </a:r>
            <a:endParaRPr lang="en-US" sz="2000" dirty="0"/>
          </a:p>
        </p:txBody>
      </p:sp>
      <p:sp>
        <p:nvSpPr>
          <p:cNvPr id="7" name="Text 4"/>
          <p:cNvSpPr/>
          <p:nvPr/>
        </p:nvSpPr>
        <p:spPr>
          <a:xfrm>
            <a:off x="457200" y="3383280"/>
            <a:ext cx="8229600" cy="1097280"/>
          </a:xfrm>
          <a:prstGeom prst="rect">
            <a:avLst/>
          </a:prstGeom>
          <a:noFill/>
          <a:ln/>
        </p:spPr>
        <p:txBody>
          <a:bodyPr wrap="square" rtlCol="0" anchor="ctr"/>
          <a:lstStyle/>
          <a:p>
            <a:pPr algn="ctr" indent="0" marL="0">
              <a:buNone/>
            </a:pPr>
            <a:r>
              <a:rPr lang="en-US" sz="1300" i="1" dirty="0">
                <a:solidFill>
                  <a:srgbClr val="D6EEF8"/>
                </a:solidFill>
                <a:latin typeface="Arial" pitchFamily="34" charset="0"/>
                <a:ea typeface="Arial" pitchFamily="34" charset="-122"/>
                <a:cs typeface="Arial" pitchFamily="34" charset="-120"/>
              </a:rPr>
              <a:t>This is not about adding bureaucracy. It is about recognising that what we make and do becomes part of infrastructure that must work reliably for decades. The standards exist because they need to.</a:t>
            </a:r>
            <a:endParaRPr lang="en-US" sz="1300" dirty="0"/>
          </a:p>
        </p:txBody>
      </p:sp>
      <p:sp>
        <p:nvSpPr>
          <p:cNvPr id="10" name="Text 7"/>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11" name="Rectangle 1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5"/>
          <a:stretch>
            <a:fillRect/>
          </a:stretch>
        </p:blipFill>
        <p:spPr>
          <a:xfrm>
            <a:off x="7562088" y="100584"/>
            <a:ext cx="566928" cy="347472"/>
          </a:xfrm>
          <a:prstGeom prst="rect">
            <a:avLst/>
          </a:prstGeom>
        </p:spPr>
      </p:pic>
      <p:pic>
        <p:nvPicPr>
          <p:cNvPr id="13" name="Picture 12" descr="image.png"/>
          <p:cNvPicPr>
            <a:picLocks noChangeAspect="1"/>
          </p:cNvPicPr>
          <p:nvPr/>
        </p:nvPicPr>
        <p:blipFill>
          <a:blip r:embed="rId4"/>
          <a:stretch>
            <a:fillRect/>
          </a:stretch>
        </p:blipFill>
        <p:spPr>
          <a:xfrm>
            <a:off x="8174736" y="100584"/>
            <a:ext cx="658368" cy="347472"/>
          </a:xfrm>
          <a:prstGeom prst="rect">
            <a:avLst/>
          </a:prstGeom>
        </p:spPr>
      </p:pic>
      <p:sp>
        <p:nvSpPr>
          <p:cNvPr id="14" name="Rectangle 1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3348F"/>
        </a:solidFill>
      </p:bgPr>
    </p:bg>
    <p:spTree>
      <p:nvGrpSpPr>
        <p:cNvPr id="1" name=""/>
        <p:cNvGrpSpPr/>
        <p:nvPr/>
      </p:nvGrpSpPr>
      <p:grpSpPr>
        <a:xfrm>
          <a:off x="0" y="0"/>
          <a:ext cx="0" cy="0"/>
          <a:chOff x="0" y="0"/>
          <a:chExt cx="0" cy="0"/>
        </a:xfrm>
      </p:grpSpPr>
      <p:sp>
        <p:nvSpPr>
          <p:cNvPr id="2" name="Shape 0"/>
          <p:cNvSpPr/>
          <p:nvPr/>
        </p:nvSpPr>
        <p:spPr>
          <a:xfrm>
            <a:off x="0" y="4411980"/>
            <a:ext cx="9144000" cy="731520"/>
          </a:xfrm>
          <a:prstGeom prst="rect">
            <a:avLst/>
          </a:prstGeom>
          <a:solidFill>
            <a:srgbClr val="001E3C"/>
          </a:solidFill>
          <a:ln w="12700">
            <a:solidFill>
              <a:srgbClr val="001E3C"/>
            </a:solidFill>
            <a:prstDash val="solid"/>
          </a:ln>
        </p:spPr>
      </p:sp>
      <p:sp>
        <p:nvSpPr>
          <p:cNvPr id="3" name="Text 1"/>
          <p:cNvSpPr/>
          <p:nvPr/>
        </p:nvSpPr>
        <p:spPr>
          <a:xfrm>
            <a:off x="457200" y="731520"/>
            <a:ext cx="1828800" cy="2286000"/>
          </a:xfrm>
          <a:prstGeom prst="rect">
            <a:avLst/>
          </a:prstGeom>
          <a:noFill/>
          <a:ln/>
        </p:spPr>
        <p:txBody>
          <a:bodyPr wrap="square" rtlCol="0" anchor="ctr"/>
          <a:lstStyle/>
          <a:p>
            <a:pPr algn="l" indent="0" marL="0">
              <a:buNone/>
            </a:pPr>
            <a:r>
              <a:rPr lang="en-US" sz="12000" b="1" dirty="0">
                <a:solidFill>
                  <a:srgbClr val="FFFFFF">
                    <a:alpha val="80000"/>
                  </a:srgbClr>
                </a:solidFill>
                <a:latin typeface="Arial" pitchFamily="34" charset="0"/>
                <a:ea typeface="Arial" pitchFamily="34" charset="-122"/>
                <a:cs typeface="Arial" pitchFamily="34" charset="-120"/>
              </a:rPr>
              <a:t>02</a:t>
            </a:r>
            <a:endParaRPr lang="en-US" sz="12000" dirty="0"/>
          </a:p>
        </p:txBody>
      </p:sp>
      <p:sp>
        <p:nvSpPr>
          <p:cNvPr id="4" name="Text 2"/>
          <p:cNvSpPr/>
          <p:nvPr/>
        </p:nvSpPr>
        <p:spPr>
          <a:xfrm>
            <a:off x="2377440" y="1645920"/>
            <a:ext cx="6400800" cy="128016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The Regulatory Framework</a:t>
            </a:r>
            <a:endParaRPr lang="en-US" sz="3800" dirty="0"/>
          </a:p>
        </p:txBody>
      </p:sp>
      <p:sp>
        <p:nvSpPr>
          <p:cNvPr id="5" name="Rectangle 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5"/>
          <a:stretch>
            <a:fillRect/>
          </a:stretch>
        </p:blipFill>
        <p:spPr>
          <a:xfrm>
            <a:off x="7562088" y="100584"/>
            <a:ext cx="566928" cy="347472"/>
          </a:xfrm>
          <a:prstGeom prst="rect">
            <a:avLst/>
          </a:prstGeom>
        </p:spPr>
      </p:pic>
      <p:pic>
        <p:nvPicPr>
          <p:cNvPr id="7" name="Picture 6" descr="image.png"/>
          <p:cNvPicPr>
            <a:picLocks noChangeAspect="1"/>
          </p:cNvPicPr>
          <p:nvPr/>
        </p:nvPicPr>
        <p:blipFill>
          <a:blip r:embed="rId4"/>
          <a:stretch>
            <a:fillRect/>
          </a:stretch>
        </p:blipFill>
        <p:spPr>
          <a:xfrm>
            <a:off x="8174736" y="100584"/>
            <a:ext cx="658368" cy="347472"/>
          </a:xfrm>
          <a:prstGeom prst="rect">
            <a:avLst/>
          </a:prstGeom>
        </p:spPr>
      </p:pic>
      <p:sp>
        <p:nvSpPr>
          <p:cNvPr id="8" name="Rectangle 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1E3C"/>
          </a:solidFill>
          <a:ln w="12700">
            <a:solidFill>
              <a:srgbClr val="001E3C"/>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Who Regulates Nuclear in the UK</a:t>
            </a:r>
            <a:endParaRPr lang="en-US" sz="2200" dirty="0"/>
          </a:p>
        </p:txBody>
      </p:sp>
      <p:sp>
        <p:nvSpPr>
          <p:cNvPr id="5" name="Shape 2"/>
          <p:cNvSpPr/>
          <p:nvPr/>
        </p:nvSpPr>
        <p:spPr>
          <a:xfrm>
            <a:off x="274320" y="1005840"/>
            <a:ext cx="1920240" cy="411480"/>
          </a:xfrm>
          <a:prstGeom prst="rect">
            <a:avLst/>
          </a:prstGeom>
          <a:solidFill>
            <a:srgbClr val="009FE3"/>
          </a:solidFill>
          <a:ln w="12700">
            <a:solidFill>
              <a:srgbClr val="009FE3"/>
            </a:solidFill>
            <a:prstDash val="solid"/>
          </a:ln>
        </p:spPr>
      </p:sp>
      <p:sp>
        <p:nvSpPr>
          <p:cNvPr id="6" name="Text 3"/>
          <p:cNvSpPr/>
          <p:nvPr/>
        </p:nvSpPr>
        <p:spPr>
          <a:xfrm>
            <a:off x="274320" y="1005840"/>
            <a:ext cx="192024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ONR</a:t>
            </a:r>
            <a:endParaRPr lang="en-US" sz="1800" dirty="0"/>
          </a:p>
        </p:txBody>
      </p:sp>
      <p:sp>
        <p:nvSpPr>
          <p:cNvPr id="7" name="Shape 4"/>
          <p:cNvSpPr/>
          <p:nvPr/>
        </p:nvSpPr>
        <p:spPr>
          <a:xfrm>
            <a:off x="274320" y="1417320"/>
            <a:ext cx="1920240" cy="347472"/>
          </a:xfrm>
          <a:prstGeom prst="rect">
            <a:avLst/>
          </a:prstGeom>
          <a:solidFill>
            <a:srgbClr val="D6EEF8"/>
          </a:solidFill>
          <a:ln w="12700">
            <a:solidFill>
              <a:srgbClr val="009FE3"/>
            </a:solidFill>
            <a:prstDash val="solid"/>
          </a:ln>
        </p:spPr>
      </p:sp>
      <p:sp>
        <p:nvSpPr>
          <p:cNvPr id="8" name="Text 5"/>
          <p:cNvSpPr/>
          <p:nvPr/>
        </p:nvSpPr>
        <p:spPr>
          <a:xfrm>
            <a:off x="274320" y="1417320"/>
            <a:ext cx="1920240" cy="347472"/>
          </a:xfrm>
          <a:prstGeom prst="rect">
            <a:avLst/>
          </a:prstGeom>
          <a:noFill/>
          <a:ln/>
        </p:spPr>
        <p:txBody>
          <a:bodyPr wrap="square" rtlCol="0" anchor="ctr"/>
          <a:lstStyle/>
          <a:p>
            <a:pPr algn="ctr" indent="0" marL="0">
              <a:buNone/>
            </a:pPr>
            <a:r>
              <a:rPr lang="en-US" sz="900" b="1" dirty="0">
                <a:solidFill>
                  <a:srgbClr val="001E3C"/>
                </a:solidFill>
                <a:latin typeface="Arial" pitchFamily="34" charset="0"/>
                <a:ea typeface="Arial" pitchFamily="34" charset="-122"/>
                <a:cs typeface="Arial" pitchFamily="34" charset="-120"/>
              </a:rPr>
              <a:t>Office for Nuclear Regulation</a:t>
            </a:r>
            <a:endParaRPr lang="en-US" sz="900" dirty="0"/>
          </a:p>
        </p:txBody>
      </p:sp>
      <p:sp>
        <p:nvSpPr>
          <p:cNvPr id="9" name="Text 6"/>
          <p:cNvSpPr/>
          <p:nvPr/>
        </p:nvSpPr>
        <p:spPr>
          <a:xfrm>
            <a:off x="274320" y="1783080"/>
            <a:ext cx="1920240" cy="2286000"/>
          </a:xfrm>
          <a:prstGeom prst="rect">
            <a:avLst/>
          </a:prstGeom>
          <a:noFill/>
          <a:ln/>
        </p:spPr>
        <p:txBody>
          <a:bodyPr wrap="square" rtlCol="0" anchor="t"/>
          <a:lstStyle/>
          <a:p>
            <a:pPr algn="l" indent="0" marL="0">
              <a:buNone/>
            </a:pPr>
            <a:r>
              <a:rPr lang="en-US" sz="1000" dirty="0">
                <a:solidFill>
                  <a:srgbClr val="5B595A"/>
                </a:solidFill>
                <a:latin typeface="Arial" pitchFamily="34" charset="0"/>
                <a:ea typeface="Arial" pitchFamily="34" charset="-122"/>
                <a:cs typeface="Arial" pitchFamily="34" charset="-120"/>
              </a:rPr>
              <a:t>Primary nuclear safety regulator. Enforces licence conditions and can inspect supply chains.</a:t>
            </a:r>
            <a:endParaRPr lang="en-US" sz="1000" dirty="0"/>
          </a:p>
        </p:txBody>
      </p:sp>
      <p:sp>
        <p:nvSpPr>
          <p:cNvPr id="10" name="Shape 7"/>
          <p:cNvSpPr/>
          <p:nvPr/>
        </p:nvSpPr>
        <p:spPr>
          <a:xfrm>
            <a:off x="2423160" y="1005840"/>
            <a:ext cx="1920240" cy="411480"/>
          </a:xfrm>
          <a:prstGeom prst="rect">
            <a:avLst/>
          </a:prstGeom>
          <a:solidFill>
            <a:srgbClr val="83348F"/>
          </a:solidFill>
          <a:ln w="12700">
            <a:solidFill>
              <a:srgbClr val="83348F"/>
            </a:solidFill>
            <a:prstDash val="solid"/>
          </a:ln>
        </p:spPr>
      </p:sp>
      <p:sp>
        <p:nvSpPr>
          <p:cNvPr id="11" name="Text 8"/>
          <p:cNvSpPr/>
          <p:nvPr/>
        </p:nvSpPr>
        <p:spPr>
          <a:xfrm>
            <a:off x="2423160" y="1005840"/>
            <a:ext cx="192024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EA</a:t>
            </a:r>
            <a:endParaRPr lang="en-US" sz="1800" dirty="0"/>
          </a:p>
        </p:txBody>
      </p:sp>
      <p:sp>
        <p:nvSpPr>
          <p:cNvPr id="12" name="Shape 9"/>
          <p:cNvSpPr/>
          <p:nvPr/>
        </p:nvSpPr>
        <p:spPr>
          <a:xfrm>
            <a:off x="2423160" y="1417320"/>
            <a:ext cx="1920240" cy="347472"/>
          </a:xfrm>
          <a:prstGeom prst="rect">
            <a:avLst/>
          </a:prstGeom>
          <a:solidFill>
            <a:srgbClr val="D6EEF8"/>
          </a:solidFill>
          <a:ln w="12700">
            <a:solidFill>
              <a:srgbClr val="83348F"/>
            </a:solidFill>
            <a:prstDash val="solid"/>
          </a:ln>
        </p:spPr>
      </p:sp>
      <p:sp>
        <p:nvSpPr>
          <p:cNvPr id="13" name="Text 10"/>
          <p:cNvSpPr/>
          <p:nvPr/>
        </p:nvSpPr>
        <p:spPr>
          <a:xfrm>
            <a:off x="2423160" y="1417320"/>
            <a:ext cx="1920240" cy="347472"/>
          </a:xfrm>
          <a:prstGeom prst="rect">
            <a:avLst/>
          </a:prstGeom>
          <a:noFill/>
          <a:ln/>
        </p:spPr>
        <p:txBody>
          <a:bodyPr wrap="square" rtlCol="0" anchor="ctr"/>
          <a:lstStyle/>
          <a:p>
            <a:pPr algn="ctr" indent="0" marL="0">
              <a:buNone/>
            </a:pPr>
            <a:r>
              <a:rPr lang="en-US" sz="900" b="1" dirty="0">
                <a:solidFill>
                  <a:srgbClr val="001E3C"/>
                </a:solidFill>
                <a:latin typeface="Arial" pitchFamily="34" charset="0"/>
                <a:ea typeface="Arial" pitchFamily="34" charset="-122"/>
                <a:cs typeface="Arial" pitchFamily="34" charset="-120"/>
              </a:rPr>
              <a:t>Environment Agency</a:t>
            </a:r>
            <a:endParaRPr lang="en-US" sz="900" dirty="0"/>
          </a:p>
        </p:txBody>
      </p:sp>
      <p:sp>
        <p:nvSpPr>
          <p:cNvPr id="14" name="Text 11"/>
          <p:cNvSpPr/>
          <p:nvPr/>
        </p:nvSpPr>
        <p:spPr>
          <a:xfrm>
            <a:off x="2423160" y="1783080"/>
            <a:ext cx="1920240" cy="2286000"/>
          </a:xfrm>
          <a:prstGeom prst="rect">
            <a:avLst/>
          </a:prstGeom>
          <a:noFill/>
          <a:ln/>
        </p:spPr>
        <p:txBody>
          <a:bodyPr wrap="square" rtlCol="0" anchor="t"/>
          <a:lstStyle/>
          <a:p>
            <a:pPr algn="l" indent="0" marL="0">
              <a:buNone/>
            </a:pPr>
            <a:r>
              <a:rPr lang="en-US" sz="1000" dirty="0">
                <a:solidFill>
                  <a:srgbClr val="5B595A"/>
                </a:solidFill>
                <a:latin typeface="Arial" pitchFamily="34" charset="0"/>
                <a:ea typeface="Arial" pitchFamily="34" charset="-122"/>
                <a:cs typeface="Arial" pitchFamily="34" charset="-120"/>
              </a:rPr>
              <a:t>Regulates environmental discharges and radioactive waste. Equivalent bodies in Scotland and Wales.</a:t>
            </a:r>
            <a:endParaRPr lang="en-US" sz="1000" dirty="0"/>
          </a:p>
        </p:txBody>
      </p:sp>
      <p:sp>
        <p:nvSpPr>
          <p:cNvPr id="15" name="Shape 12"/>
          <p:cNvSpPr/>
          <p:nvPr/>
        </p:nvSpPr>
        <p:spPr>
          <a:xfrm>
            <a:off x="4572000" y="1005840"/>
            <a:ext cx="1920240" cy="411480"/>
          </a:xfrm>
          <a:prstGeom prst="rect">
            <a:avLst/>
          </a:prstGeom>
          <a:solidFill>
            <a:srgbClr val="001E3C"/>
          </a:solidFill>
          <a:ln w="12700">
            <a:solidFill>
              <a:srgbClr val="001E3C"/>
            </a:solidFill>
            <a:prstDash val="solid"/>
          </a:ln>
        </p:spPr>
      </p:sp>
      <p:sp>
        <p:nvSpPr>
          <p:cNvPr id="16" name="Text 13"/>
          <p:cNvSpPr/>
          <p:nvPr/>
        </p:nvSpPr>
        <p:spPr>
          <a:xfrm>
            <a:off x="4572000" y="1005840"/>
            <a:ext cx="192024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NDA</a:t>
            </a:r>
            <a:endParaRPr lang="en-US" sz="1800" dirty="0"/>
          </a:p>
        </p:txBody>
      </p:sp>
      <p:sp>
        <p:nvSpPr>
          <p:cNvPr id="17" name="Shape 14"/>
          <p:cNvSpPr/>
          <p:nvPr/>
        </p:nvSpPr>
        <p:spPr>
          <a:xfrm>
            <a:off x="4572000" y="1417320"/>
            <a:ext cx="1920240" cy="347472"/>
          </a:xfrm>
          <a:prstGeom prst="rect">
            <a:avLst/>
          </a:prstGeom>
          <a:solidFill>
            <a:srgbClr val="D6EEF8"/>
          </a:solidFill>
          <a:ln w="12700">
            <a:solidFill>
              <a:srgbClr val="001E3C"/>
            </a:solidFill>
            <a:prstDash val="solid"/>
          </a:ln>
        </p:spPr>
      </p:sp>
      <p:sp>
        <p:nvSpPr>
          <p:cNvPr id="18" name="Text 15"/>
          <p:cNvSpPr/>
          <p:nvPr/>
        </p:nvSpPr>
        <p:spPr>
          <a:xfrm>
            <a:off x="4572000" y="1417320"/>
            <a:ext cx="1920240" cy="347472"/>
          </a:xfrm>
          <a:prstGeom prst="rect">
            <a:avLst/>
          </a:prstGeom>
          <a:noFill/>
          <a:ln/>
        </p:spPr>
        <p:txBody>
          <a:bodyPr wrap="square" rtlCol="0" anchor="ctr"/>
          <a:lstStyle/>
          <a:p>
            <a:pPr algn="ctr" indent="0" marL="0">
              <a:buNone/>
            </a:pPr>
            <a:r>
              <a:rPr lang="en-US" sz="900" b="1" dirty="0">
                <a:solidFill>
                  <a:srgbClr val="001E3C"/>
                </a:solidFill>
                <a:latin typeface="Arial" pitchFamily="34" charset="0"/>
                <a:ea typeface="Arial" pitchFamily="34" charset="-122"/>
                <a:cs typeface="Arial" pitchFamily="34" charset="-120"/>
              </a:rPr>
              <a:t>Nuclear Decommissioning Authority</a:t>
            </a:r>
            <a:endParaRPr lang="en-US" sz="900" dirty="0"/>
          </a:p>
        </p:txBody>
      </p:sp>
      <p:sp>
        <p:nvSpPr>
          <p:cNvPr id="19" name="Text 16"/>
          <p:cNvSpPr/>
          <p:nvPr/>
        </p:nvSpPr>
        <p:spPr>
          <a:xfrm>
            <a:off x="4572000" y="1783080"/>
            <a:ext cx="1920240" cy="2286000"/>
          </a:xfrm>
          <a:prstGeom prst="rect">
            <a:avLst/>
          </a:prstGeom>
          <a:noFill/>
          <a:ln/>
        </p:spPr>
        <p:txBody>
          <a:bodyPr wrap="square" rtlCol="0" anchor="t"/>
          <a:lstStyle/>
          <a:p>
            <a:pPr algn="l" indent="0" marL="0">
              <a:buNone/>
            </a:pPr>
            <a:r>
              <a:rPr lang="en-US" sz="1000" dirty="0">
                <a:solidFill>
                  <a:srgbClr val="5B595A"/>
                </a:solidFill>
                <a:latin typeface="Arial" pitchFamily="34" charset="0"/>
                <a:ea typeface="Arial" pitchFamily="34" charset="-122"/>
                <a:cs typeface="Arial" pitchFamily="34" charset="-120"/>
              </a:rPr>
              <a:t>Responsible for clean-up of legacy nuclear sites. Also a major client for supply chain work.</a:t>
            </a:r>
            <a:endParaRPr lang="en-US" sz="1000" dirty="0"/>
          </a:p>
        </p:txBody>
      </p:sp>
      <p:sp>
        <p:nvSpPr>
          <p:cNvPr id="20" name="Shape 17"/>
          <p:cNvSpPr/>
          <p:nvPr/>
        </p:nvSpPr>
        <p:spPr>
          <a:xfrm>
            <a:off x="6720840" y="1005840"/>
            <a:ext cx="1920240" cy="411480"/>
          </a:xfrm>
          <a:prstGeom prst="rect">
            <a:avLst/>
          </a:prstGeom>
          <a:solidFill>
            <a:srgbClr val="5B595A"/>
          </a:solidFill>
          <a:ln w="12700">
            <a:solidFill>
              <a:srgbClr val="5B595A"/>
            </a:solidFill>
            <a:prstDash val="solid"/>
          </a:ln>
        </p:spPr>
      </p:sp>
      <p:sp>
        <p:nvSpPr>
          <p:cNvPr id="21" name="Text 18"/>
          <p:cNvSpPr/>
          <p:nvPr/>
        </p:nvSpPr>
        <p:spPr>
          <a:xfrm>
            <a:off x="6720840" y="1005840"/>
            <a:ext cx="192024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HSE</a:t>
            </a:r>
            <a:endParaRPr lang="en-US" sz="1800" dirty="0"/>
          </a:p>
        </p:txBody>
      </p:sp>
      <p:sp>
        <p:nvSpPr>
          <p:cNvPr id="22" name="Shape 19"/>
          <p:cNvSpPr/>
          <p:nvPr/>
        </p:nvSpPr>
        <p:spPr>
          <a:xfrm>
            <a:off x="6720840" y="1417320"/>
            <a:ext cx="1920240" cy="347472"/>
          </a:xfrm>
          <a:prstGeom prst="rect">
            <a:avLst/>
          </a:prstGeom>
          <a:solidFill>
            <a:srgbClr val="D6EEF8"/>
          </a:solidFill>
          <a:ln w="12700">
            <a:solidFill>
              <a:srgbClr val="5B595A"/>
            </a:solidFill>
            <a:prstDash val="solid"/>
          </a:ln>
        </p:spPr>
      </p:sp>
      <p:sp>
        <p:nvSpPr>
          <p:cNvPr id="23" name="Text 20"/>
          <p:cNvSpPr/>
          <p:nvPr/>
        </p:nvSpPr>
        <p:spPr>
          <a:xfrm>
            <a:off x="6720840" y="1417320"/>
            <a:ext cx="1920240" cy="347472"/>
          </a:xfrm>
          <a:prstGeom prst="rect">
            <a:avLst/>
          </a:prstGeom>
          <a:noFill/>
          <a:ln/>
        </p:spPr>
        <p:txBody>
          <a:bodyPr wrap="square" rtlCol="0" anchor="ctr"/>
          <a:lstStyle/>
          <a:p>
            <a:pPr algn="ctr" indent="0" marL="0">
              <a:buNone/>
            </a:pPr>
            <a:r>
              <a:rPr lang="en-US" sz="900" b="1" dirty="0">
                <a:solidFill>
                  <a:srgbClr val="001E3C"/>
                </a:solidFill>
                <a:latin typeface="Arial" pitchFamily="34" charset="0"/>
                <a:ea typeface="Arial" pitchFamily="34" charset="-122"/>
                <a:cs typeface="Arial" pitchFamily="34" charset="-120"/>
              </a:rPr>
              <a:t>Health &amp; Safety Executive</a:t>
            </a:r>
            <a:endParaRPr lang="en-US" sz="900" dirty="0"/>
          </a:p>
        </p:txBody>
      </p:sp>
      <p:sp>
        <p:nvSpPr>
          <p:cNvPr id="24" name="Text 21"/>
          <p:cNvSpPr/>
          <p:nvPr/>
        </p:nvSpPr>
        <p:spPr>
          <a:xfrm>
            <a:off x="6720840" y="1783080"/>
            <a:ext cx="1920240" cy="2286000"/>
          </a:xfrm>
          <a:prstGeom prst="rect">
            <a:avLst/>
          </a:prstGeom>
          <a:noFill/>
          <a:ln/>
        </p:spPr>
        <p:txBody>
          <a:bodyPr wrap="square" rtlCol="0" anchor="t"/>
          <a:lstStyle/>
          <a:p>
            <a:pPr algn="l" indent="0" marL="0">
              <a:buNone/>
            </a:pPr>
            <a:r>
              <a:rPr lang="en-US" sz="1000" dirty="0">
                <a:solidFill>
                  <a:srgbClr val="5B595A"/>
                </a:solidFill>
                <a:latin typeface="Arial" pitchFamily="34" charset="0"/>
                <a:ea typeface="Arial" pitchFamily="34" charset="-122"/>
                <a:cs typeface="Arial" pitchFamily="34" charset="-120"/>
              </a:rPr>
              <a:t>Conventional health and safety on nuclear sites. H&amp;S at Work Act applies to all.</a:t>
            </a:r>
            <a:endParaRPr lang="en-US" sz="1000" dirty="0"/>
          </a:p>
        </p:txBody>
      </p:sp>
      <p:sp>
        <p:nvSpPr>
          <p:cNvPr id="25" name="Shape 22"/>
          <p:cNvSpPr/>
          <p:nvPr/>
        </p:nvSpPr>
        <p:spPr>
          <a:xfrm>
            <a:off x="365760" y="4183380"/>
            <a:ext cx="8412480" cy="621792"/>
          </a:xfrm>
          <a:prstGeom prst="roundRect">
            <a:avLst>
              <a:gd name="adj" fmla="val 11765"/>
            </a:avLst>
          </a:prstGeom>
          <a:solidFill>
            <a:srgbClr val="D6EEF8"/>
          </a:solidFill>
          <a:ln w="12700">
            <a:solidFill>
              <a:srgbClr val="009FE3"/>
            </a:solidFill>
            <a:prstDash val="solid"/>
          </a:ln>
        </p:spPr>
      </p:sp>
      <p:sp>
        <p:nvSpPr>
          <p:cNvPr id="26" name="Text 23"/>
          <p:cNvSpPr/>
          <p:nvPr/>
        </p:nvSpPr>
        <p:spPr>
          <a:xfrm>
            <a:off x="502920" y="4210812"/>
            <a:ext cx="8138160" cy="566928"/>
          </a:xfrm>
          <a:prstGeom prst="rect">
            <a:avLst/>
          </a:prstGeom>
          <a:noFill/>
          <a:ln/>
        </p:spPr>
        <p:txBody>
          <a:bodyPr wrap="square" rtlCol="0" anchor="ctr"/>
          <a:lstStyle/>
          <a:p>
            <a:pPr indent="0" marL="0">
              <a:buNone/>
            </a:pPr>
            <a:r>
              <a:rPr lang="en-US" sz="1000" i="1" dirty="0">
                <a:solidFill>
                  <a:srgbClr val="001E3C"/>
                </a:solidFill>
                <a:latin typeface="Arial" pitchFamily="34" charset="0"/>
                <a:ea typeface="Arial" pitchFamily="34" charset="-122"/>
                <a:cs typeface="Arial" pitchFamily="34" charset="-120"/>
              </a:rPr>
              <a:t>As a supplier you comply with requirements your client flows down from their licence conditions. You are not licensed yourself but the regulatory framework governs everything your client asks of you.</a:t>
            </a:r>
            <a:endParaRPr lang="en-US" sz="1000" dirty="0"/>
          </a:p>
        </p:txBody>
      </p:sp>
      <p:sp>
        <p:nvSpPr>
          <p:cNvPr id="29" name="Text 26"/>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30" name="Rectangle 2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5"/>
          <a:stretch>
            <a:fillRect/>
          </a:stretch>
        </p:blipFill>
        <p:spPr>
          <a:xfrm>
            <a:off x="7562088" y="100584"/>
            <a:ext cx="566928" cy="347472"/>
          </a:xfrm>
          <a:prstGeom prst="rect">
            <a:avLst/>
          </a:prstGeom>
        </p:spPr>
      </p:pic>
      <p:pic>
        <p:nvPicPr>
          <p:cNvPr id="32" name="Picture 31" descr="image.png"/>
          <p:cNvPicPr>
            <a:picLocks noChangeAspect="1"/>
          </p:cNvPicPr>
          <p:nvPr/>
        </p:nvPicPr>
        <p:blipFill>
          <a:blip r:embed="rId4"/>
          <a:stretch>
            <a:fillRect/>
          </a:stretch>
        </p:blipFill>
        <p:spPr>
          <a:xfrm>
            <a:off x="8174736" y="100584"/>
            <a:ext cx="658368" cy="347472"/>
          </a:xfrm>
          <a:prstGeom prst="rect">
            <a:avLst/>
          </a:prstGeom>
        </p:spPr>
      </p:pic>
      <p:sp>
        <p:nvSpPr>
          <p:cNvPr id="33" name="Rectangle 3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9FE3"/>
        </a:solidFill>
      </p:bgPr>
    </p:bg>
    <p:spTree>
      <p:nvGrpSpPr>
        <p:cNvPr id="1" name=""/>
        <p:cNvGrpSpPr/>
        <p:nvPr/>
      </p:nvGrpSpPr>
      <p:grpSpPr>
        <a:xfrm>
          <a:off x="0" y="0"/>
          <a:ext cx="0" cy="0"/>
          <a:chOff x="0" y="0"/>
          <a:chExt cx="0" cy="0"/>
        </a:xfrm>
      </p:grpSpPr>
      <p:sp>
        <p:nvSpPr>
          <p:cNvPr id="2" name="Shape 0"/>
          <p:cNvSpPr/>
          <p:nvPr/>
        </p:nvSpPr>
        <p:spPr>
          <a:xfrm>
            <a:off x="0" y="4411980"/>
            <a:ext cx="9144000" cy="731520"/>
          </a:xfrm>
          <a:prstGeom prst="rect">
            <a:avLst/>
          </a:prstGeom>
          <a:solidFill>
            <a:srgbClr val="001E3C"/>
          </a:solidFill>
          <a:ln w="12700">
            <a:solidFill>
              <a:srgbClr val="001E3C"/>
            </a:solidFill>
            <a:prstDash val="solid"/>
          </a:ln>
        </p:spPr>
      </p:sp>
      <p:sp>
        <p:nvSpPr>
          <p:cNvPr id="3" name="Text 1"/>
          <p:cNvSpPr/>
          <p:nvPr/>
        </p:nvSpPr>
        <p:spPr>
          <a:xfrm>
            <a:off x="457200" y="731520"/>
            <a:ext cx="1828800" cy="2286000"/>
          </a:xfrm>
          <a:prstGeom prst="rect">
            <a:avLst/>
          </a:prstGeom>
          <a:noFill/>
          <a:ln/>
        </p:spPr>
        <p:txBody>
          <a:bodyPr wrap="square" rtlCol="0" anchor="ctr"/>
          <a:lstStyle/>
          <a:p>
            <a:pPr algn="l" indent="0" marL="0">
              <a:buNone/>
            </a:pPr>
            <a:r>
              <a:rPr lang="en-US" sz="12000" b="1" dirty="0">
                <a:solidFill>
                  <a:srgbClr val="FFFFFF">
                    <a:alpha val="80000"/>
                  </a:srgbClr>
                </a:solidFill>
                <a:latin typeface="Arial" pitchFamily="34" charset="0"/>
                <a:ea typeface="Arial" pitchFamily="34" charset="-122"/>
                <a:cs typeface="Arial" pitchFamily="34" charset="-120"/>
              </a:rPr>
              <a:t>03</a:t>
            </a:r>
            <a:endParaRPr lang="en-US" sz="12000" dirty="0"/>
          </a:p>
        </p:txBody>
      </p:sp>
      <p:sp>
        <p:nvSpPr>
          <p:cNvPr id="4" name="Text 2"/>
          <p:cNvSpPr/>
          <p:nvPr/>
        </p:nvSpPr>
        <p:spPr>
          <a:xfrm>
            <a:off x="2377440" y="1645920"/>
            <a:ext cx="6400800" cy="128016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Core Nuclear Safety Principles</a:t>
            </a:r>
            <a:endParaRPr lang="en-US" sz="3800" dirty="0"/>
          </a:p>
        </p:txBody>
      </p:sp>
      <p:sp>
        <p:nvSpPr>
          <p:cNvPr id="5" name="Rectangle 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5"/>
          <a:stretch>
            <a:fillRect/>
          </a:stretch>
        </p:blipFill>
        <p:spPr>
          <a:xfrm>
            <a:off x="7562088" y="100584"/>
            <a:ext cx="566928" cy="347472"/>
          </a:xfrm>
          <a:prstGeom prst="rect">
            <a:avLst/>
          </a:prstGeom>
        </p:spPr>
      </p:pic>
      <p:pic>
        <p:nvPicPr>
          <p:cNvPr id="7" name="Picture 6" descr="image.png"/>
          <p:cNvPicPr>
            <a:picLocks noChangeAspect="1"/>
          </p:cNvPicPr>
          <p:nvPr/>
        </p:nvPicPr>
        <p:blipFill>
          <a:blip r:embed="rId4"/>
          <a:stretch>
            <a:fillRect/>
          </a:stretch>
        </p:blipFill>
        <p:spPr>
          <a:xfrm>
            <a:off x="8174736" y="100584"/>
            <a:ext cx="658368" cy="347472"/>
          </a:xfrm>
          <a:prstGeom prst="rect">
            <a:avLst/>
          </a:prstGeom>
        </p:spPr>
      </p:pic>
      <p:sp>
        <p:nvSpPr>
          <p:cNvPr id="8" name="Rectangle 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1E3C"/>
          </a:solidFill>
          <a:ln w="12700">
            <a:solidFill>
              <a:srgbClr val="001E3C"/>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The Three Principles You Must Know</a:t>
            </a:r>
            <a:endParaRPr lang="en-US" sz="2200" dirty="0"/>
          </a:p>
        </p:txBody>
      </p:sp>
      <p:sp>
        <p:nvSpPr>
          <p:cNvPr id="5" name="Shape 2"/>
          <p:cNvSpPr/>
          <p:nvPr/>
        </p:nvSpPr>
        <p:spPr>
          <a:xfrm>
            <a:off x="274320" y="914400"/>
            <a:ext cx="2743200" cy="365760"/>
          </a:xfrm>
          <a:prstGeom prst="rect">
            <a:avLst/>
          </a:prstGeom>
          <a:solidFill>
            <a:srgbClr val="009FE3"/>
          </a:solidFill>
          <a:ln w="12700">
            <a:solidFill>
              <a:srgbClr val="009FE3"/>
            </a:solidFill>
            <a:prstDash val="solid"/>
          </a:ln>
        </p:spPr>
      </p:sp>
      <p:sp>
        <p:nvSpPr>
          <p:cNvPr id="6" name="Text 3"/>
          <p:cNvSpPr/>
          <p:nvPr/>
        </p:nvSpPr>
        <p:spPr>
          <a:xfrm>
            <a:off x="274320" y="914400"/>
            <a:ext cx="27432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Defence in Depth</a:t>
            </a:r>
            <a:endParaRPr lang="en-US" sz="1400" dirty="0"/>
          </a:p>
        </p:txBody>
      </p:sp>
      <p:pic>
        <p:nvPicPr>
          <p:cNvPr id="7" name="Image 1" descr="preencoded.png">    </p:cNvPr>
          <p:cNvPicPr>
            <a:picLocks noChangeAspect="1"/>
          </p:cNvPicPr>
          <p:nvPr/>
        </p:nvPicPr>
        <p:blipFill>
          <a:blip r:embed="rId2"/>
          <a:stretch>
            <a:fillRect/>
          </a:stretch>
        </p:blipFill>
        <p:spPr>
          <a:xfrm>
            <a:off x="1325880" y="1325880"/>
            <a:ext cx="640080" cy="640080"/>
          </a:xfrm>
          <a:prstGeom prst="rect">
            <a:avLst/>
          </a:prstGeom>
        </p:spPr>
      </p:pic>
      <p:sp>
        <p:nvSpPr>
          <p:cNvPr id="8" name="Text 4"/>
          <p:cNvSpPr/>
          <p:nvPr/>
        </p:nvSpPr>
        <p:spPr>
          <a:xfrm>
            <a:off x="274320" y="2011680"/>
            <a:ext cx="2743200" cy="2743200"/>
          </a:xfrm>
          <a:prstGeom prst="rect">
            <a:avLst/>
          </a:prstGeom>
          <a:noFill/>
          <a:ln/>
        </p:spPr>
        <p:txBody>
          <a:bodyPr wrap="square" rtlCol="0" anchor="t"/>
          <a:lstStyle/>
          <a:p>
            <a:pPr algn="l" indent="0" marL="0">
              <a:buNone/>
            </a:pPr>
            <a:r>
              <a:rPr lang="en-US" sz="1050" dirty="0">
                <a:solidFill>
                  <a:srgbClr val="5B595A"/>
                </a:solidFill>
                <a:latin typeface="Arial" pitchFamily="34" charset="0"/>
                <a:ea typeface="Arial" pitchFamily="34" charset="-122"/>
                <a:cs typeface="Arial" pitchFamily="34" charset="-120"/>
              </a:rPr>
              <a:t>Safety never relies on a single person, system, or control. Multiple independent layers of protection are built in at every stage.</a:t>
            </a:r>
            <a:endParaRPr lang="en-US" sz="1050" dirty="0"/>
          </a:p>
          <a:p>
            <a:pPr algn="l" indent="0" marL="0">
              <a:buNone/>
            </a:pPr>
            <a:endParaRPr lang="en-US" sz="1050" dirty="0"/>
          </a:p>
          <a:p>
            <a:pPr algn="l" indent="0" marL="0">
              <a:buNone/>
            </a:pPr>
            <a:r>
              <a:rPr lang="en-US" sz="1050" dirty="0">
                <a:solidFill>
                  <a:srgbClr val="5B595A"/>
                </a:solidFill>
                <a:latin typeface="Arial" pitchFamily="34" charset="0"/>
                <a:ea typeface="Arial" pitchFamily="34" charset="-122"/>
                <a:cs typeface="Arial" pitchFamily="34" charset="-120"/>
              </a:rPr>
              <a:t>Your quality checks, your documentation, your people, your NCR process are all layers. Each must work reliably.</a:t>
            </a:r>
            <a:endParaRPr lang="en-US" sz="1050" dirty="0"/>
          </a:p>
        </p:txBody>
      </p:sp>
      <p:sp>
        <p:nvSpPr>
          <p:cNvPr id="9" name="Shape 5"/>
          <p:cNvSpPr/>
          <p:nvPr/>
        </p:nvSpPr>
        <p:spPr>
          <a:xfrm>
            <a:off x="3200400" y="914400"/>
            <a:ext cx="2743200" cy="365760"/>
          </a:xfrm>
          <a:prstGeom prst="rect">
            <a:avLst/>
          </a:prstGeom>
          <a:solidFill>
            <a:srgbClr val="83348F"/>
          </a:solidFill>
          <a:ln w="12700">
            <a:solidFill>
              <a:srgbClr val="83348F"/>
            </a:solidFill>
            <a:prstDash val="solid"/>
          </a:ln>
        </p:spPr>
      </p:sp>
      <p:sp>
        <p:nvSpPr>
          <p:cNvPr id="10" name="Text 6"/>
          <p:cNvSpPr/>
          <p:nvPr/>
        </p:nvSpPr>
        <p:spPr>
          <a:xfrm>
            <a:off x="3200400" y="914400"/>
            <a:ext cx="27432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ALARP</a:t>
            </a:r>
            <a:endParaRPr lang="en-US" sz="1400" dirty="0"/>
          </a:p>
        </p:txBody>
      </p:sp>
      <p:pic>
        <p:nvPicPr>
          <p:cNvPr id="11" name="Image 2" descr="preencoded.png">    </p:cNvPr>
          <p:cNvPicPr>
            <a:picLocks noChangeAspect="1"/>
          </p:cNvPicPr>
          <p:nvPr/>
        </p:nvPicPr>
        <p:blipFill>
          <a:blip r:embed="rId3"/>
          <a:stretch>
            <a:fillRect/>
          </a:stretch>
        </p:blipFill>
        <p:spPr>
          <a:xfrm>
            <a:off x="4251960" y="1325880"/>
            <a:ext cx="640080" cy="640080"/>
          </a:xfrm>
          <a:prstGeom prst="rect">
            <a:avLst/>
          </a:prstGeom>
        </p:spPr>
      </p:pic>
      <p:sp>
        <p:nvSpPr>
          <p:cNvPr id="12" name="Text 7"/>
          <p:cNvSpPr/>
          <p:nvPr/>
        </p:nvSpPr>
        <p:spPr>
          <a:xfrm>
            <a:off x="3200400" y="2011680"/>
            <a:ext cx="2743200" cy="2743200"/>
          </a:xfrm>
          <a:prstGeom prst="rect">
            <a:avLst/>
          </a:prstGeom>
          <a:noFill/>
          <a:ln/>
        </p:spPr>
        <p:txBody>
          <a:bodyPr wrap="square" rtlCol="0" anchor="t"/>
          <a:lstStyle/>
          <a:p>
            <a:pPr algn="l" indent="0" marL="0">
              <a:buNone/>
            </a:pPr>
            <a:r>
              <a:rPr lang="en-US" sz="1050" dirty="0">
                <a:solidFill>
                  <a:srgbClr val="5B595A"/>
                </a:solidFill>
                <a:latin typeface="Arial" pitchFamily="34" charset="0"/>
                <a:ea typeface="Arial" pitchFamily="34" charset="-122"/>
                <a:cs typeface="Arial" pitchFamily="34" charset="-120"/>
              </a:rPr>
              <a:t>Risks must be reduced As Low As Reasonably Practicable. This means you must act on risks, not accept them as normal.</a:t>
            </a:r>
            <a:endParaRPr lang="en-US" sz="1050" dirty="0"/>
          </a:p>
          <a:p>
            <a:pPr algn="l" indent="0" marL="0">
              <a:buNone/>
            </a:pPr>
            <a:endParaRPr lang="en-US" sz="1050" dirty="0"/>
          </a:p>
          <a:p>
            <a:pPr algn="l" indent="0" marL="0">
              <a:buNone/>
            </a:pPr>
            <a:r>
              <a:rPr lang="en-US" sz="1050" dirty="0">
                <a:solidFill>
                  <a:srgbClr val="5B595A"/>
                </a:solidFill>
                <a:latin typeface="Arial" pitchFamily="34" charset="0"/>
                <a:ea typeface="Arial" pitchFamily="34" charset="-122"/>
                <a:cs typeface="Arial" pitchFamily="34" charset="-120"/>
              </a:rPr>
              <a:t>Cost and schedule never override the requirement to reduce risk. Decisions to accept risk must be documented and justified.</a:t>
            </a:r>
            <a:endParaRPr lang="en-US" sz="1050" dirty="0"/>
          </a:p>
        </p:txBody>
      </p:sp>
      <p:sp>
        <p:nvSpPr>
          <p:cNvPr id="13" name="Shape 8"/>
          <p:cNvSpPr/>
          <p:nvPr/>
        </p:nvSpPr>
        <p:spPr>
          <a:xfrm>
            <a:off x="6126480" y="914400"/>
            <a:ext cx="2743200" cy="365760"/>
          </a:xfrm>
          <a:prstGeom prst="rect">
            <a:avLst/>
          </a:prstGeom>
          <a:solidFill>
            <a:srgbClr val="001E3C"/>
          </a:solidFill>
          <a:ln w="12700">
            <a:solidFill>
              <a:srgbClr val="001E3C"/>
            </a:solidFill>
            <a:prstDash val="solid"/>
          </a:ln>
        </p:spPr>
      </p:sp>
      <p:sp>
        <p:nvSpPr>
          <p:cNvPr id="14" name="Text 9"/>
          <p:cNvSpPr/>
          <p:nvPr/>
        </p:nvSpPr>
        <p:spPr>
          <a:xfrm>
            <a:off x="6126480" y="914400"/>
            <a:ext cx="27432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The Safety Case</a:t>
            </a:r>
            <a:endParaRPr lang="en-US" sz="1400" dirty="0"/>
          </a:p>
        </p:txBody>
      </p:sp>
      <p:pic>
        <p:nvPicPr>
          <p:cNvPr id="15" name="Image 3" descr="preencoded.png">    </p:cNvPr>
          <p:cNvPicPr>
            <a:picLocks noChangeAspect="1"/>
          </p:cNvPicPr>
          <p:nvPr/>
        </p:nvPicPr>
        <p:blipFill>
          <a:blip r:embed="rId4"/>
          <a:stretch>
            <a:fillRect/>
          </a:stretch>
        </p:blipFill>
        <p:spPr>
          <a:xfrm>
            <a:off x="7178040" y="1325880"/>
            <a:ext cx="640080" cy="640080"/>
          </a:xfrm>
          <a:prstGeom prst="rect">
            <a:avLst/>
          </a:prstGeom>
        </p:spPr>
      </p:pic>
      <p:sp>
        <p:nvSpPr>
          <p:cNvPr id="16" name="Text 10"/>
          <p:cNvSpPr/>
          <p:nvPr/>
        </p:nvSpPr>
        <p:spPr>
          <a:xfrm>
            <a:off x="6126480" y="2011680"/>
            <a:ext cx="2743200" cy="2743200"/>
          </a:xfrm>
          <a:prstGeom prst="rect">
            <a:avLst/>
          </a:prstGeom>
          <a:noFill/>
          <a:ln/>
        </p:spPr>
        <p:txBody>
          <a:bodyPr wrap="square" rtlCol="0" anchor="t"/>
          <a:lstStyle/>
          <a:p>
            <a:pPr algn="l" indent="0" marL="0">
              <a:buNone/>
            </a:pPr>
            <a:r>
              <a:rPr lang="en-US" sz="1050" dirty="0">
                <a:solidFill>
                  <a:srgbClr val="5B595A"/>
                </a:solidFill>
                <a:latin typeface="Arial" pitchFamily="34" charset="0"/>
                <a:ea typeface="Arial" pitchFamily="34" charset="-122"/>
                <a:cs typeface="Arial" pitchFamily="34" charset="-120"/>
              </a:rPr>
              <a:t>The nuclear operator maintains a formal argument supported by evidence that their facility is acceptably safe.</a:t>
            </a:r>
            <a:endParaRPr lang="en-US" sz="1050" dirty="0"/>
          </a:p>
          <a:p>
            <a:pPr algn="l" indent="0" marL="0">
              <a:buNone/>
            </a:pPr>
            <a:endParaRPr lang="en-US" sz="1050" dirty="0"/>
          </a:p>
          <a:p>
            <a:pPr algn="l" indent="0" marL="0">
              <a:buNone/>
            </a:pPr>
            <a:r>
              <a:rPr lang="en-US" sz="1050" dirty="0">
                <a:solidFill>
                  <a:srgbClr val="5B595A"/>
                </a:solidFill>
                <a:latin typeface="Arial" pitchFamily="34" charset="0"/>
                <a:ea typeface="Arial" pitchFamily="34" charset="-122"/>
                <a:cs typeface="Arial" pitchFamily="34" charset="-120"/>
              </a:rPr>
              <a:t>Your quality records, certificates, and test results are evidence that supports this case. They may be called upon 30 years from now.</a:t>
            </a:r>
            <a:endParaRPr lang="en-US" sz="1050" dirty="0"/>
          </a:p>
        </p:txBody>
      </p:sp>
      <p:sp>
        <p:nvSpPr>
          <p:cNvPr id="19" name="Text 13"/>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20" name="Rectangle 1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8"/>
          <a:stretch>
            <a:fillRect/>
          </a:stretch>
        </p:blipFill>
        <p:spPr>
          <a:xfrm>
            <a:off x="7562088" y="100584"/>
            <a:ext cx="566928" cy="347472"/>
          </a:xfrm>
          <a:prstGeom prst="rect">
            <a:avLst/>
          </a:prstGeom>
        </p:spPr>
      </p:pic>
      <p:pic>
        <p:nvPicPr>
          <p:cNvPr id="22" name="Picture 21" descr="image.png"/>
          <p:cNvPicPr>
            <a:picLocks noChangeAspect="1"/>
          </p:cNvPicPr>
          <p:nvPr/>
        </p:nvPicPr>
        <p:blipFill>
          <a:blip r:embed="rId7"/>
          <a:stretch>
            <a:fillRect/>
          </a:stretch>
        </p:blipFill>
        <p:spPr>
          <a:xfrm>
            <a:off x="8174736" y="100584"/>
            <a:ext cx="658368" cy="347472"/>
          </a:xfrm>
          <a:prstGeom prst="rect">
            <a:avLst/>
          </a:prstGeom>
        </p:spPr>
      </p:pic>
      <p:sp>
        <p:nvSpPr>
          <p:cNvPr id="23" name="Rectangle 2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4411980"/>
            <a:ext cx="9144000" cy="731520"/>
          </a:xfrm>
          <a:prstGeom prst="rect">
            <a:avLst/>
          </a:prstGeom>
          <a:solidFill>
            <a:srgbClr val="001E3C"/>
          </a:solidFill>
          <a:ln w="12700">
            <a:solidFill>
              <a:srgbClr val="001E3C"/>
            </a:solidFill>
            <a:prstDash val="solid"/>
          </a:ln>
        </p:spPr>
      </p:sp>
      <p:sp>
        <p:nvSpPr>
          <p:cNvPr id="3" name="Text 1"/>
          <p:cNvSpPr/>
          <p:nvPr/>
        </p:nvSpPr>
        <p:spPr>
          <a:xfrm>
            <a:off x="457200" y="731520"/>
            <a:ext cx="1828800" cy="2286000"/>
          </a:xfrm>
          <a:prstGeom prst="rect">
            <a:avLst/>
          </a:prstGeom>
          <a:noFill/>
          <a:ln/>
        </p:spPr>
        <p:txBody>
          <a:bodyPr wrap="square" rtlCol="0" anchor="ctr"/>
          <a:lstStyle/>
          <a:p>
            <a:pPr algn="l" indent="0" marL="0">
              <a:buNone/>
            </a:pPr>
            <a:r>
              <a:rPr lang="en-US" sz="12000" b="1" dirty="0">
                <a:solidFill>
                  <a:srgbClr val="FFFFFF">
                    <a:alpha val="80000"/>
                  </a:srgbClr>
                </a:solidFill>
                <a:latin typeface="Arial" pitchFamily="34" charset="0"/>
                <a:ea typeface="Arial" pitchFamily="34" charset="-122"/>
                <a:cs typeface="Arial" pitchFamily="34" charset="-120"/>
              </a:rPr>
              <a:t>04</a:t>
            </a:r>
            <a:endParaRPr lang="en-US" sz="12000" dirty="0"/>
          </a:p>
        </p:txBody>
      </p:sp>
      <p:sp>
        <p:nvSpPr>
          <p:cNvPr id="4" name="Text 2"/>
          <p:cNvSpPr/>
          <p:nvPr/>
        </p:nvSpPr>
        <p:spPr>
          <a:xfrm>
            <a:off x="2377440" y="1645920"/>
            <a:ext cx="6400800" cy="128016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Nuclear Risks</a:t>
            </a:r>
            <a:endParaRPr lang="en-US" sz="3800" dirty="0"/>
          </a:p>
        </p:txBody>
      </p:sp>
      <p:sp>
        <p:nvSpPr>
          <p:cNvPr id="5" name="Rectangle 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5"/>
          <a:stretch>
            <a:fillRect/>
          </a:stretch>
        </p:blipFill>
        <p:spPr>
          <a:xfrm>
            <a:off x="7562088" y="100584"/>
            <a:ext cx="566928" cy="347472"/>
          </a:xfrm>
          <a:prstGeom prst="rect">
            <a:avLst/>
          </a:prstGeom>
        </p:spPr>
      </p:pic>
      <p:pic>
        <p:nvPicPr>
          <p:cNvPr id="7" name="Picture 6" descr="image.png"/>
          <p:cNvPicPr>
            <a:picLocks noChangeAspect="1"/>
          </p:cNvPicPr>
          <p:nvPr/>
        </p:nvPicPr>
        <p:blipFill>
          <a:blip r:embed="rId4"/>
          <a:stretch>
            <a:fillRect/>
          </a:stretch>
        </p:blipFill>
        <p:spPr>
          <a:xfrm>
            <a:off x="8174736" y="100584"/>
            <a:ext cx="658368" cy="347472"/>
          </a:xfrm>
          <a:prstGeom prst="rect">
            <a:avLst/>
          </a:prstGeom>
        </p:spPr>
      </p:pic>
      <p:sp>
        <p:nvSpPr>
          <p:cNvPr id="8" name="Rectangle 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1E3C"/>
          </a:solidFill>
          <a:ln w="12700">
            <a:solidFill>
              <a:srgbClr val="001E3C"/>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Types of Nuclear Risk</a:t>
            </a:r>
            <a:endParaRPr lang="en-US" sz="2200" dirty="0"/>
          </a:p>
        </p:txBody>
      </p:sp>
      <p:pic>
        <p:nvPicPr>
          <p:cNvPr id="5" name="Image 1" descr="preencoded.png">    </p:cNvPr>
          <p:cNvPicPr>
            <a:picLocks noChangeAspect="1"/>
          </p:cNvPicPr>
          <p:nvPr/>
        </p:nvPicPr>
        <p:blipFill>
          <a:blip r:embed="rId2"/>
          <a:stretch>
            <a:fillRect/>
          </a:stretch>
        </p:blipFill>
        <p:spPr>
          <a:xfrm>
            <a:off x="365760" y="914400"/>
            <a:ext cx="2743200" cy="2743200"/>
          </a:xfrm>
          <a:prstGeom prst="rect">
            <a:avLst/>
          </a:prstGeom>
        </p:spPr>
      </p:pic>
      <p:sp>
        <p:nvSpPr>
          <p:cNvPr id="6" name="Text 2"/>
          <p:cNvSpPr/>
          <p:nvPr/>
        </p:nvSpPr>
        <p:spPr>
          <a:xfrm>
            <a:off x="3474720" y="914400"/>
            <a:ext cx="5303520" cy="3474720"/>
          </a:xfrm>
          <a:prstGeom prst="rect">
            <a:avLst/>
          </a:prstGeom>
          <a:noFill/>
          <a:ln/>
        </p:spPr>
        <p:txBody>
          <a:bodyPr wrap="square" rtlCol="0" anchor="t"/>
          <a:lstStyle/>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Radiological risk: exposure to ionising radiation on or near active facilities. Most off-site manufacturers have limited direct exposure, but the products they make will operate in these environments.</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Operational risk: unplanned shutdowns, loss of cooling, loss of containment. A component failure is not just a quality issue - it can trigger a regulatory notification.</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Environmental risk: radioactive contamination of land, water, and air. Strict permit conditions apply to all work on licensed sites.</a:t>
            </a:r>
            <a:endParaRPr lang="en-US" sz="1300" dirty="0"/>
          </a:p>
          <a:p>
            <a:pPr algn="l" marL="342900" indent="-342900">
              <a:spcAft>
                <a:spcPts val="800"/>
              </a:spcAft>
              <a:buSzPct val="100000"/>
              <a:buChar char="•"/>
            </a:pPr>
            <a:r>
              <a:rPr lang="en-US" sz="1300" dirty="0">
                <a:solidFill>
                  <a:srgbClr val="5B595A"/>
                </a:solidFill>
                <a:latin typeface="Arial" pitchFamily="34" charset="0"/>
                <a:ea typeface="Arial" pitchFamily="34" charset="-122"/>
                <a:cs typeface="Arial" pitchFamily="34" charset="-120"/>
              </a:rPr>
              <a:t>Reputational and programme risk: quality failures are visible and have long-lasting consequences. A poor record can close doors across the nuclear sector permanently.</a:t>
            </a:r>
            <a:endParaRPr lang="en-US" sz="1300" dirty="0"/>
          </a:p>
        </p:txBody>
      </p:sp>
      <p:sp>
        <p:nvSpPr>
          <p:cNvPr id="7" name="Shape 3"/>
          <p:cNvSpPr/>
          <p:nvPr/>
        </p:nvSpPr>
        <p:spPr>
          <a:xfrm>
            <a:off x="365760" y="4137660"/>
            <a:ext cx="8412480" cy="658368"/>
          </a:xfrm>
          <a:prstGeom prst="roundRect">
            <a:avLst>
              <a:gd name="adj" fmla="val 11111"/>
            </a:avLst>
          </a:prstGeom>
          <a:solidFill>
            <a:srgbClr val="D6EEF8"/>
          </a:solidFill>
          <a:ln w="12700">
            <a:solidFill>
              <a:srgbClr val="009FE3"/>
            </a:solidFill>
            <a:prstDash val="solid"/>
          </a:ln>
        </p:spPr>
      </p:sp>
      <p:sp>
        <p:nvSpPr>
          <p:cNvPr id="8" name="Text 4"/>
          <p:cNvSpPr/>
          <p:nvPr/>
        </p:nvSpPr>
        <p:spPr>
          <a:xfrm>
            <a:off x="502920" y="4155948"/>
            <a:ext cx="8138160" cy="621792"/>
          </a:xfrm>
          <a:prstGeom prst="rect">
            <a:avLst/>
          </a:prstGeom>
          <a:noFill/>
          <a:ln/>
        </p:spPr>
        <p:txBody>
          <a:bodyPr wrap="square" rtlCol="0" anchor="ctr"/>
          <a:lstStyle/>
          <a:p>
            <a:pPr indent="0" marL="0">
              <a:buNone/>
            </a:pPr>
            <a:r>
              <a:rPr lang="en-US" sz="1000" i="1" dirty="0">
                <a:solidFill>
                  <a:srgbClr val="001E3C"/>
                </a:solidFill>
                <a:latin typeface="Arial" pitchFamily="34" charset="0"/>
                <a:ea typeface="Arial" pitchFamily="34" charset="-122"/>
                <a:cs typeface="Arial" pitchFamily="34" charset="-120"/>
              </a:rPr>
              <a:t>Graded quality means the level of control is matched to the consequence of failure. Even lower classification work must meet your quality management system requirements.</a:t>
            </a:r>
            <a:endParaRPr lang="en-US" sz="1000" dirty="0"/>
          </a:p>
        </p:txBody>
      </p:sp>
      <p:sp>
        <p:nvSpPr>
          <p:cNvPr id="11" name="Text 7"/>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3348F"/>
        </a:solidFill>
      </p:bgPr>
    </p:bg>
    <p:spTree>
      <p:nvGrpSpPr>
        <p:cNvPr id="1" name=""/>
        <p:cNvGrpSpPr/>
        <p:nvPr/>
      </p:nvGrpSpPr>
      <p:grpSpPr>
        <a:xfrm>
          <a:off x="0" y="0"/>
          <a:ext cx="0" cy="0"/>
          <a:chOff x="0" y="0"/>
          <a:chExt cx="0" cy="0"/>
        </a:xfrm>
      </p:grpSpPr>
      <p:sp>
        <p:nvSpPr>
          <p:cNvPr id="2" name="Shape 0"/>
          <p:cNvSpPr/>
          <p:nvPr/>
        </p:nvSpPr>
        <p:spPr>
          <a:xfrm>
            <a:off x="0" y="4411980"/>
            <a:ext cx="9144000" cy="731520"/>
          </a:xfrm>
          <a:prstGeom prst="rect">
            <a:avLst/>
          </a:prstGeom>
          <a:solidFill>
            <a:srgbClr val="001E3C"/>
          </a:solidFill>
          <a:ln w="12700">
            <a:solidFill>
              <a:srgbClr val="001E3C"/>
            </a:solidFill>
            <a:prstDash val="solid"/>
          </a:ln>
        </p:spPr>
      </p:sp>
      <p:sp>
        <p:nvSpPr>
          <p:cNvPr id="3" name="Text 1"/>
          <p:cNvSpPr/>
          <p:nvPr/>
        </p:nvSpPr>
        <p:spPr>
          <a:xfrm>
            <a:off x="457200" y="731520"/>
            <a:ext cx="1828800" cy="2286000"/>
          </a:xfrm>
          <a:prstGeom prst="rect">
            <a:avLst/>
          </a:prstGeom>
          <a:noFill/>
          <a:ln/>
        </p:spPr>
        <p:txBody>
          <a:bodyPr wrap="square" rtlCol="0" anchor="ctr"/>
          <a:lstStyle/>
          <a:p>
            <a:pPr algn="l" indent="0" marL="0">
              <a:buNone/>
            </a:pPr>
            <a:r>
              <a:rPr lang="en-US" sz="12000" b="1" dirty="0">
                <a:solidFill>
                  <a:srgbClr val="FFFFFF">
                    <a:alpha val="80000"/>
                  </a:srgbClr>
                </a:solidFill>
                <a:latin typeface="Arial" pitchFamily="34" charset="0"/>
                <a:ea typeface="Arial" pitchFamily="34" charset="-122"/>
                <a:cs typeface="Arial" pitchFamily="34" charset="-120"/>
              </a:rPr>
              <a:t>05</a:t>
            </a:r>
            <a:endParaRPr lang="en-US" sz="12000" dirty="0"/>
          </a:p>
        </p:txBody>
      </p:sp>
      <p:sp>
        <p:nvSpPr>
          <p:cNvPr id="4" name="Text 2"/>
          <p:cNvSpPr/>
          <p:nvPr/>
        </p:nvSpPr>
        <p:spPr>
          <a:xfrm>
            <a:off x="2377440" y="1645920"/>
            <a:ext cx="6400800" cy="128016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What Is Expected of Us</a:t>
            </a:r>
            <a:endParaRPr lang="en-US" sz="3800" dirty="0"/>
          </a:p>
        </p:txBody>
      </p:sp>
      <p:sp>
        <p:nvSpPr>
          <p:cNvPr id="5" name="Rectangle 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5"/>
          <a:stretch>
            <a:fillRect/>
          </a:stretch>
        </p:blipFill>
        <p:spPr>
          <a:xfrm>
            <a:off x="7562088" y="100584"/>
            <a:ext cx="566928" cy="347472"/>
          </a:xfrm>
          <a:prstGeom prst="rect">
            <a:avLst/>
          </a:prstGeom>
        </p:spPr>
      </p:pic>
      <p:pic>
        <p:nvPicPr>
          <p:cNvPr id="7" name="Picture 6" descr="image.png"/>
          <p:cNvPicPr>
            <a:picLocks noChangeAspect="1"/>
          </p:cNvPicPr>
          <p:nvPr/>
        </p:nvPicPr>
        <p:blipFill>
          <a:blip r:embed="rId4"/>
          <a:stretch>
            <a:fillRect/>
          </a:stretch>
        </p:blipFill>
        <p:spPr>
          <a:xfrm>
            <a:off x="8174736" y="100584"/>
            <a:ext cx="658368" cy="347472"/>
          </a:xfrm>
          <a:prstGeom prst="rect">
            <a:avLst/>
          </a:prstGeom>
        </p:spPr>
      </p:pic>
      <p:sp>
        <p:nvSpPr>
          <p:cNvPr id="8" name="Rectangle 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1E3C"/>
          </a:solidFill>
          <a:ln w="12700">
            <a:solidFill>
              <a:srgbClr val="001E3C"/>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What Our Nuclear Clients Expect</a:t>
            </a:r>
            <a:endParaRPr lang="en-US" sz="2200" dirty="0"/>
          </a:p>
        </p:txBody>
      </p:sp>
      <p:sp>
        <p:nvSpPr>
          <p:cNvPr id="5" name="Shape 2"/>
          <p:cNvSpPr/>
          <p:nvPr/>
        </p:nvSpPr>
        <p:spPr>
          <a:xfrm>
            <a:off x="274320" y="914400"/>
            <a:ext cx="4160520" cy="347472"/>
          </a:xfrm>
          <a:prstGeom prst="rect">
            <a:avLst/>
          </a:prstGeom>
          <a:solidFill>
            <a:srgbClr val="009FE3"/>
          </a:solidFill>
          <a:ln w="12700">
            <a:solidFill>
              <a:srgbClr val="009FE3"/>
            </a:solidFill>
            <a:prstDash val="solid"/>
          </a:ln>
        </p:spPr>
      </p:sp>
      <p:sp>
        <p:nvSpPr>
          <p:cNvPr id="6" name="Text 3"/>
          <p:cNvSpPr/>
          <p:nvPr/>
        </p:nvSpPr>
        <p:spPr>
          <a:xfrm>
            <a:off x="274320" y="914400"/>
            <a:ext cx="4160520" cy="347472"/>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Systems and Processes</a:t>
            </a:r>
            <a:endParaRPr lang="en-US" sz="1300" dirty="0"/>
          </a:p>
        </p:txBody>
      </p:sp>
      <p:sp>
        <p:nvSpPr>
          <p:cNvPr id="7" name="Text 4"/>
          <p:cNvSpPr/>
          <p:nvPr/>
        </p:nvSpPr>
        <p:spPr>
          <a:xfrm>
            <a:off x="274320" y="1298448"/>
            <a:ext cx="4160520" cy="3291840"/>
          </a:xfrm>
          <a:prstGeom prst="rect">
            <a:avLst/>
          </a:prstGeom>
          <a:noFill/>
          <a:ln/>
        </p:spPr>
        <p:txBody>
          <a:bodyPr wrap="square" rtlCol="0" anchor="t"/>
          <a:lstStyle/>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A formal quality management system meeting ISO 9001 as a minimum, with ISO 19443 as the nuclear target standard</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Full traceability of every material, component, and service from order placement to delivery</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Documented, formal non-conformance management with root cause analysis</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CFSI controls: processes to prevent counterfeit and suspect items entering the supply chain</a:t>
            </a:r>
            <a:endParaRPr lang="en-US" sz="1200" dirty="0"/>
          </a:p>
        </p:txBody>
      </p:sp>
      <p:sp>
        <p:nvSpPr>
          <p:cNvPr id="8" name="Shape 5"/>
          <p:cNvSpPr/>
          <p:nvPr/>
        </p:nvSpPr>
        <p:spPr>
          <a:xfrm>
            <a:off x="4709160" y="914400"/>
            <a:ext cx="4160520" cy="347472"/>
          </a:xfrm>
          <a:prstGeom prst="rect">
            <a:avLst/>
          </a:prstGeom>
          <a:solidFill>
            <a:srgbClr val="83348F"/>
          </a:solidFill>
          <a:ln w="12700">
            <a:solidFill>
              <a:srgbClr val="83348F"/>
            </a:solidFill>
            <a:prstDash val="solid"/>
          </a:ln>
        </p:spPr>
      </p:sp>
      <p:sp>
        <p:nvSpPr>
          <p:cNvPr id="9" name="Text 6"/>
          <p:cNvSpPr/>
          <p:nvPr/>
        </p:nvSpPr>
        <p:spPr>
          <a:xfrm>
            <a:off x="4709160" y="914400"/>
            <a:ext cx="4160520" cy="347472"/>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People and Culture</a:t>
            </a:r>
            <a:endParaRPr lang="en-US" sz="1300" dirty="0"/>
          </a:p>
        </p:txBody>
      </p:sp>
      <p:sp>
        <p:nvSpPr>
          <p:cNvPr id="10" name="Text 7"/>
          <p:cNvSpPr/>
          <p:nvPr/>
        </p:nvSpPr>
        <p:spPr>
          <a:xfrm>
            <a:off x="4709160" y="1298448"/>
            <a:ext cx="4160520" cy="3291840"/>
          </a:xfrm>
          <a:prstGeom prst="rect">
            <a:avLst/>
          </a:prstGeom>
          <a:noFill/>
          <a:ln/>
        </p:spPr>
        <p:txBody>
          <a:bodyPr wrap="square" rtlCol="0" anchor="t"/>
          <a:lstStyle/>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Staff competent for the work they perform, with training records to demonstrate it</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Safety is visibly the overriding priority at all levels of leadership</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People feel able to raise concerns without fear of blame or consequence</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Near misses and problems are reported and used to improve, not hidden</a:t>
            </a:r>
            <a:endParaRPr lang="en-US" sz="1200" dirty="0"/>
          </a:p>
          <a:p>
            <a:pPr algn="l" marL="342900" indent="-342900">
              <a:spcAft>
                <a:spcPts val="600"/>
              </a:spcAft>
              <a:buSzPct val="100000"/>
              <a:buChar char="•"/>
            </a:pPr>
            <a:r>
              <a:rPr lang="en-US" sz="1200" dirty="0">
                <a:solidFill>
                  <a:srgbClr val="5B595A"/>
                </a:solidFill>
                <a:latin typeface="Arial" pitchFamily="34" charset="0"/>
                <a:ea typeface="Arial" pitchFamily="34" charset="-122"/>
                <a:cs typeface="Arial" pitchFamily="34" charset="-120"/>
              </a:rPr>
              <a:t>Everyone understands their role in maintaining nuclear standards</a:t>
            </a:r>
            <a:endParaRPr lang="en-US" sz="1200" dirty="0"/>
          </a:p>
        </p:txBody>
      </p:sp>
      <p:sp>
        <p:nvSpPr>
          <p:cNvPr id="13" name="Text 10"/>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Your Responsibilities</a:t>
            </a:r>
            <a:endParaRPr lang="en-US" sz="2200" dirty="0"/>
          </a:p>
        </p:txBody>
      </p:sp>
      <p:pic>
        <p:nvPicPr>
          <p:cNvPr id="5" name="Image 1" descr="preencoded.png">    </p:cNvPr>
          <p:cNvPicPr>
            <a:picLocks noChangeAspect="1"/>
          </p:cNvPicPr>
          <p:nvPr/>
        </p:nvPicPr>
        <p:blipFill>
          <a:blip r:embed="rId2"/>
          <a:stretch>
            <a:fillRect/>
          </a:stretch>
        </p:blipFill>
        <p:spPr>
          <a:xfrm>
            <a:off x="1371600" y="1005840"/>
            <a:ext cx="502920" cy="502920"/>
          </a:xfrm>
          <a:prstGeom prst="rect">
            <a:avLst/>
          </a:prstGeom>
        </p:spPr>
      </p:pic>
      <p:sp>
        <p:nvSpPr>
          <p:cNvPr id="6" name="Text 2"/>
          <p:cNvSpPr/>
          <p:nvPr/>
        </p:nvSpPr>
        <p:spPr>
          <a:xfrm>
            <a:off x="457200" y="1554480"/>
            <a:ext cx="2651760" cy="914400"/>
          </a:xfrm>
          <a:prstGeom prst="rect">
            <a:avLst/>
          </a:prstGeom>
          <a:noFill/>
          <a:ln/>
        </p:spPr>
        <p:txBody>
          <a:bodyPr wrap="square" rtlCol="0" anchor="t"/>
          <a:lstStyle/>
          <a:p>
            <a:pPr algn="ctr" indent="0" marL="0">
              <a:buNone/>
            </a:pPr>
            <a:r>
              <a:rPr lang="en-US" sz="1050" dirty="0">
                <a:solidFill>
                  <a:srgbClr val="D6EEF8"/>
                </a:solidFill>
                <a:latin typeface="Arial" pitchFamily="34" charset="0"/>
                <a:ea typeface="Arial" pitchFamily="34" charset="-122"/>
                <a:cs typeface="Arial" pitchFamily="34" charset="-120"/>
              </a:rPr>
              <a:t>Follow the procedures and work instructions for your role. Do not shortcut them.</a:t>
            </a:r>
            <a:endParaRPr lang="en-US" sz="1050" dirty="0"/>
          </a:p>
        </p:txBody>
      </p:sp>
      <p:pic>
        <p:nvPicPr>
          <p:cNvPr id="7" name="Image 2" descr="preencoded.png">    </p:cNvPr>
          <p:cNvPicPr>
            <a:picLocks noChangeAspect="1"/>
          </p:cNvPicPr>
          <p:nvPr/>
        </p:nvPicPr>
        <p:blipFill>
          <a:blip r:embed="rId3"/>
          <a:stretch>
            <a:fillRect/>
          </a:stretch>
        </p:blipFill>
        <p:spPr>
          <a:xfrm>
            <a:off x="4206240" y="1005840"/>
            <a:ext cx="502920" cy="502920"/>
          </a:xfrm>
          <a:prstGeom prst="rect">
            <a:avLst/>
          </a:prstGeom>
        </p:spPr>
      </p:pic>
      <p:sp>
        <p:nvSpPr>
          <p:cNvPr id="8" name="Text 3"/>
          <p:cNvSpPr/>
          <p:nvPr/>
        </p:nvSpPr>
        <p:spPr>
          <a:xfrm>
            <a:off x="3291840" y="1554480"/>
            <a:ext cx="2651760" cy="914400"/>
          </a:xfrm>
          <a:prstGeom prst="rect">
            <a:avLst/>
          </a:prstGeom>
          <a:noFill/>
          <a:ln/>
        </p:spPr>
        <p:txBody>
          <a:bodyPr wrap="square" rtlCol="0" anchor="t"/>
          <a:lstStyle/>
          <a:p>
            <a:pPr algn="ctr" indent="0" marL="0">
              <a:buNone/>
            </a:pPr>
            <a:r>
              <a:rPr lang="en-US" sz="1050" dirty="0">
                <a:solidFill>
                  <a:srgbClr val="D6EEF8"/>
                </a:solidFill>
                <a:latin typeface="Arial" pitchFamily="34" charset="0"/>
                <a:ea typeface="Arial" pitchFamily="34" charset="-122"/>
                <a:cs typeface="Arial" pitchFamily="34" charset="-120"/>
              </a:rPr>
              <a:t>Raise concerns immediately. If something does not look right, stop and report.</a:t>
            </a:r>
            <a:endParaRPr lang="en-US" sz="1050" dirty="0"/>
          </a:p>
        </p:txBody>
      </p:sp>
      <p:pic>
        <p:nvPicPr>
          <p:cNvPr id="9" name="Image 3" descr="preencoded.png">    </p:cNvPr>
          <p:cNvPicPr>
            <a:picLocks noChangeAspect="1"/>
          </p:cNvPicPr>
          <p:nvPr/>
        </p:nvPicPr>
        <p:blipFill>
          <a:blip r:embed="rId4"/>
          <a:stretch>
            <a:fillRect/>
          </a:stretch>
        </p:blipFill>
        <p:spPr>
          <a:xfrm>
            <a:off x="7040880" y="1005840"/>
            <a:ext cx="502920" cy="502920"/>
          </a:xfrm>
          <a:prstGeom prst="rect">
            <a:avLst/>
          </a:prstGeom>
        </p:spPr>
      </p:pic>
      <p:sp>
        <p:nvSpPr>
          <p:cNvPr id="10" name="Text 4"/>
          <p:cNvSpPr/>
          <p:nvPr/>
        </p:nvSpPr>
        <p:spPr>
          <a:xfrm>
            <a:off x="6126480" y="1554480"/>
            <a:ext cx="2651760" cy="914400"/>
          </a:xfrm>
          <a:prstGeom prst="rect">
            <a:avLst/>
          </a:prstGeom>
          <a:noFill/>
          <a:ln/>
        </p:spPr>
        <p:txBody>
          <a:bodyPr wrap="square" rtlCol="0" anchor="t"/>
          <a:lstStyle/>
          <a:p>
            <a:pPr algn="ctr" indent="0" marL="0">
              <a:buNone/>
            </a:pPr>
            <a:r>
              <a:rPr lang="en-US" sz="1050" dirty="0">
                <a:solidFill>
                  <a:srgbClr val="D6EEF8"/>
                </a:solidFill>
                <a:latin typeface="Arial" pitchFamily="34" charset="0"/>
                <a:ea typeface="Arial" pitchFamily="34" charset="-122"/>
                <a:cs typeface="Arial" pitchFamily="34" charset="-120"/>
              </a:rPr>
              <a:t>Never approve, sign off, or release work you are not fully satisfied with.</a:t>
            </a:r>
            <a:endParaRPr lang="en-US" sz="1050" dirty="0"/>
          </a:p>
        </p:txBody>
      </p:sp>
      <p:pic>
        <p:nvPicPr>
          <p:cNvPr id="11" name="Image 4" descr="preencoded.png">    </p:cNvPr>
          <p:cNvPicPr>
            <a:picLocks noChangeAspect="1"/>
          </p:cNvPicPr>
          <p:nvPr/>
        </p:nvPicPr>
        <p:blipFill>
          <a:blip r:embed="rId5"/>
          <a:stretch>
            <a:fillRect/>
          </a:stretch>
        </p:blipFill>
        <p:spPr>
          <a:xfrm>
            <a:off x="1371600" y="2651760"/>
            <a:ext cx="502920" cy="502920"/>
          </a:xfrm>
          <a:prstGeom prst="rect">
            <a:avLst/>
          </a:prstGeom>
        </p:spPr>
      </p:pic>
      <p:sp>
        <p:nvSpPr>
          <p:cNvPr id="12" name="Text 5"/>
          <p:cNvSpPr/>
          <p:nvPr/>
        </p:nvSpPr>
        <p:spPr>
          <a:xfrm>
            <a:off x="457200" y="3200400"/>
            <a:ext cx="2651760" cy="914400"/>
          </a:xfrm>
          <a:prstGeom prst="rect">
            <a:avLst/>
          </a:prstGeom>
          <a:noFill/>
          <a:ln/>
        </p:spPr>
        <p:txBody>
          <a:bodyPr wrap="square" rtlCol="0" anchor="t"/>
          <a:lstStyle/>
          <a:p>
            <a:pPr algn="ctr" indent="0" marL="0">
              <a:buNone/>
            </a:pPr>
            <a:r>
              <a:rPr lang="en-US" sz="1050" dirty="0">
                <a:solidFill>
                  <a:srgbClr val="D6EEF8"/>
                </a:solidFill>
                <a:latin typeface="Arial" pitchFamily="34" charset="0"/>
                <a:ea typeface="Arial" pitchFamily="34" charset="-122"/>
                <a:cs typeface="Arial" pitchFamily="34" charset="-120"/>
              </a:rPr>
              <a:t>Maintain accurate, complete records. They matter more than you might think.</a:t>
            </a:r>
            <a:endParaRPr lang="en-US" sz="1050" dirty="0"/>
          </a:p>
        </p:txBody>
      </p:sp>
      <p:pic>
        <p:nvPicPr>
          <p:cNvPr id="13" name="Image 5" descr="preencoded.png">    </p:cNvPr>
          <p:cNvPicPr>
            <a:picLocks noChangeAspect="1"/>
          </p:cNvPicPr>
          <p:nvPr/>
        </p:nvPicPr>
        <p:blipFill>
          <a:blip r:embed="rId6"/>
          <a:stretch>
            <a:fillRect/>
          </a:stretch>
        </p:blipFill>
        <p:spPr>
          <a:xfrm>
            <a:off x="4206240" y="2651760"/>
            <a:ext cx="502920" cy="502920"/>
          </a:xfrm>
          <a:prstGeom prst="rect">
            <a:avLst/>
          </a:prstGeom>
        </p:spPr>
      </p:pic>
      <p:sp>
        <p:nvSpPr>
          <p:cNvPr id="14" name="Text 6"/>
          <p:cNvSpPr/>
          <p:nvPr/>
        </p:nvSpPr>
        <p:spPr>
          <a:xfrm>
            <a:off x="3291840" y="3200400"/>
            <a:ext cx="2651760" cy="914400"/>
          </a:xfrm>
          <a:prstGeom prst="rect">
            <a:avLst/>
          </a:prstGeom>
          <a:noFill/>
          <a:ln/>
        </p:spPr>
        <p:txBody>
          <a:bodyPr wrap="square" rtlCol="0" anchor="t"/>
          <a:lstStyle/>
          <a:p>
            <a:pPr algn="ctr" indent="0" marL="0">
              <a:buNone/>
            </a:pPr>
            <a:r>
              <a:rPr lang="en-US" sz="1050" dirty="0">
                <a:solidFill>
                  <a:srgbClr val="D6EEF8"/>
                </a:solidFill>
                <a:latin typeface="Arial" pitchFamily="34" charset="0"/>
                <a:ea typeface="Arial" pitchFamily="34" charset="-122"/>
                <a:cs typeface="Arial" pitchFamily="34" charset="-120"/>
              </a:rPr>
              <a:t>Ask questions if you are unsure. Assumptions have no place in nuclear work.</a:t>
            </a:r>
            <a:endParaRPr lang="en-US" sz="1050" dirty="0"/>
          </a:p>
        </p:txBody>
      </p:sp>
      <p:sp>
        <p:nvSpPr>
          <p:cNvPr id="15" name="Shape 7"/>
          <p:cNvSpPr/>
          <p:nvPr/>
        </p:nvSpPr>
        <p:spPr>
          <a:xfrm>
            <a:off x="365760" y="4320540"/>
            <a:ext cx="8412480" cy="512064"/>
          </a:xfrm>
          <a:prstGeom prst="rect">
            <a:avLst/>
          </a:prstGeom>
          <a:solidFill>
            <a:srgbClr val="009FE3"/>
          </a:solidFill>
          <a:ln w="12700">
            <a:solidFill>
              <a:srgbClr val="009FE3"/>
            </a:solidFill>
            <a:prstDash val="solid"/>
          </a:ln>
        </p:spPr>
      </p:sp>
      <p:sp>
        <p:nvSpPr>
          <p:cNvPr id="16" name="Text 8"/>
          <p:cNvSpPr/>
          <p:nvPr/>
        </p:nvSpPr>
        <p:spPr>
          <a:xfrm>
            <a:off x="548640" y="4338828"/>
            <a:ext cx="8046720" cy="47548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The standard you walk past is the standard you accept.</a:t>
            </a:r>
            <a:endParaRPr lang="en-US" sz="1400" dirty="0"/>
          </a:p>
        </p:txBody>
      </p:sp>
      <p:sp>
        <p:nvSpPr>
          <p:cNvPr id="19" name="Text 11"/>
          <p:cNvSpPr/>
          <p:nvPr/>
        </p:nvSpPr>
        <p:spPr>
          <a:xfrm>
            <a:off x="7132320" y="4850892"/>
            <a:ext cx="1828800" cy="256032"/>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NSS-01d  |   of </a:t>
            </a:r>
            <a:endParaRPr lang="en-US" sz="800" dirty="0"/>
          </a:p>
        </p:txBody>
      </p:sp>
      <p:sp>
        <p:nvSpPr>
          <p:cNvPr id="20" name="Rectangle 1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10"/>
          <a:stretch>
            <a:fillRect/>
          </a:stretch>
        </p:blipFill>
        <p:spPr>
          <a:xfrm>
            <a:off x="7562088" y="100584"/>
            <a:ext cx="566928" cy="347472"/>
          </a:xfrm>
          <a:prstGeom prst="rect">
            <a:avLst/>
          </a:prstGeom>
        </p:spPr>
      </p:pic>
      <p:pic>
        <p:nvPicPr>
          <p:cNvPr id="22" name="Picture 21" descr="image.png"/>
          <p:cNvPicPr>
            <a:picLocks noChangeAspect="1"/>
          </p:cNvPicPr>
          <p:nvPr/>
        </p:nvPicPr>
        <p:blipFill>
          <a:blip r:embed="rId9"/>
          <a:stretch>
            <a:fillRect/>
          </a:stretch>
        </p:blipFill>
        <p:spPr>
          <a:xfrm>
            <a:off x="8174736" y="100584"/>
            <a:ext cx="658368" cy="347472"/>
          </a:xfrm>
          <a:prstGeom prst="rect">
            <a:avLst/>
          </a:prstGeom>
        </p:spPr>
      </p:pic>
      <p:sp>
        <p:nvSpPr>
          <p:cNvPr id="23" name="Rectangle 2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301AB39-C29B-4375-AB43-E31E503EFB83}"/>
</file>

<file path=customXml/itemProps2.xml><?xml version="1.0" encoding="utf-8"?>
<ds:datastoreItem xmlns:ds="http://schemas.openxmlformats.org/officeDocument/2006/customXml" ds:itemID="{098610B0-CBBB-4F17-8DF5-F6DFACEDE207}"/>
</file>

<file path=customXml/itemProps3.xml><?xml version="1.0" encoding="utf-8"?>
<ds:datastoreItem xmlns:ds="http://schemas.openxmlformats.org/officeDocument/2006/customXml" ds:itemID="{FE6D016C-DD14-42ED-940B-1EBF92D0EB47}"/>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NSS-01d Nuclear Sector Awareness Toolbox Talk</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