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54864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09FE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4630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OF INFORMATION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Sector Specific | NSS-07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F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sensitive nuclear information: classification, cybersecurity,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E5F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control and personnel security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Collaboration Ltd | Fit For Nuclear Programme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</a:t>
            </a:r>
            <a:endParaRPr lang="en-US" sz="900" dirty="0"/>
          </a:p>
        </p:txBody>
      </p:sp>
      <p:sp>
        <p:nvSpPr>
          <p:cNvPr id="11" name="Rectangle 1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Security Matters in the Nuclear Supply Chain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2743200" cy="91440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874520"/>
            <a:ext cx="2743200" cy="219456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92024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ONR expects supply chain organisations to handle sensitive nuclear information appropriately. Demonstrated security is part of becoming and remaining supply chain ready.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914400"/>
            <a:ext cx="2743200" cy="91440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2" name="Text 9"/>
          <p:cNvSpPr/>
          <p:nvPr/>
        </p:nvSpPr>
        <p:spPr>
          <a:xfrm>
            <a:off x="324612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6120" y="1874520"/>
            <a:ext cx="2743200" cy="219456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192024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breach on a nuclear contract can result in contract termination, exclusion from future tender, and reputational damage that threatens business viability.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914400"/>
            <a:ext cx="2743200" cy="91440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1874520"/>
            <a:ext cx="2743200" cy="219456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92024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programmes are targets for industrial espionage and state-sponsored activity. Every supply chain company that handles sensitive data is a potential entry point.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4160520"/>
            <a:ext cx="8595360" cy="5029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nuclear programme information is a professional standard, not just a compliance requirement.</a:t>
            </a:r>
            <a:endParaRPr lang="en-US" sz="1100" dirty="0"/>
          </a:p>
        </p:txBody>
      </p:sp>
      <p:sp>
        <p:nvSpPr>
          <p:cNvPr id="21" name="Rectangle 2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 Assessment Areas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594360" cy="77724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9144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914400"/>
            <a:ext cx="7955280" cy="77724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960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Classification and Protection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12984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processes to classify, mark, store, transmit and dispose of nuclear programme information according to its sensitivity level.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1874520"/>
            <a:ext cx="594360" cy="7772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87452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4400" y="1874520"/>
            <a:ext cx="7955280" cy="77724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 Nuclear Environments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258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Adequate technical and procedural controls for protecting digital assets, systems and data used in nuclear supply chain activities.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834640"/>
            <a:ext cx="594360" cy="77724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83464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14400" y="2834640"/>
            <a:ext cx="7955280" cy="77724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2880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of Sensitive Documents and IP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" y="32186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measures for protecting sensitive technical documents and intellectual property developed or handled in connection with nuclear work.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3794760"/>
            <a:ext cx="594360" cy="7772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379476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14400" y="3794760"/>
            <a:ext cx="7955280" cy="77724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5" name="Text 22"/>
          <p:cNvSpPr/>
          <p:nvPr/>
        </p:nvSpPr>
        <p:spPr>
          <a:xfrm>
            <a:off x="100584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Vetting and Clearance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" y="41788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vetting of personnel working on nuclear contracts, aligned with UK National Security Vetting standards and client requirements.</a:t>
            </a:r>
            <a:endParaRPr lang="en-US" sz="950" dirty="0"/>
          </a:p>
        </p:txBody>
      </p:sp>
      <p:sp>
        <p:nvSpPr>
          <p:cNvPr id="27" name="Rectangle 2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Classification Levels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31720" y="868680"/>
            <a:ext cx="653796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7"/>
          <p:cNvSpPr/>
          <p:nvPr/>
        </p:nvSpPr>
        <p:spPr>
          <a:xfrm>
            <a:off x="2423160" y="8961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unrestricted external release. No handling restrictions.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223760" y="89611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Marketing materials, published accreditations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4320" y="1636776"/>
            <a:ext cx="201168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63677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331720" y="1636776"/>
            <a:ext cx="6537960" cy="640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5" name="Text 12"/>
          <p:cNvSpPr/>
          <p:nvPr/>
        </p:nvSpPr>
        <p:spPr>
          <a:xfrm>
            <a:off x="2423160" y="166420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internal business use only. Not for external distribution without authorisation.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223760" y="166420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Internal procedures, general project updates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74320" y="2404872"/>
            <a:ext cx="2011680" cy="6400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40487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31720" y="2404872"/>
            <a:ext cx="653796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0" name="Text 17"/>
          <p:cNvSpPr/>
          <p:nvPr/>
        </p:nvSpPr>
        <p:spPr>
          <a:xfrm>
            <a:off x="2423160" y="24323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Commercially sensitive. Shared under contractual obligation. Encrypted transmission required.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43230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Contract terms, pricing, client deliverables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4320" y="3172968"/>
            <a:ext cx="2011680" cy="64008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31729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331720" y="3172968"/>
            <a:ext cx="6537960" cy="64008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25" name="Text 22"/>
          <p:cNvSpPr/>
          <p:nvPr/>
        </p:nvSpPr>
        <p:spPr>
          <a:xfrm>
            <a:off x="2423160" y="32004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nuclear programme data. Formal access controls, encrypted storage and transmission mandatory.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223760" y="32004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Technical specs, quality records, safety case data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74320" y="3941064"/>
            <a:ext cx="2011680" cy="64008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394106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331720" y="3941064"/>
            <a:ext cx="6537960" cy="64008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30" name="Text 27"/>
          <p:cNvSpPr/>
          <p:nvPr/>
        </p:nvSpPr>
        <p:spPr>
          <a:xfrm>
            <a:off x="2423160" y="396849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sensitive. Accredited IT systems only. Witnessed destruction. Security-cleared personnel only.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223760" y="396849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Security plans, classified technical data, ONR submissions</a:t>
            </a:r>
            <a:endParaRPr lang="en-US" sz="80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Cybersecurity: Key Controls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1600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914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1463040"/>
            <a:ext cx="1600200" cy="29260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50876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accounts, no sharing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character passwords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for all remote access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access review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11680" y="914400"/>
            <a:ext cx="1600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2" name="Text 9"/>
          <p:cNvSpPr/>
          <p:nvPr/>
        </p:nvSpPr>
        <p:spPr>
          <a:xfrm>
            <a:off x="2011680" y="914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11680" y="1463040"/>
            <a:ext cx="1600200" cy="29260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4" name="Text 11"/>
          <p:cNvSpPr/>
          <p:nvPr/>
        </p:nvSpPr>
        <p:spPr>
          <a:xfrm>
            <a:off x="2057400" y="150876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Business-grade firewall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VPN for remote work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segmentation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log retention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49040" y="914400"/>
            <a:ext cx="1600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6" name="Text 13"/>
          <p:cNvSpPr/>
          <p:nvPr/>
        </p:nvSpPr>
        <p:spPr>
          <a:xfrm>
            <a:off x="3749040" y="914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49040" y="1463040"/>
            <a:ext cx="1600200" cy="29260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8" name="Text 15"/>
          <p:cNvSpPr/>
          <p:nvPr/>
        </p:nvSpPr>
        <p:spPr>
          <a:xfrm>
            <a:off x="3794760" y="150876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protection software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Patches within 14 days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disk encryption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screen lock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914400"/>
            <a:ext cx="1600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0" y="914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1463040"/>
            <a:ext cx="1600200" cy="29260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150876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unencrypted classified email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reporting mechanism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accounts for work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auto-forwarding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223760" y="914400"/>
            <a:ext cx="1600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7223760" y="9144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Recovery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223760" y="1463040"/>
            <a:ext cx="1600200" cy="29260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6" name="Text 23"/>
          <p:cNvSpPr/>
          <p:nvPr/>
        </p:nvSpPr>
        <p:spPr>
          <a:xfrm>
            <a:off x="7269480" y="1508760"/>
            <a:ext cx="1508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encrypted backups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restore testing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data at rest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retention periods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 provides the framework. Cyber Essentials provides a practical UK baseline for supply chain organisations.</a:t>
            </a:r>
            <a:endParaRPr lang="en-US" sz="850" dirty="0"/>
          </a:p>
        </p:txBody>
      </p:sp>
      <p:sp>
        <p:nvSpPr>
          <p:cNvPr id="29" name="Rectangle 2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 Security: Vetting Standards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National Security Vetting (UKSV) Levels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325880"/>
            <a:ext cx="777240" cy="59436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258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97280" y="1325880"/>
            <a:ext cx="7772400" cy="59436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1362456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Personnel Security Standard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88720" y="162763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for most nuclear supply chain roles. Identity, right-to-work, employment history (3 years), basic criminal check.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2002536"/>
            <a:ext cx="777240" cy="59436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00253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CTC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97280" y="2002536"/>
            <a:ext cx="7772400" cy="59436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2039112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Terrorist Check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88720" y="230428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with access to sensitive nuclear security information or certain restricted site areas.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2679192"/>
            <a:ext cx="777240" cy="59436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267919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97280" y="2679192"/>
            <a:ext cx="7772400" cy="59436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1" name="Text 18"/>
          <p:cNvSpPr/>
          <p:nvPr/>
        </p:nvSpPr>
        <p:spPr>
          <a:xfrm>
            <a:off x="1188720" y="2715768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Check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88720" y="29809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access to top secret material or controlled access to top secret assets.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3355848"/>
            <a:ext cx="777240" cy="59436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3355848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97280" y="3355848"/>
            <a:ext cx="7772400" cy="59436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3392424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Check Enhanced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88720" y="365760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in specific circumstances where SC is insufficient but DV is not required.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4320" y="4032504"/>
            <a:ext cx="777240" cy="59436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4032504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097280" y="4032504"/>
            <a:ext cx="7772400" cy="59436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31" name="Text 28"/>
          <p:cNvSpPr/>
          <p:nvPr/>
        </p:nvSpPr>
        <p:spPr>
          <a:xfrm>
            <a:off x="1188720" y="4069080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Vetting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88720" y="433425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sensitive roles only. Extensive personal, financial and lifestyle investigation. 7-year validity.</a:t>
            </a:r>
            <a:endParaRPr lang="en-US" sz="900" dirty="0"/>
          </a:p>
        </p:txBody>
      </p:sp>
      <p:sp>
        <p:nvSpPr>
          <p:cNvPr id="33" name="Rectangle 3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Phishing: Common Warning Signs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is the most common entry point for cyber attacks. Know what to look for.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828800"/>
            <a:ext cx="2743200" cy="10972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8745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to act immediately. 'Urgent action required' or 'Account will be suspended.' Legitimate systems rarely demand instant action.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1325880"/>
            <a:ext cx="2743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18745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email asking you to do something unusual. Wire a payment. Reset a password. Provide login credentials. If it feels wrong, it probably is.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1828800"/>
            <a:ext cx="2743200" cy="10972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0" y="18745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 looks right but the actual email address is unfamiliar. Always check the real address, not just the name shown.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2971800"/>
            <a:ext cx="429768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2971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474720"/>
            <a:ext cx="4297680" cy="10972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204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links before clicking. The URL shown at the bottom of the screen may not match the link text displayed in the email.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63440" y="2971800"/>
            <a:ext cx="429768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2971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3474720"/>
            <a:ext cx="4297680" cy="109728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7" name="Text 24"/>
          <p:cNvSpPr/>
          <p:nvPr/>
        </p:nvSpPr>
        <p:spPr>
          <a:xfrm>
            <a:off x="4754880" y="35204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.zip, .exe, or macro-enabled Office files from unknown senders. Do not open without confirming with the sender by phone.</a:t>
            </a:r>
            <a:endParaRPr lang="en-US" sz="900" dirty="0"/>
          </a:p>
        </p:txBody>
      </p:sp>
      <p:sp>
        <p:nvSpPr>
          <p:cNvPr id="28" name="Rectangle 2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 Response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Severity Categories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280160"/>
            <a:ext cx="1371600" cy="548640"/>
          </a:xfrm>
          <a:prstGeom prst="rect">
            <a:avLst/>
          </a:prstGeom>
          <a:solidFill>
            <a:srgbClr val="FFC7C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280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00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91640" y="1280160"/>
            <a:ext cx="7178040" cy="54864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1" name="Text 8"/>
          <p:cNvSpPr/>
          <p:nvPr/>
        </p:nvSpPr>
        <p:spPr>
          <a:xfrm>
            <a:off x="1783080" y="132588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attack or confirmed breach affecting nuclear programme data. Immediate escalation to senior management and client. Consider taking affected systems offline.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1938528"/>
            <a:ext cx="1371600" cy="548640"/>
          </a:xfrm>
          <a:prstGeom prst="rect">
            <a:avLst/>
          </a:prstGeom>
          <a:solidFill>
            <a:srgbClr val="FFEB9C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9385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5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691640" y="1938528"/>
            <a:ext cx="7178040" cy="54864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5" name="Text 12"/>
          <p:cNvSpPr/>
          <p:nvPr/>
        </p:nvSpPr>
        <p:spPr>
          <a:xfrm>
            <a:off x="1783080" y="198424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breach of a non-nuclear system or suspected breach of a nuclear programme system. IT investigation within 2 hours.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2596896"/>
            <a:ext cx="1371600" cy="548640"/>
          </a:xfrm>
          <a:prstGeom prst="rect">
            <a:avLst/>
          </a:prstGeom>
          <a:solidFill>
            <a:srgbClr val="C6EFCE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25968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691640" y="2596896"/>
            <a:ext cx="7178040" cy="548640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9" name="Text 16"/>
          <p:cNvSpPr/>
          <p:nvPr/>
        </p:nvSpPr>
        <p:spPr>
          <a:xfrm>
            <a:off x="1783080" y="264261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policy violation or near miss without confirmed data impact. IT review within 24 hours.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Steps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4320" y="3758184"/>
            <a:ext cx="201168" cy="20116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3758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0352" y="3730752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report to IT and Information Security Manager immediately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4005072"/>
            <a:ext cx="201168" cy="20116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005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0352" y="397764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Contain: isolate affected systems or accounts as instructed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74320" y="4251960"/>
            <a:ext cx="201168" cy="20116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251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352" y="422452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scope: has nuclear programme data been affected?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4498848"/>
            <a:ext cx="201168" cy="20116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4498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30352" y="4471416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the client if nuclear data may have been compromised (typically within 24 hours)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3758184"/>
            <a:ext cx="201168" cy="20116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34" name="Text 31"/>
          <p:cNvSpPr/>
          <p:nvPr/>
        </p:nvSpPr>
        <p:spPr>
          <a:xfrm>
            <a:off x="4709160" y="3758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65192" y="3730752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logs and evidence. Do not wipe affected systems without IT instruction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09160" y="4005072"/>
            <a:ext cx="201168" cy="20116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37" name="Text 34"/>
          <p:cNvSpPr/>
          <p:nvPr/>
        </p:nvSpPr>
        <p:spPr>
          <a:xfrm>
            <a:off x="4709160" y="4005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965192" y="397764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Eradicate cause and restore from clean backups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4251960"/>
            <a:ext cx="201168" cy="20116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40" name="Text 37"/>
          <p:cNvSpPr/>
          <p:nvPr/>
        </p:nvSpPr>
        <p:spPr>
          <a:xfrm>
            <a:off x="4709160" y="4251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965192" y="422452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Post-incident review and corrective actions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709160" y="4498848"/>
            <a:ext cx="201168" cy="20116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43" name="Text 40"/>
          <p:cNvSpPr/>
          <p:nvPr/>
        </p:nvSpPr>
        <p:spPr>
          <a:xfrm>
            <a:off x="4709160" y="4498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965192" y="4471416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in the Security Incident Log (NSS-07-07)</a:t>
            </a:r>
            <a:endParaRPr lang="en-US" sz="850" dirty="0"/>
          </a:p>
        </p:txBody>
      </p:sp>
      <p:sp>
        <p:nvSpPr>
          <p:cNvPr id="45" name="Rectangle 4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 Toolkit: Document Suite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1188720" cy="658368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9144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508760" y="91440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0" name="Text 7"/>
          <p:cNvSpPr/>
          <p:nvPr/>
        </p:nvSpPr>
        <p:spPr>
          <a:xfrm>
            <a:off x="1600200" y="95097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Classification Policy and Procedure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600200" y="131673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4320" y="1691640"/>
            <a:ext cx="1188720" cy="658368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69164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508760" y="169164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15" name="Text 12"/>
          <p:cNvSpPr/>
          <p:nvPr/>
        </p:nvSpPr>
        <p:spPr>
          <a:xfrm>
            <a:off x="1600200" y="17282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Controls Framework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600200" y="20939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74320" y="2468880"/>
            <a:ext cx="1188720" cy="658368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4688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NSS-07-03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508760" y="246888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0" name="Text 17"/>
          <p:cNvSpPr/>
          <p:nvPr/>
        </p:nvSpPr>
        <p:spPr>
          <a:xfrm>
            <a:off x="1600200" y="25054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Document and IP Protection Guide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600200" y="287121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4320" y="3246120"/>
            <a:ext cx="1188720" cy="658368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324612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NSS-07-04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508760" y="324612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25" name="Text 22"/>
          <p:cNvSpPr/>
          <p:nvPr/>
        </p:nvSpPr>
        <p:spPr>
          <a:xfrm>
            <a:off x="1600200" y="32826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 Security Vetting Procedure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600200" y="364845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74320" y="4023360"/>
            <a:ext cx="118872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Text 25"/>
          <p:cNvSpPr/>
          <p:nvPr/>
        </p:nvSpPr>
        <p:spPr>
          <a:xfrm>
            <a:off x="274320" y="402336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NSS-07-05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508760" y="402336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30" name="Text 27"/>
          <p:cNvSpPr/>
          <p:nvPr/>
        </p:nvSpPr>
        <p:spPr>
          <a:xfrm>
            <a:off x="1600200" y="40599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Risk Register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600200" y="442569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54880" y="914400"/>
            <a:ext cx="118872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9144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NSS-07-06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89320" y="91440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35" name="Text 32"/>
          <p:cNvSpPr/>
          <p:nvPr/>
        </p:nvSpPr>
        <p:spPr>
          <a:xfrm>
            <a:off x="6080760" y="95097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 Security Vetting Tracker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080760" y="131673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754880" y="1691640"/>
            <a:ext cx="118872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0" y="169164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NSS-07-07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989320" y="169164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40" name="Text 37"/>
          <p:cNvSpPr/>
          <p:nvPr/>
        </p:nvSpPr>
        <p:spPr>
          <a:xfrm>
            <a:off x="6080760" y="17282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 Log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80760" y="20939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754880" y="2468880"/>
            <a:ext cx="1188720" cy="65836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3" name="Text 40"/>
          <p:cNvSpPr/>
          <p:nvPr/>
        </p:nvSpPr>
        <p:spPr>
          <a:xfrm>
            <a:off x="4754880" y="24688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NSS-07-08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989320" y="246888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45" name="Text 42"/>
          <p:cNvSpPr/>
          <p:nvPr/>
        </p:nvSpPr>
        <p:spPr>
          <a:xfrm>
            <a:off x="6080760" y="25054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of Information Overview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080760" y="287121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754880" y="3246120"/>
            <a:ext cx="1188720" cy="658368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48" name="Text 45"/>
          <p:cNvSpPr/>
          <p:nvPr/>
        </p:nvSpPr>
        <p:spPr>
          <a:xfrm>
            <a:off x="4754880" y="324612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NSS-07-09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989320" y="3246120"/>
            <a:ext cx="3154680" cy="658368"/>
          </a:xfrm>
          <a:prstGeom prst="rect">
            <a:avLst/>
          </a:prstGeom>
          <a:solidFill>
            <a:srgbClr val="E5F5FD"/>
          </a:solidFill>
          <a:ln/>
        </p:spPr>
      </p:sp>
      <p:sp>
        <p:nvSpPr>
          <p:cNvPr id="50" name="Text 47"/>
          <p:cNvSpPr/>
          <p:nvPr/>
        </p:nvSpPr>
        <p:spPr>
          <a:xfrm>
            <a:off x="6080760" y="32826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Awareness Training Guide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080760" y="364845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800" dirty="0"/>
          </a:p>
        </p:txBody>
      </p:sp>
      <p:sp>
        <p:nvSpPr>
          <p:cNvPr id="52" name="Rectangle 5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NSS-07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9784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all information before sharing. When in doubt, apply the higher classification.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320040" cy="3200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99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MFA, encrypted storage and patch management are non-negotiable cybersecurity controls.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320040" cy="3200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37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8562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BPSS as a minimum for every individual working on a nuclear programme contract.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76856"/>
            <a:ext cx="320040" cy="3200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76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29514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RESTRICTED information without a valid NDA or contractual protection in place.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15768"/>
            <a:ext cx="320040" cy="3200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15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73405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security incidents immediately. No-blame reporting is the standard. Delayed reporting is not.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1729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clients expect supply chain security to be demonstrable, not just stated.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Collaboration Ltd | Fit For Nuclear Programme | NSS-07 Security of Information</a:t>
            </a:r>
            <a:endParaRPr lang="en-US" sz="1100" dirty="0"/>
          </a:p>
        </p:txBody>
      </p:sp>
      <p:sp>
        <p:nvSpPr>
          <p:cNvPr id="24" name="Rectangle 2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4F3399-916F-4B73-97F3-E535C37688D3}"/>
</file>

<file path=customXml/itemProps2.xml><?xml version="1.0" encoding="utf-8"?>
<ds:datastoreItem xmlns:ds="http://schemas.openxmlformats.org/officeDocument/2006/customXml" ds:itemID="{2DA11341-185A-4E2D-B6B8-B2E2D2F1393C}"/>
</file>

<file path=customXml/itemProps3.xml><?xml version="1.0" encoding="utf-8"?>
<ds:datastoreItem xmlns:ds="http://schemas.openxmlformats.org/officeDocument/2006/customXml" ds:itemID="{8141D2AF-A1D4-4284-9D8A-9F4877BD63F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NSS-07-08 Security of Information Overview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