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1.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 Id="rId4" Type="http://schemas.openxmlformats.org/officeDocument/2006/relationships/image" Target="../media/image1.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image" Target="../media/image1.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 Id="rId4" Type="http://schemas.openxmlformats.org/officeDocument/2006/relationships/image" Target="../media/image1.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 Id="rId4" Type="http://schemas.openxmlformats.org/officeDocument/2006/relationships/image" Target="../media/image1.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 Id="rId4" Type="http://schemas.openxmlformats.org/officeDocument/2006/relationships/image" Target="../media/image1.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image" Target="../media/image1.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 Id="rId4" Type="http://schemas.openxmlformats.org/officeDocument/2006/relationships/image" Target="../media/image1.pn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 Id="rId4" Type="http://schemas.openxmlformats.org/officeDocument/2006/relationships/image" Target="../media/image1.png"/><Relationship Id="rId5"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 Id="rId4" Type="http://schemas.openxmlformats.org/officeDocument/2006/relationships/image" Target="../media/image1.png"/><Relationship Id="rId5"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 Id="rId4" Type="http://schemas.openxmlformats.org/officeDocument/2006/relationships/image" Target="../media/image1.png"/><Relationship Id="rId5"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 Id="rId4" Type="http://schemas.openxmlformats.org/officeDocument/2006/relationships/image" Target="../media/image1.png"/><Relationship Id="rId5"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 Id="rId4" Type="http://schemas.openxmlformats.org/officeDocument/2006/relationships/image" Target="../media/image1.png"/><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9FE3"/>
          </a:solidFill>
          <a:ln/>
        </p:spPr>
      </p:sp>
      <p:sp>
        <p:nvSpPr>
          <p:cNvPr id="3" name="Shape 1"/>
          <p:cNvSpPr/>
          <p:nvPr/>
        </p:nvSpPr>
        <p:spPr>
          <a:xfrm>
            <a:off x="0" y="3291840"/>
            <a:ext cx="9144000" cy="1851660"/>
          </a:xfrm>
          <a:prstGeom prst="rect">
            <a:avLst/>
          </a:prstGeom>
          <a:solidFill>
            <a:srgbClr val="83348F"/>
          </a:solidFill>
          <a:ln/>
        </p:spPr>
      </p:sp>
      <p:pic>
        <p:nvPicPr>
          <p:cNvPr id="4" name="Image 0" descr="preencoded.png">    </p:cNvPr>
          <p:cNvPicPr>
            <a:picLocks noChangeAspect="1"/>
          </p:cNvPicPr>
          <p:nvPr/>
        </p:nvPicPr>
        <p:blipFill>
          <a:blip r:embed="rId1"/>
          <a:stretch>
            <a:fillRect/>
          </a:stretch>
        </p:blipFill>
        <p:spPr>
          <a:xfrm>
            <a:off x="457200" y="457200"/>
            <a:ext cx="2011680" cy="667512"/>
          </a:xfrm>
          <a:prstGeom prst="rect">
            <a:avLst/>
          </a:prstGeom>
        </p:spPr>
      </p:pic>
      <p:sp>
        <p:nvSpPr>
          <p:cNvPr id="5" name="Text 2"/>
          <p:cNvSpPr/>
          <p:nvPr/>
        </p:nvSpPr>
        <p:spPr>
          <a:xfrm>
            <a:off x="457200" y="1280160"/>
            <a:ext cx="8229600" cy="1645920"/>
          </a:xfrm>
          <a:prstGeom prst="rect">
            <a:avLst/>
          </a:prstGeom>
          <a:noFill/>
          <a:ln/>
        </p:spPr>
        <p:txBody>
          <a:bodyPr wrap="square" rtlCol="0" anchor="ctr"/>
          <a:lstStyle/>
          <a:p>
            <a:pPr indent="0" marL="0">
              <a:buNone/>
            </a:pPr>
            <a:r>
              <a:rPr lang="en-US" sz="3400" b="1" dirty="0">
                <a:solidFill>
                  <a:srgbClr val="FFFFFF"/>
                </a:solidFill>
                <a:latin typeface="Arial" pitchFamily="34" charset="0"/>
                <a:ea typeface="Arial" pitchFamily="34" charset="-122"/>
                <a:cs typeface="Arial" pitchFamily="34" charset="-120"/>
              </a:rPr>
              <a:t>Quality Plans and</a:t>
            </a:r>
            <a:endParaRPr lang="en-US" sz="3400" dirty="0"/>
          </a:p>
          <a:p>
            <a:pPr indent="0" marL="0">
              <a:buNone/>
            </a:pPr>
            <a:r>
              <a:rPr lang="en-US" sz="3400" b="1" dirty="0">
                <a:solidFill>
                  <a:srgbClr val="FFFFFF"/>
                </a:solidFill>
                <a:latin typeface="Arial" pitchFamily="34" charset="0"/>
                <a:ea typeface="Arial" pitchFamily="34" charset="-122"/>
                <a:cs typeface="Arial" pitchFamily="34" charset="-120"/>
              </a:rPr>
              <a:t>Inspection and Test Plans</a:t>
            </a:r>
            <a:endParaRPr lang="en-US" sz="3400" dirty="0"/>
          </a:p>
        </p:txBody>
      </p:sp>
      <p:sp>
        <p:nvSpPr>
          <p:cNvPr id="6" name="Text 3"/>
          <p:cNvSpPr/>
          <p:nvPr/>
        </p:nvSpPr>
        <p:spPr>
          <a:xfrm>
            <a:off x="457200" y="3383280"/>
            <a:ext cx="8229600" cy="457200"/>
          </a:xfrm>
          <a:prstGeom prst="rect">
            <a:avLst/>
          </a:prstGeom>
          <a:noFill/>
          <a:ln/>
        </p:spPr>
        <p:txBody>
          <a:bodyPr wrap="square" rtlCol="0" anchor="ctr"/>
          <a:lstStyle/>
          <a:p>
            <a:pPr indent="0" marL="0">
              <a:buNone/>
            </a:pPr>
            <a:r>
              <a:rPr lang="en-US" sz="1600" dirty="0">
                <a:solidFill>
                  <a:srgbClr val="FFFFFF"/>
                </a:solidFill>
                <a:latin typeface="Arial" pitchFamily="34" charset="0"/>
                <a:ea typeface="Arial" pitchFamily="34" charset="-122"/>
                <a:cs typeface="Arial" pitchFamily="34" charset="-120"/>
              </a:rPr>
              <a:t>A Practical Guide for [Company Name] Teams</a:t>
            </a:r>
            <a:endParaRPr lang="en-US" sz="1600" dirty="0"/>
          </a:p>
        </p:txBody>
      </p:sp>
      <p:sp>
        <p:nvSpPr>
          <p:cNvPr id="7" name="Text 4"/>
          <p:cNvSpPr/>
          <p:nvPr/>
        </p:nvSpPr>
        <p:spPr>
          <a:xfrm>
            <a:off x="457200" y="3931920"/>
            <a:ext cx="8229600" cy="274320"/>
          </a:xfrm>
          <a:prstGeom prst="rect">
            <a:avLst/>
          </a:prstGeom>
          <a:noFill/>
          <a:ln/>
        </p:spPr>
        <p:txBody>
          <a:bodyPr wrap="square" rtlCol="0" anchor="ctr"/>
          <a:lstStyle/>
          <a:p>
            <a:pPr indent="0" marL="0">
              <a:buNone/>
            </a:pPr>
            <a:r>
              <a:rPr lang="en-US" sz="1000" dirty="0">
                <a:solidFill>
                  <a:srgbClr val="DDDDDD"/>
                </a:solidFill>
                <a:latin typeface="Arial" pitchFamily="34" charset="0"/>
                <a:ea typeface="Arial" pitchFamily="34" charset="-122"/>
                <a:cs typeface="Arial" pitchFamily="34" charset="-120"/>
              </a:rPr>
              <a:t>Commercial in Confidence</a:t>
            </a:r>
            <a:endParaRPr lang="en-US" sz="1000" dirty="0"/>
          </a:p>
        </p:txBody>
      </p:sp>
      <p:sp>
        <p:nvSpPr>
          <p:cNvPr id="8" name="Rectangle 7"/>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5"/>
          <a:stretch>
            <a:fillRect/>
          </a:stretch>
        </p:blipFill>
        <p:spPr>
          <a:xfrm>
            <a:off x="7562088" y="100584"/>
            <a:ext cx="566928" cy="347472"/>
          </a:xfrm>
          <a:prstGeom prst="rect">
            <a:avLst/>
          </a:prstGeom>
        </p:spPr>
      </p:pic>
      <p:pic>
        <p:nvPicPr>
          <p:cNvPr id="10" name="Picture 9" descr="image.png"/>
          <p:cNvPicPr>
            <a:picLocks noChangeAspect="1"/>
          </p:cNvPicPr>
          <p:nvPr/>
        </p:nvPicPr>
        <p:blipFill>
          <a:blip r:embed="rId4"/>
          <a:stretch>
            <a:fillRect/>
          </a:stretch>
        </p:blipFill>
        <p:spPr>
          <a:xfrm>
            <a:off x="8174736" y="100584"/>
            <a:ext cx="658368" cy="347472"/>
          </a:xfrm>
          <a:prstGeom prst="rect">
            <a:avLst/>
          </a:prstGeom>
        </p:spPr>
      </p:pic>
      <p:sp>
        <p:nvSpPr>
          <p:cNvPr id="11" name="Rectangle 10"/>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Shape 0"/>
          <p:cNvSpPr/>
          <p:nvPr/>
        </p:nvSpPr>
        <p:spPr>
          <a:xfrm>
            <a:off x="0" y="0"/>
            <a:ext cx="9144000" cy="658368"/>
          </a:xfrm>
          <a:prstGeom prst="rect">
            <a:avLst/>
          </a:prstGeom>
          <a:solidFill>
            <a:srgbClr val="009FE3"/>
          </a:solidFill>
          <a:ln/>
        </p:spPr>
      </p:sp>
      <p:sp>
        <p:nvSpPr>
          <p:cNvPr id="4" name="Text 1"/>
          <p:cNvSpPr/>
          <p:nvPr/>
        </p:nvSpPr>
        <p:spPr>
          <a:xfrm>
            <a:off x="365760" y="0"/>
            <a:ext cx="7315200" cy="658368"/>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What is a Quality Plan?</a:t>
            </a:r>
            <a:endParaRPr lang="en-US" sz="2000" dirty="0"/>
          </a:p>
        </p:txBody>
      </p:sp>
      <p:sp>
        <p:nvSpPr>
          <p:cNvPr id="7" name="Text 4"/>
          <p:cNvSpPr/>
          <p:nvPr/>
        </p:nvSpPr>
        <p:spPr>
          <a:xfrm>
            <a:off x="365760" y="777240"/>
            <a:ext cx="8412480" cy="640080"/>
          </a:xfrm>
          <a:prstGeom prst="rect">
            <a:avLst/>
          </a:prstGeom>
          <a:noFill/>
          <a:ln/>
        </p:spPr>
        <p:txBody>
          <a:bodyPr wrap="square" rtlCol="0" anchor="t"/>
          <a:lstStyle/>
          <a:p>
            <a:pPr indent="0" marL="0">
              <a:buNone/>
            </a:pPr>
            <a:r>
              <a:rPr lang="en-US" sz="1200" dirty="0">
                <a:solidFill>
                  <a:srgbClr val="5B595A"/>
                </a:solidFill>
                <a:latin typeface="Arial" pitchFamily="34" charset="0"/>
                <a:ea typeface="Arial" pitchFamily="34" charset="-122"/>
                <a:cs typeface="Arial" pitchFamily="34" charset="-120"/>
              </a:rPr>
              <a:t>A quality plan is a formal document that defines how quality will be managed and demonstrated for a specific contract or project. It is not a general quality manual. It is written for one specific job.</a:t>
            </a:r>
            <a:endParaRPr lang="en-US" sz="1200" dirty="0"/>
          </a:p>
        </p:txBody>
      </p:sp>
      <p:sp>
        <p:nvSpPr>
          <p:cNvPr id="8" name="Text 5"/>
          <p:cNvSpPr/>
          <p:nvPr/>
        </p:nvSpPr>
        <p:spPr>
          <a:xfrm>
            <a:off x="365760" y="1463040"/>
            <a:ext cx="8412480" cy="320040"/>
          </a:xfrm>
          <a:prstGeom prst="rect">
            <a:avLst/>
          </a:prstGeom>
          <a:noFill/>
          <a:ln/>
        </p:spPr>
        <p:txBody>
          <a:bodyPr wrap="square" rtlCol="0" anchor="ctr"/>
          <a:lstStyle/>
          <a:p>
            <a:pPr indent="0" marL="0">
              <a:buNone/>
            </a:pPr>
            <a:r>
              <a:rPr lang="en-US" sz="1400" b="1" dirty="0">
                <a:solidFill>
                  <a:srgbClr val="83348F"/>
                </a:solidFill>
                <a:latin typeface="Arial" pitchFamily="34" charset="0"/>
                <a:ea typeface="Arial" pitchFamily="34" charset="-122"/>
                <a:cs typeface="Arial" pitchFamily="34" charset="-120"/>
              </a:rPr>
              <a:t>A quality plan must define:</a:t>
            </a:r>
            <a:endParaRPr lang="en-US" sz="1400" dirty="0"/>
          </a:p>
        </p:txBody>
      </p:sp>
      <p:sp>
        <p:nvSpPr>
          <p:cNvPr id="9" name="Text 6"/>
          <p:cNvSpPr/>
          <p:nvPr/>
        </p:nvSpPr>
        <p:spPr>
          <a:xfrm>
            <a:off x="365760" y="1783080"/>
            <a:ext cx="8229600" cy="2560320"/>
          </a:xfrm>
          <a:prstGeom prst="rect">
            <a:avLst/>
          </a:prstGeom>
          <a:noFill/>
          <a:ln/>
        </p:spPr>
        <p:txBody>
          <a:bodyPr wrap="square" rtlCol="0" anchor="t"/>
          <a:lstStyle/>
          <a:p>
            <a:pPr marL="342900" indent="-342900">
              <a:spcAft>
                <a:spcPts val="400"/>
              </a:spcAft>
              <a:buSzPct val="100000"/>
              <a:buChar char="•"/>
            </a:pPr>
            <a:r>
              <a:rPr lang="en-US" sz="1300" dirty="0">
                <a:solidFill>
                  <a:srgbClr val="5B595A"/>
                </a:solidFill>
                <a:latin typeface="Arial" pitchFamily="34" charset="0"/>
                <a:ea typeface="Arial" pitchFamily="34" charset="-122"/>
                <a:cs typeface="Arial" pitchFamily="34" charset="-120"/>
              </a:rPr>
              <a:t>The specific quality objectives for the contract</a:t>
            </a:r>
            <a:endParaRPr lang="en-US" sz="1300" dirty="0"/>
          </a:p>
          <a:p>
            <a:pPr marL="342900" indent="-342900">
              <a:spcAft>
                <a:spcPts val="400"/>
              </a:spcAft>
              <a:buSzPct val="100000"/>
              <a:buChar char="•"/>
            </a:pPr>
            <a:r>
              <a:rPr lang="en-US" sz="1300" dirty="0">
                <a:solidFill>
                  <a:srgbClr val="5B595A"/>
                </a:solidFill>
                <a:latin typeface="Arial" pitchFamily="34" charset="0"/>
                <a:ea typeface="Arial" pitchFamily="34" charset="-122"/>
                <a:cs typeface="Arial" pitchFamily="34" charset="-120"/>
              </a:rPr>
              <a:t>Which standards and specifications apply</a:t>
            </a:r>
            <a:endParaRPr lang="en-US" sz="1300" dirty="0"/>
          </a:p>
          <a:p>
            <a:pPr marL="342900" indent="-342900">
              <a:spcAft>
                <a:spcPts val="400"/>
              </a:spcAft>
              <a:buSzPct val="100000"/>
              <a:buChar char="•"/>
            </a:pPr>
            <a:r>
              <a:rPr lang="en-US" sz="1300" dirty="0">
                <a:solidFill>
                  <a:srgbClr val="5B595A"/>
                </a:solidFill>
                <a:latin typeface="Arial" pitchFamily="34" charset="0"/>
                <a:ea typeface="Arial" pitchFamily="34" charset="-122"/>
                <a:cs typeface="Arial" pitchFamily="34" charset="-120"/>
              </a:rPr>
              <a:t>Who is responsible for each quality activity (named SQEP)</a:t>
            </a:r>
            <a:endParaRPr lang="en-US" sz="1300" dirty="0"/>
          </a:p>
          <a:p>
            <a:pPr marL="342900" indent="-342900">
              <a:spcAft>
                <a:spcPts val="400"/>
              </a:spcAft>
              <a:buSzPct val="100000"/>
              <a:buChar char="•"/>
            </a:pPr>
            <a:r>
              <a:rPr lang="en-US" sz="1300" dirty="0">
                <a:solidFill>
                  <a:srgbClr val="5B595A"/>
                </a:solidFill>
                <a:latin typeface="Arial" pitchFamily="34" charset="0"/>
                <a:ea typeface="Arial" pitchFamily="34" charset="-122"/>
                <a:cs typeface="Arial" pitchFamily="34" charset="-120"/>
              </a:rPr>
              <a:t>How materials will be procured, certified, and traced</a:t>
            </a:r>
            <a:endParaRPr lang="en-US" sz="1300" dirty="0"/>
          </a:p>
          <a:p>
            <a:pPr marL="342900" indent="-342900">
              <a:spcAft>
                <a:spcPts val="400"/>
              </a:spcAft>
              <a:buSzPct val="100000"/>
              <a:buChar char="•"/>
            </a:pPr>
            <a:r>
              <a:rPr lang="en-US" sz="1300" dirty="0">
                <a:solidFill>
                  <a:srgbClr val="5B595A"/>
                </a:solidFill>
                <a:latin typeface="Arial" pitchFamily="34" charset="0"/>
                <a:ea typeface="Arial" pitchFamily="34" charset="-122"/>
                <a:cs typeface="Arial" pitchFamily="34" charset="-120"/>
              </a:rPr>
              <a:t>What inspections and tests will take place, and at what stages</a:t>
            </a:r>
            <a:endParaRPr lang="en-US" sz="1300" dirty="0"/>
          </a:p>
          <a:p>
            <a:pPr marL="342900" indent="-342900">
              <a:spcAft>
                <a:spcPts val="400"/>
              </a:spcAft>
              <a:buSzPct val="100000"/>
              <a:buChar char="•"/>
            </a:pPr>
            <a:r>
              <a:rPr lang="en-US" sz="1300" dirty="0">
                <a:solidFill>
                  <a:srgbClr val="5B595A"/>
                </a:solidFill>
                <a:latin typeface="Arial" pitchFamily="34" charset="0"/>
                <a:ea typeface="Arial" pitchFamily="34" charset="-122"/>
                <a:cs typeface="Arial" pitchFamily="34" charset="-120"/>
              </a:rPr>
              <a:t>How non-conformances will be managed</a:t>
            </a:r>
            <a:endParaRPr lang="en-US" sz="1300" dirty="0"/>
          </a:p>
          <a:p>
            <a:pPr marL="342900" indent="-342900">
              <a:spcAft>
                <a:spcPts val="400"/>
              </a:spcAft>
              <a:buSzPct val="100000"/>
              <a:buChar char="•"/>
            </a:pPr>
            <a:r>
              <a:rPr lang="en-US" sz="1300" dirty="0">
                <a:solidFill>
                  <a:srgbClr val="5B595A"/>
                </a:solidFill>
                <a:latin typeface="Arial" pitchFamily="34" charset="0"/>
                <a:ea typeface="Arial" pitchFamily="34" charset="-122"/>
                <a:cs typeface="Arial" pitchFamily="34" charset="-120"/>
              </a:rPr>
              <a:t>What records must be kept, and how long they will be retained</a:t>
            </a:r>
            <a:endParaRPr lang="en-US" sz="1300" dirty="0"/>
          </a:p>
          <a:p>
            <a:pPr marL="342900" indent="-342900">
              <a:spcAft>
                <a:spcPts val="400"/>
              </a:spcAft>
              <a:buSzPct val="100000"/>
              <a:buChar char="•"/>
            </a:pPr>
            <a:r>
              <a:rPr lang="en-US" sz="1300" dirty="0">
                <a:solidFill>
                  <a:srgbClr val="5B595A"/>
                </a:solidFill>
                <a:latin typeface="Arial" pitchFamily="34" charset="0"/>
                <a:ea typeface="Arial" pitchFamily="34" charset="-122"/>
                <a:cs typeface="Arial" pitchFamily="34" charset="-120"/>
              </a:rPr>
              <a:t>How changes to scope or specification will be controlled</a:t>
            </a:r>
            <a:endParaRPr lang="en-US" sz="1300" dirty="0"/>
          </a:p>
        </p:txBody>
      </p:sp>
      <p:sp>
        <p:nvSpPr>
          <p:cNvPr id="10" name="Shape 7"/>
          <p:cNvSpPr/>
          <p:nvPr/>
        </p:nvSpPr>
        <p:spPr>
          <a:xfrm>
            <a:off x="365760" y="4407408"/>
            <a:ext cx="8412480" cy="384048"/>
          </a:xfrm>
          <a:prstGeom prst="rect">
            <a:avLst/>
          </a:prstGeom>
          <a:solidFill>
            <a:srgbClr val="E6F4FB"/>
          </a:solidFill>
          <a:ln w="19050">
            <a:solidFill>
              <a:srgbClr val="009FE3"/>
            </a:solidFill>
            <a:prstDash val="solid"/>
          </a:ln>
        </p:spPr>
      </p:sp>
      <p:sp>
        <p:nvSpPr>
          <p:cNvPr id="11" name="Text 8"/>
          <p:cNvSpPr/>
          <p:nvPr/>
        </p:nvSpPr>
        <p:spPr>
          <a:xfrm>
            <a:off x="475488" y="4480560"/>
            <a:ext cx="8193024" cy="237744"/>
          </a:xfrm>
          <a:prstGeom prst="rect">
            <a:avLst/>
          </a:prstGeom>
          <a:noFill/>
          <a:ln/>
        </p:spPr>
        <p:txBody>
          <a:bodyPr wrap="square" rtlCol="0" anchor="t"/>
          <a:lstStyle/>
          <a:p>
            <a:pPr indent="0" marL="0">
              <a:buNone/>
            </a:pPr>
            <a:r>
              <a:rPr lang="en-US" sz="1100" i="1" dirty="0">
                <a:solidFill>
                  <a:srgbClr val="5B595A"/>
                </a:solidFill>
                <a:latin typeface="Arial" pitchFamily="34" charset="0"/>
                <a:ea typeface="Arial" pitchFamily="34" charset="-122"/>
                <a:cs typeface="Arial" pitchFamily="34" charset="-120"/>
              </a:rPr>
              <a:t>Nuclear customers expect to receive and formally accept your quality plan before you start work. Starting work without an accepted quality plan is a serious non-conformance.</a:t>
            </a:r>
            <a:endParaRPr lang="en-US" sz="1100" dirty="0"/>
          </a:p>
        </p:txBody>
      </p:sp>
      <p:sp>
        <p:nvSpPr>
          <p:cNvPr id="12" name="Rectangle 1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5"/>
          <a:stretch>
            <a:fillRect/>
          </a:stretch>
        </p:blipFill>
        <p:spPr>
          <a:xfrm>
            <a:off x="7562088" y="100584"/>
            <a:ext cx="566928" cy="347472"/>
          </a:xfrm>
          <a:prstGeom prst="rect">
            <a:avLst/>
          </a:prstGeom>
        </p:spPr>
      </p:pic>
      <p:pic>
        <p:nvPicPr>
          <p:cNvPr id="14" name="Picture 13" descr="image.png"/>
          <p:cNvPicPr>
            <a:picLocks noChangeAspect="1"/>
          </p:cNvPicPr>
          <p:nvPr/>
        </p:nvPicPr>
        <p:blipFill>
          <a:blip r:embed="rId4"/>
          <a:stretch>
            <a:fillRect/>
          </a:stretch>
        </p:blipFill>
        <p:spPr>
          <a:xfrm>
            <a:off x="8174736" y="100584"/>
            <a:ext cx="658368" cy="347472"/>
          </a:xfrm>
          <a:prstGeom prst="rect">
            <a:avLst/>
          </a:prstGeom>
        </p:spPr>
      </p:pic>
      <p:sp>
        <p:nvSpPr>
          <p:cNvPr id="15" name="Rectangle 1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Shape 0"/>
          <p:cNvSpPr/>
          <p:nvPr/>
        </p:nvSpPr>
        <p:spPr>
          <a:xfrm>
            <a:off x="0" y="0"/>
            <a:ext cx="9144000" cy="658368"/>
          </a:xfrm>
          <a:prstGeom prst="rect">
            <a:avLst/>
          </a:prstGeom>
          <a:solidFill>
            <a:srgbClr val="009FE3"/>
          </a:solidFill>
          <a:ln/>
        </p:spPr>
      </p:sp>
      <p:sp>
        <p:nvSpPr>
          <p:cNvPr id="4" name="Text 1"/>
          <p:cNvSpPr/>
          <p:nvPr/>
        </p:nvSpPr>
        <p:spPr>
          <a:xfrm>
            <a:off x="365760" y="0"/>
            <a:ext cx="7315200" cy="658368"/>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Why Do We Need Quality Plans?</a:t>
            </a:r>
            <a:endParaRPr lang="en-US" sz="2000" dirty="0"/>
          </a:p>
        </p:txBody>
      </p:sp>
      <p:sp>
        <p:nvSpPr>
          <p:cNvPr id="7" name="Shape 4"/>
          <p:cNvSpPr/>
          <p:nvPr/>
        </p:nvSpPr>
        <p:spPr>
          <a:xfrm>
            <a:off x="274320" y="777240"/>
            <a:ext cx="2651760" cy="1828800"/>
          </a:xfrm>
          <a:prstGeom prst="rect">
            <a:avLst/>
          </a:prstGeom>
          <a:solidFill>
            <a:srgbClr val="009FE3"/>
          </a:solidFill>
          <a:ln w="12700">
            <a:solidFill>
              <a:srgbClr val="009FE3"/>
            </a:solidFill>
            <a:prstDash val="solid"/>
          </a:ln>
        </p:spPr>
      </p:sp>
      <p:sp>
        <p:nvSpPr>
          <p:cNvPr id="8" name="Text 5"/>
          <p:cNvSpPr/>
          <p:nvPr/>
        </p:nvSpPr>
        <p:spPr>
          <a:xfrm>
            <a:off x="384048" y="868680"/>
            <a:ext cx="2432304"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Nuclear Safety</a:t>
            </a:r>
            <a:endParaRPr lang="en-US" sz="1200" dirty="0"/>
          </a:p>
        </p:txBody>
      </p:sp>
      <p:sp>
        <p:nvSpPr>
          <p:cNvPr id="9" name="Text 6"/>
          <p:cNvSpPr/>
          <p:nvPr/>
        </p:nvSpPr>
        <p:spPr>
          <a:xfrm>
            <a:off x="384048" y="1252728"/>
            <a:ext cx="2432304" cy="1234440"/>
          </a:xfrm>
          <a:prstGeom prst="rect">
            <a:avLst/>
          </a:prstGeom>
          <a:noFill/>
          <a:ln/>
        </p:spPr>
        <p:txBody>
          <a:bodyPr wrap="square" rtlCol="0" anchor="t"/>
          <a:lstStyle/>
          <a:p>
            <a:pPr indent="0" marL="0">
              <a:buNone/>
            </a:pPr>
            <a:r>
              <a:rPr lang="en-US" sz="1000" dirty="0">
                <a:solidFill>
                  <a:srgbClr val="FFFFFF"/>
                </a:solidFill>
                <a:latin typeface="Arial" pitchFamily="34" charset="0"/>
                <a:ea typeface="Arial" pitchFamily="34" charset="-122"/>
                <a:cs typeface="Arial" pitchFamily="34" charset="-120"/>
              </a:rPr>
              <a:t>Nuclear components must be made right first time. A failure can have consequences for public safety that last decades.</a:t>
            </a:r>
            <a:endParaRPr lang="en-US" sz="1000" dirty="0"/>
          </a:p>
        </p:txBody>
      </p:sp>
      <p:sp>
        <p:nvSpPr>
          <p:cNvPr id="10" name="Shape 7"/>
          <p:cNvSpPr/>
          <p:nvPr/>
        </p:nvSpPr>
        <p:spPr>
          <a:xfrm>
            <a:off x="3200400" y="777240"/>
            <a:ext cx="2651760" cy="1828800"/>
          </a:xfrm>
          <a:prstGeom prst="rect">
            <a:avLst/>
          </a:prstGeom>
          <a:solidFill>
            <a:srgbClr val="83348F"/>
          </a:solidFill>
          <a:ln w="12700">
            <a:solidFill>
              <a:srgbClr val="83348F"/>
            </a:solidFill>
            <a:prstDash val="solid"/>
          </a:ln>
        </p:spPr>
      </p:sp>
      <p:sp>
        <p:nvSpPr>
          <p:cNvPr id="11" name="Text 8"/>
          <p:cNvSpPr/>
          <p:nvPr/>
        </p:nvSpPr>
        <p:spPr>
          <a:xfrm>
            <a:off x="3310128" y="868680"/>
            <a:ext cx="2432304"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Customer Requirement</a:t>
            </a:r>
            <a:endParaRPr lang="en-US" sz="1200" dirty="0"/>
          </a:p>
        </p:txBody>
      </p:sp>
      <p:sp>
        <p:nvSpPr>
          <p:cNvPr id="12" name="Text 9"/>
          <p:cNvSpPr/>
          <p:nvPr/>
        </p:nvSpPr>
        <p:spPr>
          <a:xfrm>
            <a:off x="3310128" y="1252728"/>
            <a:ext cx="2432304" cy="1234440"/>
          </a:xfrm>
          <a:prstGeom prst="rect">
            <a:avLst/>
          </a:prstGeom>
          <a:noFill/>
          <a:ln/>
        </p:spPr>
        <p:txBody>
          <a:bodyPr wrap="square" rtlCol="0" anchor="t"/>
          <a:lstStyle/>
          <a:p>
            <a:pPr indent="0" marL="0">
              <a:buNone/>
            </a:pPr>
            <a:r>
              <a:rPr lang="en-US" sz="1000" dirty="0">
                <a:solidFill>
                  <a:srgbClr val="FFFFFF"/>
                </a:solidFill>
                <a:latin typeface="Arial" pitchFamily="34" charset="0"/>
                <a:ea typeface="Arial" pitchFamily="34" charset="-122"/>
                <a:cs typeface="Arial" pitchFamily="34" charset="-120"/>
              </a:rPr>
              <a:t>Nuclear customers require quality plans as a contractual condition. No accepted quality plan = no order.</a:t>
            </a:r>
            <a:endParaRPr lang="en-US" sz="1000" dirty="0"/>
          </a:p>
        </p:txBody>
      </p:sp>
      <p:sp>
        <p:nvSpPr>
          <p:cNvPr id="13" name="Shape 10"/>
          <p:cNvSpPr/>
          <p:nvPr/>
        </p:nvSpPr>
        <p:spPr>
          <a:xfrm>
            <a:off x="6126480" y="777240"/>
            <a:ext cx="2651760" cy="1828800"/>
          </a:xfrm>
          <a:prstGeom prst="rect">
            <a:avLst/>
          </a:prstGeom>
          <a:solidFill>
            <a:srgbClr val="009FE3"/>
          </a:solidFill>
          <a:ln w="12700">
            <a:solidFill>
              <a:srgbClr val="009FE3"/>
            </a:solidFill>
            <a:prstDash val="solid"/>
          </a:ln>
        </p:spPr>
      </p:sp>
      <p:sp>
        <p:nvSpPr>
          <p:cNvPr id="14" name="Text 11"/>
          <p:cNvSpPr/>
          <p:nvPr/>
        </p:nvSpPr>
        <p:spPr>
          <a:xfrm>
            <a:off x="6236208" y="868680"/>
            <a:ext cx="2432304"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Traceability</a:t>
            </a:r>
            <a:endParaRPr lang="en-US" sz="1200" dirty="0"/>
          </a:p>
        </p:txBody>
      </p:sp>
      <p:sp>
        <p:nvSpPr>
          <p:cNvPr id="15" name="Text 12"/>
          <p:cNvSpPr/>
          <p:nvPr/>
        </p:nvSpPr>
        <p:spPr>
          <a:xfrm>
            <a:off x="6236208" y="1252728"/>
            <a:ext cx="2432304" cy="1234440"/>
          </a:xfrm>
          <a:prstGeom prst="rect">
            <a:avLst/>
          </a:prstGeom>
          <a:noFill/>
          <a:ln/>
        </p:spPr>
        <p:txBody>
          <a:bodyPr wrap="square" rtlCol="0" anchor="t"/>
          <a:lstStyle/>
          <a:p>
            <a:pPr indent="0" marL="0">
              <a:buNone/>
            </a:pPr>
            <a:r>
              <a:rPr lang="en-US" sz="1000" dirty="0">
                <a:solidFill>
                  <a:srgbClr val="FFFFFF"/>
                </a:solidFill>
                <a:latin typeface="Arial" pitchFamily="34" charset="0"/>
                <a:ea typeface="Arial" pitchFamily="34" charset="-122"/>
                <a:cs typeface="Arial" pitchFamily="34" charset="-120"/>
              </a:rPr>
              <a:t>Nuclear facilities require full traceability of every item for up to 60 years. Quality plans create and maintain that audit trail.</a:t>
            </a:r>
            <a:endParaRPr lang="en-US" sz="1000" dirty="0"/>
          </a:p>
        </p:txBody>
      </p:sp>
      <p:sp>
        <p:nvSpPr>
          <p:cNvPr id="16" name="Shape 13"/>
          <p:cNvSpPr/>
          <p:nvPr/>
        </p:nvSpPr>
        <p:spPr>
          <a:xfrm>
            <a:off x="274320" y="2788920"/>
            <a:ext cx="2651760" cy="1828800"/>
          </a:xfrm>
          <a:prstGeom prst="rect">
            <a:avLst/>
          </a:prstGeom>
          <a:solidFill>
            <a:srgbClr val="83348F"/>
          </a:solidFill>
          <a:ln w="12700">
            <a:solidFill>
              <a:srgbClr val="83348F"/>
            </a:solidFill>
            <a:prstDash val="solid"/>
          </a:ln>
        </p:spPr>
      </p:sp>
      <p:sp>
        <p:nvSpPr>
          <p:cNvPr id="17" name="Text 14"/>
          <p:cNvSpPr/>
          <p:nvPr/>
        </p:nvSpPr>
        <p:spPr>
          <a:xfrm>
            <a:off x="384048" y="2880360"/>
            <a:ext cx="2432304"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Your Protection</a:t>
            </a:r>
            <a:endParaRPr lang="en-US" sz="1200" dirty="0"/>
          </a:p>
        </p:txBody>
      </p:sp>
      <p:sp>
        <p:nvSpPr>
          <p:cNvPr id="18" name="Text 15"/>
          <p:cNvSpPr/>
          <p:nvPr/>
        </p:nvSpPr>
        <p:spPr>
          <a:xfrm>
            <a:off x="384048" y="3264408"/>
            <a:ext cx="2432304" cy="1234440"/>
          </a:xfrm>
          <a:prstGeom prst="rect">
            <a:avLst/>
          </a:prstGeom>
          <a:noFill/>
          <a:ln/>
        </p:spPr>
        <p:txBody>
          <a:bodyPr wrap="square" rtlCol="0" anchor="t"/>
          <a:lstStyle/>
          <a:p>
            <a:pPr indent="0" marL="0">
              <a:buNone/>
            </a:pPr>
            <a:r>
              <a:rPr lang="en-US" sz="1000" dirty="0">
                <a:solidFill>
                  <a:srgbClr val="FFFFFF"/>
                </a:solidFill>
                <a:latin typeface="Arial" pitchFamily="34" charset="0"/>
                <a:ea typeface="Arial" pitchFamily="34" charset="-122"/>
                <a:cs typeface="Arial" pitchFamily="34" charset="-120"/>
              </a:rPr>
              <a:t>A well-run quality plan protects your company by demonstrating that you followed agreed processes if a dispute arises.</a:t>
            </a:r>
            <a:endParaRPr lang="en-US" sz="1000" dirty="0"/>
          </a:p>
        </p:txBody>
      </p:sp>
      <p:sp>
        <p:nvSpPr>
          <p:cNvPr id="19" name="Shape 16"/>
          <p:cNvSpPr/>
          <p:nvPr/>
        </p:nvSpPr>
        <p:spPr>
          <a:xfrm>
            <a:off x="3200400" y="2788920"/>
            <a:ext cx="2651760" cy="1828800"/>
          </a:xfrm>
          <a:prstGeom prst="rect">
            <a:avLst/>
          </a:prstGeom>
          <a:solidFill>
            <a:srgbClr val="009FE3"/>
          </a:solidFill>
          <a:ln w="12700">
            <a:solidFill>
              <a:srgbClr val="009FE3"/>
            </a:solidFill>
            <a:prstDash val="solid"/>
          </a:ln>
        </p:spPr>
      </p:sp>
      <p:sp>
        <p:nvSpPr>
          <p:cNvPr id="20" name="Text 17"/>
          <p:cNvSpPr/>
          <p:nvPr/>
        </p:nvSpPr>
        <p:spPr>
          <a:xfrm>
            <a:off x="3310128" y="2880360"/>
            <a:ext cx="2432304"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ISO 9001 / ISO 19443</a:t>
            </a:r>
            <a:endParaRPr lang="en-US" sz="1200" dirty="0"/>
          </a:p>
        </p:txBody>
      </p:sp>
      <p:sp>
        <p:nvSpPr>
          <p:cNvPr id="21" name="Text 18"/>
          <p:cNvSpPr/>
          <p:nvPr/>
        </p:nvSpPr>
        <p:spPr>
          <a:xfrm>
            <a:off x="3310128" y="3264408"/>
            <a:ext cx="2432304" cy="1234440"/>
          </a:xfrm>
          <a:prstGeom prst="rect">
            <a:avLst/>
          </a:prstGeom>
          <a:noFill/>
          <a:ln/>
        </p:spPr>
        <p:txBody>
          <a:bodyPr wrap="square" rtlCol="0" anchor="t"/>
          <a:lstStyle/>
          <a:p>
            <a:pPr indent="0" marL="0">
              <a:buNone/>
            </a:pPr>
            <a:r>
              <a:rPr lang="en-US" sz="1000" dirty="0">
                <a:solidFill>
                  <a:srgbClr val="FFFFFF"/>
                </a:solidFill>
                <a:latin typeface="Arial" pitchFamily="34" charset="0"/>
                <a:ea typeface="Arial" pitchFamily="34" charset="-122"/>
                <a:cs typeface="Arial" pitchFamily="34" charset="-120"/>
              </a:rPr>
              <a:t>Quality planning is a requirement of ISO 9001 clause 8.1 and is central to ISO 19443 for nuclear supply chains.</a:t>
            </a:r>
            <a:endParaRPr lang="en-US" sz="1000" dirty="0"/>
          </a:p>
        </p:txBody>
      </p:sp>
      <p:sp>
        <p:nvSpPr>
          <p:cNvPr id="22" name="Shape 19"/>
          <p:cNvSpPr/>
          <p:nvPr/>
        </p:nvSpPr>
        <p:spPr>
          <a:xfrm>
            <a:off x="6126480" y="2788920"/>
            <a:ext cx="2651760" cy="1828800"/>
          </a:xfrm>
          <a:prstGeom prst="rect">
            <a:avLst/>
          </a:prstGeom>
          <a:solidFill>
            <a:srgbClr val="83348F"/>
          </a:solidFill>
          <a:ln w="12700">
            <a:solidFill>
              <a:srgbClr val="83348F"/>
            </a:solidFill>
            <a:prstDash val="solid"/>
          </a:ln>
        </p:spPr>
      </p:sp>
      <p:sp>
        <p:nvSpPr>
          <p:cNvPr id="23" name="Text 20"/>
          <p:cNvSpPr/>
          <p:nvPr/>
        </p:nvSpPr>
        <p:spPr>
          <a:xfrm>
            <a:off x="6236208" y="2880360"/>
            <a:ext cx="2432304"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Winning More Work</a:t>
            </a:r>
            <a:endParaRPr lang="en-US" sz="1200" dirty="0"/>
          </a:p>
        </p:txBody>
      </p:sp>
      <p:sp>
        <p:nvSpPr>
          <p:cNvPr id="24" name="Text 21"/>
          <p:cNvSpPr/>
          <p:nvPr/>
        </p:nvSpPr>
        <p:spPr>
          <a:xfrm>
            <a:off x="6236208" y="3264408"/>
            <a:ext cx="2432304" cy="1234440"/>
          </a:xfrm>
          <a:prstGeom prst="rect">
            <a:avLst/>
          </a:prstGeom>
          <a:noFill/>
          <a:ln/>
        </p:spPr>
        <p:txBody>
          <a:bodyPr wrap="square" rtlCol="0" anchor="t"/>
          <a:lstStyle/>
          <a:p>
            <a:pPr indent="0" marL="0">
              <a:buNone/>
            </a:pPr>
            <a:r>
              <a:rPr lang="en-US" sz="1000" dirty="0">
                <a:solidFill>
                  <a:srgbClr val="FFFFFF"/>
                </a:solidFill>
                <a:latin typeface="Arial" pitchFamily="34" charset="0"/>
                <a:ea typeface="Arial" pitchFamily="34" charset="-122"/>
                <a:cs typeface="Arial" pitchFamily="34" charset="-120"/>
              </a:rPr>
              <a:t>Companies that can demonstrate quality plan experience and capability are more attractive to nuclear Tier 1 contractors.</a:t>
            </a:r>
            <a:endParaRPr lang="en-US" sz="1000" dirty="0"/>
          </a:p>
        </p:txBody>
      </p:sp>
      <p:sp>
        <p:nvSpPr>
          <p:cNvPr id="25" name="Rectangle 24"/>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7562088" y="100584"/>
            <a:ext cx="566928" cy="347472"/>
          </a:xfrm>
          <a:prstGeom prst="rect">
            <a:avLst/>
          </a:prstGeom>
        </p:spPr>
      </p:pic>
      <p:pic>
        <p:nvPicPr>
          <p:cNvPr id="27" name="Picture 26" descr="image.png"/>
          <p:cNvPicPr>
            <a:picLocks noChangeAspect="1"/>
          </p:cNvPicPr>
          <p:nvPr/>
        </p:nvPicPr>
        <p:blipFill>
          <a:blip r:embed="rId4"/>
          <a:stretch>
            <a:fillRect/>
          </a:stretch>
        </p:blipFill>
        <p:spPr>
          <a:xfrm>
            <a:off x="8174736" y="100584"/>
            <a:ext cx="658368" cy="347472"/>
          </a:xfrm>
          <a:prstGeom prst="rect">
            <a:avLst/>
          </a:prstGeom>
        </p:spPr>
      </p:pic>
      <p:sp>
        <p:nvSpPr>
          <p:cNvPr id="28" name="Rectangle 27"/>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Shape 0"/>
          <p:cNvSpPr/>
          <p:nvPr/>
        </p:nvSpPr>
        <p:spPr>
          <a:xfrm>
            <a:off x="0" y="0"/>
            <a:ext cx="9144000" cy="658368"/>
          </a:xfrm>
          <a:prstGeom prst="rect">
            <a:avLst/>
          </a:prstGeom>
          <a:solidFill>
            <a:srgbClr val="009FE3"/>
          </a:solidFill>
          <a:ln/>
        </p:spPr>
      </p:sp>
      <p:sp>
        <p:nvSpPr>
          <p:cNvPr id="4" name="Text 1"/>
          <p:cNvSpPr/>
          <p:nvPr/>
        </p:nvSpPr>
        <p:spPr>
          <a:xfrm>
            <a:off x="365760" y="0"/>
            <a:ext cx="7315200" cy="658368"/>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The Quality Plan Lifecycle</a:t>
            </a:r>
            <a:endParaRPr lang="en-US" sz="2000" dirty="0"/>
          </a:p>
        </p:txBody>
      </p:sp>
      <p:sp>
        <p:nvSpPr>
          <p:cNvPr id="7" name="Shape 4"/>
          <p:cNvSpPr/>
          <p:nvPr/>
        </p:nvSpPr>
        <p:spPr>
          <a:xfrm>
            <a:off x="137160" y="777240"/>
            <a:ext cx="2057400" cy="1920240"/>
          </a:xfrm>
          <a:prstGeom prst="rect">
            <a:avLst/>
          </a:prstGeom>
          <a:solidFill>
            <a:srgbClr val="009FE3"/>
          </a:solidFill>
          <a:ln w="12700">
            <a:solidFill>
              <a:srgbClr val="FFFFFF"/>
            </a:solidFill>
            <a:prstDash val="solid"/>
          </a:ln>
        </p:spPr>
      </p:sp>
      <p:sp>
        <p:nvSpPr>
          <p:cNvPr id="8" name="Text 5"/>
          <p:cNvSpPr/>
          <p:nvPr/>
        </p:nvSpPr>
        <p:spPr>
          <a:xfrm>
            <a:off x="228600" y="868680"/>
            <a:ext cx="457200" cy="45720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9" name="Text 6"/>
          <p:cNvSpPr/>
          <p:nvPr/>
        </p:nvSpPr>
        <p:spPr>
          <a:xfrm>
            <a:off x="228600" y="1307592"/>
            <a:ext cx="1874520" cy="347472"/>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Contract Award</a:t>
            </a:r>
            <a:endParaRPr lang="en-US" sz="1100" dirty="0"/>
          </a:p>
        </p:txBody>
      </p:sp>
      <p:sp>
        <p:nvSpPr>
          <p:cNvPr id="10" name="Text 7"/>
          <p:cNvSpPr/>
          <p:nvPr/>
        </p:nvSpPr>
        <p:spPr>
          <a:xfrm>
            <a:off x="228600" y="1673352"/>
            <a:ext cx="1874520" cy="914400"/>
          </a:xfrm>
          <a:prstGeom prst="rect">
            <a:avLst/>
          </a:prstGeom>
          <a:noFill/>
          <a:ln/>
        </p:spPr>
        <p:txBody>
          <a:bodyPr wrap="square" rtlCol="0" anchor="t"/>
          <a:lstStyle/>
          <a:p>
            <a:pPr indent="0" marL="0">
              <a:buNone/>
            </a:pPr>
            <a:r>
              <a:rPr lang="en-US" sz="900" dirty="0">
                <a:solidFill>
                  <a:srgbClr val="EEEEEE"/>
                </a:solidFill>
                <a:latin typeface="Arial" pitchFamily="34" charset="0"/>
                <a:ea typeface="Arial" pitchFamily="34" charset="-122"/>
                <a:cs typeface="Arial" pitchFamily="34" charset="-120"/>
              </a:rPr>
              <a:t>Quality Manager reviews PO / contract requirements and triggers quality planning</a:t>
            </a:r>
            <a:endParaRPr lang="en-US" sz="900" dirty="0"/>
          </a:p>
        </p:txBody>
      </p:sp>
      <p:sp>
        <p:nvSpPr>
          <p:cNvPr id="11" name="Shape 8"/>
          <p:cNvSpPr/>
          <p:nvPr/>
        </p:nvSpPr>
        <p:spPr>
          <a:xfrm>
            <a:off x="2377440" y="777240"/>
            <a:ext cx="2057400" cy="1920240"/>
          </a:xfrm>
          <a:prstGeom prst="rect">
            <a:avLst/>
          </a:prstGeom>
          <a:solidFill>
            <a:srgbClr val="83348F"/>
          </a:solidFill>
          <a:ln w="12700">
            <a:solidFill>
              <a:srgbClr val="FFFFFF"/>
            </a:solidFill>
            <a:prstDash val="solid"/>
          </a:ln>
        </p:spPr>
      </p:sp>
      <p:sp>
        <p:nvSpPr>
          <p:cNvPr id="12" name="Text 9"/>
          <p:cNvSpPr/>
          <p:nvPr/>
        </p:nvSpPr>
        <p:spPr>
          <a:xfrm>
            <a:off x="2468880" y="868680"/>
            <a:ext cx="457200" cy="45720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3" name="Text 10"/>
          <p:cNvSpPr/>
          <p:nvPr/>
        </p:nvSpPr>
        <p:spPr>
          <a:xfrm>
            <a:off x="2468880" y="1307592"/>
            <a:ext cx="1874520" cy="347472"/>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Draft QP + ITP</a:t>
            </a:r>
            <a:endParaRPr lang="en-US" sz="1100" dirty="0"/>
          </a:p>
        </p:txBody>
      </p:sp>
      <p:sp>
        <p:nvSpPr>
          <p:cNvPr id="14" name="Text 11"/>
          <p:cNvSpPr/>
          <p:nvPr/>
        </p:nvSpPr>
        <p:spPr>
          <a:xfrm>
            <a:off x="2468880" y="1673352"/>
            <a:ext cx="1874520" cy="914400"/>
          </a:xfrm>
          <a:prstGeom prst="rect">
            <a:avLst/>
          </a:prstGeom>
          <a:noFill/>
          <a:ln/>
        </p:spPr>
        <p:txBody>
          <a:bodyPr wrap="square" rtlCol="0" anchor="t"/>
          <a:lstStyle/>
          <a:p>
            <a:pPr indent="0" marL="0">
              <a:buNone/>
            </a:pPr>
            <a:r>
              <a:rPr lang="en-US" sz="900" dirty="0">
                <a:solidFill>
                  <a:srgbClr val="EEEEEE"/>
                </a:solidFill>
                <a:latin typeface="Arial" pitchFamily="34" charset="0"/>
                <a:ea typeface="Arial" pitchFamily="34" charset="-122"/>
                <a:cs typeface="Arial" pitchFamily="34" charset="-120"/>
              </a:rPr>
              <a:t>Quality plan and ITP prepared using company templates. All sections completed.</a:t>
            </a:r>
            <a:endParaRPr lang="en-US" sz="900" dirty="0"/>
          </a:p>
        </p:txBody>
      </p:sp>
      <p:sp>
        <p:nvSpPr>
          <p:cNvPr id="15" name="Shape 12"/>
          <p:cNvSpPr/>
          <p:nvPr/>
        </p:nvSpPr>
        <p:spPr>
          <a:xfrm>
            <a:off x="4617720" y="777240"/>
            <a:ext cx="2057400" cy="1920240"/>
          </a:xfrm>
          <a:prstGeom prst="rect">
            <a:avLst/>
          </a:prstGeom>
          <a:solidFill>
            <a:srgbClr val="009FE3"/>
          </a:solidFill>
          <a:ln w="12700">
            <a:solidFill>
              <a:srgbClr val="FFFFFF"/>
            </a:solidFill>
            <a:prstDash val="solid"/>
          </a:ln>
        </p:spPr>
      </p:sp>
      <p:sp>
        <p:nvSpPr>
          <p:cNvPr id="16" name="Text 13"/>
          <p:cNvSpPr/>
          <p:nvPr/>
        </p:nvSpPr>
        <p:spPr>
          <a:xfrm>
            <a:off x="4709160" y="868680"/>
            <a:ext cx="457200" cy="45720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7" name="Text 14"/>
          <p:cNvSpPr/>
          <p:nvPr/>
        </p:nvSpPr>
        <p:spPr>
          <a:xfrm>
            <a:off x="4709160" y="1307592"/>
            <a:ext cx="1874520" cy="347472"/>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Internal Approval</a:t>
            </a:r>
            <a:endParaRPr lang="en-US" sz="1100" dirty="0"/>
          </a:p>
        </p:txBody>
      </p:sp>
      <p:sp>
        <p:nvSpPr>
          <p:cNvPr id="18" name="Text 15"/>
          <p:cNvSpPr/>
          <p:nvPr/>
        </p:nvSpPr>
        <p:spPr>
          <a:xfrm>
            <a:off x="4709160" y="1673352"/>
            <a:ext cx="1874520" cy="914400"/>
          </a:xfrm>
          <a:prstGeom prst="rect">
            <a:avLst/>
          </a:prstGeom>
          <a:noFill/>
          <a:ln/>
        </p:spPr>
        <p:txBody>
          <a:bodyPr wrap="square" rtlCol="0" anchor="t"/>
          <a:lstStyle/>
          <a:p>
            <a:pPr indent="0" marL="0">
              <a:buNone/>
            </a:pPr>
            <a:r>
              <a:rPr lang="en-US" sz="900" dirty="0">
                <a:solidFill>
                  <a:srgbClr val="EEEEEE"/>
                </a:solidFill>
                <a:latin typeface="Arial" pitchFamily="34" charset="0"/>
                <a:ea typeface="Arial" pitchFamily="34" charset="-122"/>
                <a:cs typeface="Arial" pitchFamily="34" charset="-120"/>
              </a:rPr>
              <a:t>Reviewed by Contract Manager. Comments resolved. Approved.</a:t>
            </a:r>
            <a:endParaRPr lang="en-US" sz="900" dirty="0"/>
          </a:p>
        </p:txBody>
      </p:sp>
      <p:sp>
        <p:nvSpPr>
          <p:cNvPr id="19" name="Shape 16"/>
          <p:cNvSpPr/>
          <p:nvPr/>
        </p:nvSpPr>
        <p:spPr>
          <a:xfrm>
            <a:off x="6858000" y="777240"/>
            <a:ext cx="2057400" cy="1920240"/>
          </a:xfrm>
          <a:prstGeom prst="rect">
            <a:avLst/>
          </a:prstGeom>
          <a:solidFill>
            <a:srgbClr val="83348F"/>
          </a:solidFill>
          <a:ln w="12700">
            <a:solidFill>
              <a:srgbClr val="FFFFFF"/>
            </a:solidFill>
            <a:prstDash val="solid"/>
          </a:ln>
        </p:spPr>
      </p:sp>
      <p:sp>
        <p:nvSpPr>
          <p:cNvPr id="20" name="Text 17"/>
          <p:cNvSpPr/>
          <p:nvPr/>
        </p:nvSpPr>
        <p:spPr>
          <a:xfrm>
            <a:off x="6949440" y="868680"/>
            <a:ext cx="457200" cy="45720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21" name="Text 18"/>
          <p:cNvSpPr/>
          <p:nvPr/>
        </p:nvSpPr>
        <p:spPr>
          <a:xfrm>
            <a:off x="6949440" y="1307592"/>
            <a:ext cx="1874520" cy="347472"/>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Submit to Customer</a:t>
            </a:r>
            <a:endParaRPr lang="en-US" sz="1100" dirty="0"/>
          </a:p>
        </p:txBody>
      </p:sp>
      <p:sp>
        <p:nvSpPr>
          <p:cNvPr id="22" name="Text 19"/>
          <p:cNvSpPr/>
          <p:nvPr/>
        </p:nvSpPr>
        <p:spPr>
          <a:xfrm>
            <a:off x="6949440" y="1673352"/>
            <a:ext cx="1874520" cy="914400"/>
          </a:xfrm>
          <a:prstGeom prst="rect">
            <a:avLst/>
          </a:prstGeom>
          <a:noFill/>
          <a:ln/>
        </p:spPr>
        <p:txBody>
          <a:bodyPr wrap="square" rtlCol="0" anchor="t"/>
          <a:lstStyle/>
          <a:p>
            <a:pPr indent="0" marL="0">
              <a:buNone/>
            </a:pPr>
            <a:r>
              <a:rPr lang="en-US" sz="900" dirty="0">
                <a:solidFill>
                  <a:srgbClr val="EEEEEE"/>
                </a:solidFill>
                <a:latin typeface="Arial" pitchFamily="34" charset="0"/>
                <a:ea typeface="Arial" pitchFamily="34" charset="-122"/>
                <a:cs typeface="Arial" pitchFamily="34" charset="-120"/>
              </a:rPr>
              <a:t>Submitted for customer acceptance. Work cannot start until accepted.</a:t>
            </a:r>
            <a:endParaRPr lang="en-US" sz="900" dirty="0"/>
          </a:p>
        </p:txBody>
      </p:sp>
      <p:sp>
        <p:nvSpPr>
          <p:cNvPr id="23" name="Shape 20"/>
          <p:cNvSpPr/>
          <p:nvPr/>
        </p:nvSpPr>
        <p:spPr>
          <a:xfrm>
            <a:off x="137160" y="2834640"/>
            <a:ext cx="2057400" cy="1920240"/>
          </a:xfrm>
          <a:prstGeom prst="rect">
            <a:avLst/>
          </a:prstGeom>
          <a:solidFill>
            <a:srgbClr val="009FE3"/>
          </a:solidFill>
          <a:ln w="12700">
            <a:solidFill>
              <a:srgbClr val="FFFFFF"/>
            </a:solidFill>
            <a:prstDash val="solid"/>
          </a:ln>
        </p:spPr>
      </p:sp>
      <p:sp>
        <p:nvSpPr>
          <p:cNvPr id="24" name="Text 21"/>
          <p:cNvSpPr/>
          <p:nvPr/>
        </p:nvSpPr>
        <p:spPr>
          <a:xfrm>
            <a:off x="228600" y="2926080"/>
            <a:ext cx="457200" cy="45720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5</a:t>
            </a:r>
            <a:endParaRPr lang="en-US" sz="2200" dirty="0"/>
          </a:p>
        </p:txBody>
      </p:sp>
      <p:sp>
        <p:nvSpPr>
          <p:cNvPr id="25" name="Text 22"/>
          <p:cNvSpPr/>
          <p:nvPr/>
        </p:nvSpPr>
        <p:spPr>
          <a:xfrm>
            <a:off x="228600" y="3364992"/>
            <a:ext cx="1874520" cy="347472"/>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Opening Meeting</a:t>
            </a:r>
            <a:endParaRPr lang="en-US" sz="1100" dirty="0"/>
          </a:p>
        </p:txBody>
      </p:sp>
      <p:sp>
        <p:nvSpPr>
          <p:cNvPr id="26" name="Text 23"/>
          <p:cNvSpPr/>
          <p:nvPr/>
        </p:nvSpPr>
        <p:spPr>
          <a:xfrm>
            <a:off x="228600" y="3730752"/>
            <a:ext cx="1874520" cy="914400"/>
          </a:xfrm>
          <a:prstGeom prst="rect">
            <a:avLst/>
          </a:prstGeom>
          <a:noFill/>
          <a:ln/>
        </p:spPr>
        <p:txBody>
          <a:bodyPr wrap="square" rtlCol="0" anchor="t"/>
          <a:lstStyle/>
          <a:p>
            <a:pPr indent="0" marL="0">
              <a:buNone/>
            </a:pPr>
            <a:r>
              <a:rPr lang="en-US" sz="900" dirty="0">
                <a:solidFill>
                  <a:srgbClr val="EEEEEE"/>
                </a:solidFill>
                <a:latin typeface="Arial" pitchFamily="34" charset="0"/>
                <a:ea typeface="Arial" pitchFamily="34" charset="-122"/>
                <a:cs typeface="Arial" pitchFamily="34" charset="-120"/>
              </a:rPr>
              <a:t>Requirements confirmed. Hold/witness point notice periods agreed.</a:t>
            </a:r>
            <a:endParaRPr lang="en-US" sz="900" dirty="0"/>
          </a:p>
        </p:txBody>
      </p:sp>
      <p:sp>
        <p:nvSpPr>
          <p:cNvPr id="27" name="Shape 24"/>
          <p:cNvSpPr/>
          <p:nvPr/>
        </p:nvSpPr>
        <p:spPr>
          <a:xfrm>
            <a:off x="2377440" y="2834640"/>
            <a:ext cx="2057400" cy="1920240"/>
          </a:xfrm>
          <a:prstGeom prst="rect">
            <a:avLst/>
          </a:prstGeom>
          <a:solidFill>
            <a:srgbClr val="83348F"/>
          </a:solidFill>
          <a:ln w="12700">
            <a:solidFill>
              <a:srgbClr val="FFFFFF"/>
            </a:solidFill>
            <a:prstDash val="solid"/>
          </a:ln>
        </p:spPr>
      </p:sp>
      <p:sp>
        <p:nvSpPr>
          <p:cNvPr id="28" name="Text 25"/>
          <p:cNvSpPr/>
          <p:nvPr/>
        </p:nvSpPr>
        <p:spPr>
          <a:xfrm>
            <a:off x="2468880" y="2926080"/>
            <a:ext cx="457200" cy="45720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6</a:t>
            </a:r>
            <a:endParaRPr lang="en-US" sz="2200" dirty="0"/>
          </a:p>
        </p:txBody>
      </p:sp>
      <p:sp>
        <p:nvSpPr>
          <p:cNvPr id="29" name="Text 26"/>
          <p:cNvSpPr/>
          <p:nvPr/>
        </p:nvSpPr>
        <p:spPr>
          <a:xfrm>
            <a:off x="2468880" y="3364992"/>
            <a:ext cx="1874520" cy="347472"/>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Execute</a:t>
            </a:r>
            <a:endParaRPr lang="en-US" sz="1100" dirty="0"/>
          </a:p>
        </p:txBody>
      </p:sp>
      <p:sp>
        <p:nvSpPr>
          <p:cNvPr id="30" name="Text 27"/>
          <p:cNvSpPr/>
          <p:nvPr/>
        </p:nvSpPr>
        <p:spPr>
          <a:xfrm>
            <a:off x="2468880" y="3730752"/>
            <a:ext cx="1874520" cy="914400"/>
          </a:xfrm>
          <a:prstGeom prst="rect">
            <a:avLst/>
          </a:prstGeom>
          <a:noFill/>
          <a:ln/>
        </p:spPr>
        <p:txBody>
          <a:bodyPr wrap="square" rtlCol="0" anchor="t"/>
          <a:lstStyle/>
          <a:p>
            <a:pPr indent="0" marL="0">
              <a:buNone/>
            </a:pPr>
            <a:r>
              <a:rPr lang="en-US" sz="900" dirty="0">
                <a:solidFill>
                  <a:srgbClr val="EEEEEE"/>
                </a:solidFill>
                <a:latin typeface="Arial" pitchFamily="34" charset="0"/>
                <a:ea typeface="Arial" pitchFamily="34" charset="-122"/>
                <a:cs typeface="Arial" pitchFamily="34" charset="-120"/>
              </a:rPr>
              <a:t>ITP activities carried out. Hold points signed off. NCRs raised and managed.</a:t>
            </a:r>
            <a:endParaRPr lang="en-US" sz="900" dirty="0"/>
          </a:p>
        </p:txBody>
      </p:sp>
      <p:sp>
        <p:nvSpPr>
          <p:cNvPr id="31" name="Shape 28"/>
          <p:cNvSpPr/>
          <p:nvPr/>
        </p:nvSpPr>
        <p:spPr>
          <a:xfrm>
            <a:off x="4617720" y="2834640"/>
            <a:ext cx="2057400" cy="1920240"/>
          </a:xfrm>
          <a:prstGeom prst="rect">
            <a:avLst/>
          </a:prstGeom>
          <a:solidFill>
            <a:srgbClr val="009FE3"/>
          </a:solidFill>
          <a:ln w="12700">
            <a:solidFill>
              <a:srgbClr val="FFFFFF"/>
            </a:solidFill>
            <a:prstDash val="solid"/>
          </a:ln>
        </p:spPr>
      </p:sp>
      <p:sp>
        <p:nvSpPr>
          <p:cNvPr id="32" name="Text 29"/>
          <p:cNvSpPr/>
          <p:nvPr/>
        </p:nvSpPr>
        <p:spPr>
          <a:xfrm>
            <a:off x="4709160" y="2926080"/>
            <a:ext cx="457200" cy="45720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7</a:t>
            </a:r>
            <a:endParaRPr lang="en-US" sz="2200" dirty="0"/>
          </a:p>
        </p:txBody>
      </p:sp>
      <p:sp>
        <p:nvSpPr>
          <p:cNvPr id="33" name="Text 30"/>
          <p:cNvSpPr/>
          <p:nvPr/>
        </p:nvSpPr>
        <p:spPr>
          <a:xfrm>
            <a:off x="4709160" y="3364992"/>
            <a:ext cx="1874520" cy="347472"/>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Final Inspection</a:t>
            </a:r>
            <a:endParaRPr lang="en-US" sz="1100" dirty="0"/>
          </a:p>
        </p:txBody>
      </p:sp>
      <p:sp>
        <p:nvSpPr>
          <p:cNvPr id="34" name="Text 31"/>
          <p:cNvSpPr/>
          <p:nvPr/>
        </p:nvSpPr>
        <p:spPr>
          <a:xfrm>
            <a:off x="4709160" y="3730752"/>
            <a:ext cx="1874520" cy="914400"/>
          </a:xfrm>
          <a:prstGeom prst="rect">
            <a:avLst/>
          </a:prstGeom>
          <a:noFill/>
          <a:ln/>
        </p:spPr>
        <p:txBody>
          <a:bodyPr wrap="square" rtlCol="0" anchor="t"/>
          <a:lstStyle/>
          <a:p>
            <a:pPr indent="0" marL="0">
              <a:buNone/>
            </a:pPr>
            <a:r>
              <a:rPr lang="en-US" sz="900" dirty="0">
                <a:solidFill>
                  <a:srgbClr val="EEEEEE"/>
                </a:solidFill>
                <a:latin typeface="Arial" pitchFamily="34" charset="0"/>
                <a:ea typeface="Arial" pitchFamily="34" charset="-122"/>
                <a:cs typeface="Arial" pitchFamily="34" charset="-120"/>
              </a:rPr>
              <a:t>All ITP activities complete. LQR assembled and reviewed.</a:t>
            </a:r>
            <a:endParaRPr lang="en-US" sz="900" dirty="0"/>
          </a:p>
        </p:txBody>
      </p:sp>
      <p:sp>
        <p:nvSpPr>
          <p:cNvPr id="35" name="Shape 32"/>
          <p:cNvSpPr/>
          <p:nvPr/>
        </p:nvSpPr>
        <p:spPr>
          <a:xfrm>
            <a:off x="6858000" y="2834640"/>
            <a:ext cx="2057400" cy="1920240"/>
          </a:xfrm>
          <a:prstGeom prst="rect">
            <a:avLst/>
          </a:prstGeom>
          <a:solidFill>
            <a:srgbClr val="83348F"/>
          </a:solidFill>
          <a:ln w="12700">
            <a:solidFill>
              <a:srgbClr val="FFFFFF"/>
            </a:solidFill>
            <a:prstDash val="solid"/>
          </a:ln>
        </p:spPr>
      </p:sp>
      <p:sp>
        <p:nvSpPr>
          <p:cNvPr id="36" name="Text 33"/>
          <p:cNvSpPr/>
          <p:nvPr/>
        </p:nvSpPr>
        <p:spPr>
          <a:xfrm>
            <a:off x="6949440" y="2926080"/>
            <a:ext cx="457200" cy="45720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8</a:t>
            </a:r>
            <a:endParaRPr lang="en-US" sz="2200" dirty="0"/>
          </a:p>
        </p:txBody>
      </p:sp>
      <p:sp>
        <p:nvSpPr>
          <p:cNvPr id="37" name="Text 34"/>
          <p:cNvSpPr/>
          <p:nvPr/>
        </p:nvSpPr>
        <p:spPr>
          <a:xfrm>
            <a:off x="6949440" y="3364992"/>
            <a:ext cx="1874520" cy="347472"/>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Close</a:t>
            </a:r>
            <a:endParaRPr lang="en-US" sz="1100" dirty="0"/>
          </a:p>
        </p:txBody>
      </p:sp>
      <p:sp>
        <p:nvSpPr>
          <p:cNvPr id="38" name="Text 35"/>
          <p:cNvSpPr/>
          <p:nvPr/>
        </p:nvSpPr>
        <p:spPr>
          <a:xfrm>
            <a:off x="6949440" y="3730752"/>
            <a:ext cx="1874520" cy="914400"/>
          </a:xfrm>
          <a:prstGeom prst="rect">
            <a:avLst/>
          </a:prstGeom>
          <a:noFill/>
          <a:ln/>
        </p:spPr>
        <p:txBody>
          <a:bodyPr wrap="square" rtlCol="0" anchor="t"/>
          <a:lstStyle/>
          <a:p>
            <a:pPr indent="0" marL="0">
              <a:buNone/>
            </a:pPr>
            <a:r>
              <a:rPr lang="en-US" sz="900" dirty="0">
                <a:solidFill>
                  <a:srgbClr val="EEEEEE"/>
                </a:solidFill>
                <a:latin typeface="Arial" pitchFamily="34" charset="0"/>
                <a:ea typeface="Arial" pitchFamily="34" charset="-122"/>
                <a:cs typeface="Arial" pitchFamily="34" charset="-120"/>
              </a:rPr>
              <a:t>CoC issued. LQR submitted to customer. Lessons learned recorded.</a:t>
            </a:r>
            <a:endParaRPr lang="en-US" sz="900" dirty="0"/>
          </a:p>
        </p:txBody>
      </p:sp>
      <p:sp>
        <p:nvSpPr>
          <p:cNvPr id="39" name="Rectangle 38"/>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image.png"/>
          <p:cNvPicPr>
            <a:picLocks noChangeAspect="1"/>
          </p:cNvPicPr>
          <p:nvPr/>
        </p:nvPicPr>
        <p:blipFill>
          <a:blip r:embed="rId5"/>
          <a:stretch>
            <a:fillRect/>
          </a:stretch>
        </p:blipFill>
        <p:spPr>
          <a:xfrm>
            <a:off x="7562088" y="100584"/>
            <a:ext cx="566928" cy="347472"/>
          </a:xfrm>
          <a:prstGeom prst="rect">
            <a:avLst/>
          </a:prstGeom>
        </p:spPr>
      </p:pic>
      <p:pic>
        <p:nvPicPr>
          <p:cNvPr id="41" name="Picture 40" descr="image.png"/>
          <p:cNvPicPr>
            <a:picLocks noChangeAspect="1"/>
          </p:cNvPicPr>
          <p:nvPr/>
        </p:nvPicPr>
        <p:blipFill>
          <a:blip r:embed="rId4"/>
          <a:stretch>
            <a:fillRect/>
          </a:stretch>
        </p:blipFill>
        <p:spPr>
          <a:xfrm>
            <a:off x="8174736" y="100584"/>
            <a:ext cx="658368" cy="347472"/>
          </a:xfrm>
          <a:prstGeom prst="rect">
            <a:avLst/>
          </a:prstGeom>
        </p:spPr>
      </p:pic>
      <p:sp>
        <p:nvSpPr>
          <p:cNvPr id="42" name="Rectangle 41"/>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Shape 0"/>
          <p:cNvSpPr/>
          <p:nvPr/>
        </p:nvSpPr>
        <p:spPr>
          <a:xfrm>
            <a:off x="0" y="0"/>
            <a:ext cx="9144000" cy="658368"/>
          </a:xfrm>
          <a:prstGeom prst="rect">
            <a:avLst/>
          </a:prstGeom>
          <a:solidFill>
            <a:srgbClr val="009FE3"/>
          </a:solidFill>
          <a:ln/>
        </p:spPr>
      </p:sp>
      <p:sp>
        <p:nvSpPr>
          <p:cNvPr id="4" name="Text 1"/>
          <p:cNvSpPr/>
          <p:nvPr/>
        </p:nvSpPr>
        <p:spPr>
          <a:xfrm>
            <a:off x="365760" y="0"/>
            <a:ext cx="7315200" cy="658368"/>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What is an Inspection and Test Plan (ITP)?</a:t>
            </a:r>
            <a:endParaRPr lang="en-US" sz="2000" dirty="0"/>
          </a:p>
        </p:txBody>
      </p:sp>
      <p:sp>
        <p:nvSpPr>
          <p:cNvPr id="7" name="Text 4"/>
          <p:cNvSpPr/>
          <p:nvPr/>
        </p:nvSpPr>
        <p:spPr>
          <a:xfrm>
            <a:off x="365760" y="777240"/>
            <a:ext cx="8412480" cy="594360"/>
          </a:xfrm>
          <a:prstGeom prst="rect">
            <a:avLst/>
          </a:prstGeom>
          <a:noFill/>
          <a:ln/>
        </p:spPr>
        <p:txBody>
          <a:bodyPr wrap="square" rtlCol="0" anchor="t"/>
          <a:lstStyle/>
          <a:p>
            <a:pPr indent="0" marL="0">
              <a:buNone/>
            </a:pPr>
            <a:r>
              <a:rPr lang="en-US" sz="1200" dirty="0">
                <a:solidFill>
                  <a:srgbClr val="5B595A"/>
                </a:solidFill>
                <a:latin typeface="Arial" pitchFamily="34" charset="0"/>
                <a:ea typeface="Arial" pitchFamily="34" charset="-122"/>
                <a:cs typeface="Arial" pitchFamily="34" charset="-120"/>
              </a:rPr>
              <a:t>The ITP is the activity-by-activity inspection roadmap for a specific contract. It translates the quality plan into a sequence of inspection and test actions that prove each requirement has been met.</a:t>
            </a:r>
            <a:endParaRPr lang="en-US" sz="1200" dirty="0"/>
          </a:p>
        </p:txBody>
      </p:sp>
      <p:sp>
        <p:nvSpPr>
          <p:cNvPr id="8" name="Text 5"/>
          <p:cNvSpPr/>
          <p:nvPr/>
        </p:nvSpPr>
        <p:spPr>
          <a:xfrm>
            <a:off x="365760" y="1417320"/>
            <a:ext cx="8412480" cy="320040"/>
          </a:xfrm>
          <a:prstGeom prst="rect">
            <a:avLst/>
          </a:prstGeom>
          <a:noFill/>
          <a:ln/>
        </p:spPr>
        <p:txBody>
          <a:bodyPr wrap="square" rtlCol="0" anchor="ctr"/>
          <a:lstStyle/>
          <a:p>
            <a:pPr indent="0" marL="0">
              <a:buNone/>
            </a:pPr>
            <a:r>
              <a:rPr lang="en-US" sz="1400" b="1" dirty="0">
                <a:solidFill>
                  <a:srgbClr val="83348F"/>
                </a:solidFill>
                <a:latin typeface="Arial" pitchFamily="34" charset="0"/>
                <a:ea typeface="Arial" pitchFamily="34" charset="-122"/>
                <a:cs typeface="Arial" pitchFamily="34" charset="-120"/>
              </a:rPr>
              <a:t>For each activity the ITP defines:</a:t>
            </a:r>
            <a:endParaRPr lang="en-US" sz="1400" dirty="0"/>
          </a:p>
        </p:txBody>
      </p:sp>
      <p:sp>
        <p:nvSpPr>
          <p:cNvPr id="9" name="Text 6"/>
          <p:cNvSpPr/>
          <p:nvPr/>
        </p:nvSpPr>
        <p:spPr>
          <a:xfrm>
            <a:off x="365760" y="1737360"/>
            <a:ext cx="4114800" cy="1828800"/>
          </a:xfrm>
          <a:prstGeom prst="rect">
            <a:avLst/>
          </a:prstGeom>
          <a:noFill/>
          <a:ln/>
        </p:spPr>
        <p:txBody>
          <a:bodyPr wrap="square" rtlCol="0" anchor="t"/>
          <a:lstStyle/>
          <a:p>
            <a:pPr marL="342900" indent="-342900">
              <a:spcAft>
                <a:spcPts val="400"/>
              </a:spcAft>
              <a:buSzPct val="100000"/>
              <a:buChar char="•"/>
            </a:pPr>
            <a:r>
              <a:rPr lang="en-US" sz="1300" dirty="0">
                <a:solidFill>
                  <a:srgbClr val="5B595A"/>
                </a:solidFill>
                <a:latin typeface="Arial" pitchFamily="34" charset="0"/>
                <a:ea typeface="Arial" pitchFamily="34" charset="-122"/>
                <a:cs typeface="Arial" pitchFamily="34" charset="-120"/>
              </a:rPr>
              <a:t>The activity and its reference number</a:t>
            </a:r>
            <a:endParaRPr lang="en-US" sz="1300" dirty="0"/>
          </a:p>
          <a:p>
            <a:pPr marL="342900" indent="-342900">
              <a:spcAft>
                <a:spcPts val="400"/>
              </a:spcAft>
              <a:buSzPct val="100000"/>
              <a:buChar char="•"/>
            </a:pPr>
            <a:r>
              <a:rPr lang="en-US" sz="1300" dirty="0">
                <a:solidFill>
                  <a:srgbClr val="5B595A"/>
                </a:solidFill>
                <a:latin typeface="Arial" pitchFamily="34" charset="0"/>
                <a:ea typeface="Arial" pitchFamily="34" charset="-122"/>
                <a:cs typeface="Arial" pitchFamily="34" charset="-120"/>
              </a:rPr>
              <a:t>The phase (pre-production, manufacture, final inspection, delivery)</a:t>
            </a:r>
            <a:endParaRPr lang="en-US" sz="1300" dirty="0"/>
          </a:p>
          <a:p>
            <a:pPr marL="342900" indent="-342900">
              <a:spcAft>
                <a:spcPts val="400"/>
              </a:spcAft>
              <a:buSzPct val="100000"/>
              <a:buChar char="•"/>
            </a:pPr>
            <a:r>
              <a:rPr lang="en-US" sz="1300" dirty="0">
                <a:solidFill>
                  <a:srgbClr val="5B595A"/>
                </a:solidFill>
                <a:latin typeface="Arial" pitchFamily="34" charset="0"/>
                <a:ea typeface="Arial" pitchFamily="34" charset="-122"/>
                <a:cs typeface="Arial" pitchFamily="34" charset="-120"/>
              </a:rPr>
              <a:t>Who carries out the activity (manufacturer, company inspector, customer)</a:t>
            </a:r>
            <a:endParaRPr lang="en-US" sz="1300" dirty="0"/>
          </a:p>
          <a:p>
            <a:pPr marL="342900" indent="-342900">
              <a:spcAft>
                <a:spcPts val="400"/>
              </a:spcAft>
              <a:buSzPct val="100000"/>
              <a:buChar char="•"/>
            </a:pPr>
            <a:r>
              <a:rPr lang="en-US" sz="1300" dirty="0">
                <a:solidFill>
                  <a:srgbClr val="5B595A"/>
                </a:solidFill>
                <a:latin typeface="Arial" pitchFamily="34" charset="0"/>
                <a:ea typeface="Arial" pitchFamily="34" charset="-122"/>
                <a:cs typeface="Arial" pitchFamily="34" charset="-120"/>
              </a:rPr>
              <a:t>The type of activity (Hold Point, Witness Point, Review, Surveillance)</a:t>
            </a:r>
            <a:endParaRPr lang="en-US" sz="1300" dirty="0"/>
          </a:p>
        </p:txBody>
      </p:sp>
      <p:sp>
        <p:nvSpPr>
          <p:cNvPr id="10" name="Text 7"/>
          <p:cNvSpPr/>
          <p:nvPr/>
        </p:nvSpPr>
        <p:spPr>
          <a:xfrm>
            <a:off x="4572000" y="1737360"/>
            <a:ext cx="4114800" cy="1828800"/>
          </a:xfrm>
          <a:prstGeom prst="rect">
            <a:avLst/>
          </a:prstGeom>
          <a:noFill/>
          <a:ln/>
        </p:spPr>
        <p:txBody>
          <a:bodyPr wrap="square" rtlCol="0" anchor="t"/>
          <a:lstStyle/>
          <a:p>
            <a:pPr marL="342900" indent="-342900">
              <a:spcAft>
                <a:spcPts val="400"/>
              </a:spcAft>
              <a:buSzPct val="100000"/>
              <a:buChar char="•"/>
            </a:pPr>
            <a:r>
              <a:rPr lang="en-US" sz="1300" dirty="0">
                <a:solidFill>
                  <a:srgbClr val="5B595A"/>
                </a:solidFill>
                <a:latin typeface="Arial" pitchFamily="34" charset="0"/>
                <a:ea typeface="Arial" pitchFamily="34" charset="-122"/>
                <a:cs typeface="Arial" pitchFamily="34" charset="-120"/>
              </a:rPr>
              <a:t>The method or procedure reference</a:t>
            </a:r>
            <a:endParaRPr lang="en-US" sz="1300" dirty="0"/>
          </a:p>
          <a:p>
            <a:pPr marL="342900" indent="-342900">
              <a:spcAft>
                <a:spcPts val="400"/>
              </a:spcAft>
              <a:buSzPct val="100000"/>
              <a:buChar char="•"/>
            </a:pPr>
            <a:r>
              <a:rPr lang="en-US" sz="1300" dirty="0">
                <a:solidFill>
                  <a:srgbClr val="5B595A"/>
                </a:solidFill>
                <a:latin typeface="Arial" pitchFamily="34" charset="0"/>
                <a:ea typeface="Arial" pitchFamily="34" charset="-122"/>
                <a:cs typeface="Arial" pitchFamily="34" charset="-120"/>
              </a:rPr>
              <a:t>The acceptance criteria reference</a:t>
            </a:r>
            <a:endParaRPr lang="en-US" sz="1300" dirty="0"/>
          </a:p>
          <a:p>
            <a:pPr marL="342900" indent="-342900">
              <a:spcAft>
                <a:spcPts val="400"/>
              </a:spcAft>
              <a:buSzPct val="100000"/>
              <a:buChar char="•"/>
            </a:pPr>
            <a:r>
              <a:rPr lang="en-US" sz="1300" dirty="0">
                <a:solidFill>
                  <a:srgbClr val="5B595A"/>
                </a:solidFill>
                <a:latin typeface="Arial" pitchFamily="34" charset="0"/>
                <a:ea typeface="Arial" pitchFamily="34" charset="-122"/>
                <a:cs typeface="Arial" pitchFamily="34" charset="-120"/>
              </a:rPr>
              <a:t>What record must be produced</a:t>
            </a:r>
            <a:endParaRPr lang="en-US" sz="1300" dirty="0"/>
          </a:p>
          <a:p>
            <a:pPr marL="342900" indent="-342900">
              <a:spcAft>
                <a:spcPts val="400"/>
              </a:spcAft>
              <a:buSzPct val="100000"/>
              <a:buChar char="•"/>
            </a:pPr>
            <a:r>
              <a:rPr lang="en-US" sz="1300" dirty="0">
                <a:solidFill>
                  <a:srgbClr val="5B595A"/>
                </a:solidFill>
                <a:latin typeface="Arial" pitchFamily="34" charset="0"/>
                <a:ea typeface="Arial" pitchFamily="34" charset="-122"/>
                <a:cs typeface="Arial" pitchFamily="34" charset="-120"/>
              </a:rPr>
              <a:t>Where the inspector and customer must sign off</a:t>
            </a:r>
            <a:endParaRPr lang="en-US" sz="1300" dirty="0"/>
          </a:p>
        </p:txBody>
      </p:sp>
      <p:sp>
        <p:nvSpPr>
          <p:cNvPr id="11" name="Shape 8"/>
          <p:cNvSpPr/>
          <p:nvPr/>
        </p:nvSpPr>
        <p:spPr>
          <a:xfrm>
            <a:off x="365760" y="4407408"/>
            <a:ext cx="8412480" cy="384048"/>
          </a:xfrm>
          <a:prstGeom prst="rect">
            <a:avLst/>
          </a:prstGeom>
          <a:solidFill>
            <a:srgbClr val="E6F4FB"/>
          </a:solidFill>
          <a:ln w="19050">
            <a:solidFill>
              <a:srgbClr val="009FE3"/>
            </a:solidFill>
            <a:prstDash val="solid"/>
          </a:ln>
        </p:spPr>
      </p:sp>
      <p:sp>
        <p:nvSpPr>
          <p:cNvPr id="12" name="Text 9"/>
          <p:cNvSpPr/>
          <p:nvPr/>
        </p:nvSpPr>
        <p:spPr>
          <a:xfrm>
            <a:off x="475488" y="4480560"/>
            <a:ext cx="8193024" cy="237744"/>
          </a:xfrm>
          <a:prstGeom prst="rect">
            <a:avLst/>
          </a:prstGeom>
          <a:noFill/>
          <a:ln/>
        </p:spPr>
        <p:txBody>
          <a:bodyPr wrap="square" rtlCol="0" anchor="t"/>
          <a:lstStyle/>
          <a:p>
            <a:pPr indent="0" marL="0">
              <a:buNone/>
            </a:pPr>
            <a:r>
              <a:rPr lang="en-US" sz="1100" i="1" dirty="0">
                <a:solidFill>
                  <a:srgbClr val="5B595A"/>
                </a:solidFill>
                <a:latin typeface="Arial" pitchFamily="34" charset="0"/>
                <a:ea typeface="Arial" pitchFamily="34" charset="-122"/>
                <a:cs typeface="Arial" pitchFamily="34" charset="-120"/>
              </a:rPr>
              <a:t>The ITP is a live document. It should be updated in real time as activities are completed and signed off. The completed ITP becomes part of the Lifetime Quality Record submitted to the customer.</a:t>
            </a:r>
            <a:endParaRPr lang="en-US" sz="1100" dirty="0"/>
          </a:p>
        </p:txBody>
      </p:sp>
      <p:sp>
        <p:nvSpPr>
          <p:cNvPr id="13" name="Rectangle 12"/>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5"/>
          <a:stretch>
            <a:fillRect/>
          </a:stretch>
        </p:blipFill>
        <p:spPr>
          <a:xfrm>
            <a:off x="7562088" y="100584"/>
            <a:ext cx="566928" cy="347472"/>
          </a:xfrm>
          <a:prstGeom prst="rect">
            <a:avLst/>
          </a:prstGeom>
        </p:spPr>
      </p:pic>
      <p:pic>
        <p:nvPicPr>
          <p:cNvPr id="15" name="Picture 14" descr="image.png"/>
          <p:cNvPicPr>
            <a:picLocks noChangeAspect="1"/>
          </p:cNvPicPr>
          <p:nvPr/>
        </p:nvPicPr>
        <p:blipFill>
          <a:blip r:embed="rId4"/>
          <a:stretch>
            <a:fillRect/>
          </a:stretch>
        </p:blipFill>
        <p:spPr>
          <a:xfrm>
            <a:off x="8174736" y="100584"/>
            <a:ext cx="658368" cy="347472"/>
          </a:xfrm>
          <a:prstGeom prst="rect">
            <a:avLst/>
          </a:prstGeom>
        </p:spPr>
      </p:pic>
      <p:sp>
        <p:nvSpPr>
          <p:cNvPr id="16" name="Rectangle 15"/>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Shape 0"/>
          <p:cNvSpPr/>
          <p:nvPr/>
        </p:nvSpPr>
        <p:spPr>
          <a:xfrm>
            <a:off x="0" y="0"/>
            <a:ext cx="9144000" cy="658368"/>
          </a:xfrm>
          <a:prstGeom prst="rect">
            <a:avLst/>
          </a:prstGeom>
          <a:solidFill>
            <a:srgbClr val="009FE3"/>
          </a:solidFill>
          <a:ln/>
        </p:spPr>
      </p:sp>
      <p:sp>
        <p:nvSpPr>
          <p:cNvPr id="4" name="Text 1"/>
          <p:cNvSpPr/>
          <p:nvPr/>
        </p:nvSpPr>
        <p:spPr>
          <a:xfrm>
            <a:off x="365760" y="0"/>
            <a:ext cx="7315200" cy="658368"/>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Hold Points and Witness Points</a:t>
            </a:r>
            <a:endParaRPr lang="en-US" sz="2000" dirty="0"/>
          </a:p>
        </p:txBody>
      </p:sp>
      <p:sp>
        <p:nvSpPr>
          <p:cNvPr id="7" name="Shape 4"/>
          <p:cNvSpPr/>
          <p:nvPr/>
        </p:nvSpPr>
        <p:spPr>
          <a:xfrm>
            <a:off x="274320" y="777240"/>
            <a:ext cx="4023360" cy="2011680"/>
          </a:xfrm>
          <a:prstGeom prst="rect">
            <a:avLst/>
          </a:prstGeom>
          <a:solidFill>
            <a:srgbClr val="FCE4D6"/>
          </a:solidFill>
          <a:ln w="25400">
            <a:solidFill>
              <a:srgbClr val="FF0000"/>
            </a:solidFill>
            <a:prstDash val="solid"/>
          </a:ln>
        </p:spPr>
      </p:sp>
      <p:sp>
        <p:nvSpPr>
          <p:cNvPr id="8" name="Text 5"/>
          <p:cNvSpPr/>
          <p:nvPr/>
        </p:nvSpPr>
        <p:spPr>
          <a:xfrm>
            <a:off x="365760" y="822960"/>
            <a:ext cx="3840480" cy="411480"/>
          </a:xfrm>
          <a:prstGeom prst="rect">
            <a:avLst/>
          </a:prstGeom>
          <a:noFill/>
          <a:ln/>
        </p:spPr>
        <p:txBody>
          <a:bodyPr wrap="square" rtlCol="0" anchor="ctr"/>
          <a:lstStyle/>
          <a:p>
            <a:pPr indent="0" marL="0">
              <a:buNone/>
            </a:pPr>
            <a:r>
              <a:rPr lang="en-US" sz="1400" b="1" dirty="0">
                <a:solidFill>
                  <a:srgbClr val="CC0000"/>
                </a:solidFill>
                <a:latin typeface="Arial" pitchFamily="34" charset="0"/>
                <a:ea typeface="Arial" pitchFamily="34" charset="-122"/>
                <a:cs typeface="Arial" pitchFamily="34" charset="-120"/>
              </a:rPr>
              <a:t>HOLD POINT</a:t>
            </a:r>
            <a:endParaRPr lang="en-US" sz="1400" dirty="0"/>
          </a:p>
        </p:txBody>
      </p:sp>
      <p:sp>
        <p:nvSpPr>
          <p:cNvPr id="9" name="Text 6"/>
          <p:cNvSpPr/>
          <p:nvPr/>
        </p:nvSpPr>
        <p:spPr>
          <a:xfrm>
            <a:off x="365760" y="1261872"/>
            <a:ext cx="3840480" cy="1463040"/>
          </a:xfrm>
          <a:prstGeom prst="rect">
            <a:avLst/>
          </a:prstGeom>
          <a:noFill/>
          <a:ln/>
        </p:spPr>
        <p:txBody>
          <a:bodyPr wrap="square" rtlCol="0" anchor="ctr"/>
          <a:lstStyle/>
          <a:p>
            <a:pPr indent="0" marL="0">
              <a:buNone/>
            </a:pPr>
            <a:r>
              <a:rPr lang="en-US" sz="1100" b="1" dirty="0">
                <a:solidFill>
                  <a:srgbClr val="5B595A"/>
                </a:solidFill>
                <a:latin typeface="Arial" pitchFamily="34" charset="0"/>
                <a:ea typeface="Arial" pitchFamily="34" charset="-122"/>
                <a:cs typeface="Arial" pitchFamily="34" charset="-120"/>
              </a:rPr>
              <a:t>Work MUST STOP.</a:t>
            </a:r>
            <a:endParaRPr lang="en-US" sz="1100" dirty="0"/>
          </a:p>
          <a:p>
            <a:pPr indent="0" marL="0">
              <a:buNone/>
            </a:pPr>
            <a:r>
              <a:rPr lang="en-US" sz="1100" dirty="0">
                <a:solidFill>
                  <a:srgbClr val="5B595A"/>
                </a:solidFill>
                <a:latin typeface="Arial" pitchFamily="34" charset="0"/>
                <a:ea typeface="Arial" pitchFamily="34" charset="-122"/>
                <a:cs typeface="Arial" pitchFamily="34" charset="-120"/>
              </a:rPr>
              <a:t>Work cannot proceed past this point until:
</a:t>
            </a:r>
            <a:endParaRPr lang="en-US" sz="1100" dirty="0"/>
          </a:p>
          <a:p>
            <a:pPr marL="342900" indent="-342900">
              <a:buSzPct val="100000"/>
              <a:buChar char="•"/>
            </a:pPr>
            <a:r>
              <a:rPr lang="en-US" sz="1100" dirty="0">
                <a:solidFill>
                  <a:srgbClr val="5B595A"/>
                </a:solidFill>
                <a:latin typeface="Arial" pitchFamily="34" charset="0"/>
                <a:ea typeface="Arial" pitchFamily="34" charset="-122"/>
                <a:cs typeface="Arial" pitchFamily="34" charset="-120"/>
              </a:rPr>
              <a:t>The designated inspector has been present
</a:t>
            </a:r>
            <a:endParaRPr lang="en-US" sz="1100" dirty="0"/>
          </a:p>
          <a:p>
            <a:pPr marL="342900" indent="-342900">
              <a:buSzPct val="100000"/>
              <a:buChar char="•"/>
            </a:pPr>
            <a:r>
              <a:rPr lang="en-US" sz="1100" dirty="0">
                <a:solidFill>
                  <a:srgbClr val="5B595A"/>
                </a:solidFill>
                <a:latin typeface="Arial" pitchFamily="34" charset="0"/>
                <a:ea typeface="Arial" pitchFamily="34" charset="-122"/>
                <a:cs typeface="Arial" pitchFamily="34" charset="-120"/>
              </a:rPr>
              <a:t>The activity has been completed and signed off
</a:t>
            </a:r>
            <a:endParaRPr lang="en-US" sz="1100" dirty="0"/>
          </a:p>
          <a:p>
            <a:pPr marL="342900" indent="-342900">
              <a:buSzPct val="100000"/>
              <a:buChar char="•"/>
            </a:pPr>
            <a:r>
              <a:rPr lang="en-US" sz="1100" dirty="0">
                <a:solidFill>
                  <a:srgbClr val="5B595A"/>
                </a:solidFill>
                <a:latin typeface="Arial" pitchFamily="34" charset="0"/>
                <a:ea typeface="Arial" pitchFamily="34" charset="-122"/>
                <a:cs typeface="Arial" pitchFamily="34" charset="-120"/>
              </a:rPr>
              <a:t>The customer QR has also signed off (where specified)
</a:t>
            </a:r>
            <a:endParaRPr lang="en-US" sz="1100" dirty="0"/>
          </a:p>
          <a:p>
            <a:pPr marL="342900" indent="-342900">
              <a:buSzPct val="100000"/>
              <a:buChar char="•"/>
            </a:pPr>
            <a:r>
              <a:rPr lang="en-US" sz="1100" dirty="0">
                <a:solidFill>
                  <a:srgbClr val="5B595A"/>
                </a:solidFill>
                <a:latin typeface="Arial" pitchFamily="34" charset="0"/>
                <a:ea typeface="Arial" pitchFamily="34" charset="-122"/>
                <a:cs typeface="Arial" pitchFamily="34" charset="-120"/>
              </a:rPr>
              <a:t>Minimum 5 working days notice required</a:t>
            </a:r>
            <a:endParaRPr lang="en-US" sz="1100" dirty="0"/>
          </a:p>
        </p:txBody>
      </p:sp>
      <p:sp>
        <p:nvSpPr>
          <p:cNvPr id="10" name="Shape 7"/>
          <p:cNvSpPr/>
          <p:nvPr/>
        </p:nvSpPr>
        <p:spPr>
          <a:xfrm>
            <a:off x="4846320" y="777240"/>
            <a:ext cx="4023360" cy="2011680"/>
          </a:xfrm>
          <a:prstGeom prst="rect">
            <a:avLst/>
          </a:prstGeom>
          <a:solidFill>
            <a:srgbClr val="FFF2CC"/>
          </a:solidFill>
          <a:ln w="25400">
            <a:solidFill>
              <a:srgbClr val="FFC000"/>
            </a:solidFill>
            <a:prstDash val="solid"/>
          </a:ln>
        </p:spPr>
      </p:sp>
      <p:sp>
        <p:nvSpPr>
          <p:cNvPr id="11" name="Text 8"/>
          <p:cNvSpPr/>
          <p:nvPr/>
        </p:nvSpPr>
        <p:spPr>
          <a:xfrm>
            <a:off x="4937760" y="822960"/>
            <a:ext cx="3840480" cy="411480"/>
          </a:xfrm>
          <a:prstGeom prst="rect">
            <a:avLst/>
          </a:prstGeom>
          <a:noFill/>
          <a:ln/>
        </p:spPr>
        <p:txBody>
          <a:bodyPr wrap="square" rtlCol="0" anchor="ctr"/>
          <a:lstStyle/>
          <a:p>
            <a:pPr indent="0" marL="0">
              <a:buNone/>
            </a:pPr>
            <a:r>
              <a:rPr lang="en-US" sz="1400" b="1" dirty="0">
                <a:solidFill>
                  <a:srgbClr val="B8860B"/>
                </a:solidFill>
                <a:latin typeface="Arial" pitchFamily="34" charset="0"/>
                <a:ea typeface="Arial" pitchFamily="34" charset="-122"/>
                <a:cs typeface="Arial" pitchFamily="34" charset="-120"/>
              </a:rPr>
              <a:t>WITNESS POINT</a:t>
            </a:r>
            <a:endParaRPr lang="en-US" sz="1400" dirty="0"/>
          </a:p>
        </p:txBody>
      </p:sp>
      <p:sp>
        <p:nvSpPr>
          <p:cNvPr id="12" name="Text 9"/>
          <p:cNvSpPr/>
          <p:nvPr/>
        </p:nvSpPr>
        <p:spPr>
          <a:xfrm>
            <a:off x="4937760" y="1261872"/>
            <a:ext cx="3840480" cy="1463040"/>
          </a:xfrm>
          <a:prstGeom prst="rect">
            <a:avLst/>
          </a:prstGeom>
          <a:noFill/>
          <a:ln/>
        </p:spPr>
        <p:txBody>
          <a:bodyPr wrap="square" rtlCol="0" anchor="ctr"/>
          <a:lstStyle/>
          <a:p>
            <a:pPr indent="0" marL="0">
              <a:buNone/>
            </a:pPr>
            <a:r>
              <a:rPr lang="en-US" sz="1100" b="1" dirty="0">
                <a:solidFill>
                  <a:srgbClr val="5B595A"/>
                </a:solidFill>
                <a:latin typeface="Arial" pitchFamily="34" charset="0"/>
                <a:ea typeface="Arial" pitchFamily="34" charset="-122"/>
                <a:cs typeface="Arial" pitchFamily="34" charset="-120"/>
              </a:rPr>
              <a:t>Customer notified. They may attend.
</a:t>
            </a:r>
            <a:endParaRPr lang="en-US" sz="1100" dirty="0"/>
          </a:p>
          <a:p>
            <a:pPr indent="0" marL="0">
              <a:buNone/>
            </a:pPr>
            <a:r>
              <a:rPr lang="en-US" sz="1100" dirty="0">
                <a:solidFill>
                  <a:srgbClr val="5B595A"/>
                </a:solidFill>
                <a:latin typeface="Arial" pitchFamily="34" charset="0"/>
                <a:ea typeface="Arial" pitchFamily="34" charset="-122"/>
                <a:cs typeface="Arial" pitchFamily="34" charset="-120"/>
              </a:rPr>
              <a:t>Process:
</a:t>
            </a:r>
            <a:endParaRPr lang="en-US" sz="1100" dirty="0"/>
          </a:p>
          <a:p>
            <a:pPr marL="342900" indent="-342900">
              <a:buSzPct val="100000"/>
              <a:buChar char="•"/>
            </a:pPr>
            <a:r>
              <a:rPr lang="en-US" sz="1100" dirty="0">
                <a:solidFill>
                  <a:srgbClr val="5B595A"/>
                </a:solidFill>
                <a:latin typeface="Arial" pitchFamily="34" charset="0"/>
                <a:ea typeface="Arial" pitchFamily="34" charset="-122"/>
                <a:cs typeface="Arial" pitchFamily="34" charset="-120"/>
              </a:rPr>
              <a:t>Send written notice at least 5 working days before
</a:t>
            </a:r>
            <a:endParaRPr lang="en-US" sz="1100" dirty="0"/>
          </a:p>
          <a:p>
            <a:pPr marL="342900" indent="-342900">
              <a:buSzPct val="100000"/>
              <a:buChar char="•"/>
            </a:pPr>
            <a:r>
              <a:rPr lang="en-US" sz="1100" dirty="0">
                <a:solidFill>
                  <a:srgbClr val="5B595A"/>
                </a:solidFill>
                <a:latin typeface="Arial" pitchFamily="34" charset="0"/>
                <a:ea typeface="Arial" pitchFamily="34" charset="-122"/>
                <a:cs typeface="Arial" pitchFamily="34" charset="-120"/>
              </a:rPr>
              <a:t>If customer attends: sign off required
</a:t>
            </a:r>
            <a:endParaRPr lang="en-US" sz="1100" dirty="0"/>
          </a:p>
          <a:p>
            <a:pPr marL="342900" indent="-342900">
              <a:buSzPct val="100000"/>
              <a:buChar char="•"/>
            </a:pPr>
            <a:r>
              <a:rPr lang="en-US" sz="1100" dirty="0">
                <a:solidFill>
                  <a:srgbClr val="5B595A"/>
                </a:solidFill>
                <a:latin typeface="Arial" pitchFamily="34" charset="0"/>
                <a:ea typeface="Arial" pitchFamily="34" charset="-122"/>
                <a:cs typeface="Arial" pitchFamily="34" charset="-120"/>
              </a:rPr>
              <a:t>If customer does not attend after notice: work may proceed
</a:t>
            </a:r>
            <a:endParaRPr lang="en-US" sz="1100" dirty="0"/>
          </a:p>
          <a:p>
            <a:pPr marL="342900" indent="-342900">
              <a:buSzPct val="100000"/>
              <a:buChar char="•"/>
            </a:pPr>
            <a:r>
              <a:rPr lang="en-US" sz="1100" dirty="0">
                <a:solidFill>
                  <a:srgbClr val="5B595A"/>
                </a:solidFill>
                <a:latin typeface="Arial" pitchFamily="34" charset="0"/>
                <a:ea typeface="Arial" pitchFamily="34" charset="-122"/>
                <a:cs typeface="Arial" pitchFamily="34" charset="-120"/>
              </a:rPr>
              <a:t>All notifications and responses MUST be documented</a:t>
            </a:r>
            <a:endParaRPr lang="en-US" sz="1100" dirty="0"/>
          </a:p>
        </p:txBody>
      </p:sp>
      <p:sp>
        <p:nvSpPr>
          <p:cNvPr id="13" name="Shape 10"/>
          <p:cNvSpPr/>
          <p:nvPr/>
        </p:nvSpPr>
        <p:spPr>
          <a:xfrm>
            <a:off x="274320" y="2926080"/>
            <a:ext cx="1828800" cy="822960"/>
          </a:xfrm>
          <a:prstGeom prst="rect">
            <a:avLst/>
          </a:prstGeom>
          <a:solidFill>
            <a:srgbClr val="E6F4FB"/>
          </a:solidFill>
          <a:ln w="12700">
            <a:solidFill>
              <a:srgbClr val="009FE3"/>
            </a:solidFill>
            <a:prstDash val="solid"/>
          </a:ln>
        </p:spPr>
      </p:sp>
      <p:sp>
        <p:nvSpPr>
          <p:cNvPr id="14" name="Text 11"/>
          <p:cNvSpPr/>
          <p:nvPr/>
        </p:nvSpPr>
        <p:spPr>
          <a:xfrm>
            <a:off x="320040" y="2962656"/>
            <a:ext cx="1737360" cy="274320"/>
          </a:xfrm>
          <a:prstGeom prst="rect">
            <a:avLst/>
          </a:prstGeom>
          <a:noFill/>
          <a:ln/>
        </p:spPr>
        <p:txBody>
          <a:bodyPr wrap="square" rtlCol="0" anchor="ctr"/>
          <a:lstStyle/>
          <a:p>
            <a:pPr indent="0" marL="0">
              <a:buNone/>
            </a:pPr>
            <a:r>
              <a:rPr lang="en-US" sz="1100" b="1" dirty="0">
                <a:solidFill>
                  <a:srgbClr val="009FE3"/>
                </a:solidFill>
                <a:latin typeface="Arial" pitchFamily="34" charset="0"/>
                <a:ea typeface="Arial" pitchFamily="34" charset="-122"/>
                <a:cs typeface="Arial" pitchFamily="34" charset="-120"/>
              </a:rPr>
              <a:t>REVIEW (R)</a:t>
            </a:r>
            <a:endParaRPr lang="en-US" sz="1100" dirty="0"/>
          </a:p>
        </p:txBody>
      </p:sp>
      <p:sp>
        <p:nvSpPr>
          <p:cNvPr id="15" name="Text 12"/>
          <p:cNvSpPr/>
          <p:nvPr/>
        </p:nvSpPr>
        <p:spPr>
          <a:xfrm>
            <a:off x="320040" y="3236976"/>
            <a:ext cx="1737360" cy="475488"/>
          </a:xfrm>
          <a:prstGeom prst="rect">
            <a:avLst/>
          </a:prstGeom>
          <a:noFill/>
          <a:ln/>
        </p:spPr>
        <p:txBody>
          <a:bodyPr wrap="square" rtlCol="0" anchor="ctr"/>
          <a:lstStyle/>
          <a:p>
            <a:pPr indent="0" marL="0">
              <a:buNone/>
            </a:pPr>
            <a:r>
              <a:rPr lang="en-US" sz="900" dirty="0">
                <a:solidFill>
                  <a:srgbClr val="5B595A"/>
                </a:solidFill>
                <a:latin typeface="Arial" pitchFamily="34" charset="0"/>
                <a:ea typeface="Arial" pitchFamily="34" charset="-122"/>
                <a:cs typeface="Arial" pitchFamily="34" charset="-120"/>
              </a:rPr>
              <a:t>Document check. Inspector reviews records only.</a:t>
            </a:r>
            <a:endParaRPr lang="en-US" sz="900" dirty="0"/>
          </a:p>
        </p:txBody>
      </p:sp>
      <p:sp>
        <p:nvSpPr>
          <p:cNvPr id="16" name="Shape 13"/>
          <p:cNvSpPr/>
          <p:nvPr/>
        </p:nvSpPr>
        <p:spPr>
          <a:xfrm>
            <a:off x="2286000" y="2926080"/>
            <a:ext cx="1828800" cy="822960"/>
          </a:xfrm>
          <a:prstGeom prst="rect">
            <a:avLst/>
          </a:prstGeom>
          <a:solidFill>
            <a:srgbClr val="F0F0F0"/>
          </a:solidFill>
          <a:ln w="12700">
            <a:solidFill>
              <a:srgbClr val="5B595A"/>
            </a:solidFill>
            <a:prstDash val="solid"/>
          </a:ln>
        </p:spPr>
      </p:sp>
      <p:sp>
        <p:nvSpPr>
          <p:cNvPr id="17" name="Text 14"/>
          <p:cNvSpPr/>
          <p:nvPr/>
        </p:nvSpPr>
        <p:spPr>
          <a:xfrm>
            <a:off x="2331720" y="2962656"/>
            <a:ext cx="1737360" cy="274320"/>
          </a:xfrm>
          <a:prstGeom prst="rect">
            <a:avLst/>
          </a:prstGeom>
          <a:noFill/>
          <a:ln/>
        </p:spPr>
        <p:txBody>
          <a:bodyPr wrap="square" rtlCol="0" anchor="ctr"/>
          <a:lstStyle/>
          <a:p>
            <a:pPr indent="0" marL="0">
              <a:buNone/>
            </a:pPr>
            <a:r>
              <a:rPr lang="en-US" sz="1100" b="1" dirty="0">
                <a:solidFill>
                  <a:srgbClr val="5B595A"/>
                </a:solidFill>
                <a:latin typeface="Arial" pitchFamily="34" charset="0"/>
                <a:ea typeface="Arial" pitchFamily="34" charset="-122"/>
                <a:cs typeface="Arial" pitchFamily="34" charset="-120"/>
              </a:rPr>
              <a:t>SURVEILLANCE (S)</a:t>
            </a:r>
            <a:endParaRPr lang="en-US" sz="1100" dirty="0"/>
          </a:p>
        </p:txBody>
      </p:sp>
      <p:sp>
        <p:nvSpPr>
          <p:cNvPr id="18" name="Text 15"/>
          <p:cNvSpPr/>
          <p:nvPr/>
        </p:nvSpPr>
        <p:spPr>
          <a:xfrm>
            <a:off x="2331720" y="3236976"/>
            <a:ext cx="1737360" cy="475488"/>
          </a:xfrm>
          <a:prstGeom prst="rect">
            <a:avLst/>
          </a:prstGeom>
          <a:noFill/>
          <a:ln/>
        </p:spPr>
        <p:txBody>
          <a:bodyPr wrap="square" rtlCol="0" anchor="ctr"/>
          <a:lstStyle/>
          <a:p>
            <a:pPr indent="0" marL="0">
              <a:buNone/>
            </a:pPr>
            <a:r>
              <a:rPr lang="en-US" sz="900" dirty="0">
                <a:solidFill>
                  <a:srgbClr val="5B595A"/>
                </a:solidFill>
                <a:latin typeface="Arial" pitchFamily="34" charset="0"/>
                <a:ea typeface="Arial" pitchFamily="34" charset="-122"/>
                <a:cs typeface="Arial" pitchFamily="34" charset="-120"/>
              </a:rPr>
              <a:t>Random oversight. Inspector may attend without notice.</a:t>
            </a:r>
            <a:endParaRPr lang="en-US" sz="900" dirty="0"/>
          </a:p>
        </p:txBody>
      </p:sp>
      <p:sp>
        <p:nvSpPr>
          <p:cNvPr id="19" name="Shape 16"/>
          <p:cNvSpPr/>
          <p:nvPr/>
        </p:nvSpPr>
        <p:spPr>
          <a:xfrm>
            <a:off x="4160520" y="2926080"/>
            <a:ext cx="4709160" cy="822960"/>
          </a:xfrm>
          <a:prstGeom prst="rect">
            <a:avLst/>
          </a:prstGeom>
          <a:solidFill>
            <a:srgbClr val="FCE4D6"/>
          </a:solidFill>
          <a:ln w="19050">
            <a:solidFill>
              <a:srgbClr val="CC0000"/>
            </a:solidFill>
            <a:prstDash val="solid"/>
          </a:ln>
        </p:spPr>
      </p:sp>
      <p:sp>
        <p:nvSpPr>
          <p:cNvPr id="20" name="Text 17"/>
          <p:cNvSpPr/>
          <p:nvPr/>
        </p:nvSpPr>
        <p:spPr>
          <a:xfrm>
            <a:off x="4270248" y="2999232"/>
            <a:ext cx="4489704" cy="676656"/>
          </a:xfrm>
          <a:prstGeom prst="rect">
            <a:avLst/>
          </a:prstGeom>
          <a:noFill/>
          <a:ln/>
        </p:spPr>
        <p:txBody>
          <a:bodyPr wrap="square" rtlCol="0" anchor="t"/>
          <a:lstStyle/>
          <a:p>
            <a:pPr indent="0" marL="0">
              <a:buNone/>
            </a:pPr>
            <a:r>
              <a:rPr lang="en-US" sz="1100" i="1" dirty="0">
                <a:solidFill>
                  <a:srgbClr val="5B595A"/>
                </a:solidFill>
                <a:latin typeface="Arial" pitchFamily="34" charset="0"/>
                <a:ea typeface="Arial" pitchFamily="34" charset="-122"/>
                <a:cs typeface="Arial" pitchFamily="34" charset="-120"/>
              </a:rPr>
              <a:t>NEVER proceed past a Hold Point without proper sign-off. This is one of the most serious failures in nuclear supply chain quality management.</a:t>
            </a:r>
            <a:endParaRPr lang="en-US" sz="1100" dirty="0"/>
          </a:p>
        </p:txBody>
      </p:sp>
      <p:sp>
        <p:nvSpPr>
          <p:cNvPr id="21" name="Rectangle 20"/>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5"/>
          <a:stretch>
            <a:fillRect/>
          </a:stretch>
        </p:blipFill>
        <p:spPr>
          <a:xfrm>
            <a:off x="7562088" y="100584"/>
            <a:ext cx="566928" cy="347472"/>
          </a:xfrm>
          <a:prstGeom prst="rect">
            <a:avLst/>
          </a:prstGeom>
        </p:spPr>
      </p:pic>
      <p:pic>
        <p:nvPicPr>
          <p:cNvPr id="23" name="Picture 22" descr="image.png"/>
          <p:cNvPicPr>
            <a:picLocks noChangeAspect="1"/>
          </p:cNvPicPr>
          <p:nvPr/>
        </p:nvPicPr>
        <p:blipFill>
          <a:blip r:embed="rId4"/>
          <a:stretch>
            <a:fillRect/>
          </a:stretch>
        </p:blipFill>
        <p:spPr>
          <a:xfrm>
            <a:off x="8174736" y="100584"/>
            <a:ext cx="658368" cy="347472"/>
          </a:xfrm>
          <a:prstGeom prst="rect">
            <a:avLst/>
          </a:prstGeom>
        </p:spPr>
      </p:pic>
      <p:sp>
        <p:nvSpPr>
          <p:cNvPr id="24" name="Rectangle 23"/>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Shape 0"/>
          <p:cNvSpPr/>
          <p:nvPr/>
        </p:nvSpPr>
        <p:spPr>
          <a:xfrm>
            <a:off x="0" y="0"/>
            <a:ext cx="9144000" cy="658368"/>
          </a:xfrm>
          <a:prstGeom prst="rect">
            <a:avLst/>
          </a:prstGeom>
          <a:solidFill>
            <a:srgbClr val="009FE3"/>
          </a:solidFill>
          <a:ln/>
        </p:spPr>
      </p:sp>
      <p:sp>
        <p:nvSpPr>
          <p:cNvPr id="4" name="Text 1"/>
          <p:cNvSpPr/>
          <p:nvPr/>
        </p:nvSpPr>
        <p:spPr>
          <a:xfrm>
            <a:off x="365760" y="0"/>
            <a:ext cx="7315200" cy="658368"/>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Nuclear Safety Classification and Quality Grading</a:t>
            </a:r>
            <a:endParaRPr lang="en-US" sz="2000" dirty="0"/>
          </a:p>
        </p:txBody>
      </p:sp>
      <p:sp>
        <p:nvSpPr>
          <p:cNvPr id="7" name="Text 4"/>
          <p:cNvSpPr/>
          <p:nvPr/>
        </p:nvSpPr>
        <p:spPr>
          <a:xfrm>
            <a:off x="365760" y="777240"/>
            <a:ext cx="8412480" cy="594360"/>
          </a:xfrm>
          <a:prstGeom prst="rect">
            <a:avLst/>
          </a:prstGeom>
          <a:noFill/>
          <a:ln/>
        </p:spPr>
        <p:txBody>
          <a:bodyPr wrap="square" rtlCol="0" anchor="t"/>
          <a:lstStyle/>
          <a:p>
            <a:pPr indent="0" marL="0">
              <a:buNone/>
            </a:pPr>
            <a:r>
              <a:rPr lang="en-US" sz="1200" dirty="0">
                <a:solidFill>
                  <a:srgbClr val="5B595A"/>
                </a:solidFill>
                <a:latin typeface="Arial" pitchFamily="34" charset="0"/>
                <a:ea typeface="Arial" pitchFamily="34" charset="-122"/>
                <a:cs typeface="Arial" pitchFamily="34" charset="-120"/>
              </a:rPr>
              <a:t>The depth of your quality plan and the level of inspection required depends on the nuclear safety classification of the items you are supplying. Customers set this classification based on the safety significance of the item in the nuclear facility.</a:t>
            </a:r>
            <a:endParaRPr lang="en-US" sz="1200" dirty="0"/>
          </a:p>
        </p:txBody>
      </p:sp>
      <p:sp>
        <p:nvSpPr>
          <p:cNvPr id="8" name="Shape 5"/>
          <p:cNvSpPr/>
          <p:nvPr/>
        </p:nvSpPr>
        <p:spPr>
          <a:xfrm>
            <a:off x="274320" y="1508760"/>
            <a:ext cx="914400" cy="685800"/>
          </a:xfrm>
          <a:prstGeom prst="rect">
            <a:avLst/>
          </a:prstGeom>
          <a:solidFill>
            <a:srgbClr val="009FE3"/>
          </a:solidFill>
          <a:ln w="12700">
            <a:solidFill>
              <a:srgbClr val="FFFFFF"/>
            </a:solidFill>
            <a:prstDash val="solid"/>
          </a:ln>
        </p:spPr>
      </p:sp>
      <p:sp>
        <p:nvSpPr>
          <p:cNvPr id="9" name="Text 6"/>
          <p:cNvSpPr/>
          <p:nvPr/>
        </p:nvSpPr>
        <p:spPr>
          <a:xfrm>
            <a:off x="274320" y="1508760"/>
            <a:ext cx="914400" cy="6858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QC1</a:t>
            </a:r>
            <a:endParaRPr lang="en-US" sz="1600" dirty="0"/>
          </a:p>
        </p:txBody>
      </p:sp>
      <p:sp>
        <p:nvSpPr>
          <p:cNvPr id="10" name="Text 7"/>
          <p:cNvSpPr/>
          <p:nvPr/>
        </p:nvSpPr>
        <p:spPr>
          <a:xfrm>
            <a:off x="1280160" y="1536192"/>
            <a:ext cx="2286000" cy="630936"/>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Highest safety significance. Failure could cause uncontrolled radioactive release.</a:t>
            </a:r>
            <a:endParaRPr lang="en-US" sz="900" dirty="0"/>
          </a:p>
        </p:txBody>
      </p:sp>
      <p:sp>
        <p:nvSpPr>
          <p:cNvPr id="11" name="Text 8"/>
          <p:cNvSpPr/>
          <p:nvPr/>
        </p:nvSpPr>
        <p:spPr>
          <a:xfrm>
            <a:off x="3657600" y="1536192"/>
            <a:ext cx="2743200" cy="630936"/>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100% witnessing, inspection, and document review. Full LQR. Type 3.2 material certs.</a:t>
            </a:r>
            <a:endParaRPr lang="en-US" sz="900" dirty="0"/>
          </a:p>
        </p:txBody>
      </p:sp>
      <p:sp>
        <p:nvSpPr>
          <p:cNvPr id="12" name="Text 9"/>
          <p:cNvSpPr/>
          <p:nvPr/>
        </p:nvSpPr>
        <p:spPr>
          <a:xfrm>
            <a:off x="6492240" y="1536192"/>
            <a:ext cx="2377440" cy="630936"/>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Nuclear pressure vessels, primary circuit components, safety system actuators</a:t>
            </a:r>
            <a:endParaRPr lang="en-US" sz="900" dirty="0"/>
          </a:p>
        </p:txBody>
      </p:sp>
      <p:sp>
        <p:nvSpPr>
          <p:cNvPr id="13" name="Shape 10"/>
          <p:cNvSpPr/>
          <p:nvPr/>
        </p:nvSpPr>
        <p:spPr>
          <a:xfrm>
            <a:off x="274320" y="2286000"/>
            <a:ext cx="914400" cy="685800"/>
          </a:xfrm>
          <a:prstGeom prst="rect">
            <a:avLst/>
          </a:prstGeom>
          <a:solidFill>
            <a:srgbClr val="83348F"/>
          </a:solidFill>
          <a:ln w="12700">
            <a:solidFill>
              <a:srgbClr val="FFFFFF"/>
            </a:solidFill>
            <a:prstDash val="solid"/>
          </a:ln>
        </p:spPr>
      </p:sp>
      <p:sp>
        <p:nvSpPr>
          <p:cNvPr id="14" name="Text 11"/>
          <p:cNvSpPr/>
          <p:nvPr/>
        </p:nvSpPr>
        <p:spPr>
          <a:xfrm>
            <a:off x="274320" y="2286000"/>
            <a:ext cx="914400" cy="6858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QC2</a:t>
            </a:r>
            <a:endParaRPr lang="en-US" sz="1600" dirty="0"/>
          </a:p>
        </p:txBody>
      </p:sp>
      <p:sp>
        <p:nvSpPr>
          <p:cNvPr id="15" name="Text 12"/>
          <p:cNvSpPr/>
          <p:nvPr/>
        </p:nvSpPr>
        <p:spPr>
          <a:xfrm>
            <a:off x="1280160" y="2313432"/>
            <a:ext cx="2286000" cy="630936"/>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High significance. Failure could cause serious radiological hazard.</a:t>
            </a:r>
            <a:endParaRPr lang="en-US" sz="900" dirty="0"/>
          </a:p>
        </p:txBody>
      </p:sp>
      <p:sp>
        <p:nvSpPr>
          <p:cNvPr id="16" name="Text 13"/>
          <p:cNvSpPr/>
          <p:nvPr/>
        </p:nvSpPr>
        <p:spPr>
          <a:xfrm>
            <a:off x="3657600" y="2313432"/>
            <a:ext cx="2743200" cy="630936"/>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50% witnessing and inspection. 100% document review. Full LQR. Type 3.1 certs.</a:t>
            </a:r>
            <a:endParaRPr lang="en-US" sz="900" dirty="0"/>
          </a:p>
        </p:txBody>
      </p:sp>
      <p:sp>
        <p:nvSpPr>
          <p:cNvPr id="17" name="Text 14"/>
          <p:cNvSpPr/>
          <p:nvPr/>
        </p:nvSpPr>
        <p:spPr>
          <a:xfrm>
            <a:off x="6492240" y="2313432"/>
            <a:ext cx="2377440" cy="630936"/>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Secondary circuit components, lifting equipment over reactors, large pressurised systems</a:t>
            </a:r>
            <a:endParaRPr lang="en-US" sz="900" dirty="0"/>
          </a:p>
        </p:txBody>
      </p:sp>
      <p:sp>
        <p:nvSpPr>
          <p:cNvPr id="18" name="Shape 15"/>
          <p:cNvSpPr/>
          <p:nvPr/>
        </p:nvSpPr>
        <p:spPr>
          <a:xfrm>
            <a:off x="274320" y="3063240"/>
            <a:ext cx="914400" cy="685800"/>
          </a:xfrm>
          <a:prstGeom prst="rect">
            <a:avLst/>
          </a:prstGeom>
          <a:solidFill>
            <a:srgbClr val="3F72AF"/>
          </a:solidFill>
          <a:ln w="12700">
            <a:solidFill>
              <a:srgbClr val="FFFFFF"/>
            </a:solidFill>
            <a:prstDash val="solid"/>
          </a:ln>
        </p:spPr>
      </p:sp>
      <p:sp>
        <p:nvSpPr>
          <p:cNvPr id="19" name="Text 16"/>
          <p:cNvSpPr/>
          <p:nvPr/>
        </p:nvSpPr>
        <p:spPr>
          <a:xfrm>
            <a:off x="274320" y="3063240"/>
            <a:ext cx="914400" cy="6858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QC3</a:t>
            </a:r>
            <a:endParaRPr lang="en-US" sz="1600" dirty="0"/>
          </a:p>
        </p:txBody>
      </p:sp>
      <p:sp>
        <p:nvSpPr>
          <p:cNvPr id="20" name="Text 17"/>
          <p:cNvSpPr/>
          <p:nvPr/>
        </p:nvSpPr>
        <p:spPr>
          <a:xfrm>
            <a:off x="1280160" y="3090672"/>
            <a:ext cx="2286000" cy="630936"/>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Moderate significance. Failure could reduce plant integrity.</a:t>
            </a:r>
            <a:endParaRPr lang="en-US" sz="900" dirty="0"/>
          </a:p>
        </p:txBody>
      </p:sp>
      <p:sp>
        <p:nvSpPr>
          <p:cNvPr id="21" name="Text 18"/>
          <p:cNvSpPr/>
          <p:nvPr/>
        </p:nvSpPr>
        <p:spPr>
          <a:xfrm>
            <a:off x="3657600" y="3090672"/>
            <a:ext cx="2743200" cy="630936"/>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10% witnessing. Document review. Key records. Type 2.2 certs.</a:t>
            </a:r>
            <a:endParaRPr lang="en-US" sz="900" dirty="0"/>
          </a:p>
        </p:txBody>
      </p:sp>
      <p:sp>
        <p:nvSpPr>
          <p:cNvPr id="22" name="Text 19"/>
          <p:cNvSpPr/>
          <p:nvPr/>
        </p:nvSpPr>
        <p:spPr>
          <a:xfrm>
            <a:off x="6492240" y="3090672"/>
            <a:ext cx="2377440" cy="630936"/>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Auxiliary systems, general structural steelwork, non-safety electrical systems</a:t>
            </a:r>
            <a:endParaRPr lang="en-US" sz="900" dirty="0"/>
          </a:p>
        </p:txBody>
      </p:sp>
      <p:sp>
        <p:nvSpPr>
          <p:cNvPr id="23" name="Shape 20"/>
          <p:cNvSpPr/>
          <p:nvPr/>
        </p:nvSpPr>
        <p:spPr>
          <a:xfrm>
            <a:off x="274320" y="3840480"/>
            <a:ext cx="914400" cy="685800"/>
          </a:xfrm>
          <a:prstGeom prst="rect">
            <a:avLst/>
          </a:prstGeom>
          <a:solidFill>
            <a:srgbClr val="666666"/>
          </a:solidFill>
          <a:ln w="12700">
            <a:solidFill>
              <a:srgbClr val="FFFFFF"/>
            </a:solidFill>
            <a:prstDash val="solid"/>
          </a:ln>
        </p:spPr>
      </p:sp>
      <p:sp>
        <p:nvSpPr>
          <p:cNvPr id="24" name="Text 21"/>
          <p:cNvSpPr/>
          <p:nvPr/>
        </p:nvSpPr>
        <p:spPr>
          <a:xfrm>
            <a:off x="274320" y="3840480"/>
            <a:ext cx="914400" cy="68580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QC4</a:t>
            </a:r>
            <a:endParaRPr lang="en-US" sz="1600" dirty="0"/>
          </a:p>
        </p:txBody>
      </p:sp>
      <p:sp>
        <p:nvSpPr>
          <p:cNvPr id="25" name="Text 22"/>
          <p:cNvSpPr/>
          <p:nvPr/>
        </p:nvSpPr>
        <p:spPr>
          <a:xfrm>
            <a:off x="1280160" y="3867912"/>
            <a:ext cx="2286000" cy="630936"/>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Low significance. Certificate of conformity required.</a:t>
            </a:r>
            <a:endParaRPr lang="en-US" sz="900" dirty="0"/>
          </a:p>
        </p:txBody>
      </p:sp>
      <p:sp>
        <p:nvSpPr>
          <p:cNvPr id="26" name="Text 23"/>
          <p:cNvSpPr/>
          <p:nvPr/>
        </p:nvSpPr>
        <p:spPr>
          <a:xfrm>
            <a:off x="3657600" y="3867912"/>
            <a:ext cx="2743200" cy="630936"/>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Certificate of conformity only. Standard commercial controls.</a:t>
            </a:r>
            <a:endParaRPr lang="en-US" sz="900" dirty="0"/>
          </a:p>
        </p:txBody>
      </p:sp>
      <p:sp>
        <p:nvSpPr>
          <p:cNvPr id="27" name="Text 24"/>
          <p:cNvSpPr/>
          <p:nvPr/>
        </p:nvSpPr>
        <p:spPr>
          <a:xfrm>
            <a:off x="6492240" y="3867912"/>
            <a:ext cx="2377440" cy="630936"/>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General consumables, non-safety fixings, commercial off-the-shelf (COTS) items</a:t>
            </a:r>
            <a:endParaRPr lang="en-US" sz="900" dirty="0"/>
          </a:p>
        </p:txBody>
      </p:sp>
      <p:sp>
        <p:nvSpPr>
          <p:cNvPr id="28" name="Text 25"/>
          <p:cNvSpPr/>
          <p:nvPr/>
        </p:nvSpPr>
        <p:spPr>
          <a:xfrm>
            <a:off x="274320" y="1417320"/>
            <a:ext cx="914400" cy="256032"/>
          </a:xfrm>
          <a:prstGeom prst="rect">
            <a:avLst/>
          </a:prstGeom>
          <a:noFill/>
          <a:ln/>
        </p:spPr>
        <p:txBody>
          <a:bodyPr wrap="square" rtlCol="0" anchor="ctr"/>
          <a:lstStyle/>
          <a:p>
            <a:pPr algn="ctr" indent="0" marL="0">
              <a:buNone/>
            </a:pPr>
            <a:r>
              <a:rPr lang="en-US" sz="900" b="1" dirty="0">
                <a:solidFill>
                  <a:srgbClr val="5B595A"/>
                </a:solidFill>
                <a:latin typeface="Arial" pitchFamily="34" charset="0"/>
                <a:ea typeface="Arial" pitchFamily="34" charset="-122"/>
                <a:cs typeface="Arial" pitchFamily="34" charset="-120"/>
              </a:rPr>
              <a:t>Classification</a:t>
            </a:r>
            <a:endParaRPr lang="en-US" sz="900" dirty="0"/>
          </a:p>
        </p:txBody>
      </p:sp>
      <p:sp>
        <p:nvSpPr>
          <p:cNvPr id="29" name="Text 26"/>
          <p:cNvSpPr/>
          <p:nvPr/>
        </p:nvSpPr>
        <p:spPr>
          <a:xfrm>
            <a:off x="1280160" y="1417320"/>
            <a:ext cx="2286000" cy="256032"/>
          </a:xfrm>
          <a:prstGeom prst="rect">
            <a:avLst/>
          </a:prstGeom>
          <a:noFill/>
          <a:ln/>
        </p:spPr>
        <p:txBody>
          <a:bodyPr wrap="square" rtlCol="0" anchor="ctr"/>
          <a:lstStyle/>
          <a:p>
            <a:pPr indent="0" marL="0">
              <a:buNone/>
            </a:pPr>
            <a:r>
              <a:rPr lang="en-US" sz="900" b="1" dirty="0">
                <a:solidFill>
                  <a:srgbClr val="5B595A"/>
                </a:solidFill>
                <a:latin typeface="Arial" pitchFamily="34" charset="0"/>
                <a:ea typeface="Arial" pitchFamily="34" charset="-122"/>
                <a:cs typeface="Arial" pitchFamily="34" charset="-120"/>
              </a:rPr>
              <a:t>Safety Significance</a:t>
            </a:r>
            <a:endParaRPr lang="en-US" sz="900" dirty="0"/>
          </a:p>
        </p:txBody>
      </p:sp>
      <p:sp>
        <p:nvSpPr>
          <p:cNvPr id="30" name="Text 27"/>
          <p:cNvSpPr/>
          <p:nvPr/>
        </p:nvSpPr>
        <p:spPr>
          <a:xfrm>
            <a:off x="3657600" y="1417320"/>
            <a:ext cx="2743200" cy="256032"/>
          </a:xfrm>
          <a:prstGeom prst="rect">
            <a:avLst/>
          </a:prstGeom>
          <a:noFill/>
          <a:ln/>
        </p:spPr>
        <p:txBody>
          <a:bodyPr wrap="square" rtlCol="0" anchor="ctr"/>
          <a:lstStyle/>
          <a:p>
            <a:pPr indent="0" marL="0">
              <a:buNone/>
            </a:pPr>
            <a:r>
              <a:rPr lang="en-US" sz="900" b="1" dirty="0">
                <a:solidFill>
                  <a:srgbClr val="5B595A"/>
                </a:solidFill>
                <a:latin typeface="Arial" pitchFamily="34" charset="0"/>
                <a:ea typeface="Arial" pitchFamily="34" charset="-122"/>
                <a:cs typeface="Arial" pitchFamily="34" charset="-120"/>
              </a:rPr>
              <a:t>Inspection Requirements</a:t>
            </a:r>
            <a:endParaRPr lang="en-US" sz="900" dirty="0"/>
          </a:p>
        </p:txBody>
      </p:sp>
      <p:sp>
        <p:nvSpPr>
          <p:cNvPr id="31" name="Text 28"/>
          <p:cNvSpPr/>
          <p:nvPr/>
        </p:nvSpPr>
        <p:spPr>
          <a:xfrm>
            <a:off x="6492240" y="1417320"/>
            <a:ext cx="2377440" cy="256032"/>
          </a:xfrm>
          <a:prstGeom prst="rect">
            <a:avLst/>
          </a:prstGeom>
          <a:noFill/>
          <a:ln/>
        </p:spPr>
        <p:txBody>
          <a:bodyPr wrap="square" rtlCol="0" anchor="ctr"/>
          <a:lstStyle/>
          <a:p>
            <a:pPr indent="0" marL="0">
              <a:buNone/>
            </a:pPr>
            <a:r>
              <a:rPr lang="en-US" sz="900" b="1" dirty="0">
                <a:solidFill>
                  <a:srgbClr val="5B595A"/>
                </a:solidFill>
                <a:latin typeface="Arial" pitchFamily="34" charset="0"/>
                <a:ea typeface="Arial" pitchFamily="34" charset="-122"/>
                <a:cs typeface="Arial" pitchFamily="34" charset="-120"/>
              </a:rPr>
              <a:t>Typical Examples</a:t>
            </a:r>
            <a:endParaRPr lang="en-US" sz="900" dirty="0"/>
          </a:p>
        </p:txBody>
      </p:sp>
      <p:sp>
        <p:nvSpPr>
          <p:cNvPr id="32" name="Rectangle 3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png"/>
          <p:cNvPicPr>
            <a:picLocks noChangeAspect="1"/>
          </p:cNvPicPr>
          <p:nvPr/>
        </p:nvPicPr>
        <p:blipFill>
          <a:blip r:embed="rId5"/>
          <a:stretch>
            <a:fillRect/>
          </a:stretch>
        </p:blipFill>
        <p:spPr>
          <a:xfrm>
            <a:off x="7562088" y="100584"/>
            <a:ext cx="566928" cy="347472"/>
          </a:xfrm>
          <a:prstGeom prst="rect">
            <a:avLst/>
          </a:prstGeom>
        </p:spPr>
      </p:pic>
      <p:pic>
        <p:nvPicPr>
          <p:cNvPr id="34" name="Picture 33" descr="image.png"/>
          <p:cNvPicPr>
            <a:picLocks noChangeAspect="1"/>
          </p:cNvPicPr>
          <p:nvPr/>
        </p:nvPicPr>
        <p:blipFill>
          <a:blip r:embed="rId4"/>
          <a:stretch>
            <a:fillRect/>
          </a:stretch>
        </p:blipFill>
        <p:spPr>
          <a:xfrm>
            <a:off x="8174736" y="100584"/>
            <a:ext cx="658368" cy="347472"/>
          </a:xfrm>
          <a:prstGeom prst="rect">
            <a:avLst/>
          </a:prstGeom>
        </p:spPr>
      </p:pic>
      <p:sp>
        <p:nvSpPr>
          <p:cNvPr id="35" name="Rectangle 3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Shape 0"/>
          <p:cNvSpPr/>
          <p:nvPr/>
        </p:nvSpPr>
        <p:spPr>
          <a:xfrm>
            <a:off x="0" y="0"/>
            <a:ext cx="9144000" cy="658368"/>
          </a:xfrm>
          <a:prstGeom prst="rect">
            <a:avLst/>
          </a:prstGeom>
          <a:solidFill>
            <a:srgbClr val="009FE3"/>
          </a:solidFill>
          <a:ln/>
        </p:spPr>
      </p:sp>
      <p:sp>
        <p:nvSpPr>
          <p:cNvPr id="4" name="Text 1"/>
          <p:cNvSpPr/>
          <p:nvPr/>
        </p:nvSpPr>
        <p:spPr>
          <a:xfrm>
            <a:off x="365760" y="0"/>
            <a:ext cx="7315200" cy="658368"/>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Materials and Traceability</a:t>
            </a:r>
            <a:endParaRPr lang="en-US" sz="2000" dirty="0"/>
          </a:p>
        </p:txBody>
      </p:sp>
      <p:sp>
        <p:nvSpPr>
          <p:cNvPr id="7" name="Text 4"/>
          <p:cNvSpPr/>
          <p:nvPr/>
        </p:nvSpPr>
        <p:spPr>
          <a:xfrm>
            <a:off x="365760" y="777240"/>
            <a:ext cx="8412480" cy="502920"/>
          </a:xfrm>
          <a:prstGeom prst="rect">
            <a:avLst/>
          </a:prstGeom>
          <a:noFill/>
          <a:ln/>
        </p:spPr>
        <p:txBody>
          <a:bodyPr wrap="square" rtlCol="0" anchor="t"/>
          <a:lstStyle/>
          <a:p>
            <a:pPr indent="0" marL="0">
              <a:buNone/>
            </a:pPr>
            <a:r>
              <a:rPr lang="en-US" sz="1200" dirty="0">
                <a:solidFill>
                  <a:srgbClr val="5B595A"/>
                </a:solidFill>
                <a:latin typeface="Arial" pitchFamily="34" charset="0"/>
                <a:ea typeface="Arial" pitchFamily="34" charset="-122"/>
                <a:cs typeface="Arial" pitchFamily="34" charset="-120"/>
              </a:rPr>
              <a:t>In the nuclear supply chain, every material must be fully traceable from the raw material source through to the finished product. This is not optional: it is a fundamental requirement.</a:t>
            </a:r>
            <a:endParaRPr lang="en-US" sz="1200" dirty="0"/>
          </a:p>
        </p:txBody>
      </p:sp>
      <p:sp>
        <p:nvSpPr>
          <p:cNvPr id="8" name="Text 5"/>
          <p:cNvSpPr/>
          <p:nvPr/>
        </p:nvSpPr>
        <p:spPr>
          <a:xfrm>
            <a:off x="365760" y="1325880"/>
            <a:ext cx="8412480" cy="320040"/>
          </a:xfrm>
          <a:prstGeom prst="rect">
            <a:avLst/>
          </a:prstGeom>
          <a:noFill/>
          <a:ln/>
        </p:spPr>
        <p:txBody>
          <a:bodyPr wrap="square" rtlCol="0" anchor="ctr"/>
          <a:lstStyle/>
          <a:p>
            <a:pPr indent="0" marL="0">
              <a:buNone/>
            </a:pPr>
            <a:r>
              <a:rPr lang="en-US" sz="1400" b="1" dirty="0">
                <a:solidFill>
                  <a:srgbClr val="83348F"/>
                </a:solidFill>
                <a:latin typeface="Arial" pitchFamily="34" charset="0"/>
                <a:ea typeface="Arial" pitchFamily="34" charset="-122"/>
                <a:cs typeface="Arial" pitchFamily="34" charset="-120"/>
              </a:rPr>
              <a:t>What traceability means in practice:</a:t>
            </a:r>
            <a:endParaRPr lang="en-US" sz="1400" dirty="0"/>
          </a:p>
        </p:txBody>
      </p:sp>
      <p:sp>
        <p:nvSpPr>
          <p:cNvPr id="9" name="Text 6"/>
          <p:cNvSpPr/>
          <p:nvPr/>
        </p:nvSpPr>
        <p:spPr>
          <a:xfrm>
            <a:off x="365760" y="1645920"/>
            <a:ext cx="8229600" cy="2194560"/>
          </a:xfrm>
          <a:prstGeom prst="rect">
            <a:avLst/>
          </a:prstGeom>
          <a:noFill/>
          <a:ln/>
        </p:spPr>
        <p:txBody>
          <a:bodyPr wrap="square" rtlCol="0" anchor="t"/>
          <a:lstStyle/>
          <a:p>
            <a:pPr marL="342900" indent="-342900">
              <a:spcAft>
                <a:spcPts val="400"/>
              </a:spcAft>
              <a:buSzPct val="100000"/>
              <a:buChar char="•"/>
            </a:pPr>
            <a:r>
              <a:rPr lang="en-US" sz="1300" dirty="0">
                <a:solidFill>
                  <a:srgbClr val="5B595A"/>
                </a:solidFill>
                <a:latin typeface="Arial" pitchFamily="34" charset="0"/>
                <a:ea typeface="Arial" pitchFamily="34" charset="-122"/>
                <a:cs typeface="Arial" pitchFamily="34" charset="-120"/>
              </a:rPr>
              <a:t>Material certificates must be obtained BEFORE materials are used, not after.</a:t>
            </a:r>
            <a:endParaRPr lang="en-US" sz="1300" dirty="0"/>
          </a:p>
          <a:p>
            <a:pPr marL="342900" indent="-342900">
              <a:spcAft>
                <a:spcPts val="400"/>
              </a:spcAft>
              <a:buSzPct val="100000"/>
              <a:buChar char="•"/>
            </a:pPr>
            <a:r>
              <a:rPr lang="en-US" sz="1300" dirty="0">
                <a:solidFill>
                  <a:srgbClr val="5B595A"/>
                </a:solidFill>
                <a:latin typeface="Arial" pitchFamily="34" charset="0"/>
                <a:ea typeface="Arial" pitchFamily="34" charset="-122"/>
                <a:cs typeface="Arial" pitchFamily="34" charset="-120"/>
              </a:rPr>
              <a:t>Certificates must be verified against the specification (correct grade, heat number, mechanical and chemical properties).</a:t>
            </a:r>
            <a:endParaRPr lang="en-US" sz="1300" dirty="0"/>
          </a:p>
          <a:p>
            <a:pPr marL="342900" indent="-342900">
              <a:spcAft>
                <a:spcPts val="400"/>
              </a:spcAft>
              <a:buSzPct val="100000"/>
              <a:buChar char="•"/>
            </a:pPr>
            <a:r>
              <a:rPr lang="en-US" sz="1300" dirty="0">
                <a:solidFill>
                  <a:srgbClr val="5B595A"/>
                </a:solidFill>
                <a:latin typeface="Arial" pitchFamily="34" charset="0"/>
                <a:ea typeface="Arial" pitchFamily="34" charset="-122"/>
                <a:cs typeface="Arial" pitchFamily="34" charset="-120"/>
              </a:rPr>
              <a:t>A material traceability matrix must be maintained: linking each certificate to the specific items it covers.</a:t>
            </a:r>
            <a:endParaRPr lang="en-US" sz="1300" dirty="0"/>
          </a:p>
          <a:p>
            <a:pPr marL="342900" indent="-342900">
              <a:spcAft>
                <a:spcPts val="400"/>
              </a:spcAft>
              <a:buSzPct val="100000"/>
              <a:buChar char="•"/>
            </a:pPr>
            <a:r>
              <a:rPr lang="en-US" sz="1300" dirty="0">
                <a:solidFill>
                  <a:srgbClr val="5B595A"/>
                </a:solidFill>
                <a:latin typeface="Arial" pitchFamily="34" charset="0"/>
                <a:ea typeface="Arial" pitchFamily="34" charset="-122"/>
                <a:cs typeface="Arial" pitchFamily="34" charset="-120"/>
              </a:rPr>
              <a:t>Heat or batch numbers must be marked on materials and maintained throughout manufacture.</a:t>
            </a:r>
            <a:endParaRPr lang="en-US" sz="1300" dirty="0"/>
          </a:p>
          <a:p>
            <a:pPr marL="342900" indent="-342900">
              <a:spcAft>
                <a:spcPts val="400"/>
              </a:spcAft>
              <a:buSzPct val="100000"/>
              <a:buChar char="•"/>
            </a:pPr>
            <a:r>
              <a:rPr lang="en-US" sz="1300" dirty="0">
                <a:solidFill>
                  <a:srgbClr val="5B595A"/>
                </a:solidFill>
                <a:latin typeface="Arial" pitchFamily="34" charset="0"/>
                <a:ea typeface="Arial" pitchFamily="34" charset="-122"/>
                <a:cs typeface="Arial" pitchFamily="34" charset="-120"/>
              </a:rPr>
              <a:t>Where materials are cut or processed, the traceability link to the original certificate must be maintained.</a:t>
            </a:r>
            <a:endParaRPr lang="en-US" sz="1300" dirty="0"/>
          </a:p>
          <a:p>
            <a:pPr marL="342900" indent="-342900">
              <a:spcAft>
                <a:spcPts val="400"/>
              </a:spcAft>
              <a:buSzPct val="100000"/>
              <a:buChar char="•"/>
            </a:pPr>
            <a:r>
              <a:rPr lang="en-US" sz="1300" dirty="0">
                <a:solidFill>
                  <a:srgbClr val="5B595A"/>
                </a:solidFill>
                <a:latin typeface="Arial" pitchFamily="34" charset="0"/>
                <a:ea typeface="Arial" pitchFamily="34" charset="-122"/>
                <a:cs typeface="Arial" pitchFamily="34" charset="-120"/>
              </a:rPr>
              <a:t>Final Lifetime Quality Records must show the complete chain from certificate to finished item.</a:t>
            </a:r>
            <a:endParaRPr lang="en-US" sz="1300" dirty="0"/>
          </a:p>
        </p:txBody>
      </p:sp>
      <p:sp>
        <p:nvSpPr>
          <p:cNvPr id="10" name="Shape 7"/>
          <p:cNvSpPr/>
          <p:nvPr/>
        </p:nvSpPr>
        <p:spPr>
          <a:xfrm>
            <a:off x="274320" y="3977640"/>
            <a:ext cx="8595360" cy="777240"/>
          </a:xfrm>
          <a:prstGeom prst="rect">
            <a:avLst/>
          </a:prstGeom>
          <a:solidFill>
            <a:srgbClr val="FCE4D6"/>
          </a:solidFill>
          <a:ln w="25400">
            <a:solidFill>
              <a:srgbClr val="CC0000"/>
            </a:solidFill>
            <a:prstDash val="solid"/>
          </a:ln>
        </p:spPr>
      </p:sp>
      <p:sp>
        <p:nvSpPr>
          <p:cNvPr id="11" name="Text 8"/>
          <p:cNvSpPr/>
          <p:nvPr/>
        </p:nvSpPr>
        <p:spPr>
          <a:xfrm>
            <a:off x="411480" y="4023360"/>
            <a:ext cx="8229600" cy="685800"/>
          </a:xfrm>
          <a:prstGeom prst="rect">
            <a:avLst/>
          </a:prstGeom>
          <a:noFill/>
          <a:ln/>
        </p:spPr>
        <p:txBody>
          <a:bodyPr wrap="square" rtlCol="0" anchor="ctr"/>
          <a:lstStyle/>
          <a:p>
            <a:pPr indent="0" marL="0">
              <a:buNone/>
            </a:pPr>
            <a:r>
              <a:rPr lang="en-US" sz="1000" b="1" dirty="0">
                <a:solidFill>
                  <a:srgbClr val="CC0000"/>
                </a:solidFill>
                <a:latin typeface="Arial" pitchFamily="34" charset="0"/>
                <a:ea typeface="Arial" pitchFamily="34" charset="-122"/>
                <a:cs typeface="Arial" pitchFamily="34" charset="-120"/>
              </a:rPr>
              <a:t>CFSI AWARENESS: </a:t>
            </a:r>
            <a:pPr indent="0" marL="0">
              <a:buNone/>
            </a:pPr>
            <a:r>
              <a:rPr lang="en-US" sz="1000" dirty="0">
                <a:solidFill>
                  <a:srgbClr val="5B595A"/>
                </a:solidFill>
                <a:latin typeface="Arial" pitchFamily="34" charset="0"/>
                <a:ea typeface="Arial" pitchFamily="34" charset="-122"/>
                <a:cs typeface="Arial" pitchFamily="34" charset="-120"/>
              </a:rPr>
              <a:t>Counterfeit, Fraudulent, and Suspect Items (CFSI) are a real risk in the nuclear supply chain. Every item must be inspected at goods receipt. If anything looks wrong - packaging, markings, pricing significantly below market - quarantine the item and notify the Quality Manager immediately. Never use a suspect item.</a:t>
            </a:r>
            <a:endParaRPr lang="en-US" sz="1000" dirty="0"/>
          </a:p>
        </p:txBody>
      </p:sp>
      <p:sp>
        <p:nvSpPr>
          <p:cNvPr id="12" name="Rectangle 1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5"/>
          <a:stretch>
            <a:fillRect/>
          </a:stretch>
        </p:blipFill>
        <p:spPr>
          <a:xfrm>
            <a:off x="7562088" y="100584"/>
            <a:ext cx="566928" cy="347472"/>
          </a:xfrm>
          <a:prstGeom prst="rect">
            <a:avLst/>
          </a:prstGeom>
        </p:spPr>
      </p:pic>
      <p:pic>
        <p:nvPicPr>
          <p:cNvPr id="14" name="Picture 13" descr="image.png"/>
          <p:cNvPicPr>
            <a:picLocks noChangeAspect="1"/>
          </p:cNvPicPr>
          <p:nvPr/>
        </p:nvPicPr>
        <p:blipFill>
          <a:blip r:embed="rId4"/>
          <a:stretch>
            <a:fillRect/>
          </a:stretch>
        </p:blipFill>
        <p:spPr>
          <a:xfrm>
            <a:off x="8174736" y="100584"/>
            <a:ext cx="658368" cy="347472"/>
          </a:xfrm>
          <a:prstGeom prst="rect">
            <a:avLst/>
          </a:prstGeom>
        </p:spPr>
      </p:pic>
      <p:sp>
        <p:nvSpPr>
          <p:cNvPr id="15" name="Rectangle 1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Shape 0"/>
          <p:cNvSpPr/>
          <p:nvPr/>
        </p:nvSpPr>
        <p:spPr>
          <a:xfrm>
            <a:off x="0" y="0"/>
            <a:ext cx="9144000" cy="658368"/>
          </a:xfrm>
          <a:prstGeom prst="rect">
            <a:avLst/>
          </a:prstGeom>
          <a:solidFill>
            <a:srgbClr val="009FE3"/>
          </a:solidFill>
          <a:ln/>
        </p:spPr>
      </p:sp>
      <p:sp>
        <p:nvSpPr>
          <p:cNvPr id="4" name="Text 1"/>
          <p:cNvSpPr/>
          <p:nvPr/>
        </p:nvSpPr>
        <p:spPr>
          <a:xfrm>
            <a:off x="365760" y="0"/>
            <a:ext cx="7315200" cy="658368"/>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Non-Conformance Management</a:t>
            </a:r>
            <a:endParaRPr lang="en-US" sz="2000" dirty="0"/>
          </a:p>
        </p:txBody>
      </p:sp>
      <p:sp>
        <p:nvSpPr>
          <p:cNvPr id="7" name="Text 4"/>
          <p:cNvSpPr/>
          <p:nvPr/>
        </p:nvSpPr>
        <p:spPr>
          <a:xfrm>
            <a:off x="365760" y="777240"/>
            <a:ext cx="8412480" cy="548640"/>
          </a:xfrm>
          <a:prstGeom prst="rect">
            <a:avLst/>
          </a:prstGeom>
          <a:noFill/>
          <a:ln/>
        </p:spPr>
        <p:txBody>
          <a:bodyPr wrap="square" rtlCol="0" anchor="t"/>
          <a:lstStyle/>
          <a:p>
            <a:pPr indent="0" marL="0">
              <a:buNone/>
            </a:pPr>
            <a:r>
              <a:rPr lang="en-US" sz="1200" dirty="0">
                <a:solidFill>
                  <a:srgbClr val="5B595A"/>
                </a:solidFill>
                <a:latin typeface="Arial" pitchFamily="34" charset="0"/>
                <a:ea typeface="Arial" pitchFamily="34" charset="-122"/>
                <a:cs typeface="Arial" pitchFamily="34" charset="-120"/>
              </a:rPr>
              <a:t>A non-conformance occurs whenever a product, material, service, or activity does not meet the specified requirements. Managing non-conformances correctly is essential: how you handle them is as important as avoiding them.</a:t>
            </a:r>
            <a:endParaRPr lang="en-US" sz="1200" dirty="0"/>
          </a:p>
        </p:txBody>
      </p:sp>
      <p:sp>
        <p:nvSpPr>
          <p:cNvPr id="8" name="Text 5"/>
          <p:cNvSpPr/>
          <p:nvPr/>
        </p:nvSpPr>
        <p:spPr>
          <a:xfrm>
            <a:off x="365760" y="1371600"/>
            <a:ext cx="8412480" cy="320040"/>
          </a:xfrm>
          <a:prstGeom prst="rect">
            <a:avLst/>
          </a:prstGeom>
          <a:noFill/>
          <a:ln/>
        </p:spPr>
        <p:txBody>
          <a:bodyPr wrap="square" rtlCol="0" anchor="ctr"/>
          <a:lstStyle/>
          <a:p>
            <a:pPr indent="0" marL="0">
              <a:buNone/>
            </a:pPr>
            <a:r>
              <a:rPr lang="en-US" sz="1400" b="1" dirty="0">
                <a:solidFill>
                  <a:srgbClr val="83348F"/>
                </a:solidFill>
                <a:latin typeface="Arial" pitchFamily="34" charset="0"/>
                <a:ea typeface="Arial" pitchFamily="34" charset="-122"/>
                <a:cs typeface="Arial" pitchFamily="34" charset="-120"/>
              </a:rPr>
              <a:t>The NCR process:</a:t>
            </a:r>
            <a:endParaRPr lang="en-US" sz="1400" dirty="0"/>
          </a:p>
        </p:txBody>
      </p:sp>
      <p:sp>
        <p:nvSpPr>
          <p:cNvPr id="9" name="Shape 6"/>
          <p:cNvSpPr/>
          <p:nvPr/>
        </p:nvSpPr>
        <p:spPr>
          <a:xfrm>
            <a:off x="274320" y="1691640"/>
            <a:ext cx="1325880" cy="475488"/>
          </a:xfrm>
          <a:prstGeom prst="rect">
            <a:avLst/>
          </a:prstGeom>
          <a:solidFill>
            <a:srgbClr val="009FE3"/>
          </a:solidFill>
          <a:ln/>
        </p:spPr>
      </p:sp>
      <p:sp>
        <p:nvSpPr>
          <p:cNvPr id="10" name="Text 7"/>
          <p:cNvSpPr/>
          <p:nvPr/>
        </p:nvSpPr>
        <p:spPr>
          <a:xfrm>
            <a:off x="274320" y="1691640"/>
            <a:ext cx="1325880" cy="47548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 IDENTIFY</a:t>
            </a:r>
            <a:endParaRPr lang="en-US" sz="1000" dirty="0"/>
          </a:p>
        </p:txBody>
      </p:sp>
      <p:sp>
        <p:nvSpPr>
          <p:cNvPr id="11" name="Shape 8"/>
          <p:cNvSpPr/>
          <p:nvPr/>
        </p:nvSpPr>
        <p:spPr>
          <a:xfrm>
            <a:off x="274320" y="2167128"/>
            <a:ext cx="1325880" cy="1719072"/>
          </a:xfrm>
          <a:prstGeom prst="rect">
            <a:avLst/>
          </a:prstGeom>
          <a:solidFill>
            <a:srgbClr val="E6F4FB"/>
          </a:solidFill>
          <a:ln w="6350">
            <a:solidFill>
              <a:srgbClr val="CCCCCC"/>
            </a:solidFill>
            <a:prstDash val="solid"/>
          </a:ln>
        </p:spPr>
      </p:sp>
      <p:sp>
        <p:nvSpPr>
          <p:cNvPr id="12" name="Text 9"/>
          <p:cNvSpPr/>
          <p:nvPr/>
        </p:nvSpPr>
        <p:spPr>
          <a:xfrm>
            <a:off x="320040" y="2221992"/>
            <a:ext cx="1234440" cy="1417320"/>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Non-conformance found by inspector or operative</a:t>
            </a:r>
            <a:endParaRPr lang="en-US" sz="900" dirty="0"/>
          </a:p>
        </p:txBody>
      </p:sp>
      <p:sp>
        <p:nvSpPr>
          <p:cNvPr id="13" name="Text 10"/>
          <p:cNvSpPr/>
          <p:nvPr/>
        </p:nvSpPr>
        <p:spPr>
          <a:xfrm>
            <a:off x="320040" y="3657600"/>
            <a:ext cx="1234440" cy="320040"/>
          </a:xfrm>
          <a:prstGeom prst="rect">
            <a:avLst/>
          </a:prstGeom>
          <a:noFill/>
          <a:ln/>
        </p:spPr>
        <p:txBody>
          <a:bodyPr wrap="square" rtlCol="0" anchor="ctr"/>
          <a:lstStyle/>
          <a:p>
            <a:pPr indent="0" marL="0">
              <a:buNone/>
            </a:pPr>
            <a:r>
              <a:rPr lang="en-US" sz="800" b="1" dirty="0">
                <a:solidFill>
                  <a:srgbClr val="009FE3"/>
                </a:solidFill>
                <a:latin typeface="Arial" pitchFamily="34" charset="0"/>
                <a:ea typeface="Arial" pitchFamily="34" charset="-122"/>
                <a:cs typeface="Arial" pitchFamily="34" charset="-120"/>
              </a:rPr>
              <a:t>Immediately</a:t>
            </a:r>
            <a:endParaRPr lang="en-US" sz="800" dirty="0"/>
          </a:p>
        </p:txBody>
      </p:sp>
      <p:sp>
        <p:nvSpPr>
          <p:cNvPr id="14" name="Shape 11"/>
          <p:cNvSpPr/>
          <p:nvPr/>
        </p:nvSpPr>
        <p:spPr>
          <a:xfrm>
            <a:off x="1719072" y="1691640"/>
            <a:ext cx="1325880" cy="475488"/>
          </a:xfrm>
          <a:prstGeom prst="rect">
            <a:avLst/>
          </a:prstGeom>
          <a:solidFill>
            <a:srgbClr val="83348F"/>
          </a:solidFill>
          <a:ln/>
        </p:spPr>
      </p:sp>
      <p:sp>
        <p:nvSpPr>
          <p:cNvPr id="15" name="Text 12"/>
          <p:cNvSpPr/>
          <p:nvPr/>
        </p:nvSpPr>
        <p:spPr>
          <a:xfrm>
            <a:off x="1719072" y="1691640"/>
            <a:ext cx="1325880" cy="47548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 STOP</a:t>
            </a:r>
            <a:endParaRPr lang="en-US" sz="1000" dirty="0"/>
          </a:p>
        </p:txBody>
      </p:sp>
      <p:sp>
        <p:nvSpPr>
          <p:cNvPr id="16" name="Shape 13"/>
          <p:cNvSpPr/>
          <p:nvPr/>
        </p:nvSpPr>
        <p:spPr>
          <a:xfrm>
            <a:off x="1719072" y="2167128"/>
            <a:ext cx="1325880" cy="1719072"/>
          </a:xfrm>
          <a:prstGeom prst="rect">
            <a:avLst/>
          </a:prstGeom>
          <a:solidFill>
            <a:srgbClr val="F5EBF7"/>
          </a:solidFill>
          <a:ln w="6350">
            <a:solidFill>
              <a:srgbClr val="CCCCCC"/>
            </a:solidFill>
            <a:prstDash val="solid"/>
          </a:ln>
        </p:spPr>
      </p:sp>
      <p:sp>
        <p:nvSpPr>
          <p:cNvPr id="17" name="Text 14"/>
          <p:cNvSpPr/>
          <p:nvPr/>
        </p:nvSpPr>
        <p:spPr>
          <a:xfrm>
            <a:off x="1764792" y="2221992"/>
            <a:ext cx="1234440" cy="1417320"/>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Segregate and tag the non-conforming item. Stop work in affected area.</a:t>
            </a:r>
            <a:endParaRPr lang="en-US" sz="900" dirty="0"/>
          </a:p>
        </p:txBody>
      </p:sp>
      <p:sp>
        <p:nvSpPr>
          <p:cNvPr id="18" name="Text 15"/>
          <p:cNvSpPr/>
          <p:nvPr/>
        </p:nvSpPr>
        <p:spPr>
          <a:xfrm>
            <a:off x="1764792" y="3657600"/>
            <a:ext cx="1234440" cy="320040"/>
          </a:xfrm>
          <a:prstGeom prst="rect">
            <a:avLst/>
          </a:prstGeom>
          <a:noFill/>
          <a:ln/>
        </p:spPr>
        <p:txBody>
          <a:bodyPr wrap="square" rtlCol="0" anchor="ctr"/>
          <a:lstStyle/>
          <a:p>
            <a:pPr indent="0" marL="0">
              <a:buNone/>
            </a:pPr>
            <a:r>
              <a:rPr lang="en-US" sz="800" b="1" dirty="0">
                <a:solidFill>
                  <a:srgbClr val="009FE3"/>
                </a:solidFill>
                <a:latin typeface="Arial" pitchFamily="34" charset="0"/>
                <a:ea typeface="Arial" pitchFamily="34" charset="-122"/>
                <a:cs typeface="Arial" pitchFamily="34" charset="-120"/>
              </a:rPr>
              <a:t>Immediately</a:t>
            </a:r>
            <a:endParaRPr lang="en-US" sz="800" dirty="0"/>
          </a:p>
        </p:txBody>
      </p:sp>
      <p:sp>
        <p:nvSpPr>
          <p:cNvPr id="19" name="Shape 16"/>
          <p:cNvSpPr/>
          <p:nvPr/>
        </p:nvSpPr>
        <p:spPr>
          <a:xfrm>
            <a:off x="3163824" y="1691640"/>
            <a:ext cx="1325880" cy="475488"/>
          </a:xfrm>
          <a:prstGeom prst="rect">
            <a:avLst/>
          </a:prstGeom>
          <a:solidFill>
            <a:srgbClr val="009FE3"/>
          </a:solidFill>
          <a:ln/>
        </p:spPr>
      </p:sp>
      <p:sp>
        <p:nvSpPr>
          <p:cNvPr id="20" name="Text 17"/>
          <p:cNvSpPr/>
          <p:nvPr/>
        </p:nvSpPr>
        <p:spPr>
          <a:xfrm>
            <a:off x="3163824" y="1691640"/>
            <a:ext cx="1325880" cy="47548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 RAISE NCR</a:t>
            </a:r>
            <a:endParaRPr lang="en-US" sz="1000" dirty="0"/>
          </a:p>
        </p:txBody>
      </p:sp>
      <p:sp>
        <p:nvSpPr>
          <p:cNvPr id="21" name="Shape 18"/>
          <p:cNvSpPr/>
          <p:nvPr/>
        </p:nvSpPr>
        <p:spPr>
          <a:xfrm>
            <a:off x="3163824" y="2167128"/>
            <a:ext cx="1325880" cy="1719072"/>
          </a:xfrm>
          <a:prstGeom prst="rect">
            <a:avLst/>
          </a:prstGeom>
          <a:solidFill>
            <a:srgbClr val="E6F4FB"/>
          </a:solidFill>
          <a:ln w="6350">
            <a:solidFill>
              <a:srgbClr val="CCCCCC"/>
            </a:solidFill>
            <a:prstDash val="solid"/>
          </a:ln>
        </p:spPr>
      </p:sp>
      <p:sp>
        <p:nvSpPr>
          <p:cNvPr id="22" name="Text 19"/>
          <p:cNvSpPr/>
          <p:nvPr/>
        </p:nvSpPr>
        <p:spPr>
          <a:xfrm>
            <a:off x="3209544" y="2221992"/>
            <a:ext cx="1234440" cy="1417320"/>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Complete an NCR form. Record what was found, where, and when.</a:t>
            </a:r>
            <a:endParaRPr lang="en-US" sz="900" dirty="0"/>
          </a:p>
        </p:txBody>
      </p:sp>
      <p:sp>
        <p:nvSpPr>
          <p:cNvPr id="23" name="Text 20"/>
          <p:cNvSpPr/>
          <p:nvPr/>
        </p:nvSpPr>
        <p:spPr>
          <a:xfrm>
            <a:off x="3209544" y="3657600"/>
            <a:ext cx="1234440" cy="320040"/>
          </a:xfrm>
          <a:prstGeom prst="rect">
            <a:avLst/>
          </a:prstGeom>
          <a:noFill/>
          <a:ln/>
        </p:spPr>
        <p:txBody>
          <a:bodyPr wrap="square" rtlCol="0" anchor="ctr"/>
          <a:lstStyle/>
          <a:p>
            <a:pPr indent="0" marL="0">
              <a:buNone/>
            </a:pPr>
            <a:r>
              <a:rPr lang="en-US" sz="800" b="1" dirty="0">
                <a:solidFill>
                  <a:srgbClr val="009FE3"/>
                </a:solidFill>
                <a:latin typeface="Arial" pitchFamily="34" charset="0"/>
                <a:ea typeface="Arial" pitchFamily="34" charset="-122"/>
                <a:cs typeface="Arial" pitchFamily="34" charset="-120"/>
              </a:rPr>
              <a:t>Within 1 hour</a:t>
            </a:r>
            <a:endParaRPr lang="en-US" sz="800" dirty="0"/>
          </a:p>
        </p:txBody>
      </p:sp>
      <p:sp>
        <p:nvSpPr>
          <p:cNvPr id="24" name="Shape 21"/>
          <p:cNvSpPr/>
          <p:nvPr/>
        </p:nvSpPr>
        <p:spPr>
          <a:xfrm>
            <a:off x="4608576" y="1691640"/>
            <a:ext cx="1325880" cy="475488"/>
          </a:xfrm>
          <a:prstGeom prst="rect">
            <a:avLst/>
          </a:prstGeom>
          <a:solidFill>
            <a:srgbClr val="83348F"/>
          </a:solidFill>
          <a:ln/>
        </p:spPr>
      </p:sp>
      <p:sp>
        <p:nvSpPr>
          <p:cNvPr id="25" name="Text 22"/>
          <p:cNvSpPr/>
          <p:nvPr/>
        </p:nvSpPr>
        <p:spPr>
          <a:xfrm>
            <a:off x="4608576" y="1691640"/>
            <a:ext cx="1325880" cy="47548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 NOTIFY QM</a:t>
            </a:r>
            <a:endParaRPr lang="en-US" sz="1000" dirty="0"/>
          </a:p>
        </p:txBody>
      </p:sp>
      <p:sp>
        <p:nvSpPr>
          <p:cNvPr id="26" name="Shape 23"/>
          <p:cNvSpPr/>
          <p:nvPr/>
        </p:nvSpPr>
        <p:spPr>
          <a:xfrm>
            <a:off x="4608576" y="2167128"/>
            <a:ext cx="1325880" cy="1719072"/>
          </a:xfrm>
          <a:prstGeom prst="rect">
            <a:avLst/>
          </a:prstGeom>
          <a:solidFill>
            <a:srgbClr val="F5EBF7"/>
          </a:solidFill>
          <a:ln w="6350">
            <a:solidFill>
              <a:srgbClr val="CCCCCC"/>
            </a:solidFill>
            <a:prstDash val="solid"/>
          </a:ln>
        </p:spPr>
      </p:sp>
      <p:sp>
        <p:nvSpPr>
          <p:cNvPr id="27" name="Text 24"/>
          <p:cNvSpPr/>
          <p:nvPr/>
        </p:nvSpPr>
        <p:spPr>
          <a:xfrm>
            <a:off x="4654296" y="2221992"/>
            <a:ext cx="1234440" cy="1417320"/>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Inform the Quality Manager. Customer notified within 24 hours for QC1/QC2.</a:t>
            </a:r>
            <a:endParaRPr lang="en-US" sz="900" dirty="0"/>
          </a:p>
        </p:txBody>
      </p:sp>
      <p:sp>
        <p:nvSpPr>
          <p:cNvPr id="28" name="Text 25"/>
          <p:cNvSpPr/>
          <p:nvPr/>
        </p:nvSpPr>
        <p:spPr>
          <a:xfrm>
            <a:off x="4654296" y="3657600"/>
            <a:ext cx="1234440" cy="320040"/>
          </a:xfrm>
          <a:prstGeom prst="rect">
            <a:avLst/>
          </a:prstGeom>
          <a:noFill/>
          <a:ln/>
        </p:spPr>
        <p:txBody>
          <a:bodyPr wrap="square" rtlCol="0" anchor="ctr"/>
          <a:lstStyle/>
          <a:p>
            <a:pPr indent="0" marL="0">
              <a:buNone/>
            </a:pPr>
            <a:r>
              <a:rPr lang="en-US" sz="800" b="1" dirty="0">
                <a:solidFill>
                  <a:srgbClr val="009FE3"/>
                </a:solidFill>
                <a:latin typeface="Arial" pitchFamily="34" charset="0"/>
                <a:ea typeface="Arial" pitchFamily="34" charset="-122"/>
                <a:cs typeface="Arial" pitchFamily="34" charset="-120"/>
              </a:rPr>
              <a:t>Within 2 hours</a:t>
            </a:r>
            <a:endParaRPr lang="en-US" sz="800" dirty="0"/>
          </a:p>
        </p:txBody>
      </p:sp>
      <p:sp>
        <p:nvSpPr>
          <p:cNvPr id="29" name="Shape 26"/>
          <p:cNvSpPr/>
          <p:nvPr/>
        </p:nvSpPr>
        <p:spPr>
          <a:xfrm>
            <a:off x="6053328" y="1691640"/>
            <a:ext cx="1325880" cy="475488"/>
          </a:xfrm>
          <a:prstGeom prst="rect">
            <a:avLst/>
          </a:prstGeom>
          <a:solidFill>
            <a:srgbClr val="009FE3"/>
          </a:solidFill>
          <a:ln/>
        </p:spPr>
      </p:sp>
      <p:sp>
        <p:nvSpPr>
          <p:cNvPr id="30" name="Text 27"/>
          <p:cNvSpPr/>
          <p:nvPr/>
        </p:nvSpPr>
        <p:spPr>
          <a:xfrm>
            <a:off x="6053328" y="1691640"/>
            <a:ext cx="1325880" cy="47548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 ASSESS</a:t>
            </a:r>
            <a:endParaRPr lang="en-US" sz="1000" dirty="0"/>
          </a:p>
        </p:txBody>
      </p:sp>
      <p:sp>
        <p:nvSpPr>
          <p:cNvPr id="31" name="Shape 28"/>
          <p:cNvSpPr/>
          <p:nvPr/>
        </p:nvSpPr>
        <p:spPr>
          <a:xfrm>
            <a:off x="6053328" y="2167128"/>
            <a:ext cx="1325880" cy="1719072"/>
          </a:xfrm>
          <a:prstGeom prst="rect">
            <a:avLst/>
          </a:prstGeom>
          <a:solidFill>
            <a:srgbClr val="E6F4FB"/>
          </a:solidFill>
          <a:ln w="6350">
            <a:solidFill>
              <a:srgbClr val="CCCCCC"/>
            </a:solidFill>
            <a:prstDash val="solid"/>
          </a:ln>
        </p:spPr>
      </p:sp>
      <p:sp>
        <p:nvSpPr>
          <p:cNvPr id="32" name="Text 29"/>
          <p:cNvSpPr/>
          <p:nvPr/>
        </p:nvSpPr>
        <p:spPr>
          <a:xfrm>
            <a:off x="6099048" y="2221992"/>
            <a:ext cx="1234440" cy="1417320"/>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Quality Manager assesses root cause and proposes disposition.</a:t>
            </a:r>
            <a:endParaRPr lang="en-US" sz="900" dirty="0"/>
          </a:p>
        </p:txBody>
      </p:sp>
      <p:sp>
        <p:nvSpPr>
          <p:cNvPr id="33" name="Text 30"/>
          <p:cNvSpPr/>
          <p:nvPr/>
        </p:nvSpPr>
        <p:spPr>
          <a:xfrm>
            <a:off x="6099048" y="3657600"/>
            <a:ext cx="1234440" cy="320040"/>
          </a:xfrm>
          <a:prstGeom prst="rect">
            <a:avLst/>
          </a:prstGeom>
          <a:noFill/>
          <a:ln/>
        </p:spPr>
        <p:txBody>
          <a:bodyPr wrap="square" rtlCol="0" anchor="ctr"/>
          <a:lstStyle/>
          <a:p>
            <a:pPr indent="0" marL="0">
              <a:buNone/>
            </a:pPr>
            <a:r>
              <a:rPr lang="en-US" sz="800" b="1" dirty="0">
                <a:solidFill>
                  <a:srgbClr val="009FE3"/>
                </a:solidFill>
                <a:latin typeface="Arial" pitchFamily="34" charset="0"/>
                <a:ea typeface="Arial" pitchFamily="34" charset="-122"/>
                <a:cs typeface="Arial" pitchFamily="34" charset="-120"/>
              </a:rPr>
              <a:t>Within 1 working day</a:t>
            </a:r>
            <a:endParaRPr lang="en-US" sz="800" dirty="0"/>
          </a:p>
        </p:txBody>
      </p:sp>
      <p:sp>
        <p:nvSpPr>
          <p:cNvPr id="34" name="Shape 31"/>
          <p:cNvSpPr/>
          <p:nvPr/>
        </p:nvSpPr>
        <p:spPr>
          <a:xfrm>
            <a:off x="7498080" y="1691640"/>
            <a:ext cx="1325880" cy="475488"/>
          </a:xfrm>
          <a:prstGeom prst="rect">
            <a:avLst/>
          </a:prstGeom>
          <a:solidFill>
            <a:srgbClr val="83348F"/>
          </a:solidFill>
          <a:ln/>
        </p:spPr>
      </p:sp>
      <p:sp>
        <p:nvSpPr>
          <p:cNvPr id="35" name="Text 32"/>
          <p:cNvSpPr/>
          <p:nvPr/>
        </p:nvSpPr>
        <p:spPr>
          <a:xfrm>
            <a:off x="7498080" y="1691640"/>
            <a:ext cx="1325880" cy="47548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 CLOSE</a:t>
            </a:r>
            <a:endParaRPr lang="en-US" sz="1000" dirty="0"/>
          </a:p>
        </p:txBody>
      </p:sp>
      <p:sp>
        <p:nvSpPr>
          <p:cNvPr id="36" name="Shape 33"/>
          <p:cNvSpPr/>
          <p:nvPr/>
        </p:nvSpPr>
        <p:spPr>
          <a:xfrm>
            <a:off x="7498080" y="2167128"/>
            <a:ext cx="1325880" cy="1719072"/>
          </a:xfrm>
          <a:prstGeom prst="rect">
            <a:avLst/>
          </a:prstGeom>
          <a:solidFill>
            <a:srgbClr val="F5EBF7"/>
          </a:solidFill>
          <a:ln w="6350">
            <a:solidFill>
              <a:srgbClr val="CCCCCC"/>
            </a:solidFill>
            <a:prstDash val="solid"/>
          </a:ln>
        </p:spPr>
      </p:sp>
      <p:sp>
        <p:nvSpPr>
          <p:cNvPr id="37" name="Text 34"/>
          <p:cNvSpPr/>
          <p:nvPr/>
        </p:nvSpPr>
        <p:spPr>
          <a:xfrm>
            <a:off x="7543800" y="2221992"/>
            <a:ext cx="1234440" cy="1417320"/>
          </a:xfrm>
          <a:prstGeom prst="rect">
            <a:avLst/>
          </a:prstGeom>
          <a:noFill/>
          <a:ln/>
        </p:spPr>
        <p:txBody>
          <a:bodyPr wrap="square" rtlCol="0" anchor="t"/>
          <a:lstStyle/>
          <a:p>
            <a:pPr indent="0" marL="0">
              <a:buNone/>
            </a:pPr>
            <a:r>
              <a:rPr lang="en-US" sz="900" dirty="0">
                <a:solidFill>
                  <a:srgbClr val="5B595A"/>
                </a:solidFill>
                <a:latin typeface="Arial" pitchFamily="34" charset="0"/>
                <a:ea typeface="Arial" pitchFamily="34" charset="-122"/>
                <a:cs typeface="Arial" pitchFamily="34" charset="-120"/>
              </a:rPr>
              <a:t>Disposition agreed and implemented. Corrective action tracked to closure.</a:t>
            </a:r>
            <a:endParaRPr lang="en-US" sz="900" dirty="0"/>
          </a:p>
        </p:txBody>
      </p:sp>
      <p:sp>
        <p:nvSpPr>
          <p:cNvPr id="38" name="Text 35"/>
          <p:cNvSpPr/>
          <p:nvPr/>
        </p:nvSpPr>
        <p:spPr>
          <a:xfrm>
            <a:off x="7543800" y="3657600"/>
            <a:ext cx="1234440" cy="320040"/>
          </a:xfrm>
          <a:prstGeom prst="rect">
            <a:avLst/>
          </a:prstGeom>
          <a:noFill/>
          <a:ln/>
        </p:spPr>
        <p:txBody>
          <a:bodyPr wrap="square" rtlCol="0" anchor="ctr"/>
          <a:lstStyle/>
          <a:p>
            <a:pPr indent="0" marL="0">
              <a:buNone/>
            </a:pPr>
            <a:r>
              <a:rPr lang="en-US" sz="800" b="1" dirty="0">
                <a:solidFill>
                  <a:srgbClr val="009FE3"/>
                </a:solidFill>
                <a:latin typeface="Arial" pitchFamily="34" charset="0"/>
                <a:ea typeface="Arial" pitchFamily="34" charset="-122"/>
                <a:cs typeface="Arial" pitchFamily="34" charset="-120"/>
              </a:rPr>
              <a:t>Per agreed timescale</a:t>
            </a:r>
            <a:endParaRPr lang="en-US" sz="800" dirty="0"/>
          </a:p>
        </p:txBody>
      </p:sp>
      <p:sp>
        <p:nvSpPr>
          <p:cNvPr id="39" name="Shape 36"/>
          <p:cNvSpPr/>
          <p:nvPr/>
        </p:nvSpPr>
        <p:spPr>
          <a:xfrm>
            <a:off x="365760" y="4407408"/>
            <a:ext cx="8412480" cy="384048"/>
          </a:xfrm>
          <a:prstGeom prst="rect">
            <a:avLst/>
          </a:prstGeom>
          <a:solidFill>
            <a:srgbClr val="E6F4FB"/>
          </a:solidFill>
          <a:ln w="19050">
            <a:solidFill>
              <a:srgbClr val="009FE3"/>
            </a:solidFill>
            <a:prstDash val="solid"/>
          </a:ln>
        </p:spPr>
      </p:sp>
      <p:sp>
        <p:nvSpPr>
          <p:cNvPr id="40" name="Text 37"/>
          <p:cNvSpPr/>
          <p:nvPr/>
        </p:nvSpPr>
        <p:spPr>
          <a:xfrm>
            <a:off x="475488" y="4480560"/>
            <a:ext cx="8193024" cy="237744"/>
          </a:xfrm>
          <a:prstGeom prst="rect">
            <a:avLst/>
          </a:prstGeom>
          <a:noFill/>
          <a:ln/>
        </p:spPr>
        <p:txBody>
          <a:bodyPr wrap="square" rtlCol="0" anchor="t"/>
          <a:lstStyle/>
          <a:p>
            <a:pPr indent="0" marL="0">
              <a:buNone/>
            </a:pPr>
            <a:r>
              <a:rPr lang="en-US" sz="1100" i="1" dirty="0">
                <a:solidFill>
                  <a:srgbClr val="5B595A"/>
                </a:solidFill>
                <a:latin typeface="Arial" pitchFamily="34" charset="0"/>
                <a:ea typeface="Arial" pitchFamily="34" charset="-122"/>
                <a:cs typeface="Arial" pitchFamily="34" charset="-120"/>
              </a:rPr>
              <a:t>NCRs are not a sign of failure. They are a sign of a healthy quality system. Covering up a non-conformance is far more serious than raising one.</a:t>
            </a:r>
            <a:endParaRPr lang="en-US" sz="1100" dirty="0"/>
          </a:p>
        </p:txBody>
      </p:sp>
      <p:sp>
        <p:nvSpPr>
          <p:cNvPr id="41" name="Rectangle 40"/>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5"/>
          <a:stretch>
            <a:fillRect/>
          </a:stretch>
        </p:blipFill>
        <p:spPr>
          <a:xfrm>
            <a:off x="7562088" y="100584"/>
            <a:ext cx="566928" cy="347472"/>
          </a:xfrm>
          <a:prstGeom prst="rect">
            <a:avLst/>
          </a:prstGeom>
        </p:spPr>
      </p:pic>
      <p:pic>
        <p:nvPicPr>
          <p:cNvPr id="43" name="Picture 42" descr="image.png"/>
          <p:cNvPicPr>
            <a:picLocks noChangeAspect="1"/>
          </p:cNvPicPr>
          <p:nvPr/>
        </p:nvPicPr>
        <p:blipFill>
          <a:blip r:embed="rId4"/>
          <a:stretch>
            <a:fillRect/>
          </a:stretch>
        </p:blipFill>
        <p:spPr>
          <a:xfrm>
            <a:off x="8174736" y="100584"/>
            <a:ext cx="658368" cy="347472"/>
          </a:xfrm>
          <a:prstGeom prst="rect">
            <a:avLst/>
          </a:prstGeom>
        </p:spPr>
      </p:pic>
      <p:sp>
        <p:nvSpPr>
          <p:cNvPr id="44" name="Rectangle 43"/>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Shape 0"/>
          <p:cNvSpPr/>
          <p:nvPr/>
        </p:nvSpPr>
        <p:spPr>
          <a:xfrm>
            <a:off x="0" y="0"/>
            <a:ext cx="9144000" cy="658368"/>
          </a:xfrm>
          <a:prstGeom prst="rect">
            <a:avLst/>
          </a:prstGeom>
          <a:solidFill>
            <a:srgbClr val="009FE3"/>
          </a:solidFill>
          <a:ln/>
        </p:spPr>
      </p:sp>
      <p:sp>
        <p:nvSpPr>
          <p:cNvPr id="4" name="Text 1"/>
          <p:cNvSpPr/>
          <p:nvPr/>
        </p:nvSpPr>
        <p:spPr>
          <a:xfrm>
            <a:off x="365760" y="0"/>
            <a:ext cx="7315200" cy="658368"/>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Lifetime Quality Records (LQR)</a:t>
            </a:r>
            <a:endParaRPr lang="en-US" sz="2000" dirty="0"/>
          </a:p>
        </p:txBody>
      </p:sp>
      <p:sp>
        <p:nvSpPr>
          <p:cNvPr id="7" name="Text 4"/>
          <p:cNvSpPr/>
          <p:nvPr/>
        </p:nvSpPr>
        <p:spPr>
          <a:xfrm>
            <a:off x="365760" y="777240"/>
            <a:ext cx="8412480" cy="548640"/>
          </a:xfrm>
          <a:prstGeom prst="rect">
            <a:avLst/>
          </a:prstGeom>
          <a:noFill/>
          <a:ln/>
        </p:spPr>
        <p:txBody>
          <a:bodyPr wrap="square" rtlCol="0" anchor="t"/>
          <a:lstStyle/>
          <a:p>
            <a:pPr indent="0" marL="0">
              <a:buNone/>
            </a:pPr>
            <a:r>
              <a:rPr lang="en-US" sz="1200" dirty="0">
                <a:solidFill>
                  <a:srgbClr val="5B595A"/>
                </a:solidFill>
                <a:latin typeface="Arial" pitchFamily="34" charset="0"/>
                <a:ea typeface="Arial" pitchFamily="34" charset="-122"/>
                <a:cs typeface="Arial" pitchFamily="34" charset="-120"/>
              </a:rPr>
              <a:t>The Lifetime Quality Record is the complete package of documented evidence that the supplied items meet all specified requirements. It is submitted to the customer and may be retained for up to 60 years.</a:t>
            </a:r>
            <a:endParaRPr lang="en-US" sz="1200" dirty="0"/>
          </a:p>
        </p:txBody>
      </p:sp>
      <p:sp>
        <p:nvSpPr>
          <p:cNvPr id="8" name="Text 5"/>
          <p:cNvSpPr/>
          <p:nvPr/>
        </p:nvSpPr>
        <p:spPr>
          <a:xfrm>
            <a:off x="365760" y="1371600"/>
            <a:ext cx="8412480" cy="320040"/>
          </a:xfrm>
          <a:prstGeom prst="rect">
            <a:avLst/>
          </a:prstGeom>
          <a:noFill/>
          <a:ln/>
        </p:spPr>
        <p:txBody>
          <a:bodyPr wrap="square" rtlCol="0" anchor="ctr"/>
          <a:lstStyle/>
          <a:p>
            <a:pPr indent="0" marL="0">
              <a:buNone/>
            </a:pPr>
            <a:r>
              <a:rPr lang="en-US" sz="1400" b="1" dirty="0">
                <a:solidFill>
                  <a:srgbClr val="83348F"/>
                </a:solidFill>
                <a:latin typeface="Arial" pitchFamily="34" charset="0"/>
                <a:ea typeface="Arial" pitchFamily="34" charset="-122"/>
                <a:cs typeface="Arial" pitchFamily="34" charset="-120"/>
              </a:rPr>
              <a:t>Typical LQR contents:</a:t>
            </a:r>
            <a:endParaRPr lang="en-US" sz="1400" dirty="0"/>
          </a:p>
        </p:txBody>
      </p:sp>
      <p:sp>
        <p:nvSpPr>
          <p:cNvPr id="9" name="Text 6"/>
          <p:cNvSpPr/>
          <p:nvPr/>
        </p:nvSpPr>
        <p:spPr>
          <a:xfrm>
            <a:off x="365760" y="1691640"/>
            <a:ext cx="4114800" cy="1920240"/>
          </a:xfrm>
          <a:prstGeom prst="rect">
            <a:avLst/>
          </a:prstGeom>
          <a:noFill/>
          <a:ln/>
        </p:spPr>
        <p:txBody>
          <a:bodyPr wrap="square" rtlCol="0" anchor="t"/>
          <a:lstStyle/>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Quality Plan (signed and customer-accepted copy)</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Completed and signed Inspection and Test Plan</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Material certificates (to specified EN 10204 level)</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Weld maps, weld records, and WPS / WPQR</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NDT reports (signed by qualified Level 2 / Level 3)</a:t>
            </a:r>
            <a:endParaRPr lang="en-US" sz="1100" dirty="0"/>
          </a:p>
        </p:txBody>
      </p:sp>
      <p:sp>
        <p:nvSpPr>
          <p:cNvPr id="10" name="Text 7"/>
          <p:cNvSpPr/>
          <p:nvPr/>
        </p:nvSpPr>
        <p:spPr>
          <a:xfrm>
            <a:off x="4663440" y="1691640"/>
            <a:ext cx="4114800" cy="1920240"/>
          </a:xfrm>
          <a:prstGeom prst="rect">
            <a:avLst/>
          </a:prstGeom>
          <a:noFill/>
          <a:ln/>
        </p:spPr>
        <p:txBody>
          <a:bodyPr wrap="square" rtlCol="0" anchor="t"/>
          <a:lstStyle/>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Dimensional inspection reports</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Heat treatment charts and certificates (if applicable)</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Calibration records for measuring equipment used</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NCR log (all items closed or subject to approved concession)</a:t>
            </a:r>
            <a:endParaRPr lang="en-US" sz="1100" dirty="0"/>
          </a:p>
          <a:p>
            <a:pPr marL="342900" indent="-342900">
              <a:spcAft>
                <a:spcPts val="400"/>
              </a:spcAft>
              <a:buSzPct val="100000"/>
              <a:buChar char="•"/>
            </a:pPr>
            <a:r>
              <a:rPr lang="en-US" sz="1100" dirty="0">
                <a:solidFill>
                  <a:srgbClr val="5B595A"/>
                </a:solidFill>
                <a:latin typeface="Arial" pitchFamily="34" charset="0"/>
                <a:ea typeface="Arial" pitchFamily="34" charset="-122"/>
                <a:cs typeface="Arial" pitchFamily="34" charset="-120"/>
              </a:rPr>
              <a:t>Certificate of Conformity (signed by Quality Manager)</a:t>
            </a:r>
            <a:endParaRPr lang="en-US" sz="1100" dirty="0"/>
          </a:p>
        </p:txBody>
      </p:sp>
      <p:sp>
        <p:nvSpPr>
          <p:cNvPr id="11" name="Shape 8"/>
          <p:cNvSpPr/>
          <p:nvPr/>
        </p:nvSpPr>
        <p:spPr>
          <a:xfrm>
            <a:off x="365760" y="3749040"/>
            <a:ext cx="8412480" cy="438912"/>
          </a:xfrm>
          <a:prstGeom prst="rect">
            <a:avLst/>
          </a:prstGeom>
          <a:solidFill>
            <a:srgbClr val="E6F4FB"/>
          </a:solidFill>
          <a:ln w="19050">
            <a:solidFill>
              <a:srgbClr val="009FE3"/>
            </a:solidFill>
            <a:prstDash val="solid"/>
          </a:ln>
        </p:spPr>
      </p:sp>
      <p:sp>
        <p:nvSpPr>
          <p:cNvPr id="12" name="Text 9"/>
          <p:cNvSpPr/>
          <p:nvPr/>
        </p:nvSpPr>
        <p:spPr>
          <a:xfrm>
            <a:off x="475488" y="3822192"/>
            <a:ext cx="8193024" cy="292608"/>
          </a:xfrm>
          <a:prstGeom prst="rect">
            <a:avLst/>
          </a:prstGeom>
          <a:noFill/>
          <a:ln/>
        </p:spPr>
        <p:txBody>
          <a:bodyPr wrap="square" rtlCol="0" anchor="t"/>
          <a:lstStyle/>
          <a:p>
            <a:pPr indent="0" marL="0">
              <a:buNone/>
            </a:pPr>
            <a:r>
              <a:rPr lang="en-US" sz="1100" i="1" dirty="0">
                <a:solidFill>
                  <a:srgbClr val="5B595A"/>
                </a:solidFill>
                <a:latin typeface="Arial" pitchFamily="34" charset="0"/>
                <a:ea typeface="Arial" pitchFamily="34" charset="-122"/>
                <a:cs typeface="Arial" pitchFamily="34" charset="-120"/>
              </a:rPr>
              <a:t>BUILD THE LQR AS YOU GO. Do not wait until the end. Each inspection activity in the ITP generates a record. Compile the LQR concurrently so there are no gaps at contract close.</a:t>
            </a:r>
            <a:endParaRPr lang="en-US" sz="1100" dirty="0"/>
          </a:p>
        </p:txBody>
      </p:sp>
      <p:sp>
        <p:nvSpPr>
          <p:cNvPr id="13" name="Text 10"/>
          <p:cNvSpPr/>
          <p:nvPr/>
        </p:nvSpPr>
        <p:spPr>
          <a:xfrm>
            <a:off x="365760" y="4224528"/>
            <a:ext cx="8412480" cy="182880"/>
          </a:xfrm>
          <a:prstGeom prst="rect">
            <a:avLst/>
          </a:prstGeom>
          <a:noFill/>
          <a:ln/>
        </p:spPr>
        <p:txBody>
          <a:bodyPr wrap="square" rtlCol="0" anchor="t"/>
          <a:lstStyle/>
          <a:p>
            <a:pPr indent="0" marL="0">
              <a:buNone/>
            </a:pPr>
            <a:r>
              <a:rPr lang="en-US" sz="1000" dirty="0">
                <a:solidFill>
                  <a:srgbClr val="888888"/>
                </a:solidFill>
                <a:latin typeface="Arial" pitchFamily="34" charset="0"/>
                <a:ea typeface="Arial" pitchFamily="34" charset="-122"/>
                <a:cs typeface="Arial" pitchFamily="34" charset="-120"/>
              </a:rPr>
              <a:t>Retain a copy of the complete LQR for a minimum of 10 years (or as specified in the contract).</a:t>
            </a:r>
            <a:endParaRPr lang="en-US" sz="1000" dirty="0"/>
          </a:p>
        </p:txBody>
      </p:sp>
      <p:sp>
        <p:nvSpPr>
          <p:cNvPr id="14" name="Rectangle 13"/>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5"/>
          <a:stretch>
            <a:fillRect/>
          </a:stretch>
        </p:blipFill>
        <p:spPr>
          <a:xfrm>
            <a:off x="7562088" y="100584"/>
            <a:ext cx="566928" cy="347472"/>
          </a:xfrm>
          <a:prstGeom prst="rect">
            <a:avLst/>
          </a:prstGeom>
        </p:spPr>
      </p:pic>
      <p:pic>
        <p:nvPicPr>
          <p:cNvPr id="16" name="Picture 15" descr="image.png"/>
          <p:cNvPicPr>
            <a:picLocks noChangeAspect="1"/>
          </p:cNvPicPr>
          <p:nvPr/>
        </p:nvPicPr>
        <p:blipFill>
          <a:blip r:embed="rId4"/>
          <a:stretch>
            <a:fillRect/>
          </a:stretch>
        </p:blipFill>
        <p:spPr>
          <a:xfrm>
            <a:off x="8174736" y="100584"/>
            <a:ext cx="658368" cy="347472"/>
          </a:xfrm>
          <a:prstGeom prst="rect">
            <a:avLst/>
          </a:prstGeom>
        </p:spPr>
      </p:pic>
      <p:sp>
        <p:nvSpPr>
          <p:cNvPr id="17" name="Rectangle 16"/>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Shape 0"/>
          <p:cNvSpPr/>
          <p:nvPr/>
        </p:nvSpPr>
        <p:spPr>
          <a:xfrm>
            <a:off x="0" y="0"/>
            <a:ext cx="9144000" cy="658368"/>
          </a:xfrm>
          <a:prstGeom prst="rect">
            <a:avLst/>
          </a:prstGeom>
          <a:solidFill>
            <a:srgbClr val="009FE3"/>
          </a:solidFill>
          <a:ln/>
        </p:spPr>
      </p:sp>
      <p:sp>
        <p:nvSpPr>
          <p:cNvPr id="4" name="Text 1"/>
          <p:cNvSpPr/>
          <p:nvPr/>
        </p:nvSpPr>
        <p:spPr>
          <a:xfrm>
            <a:off x="365760" y="0"/>
            <a:ext cx="7315200" cy="658368"/>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Your Quality Planning Toolkit</a:t>
            </a:r>
            <a:endParaRPr lang="en-US" sz="2000" dirty="0"/>
          </a:p>
        </p:txBody>
      </p:sp>
      <p:sp>
        <p:nvSpPr>
          <p:cNvPr id="7" name="Text 4"/>
          <p:cNvSpPr/>
          <p:nvPr/>
        </p:nvSpPr>
        <p:spPr>
          <a:xfrm>
            <a:off x="365760" y="777240"/>
            <a:ext cx="8412480" cy="457200"/>
          </a:xfrm>
          <a:prstGeom prst="rect">
            <a:avLst/>
          </a:prstGeom>
          <a:noFill/>
          <a:ln/>
        </p:spPr>
        <p:txBody>
          <a:bodyPr wrap="square" rtlCol="0" anchor="t"/>
          <a:lstStyle/>
          <a:p>
            <a:pPr indent="0" marL="0">
              <a:buNone/>
            </a:pPr>
            <a:r>
              <a:rPr lang="en-US" sz="1200" dirty="0">
                <a:solidFill>
                  <a:srgbClr val="5B595A"/>
                </a:solidFill>
                <a:latin typeface="Arial" pitchFamily="34" charset="0"/>
                <a:ea typeface="Arial" pitchFamily="34" charset="-122"/>
                <a:cs typeface="Arial" pitchFamily="34" charset="-120"/>
              </a:rPr>
              <a:t>These documents work together as a coordinated system. Use them for every contract that requires a quality plan.</a:t>
            </a:r>
            <a:endParaRPr lang="en-US" sz="1200" dirty="0"/>
          </a:p>
        </p:txBody>
      </p:sp>
      <p:sp>
        <p:nvSpPr>
          <p:cNvPr id="8" name="Shape 5"/>
          <p:cNvSpPr/>
          <p:nvPr/>
        </p:nvSpPr>
        <p:spPr>
          <a:xfrm>
            <a:off x="274320" y="1325880"/>
            <a:ext cx="1371600" cy="749808"/>
          </a:xfrm>
          <a:prstGeom prst="rect">
            <a:avLst/>
          </a:prstGeom>
          <a:solidFill>
            <a:srgbClr val="009FE3"/>
          </a:solidFill>
          <a:ln/>
        </p:spPr>
      </p:sp>
      <p:sp>
        <p:nvSpPr>
          <p:cNvPr id="9" name="Text 6"/>
          <p:cNvSpPr/>
          <p:nvPr/>
        </p:nvSpPr>
        <p:spPr>
          <a:xfrm>
            <a:off x="274320" y="1325880"/>
            <a:ext cx="1371600" cy="7498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QHSE-QP-01</a:t>
            </a:r>
            <a:endParaRPr lang="en-US" sz="1100" dirty="0"/>
          </a:p>
        </p:txBody>
      </p:sp>
      <p:sp>
        <p:nvSpPr>
          <p:cNvPr id="10" name="Shape 7"/>
          <p:cNvSpPr/>
          <p:nvPr/>
        </p:nvSpPr>
        <p:spPr>
          <a:xfrm>
            <a:off x="1737360" y="1325880"/>
            <a:ext cx="7132320" cy="749808"/>
          </a:xfrm>
          <a:prstGeom prst="rect">
            <a:avLst/>
          </a:prstGeom>
          <a:solidFill>
            <a:srgbClr val="F5F5F5"/>
          </a:solidFill>
          <a:ln w="6350">
            <a:solidFill>
              <a:srgbClr val="DDDDDD"/>
            </a:solidFill>
            <a:prstDash val="solid"/>
          </a:ln>
        </p:spPr>
      </p:sp>
      <p:sp>
        <p:nvSpPr>
          <p:cNvPr id="11" name="Text 8"/>
          <p:cNvSpPr/>
          <p:nvPr/>
        </p:nvSpPr>
        <p:spPr>
          <a:xfrm>
            <a:off x="1828800" y="1362456"/>
            <a:ext cx="6858000" cy="274320"/>
          </a:xfrm>
          <a:prstGeom prst="rect">
            <a:avLst/>
          </a:prstGeom>
          <a:noFill/>
          <a:ln/>
        </p:spPr>
        <p:txBody>
          <a:bodyPr wrap="square" rtlCol="0" anchor="ctr"/>
          <a:lstStyle/>
          <a:p>
            <a:pPr indent="0" marL="0">
              <a:buNone/>
            </a:pPr>
            <a:r>
              <a:rPr lang="en-US" sz="1100" b="1" dirty="0">
                <a:solidFill>
                  <a:srgbClr val="5B595A"/>
                </a:solidFill>
                <a:latin typeface="Arial" pitchFamily="34" charset="0"/>
                <a:ea typeface="Arial" pitchFamily="34" charset="-122"/>
                <a:cs typeface="Arial" pitchFamily="34" charset="-120"/>
              </a:rPr>
              <a:t>Contract Quality Plan Template</a:t>
            </a:r>
            <a:endParaRPr lang="en-US" sz="1100" dirty="0"/>
          </a:p>
        </p:txBody>
      </p:sp>
      <p:sp>
        <p:nvSpPr>
          <p:cNvPr id="12" name="Text 9"/>
          <p:cNvSpPr/>
          <p:nvPr/>
        </p:nvSpPr>
        <p:spPr>
          <a:xfrm>
            <a:off x="1828800" y="1673352"/>
            <a:ext cx="6858000" cy="36576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Complete this for every contract. Submit to the customer for acceptance before starting work.</a:t>
            </a:r>
            <a:endParaRPr lang="en-US" sz="1000" dirty="0"/>
          </a:p>
        </p:txBody>
      </p:sp>
      <p:sp>
        <p:nvSpPr>
          <p:cNvPr id="13" name="Shape 10"/>
          <p:cNvSpPr/>
          <p:nvPr/>
        </p:nvSpPr>
        <p:spPr>
          <a:xfrm>
            <a:off x="274320" y="2221992"/>
            <a:ext cx="1371600" cy="749808"/>
          </a:xfrm>
          <a:prstGeom prst="rect">
            <a:avLst/>
          </a:prstGeom>
          <a:solidFill>
            <a:srgbClr val="83348F"/>
          </a:solidFill>
          <a:ln/>
        </p:spPr>
      </p:sp>
      <p:sp>
        <p:nvSpPr>
          <p:cNvPr id="14" name="Text 11"/>
          <p:cNvSpPr/>
          <p:nvPr/>
        </p:nvSpPr>
        <p:spPr>
          <a:xfrm>
            <a:off x="274320" y="2221992"/>
            <a:ext cx="1371600" cy="7498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QHSE-QP-02</a:t>
            </a:r>
            <a:endParaRPr lang="en-US" sz="1100" dirty="0"/>
          </a:p>
        </p:txBody>
      </p:sp>
      <p:sp>
        <p:nvSpPr>
          <p:cNvPr id="15" name="Shape 12"/>
          <p:cNvSpPr/>
          <p:nvPr/>
        </p:nvSpPr>
        <p:spPr>
          <a:xfrm>
            <a:off x="1737360" y="2221992"/>
            <a:ext cx="7132320" cy="749808"/>
          </a:xfrm>
          <a:prstGeom prst="rect">
            <a:avLst/>
          </a:prstGeom>
          <a:solidFill>
            <a:srgbClr val="F5F5F5"/>
          </a:solidFill>
          <a:ln w="6350">
            <a:solidFill>
              <a:srgbClr val="DDDDDD"/>
            </a:solidFill>
            <a:prstDash val="solid"/>
          </a:ln>
        </p:spPr>
      </p:sp>
      <p:sp>
        <p:nvSpPr>
          <p:cNvPr id="16" name="Text 13"/>
          <p:cNvSpPr/>
          <p:nvPr/>
        </p:nvSpPr>
        <p:spPr>
          <a:xfrm>
            <a:off x="1828800" y="2258568"/>
            <a:ext cx="6858000" cy="274320"/>
          </a:xfrm>
          <a:prstGeom prst="rect">
            <a:avLst/>
          </a:prstGeom>
          <a:noFill/>
          <a:ln/>
        </p:spPr>
        <p:txBody>
          <a:bodyPr wrap="square" rtlCol="0" anchor="ctr"/>
          <a:lstStyle/>
          <a:p>
            <a:pPr indent="0" marL="0">
              <a:buNone/>
            </a:pPr>
            <a:r>
              <a:rPr lang="en-US" sz="1100" b="1" dirty="0">
                <a:solidFill>
                  <a:srgbClr val="5B595A"/>
                </a:solidFill>
                <a:latin typeface="Arial" pitchFamily="34" charset="0"/>
                <a:ea typeface="Arial" pitchFamily="34" charset="-122"/>
                <a:cs typeface="Arial" pitchFamily="34" charset="-120"/>
              </a:rPr>
              <a:t>Inspection and Test Plan (ITP)</a:t>
            </a:r>
            <a:endParaRPr lang="en-US" sz="1100" dirty="0"/>
          </a:p>
        </p:txBody>
      </p:sp>
      <p:sp>
        <p:nvSpPr>
          <p:cNvPr id="17" name="Text 14"/>
          <p:cNvSpPr/>
          <p:nvPr/>
        </p:nvSpPr>
        <p:spPr>
          <a:xfrm>
            <a:off x="1828800" y="2569464"/>
            <a:ext cx="6858000" cy="36576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The activity-by-activity inspection roadmap. Prepared alongside the quality plan. Updated in real time during execution.</a:t>
            </a:r>
            <a:endParaRPr lang="en-US" sz="1000" dirty="0"/>
          </a:p>
        </p:txBody>
      </p:sp>
      <p:sp>
        <p:nvSpPr>
          <p:cNvPr id="18" name="Shape 15"/>
          <p:cNvSpPr/>
          <p:nvPr/>
        </p:nvSpPr>
        <p:spPr>
          <a:xfrm>
            <a:off x="274320" y="3118104"/>
            <a:ext cx="1371600" cy="749808"/>
          </a:xfrm>
          <a:prstGeom prst="rect">
            <a:avLst/>
          </a:prstGeom>
          <a:solidFill>
            <a:srgbClr val="009FE3"/>
          </a:solidFill>
          <a:ln/>
        </p:spPr>
      </p:sp>
      <p:sp>
        <p:nvSpPr>
          <p:cNvPr id="19" name="Text 16"/>
          <p:cNvSpPr/>
          <p:nvPr/>
        </p:nvSpPr>
        <p:spPr>
          <a:xfrm>
            <a:off x="274320" y="3118104"/>
            <a:ext cx="1371600" cy="7498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QHSE-QP-03</a:t>
            </a:r>
            <a:endParaRPr lang="en-US" sz="1100" dirty="0"/>
          </a:p>
        </p:txBody>
      </p:sp>
      <p:sp>
        <p:nvSpPr>
          <p:cNvPr id="20" name="Shape 17"/>
          <p:cNvSpPr/>
          <p:nvPr/>
        </p:nvSpPr>
        <p:spPr>
          <a:xfrm>
            <a:off x="1737360" y="3118104"/>
            <a:ext cx="7132320" cy="749808"/>
          </a:xfrm>
          <a:prstGeom prst="rect">
            <a:avLst/>
          </a:prstGeom>
          <a:solidFill>
            <a:srgbClr val="F5F5F5"/>
          </a:solidFill>
          <a:ln w="6350">
            <a:solidFill>
              <a:srgbClr val="DDDDDD"/>
            </a:solidFill>
            <a:prstDash val="solid"/>
          </a:ln>
        </p:spPr>
      </p:sp>
      <p:sp>
        <p:nvSpPr>
          <p:cNvPr id="21" name="Text 18"/>
          <p:cNvSpPr/>
          <p:nvPr/>
        </p:nvSpPr>
        <p:spPr>
          <a:xfrm>
            <a:off x="1828800" y="3154680"/>
            <a:ext cx="6858000" cy="274320"/>
          </a:xfrm>
          <a:prstGeom prst="rect">
            <a:avLst/>
          </a:prstGeom>
          <a:noFill/>
          <a:ln/>
        </p:spPr>
        <p:txBody>
          <a:bodyPr wrap="square" rtlCol="0" anchor="ctr"/>
          <a:lstStyle/>
          <a:p>
            <a:pPr indent="0" marL="0">
              <a:buNone/>
            </a:pPr>
            <a:r>
              <a:rPr lang="en-US" sz="1100" b="1" dirty="0">
                <a:solidFill>
                  <a:srgbClr val="5B595A"/>
                </a:solidFill>
                <a:latin typeface="Arial" pitchFamily="34" charset="0"/>
                <a:ea typeface="Arial" pitchFamily="34" charset="-122"/>
                <a:cs typeface="Arial" pitchFamily="34" charset="-120"/>
              </a:rPr>
              <a:t>Quality Plan Register and Status Tracker</a:t>
            </a:r>
            <a:endParaRPr lang="en-US" sz="1100" dirty="0"/>
          </a:p>
        </p:txBody>
      </p:sp>
      <p:sp>
        <p:nvSpPr>
          <p:cNvPr id="22" name="Text 19"/>
          <p:cNvSpPr/>
          <p:nvPr/>
        </p:nvSpPr>
        <p:spPr>
          <a:xfrm>
            <a:off x="1828800" y="3465576"/>
            <a:ext cx="6858000" cy="36576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Central register of all live quality plans. Includes hold point tracker, document submission log, and lessons learned.</a:t>
            </a:r>
            <a:endParaRPr lang="en-US" sz="1000" dirty="0"/>
          </a:p>
        </p:txBody>
      </p:sp>
      <p:sp>
        <p:nvSpPr>
          <p:cNvPr id="23" name="Shape 20"/>
          <p:cNvSpPr/>
          <p:nvPr/>
        </p:nvSpPr>
        <p:spPr>
          <a:xfrm>
            <a:off x="274320" y="4014216"/>
            <a:ext cx="1371600" cy="749808"/>
          </a:xfrm>
          <a:prstGeom prst="rect">
            <a:avLst/>
          </a:prstGeom>
          <a:solidFill>
            <a:srgbClr val="83348F"/>
          </a:solidFill>
          <a:ln/>
        </p:spPr>
      </p:sp>
      <p:sp>
        <p:nvSpPr>
          <p:cNvPr id="24" name="Text 21"/>
          <p:cNvSpPr/>
          <p:nvPr/>
        </p:nvSpPr>
        <p:spPr>
          <a:xfrm>
            <a:off x="274320" y="4014216"/>
            <a:ext cx="1371600" cy="749808"/>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QHSE-QP-04</a:t>
            </a:r>
            <a:endParaRPr lang="en-US" sz="1100" dirty="0"/>
          </a:p>
        </p:txBody>
      </p:sp>
      <p:sp>
        <p:nvSpPr>
          <p:cNvPr id="25" name="Shape 22"/>
          <p:cNvSpPr/>
          <p:nvPr/>
        </p:nvSpPr>
        <p:spPr>
          <a:xfrm>
            <a:off x="1737360" y="4014216"/>
            <a:ext cx="7132320" cy="749808"/>
          </a:xfrm>
          <a:prstGeom prst="rect">
            <a:avLst/>
          </a:prstGeom>
          <a:solidFill>
            <a:srgbClr val="F5F5F5"/>
          </a:solidFill>
          <a:ln w="6350">
            <a:solidFill>
              <a:srgbClr val="DDDDDD"/>
            </a:solidFill>
            <a:prstDash val="solid"/>
          </a:ln>
        </p:spPr>
      </p:sp>
      <p:sp>
        <p:nvSpPr>
          <p:cNvPr id="26" name="Text 23"/>
          <p:cNvSpPr/>
          <p:nvPr/>
        </p:nvSpPr>
        <p:spPr>
          <a:xfrm>
            <a:off x="1828800" y="4050792"/>
            <a:ext cx="6858000" cy="274320"/>
          </a:xfrm>
          <a:prstGeom prst="rect">
            <a:avLst/>
          </a:prstGeom>
          <a:noFill/>
          <a:ln/>
        </p:spPr>
        <p:txBody>
          <a:bodyPr wrap="square" rtlCol="0" anchor="ctr"/>
          <a:lstStyle/>
          <a:p>
            <a:pPr indent="0" marL="0">
              <a:buNone/>
            </a:pPr>
            <a:r>
              <a:rPr lang="en-US" sz="1100" b="1" dirty="0">
                <a:solidFill>
                  <a:srgbClr val="5B595A"/>
                </a:solidFill>
                <a:latin typeface="Arial" pitchFamily="34" charset="0"/>
                <a:ea typeface="Arial" pitchFamily="34" charset="-122"/>
                <a:cs typeface="Arial" pitchFamily="34" charset="-120"/>
              </a:rPr>
              <a:t>Quality Planning Process Guide</a:t>
            </a:r>
            <a:endParaRPr lang="en-US" sz="1100" dirty="0"/>
          </a:p>
        </p:txBody>
      </p:sp>
      <p:sp>
        <p:nvSpPr>
          <p:cNvPr id="27" name="Text 24"/>
          <p:cNvSpPr/>
          <p:nvPr/>
        </p:nvSpPr>
        <p:spPr>
          <a:xfrm>
            <a:off x="1828800" y="4361688"/>
            <a:ext cx="6858000" cy="36576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Step-by-step guide to the quality planning process. Read this first if you are new to quality planning.</a:t>
            </a:r>
            <a:endParaRPr lang="en-US" sz="1000" dirty="0"/>
          </a:p>
        </p:txBody>
      </p:sp>
      <p:sp>
        <p:nvSpPr>
          <p:cNvPr id="28" name="Rectangle 27"/>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5"/>
          <a:stretch>
            <a:fillRect/>
          </a:stretch>
        </p:blipFill>
        <p:spPr>
          <a:xfrm>
            <a:off x="7562088" y="100584"/>
            <a:ext cx="566928" cy="347472"/>
          </a:xfrm>
          <a:prstGeom prst="rect">
            <a:avLst/>
          </a:prstGeom>
        </p:spPr>
      </p:pic>
      <p:pic>
        <p:nvPicPr>
          <p:cNvPr id="30" name="Picture 29" descr="image.png"/>
          <p:cNvPicPr>
            <a:picLocks noChangeAspect="1"/>
          </p:cNvPicPr>
          <p:nvPr/>
        </p:nvPicPr>
        <p:blipFill>
          <a:blip r:embed="rId4"/>
          <a:stretch>
            <a:fillRect/>
          </a:stretch>
        </p:blipFill>
        <p:spPr>
          <a:xfrm>
            <a:off x="8174736" y="100584"/>
            <a:ext cx="658368" cy="347472"/>
          </a:xfrm>
          <a:prstGeom prst="rect">
            <a:avLst/>
          </a:prstGeom>
        </p:spPr>
      </p:pic>
      <p:sp>
        <p:nvSpPr>
          <p:cNvPr id="31" name="Rectangle 30"/>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Shape 0"/>
          <p:cNvSpPr/>
          <p:nvPr/>
        </p:nvSpPr>
        <p:spPr>
          <a:xfrm>
            <a:off x="0" y="0"/>
            <a:ext cx="9144000" cy="658368"/>
          </a:xfrm>
          <a:prstGeom prst="rect">
            <a:avLst/>
          </a:prstGeom>
          <a:solidFill>
            <a:srgbClr val="009FE3"/>
          </a:solidFill>
          <a:ln/>
        </p:spPr>
      </p:sp>
      <p:sp>
        <p:nvSpPr>
          <p:cNvPr id="4" name="Text 1"/>
          <p:cNvSpPr/>
          <p:nvPr/>
        </p:nvSpPr>
        <p:spPr>
          <a:xfrm>
            <a:off x="365760" y="0"/>
            <a:ext cx="7315200" cy="658368"/>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Key Reminders</a:t>
            </a:r>
            <a:endParaRPr lang="en-US" sz="2000" dirty="0"/>
          </a:p>
        </p:txBody>
      </p:sp>
      <p:sp>
        <p:nvSpPr>
          <p:cNvPr id="7" name="Shape 4"/>
          <p:cNvSpPr/>
          <p:nvPr/>
        </p:nvSpPr>
        <p:spPr>
          <a:xfrm>
            <a:off x="274320" y="804672"/>
            <a:ext cx="320040" cy="384048"/>
          </a:xfrm>
          <a:prstGeom prst="rect">
            <a:avLst/>
          </a:prstGeom>
          <a:solidFill>
            <a:srgbClr val="009FE3"/>
          </a:solidFill>
          <a:ln w="12700">
            <a:solidFill>
              <a:srgbClr val="009FE3"/>
            </a:solidFill>
            <a:prstDash val="solid"/>
          </a:ln>
        </p:spPr>
      </p:sp>
      <p:sp>
        <p:nvSpPr>
          <p:cNvPr id="8" name="Text 5"/>
          <p:cNvSpPr/>
          <p:nvPr/>
        </p:nvSpPr>
        <p:spPr>
          <a:xfrm>
            <a:off x="274320" y="804672"/>
            <a:ext cx="320040" cy="38404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9" name="Text 6"/>
          <p:cNvSpPr/>
          <p:nvPr/>
        </p:nvSpPr>
        <p:spPr>
          <a:xfrm>
            <a:off x="685800" y="832104"/>
            <a:ext cx="8138160" cy="329184"/>
          </a:xfrm>
          <a:prstGeom prst="rect">
            <a:avLst/>
          </a:prstGeom>
          <a:noFill/>
          <a:ln/>
        </p:spPr>
        <p:txBody>
          <a:bodyPr wrap="square" rtlCol="0" anchor="ctr"/>
          <a:lstStyle/>
          <a:p>
            <a:pPr indent="0" marL="0">
              <a:buNone/>
            </a:pPr>
            <a:r>
              <a:rPr lang="en-US" sz="1100" dirty="0">
                <a:solidFill>
                  <a:srgbClr val="5B595A"/>
                </a:solidFill>
                <a:latin typeface="Arial" pitchFamily="34" charset="0"/>
                <a:ea typeface="Arial" pitchFamily="34" charset="-122"/>
                <a:cs typeface="Arial" pitchFamily="34" charset="-120"/>
              </a:rPr>
              <a:t>Never start work without an accepted quality plan and ITP.</a:t>
            </a:r>
            <a:endParaRPr lang="en-US" sz="1100" dirty="0"/>
          </a:p>
        </p:txBody>
      </p:sp>
      <p:sp>
        <p:nvSpPr>
          <p:cNvPr id="10" name="Shape 7"/>
          <p:cNvSpPr/>
          <p:nvPr/>
        </p:nvSpPr>
        <p:spPr>
          <a:xfrm>
            <a:off x="274320" y="1316736"/>
            <a:ext cx="320040" cy="384048"/>
          </a:xfrm>
          <a:prstGeom prst="rect">
            <a:avLst/>
          </a:prstGeom>
          <a:solidFill>
            <a:srgbClr val="CC0000"/>
          </a:solidFill>
          <a:ln w="12700">
            <a:solidFill>
              <a:srgbClr val="CC0000"/>
            </a:solidFill>
            <a:prstDash val="solid"/>
          </a:ln>
        </p:spPr>
      </p:sp>
      <p:sp>
        <p:nvSpPr>
          <p:cNvPr id="11" name="Text 8"/>
          <p:cNvSpPr/>
          <p:nvPr/>
        </p:nvSpPr>
        <p:spPr>
          <a:xfrm>
            <a:off x="274320" y="1316736"/>
            <a:ext cx="320040" cy="38404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2" name="Text 9"/>
          <p:cNvSpPr/>
          <p:nvPr/>
        </p:nvSpPr>
        <p:spPr>
          <a:xfrm>
            <a:off x="685800" y="1344168"/>
            <a:ext cx="8138160" cy="329184"/>
          </a:xfrm>
          <a:prstGeom prst="rect">
            <a:avLst/>
          </a:prstGeom>
          <a:noFill/>
          <a:ln/>
        </p:spPr>
        <p:txBody>
          <a:bodyPr wrap="square" rtlCol="0" anchor="ctr"/>
          <a:lstStyle/>
          <a:p>
            <a:pPr indent="0" marL="0">
              <a:buNone/>
            </a:pPr>
            <a:r>
              <a:rPr lang="en-US" sz="1100" dirty="0">
                <a:solidFill>
                  <a:srgbClr val="5B595A"/>
                </a:solidFill>
                <a:latin typeface="Arial" pitchFamily="34" charset="0"/>
                <a:ea typeface="Arial" pitchFamily="34" charset="-122"/>
                <a:cs typeface="Arial" pitchFamily="34" charset="-120"/>
              </a:rPr>
              <a:t>Never proceed past a Hold Point without proper sign-off from the inspector and, where required, the customer.</a:t>
            </a:r>
            <a:endParaRPr lang="en-US" sz="1100" dirty="0"/>
          </a:p>
        </p:txBody>
      </p:sp>
      <p:sp>
        <p:nvSpPr>
          <p:cNvPr id="13" name="Shape 10"/>
          <p:cNvSpPr/>
          <p:nvPr/>
        </p:nvSpPr>
        <p:spPr>
          <a:xfrm>
            <a:off x="274320" y="1828800"/>
            <a:ext cx="320040" cy="384048"/>
          </a:xfrm>
          <a:prstGeom prst="rect">
            <a:avLst/>
          </a:prstGeom>
          <a:solidFill>
            <a:srgbClr val="CC0000"/>
          </a:solidFill>
          <a:ln w="12700">
            <a:solidFill>
              <a:srgbClr val="CC0000"/>
            </a:solidFill>
            <a:prstDash val="solid"/>
          </a:ln>
        </p:spPr>
      </p:sp>
      <p:sp>
        <p:nvSpPr>
          <p:cNvPr id="14" name="Text 11"/>
          <p:cNvSpPr/>
          <p:nvPr/>
        </p:nvSpPr>
        <p:spPr>
          <a:xfrm>
            <a:off x="274320" y="1828800"/>
            <a:ext cx="320040" cy="38404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5" name="Text 12"/>
          <p:cNvSpPr/>
          <p:nvPr/>
        </p:nvSpPr>
        <p:spPr>
          <a:xfrm>
            <a:off x="685800" y="1856232"/>
            <a:ext cx="8138160" cy="329184"/>
          </a:xfrm>
          <a:prstGeom prst="rect">
            <a:avLst/>
          </a:prstGeom>
          <a:noFill/>
          <a:ln/>
        </p:spPr>
        <p:txBody>
          <a:bodyPr wrap="square" rtlCol="0" anchor="ctr"/>
          <a:lstStyle/>
          <a:p>
            <a:pPr indent="0" marL="0">
              <a:buNone/>
            </a:pPr>
            <a:r>
              <a:rPr lang="en-US" sz="1100" dirty="0">
                <a:solidFill>
                  <a:srgbClr val="5B595A"/>
                </a:solidFill>
                <a:latin typeface="Arial" pitchFamily="34" charset="0"/>
                <a:ea typeface="Arial" pitchFamily="34" charset="-122"/>
                <a:cs typeface="Arial" pitchFamily="34" charset="-120"/>
              </a:rPr>
              <a:t>Raise an NCR immediately when a non-conformance is found. Do not hide it or work around it.</a:t>
            </a:r>
            <a:endParaRPr lang="en-US" sz="1100" dirty="0"/>
          </a:p>
        </p:txBody>
      </p:sp>
      <p:sp>
        <p:nvSpPr>
          <p:cNvPr id="16" name="Shape 13"/>
          <p:cNvSpPr/>
          <p:nvPr/>
        </p:nvSpPr>
        <p:spPr>
          <a:xfrm>
            <a:off x="274320" y="2340864"/>
            <a:ext cx="320040" cy="384048"/>
          </a:xfrm>
          <a:prstGeom prst="rect">
            <a:avLst/>
          </a:prstGeom>
          <a:solidFill>
            <a:srgbClr val="83348F"/>
          </a:solidFill>
          <a:ln w="12700">
            <a:solidFill>
              <a:srgbClr val="83348F"/>
            </a:solidFill>
            <a:prstDash val="solid"/>
          </a:ln>
        </p:spPr>
      </p:sp>
      <p:sp>
        <p:nvSpPr>
          <p:cNvPr id="17" name="Text 14"/>
          <p:cNvSpPr/>
          <p:nvPr/>
        </p:nvSpPr>
        <p:spPr>
          <a:xfrm>
            <a:off x="274320" y="2340864"/>
            <a:ext cx="320040" cy="38404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18" name="Text 15"/>
          <p:cNvSpPr/>
          <p:nvPr/>
        </p:nvSpPr>
        <p:spPr>
          <a:xfrm>
            <a:off x="685800" y="2368296"/>
            <a:ext cx="8138160" cy="329184"/>
          </a:xfrm>
          <a:prstGeom prst="rect">
            <a:avLst/>
          </a:prstGeom>
          <a:noFill/>
          <a:ln/>
        </p:spPr>
        <p:txBody>
          <a:bodyPr wrap="square" rtlCol="0" anchor="ctr"/>
          <a:lstStyle/>
          <a:p>
            <a:pPr indent="0" marL="0">
              <a:buNone/>
            </a:pPr>
            <a:r>
              <a:rPr lang="en-US" sz="1100" dirty="0">
                <a:solidFill>
                  <a:srgbClr val="5B595A"/>
                </a:solidFill>
                <a:latin typeface="Arial" pitchFamily="34" charset="0"/>
                <a:ea typeface="Arial" pitchFamily="34" charset="-122"/>
                <a:cs typeface="Arial" pitchFamily="34" charset="-120"/>
              </a:rPr>
              <a:t>Verify material certificates against the specification BEFORE the material is used.</a:t>
            </a:r>
            <a:endParaRPr lang="en-US" sz="1100" dirty="0"/>
          </a:p>
        </p:txBody>
      </p:sp>
      <p:sp>
        <p:nvSpPr>
          <p:cNvPr id="19" name="Shape 16"/>
          <p:cNvSpPr/>
          <p:nvPr/>
        </p:nvSpPr>
        <p:spPr>
          <a:xfrm>
            <a:off x="274320" y="2852928"/>
            <a:ext cx="320040" cy="384048"/>
          </a:xfrm>
          <a:prstGeom prst="rect">
            <a:avLst/>
          </a:prstGeom>
          <a:solidFill>
            <a:srgbClr val="83348F"/>
          </a:solidFill>
          <a:ln w="12700">
            <a:solidFill>
              <a:srgbClr val="83348F"/>
            </a:solidFill>
            <a:prstDash val="solid"/>
          </a:ln>
        </p:spPr>
      </p:sp>
      <p:sp>
        <p:nvSpPr>
          <p:cNvPr id="20" name="Text 17"/>
          <p:cNvSpPr/>
          <p:nvPr/>
        </p:nvSpPr>
        <p:spPr>
          <a:xfrm>
            <a:off x="274320" y="2852928"/>
            <a:ext cx="320040" cy="38404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21" name="Text 18"/>
          <p:cNvSpPr/>
          <p:nvPr/>
        </p:nvSpPr>
        <p:spPr>
          <a:xfrm>
            <a:off x="685800" y="2880360"/>
            <a:ext cx="8138160" cy="329184"/>
          </a:xfrm>
          <a:prstGeom prst="rect">
            <a:avLst/>
          </a:prstGeom>
          <a:noFill/>
          <a:ln/>
        </p:spPr>
        <p:txBody>
          <a:bodyPr wrap="square" rtlCol="0" anchor="ctr"/>
          <a:lstStyle/>
          <a:p>
            <a:pPr indent="0" marL="0">
              <a:buNone/>
            </a:pPr>
            <a:r>
              <a:rPr lang="en-US" sz="1100" dirty="0">
                <a:solidFill>
                  <a:srgbClr val="5B595A"/>
                </a:solidFill>
                <a:latin typeface="Arial" pitchFamily="34" charset="0"/>
                <a:ea typeface="Arial" pitchFamily="34" charset="-122"/>
                <a:cs typeface="Arial" pitchFamily="34" charset="-120"/>
              </a:rPr>
              <a:t>Inspect every incoming delivery for CFSI signs. Quarantine suspect items immediately.</a:t>
            </a:r>
            <a:endParaRPr lang="en-US" sz="1100" dirty="0"/>
          </a:p>
        </p:txBody>
      </p:sp>
      <p:sp>
        <p:nvSpPr>
          <p:cNvPr id="22" name="Shape 19"/>
          <p:cNvSpPr/>
          <p:nvPr/>
        </p:nvSpPr>
        <p:spPr>
          <a:xfrm>
            <a:off x="274320" y="3364992"/>
            <a:ext cx="320040" cy="384048"/>
          </a:xfrm>
          <a:prstGeom prst="rect">
            <a:avLst/>
          </a:prstGeom>
          <a:solidFill>
            <a:srgbClr val="009FE3"/>
          </a:solidFill>
          <a:ln w="12700">
            <a:solidFill>
              <a:srgbClr val="009FE3"/>
            </a:solidFill>
            <a:prstDash val="solid"/>
          </a:ln>
        </p:spPr>
      </p:sp>
      <p:sp>
        <p:nvSpPr>
          <p:cNvPr id="23" name="Text 20"/>
          <p:cNvSpPr/>
          <p:nvPr/>
        </p:nvSpPr>
        <p:spPr>
          <a:xfrm>
            <a:off x="274320" y="3364992"/>
            <a:ext cx="320040" cy="38404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24" name="Text 21"/>
          <p:cNvSpPr/>
          <p:nvPr/>
        </p:nvSpPr>
        <p:spPr>
          <a:xfrm>
            <a:off x="685800" y="3392424"/>
            <a:ext cx="8138160" cy="329184"/>
          </a:xfrm>
          <a:prstGeom prst="rect">
            <a:avLst/>
          </a:prstGeom>
          <a:noFill/>
          <a:ln/>
        </p:spPr>
        <p:txBody>
          <a:bodyPr wrap="square" rtlCol="0" anchor="ctr"/>
          <a:lstStyle/>
          <a:p>
            <a:pPr indent="0" marL="0">
              <a:buNone/>
            </a:pPr>
            <a:r>
              <a:rPr lang="en-US" sz="1100" dirty="0">
                <a:solidFill>
                  <a:srgbClr val="5B595A"/>
                </a:solidFill>
                <a:latin typeface="Arial" pitchFamily="34" charset="0"/>
                <a:ea typeface="Arial" pitchFamily="34" charset="-122"/>
                <a:cs typeface="Arial" pitchFamily="34" charset="-120"/>
              </a:rPr>
              <a:t>Build the Lifetime Quality Record as you go. Do not leave it to the end of the contract.</a:t>
            </a:r>
            <a:endParaRPr lang="en-US" sz="1100" dirty="0"/>
          </a:p>
        </p:txBody>
      </p:sp>
      <p:sp>
        <p:nvSpPr>
          <p:cNvPr id="25" name="Shape 22"/>
          <p:cNvSpPr/>
          <p:nvPr/>
        </p:nvSpPr>
        <p:spPr>
          <a:xfrm>
            <a:off x="274320" y="3877056"/>
            <a:ext cx="320040" cy="384048"/>
          </a:xfrm>
          <a:prstGeom prst="rect">
            <a:avLst/>
          </a:prstGeom>
          <a:solidFill>
            <a:srgbClr val="009FE3"/>
          </a:solidFill>
          <a:ln w="12700">
            <a:solidFill>
              <a:srgbClr val="009FE3"/>
            </a:solidFill>
            <a:prstDash val="solid"/>
          </a:ln>
        </p:spPr>
      </p:sp>
      <p:sp>
        <p:nvSpPr>
          <p:cNvPr id="26" name="Text 23"/>
          <p:cNvSpPr/>
          <p:nvPr/>
        </p:nvSpPr>
        <p:spPr>
          <a:xfrm>
            <a:off x="274320" y="3877056"/>
            <a:ext cx="320040" cy="38404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27" name="Text 24"/>
          <p:cNvSpPr/>
          <p:nvPr/>
        </p:nvSpPr>
        <p:spPr>
          <a:xfrm>
            <a:off x="685800" y="3904488"/>
            <a:ext cx="8138160" cy="329184"/>
          </a:xfrm>
          <a:prstGeom prst="rect">
            <a:avLst/>
          </a:prstGeom>
          <a:noFill/>
          <a:ln/>
        </p:spPr>
        <p:txBody>
          <a:bodyPr wrap="square" rtlCol="0" anchor="ctr"/>
          <a:lstStyle/>
          <a:p>
            <a:pPr indent="0" marL="0">
              <a:buNone/>
            </a:pPr>
            <a:r>
              <a:rPr lang="en-US" sz="1100" dirty="0">
                <a:solidFill>
                  <a:srgbClr val="5B595A"/>
                </a:solidFill>
                <a:latin typeface="Arial" pitchFamily="34" charset="0"/>
                <a:ea typeface="Arial" pitchFamily="34" charset="-122"/>
                <a:cs typeface="Arial" pitchFamily="34" charset="-120"/>
              </a:rPr>
              <a:t>All changes to scope, drawings, or specifications must go through formal change control before implementation.</a:t>
            </a:r>
            <a:endParaRPr lang="en-US" sz="1100" dirty="0"/>
          </a:p>
        </p:txBody>
      </p:sp>
      <p:sp>
        <p:nvSpPr>
          <p:cNvPr id="28" name="Shape 25"/>
          <p:cNvSpPr/>
          <p:nvPr/>
        </p:nvSpPr>
        <p:spPr>
          <a:xfrm>
            <a:off x="274320" y="4389120"/>
            <a:ext cx="320040" cy="384048"/>
          </a:xfrm>
          <a:prstGeom prst="rect">
            <a:avLst/>
          </a:prstGeom>
          <a:solidFill>
            <a:srgbClr val="83348F"/>
          </a:solidFill>
          <a:ln w="12700">
            <a:solidFill>
              <a:srgbClr val="83348F"/>
            </a:solidFill>
            <a:prstDash val="solid"/>
          </a:ln>
        </p:spPr>
      </p:sp>
      <p:sp>
        <p:nvSpPr>
          <p:cNvPr id="29" name="Text 26"/>
          <p:cNvSpPr/>
          <p:nvPr/>
        </p:nvSpPr>
        <p:spPr>
          <a:xfrm>
            <a:off x="274320" y="4389120"/>
            <a:ext cx="320040" cy="384048"/>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8</a:t>
            </a:r>
            <a:endParaRPr lang="en-US" sz="1200" dirty="0"/>
          </a:p>
        </p:txBody>
      </p:sp>
      <p:sp>
        <p:nvSpPr>
          <p:cNvPr id="30" name="Text 27"/>
          <p:cNvSpPr/>
          <p:nvPr/>
        </p:nvSpPr>
        <p:spPr>
          <a:xfrm>
            <a:off x="685800" y="4416552"/>
            <a:ext cx="8138160" cy="329184"/>
          </a:xfrm>
          <a:prstGeom prst="rect">
            <a:avLst/>
          </a:prstGeom>
          <a:noFill/>
          <a:ln/>
        </p:spPr>
        <p:txBody>
          <a:bodyPr wrap="square" rtlCol="0" anchor="ctr"/>
          <a:lstStyle/>
          <a:p>
            <a:pPr indent="0" marL="0">
              <a:buNone/>
            </a:pPr>
            <a:r>
              <a:rPr lang="en-US" sz="1100" dirty="0">
                <a:solidFill>
                  <a:srgbClr val="5B595A"/>
                </a:solidFill>
                <a:latin typeface="Arial" pitchFamily="34" charset="0"/>
                <a:ea typeface="Arial" pitchFamily="34" charset="-122"/>
                <a:cs typeface="Arial" pitchFamily="34" charset="-120"/>
              </a:rPr>
              <a:t>If you are unsure about any quality requirement, stop and ask the Quality Manager. Never guess.</a:t>
            </a:r>
            <a:endParaRPr lang="en-US" sz="1100" dirty="0"/>
          </a:p>
        </p:txBody>
      </p:sp>
      <p:sp>
        <p:nvSpPr>
          <p:cNvPr id="31" name="Rectangle 30"/>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5"/>
          <a:stretch>
            <a:fillRect/>
          </a:stretch>
        </p:blipFill>
        <p:spPr>
          <a:xfrm>
            <a:off x="7562088" y="100584"/>
            <a:ext cx="566928" cy="347472"/>
          </a:xfrm>
          <a:prstGeom prst="rect">
            <a:avLst/>
          </a:prstGeom>
        </p:spPr>
      </p:pic>
      <p:pic>
        <p:nvPicPr>
          <p:cNvPr id="33" name="Picture 32" descr="image.png"/>
          <p:cNvPicPr>
            <a:picLocks noChangeAspect="1"/>
          </p:cNvPicPr>
          <p:nvPr/>
        </p:nvPicPr>
        <p:blipFill>
          <a:blip r:embed="rId4"/>
          <a:stretch>
            <a:fillRect/>
          </a:stretch>
        </p:blipFill>
        <p:spPr>
          <a:xfrm>
            <a:off x="8174736" y="100584"/>
            <a:ext cx="658368" cy="347472"/>
          </a:xfrm>
          <a:prstGeom prst="rect">
            <a:avLst/>
          </a:prstGeom>
        </p:spPr>
      </p:pic>
      <p:sp>
        <p:nvSpPr>
          <p:cNvPr id="34" name="Rectangle 33"/>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9FE3"/>
          </a:solidFill>
          <a:ln/>
        </p:spPr>
      </p:sp>
      <p:sp>
        <p:nvSpPr>
          <p:cNvPr id="3" name="Shape 1"/>
          <p:cNvSpPr/>
          <p:nvPr/>
        </p:nvSpPr>
        <p:spPr>
          <a:xfrm>
            <a:off x="0" y="3474720"/>
            <a:ext cx="9144000" cy="1668780"/>
          </a:xfrm>
          <a:prstGeom prst="rect">
            <a:avLst/>
          </a:prstGeom>
          <a:solidFill>
            <a:srgbClr val="83348F"/>
          </a:solidFill>
          <a:ln/>
        </p:spPr>
      </p:sp>
      <p:pic>
        <p:nvPicPr>
          <p:cNvPr id="4" name="Image 0" descr="preencoded.png">    </p:cNvPr>
          <p:cNvPicPr>
            <a:picLocks noChangeAspect="1"/>
          </p:cNvPicPr>
          <p:nvPr/>
        </p:nvPicPr>
        <p:blipFill>
          <a:blip r:embed="rId1"/>
          <a:stretch>
            <a:fillRect/>
          </a:stretch>
        </p:blipFill>
        <p:spPr>
          <a:xfrm>
            <a:off x="457200" y="365760"/>
            <a:ext cx="2011680" cy="667512"/>
          </a:xfrm>
          <a:prstGeom prst="rect">
            <a:avLst/>
          </a:prstGeom>
        </p:spPr>
      </p:pic>
      <p:sp>
        <p:nvSpPr>
          <p:cNvPr id="5" name="Text 2"/>
          <p:cNvSpPr/>
          <p:nvPr/>
        </p:nvSpPr>
        <p:spPr>
          <a:xfrm>
            <a:off x="457200" y="1280160"/>
            <a:ext cx="8229600" cy="64008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Quality Plans and ITPs</a:t>
            </a:r>
            <a:endParaRPr lang="en-US" sz="2800" dirty="0"/>
          </a:p>
        </p:txBody>
      </p:sp>
      <p:sp>
        <p:nvSpPr>
          <p:cNvPr id="6" name="Text 3"/>
          <p:cNvSpPr/>
          <p:nvPr/>
        </p:nvSpPr>
        <p:spPr>
          <a:xfrm>
            <a:off x="457200" y="1965960"/>
            <a:ext cx="8229600" cy="502920"/>
          </a:xfrm>
          <a:prstGeom prst="rect">
            <a:avLst/>
          </a:prstGeom>
          <a:noFill/>
          <a:ln/>
        </p:spPr>
        <p:txBody>
          <a:bodyPr wrap="square" rtlCol="0" anchor="ctr"/>
          <a:lstStyle/>
          <a:p>
            <a:pPr indent="0" marL="0">
              <a:buNone/>
            </a:pPr>
            <a:r>
              <a:rPr lang="en-US" sz="1600" dirty="0">
                <a:solidFill>
                  <a:srgbClr val="DDDDDD"/>
                </a:solidFill>
                <a:latin typeface="Arial" pitchFamily="34" charset="0"/>
                <a:ea typeface="Arial" pitchFamily="34" charset="-122"/>
                <a:cs typeface="Arial" pitchFamily="34" charset="-120"/>
              </a:rPr>
              <a:t>The foundation of your nuclear supply chain quality assurance.</a:t>
            </a:r>
            <a:endParaRPr lang="en-US" sz="1600" dirty="0"/>
          </a:p>
        </p:txBody>
      </p:sp>
      <p:sp>
        <p:nvSpPr>
          <p:cNvPr id="7" name="Text 4"/>
          <p:cNvSpPr/>
          <p:nvPr/>
        </p:nvSpPr>
        <p:spPr>
          <a:xfrm>
            <a:off x="457200" y="2606040"/>
            <a:ext cx="8229600" cy="411480"/>
          </a:xfrm>
          <a:prstGeom prst="rect">
            <a:avLst/>
          </a:prstGeom>
          <a:noFill/>
          <a:ln/>
        </p:spPr>
        <p:txBody>
          <a:bodyPr wrap="square" rtlCol="0" anchor="ctr"/>
          <a:lstStyle/>
          <a:p>
            <a:pPr indent="0" marL="0">
              <a:buNone/>
            </a:pPr>
            <a:r>
              <a:rPr lang="en-US" sz="1400" dirty="0">
                <a:solidFill>
                  <a:srgbClr val="DDDDDD"/>
                </a:solidFill>
                <a:latin typeface="Arial" pitchFamily="34" charset="0"/>
                <a:ea typeface="Arial" pitchFamily="34" charset="-122"/>
                <a:cs typeface="Arial" pitchFamily="34" charset="-120"/>
              </a:rPr>
              <a:t>Any questions? Contact your Quality Manager.</a:t>
            </a:r>
            <a:endParaRPr lang="en-US" sz="1400" dirty="0"/>
          </a:p>
        </p:txBody>
      </p:sp>
      <p:sp>
        <p:nvSpPr>
          <p:cNvPr id="8" name="Text 5"/>
          <p:cNvSpPr/>
          <p:nvPr/>
        </p:nvSpPr>
        <p:spPr>
          <a:xfrm>
            <a:off x="457200" y="3657600"/>
            <a:ext cx="8229600" cy="365760"/>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Commercial in Confidence  |  [Company Name]  |  [Date]</a:t>
            </a:r>
            <a:endParaRPr lang="en-US" sz="1100" dirty="0"/>
          </a:p>
        </p:txBody>
      </p:sp>
      <p:sp>
        <p:nvSpPr>
          <p:cNvPr id="9" name="Rectangle 8"/>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562088" y="100584"/>
            <a:ext cx="566928" cy="347472"/>
          </a:xfrm>
          <a:prstGeom prst="rect">
            <a:avLst/>
          </a:prstGeom>
        </p:spPr>
      </p:pic>
      <p:pic>
        <p:nvPicPr>
          <p:cNvPr id="11" name="Picture 10" descr="image.png"/>
          <p:cNvPicPr>
            <a:picLocks noChangeAspect="1"/>
          </p:cNvPicPr>
          <p:nvPr/>
        </p:nvPicPr>
        <p:blipFill>
          <a:blip r:embed="rId4"/>
          <a:stretch>
            <a:fillRect/>
          </a:stretch>
        </p:blipFill>
        <p:spPr>
          <a:xfrm>
            <a:off x="8174736" y="100584"/>
            <a:ext cx="658368" cy="347472"/>
          </a:xfrm>
          <a:prstGeom prst="rect">
            <a:avLst/>
          </a:prstGeom>
        </p:spPr>
      </p:pic>
      <p:sp>
        <p:nvSpPr>
          <p:cNvPr id="12" name="Rectangle 11"/>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53F6056AA6464A99729F79B34ECED9" ma:contentTypeVersion="15" ma:contentTypeDescription="Create a new document." ma:contentTypeScope="" ma:versionID="5f61f7f6e9ac7af992ae58f204f4a905">
  <xsd:schema xmlns:xsd="http://www.w3.org/2001/XMLSchema" xmlns:xs="http://www.w3.org/2001/XMLSchema" xmlns:p="http://schemas.microsoft.com/office/2006/metadata/properties" xmlns:ns2="ecb9c8fd-b149-4da5-ae47-4cb2a6f921f7" xmlns:ns3="a57c75ee-0d51-4c06-b83a-21883992ef88" targetNamespace="http://schemas.microsoft.com/office/2006/metadata/properties" ma:root="true" ma:fieldsID="5bd49160a10d99efc7c2a57519ff9fe8" ns2:_="" ns3:_="">
    <xsd:import namespace="ecb9c8fd-b149-4da5-ae47-4cb2a6f921f7"/>
    <xsd:import namespace="a57c75ee-0d51-4c06-b83a-21883992ef88"/>
    <xsd:element name="properties">
      <xsd:complexType>
        <xsd:sequence>
          <xsd:element name="documentManagement">
            <xsd:complexType>
              <xsd:all>
                <xsd:element ref="ns2:MigrationSourceID"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MediaServiceBillingMetadata" minOccurs="0"/>
                <xsd:element ref="ns3:lcf76f155ced4ddcb4097134ff3c332f" minOccurs="0"/>
                <xsd:element ref="ns2:TaxCatchAll"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b9c8fd-b149-4da5-ae47-4cb2a6f921f7" elementFormDefault="qualified">
    <xsd:import namespace="http://schemas.microsoft.com/office/2006/documentManagement/types"/>
    <xsd:import namespace="http://schemas.microsoft.com/office/infopath/2007/PartnerControls"/>
    <xsd:element name="MigrationSourceID" ma:index="8" nillable="true" ma:displayName="MigrationSourceID" ma:internalName="MigrationSourceID" ma:readOnly="true">
      <xsd:simpleType>
        <xsd:restriction base="dms:Text"/>
      </xsd:simpleType>
    </xsd:element>
    <xsd:element name="TaxCatchAll" ma:index="20" nillable="true" ma:displayName="Taxonomy Catch All Column" ma:hidden="true" ma:list="{3bbffa37-1fb4-4f8b-a66f-2651692f13f0}" ma:internalName="TaxCatchAll" ma:showField="CatchAllData" ma:web="ecb9c8fd-b149-4da5-ae47-4cb2a6f921f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57c75ee-0d51-4c06-b83a-21883992ef88"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23488a-041b-479c-b98c-53326eeb9fc5"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cb9c8fd-b149-4da5-ae47-4cb2a6f921f7" xsi:nil="true"/>
    <lcf76f155ced4ddcb4097134ff3c332f xmlns="a57c75ee-0d51-4c06-b83a-21883992ef8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3AE8F085-71A7-4A48-A789-3BA16BBA4F2A}"/>
</file>

<file path=customXml/itemProps2.xml><?xml version="1.0" encoding="utf-8"?>
<ds:datastoreItem xmlns:ds="http://schemas.openxmlformats.org/officeDocument/2006/customXml" ds:itemID="{1D292536-B869-4EE3-8FF4-0D7917DDB48D}"/>
</file>

<file path=customXml/itemProps3.xml><?xml version="1.0" encoding="utf-8"?>
<ds:datastoreItem xmlns:ds="http://schemas.openxmlformats.org/officeDocument/2006/customXml" ds:itemID="{91848B7B-DD4F-4E4C-9285-643B6659650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QHSE-QP-05 Quality Plans Training Guide</dc:title>
  <dc:creator>John Hilton-Brammer</dc:creator>
  <cp:lastModifiedBy>John Hilton-Brammer</cp:lastModifiedBy>
  <dcterms:created xsi:type="dcterms:W3CDTF">2026-07-01T07:45:32Z</dcterms:created>
  <dcterms:modified xsi:type="dcterms:W3CDTF">2026-07-01T07:45:32Z</dcterms:modified>
  <cp:category>Fit For Nuclear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0x0101002453F6056AA6464A99729F79B34ECED9</vt:lpwstr>
  </property>
</Properties>
</file>