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Traceability, Non-Conformance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CFSI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your responsibilities in the nuclear supply chain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Traceability, NCR, and CFSI Matter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three areas are deeply linked. Together they are the backbone of nuclear supply chain quality assurance. Getting them right protects safety, your company, and your customers.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325880"/>
            <a:ext cx="2743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32588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1764792"/>
            <a:ext cx="2743200" cy="2715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837944"/>
            <a:ext cx="2596896" cy="2587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in a nuclear facility must be traceable to its origin. Without traceability, you cannot prove what you supplied or confirm it meets specification. A broken traceability chain can result in rejection of completed work.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54680" y="1325880"/>
            <a:ext cx="2743200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3227832" y="132588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154680" y="1764792"/>
            <a:ext cx="2743200" cy="2715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837944"/>
            <a:ext cx="2596896" cy="2587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Non-conformances happen in every manufacturing environment. The question is not whether they occur, but whether they are identified, controlled, and closed properly. Uncontrolled NCs are a serious risk.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1325880"/>
            <a:ext cx="2743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1325880"/>
            <a:ext cx="25968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80760" y="1764792"/>
            <a:ext cx="2743200" cy="27157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1837944"/>
            <a:ext cx="2596896" cy="2587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counterfeit or fraudulent item in a nuclear application can cause a safety event. Preventing CFSI entering the supply chain is a collective responsibility shared across every person in every tier.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Traceability: What It Means and Why It Is Required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means being able to reconstruct the complete history of any item: from the raw material source, through every manufacturing process, inspection, and test, to the finished product delivered to the customer.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traceable: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material: to heat/batch number and certificate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manufacturing operation: signed traveller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inspection and test: signed ITP / job card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non-conformances: NCR reference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Offcuts retained for use: yellow offcut tag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delivered item: to its Lifetime Quality Record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traceability chain: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664208"/>
            <a:ext cx="2011680" cy="5486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16642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66560" y="1664208"/>
            <a:ext cx="20574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17099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cert: grade, heat no., mechanical properties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0" y="2212848"/>
            <a:ext cx="0" cy="73152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286000"/>
            <a:ext cx="2011680" cy="5486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RECEIPT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66560" y="2286000"/>
            <a:ext cx="20574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2331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verified, CFSI check, ID applied, register updated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2834640"/>
            <a:ext cx="0" cy="73152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2907792"/>
            <a:ext cx="2011680" cy="5486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29077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66560" y="2907792"/>
            <a:ext cx="20574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295351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Traveller signed at every operation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86400" y="3456432"/>
            <a:ext cx="0" cy="73152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3529584"/>
            <a:ext cx="2011680" cy="5486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7" name="Text 24"/>
          <p:cNvSpPr/>
          <p:nvPr/>
        </p:nvSpPr>
        <p:spPr>
          <a:xfrm>
            <a:off x="4663440" y="35295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766560" y="3529584"/>
            <a:ext cx="20574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12280" y="35753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 activities signed off at each hold/review point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486400" y="4078224"/>
            <a:ext cx="0" cy="73152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63440" y="4151376"/>
            <a:ext cx="2011680" cy="5486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2" name="Text 29"/>
          <p:cNvSpPr/>
          <p:nvPr/>
        </p:nvSpPr>
        <p:spPr>
          <a:xfrm>
            <a:off x="4663440" y="415137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RELEASE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66560" y="4151376"/>
            <a:ext cx="20574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12280" y="419709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LQR complete; Certificate of Conformity issued</a:t>
            </a:r>
            <a:endParaRPr lang="en-US" sz="85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Traceability Responsibilities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" y="777240"/>
            <a:ext cx="137160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77724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737360" y="777240"/>
            <a:ext cx="43891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0" y="82296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cert matches PO spec. Apply ID immediately. Update material register. CFSI check on every delivery.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17920" y="777240"/>
            <a:ext cx="2651760" cy="749808"/>
          </a:xfrm>
          <a:prstGeom prst="rect">
            <a:avLst/>
          </a:prstGeom>
          <a:solidFill>
            <a:srgbClr val="E6F4F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8229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receive material without a certificate. Never store material without identification.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1627632"/>
            <a:ext cx="1371600" cy="74980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1627632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737360" y="1627632"/>
            <a:ext cx="43891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167335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traveller with the job at all times. Sign and date at every operation. Never remove ID from WIP. Tag offcuts before moving them.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17920" y="1627632"/>
            <a:ext cx="2651760" cy="749808"/>
          </a:xfrm>
          <a:prstGeom prst="rect">
            <a:avLst/>
          </a:prstGeom>
          <a:solidFill>
            <a:srgbClr val="FFF2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67335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 without a traveller is an unknown part. Stop work and notify QM.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478024"/>
            <a:ext cx="137160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247802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737360" y="2478024"/>
            <a:ext cx="43891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0" y="252374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traceability at every ITP hold/review point. Check heat number matches cert before signing. Quarantine anything with broken traceability.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17920" y="2478024"/>
            <a:ext cx="2651760" cy="749808"/>
          </a:xfrm>
          <a:prstGeom prst="rect">
            <a:avLst/>
          </a:prstGeom>
          <a:solidFill>
            <a:srgbClr val="E6F4F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52374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traceability cannot be verified, the part fails the inspection point.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3328416"/>
            <a:ext cx="1371600" cy="74980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3328416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Despatch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737360" y="3328416"/>
            <a:ext cx="43891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0" y="337413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LQR is complete before releasing. Confirm CoC is signed. Include all specified traceability documents in the delivery.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17920" y="3328416"/>
            <a:ext cx="2651760" cy="749808"/>
          </a:xfrm>
          <a:prstGeom prst="rect">
            <a:avLst/>
          </a:prstGeom>
          <a:solidFill>
            <a:srgbClr val="FFF2C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09360" y="337413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release a delivery without a signed CoC and complete documentation.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4178808"/>
            <a:ext cx="1371600" cy="74980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2" name="Text 29"/>
          <p:cNvSpPr/>
          <p:nvPr/>
        </p:nvSpPr>
        <p:spPr>
          <a:xfrm>
            <a:off x="274320" y="4178808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737360" y="4178808"/>
            <a:ext cx="438912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828800" y="422452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see material without identification, tell your supervisor. If a job card goes missing, stop the job and tell QM. Never use unidentified material.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217920" y="4178808"/>
            <a:ext cx="2651760" cy="749808"/>
          </a:xfrm>
          <a:prstGeom prst="rect">
            <a:avLst/>
          </a:prstGeom>
          <a:solidFill>
            <a:srgbClr val="E6F4FB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42245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traceability discovered at the customer is far more costly than stopping to fix it now.</a:t>
            </a: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Offcut and Remnant Material Control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Offcut control is one of the most commonly failed elements during nuclear customer audits and site tours. An unidentified offcut in the store is an immediate non-conformance.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is simple: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645920"/>
            <a:ext cx="274320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6459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cut material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1645920"/>
            <a:ext cx="576072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1700784"/>
            <a:ext cx="5577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yellow offcut tag to the offcut BEFORE you move it. The tag must show: heat number, material grade, certificate reference, original item reference, date cut, your name.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450592"/>
            <a:ext cx="2743200" cy="7132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245059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offcuts not worth keeping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08960" y="2450592"/>
            <a:ext cx="576072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2505456"/>
            <a:ext cx="5577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them immediately. Do not put them in the store unlabelled. An unlabelled piece of material in the store is a problem waiting to happen.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255264"/>
            <a:ext cx="2743200" cy="7132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325526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Offcuts going back into store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3255264"/>
            <a:ext cx="576072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0" y="3310128"/>
            <a:ext cx="5577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them in the Offcut Register as a new entry, cross-referenced to the original material entry.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059936"/>
            <a:ext cx="2743200" cy="7132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4059936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find an unlabelled offcut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08960" y="4059936"/>
            <a:ext cx="5760720" cy="71323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0" y="4114800"/>
            <a:ext cx="5577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 it. Tag it as UNKNOWN MATERIAL. Tell your supervisor. It cannot be used for any nuclear-classified work until its identity is verified.</a:t>
            </a:r>
            <a:endParaRPr lang="en-US" sz="1000" dirty="0"/>
          </a:p>
        </p:txBody>
      </p:sp>
      <p:sp>
        <p:nvSpPr>
          <p:cNvPr id="25" name="Rectangle 2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CFSI Items?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Counterfeit, Fraudulent, and Suspect Items (CFSI) are a real and growing threat in global supply chains. They are especially dangerous in safety-critical applications.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1828800" cy="8412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23444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94560" y="1234440"/>
            <a:ext cx="6675120" cy="841248"/>
          </a:xfrm>
          <a:prstGeom prst="rect">
            <a:avLst/>
          </a:prstGeom>
          <a:solidFill>
            <a:srgbClr val="FCE4D6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1289304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intentionally made to imitate genuine products without authorisation. Examples: reprocessed scrap parts stamped as new; bolts made from lower-grade material and stamped with a higher grade; items with copied markings.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185416"/>
            <a:ext cx="1828800" cy="8412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2185416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94560" y="2185416"/>
            <a:ext cx="6675120" cy="841248"/>
          </a:xfrm>
          <a:prstGeom prst="rect">
            <a:avLst/>
          </a:prstGeom>
          <a:solidFill>
            <a:srgbClr val="FFF2C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0" y="2240280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items supplied with false or altered documentation. Examples: a Type 2.1 certificate altered to read Type 3.1; welding certificates showing qualifications the welder does not hold; NDT reports for tests that were never carried out.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3136392"/>
            <a:ext cx="1828800" cy="8412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3136392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94560" y="3136392"/>
            <a:ext cx="6675120" cy="841248"/>
          </a:xfrm>
          <a:prstGeom prst="rect">
            <a:avLst/>
          </a:prstGeom>
          <a:solidFill>
            <a:srgbClr val="E2EFD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0" y="3191256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where there is reason to believe they may not be genuine. They have not yet been confirmed as counterfeit, but must be treated as non-conforming until proven otherwise.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4087368"/>
            <a:ext cx="1828800" cy="84124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08736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MARKET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194560" y="4087368"/>
            <a:ext cx="6675120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86000" y="4142232"/>
            <a:ext cx="6492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items sourced outside the OEM's authorised distribution network. May be real but: wrong revision, out of shelf life, improperly stored, documentation unverifiable. Unacceptable for QC1/QC2 without QM approval.</a:t>
            </a:r>
            <a:endParaRPr lang="en-US" sz="100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Warning Signs: Purchasing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of these apply when you are sourcing a component, stop and tell the Quality Manager before placing an order.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70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" y="1170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Price significantly below normal market price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581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627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too good to be true, it probably is.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0" y="1170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4690872" y="1170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Obsolete or hard-to-get item suddenly available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17720" y="1581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627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Counterfeiters target items that are no longer made.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2313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" y="2313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Shorter lead time than expected from a new supplier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724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770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items need manufacture time. Pre-stocked fakes do not.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17720" y="2313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1" name="Text 18"/>
          <p:cNvSpPr/>
          <p:nvPr/>
        </p:nvSpPr>
        <p:spPr>
          <a:xfrm>
            <a:off x="4690872" y="2313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Unfamiliar or unusual supplier for a critical item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17720" y="2724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2770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 suppliers only. New sources for safety-classified items need QM approval.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456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347472" y="3456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Supplier cannot provide OEM authorisation or distributor status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867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3913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nuclear supply chains are documented and verifiable.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17720" y="3456432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9" name="Text 26"/>
          <p:cNvSpPr/>
          <p:nvPr/>
        </p:nvSpPr>
        <p:spPr>
          <a:xfrm>
            <a:off x="4690872" y="3456432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Item not available from OEM's authorised distribution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17720" y="3867912"/>
            <a:ext cx="416052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90872" y="3913632"/>
            <a:ext cx="4014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market = unverifiable chain of custody for QC1/QC2.</a:t>
            </a:r>
            <a:endParaRPr lang="en-US" sz="95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Warning Signs: Goods Receipt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goods receipt inspection must check for these signs. If any are present, quarantine the items and notify the Quality Manager.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64592" y="1170432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10312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Paperwork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4592" y="1554480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" y="1609344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spelling/grammar; Tipp-Ex or alterations; missing info; typed/image signatures where wet signatures expected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359152" y="1170432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59152" y="1554480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04872" y="1609344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does not cross-reference to the item; heat/batch number inconsistent; specification superseded; unrecognised test body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53712" y="1170432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4599432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53712" y="1554480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9432" y="1609344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previous deliveries of the same item; unusual labels; signs of repackaging or tampered seals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48272" y="1170432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6793992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Condition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748272" y="1554480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93992" y="1609344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reworking, repainting, or restamping; unexpected wear or surface condition; repairs not documented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164592" y="3072384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210312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Marks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64592" y="3456432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" y="3511296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Alterations to markings; missing lot/batch numbers; smudged or blurred text; incorrect logo; wrong marking method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359152" y="3072384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404872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Appearance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359152" y="3456432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04872" y="3511296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colour, weight, shape, or size from previous deliveries; wrong thread profile; obvious dimensional discrepancies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53712" y="3072384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3" name="Text 30"/>
          <p:cNvSpPr/>
          <p:nvPr/>
        </p:nvSpPr>
        <p:spPr>
          <a:xfrm>
            <a:off x="4599432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Mismatch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53712" y="3456432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99432" y="3511296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revision differs from order; subtle part number difference; quantity or description inconsistency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48272" y="3072384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7" name="Text 34"/>
          <p:cNvSpPr/>
          <p:nvPr/>
        </p:nvSpPr>
        <p:spPr>
          <a:xfrm>
            <a:off x="6793992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Certification Missing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748272" y="3456432"/>
            <a:ext cx="2057400" cy="142646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93992" y="3511296"/>
            <a:ext cx="19659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Equipment Manufacturer certification unavailable or unverifiable; supplier cannot trace item to OEM</a:t>
            </a:r>
            <a:endParaRPr lang="en-US" sz="85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CFSI: What to Do If You Suspect an Item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important thing you can do: ACT IMMEDIATELY. Do not wait, do not assume it will be fine, do not tell yourself 'it's probably OK'.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34440"/>
            <a:ext cx="210312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1618488"/>
            <a:ext cx="2103120" cy="1335024"/>
          </a:xfrm>
          <a:prstGeom prst="rect">
            <a:avLst/>
          </a:prstGeom>
          <a:solidFill>
            <a:srgbClr val="FCE4D6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691640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using the item and any others from the same batch or delivery. Right now.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23160" y="1234440"/>
            <a:ext cx="210312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TAG IT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1618488"/>
            <a:ext cx="2103120" cy="1335024"/>
          </a:xfrm>
          <a:prstGeom prst="rect">
            <a:avLst/>
          </a:prstGeom>
          <a:solidFill>
            <a:srgbClr val="FCE4D6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1691640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red CFSI SUSPECT tag to the item. This prevents anyone else using it.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234440"/>
            <a:ext cx="210312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QUARANTINE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1618488"/>
            <a:ext cx="2103120" cy="1335024"/>
          </a:xfrm>
          <a:prstGeom prst="rect">
            <a:avLst/>
          </a:prstGeom>
          <a:solidFill>
            <a:srgbClr val="E6F4FB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1691640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item to the CFSI Quarantine store. The store must be locked.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03720" y="1234440"/>
            <a:ext cx="2103120" cy="384048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1234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PHOTOGRAPH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03720" y="1618488"/>
            <a:ext cx="2103120" cy="1335024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76872" y="1691640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item, packaging, all markings, and all documents.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82880" y="3044952"/>
            <a:ext cx="21031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NOTIFY QM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82880" y="3429000"/>
            <a:ext cx="2103120" cy="1335024"/>
          </a:xfrm>
          <a:prstGeom prst="rect">
            <a:avLst/>
          </a:prstGeom>
          <a:solidFill>
            <a:srgbClr val="F5EBF7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3502152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Quality Manager within 30 minutes. Provide: item, batch no., supplier, date received, what you saw.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423160" y="3044952"/>
            <a:ext cx="2103120" cy="38404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2468880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 NOT RETURN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423160" y="3429000"/>
            <a:ext cx="2103120" cy="1335024"/>
          </a:xfrm>
          <a:prstGeom prst="rect">
            <a:avLst/>
          </a:prstGeom>
          <a:solidFill>
            <a:srgbClr val="FCE4D6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96312" y="3502152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return the item to the supplier. This destroys evidence.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3044952"/>
            <a:ext cx="2103120" cy="38404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3" name="Text 30"/>
          <p:cNvSpPr/>
          <p:nvPr/>
        </p:nvSpPr>
        <p:spPr>
          <a:xfrm>
            <a:off x="4709160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WAIT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63440" y="3429000"/>
            <a:ext cx="2103120" cy="1335024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36592" y="3502152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QM will raise a CFSI report, notify the customer, and start the investigation.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03720" y="3044952"/>
            <a:ext cx="210312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7" name="Text 34"/>
          <p:cNvSpPr/>
          <p:nvPr/>
        </p:nvSpPr>
        <p:spPr>
          <a:xfrm>
            <a:off x="6949440" y="3044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PRESERVE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903720" y="3429000"/>
            <a:ext cx="2103120" cy="1335024"/>
          </a:xfrm>
          <a:prstGeom prst="rect">
            <a:avLst/>
          </a:prstGeom>
          <a:solidFill>
            <a:srgbClr val="E6F4FB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76872" y="3502152"/>
            <a:ext cx="195681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all original packaging with the quarantined item until told otherwise by QM.</a:t>
            </a:r>
            <a:endParaRPr lang="en-US" sz="100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Reports (NCR): The Basics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Non-Conformance Report is raised when any product, material, service, or activity does not meet the specified requirements. Raising an NCR is not a sign of failure. It is a sign of a professional, controlled quality system.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must you raise an NCR?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664208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or surface condition outside drawing tolerance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certificate does not meet the specification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 defects identified during visual or NDT inspection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has been broken and cannot be re-established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CFSI suspect item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has proceeded past a hold point without sign-off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procedure has not been followed correctly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reports a quality issue on a delivered item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must NOT do: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1664208"/>
            <a:ext cx="4069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working on a non-conforming item without a disposition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a non-conforming item without QM approval (destroys evidence)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an item without QM approval (may invalidate documentation)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 non-conforming item informally without raising an NCR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non-conforming item to the customer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NCRs generate evidence. Evidence protects you. A company that can produce clean NCR records with closed corrective actions scores higher at F4N assessments and customer audits than one with no NCRs at all.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NCR: The Process and Disposition Options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NCR process: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" y="1143000"/>
            <a:ext cx="2011680" cy="40233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430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IDENTIFY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77440" y="1143000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23160" y="11795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Non-conformance found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1609344"/>
            <a:ext cx="2011680" cy="40233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60934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STOP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7440" y="1609344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23160" y="16459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Segregate the item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075688"/>
            <a:ext cx="2011680" cy="40233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207568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RAISE NCR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377440" y="2075688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23160" y="211226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 hour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2542032"/>
            <a:ext cx="2011680" cy="40233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25420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NOTIFY QM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377440" y="2542032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23160" y="2578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3008376"/>
            <a:ext cx="2011680" cy="40233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00837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CUSTOMER NOTIFY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377440" y="3008376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23160" y="304495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24hrs (QC1/QC2)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3474720"/>
            <a:ext cx="2011680" cy="40233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347472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ASSESS ROOT CAUSE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377440" y="3474720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23160" y="351129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 leads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74320" y="3941064"/>
            <a:ext cx="2011680" cy="40233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3" name="Text 30"/>
          <p:cNvSpPr/>
          <p:nvPr/>
        </p:nvSpPr>
        <p:spPr>
          <a:xfrm>
            <a:off x="274320" y="39410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AGREE DISPOSITION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377440" y="3941064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423160" y="39776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 + customer if needed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4320" y="4407408"/>
            <a:ext cx="2011680" cy="40233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7" name="Text 34"/>
          <p:cNvSpPr/>
          <p:nvPr/>
        </p:nvSpPr>
        <p:spPr>
          <a:xfrm>
            <a:off x="274320" y="44074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CLOSE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377440" y="4407408"/>
            <a:ext cx="2011680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423160" y="44439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filed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Disposition options: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663440" y="1143000"/>
            <a:ext cx="1645920" cy="6583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2" name="Text 39"/>
          <p:cNvSpPr/>
          <p:nvPr/>
        </p:nvSpPr>
        <p:spPr>
          <a:xfrm>
            <a:off x="4663440" y="114300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400800" y="1143000"/>
            <a:ext cx="2423160" cy="65836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73952" y="11978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back to full specification. No customer approval needed.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663440" y="1892808"/>
            <a:ext cx="164592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6" name="Text 43"/>
          <p:cNvSpPr/>
          <p:nvPr/>
        </p:nvSpPr>
        <p:spPr>
          <a:xfrm>
            <a:off x="4663440" y="189280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400800" y="1892808"/>
            <a:ext cx="2423160" cy="658368"/>
          </a:xfrm>
          <a:prstGeom prst="rect">
            <a:avLst/>
          </a:prstGeom>
          <a:solidFill>
            <a:srgbClr val="FFF2CC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73952" y="19476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brought to full spec but can be repaired. CUSTOMER APPROVAL REQUIRED.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663440" y="2642616"/>
            <a:ext cx="164592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0" name="Text 47"/>
          <p:cNvSpPr/>
          <p:nvPr/>
        </p:nvSpPr>
        <p:spPr>
          <a:xfrm>
            <a:off x="4663440" y="264261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IS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400800" y="2642616"/>
            <a:ext cx="2423160" cy="658368"/>
          </a:xfrm>
          <a:prstGeom prst="rect">
            <a:avLst/>
          </a:prstGeom>
          <a:solidFill>
            <a:srgbClr val="FFF2CC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73952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in non-conforming state. CUSTOMER APPROVAL REQUIRED.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663440" y="3392424"/>
            <a:ext cx="164592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4" name="Text 51"/>
          <p:cNvSpPr/>
          <p:nvPr/>
        </p:nvSpPr>
        <p:spPr>
          <a:xfrm>
            <a:off x="4663440" y="339242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400800" y="3392424"/>
            <a:ext cx="2423160" cy="658368"/>
          </a:xfrm>
          <a:prstGeom prst="rect">
            <a:avLst/>
          </a:prstGeom>
          <a:solidFill>
            <a:srgbClr val="FCE4D6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473952" y="34472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Destroy. Cannot be reworked or accepted. Must be documented.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663440" y="4142232"/>
            <a:ext cx="1645920" cy="65836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8" name="Text 55"/>
          <p:cNvSpPr/>
          <p:nvPr/>
        </p:nvSpPr>
        <p:spPr>
          <a:xfrm>
            <a:off x="4663440" y="414223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SUPPLIER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400800" y="4142232"/>
            <a:ext cx="2423160" cy="658368"/>
          </a:xfrm>
          <a:prstGeom prst="rect">
            <a:avLst/>
          </a:prstGeom>
          <a:solidFill>
            <a:srgbClr val="F5EBF7"/>
          </a:solidFill>
          <a:ln w="9525">
            <a:solidFill>
              <a:srgbClr val="83348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73952" y="41970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QM authorisation. Evidence preserved first.</a:t>
            </a:r>
            <a:endParaRPr lang="en-US" sz="900" dirty="0"/>
          </a:p>
        </p:txBody>
      </p:sp>
      <p:sp>
        <p:nvSpPr>
          <p:cNvPr id="61" name="Rectangle 6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Traceability, NCR and CFSI Toolkit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documents work together as a complete system. Use them on every job.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70432"/>
            <a:ext cx="1463040" cy="8046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70432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QHSE-TNC-01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1170432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1207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and Product Traceability Procedure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20240" y="1499616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how materials are received, identified, tracked through manufacture, and released. The rules everyone must follow.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103120"/>
            <a:ext cx="1463040" cy="8046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1031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QHSE-TNC-02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2103120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0240" y="213969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and WIP Register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243230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Register, WIP Traveller Log, Offcut Register, Quarantine Log, and Goods Receipt Inspection Record. Live operational tools.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035808"/>
            <a:ext cx="1463040" cy="8046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303580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QHSE-TNC-03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0" y="3035808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20240" y="30723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Log and NCR Form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20240" y="33649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NCR form to raise and the log to track all non-conformances, root cause analysis, corrective actions, and concessions.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968496"/>
            <a:ext cx="1463040" cy="8046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3968496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QHSE-TNC-04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0" y="3968496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20240" y="4005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Procedure and Awareness Guide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920240" y="429768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CFSI definitions, warning signs, response procedure, preventive controls, and CFSI incident register.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Traceability, NCR, and CFSI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933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material has no ID, quarantine it.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is wrong, raise an NCR.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looks like CFSI, quarantine it and tell the Quality Manager.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Ask your supervisor or the Quality Manager.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  |  [Company Name]  |  [Date]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53720E9-DF75-4048-967D-32B48ADD59D7}"/>
</file>

<file path=customXml/itemProps2.xml><?xml version="1.0" encoding="utf-8"?>
<ds:datastoreItem xmlns:ds="http://schemas.openxmlformats.org/officeDocument/2006/customXml" ds:itemID="{D3E68188-FF44-43AB-B1C7-F619724F28F1}"/>
</file>

<file path=customXml/itemProps3.xml><?xml version="1.0" encoding="utf-8"?>
<ds:datastoreItem xmlns:ds="http://schemas.openxmlformats.org/officeDocument/2006/customXml" ds:itemID="{0DA5329C-1C81-4D1A-A8E7-D72D55D97F6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QHSE-TNC-05 CFSI Non-Conformance Report Training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