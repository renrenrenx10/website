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media/image-1-1.jpg" ContentType="image/jpg"/>
  <Override PartName="/ppt/notesSlides/notesSlide1.xml" ContentType="application/vnd.openxmlformats-officedocument.presentationml.notesSlide+xml"/>
  <Override PartName="/ppt/notesMasters/notesMaster1.xml" ContentType="application/vnd.openxmlformats-officedocument.presentationml.notesMaster+xml"/>
  <Override PartName="/ppt/slides/slide2.xml" ContentType="application/vnd.openxmlformats-officedocument.presentationml.slide+xml"/>
  <Override PartName="/ppt/media/image-2-1.jpg" ContentType="image/jpg"/>
  <Override PartName="/ppt/notesSlides/notesSlide2.xml" ContentType="application/vnd.openxmlformats-officedocument.presentationml.notesSlide+xml"/>
  <Override PartName="/ppt/slides/slide3.xml" ContentType="application/vnd.openxmlformats-officedocument.presentationml.slide+xml"/>
  <Override PartName="/ppt/media/image-3-1.jpg" ContentType="image/jpg"/>
  <Override PartName="/ppt/notesSlides/notesSlide3.xml" ContentType="application/vnd.openxmlformats-officedocument.presentationml.notesSlide+xml"/>
  <Override PartName="/ppt/slides/slide4.xml" ContentType="application/vnd.openxmlformats-officedocument.presentationml.slide+xml"/>
  <Override PartName="/ppt/media/image-4-1.jpg" ContentType="image/jpg"/>
  <Override PartName="/ppt/notesSlides/notesSlide4.xml" ContentType="application/vnd.openxmlformats-officedocument.presentationml.notesSlide+xml"/>
  <Override PartName="/ppt/slides/slide5.xml" ContentType="application/vnd.openxmlformats-officedocument.presentationml.slide+xml"/>
  <Override PartName="/ppt/media/image-5-1.jpg" ContentType="image/jpg"/>
  <Override PartName="/ppt/notesSlides/notesSlide5.xml" ContentType="application/vnd.openxmlformats-officedocument.presentationml.notesSlide+xml"/>
  <Override PartName="/ppt/slides/slide6.xml" ContentType="application/vnd.openxmlformats-officedocument.presentationml.slide+xml"/>
  <Override PartName="/ppt/media/image-6-1.jpg" ContentType="image/jpg"/>
  <Override PartName="/ppt/notesSlides/notesSlide6.xml" ContentType="application/vnd.openxmlformats-officedocument.presentationml.notesSlide+xml"/>
  <Override PartName="/ppt/slides/slide7.xml" ContentType="application/vnd.openxmlformats-officedocument.presentationml.slide+xml"/>
  <Override PartName="/ppt/media/image-7-1.jpg" ContentType="image/jpg"/>
  <Override PartName="/ppt/notesSlides/notesSlide7.xml" ContentType="application/vnd.openxmlformats-officedocument.presentationml.notesSlide+xml"/>
  <Override PartName="/ppt/slides/slide8.xml" ContentType="application/vnd.openxmlformats-officedocument.presentationml.slide+xml"/>
  <Override PartName="/ppt/media/image-8-1.jpg" ContentType="image/jpg"/>
  <Override PartName="/ppt/notesSlides/notesSlide8.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 Id="rId9" Type="http://schemas.openxmlformats.org/officeDocument/2006/relationships/image" Target="../media/image1.png"/><Relationship Id="rId10"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1.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83348F">
              <a:alpha val="90000"/>
            </a:srgbClr>
          </a:solidFill>
          <a:ln w="12700">
            <a:solidFill>
              <a:srgbClr val="83348F"/>
            </a:solidFill>
            <a:prstDash val="solid"/>
          </a:ln>
        </p:spPr>
      </p:sp>
      <p:pic>
        <p:nvPicPr>
          <p:cNvPr id="3" name="Image 0" descr="/home/claude/nuccol_logo.jpg">    </p:cNvPr>
          <p:cNvPicPr>
            <a:picLocks noChangeAspect="1"/>
          </p:cNvPicPr>
          <p:nvPr/>
        </p:nvPicPr>
        <p:blipFill>
          <a:blip r:embed="rId1"/>
          <a:stretch>
            <a:fillRect/>
          </a:stretch>
        </p:blipFill>
        <p:spPr>
          <a:xfrm>
            <a:off x="274320" y="228600"/>
            <a:ext cx="1417320" cy="676656"/>
          </a:xfrm>
          <a:prstGeom prst="rect">
            <a:avLst/>
          </a:prstGeom>
        </p:spPr>
      </p:pic>
      <p:sp>
        <p:nvSpPr>
          <p:cNvPr id="4" name="Text 1"/>
          <p:cNvSpPr/>
          <p:nvPr/>
        </p:nvSpPr>
        <p:spPr>
          <a:xfrm>
            <a:off x="274320" y="1115568"/>
            <a:ext cx="3474720" cy="292608"/>
          </a:xfrm>
          <a:prstGeom prst="rect">
            <a:avLst/>
          </a:prstGeom>
          <a:noFill/>
          <a:ln/>
        </p:spPr>
        <p:txBody>
          <a:bodyPr wrap="square" lIns="0" tIns="0" rIns="0" bIns="0" rtlCol="0" anchor="ctr"/>
          <a:lstStyle/>
          <a:p>
            <a:pPr indent="0" marL="0">
              <a:buNone/>
            </a:pPr>
            <a:r>
              <a:rPr lang="en-US" sz="1300" i="1" spc="200" kern="0" dirty="0">
                <a:solidFill>
                  <a:srgbClr val="FFFFFF"/>
                </a:solidFill>
                <a:latin typeface="Arial" pitchFamily="34" charset="0"/>
                <a:ea typeface="Arial" pitchFamily="34" charset="-122"/>
                <a:cs typeface="Arial" pitchFamily="34" charset="-120"/>
              </a:rPr>
              <a:t>QHSE Training Guide</a:t>
            </a:r>
            <a:endParaRPr lang="en-US" sz="1300" dirty="0"/>
          </a:p>
        </p:txBody>
      </p:sp>
      <p:sp>
        <p:nvSpPr>
          <p:cNvPr id="5" name="Text 2"/>
          <p:cNvSpPr/>
          <p:nvPr/>
        </p:nvSpPr>
        <p:spPr>
          <a:xfrm>
            <a:off x="274320" y="1463040"/>
            <a:ext cx="3474720" cy="14173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Working at Height:</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Preventing Falls</a:t>
            </a:r>
            <a:endParaRPr lang="en-US" sz="3200" dirty="0"/>
          </a:p>
        </p:txBody>
      </p:sp>
      <p:sp>
        <p:nvSpPr>
          <p:cNvPr id="6" name="Shape 3"/>
          <p:cNvSpPr/>
          <p:nvPr/>
        </p:nvSpPr>
        <p:spPr>
          <a:xfrm>
            <a:off x="274320" y="2926080"/>
            <a:ext cx="3383280" cy="0"/>
          </a:xfrm>
          <a:prstGeom prst="line">
            <a:avLst/>
          </a:prstGeom>
          <a:noFill/>
          <a:ln w="12700">
            <a:solidFill>
              <a:srgbClr val="FFFFFF"/>
            </a:solidFill>
            <a:prstDash val="solid"/>
          </a:ln>
        </p:spPr>
      </p:sp>
      <p:sp>
        <p:nvSpPr>
          <p:cNvPr id="7" name="Text 4"/>
          <p:cNvSpPr/>
          <p:nvPr/>
        </p:nvSpPr>
        <p:spPr>
          <a:xfrm>
            <a:off x="274320" y="3017520"/>
            <a:ext cx="3474720" cy="77724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Understanding the regulations, hierarchy of controls, and safe equipment selection.</a:t>
            </a:r>
            <a:endParaRPr lang="en-US" sz="1150" dirty="0"/>
          </a:p>
        </p:txBody>
      </p:sp>
      <p:sp>
        <p:nvSpPr>
          <p:cNvPr id="8" name="Text 5"/>
          <p:cNvSpPr/>
          <p:nvPr/>
        </p:nvSpPr>
        <p:spPr>
          <a:xfrm>
            <a:off x="274320" y="4224528"/>
            <a:ext cx="3474720" cy="457200"/>
          </a:xfrm>
          <a:prstGeom prst="rect">
            <a:avLst/>
          </a:prstGeom>
          <a:noFill/>
          <a:ln/>
        </p:spPr>
        <p:txBody>
          <a:bodyPr wrap="square" lIns="0" tIns="0" rIns="0" bIns="0" rtlCol="0" anchor="t"/>
          <a:lstStyle/>
          <a:p>
            <a:pPr indent="0" marL="0">
              <a:buNone/>
            </a:pPr>
            <a:r>
              <a:rPr lang="en-US" sz="850" dirty="0">
                <a:solidFill>
                  <a:srgbClr val="BBAACC"/>
                </a:solidFill>
                <a:latin typeface="Arial" pitchFamily="34" charset="0"/>
                <a:ea typeface="Arial" pitchFamily="34" charset="-122"/>
                <a:cs typeface="Arial" pitchFamily="34" charset="-120"/>
              </a:rPr>
              <a:t>Aligned to: Work at Height Regulations 2005  |  ISO 45001  |  BS 8454</a:t>
            </a:r>
            <a:endParaRPr lang="en-US" sz="850" dirty="0"/>
          </a:p>
        </p:txBody>
      </p:sp>
      <p:sp>
        <p:nvSpPr>
          <p:cNvPr id="9" name="Shape 6"/>
          <p:cNvSpPr/>
          <p:nvPr/>
        </p:nvSpPr>
        <p:spPr>
          <a:xfrm>
            <a:off x="6080760" y="411480"/>
            <a:ext cx="822960" cy="822960"/>
          </a:xfrm>
          <a:prstGeom prst="ellipse">
            <a:avLst/>
          </a:prstGeom>
          <a:solidFill>
            <a:srgbClr val="83348F">
              <a:alpha val="82000"/>
            </a:srgbClr>
          </a:solidFill>
          <a:ln w="10160">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6217920" y="548640"/>
            <a:ext cx="548640" cy="548640"/>
          </a:xfrm>
          <a:prstGeom prst="rect">
            <a:avLst/>
          </a:prstGeom>
        </p:spPr>
      </p:pic>
      <p:sp>
        <p:nvSpPr>
          <p:cNvPr id="11" name="Shape 7"/>
          <p:cNvSpPr/>
          <p:nvPr/>
        </p:nvSpPr>
        <p:spPr>
          <a:xfrm>
            <a:off x="7086600" y="1234440"/>
            <a:ext cx="822960" cy="822960"/>
          </a:xfrm>
          <a:prstGeom prst="ellipse">
            <a:avLst/>
          </a:prstGeom>
          <a:solidFill>
            <a:srgbClr val="C0392B">
              <a:alpha val="82000"/>
            </a:srgbClr>
          </a:solidFill>
          <a:ln w="1016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7223760" y="1371600"/>
            <a:ext cx="548640" cy="548640"/>
          </a:xfrm>
          <a:prstGeom prst="rect">
            <a:avLst/>
          </a:prstGeom>
        </p:spPr>
      </p:pic>
      <p:sp>
        <p:nvSpPr>
          <p:cNvPr id="13" name="Shape 8"/>
          <p:cNvSpPr/>
          <p:nvPr/>
        </p:nvSpPr>
        <p:spPr>
          <a:xfrm>
            <a:off x="6446520" y="2057400"/>
            <a:ext cx="822960" cy="822960"/>
          </a:xfrm>
          <a:prstGeom prst="ellipse">
            <a:avLst/>
          </a:prstGeom>
          <a:solidFill>
            <a:srgbClr val="2E8B57">
              <a:alpha val="82000"/>
            </a:srgbClr>
          </a:solidFill>
          <a:ln w="10160">
            <a:solidFill>
              <a:srgbClr val="FFFFFF"/>
            </a:solidFill>
            <a:prstDash val="solid"/>
          </a:ln>
        </p:spPr>
      </p:sp>
      <p:pic>
        <p:nvPicPr>
          <p:cNvPr id="14" name="Image 3" descr="preencoded.png">    </p:cNvPr>
          <p:cNvPicPr>
            <a:picLocks noChangeAspect="1"/>
          </p:cNvPicPr>
          <p:nvPr/>
        </p:nvPicPr>
        <p:blipFill>
          <a:blip r:embed="rId4"/>
          <a:stretch>
            <a:fillRect/>
          </a:stretch>
        </p:blipFill>
        <p:spPr>
          <a:xfrm>
            <a:off x="6583680" y="2194560"/>
            <a:ext cx="548640" cy="548640"/>
          </a:xfrm>
          <a:prstGeom prst="rect">
            <a:avLst/>
          </a:prstGeom>
        </p:spPr>
      </p:pic>
      <p:sp>
        <p:nvSpPr>
          <p:cNvPr id="15" name="Shape 9"/>
          <p:cNvSpPr/>
          <p:nvPr/>
        </p:nvSpPr>
        <p:spPr>
          <a:xfrm>
            <a:off x="6903720" y="2880360"/>
            <a:ext cx="822960" cy="822960"/>
          </a:xfrm>
          <a:prstGeom prst="ellipse">
            <a:avLst/>
          </a:prstGeom>
          <a:solidFill>
            <a:srgbClr val="009FE3">
              <a:alpha val="82000"/>
            </a:srgbClr>
          </a:solidFill>
          <a:ln w="10160">
            <a:solidFill>
              <a:srgbClr val="FFFFFF"/>
            </a:solidFill>
            <a:prstDash val="solid"/>
          </a:ln>
        </p:spPr>
      </p:sp>
      <p:pic>
        <p:nvPicPr>
          <p:cNvPr id="16" name="Image 4" descr="preencoded.png">    </p:cNvPr>
          <p:cNvPicPr>
            <a:picLocks noChangeAspect="1"/>
          </p:cNvPicPr>
          <p:nvPr/>
        </p:nvPicPr>
        <p:blipFill>
          <a:blip r:embed="rId5"/>
          <a:stretch>
            <a:fillRect/>
          </a:stretch>
        </p:blipFill>
        <p:spPr>
          <a:xfrm>
            <a:off x="7040880" y="3017520"/>
            <a:ext cx="548640" cy="548640"/>
          </a:xfrm>
          <a:prstGeom prst="rect">
            <a:avLst/>
          </a:prstGeom>
        </p:spPr>
      </p:pic>
      <p:sp>
        <p:nvSpPr>
          <p:cNvPr id="17" name="Shape 10"/>
          <p:cNvSpPr/>
          <p:nvPr/>
        </p:nvSpPr>
        <p:spPr>
          <a:xfrm>
            <a:off x="6172200" y="3520440"/>
            <a:ext cx="822960" cy="822960"/>
          </a:xfrm>
          <a:prstGeom prst="ellipse">
            <a:avLst/>
          </a:prstGeom>
          <a:solidFill>
            <a:srgbClr val="E08A00">
              <a:alpha val="82000"/>
            </a:srgbClr>
          </a:solidFill>
          <a:ln w="10160">
            <a:solidFill>
              <a:srgbClr val="FFFFFF"/>
            </a:solidFill>
            <a:prstDash val="solid"/>
          </a:ln>
        </p:spPr>
      </p:sp>
      <p:pic>
        <p:nvPicPr>
          <p:cNvPr id="18" name="Image 5" descr="preencoded.png">    </p:cNvPr>
          <p:cNvPicPr>
            <a:picLocks noChangeAspect="1"/>
          </p:cNvPicPr>
          <p:nvPr/>
        </p:nvPicPr>
        <p:blipFill>
          <a:blip r:embed="rId6"/>
          <a:stretch>
            <a:fillRect/>
          </a:stretch>
        </p:blipFill>
        <p:spPr>
          <a:xfrm>
            <a:off x="6309360" y="3657600"/>
            <a:ext cx="548640" cy="548640"/>
          </a:xfrm>
          <a:prstGeom prst="rect">
            <a:avLst/>
          </a:prstGeom>
        </p:spPr>
      </p:pic>
      <p:sp>
        <p:nvSpPr>
          <p:cNvPr id="19" name="Rectangle 1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10"/>
          <a:stretch>
            <a:fillRect/>
          </a:stretch>
        </p:blipFill>
        <p:spPr>
          <a:xfrm>
            <a:off x="7562088" y="100584"/>
            <a:ext cx="566928" cy="347472"/>
          </a:xfrm>
          <a:prstGeom prst="rect">
            <a:avLst/>
          </a:prstGeom>
        </p:spPr>
      </p:pic>
      <p:pic>
        <p:nvPicPr>
          <p:cNvPr id="21" name="Picture 20" descr="image.png"/>
          <p:cNvPicPr>
            <a:picLocks noChangeAspect="1"/>
          </p:cNvPicPr>
          <p:nvPr/>
        </p:nvPicPr>
        <p:blipFill>
          <a:blip r:embed="rId9"/>
          <a:stretch>
            <a:fillRect/>
          </a:stretch>
        </p:blipFill>
        <p:spPr>
          <a:xfrm>
            <a:off x="8174736" y="100584"/>
            <a:ext cx="658368" cy="347472"/>
          </a:xfrm>
          <a:prstGeom prst="rect">
            <a:avLst/>
          </a:prstGeom>
        </p:spPr>
      </p:pic>
      <p:sp>
        <p:nvSpPr>
          <p:cNvPr id="22" name="Rectangle 2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83348F"/>
          </a:solidFill>
          <a:ln w="12700">
            <a:solidFill>
              <a:srgbClr val="83348F"/>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The Law</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Work at Height Regulations 2005: What They Require</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sp>
      <p:sp>
        <p:nvSpPr>
          <p:cNvPr id="10" name="Text 7"/>
          <p:cNvSpPr/>
          <p:nvPr/>
        </p:nvSpPr>
        <p:spPr>
          <a:xfrm>
            <a:off x="347472" y="1353312"/>
            <a:ext cx="8449056" cy="502920"/>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The Work at Height Regulations 2005 apply wherever there is a risk of a fall liable to cause personal injury. This is not limited to rooftops or scaffolding. It includes stepladders, mezzanine floors, loading bays, pits, and any position from which a person could fall and be injured.</a:t>
            </a:r>
            <a:endParaRPr lang="en-US" sz="1250" dirty="0"/>
          </a:p>
        </p:txBody>
      </p:sp>
      <p:sp>
        <p:nvSpPr>
          <p:cNvPr id="11" name="Shape 8"/>
          <p:cNvSpPr/>
          <p:nvPr/>
        </p:nvSpPr>
        <p:spPr>
          <a:xfrm>
            <a:off x="347472" y="1938528"/>
            <a:ext cx="8449056" cy="329184"/>
          </a:xfrm>
          <a:prstGeom prst="rect">
            <a:avLst/>
          </a:prstGeom>
          <a:solidFill>
            <a:srgbClr val="83348F"/>
          </a:solidFill>
          <a:ln w="12700">
            <a:solidFill>
              <a:srgbClr val="83348F"/>
            </a:solidFill>
            <a:prstDash val="solid"/>
          </a:ln>
        </p:spPr>
      </p:sp>
      <p:sp>
        <p:nvSpPr>
          <p:cNvPr id="12" name="Text 9"/>
          <p:cNvSpPr/>
          <p:nvPr/>
        </p:nvSpPr>
        <p:spPr>
          <a:xfrm>
            <a:off x="457200" y="1956816"/>
            <a:ext cx="8266176" cy="27432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The Three Core Requirements</a:t>
            </a:r>
            <a:endParaRPr lang="en-US" sz="1150" dirty="0"/>
          </a:p>
        </p:txBody>
      </p:sp>
      <p:sp>
        <p:nvSpPr>
          <p:cNvPr id="13" name="Shape 10"/>
          <p:cNvSpPr/>
          <p:nvPr/>
        </p:nvSpPr>
        <p:spPr>
          <a:xfrm>
            <a:off x="347472" y="2267712"/>
            <a:ext cx="8449056" cy="1261872"/>
          </a:xfrm>
          <a:prstGeom prst="rect">
            <a:avLst/>
          </a:prstGeom>
          <a:solidFill>
            <a:srgbClr val="F5EEF8"/>
          </a:solidFill>
          <a:ln w="8890">
            <a:solidFill>
              <a:srgbClr val="CCCCCC"/>
            </a:solidFill>
            <a:prstDash val="solid"/>
          </a:ln>
        </p:spPr>
      </p:sp>
      <p:sp>
        <p:nvSpPr>
          <p:cNvPr id="14" name="Shape 11"/>
          <p:cNvSpPr/>
          <p:nvPr/>
        </p:nvSpPr>
        <p:spPr>
          <a:xfrm>
            <a:off x="475488" y="2414016"/>
            <a:ext cx="128016" cy="128016"/>
          </a:xfrm>
          <a:prstGeom prst="ellipse">
            <a:avLst/>
          </a:prstGeom>
          <a:solidFill>
            <a:srgbClr val="83348F"/>
          </a:solidFill>
          <a:ln w="12700">
            <a:solidFill>
              <a:srgbClr val="83348F"/>
            </a:solidFill>
            <a:prstDash val="solid"/>
          </a:ln>
        </p:spPr>
      </p:sp>
      <p:sp>
        <p:nvSpPr>
          <p:cNvPr id="15" name="Text 12"/>
          <p:cNvSpPr/>
          <p:nvPr/>
        </p:nvSpPr>
        <p:spPr>
          <a:xfrm>
            <a:off x="676656" y="2377440"/>
            <a:ext cx="8010144" cy="329184"/>
          </a:xfrm>
          <a:prstGeom prst="rect">
            <a:avLst/>
          </a:prstGeom>
          <a:noFill/>
          <a:ln/>
        </p:spPr>
        <p:txBody>
          <a:bodyPr wrap="square" lIns="0" tIns="0" rIns="0" bIns="0" rtlCol="0" anchor="ctr"/>
          <a:lstStyle/>
          <a:p>
            <a:pPr indent="0" marL="0">
              <a:buNone/>
            </a:pPr>
            <a:r>
              <a:rPr lang="en-US" sz="1150" dirty="0">
                <a:solidFill>
                  <a:srgbClr val="5B595A"/>
                </a:solidFill>
                <a:latin typeface="Arial" pitchFamily="34" charset="0"/>
                <a:ea typeface="Arial" pitchFamily="34" charset="-122"/>
                <a:cs typeface="Arial" pitchFamily="34" charset="-120"/>
              </a:rPr>
              <a:t>1. AVOID — Do not work at height if it is reasonably practicable to carry out the work safely from the ground</a:t>
            </a:r>
            <a:endParaRPr lang="en-US" sz="1150" dirty="0"/>
          </a:p>
        </p:txBody>
      </p:sp>
      <p:sp>
        <p:nvSpPr>
          <p:cNvPr id="16" name="Shape 13"/>
          <p:cNvSpPr/>
          <p:nvPr/>
        </p:nvSpPr>
        <p:spPr>
          <a:xfrm>
            <a:off x="475488" y="2779776"/>
            <a:ext cx="128016" cy="128016"/>
          </a:xfrm>
          <a:prstGeom prst="ellipse">
            <a:avLst/>
          </a:prstGeom>
          <a:solidFill>
            <a:srgbClr val="83348F"/>
          </a:solidFill>
          <a:ln w="12700">
            <a:solidFill>
              <a:srgbClr val="83348F"/>
            </a:solidFill>
            <a:prstDash val="solid"/>
          </a:ln>
        </p:spPr>
      </p:sp>
      <p:sp>
        <p:nvSpPr>
          <p:cNvPr id="17" name="Text 14"/>
          <p:cNvSpPr/>
          <p:nvPr/>
        </p:nvSpPr>
        <p:spPr>
          <a:xfrm>
            <a:off x="676656" y="2743200"/>
            <a:ext cx="8010144" cy="329184"/>
          </a:xfrm>
          <a:prstGeom prst="rect">
            <a:avLst/>
          </a:prstGeom>
          <a:noFill/>
          <a:ln/>
        </p:spPr>
        <p:txBody>
          <a:bodyPr wrap="square" lIns="0" tIns="0" rIns="0" bIns="0" rtlCol="0" anchor="ctr"/>
          <a:lstStyle/>
          <a:p>
            <a:pPr indent="0" marL="0">
              <a:buNone/>
            </a:pPr>
            <a:r>
              <a:rPr lang="en-US" sz="1150" dirty="0">
                <a:solidFill>
                  <a:srgbClr val="5B595A"/>
                </a:solidFill>
                <a:latin typeface="Arial" pitchFamily="34" charset="0"/>
                <a:ea typeface="Arial" pitchFamily="34" charset="-122"/>
                <a:cs typeface="Arial" pitchFamily="34" charset="-120"/>
              </a:rPr>
              <a:t>2. PREVENT — If working at height is necessary, prevent any person falling using collective measures such as guardrails and platforms first</a:t>
            </a:r>
            <a:endParaRPr lang="en-US" sz="1150" dirty="0"/>
          </a:p>
        </p:txBody>
      </p:sp>
      <p:sp>
        <p:nvSpPr>
          <p:cNvPr id="18" name="Shape 15"/>
          <p:cNvSpPr/>
          <p:nvPr/>
        </p:nvSpPr>
        <p:spPr>
          <a:xfrm>
            <a:off x="475488" y="3145536"/>
            <a:ext cx="128016" cy="128016"/>
          </a:xfrm>
          <a:prstGeom prst="ellipse">
            <a:avLst/>
          </a:prstGeom>
          <a:solidFill>
            <a:srgbClr val="83348F"/>
          </a:solidFill>
          <a:ln w="12700">
            <a:solidFill>
              <a:srgbClr val="83348F"/>
            </a:solidFill>
            <a:prstDash val="solid"/>
          </a:ln>
        </p:spPr>
      </p:sp>
      <p:sp>
        <p:nvSpPr>
          <p:cNvPr id="19" name="Text 16"/>
          <p:cNvSpPr/>
          <p:nvPr/>
        </p:nvSpPr>
        <p:spPr>
          <a:xfrm>
            <a:off x="676656" y="3108960"/>
            <a:ext cx="8010144" cy="329184"/>
          </a:xfrm>
          <a:prstGeom prst="rect">
            <a:avLst/>
          </a:prstGeom>
          <a:noFill/>
          <a:ln/>
        </p:spPr>
        <p:txBody>
          <a:bodyPr wrap="square" lIns="0" tIns="0" rIns="0" bIns="0" rtlCol="0" anchor="ctr"/>
          <a:lstStyle/>
          <a:p>
            <a:pPr indent="0" marL="0">
              <a:buNone/>
            </a:pPr>
            <a:r>
              <a:rPr lang="en-US" sz="1150" dirty="0">
                <a:solidFill>
                  <a:srgbClr val="5B595A"/>
                </a:solidFill>
                <a:latin typeface="Arial" pitchFamily="34" charset="0"/>
                <a:ea typeface="Arial" pitchFamily="34" charset="-122"/>
                <a:cs typeface="Arial" pitchFamily="34" charset="-120"/>
              </a:rPr>
              <a:t>3. MITIGATE — If the risk of falling cannot be eliminated, minimise the consequences using fall arrest systems, safety nets, or other mitigating measures</a:t>
            </a:r>
            <a:endParaRPr lang="en-US" sz="1150" dirty="0"/>
          </a:p>
        </p:txBody>
      </p:sp>
      <p:sp>
        <p:nvSpPr>
          <p:cNvPr id="20" name="Shape 17"/>
          <p:cNvSpPr/>
          <p:nvPr/>
        </p:nvSpPr>
        <p:spPr>
          <a:xfrm>
            <a:off x="347472" y="3364992"/>
            <a:ext cx="8449056" cy="566928"/>
          </a:xfrm>
          <a:prstGeom prst="roundRect">
            <a:avLst>
              <a:gd name="adj" fmla="val 11290"/>
            </a:avLst>
          </a:prstGeom>
          <a:solidFill>
            <a:srgbClr val="F5EEF8"/>
          </a:solidFill>
          <a:ln w="10160">
            <a:solidFill>
              <a:srgbClr val="83348F"/>
            </a:solidFill>
            <a:prstDash val="solid"/>
          </a:ln>
        </p:spPr>
      </p:sp>
      <p:sp>
        <p:nvSpPr>
          <p:cNvPr id="21" name="Text 18"/>
          <p:cNvSpPr/>
          <p:nvPr/>
        </p:nvSpPr>
        <p:spPr>
          <a:xfrm>
            <a:off x="475488" y="3419856"/>
            <a:ext cx="1645920" cy="219456"/>
          </a:xfrm>
          <a:prstGeom prst="rect">
            <a:avLst/>
          </a:prstGeom>
          <a:noFill/>
          <a:ln/>
        </p:spPr>
        <p:txBody>
          <a:bodyPr wrap="square" lIns="0" tIns="0" rIns="0" bIns="0" rtlCol="0" anchor="ctr"/>
          <a:lstStyle/>
          <a:p>
            <a:pPr indent="0" marL="0">
              <a:buNone/>
            </a:pPr>
            <a:r>
              <a:rPr lang="en-US" sz="1100" b="1" dirty="0">
                <a:solidFill>
                  <a:srgbClr val="83348F"/>
                </a:solidFill>
                <a:latin typeface="Arial" pitchFamily="34" charset="0"/>
                <a:ea typeface="Arial" pitchFamily="34" charset="-122"/>
                <a:cs typeface="Arial" pitchFamily="34" charset="-120"/>
              </a:rPr>
              <a:t>Employer duty</a:t>
            </a:r>
            <a:endParaRPr lang="en-US" sz="1100" dirty="0"/>
          </a:p>
        </p:txBody>
      </p:sp>
      <p:sp>
        <p:nvSpPr>
          <p:cNvPr id="22" name="Text 19"/>
          <p:cNvSpPr/>
          <p:nvPr/>
        </p:nvSpPr>
        <p:spPr>
          <a:xfrm>
            <a:off x="2121408" y="3419856"/>
            <a:ext cx="6601968" cy="438912"/>
          </a:xfrm>
          <a:prstGeom prst="rect">
            <a:avLst/>
          </a:prstGeom>
          <a:noFill/>
          <a:ln/>
        </p:spPr>
        <p:txBody>
          <a:bodyPr wrap="square" lIns="0" tIns="0" rIns="0" bIns="0" rtlCol="0" anchor="t"/>
          <a:lstStyle/>
          <a:p>
            <a:pPr indent="0" marL="0">
              <a:buNone/>
            </a:pPr>
            <a:r>
              <a:rPr lang="en-US" sz="1100" dirty="0">
                <a:solidFill>
                  <a:srgbClr val="5B595A"/>
                </a:solidFill>
                <a:latin typeface="Arial" pitchFamily="34" charset="0"/>
                <a:ea typeface="Arial" pitchFamily="34" charset="-122"/>
                <a:cs typeface="Arial" pitchFamily="34" charset="-120"/>
              </a:rPr>
              <a:t>Plan, organise, and carry out all work at height safely. Ensure work is only done by competent people. Ensure equipment is suitable, inspected, and properly maintained.</a:t>
            </a:r>
            <a:endParaRPr lang="en-US" sz="1100" dirty="0"/>
          </a:p>
        </p:txBody>
      </p:sp>
      <p:sp>
        <p:nvSpPr>
          <p:cNvPr id="23" name="Shape 20"/>
          <p:cNvSpPr/>
          <p:nvPr/>
        </p:nvSpPr>
        <p:spPr>
          <a:xfrm>
            <a:off x="347472" y="4023360"/>
            <a:ext cx="8449056" cy="566928"/>
          </a:xfrm>
          <a:prstGeom prst="roundRect">
            <a:avLst>
              <a:gd name="adj" fmla="val 11290"/>
            </a:avLst>
          </a:prstGeom>
          <a:solidFill>
            <a:srgbClr val="E6F4FB"/>
          </a:solidFill>
          <a:ln w="10160">
            <a:solidFill>
              <a:srgbClr val="009FE3"/>
            </a:solidFill>
            <a:prstDash val="solid"/>
          </a:ln>
        </p:spPr>
      </p:sp>
      <p:sp>
        <p:nvSpPr>
          <p:cNvPr id="24" name="Text 21"/>
          <p:cNvSpPr/>
          <p:nvPr/>
        </p:nvSpPr>
        <p:spPr>
          <a:xfrm>
            <a:off x="475488" y="4078224"/>
            <a:ext cx="1645920" cy="219456"/>
          </a:xfrm>
          <a:prstGeom prst="rect">
            <a:avLst/>
          </a:prstGeom>
          <a:noFill/>
          <a:ln/>
        </p:spPr>
        <p:txBody>
          <a:bodyPr wrap="square" lIns="0" tIns="0" rIns="0" bIns="0" rtlCol="0" anchor="ctr"/>
          <a:lstStyle/>
          <a:p>
            <a:pPr indent="0" marL="0">
              <a:buNone/>
            </a:pPr>
            <a:r>
              <a:rPr lang="en-US" sz="1100" b="1" dirty="0">
                <a:solidFill>
                  <a:srgbClr val="009FE3"/>
                </a:solidFill>
                <a:latin typeface="Arial" pitchFamily="34" charset="0"/>
                <a:ea typeface="Arial" pitchFamily="34" charset="-122"/>
                <a:cs typeface="Arial" pitchFamily="34" charset="-120"/>
              </a:rPr>
              <a:t>Employee duty</a:t>
            </a:r>
            <a:endParaRPr lang="en-US" sz="1100" dirty="0"/>
          </a:p>
        </p:txBody>
      </p:sp>
      <p:sp>
        <p:nvSpPr>
          <p:cNvPr id="25" name="Text 22"/>
          <p:cNvSpPr/>
          <p:nvPr/>
        </p:nvSpPr>
        <p:spPr>
          <a:xfrm>
            <a:off x="2121408" y="4078224"/>
            <a:ext cx="6601968" cy="438912"/>
          </a:xfrm>
          <a:prstGeom prst="rect">
            <a:avLst/>
          </a:prstGeom>
          <a:noFill/>
          <a:ln/>
        </p:spPr>
        <p:txBody>
          <a:bodyPr wrap="square" lIns="0" tIns="0" rIns="0" bIns="0" rtlCol="0" anchor="t"/>
          <a:lstStyle/>
          <a:p>
            <a:pPr indent="0" marL="0">
              <a:buNone/>
            </a:pPr>
            <a:r>
              <a:rPr lang="en-US" sz="1100" dirty="0">
                <a:solidFill>
                  <a:srgbClr val="5B595A"/>
                </a:solidFill>
                <a:latin typeface="Arial" pitchFamily="34" charset="0"/>
                <a:ea typeface="Arial" pitchFamily="34" charset="-122"/>
                <a:cs typeface="Arial" pitchFamily="34" charset="-120"/>
              </a:rPr>
              <a:t>Use any equipment or safety devices provided correctly. Report any safety concerns, defects, or incidents immediately. Do not work at height unless trained and authorised.</a:t>
            </a:r>
            <a:endParaRPr lang="en-US" sz="1100" dirty="0"/>
          </a:p>
        </p:txBody>
      </p:sp>
      <p:sp>
        <p:nvSpPr>
          <p:cNvPr id="26" name="Rectangle 25"/>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7562088" y="100584"/>
            <a:ext cx="566928" cy="347472"/>
          </a:xfrm>
          <a:prstGeom prst="rect">
            <a:avLst/>
          </a:prstGeom>
        </p:spPr>
      </p:pic>
      <p:pic>
        <p:nvPicPr>
          <p:cNvPr id="28" name="Picture 27" descr="image.png"/>
          <p:cNvPicPr>
            <a:picLocks noChangeAspect="1"/>
          </p:cNvPicPr>
          <p:nvPr/>
        </p:nvPicPr>
        <p:blipFill>
          <a:blip r:embed="rId4"/>
          <a:stretch>
            <a:fillRect/>
          </a:stretch>
        </p:blipFill>
        <p:spPr>
          <a:xfrm>
            <a:off x="8174736" y="100584"/>
            <a:ext cx="658368" cy="347472"/>
          </a:xfrm>
          <a:prstGeom prst="rect">
            <a:avLst/>
          </a:prstGeom>
        </p:spPr>
      </p:pic>
      <p:sp>
        <p:nvSpPr>
          <p:cNvPr id="29" name="Rectangle 28"/>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83348F"/>
          </a:solidFill>
          <a:ln w="12700">
            <a:solidFill>
              <a:srgbClr val="83348F"/>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Control Hierarchy</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Selecting the Right Equipment: The Hierarchy</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sp>
      <p:sp>
        <p:nvSpPr>
          <p:cNvPr id="10" name="Text 7"/>
          <p:cNvSpPr/>
          <p:nvPr/>
        </p:nvSpPr>
        <p:spPr>
          <a:xfrm>
            <a:off x="347472" y="1353312"/>
            <a:ext cx="8449056" cy="438912"/>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The Regulations specify a hierarchy for work at height. You must work down this hierarchy — using the safest option that is practicable for the task. You cannot go straight to a ladder simply because it is convenient.</a:t>
            </a:r>
            <a:endParaRPr lang="en-US" sz="1250" dirty="0"/>
          </a:p>
        </p:txBody>
      </p:sp>
      <p:sp>
        <p:nvSpPr>
          <p:cNvPr id="11" name="Shape 8"/>
          <p:cNvSpPr/>
          <p:nvPr/>
        </p:nvSpPr>
        <p:spPr>
          <a:xfrm>
            <a:off x="347472" y="1865376"/>
            <a:ext cx="8449056" cy="548640"/>
          </a:xfrm>
          <a:prstGeom prst="rect">
            <a:avLst/>
          </a:prstGeom>
          <a:solidFill>
            <a:srgbClr val="1A5E2A"/>
          </a:solidFill>
          <a:ln w="12700">
            <a:solidFill>
              <a:srgbClr val="1A5E2A"/>
            </a:solidFill>
            <a:prstDash val="solid"/>
          </a:ln>
        </p:spPr>
      </p:sp>
      <p:sp>
        <p:nvSpPr>
          <p:cNvPr id="12" name="Text 9"/>
          <p:cNvSpPr/>
          <p:nvPr/>
        </p:nvSpPr>
        <p:spPr>
          <a:xfrm>
            <a:off x="457200" y="1883664"/>
            <a:ext cx="2743200" cy="51206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1. Collective prevention  |  Most Effective</a:t>
            </a:r>
            <a:endParaRPr lang="en-US" sz="1000" dirty="0"/>
          </a:p>
        </p:txBody>
      </p:sp>
      <p:sp>
        <p:nvSpPr>
          <p:cNvPr id="13" name="Text 10"/>
          <p:cNvSpPr/>
          <p:nvPr/>
        </p:nvSpPr>
        <p:spPr>
          <a:xfrm>
            <a:off x="3255264" y="1883664"/>
            <a:ext cx="5385816" cy="51206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Scaffold, work platform, MEWP with edge protection. The working area is made safe for everyone. No individual action required.</a:t>
            </a:r>
            <a:endParaRPr lang="en-US" sz="1050" dirty="0"/>
          </a:p>
        </p:txBody>
      </p:sp>
      <p:sp>
        <p:nvSpPr>
          <p:cNvPr id="14" name="Shape 11"/>
          <p:cNvSpPr/>
          <p:nvPr/>
        </p:nvSpPr>
        <p:spPr>
          <a:xfrm>
            <a:off x="548640" y="2487168"/>
            <a:ext cx="8046720" cy="548640"/>
          </a:xfrm>
          <a:prstGeom prst="rect">
            <a:avLst/>
          </a:prstGeom>
          <a:solidFill>
            <a:srgbClr val="2E8B57"/>
          </a:solidFill>
          <a:ln w="12700">
            <a:solidFill>
              <a:srgbClr val="2E8B57"/>
            </a:solidFill>
            <a:prstDash val="solid"/>
          </a:ln>
        </p:spPr>
      </p:sp>
      <p:sp>
        <p:nvSpPr>
          <p:cNvPr id="15" name="Text 12"/>
          <p:cNvSpPr/>
          <p:nvPr/>
        </p:nvSpPr>
        <p:spPr>
          <a:xfrm>
            <a:off x="658368" y="2505456"/>
            <a:ext cx="2743200" cy="51206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2. Collective fall arrest</a:t>
            </a:r>
            <a:endParaRPr lang="en-US" sz="1000" dirty="0"/>
          </a:p>
        </p:txBody>
      </p:sp>
      <p:sp>
        <p:nvSpPr>
          <p:cNvPr id="16" name="Text 13"/>
          <p:cNvSpPr/>
          <p:nvPr/>
        </p:nvSpPr>
        <p:spPr>
          <a:xfrm>
            <a:off x="3456432" y="2505456"/>
            <a:ext cx="4983480" cy="51206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Safety nets, airbags, or other systems that catch a person if they fall. Reduces severity of fall but does not prevent it.</a:t>
            </a:r>
            <a:endParaRPr lang="en-US" sz="1050" dirty="0"/>
          </a:p>
        </p:txBody>
      </p:sp>
      <p:sp>
        <p:nvSpPr>
          <p:cNvPr id="17" name="Shape 14"/>
          <p:cNvSpPr/>
          <p:nvPr/>
        </p:nvSpPr>
        <p:spPr>
          <a:xfrm>
            <a:off x="749808" y="3108960"/>
            <a:ext cx="7644384" cy="548640"/>
          </a:xfrm>
          <a:prstGeom prst="rect">
            <a:avLst/>
          </a:prstGeom>
          <a:solidFill>
            <a:srgbClr val="006FAA"/>
          </a:solidFill>
          <a:ln w="12700">
            <a:solidFill>
              <a:srgbClr val="006FAA"/>
            </a:solidFill>
            <a:prstDash val="solid"/>
          </a:ln>
        </p:spPr>
      </p:sp>
      <p:sp>
        <p:nvSpPr>
          <p:cNvPr id="18" name="Text 15"/>
          <p:cNvSpPr/>
          <p:nvPr/>
        </p:nvSpPr>
        <p:spPr>
          <a:xfrm>
            <a:off x="859536" y="3127248"/>
            <a:ext cx="2743200" cy="51206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3. Personal fall restraint</a:t>
            </a:r>
            <a:endParaRPr lang="en-US" sz="1000" dirty="0"/>
          </a:p>
        </p:txBody>
      </p:sp>
      <p:sp>
        <p:nvSpPr>
          <p:cNvPr id="19" name="Text 16"/>
          <p:cNvSpPr/>
          <p:nvPr/>
        </p:nvSpPr>
        <p:spPr>
          <a:xfrm>
            <a:off x="3657600" y="3127248"/>
            <a:ext cx="4581144" cy="51206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Personal fall restraint (harness and lanyard) that prevents the wearer reaching the fall hazard. Must be anchored correctly.</a:t>
            </a:r>
            <a:endParaRPr lang="en-US" sz="1050" dirty="0"/>
          </a:p>
        </p:txBody>
      </p:sp>
      <p:sp>
        <p:nvSpPr>
          <p:cNvPr id="20" name="Shape 17"/>
          <p:cNvSpPr/>
          <p:nvPr/>
        </p:nvSpPr>
        <p:spPr>
          <a:xfrm>
            <a:off x="950976" y="3730752"/>
            <a:ext cx="7242048" cy="548640"/>
          </a:xfrm>
          <a:prstGeom prst="rect">
            <a:avLst/>
          </a:prstGeom>
          <a:solidFill>
            <a:srgbClr val="E08A00"/>
          </a:solidFill>
          <a:ln w="12700">
            <a:solidFill>
              <a:srgbClr val="E08A00"/>
            </a:solidFill>
            <a:prstDash val="solid"/>
          </a:ln>
        </p:spPr>
      </p:sp>
      <p:sp>
        <p:nvSpPr>
          <p:cNvPr id="21" name="Text 18"/>
          <p:cNvSpPr/>
          <p:nvPr/>
        </p:nvSpPr>
        <p:spPr>
          <a:xfrm>
            <a:off x="1060704" y="3749040"/>
            <a:ext cx="2743200" cy="51206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4. Personal fall arrest</a:t>
            </a:r>
            <a:endParaRPr lang="en-US" sz="1000" dirty="0"/>
          </a:p>
        </p:txBody>
      </p:sp>
      <p:sp>
        <p:nvSpPr>
          <p:cNvPr id="22" name="Text 19"/>
          <p:cNvSpPr/>
          <p:nvPr/>
        </p:nvSpPr>
        <p:spPr>
          <a:xfrm>
            <a:off x="3858768" y="3749040"/>
            <a:ext cx="4178808" cy="51206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Arrest system (self-retracting lifeline, energy-absorbing lanyard) that stops a fall that has occurred. Requires rescue plan.</a:t>
            </a:r>
            <a:endParaRPr lang="en-US" sz="1050" dirty="0"/>
          </a:p>
        </p:txBody>
      </p:sp>
      <p:sp>
        <p:nvSpPr>
          <p:cNvPr id="23" name="Shape 20"/>
          <p:cNvSpPr/>
          <p:nvPr/>
        </p:nvSpPr>
        <p:spPr>
          <a:xfrm>
            <a:off x="1152144" y="4352544"/>
            <a:ext cx="6839712" cy="548640"/>
          </a:xfrm>
          <a:prstGeom prst="rect">
            <a:avLst/>
          </a:prstGeom>
          <a:solidFill>
            <a:srgbClr val="C0392B"/>
          </a:solidFill>
          <a:ln w="12700">
            <a:solidFill>
              <a:srgbClr val="C0392B"/>
            </a:solidFill>
            <a:prstDash val="solid"/>
          </a:ln>
        </p:spPr>
      </p:sp>
      <p:sp>
        <p:nvSpPr>
          <p:cNvPr id="24" name="Text 21"/>
          <p:cNvSpPr/>
          <p:nvPr/>
        </p:nvSpPr>
        <p:spPr>
          <a:xfrm>
            <a:off x="1261872" y="4370832"/>
            <a:ext cx="2743200" cy="51206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5. Ladders and stepladders  |  Least Effective</a:t>
            </a:r>
            <a:endParaRPr lang="en-US" sz="1000" dirty="0"/>
          </a:p>
        </p:txBody>
      </p:sp>
      <p:sp>
        <p:nvSpPr>
          <p:cNvPr id="25" name="Text 22"/>
          <p:cNvSpPr/>
          <p:nvPr/>
        </p:nvSpPr>
        <p:spPr>
          <a:xfrm>
            <a:off x="4059936" y="4370832"/>
            <a:ext cx="3776472" cy="512064"/>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Only acceptable for low-risk, short-duration work where other equipment is not reasonably practicable. Subject to strict conditions.</a:t>
            </a:r>
            <a:endParaRPr lang="en-US" sz="1050" dirty="0"/>
          </a:p>
        </p:txBody>
      </p:sp>
      <p:sp>
        <p:nvSpPr>
          <p:cNvPr id="26" name="Rectangle 25"/>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7562088" y="100584"/>
            <a:ext cx="566928" cy="347472"/>
          </a:xfrm>
          <a:prstGeom prst="rect">
            <a:avLst/>
          </a:prstGeom>
        </p:spPr>
      </p:pic>
      <p:pic>
        <p:nvPicPr>
          <p:cNvPr id="28" name="Picture 27" descr="image.png"/>
          <p:cNvPicPr>
            <a:picLocks noChangeAspect="1"/>
          </p:cNvPicPr>
          <p:nvPr/>
        </p:nvPicPr>
        <p:blipFill>
          <a:blip r:embed="rId4"/>
          <a:stretch>
            <a:fillRect/>
          </a:stretch>
        </p:blipFill>
        <p:spPr>
          <a:xfrm>
            <a:off x="8174736" y="100584"/>
            <a:ext cx="658368" cy="347472"/>
          </a:xfrm>
          <a:prstGeom prst="rect">
            <a:avLst/>
          </a:prstGeom>
        </p:spPr>
      </p:pic>
      <p:sp>
        <p:nvSpPr>
          <p:cNvPr id="29" name="Rectangle 28"/>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83348F"/>
          </a:solidFill>
          <a:ln w="12700">
            <a:solidFill>
              <a:srgbClr val="83348F"/>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Ladders</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Ladder Safety: The Conditions That Make It Acceptable</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sp>
      <p:sp>
        <p:nvSpPr>
          <p:cNvPr id="10" name="Text 7"/>
          <p:cNvSpPr/>
          <p:nvPr/>
        </p:nvSpPr>
        <p:spPr>
          <a:xfrm>
            <a:off x="347472" y="1353312"/>
            <a:ext cx="8449056" cy="475488"/>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Ladders and stepladders are only acceptable under the Regulations where other equipment is not reasonably practicable AND the risk assessment confirms the task is of short duration and low risk. Using a ladder must be a considered decision, not the default.</a:t>
            </a:r>
            <a:endParaRPr lang="en-US" sz="1250" dirty="0"/>
          </a:p>
        </p:txBody>
      </p:sp>
      <p:sp>
        <p:nvSpPr>
          <p:cNvPr id="11" name="Shape 8"/>
          <p:cNvSpPr/>
          <p:nvPr/>
        </p:nvSpPr>
        <p:spPr>
          <a:xfrm>
            <a:off x="347472" y="1389888"/>
            <a:ext cx="4133088" cy="329184"/>
          </a:xfrm>
          <a:prstGeom prst="rect">
            <a:avLst/>
          </a:prstGeom>
          <a:solidFill>
            <a:srgbClr val="2E8B57"/>
          </a:solidFill>
          <a:ln w="12700">
            <a:solidFill>
              <a:srgbClr val="2E8B57"/>
            </a:solidFill>
            <a:prstDash val="solid"/>
          </a:ln>
        </p:spPr>
      </p:sp>
      <p:sp>
        <p:nvSpPr>
          <p:cNvPr id="12" name="Text 9"/>
          <p:cNvSpPr/>
          <p:nvPr/>
        </p:nvSpPr>
        <p:spPr>
          <a:xfrm>
            <a:off x="438912" y="1426464"/>
            <a:ext cx="3968496" cy="25603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When Using a Ladder: Must-Do</a:t>
            </a:r>
            <a:endParaRPr lang="en-US" sz="1150" dirty="0"/>
          </a:p>
        </p:txBody>
      </p:sp>
      <p:sp>
        <p:nvSpPr>
          <p:cNvPr id="13" name="Shape 10"/>
          <p:cNvSpPr/>
          <p:nvPr/>
        </p:nvSpPr>
        <p:spPr>
          <a:xfrm>
            <a:off x="347472" y="1719072"/>
            <a:ext cx="4133088" cy="3200400"/>
          </a:xfrm>
          <a:prstGeom prst="rect">
            <a:avLst/>
          </a:prstGeom>
          <a:solidFill>
            <a:srgbClr val="E8F5EE"/>
          </a:solidFill>
          <a:ln w="8890">
            <a:solidFill>
              <a:srgbClr val="CCCCCC"/>
            </a:solidFill>
            <a:prstDash val="solid"/>
          </a:ln>
        </p:spPr>
      </p:sp>
      <p:sp>
        <p:nvSpPr>
          <p:cNvPr id="14" name="Shape 11"/>
          <p:cNvSpPr/>
          <p:nvPr/>
        </p:nvSpPr>
        <p:spPr>
          <a:xfrm>
            <a:off x="438912" y="1865376"/>
            <a:ext cx="137160" cy="137160"/>
          </a:xfrm>
          <a:prstGeom prst="ellipse">
            <a:avLst/>
          </a:prstGeom>
          <a:solidFill>
            <a:srgbClr val="2E8B57"/>
          </a:solidFill>
          <a:ln w="12700">
            <a:solidFill>
              <a:srgbClr val="2E8B57"/>
            </a:solidFill>
            <a:prstDash val="solid"/>
          </a:ln>
        </p:spPr>
      </p:sp>
      <p:sp>
        <p:nvSpPr>
          <p:cNvPr id="15" name="Text 12"/>
          <p:cNvSpPr/>
          <p:nvPr/>
        </p:nvSpPr>
        <p:spPr>
          <a:xfrm>
            <a:off x="640080" y="1828800"/>
            <a:ext cx="3749040" cy="36576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Inspect the ladder before every use — check rungs, stiles, feet, and locking mechanisms</a:t>
            </a:r>
            <a:endParaRPr lang="en-US" sz="1100" dirty="0"/>
          </a:p>
        </p:txBody>
      </p:sp>
      <p:sp>
        <p:nvSpPr>
          <p:cNvPr id="16" name="Shape 13"/>
          <p:cNvSpPr/>
          <p:nvPr/>
        </p:nvSpPr>
        <p:spPr>
          <a:xfrm>
            <a:off x="438912" y="2267712"/>
            <a:ext cx="137160" cy="137160"/>
          </a:xfrm>
          <a:prstGeom prst="ellipse">
            <a:avLst/>
          </a:prstGeom>
          <a:solidFill>
            <a:srgbClr val="2E8B57"/>
          </a:solidFill>
          <a:ln w="12700">
            <a:solidFill>
              <a:srgbClr val="2E8B57"/>
            </a:solidFill>
            <a:prstDash val="solid"/>
          </a:ln>
        </p:spPr>
      </p:sp>
      <p:sp>
        <p:nvSpPr>
          <p:cNvPr id="17" name="Text 14"/>
          <p:cNvSpPr/>
          <p:nvPr/>
        </p:nvSpPr>
        <p:spPr>
          <a:xfrm>
            <a:off x="640080" y="2231136"/>
            <a:ext cx="3749040" cy="36576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Set the ladder at the correct angle: 1 unit out for every 4 units up (75 degrees)</a:t>
            </a:r>
            <a:endParaRPr lang="en-US" sz="1100" dirty="0"/>
          </a:p>
        </p:txBody>
      </p:sp>
      <p:sp>
        <p:nvSpPr>
          <p:cNvPr id="18" name="Shape 15"/>
          <p:cNvSpPr/>
          <p:nvPr/>
        </p:nvSpPr>
        <p:spPr>
          <a:xfrm>
            <a:off x="438912" y="2670048"/>
            <a:ext cx="137160" cy="137160"/>
          </a:xfrm>
          <a:prstGeom prst="ellipse">
            <a:avLst/>
          </a:prstGeom>
          <a:solidFill>
            <a:srgbClr val="2E8B57"/>
          </a:solidFill>
          <a:ln w="12700">
            <a:solidFill>
              <a:srgbClr val="2E8B57"/>
            </a:solidFill>
            <a:prstDash val="solid"/>
          </a:ln>
        </p:spPr>
      </p:sp>
      <p:sp>
        <p:nvSpPr>
          <p:cNvPr id="19" name="Text 16"/>
          <p:cNvSpPr/>
          <p:nvPr/>
        </p:nvSpPr>
        <p:spPr>
          <a:xfrm>
            <a:off x="640080" y="2633472"/>
            <a:ext cx="3749040" cy="36576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Secure at the top against a firm surface, or have a competent person foot the ladder</a:t>
            </a:r>
            <a:endParaRPr lang="en-US" sz="1100" dirty="0"/>
          </a:p>
        </p:txBody>
      </p:sp>
      <p:sp>
        <p:nvSpPr>
          <p:cNvPr id="20" name="Shape 17"/>
          <p:cNvSpPr/>
          <p:nvPr/>
        </p:nvSpPr>
        <p:spPr>
          <a:xfrm>
            <a:off x="438912" y="3072384"/>
            <a:ext cx="137160" cy="137160"/>
          </a:xfrm>
          <a:prstGeom prst="ellipse">
            <a:avLst/>
          </a:prstGeom>
          <a:solidFill>
            <a:srgbClr val="2E8B57"/>
          </a:solidFill>
          <a:ln w="12700">
            <a:solidFill>
              <a:srgbClr val="2E8B57"/>
            </a:solidFill>
            <a:prstDash val="solid"/>
          </a:ln>
        </p:spPr>
      </p:sp>
      <p:sp>
        <p:nvSpPr>
          <p:cNvPr id="21" name="Text 18"/>
          <p:cNvSpPr/>
          <p:nvPr/>
        </p:nvSpPr>
        <p:spPr>
          <a:xfrm>
            <a:off x="640080" y="3035808"/>
            <a:ext cx="3749040" cy="36576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Maintain three points of contact at all times — two feet and one hand, or two hands and one foot</a:t>
            </a:r>
            <a:endParaRPr lang="en-US" sz="1100" dirty="0"/>
          </a:p>
        </p:txBody>
      </p:sp>
      <p:sp>
        <p:nvSpPr>
          <p:cNvPr id="22" name="Shape 19"/>
          <p:cNvSpPr/>
          <p:nvPr/>
        </p:nvSpPr>
        <p:spPr>
          <a:xfrm>
            <a:off x="438912" y="3474720"/>
            <a:ext cx="137160" cy="137160"/>
          </a:xfrm>
          <a:prstGeom prst="ellipse">
            <a:avLst/>
          </a:prstGeom>
          <a:solidFill>
            <a:srgbClr val="2E8B57"/>
          </a:solidFill>
          <a:ln w="12700">
            <a:solidFill>
              <a:srgbClr val="2E8B57"/>
            </a:solidFill>
            <a:prstDash val="solid"/>
          </a:ln>
        </p:spPr>
      </p:sp>
      <p:sp>
        <p:nvSpPr>
          <p:cNvPr id="23" name="Text 20"/>
          <p:cNvSpPr/>
          <p:nvPr/>
        </p:nvSpPr>
        <p:spPr>
          <a:xfrm>
            <a:off x="640080" y="3438144"/>
            <a:ext cx="3749040" cy="36576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Keep your body centred between the stiles. Do not overreach — move the ladder</a:t>
            </a:r>
            <a:endParaRPr lang="en-US" sz="1100" dirty="0"/>
          </a:p>
        </p:txBody>
      </p:sp>
      <p:sp>
        <p:nvSpPr>
          <p:cNvPr id="24" name="Shape 21"/>
          <p:cNvSpPr/>
          <p:nvPr/>
        </p:nvSpPr>
        <p:spPr>
          <a:xfrm>
            <a:off x="438912" y="3877056"/>
            <a:ext cx="137160" cy="137160"/>
          </a:xfrm>
          <a:prstGeom prst="ellipse">
            <a:avLst/>
          </a:prstGeom>
          <a:solidFill>
            <a:srgbClr val="2E8B57"/>
          </a:solidFill>
          <a:ln w="12700">
            <a:solidFill>
              <a:srgbClr val="2E8B57"/>
            </a:solidFill>
            <a:prstDash val="solid"/>
          </a:ln>
        </p:spPr>
      </p:sp>
      <p:sp>
        <p:nvSpPr>
          <p:cNvPr id="25" name="Text 22"/>
          <p:cNvSpPr/>
          <p:nvPr/>
        </p:nvSpPr>
        <p:spPr>
          <a:xfrm>
            <a:off x="640080" y="3840480"/>
            <a:ext cx="3749040" cy="36576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Ensure adequate footwear — no smooth-soled shoes, nothing wet or muddy</a:t>
            </a:r>
            <a:endParaRPr lang="en-US" sz="1100" dirty="0"/>
          </a:p>
        </p:txBody>
      </p:sp>
      <p:sp>
        <p:nvSpPr>
          <p:cNvPr id="26" name="Shape 23"/>
          <p:cNvSpPr/>
          <p:nvPr/>
        </p:nvSpPr>
        <p:spPr>
          <a:xfrm>
            <a:off x="4663440" y="1389888"/>
            <a:ext cx="4133088" cy="329184"/>
          </a:xfrm>
          <a:prstGeom prst="rect">
            <a:avLst/>
          </a:prstGeom>
          <a:solidFill>
            <a:srgbClr val="C0392B"/>
          </a:solidFill>
          <a:ln w="12700">
            <a:solidFill>
              <a:srgbClr val="C0392B"/>
            </a:solidFill>
            <a:prstDash val="solid"/>
          </a:ln>
        </p:spPr>
      </p:sp>
      <p:sp>
        <p:nvSpPr>
          <p:cNvPr id="27" name="Text 24"/>
          <p:cNvSpPr/>
          <p:nvPr/>
        </p:nvSpPr>
        <p:spPr>
          <a:xfrm>
            <a:off x="4754880" y="1426464"/>
            <a:ext cx="3968496" cy="25603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When Using a Ladder: Never Do</a:t>
            </a:r>
            <a:endParaRPr lang="en-US" sz="1150" dirty="0"/>
          </a:p>
        </p:txBody>
      </p:sp>
      <p:sp>
        <p:nvSpPr>
          <p:cNvPr id="28" name="Shape 25"/>
          <p:cNvSpPr/>
          <p:nvPr/>
        </p:nvSpPr>
        <p:spPr>
          <a:xfrm>
            <a:off x="4663440" y="1719072"/>
            <a:ext cx="4133088" cy="3200400"/>
          </a:xfrm>
          <a:prstGeom prst="rect">
            <a:avLst/>
          </a:prstGeom>
          <a:solidFill>
            <a:srgbClr val="FFF0EE"/>
          </a:solidFill>
          <a:ln w="8890">
            <a:solidFill>
              <a:srgbClr val="CCCCCC"/>
            </a:solidFill>
            <a:prstDash val="solid"/>
          </a:ln>
        </p:spPr>
      </p:sp>
      <p:sp>
        <p:nvSpPr>
          <p:cNvPr id="29" name="Shape 26"/>
          <p:cNvSpPr/>
          <p:nvPr/>
        </p:nvSpPr>
        <p:spPr>
          <a:xfrm>
            <a:off x="4754880" y="1865376"/>
            <a:ext cx="137160" cy="137160"/>
          </a:xfrm>
          <a:prstGeom prst="ellipse">
            <a:avLst/>
          </a:prstGeom>
          <a:solidFill>
            <a:srgbClr val="C0392B"/>
          </a:solidFill>
          <a:ln w="12700">
            <a:solidFill>
              <a:srgbClr val="C0392B"/>
            </a:solidFill>
            <a:prstDash val="solid"/>
          </a:ln>
        </p:spPr>
      </p:sp>
      <p:sp>
        <p:nvSpPr>
          <p:cNvPr id="30" name="Text 27"/>
          <p:cNvSpPr/>
          <p:nvPr/>
        </p:nvSpPr>
        <p:spPr>
          <a:xfrm>
            <a:off x="4956048" y="1828800"/>
            <a:ext cx="3749040" cy="36576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Never use a damaged or defective ladder. Remove from service, label, and report immediately</a:t>
            </a:r>
            <a:endParaRPr lang="en-US" sz="1100" dirty="0"/>
          </a:p>
        </p:txBody>
      </p:sp>
      <p:sp>
        <p:nvSpPr>
          <p:cNvPr id="31" name="Shape 28"/>
          <p:cNvSpPr/>
          <p:nvPr/>
        </p:nvSpPr>
        <p:spPr>
          <a:xfrm>
            <a:off x="4754880" y="2267712"/>
            <a:ext cx="137160" cy="137160"/>
          </a:xfrm>
          <a:prstGeom prst="ellipse">
            <a:avLst/>
          </a:prstGeom>
          <a:solidFill>
            <a:srgbClr val="C0392B"/>
          </a:solidFill>
          <a:ln w="12700">
            <a:solidFill>
              <a:srgbClr val="C0392B"/>
            </a:solidFill>
            <a:prstDash val="solid"/>
          </a:ln>
        </p:spPr>
      </p:sp>
      <p:sp>
        <p:nvSpPr>
          <p:cNvPr id="32" name="Text 29"/>
          <p:cNvSpPr/>
          <p:nvPr/>
        </p:nvSpPr>
        <p:spPr>
          <a:xfrm>
            <a:off x="4956048" y="2231136"/>
            <a:ext cx="3749040" cy="36576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Never lean a ladder against fragile, unstable, or unsecured surfaces</a:t>
            </a:r>
            <a:endParaRPr lang="en-US" sz="1100" dirty="0"/>
          </a:p>
        </p:txBody>
      </p:sp>
      <p:sp>
        <p:nvSpPr>
          <p:cNvPr id="33" name="Shape 30"/>
          <p:cNvSpPr/>
          <p:nvPr/>
        </p:nvSpPr>
        <p:spPr>
          <a:xfrm>
            <a:off x="4754880" y="2670048"/>
            <a:ext cx="137160" cy="137160"/>
          </a:xfrm>
          <a:prstGeom prst="ellipse">
            <a:avLst/>
          </a:prstGeom>
          <a:solidFill>
            <a:srgbClr val="C0392B"/>
          </a:solidFill>
          <a:ln w="12700">
            <a:solidFill>
              <a:srgbClr val="C0392B"/>
            </a:solidFill>
            <a:prstDash val="solid"/>
          </a:ln>
        </p:spPr>
      </p:sp>
      <p:sp>
        <p:nvSpPr>
          <p:cNvPr id="34" name="Text 31"/>
          <p:cNvSpPr/>
          <p:nvPr/>
        </p:nvSpPr>
        <p:spPr>
          <a:xfrm>
            <a:off x="4956048" y="2633472"/>
            <a:ext cx="3749040" cy="36576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Never use a stepladder for sustained work. If the task takes more than 30 minutes, use a platform</a:t>
            </a:r>
            <a:endParaRPr lang="en-US" sz="1100" dirty="0"/>
          </a:p>
        </p:txBody>
      </p:sp>
      <p:sp>
        <p:nvSpPr>
          <p:cNvPr id="35" name="Shape 32"/>
          <p:cNvSpPr/>
          <p:nvPr/>
        </p:nvSpPr>
        <p:spPr>
          <a:xfrm>
            <a:off x="4754880" y="3072384"/>
            <a:ext cx="137160" cy="137160"/>
          </a:xfrm>
          <a:prstGeom prst="ellipse">
            <a:avLst/>
          </a:prstGeom>
          <a:solidFill>
            <a:srgbClr val="C0392B"/>
          </a:solidFill>
          <a:ln w="12700">
            <a:solidFill>
              <a:srgbClr val="C0392B"/>
            </a:solidFill>
            <a:prstDash val="solid"/>
          </a:ln>
        </p:spPr>
      </p:sp>
      <p:sp>
        <p:nvSpPr>
          <p:cNvPr id="36" name="Text 33"/>
          <p:cNvSpPr/>
          <p:nvPr/>
        </p:nvSpPr>
        <p:spPr>
          <a:xfrm>
            <a:off x="4956048" y="3035808"/>
            <a:ext cx="3749040" cy="36576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Never carry loads that prevent maintaining three points of contact</a:t>
            </a:r>
            <a:endParaRPr lang="en-US" sz="1100" dirty="0"/>
          </a:p>
        </p:txBody>
      </p:sp>
      <p:sp>
        <p:nvSpPr>
          <p:cNvPr id="37" name="Shape 34"/>
          <p:cNvSpPr/>
          <p:nvPr/>
        </p:nvSpPr>
        <p:spPr>
          <a:xfrm>
            <a:off x="4754880" y="3474720"/>
            <a:ext cx="137160" cy="137160"/>
          </a:xfrm>
          <a:prstGeom prst="ellipse">
            <a:avLst/>
          </a:prstGeom>
          <a:solidFill>
            <a:srgbClr val="C0392B"/>
          </a:solidFill>
          <a:ln w="12700">
            <a:solidFill>
              <a:srgbClr val="C0392B"/>
            </a:solidFill>
            <a:prstDash val="solid"/>
          </a:ln>
        </p:spPr>
      </p:sp>
      <p:sp>
        <p:nvSpPr>
          <p:cNvPr id="38" name="Text 35"/>
          <p:cNvSpPr/>
          <p:nvPr/>
        </p:nvSpPr>
        <p:spPr>
          <a:xfrm>
            <a:off x="4956048" y="3438144"/>
            <a:ext cx="3749040" cy="36576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Never work from the top two rungs of a ladder or the top three steps of a stepladder</a:t>
            </a:r>
            <a:endParaRPr lang="en-US" sz="1100" dirty="0"/>
          </a:p>
        </p:txBody>
      </p:sp>
      <p:sp>
        <p:nvSpPr>
          <p:cNvPr id="39" name="Shape 36"/>
          <p:cNvSpPr/>
          <p:nvPr/>
        </p:nvSpPr>
        <p:spPr>
          <a:xfrm>
            <a:off x="4754880" y="3877056"/>
            <a:ext cx="137160" cy="137160"/>
          </a:xfrm>
          <a:prstGeom prst="ellipse">
            <a:avLst/>
          </a:prstGeom>
          <a:solidFill>
            <a:srgbClr val="C0392B"/>
          </a:solidFill>
          <a:ln w="12700">
            <a:solidFill>
              <a:srgbClr val="C0392B"/>
            </a:solidFill>
            <a:prstDash val="solid"/>
          </a:ln>
        </p:spPr>
      </p:sp>
      <p:sp>
        <p:nvSpPr>
          <p:cNvPr id="40" name="Text 37"/>
          <p:cNvSpPr/>
          <p:nvPr/>
        </p:nvSpPr>
        <p:spPr>
          <a:xfrm>
            <a:off x="4956048" y="3840480"/>
            <a:ext cx="3749040" cy="36576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Never allow a ladder to project less than 1 metre above the landing point unless an alternative handhold exists</a:t>
            </a:r>
            <a:endParaRPr lang="en-US" sz="1100" dirty="0"/>
          </a:p>
        </p:txBody>
      </p:sp>
      <p:sp>
        <p:nvSpPr>
          <p:cNvPr id="41" name="Rectangle 4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5"/>
          <a:stretch>
            <a:fillRect/>
          </a:stretch>
        </p:blipFill>
        <p:spPr>
          <a:xfrm>
            <a:off x="7562088" y="100584"/>
            <a:ext cx="566928" cy="347472"/>
          </a:xfrm>
          <a:prstGeom prst="rect">
            <a:avLst/>
          </a:prstGeom>
        </p:spPr>
      </p:pic>
      <p:pic>
        <p:nvPicPr>
          <p:cNvPr id="43" name="Picture 42" descr="image.png"/>
          <p:cNvPicPr>
            <a:picLocks noChangeAspect="1"/>
          </p:cNvPicPr>
          <p:nvPr/>
        </p:nvPicPr>
        <p:blipFill>
          <a:blip r:embed="rId4"/>
          <a:stretch>
            <a:fillRect/>
          </a:stretch>
        </p:blipFill>
        <p:spPr>
          <a:xfrm>
            <a:off x="8174736" y="100584"/>
            <a:ext cx="658368" cy="347472"/>
          </a:xfrm>
          <a:prstGeom prst="rect">
            <a:avLst/>
          </a:prstGeom>
        </p:spPr>
      </p:pic>
      <p:sp>
        <p:nvSpPr>
          <p:cNvPr id="44" name="Rectangle 4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83348F"/>
          </a:solidFill>
          <a:ln w="12700">
            <a:solidFill>
              <a:srgbClr val="83348F"/>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Equipment</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Scaffolding, MEWPs, and Edge Protection: Key Rules</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sp>
      <p:sp>
        <p:nvSpPr>
          <p:cNvPr id="10" name="Text 7"/>
          <p:cNvSpPr/>
          <p:nvPr/>
        </p:nvSpPr>
        <p:spPr>
          <a:xfrm>
            <a:off x="347472" y="1353312"/>
            <a:ext cx="8449056" cy="438912"/>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Collective prevention measures — scaffolding, mobile elevated work platforms (MEWPs), and fixed edge protection — provide the highest level of protection for working at height. Each has specific requirements that must be met.</a:t>
            </a:r>
            <a:endParaRPr lang="en-US" sz="1250" dirty="0"/>
          </a:p>
        </p:txBody>
      </p:sp>
      <p:sp>
        <p:nvSpPr>
          <p:cNvPr id="11" name="Shape 8"/>
          <p:cNvSpPr/>
          <p:nvPr/>
        </p:nvSpPr>
        <p:spPr>
          <a:xfrm>
            <a:off x="347472" y="1883664"/>
            <a:ext cx="8449056" cy="310896"/>
          </a:xfrm>
          <a:prstGeom prst="rect">
            <a:avLst/>
          </a:prstGeom>
          <a:solidFill>
            <a:srgbClr val="83348F"/>
          </a:solidFill>
          <a:ln w="12700">
            <a:solidFill>
              <a:srgbClr val="83348F"/>
            </a:solidFill>
            <a:prstDash val="solid"/>
          </a:ln>
        </p:spPr>
      </p:sp>
      <p:sp>
        <p:nvSpPr>
          <p:cNvPr id="12" name="Text 9"/>
          <p:cNvSpPr/>
          <p:nvPr/>
        </p:nvSpPr>
        <p:spPr>
          <a:xfrm>
            <a:off x="457200" y="1920240"/>
            <a:ext cx="8275320" cy="23774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Scaffold</a:t>
            </a:r>
            <a:endParaRPr lang="en-US" sz="1150" dirty="0"/>
          </a:p>
        </p:txBody>
      </p:sp>
      <p:sp>
        <p:nvSpPr>
          <p:cNvPr id="13" name="Shape 10"/>
          <p:cNvSpPr/>
          <p:nvPr/>
        </p:nvSpPr>
        <p:spPr>
          <a:xfrm>
            <a:off x="347472" y="2194560"/>
            <a:ext cx="8449056" cy="658368"/>
          </a:xfrm>
          <a:prstGeom prst="rect">
            <a:avLst/>
          </a:prstGeom>
          <a:solidFill>
            <a:srgbClr val="F8F8F8"/>
          </a:solidFill>
          <a:ln w="7620">
            <a:solidFill>
              <a:srgbClr val="CCCCCC"/>
            </a:solidFill>
            <a:prstDash val="solid"/>
          </a:ln>
        </p:spPr>
      </p:sp>
      <p:sp>
        <p:nvSpPr>
          <p:cNvPr id="14" name="Shape 11"/>
          <p:cNvSpPr/>
          <p:nvPr/>
        </p:nvSpPr>
        <p:spPr>
          <a:xfrm>
            <a:off x="438912" y="2286000"/>
            <a:ext cx="91440" cy="91440"/>
          </a:xfrm>
          <a:prstGeom prst="ellipse">
            <a:avLst/>
          </a:prstGeom>
          <a:solidFill>
            <a:srgbClr val="83348F"/>
          </a:solidFill>
          <a:ln w="12700">
            <a:solidFill>
              <a:srgbClr val="83348F"/>
            </a:solidFill>
            <a:prstDash val="solid"/>
          </a:ln>
        </p:spPr>
      </p:sp>
      <p:sp>
        <p:nvSpPr>
          <p:cNvPr id="15" name="Text 12"/>
          <p:cNvSpPr/>
          <p:nvPr/>
        </p:nvSpPr>
        <p:spPr>
          <a:xfrm>
            <a:off x="603504" y="2258568"/>
            <a:ext cx="8119872" cy="146304"/>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Must be designed, erected, altered, and dismantled by trained and competent persons (CISRS card for TG20 compliance in the UK)</a:t>
            </a:r>
            <a:endParaRPr lang="en-US" sz="950" dirty="0"/>
          </a:p>
        </p:txBody>
      </p:sp>
      <p:sp>
        <p:nvSpPr>
          <p:cNvPr id="16" name="Shape 13"/>
          <p:cNvSpPr/>
          <p:nvPr/>
        </p:nvSpPr>
        <p:spPr>
          <a:xfrm>
            <a:off x="438912" y="2450592"/>
            <a:ext cx="91440" cy="91440"/>
          </a:xfrm>
          <a:prstGeom prst="ellipse">
            <a:avLst/>
          </a:prstGeom>
          <a:solidFill>
            <a:srgbClr val="83348F"/>
          </a:solidFill>
          <a:ln w="12700">
            <a:solidFill>
              <a:srgbClr val="83348F"/>
            </a:solidFill>
            <a:prstDash val="solid"/>
          </a:ln>
        </p:spPr>
      </p:sp>
      <p:sp>
        <p:nvSpPr>
          <p:cNvPr id="17" name="Text 14"/>
          <p:cNvSpPr/>
          <p:nvPr/>
        </p:nvSpPr>
        <p:spPr>
          <a:xfrm>
            <a:off x="603504" y="2423160"/>
            <a:ext cx="8119872" cy="146304"/>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Must be inspected by a competent person before use, after any event likely to affect stability, and at least every 7 days</a:t>
            </a:r>
            <a:endParaRPr lang="en-US" sz="950" dirty="0"/>
          </a:p>
        </p:txBody>
      </p:sp>
      <p:sp>
        <p:nvSpPr>
          <p:cNvPr id="18" name="Shape 15"/>
          <p:cNvSpPr/>
          <p:nvPr/>
        </p:nvSpPr>
        <p:spPr>
          <a:xfrm>
            <a:off x="438912" y="2615184"/>
            <a:ext cx="91440" cy="91440"/>
          </a:xfrm>
          <a:prstGeom prst="ellipse">
            <a:avLst/>
          </a:prstGeom>
          <a:solidFill>
            <a:srgbClr val="83348F"/>
          </a:solidFill>
          <a:ln w="12700">
            <a:solidFill>
              <a:srgbClr val="83348F"/>
            </a:solidFill>
            <a:prstDash val="solid"/>
          </a:ln>
        </p:spPr>
      </p:sp>
      <p:sp>
        <p:nvSpPr>
          <p:cNvPr id="19" name="Text 16"/>
          <p:cNvSpPr/>
          <p:nvPr/>
        </p:nvSpPr>
        <p:spPr>
          <a:xfrm>
            <a:off x="603504" y="2587752"/>
            <a:ext cx="8119872" cy="146304"/>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Inspection record must be completed and retained. Tag system must show current inspection status</a:t>
            </a:r>
            <a:endParaRPr lang="en-US" sz="950" dirty="0"/>
          </a:p>
        </p:txBody>
      </p:sp>
      <p:sp>
        <p:nvSpPr>
          <p:cNvPr id="20" name="Shape 17"/>
          <p:cNvSpPr/>
          <p:nvPr/>
        </p:nvSpPr>
        <p:spPr>
          <a:xfrm>
            <a:off x="438912" y="2779776"/>
            <a:ext cx="91440" cy="91440"/>
          </a:xfrm>
          <a:prstGeom prst="ellipse">
            <a:avLst/>
          </a:prstGeom>
          <a:solidFill>
            <a:srgbClr val="83348F"/>
          </a:solidFill>
          <a:ln w="12700">
            <a:solidFill>
              <a:srgbClr val="83348F"/>
            </a:solidFill>
            <a:prstDash val="solid"/>
          </a:ln>
        </p:spPr>
      </p:sp>
      <p:sp>
        <p:nvSpPr>
          <p:cNvPr id="21" name="Text 18"/>
          <p:cNvSpPr/>
          <p:nvPr/>
        </p:nvSpPr>
        <p:spPr>
          <a:xfrm>
            <a:off x="603504" y="2752344"/>
            <a:ext cx="8119872" cy="146304"/>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Never overload scaffold boards with plant, equipment, or materials beyond the design load</a:t>
            </a:r>
            <a:endParaRPr lang="en-US" sz="950" dirty="0"/>
          </a:p>
        </p:txBody>
      </p:sp>
      <p:sp>
        <p:nvSpPr>
          <p:cNvPr id="22" name="Shape 19"/>
          <p:cNvSpPr/>
          <p:nvPr/>
        </p:nvSpPr>
        <p:spPr>
          <a:xfrm>
            <a:off x="347472" y="2907792"/>
            <a:ext cx="8449056" cy="310896"/>
          </a:xfrm>
          <a:prstGeom prst="rect">
            <a:avLst/>
          </a:prstGeom>
          <a:solidFill>
            <a:srgbClr val="009FE3"/>
          </a:solidFill>
          <a:ln w="12700">
            <a:solidFill>
              <a:srgbClr val="009FE3"/>
            </a:solidFill>
            <a:prstDash val="solid"/>
          </a:ln>
        </p:spPr>
      </p:sp>
      <p:sp>
        <p:nvSpPr>
          <p:cNvPr id="23" name="Text 20"/>
          <p:cNvSpPr/>
          <p:nvPr/>
        </p:nvSpPr>
        <p:spPr>
          <a:xfrm>
            <a:off x="457200" y="2944368"/>
            <a:ext cx="8275320" cy="23774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Mobile Elevated Work Platforms (MEWPs)</a:t>
            </a:r>
            <a:endParaRPr lang="en-US" sz="1150" dirty="0"/>
          </a:p>
        </p:txBody>
      </p:sp>
      <p:sp>
        <p:nvSpPr>
          <p:cNvPr id="24" name="Shape 21"/>
          <p:cNvSpPr/>
          <p:nvPr/>
        </p:nvSpPr>
        <p:spPr>
          <a:xfrm>
            <a:off x="347472" y="3218688"/>
            <a:ext cx="8449056" cy="658368"/>
          </a:xfrm>
          <a:prstGeom prst="rect">
            <a:avLst/>
          </a:prstGeom>
          <a:solidFill>
            <a:srgbClr val="F8F8F8"/>
          </a:solidFill>
          <a:ln w="7620">
            <a:solidFill>
              <a:srgbClr val="CCCCCC"/>
            </a:solidFill>
            <a:prstDash val="solid"/>
          </a:ln>
        </p:spPr>
      </p:sp>
      <p:sp>
        <p:nvSpPr>
          <p:cNvPr id="25" name="Shape 22"/>
          <p:cNvSpPr/>
          <p:nvPr/>
        </p:nvSpPr>
        <p:spPr>
          <a:xfrm>
            <a:off x="438912" y="3310128"/>
            <a:ext cx="91440" cy="91440"/>
          </a:xfrm>
          <a:prstGeom prst="ellipse">
            <a:avLst/>
          </a:prstGeom>
          <a:solidFill>
            <a:srgbClr val="009FE3"/>
          </a:solidFill>
          <a:ln w="12700">
            <a:solidFill>
              <a:srgbClr val="009FE3"/>
            </a:solidFill>
            <a:prstDash val="solid"/>
          </a:ln>
        </p:spPr>
      </p:sp>
      <p:sp>
        <p:nvSpPr>
          <p:cNvPr id="26" name="Text 23"/>
          <p:cNvSpPr/>
          <p:nvPr/>
        </p:nvSpPr>
        <p:spPr>
          <a:xfrm>
            <a:off x="603504" y="3282696"/>
            <a:ext cx="8119872" cy="146304"/>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Operators must hold a recognised MEWP operator certificate (IPAF or equivalent) for the class of machine</a:t>
            </a:r>
            <a:endParaRPr lang="en-US" sz="950" dirty="0"/>
          </a:p>
        </p:txBody>
      </p:sp>
      <p:sp>
        <p:nvSpPr>
          <p:cNvPr id="27" name="Shape 24"/>
          <p:cNvSpPr/>
          <p:nvPr/>
        </p:nvSpPr>
        <p:spPr>
          <a:xfrm>
            <a:off x="438912" y="3474720"/>
            <a:ext cx="91440" cy="91440"/>
          </a:xfrm>
          <a:prstGeom prst="ellipse">
            <a:avLst/>
          </a:prstGeom>
          <a:solidFill>
            <a:srgbClr val="009FE3"/>
          </a:solidFill>
          <a:ln w="12700">
            <a:solidFill>
              <a:srgbClr val="009FE3"/>
            </a:solidFill>
            <a:prstDash val="solid"/>
          </a:ln>
        </p:spPr>
      </p:sp>
      <p:sp>
        <p:nvSpPr>
          <p:cNvPr id="28" name="Text 25"/>
          <p:cNvSpPr/>
          <p:nvPr/>
        </p:nvSpPr>
        <p:spPr>
          <a:xfrm>
            <a:off x="603504" y="3447288"/>
            <a:ext cx="8119872" cy="146304"/>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Conduct a pre-use check before every operation. Complete the manufacturer's daily check record</a:t>
            </a:r>
            <a:endParaRPr lang="en-US" sz="950" dirty="0"/>
          </a:p>
        </p:txBody>
      </p:sp>
      <p:sp>
        <p:nvSpPr>
          <p:cNvPr id="29" name="Shape 26"/>
          <p:cNvSpPr/>
          <p:nvPr/>
        </p:nvSpPr>
        <p:spPr>
          <a:xfrm>
            <a:off x="438912" y="3639312"/>
            <a:ext cx="91440" cy="91440"/>
          </a:xfrm>
          <a:prstGeom prst="ellipse">
            <a:avLst/>
          </a:prstGeom>
          <a:solidFill>
            <a:srgbClr val="009FE3"/>
          </a:solidFill>
          <a:ln w="12700">
            <a:solidFill>
              <a:srgbClr val="009FE3"/>
            </a:solidFill>
            <a:prstDash val="solid"/>
          </a:ln>
        </p:spPr>
      </p:sp>
      <p:sp>
        <p:nvSpPr>
          <p:cNvPr id="30" name="Text 27"/>
          <p:cNvSpPr/>
          <p:nvPr/>
        </p:nvSpPr>
        <p:spPr>
          <a:xfrm>
            <a:off x="603504" y="3611880"/>
            <a:ext cx="8119872" cy="146304"/>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Always wear and anchor a harness in scissor lifts (working platform) and boom lifts (harness mandatory)</a:t>
            </a:r>
            <a:endParaRPr lang="en-US" sz="950" dirty="0"/>
          </a:p>
        </p:txBody>
      </p:sp>
      <p:sp>
        <p:nvSpPr>
          <p:cNvPr id="31" name="Shape 28"/>
          <p:cNvSpPr/>
          <p:nvPr/>
        </p:nvSpPr>
        <p:spPr>
          <a:xfrm>
            <a:off x="438912" y="3803904"/>
            <a:ext cx="91440" cy="91440"/>
          </a:xfrm>
          <a:prstGeom prst="ellipse">
            <a:avLst/>
          </a:prstGeom>
          <a:solidFill>
            <a:srgbClr val="009FE3"/>
          </a:solidFill>
          <a:ln w="12700">
            <a:solidFill>
              <a:srgbClr val="009FE3"/>
            </a:solidFill>
            <a:prstDash val="solid"/>
          </a:ln>
        </p:spPr>
      </p:sp>
      <p:sp>
        <p:nvSpPr>
          <p:cNvPr id="32" name="Text 29"/>
          <p:cNvSpPr/>
          <p:nvPr/>
        </p:nvSpPr>
        <p:spPr>
          <a:xfrm>
            <a:off x="603504" y="3776472"/>
            <a:ext cx="8119872" cy="146304"/>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Never outreach beyond the platform edge. Never use MEWPs in conditions that exceed wind speed limits</a:t>
            </a:r>
            <a:endParaRPr lang="en-US" sz="950" dirty="0"/>
          </a:p>
        </p:txBody>
      </p:sp>
      <p:sp>
        <p:nvSpPr>
          <p:cNvPr id="33" name="Shape 30"/>
          <p:cNvSpPr/>
          <p:nvPr/>
        </p:nvSpPr>
        <p:spPr>
          <a:xfrm>
            <a:off x="347472" y="3931920"/>
            <a:ext cx="8449056" cy="310896"/>
          </a:xfrm>
          <a:prstGeom prst="rect">
            <a:avLst/>
          </a:prstGeom>
          <a:solidFill>
            <a:srgbClr val="2E8B57"/>
          </a:solidFill>
          <a:ln w="12700">
            <a:solidFill>
              <a:srgbClr val="2E8B57"/>
            </a:solidFill>
            <a:prstDash val="solid"/>
          </a:ln>
        </p:spPr>
      </p:sp>
      <p:sp>
        <p:nvSpPr>
          <p:cNvPr id="34" name="Text 31"/>
          <p:cNvSpPr/>
          <p:nvPr/>
        </p:nvSpPr>
        <p:spPr>
          <a:xfrm>
            <a:off x="457200" y="3968496"/>
            <a:ext cx="8275320" cy="23774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Edge Protection (fixed)</a:t>
            </a:r>
            <a:endParaRPr lang="en-US" sz="1150" dirty="0"/>
          </a:p>
        </p:txBody>
      </p:sp>
      <p:sp>
        <p:nvSpPr>
          <p:cNvPr id="35" name="Shape 32"/>
          <p:cNvSpPr/>
          <p:nvPr/>
        </p:nvSpPr>
        <p:spPr>
          <a:xfrm>
            <a:off x="347472" y="4242816"/>
            <a:ext cx="8449056" cy="658368"/>
          </a:xfrm>
          <a:prstGeom prst="rect">
            <a:avLst/>
          </a:prstGeom>
          <a:solidFill>
            <a:srgbClr val="F8F8F8"/>
          </a:solidFill>
          <a:ln w="7620">
            <a:solidFill>
              <a:srgbClr val="CCCCCC"/>
            </a:solidFill>
            <a:prstDash val="solid"/>
          </a:ln>
        </p:spPr>
      </p:sp>
      <p:sp>
        <p:nvSpPr>
          <p:cNvPr id="36" name="Shape 33"/>
          <p:cNvSpPr/>
          <p:nvPr/>
        </p:nvSpPr>
        <p:spPr>
          <a:xfrm>
            <a:off x="438912" y="4334256"/>
            <a:ext cx="91440" cy="91440"/>
          </a:xfrm>
          <a:prstGeom prst="ellipse">
            <a:avLst/>
          </a:prstGeom>
          <a:solidFill>
            <a:srgbClr val="2E8B57"/>
          </a:solidFill>
          <a:ln w="12700">
            <a:solidFill>
              <a:srgbClr val="2E8B57"/>
            </a:solidFill>
            <a:prstDash val="solid"/>
          </a:ln>
        </p:spPr>
      </p:sp>
      <p:sp>
        <p:nvSpPr>
          <p:cNvPr id="37" name="Text 34"/>
          <p:cNvSpPr/>
          <p:nvPr/>
        </p:nvSpPr>
        <p:spPr>
          <a:xfrm>
            <a:off x="603504" y="4306824"/>
            <a:ext cx="8119872" cy="146304"/>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Guardrail systems at height must include: top rail at 950-1150mm, intermediate rail, and toeboard</a:t>
            </a:r>
            <a:endParaRPr lang="en-US" sz="950" dirty="0"/>
          </a:p>
        </p:txBody>
      </p:sp>
      <p:sp>
        <p:nvSpPr>
          <p:cNvPr id="38" name="Shape 35"/>
          <p:cNvSpPr/>
          <p:nvPr/>
        </p:nvSpPr>
        <p:spPr>
          <a:xfrm>
            <a:off x="438912" y="4498848"/>
            <a:ext cx="91440" cy="91440"/>
          </a:xfrm>
          <a:prstGeom prst="ellipse">
            <a:avLst/>
          </a:prstGeom>
          <a:solidFill>
            <a:srgbClr val="2E8B57"/>
          </a:solidFill>
          <a:ln w="12700">
            <a:solidFill>
              <a:srgbClr val="2E8B57"/>
            </a:solidFill>
            <a:prstDash val="solid"/>
          </a:ln>
        </p:spPr>
      </p:sp>
      <p:sp>
        <p:nvSpPr>
          <p:cNvPr id="39" name="Text 36"/>
          <p:cNvSpPr/>
          <p:nvPr/>
        </p:nvSpPr>
        <p:spPr>
          <a:xfrm>
            <a:off x="603504" y="4471416"/>
            <a:ext cx="8119872" cy="146304"/>
          </a:xfrm>
          <a:prstGeom prst="rect">
            <a:avLst/>
          </a:prstGeom>
          <a:noFill/>
          <a:ln/>
        </p:spPr>
        <p:txBody>
          <a:bodyPr wrap="square" lIns="0" tIns="0" rIns="0" bIns="0" rtlCol="0" anchor="ctr"/>
          <a:lstStyle/>
          <a:p>
            <a:pPr indent="0" marL="0">
              <a:buNone/>
            </a:pPr>
            <a:r>
              <a:rPr lang="en-US" sz="950" dirty="0">
                <a:solidFill>
                  <a:srgbClr val="5B595A"/>
                </a:solidFill>
                <a:latin typeface="Arial" pitchFamily="34" charset="0"/>
                <a:ea typeface="Arial" pitchFamily="34" charset="-122"/>
                <a:cs typeface="Arial" pitchFamily="34" charset="-120"/>
              </a:rPr>
              <a:t>Toe boards must be at least 150mm high to prevent objects being kicked off the edge</a:t>
            </a:r>
            <a:endParaRPr lang="en-US" sz="950" dirty="0"/>
          </a:p>
        </p:txBody>
      </p:sp>
      <p:sp>
        <p:nvSpPr>
          <p:cNvPr id="40" name="Shape 37"/>
          <p:cNvSpPr/>
          <p:nvPr/>
        </p:nvSpPr>
        <p:spPr>
          <a:xfrm>
            <a:off x="438912" y="4663440"/>
            <a:ext cx="91440" cy="91440"/>
          </a:xfrm>
          <a:prstGeom prst="ellipse">
            <a:avLst/>
          </a:prstGeom>
          <a:solidFill>
            <a:srgbClr val="2E8B57"/>
          </a:solidFill>
          <a:ln w="12700">
            <a:solidFill>
              <a:srgbClr val="2E8B57"/>
            </a:solidFill>
            <a:prstDash val="solid"/>
          </a:ln>
        </p:spPr>
      </p:sp>
      <p:sp>
        <p:nvSpPr>
          <p:cNvPr id="42" name="Shape 39"/>
          <p:cNvSpPr/>
          <p:nvPr/>
        </p:nvSpPr>
        <p:spPr>
          <a:xfrm>
            <a:off x="438912" y="4828032"/>
            <a:ext cx="91440" cy="91440"/>
          </a:xfrm>
          <a:prstGeom prst="ellipse">
            <a:avLst/>
          </a:prstGeom>
          <a:solidFill>
            <a:srgbClr val="2E8B57"/>
          </a:solidFill>
          <a:ln w="12700">
            <a:solidFill>
              <a:srgbClr val="2E8B57"/>
            </a:solidFill>
            <a:prstDash val="solid"/>
          </a:ln>
        </p:spPr>
      </p:sp>
      <p:sp>
        <p:nvSpPr>
          <p:cNvPr id="43" name="Rectangle 42"/>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5"/>
          <a:stretch>
            <a:fillRect/>
          </a:stretch>
        </p:blipFill>
        <p:spPr>
          <a:xfrm>
            <a:off x="7562088" y="100584"/>
            <a:ext cx="566928" cy="347472"/>
          </a:xfrm>
          <a:prstGeom prst="rect">
            <a:avLst/>
          </a:prstGeom>
        </p:spPr>
      </p:pic>
      <p:pic>
        <p:nvPicPr>
          <p:cNvPr id="45" name="Picture 44" descr="image.png"/>
          <p:cNvPicPr>
            <a:picLocks noChangeAspect="1"/>
          </p:cNvPicPr>
          <p:nvPr/>
        </p:nvPicPr>
        <p:blipFill>
          <a:blip r:embed="rId4"/>
          <a:stretch>
            <a:fillRect/>
          </a:stretch>
        </p:blipFill>
        <p:spPr>
          <a:xfrm>
            <a:off x="8174736" y="100584"/>
            <a:ext cx="658368" cy="347472"/>
          </a:xfrm>
          <a:prstGeom prst="rect">
            <a:avLst/>
          </a:prstGeom>
        </p:spPr>
      </p:pic>
      <p:sp>
        <p:nvSpPr>
          <p:cNvPr id="46" name="Rectangle 45"/>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83348F"/>
          </a:solidFill>
          <a:ln w="12700">
            <a:solidFill>
              <a:srgbClr val="83348F"/>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Additional Hazards</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Dropped Objects, Weather, and Exclusion Zones</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sp>
      <p:sp>
        <p:nvSpPr>
          <p:cNvPr id="10" name="Text 7"/>
          <p:cNvSpPr/>
          <p:nvPr/>
        </p:nvSpPr>
        <p:spPr>
          <a:xfrm>
            <a:off x="347472" y="1353312"/>
            <a:ext cx="8449056" cy="475488"/>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Working at height creates hazards not just for the person working, but for anyone below. Dropped objects, deteriorating weather, and uncontrolled access to the area below are all significant risks that must be managed as part of the risk assessment.</a:t>
            </a:r>
            <a:endParaRPr lang="en-US" sz="1250" dirty="0"/>
          </a:p>
        </p:txBody>
      </p:sp>
      <p:sp>
        <p:nvSpPr>
          <p:cNvPr id="11" name="Shape 8"/>
          <p:cNvSpPr/>
          <p:nvPr/>
        </p:nvSpPr>
        <p:spPr>
          <a:xfrm>
            <a:off x="347472" y="1938528"/>
            <a:ext cx="4133088" cy="329184"/>
          </a:xfrm>
          <a:prstGeom prst="rect">
            <a:avLst/>
          </a:prstGeom>
          <a:solidFill>
            <a:srgbClr val="E08A00"/>
          </a:solidFill>
          <a:ln w="12700">
            <a:solidFill>
              <a:srgbClr val="E08A00"/>
            </a:solidFill>
            <a:prstDash val="solid"/>
          </a:ln>
        </p:spPr>
      </p:sp>
      <p:sp>
        <p:nvSpPr>
          <p:cNvPr id="12" name="Text 9"/>
          <p:cNvSpPr/>
          <p:nvPr/>
        </p:nvSpPr>
        <p:spPr>
          <a:xfrm>
            <a:off x="457200" y="1956816"/>
            <a:ext cx="3931920" cy="25603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Dropped Objects</a:t>
            </a:r>
            <a:endParaRPr lang="en-US" sz="1150" dirty="0"/>
          </a:p>
        </p:txBody>
      </p:sp>
      <p:sp>
        <p:nvSpPr>
          <p:cNvPr id="13" name="Shape 10"/>
          <p:cNvSpPr/>
          <p:nvPr/>
        </p:nvSpPr>
        <p:spPr>
          <a:xfrm>
            <a:off x="347472" y="2267712"/>
            <a:ext cx="4133088" cy="2395728"/>
          </a:xfrm>
          <a:prstGeom prst="rect">
            <a:avLst/>
          </a:prstGeom>
          <a:solidFill>
            <a:srgbClr val="F8F8F8"/>
          </a:solidFill>
          <a:ln w="8890">
            <a:solidFill>
              <a:srgbClr val="CCCCCC"/>
            </a:solidFill>
            <a:prstDash val="solid"/>
          </a:ln>
        </p:spPr>
      </p:sp>
      <p:sp>
        <p:nvSpPr>
          <p:cNvPr id="14" name="Shape 11"/>
          <p:cNvSpPr/>
          <p:nvPr/>
        </p:nvSpPr>
        <p:spPr>
          <a:xfrm>
            <a:off x="475488" y="2395728"/>
            <a:ext cx="146304" cy="146304"/>
          </a:xfrm>
          <a:prstGeom prst="ellipse">
            <a:avLst/>
          </a:prstGeom>
          <a:solidFill>
            <a:srgbClr val="E08A00"/>
          </a:solidFill>
          <a:ln w="12700">
            <a:solidFill>
              <a:srgbClr val="E08A00"/>
            </a:solidFill>
            <a:prstDash val="solid"/>
          </a:ln>
        </p:spPr>
      </p:sp>
      <p:sp>
        <p:nvSpPr>
          <p:cNvPr id="15" name="Text 12"/>
          <p:cNvSpPr/>
          <p:nvPr/>
        </p:nvSpPr>
        <p:spPr>
          <a:xfrm>
            <a:off x="694944" y="2368296"/>
            <a:ext cx="3657600" cy="402336"/>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Tools, fixings, and materials must be secured or tethered where practicable</a:t>
            </a:r>
            <a:endParaRPr lang="en-US" sz="1100" dirty="0"/>
          </a:p>
        </p:txBody>
      </p:sp>
      <p:sp>
        <p:nvSpPr>
          <p:cNvPr id="16" name="Shape 13"/>
          <p:cNvSpPr/>
          <p:nvPr/>
        </p:nvSpPr>
        <p:spPr>
          <a:xfrm>
            <a:off x="475488" y="2852928"/>
            <a:ext cx="146304" cy="146304"/>
          </a:xfrm>
          <a:prstGeom prst="ellipse">
            <a:avLst/>
          </a:prstGeom>
          <a:solidFill>
            <a:srgbClr val="E08A00"/>
          </a:solidFill>
          <a:ln w="12700">
            <a:solidFill>
              <a:srgbClr val="E08A00"/>
            </a:solidFill>
            <a:prstDash val="solid"/>
          </a:ln>
        </p:spPr>
      </p:sp>
      <p:sp>
        <p:nvSpPr>
          <p:cNvPr id="17" name="Text 14"/>
          <p:cNvSpPr/>
          <p:nvPr/>
        </p:nvSpPr>
        <p:spPr>
          <a:xfrm>
            <a:off x="694944" y="2825496"/>
            <a:ext cx="3657600" cy="402336"/>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Use tool lanyards for any hand tool being used at height</a:t>
            </a:r>
            <a:endParaRPr lang="en-US" sz="1100" dirty="0"/>
          </a:p>
        </p:txBody>
      </p:sp>
      <p:sp>
        <p:nvSpPr>
          <p:cNvPr id="18" name="Shape 15"/>
          <p:cNvSpPr/>
          <p:nvPr/>
        </p:nvSpPr>
        <p:spPr>
          <a:xfrm>
            <a:off x="475488" y="3310128"/>
            <a:ext cx="146304" cy="146304"/>
          </a:xfrm>
          <a:prstGeom prst="ellipse">
            <a:avLst/>
          </a:prstGeom>
          <a:solidFill>
            <a:srgbClr val="E08A00"/>
          </a:solidFill>
          <a:ln w="12700">
            <a:solidFill>
              <a:srgbClr val="E08A00"/>
            </a:solidFill>
            <a:prstDash val="solid"/>
          </a:ln>
        </p:spPr>
      </p:sp>
      <p:sp>
        <p:nvSpPr>
          <p:cNvPr id="19" name="Text 16"/>
          <p:cNvSpPr/>
          <p:nvPr/>
        </p:nvSpPr>
        <p:spPr>
          <a:xfrm>
            <a:off x="694944" y="3282696"/>
            <a:ext cx="3657600" cy="402336"/>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Do not place unsecured items on scaffold boards or platforms</a:t>
            </a:r>
            <a:endParaRPr lang="en-US" sz="1100" dirty="0"/>
          </a:p>
        </p:txBody>
      </p:sp>
      <p:sp>
        <p:nvSpPr>
          <p:cNvPr id="20" name="Shape 17"/>
          <p:cNvSpPr/>
          <p:nvPr/>
        </p:nvSpPr>
        <p:spPr>
          <a:xfrm>
            <a:off x="475488" y="3767328"/>
            <a:ext cx="146304" cy="146304"/>
          </a:xfrm>
          <a:prstGeom prst="ellipse">
            <a:avLst/>
          </a:prstGeom>
          <a:solidFill>
            <a:srgbClr val="E08A00"/>
          </a:solidFill>
          <a:ln w="12700">
            <a:solidFill>
              <a:srgbClr val="E08A00"/>
            </a:solidFill>
            <a:prstDash val="solid"/>
          </a:ln>
        </p:spPr>
      </p:sp>
      <p:sp>
        <p:nvSpPr>
          <p:cNvPr id="21" name="Text 18"/>
          <p:cNvSpPr/>
          <p:nvPr/>
        </p:nvSpPr>
        <p:spPr>
          <a:xfrm>
            <a:off x="694944" y="3739896"/>
            <a:ext cx="3657600" cy="402336"/>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Debris netting or fan protection must be in place over public or occupied areas below</a:t>
            </a:r>
            <a:endParaRPr lang="en-US" sz="1100" dirty="0"/>
          </a:p>
        </p:txBody>
      </p:sp>
      <p:sp>
        <p:nvSpPr>
          <p:cNvPr id="22" name="Shape 19"/>
          <p:cNvSpPr/>
          <p:nvPr/>
        </p:nvSpPr>
        <p:spPr>
          <a:xfrm>
            <a:off x="475488" y="4224528"/>
            <a:ext cx="146304" cy="146304"/>
          </a:xfrm>
          <a:prstGeom prst="ellipse">
            <a:avLst/>
          </a:prstGeom>
          <a:solidFill>
            <a:srgbClr val="E08A00"/>
          </a:solidFill>
          <a:ln w="12700">
            <a:solidFill>
              <a:srgbClr val="E08A00"/>
            </a:solidFill>
            <a:prstDash val="solid"/>
          </a:ln>
        </p:spPr>
      </p:sp>
      <p:sp>
        <p:nvSpPr>
          <p:cNvPr id="23" name="Text 20"/>
          <p:cNvSpPr/>
          <p:nvPr/>
        </p:nvSpPr>
        <p:spPr>
          <a:xfrm>
            <a:off x="694944" y="4197096"/>
            <a:ext cx="3657600" cy="402336"/>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Exclusion zone must be established before work begins and maintained throughout</a:t>
            </a:r>
            <a:endParaRPr lang="en-US" sz="1100" dirty="0"/>
          </a:p>
        </p:txBody>
      </p:sp>
      <p:sp>
        <p:nvSpPr>
          <p:cNvPr id="24" name="Shape 21"/>
          <p:cNvSpPr/>
          <p:nvPr/>
        </p:nvSpPr>
        <p:spPr>
          <a:xfrm>
            <a:off x="4663440" y="1938528"/>
            <a:ext cx="4133088" cy="329184"/>
          </a:xfrm>
          <a:prstGeom prst="rect">
            <a:avLst/>
          </a:prstGeom>
          <a:solidFill>
            <a:srgbClr val="009FE3"/>
          </a:solidFill>
          <a:ln w="12700">
            <a:solidFill>
              <a:srgbClr val="009FE3"/>
            </a:solidFill>
            <a:prstDash val="solid"/>
          </a:ln>
        </p:spPr>
      </p:sp>
      <p:sp>
        <p:nvSpPr>
          <p:cNvPr id="25" name="Text 22"/>
          <p:cNvSpPr/>
          <p:nvPr/>
        </p:nvSpPr>
        <p:spPr>
          <a:xfrm>
            <a:off x="4773168" y="1956816"/>
            <a:ext cx="3931920" cy="25603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Weather and Environment</a:t>
            </a:r>
            <a:endParaRPr lang="en-US" sz="1150" dirty="0"/>
          </a:p>
        </p:txBody>
      </p:sp>
      <p:sp>
        <p:nvSpPr>
          <p:cNvPr id="26" name="Shape 23"/>
          <p:cNvSpPr/>
          <p:nvPr/>
        </p:nvSpPr>
        <p:spPr>
          <a:xfrm>
            <a:off x="4663440" y="2267712"/>
            <a:ext cx="4133088" cy="2395728"/>
          </a:xfrm>
          <a:prstGeom prst="rect">
            <a:avLst/>
          </a:prstGeom>
          <a:solidFill>
            <a:srgbClr val="F8F8F8"/>
          </a:solidFill>
          <a:ln w="8890">
            <a:solidFill>
              <a:srgbClr val="CCCCCC"/>
            </a:solidFill>
            <a:prstDash val="solid"/>
          </a:ln>
        </p:spPr>
      </p:sp>
      <p:sp>
        <p:nvSpPr>
          <p:cNvPr id="27" name="Shape 24"/>
          <p:cNvSpPr/>
          <p:nvPr/>
        </p:nvSpPr>
        <p:spPr>
          <a:xfrm>
            <a:off x="4791456" y="2395728"/>
            <a:ext cx="146304" cy="146304"/>
          </a:xfrm>
          <a:prstGeom prst="ellipse">
            <a:avLst/>
          </a:prstGeom>
          <a:solidFill>
            <a:srgbClr val="009FE3"/>
          </a:solidFill>
          <a:ln w="12700">
            <a:solidFill>
              <a:srgbClr val="009FE3"/>
            </a:solidFill>
            <a:prstDash val="solid"/>
          </a:ln>
        </p:spPr>
      </p:sp>
      <p:sp>
        <p:nvSpPr>
          <p:cNvPr id="28" name="Text 25"/>
          <p:cNvSpPr/>
          <p:nvPr/>
        </p:nvSpPr>
        <p:spPr>
          <a:xfrm>
            <a:off x="5010912" y="2368296"/>
            <a:ext cx="3657600" cy="402336"/>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Do not work at height in strong winds — check manufacturer limits for MEWPs and scaffolds</a:t>
            </a:r>
            <a:endParaRPr lang="en-US" sz="1100" dirty="0"/>
          </a:p>
        </p:txBody>
      </p:sp>
      <p:sp>
        <p:nvSpPr>
          <p:cNvPr id="29" name="Shape 26"/>
          <p:cNvSpPr/>
          <p:nvPr/>
        </p:nvSpPr>
        <p:spPr>
          <a:xfrm>
            <a:off x="4791456" y="2852928"/>
            <a:ext cx="146304" cy="146304"/>
          </a:xfrm>
          <a:prstGeom prst="ellipse">
            <a:avLst/>
          </a:prstGeom>
          <a:solidFill>
            <a:srgbClr val="009FE3"/>
          </a:solidFill>
          <a:ln w="12700">
            <a:solidFill>
              <a:srgbClr val="009FE3"/>
            </a:solidFill>
            <a:prstDash val="solid"/>
          </a:ln>
        </p:spPr>
      </p:sp>
      <p:sp>
        <p:nvSpPr>
          <p:cNvPr id="30" name="Text 27"/>
          <p:cNvSpPr/>
          <p:nvPr/>
        </p:nvSpPr>
        <p:spPr>
          <a:xfrm>
            <a:off x="5010912" y="2825496"/>
            <a:ext cx="3657600" cy="402336"/>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Wet surfaces dramatically increase slip risk on ladders, boards, and platforms</a:t>
            </a:r>
            <a:endParaRPr lang="en-US" sz="1100" dirty="0"/>
          </a:p>
        </p:txBody>
      </p:sp>
      <p:sp>
        <p:nvSpPr>
          <p:cNvPr id="31" name="Shape 28"/>
          <p:cNvSpPr/>
          <p:nvPr/>
        </p:nvSpPr>
        <p:spPr>
          <a:xfrm>
            <a:off x="4791456" y="3310128"/>
            <a:ext cx="146304" cy="146304"/>
          </a:xfrm>
          <a:prstGeom prst="ellipse">
            <a:avLst/>
          </a:prstGeom>
          <a:solidFill>
            <a:srgbClr val="009FE3"/>
          </a:solidFill>
          <a:ln w="12700">
            <a:solidFill>
              <a:srgbClr val="009FE3"/>
            </a:solidFill>
            <a:prstDash val="solid"/>
          </a:ln>
        </p:spPr>
      </p:sp>
      <p:sp>
        <p:nvSpPr>
          <p:cNvPr id="32" name="Text 29"/>
          <p:cNvSpPr/>
          <p:nvPr/>
        </p:nvSpPr>
        <p:spPr>
          <a:xfrm>
            <a:off x="5010912" y="3282696"/>
            <a:ext cx="3657600" cy="402336"/>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Ice and frost on access equipment must be cleared before use</a:t>
            </a:r>
            <a:endParaRPr lang="en-US" sz="1100" dirty="0"/>
          </a:p>
        </p:txBody>
      </p:sp>
      <p:sp>
        <p:nvSpPr>
          <p:cNvPr id="33" name="Shape 30"/>
          <p:cNvSpPr/>
          <p:nvPr/>
        </p:nvSpPr>
        <p:spPr>
          <a:xfrm>
            <a:off x="4791456" y="3767328"/>
            <a:ext cx="146304" cy="146304"/>
          </a:xfrm>
          <a:prstGeom prst="ellipse">
            <a:avLst/>
          </a:prstGeom>
          <a:solidFill>
            <a:srgbClr val="009FE3"/>
          </a:solidFill>
          <a:ln w="12700">
            <a:solidFill>
              <a:srgbClr val="009FE3"/>
            </a:solidFill>
            <a:prstDash val="solid"/>
          </a:ln>
        </p:spPr>
      </p:sp>
      <p:sp>
        <p:nvSpPr>
          <p:cNvPr id="34" name="Text 31"/>
          <p:cNvSpPr/>
          <p:nvPr/>
        </p:nvSpPr>
        <p:spPr>
          <a:xfrm>
            <a:off x="5010912" y="3739896"/>
            <a:ext cx="3657600" cy="402336"/>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Low light and poor visibility increase risk. Ensure adequate lighting for all height work</a:t>
            </a:r>
            <a:endParaRPr lang="en-US" sz="1100" dirty="0"/>
          </a:p>
        </p:txBody>
      </p:sp>
      <p:sp>
        <p:nvSpPr>
          <p:cNvPr id="35" name="Shape 32"/>
          <p:cNvSpPr/>
          <p:nvPr/>
        </p:nvSpPr>
        <p:spPr>
          <a:xfrm>
            <a:off x="4791456" y="4224528"/>
            <a:ext cx="146304" cy="146304"/>
          </a:xfrm>
          <a:prstGeom prst="ellipse">
            <a:avLst/>
          </a:prstGeom>
          <a:solidFill>
            <a:srgbClr val="009FE3"/>
          </a:solidFill>
          <a:ln w="12700">
            <a:solidFill>
              <a:srgbClr val="009FE3"/>
            </a:solidFill>
            <a:prstDash val="solid"/>
          </a:ln>
        </p:spPr>
      </p:sp>
      <p:sp>
        <p:nvSpPr>
          <p:cNvPr id="36" name="Text 33"/>
          <p:cNvSpPr/>
          <p:nvPr/>
        </p:nvSpPr>
        <p:spPr>
          <a:xfrm>
            <a:off x="5010912" y="4197096"/>
            <a:ext cx="3657600" cy="402336"/>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Heat stress and dehydration increase fatigue and risk of misjudgement at height</a:t>
            </a:r>
            <a:endParaRPr lang="en-US" sz="1100" dirty="0"/>
          </a:p>
        </p:txBody>
      </p:sp>
      <p:sp>
        <p:nvSpPr>
          <p:cNvPr id="37" name="Rectangle 3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5"/>
          <a:stretch>
            <a:fillRect/>
          </a:stretch>
        </p:blipFill>
        <p:spPr>
          <a:xfrm>
            <a:off x="7562088" y="100584"/>
            <a:ext cx="566928" cy="347472"/>
          </a:xfrm>
          <a:prstGeom prst="rect">
            <a:avLst/>
          </a:prstGeom>
        </p:spPr>
      </p:pic>
      <p:pic>
        <p:nvPicPr>
          <p:cNvPr id="39" name="Picture 38" descr="image.png"/>
          <p:cNvPicPr>
            <a:picLocks noChangeAspect="1"/>
          </p:cNvPicPr>
          <p:nvPr/>
        </p:nvPicPr>
        <p:blipFill>
          <a:blip r:embed="rId4"/>
          <a:stretch>
            <a:fillRect/>
          </a:stretch>
        </p:blipFill>
        <p:spPr>
          <a:xfrm>
            <a:off x="8174736" y="100584"/>
            <a:ext cx="658368" cy="347472"/>
          </a:xfrm>
          <a:prstGeom prst="rect">
            <a:avLst/>
          </a:prstGeom>
        </p:spPr>
      </p:pic>
      <p:sp>
        <p:nvSpPr>
          <p:cNvPr id="40" name="Rectangle 3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83348F"/>
          </a:solidFill>
          <a:ln w="12700">
            <a:solidFill>
              <a:srgbClr val="83348F"/>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Summary</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Key Messages</a:t>
            </a:r>
            <a:endParaRPr lang="en-US" sz="2600" dirty="0"/>
          </a:p>
        </p:txBody>
      </p:sp>
      <p:sp>
        <p:nvSpPr>
          <p:cNvPr id="9" name="Shape 6"/>
          <p:cNvSpPr/>
          <p:nvPr/>
        </p:nvSpPr>
        <p:spPr>
          <a:xfrm>
            <a:off x="347472" y="1261872"/>
            <a:ext cx="8449056" cy="0"/>
          </a:xfrm>
          <a:prstGeom prst="line">
            <a:avLst/>
          </a:prstGeom>
          <a:noFill/>
          <a:ln w="19050">
            <a:solidFill>
              <a:srgbClr val="83348F"/>
            </a:solidFill>
            <a:prstDash val="solid"/>
          </a:ln>
        </p:spPr>
      </p:sp>
      <p:sp>
        <p:nvSpPr>
          <p:cNvPr id="10" name="Shape 7"/>
          <p:cNvSpPr/>
          <p:nvPr/>
        </p:nvSpPr>
        <p:spPr>
          <a:xfrm>
            <a:off x="347472" y="1453896"/>
            <a:ext cx="310896" cy="310896"/>
          </a:xfrm>
          <a:prstGeom prst="ellipse">
            <a:avLst/>
          </a:prstGeom>
          <a:solidFill>
            <a:srgbClr val="83348F"/>
          </a:solidFill>
          <a:ln w="12700">
            <a:solidFill>
              <a:srgbClr val="83348F"/>
            </a:solidFill>
            <a:prstDash val="solid"/>
          </a:ln>
        </p:spPr>
      </p:sp>
      <p:sp>
        <p:nvSpPr>
          <p:cNvPr id="11" name="Text 8"/>
          <p:cNvSpPr/>
          <p:nvPr/>
        </p:nvSpPr>
        <p:spPr>
          <a:xfrm>
            <a:off x="347472" y="14538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12" name="Text 9"/>
          <p:cNvSpPr/>
          <p:nvPr/>
        </p:nvSpPr>
        <p:spPr>
          <a:xfrm>
            <a:off x="768096" y="14264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Any position from which a fall could cause injury is 'at height' under the Regulations.</a:t>
            </a:r>
            <a:endParaRPr lang="en-US" sz="1300" dirty="0"/>
          </a:p>
        </p:txBody>
      </p:sp>
      <p:sp>
        <p:nvSpPr>
          <p:cNvPr id="13" name="Shape 10"/>
          <p:cNvSpPr/>
          <p:nvPr/>
        </p:nvSpPr>
        <p:spPr>
          <a:xfrm>
            <a:off x="347472" y="1911096"/>
            <a:ext cx="310896" cy="310896"/>
          </a:xfrm>
          <a:prstGeom prst="ellipse">
            <a:avLst/>
          </a:prstGeom>
          <a:solidFill>
            <a:srgbClr val="C0392B"/>
          </a:solidFill>
          <a:ln w="12700">
            <a:solidFill>
              <a:srgbClr val="C0392B"/>
            </a:solidFill>
            <a:prstDash val="solid"/>
          </a:ln>
        </p:spPr>
      </p:sp>
      <p:sp>
        <p:nvSpPr>
          <p:cNvPr id="14" name="Text 11"/>
          <p:cNvSpPr/>
          <p:nvPr/>
        </p:nvSpPr>
        <p:spPr>
          <a:xfrm>
            <a:off x="347472" y="19110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15" name="Text 12"/>
          <p:cNvSpPr/>
          <p:nvPr/>
        </p:nvSpPr>
        <p:spPr>
          <a:xfrm>
            <a:off x="768096" y="18836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Avoid, prevent, mitigate. Follow the hierarchy. Never go straight to a ladder without considering alternatives.</a:t>
            </a:r>
            <a:endParaRPr lang="en-US" sz="1300" dirty="0"/>
          </a:p>
        </p:txBody>
      </p:sp>
      <p:sp>
        <p:nvSpPr>
          <p:cNvPr id="16" name="Shape 13"/>
          <p:cNvSpPr/>
          <p:nvPr/>
        </p:nvSpPr>
        <p:spPr>
          <a:xfrm>
            <a:off x="347472" y="2368296"/>
            <a:ext cx="310896" cy="310896"/>
          </a:xfrm>
          <a:prstGeom prst="ellipse">
            <a:avLst/>
          </a:prstGeom>
          <a:solidFill>
            <a:srgbClr val="E08A00"/>
          </a:solidFill>
          <a:ln w="12700">
            <a:solidFill>
              <a:srgbClr val="E08A00"/>
            </a:solidFill>
            <a:prstDash val="solid"/>
          </a:ln>
        </p:spPr>
      </p:sp>
      <p:sp>
        <p:nvSpPr>
          <p:cNvPr id="17" name="Text 14"/>
          <p:cNvSpPr/>
          <p:nvPr/>
        </p:nvSpPr>
        <p:spPr>
          <a:xfrm>
            <a:off x="347472" y="23682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18" name="Text 15"/>
          <p:cNvSpPr/>
          <p:nvPr/>
        </p:nvSpPr>
        <p:spPr>
          <a:xfrm>
            <a:off x="768096" y="23408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Ladders are for short-duration, low-risk tasks only. They are at the bottom of the hierarchy, not the starting point.</a:t>
            </a:r>
            <a:endParaRPr lang="en-US" sz="1300" dirty="0"/>
          </a:p>
        </p:txBody>
      </p:sp>
      <p:sp>
        <p:nvSpPr>
          <p:cNvPr id="19" name="Shape 16"/>
          <p:cNvSpPr/>
          <p:nvPr/>
        </p:nvSpPr>
        <p:spPr>
          <a:xfrm>
            <a:off x="347472" y="2825496"/>
            <a:ext cx="310896" cy="310896"/>
          </a:xfrm>
          <a:prstGeom prst="ellipse">
            <a:avLst/>
          </a:prstGeom>
          <a:solidFill>
            <a:srgbClr val="009FE3"/>
          </a:solidFill>
          <a:ln w="12700">
            <a:solidFill>
              <a:srgbClr val="009FE3"/>
            </a:solidFill>
            <a:prstDash val="solid"/>
          </a:ln>
        </p:spPr>
      </p:sp>
      <p:sp>
        <p:nvSpPr>
          <p:cNvPr id="20" name="Text 17"/>
          <p:cNvSpPr/>
          <p:nvPr/>
        </p:nvSpPr>
        <p:spPr>
          <a:xfrm>
            <a:off x="347472" y="28254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21" name="Text 18"/>
          <p:cNvSpPr/>
          <p:nvPr/>
        </p:nvSpPr>
        <p:spPr>
          <a:xfrm>
            <a:off x="768096" y="27980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Inspect all access equipment before every use. Defective equipment must be removed from service immediately.</a:t>
            </a:r>
            <a:endParaRPr lang="en-US" sz="1300" dirty="0"/>
          </a:p>
        </p:txBody>
      </p:sp>
      <p:sp>
        <p:nvSpPr>
          <p:cNvPr id="22" name="Shape 19"/>
          <p:cNvSpPr/>
          <p:nvPr/>
        </p:nvSpPr>
        <p:spPr>
          <a:xfrm>
            <a:off x="347472" y="3282696"/>
            <a:ext cx="310896" cy="310896"/>
          </a:xfrm>
          <a:prstGeom prst="ellipse">
            <a:avLst/>
          </a:prstGeom>
          <a:solidFill>
            <a:srgbClr val="2E8B57"/>
          </a:solidFill>
          <a:ln w="12700">
            <a:solidFill>
              <a:srgbClr val="2E8B57"/>
            </a:solidFill>
            <a:prstDash val="solid"/>
          </a:ln>
        </p:spPr>
      </p:sp>
      <p:sp>
        <p:nvSpPr>
          <p:cNvPr id="23" name="Text 20"/>
          <p:cNvSpPr/>
          <p:nvPr/>
        </p:nvSpPr>
        <p:spPr>
          <a:xfrm>
            <a:off x="347472" y="32826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05</a:t>
            </a:r>
            <a:endParaRPr lang="en-US" sz="1000" dirty="0"/>
          </a:p>
        </p:txBody>
      </p:sp>
      <p:sp>
        <p:nvSpPr>
          <p:cNvPr id="24" name="Text 21"/>
          <p:cNvSpPr/>
          <p:nvPr/>
        </p:nvSpPr>
        <p:spPr>
          <a:xfrm>
            <a:off x="768096" y="32552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Always establish an exclusion zone below height work before starting.</a:t>
            </a:r>
            <a:endParaRPr lang="en-US" sz="1300" dirty="0"/>
          </a:p>
        </p:txBody>
      </p:sp>
      <p:sp>
        <p:nvSpPr>
          <p:cNvPr id="25" name="Shape 22"/>
          <p:cNvSpPr/>
          <p:nvPr/>
        </p:nvSpPr>
        <p:spPr>
          <a:xfrm>
            <a:off x="347472" y="3739896"/>
            <a:ext cx="310896" cy="310896"/>
          </a:xfrm>
          <a:prstGeom prst="ellipse">
            <a:avLst/>
          </a:prstGeom>
          <a:solidFill>
            <a:srgbClr val="83348F"/>
          </a:solidFill>
          <a:ln w="12700">
            <a:solidFill>
              <a:srgbClr val="83348F"/>
            </a:solidFill>
            <a:prstDash val="solid"/>
          </a:ln>
        </p:spPr>
      </p:sp>
      <p:sp>
        <p:nvSpPr>
          <p:cNvPr id="26" name="Text 23"/>
          <p:cNvSpPr/>
          <p:nvPr/>
        </p:nvSpPr>
        <p:spPr>
          <a:xfrm>
            <a:off x="347472" y="37398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06</a:t>
            </a:r>
            <a:endParaRPr lang="en-US" sz="1000" dirty="0"/>
          </a:p>
        </p:txBody>
      </p:sp>
      <p:sp>
        <p:nvSpPr>
          <p:cNvPr id="27" name="Text 24"/>
          <p:cNvSpPr/>
          <p:nvPr/>
        </p:nvSpPr>
        <p:spPr>
          <a:xfrm>
            <a:off x="768096" y="37124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Personal fall arrest requires a rescue plan. Suspension trauma can develop within minutes.</a:t>
            </a:r>
            <a:endParaRPr lang="en-US" sz="1300" dirty="0"/>
          </a:p>
        </p:txBody>
      </p:sp>
      <p:sp>
        <p:nvSpPr>
          <p:cNvPr id="28" name="Shape 25"/>
          <p:cNvSpPr/>
          <p:nvPr/>
        </p:nvSpPr>
        <p:spPr>
          <a:xfrm>
            <a:off x="347472" y="4197096"/>
            <a:ext cx="310896" cy="310896"/>
          </a:xfrm>
          <a:prstGeom prst="ellipse">
            <a:avLst/>
          </a:prstGeom>
          <a:solidFill>
            <a:srgbClr val="001E3C"/>
          </a:solidFill>
          <a:ln w="12700">
            <a:solidFill>
              <a:srgbClr val="001E3C"/>
            </a:solidFill>
            <a:prstDash val="solid"/>
          </a:ln>
        </p:spPr>
      </p:sp>
      <p:sp>
        <p:nvSpPr>
          <p:cNvPr id="29" name="Text 26"/>
          <p:cNvSpPr/>
          <p:nvPr/>
        </p:nvSpPr>
        <p:spPr>
          <a:xfrm>
            <a:off x="347472" y="41970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07</a:t>
            </a:r>
            <a:endParaRPr lang="en-US" sz="1000" dirty="0"/>
          </a:p>
        </p:txBody>
      </p:sp>
      <p:sp>
        <p:nvSpPr>
          <p:cNvPr id="30" name="Text 27"/>
          <p:cNvSpPr/>
          <p:nvPr/>
        </p:nvSpPr>
        <p:spPr>
          <a:xfrm>
            <a:off x="768096" y="41696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Do not work at height alone unless a specific risk assessment confirms this is safe and a system is in place.</a:t>
            </a:r>
            <a:endParaRPr lang="en-US" sz="1300" dirty="0"/>
          </a:p>
        </p:txBody>
      </p:sp>
      <p:sp>
        <p:nvSpPr>
          <p:cNvPr id="31" name="Rectangle 3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7562088" y="100584"/>
            <a:ext cx="566928" cy="347472"/>
          </a:xfrm>
          <a:prstGeom prst="rect">
            <a:avLst/>
          </a:prstGeom>
        </p:spPr>
      </p:pic>
      <p:pic>
        <p:nvPicPr>
          <p:cNvPr id="33" name="Picture 32" descr="image.png"/>
          <p:cNvPicPr>
            <a:picLocks noChangeAspect="1"/>
          </p:cNvPicPr>
          <p:nvPr/>
        </p:nvPicPr>
        <p:blipFill>
          <a:blip r:embed="rId4"/>
          <a:stretch>
            <a:fillRect/>
          </a:stretch>
        </p:blipFill>
        <p:spPr>
          <a:xfrm>
            <a:off x="8174736" y="100584"/>
            <a:ext cx="658368" cy="347472"/>
          </a:xfrm>
          <a:prstGeom prst="rect">
            <a:avLst/>
          </a:prstGeom>
        </p:spPr>
      </p:pic>
      <p:sp>
        <p:nvSpPr>
          <p:cNvPr id="34" name="Rectangle 3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4206240" cy="5143500"/>
          </a:xfrm>
          <a:prstGeom prst="rect">
            <a:avLst/>
          </a:prstGeom>
          <a:solidFill>
            <a:srgbClr val="83348F">
              <a:alpha val="90000"/>
            </a:srgbClr>
          </a:solidFill>
          <a:ln w="12700">
            <a:solidFill>
              <a:srgbClr val="83348F"/>
            </a:solidFill>
            <a:prstDash val="solid"/>
          </a:ln>
        </p:spPr>
      </p:sp>
      <p:pic>
        <p:nvPicPr>
          <p:cNvPr id="3" name="Image 0" descr="/home/claude/nuccol_logo.jpg">    </p:cNvPr>
          <p:cNvPicPr>
            <a:picLocks noChangeAspect="1"/>
          </p:cNvPicPr>
          <p:nvPr/>
        </p:nvPicPr>
        <p:blipFill>
          <a:blip r:embed="rId1"/>
          <a:stretch>
            <a:fillRect/>
          </a:stretch>
        </p:blipFill>
        <p:spPr>
          <a:xfrm>
            <a:off x="274320" y="228600"/>
            <a:ext cx="1417320" cy="676656"/>
          </a:xfrm>
          <a:prstGeom prst="rect">
            <a:avLst/>
          </a:prstGeom>
        </p:spPr>
      </p:pic>
      <p:sp>
        <p:nvSpPr>
          <p:cNvPr id="4" name="Text 1"/>
          <p:cNvSpPr/>
          <p:nvPr/>
        </p:nvSpPr>
        <p:spPr>
          <a:xfrm>
            <a:off x="274320" y="1170432"/>
            <a:ext cx="3566160" cy="40233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Next Steps</a:t>
            </a:r>
            <a:endParaRPr lang="en-US" sz="2200" dirty="0"/>
          </a:p>
        </p:txBody>
      </p:sp>
      <p:sp>
        <p:nvSpPr>
          <p:cNvPr id="5" name="Shape 2"/>
          <p:cNvSpPr/>
          <p:nvPr/>
        </p:nvSpPr>
        <p:spPr>
          <a:xfrm>
            <a:off x="310896" y="1691640"/>
            <a:ext cx="219456" cy="219456"/>
          </a:xfrm>
          <a:prstGeom prst="ellipse">
            <a:avLst/>
          </a:prstGeom>
          <a:solidFill>
            <a:srgbClr val="FFFFFF">
              <a:alpha val="75000"/>
            </a:srgbClr>
          </a:solidFill>
          <a:ln w="10160">
            <a:solidFill>
              <a:srgbClr val="FFFFFF"/>
            </a:solidFill>
            <a:prstDash val="solid"/>
          </a:ln>
        </p:spPr>
      </p:sp>
      <p:sp>
        <p:nvSpPr>
          <p:cNvPr id="6" name="Text 3"/>
          <p:cNvSpPr/>
          <p:nvPr/>
        </p:nvSpPr>
        <p:spPr>
          <a:xfrm>
            <a:off x="310896" y="16916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7" name="Text 4"/>
          <p:cNvSpPr/>
          <p:nvPr/>
        </p:nvSpPr>
        <p:spPr>
          <a:xfrm>
            <a:off x="603504" y="1673352"/>
            <a:ext cx="3474720" cy="42062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Review the risk assessment for every working at height task in your area</a:t>
            </a:r>
            <a:endParaRPr lang="en-US" sz="1100" dirty="0"/>
          </a:p>
        </p:txBody>
      </p:sp>
      <p:sp>
        <p:nvSpPr>
          <p:cNvPr id="8" name="Shape 5"/>
          <p:cNvSpPr/>
          <p:nvPr/>
        </p:nvSpPr>
        <p:spPr>
          <a:xfrm>
            <a:off x="310896" y="2167128"/>
            <a:ext cx="219456" cy="219456"/>
          </a:xfrm>
          <a:prstGeom prst="ellipse">
            <a:avLst/>
          </a:prstGeom>
          <a:solidFill>
            <a:srgbClr val="FFFFFF">
              <a:alpha val="75000"/>
            </a:srgbClr>
          </a:solidFill>
          <a:ln w="10160">
            <a:solidFill>
              <a:srgbClr val="FFFFFF"/>
            </a:solidFill>
            <a:prstDash val="solid"/>
          </a:ln>
        </p:spPr>
      </p:sp>
      <p:sp>
        <p:nvSpPr>
          <p:cNvPr id="9" name="Text 6"/>
          <p:cNvSpPr/>
          <p:nvPr/>
        </p:nvSpPr>
        <p:spPr>
          <a:xfrm>
            <a:off x="310896" y="2167128"/>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0" name="Text 7"/>
          <p:cNvSpPr/>
          <p:nvPr/>
        </p:nvSpPr>
        <p:spPr>
          <a:xfrm>
            <a:off x="603504" y="2148840"/>
            <a:ext cx="3474720" cy="42062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Check the inspection records for all access equipment — are they current?</a:t>
            </a:r>
            <a:endParaRPr lang="en-US" sz="1100" dirty="0"/>
          </a:p>
        </p:txBody>
      </p:sp>
      <p:sp>
        <p:nvSpPr>
          <p:cNvPr id="11" name="Shape 8"/>
          <p:cNvSpPr/>
          <p:nvPr/>
        </p:nvSpPr>
        <p:spPr>
          <a:xfrm>
            <a:off x="310896" y="2642616"/>
            <a:ext cx="219456" cy="219456"/>
          </a:xfrm>
          <a:prstGeom prst="ellipse">
            <a:avLst/>
          </a:prstGeom>
          <a:solidFill>
            <a:srgbClr val="FFFFFF">
              <a:alpha val="75000"/>
            </a:srgbClr>
          </a:solidFill>
          <a:ln w="10160">
            <a:solidFill>
              <a:srgbClr val="FFFFFF"/>
            </a:solidFill>
            <a:prstDash val="solid"/>
          </a:ln>
        </p:spPr>
      </p:sp>
      <p:sp>
        <p:nvSpPr>
          <p:cNvPr id="12" name="Text 9"/>
          <p:cNvSpPr/>
          <p:nvPr/>
        </p:nvSpPr>
        <p:spPr>
          <a:xfrm>
            <a:off x="310896" y="264261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3" name="Text 10"/>
          <p:cNvSpPr/>
          <p:nvPr/>
        </p:nvSpPr>
        <p:spPr>
          <a:xfrm>
            <a:off x="603504" y="2624328"/>
            <a:ext cx="3474720" cy="42062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Walk the area below any height work to identify exclusion zone requirements</a:t>
            </a:r>
            <a:endParaRPr lang="en-US" sz="1100" dirty="0"/>
          </a:p>
        </p:txBody>
      </p:sp>
      <p:sp>
        <p:nvSpPr>
          <p:cNvPr id="14" name="Shape 11"/>
          <p:cNvSpPr/>
          <p:nvPr/>
        </p:nvSpPr>
        <p:spPr>
          <a:xfrm>
            <a:off x="310896" y="3118104"/>
            <a:ext cx="219456" cy="219456"/>
          </a:xfrm>
          <a:prstGeom prst="ellipse">
            <a:avLst/>
          </a:prstGeom>
          <a:solidFill>
            <a:srgbClr val="FFFFFF">
              <a:alpha val="75000"/>
            </a:srgbClr>
          </a:solidFill>
          <a:ln w="10160">
            <a:solidFill>
              <a:srgbClr val="FFFFFF"/>
            </a:solidFill>
            <a:prstDash val="solid"/>
          </a:ln>
        </p:spPr>
      </p:sp>
      <p:sp>
        <p:nvSpPr>
          <p:cNvPr id="15" name="Text 12"/>
          <p:cNvSpPr/>
          <p:nvPr/>
        </p:nvSpPr>
        <p:spPr>
          <a:xfrm>
            <a:off x="310896" y="311810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6" name="Text 13"/>
          <p:cNvSpPr/>
          <p:nvPr/>
        </p:nvSpPr>
        <p:spPr>
          <a:xfrm>
            <a:off x="603504" y="3099816"/>
            <a:ext cx="3474720" cy="42062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Confirm all height workers are trained and authorised for their equipment</a:t>
            </a:r>
            <a:endParaRPr lang="en-US" sz="1100" dirty="0"/>
          </a:p>
        </p:txBody>
      </p:sp>
      <p:sp>
        <p:nvSpPr>
          <p:cNvPr id="17" name="Text 14"/>
          <p:cNvSpPr/>
          <p:nvPr/>
        </p:nvSpPr>
        <p:spPr>
          <a:xfrm>
            <a:off x="274320" y="4206240"/>
            <a:ext cx="3566160"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Further Resources</a:t>
            </a:r>
            <a:endParaRPr lang="en-US" sz="1300" dirty="0"/>
          </a:p>
        </p:txBody>
      </p:sp>
      <p:sp>
        <p:nvSpPr>
          <p:cNvPr id="18" name="Text 15"/>
          <p:cNvSpPr/>
          <p:nvPr/>
        </p:nvSpPr>
        <p:spPr>
          <a:xfrm>
            <a:off x="274320" y="4480560"/>
            <a:ext cx="3566160" cy="530352"/>
          </a:xfrm>
          <a:prstGeom prst="rect">
            <a:avLst/>
          </a:prstGeom>
          <a:noFill/>
          <a:ln/>
        </p:spPr>
        <p:txBody>
          <a:bodyPr wrap="square" lIns="0" tIns="0" rIns="0" bIns="0" rtlCol="0" anchor="ctr"/>
          <a:lstStyle/>
          <a:p>
            <a:pPr indent="0" marL="0">
              <a:buNone/>
            </a:pPr>
            <a:r>
              <a:rPr lang="en-US" sz="900" dirty="0">
                <a:solidFill>
                  <a:srgbClr val="BBAACC"/>
                </a:solidFill>
                <a:latin typeface="Arial" pitchFamily="34" charset="0"/>
                <a:ea typeface="Arial" pitchFamily="34" charset="-122"/>
                <a:cs typeface="Arial" pitchFamily="34" charset="-120"/>
              </a:rPr>
              <a:t>Work at Height Regulations 2005</a:t>
            </a:r>
            <a:endParaRPr lang="en-US" sz="900" dirty="0"/>
          </a:p>
          <a:p>
            <a:pPr indent="0" marL="0">
              <a:buNone/>
            </a:pPr>
            <a:r>
              <a:rPr lang="en-US" sz="900" dirty="0">
                <a:solidFill>
                  <a:srgbClr val="BBAACC"/>
                </a:solidFill>
                <a:latin typeface="Arial" pitchFamily="34" charset="0"/>
                <a:ea typeface="Arial" pitchFamily="34" charset="-122"/>
                <a:cs typeface="Arial" pitchFamily="34" charset="-120"/>
              </a:rPr>
              <a:t>HSG150 — Health and Safety in Construction</a:t>
            </a:r>
            <a:endParaRPr lang="en-US" sz="900" dirty="0"/>
          </a:p>
          <a:p>
            <a:pPr indent="0" marL="0">
              <a:buNone/>
            </a:pPr>
            <a:r>
              <a:rPr lang="en-US" sz="900" dirty="0">
                <a:solidFill>
                  <a:srgbClr val="BBAACC"/>
                </a:solidFill>
                <a:latin typeface="Arial" pitchFamily="34" charset="0"/>
                <a:ea typeface="Arial" pitchFamily="34" charset="-122"/>
                <a:cs typeface="Arial" pitchFamily="34" charset="-120"/>
              </a:rPr>
              <a:t>IPAF — International Powered Access Federation</a:t>
            </a:r>
            <a:endParaRPr lang="en-US" sz="900" dirty="0"/>
          </a:p>
          <a:p>
            <a:pPr indent="0" marL="0">
              <a:buNone/>
            </a:pPr>
            <a:r>
              <a:rPr lang="en-US" sz="900" dirty="0">
                <a:solidFill>
                  <a:srgbClr val="BBAACC"/>
                </a:solidFill>
                <a:latin typeface="Arial" pitchFamily="34" charset="0"/>
                <a:ea typeface="Arial" pitchFamily="34" charset="-122"/>
                <a:cs typeface="Arial" pitchFamily="34" charset="-120"/>
              </a:rPr>
              <a:t>HSE Ladder Exchange Campaign — www.hse.gov.uk</a:t>
            </a:r>
            <a:endParaRPr lang="en-US" sz="900" dirty="0"/>
          </a:p>
        </p:txBody>
      </p:sp>
      <p:sp>
        <p:nvSpPr>
          <p:cNvPr id="19" name="Text 16"/>
          <p:cNvSpPr/>
          <p:nvPr/>
        </p:nvSpPr>
        <p:spPr>
          <a:xfrm>
            <a:off x="4389120" y="1261872"/>
            <a:ext cx="4526280" cy="5943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Thank You</a:t>
            </a:r>
            <a:endParaRPr lang="en-US" sz="3600" dirty="0"/>
          </a:p>
        </p:txBody>
      </p:sp>
      <p:sp>
        <p:nvSpPr>
          <p:cNvPr id="20" name="Text 17"/>
          <p:cNvSpPr/>
          <p:nvPr/>
        </p:nvSpPr>
        <p:spPr>
          <a:xfrm>
            <a:off x="4389120" y="1920240"/>
            <a:ext cx="4526280" cy="347472"/>
          </a:xfrm>
          <a:prstGeom prst="rect">
            <a:avLst/>
          </a:prstGeom>
          <a:noFill/>
          <a:ln/>
        </p:spPr>
        <p:txBody>
          <a:bodyPr wrap="square" lIns="0" tIns="0" rIns="0" bIns="0" rtlCol="0" anchor="ctr"/>
          <a:lstStyle/>
          <a:p>
            <a:pPr indent="0" marL="0">
              <a:buNone/>
            </a:pPr>
            <a:r>
              <a:rPr lang="en-US" sz="1700" i="1" dirty="0">
                <a:solidFill>
                  <a:srgbClr val="BBAACC"/>
                </a:solidFill>
                <a:latin typeface="Cambria" pitchFamily="34" charset="0"/>
                <a:ea typeface="Cambria" pitchFamily="34" charset="-122"/>
                <a:cs typeface="Cambria" pitchFamily="34" charset="-120"/>
              </a:rPr>
              <a:t>Working at Height: Preventing Falls</a:t>
            </a:r>
            <a:endParaRPr lang="en-US" sz="1700" dirty="0"/>
          </a:p>
        </p:txBody>
      </p:sp>
      <p:sp>
        <p:nvSpPr>
          <p:cNvPr id="21" name="Shape 18"/>
          <p:cNvSpPr/>
          <p:nvPr/>
        </p:nvSpPr>
        <p:spPr>
          <a:xfrm>
            <a:off x="4389120" y="2331720"/>
            <a:ext cx="4389120" cy="0"/>
          </a:xfrm>
          <a:prstGeom prst="line">
            <a:avLst/>
          </a:prstGeom>
          <a:noFill/>
          <a:ln w="15240">
            <a:solidFill>
              <a:srgbClr val="83348F"/>
            </a:solidFill>
            <a:prstDash val="solid"/>
          </a:ln>
        </p:spPr>
      </p:sp>
      <p:sp>
        <p:nvSpPr>
          <p:cNvPr id="22" name="Text 19"/>
          <p:cNvSpPr/>
          <p:nvPr/>
        </p:nvSpPr>
        <p:spPr>
          <a:xfrm>
            <a:off x="4389120" y="2450592"/>
            <a:ext cx="4526280" cy="45720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Questions? Speak to your supervisor, QHSE lead, or your NucCol Supply Chain Consultant.</a:t>
            </a:r>
            <a:endParaRPr lang="en-US" sz="1300" dirty="0"/>
          </a:p>
        </p:txBody>
      </p:sp>
      <p:sp>
        <p:nvSpPr>
          <p:cNvPr id="23" name="Text 20"/>
          <p:cNvSpPr/>
          <p:nvPr/>
        </p:nvSpPr>
        <p:spPr>
          <a:xfrm>
            <a:off x="4389120" y="3090672"/>
            <a:ext cx="4526280" cy="658368"/>
          </a:xfrm>
          <a:prstGeom prst="rect">
            <a:avLst/>
          </a:prstGeom>
          <a:noFill/>
          <a:ln/>
        </p:spPr>
        <p:txBody>
          <a:bodyPr wrap="square" lIns="0" tIns="0" rIns="0" bIns="0" rtlCol="0" anchor="ctr"/>
          <a:lstStyle/>
          <a:p>
            <a:pPr indent="0" marL="0">
              <a:buNone/>
            </a:pPr>
            <a:r>
              <a:rPr lang="en-US" sz="1300" dirty="0">
                <a:solidFill>
                  <a:srgbClr val="BBAACC"/>
                </a:solidFill>
                <a:latin typeface="Arial" pitchFamily="34" charset="0"/>
                <a:ea typeface="Arial" pitchFamily="34" charset="-122"/>
                <a:cs typeface="Arial" pitchFamily="34" charset="-120"/>
              </a:rPr>
              <a:t>Nuclear Collaboration Ltd</a:t>
            </a:r>
            <a:endParaRPr lang="en-US" sz="1300" dirty="0"/>
          </a:p>
          <a:p>
            <a:pPr indent="0" marL="0">
              <a:buNone/>
            </a:pPr>
            <a:r>
              <a:rPr lang="en-US" sz="1300" dirty="0">
                <a:solidFill>
                  <a:srgbClr val="BBAACC"/>
                </a:solidFill>
                <a:latin typeface="Arial" pitchFamily="34" charset="0"/>
                <a:ea typeface="Arial" pitchFamily="34" charset="-122"/>
                <a:cs typeface="Arial" pitchFamily="34" charset="-120"/>
              </a:rPr>
              <a:t>www.nuccol.co.uk</a:t>
            </a:r>
            <a:endParaRPr lang="en-US" sz="1300" dirty="0"/>
          </a:p>
          <a:p>
            <a:pPr indent="0" marL="0">
              <a:buNone/>
            </a:pPr>
            <a:r>
              <a:rPr lang="en-US" sz="1300" dirty="0">
                <a:solidFill>
                  <a:srgbClr val="BBAACC"/>
                </a:solidFill>
                <a:latin typeface="Arial" pitchFamily="34" charset="0"/>
                <a:ea typeface="Arial" pitchFamily="34" charset="-122"/>
                <a:cs typeface="Arial" pitchFamily="34" charset="-120"/>
              </a:rPr>
              <a:t>enquiries@nuccol.co.uk</a:t>
            </a:r>
            <a:endParaRPr lang="en-US" sz="1300" dirty="0"/>
          </a:p>
        </p:txBody>
      </p:sp>
      <p:sp>
        <p:nvSpPr>
          <p:cNvPr id="24" name="Rectangle 2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5"/>
          <a:stretch>
            <a:fillRect/>
          </a:stretch>
        </p:blipFill>
        <p:spPr>
          <a:xfrm>
            <a:off x="7562088" y="100584"/>
            <a:ext cx="566928" cy="347472"/>
          </a:xfrm>
          <a:prstGeom prst="rect">
            <a:avLst/>
          </a:prstGeom>
        </p:spPr>
      </p:pic>
      <p:pic>
        <p:nvPicPr>
          <p:cNvPr id="26" name="Picture 25" descr="image.png"/>
          <p:cNvPicPr>
            <a:picLocks noChangeAspect="1"/>
          </p:cNvPicPr>
          <p:nvPr/>
        </p:nvPicPr>
        <p:blipFill>
          <a:blip r:embed="rId4"/>
          <a:stretch>
            <a:fillRect/>
          </a:stretch>
        </p:blipFill>
        <p:spPr>
          <a:xfrm>
            <a:off x="8174736" y="100584"/>
            <a:ext cx="658368" cy="347472"/>
          </a:xfrm>
          <a:prstGeom prst="rect">
            <a:avLst/>
          </a:prstGeom>
        </p:spPr>
      </p:pic>
      <p:sp>
        <p:nvSpPr>
          <p:cNvPr id="27" name="Rectangle 2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5182B72-5DC6-4FB3-BBF5-181B55CC5ABC}"/>
</file>

<file path=customXml/itemProps2.xml><?xml version="1.0" encoding="utf-8"?>
<ds:datastoreItem xmlns:ds="http://schemas.openxmlformats.org/officeDocument/2006/customXml" ds:itemID="{E4F0F176-8B39-4606-BCDD-D0CAB18A9B22}"/>
</file>

<file path=customXml/itemProps3.xml><?xml version="1.0" encoding="utf-8"?>
<ds:datastoreItem xmlns:ds="http://schemas.openxmlformats.org/officeDocument/2006/customXml" ds:itemID="{8BE37940-8479-438C-AF6A-54DC2D0C1E1C}"/>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QHSE-TG05 Working at Height Training Guide</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