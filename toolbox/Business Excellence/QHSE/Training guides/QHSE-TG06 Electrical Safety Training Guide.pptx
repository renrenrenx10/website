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media/image-1-1.jpg" ContentType="image/jpg"/>
  <Override PartName="/ppt/notesSlides/notesSlide1.xml" ContentType="application/vnd.openxmlformats-officedocument.presentationml.notesSlide+xml"/>
  <Override PartName="/ppt/notesMasters/notesMaster1.xml" ContentType="application/vnd.openxmlformats-officedocument.presentationml.notesMaster+xml"/>
  <Override PartName="/ppt/slides/slide2.xml" ContentType="application/vnd.openxmlformats-officedocument.presentationml.slide+xml"/>
  <Override PartName="/ppt/media/image-2-1.jpg" ContentType="image/jpg"/>
  <Override PartName="/ppt/notesSlides/notesSlide2.xml" ContentType="application/vnd.openxmlformats-officedocument.presentationml.notesSlide+xml"/>
  <Override PartName="/ppt/slides/slide3.xml" ContentType="application/vnd.openxmlformats-officedocument.presentationml.slide+xml"/>
  <Override PartName="/ppt/media/image-3-1.jpg" ContentType="image/jpg"/>
  <Override PartName="/ppt/notesSlides/notesSlide3.xml" ContentType="application/vnd.openxmlformats-officedocument.presentationml.notesSlide+xml"/>
  <Override PartName="/ppt/slides/slide4.xml" ContentType="application/vnd.openxmlformats-officedocument.presentationml.slide+xml"/>
  <Override PartName="/ppt/media/image-4-1.jpg" ContentType="image/jpg"/>
  <Override PartName="/ppt/notesSlides/notesSlide4.xml" ContentType="application/vnd.openxmlformats-officedocument.presentationml.notesSlide+xml"/>
  <Override PartName="/ppt/slides/slide5.xml" ContentType="application/vnd.openxmlformats-officedocument.presentationml.slide+xml"/>
  <Override PartName="/ppt/media/image-5-1.jpg" ContentType="image/jpg"/>
  <Override PartName="/ppt/notesSlides/notesSlide5.xml" ContentType="application/vnd.openxmlformats-officedocument.presentationml.notesSlide+xml"/>
  <Override PartName="/ppt/slides/slide6.xml" ContentType="application/vnd.openxmlformats-officedocument.presentationml.slide+xml"/>
  <Override PartName="/ppt/media/image-6-1.jpg" ContentType="image/jpg"/>
  <Override PartName="/ppt/notesSlides/notesSlide6.xml" ContentType="application/vnd.openxmlformats-officedocument.presentationml.notesSlide+xml"/>
  <Override PartName="/ppt/slides/slide7.xml" ContentType="application/vnd.openxmlformats-officedocument.presentationml.slide+xml"/>
  <Override PartName="/ppt/media/image-7-1.jpg" ContentType="image/jpg"/>
  <Override PartName="/ppt/notesSlides/notesSlide7.xml" ContentType="application/vnd.openxmlformats-officedocument.presentationml.notesSlide+xml"/>
  <Override PartName="/ppt/slides/slide8.xml" ContentType="application/vnd.openxmlformats-officedocument.presentationml.slide+xml"/>
  <Override PartName="/ppt/media/image-8-1.jpg" ContentType="image/jpg"/>
  <Override PartName="/ppt/notesSlides/notesSlide8.xml" ContentType="application/vnd.openxmlformats-officedocument.presentationml.notesSlide+xml"/>
  <Override PartName="/ppt/slides/slide9.xml" ContentType="application/vnd.openxmlformats-officedocument.presentationml.slide+xml"/>
  <Override PartName="/ppt/media/image-9-1.jpg" ContentType="image/jpg"/>
  <Override PartName="/ppt/notesSlides/notesSlide9.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50mA = 0.05A. A standard torch battery is 1500mA. Mains voltage drives 230/R amps through the body. At typical skin resistance of 1000 ohms, that is 230mA — over 4 times the lethal dose. Voltage is not the killer; current is. But voltage drives the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LOTO is non-negotiable. More workers are killed each year by inadvertent re-energisation during maintenance than by any other electrical cause. 'I thought it was off' or 'someone else must have switched it back on' are the most common pre-incident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 Id="rId9" Type="http://schemas.openxmlformats.org/officeDocument/2006/relationships/image" Target="../media/image1.png"/><Relationship Id="rId10"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 Id="rId8" Type="http://schemas.openxmlformats.org/officeDocument/2006/relationships/image" Target="../media/image1.png"/><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1.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1.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1.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image" Target="../media/image1.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C8960A">
              <a:alpha val="90000"/>
            </a:srgbClr>
          </a:solidFill>
          <a:ln w="12700">
            <a:solidFill>
              <a:srgbClr val="C8960A"/>
            </a:solidFill>
            <a:prstDash val="solid"/>
          </a:ln>
        </p:spPr>
      </p:sp>
      <p:pic>
        <p:nvPicPr>
          <p:cNvPr id="3" name="Image 0" descr="/home/claude/nuccol_logo.jpg">    </p:cNvPr>
          <p:cNvPicPr>
            <a:picLocks noChangeAspect="1"/>
          </p:cNvPicPr>
          <p:nvPr/>
        </p:nvPicPr>
        <p:blipFill>
          <a:blip r:embed="rId1"/>
          <a:stretch>
            <a:fillRect/>
          </a:stretch>
        </p:blipFill>
        <p:spPr>
          <a:xfrm>
            <a:off x="274320" y="228600"/>
            <a:ext cx="1417320" cy="676656"/>
          </a:xfrm>
          <a:prstGeom prst="rect">
            <a:avLst/>
          </a:prstGeom>
        </p:spPr>
      </p:pic>
      <p:sp>
        <p:nvSpPr>
          <p:cNvPr id="4" name="Text 1"/>
          <p:cNvSpPr/>
          <p:nvPr/>
        </p:nvSpPr>
        <p:spPr>
          <a:xfrm>
            <a:off x="274320" y="1115568"/>
            <a:ext cx="3474720" cy="292608"/>
          </a:xfrm>
          <a:prstGeom prst="rect">
            <a:avLst/>
          </a:prstGeom>
          <a:noFill/>
          <a:ln/>
        </p:spPr>
        <p:txBody>
          <a:bodyPr wrap="square" lIns="0" tIns="0" rIns="0" bIns="0" rtlCol="0" anchor="ctr"/>
          <a:lstStyle/>
          <a:p>
            <a:pPr indent="0" marL="0">
              <a:buNone/>
            </a:pPr>
            <a:r>
              <a:rPr lang="en-US" sz="1300" i="1" spc="200" kern="0" dirty="0">
                <a:solidFill>
                  <a:srgbClr val="FFFFFF"/>
                </a:solidFill>
                <a:latin typeface="Arial" pitchFamily="34" charset="0"/>
                <a:ea typeface="Arial" pitchFamily="34" charset="-122"/>
                <a:cs typeface="Arial" pitchFamily="34" charset="-120"/>
              </a:rPr>
              <a:t>QHSE Training Guide</a:t>
            </a:r>
            <a:endParaRPr lang="en-US" sz="1300" dirty="0"/>
          </a:p>
        </p:txBody>
      </p:sp>
      <p:sp>
        <p:nvSpPr>
          <p:cNvPr id="5" name="Text 2"/>
          <p:cNvSpPr/>
          <p:nvPr/>
        </p:nvSpPr>
        <p:spPr>
          <a:xfrm>
            <a:off x="274320" y="1463040"/>
            <a:ext cx="3474720" cy="14173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Electrical Safety</a:t>
            </a:r>
            <a:endParaRPr lang="en-US" sz="3200" dirty="0"/>
          </a:p>
          <a:p>
            <a:pPr indent="0" marL="0">
              <a:buNone/>
            </a:pPr>
            <a:r>
              <a:rPr lang="en-US" sz="3200" b="1" dirty="0">
                <a:solidFill>
                  <a:srgbClr val="FFFFFF"/>
                </a:solidFill>
                <a:latin typeface="Cambria" pitchFamily="34" charset="0"/>
                <a:ea typeface="Cambria" pitchFamily="34" charset="-122"/>
                <a:cs typeface="Cambria" pitchFamily="34" charset="-120"/>
              </a:rPr>
              <a:t>Awareness</a:t>
            </a:r>
            <a:endParaRPr lang="en-US" sz="3200" dirty="0"/>
          </a:p>
        </p:txBody>
      </p:sp>
      <p:sp>
        <p:nvSpPr>
          <p:cNvPr id="6" name="Shape 3"/>
          <p:cNvSpPr/>
          <p:nvPr/>
        </p:nvSpPr>
        <p:spPr>
          <a:xfrm>
            <a:off x="274320" y="2926080"/>
            <a:ext cx="3383280" cy="0"/>
          </a:xfrm>
          <a:prstGeom prst="line">
            <a:avLst/>
          </a:prstGeom>
          <a:noFill/>
          <a:ln w="12700">
            <a:solidFill>
              <a:srgbClr val="FFFFFF"/>
            </a:solidFill>
            <a:prstDash val="solid"/>
          </a:ln>
        </p:spPr>
      </p:sp>
      <p:sp>
        <p:nvSpPr>
          <p:cNvPr id="7" name="Text 4"/>
          <p:cNvSpPr/>
          <p:nvPr/>
        </p:nvSpPr>
        <p:spPr>
          <a:xfrm>
            <a:off x="274320" y="3017520"/>
            <a:ext cx="3474720" cy="77724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Understanding electrical hazards, inspection, isolation, and what to do in an emergency.</a:t>
            </a:r>
            <a:endParaRPr lang="en-US" sz="1150" dirty="0"/>
          </a:p>
        </p:txBody>
      </p:sp>
      <p:sp>
        <p:nvSpPr>
          <p:cNvPr id="8" name="Text 5"/>
          <p:cNvSpPr/>
          <p:nvPr/>
        </p:nvSpPr>
        <p:spPr>
          <a:xfrm>
            <a:off x="274320" y="4224528"/>
            <a:ext cx="3474720" cy="457200"/>
          </a:xfrm>
          <a:prstGeom prst="rect">
            <a:avLst/>
          </a:prstGeom>
          <a:noFill/>
          <a:ln/>
        </p:spPr>
        <p:txBody>
          <a:bodyPr wrap="square" lIns="0" tIns="0" rIns="0" bIns="0" rtlCol="0" anchor="t"/>
          <a:lstStyle/>
          <a:p>
            <a:pPr indent="0" marL="0">
              <a:buNone/>
            </a:pPr>
            <a:r>
              <a:rPr lang="en-US" sz="850" dirty="0">
                <a:solidFill>
                  <a:srgbClr val="BBAACC"/>
                </a:solidFill>
                <a:latin typeface="Arial" pitchFamily="34" charset="0"/>
                <a:ea typeface="Arial" pitchFamily="34" charset="-122"/>
                <a:cs typeface="Arial" pitchFamily="34" charset="-120"/>
              </a:rPr>
              <a:t>Aligned to: Electricity at Work Regulations 1989  |  IET Wiring Regulations (BS 7671)  |  ISO 45001</a:t>
            </a:r>
            <a:endParaRPr lang="en-US" sz="850" dirty="0"/>
          </a:p>
        </p:txBody>
      </p:sp>
      <p:sp>
        <p:nvSpPr>
          <p:cNvPr id="9" name="Shape 6"/>
          <p:cNvSpPr/>
          <p:nvPr/>
        </p:nvSpPr>
        <p:spPr>
          <a:xfrm>
            <a:off x="6080760" y="411480"/>
            <a:ext cx="822960" cy="822960"/>
          </a:xfrm>
          <a:prstGeom prst="ellipse">
            <a:avLst/>
          </a:prstGeom>
          <a:solidFill>
            <a:srgbClr val="C8960A">
              <a:alpha val="82000"/>
            </a:srgbClr>
          </a:solidFill>
          <a:ln w="10160">
            <a:solidFill>
              <a:srgbClr val="FFFFFF"/>
            </a:solidFill>
            <a:prstDash val="solid"/>
          </a:ln>
        </p:spPr>
      </p:sp>
      <p:pic>
        <p:nvPicPr>
          <p:cNvPr id="10" name="Image 1" descr="preencoded.png">    </p:cNvPr>
          <p:cNvPicPr>
            <a:picLocks noChangeAspect="1"/>
          </p:cNvPicPr>
          <p:nvPr/>
        </p:nvPicPr>
        <p:blipFill>
          <a:blip r:embed="rId2"/>
          <a:stretch>
            <a:fillRect/>
          </a:stretch>
        </p:blipFill>
        <p:spPr>
          <a:xfrm>
            <a:off x="6217920" y="548640"/>
            <a:ext cx="548640" cy="548640"/>
          </a:xfrm>
          <a:prstGeom prst="rect">
            <a:avLst/>
          </a:prstGeom>
        </p:spPr>
      </p:pic>
      <p:sp>
        <p:nvSpPr>
          <p:cNvPr id="11" name="Shape 7"/>
          <p:cNvSpPr/>
          <p:nvPr/>
        </p:nvSpPr>
        <p:spPr>
          <a:xfrm>
            <a:off x="7086600" y="1234440"/>
            <a:ext cx="822960" cy="822960"/>
          </a:xfrm>
          <a:prstGeom prst="ellipse">
            <a:avLst/>
          </a:prstGeom>
          <a:solidFill>
            <a:srgbClr val="D4550A">
              <a:alpha val="82000"/>
            </a:srgbClr>
          </a:solidFill>
          <a:ln w="1016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7223760" y="1371600"/>
            <a:ext cx="548640" cy="548640"/>
          </a:xfrm>
          <a:prstGeom prst="rect">
            <a:avLst/>
          </a:prstGeom>
        </p:spPr>
      </p:pic>
      <p:sp>
        <p:nvSpPr>
          <p:cNvPr id="13" name="Shape 8"/>
          <p:cNvSpPr/>
          <p:nvPr/>
        </p:nvSpPr>
        <p:spPr>
          <a:xfrm>
            <a:off x="6446520" y="2057400"/>
            <a:ext cx="822960" cy="822960"/>
          </a:xfrm>
          <a:prstGeom prst="ellipse">
            <a:avLst/>
          </a:prstGeom>
          <a:solidFill>
            <a:srgbClr val="C0392B">
              <a:alpha val="82000"/>
            </a:srgbClr>
          </a:solidFill>
          <a:ln w="10160">
            <a:solidFill>
              <a:srgbClr val="FFFFFF"/>
            </a:solidFill>
            <a:prstDash val="solid"/>
          </a:ln>
        </p:spPr>
      </p:sp>
      <p:pic>
        <p:nvPicPr>
          <p:cNvPr id="14" name="Image 3" descr="preencoded.png">    </p:cNvPr>
          <p:cNvPicPr>
            <a:picLocks noChangeAspect="1"/>
          </p:cNvPicPr>
          <p:nvPr/>
        </p:nvPicPr>
        <p:blipFill>
          <a:blip r:embed="rId4"/>
          <a:stretch>
            <a:fillRect/>
          </a:stretch>
        </p:blipFill>
        <p:spPr>
          <a:xfrm>
            <a:off x="6583680" y="2194560"/>
            <a:ext cx="548640" cy="548640"/>
          </a:xfrm>
          <a:prstGeom prst="rect">
            <a:avLst/>
          </a:prstGeom>
        </p:spPr>
      </p:pic>
      <p:sp>
        <p:nvSpPr>
          <p:cNvPr id="15" name="Shape 9"/>
          <p:cNvSpPr/>
          <p:nvPr/>
        </p:nvSpPr>
        <p:spPr>
          <a:xfrm>
            <a:off x="6903720" y="2880360"/>
            <a:ext cx="822960" cy="822960"/>
          </a:xfrm>
          <a:prstGeom prst="ellipse">
            <a:avLst/>
          </a:prstGeom>
          <a:solidFill>
            <a:srgbClr val="009FE3">
              <a:alpha val="82000"/>
            </a:srgbClr>
          </a:solidFill>
          <a:ln w="10160">
            <a:solidFill>
              <a:srgbClr val="FFFFFF"/>
            </a:solidFill>
            <a:prstDash val="solid"/>
          </a:ln>
        </p:spPr>
      </p:sp>
      <p:pic>
        <p:nvPicPr>
          <p:cNvPr id="16" name="Image 4" descr="preencoded.png">    </p:cNvPr>
          <p:cNvPicPr>
            <a:picLocks noChangeAspect="1"/>
          </p:cNvPicPr>
          <p:nvPr/>
        </p:nvPicPr>
        <p:blipFill>
          <a:blip r:embed="rId5"/>
          <a:stretch>
            <a:fillRect/>
          </a:stretch>
        </p:blipFill>
        <p:spPr>
          <a:xfrm>
            <a:off x="7040880" y="3017520"/>
            <a:ext cx="548640" cy="548640"/>
          </a:xfrm>
          <a:prstGeom prst="rect">
            <a:avLst/>
          </a:prstGeom>
        </p:spPr>
      </p:pic>
      <p:sp>
        <p:nvSpPr>
          <p:cNvPr id="17" name="Shape 10"/>
          <p:cNvSpPr/>
          <p:nvPr/>
        </p:nvSpPr>
        <p:spPr>
          <a:xfrm>
            <a:off x="6172200" y="3520440"/>
            <a:ext cx="822960" cy="822960"/>
          </a:xfrm>
          <a:prstGeom prst="ellipse">
            <a:avLst/>
          </a:prstGeom>
          <a:solidFill>
            <a:srgbClr val="2E8B57">
              <a:alpha val="82000"/>
            </a:srgbClr>
          </a:solidFill>
          <a:ln w="10160">
            <a:solidFill>
              <a:srgbClr val="FFFFFF"/>
            </a:solidFill>
            <a:prstDash val="solid"/>
          </a:ln>
        </p:spPr>
      </p:sp>
      <p:pic>
        <p:nvPicPr>
          <p:cNvPr id="18" name="Image 5" descr="preencoded.png">    </p:cNvPr>
          <p:cNvPicPr>
            <a:picLocks noChangeAspect="1"/>
          </p:cNvPicPr>
          <p:nvPr/>
        </p:nvPicPr>
        <p:blipFill>
          <a:blip r:embed="rId6"/>
          <a:stretch>
            <a:fillRect/>
          </a:stretch>
        </p:blipFill>
        <p:spPr>
          <a:xfrm>
            <a:off x="6309360" y="3657600"/>
            <a:ext cx="548640" cy="548640"/>
          </a:xfrm>
          <a:prstGeom prst="rect">
            <a:avLst/>
          </a:prstGeom>
        </p:spPr>
      </p:pic>
      <p:sp>
        <p:nvSpPr>
          <p:cNvPr id="19" name="Rectangle 1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10"/>
          <a:stretch>
            <a:fillRect/>
          </a:stretch>
        </p:blipFill>
        <p:spPr>
          <a:xfrm>
            <a:off x="7562088" y="100584"/>
            <a:ext cx="566928" cy="347472"/>
          </a:xfrm>
          <a:prstGeom prst="rect">
            <a:avLst/>
          </a:prstGeom>
        </p:spPr>
      </p:pic>
      <p:pic>
        <p:nvPicPr>
          <p:cNvPr id="21" name="Picture 20" descr="image.png"/>
          <p:cNvPicPr>
            <a:picLocks noChangeAspect="1"/>
          </p:cNvPicPr>
          <p:nvPr/>
        </p:nvPicPr>
        <p:blipFill>
          <a:blip r:embed="rId9"/>
          <a:stretch>
            <a:fillRect/>
          </a:stretch>
        </p:blipFill>
        <p:spPr>
          <a:xfrm>
            <a:off x="8174736" y="100584"/>
            <a:ext cx="658368" cy="347472"/>
          </a:xfrm>
          <a:prstGeom prst="rect">
            <a:avLst/>
          </a:prstGeom>
        </p:spPr>
      </p:pic>
      <p:sp>
        <p:nvSpPr>
          <p:cNvPr id="22" name="Rectangle 2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C0392B"/>
          </a:solidFill>
          <a:ln w="12700">
            <a:solidFill>
              <a:srgbClr val="C0392B"/>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The Hazard</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Why Electricity Is Uniquely Dangerous</a:t>
            </a:r>
            <a:endParaRPr lang="en-US" sz="2600" dirty="0"/>
          </a:p>
        </p:txBody>
      </p:sp>
      <p:sp>
        <p:nvSpPr>
          <p:cNvPr id="9" name="Shape 6"/>
          <p:cNvSpPr/>
          <p:nvPr/>
        </p:nvSpPr>
        <p:spPr>
          <a:xfrm>
            <a:off x="347472" y="1261872"/>
            <a:ext cx="8449056" cy="0"/>
          </a:xfrm>
          <a:prstGeom prst="line">
            <a:avLst/>
          </a:prstGeom>
          <a:noFill/>
          <a:ln w="19050">
            <a:solidFill>
              <a:srgbClr val="C0392B"/>
            </a:solidFill>
            <a:prstDash val="solid"/>
          </a:ln>
        </p:spPr>
      </p:sp>
      <p:sp>
        <p:nvSpPr>
          <p:cNvPr id="10" name="Text 7"/>
          <p:cNvSpPr/>
          <p:nvPr/>
        </p:nvSpPr>
        <p:spPr>
          <a:xfrm>
            <a:off x="347472" y="1353312"/>
            <a:ext cx="8449056" cy="530352"/>
          </a:xfrm>
          <a:prstGeom prst="rect">
            <a:avLst/>
          </a:prstGeom>
          <a:noFill/>
          <a:ln/>
        </p:spPr>
        <p:txBody>
          <a:bodyPr wrap="square" lIns="0" tIns="0" rIns="0" bIns="0" rtlCol="0" anchor="t"/>
          <a:lstStyle/>
          <a:p>
            <a:pPr algn="l" indent="0" marL="0">
              <a:buNone/>
            </a:pPr>
            <a:r>
              <a:rPr lang="en-US" sz="1250" dirty="0">
                <a:solidFill>
                  <a:srgbClr val="5B595A"/>
                </a:solidFill>
                <a:latin typeface="Arial" pitchFamily="34" charset="0"/>
                <a:ea typeface="Arial" pitchFamily="34" charset="-122"/>
                <a:cs typeface="Arial" pitchFamily="34" charset="-120"/>
              </a:rPr>
              <a:t>Electricity cannot be seen, heard, or smelled. Unlike most physical hazards, the warning signs are often invisible until contact has already occurred. In a manufacturing environment, every electrical system, portable tool, and extension lead carries risk. Understanding that risk is the first step to managing it.</a:t>
            </a:r>
            <a:endParaRPr lang="en-US" sz="1250" dirty="0"/>
          </a:p>
        </p:txBody>
      </p:sp>
      <p:sp>
        <p:nvSpPr>
          <p:cNvPr id="11" name="Shape 8"/>
          <p:cNvSpPr/>
          <p:nvPr/>
        </p:nvSpPr>
        <p:spPr>
          <a:xfrm>
            <a:off x="347472" y="1956816"/>
            <a:ext cx="4133088" cy="1188720"/>
          </a:xfrm>
          <a:prstGeom prst="roundRect">
            <a:avLst>
              <a:gd name="adj" fmla="val 6154"/>
            </a:avLst>
          </a:prstGeom>
          <a:solidFill>
            <a:srgbClr val="F8F8F8"/>
          </a:solidFill>
          <a:ln w="10160">
            <a:solidFill>
              <a:srgbClr val="C0392B"/>
            </a:solidFill>
            <a:prstDash val="solid"/>
          </a:ln>
        </p:spPr>
      </p:sp>
      <p:sp>
        <p:nvSpPr>
          <p:cNvPr id="12" name="Shape 9"/>
          <p:cNvSpPr/>
          <p:nvPr/>
        </p:nvSpPr>
        <p:spPr>
          <a:xfrm>
            <a:off x="438912" y="2048256"/>
            <a:ext cx="512064" cy="512064"/>
          </a:xfrm>
          <a:prstGeom prst="ellipse">
            <a:avLst/>
          </a:prstGeom>
          <a:solidFill>
            <a:srgbClr val="C0392B"/>
          </a:solidFill>
          <a:ln w="12700">
            <a:solidFill>
              <a:srgbClr val="C0392B"/>
            </a:solidFill>
            <a:prstDash val="solid"/>
          </a:ln>
        </p:spPr>
      </p:sp>
      <p:pic>
        <p:nvPicPr>
          <p:cNvPr id="13" name="Image 1" descr="preencoded.png">    </p:cNvPr>
          <p:cNvPicPr>
            <a:picLocks noChangeAspect="1"/>
          </p:cNvPicPr>
          <p:nvPr/>
        </p:nvPicPr>
        <p:blipFill>
          <a:blip r:embed="rId2"/>
          <a:stretch>
            <a:fillRect/>
          </a:stretch>
        </p:blipFill>
        <p:spPr>
          <a:xfrm>
            <a:off x="554126" y="2163470"/>
            <a:ext cx="281635" cy="281635"/>
          </a:xfrm>
          <a:prstGeom prst="rect">
            <a:avLst/>
          </a:prstGeom>
        </p:spPr>
      </p:pic>
      <p:sp>
        <p:nvSpPr>
          <p:cNvPr id="14" name="Text 10"/>
          <p:cNvSpPr/>
          <p:nvPr/>
        </p:nvSpPr>
        <p:spPr>
          <a:xfrm>
            <a:off x="1060704" y="2048256"/>
            <a:ext cx="3310128" cy="274320"/>
          </a:xfrm>
          <a:prstGeom prst="rect">
            <a:avLst/>
          </a:prstGeom>
          <a:noFill/>
          <a:ln/>
        </p:spPr>
        <p:txBody>
          <a:bodyPr wrap="square" lIns="0" tIns="0" rIns="0" bIns="0" rtlCol="0" anchor="ctr"/>
          <a:lstStyle/>
          <a:p>
            <a:pPr indent="0" marL="0">
              <a:buNone/>
            </a:pPr>
            <a:r>
              <a:rPr lang="en-US" sz="1200" b="1" dirty="0">
                <a:solidFill>
                  <a:srgbClr val="C0392B"/>
                </a:solidFill>
                <a:latin typeface="Arial" pitchFamily="34" charset="0"/>
                <a:ea typeface="Arial" pitchFamily="34" charset="-122"/>
                <a:cs typeface="Arial" pitchFamily="34" charset="-120"/>
              </a:rPr>
              <a:t>Electric shock</a:t>
            </a:r>
            <a:endParaRPr lang="en-US" sz="1200" dirty="0"/>
          </a:p>
        </p:txBody>
      </p:sp>
      <p:sp>
        <p:nvSpPr>
          <p:cNvPr id="15" name="Text 11"/>
          <p:cNvSpPr/>
          <p:nvPr/>
        </p:nvSpPr>
        <p:spPr>
          <a:xfrm>
            <a:off x="438912" y="2468880"/>
            <a:ext cx="3931920" cy="621792"/>
          </a:xfrm>
          <a:prstGeom prst="rect">
            <a:avLst/>
          </a:prstGeom>
          <a:noFill/>
          <a:ln/>
        </p:spPr>
        <p:txBody>
          <a:bodyPr wrap="square" lIns="0" tIns="0" rIns="0" bIns="0" rtlCol="0" anchor="t"/>
          <a:lstStyle/>
          <a:p>
            <a:pPr indent="0" marL="0">
              <a:buNone/>
            </a:pPr>
            <a:r>
              <a:rPr lang="en-US" sz="1050" dirty="0">
                <a:solidFill>
                  <a:srgbClr val="5B595A"/>
                </a:solidFill>
                <a:latin typeface="Arial" pitchFamily="34" charset="0"/>
                <a:ea typeface="Arial" pitchFamily="34" charset="-122"/>
                <a:cs typeface="Arial" pitchFamily="34" charset="-120"/>
              </a:rPr>
              <a:t>Current passing through the body causes muscle contraction, cardiac arrest, and respiratory failure. As little as 50 milliamps (0.05A) can cause ventricular fibrillation. Mains voltage (230V AC) is potentially fatal.</a:t>
            </a:r>
            <a:endParaRPr lang="en-US" sz="1050" dirty="0"/>
          </a:p>
        </p:txBody>
      </p:sp>
      <p:sp>
        <p:nvSpPr>
          <p:cNvPr id="16" name="Shape 12"/>
          <p:cNvSpPr/>
          <p:nvPr/>
        </p:nvSpPr>
        <p:spPr>
          <a:xfrm>
            <a:off x="4663440" y="1956816"/>
            <a:ext cx="4133088" cy="1188720"/>
          </a:xfrm>
          <a:prstGeom prst="roundRect">
            <a:avLst>
              <a:gd name="adj" fmla="val 6154"/>
            </a:avLst>
          </a:prstGeom>
          <a:solidFill>
            <a:srgbClr val="F8F8F8"/>
          </a:solidFill>
          <a:ln w="10160">
            <a:solidFill>
              <a:srgbClr val="D4550A"/>
            </a:solidFill>
            <a:prstDash val="solid"/>
          </a:ln>
        </p:spPr>
      </p:sp>
      <p:sp>
        <p:nvSpPr>
          <p:cNvPr id="17" name="Shape 13"/>
          <p:cNvSpPr/>
          <p:nvPr/>
        </p:nvSpPr>
        <p:spPr>
          <a:xfrm>
            <a:off x="4754880" y="2048256"/>
            <a:ext cx="512064" cy="512064"/>
          </a:xfrm>
          <a:prstGeom prst="ellipse">
            <a:avLst/>
          </a:prstGeom>
          <a:solidFill>
            <a:srgbClr val="D4550A"/>
          </a:solidFill>
          <a:ln w="12700">
            <a:solidFill>
              <a:srgbClr val="D4550A"/>
            </a:solidFill>
            <a:prstDash val="solid"/>
          </a:ln>
        </p:spPr>
      </p:sp>
      <p:pic>
        <p:nvPicPr>
          <p:cNvPr id="18" name="Image 2" descr="preencoded.png">    </p:cNvPr>
          <p:cNvPicPr>
            <a:picLocks noChangeAspect="1"/>
          </p:cNvPicPr>
          <p:nvPr/>
        </p:nvPicPr>
        <p:blipFill>
          <a:blip r:embed="rId3"/>
          <a:stretch>
            <a:fillRect/>
          </a:stretch>
        </p:blipFill>
        <p:spPr>
          <a:xfrm>
            <a:off x="4870094" y="2163470"/>
            <a:ext cx="281635" cy="281635"/>
          </a:xfrm>
          <a:prstGeom prst="rect">
            <a:avLst/>
          </a:prstGeom>
        </p:spPr>
      </p:pic>
      <p:sp>
        <p:nvSpPr>
          <p:cNvPr id="19" name="Text 14"/>
          <p:cNvSpPr/>
          <p:nvPr/>
        </p:nvSpPr>
        <p:spPr>
          <a:xfrm>
            <a:off x="5376672" y="2048256"/>
            <a:ext cx="3310128" cy="274320"/>
          </a:xfrm>
          <a:prstGeom prst="rect">
            <a:avLst/>
          </a:prstGeom>
          <a:noFill/>
          <a:ln/>
        </p:spPr>
        <p:txBody>
          <a:bodyPr wrap="square" lIns="0" tIns="0" rIns="0" bIns="0" rtlCol="0" anchor="ctr"/>
          <a:lstStyle/>
          <a:p>
            <a:pPr indent="0" marL="0">
              <a:buNone/>
            </a:pPr>
            <a:r>
              <a:rPr lang="en-US" sz="1200" b="1" dirty="0">
                <a:solidFill>
                  <a:srgbClr val="D4550A"/>
                </a:solidFill>
                <a:latin typeface="Arial" pitchFamily="34" charset="0"/>
                <a:ea typeface="Arial" pitchFamily="34" charset="-122"/>
                <a:cs typeface="Arial" pitchFamily="34" charset="-120"/>
              </a:rPr>
              <a:t>Electrical fire</a:t>
            </a:r>
            <a:endParaRPr lang="en-US" sz="1200" dirty="0"/>
          </a:p>
        </p:txBody>
      </p:sp>
      <p:sp>
        <p:nvSpPr>
          <p:cNvPr id="20" name="Text 15"/>
          <p:cNvSpPr/>
          <p:nvPr/>
        </p:nvSpPr>
        <p:spPr>
          <a:xfrm>
            <a:off x="4754880" y="2468880"/>
            <a:ext cx="3931920" cy="621792"/>
          </a:xfrm>
          <a:prstGeom prst="rect">
            <a:avLst/>
          </a:prstGeom>
          <a:noFill/>
          <a:ln/>
        </p:spPr>
        <p:txBody>
          <a:bodyPr wrap="square" lIns="0" tIns="0" rIns="0" bIns="0" rtlCol="0" anchor="t"/>
          <a:lstStyle/>
          <a:p>
            <a:pPr indent="0" marL="0">
              <a:buNone/>
            </a:pPr>
            <a:r>
              <a:rPr lang="en-US" sz="1050" dirty="0">
                <a:solidFill>
                  <a:srgbClr val="5B595A"/>
                </a:solidFill>
                <a:latin typeface="Arial" pitchFamily="34" charset="0"/>
                <a:ea typeface="Arial" pitchFamily="34" charset="-122"/>
                <a:cs typeface="Arial" pitchFamily="34" charset="-120"/>
              </a:rPr>
              <a:t>Overloaded circuits, damaged insulation, and loose connections generate heat that ignites surrounding materials. Electrical fires account for around 20% of all accidental fires in non-domestic premises.</a:t>
            </a:r>
            <a:endParaRPr lang="en-US" sz="1050" dirty="0"/>
          </a:p>
        </p:txBody>
      </p:sp>
      <p:sp>
        <p:nvSpPr>
          <p:cNvPr id="21" name="Shape 16"/>
          <p:cNvSpPr/>
          <p:nvPr/>
        </p:nvSpPr>
        <p:spPr>
          <a:xfrm>
            <a:off x="347472" y="3255264"/>
            <a:ext cx="4133088" cy="1188720"/>
          </a:xfrm>
          <a:prstGeom prst="roundRect">
            <a:avLst>
              <a:gd name="adj" fmla="val 6154"/>
            </a:avLst>
          </a:prstGeom>
          <a:solidFill>
            <a:srgbClr val="F8F8F8"/>
          </a:solidFill>
          <a:ln w="10160">
            <a:solidFill>
              <a:srgbClr val="C8960A"/>
            </a:solidFill>
            <a:prstDash val="solid"/>
          </a:ln>
        </p:spPr>
      </p:sp>
      <p:sp>
        <p:nvSpPr>
          <p:cNvPr id="22" name="Shape 17"/>
          <p:cNvSpPr/>
          <p:nvPr/>
        </p:nvSpPr>
        <p:spPr>
          <a:xfrm>
            <a:off x="438912" y="3346704"/>
            <a:ext cx="512064" cy="512064"/>
          </a:xfrm>
          <a:prstGeom prst="ellipse">
            <a:avLst/>
          </a:prstGeom>
          <a:solidFill>
            <a:srgbClr val="C8960A"/>
          </a:solidFill>
          <a:ln w="12700">
            <a:solidFill>
              <a:srgbClr val="C8960A"/>
            </a:solidFill>
            <a:prstDash val="solid"/>
          </a:ln>
        </p:spPr>
      </p:sp>
      <p:pic>
        <p:nvPicPr>
          <p:cNvPr id="23" name="Image 3" descr="preencoded.png">    </p:cNvPr>
          <p:cNvPicPr>
            <a:picLocks noChangeAspect="1"/>
          </p:cNvPicPr>
          <p:nvPr/>
        </p:nvPicPr>
        <p:blipFill>
          <a:blip r:embed="rId4"/>
          <a:stretch>
            <a:fillRect/>
          </a:stretch>
        </p:blipFill>
        <p:spPr>
          <a:xfrm>
            <a:off x="554126" y="3461918"/>
            <a:ext cx="281635" cy="281635"/>
          </a:xfrm>
          <a:prstGeom prst="rect">
            <a:avLst/>
          </a:prstGeom>
        </p:spPr>
      </p:pic>
      <p:sp>
        <p:nvSpPr>
          <p:cNvPr id="24" name="Text 18"/>
          <p:cNvSpPr/>
          <p:nvPr/>
        </p:nvSpPr>
        <p:spPr>
          <a:xfrm>
            <a:off x="1060704" y="3346704"/>
            <a:ext cx="3310128" cy="274320"/>
          </a:xfrm>
          <a:prstGeom prst="rect">
            <a:avLst/>
          </a:prstGeom>
          <a:noFill/>
          <a:ln/>
        </p:spPr>
        <p:txBody>
          <a:bodyPr wrap="square" lIns="0" tIns="0" rIns="0" bIns="0" rtlCol="0" anchor="ctr"/>
          <a:lstStyle/>
          <a:p>
            <a:pPr indent="0" marL="0">
              <a:buNone/>
            </a:pPr>
            <a:r>
              <a:rPr lang="en-US" sz="1200" b="1" dirty="0">
                <a:solidFill>
                  <a:srgbClr val="C8960A"/>
                </a:solidFill>
                <a:latin typeface="Arial" pitchFamily="34" charset="0"/>
                <a:ea typeface="Arial" pitchFamily="34" charset="-122"/>
                <a:cs typeface="Arial" pitchFamily="34" charset="-120"/>
              </a:rPr>
              <a:t>Arc flash and explosion</a:t>
            </a:r>
            <a:endParaRPr lang="en-US" sz="1200" dirty="0"/>
          </a:p>
        </p:txBody>
      </p:sp>
      <p:sp>
        <p:nvSpPr>
          <p:cNvPr id="25" name="Text 19"/>
          <p:cNvSpPr/>
          <p:nvPr/>
        </p:nvSpPr>
        <p:spPr>
          <a:xfrm>
            <a:off x="438912" y="3767328"/>
            <a:ext cx="3931920" cy="621792"/>
          </a:xfrm>
          <a:prstGeom prst="rect">
            <a:avLst/>
          </a:prstGeom>
          <a:noFill/>
          <a:ln/>
        </p:spPr>
        <p:txBody>
          <a:bodyPr wrap="square" lIns="0" tIns="0" rIns="0" bIns="0" rtlCol="0" anchor="t"/>
          <a:lstStyle/>
          <a:p>
            <a:pPr indent="0" marL="0">
              <a:buNone/>
            </a:pPr>
            <a:r>
              <a:rPr lang="en-US" sz="1050" dirty="0">
                <a:solidFill>
                  <a:srgbClr val="5B595A"/>
                </a:solidFill>
                <a:latin typeface="Arial" pitchFamily="34" charset="0"/>
                <a:ea typeface="Arial" pitchFamily="34" charset="-122"/>
                <a:cs typeface="Arial" pitchFamily="34" charset="-120"/>
              </a:rPr>
              <a:t>Short circuits can release enormous energy in fractions of a second, producing temperatures exceeding 20,000°C, pressure waves, and molten metal projectiles. Arc flash can cause severe burns at distances of several metres.</a:t>
            </a:r>
            <a:endParaRPr lang="en-US" sz="1050" dirty="0"/>
          </a:p>
        </p:txBody>
      </p:sp>
      <p:sp>
        <p:nvSpPr>
          <p:cNvPr id="26" name="Shape 20"/>
          <p:cNvSpPr/>
          <p:nvPr/>
        </p:nvSpPr>
        <p:spPr>
          <a:xfrm>
            <a:off x="4663440" y="3255264"/>
            <a:ext cx="4133088" cy="1188720"/>
          </a:xfrm>
          <a:prstGeom prst="roundRect">
            <a:avLst>
              <a:gd name="adj" fmla="val 6154"/>
            </a:avLst>
          </a:prstGeom>
          <a:solidFill>
            <a:srgbClr val="F8F8F8"/>
          </a:solidFill>
          <a:ln w="10160">
            <a:solidFill>
              <a:srgbClr val="E08A00"/>
            </a:solidFill>
            <a:prstDash val="solid"/>
          </a:ln>
        </p:spPr>
      </p:sp>
      <p:sp>
        <p:nvSpPr>
          <p:cNvPr id="27" name="Shape 21"/>
          <p:cNvSpPr/>
          <p:nvPr/>
        </p:nvSpPr>
        <p:spPr>
          <a:xfrm>
            <a:off x="4754880" y="3346704"/>
            <a:ext cx="512064" cy="512064"/>
          </a:xfrm>
          <a:prstGeom prst="ellipse">
            <a:avLst/>
          </a:prstGeom>
          <a:solidFill>
            <a:srgbClr val="E08A00"/>
          </a:solidFill>
          <a:ln w="12700">
            <a:solidFill>
              <a:srgbClr val="E08A00"/>
            </a:solidFill>
            <a:prstDash val="solid"/>
          </a:ln>
        </p:spPr>
      </p:sp>
      <p:pic>
        <p:nvPicPr>
          <p:cNvPr id="28" name="Image 4" descr="preencoded.png">    </p:cNvPr>
          <p:cNvPicPr>
            <a:picLocks noChangeAspect="1"/>
          </p:cNvPicPr>
          <p:nvPr/>
        </p:nvPicPr>
        <p:blipFill>
          <a:blip r:embed="rId5"/>
          <a:stretch>
            <a:fillRect/>
          </a:stretch>
        </p:blipFill>
        <p:spPr>
          <a:xfrm>
            <a:off x="4870094" y="3461918"/>
            <a:ext cx="281635" cy="281635"/>
          </a:xfrm>
          <a:prstGeom prst="rect">
            <a:avLst/>
          </a:prstGeom>
        </p:spPr>
      </p:pic>
      <p:sp>
        <p:nvSpPr>
          <p:cNvPr id="29" name="Text 22"/>
          <p:cNvSpPr/>
          <p:nvPr/>
        </p:nvSpPr>
        <p:spPr>
          <a:xfrm>
            <a:off x="5376672" y="3346704"/>
            <a:ext cx="3310128" cy="274320"/>
          </a:xfrm>
          <a:prstGeom prst="rect">
            <a:avLst/>
          </a:prstGeom>
          <a:noFill/>
          <a:ln/>
        </p:spPr>
        <p:txBody>
          <a:bodyPr wrap="square" lIns="0" tIns="0" rIns="0" bIns="0" rtlCol="0" anchor="ctr"/>
          <a:lstStyle/>
          <a:p>
            <a:pPr indent="0" marL="0">
              <a:buNone/>
            </a:pPr>
            <a:r>
              <a:rPr lang="en-US" sz="1200" b="1" dirty="0">
                <a:solidFill>
                  <a:srgbClr val="E08A00"/>
                </a:solidFill>
                <a:latin typeface="Arial" pitchFamily="34" charset="0"/>
                <a:ea typeface="Arial" pitchFamily="34" charset="-122"/>
                <a:cs typeface="Arial" pitchFamily="34" charset="-120"/>
              </a:rPr>
              <a:t>Indirect causes</a:t>
            </a:r>
            <a:endParaRPr lang="en-US" sz="1200" dirty="0"/>
          </a:p>
        </p:txBody>
      </p:sp>
      <p:sp>
        <p:nvSpPr>
          <p:cNvPr id="30" name="Text 23"/>
          <p:cNvSpPr/>
          <p:nvPr/>
        </p:nvSpPr>
        <p:spPr>
          <a:xfrm>
            <a:off x="4754880" y="3767328"/>
            <a:ext cx="3931920" cy="621792"/>
          </a:xfrm>
          <a:prstGeom prst="rect">
            <a:avLst/>
          </a:prstGeom>
          <a:noFill/>
          <a:ln/>
        </p:spPr>
        <p:txBody>
          <a:bodyPr wrap="square" lIns="0" tIns="0" rIns="0" bIns="0" rtlCol="0" anchor="t"/>
          <a:lstStyle/>
          <a:p>
            <a:pPr indent="0" marL="0">
              <a:buNone/>
            </a:pPr>
            <a:r>
              <a:rPr lang="en-US" sz="1050" dirty="0">
                <a:solidFill>
                  <a:srgbClr val="5B595A"/>
                </a:solidFill>
                <a:latin typeface="Arial" pitchFamily="34" charset="0"/>
                <a:ea typeface="Arial" pitchFamily="34" charset="-122"/>
                <a:cs typeface="Arial" pitchFamily="34" charset="-120"/>
              </a:rPr>
              <a:t>Electric shock often causes secondary injuries: falls from height, involuntary muscle movements causing impact injuries, or fires started by the fault. The secondary injury can be as serious as the shock itself.</a:t>
            </a:r>
            <a:endParaRPr lang="en-US" sz="1050" dirty="0"/>
          </a:p>
        </p:txBody>
      </p:sp>
      <p:sp>
        <p:nvSpPr>
          <p:cNvPr id="31" name="Rectangle 3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9"/>
          <a:stretch>
            <a:fillRect/>
          </a:stretch>
        </p:blipFill>
        <p:spPr>
          <a:xfrm>
            <a:off x="7562088" y="100584"/>
            <a:ext cx="566928" cy="347472"/>
          </a:xfrm>
          <a:prstGeom prst="rect">
            <a:avLst/>
          </a:prstGeom>
        </p:spPr>
      </p:pic>
      <p:pic>
        <p:nvPicPr>
          <p:cNvPr id="33" name="Picture 32" descr="image.png"/>
          <p:cNvPicPr>
            <a:picLocks noChangeAspect="1"/>
          </p:cNvPicPr>
          <p:nvPr/>
        </p:nvPicPr>
        <p:blipFill>
          <a:blip r:embed="rId8"/>
          <a:stretch>
            <a:fillRect/>
          </a:stretch>
        </p:blipFill>
        <p:spPr>
          <a:xfrm>
            <a:off x="8174736" y="100584"/>
            <a:ext cx="658368" cy="347472"/>
          </a:xfrm>
          <a:prstGeom prst="rect">
            <a:avLst/>
          </a:prstGeom>
        </p:spPr>
      </p:pic>
      <p:sp>
        <p:nvSpPr>
          <p:cNvPr id="34" name="Rectangle 3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C8960A"/>
          </a:solidFill>
          <a:ln w="12700">
            <a:solidFill>
              <a:srgbClr val="C8960A"/>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The Law</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Electrical Safety: The Legal Framework</a:t>
            </a:r>
            <a:endParaRPr lang="en-US" sz="2600" dirty="0"/>
          </a:p>
        </p:txBody>
      </p:sp>
      <p:sp>
        <p:nvSpPr>
          <p:cNvPr id="9" name="Shape 6"/>
          <p:cNvSpPr/>
          <p:nvPr/>
        </p:nvSpPr>
        <p:spPr>
          <a:xfrm>
            <a:off x="347472" y="1261872"/>
            <a:ext cx="8449056" cy="0"/>
          </a:xfrm>
          <a:prstGeom prst="line">
            <a:avLst/>
          </a:prstGeom>
          <a:noFill/>
          <a:ln w="19050">
            <a:solidFill>
              <a:srgbClr val="C8960A"/>
            </a:solidFill>
            <a:prstDash val="solid"/>
          </a:ln>
        </p:spPr>
      </p:sp>
      <p:sp>
        <p:nvSpPr>
          <p:cNvPr id="10" name="Text 7"/>
          <p:cNvSpPr/>
          <p:nvPr/>
        </p:nvSpPr>
        <p:spPr>
          <a:xfrm>
            <a:off x="347472" y="1353312"/>
            <a:ext cx="8449056" cy="475488"/>
          </a:xfrm>
          <a:prstGeom prst="rect">
            <a:avLst/>
          </a:prstGeom>
          <a:noFill/>
          <a:ln/>
        </p:spPr>
        <p:txBody>
          <a:bodyPr wrap="square" lIns="0" tIns="0" rIns="0" bIns="0" rtlCol="0" anchor="t"/>
          <a:lstStyle/>
          <a:p>
            <a:pPr algn="l" indent="0" marL="0">
              <a:buNone/>
            </a:pPr>
            <a:r>
              <a:rPr lang="en-US" sz="1250" dirty="0">
                <a:solidFill>
                  <a:srgbClr val="5B595A"/>
                </a:solidFill>
                <a:latin typeface="Arial" pitchFamily="34" charset="0"/>
                <a:ea typeface="Arial" pitchFamily="34" charset="-122"/>
                <a:cs typeface="Arial" pitchFamily="34" charset="-120"/>
              </a:rPr>
              <a:t>Multiple pieces of legislation govern electrical safety in UK workplaces. The Electricity at Work Regulations 1989 are the primary specific standard, but the Health and Safety at Work Act 1974, PUWER 1998, and the IET Wiring Regulations all apply.</a:t>
            </a:r>
            <a:endParaRPr lang="en-US" sz="1250" dirty="0"/>
          </a:p>
        </p:txBody>
      </p:sp>
      <p:sp>
        <p:nvSpPr>
          <p:cNvPr id="11" name="Shape 8"/>
          <p:cNvSpPr/>
          <p:nvPr/>
        </p:nvSpPr>
        <p:spPr>
          <a:xfrm>
            <a:off x="347472" y="1920240"/>
            <a:ext cx="8449056" cy="896112"/>
          </a:xfrm>
          <a:prstGeom prst="roundRect">
            <a:avLst>
              <a:gd name="adj" fmla="val 7143"/>
            </a:avLst>
          </a:prstGeom>
          <a:solidFill>
            <a:srgbClr val="F8F8F8"/>
          </a:solidFill>
          <a:ln w="10160">
            <a:solidFill>
              <a:srgbClr val="C8960A"/>
            </a:solidFill>
            <a:prstDash val="solid"/>
          </a:ln>
        </p:spPr>
      </p:sp>
      <p:sp>
        <p:nvSpPr>
          <p:cNvPr id="12" name="Text 9"/>
          <p:cNvSpPr/>
          <p:nvPr/>
        </p:nvSpPr>
        <p:spPr>
          <a:xfrm>
            <a:off x="457200" y="1975104"/>
            <a:ext cx="8229600" cy="237744"/>
          </a:xfrm>
          <a:prstGeom prst="rect">
            <a:avLst/>
          </a:prstGeom>
          <a:noFill/>
          <a:ln/>
        </p:spPr>
        <p:txBody>
          <a:bodyPr wrap="square" lIns="0" tIns="0" rIns="0" bIns="0" rtlCol="0" anchor="ctr"/>
          <a:lstStyle/>
          <a:p>
            <a:pPr indent="0" marL="0">
              <a:buNone/>
            </a:pPr>
            <a:r>
              <a:rPr lang="en-US" sz="1150" b="1" dirty="0">
                <a:solidFill>
                  <a:srgbClr val="C8960A"/>
                </a:solidFill>
                <a:latin typeface="Arial" pitchFamily="34" charset="0"/>
                <a:ea typeface="Arial" pitchFamily="34" charset="-122"/>
                <a:cs typeface="Arial" pitchFamily="34" charset="-120"/>
              </a:rPr>
              <a:t>Electricity at Work Regulations 1989</a:t>
            </a:r>
            <a:endParaRPr lang="en-US" sz="1150" dirty="0"/>
          </a:p>
        </p:txBody>
      </p:sp>
      <p:sp>
        <p:nvSpPr>
          <p:cNvPr id="13" name="Text 10"/>
          <p:cNvSpPr/>
          <p:nvPr/>
        </p:nvSpPr>
        <p:spPr>
          <a:xfrm>
            <a:off x="457200" y="2240280"/>
            <a:ext cx="8229600" cy="493776"/>
          </a:xfrm>
          <a:prstGeom prst="rect">
            <a:avLst/>
          </a:prstGeom>
          <a:noFill/>
          <a:ln/>
        </p:spPr>
        <p:txBody>
          <a:bodyPr wrap="square" lIns="0" tIns="0" rIns="0" bIns="0" rtlCol="0" anchor="ctr"/>
          <a:lstStyle/>
          <a:p>
            <a:pPr indent="0" marL="0">
              <a:buNone/>
            </a:pPr>
            <a:r>
              <a:rPr lang="en-US" sz="950" dirty="0">
                <a:solidFill>
                  <a:srgbClr val="5B595A"/>
                </a:solidFill>
                <a:latin typeface="Arial" pitchFamily="34" charset="0"/>
                <a:ea typeface="Arial" pitchFamily="34" charset="-122"/>
                <a:cs typeface="Arial" pitchFamily="34" charset="-120"/>
              </a:rPr>
              <a:t>1.  All electrical systems must be constructed to prevent danger, so far as reasonably practicable     2.  Electrical equipment must be maintained to prevent danger     3.  No person shall work on or near a live conductor unless it is not reasonably practicable to make it dead, AND it is reasonable in all circumstances, AND suitable precautions are taken to prevent injury     4.  Only competent persons may carry out electrical work</a:t>
            </a:r>
            <a:endParaRPr lang="en-US" sz="950" dirty="0"/>
          </a:p>
        </p:txBody>
      </p:sp>
      <p:sp>
        <p:nvSpPr>
          <p:cNvPr id="14" name="Shape 11"/>
          <p:cNvSpPr/>
          <p:nvPr/>
        </p:nvSpPr>
        <p:spPr>
          <a:xfrm>
            <a:off x="347472" y="2926080"/>
            <a:ext cx="8449056" cy="896112"/>
          </a:xfrm>
          <a:prstGeom prst="roundRect">
            <a:avLst>
              <a:gd name="adj" fmla="val 7143"/>
            </a:avLst>
          </a:prstGeom>
          <a:solidFill>
            <a:srgbClr val="F2F2F2"/>
          </a:solidFill>
          <a:ln w="10160">
            <a:solidFill>
              <a:srgbClr val="C8960A"/>
            </a:solidFill>
            <a:prstDash val="solid"/>
          </a:ln>
        </p:spPr>
      </p:sp>
      <p:sp>
        <p:nvSpPr>
          <p:cNvPr id="15" name="Text 12"/>
          <p:cNvSpPr/>
          <p:nvPr/>
        </p:nvSpPr>
        <p:spPr>
          <a:xfrm>
            <a:off x="457200" y="2980944"/>
            <a:ext cx="8229600" cy="237744"/>
          </a:xfrm>
          <a:prstGeom prst="rect">
            <a:avLst/>
          </a:prstGeom>
          <a:noFill/>
          <a:ln/>
        </p:spPr>
        <p:txBody>
          <a:bodyPr wrap="square" lIns="0" tIns="0" rIns="0" bIns="0" rtlCol="0" anchor="ctr"/>
          <a:lstStyle/>
          <a:p>
            <a:pPr indent="0" marL="0">
              <a:buNone/>
            </a:pPr>
            <a:r>
              <a:rPr lang="en-US" sz="1150" b="1" dirty="0">
                <a:solidFill>
                  <a:srgbClr val="C8960A"/>
                </a:solidFill>
                <a:latin typeface="Arial" pitchFamily="34" charset="0"/>
                <a:ea typeface="Arial" pitchFamily="34" charset="-122"/>
                <a:cs typeface="Arial" pitchFamily="34" charset="-120"/>
              </a:rPr>
              <a:t>PUWER 1998 — Portable Electrical Equipment</a:t>
            </a:r>
            <a:endParaRPr lang="en-US" sz="1150" dirty="0"/>
          </a:p>
        </p:txBody>
      </p:sp>
      <p:sp>
        <p:nvSpPr>
          <p:cNvPr id="16" name="Text 13"/>
          <p:cNvSpPr/>
          <p:nvPr/>
        </p:nvSpPr>
        <p:spPr>
          <a:xfrm>
            <a:off x="457200" y="3246120"/>
            <a:ext cx="8229600" cy="493776"/>
          </a:xfrm>
          <a:prstGeom prst="rect">
            <a:avLst/>
          </a:prstGeom>
          <a:noFill/>
          <a:ln/>
        </p:spPr>
        <p:txBody>
          <a:bodyPr wrap="square" lIns="0" tIns="0" rIns="0" bIns="0" rtlCol="0" anchor="ctr"/>
          <a:lstStyle/>
          <a:p>
            <a:pPr indent="0" marL="0">
              <a:buNone/>
            </a:pPr>
            <a:r>
              <a:rPr lang="en-US" sz="950" dirty="0">
                <a:solidFill>
                  <a:srgbClr val="5B595A"/>
                </a:solidFill>
                <a:latin typeface="Arial" pitchFamily="34" charset="0"/>
                <a:ea typeface="Arial" pitchFamily="34" charset="-122"/>
                <a:cs typeface="Arial" pitchFamily="34" charset="-120"/>
              </a:rPr>
              <a:t>1.  Portable electrical equipment used at work must be suitable for its intended use     2.  It must be maintained in a safe condition — this includes visual inspection and where appropriate, formal in-service inspection and testing (commonly known as PAT testing)     3.  Records of inspection and testing must be kept</a:t>
            </a:r>
            <a:endParaRPr lang="en-US" sz="950" dirty="0"/>
          </a:p>
        </p:txBody>
      </p:sp>
      <p:sp>
        <p:nvSpPr>
          <p:cNvPr id="17" name="Shape 14"/>
          <p:cNvSpPr/>
          <p:nvPr/>
        </p:nvSpPr>
        <p:spPr>
          <a:xfrm>
            <a:off x="347472" y="3931920"/>
            <a:ext cx="8449056" cy="896112"/>
          </a:xfrm>
          <a:prstGeom prst="roundRect">
            <a:avLst>
              <a:gd name="adj" fmla="val 7143"/>
            </a:avLst>
          </a:prstGeom>
          <a:solidFill>
            <a:srgbClr val="F8F8F8"/>
          </a:solidFill>
          <a:ln w="10160">
            <a:solidFill>
              <a:srgbClr val="C8960A"/>
            </a:solidFill>
            <a:prstDash val="solid"/>
          </a:ln>
        </p:spPr>
      </p:sp>
      <p:sp>
        <p:nvSpPr>
          <p:cNvPr id="18" name="Text 15"/>
          <p:cNvSpPr/>
          <p:nvPr/>
        </p:nvSpPr>
        <p:spPr>
          <a:xfrm>
            <a:off x="457200" y="3986784"/>
            <a:ext cx="8229600" cy="237744"/>
          </a:xfrm>
          <a:prstGeom prst="rect">
            <a:avLst/>
          </a:prstGeom>
          <a:noFill/>
          <a:ln/>
        </p:spPr>
        <p:txBody>
          <a:bodyPr wrap="square" lIns="0" tIns="0" rIns="0" bIns="0" rtlCol="0" anchor="ctr"/>
          <a:lstStyle/>
          <a:p>
            <a:pPr indent="0" marL="0">
              <a:buNone/>
            </a:pPr>
            <a:r>
              <a:rPr lang="en-US" sz="1150" b="1" dirty="0">
                <a:solidFill>
                  <a:srgbClr val="C8960A"/>
                </a:solidFill>
                <a:latin typeface="Arial" pitchFamily="34" charset="0"/>
                <a:ea typeface="Arial" pitchFamily="34" charset="-122"/>
                <a:cs typeface="Arial" pitchFamily="34" charset="-120"/>
              </a:rPr>
              <a:t>IET Wiring Regulations (BS 7671) — 18th Edition</a:t>
            </a:r>
            <a:endParaRPr lang="en-US" sz="1150" dirty="0"/>
          </a:p>
        </p:txBody>
      </p:sp>
      <p:sp>
        <p:nvSpPr>
          <p:cNvPr id="19" name="Text 16"/>
          <p:cNvSpPr/>
          <p:nvPr/>
        </p:nvSpPr>
        <p:spPr>
          <a:xfrm>
            <a:off x="457200" y="4251960"/>
            <a:ext cx="8229600" cy="493776"/>
          </a:xfrm>
          <a:prstGeom prst="rect">
            <a:avLst/>
          </a:prstGeom>
          <a:noFill/>
          <a:ln/>
        </p:spPr>
        <p:txBody>
          <a:bodyPr wrap="square" lIns="0" tIns="0" rIns="0" bIns="0" rtlCol="0" anchor="ctr"/>
          <a:lstStyle/>
          <a:p>
            <a:pPr indent="0" marL="0">
              <a:buNone/>
            </a:pPr>
            <a:r>
              <a:rPr lang="en-US" sz="950" dirty="0">
                <a:solidFill>
                  <a:srgbClr val="5B595A"/>
                </a:solidFill>
                <a:latin typeface="Arial" pitchFamily="34" charset="0"/>
                <a:ea typeface="Arial" pitchFamily="34" charset="-122"/>
                <a:cs typeface="Arial" pitchFamily="34" charset="-120"/>
              </a:rPr>
              <a:t>1.  The national standard for the design, erection, and verification of electrical installations in the UK     2.  Compliance with BS 7671 provides presumption of compliance with the Electricity at Work Regulations     3.  Periodic inspection and testing of fixed installations required at intervals based on installation type and use</a:t>
            </a:r>
            <a:endParaRPr lang="en-US" sz="950" dirty="0"/>
          </a:p>
        </p:txBody>
      </p:sp>
      <p:sp>
        <p:nvSpPr>
          <p:cNvPr id="20" name="Rectangle 19"/>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7562088" y="100584"/>
            <a:ext cx="566928" cy="347472"/>
          </a:xfrm>
          <a:prstGeom prst="rect">
            <a:avLst/>
          </a:prstGeom>
        </p:spPr>
      </p:pic>
      <p:pic>
        <p:nvPicPr>
          <p:cNvPr id="22" name="Picture 21" descr="image.png"/>
          <p:cNvPicPr>
            <a:picLocks noChangeAspect="1"/>
          </p:cNvPicPr>
          <p:nvPr/>
        </p:nvPicPr>
        <p:blipFill>
          <a:blip r:embed="rId4"/>
          <a:stretch>
            <a:fillRect/>
          </a:stretch>
        </p:blipFill>
        <p:spPr>
          <a:xfrm>
            <a:off x="8174736" y="100584"/>
            <a:ext cx="658368" cy="347472"/>
          </a:xfrm>
          <a:prstGeom prst="rect">
            <a:avLst/>
          </a:prstGeom>
        </p:spPr>
      </p:pic>
      <p:sp>
        <p:nvSpPr>
          <p:cNvPr id="23" name="Rectangle 22"/>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C8960A"/>
          </a:solidFill>
          <a:ln w="12700">
            <a:solidFill>
              <a:srgbClr val="C8960A"/>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Equipment Inspection</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Pre-Use Inspection: What to Check Before Every Use</a:t>
            </a:r>
            <a:endParaRPr lang="en-US" sz="2600" dirty="0"/>
          </a:p>
        </p:txBody>
      </p:sp>
      <p:sp>
        <p:nvSpPr>
          <p:cNvPr id="9" name="Shape 6"/>
          <p:cNvSpPr/>
          <p:nvPr/>
        </p:nvSpPr>
        <p:spPr>
          <a:xfrm>
            <a:off x="347472" y="1261872"/>
            <a:ext cx="8449056" cy="0"/>
          </a:xfrm>
          <a:prstGeom prst="line">
            <a:avLst/>
          </a:prstGeom>
          <a:noFill/>
          <a:ln w="19050">
            <a:solidFill>
              <a:srgbClr val="C8960A"/>
            </a:solidFill>
            <a:prstDash val="solid"/>
          </a:ln>
        </p:spPr>
      </p:sp>
      <p:sp>
        <p:nvSpPr>
          <p:cNvPr id="10" name="Text 7"/>
          <p:cNvSpPr/>
          <p:nvPr/>
        </p:nvSpPr>
        <p:spPr>
          <a:xfrm>
            <a:off x="347472" y="1353312"/>
            <a:ext cx="8449056" cy="438912"/>
          </a:xfrm>
          <a:prstGeom prst="rect">
            <a:avLst/>
          </a:prstGeom>
          <a:noFill/>
          <a:ln/>
        </p:spPr>
        <p:txBody>
          <a:bodyPr wrap="square" lIns="0" tIns="0" rIns="0" bIns="0" rtlCol="0" anchor="t"/>
          <a:lstStyle/>
          <a:p>
            <a:pPr algn="l" indent="0" marL="0">
              <a:buNone/>
            </a:pPr>
            <a:r>
              <a:rPr lang="en-US" sz="1250" dirty="0">
                <a:solidFill>
                  <a:srgbClr val="5B595A"/>
                </a:solidFill>
                <a:latin typeface="Arial" pitchFamily="34" charset="0"/>
                <a:ea typeface="Arial" pitchFamily="34" charset="-122"/>
                <a:cs typeface="Arial" pitchFamily="34" charset="-120"/>
              </a:rPr>
              <a:t>Visual inspection before every use is your most important electrical safety check. Most portable electrical faults are visible before they cause harm. The 30-second inspection you carry out before plugging in a tool could prevent a fatality.</a:t>
            </a:r>
            <a:endParaRPr lang="en-US" sz="1250" dirty="0"/>
          </a:p>
        </p:txBody>
      </p:sp>
      <p:sp>
        <p:nvSpPr>
          <p:cNvPr id="11" name="Shape 8"/>
          <p:cNvSpPr/>
          <p:nvPr/>
        </p:nvSpPr>
        <p:spPr>
          <a:xfrm>
            <a:off x="347472" y="1920240"/>
            <a:ext cx="4133088" cy="1298448"/>
          </a:xfrm>
          <a:prstGeom prst="roundRect">
            <a:avLst>
              <a:gd name="adj" fmla="val 5634"/>
            </a:avLst>
          </a:prstGeom>
          <a:solidFill>
            <a:srgbClr val="F8F8F8"/>
          </a:solidFill>
          <a:ln w="10160">
            <a:solidFill>
              <a:srgbClr val="C8960A"/>
            </a:solidFill>
            <a:prstDash val="solid"/>
          </a:ln>
        </p:spPr>
      </p:sp>
      <p:sp>
        <p:nvSpPr>
          <p:cNvPr id="12" name="Shape 9"/>
          <p:cNvSpPr/>
          <p:nvPr/>
        </p:nvSpPr>
        <p:spPr>
          <a:xfrm>
            <a:off x="347472" y="1920240"/>
            <a:ext cx="4133088" cy="310896"/>
          </a:xfrm>
          <a:prstGeom prst="rect">
            <a:avLst/>
          </a:prstGeom>
          <a:solidFill>
            <a:srgbClr val="C8960A"/>
          </a:solidFill>
          <a:ln w="12700">
            <a:solidFill>
              <a:srgbClr val="C8960A"/>
            </a:solidFill>
            <a:prstDash val="solid"/>
          </a:ln>
        </p:spPr>
      </p:sp>
      <p:sp>
        <p:nvSpPr>
          <p:cNvPr id="13" name="Text 10"/>
          <p:cNvSpPr/>
          <p:nvPr/>
        </p:nvSpPr>
        <p:spPr>
          <a:xfrm>
            <a:off x="438912" y="1956816"/>
            <a:ext cx="3931920" cy="23774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Cable</a:t>
            </a:r>
            <a:endParaRPr lang="en-US" sz="1150" dirty="0"/>
          </a:p>
        </p:txBody>
      </p:sp>
      <p:sp>
        <p:nvSpPr>
          <p:cNvPr id="14" name="Shape 11"/>
          <p:cNvSpPr/>
          <p:nvPr/>
        </p:nvSpPr>
        <p:spPr>
          <a:xfrm>
            <a:off x="438912" y="2313432"/>
            <a:ext cx="109728" cy="109728"/>
          </a:xfrm>
          <a:prstGeom prst="ellipse">
            <a:avLst/>
          </a:prstGeom>
          <a:solidFill>
            <a:srgbClr val="C8960A"/>
          </a:solidFill>
          <a:ln w="12700">
            <a:solidFill>
              <a:srgbClr val="C8960A"/>
            </a:solidFill>
            <a:prstDash val="solid"/>
          </a:ln>
        </p:spPr>
      </p:sp>
      <p:sp>
        <p:nvSpPr>
          <p:cNvPr id="15" name="Text 12"/>
          <p:cNvSpPr/>
          <p:nvPr/>
        </p:nvSpPr>
        <p:spPr>
          <a:xfrm>
            <a:off x="621792" y="2286000"/>
            <a:ext cx="3767328" cy="201168"/>
          </a:xfrm>
          <a:prstGeom prst="rect">
            <a:avLst/>
          </a:prstGeom>
          <a:noFill/>
          <a:ln/>
        </p:spPr>
        <p:txBody>
          <a:bodyPr wrap="square" lIns="0" tIns="0" rIns="0" bIns="0" rtlCol="0" anchor="ctr"/>
          <a:lstStyle/>
          <a:p>
            <a:pPr indent="0" marL="0">
              <a:buNone/>
            </a:pPr>
            <a:r>
              <a:rPr lang="en-US" sz="1000" dirty="0">
                <a:solidFill>
                  <a:srgbClr val="5B595A"/>
                </a:solidFill>
                <a:latin typeface="Arial" pitchFamily="34" charset="0"/>
                <a:ea typeface="Arial" pitchFamily="34" charset="-122"/>
                <a:cs typeface="Arial" pitchFamily="34" charset="-120"/>
              </a:rPr>
              <a:t>Insulation intact — no cuts, abrasion, burn marks, or crushing</a:t>
            </a:r>
            <a:endParaRPr lang="en-US" sz="1000" dirty="0"/>
          </a:p>
        </p:txBody>
      </p:sp>
      <p:sp>
        <p:nvSpPr>
          <p:cNvPr id="16" name="Shape 13"/>
          <p:cNvSpPr/>
          <p:nvPr/>
        </p:nvSpPr>
        <p:spPr>
          <a:xfrm>
            <a:off x="438912" y="2542032"/>
            <a:ext cx="109728" cy="109728"/>
          </a:xfrm>
          <a:prstGeom prst="ellipse">
            <a:avLst/>
          </a:prstGeom>
          <a:solidFill>
            <a:srgbClr val="C8960A"/>
          </a:solidFill>
          <a:ln w="12700">
            <a:solidFill>
              <a:srgbClr val="C8960A"/>
            </a:solidFill>
            <a:prstDash val="solid"/>
          </a:ln>
        </p:spPr>
      </p:sp>
      <p:sp>
        <p:nvSpPr>
          <p:cNvPr id="17" name="Text 14"/>
          <p:cNvSpPr/>
          <p:nvPr/>
        </p:nvSpPr>
        <p:spPr>
          <a:xfrm>
            <a:off x="621792" y="2514600"/>
            <a:ext cx="3767328" cy="201168"/>
          </a:xfrm>
          <a:prstGeom prst="rect">
            <a:avLst/>
          </a:prstGeom>
          <a:noFill/>
          <a:ln/>
        </p:spPr>
        <p:txBody>
          <a:bodyPr wrap="square" lIns="0" tIns="0" rIns="0" bIns="0" rtlCol="0" anchor="ctr"/>
          <a:lstStyle/>
          <a:p>
            <a:pPr indent="0" marL="0">
              <a:buNone/>
            </a:pPr>
            <a:r>
              <a:rPr lang="en-US" sz="1000" dirty="0">
                <a:solidFill>
                  <a:srgbClr val="5B595A"/>
                </a:solidFill>
                <a:latin typeface="Arial" pitchFamily="34" charset="0"/>
                <a:ea typeface="Arial" pitchFamily="34" charset="-122"/>
                <a:cs typeface="Arial" pitchFamily="34" charset="-120"/>
              </a:rPr>
              <a:t>No kinking, excessive bending, or stretching close to plug or appliance</a:t>
            </a:r>
            <a:endParaRPr lang="en-US" sz="1000" dirty="0"/>
          </a:p>
        </p:txBody>
      </p:sp>
      <p:sp>
        <p:nvSpPr>
          <p:cNvPr id="18" name="Shape 15"/>
          <p:cNvSpPr/>
          <p:nvPr/>
        </p:nvSpPr>
        <p:spPr>
          <a:xfrm>
            <a:off x="438912" y="2770632"/>
            <a:ext cx="109728" cy="109728"/>
          </a:xfrm>
          <a:prstGeom prst="ellipse">
            <a:avLst/>
          </a:prstGeom>
          <a:solidFill>
            <a:srgbClr val="C8960A"/>
          </a:solidFill>
          <a:ln w="12700">
            <a:solidFill>
              <a:srgbClr val="C8960A"/>
            </a:solidFill>
            <a:prstDash val="solid"/>
          </a:ln>
        </p:spPr>
      </p:sp>
      <p:sp>
        <p:nvSpPr>
          <p:cNvPr id="19" name="Text 16"/>
          <p:cNvSpPr/>
          <p:nvPr/>
        </p:nvSpPr>
        <p:spPr>
          <a:xfrm>
            <a:off x="621792" y="2743200"/>
            <a:ext cx="3767328" cy="201168"/>
          </a:xfrm>
          <a:prstGeom prst="rect">
            <a:avLst/>
          </a:prstGeom>
          <a:noFill/>
          <a:ln/>
        </p:spPr>
        <p:txBody>
          <a:bodyPr wrap="square" lIns="0" tIns="0" rIns="0" bIns="0" rtlCol="0" anchor="ctr"/>
          <a:lstStyle/>
          <a:p>
            <a:pPr indent="0" marL="0">
              <a:buNone/>
            </a:pPr>
            <a:r>
              <a:rPr lang="en-US" sz="1000" dirty="0">
                <a:solidFill>
                  <a:srgbClr val="5B595A"/>
                </a:solidFill>
                <a:latin typeface="Arial" pitchFamily="34" charset="0"/>
                <a:ea typeface="Arial" pitchFamily="34" charset="-122"/>
                <a:cs typeface="Arial" pitchFamily="34" charset="-120"/>
              </a:rPr>
              <a:t>No joins, tape repairs, or improvised connections</a:t>
            </a:r>
            <a:endParaRPr lang="en-US" sz="1000" dirty="0"/>
          </a:p>
        </p:txBody>
      </p:sp>
      <p:sp>
        <p:nvSpPr>
          <p:cNvPr id="20" name="Shape 17"/>
          <p:cNvSpPr/>
          <p:nvPr/>
        </p:nvSpPr>
        <p:spPr>
          <a:xfrm>
            <a:off x="438912" y="2999232"/>
            <a:ext cx="109728" cy="109728"/>
          </a:xfrm>
          <a:prstGeom prst="ellipse">
            <a:avLst/>
          </a:prstGeom>
          <a:solidFill>
            <a:srgbClr val="C8960A"/>
          </a:solidFill>
          <a:ln w="12700">
            <a:solidFill>
              <a:srgbClr val="C8960A"/>
            </a:solidFill>
            <a:prstDash val="solid"/>
          </a:ln>
        </p:spPr>
      </p:sp>
      <p:sp>
        <p:nvSpPr>
          <p:cNvPr id="21" name="Text 18"/>
          <p:cNvSpPr/>
          <p:nvPr/>
        </p:nvSpPr>
        <p:spPr>
          <a:xfrm>
            <a:off x="621792" y="2971800"/>
            <a:ext cx="3767328" cy="201168"/>
          </a:xfrm>
          <a:prstGeom prst="rect">
            <a:avLst/>
          </a:prstGeom>
          <a:noFill/>
          <a:ln/>
        </p:spPr>
        <p:txBody>
          <a:bodyPr wrap="square" lIns="0" tIns="0" rIns="0" bIns="0" rtlCol="0" anchor="ctr"/>
          <a:lstStyle/>
          <a:p>
            <a:pPr indent="0" marL="0">
              <a:buNone/>
            </a:pPr>
            <a:r>
              <a:rPr lang="en-US" sz="1000" dirty="0">
                <a:solidFill>
                  <a:srgbClr val="5B595A"/>
                </a:solidFill>
                <a:latin typeface="Arial" pitchFamily="34" charset="0"/>
                <a:ea typeface="Arial" pitchFamily="34" charset="-122"/>
                <a:cs typeface="Arial" pitchFamily="34" charset="-120"/>
              </a:rPr>
              <a:t>Conductors not visible through the outer sheath</a:t>
            </a:r>
            <a:endParaRPr lang="en-US" sz="1000" dirty="0"/>
          </a:p>
        </p:txBody>
      </p:sp>
      <p:sp>
        <p:nvSpPr>
          <p:cNvPr id="22" name="Shape 19"/>
          <p:cNvSpPr/>
          <p:nvPr/>
        </p:nvSpPr>
        <p:spPr>
          <a:xfrm>
            <a:off x="4663440" y="1920240"/>
            <a:ext cx="4133088" cy="1298448"/>
          </a:xfrm>
          <a:prstGeom prst="roundRect">
            <a:avLst>
              <a:gd name="adj" fmla="val 5634"/>
            </a:avLst>
          </a:prstGeom>
          <a:solidFill>
            <a:srgbClr val="F8F8F8"/>
          </a:solidFill>
          <a:ln w="10160">
            <a:solidFill>
              <a:srgbClr val="C8960A"/>
            </a:solidFill>
            <a:prstDash val="solid"/>
          </a:ln>
        </p:spPr>
      </p:sp>
      <p:sp>
        <p:nvSpPr>
          <p:cNvPr id="23" name="Shape 20"/>
          <p:cNvSpPr/>
          <p:nvPr/>
        </p:nvSpPr>
        <p:spPr>
          <a:xfrm>
            <a:off x="4663440" y="1920240"/>
            <a:ext cx="4133088" cy="310896"/>
          </a:xfrm>
          <a:prstGeom prst="rect">
            <a:avLst/>
          </a:prstGeom>
          <a:solidFill>
            <a:srgbClr val="C8960A"/>
          </a:solidFill>
          <a:ln w="12700">
            <a:solidFill>
              <a:srgbClr val="C8960A"/>
            </a:solidFill>
            <a:prstDash val="solid"/>
          </a:ln>
        </p:spPr>
      </p:sp>
      <p:sp>
        <p:nvSpPr>
          <p:cNvPr id="24" name="Text 21"/>
          <p:cNvSpPr/>
          <p:nvPr/>
        </p:nvSpPr>
        <p:spPr>
          <a:xfrm>
            <a:off x="4754880" y="1956816"/>
            <a:ext cx="3931920" cy="23774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Plug</a:t>
            </a:r>
            <a:endParaRPr lang="en-US" sz="1150" dirty="0"/>
          </a:p>
        </p:txBody>
      </p:sp>
      <p:sp>
        <p:nvSpPr>
          <p:cNvPr id="25" name="Shape 22"/>
          <p:cNvSpPr/>
          <p:nvPr/>
        </p:nvSpPr>
        <p:spPr>
          <a:xfrm>
            <a:off x="4754880" y="2313432"/>
            <a:ext cx="109728" cy="109728"/>
          </a:xfrm>
          <a:prstGeom prst="ellipse">
            <a:avLst/>
          </a:prstGeom>
          <a:solidFill>
            <a:srgbClr val="C8960A"/>
          </a:solidFill>
          <a:ln w="12700">
            <a:solidFill>
              <a:srgbClr val="C8960A"/>
            </a:solidFill>
            <a:prstDash val="solid"/>
          </a:ln>
        </p:spPr>
      </p:sp>
      <p:sp>
        <p:nvSpPr>
          <p:cNvPr id="26" name="Text 23"/>
          <p:cNvSpPr/>
          <p:nvPr/>
        </p:nvSpPr>
        <p:spPr>
          <a:xfrm>
            <a:off x="4937760" y="2286000"/>
            <a:ext cx="3767328" cy="201168"/>
          </a:xfrm>
          <a:prstGeom prst="rect">
            <a:avLst/>
          </a:prstGeom>
          <a:noFill/>
          <a:ln/>
        </p:spPr>
        <p:txBody>
          <a:bodyPr wrap="square" lIns="0" tIns="0" rIns="0" bIns="0" rtlCol="0" anchor="ctr"/>
          <a:lstStyle/>
          <a:p>
            <a:pPr indent="0" marL="0">
              <a:buNone/>
            </a:pPr>
            <a:r>
              <a:rPr lang="en-US" sz="1000" dirty="0">
                <a:solidFill>
                  <a:srgbClr val="5B595A"/>
                </a:solidFill>
                <a:latin typeface="Arial" pitchFamily="34" charset="0"/>
                <a:ea typeface="Arial" pitchFamily="34" charset="-122"/>
                <a:cs typeface="Arial" pitchFamily="34" charset="-120"/>
              </a:rPr>
              <a:t>Casing intact — no cracks, damage, or missing parts</a:t>
            </a:r>
            <a:endParaRPr lang="en-US" sz="1000" dirty="0"/>
          </a:p>
        </p:txBody>
      </p:sp>
      <p:sp>
        <p:nvSpPr>
          <p:cNvPr id="27" name="Shape 24"/>
          <p:cNvSpPr/>
          <p:nvPr/>
        </p:nvSpPr>
        <p:spPr>
          <a:xfrm>
            <a:off x="4754880" y="2542032"/>
            <a:ext cx="109728" cy="109728"/>
          </a:xfrm>
          <a:prstGeom prst="ellipse">
            <a:avLst/>
          </a:prstGeom>
          <a:solidFill>
            <a:srgbClr val="C8960A"/>
          </a:solidFill>
          <a:ln w="12700">
            <a:solidFill>
              <a:srgbClr val="C8960A"/>
            </a:solidFill>
            <a:prstDash val="solid"/>
          </a:ln>
        </p:spPr>
      </p:sp>
      <p:sp>
        <p:nvSpPr>
          <p:cNvPr id="28" name="Text 25"/>
          <p:cNvSpPr/>
          <p:nvPr/>
        </p:nvSpPr>
        <p:spPr>
          <a:xfrm>
            <a:off x="4937760" y="2514600"/>
            <a:ext cx="3767328" cy="201168"/>
          </a:xfrm>
          <a:prstGeom prst="rect">
            <a:avLst/>
          </a:prstGeom>
          <a:noFill/>
          <a:ln/>
        </p:spPr>
        <p:txBody>
          <a:bodyPr wrap="square" lIns="0" tIns="0" rIns="0" bIns="0" rtlCol="0" anchor="ctr"/>
          <a:lstStyle/>
          <a:p>
            <a:pPr indent="0" marL="0">
              <a:buNone/>
            </a:pPr>
            <a:r>
              <a:rPr lang="en-US" sz="1000" dirty="0">
                <a:solidFill>
                  <a:srgbClr val="5B595A"/>
                </a:solidFill>
                <a:latin typeface="Arial" pitchFamily="34" charset="0"/>
                <a:ea typeface="Arial" pitchFamily="34" charset="-122"/>
                <a:cs typeface="Arial" pitchFamily="34" charset="-120"/>
              </a:rPr>
              <a:t>Cover screws present and tight — cable grip functioning</a:t>
            </a:r>
            <a:endParaRPr lang="en-US" sz="1000" dirty="0"/>
          </a:p>
        </p:txBody>
      </p:sp>
      <p:sp>
        <p:nvSpPr>
          <p:cNvPr id="29" name="Shape 26"/>
          <p:cNvSpPr/>
          <p:nvPr/>
        </p:nvSpPr>
        <p:spPr>
          <a:xfrm>
            <a:off x="4754880" y="2770632"/>
            <a:ext cx="109728" cy="109728"/>
          </a:xfrm>
          <a:prstGeom prst="ellipse">
            <a:avLst/>
          </a:prstGeom>
          <a:solidFill>
            <a:srgbClr val="C8960A"/>
          </a:solidFill>
          <a:ln w="12700">
            <a:solidFill>
              <a:srgbClr val="C8960A"/>
            </a:solidFill>
            <a:prstDash val="solid"/>
          </a:ln>
        </p:spPr>
      </p:sp>
      <p:sp>
        <p:nvSpPr>
          <p:cNvPr id="30" name="Text 27"/>
          <p:cNvSpPr/>
          <p:nvPr/>
        </p:nvSpPr>
        <p:spPr>
          <a:xfrm>
            <a:off x="4937760" y="2743200"/>
            <a:ext cx="3767328" cy="201168"/>
          </a:xfrm>
          <a:prstGeom prst="rect">
            <a:avLst/>
          </a:prstGeom>
          <a:noFill/>
          <a:ln/>
        </p:spPr>
        <p:txBody>
          <a:bodyPr wrap="square" lIns="0" tIns="0" rIns="0" bIns="0" rtlCol="0" anchor="ctr"/>
          <a:lstStyle/>
          <a:p>
            <a:pPr indent="0" marL="0">
              <a:buNone/>
            </a:pPr>
            <a:r>
              <a:rPr lang="en-US" sz="1000" dirty="0">
                <a:solidFill>
                  <a:srgbClr val="5B595A"/>
                </a:solidFill>
                <a:latin typeface="Arial" pitchFamily="34" charset="0"/>
                <a:ea typeface="Arial" pitchFamily="34" charset="-122"/>
                <a:cs typeface="Arial" pitchFamily="34" charset="-120"/>
              </a:rPr>
              <a:t>Cable not entering plug at an angle (suggests cable stress)</a:t>
            </a:r>
            <a:endParaRPr lang="en-US" sz="1000" dirty="0"/>
          </a:p>
        </p:txBody>
      </p:sp>
      <p:sp>
        <p:nvSpPr>
          <p:cNvPr id="31" name="Shape 28"/>
          <p:cNvSpPr/>
          <p:nvPr/>
        </p:nvSpPr>
        <p:spPr>
          <a:xfrm>
            <a:off x="4754880" y="2999232"/>
            <a:ext cx="109728" cy="109728"/>
          </a:xfrm>
          <a:prstGeom prst="ellipse">
            <a:avLst/>
          </a:prstGeom>
          <a:solidFill>
            <a:srgbClr val="C8960A"/>
          </a:solidFill>
          <a:ln w="12700">
            <a:solidFill>
              <a:srgbClr val="C8960A"/>
            </a:solidFill>
            <a:prstDash val="solid"/>
          </a:ln>
        </p:spPr>
      </p:sp>
      <p:sp>
        <p:nvSpPr>
          <p:cNvPr id="32" name="Text 29"/>
          <p:cNvSpPr/>
          <p:nvPr/>
        </p:nvSpPr>
        <p:spPr>
          <a:xfrm>
            <a:off x="4937760" y="2971800"/>
            <a:ext cx="3767328" cy="201168"/>
          </a:xfrm>
          <a:prstGeom prst="rect">
            <a:avLst/>
          </a:prstGeom>
          <a:noFill/>
          <a:ln/>
        </p:spPr>
        <p:txBody>
          <a:bodyPr wrap="square" lIns="0" tIns="0" rIns="0" bIns="0" rtlCol="0" anchor="ctr"/>
          <a:lstStyle/>
          <a:p>
            <a:pPr indent="0" marL="0">
              <a:buNone/>
            </a:pPr>
            <a:r>
              <a:rPr lang="en-US" sz="1000" dirty="0">
                <a:solidFill>
                  <a:srgbClr val="5B595A"/>
                </a:solidFill>
                <a:latin typeface="Arial" pitchFamily="34" charset="0"/>
                <a:ea typeface="Arial" pitchFamily="34" charset="-122"/>
                <a:cs typeface="Arial" pitchFamily="34" charset="-120"/>
              </a:rPr>
              <a:t>Pins undamaged, not bent, discoloured, or corroded</a:t>
            </a:r>
            <a:endParaRPr lang="en-US" sz="1000" dirty="0"/>
          </a:p>
        </p:txBody>
      </p:sp>
      <p:sp>
        <p:nvSpPr>
          <p:cNvPr id="33" name="Shape 30"/>
          <p:cNvSpPr/>
          <p:nvPr/>
        </p:nvSpPr>
        <p:spPr>
          <a:xfrm>
            <a:off x="347472" y="3337560"/>
            <a:ext cx="4133088" cy="1298448"/>
          </a:xfrm>
          <a:prstGeom prst="roundRect">
            <a:avLst>
              <a:gd name="adj" fmla="val 5634"/>
            </a:avLst>
          </a:prstGeom>
          <a:solidFill>
            <a:srgbClr val="F8F8F8"/>
          </a:solidFill>
          <a:ln w="10160">
            <a:solidFill>
              <a:srgbClr val="C8960A"/>
            </a:solidFill>
            <a:prstDash val="solid"/>
          </a:ln>
        </p:spPr>
      </p:sp>
      <p:sp>
        <p:nvSpPr>
          <p:cNvPr id="34" name="Shape 31"/>
          <p:cNvSpPr/>
          <p:nvPr/>
        </p:nvSpPr>
        <p:spPr>
          <a:xfrm>
            <a:off x="347472" y="3337560"/>
            <a:ext cx="4133088" cy="310896"/>
          </a:xfrm>
          <a:prstGeom prst="rect">
            <a:avLst/>
          </a:prstGeom>
          <a:solidFill>
            <a:srgbClr val="C8960A"/>
          </a:solidFill>
          <a:ln w="12700">
            <a:solidFill>
              <a:srgbClr val="C8960A"/>
            </a:solidFill>
            <a:prstDash val="solid"/>
          </a:ln>
        </p:spPr>
      </p:sp>
      <p:sp>
        <p:nvSpPr>
          <p:cNvPr id="35" name="Text 32"/>
          <p:cNvSpPr/>
          <p:nvPr/>
        </p:nvSpPr>
        <p:spPr>
          <a:xfrm>
            <a:off x="438912" y="3374136"/>
            <a:ext cx="3931920" cy="23774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Appliance body</a:t>
            </a:r>
            <a:endParaRPr lang="en-US" sz="1150" dirty="0"/>
          </a:p>
        </p:txBody>
      </p:sp>
      <p:sp>
        <p:nvSpPr>
          <p:cNvPr id="36" name="Shape 33"/>
          <p:cNvSpPr/>
          <p:nvPr/>
        </p:nvSpPr>
        <p:spPr>
          <a:xfrm>
            <a:off x="438912" y="3730752"/>
            <a:ext cx="109728" cy="109728"/>
          </a:xfrm>
          <a:prstGeom prst="ellipse">
            <a:avLst/>
          </a:prstGeom>
          <a:solidFill>
            <a:srgbClr val="C8960A"/>
          </a:solidFill>
          <a:ln w="12700">
            <a:solidFill>
              <a:srgbClr val="C8960A"/>
            </a:solidFill>
            <a:prstDash val="solid"/>
          </a:ln>
        </p:spPr>
      </p:sp>
      <p:sp>
        <p:nvSpPr>
          <p:cNvPr id="37" name="Text 34"/>
          <p:cNvSpPr/>
          <p:nvPr/>
        </p:nvSpPr>
        <p:spPr>
          <a:xfrm>
            <a:off x="621792" y="3703320"/>
            <a:ext cx="3767328" cy="201168"/>
          </a:xfrm>
          <a:prstGeom prst="rect">
            <a:avLst/>
          </a:prstGeom>
          <a:noFill/>
          <a:ln/>
        </p:spPr>
        <p:txBody>
          <a:bodyPr wrap="square" lIns="0" tIns="0" rIns="0" bIns="0" rtlCol="0" anchor="ctr"/>
          <a:lstStyle/>
          <a:p>
            <a:pPr indent="0" marL="0">
              <a:buNone/>
            </a:pPr>
            <a:r>
              <a:rPr lang="en-US" sz="1000" dirty="0">
                <a:solidFill>
                  <a:srgbClr val="5B595A"/>
                </a:solidFill>
                <a:latin typeface="Arial" pitchFamily="34" charset="0"/>
                <a:ea typeface="Arial" pitchFamily="34" charset="-122"/>
                <a:cs typeface="Arial" pitchFamily="34" charset="-120"/>
              </a:rPr>
              <a:t>Casing intact — no cracks, missing covers, or exposed internal parts</a:t>
            </a:r>
            <a:endParaRPr lang="en-US" sz="1000" dirty="0"/>
          </a:p>
        </p:txBody>
      </p:sp>
      <p:sp>
        <p:nvSpPr>
          <p:cNvPr id="38" name="Shape 35"/>
          <p:cNvSpPr/>
          <p:nvPr/>
        </p:nvSpPr>
        <p:spPr>
          <a:xfrm>
            <a:off x="438912" y="3959352"/>
            <a:ext cx="109728" cy="109728"/>
          </a:xfrm>
          <a:prstGeom prst="ellipse">
            <a:avLst/>
          </a:prstGeom>
          <a:solidFill>
            <a:srgbClr val="C8960A"/>
          </a:solidFill>
          <a:ln w="12700">
            <a:solidFill>
              <a:srgbClr val="C8960A"/>
            </a:solidFill>
            <a:prstDash val="solid"/>
          </a:ln>
        </p:spPr>
      </p:sp>
      <p:sp>
        <p:nvSpPr>
          <p:cNvPr id="39" name="Text 36"/>
          <p:cNvSpPr/>
          <p:nvPr/>
        </p:nvSpPr>
        <p:spPr>
          <a:xfrm>
            <a:off x="621792" y="3931920"/>
            <a:ext cx="3767328" cy="201168"/>
          </a:xfrm>
          <a:prstGeom prst="rect">
            <a:avLst/>
          </a:prstGeom>
          <a:noFill/>
          <a:ln/>
        </p:spPr>
        <p:txBody>
          <a:bodyPr wrap="square" lIns="0" tIns="0" rIns="0" bIns="0" rtlCol="0" anchor="ctr"/>
          <a:lstStyle/>
          <a:p>
            <a:pPr indent="0" marL="0">
              <a:buNone/>
            </a:pPr>
            <a:r>
              <a:rPr lang="en-US" sz="1000" dirty="0">
                <a:solidFill>
                  <a:srgbClr val="5B595A"/>
                </a:solidFill>
                <a:latin typeface="Arial" pitchFamily="34" charset="0"/>
                <a:ea typeface="Arial" pitchFamily="34" charset="-122"/>
                <a:cs typeface="Arial" pitchFamily="34" charset="-120"/>
              </a:rPr>
              <a:t>Ventilation slots clear and unobstructed</a:t>
            </a:r>
            <a:endParaRPr lang="en-US" sz="1000" dirty="0"/>
          </a:p>
        </p:txBody>
      </p:sp>
      <p:sp>
        <p:nvSpPr>
          <p:cNvPr id="40" name="Shape 37"/>
          <p:cNvSpPr/>
          <p:nvPr/>
        </p:nvSpPr>
        <p:spPr>
          <a:xfrm>
            <a:off x="438912" y="4187952"/>
            <a:ext cx="109728" cy="109728"/>
          </a:xfrm>
          <a:prstGeom prst="ellipse">
            <a:avLst/>
          </a:prstGeom>
          <a:solidFill>
            <a:srgbClr val="C8960A"/>
          </a:solidFill>
          <a:ln w="12700">
            <a:solidFill>
              <a:srgbClr val="C8960A"/>
            </a:solidFill>
            <a:prstDash val="solid"/>
          </a:ln>
        </p:spPr>
      </p:sp>
      <p:sp>
        <p:nvSpPr>
          <p:cNvPr id="41" name="Text 38"/>
          <p:cNvSpPr/>
          <p:nvPr/>
        </p:nvSpPr>
        <p:spPr>
          <a:xfrm>
            <a:off x="621792" y="4160520"/>
            <a:ext cx="3767328" cy="201168"/>
          </a:xfrm>
          <a:prstGeom prst="rect">
            <a:avLst/>
          </a:prstGeom>
          <a:noFill/>
          <a:ln/>
        </p:spPr>
        <p:txBody>
          <a:bodyPr wrap="square" lIns="0" tIns="0" rIns="0" bIns="0" rtlCol="0" anchor="ctr"/>
          <a:lstStyle/>
          <a:p>
            <a:pPr indent="0" marL="0">
              <a:buNone/>
            </a:pPr>
            <a:r>
              <a:rPr lang="en-US" sz="1000" dirty="0">
                <a:solidFill>
                  <a:srgbClr val="5B595A"/>
                </a:solidFill>
                <a:latin typeface="Arial" pitchFamily="34" charset="0"/>
                <a:ea typeface="Arial" pitchFamily="34" charset="-122"/>
                <a:cs typeface="Arial" pitchFamily="34" charset="-120"/>
              </a:rPr>
              <a:t>No signs of overheating: discolouration, burn marks, or melted insulation</a:t>
            </a:r>
            <a:endParaRPr lang="en-US" sz="1000" dirty="0"/>
          </a:p>
        </p:txBody>
      </p:sp>
      <p:sp>
        <p:nvSpPr>
          <p:cNvPr id="42" name="Shape 39"/>
          <p:cNvSpPr/>
          <p:nvPr/>
        </p:nvSpPr>
        <p:spPr>
          <a:xfrm>
            <a:off x="438912" y="4416552"/>
            <a:ext cx="109728" cy="109728"/>
          </a:xfrm>
          <a:prstGeom prst="ellipse">
            <a:avLst/>
          </a:prstGeom>
          <a:solidFill>
            <a:srgbClr val="C8960A"/>
          </a:solidFill>
          <a:ln w="12700">
            <a:solidFill>
              <a:srgbClr val="C8960A"/>
            </a:solidFill>
            <a:prstDash val="solid"/>
          </a:ln>
        </p:spPr>
      </p:sp>
      <p:sp>
        <p:nvSpPr>
          <p:cNvPr id="43" name="Text 40"/>
          <p:cNvSpPr/>
          <p:nvPr/>
        </p:nvSpPr>
        <p:spPr>
          <a:xfrm>
            <a:off x="621792" y="4389120"/>
            <a:ext cx="3767328" cy="201168"/>
          </a:xfrm>
          <a:prstGeom prst="rect">
            <a:avLst/>
          </a:prstGeom>
          <a:noFill/>
          <a:ln/>
        </p:spPr>
        <p:txBody>
          <a:bodyPr wrap="square" lIns="0" tIns="0" rIns="0" bIns="0" rtlCol="0" anchor="ctr"/>
          <a:lstStyle/>
          <a:p>
            <a:pPr indent="0" marL="0">
              <a:buNone/>
            </a:pPr>
            <a:r>
              <a:rPr lang="en-US" sz="1000" dirty="0">
                <a:solidFill>
                  <a:srgbClr val="5B595A"/>
                </a:solidFill>
                <a:latin typeface="Arial" pitchFamily="34" charset="0"/>
                <a:ea typeface="Arial" pitchFamily="34" charset="-122"/>
                <a:cs typeface="Arial" pitchFamily="34" charset="-120"/>
              </a:rPr>
              <a:t>Labels and rating plates legible and consistent with the use environment</a:t>
            </a:r>
            <a:endParaRPr lang="en-US" sz="1000" dirty="0"/>
          </a:p>
        </p:txBody>
      </p:sp>
      <p:sp>
        <p:nvSpPr>
          <p:cNvPr id="44" name="Shape 41"/>
          <p:cNvSpPr/>
          <p:nvPr/>
        </p:nvSpPr>
        <p:spPr>
          <a:xfrm>
            <a:off x="4663440" y="3337560"/>
            <a:ext cx="4133088" cy="1298448"/>
          </a:xfrm>
          <a:prstGeom prst="roundRect">
            <a:avLst>
              <a:gd name="adj" fmla="val 5634"/>
            </a:avLst>
          </a:prstGeom>
          <a:solidFill>
            <a:srgbClr val="F8F8F8"/>
          </a:solidFill>
          <a:ln w="10160">
            <a:solidFill>
              <a:srgbClr val="C8960A"/>
            </a:solidFill>
            <a:prstDash val="solid"/>
          </a:ln>
        </p:spPr>
      </p:sp>
      <p:sp>
        <p:nvSpPr>
          <p:cNvPr id="45" name="Shape 42"/>
          <p:cNvSpPr/>
          <p:nvPr/>
        </p:nvSpPr>
        <p:spPr>
          <a:xfrm>
            <a:off x="4663440" y="3337560"/>
            <a:ext cx="4133088" cy="310896"/>
          </a:xfrm>
          <a:prstGeom prst="rect">
            <a:avLst/>
          </a:prstGeom>
          <a:solidFill>
            <a:srgbClr val="C8960A"/>
          </a:solidFill>
          <a:ln w="12700">
            <a:solidFill>
              <a:srgbClr val="C8960A"/>
            </a:solidFill>
            <a:prstDash val="solid"/>
          </a:ln>
        </p:spPr>
      </p:sp>
      <p:sp>
        <p:nvSpPr>
          <p:cNvPr id="46" name="Text 43"/>
          <p:cNvSpPr/>
          <p:nvPr/>
        </p:nvSpPr>
        <p:spPr>
          <a:xfrm>
            <a:off x="4754880" y="3374136"/>
            <a:ext cx="3931920" cy="23774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Labelling</a:t>
            </a:r>
            <a:endParaRPr lang="en-US" sz="1150" dirty="0"/>
          </a:p>
        </p:txBody>
      </p:sp>
      <p:sp>
        <p:nvSpPr>
          <p:cNvPr id="47" name="Shape 44"/>
          <p:cNvSpPr/>
          <p:nvPr/>
        </p:nvSpPr>
        <p:spPr>
          <a:xfrm>
            <a:off x="4754880" y="3730752"/>
            <a:ext cx="109728" cy="109728"/>
          </a:xfrm>
          <a:prstGeom prst="ellipse">
            <a:avLst/>
          </a:prstGeom>
          <a:solidFill>
            <a:srgbClr val="C8960A"/>
          </a:solidFill>
          <a:ln w="12700">
            <a:solidFill>
              <a:srgbClr val="C8960A"/>
            </a:solidFill>
            <a:prstDash val="solid"/>
          </a:ln>
        </p:spPr>
      </p:sp>
      <p:sp>
        <p:nvSpPr>
          <p:cNvPr id="48" name="Text 45"/>
          <p:cNvSpPr/>
          <p:nvPr/>
        </p:nvSpPr>
        <p:spPr>
          <a:xfrm>
            <a:off x="4937760" y="3703320"/>
            <a:ext cx="3767328" cy="201168"/>
          </a:xfrm>
          <a:prstGeom prst="rect">
            <a:avLst/>
          </a:prstGeom>
          <a:noFill/>
          <a:ln/>
        </p:spPr>
        <p:txBody>
          <a:bodyPr wrap="square" lIns="0" tIns="0" rIns="0" bIns="0" rtlCol="0" anchor="ctr"/>
          <a:lstStyle/>
          <a:p>
            <a:pPr indent="0" marL="0">
              <a:buNone/>
            </a:pPr>
            <a:r>
              <a:rPr lang="en-US" sz="1000" dirty="0">
                <a:solidFill>
                  <a:srgbClr val="5B595A"/>
                </a:solidFill>
                <a:latin typeface="Arial" pitchFamily="34" charset="0"/>
                <a:ea typeface="Arial" pitchFamily="34" charset="-122"/>
                <a:cs typeface="Arial" pitchFamily="34" charset="-120"/>
              </a:rPr>
              <a:t>In-service inspection label present and within date</a:t>
            </a:r>
            <a:endParaRPr lang="en-US" sz="1000" dirty="0"/>
          </a:p>
        </p:txBody>
      </p:sp>
      <p:sp>
        <p:nvSpPr>
          <p:cNvPr id="49" name="Shape 46"/>
          <p:cNvSpPr/>
          <p:nvPr/>
        </p:nvSpPr>
        <p:spPr>
          <a:xfrm>
            <a:off x="4754880" y="3959352"/>
            <a:ext cx="109728" cy="109728"/>
          </a:xfrm>
          <a:prstGeom prst="ellipse">
            <a:avLst/>
          </a:prstGeom>
          <a:solidFill>
            <a:srgbClr val="C8960A"/>
          </a:solidFill>
          <a:ln w="12700">
            <a:solidFill>
              <a:srgbClr val="C8960A"/>
            </a:solidFill>
            <a:prstDash val="solid"/>
          </a:ln>
        </p:spPr>
      </p:sp>
      <p:sp>
        <p:nvSpPr>
          <p:cNvPr id="50" name="Text 47"/>
          <p:cNvSpPr/>
          <p:nvPr/>
        </p:nvSpPr>
        <p:spPr>
          <a:xfrm>
            <a:off x="4937760" y="3931920"/>
            <a:ext cx="3767328" cy="201168"/>
          </a:xfrm>
          <a:prstGeom prst="rect">
            <a:avLst/>
          </a:prstGeom>
          <a:noFill/>
          <a:ln/>
        </p:spPr>
        <p:txBody>
          <a:bodyPr wrap="square" lIns="0" tIns="0" rIns="0" bIns="0" rtlCol="0" anchor="ctr"/>
          <a:lstStyle/>
          <a:p>
            <a:pPr indent="0" marL="0">
              <a:buNone/>
            </a:pPr>
            <a:r>
              <a:rPr lang="en-US" sz="1000" dirty="0">
                <a:solidFill>
                  <a:srgbClr val="5B595A"/>
                </a:solidFill>
                <a:latin typeface="Arial" pitchFamily="34" charset="0"/>
                <a:ea typeface="Arial" pitchFamily="34" charset="-122"/>
                <a:cs typeface="Arial" pitchFamily="34" charset="-120"/>
              </a:rPr>
              <a:t>PAT test label or record showing last test date (where formally required)</a:t>
            </a:r>
            <a:endParaRPr lang="en-US" sz="1000" dirty="0"/>
          </a:p>
        </p:txBody>
      </p:sp>
      <p:sp>
        <p:nvSpPr>
          <p:cNvPr id="51" name="Shape 48"/>
          <p:cNvSpPr/>
          <p:nvPr/>
        </p:nvSpPr>
        <p:spPr>
          <a:xfrm>
            <a:off x="4754880" y="4187952"/>
            <a:ext cx="109728" cy="109728"/>
          </a:xfrm>
          <a:prstGeom prst="ellipse">
            <a:avLst/>
          </a:prstGeom>
          <a:solidFill>
            <a:srgbClr val="C8960A"/>
          </a:solidFill>
          <a:ln w="12700">
            <a:solidFill>
              <a:srgbClr val="C8960A"/>
            </a:solidFill>
            <a:prstDash val="solid"/>
          </a:ln>
        </p:spPr>
      </p:sp>
      <p:sp>
        <p:nvSpPr>
          <p:cNvPr id="52" name="Text 49"/>
          <p:cNvSpPr/>
          <p:nvPr/>
        </p:nvSpPr>
        <p:spPr>
          <a:xfrm>
            <a:off x="4937760" y="4160520"/>
            <a:ext cx="3767328" cy="201168"/>
          </a:xfrm>
          <a:prstGeom prst="rect">
            <a:avLst/>
          </a:prstGeom>
          <a:noFill/>
          <a:ln/>
        </p:spPr>
        <p:txBody>
          <a:bodyPr wrap="square" lIns="0" tIns="0" rIns="0" bIns="0" rtlCol="0" anchor="ctr"/>
          <a:lstStyle/>
          <a:p>
            <a:pPr indent="0" marL="0">
              <a:buNone/>
            </a:pPr>
            <a:r>
              <a:rPr lang="en-US" sz="1000" dirty="0">
                <a:solidFill>
                  <a:srgbClr val="5B595A"/>
                </a:solidFill>
                <a:latin typeface="Arial" pitchFamily="34" charset="0"/>
                <a:ea typeface="Arial" pitchFamily="34" charset="-122"/>
                <a:cs typeface="Arial" pitchFamily="34" charset="-120"/>
              </a:rPr>
              <a:t>Voltage and wattage rating appropriate for the supply it is being used with</a:t>
            </a:r>
            <a:endParaRPr lang="en-US" sz="1000" dirty="0"/>
          </a:p>
        </p:txBody>
      </p:sp>
      <p:sp>
        <p:nvSpPr>
          <p:cNvPr id="53" name="Shape 50"/>
          <p:cNvSpPr/>
          <p:nvPr/>
        </p:nvSpPr>
        <p:spPr>
          <a:xfrm>
            <a:off x="4754880" y="4416552"/>
            <a:ext cx="109728" cy="109728"/>
          </a:xfrm>
          <a:prstGeom prst="ellipse">
            <a:avLst/>
          </a:prstGeom>
          <a:solidFill>
            <a:srgbClr val="C8960A"/>
          </a:solidFill>
          <a:ln w="12700">
            <a:solidFill>
              <a:srgbClr val="C8960A"/>
            </a:solidFill>
            <a:prstDash val="solid"/>
          </a:ln>
        </p:spPr>
      </p:sp>
      <p:sp>
        <p:nvSpPr>
          <p:cNvPr id="54" name="Text 51"/>
          <p:cNvSpPr/>
          <p:nvPr/>
        </p:nvSpPr>
        <p:spPr>
          <a:xfrm>
            <a:off x="4937760" y="4389120"/>
            <a:ext cx="3767328" cy="201168"/>
          </a:xfrm>
          <a:prstGeom prst="rect">
            <a:avLst/>
          </a:prstGeom>
          <a:noFill/>
          <a:ln/>
        </p:spPr>
        <p:txBody>
          <a:bodyPr wrap="square" lIns="0" tIns="0" rIns="0" bIns="0" rtlCol="0" anchor="ctr"/>
          <a:lstStyle/>
          <a:p>
            <a:pPr indent="0" marL="0">
              <a:buNone/>
            </a:pPr>
            <a:r>
              <a:rPr lang="en-US" sz="1000" dirty="0">
                <a:solidFill>
                  <a:srgbClr val="5B595A"/>
                </a:solidFill>
                <a:latin typeface="Arial" pitchFamily="34" charset="0"/>
                <a:ea typeface="Arial" pitchFamily="34" charset="-122"/>
                <a:cs typeface="Arial" pitchFamily="34" charset="-120"/>
              </a:rPr>
              <a:t>No label indicating 'Do Not Use' or 'Quarantined' — never override these tags</a:t>
            </a:r>
            <a:endParaRPr lang="en-US" sz="1000" dirty="0"/>
          </a:p>
        </p:txBody>
      </p:sp>
      <p:sp>
        <p:nvSpPr>
          <p:cNvPr id="55" name="Rectangle 5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mage.png"/>
          <p:cNvPicPr>
            <a:picLocks noChangeAspect="1"/>
          </p:cNvPicPr>
          <p:nvPr/>
        </p:nvPicPr>
        <p:blipFill>
          <a:blip r:embed="rId5"/>
          <a:stretch>
            <a:fillRect/>
          </a:stretch>
        </p:blipFill>
        <p:spPr>
          <a:xfrm>
            <a:off x="7562088" y="100584"/>
            <a:ext cx="566928" cy="347472"/>
          </a:xfrm>
          <a:prstGeom prst="rect">
            <a:avLst/>
          </a:prstGeom>
        </p:spPr>
      </p:pic>
      <p:pic>
        <p:nvPicPr>
          <p:cNvPr id="57" name="Picture 56" descr="image.png"/>
          <p:cNvPicPr>
            <a:picLocks noChangeAspect="1"/>
          </p:cNvPicPr>
          <p:nvPr/>
        </p:nvPicPr>
        <p:blipFill>
          <a:blip r:embed="rId4"/>
          <a:stretch>
            <a:fillRect/>
          </a:stretch>
        </p:blipFill>
        <p:spPr>
          <a:xfrm>
            <a:off x="8174736" y="100584"/>
            <a:ext cx="658368" cy="347472"/>
          </a:xfrm>
          <a:prstGeom prst="rect">
            <a:avLst/>
          </a:prstGeom>
        </p:spPr>
      </p:pic>
      <p:sp>
        <p:nvSpPr>
          <p:cNvPr id="58" name="Rectangle 5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C8960A"/>
          </a:solidFill>
          <a:ln w="12700">
            <a:solidFill>
              <a:srgbClr val="C8960A"/>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Isolation: LOTO</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Lockout/Tagout: The Mandatory Isolation Procedure</a:t>
            </a:r>
            <a:endParaRPr lang="en-US" sz="2600" dirty="0"/>
          </a:p>
        </p:txBody>
      </p:sp>
      <p:sp>
        <p:nvSpPr>
          <p:cNvPr id="9" name="Shape 6"/>
          <p:cNvSpPr/>
          <p:nvPr/>
        </p:nvSpPr>
        <p:spPr>
          <a:xfrm>
            <a:off x="347472" y="1261872"/>
            <a:ext cx="8449056" cy="0"/>
          </a:xfrm>
          <a:prstGeom prst="line">
            <a:avLst/>
          </a:prstGeom>
          <a:noFill/>
          <a:ln w="19050">
            <a:solidFill>
              <a:srgbClr val="C8960A"/>
            </a:solidFill>
            <a:prstDash val="solid"/>
          </a:ln>
        </p:spPr>
      </p:sp>
      <p:sp>
        <p:nvSpPr>
          <p:cNvPr id="10" name="Text 7"/>
          <p:cNvSpPr/>
          <p:nvPr/>
        </p:nvSpPr>
        <p:spPr>
          <a:xfrm>
            <a:off x="347472" y="1353312"/>
            <a:ext cx="8449056" cy="475488"/>
          </a:xfrm>
          <a:prstGeom prst="rect">
            <a:avLst/>
          </a:prstGeom>
          <a:noFill/>
          <a:ln/>
        </p:spPr>
        <p:txBody>
          <a:bodyPr wrap="square" lIns="0" tIns="0" rIns="0" bIns="0" rtlCol="0" anchor="t"/>
          <a:lstStyle/>
          <a:p>
            <a:pPr algn="l" indent="0" marL="0">
              <a:buNone/>
            </a:pPr>
            <a:r>
              <a:rPr lang="en-US" sz="1250" dirty="0">
                <a:solidFill>
                  <a:srgbClr val="5B595A"/>
                </a:solidFill>
                <a:latin typeface="Arial" pitchFamily="34" charset="0"/>
                <a:ea typeface="Arial" pitchFamily="34" charset="-122"/>
                <a:cs typeface="Arial" pitchFamily="34" charset="-120"/>
              </a:rPr>
              <a:t>Lockout/Tagout (LOTO) is a safety procedure that ensures hazardous energy sources — electrical, mechanical, hydraulic — are isolated and cannot be re-energised while maintenance, repair, or cleaning work is being carried out. It is a legal requirement where applicable.</a:t>
            </a:r>
            <a:endParaRPr lang="en-US" sz="1250" dirty="0"/>
          </a:p>
        </p:txBody>
      </p:sp>
      <p:sp>
        <p:nvSpPr>
          <p:cNvPr id="11" name="Shape 8"/>
          <p:cNvSpPr/>
          <p:nvPr/>
        </p:nvSpPr>
        <p:spPr>
          <a:xfrm>
            <a:off x="347472" y="1938528"/>
            <a:ext cx="2688336" cy="1261872"/>
          </a:xfrm>
          <a:prstGeom prst="roundRect">
            <a:avLst>
              <a:gd name="adj" fmla="val 5797"/>
            </a:avLst>
          </a:prstGeom>
          <a:solidFill>
            <a:srgbClr val="F8F8F8"/>
          </a:solidFill>
          <a:ln w="10160">
            <a:solidFill>
              <a:srgbClr val="009FE3"/>
            </a:solidFill>
            <a:prstDash val="solid"/>
          </a:ln>
        </p:spPr>
      </p:sp>
      <p:sp>
        <p:nvSpPr>
          <p:cNvPr id="12" name="Shape 9"/>
          <p:cNvSpPr/>
          <p:nvPr/>
        </p:nvSpPr>
        <p:spPr>
          <a:xfrm>
            <a:off x="457200" y="2029968"/>
            <a:ext cx="365760" cy="365760"/>
          </a:xfrm>
          <a:prstGeom prst="ellipse">
            <a:avLst/>
          </a:prstGeom>
          <a:solidFill>
            <a:srgbClr val="009FE3"/>
          </a:solidFill>
          <a:ln w="12700">
            <a:solidFill>
              <a:srgbClr val="009FE3"/>
            </a:solidFill>
            <a:prstDash val="solid"/>
          </a:ln>
        </p:spPr>
      </p:sp>
      <p:sp>
        <p:nvSpPr>
          <p:cNvPr id="13" name="Text 10"/>
          <p:cNvSpPr/>
          <p:nvPr/>
        </p:nvSpPr>
        <p:spPr>
          <a:xfrm>
            <a:off x="457200" y="202996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4" name="Text 11"/>
          <p:cNvSpPr/>
          <p:nvPr/>
        </p:nvSpPr>
        <p:spPr>
          <a:xfrm>
            <a:off x="896112" y="2066544"/>
            <a:ext cx="2029968" cy="274320"/>
          </a:xfrm>
          <a:prstGeom prst="rect">
            <a:avLst/>
          </a:prstGeom>
          <a:noFill/>
          <a:ln/>
        </p:spPr>
        <p:txBody>
          <a:bodyPr wrap="square" lIns="0" tIns="0" rIns="0" bIns="0" rtlCol="0" anchor="ctr"/>
          <a:lstStyle/>
          <a:p>
            <a:pPr indent="0" marL="0">
              <a:buNone/>
            </a:pPr>
            <a:r>
              <a:rPr lang="en-US" sz="1200" b="1" dirty="0">
                <a:solidFill>
                  <a:srgbClr val="009FE3"/>
                </a:solidFill>
                <a:latin typeface="Arial" pitchFamily="34" charset="0"/>
                <a:ea typeface="Arial" pitchFamily="34" charset="-122"/>
                <a:cs typeface="Arial" pitchFamily="34" charset="-120"/>
              </a:rPr>
              <a:t>Notify</a:t>
            </a:r>
            <a:endParaRPr lang="en-US" sz="1200" dirty="0"/>
          </a:p>
        </p:txBody>
      </p:sp>
      <p:sp>
        <p:nvSpPr>
          <p:cNvPr id="15" name="Text 12"/>
          <p:cNvSpPr/>
          <p:nvPr/>
        </p:nvSpPr>
        <p:spPr>
          <a:xfrm>
            <a:off x="438912" y="2450592"/>
            <a:ext cx="2505456" cy="694944"/>
          </a:xfrm>
          <a:prstGeom prst="rect">
            <a:avLst/>
          </a:prstGeom>
          <a:noFill/>
          <a:ln/>
        </p:spPr>
        <p:txBody>
          <a:bodyPr wrap="square" lIns="0" tIns="0" rIns="0" bIns="0" rtlCol="0" anchor="t"/>
          <a:lstStyle/>
          <a:p>
            <a:pPr indent="0" marL="0">
              <a:buNone/>
            </a:pPr>
            <a:r>
              <a:rPr lang="en-US" sz="1000" dirty="0">
                <a:solidFill>
                  <a:srgbClr val="5B595A"/>
                </a:solidFill>
                <a:latin typeface="Arial" pitchFamily="34" charset="0"/>
                <a:ea typeface="Arial" pitchFamily="34" charset="-122"/>
                <a:cs typeface="Arial" pitchFamily="34" charset="-120"/>
              </a:rPr>
              <a:t>Inform all affected personnel that the equipment is being isolated. Agree who is responsible for the isolation. Check no one is working on or near the equipment.</a:t>
            </a:r>
            <a:endParaRPr lang="en-US" sz="1000" dirty="0"/>
          </a:p>
        </p:txBody>
      </p:sp>
      <p:sp>
        <p:nvSpPr>
          <p:cNvPr id="16" name="Shape 13"/>
          <p:cNvSpPr/>
          <p:nvPr/>
        </p:nvSpPr>
        <p:spPr>
          <a:xfrm>
            <a:off x="3200400" y="1938528"/>
            <a:ext cx="2688336" cy="1261872"/>
          </a:xfrm>
          <a:prstGeom prst="roundRect">
            <a:avLst>
              <a:gd name="adj" fmla="val 5797"/>
            </a:avLst>
          </a:prstGeom>
          <a:solidFill>
            <a:srgbClr val="F8F8F8"/>
          </a:solidFill>
          <a:ln w="10160">
            <a:solidFill>
              <a:srgbClr val="83348F"/>
            </a:solidFill>
            <a:prstDash val="solid"/>
          </a:ln>
        </p:spPr>
      </p:sp>
      <p:sp>
        <p:nvSpPr>
          <p:cNvPr id="17" name="Shape 14"/>
          <p:cNvSpPr/>
          <p:nvPr/>
        </p:nvSpPr>
        <p:spPr>
          <a:xfrm>
            <a:off x="3310128" y="2029968"/>
            <a:ext cx="365760" cy="365760"/>
          </a:xfrm>
          <a:prstGeom prst="ellipse">
            <a:avLst/>
          </a:prstGeom>
          <a:solidFill>
            <a:srgbClr val="83348F"/>
          </a:solidFill>
          <a:ln w="12700">
            <a:solidFill>
              <a:srgbClr val="83348F"/>
            </a:solidFill>
            <a:prstDash val="solid"/>
          </a:ln>
        </p:spPr>
      </p:sp>
      <p:sp>
        <p:nvSpPr>
          <p:cNvPr id="18" name="Text 15"/>
          <p:cNvSpPr/>
          <p:nvPr/>
        </p:nvSpPr>
        <p:spPr>
          <a:xfrm>
            <a:off x="3310128" y="202996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9" name="Text 16"/>
          <p:cNvSpPr/>
          <p:nvPr/>
        </p:nvSpPr>
        <p:spPr>
          <a:xfrm>
            <a:off x="3749040" y="2066544"/>
            <a:ext cx="2029968" cy="274320"/>
          </a:xfrm>
          <a:prstGeom prst="rect">
            <a:avLst/>
          </a:prstGeom>
          <a:noFill/>
          <a:ln/>
        </p:spPr>
        <p:txBody>
          <a:bodyPr wrap="square" lIns="0" tIns="0" rIns="0" bIns="0" rtlCol="0" anchor="ctr"/>
          <a:lstStyle/>
          <a:p>
            <a:pPr indent="0" marL="0">
              <a:buNone/>
            </a:pPr>
            <a:r>
              <a:rPr lang="en-US" sz="1200" b="1" dirty="0">
                <a:solidFill>
                  <a:srgbClr val="83348F"/>
                </a:solidFill>
                <a:latin typeface="Arial" pitchFamily="34" charset="0"/>
                <a:ea typeface="Arial" pitchFamily="34" charset="-122"/>
                <a:cs typeface="Arial" pitchFamily="34" charset="-120"/>
              </a:rPr>
              <a:t>Identify</a:t>
            </a:r>
            <a:endParaRPr lang="en-US" sz="1200" dirty="0"/>
          </a:p>
        </p:txBody>
      </p:sp>
      <p:sp>
        <p:nvSpPr>
          <p:cNvPr id="20" name="Text 17"/>
          <p:cNvSpPr/>
          <p:nvPr/>
        </p:nvSpPr>
        <p:spPr>
          <a:xfrm>
            <a:off x="3291840" y="2450592"/>
            <a:ext cx="2505456" cy="694944"/>
          </a:xfrm>
          <a:prstGeom prst="rect">
            <a:avLst/>
          </a:prstGeom>
          <a:noFill/>
          <a:ln/>
        </p:spPr>
        <p:txBody>
          <a:bodyPr wrap="square" lIns="0" tIns="0" rIns="0" bIns="0" rtlCol="0" anchor="t"/>
          <a:lstStyle/>
          <a:p>
            <a:pPr indent="0" marL="0">
              <a:buNone/>
            </a:pPr>
            <a:r>
              <a:rPr lang="en-US" sz="1000" dirty="0">
                <a:solidFill>
                  <a:srgbClr val="5B595A"/>
                </a:solidFill>
                <a:latin typeface="Arial" pitchFamily="34" charset="0"/>
                <a:ea typeface="Arial" pitchFamily="34" charset="-122"/>
                <a:cs typeface="Arial" pitchFamily="34" charset="-120"/>
              </a:rPr>
              <a:t>Identify ALL energy sources for the equipment — electrical isolators, pneumatic valves, hydraulic shut-offs, stored spring energy. Mark each one.</a:t>
            </a:r>
            <a:endParaRPr lang="en-US" sz="1000" dirty="0"/>
          </a:p>
        </p:txBody>
      </p:sp>
      <p:sp>
        <p:nvSpPr>
          <p:cNvPr id="21" name="Shape 18"/>
          <p:cNvSpPr/>
          <p:nvPr/>
        </p:nvSpPr>
        <p:spPr>
          <a:xfrm>
            <a:off x="6053328" y="1938528"/>
            <a:ext cx="2688336" cy="1261872"/>
          </a:xfrm>
          <a:prstGeom prst="roundRect">
            <a:avLst>
              <a:gd name="adj" fmla="val 5797"/>
            </a:avLst>
          </a:prstGeom>
          <a:solidFill>
            <a:srgbClr val="F8F8F8"/>
          </a:solidFill>
          <a:ln w="10160">
            <a:solidFill>
              <a:srgbClr val="D4550A"/>
            </a:solidFill>
            <a:prstDash val="solid"/>
          </a:ln>
        </p:spPr>
      </p:sp>
      <p:sp>
        <p:nvSpPr>
          <p:cNvPr id="22" name="Shape 19"/>
          <p:cNvSpPr/>
          <p:nvPr/>
        </p:nvSpPr>
        <p:spPr>
          <a:xfrm>
            <a:off x="6163056" y="2029968"/>
            <a:ext cx="365760" cy="365760"/>
          </a:xfrm>
          <a:prstGeom prst="ellipse">
            <a:avLst/>
          </a:prstGeom>
          <a:solidFill>
            <a:srgbClr val="D4550A"/>
          </a:solidFill>
          <a:ln w="12700">
            <a:solidFill>
              <a:srgbClr val="D4550A"/>
            </a:solidFill>
            <a:prstDash val="solid"/>
          </a:ln>
        </p:spPr>
      </p:sp>
      <p:sp>
        <p:nvSpPr>
          <p:cNvPr id="23" name="Text 20"/>
          <p:cNvSpPr/>
          <p:nvPr/>
        </p:nvSpPr>
        <p:spPr>
          <a:xfrm>
            <a:off x="6163056" y="202996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4" name="Text 21"/>
          <p:cNvSpPr/>
          <p:nvPr/>
        </p:nvSpPr>
        <p:spPr>
          <a:xfrm>
            <a:off x="6601968" y="2066544"/>
            <a:ext cx="2029968" cy="274320"/>
          </a:xfrm>
          <a:prstGeom prst="rect">
            <a:avLst/>
          </a:prstGeom>
          <a:noFill/>
          <a:ln/>
        </p:spPr>
        <p:txBody>
          <a:bodyPr wrap="square" lIns="0" tIns="0" rIns="0" bIns="0" rtlCol="0" anchor="ctr"/>
          <a:lstStyle/>
          <a:p>
            <a:pPr indent="0" marL="0">
              <a:buNone/>
            </a:pPr>
            <a:r>
              <a:rPr lang="en-US" sz="1200" b="1" dirty="0">
                <a:solidFill>
                  <a:srgbClr val="D4550A"/>
                </a:solidFill>
                <a:latin typeface="Arial" pitchFamily="34" charset="0"/>
                <a:ea typeface="Arial" pitchFamily="34" charset="-122"/>
                <a:cs typeface="Arial" pitchFamily="34" charset="-120"/>
              </a:rPr>
              <a:t>Isolate</a:t>
            </a:r>
            <a:endParaRPr lang="en-US" sz="1200" dirty="0"/>
          </a:p>
        </p:txBody>
      </p:sp>
      <p:sp>
        <p:nvSpPr>
          <p:cNvPr id="25" name="Text 22"/>
          <p:cNvSpPr/>
          <p:nvPr/>
        </p:nvSpPr>
        <p:spPr>
          <a:xfrm>
            <a:off x="6144768" y="2450592"/>
            <a:ext cx="2505456" cy="694944"/>
          </a:xfrm>
          <a:prstGeom prst="rect">
            <a:avLst/>
          </a:prstGeom>
          <a:noFill/>
          <a:ln/>
        </p:spPr>
        <p:txBody>
          <a:bodyPr wrap="square" lIns="0" tIns="0" rIns="0" bIns="0" rtlCol="0" anchor="t"/>
          <a:lstStyle/>
          <a:p>
            <a:pPr indent="0" marL="0">
              <a:buNone/>
            </a:pPr>
            <a:r>
              <a:rPr lang="en-US" sz="1000" dirty="0">
                <a:solidFill>
                  <a:srgbClr val="5B595A"/>
                </a:solidFill>
                <a:latin typeface="Arial" pitchFamily="34" charset="0"/>
                <a:ea typeface="Arial" pitchFamily="34" charset="-122"/>
                <a:cs typeface="Arial" pitchFamily="34" charset="-120"/>
              </a:rPr>
              <a:t>Switch off the equipment using its normal stop controls. Then open and isolate each energy source — turn off at the isolator, not just at the machine's own switch.</a:t>
            </a:r>
            <a:endParaRPr lang="en-US" sz="1000" dirty="0"/>
          </a:p>
        </p:txBody>
      </p:sp>
      <p:sp>
        <p:nvSpPr>
          <p:cNvPr id="26" name="Shape 23"/>
          <p:cNvSpPr/>
          <p:nvPr/>
        </p:nvSpPr>
        <p:spPr>
          <a:xfrm>
            <a:off x="347472" y="3328416"/>
            <a:ext cx="2688336" cy="1261872"/>
          </a:xfrm>
          <a:prstGeom prst="roundRect">
            <a:avLst>
              <a:gd name="adj" fmla="val 5797"/>
            </a:avLst>
          </a:prstGeom>
          <a:solidFill>
            <a:srgbClr val="F8F8F8"/>
          </a:solidFill>
          <a:ln w="10160">
            <a:solidFill>
              <a:srgbClr val="C8960A"/>
            </a:solidFill>
            <a:prstDash val="solid"/>
          </a:ln>
        </p:spPr>
      </p:sp>
      <p:sp>
        <p:nvSpPr>
          <p:cNvPr id="27" name="Shape 24"/>
          <p:cNvSpPr/>
          <p:nvPr/>
        </p:nvSpPr>
        <p:spPr>
          <a:xfrm>
            <a:off x="457200" y="3419856"/>
            <a:ext cx="365760" cy="365760"/>
          </a:xfrm>
          <a:prstGeom prst="ellipse">
            <a:avLst/>
          </a:prstGeom>
          <a:solidFill>
            <a:srgbClr val="C8960A"/>
          </a:solidFill>
          <a:ln w="12700">
            <a:solidFill>
              <a:srgbClr val="C8960A"/>
            </a:solidFill>
            <a:prstDash val="solid"/>
          </a:ln>
        </p:spPr>
      </p:sp>
      <p:sp>
        <p:nvSpPr>
          <p:cNvPr id="28" name="Text 25"/>
          <p:cNvSpPr/>
          <p:nvPr/>
        </p:nvSpPr>
        <p:spPr>
          <a:xfrm>
            <a:off x="457200" y="341985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9" name="Text 26"/>
          <p:cNvSpPr/>
          <p:nvPr/>
        </p:nvSpPr>
        <p:spPr>
          <a:xfrm>
            <a:off x="896112" y="3456432"/>
            <a:ext cx="2029968" cy="274320"/>
          </a:xfrm>
          <a:prstGeom prst="rect">
            <a:avLst/>
          </a:prstGeom>
          <a:noFill/>
          <a:ln/>
        </p:spPr>
        <p:txBody>
          <a:bodyPr wrap="square" lIns="0" tIns="0" rIns="0" bIns="0" rtlCol="0" anchor="ctr"/>
          <a:lstStyle/>
          <a:p>
            <a:pPr indent="0" marL="0">
              <a:buNone/>
            </a:pPr>
            <a:r>
              <a:rPr lang="en-US" sz="1200" b="1" dirty="0">
                <a:solidFill>
                  <a:srgbClr val="C8960A"/>
                </a:solidFill>
                <a:latin typeface="Arial" pitchFamily="34" charset="0"/>
                <a:ea typeface="Arial" pitchFamily="34" charset="-122"/>
                <a:cs typeface="Arial" pitchFamily="34" charset="-120"/>
              </a:rPr>
              <a:t>Lock</a:t>
            </a:r>
            <a:endParaRPr lang="en-US" sz="1200" dirty="0"/>
          </a:p>
        </p:txBody>
      </p:sp>
      <p:sp>
        <p:nvSpPr>
          <p:cNvPr id="30" name="Text 27"/>
          <p:cNvSpPr/>
          <p:nvPr/>
        </p:nvSpPr>
        <p:spPr>
          <a:xfrm>
            <a:off x="438912" y="3840480"/>
            <a:ext cx="2505456" cy="694944"/>
          </a:xfrm>
          <a:prstGeom prst="rect">
            <a:avLst/>
          </a:prstGeom>
          <a:noFill/>
          <a:ln/>
        </p:spPr>
        <p:txBody>
          <a:bodyPr wrap="square" lIns="0" tIns="0" rIns="0" bIns="0" rtlCol="0" anchor="t"/>
          <a:lstStyle/>
          <a:p>
            <a:pPr indent="0" marL="0">
              <a:buNone/>
            </a:pPr>
            <a:r>
              <a:rPr lang="en-US" sz="1000" dirty="0">
                <a:solidFill>
                  <a:srgbClr val="5B595A"/>
                </a:solidFill>
                <a:latin typeface="Arial" pitchFamily="34" charset="0"/>
                <a:ea typeface="Arial" pitchFamily="34" charset="-122"/>
                <a:cs typeface="Arial" pitchFamily="34" charset="-120"/>
              </a:rPr>
              <a:t>Apply a padlock to each isolation point. Each person working on the equipment applies their own lock. The equipment cannot be re-energised until ALL locks are removed.</a:t>
            </a:r>
            <a:endParaRPr lang="en-US" sz="1000" dirty="0"/>
          </a:p>
        </p:txBody>
      </p:sp>
      <p:sp>
        <p:nvSpPr>
          <p:cNvPr id="31" name="Shape 28"/>
          <p:cNvSpPr/>
          <p:nvPr/>
        </p:nvSpPr>
        <p:spPr>
          <a:xfrm>
            <a:off x="3200400" y="3328416"/>
            <a:ext cx="2688336" cy="1261872"/>
          </a:xfrm>
          <a:prstGeom prst="roundRect">
            <a:avLst>
              <a:gd name="adj" fmla="val 5797"/>
            </a:avLst>
          </a:prstGeom>
          <a:solidFill>
            <a:srgbClr val="F8F8F8"/>
          </a:solidFill>
          <a:ln w="10160">
            <a:solidFill>
              <a:srgbClr val="2E8B57"/>
            </a:solidFill>
            <a:prstDash val="solid"/>
          </a:ln>
        </p:spPr>
      </p:sp>
      <p:sp>
        <p:nvSpPr>
          <p:cNvPr id="32" name="Shape 29"/>
          <p:cNvSpPr/>
          <p:nvPr/>
        </p:nvSpPr>
        <p:spPr>
          <a:xfrm>
            <a:off x="3310128" y="3419856"/>
            <a:ext cx="365760" cy="365760"/>
          </a:xfrm>
          <a:prstGeom prst="ellipse">
            <a:avLst/>
          </a:prstGeom>
          <a:solidFill>
            <a:srgbClr val="2E8B57"/>
          </a:solidFill>
          <a:ln w="12700">
            <a:solidFill>
              <a:srgbClr val="2E8B57"/>
            </a:solidFill>
            <a:prstDash val="solid"/>
          </a:ln>
        </p:spPr>
      </p:sp>
      <p:sp>
        <p:nvSpPr>
          <p:cNvPr id="33" name="Text 30"/>
          <p:cNvSpPr/>
          <p:nvPr/>
        </p:nvSpPr>
        <p:spPr>
          <a:xfrm>
            <a:off x="3310128" y="341985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34" name="Text 31"/>
          <p:cNvSpPr/>
          <p:nvPr/>
        </p:nvSpPr>
        <p:spPr>
          <a:xfrm>
            <a:off x="3749040" y="3456432"/>
            <a:ext cx="2029968" cy="274320"/>
          </a:xfrm>
          <a:prstGeom prst="rect">
            <a:avLst/>
          </a:prstGeom>
          <a:noFill/>
          <a:ln/>
        </p:spPr>
        <p:txBody>
          <a:bodyPr wrap="square" lIns="0" tIns="0" rIns="0" bIns="0" rtlCol="0" anchor="ctr"/>
          <a:lstStyle/>
          <a:p>
            <a:pPr indent="0" marL="0">
              <a:buNone/>
            </a:pPr>
            <a:r>
              <a:rPr lang="en-US" sz="1200" b="1" dirty="0">
                <a:solidFill>
                  <a:srgbClr val="2E8B57"/>
                </a:solidFill>
                <a:latin typeface="Arial" pitchFamily="34" charset="0"/>
                <a:ea typeface="Arial" pitchFamily="34" charset="-122"/>
                <a:cs typeface="Arial" pitchFamily="34" charset="-120"/>
              </a:rPr>
              <a:t>Tag</a:t>
            </a:r>
            <a:endParaRPr lang="en-US" sz="1200" dirty="0"/>
          </a:p>
        </p:txBody>
      </p:sp>
      <p:sp>
        <p:nvSpPr>
          <p:cNvPr id="35" name="Text 32"/>
          <p:cNvSpPr/>
          <p:nvPr/>
        </p:nvSpPr>
        <p:spPr>
          <a:xfrm>
            <a:off x="3291840" y="3840480"/>
            <a:ext cx="2505456" cy="694944"/>
          </a:xfrm>
          <a:prstGeom prst="rect">
            <a:avLst/>
          </a:prstGeom>
          <a:noFill/>
          <a:ln/>
        </p:spPr>
        <p:txBody>
          <a:bodyPr wrap="square" lIns="0" tIns="0" rIns="0" bIns="0" rtlCol="0" anchor="t"/>
          <a:lstStyle/>
          <a:p>
            <a:pPr indent="0" marL="0">
              <a:buNone/>
            </a:pPr>
            <a:r>
              <a:rPr lang="en-US" sz="1000" dirty="0">
                <a:solidFill>
                  <a:srgbClr val="5B595A"/>
                </a:solidFill>
                <a:latin typeface="Arial" pitchFamily="34" charset="0"/>
                <a:ea typeface="Arial" pitchFamily="34" charset="-122"/>
                <a:cs typeface="Arial" pitchFamily="34" charset="-120"/>
              </a:rPr>
              <a:t>Attach a danger tag to each isolation point and the machine. The tag identifies who locked out, the date and time, and the reason. Do not remove another person's lock.</a:t>
            </a:r>
            <a:endParaRPr lang="en-US" sz="1000" dirty="0"/>
          </a:p>
        </p:txBody>
      </p:sp>
      <p:sp>
        <p:nvSpPr>
          <p:cNvPr id="36" name="Shape 33"/>
          <p:cNvSpPr/>
          <p:nvPr/>
        </p:nvSpPr>
        <p:spPr>
          <a:xfrm>
            <a:off x="6053328" y="3328416"/>
            <a:ext cx="2688336" cy="1261872"/>
          </a:xfrm>
          <a:prstGeom prst="roundRect">
            <a:avLst>
              <a:gd name="adj" fmla="val 5797"/>
            </a:avLst>
          </a:prstGeom>
          <a:solidFill>
            <a:srgbClr val="F8F8F8"/>
          </a:solidFill>
          <a:ln w="10160">
            <a:solidFill>
              <a:srgbClr val="C0392B"/>
            </a:solidFill>
            <a:prstDash val="solid"/>
          </a:ln>
        </p:spPr>
      </p:sp>
      <p:sp>
        <p:nvSpPr>
          <p:cNvPr id="37" name="Shape 34"/>
          <p:cNvSpPr/>
          <p:nvPr/>
        </p:nvSpPr>
        <p:spPr>
          <a:xfrm>
            <a:off x="6163056" y="3419856"/>
            <a:ext cx="365760" cy="365760"/>
          </a:xfrm>
          <a:prstGeom prst="ellipse">
            <a:avLst/>
          </a:prstGeom>
          <a:solidFill>
            <a:srgbClr val="C0392B"/>
          </a:solidFill>
          <a:ln w="12700">
            <a:solidFill>
              <a:srgbClr val="C0392B"/>
            </a:solidFill>
            <a:prstDash val="solid"/>
          </a:ln>
        </p:spPr>
      </p:sp>
      <p:sp>
        <p:nvSpPr>
          <p:cNvPr id="38" name="Text 35"/>
          <p:cNvSpPr/>
          <p:nvPr/>
        </p:nvSpPr>
        <p:spPr>
          <a:xfrm>
            <a:off x="6163056" y="341985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39" name="Text 36"/>
          <p:cNvSpPr/>
          <p:nvPr/>
        </p:nvSpPr>
        <p:spPr>
          <a:xfrm>
            <a:off x="6601968" y="3456432"/>
            <a:ext cx="2029968" cy="274320"/>
          </a:xfrm>
          <a:prstGeom prst="rect">
            <a:avLst/>
          </a:prstGeom>
          <a:noFill/>
          <a:ln/>
        </p:spPr>
        <p:txBody>
          <a:bodyPr wrap="square" lIns="0" tIns="0" rIns="0" bIns="0" rtlCol="0" anchor="ctr"/>
          <a:lstStyle/>
          <a:p>
            <a:pPr indent="0" marL="0">
              <a:buNone/>
            </a:pPr>
            <a:r>
              <a:rPr lang="en-US" sz="1200" b="1" dirty="0">
                <a:solidFill>
                  <a:srgbClr val="C0392B"/>
                </a:solidFill>
                <a:latin typeface="Arial" pitchFamily="34" charset="0"/>
                <a:ea typeface="Arial" pitchFamily="34" charset="-122"/>
                <a:cs typeface="Arial" pitchFamily="34" charset="-120"/>
              </a:rPr>
              <a:t>Try</a:t>
            </a:r>
            <a:endParaRPr lang="en-US" sz="1200" dirty="0"/>
          </a:p>
        </p:txBody>
      </p:sp>
      <p:sp>
        <p:nvSpPr>
          <p:cNvPr id="40" name="Text 37"/>
          <p:cNvSpPr/>
          <p:nvPr/>
        </p:nvSpPr>
        <p:spPr>
          <a:xfrm>
            <a:off x="6144768" y="3840480"/>
            <a:ext cx="2505456" cy="694944"/>
          </a:xfrm>
          <a:prstGeom prst="rect">
            <a:avLst/>
          </a:prstGeom>
          <a:noFill/>
          <a:ln/>
        </p:spPr>
        <p:txBody>
          <a:bodyPr wrap="square" lIns="0" tIns="0" rIns="0" bIns="0" rtlCol="0" anchor="t"/>
          <a:lstStyle/>
          <a:p>
            <a:pPr indent="0" marL="0">
              <a:buNone/>
            </a:pPr>
            <a:r>
              <a:rPr lang="en-US" sz="1000" dirty="0">
                <a:solidFill>
                  <a:srgbClr val="5B595A"/>
                </a:solidFill>
                <a:latin typeface="Arial" pitchFamily="34" charset="0"/>
                <a:ea typeface="Arial" pitchFamily="34" charset="-122"/>
                <a:cs typeface="Arial" pitchFamily="34" charset="-120"/>
              </a:rPr>
              <a:t>Attempt to start the equipment using its normal controls. Confirm it does not start. Test for live voltage using an approved voltage indicator before touching conductors.</a:t>
            </a:r>
            <a:endParaRPr lang="en-US" sz="1000" dirty="0"/>
          </a:p>
        </p:txBody>
      </p:sp>
      <p:sp>
        <p:nvSpPr>
          <p:cNvPr id="41" name="Rectangle 4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5"/>
          <a:stretch>
            <a:fillRect/>
          </a:stretch>
        </p:blipFill>
        <p:spPr>
          <a:xfrm>
            <a:off x="7562088" y="100584"/>
            <a:ext cx="566928" cy="347472"/>
          </a:xfrm>
          <a:prstGeom prst="rect">
            <a:avLst/>
          </a:prstGeom>
        </p:spPr>
      </p:pic>
      <p:pic>
        <p:nvPicPr>
          <p:cNvPr id="43" name="Picture 42" descr="image.png"/>
          <p:cNvPicPr>
            <a:picLocks noChangeAspect="1"/>
          </p:cNvPicPr>
          <p:nvPr/>
        </p:nvPicPr>
        <p:blipFill>
          <a:blip r:embed="rId4"/>
          <a:stretch>
            <a:fillRect/>
          </a:stretch>
        </p:blipFill>
        <p:spPr>
          <a:xfrm>
            <a:off x="8174736" y="100584"/>
            <a:ext cx="658368" cy="347472"/>
          </a:xfrm>
          <a:prstGeom prst="rect">
            <a:avLst/>
          </a:prstGeom>
        </p:spPr>
      </p:pic>
      <p:sp>
        <p:nvSpPr>
          <p:cNvPr id="44" name="Rectangle 4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C8960A"/>
          </a:solidFill>
          <a:ln w="12700">
            <a:solidFill>
              <a:srgbClr val="C8960A"/>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Practical Safety</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RCDs, Safe Voltages, and Extension Lead Safety</a:t>
            </a:r>
            <a:endParaRPr lang="en-US" sz="2600" dirty="0"/>
          </a:p>
        </p:txBody>
      </p:sp>
      <p:sp>
        <p:nvSpPr>
          <p:cNvPr id="9" name="Shape 6"/>
          <p:cNvSpPr/>
          <p:nvPr/>
        </p:nvSpPr>
        <p:spPr>
          <a:xfrm>
            <a:off x="347472" y="1261872"/>
            <a:ext cx="8449056" cy="0"/>
          </a:xfrm>
          <a:prstGeom prst="line">
            <a:avLst/>
          </a:prstGeom>
          <a:noFill/>
          <a:ln w="19050">
            <a:solidFill>
              <a:srgbClr val="C8960A"/>
            </a:solidFill>
            <a:prstDash val="solid"/>
          </a:ln>
        </p:spPr>
      </p:sp>
      <p:sp>
        <p:nvSpPr>
          <p:cNvPr id="10" name="Text 7"/>
          <p:cNvSpPr/>
          <p:nvPr/>
        </p:nvSpPr>
        <p:spPr>
          <a:xfrm>
            <a:off x="347472" y="1353312"/>
            <a:ext cx="8449056" cy="438912"/>
          </a:xfrm>
          <a:prstGeom prst="rect">
            <a:avLst/>
          </a:prstGeom>
          <a:noFill/>
          <a:ln/>
        </p:spPr>
        <p:txBody>
          <a:bodyPr wrap="square" lIns="0" tIns="0" rIns="0" bIns="0" rtlCol="0" anchor="t"/>
          <a:lstStyle/>
          <a:p>
            <a:pPr algn="l" indent="0" marL="0">
              <a:buNone/>
            </a:pPr>
            <a:r>
              <a:rPr lang="en-US" sz="1250" dirty="0">
                <a:solidFill>
                  <a:srgbClr val="5B595A"/>
                </a:solidFill>
                <a:latin typeface="Arial" pitchFamily="34" charset="0"/>
                <a:ea typeface="Arial" pitchFamily="34" charset="-122"/>
                <a:cs typeface="Arial" pitchFamily="34" charset="-120"/>
              </a:rPr>
              <a:t>Three practical measures that significantly reduce electrical risk in manufacturing environments: using residual current devices, reducing operating voltage for portable tools, and managing extension leads and temporary supplies correctly.</a:t>
            </a:r>
            <a:endParaRPr lang="en-US" sz="1250" dirty="0"/>
          </a:p>
        </p:txBody>
      </p:sp>
      <p:sp>
        <p:nvSpPr>
          <p:cNvPr id="11" name="Shape 8"/>
          <p:cNvSpPr/>
          <p:nvPr/>
        </p:nvSpPr>
        <p:spPr>
          <a:xfrm>
            <a:off x="347472" y="1920240"/>
            <a:ext cx="8449056" cy="896112"/>
          </a:xfrm>
          <a:prstGeom prst="roundRect">
            <a:avLst>
              <a:gd name="adj" fmla="val 7143"/>
            </a:avLst>
          </a:prstGeom>
          <a:solidFill>
            <a:srgbClr val="F8F8F8"/>
          </a:solidFill>
          <a:ln w="10160">
            <a:solidFill>
              <a:srgbClr val="009FE3"/>
            </a:solidFill>
            <a:prstDash val="solid"/>
          </a:ln>
        </p:spPr>
      </p:sp>
      <p:sp>
        <p:nvSpPr>
          <p:cNvPr id="12" name="Shape 9"/>
          <p:cNvSpPr/>
          <p:nvPr/>
        </p:nvSpPr>
        <p:spPr>
          <a:xfrm>
            <a:off x="347472" y="1920240"/>
            <a:ext cx="8449056" cy="292608"/>
          </a:xfrm>
          <a:prstGeom prst="rect">
            <a:avLst/>
          </a:prstGeom>
          <a:solidFill>
            <a:srgbClr val="009FE3"/>
          </a:solidFill>
          <a:ln w="12700">
            <a:solidFill>
              <a:srgbClr val="009FE3"/>
            </a:solidFill>
            <a:prstDash val="solid"/>
          </a:ln>
        </p:spPr>
      </p:sp>
      <p:sp>
        <p:nvSpPr>
          <p:cNvPr id="13" name="Text 10"/>
          <p:cNvSpPr/>
          <p:nvPr/>
        </p:nvSpPr>
        <p:spPr>
          <a:xfrm>
            <a:off x="457200" y="1956816"/>
            <a:ext cx="8229600" cy="219456"/>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Residual Current Devices (RCDs)</a:t>
            </a:r>
            <a:endParaRPr lang="en-US" sz="1150" dirty="0"/>
          </a:p>
        </p:txBody>
      </p:sp>
      <p:sp>
        <p:nvSpPr>
          <p:cNvPr id="14" name="Text 11"/>
          <p:cNvSpPr/>
          <p:nvPr/>
        </p:nvSpPr>
        <p:spPr>
          <a:xfrm>
            <a:off x="457200" y="2249424"/>
            <a:ext cx="8229600" cy="512064"/>
          </a:xfrm>
          <a:prstGeom prst="rect">
            <a:avLst/>
          </a:prstGeom>
          <a:noFill/>
          <a:ln/>
        </p:spPr>
        <p:txBody>
          <a:bodyPr wrap="square" lIns="0" tIns="0" rIns="0" bIns="0" rtlCol="0" anchor="ctr"/>
          <a:lstStyle/>
          <a:p>
            <a:pPr indent="0" marL="0">
              <a:buNone/>
            </a:pPr>
            <a:r>
              <a:rPr lang="en-US" sz="950" dirty="0">
                <a:solidFill>
                  <a:srgbClr val="5B595A"/>
                </a:solidFill>
                <a:latin typeface="Arial" pitchFamily="34" charset="0"/>
                <a:ea typeface="Arial" pitchFamily="34" charset="-122"/>
                <a:cs typeface="Arial" pitchFamily="34" charset="-120"/>
              </a:rPr>
              <a:t>1.  An RCD detects small differences in current that indicate a fault, such as current leaking through a person, and disconnects the supply in 30-40 milliseconds — fast enough to prevent cardiac arrest  |  2.  All portable electrical equipment used outdoors or in damp environments must be protected by an RCD  |  3.  RCDs must be tested by pressing the test button before use. They can fail silently without this test  |  4.  RCDs do not protect against direct contact with live conductors between line and neutral. They are not a substitute for isolation.</a:t>
            </a:r>
            <a:endParaRPr lang="en-US" sz="950" dirty="0"/>
          </a:p>
        </p:txBody>
      </p:sp>
      <p:sp>
        <p:nvSpPr>
          <p:cNvPr id="15" name="Shape 12"/>
          <p:cNvSpPr/>
          <p:nvPr/>
        </p:nvSpPr>
        <p:spPr>
          <a:xfrm>
            <a:off x="347472" y="2926080"/>
            <a:ext cx="8449056" cy="896112"/>
          </a:xfrm>
          <a:prstGeom prst="roundRect">
            <a:avLst>
              <a:gd name="adj" fmla="val 7143"/>
            </a:avLst>
          </a:prstGeom>
          <a:solidFill>
            <a:srgbClr val="F8F8F8"/>
          </a:solidFill>
          <a:ln w="10160">
            <a:solidFill>
              <a:srgbClr val="83348F"/>
            </a:solidFill>
            <a:prstDash val="solid"/>
          </a:ln>
        </p:spPr>
      </p:sp>
      <p:sp>
        <p:nvSpPr>
          <p:cNvPr id="16" name="Shape 13"/>
          <p:cNvSpPr/>
          <p:nvPr/>
        </p:nvSpPr>
        <p:spPr>
          <a:xfrm>
            <a:off x="347472" y="2926080"/>
            <a:ext cx="8449056" cy="292608"/>
          </a:xfrm>
          <a:prstGeom prst="rect">
            <a:avLst/>
          </a:prstGeom>
          <a:solidFill>
            <a:srgbClr val="83348F"/>
          </a:solidFill>
          <a:ln w="12700">
            <a:solidFill>
              <a:srgbClr val="83348F"/>
            </a:solidFill>
            <a:prstDash val="solid"/>
          </a:ln>
        </p:spPr>
      </p:sp>
      <p:sp>
        <p:nvSpPr>
          <p:cNvPr id="17" name="Text 14"/>
          <p:cNvSpPr/>
          <p:nvPr/>
        </p:nvSpPr>
        <p:spPr>
          <a:xfrm>
            <a:off x="457200" y="2962656"/>
            <a:ext cx="8229600" cy="219456"/>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Reduced Low Voltage (110V CTE)</a:t>
            </a:r>
            <a:endParaRPr lang="en-US" sz="1150" dirty="0"/>
          </a:p>
        </p:txBody>
      </p:sp>
      <p:sp>
        <p:nvSpPr>
          <p:cNvPr id="18" name="Text 15"/>
          <p:cNvSpPr/>
          <p:nvPr/>
        </p:nvSpPr>
        <p:spPr>
          <a:xfrm>
            <a:off x="457200" y="3255264"/>
            <a:ext cx="8229600" cy="512064"/>
          </a:xfrm>
          <a:prstGeom prst="rect">
            <a:avLst/>
          </a:prstGeom>
          <a:noFill/>
          <a:ln/>
        </p:spPr>
        <p:txBody>
          <a:bodyPr wrap="square" lIns="0" tIns="0" rIns="0" bIns="0" rtlCol="0" anchor="ctr"/>
          <a:lstStyle/>
          <a:p>
            <a:pPr indent="0" marL="0">
              <a:buNone/>
            </a:pPr>
            <a:r>
              <a:rPr lang="en-US" sz="950" dirty="0">
                <a:solidFill>
                  <a:srgbClr val="5B595A"/>
                </a:solidFill>
                <a:latin typeface="Arial" pitchFamily="34" charset="0"/>
                <a:ea typeface="Arial" pitchFamily="34" charset="-122"/>
                <a:cs typeface="Arial" pitchFamily="34" charset="-120"/>
              </a:rPr>
              <a:t>1.  110V centre-tapped-to-earth (CTE) supply is standard practice for portable tools on construction sites and is increasingly used in manufacturing  |  2.  At 110V CTE, the maximum voltage to earth is 55V — significantly less likely to cause cardiac arrest than 230V  |  3.  Tool transformers must be inspected and maintained. They do not eliminate risk — they reduce it  |  4.  Where 110V is available, it must be used in preference to 230V for portable power tools</a:t>
            </a:r>
            <a:endParaRPr lang="en-US" sz="950" dirty="0"/>
          </a:p>
        </p:txBody>
      </p:sp>
      <p:sp>
        <p:nvSpPr>
          <p:cNvPr id="19" name="Shape 16"/>
          <p:cNvSpPr/>
          <p:nvPr/>
        </p:nvSpPr>
        <p:spPr>
          <a:xfrm>
            <a:off x="347472" y="3931920"/>
            <a:ext cx="8449056" cy="896112"/>
          </a:xfrm>
          <a:prstGeom prst="roundRect">
            <a:avLst>
              <a:gd name="adj" fmla="val 7143"/>
            </a:avLst>
          </a:prstGeom>
          <a:solidFill>
            <a:srgbClr val="F8F8F8"/>
          </a:solidFill>
          <a:ln w="10160">
            <a:solidFill>
              <a:srgbClr val="D4550A"/>
            </a:solidFill>
            <a:prstDash val="solid"/>
          </a:ln>
        </p:spPr>
      </p:sp>
      <p:sp>
        <p:nvSpPr>
          <p:cNvPr id="20" name="Shape 17"/>
          <p:cNvSpPr/>
          <p:nvPr/>
        </p:nvSpPr>
        <p:spPr>
          <a:xfrm>
            <a:off x="347472" y="3931920"/>
            <a:ext cx="8449056" cy="292608"/>
          </a:xfrm>
          <a:prstGeom prst="rect">
            <a:avLst/>
          </a:prstGeom>
          <a:solidFill>
            <a:srgbClr val="D4550A"/>
          </a:solidFill>
          <a:ln w="12700">
            <a:solidFill>
              <a:srgbClr val="D4550A"/>
            </a:solidFill>
            <a:prstDash val="solid"/>
          </a:ln>
        </p:spPr>
      </p:sp>
      <p:sp>
        <p:nvSpPr>
          <p:cNvPr id="21" name="Text 18"/>
          <p:cNvSpPr/>
          <p:nvPr/>
        </p:nvSpPr>
        <p:spPr>
          <a:xfrm>
            <a:off x="457200" y="3968496"/>
            <a:ext cx="8229600" cy="219456"/>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Extension Leads and Temporary Supplies</a:t>
            </a:r>
            <a:endParaRPr lang="en-US" sz="1150" dirty="0"/>
          </a:p>
        </p:txBody>
      </p:sp>
      <p:sp>
        <p:nvSpPr>
          <p:cNvPr id="22" name="Text 19"/>
          <p:cNvSpPr/>
          <p:nvPr/>
        </p:nvSpPr>
        <p:spPr>
          <a:xfrm>
            <a:off x="457200" y="4261104"/>
            <a:ext cx="8229600" cy="512064"/>
          </a:xfrm>
          <a:prstGeom prst="rect">
            <a:avLst/>
          </a:prstGeom>
          <a:noFill/>
          <a:ln/>
        </p:spPr>
        <p:txBody>
          <a:bodyPr wrap="square" lIns="0" tIns="0" rIns="0" bIns="0" rtlCol="0" anchor="ctr"/>
          <a:lstStyle/>
          <a:p>
            <a:pPr indent="0" marL="0">
              <a:buNone/>
            </a:pPr>
            <a:r>
              <a:rPr lang="en-US" sz="950" dirty="0">
                <a:solidFill>
                  <a:srgbClr val="5B595A"/>
                </a:solidFill>
                <a:latin typeface="Arial" pitchFamily="34" charset="0"/>
                <a:ea typeface="Arial" pitchFamily="34" charset="-122"/>
                <a:cs typeface="Arial" pitchFamily="34" charset="-120"/>
              </a:rPr>
              <a:t>1.  Extension leads are temporary supplies. They must not form part of a permanent installation  |  2.  Reels must be fully unwound during use to prevent overheating. Coiled cables under load get hot  |  3.  Never join extension leads with adaptors to achieve greater length. Use a single lead of the required length  |  4.  Do not route extension leads under carpets, through doorways where they will be crushed, or across walkways without protection</a:t>
            </a:r>
            <a:endParaRPr lang="en-US" sz="950" dirty="0"/>
          </a:p>
        </p:txBody>
      </p:sp>
      <p:sp>
        <p:nvSpPr>
          <p:cNvPr id="23" name="Rectangle 22"/>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5"/>
          <a:stretch>
            <a:fillRect/>
          </a:stretch>
        </p:blipFill>
        <p:spPr>
          <a:xfrm>
            <a:off x="7562088" y="100584"/>
            <a:ext cx="566928" cy="347472"/>
          </a:xfrm>
          <a:prstGeom prst="rect">
            <a:avLst/>
          </a:prstGeom>
        </p:spPr>
      </p:pic>
      <p:pic>
        <p:nvPicPr>
          <p:cNvPr id="25" name="Picture 24" descr="image.png"/>
          <p:cNvPicPr>
            <a:picLocks noChangeAspect="1"/>
          </p:cNvPicPr>
          <p:nvPr/>
        </p:nvPicPr>
        <p:blipFill>
          <a:blip r:embed="rId4"/>
          <a:stretch>
            <a:fillRect/>
          </a:stretch>
        </p:blipFill>
        <p:spPr>
          <a:xfrm>
            <a:off x="8174736" y="100584"/>
            <a:ext cx="658368" cy="347472"/>
          </a:xfrm>
          <a:prstGeom prst="rect">
            <a:avLst/>
          </a:prstGeom>
        </p:spPr>
      </p:pic>
      <p:sp>
        <p:nvSpPr>
          <p:cNvPr id="26" name="Rectangle 25"/>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C0392B"/>
          </a:solidFill>
          <a:ln w="12700">
            <a:solidFill>
              <a:srgbClr val="C0392B"/>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Emergency Response</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Responding to an Electric Shock Incident</a:t>
            </a:r>
            <a:endParaRPr lang="en-US" sz="2600" dirty="0"/>
          </a:p>
        </p:txBody>
      </p:sp>
      <p:sp>
        <p:nvSpPr>
          <p:cNvPr id="9" name="Shape 6"/>
          <p:cNvSpPr/>
          <p:nvPr/>
        </p:nvSpPr>
        <p:spPr>
          <a:xfrm>
            <a:off x="347472" y="1261872"/>
            <a:ext cx="8449056" cy="0"/>
          </a:xfrm>
          <a:prstGeom prst="line">
            <a:avLst/>
          </a:prstGeom>
          <a:noFill/>
          <a:ln w="19050">
            <a:solidFill>
              <a:srgbClr val="C0392B"/>
            </a:solidFill>
            <a:prstDash val="solid"/>
          </a:ln>
        </p:spPr>
      </p:sp>
      <p:sp>
        <p:nvSpPr>
          <p:cNvPr id="10" name="Text 7"/>
          <p:cNvSpPr/>
          <p:nvPr/>
        </p:nvSpPr>
        <p:spPr>
          <a:xfrm>
            <a:off x="347472" y="1353312"/>
            <a:ext cx="8449056" cy="475488"/>
          </a:xfrm>
          <a:prstGeom prst="rect">
            <a:avLst/>
          </a:prstGeom>
          <a:noFill/>
          <a:ln/>
        </p:spPr>
        <p:txBody>
          <a:bodyPr wrap="square" lIns="0" tIns="0" rIns="0" bIns="0" rtlCol="0" anchor="t"/>
          <a:lstStyle/>
          <a:p>
            <a:pPr algn="l" indent="0" marL="0">
              <a:buNone/>
            </a:pPr>
            <a:r>
              <a:rPr lang="en-US" sz="1250" dirty="0">
                <a:solidFill>
                  <a:srgbClr val="5B595A"/>
                </a:solidFill>
                <a:latin typeface="Arial" pitchFamily="34" charset="0"/>
                <a:ea typeface="Arial" pitchFamily="34" charset="-122"/>
                <a:cs typeface="Arial" pitchFamily="34" charset="-120"/>
              </a:rPr>
              <a:t>An electric shock incident requires an immediate, controlled response. The first priority is always to isolate the electrical supply before touching the casualty. Touching a person in contact with live electrical supply will electrocute the rescuer.</a:t>
            </a:r>
            <a:endParaRPr lang="en-US" sz="1250" dirty="0"/>
          </a:p>
        </p:txBody>
      </p:sp>
      <p:sp>
        <p:nvSpPr>
          <p:cNvPr id="11" name="Shape 8"/>
          <p:cNvSpPr/>
          <p:nvPr/>
        </p:nvSpPr>
        <p:spPr>
          <a:xfrm>
            <a:off x="347472" y="1920240"/>
            <a:ext cx="4133088" cy="914400"/>
          </a:xfrm>
          <a:prstGeom prst="roundRect">
            <a:avLst>
              <a:gd name="adj" fmla="val 7000"/>
            </a:avLst>
          </a:prstGeom>
          <a:solidFill>
            <a:srgbClr val="F8F8F8"/>
          </a:solidFill>
          <a:ln w="10160">
            <a:solidFill>
              <a:srgbClr val="C0392B"/>
            </a:solidFill>
            <a:prstDash val="solid"/>
          </a:ln>
        </p:spPr>
      </p:sp>
      <p:sp>
        <p:nvSpPr>
          <p:cNvPr id="12" name="Shape 9"/>
          <p:cNvSpPr/>
          <p:nvPr/>
        </p:nvSpPr>
        <p:spPr>
          <a:xfrm>
            <a:off x="457200" y="2002536"/>
            <a:ext cx="365760" cy="365760"/>
          </a:xfrm>
          <a:prstGeom prst="ellipse">
            <a:avLst/>
          </a:prstGeom>
          <a:solidFill>
            <a:srgbClr val="C0392B"/>
          </a:solidFill>
          <a:ln w="12700">
            <a:solidFill>
              <a:srgbClr val="C0392B"/>
            </a:solidFill>
            <a:prstDash val="solid"/>
          </a:ln>
        </p:spPr>
      </p:sp>
      <p:sp>
        <p:nvSpPr>
          <p:cNvPr id="13" name="Text 10"/>
          <p:cNvSpPr/>
          <p:nvPr/>
        </p:nvSpPr>
        <p:spPr>
          <a:xfrm>
            <a:off x="457200" y="20025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4" name="Text 11"/>
          <p:cNvSpPr/>
          <p:nvPr/>
        </p:nvSpPr>
        <p:spPr>
          <a:xfrm>
            <a:off x="896112" y="2011680"/>
            <a:ext cx="3474720" cy="256032"/>
          </a:xfrm>
          <a:prstGeom prst="rect">
            <a:avLst/>
          </a:prstGeom>
          <a:noFill/>
          <a:ln/>
        </p:spPr>
        <p:txBody>
          <a:bodyPr wrap="square" lIns="0" tIns="0" rIns="0" bIns="0" rtlCol="0" anchor="ctr"/>
          <a:lstStyle/>
          <a:p>
            <a:pPr indent="0" marL="0">
              <a:buNone/>
            </a:pPr>
            <a:r>
              <a:rPr lang="en-US" sz="1150" b="1" dirty="0">
                <a:solidFill>
                  <a:srgbClr val="C0392B"/>
                </a:solidFill>
                <a:latin typeface="Arial" pitchFamily="34" charset="0"/>
                <a:ea typeface="Arial" pitchFamily="34" charset="-122"/>
                <a:cs typeface="Arial" pitchFamily="34" charset="-120"/>
              </a:rPr>
              <a:t>Do NOT touch</a:t>
            </a:r>
            <a:endParaRPr lang="en-US" sz="1150" dirty="0"/>
          </a:p>
        </p:txBody>
      </p:sp>
      <p:sp>
        <p:nvSpPr>
          <p:cNvPr id="15" name="Text 12"/>
          <p:cNvSpPr/>
          <p:nvPr/>
        </p:nvSpPr>
        <p:spPr>
          <a:xfrm>
            <a:off x="493776" y="2359152"/>
            <a:ext cx="3895344" cy="420624"/>
          </a:xfrm>
          <a:prstGeom prst="rect">
            <a:avLst/>
          </a:prstGeom>
          <a:noFill/>
          <a:ln/>
        </p:spPr>
        <p:txBody>
          <a:bodyPr wrap="square" lIns="0" tIns="0" rIns="0" bIns="0" rtlCol="0" anchor="t"/>
          <a:lstStyle/>
          <a:p>
            <a:pPr indent="0" marL="0">
              <a:buNone/>
            </a:pPr>
            <a:r>
              <a:rPr lang="en-US" sz="1050" dirty="0">
                <a:solidFill>
                  <a:srgbClr val="5B595A"/>
                </a:solidFill>
                <a:latin typeface="Arial" pitchFamily="34" charset="0"/>
                <a:ea typeface="Arial" pitchFamily="34" charset="-122"/>
                <a:cs typeface="Arial" pitchFamily="34" charset="-120"/>
              </a:rPr>
              <a:t>Do not touch the casualty until you are certain they are no longer in contact with a live electrical source. You will receive a shock if you do.</a:t>
            </a:r>
            <a:endParaRPr lang="en-US" sz="1050" dirty="0"/>
          </a:p>
        </p:txBody>
      </p:sp>
      <p:sp>
        <p:nvSpPr>
          <p:cNvPr id="16" name="Shape 13"/>
          <p:cNvSpPr/>
          <p:nvPr/>
        </p:nvSpPr>
        <p:spPr>
          <a:xfrm>
            <a:off x="4663440" y="1920240"/>
            <a:ext cx="4133088" cy="914400"/>
          </a:xfrm>
          <a:prstGeom prst="roundRect">
            <a:avLst>
              <a:gd name="adj" fmla="val 7000"/>
            </a:avLst>
          </a:prstGeom>
          <a:solidFill>
            <a:srgbClr val="F8F8F8"/>
          </a:solidFill>
          <a:ln w="10160">
            <a:solidFill>
              <a:srgbClr val="D4550A"/>
            </a:solidFill>
            <a:prstDash val="solid"/>
          </a:ln>
        </p:spPr>
      </p:sp>
      <p:sp>
        <p:nvSpPr>
          <p:cNvPr id="17" name="Shape 14"/>
          <p:cNvSpPr/>
          <p:nvPr/>
        </p:nvSpPr>
        <p:spPr>
          <a:xfrm>
            <a:off x="4773168" y="2002536"/>
            <a:ext cx="365760" cy="365760"/>
          </a:xfrm>
          <a:prstGeom prst="ellipse">
            <a:avLst/>
          </a:prstGeom>
          <a:solidFill>
            <a:srgbClr val="D4550A"/>
          </a:solidFill>
          <a:ln w="12700">
            <a:solidFill>
              <a:srgbClr val="D4550A"/>
            </a:solidFill>
            <a:prstDash val="solid"/>
          </a:ln>
        </p:spPr>
      </p:sp>
      <p:sp>
        <p:nvSpPr>
          <p:cNvPr id="18" name="Text 15"/>
          <p:cNvSpPr/>
          <p:nvPr/>
        </p:nvSpPr>
        <p:spPr>
          <a:xfrm>
            <a:off x="4773168" y="20025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9" name="Text 16"/>
          <p:cNvSpPr/>
          <p:nvPr/>
        </p:nvSpPr>
        <p:spPr>
          <a:xfrm>
            <a:off x="5212080" y="2011680"/>
            <a:ext cx="3474720" cy="256032"/>
          </a:xfrm>
          <a:prstGeom prst="rect">
            <a:avLst/>
          </a:prstGeom>
          <a:noFill/>
          <a:ln/>
        </p:spPr>
        <p:txBody>
          <a:bodyPr wrap="square" lIns="0" tIns="0" rIns="0" bIns="0" rtlCol="0" anchor="ctr"/>
          <a:lstStyle/>
          <a:p>
            <a:pPr indent="0" marL="0">
              <a:buNone/>
            </a:pPr>
            <a:r>
              <a:rPr lang="en-US" sz="1150" b="1" dirty="0">
                <a:solidFill>
                  <a:srgbClr val="D4550A"/>
                </a:solidFill>
                <a:latin typeface="Arial" pitchFamily="34" charset="0"/>
                <a:ea typeface="Arial" pitchFamily="34" charset="-122"/>
                <a:cs typeface="Arial" pitchFamily="34" charset="-120"/>
              </a:rPr>
              <a:t>Isolate the supply</a:t>
            </a:r>
            <a:endParaRPr lang="en-US" sz="1150" dirty="0"/>
          </a:p>
        </p:txBody>
      </p:sp>
      <p:sp>
        <p:nvSpPr>
          <p:cNvPr id="20" name="Text 17"/>
          <p:cNvSpPr/>
          <p:nvPr/>
        </p:nvSpPr>
        <p:spPr>
          <a:xfrm>
            <a:off x="4809744" y="2359152"/>
            <a:ext cx="3895344" cy="420624"/>
          </a:xfrm>
          <a:prstGeom prst="rect">
            <a:avLst/>
          </a:prstGeom>
          <a:noFill/>
          <a:ln/>
        </p:spPr>
        <p:txBody>
          <a:bodyPr wrap="square" lIns="0" tIns="0" rIns="0" bIns="0" rtlCol="0" anchor="t"/>
          <a:lstStyle/>
          <a:p>
            <a:pPr indent="0" marL="0">
              <a:buNone/>
            </a:pPr>
            <a:r>
              <a:rPr lang="en-US" sz="1050" dirty="0">
                <a:solidFill>
                  <a:srgbClr val="5B595A"/>
                </a:solidFill>
                <a:latin typeface="Arial" pitchFamily="34" charset="0"/>
                <a:ea typeface="Arial" pitchFamily="34" charset="-122"/>
                <a:cs typeface="Arial" pitchFamily="34" charset="-120"/>
              </a:rPr>
              <a:t>Switch off the power at the nearest isolator, fuse board, or supply point. If you cannot reach the isolator safely, use a non-conductive object (dry wood) to push the person clear.</a:t>
            </a:r>
            <a:endParaRPr lang="en-US" sz="1050" dirty="0"/>
          </a:p>
        </p:txBody>
      </p:sp>
      <p:sp>
        <p:nvSpPr>
          <p:cNvPr id="21" name="Shape 18"/>
          <p:cNvSpPr/>
          <p:nvPr/>
        </p:nvSpPr>
        <p:spPr>
          <a:xfrm>
            <a:off x="347472" y="2944368"/>
            <a:ext cx="4133088" cy="914400"/>
          </a:xfrm>
          <a:prstGeom prst="roundRect">
            <a:avLst>
              <a:gd name="adj" fmla="val 7000"/>
            </a:avLst>
          </a:prstGeom>
          <a:solidFill>
            <a:srgbClr val="F8F8F8"/>
          </a:solidFill>
          <a:ln w="10160">
            <a:solidFill>
              <a:srgbClr val="E08A00"/>
            </a:solidFill>
            <a:prstDash val="solid"/>
          </a:ln>
        </p:spPr>
      </p:sp>
      <p:sp>
        <p:nvSpPr>
          <p:cNvPr id="22" name="Shape 19"/>
          <p:cNvSpPr/>
          <p:nvPr/>
        </p:nvSpPr>
        <p:spPr>
          <a:xfrm>
            <a:off x="457200" y="3026664"/>
            <a:ext cx="365760" cy="365760"/>
          </a:xfrm>
          <a:prstGeom prst="ellipse">
            <a:avLst/>
          </a:prstGeom>
          <a:solidFill>
            <a:srgbClr val="E08A00"/>
          </a:solidFill>
          <a:ln w="12700">
            <a:solidFill>
              <a:srgbClr val="E08A00"/>
            </a:solidFill>
            <a:prstDash val="solid"/>
          </a:ln>
        </p:spPr>
      </p:sp>
      <p:sp>
        <p:nvSpPr>
          <p:cNvPr id="23" name="Text 20"/>
          <p:cNvSpPr/>
          <p:nvPr/>
        </p:nvSpPr>
        <p:spPr>
          <a:xfrm>
            <a:off x="457200" y="30266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4" name="Text 21"/>
          <p:cNvSpPr/>
          <p:nvPr/>
        </p:nvSpPr>
        <p:spPr>
          <a:xfrm>
            <a:off x="896112" y="3035808"/>
            <a:ext cx="3474720" cy="256032"/>
          </a:xfrm>
          <a:prstGeom prst="rect">
            <a:avLst/>
          </a:prstGeom>
          <a:noFill/>
          <a:ln/>
        </p:spPr>
        <p:txBody>
          <a:bodyPr wrap="square" lIns="0" tIns="0" rIns="0" bIns="0" rtlCol="0" anchor="ctr"/>
          <a:lstStyle/>
          <a:p>
            <a:pPr indent="0" marL="0">
              <a:buNone/>
            </a:pPr>
            <a:r>
              <a:rPr lang="en-US" sz="1150" b="1" dirty="0">
                <a:solidFill>
                  <a:srgbClr val="E08A00"/>
                </a:solidFill>
                <a:latin typeface="Arial" pitchFamily="34" charset="0"/>
                <a:ea typeface="Arial" pitchFamily="34" charset="-122"/>
                <a:cs typeface="Arial" pitchFamily="34" charset="-120"/>
              </a:rPr>
              <a:t>Call for help</a:t>
            </a:r>
            <a:endParaRPr lang="en-US" sz="1150" dirty="0"/>
          </a:p>
        </p:txBody>
      </p:sp>
      <p:sp>
        <p:nvSpPr>
          <p:cNvPr id="25" name="Text 22"/>
          <p:cNvSpPr/>
          <p:nvPr/>
        </p:nvSpPr>
        <p:spPr>
          <a:xfrm>
            <a:off x="493776" y="3383280"/>
            <a:ext cx="3895344" cy="420624"/>
          </a:xfrm>
          <a:prstGeom prst="rect">
            <a:avLst/>
          </a:prstGeom>
          <a:noFill/>
          <a:ln/>
        </p:spPr>
        <p:txBody>
          <a:bodyPr wrap="square" lIns="0" tIns="0" rIns="0" bIns="0" rtlCol="0" anchor="t"/>
          <a:lstStyle/>
          <a:p>
            <a:pPr indent="0" marL="0">
              <a:buNone/>
            </a:pPr>
            <a:r>
              <a:rPr lang="en-US" sz="1050" dirty="0">
                <a:solidFill>
                  <a:srgbClr val="5B595A"/>
                </a:solidFill>
                <a:latin typeface="Arial" pitchFamily="34" charset="0"/>
                <a:ea typeface="Arial" pitchFamily="34" charset="-122"/>
                <a:cs typeface="Arial" pitchFamily="34" charset="-120"/>
              </a:rPr>
              <a:t>Call 999 immediately if the person is unconscious, not breathing, or has significant burns. Alert your first aider and supervisor at the same time.</a:t>
            </a:r>
            <a:endParaRPr lang="en-US" sz="1050" dirty="0"/>
          </a:p>
        </p:txBody>
      </p:sp>
      <p:sp>
        <p:nvSpPr>
          <p:cNvPr id="26" name="Shape 23"/>
          <p:cNvSpPr/>
          <p:nvPr/>
        </p:nvSpPr>
        <p:spPr>
          <a:xfrm>
            <a:off x="4663440" y="2944368"/>
            <a:ext cx="4133088" cy="914400"/>
          </a:xfrm>
          <a:prstGeom prst="roundRect">
            <a:avLst>
              <a:gd name="adj" fmla="val 7000"/>
            </a:avLst>
          </a:prstGeom>
          <a:solidFill>
            <a:srgbClr val="F8F8F8"/>
          </a:solidFill>
          <a:ln w="10160">
            <a:solidFill>
              <a:srgbClr val="2E8B57"/>
            </a:solidFill>
            <a:prstDash val="solid"/>
          </a:ln>
        </p:spPr>
      </p:sp>
      <p:sp>
        <p:nvSpPr>
          <p:cNvPr id="27" name="Shape 24"/>
          <p:cNvSpPr/>
          <p:nvPr/>
        </p:nvSpPr>
        <p:spPr>
          <a:xfrm>
            <a:off x="4773168" y="3026664"/>
            <a:ext cx="365760" cy="365760"/>
          </a:xfrm>
          <a:prstGeom prst="ellipse">
            <a:avLst/>
          </a:prstGeom>
          <a:solidFill>
            <a:srgbClr val="2E8B57"/>
          </a:solidFill>
          <a:ln w="12700">
            <a:solidFill>
              <a:srgbClr val="2E8B57"/>
            </a:solidFill>
            <a:prstDash val="solid"/>
          </a:ln>
        </p:spPr>
      </p:sp>
      <p:sp>
        <p:nvSpPr>
          <p:cNvPr id="28" name="Text 25"/>
          <p:cNvSpPr/>
          <p:nvPr/>
        </p:nvSpPr>
        <p:spPr>
          <a:xfrm>
            <a:off x="4773168" y="30266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9" name="Text 26"/>
          <p:cNvSpPr/>
          <p:nvPr/>
        </p:nvSpPr>
        <p:spPr>
          <a:xfrm>
            <a:off x="5212080" y="3035808"/>
            <a:ext cx="3474720" cy="256032"/>
          </a:xfrm>
          <a:prstGeom prst="rect">
            <a:avLst/>
          </a:prstGeom>
          <a:noFill/>
          <a:ln/>
        </p:spPr>
        <p:txBody>
          <a:bodyPr wrap="square" lIns="0" tIns="0" rIns="0" bIns="0" rtlCol="0" anchor="ctr"/>
          <a:lstStyle/>
          <a:p>
            <a:pPr indent="0" marL="0">
              <a:buNone/>
            </a:pPr>
            <a:r>
              <a:rPr lang="en-US" sz="1150" b="1" dirty="0">
                <a:solidFill>
                  <a:srgbClr val="2E8B57"/>
                </a:solidFill>
                <a:latin typeface="Arial" pitchFamily="34" charset="0"/>
                <a:ea typeface="Arial" pitchFamily="34" charset="-122"/>
                <a:cs typeface="Arial" pitchFamily="34" charset="-120"/>
              </a:rPr>
              <a:t>First aid / CPR</a:t>
            </a:r>
            <a:endParaRPr lang="en-US" sz="1150" dirty="0"/>
          </a:p>
        </p:txBody>
      </p:sp>
      <p:sp>
        <p:nvSpPr>
          <p:cNvPr id="30" name="Text 27"/>
          <p:cNvSpPr/>
          <p:nvPr/>
        </p:nvSpPr>
        <p:spPr>
          <a:xfrm>
            <a:off x="4809744" y="3383280"/>
            <a:ext cx="3895344" cy="420624"/>
          </a:xfrm>
          <a:prstGeom prst="rect">
            <a:avLst/>
          </a:prstGeom>
          <a:noFill/>
          <a:ln/>
        </p:spPr>
        <p:txBody>
          <a:bodyPr wrap="square" lIns="0" tIns="0" rIns="0" bIns="0" rtlCol="0" anchor="t"/>
          <a:lstStyle/>
          <a:p>
            <a:pPr indent="0" marL="0">
              <a:buNone/>
            </a:pPr>
            <a:r>
              <a:rPr lang="en-US" sz="1050" dirty="0">
                <a:solidFill>
                  <a:srgbClr val="5B595A"/>
                </a:solidFill>
                <a:latin typeface="Arial" pitchFamily="34" charset="0"/>
                <a:ea typeface="Arial" pitchFamily="34" charset="-122"/>
                <a:cs typeface="Arial" pitchFamily="34" charset="-120"/>
              </a:rPr>
              <a:t>Once isolated, begin first aid. If not breathing, start CPR. Electric shock can cause cardiac arrest that responds well to early CPR and defibrillation.</a:t>
            </a:r>
            <a:endParaRPr lang="en-US" sz="1050" dirty="0"/>
          </a:p>
        </p:txBody>
      </p:sp>
      <p:sp>
        <p:nvSpPr>
          <p:cNvPr id="31" name="Shape 28"/>
          <p:cNvSpPr/>
          <p:nvPr/>
        </p:nvSpPr>
        <p:spPr>
          <a:xfrm>
            <a:off x="347472" y="3968496"/>
            <a:ext cx="4133088" cy="914400"/>
          </a:xfrm>
          <a:prstGeom prst="roundRect">
            <a:avLst>
              <a:gd name="adj" fmla="val 7000"/>
            </a:avLst>
          </a:prstGeom>
          <a:solidFill>
            <a:srgbClr val="F8F8F8"/>
          </a:solidFill>
          <a:ln w="10160">
            <a:solidFill>
              <a:srgbClr val="009FE3"/>
            </a:solidFill>
            <a:prstDash val="solid"/>
          </a:ln>
        </p:spPr>
      </p:sp>
      <p:sp>
        <p:nvSpPr>
          <p:cNvPr id="32" name="Shape 29"/>
          <p:cNvSpPr/>
          <p:nvPr/>
        </p:nvSpPr>
        <p:spPr>
          <a:xfrm>
            <a:off x="457200" y="4050792"/>
            <a:ext cx="365760" cy="365760"/>
          </a:xfrm>
          <a:prstGeom prst="ellipse">
            <a:avLst/>
          </a:prstGeom>
          <a:solidFill>
            <a:srgbClr val="009FE3"/>
          </a:solidFill>
          <a:ln w="12700">
            <a:solidFill>
              <a:srgbClr val="009FE3"/>
            </a:solidFill>
            <a:prstDash val="solid"/>
          </a:ln>
        </p:spPr>
      </p:sp>
      <p:sp>
        <p:nvSpPr>
          <p:cNvPr id="33" name="Text 30"/>
          <p:cNvSpPr/>
          <p:nvPr/>
        </p:nvSpPr>
        <p:spPr>
          <a:xfrm>
            <a:off x="457200" y="40507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4" name="Text 31"/>
          <p:cNvSpPr/>
          <p:nvPr/>
        </p:nvSpPr>
        <p:spPr>
          <a:xfrm>
            <a:off x="896112" y="4059936"/>
            <a:ext cx="3474720" cy="256032"/>
          </a:xfrm>
          <a:prstGeom prst="rect">
            <a:avLst/>
          </a:prstGeom>
          <a:noFill/>
          <a:ln/>
        </p:spPr>
        <p:txBody>
          <a:bodyPr wrap="square" lIns="0" tIns="0" rIns="0" bIns="0" rtlCol="0" anchor="ctr"/>
          <a:lstStyle/>
          <a:p>
            <a:pPr indent="0" marL="0">
              <a:buNone/>
            </a:pPr>
            <a:r>
              <a:rPr lang="en-US" sz="1150" b="1" dirty="0">
                <a:solidFill>
                  <a:srgbClr val="009FE3"/>
                </a:solidFill>
                <a:latin typeface="Arial" pitchFamily="34" charset="0"/>
                <a:ea typeface="Arial" pitchFamily="34" charset="-122"/>
                <a:cs typeface="Arial" pitchFamily="34" charset="-120"/>
              </a:rPr>
              <a:t>Do not leave</a:t>
            </a:r>
            <a:endParaRPr lang="en-US" sz="1150" dirty="0"/>
          </a:p>
        </p:txBody>
      </p:sp>
      <p:sp>
        <p:nvSpPr>
          <p:cNvPr id="35" name="Text 32"/>
          <p:cNvSpPr/>
          <p:nvPr/>
        </p:nvSpPr>
        <p:spPr>
          <a:xfrm>
            <a:off x="493776" y="4407408"/>
            <a:ext cx="3895344" cy="420624"/>
          </a:xfrm>
          <a:prstGeom prst="rect">
            <a:avLst/>
          </a:prstGeom>
          <a:noFill/>
          <a:ln/>
        </p:spPr>
        <p:txBody>
          <a:bodyPr wrap="square" lIns="0" tIns="0" rIns="0" bIns="0" rtlCol="0" anchor="t"/>
          <a:lstStyle/>
          <a:p>
            <a:pPr indent="0" marL="0">
              <a:buNone/>
            </a:pPr>
            <a:r>
              <a:rPr lang="en-US" sz="1050" dirty="0">
                <a:solidFill>
                  <a:srgbClr val="5B595A"/>
                </a:solidFill>
                <a:latin typeface="Arial" pitchFamily="34" charset="0"/>
                <a:ea typeface="Arial" pitchFamily="34" charset="-122"/>
                <a:cs typeface="Arial" pitchFamily="34" charset="-120"/>
              </a:rPr>
              <a:t>Stay with the casualty and reassure them. Even if they appear uninjured, all electric shock victims must be assessed by a medical professional — cardiac complications can develop hours later.</a:t>
            </a:r>
            <a:endParaRPr lang="en-US" sz="1050" dirty="0"/>
          </a:p>
        </p:txBody>
      </p:sp>
      <p:sp>
        <p:nvSpPr>
          <p:cNvPr id="36" name="Shape 33"/>
          <p:cNvSpPr/>
          <p:nvPr/>
        </p:nvSpPr>
        <p:spPr>
          <a:xfrm>
            <a:off x="4663440" y="3968496"/>
            <a:ext cx="4133088" cy="914400"/>
          </a:xfrm>
          <a:prstGeom prst="roundRect">
            <a:avLst>
              <a:gd name="adj" fmla="val 7000"/>
            </a:avLst>
          </a:prstGeom>
          <a:solidFill>
            <a:srgbClr val="F8F8F8"/>
          </a:solidFill>
          <a:ln w="10160">
            <a:solidFill>
              <a:srgbClr val="83348F"/>
            </a:solidFill>
            <a:prstDash val="solid"/>
          </a:ln>
        </p:spPr>
      </p:sp>
      <p:sp>
        <p:nvSpPr>
          <p:cNvPr id="37" name="Shape 34"/>
          <p:cNvSpPr/>
          <p:nvPr/>
        </p:nvSpPr>
        <p:spPr>
          <a:xfrm>
            <a:off x="4773168" y="4050792"/>
            <a:ext cx="365760" cy="365760"/>
          </a:xfrm>
          <a:prstGeom prst="ellipse">
            <a:avLst/>
          </a:prstGeom>
          <a:solidFill>
            <a:srgbClr val="83348F"/>
          </a:solidFill>
          <a:ln w="12700">
            <a:solidFill>
              <a:srgbClr val="83348F"/>
            </a:solidFill>
            <a:prstDash val="solid"/>
          </a:ln>
        </p:spPr>
      </p:sp>
      <p:sp>
        <p:nvSpPr>
          <p:cNvPr id="38" name="Text 35"/>
          <p:cNvSpPr/>
          <p:nvPr/>
        </p:nvSpPr>
        <p:spPr>
          <a:xfrm>
            <a:off x="4773168" y="40507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9" name="Text 36"/>
          <p:cNvSpPr/>
          <p:nvPr/>
        </p:nvSpPr>
        <p:spPr>
          <a:xfrm>
            <a:off x="5212080" y="4059936"/>
            <a:ext cx="3474720" cy="256032"/>
          </a:xfrm>
          <a:prstGeom prst="rect">
            <a:avLst/>
          </a:prstGeom>
          <a:noFill/>
          <a:ln/>
        </p:spPr>
        <p:txBody>
          <a:bodyPr wrap="square" lIns="0" tIns="0" rIns="0" bIns="0" rtlCol="0" anchor="ctr"/>
          <a:lstStyle/>
          <a:p>
            <a:pPr indent="0" marL="0">
              <a:buNone/>
            </a:pPr>
            <a:r>
              <a:rPr lang="en-US" sz="1150" b="1" dirty="0">
                <a:solidFill>
                  <a:srgbClr val="83348F"/>
                </a:solidFill>
                <a:latin typeface="Arial" pitchFamily="34" charset="0"/>
                <a:ea typeface="Arial" pitchFamily="34" charset="-122"/>
                <a:cs typeface="Arial" pitchFamily="34" charset="-120"/>
              </a:rPr>
              <a:t>Preserve the scene</a:t>
            </a:r>
            <a:endParaRPr lang="en-US" sz="1150" dirty="0"/>
          </a:p>
        </p:txBody>
      </p:sp>
      <p:sp>
        <p:nvSpPr>
          <p:cNvPr id="40" name="Text 37"/>
          <p:cNvSpPr/>
          <p:nvPr/>
        </p:nvSpPr>
        <p:spPr>
          <a:xfrm>
            <a:off x="4809744" y="4407408"/>
            <a:ext cx="3895344" cy="420624"/>
          </a:xfrm>
          <a:prstGeom prst="rect">
            <a:avLst/>
          </a:prstGeom>
          <a:noFill/>
          <a:ln/>
        </p:spPr>
        <p:txBody>
          <a:bodyPr wrap="square" lIns="0" tIns="0" rIns="0" bIns="0" rtlCol="0" anchor="t"/>
          <a:lstStyle/>
          <a:p>
            <a:pPr indent="0" marL="0">
              <a:buNone/>
            </a:pPr>
            <a:r>
              <a:rPr lang="en-US" sz="1050" dirty="0">
                <a:solidFill>
                  <a:srgbClr val="5B595A"/>
                </a:solidFill>
                <a:latin typeface="Arial" pitchFamily="34" charset="0"/>
                <a:ea typeface="Arial" pitchFamily="34" charset="-122"/>
                <a:cs typeface="Arial" pitchFamily="34" charset="-120"/>
              </a:rPr>
              <a:t>Do not touch or disturb the equipment or supply system. The scene must be preserved for investigation by the relevant authorities (HSE, police) under RIDDOR.</a:t>
            </a:r>
            <a:endParaRPr lang="en-US" sz="1050" dirty="0"/>
          </a:p>
        </p:txBody>
      </p:sp>
      <p:sp>
        <p:nvSpPr>
          <p:cNvPr id="41" name="Rectangle 4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5"/>
          <a:stretch>
            <a:fillRect/>
          </a:stretch>
        </p:blipFill>
        <p:spPr>
          <a:xfrm>
            <a:off x="7562088" y="100584"/>
            <a:ext cx="566928" cy="347472"/>
          </a:xfrm>
          <a:prstGeom prst="rect">
            <a:avLst/>
          </a:prstGeom>
        </p:spPr>
      </p:pic>
      <p:pic>
        <p:nvPicPr>
          <p:cNvPr id="43" name="Picture 42" descr="image.png"/>
          <p:cNvPicPr>
            <a:picLocks noChangeAspect="1"/>
          </p:cNvPicPr>
          <p:nvPr/>
        </p:nvPicPr>
        <p:blipFill>
          <a:blip r:embed="rId4"/>
          <a:stretch>
            <a:fillRect/>
          </a:stretch>
        </p:blipFill>
        <p:spPr>
          <a:xfrm>
            <a:off x="8174736" y="100584"/>
            <a:ext cx="658368" cy="347472"/>
          </a:xfrm>
          <a:prstGeom prst="rect">
            <a:avLst/>
          </a:prstGeom>
        </p:spPr>
      </p:pic>
      <p:sp>
        <p:nvSpPr>
          <p:cNvPr id="44" name="Rectangle 4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C8960A"/>
          </a:solidFill>
          <a:ln w="12700">
            <a:solidFill>
              <a:srgbClr val="C8960A"/>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Summary</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Key Messages</a:t>
            </a:r>
            <a:endParaRPr lang="en-US" sz="2600" dirty="0"/>
          </a:p>
        </p:txBody>
      </p:sp>
      <p:sp>
        <p:nvSpPr>
          <p:cNvPr id="9" name="Shape 6"/>
          <p:cNvSpPr/>
          <p:nvPr/>
        </p:nvSpPr>
        <p:spPr>
          <a:xfrm>
            <a:off x="347472" y="1261872"/>
            <a:ext cx="8449056" cy="0"/>
          </a:xfrm>
          <a:prstGeom prst="line">
            <a:avLst/>
          </a:prstGeom>
          <a:noFill/>
          <a:ln w="19050">
            <a:solidFill>
              <a:srgbClr val="C8960A"/>
            </a:solidFill>
            <a:prstDash val="solid"/>
          </a:ln>
        </p:spPr>
      </p:sp>
      <p:sp>
        <p:nvSpPr>
          <p:cNvPr id="10" name="Shape 7"/>
          <p:cNvSpPr/>
          <p:nvPr/>
        </p:nvSpPr>
        <p:spPr>
          <a:xfrm>
            <a:off x="347472" y="1453896"/>
            <a:ext cx="310896" cy="310896"/>
          </a:xfrm>
          <a:prstGeom prst="ellipse">
            <a:avLst/>
          </a:prstGeom>
          <a:solidFill>
            <a:srgbClr val="C8960A"/>
          </a:solidFill>
          <a:ln w="12700">
            <a:solidFill>
              <a:srgbClr val="C8960A"/>
            </a:solidFill>
            <a:prstDash val="solid"/>
          </a:ln>
        </p:spPr>
      </p:sp>
      <p:sp>
        <p:nvSpPr>
          <p:cNvPr id="11" name="Text 8"/>
          <p:cNvSpPr/>
          <p:nvPr/>
        </p:nvSpPr>
        <p:spPr>
          <a:xfrm>
            <a:off x="347472" y="14538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12" name="Text 9"/>
          <p:cNvSpPr/>
          <p:nvPr/>
        </p:nvSpPr>
        <p:spPr>
          <a:xfrm>
            <a:off x="768096" y="14264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Electricity cannot be seen or heard. Invisible faults can kill. Inspect your equipment before every use.</a:t>
            </a:r>
            <a:endParaRPr lang="en-US" sz="1300" dirty="0"/>
          </a:p>
        </p:txBody>
      </p:sp>
      <p:sp>
        <p:nvSpPr>
          <p:cNvPr id="13" name="Shape 10"/>
          <p:cNvSpPr/>
          <p:nvPr/>
        </p:nvSpPr>
        <p:spPr>
          <a:xfrm>
            <a:off x="347472" y="1911096"/>
            <a:ext cx="310896" cy="310896"/>
          </a:xfrm>
          <a:prstGeom prst="ellipse">
            <a:avLst/>
          </a:prstGeom>
          <a:solidFill>
            <a:srgbClr val="C0392B"/>
          </a:solidFill>
          <a:ln w="12700">
            <a:solidFill>
              <a:srgbClr val="C0392B"/>
            </a:solidFill>
            <a:prstDash val="solid"/>
          </a:ln>
        </p:spPr>
      </p:sp>
      <p:sp>
        <p:nvSpPr>
          <p:cNvPr id="14" name="Text 11"/>
          <p:cNvSpPr/>
          <p:nvPr/>
        </p:nvSpPr>
        <p:spPr>
          <a:xfrm>
            <a:off x="347472" y="19110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15" name="Text 12"/>
          <p:cNvSpPr/>
          <p:nvPr/>
        </p:nvSpPr>
        <p:spPr>
          <a:xfrm>
            <a:off x="768096" y="18836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You must never carry out electrical work unless you are a qualified and authorised electrician.</a:t>
            </a:r>
            <a:endParaRPr lang="en-US" sz="1300" dirty="0"/>
          </a:p>
        </p:txBody>
      </p:sp>
      <p:sp>
        <p:nvSpPr>
          <p:cNvPr id="16" name="Shape 13"/>
          <p:cNvSpPr/>
          <p:nvPr/>
        </p:nvSpPr>
        <p:spPr>
          <a:xfrm>
            <a:off x="347472" y="2368296"/>
            <a:ext cx="310896" cy="310896"/>
          </a:xfrm>
          <a:prstGeom prst="ellipse">
            <a:avLst/>
          </a:prstGeom>
          <a:solidFill>
            <a:srgbClr val="009FE3"/>
          </a:solidFill>
          <a:ln w="12700">
            <a:solidFill>
              <a:srgbClr val="009FE3"/>
            </a:solidFill>
            <a:prstDash val="solid"/>
          </a:ln>
        </p:spPr>
      </p:sp>
      <p:sp>
        <p:nvSpPr>
          <p:cNvPr id="17" name="Text 14"/>
          <p:cNvSpPr/>
          <p:nvPr/>
        </p:nvSpPr>
        <p:spPr>
          <a:xfrm>
            <a:off x="347472" y="23682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18" name="Text 15"/>
          <p:cNvSpPr/>
          <p:nvPr/>
        </p:nvSpPr>
        <p:spPr>
          <a:xfrm>
            <a:off x="768096" y="23408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LOTO must be applied before any maintenance, repair, or cleaning of electrically powered equipment.</a:t>
            </a:r>
            <a:endParaRPr lang="en-US" sz="1300" dirty="0"/>
          </a:p>
        </p:txBody>
      </p:sp>
      <p:sp>
        <p:nvSpPr>
          <p:cNvPr id="19" name="Shape 16"/>
          <p:cNvSpPr/>
          <p:nvPr/>
        </p:nvSpPr>
        <p:spPr>
          <a:xfrm>
            <a:off x="347472" y="2825496"/>
            <a:ext cx="310896" cy="310896"/>
          </a:xfrm>
          <a:prstGeom prst="ellipse">
            <a:avLst/>
          </a:prstGeom>
          <a:solidFill>
            <a:srgbClr val="E08A00"/>
          </a:solidFill>
          <a:ln w="12700">
            <a:solidFill>
              <a:srgbClr val="E08A00"/>
            </a:solidFill>
            <a:prstDash val="solid"/>
          </a:ln>
        </p:spPr>
      </p:sp>
      <p:sp>
        <p:nvSpPr>
          <p:cNvPr id="20" name="Text 17"/>
          <p:cNvSpPr/>
          <p:nvPr/>
        </p:nvSpPr>
        <p:spPr>
          <a:xfrm>
            <a:off x="347472" y="28254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04</a:t>
            </a:r>
            <a:endParaRPr lang="en-US" sz="1000" dirty="0"/>
          </a:p>
        </p:txBody>
      </p:sp>
      <p:sp>
        <p:nvSpPr>
          <p:cNvPr id="21" name="Text 18"/>
          <p:cNvSpPr/>
          <p:nvPr/>
        </p:nvSpPr>
        <p:spPr>
          <a:xfrm>
            <a:off x="768096" y="27980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Test with an approved voltage indicator before touching any electrical component — even after isolation.</a:t>
            </a:r>
            <a:endParaRPr lang="en-US" sz="1300" dirty="0"/>
          </a:p>
        </p:txBody>
      </p:sp>
      <p:sp>
        <p:nvSpPr>
          <p:cNvPr id="22" name="Shape 19"/>
          <p:cNvSpPr/>
          <p:nvPr/>
        </p:nvSpPr>
        <p:spPr>
          <a:xfrm>
            <a:off x="347472" y="3282696"/>
            <a:ext cx="310896" cy="310896"/>
          </a:xfrm>
          <a:prstGeom prst="ellipse">
            <a:avLst/>
          </a:prstGeom>
          <a:solidFill>
            <a:srgbClr val="2E8B57"/>
          </a:solidFill>
          <a:ln w="12700">
            <a:solidFill>
              <a:srgbClr val="2E8B57"/>
            </a:solidFill>
            <a:prstDash val="solid"/>
          </a:ln>
        </p:spPr>
      </p:sp>
      <p:sp>
        <p:nvSpPr>
          <p:cNvPr id="23" name="Text 20"/>
          <p:cNvSpPr/>
          <p:nvPr/>
        </p:nvSpPr>
        <p:spPr>
          <a:xfrm>
            <a:off x="347472" y="32826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05</a:t>
            </a:r>
            <a:endParaRPr lang="en-US" sz="1000" dirty="0"/>
          </a:p>
        </p:txBody>
      </p:sp>
      <p:sp>
        <p:nvSpPr>
          <p:cNvPr id="24" name="Text 21"/>
          <p:cNvSpPr/>
          <p:nvPr/>
        </p:nvSpPr>
        <p:spPr>
          <a:xfrm>
            <a:off x="768096" y="32552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RCDs must be tested before every use. A failed RCD may give no warning sign.</a:t>
            </a:r>
            <a:endParaRPr lang="en-US" sz="1300" dirty="0"/>
          </a:p>
        </p:txBody>
      </p:sp>
      <p:sp>
        <p:nvSpPr>
          <p:cNvPr id="25" name="Shape 22"/>
          <p:cNvSpPr/>
          <p:nvPr/>
        </p:nvSpPr>
        <p:spPr>
          <a:xfrm>
            <a:off x="347472" y="3739896"/>
            <a:ext cx="310896" cy="310896"/>
          </a:xfrm>
          <a:prstGeom prst="ellipse">
            <a:avLst/>
          </a:prstGeom>
          <a:solidFill>
            <a:srgbClr val="C0392B"/>
          </a:solidFill>
          <a:ln w="12700">
            <a:solidFill>
              <a:srgbClr val="C0392B"/>
            </a:solidFill>
            <a:prstDash val="solid"/>
          </a:ln>
        </p:spPr>
      </p:sp>
      <p:sp>
        <p:nvSpPr>
          <p:cNvPr id="26" name="Text 23"/>
          <p:cNvSpPr/>
          <p:nvPr/>
        </p:nvSpPr>
        <p:spPr>
          <a:xfrm>
            <a:off x="347472" y="37398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06</a:t>
            </a:r>
            <a:endParaRPr lang="en-US" sz="1000" dirty="0"/>
          </a:p>
        </p:txBody>
      </p:sp>
      <p:sp>
        <p:nvSpPr>
          <p:cNvPr id="27" name="Text 24"/>
          <p:cNvSpPr/>
          <p:nvPr/>
        </p:nvSpPr>
        <p:spPr>
          <a:xfrm>
            <a:off x="768096" y="37124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In an electric shock emergency: isolate first, then approach the casualty. Do not touch a live casualty.</a:t>
            </a:r>
            <a:endParaRPr lang="en-US" sz="1300" dirty="0"/>
          </a:p>
        </p:txBody>
      </p:sp>
      <p:sp>
        <p:nvSpPr>
          <p:cNvPr id="28" name="Shape 25"/>
          <p:cNvSpPr/>
          <p:nvPr/>
        </p:nvSpPr>
        <p:spPr>
          <a:xfrm>
            <a:off x="347472" y="4197096"/>
            <a:ext cx="310896" cy="310896"/>
          </a:xfrm>
          <a:prstGeom prst="ellipse">
            <a:avLst/>
          </a:prstGeom>
          <a:solidFill>
            <a:srgbClr val="83348F"/>
          </a:solidFill>
          <a:ln w="12700">
            <a:solidFill>
              <a:srgbClr val="83348F"/>
            </a:solidFill>
            <a:prstDash val="solid"/>
          </a:ln>
        </p:spPr>
      </p:sp>
      <p:sp>
        <p:nvSpPr>
          <p:cNvPr id="29" name="Text 26"/>
          <p:cNvSpPr/>
          <p:nvPr/>
        </p:nvSpPr>
        <p:spPr>
          <a:xfrm>
            <a:off x="347472" y="41970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07</a:t>
            </a:r>
            <a:endParaRPr lang="en-US" sz="1000" dirty="0"/>
          </a:p>
        </p:txBody>
      </p:sp>
      <p:sp>
        <p:nvSpPr>
          <p:cNvPr id="30" name="Text 27"/>
          <p:cNvSpPr/>
          <p:nvPr/>
        </p:nvSpPr>
        <p:spPr>
          <a:xfrm>
            <a:off x="768096" y="41696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All electric shock incidents requiring medical treatment must be reported under RIDDOR.</a:t>
            </a:r>
            <a:endParaRPr lang="en-US" sz="1300" dirty="0"/>
          </a:p>
        </p:txBody>
      </p:sp>
      <p:sp>
        <p:nvSpPr>
          <p:cNvPr id="31" name="Rectangle 3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5"/>
          <a:stretch>
            <a:fillRect/>
          </a:stretch>
        </p:blipFill>
        <p:spPr>
          <a:xfrm>
            <a:off x="7562088" y="100584"/>
            <a:ext cx="566928" cy="347472"/>
          </a:xfrm>
          <a:prstGeom prst="rect">
            <a:avLst/>
          </a:prstGeom>
        </p:spPr>
      </p:pic>
      <p:pic>
        <p:nvPicPr>
          <p:cNvPr id="33" name="Picture 32" descr="image.png"/>
          <p:cNvPicPr>
            <a:picLocks noChangeAspect="1"/>
          </p:cNvPicPr>
          <p:nvPr/>
        </p:nvPicPr>
        <p:blipFill>
          <a:blip r:embed="rId4"/>
          <a:stretch>
            <a:fillRect/>
          </a:stretch>
        </p:blipFill>
        <p:spPr>
          <a:xfrm>
            <a:off x="8174736" y="100584"/>
            <a:ext cx="658368" cy="347472"/>
          </a:xfrm>
          <a:prstGeom prst="rect">
            <a:avLst/>
          </a:prstGeom>
        </p:spPr>
      </p:pic>
      <p:sp>
        <p:nvSpPr>
          <p:cNvPr id="34" name="Rectangle 3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4206240" cy="5143500"/>
          </a:xfrm>
          <a:prstGeom prst="rect">
            <a:avLst/>
          </a:prstGeom>
          <a:solidFill>
            <a:srgbClr val="C8960A">
              <a:alpha val="90000"/>
            </a:srgbClr>
          </a:solidFill>
          <a:ln w="12700">
            <a:solidFill>
              <a:srgbClr val="C8960A"/>
            </a:solidFill>
            <a:prstDash val="solid"/>
          </a:ln>
        </p:spPr>
      </p:sp>
      <p:pic>
        <p:nvPicPr>
          <p:cNvPr id="3" name="Image 0" descr="/home/claude/nuccol_logo.jpg">    </p:cNvPr>
          <p:cNvPicPr>
            <a:picLocks noChangeAspect="1"/>
          </p:cNvPicPr>
          <p:nvPr/>
        </p:nvPicPr>
        <p:blipFill>
          <a:blip r:embed="rId1"/>
          <a:stretch>
            <a:fillRect/>
          </a:stretch>
        </p:blipFill>
        <p:spPr>
          <a:xfrm>
            <a:off x="274320" y="228600"/>
            <a:ext cx="1417320" cy="676656"/>
          </a:xfrm>
          <a:prstGeom prst="rect">
            <a:avLst/>
          </a:prstGeom>
        </p:spPr>
      </p:pic>
      <p:sp>
        <p:nvSpPr>
          <p:cNvPr id="4" name="Text 1"/>
          <p:cNvSpPr/>
          <p:nvPr/>
        </p:nvSpPr>
        <p:spPr>
          <a:xfrm>
            <a:off x="274320" y="1170432"/>
            <a:ext cx="3566160" cy="40233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Next Steps</a:t>
            </a:r>
            <a:endParaRPr lang="en-US" sz="2200" dirty="0"/>
          </a:p>
        </p:txBody>
      </p:sp>
      <p:sp>
        <p:nvSpPr>
          <p:cNvPr id="5" name="Shape 2"/>
          <p:cNvSpPr/>
          <p:nvPr/>
        </p:nvSpPr>
        <p:spPr>
          <a:xfrm>
            <a:off x="310896" y="1691640"/>
            <a:ext cx="219456" cy="219456"/>
          </a:xfrm>
          <a:prstGeom prst="ellipse">
            <a:avLst/>
          </a:prstGeom>
          <a:solidFill>
            <a:srgbClr val="FFFFFF">
              <a:alpha val="75000"/>
            </a:srgbClr>
          </a:solidFill>
          <a:ln w="10160">
            <a:solidFill>
              <a:srgbClr val="FFFFFF"/>
            </a:solidFill>
            <a:prstDash val="solid"/>
          </a:ln>
        </p:spPr>
      </p:sp>
      <p:sp>
        <p:nvSpPr>
          <p:cNvPr id="6" name="Text 3"/>
          <p:cNvSpPr/>
          <p:nvPr/>
        </p:nvSpPr>
        <p:spPr>
          <a:xfrm>
            <a:off x="310896" y="16916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7" name="Text 4"/>
          <p:cNvSpPr/>
          <p:nvPr/>
        </p:nvSpPr>
        <p:spPr>
          <a:xfrm>
            <a:off x="603504" y="1673352"/>
            <a:ext cx="3474720" cy="42062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Inspect all portable electrical equipment in your area before your next shift</a:t>
            </a:r>
            <a:endParaRPr lang="en-US" sz="1100" dirty="0"/>
          </a:p>
        </p:txBody>
      </p:sp>
      <p:sp>
        <p:nvSpPr>
          <p:cNvPr id="8" name="Shape 5"/>
          <p:cNvSpPr/>
          <p:nvPr/>
        </p:nvSpPr>
        <p:spPr>
          <a:xfrm>
            <a:off x="310896" y="2167128"/>
            <a:ext cx="219456" cy="219456"/>
          </a:xfrm>
          <a:prstGeom prst="ellipse">
            <a:avLst/>
          </a:prstGeom>
          <a:solidFill>
            <a:srgbClr val="FFFFFF">
              <a:alpha val="75000"/>
            </a:srgbClr>
          </a:solidFill>
          <a:ln w="10160">
            <a:solidFill>
              <a:srgbClr val="FFFFFF"/>
            </a:solidFill>
            <a:prstDash val="solid"/>
          </a:ln>
        </p:spPr>
      </p:sp>
      <p:sp>
        <p:nvSpPr>
          <p:cNvPr id="9" name="Text 6"/>
          <p:cNvSpPr/>
          <p:nvPr/>
        </p:nvSpPr>
        <p:spPr>
          <a:xfrm>
            <a:off x="310896" y="2167128"/>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0" name="Text 7"/>
          <p:cNvSpPr/>
          <p:nvPr/>
        </p:nvSpPr>
        <p:spPr>
          <a:xfrm>
            <a:off x="603504" y="2148840"/>
            <a:ext cx="3474720" cy="42062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Confirm the location of isolation points for every machine you operate</a:t>
            </a:r>
            <a:endParaRPr lang="en-US" sz="1100" dirty="0"/>
          </a:p>
        </p:txBody>
      </p:sp>
      <p:sp>
        <p:nvSpPr>
          <p:cNvPr id="11" name="Shape 8"/>
          <p:cNvSpPr/>
          <p:nvPr/>
        </p:nvSpPr>
        <p:spPr>
          <a:xfrm>
            <a:off x="310896" y="2642616"/>
            <a:ext cx="219456" cy="219456"/>
          </a:xfrm>
          <a:prstGeom prst="ellipse">
            <a:avLst/>
          </a:prstGeom>
          <a:solidFill>
            <a:srgbClr val="FFFFFF">
              <a:alpha val="75000"/>
            </a:srgbClr>
          </a:solidFill>
          <a:ln w="10160">
            <a:solidFill>
              <a:srgbClr val="FFFFFF"/>
            </a:solidFill>
            <a:prstDash val="solid"/>
          </a:ln>
        </p:spPr>
      </p:sp>
      <p:sp>
        <p:nvSpPr>
          <p:cNvPr id="12" name="Text 9"/>
          <p:cNvSpPr/>
          <p:nvPr/>
        </p:nvSpPr>
        <p:spPr>
          <a:xfrm>
            <a:off x="310896" y="264261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3" name="Text 10"/>
          <p:cNvSpPr/>
          <p:nvPr/>
        </p:nvSpPr>
        <p:spPr>
          <a:xfrm>
            <a:off x="603504" y="2624328"/>
            <a:ext cx="3474720" cy="42062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Test the RCD on your portable supply before your next use</a:t>
            </a:r>
            <a:endParaRPr lang="en-US" sz="1100" dirty="0"/>
          </a:p>
        </p:txBody>
      </p:sp>
      <p:sp>
        <p:nvSpPr>
          <p:cNvPr id="14" name="Shape 11"/>
          <p:cNvSpPr/>
          <p:nvPr/>
        </p:nvSpPr>
        <p:spPr>
          <a:xfrm>
            <a:off x="310896" y="3118104"/>
            <a:ext cx="219456" cy="219456"/>
          </a:xfrm>
          <a:prstGeom prst="ellipse">
            <a:avLst/>
          </a:prstGeom>
          <a:solidFill>
            <a:srgbClr val="FFFFFF">
              <a:alpha val="75000"/>
            </a:srgbClr>
          </a:solidFill>
          <a:ln w="10160">
            <a:solidFill>
              <a:srgbClr val="FFFFFF"/>
            </a:solidFill>
            <a:prstDash val="solid"/>
          </a:ln>
        </p:spPr>
      </p:sp>
      <p:sp>
        <p:nvSpPr>
          <p:cNvPr id="15" name="Text 12"/>
          <p:cNvSpPr/>
          <p:nvPr/>
        </p:nvSpPr>
        <p:spPr>
          <a:xfrm>
            <a:off x="310896" y="3118104"/>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16" name="Text 13"/>
          <p:cNvSpPr/>
          <p:nvPr/>
        </p:nvSpPr>
        <p:spPr>
          <a:xfrm>
            <a:off x="603504" y="3099816"/>
            <a:ext cx="3474720" cy="42062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Report any damaged cables, defective equipment, or electrical concerns today</a:t>
            </a:r>
            <a:endParaRPr lang="en-US" sz="1100" dirty="0"/>
          </a:p>
        </p:txBody>
      </p:sp>
      <p:sp>
        <p:nvSpPr>
          <p:cNvPr id="17" name="Text 14"/>
          <p:cNvSpPr/>
          <p:nvPr/>
        </p:nvSpPr>
        <p:spPr>
          <a:xfrm>
            <a:off x="274320" y="4206240"/>
            <a:ext cx="3566160" cy="2560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Further Resources</a:t>
            </a:r>
            <a:endParaRPr lang="en-US" sz="1300" dirty="0"/>
          </a:p>
        </p:txBody>
      </p:sp>
      <p:sp>
        <p:nvSpPr>
          <p:cNvPr id="18" name="Text 15"/>
          <p:cNvSpPr/>
          <p:nvPr/>
        </p:nvSpPr>
        <p:spPr>
          <a:xfrm>
            <a:off x="274320" y="4480560"/>
            <a:ext cx="3566160" cy="530352"/>
          </a:xfrm>
          <a:prstGeom prst="rect">
            <a:avLst/>
          </a:prstGeom>
          <a:noFill/>
          <a:ln/>
        </p:spPr>
        <p:txBody>
          <a:bodyPr wrap="square" lIns="0" tIns="0" rIns="0" bIns="0" rtlCol="0" anchor="ctr"/>
          <a:lstStyle/>
          <a:p>
            <a:pPr indent="0" marL="0">
              <a:buNone/>
            </a:pPr>
            <a:r>
              <a:rPr lang="en-US" sz="900" dirty="0">
                <a:solidFill>
                  <a:srgbClr val="BBAACC"/>
                </a:solidFill>
                <a:latin typeface="Arial" pitchFamily="34" charset="0"/>
                <a:ea typeface="Arial" pitchFamily="34" charset="-122"/>
                <a:cs typeface="Arial" pitchFamily="34" charset="-120"/>
              </a:rPr>
              <a:t>Electricity at Work Regulations 1989</a:t>
            </a:r>
            <a:endParaRPr lang="en-US" sz="900" dirty="0"/>
          </a:p>
          <a:p>
            <a:pPr indent="0" marL="0">
              <a:buNone/>
            </a:pPr>
            <a:r>
              <a:rPr lang="en-US" sz="900" dirty="0">
                <a:solidFill>
                  <a:srgbClr val="BBAACC"/>
                </a:solidFill>
                <a:latin typeface="Arial" pitchFamily="34" charset="0"/>
                <a:ea typeface="Arial" pitchFamily="34" charset="-122"/>
                <a:cs typeface="Arial" pitchFamily="34" charset="-120"/>
              </a:rPr>
              <a:t>HSE HSG107 — Maintaining Portable and Transportable Electrical Equipment</a:t>
            </a:r>
            <a:endParaRPr lang="en-US" sz="900" dirty="0"/>
          </a:p>
          <a:p>
            <a:pPr indent="0" marL="0">
              <a:buNone/>
            </a:pPr>
            <a:r>
              <a:rPr lang="en-US" sz="900" dirty="0">
                <a:solidFill>
                  <a:srgbClr val="BBAACC"/>
                </a:solidFill>
                <a:latin typeface="Arial" pitchFamily="34" charset="0"/>
                <a:ea typeface="Arial" pitchFamily="34" charset="-122"/>
                <a:cs typeface="Arial" pitchFamily="34" charset="-120"/>
              </a:rPr>
              <a:t>IET Wiring Regulations BS 7671 — 18th Edition</a:t>
            </a:r>
            <a:endParaRPr lang="en-US" sz="900" dirty="0"/>
          </a:p>
          <a:p>
            <a:pPr indent="0" marL="0">
              <a:buNone/>
            </a:pPr>
            <a:r>
              <a:rPr lang="en-US" sz="900" dirty="0">
                <a:solidFill>
                  <a:srgbClr val="BBAACC"/>
                </a:solidFill>
                <a:latin typeface="Arial" pitchFamily="34" charset="0"/>
                <a:ea typeface="Arial" pitchFamily="34" charset="-122"/>
                <a:cs typeface="Arial" pitchFamily="34" charset="-120"/>
              </a:rPr>
              <a:t>ISO 45001:2018 — Occupational H&amp;S Management</a:t>
            </a:r>
            <a:endParaRPr lang="en-US" sz="900" dirty="0"/>
          </a:p>
        </p:txBody>
      </p:sp>
      <p:sp>
        <p:nvSpPr>
          <p:cNvPr id="19" name="Text 16"/>
          <p:cNvSpPr/>
          <p:nvPr/>
        </p:nvSpPr>
        <p:spPr>
          <a:xfrm>
            <a:off x="4389120" y="1261872"/>
            <a:ext cx="4526280" cy="5943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Thank You</a:t>
            </a:r>
            <a:endParaRPr lang="en-US" sz="3600" dirty="0"/>
          </a:p>
        </p:txBody>
      </p:sp>
      <p:sp>
        <p:nvSpPr>
          <p:cNvPr id="20" name="Text 17"/>
          <p:cNvSpPr/>
          <p:nvPr/>
        </p:nvSpPr>
        <p:spPr>
          <a:xfrm>
            <a:off x="4389120" y="1920240"/>
            <a:ext cx="4526280" cy="347472"/>
          </a:xfrm>
          <a:prstGeom prst="rect">
            <a:avLst/>
          </a:prstGeom>
          <a:noFill/>
          <a:ln/>
        </p:spPr>
        <p:txBody>
          <a:bodyPr wrap="square" lIns="0" tIns="0" rIns="0" bIns="0" rtlCol="0" anchor="ctr"/>
          <a:lstStyle/>
          <a:p>
            <a:pPr indent="0" marL="0">
              <a:buNone/>
            </a:pPr>
            <a:r>
              <a:rPr lang="en-US" sz="1700" i="1" dirty="0">
                <a:solidFill>
                  <a:srgbClr val="BBAACC"/>
                </a:solidFill>
                <a:latin typeface="Cambria" pitchFamily="34" charset="0"/>
                <a:ea typeface="Cambria" pitchFamily="34" charset="-122"/>
                <a:cs typeface="Cambria" pitchFamily="34" charset="-120"/>
              </a:rPr>
              <a:t>Electrical Safety Awareness</a:t>
            </a:r>
            <a:endParaRPr lang="en-US" sz="1700" dirty="0"/>
          </a:p>
        </p:txBody>
      </p:sp>
      <p:sp>
        <p:nvSpPr>
          <p:cNvPr id="21" name="Shape 18"/>
          <p:cNvSpPr/>
          <p:nvPr/>
        </p:nvSpPr>
        <p:spPr>
          <a:xfrm>
            <a:off x="4389120" y="2331720"/>
            <a:ext cx="4389120" cy="0"/>
          </a:xfrm>
          <a:prstGeom prst="line">
            <a:avLst/>
          </a:prstGeom>
          <a:noFill/>
          <a:ln w="15240">
            <a:solidFill>
              <a:srgbClr val="C8960A"/>
            </a:solidFill>
            <a:prstDash val="solid"/>
          </a:ln>
        </p:spPr>
      </p:sp>
      <p:sp>
        <p:nvSpPr>
          <p:cNvPr id="22" name="Text 19"/>
          <p:cNvSpPr/>
          <p:nvPr/>
        </p:nvSpPr>
        <p:spPr>
          <a:xfrm>
            <a:off x="4389120" y="2450592"/>
            <a:ext cx="4526280" cy="45720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Questions? Speak to your supervisor, QHSE lead, or your NucCol Supply Chain Consultant.</a:t>
            </a:r>
            <a:endParaRPr lang="en-US" sz="1300" dirty="0"/>
          </a:p>
        </p:txBody>
      </p:sp>
      <p:sp>
        <p:nvSpPr>
          <p:cNvPr id="23" name="Text 20"/>
          <p:cNvSpPr/>
          <p:nvPr/>
        </p:nvSpPr>
        <p:spPr>
          <a:xfrm>
            <a:off x="4389120" y="3090672"/>
            <a:ext cx="4526280" cy="658368"/>
          </a:xfrm>
          <a:prstGeom prst="rect">
            <a:avLst/>
          </a:prstGeom>
          <a:noFill/>
          <a:ln/>
        </p:spPr>
        <p:txBody>
          <a:bodyPr wrap="square" lIns="0" tIns="0" rIns="0" bIns="0" rtlCol="0" anchor="ctr"/>
          <a:lstStyle/>
          <a:p>
            <a:pPr indent="0" marL="0">
              <a:buNone/>
            </a:pPr>
            <a:r>
              <a:rPr lang="en-US" sz="1300" dirty="0">
                <a:solidFill>
                  <a:srgbClr val="BBAACC"/>
                </a:solidFill>
                <a:latin typeface="Arial" pitchFamily="34" charset="0"/>
                <a:ea typeface="Arial" pitchFamily="34" charset="-122"/>
                <a:cs typeface="Arial" pitchFamily="34" charset="-120"/>
              </a:rPr>
              <a:t>Nuclear Collaboration Ltd</a:t>
            </a:r>
            <a:endParaRPr lang="en-US" sz="1300" dirty="0"/>
          </a:p>
          <a:p>
            <a:pPr indent="0" marL="0">
              <a:buNone/>
            </a:pPr>
            <a:r>
              <a:rPr lang="en-US" sz="1300" dirty="0">
                <a:solidFill>
                  <a:srgbClr val="BBAACC"/>
                </a:solidFill>
                <a:latin typeface="Arial" pitchFamily="34" charset="0"/>
                <a:ea typeface="Arial" pitchFamily="34" charset="-122"/>
                <a:cs typeface="Arial" pitchFamily="34" charset="-120"/>
              </a:rPr>
              <a:t>www.nuccol.co.uk</a:t>
            </a:r>
            <a:endParaRPr lang="en-US" sz="1300" dirty="0"/>
          </a:p>
          <a:p>
            <a:pPr indent="0" marL="0">
              <a:buNone/>
            </a:pPr>
            <a:r>
              <a:rPr lang="en-US" sz="1300" dirty="0">
                <a:solidFill>
                  <a:srgbClr val="BBAACC"/>
                </a:solidFill>
                <a:latin typeface="Arial" pitchFamily="34" charset="0"/>
                <a:ea typeface="Arial" pitchFamily="34" charset="-122"/>
                <a:cs typeface="Arial" pitchFamily="34" charset="-120"/>
              </a:rPr>
              <a:t>enquiries@nuccol.co.uk</a:t>
            </a:r>
            <a:endParaRPr lang="en-US" sz="1300" dirty="0"/>
          </a:p>
        </p:txBody>
      </p:sp>
      <p:sp>
        <p:nvSpPr>
          <p:cNvPr id="24" name="Rectangle 23"/>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5"/>
          <a:stretch>
            <a:fillRect/>
          </a:stretch>
        </p:blipFill>
        <p:spPr>
          <a:xfrm>
            <a:off x="7562088" y="100584"/>
            <a:ext cx="566928" cy="347472"/>
          </a:xfrm>
          <a:prstGeom prst="rect">
            <a:avLst/>
          </a:prstGeom>
        </p:spPr>
      </p:pic>
      <p:pic>
        <p:nvPicPr>
          <p:cNvPr id="26" name="Picture 25" descr="image.png"/>
          <p:cNvPicPr>
            <a:picLocks noChangeAspect="1"/>
          </p:cNvPicPr>
          <p:nvPr/>
        </p:nvPicPr>
        <p:blipFill>
          <a:blip r:embed="rId4"/>
          <a:stretch>
            <a:fillRect/>
          </a:stretch>
        </p:blipFill>
        <p:spPr>
          <a:xfrm>
            <a:off x="8174736" y="100584"/>
            <a:ext cx="658368" cy="347472"/>
          </a:xfrm>
          <a:prstGeom prst="rect">
            <a:avLst/>
          </a:prstGeom>
        </p:spPr>
      </p:pic>
      <p:sp>
        <p:nvSpPr>
          <p:cNvPr id="27" name="Rectangle 26"/>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967E3C3-643F-4D9F-B36C-74B08253D6C0}"/>
</file>

<file path=customXml/itemProps2.xml><?xml version="1.0" encoding="utf-8"?>
<ds:datastoreItem xmlns:ds="http://schemas.openxmlformats.org/officeDocument/2006/customXml" ds:itemID="{C597CDE4-CE79-4EF2-975C-4C82AC30E7A5}"/>
</file>

<file path=customXml/itemProps3.xml><?xml version="1.0" encoding="utf-8"?>
<ds:datastoreItem xmlns:ds="http://schemas.openxmlformats.org/officeDocument/2006/customXml" ds:itemID="{BDA9BFED-2C27-470F-AF38-B3D05A1A4140}"/>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QHSE-TG06 Electrical Safety Training Guide</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