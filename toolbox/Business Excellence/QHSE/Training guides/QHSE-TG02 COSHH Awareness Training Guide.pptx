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media/image1.jpg" ContentType="image/jpg"/>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8290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This training covers COSHH Regulations 2002 as they apply to day-to-day work in manufacturing and engineering. It is for all employees who work with, near, or are potentially exposed to hazardous substances.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objectives. Ask who has read a COSHH assessment or SDS before. Most people will say they have seen one but cannot recall what was in it. This training changes that.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COSHH applies to ALL hazardous substances, not just obviously dangerous chemicals. Cutting fluids, welding fume, wood dust, cleaning products, lubricants and aerosols all fall under COSHH.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participants: can they name three hazardous substances they use in their area? Can they tell you where the COSHH assessments are held for those substances?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Inhalation is the route workers most underestimate because you cannot see what you are breathing. Fumes from welding or grinding can look minimal in a large workshop but still exceed Workplace Exposure Limits at the breathing zone.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Occupational asthma is a particularly important example. Once sensitised, a person may react to concentrations of the substance so low that they cannot be detected. They can never return to that type of work environment. Sensitisation is permanent.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an actual SDS from the workplace to this slide. Walk through finding Section 4 (first aid) and Section 8 (PPE/WEL). Ask who knows where SDSs are kept at the point of use. Many workers will say they exist but cannot locate them quickly.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ideally distribute printed COSHH assessments for substances used in the participants' area. Ask them to find the PPE section and the emergency procedure. Many will struggle, which reinforces why training is needed.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failure mode in COSHH is jumping straight to PPE without considering whether engineering controls or substitution could be used. LEV is dramatically more effective than RPE at source control.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COSHH Regulation 9 is specific about LEV testing. Many SMEs are non-compliant because they do not have LEV examination records. This is a common finding on F4N verification visits when the QHSE evidence is reviewed.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fit testing is a legal requirement for all tight-fitting RPE (half-face, full-face respirators). Many SMEs issue RPE without conducting face fit tests. This renders the RPE legally and practically ineffective. Facial hair prevents an adequate seal.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reporting symptoms early is crucial. Many workers tolerate symptoms thinking they will go away. By the time they report, sensitisation has occurred and the condition is permanent. The reporting obligation is theirs, and the legal duty to act is the employer's.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surveillance records must be retained for 40 years for substances that cause chronic disease with long latency periods. This allows future diagnosis to be linked to past exposure. Employers must not disclose individual results without consent.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participants: where is the nearest eyewash station to your work area? Could you reach it within 10 seconds with your eyes shut? Many cannot. The COSHH Regulations require eyewash to be immediately accessible, not just available somewhere on site.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Hygiene is the most underrated control in COSHH. Workers who handle cutting fluids all day but wash their hands before eating dramatically reduce their ingestion risk. This slide should generate discussion about current habits.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Welding fume reclassification by IARC as a Group 1 carcinogen (same category as asbestos) in 2019 was a major regulatory event. HSE updated EH40 and issued updated guidance requiring LEV for all welding fume, indoor and outdoor. Many companies are still non-compliant.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of the Health and Safety at Work Act 1974 places the duty on employees to cooperate with health and safety measures. COSHH Regulation 14 specifically requires employees to use controls and attend health surveillance. These are legal duties, not requests.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F4N verification assessors will look at the QHSE section and ask specifically about COSHH. They will want to see: the COSHH register, at least one worked COSHH assessment, LEV examination records, health surveillance records, and training records for this topic.</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participants to commit to one action they will take in their area as a result of this training. Record actions. Follow up at the next team meeting or QHSE review.</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collecting attendance records. Issue action to complete a COSHH awareness confirmation form within one week. Follow up at next team briefing.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14.png"/><Relationship Id="rId10"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7.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4.png"/><Relationship Id="rId1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2.png"/><Relationship Id="rId9" Type="http://schemas.openxmlformats.org/officeDocument/2006/relationships/image" Target="../media/image12.png"/><Relationship Id="rId10" Type="http://schemas.openxmlformats.org/officeDocument/2006/relationships/image" Target="../media/image14.png"/><Relationship Id="rId11"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3.png"/><Relationship Id="rId7" Type="http://schemas.openxmlformats.org/officeDocument/2006/relationships/image" Target="../media/image3.png"/><Relationship Id="rId8" Type="http://schemas.openxmlformats.org/officeDocument/2006/relationships/image" Target="../media/image14.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3.png"/><Relationship Id="rId7" Type="http://schemas.openxmlformats.org/officeDocument/2006/relationships/image" Target="../media/image5.png"/><Relationship Id="rId8" Type="http://schemas.openxmlformats.org/officeDocument/2006/relationships/image" Target="../media/image14.pn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83348F">
              <a:alpha val="90000"/>
            </a:srgbClr>
          </a:solidFill>
          <a:ln w="12700">
            <a:solidFill>
              <a:srgbClr val="83348F"/>
            </a:solidFill>
            <a:prstDash val="solid"/>
          </a:ln>
        </p:spPr>
        <p:txBody>
          <a:bodyPr/>
          <a:lstStyle/>
          <a:p>
            <a:endParaRPr lang="en-GB"/>
          </a:p>
        </p:txBody>
      </p:sp>
      <p:pic>
        <p:nvPicPr>
          <p:cNvPr id="3" name="Image 0" descr="/home/claude/nuccol_logo.jpg"/>
          <p:cNvPicPr>
            <a:picLocks noChangeAspect="1"/>
          </p:cNvPicPr>
          <p:nvPr/>
        </p:nvPicPr>
        <p:blipFill>
          <a:blip r:embed="rId3"/>
          <a:stretch>
            <a:fillRect/>
          </a:stretch>
        </p:blipFill>
        <p:spPr>
          <a:xfrm>
            <a:off x="274320" y="228600"/>
            <a:ext cx="1417320" cy="676656"/>
          </a:xfrm>
          <a:prstGeom prst="rect">
            <a:avLst/>
          </a:prstGeom>
        </p:spPr>
      </p:pic>
      <p:sp>
        <p:nvSpPr>
          <p:cNvPr id="4" name="Text 1"/>
          <p:cNvSpPr/>
          <p:nvPr/>
        </p:nvSpPr>
        <p:spPr>
          <a:xfrm>
            <a:off x="274320" y="1097280"/>
            <a:ext cx="3474720" cy="310896"/>
          </a:xfrm>
          <a:prstGeom prst="rect">
            <a:avLst/>
          </a:prstGeom>
          <a:noFill/>
          <a:ln/>
        </p:spPr>
        <p:txBody>
          <a:bodyPr wrap="square" lIns="0" tIns="0" rIns="0" bIns="0" rtlCol="0" anchor="ctr"/>
          <a:lstStyle/>
          <a:p>
            <a:pPr marL="0" indent="0">
              <a:buNone/>
            </a:pPr>
            <a:r>
              <a:rPr lang="en-US" sz="1300" i="1" kern="0" spc="200" dirty="0">
                <a:solidFill>
                  <a:srgbClr val="FFFFFF"/>
                </a:solidFill>
                <a:latin typeface="Arial" pitchFamily="34" charset="0"/>
                <a:ea typeface="Arial" pitchFamily="34" charset="-122"/>
                <a:cs typeface="Arial" pitchFamily="34" charset="-120"/>
              </a:rPr>
              <a:t>QHSE Training Guide</a:t>
            </a:r>
            <a:endParaRPr lang="en-US" sz="1300" dirty="0"/>
          </a:p>
        </p:txBody>
      </p:sp>
      <p:sp>
        <p:nvSpPr>
          <p:cNvPr id="5" name="Text 2"/>
          <p:cNvSpPr/>
          <p:nvPr/>
        </p:nvSpPr>
        <p:spPr>
          <a:xfrm>
            <a:off x="274320" y="1444752"/>
            <a:ext cx="3474720" cy="137160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COSHH Awareness</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for Employees</a:t>
            </a:r>
            <a:endParaRPr lang="en-US" sz="3400" dirty="0"/>
          </a:p>
        </p:txBody>
      </p:sp>
      <p:sp>
        <p:nvSpPr>
          <p:cNvPr id="6" name="Shape 3"/>
          <p:cNvSpPr/>
          <p:nvPr/>
        </p:nvSpPr>
        <p:spPr>
          <a:xfrm>
            <a:off x="274320" y="2880360"/>
            <a:ext cx="3383280" cy="0"/>
          </a:xfrm>
          <a:prstGeom prst="line">
            <a:avLst/>
          </a:prstGeom>
          <a:noFill/>
          <a:ln w="12700">
            <a:solidFill>
              <a:srgbClr val="FFFFFF"/>
            </a:solidFill>
            <a:prstDash val="solid"/>
          </a:ln>
        </p:spPr>
        <p:txBody>
          <a:bodyPr/>
          <a:lstStyle/>
          <a:p>
            <a:endParaRPr lang="en-GB"/>
          </a:p>
        </p:txBody>
      </p:sp>
      <p:sp>
        <p:nvSpPr>
          <p:cNvPr id="7" name="Text 4"/>
          <p:cNvSpPr/>
          <p:nvPr/>
        </p:nvSpPr>
        <p:spPr>
          <a:xfrm>
            <a:off x="274320" y="2971800"/>
            <a:ext cx="3474720" cy="777240"/>
          </a:xfrm>
          <a:prstGeom prst="rect">
            <a:avLst/>
          </a:prstGeom>
          <a:noFill/>
          <a:ln/>
        </p:spPr>
        <p:txBody>
          <a:bodyPr wrap="square" lIns="0" tIns="0" rIns="0" bIns="0" rtlCol="0" anchor="t"/>
          <a:lstStyle/>
          <a:p>
            <a:pPr marL="0" indent="0">
              <a:buNone/>
            </a:pPr>
            <a:r>
              <a:rPr lang="en-US" sz="1200" dirty="0">
                <a:solidFill>
                  <a:srgbClr val="FFFFFF"/>
                </a:solidFill>
                <a:latin typeface="Arial" pitchFamily="34" charset="0"/>
                <a:ea typeface="Arial" pitchFamily="34" charset="-122"/>
                <a:cs typeface="Arial" pitchFamily="34" charset="-120"/>
              </a:rPr>
              <a:t>Understanding hazardous substances, your rights and responsibilities, and how to protect yourself and your colleagues every day.</a:t>
            </a:r>
            <a:endParaRPr lang="en-US" sz="1200" dirty="0"/>
          </a:p>
        </p:txBody>
      </p:sp>
      <p:sp>
        <p:nvSpPr>
          <p:cNvPr id="8" name="Text 5"/>
          <p:cNvSpPr/>
          <p:nvPr/>
        </p:nvSpPr>
        <p:spPr>
          <a:xfrm>
            <a:off x="274320" y="4206240"/>
            <a:ext cx="3474720" cy="457200"/>
          </a:xfrm>
          <a:prstGeom prst="rect">
            <a:avLst/>
          </a:prstGeom>
          <a:noFill/>
          <a:ln/>
        </p:spPr>
        <p:txBody>
          <a:bodyPr wrap="square" lIns="0" tIns="0" rIns="0" bIns="0" rtlCol="0" anchor="t"/>
          <a:lstStyle/>
          <a:p>
            <a:pPr marL="0" indent="0">
              <a:buNone/>
            </a:pPr>
            <a:r>
              <a:rPr lang="en-US" sz="900" dirty="0">
                <a:solidFill>
                  <a:srgbClr val="BBAACC"/>
                </a:solidFill>
                <a:latin typeface="Arial" pitchFamily="34" charset="0"/>
                <a:ea typeface="Arial" pitchFamily="34" charset="-122"/>
                <a:cs typeface="Arial" pitchFamily="34" charset="-120"/>
              </a:rPr>
              <a:t>Aligned to: COSHH Regulations 2002  |  HSG97  |  ISO 45001:2018  |  EH40 Workplace Exposure Limits</a:t>
            </a:r>
            <a:endParaRPr lang="en-US" sz="900" dirty="0"/>
          </a:p>
        </p:txBody>
      </p:sp>
      <p:sp>
        <p:nvSpPr>
          <p:cNvPr id="9" name="Shape 6"/>
          <p:cNvSpPr/>
          <p:nvPr/>
        </p:nvSpPr>
        <p:spPr>
          <a:xfrm>
            <a:off x="5989320" y="411480"/>
            <a:ext cx="822960" cy="822960"/>
          </a:xfrm>
          <a:prstGeom prst="ellipse">
            <a:avLst/>
          </a:prstGeom>
          <a:solidFill>
            <a:srgbClr val="C02B2B">
              <a:alpha val="80000"/>
            </a:srgbClr>
          </a:solidFill>
          <a:ln w="10160">
            <a:solidFill>
              <a:srgbClr val="FFFFFF"/>
            </a:solidFill>
            <a:prstDash val="solid"/>
          </a:ln>
        </p:spPr>
        <p:txBody>
          <a:bodyPr/>
          <a:lstStyle/>
          <a:p>
            <a:endParaRPr lang="en-GB"/>
          </a:p>
        </p:txBody>
      </p:sp>
      <p:pic>
        <p:nvPicPr>
          <p:cNvPr id="10" name="Image 1" descr="preencoded.png"/>
          <p:cNvPicPr>
            <a:picLocks noChangeAspect="1"/>
          </p:cNvPicPr>
          <p:nvPr/>
        </p:nvPicPr>
        <p:blipFill>
          <a:blip r:embed="rId4"/>
          <a:stretch>
            <a:fillRect/>
          </a:stretch>
        </p:blipFill>
        <p:spPr>
          <a:xfrm>
            <a:off x="6126480" y="548640"/>
            <a:ext cx="548640" cy="548640"/>
          </a:xfrm>
          <a:prstGeom prst="rect">
            <a:avLst/>
          </a:prstGeom>
        </p:spPr>
      </p:pic>
      <p:sp>
        <p:nvSpPr>
          <p:cNvPr id="11" name="Shape 7"/>
          <p:cNvSpPr/>
          <p:nvPr/>
        </p:nvSpPr>
        <p:spPr>
          <a:xfrm>
            <a:off x="6903720" y="1143000"/>
            <a:ext cx="822960" cy="822960"/>
          </a:xfrm>
          <a:prstGeom prst="ellipse">
            <a:avLst/>
          </a:prstGeom>
          <a:solidFill>
            <a:srgbClr val="83348F">
              <a:alpha val="80000"/>
            </a:srgbClr>
          </a:solidFill>
          <a:ln w="10160">
            <a:solidFill>
              <a:srgbClr val="FFFFFF"/>
            </a:solidFill>
            <a:prstDash val="solid"/>
          </a:ln>
        </p:spPr>
        <p:txBody>
          <a:bodyPr/>
          <a:lstStyle/>
          <a:p>
            <a:endParaRPr lang="en-GB"/>
          </a:p>
        </p:txBody>
      </p:sp>
      <p:pic>
        <p:nvPicPr>
          <p:cNvPr id="12" name="Image 2" descr="preencoded.png"/>
          <p:cNvPicPr>
            <a:picLocks noChangeAspect="1"/>
          </p:cNvPicPr>
          <p:nvPr/>
        </p:nvPicPr>
        <p:blipFill>
          <a:blip r:embed="rId5"/>
          <a:stretch>
            <a:fillRect/>
          </a:stretch>
        </p:blipFill>
        <p:spPr>
          <a:xfrm>
            <a:off x="7040880" y="1280160"/>
            <a:ext cx="548640" cy="548640"/>
          </a:xfrm>
          <a:prstGeom prst="rect">
            <a:avLst/>
          </a:prstGeom>
        </p:spPr>
      </p:pic>
      <p:sp>
        <p:nvSpPr>
          <p:cNvPr id="13" name="Shape 8"/>
          <p:cNvSpPr/>
          <p:nvPr/>
        </p:nvSpPr>
        <p:spPr>
          <a:xfrm>
            <a:off x="6355080" y="1965960"/>
            <a:ext cx="822960" cy="822960"/>
          </a:xfrm>
          <a:prstGeom prst="ellipse">
            <a:avLst/>
          </a:prstGeom>
          <a:solidFill>
            <a:srgbClr val="009FE3">
              <a:alpha val="80000"/>
            </a:srgbClr>
          </a:solidFill>
          <a:ln w="10160">
            <a:solidFill>
              <a:srgbClr val="FFFFFF"/>
            </a:solidFill>
            <a:prstDash val="solid"/>
          </a:ln>
        </p:spPr>
        <p:txBody>
          <a:bodyPr/>
          <a:lstStyle/>
          <a:p>
            <a:endParaRPr lang="en-GB"/>
          </a:p>
        </p:txBody>
      </p:sp>
      <p:pic>
        <p:nvPicPr>
          <p:cNvPr id="14" name="Image 3" descr="preencoded.png"/>
          <p:cNvPicPr>
            <a:picLocks noChangeAspect="1"/>
          </p:cNvPicPr>
          <p:nvPr/>
        </p:nvPicPr>
        <p:blipFill>
          <a:blip r:embed="rId6"/>
          <a:stretch>
            <a:fillRect/>
          </a:stretch>
        </p:blipFill>
        <p:spPr>
          <a:xfrm>
            <a:off x="6492240" y="2103120"/>
            <a:ext cx="548640" cy="548640"/>
          </a:xfrm>
          <a:prstGeom prst="rect">
            <a:avLst/>
          </a:prstGeom>
        </p:spPr>
      </p:pic>
      <p:sp>
        <p:nvSpPr>
          <p:cNvPr id="15" name="Shape 9"/>
          <p:cNvSpPr/>
          <p:nvPr/>
        </p:nvSpPr>
        <p:spPr>
          <a:xfrm>
            <a:off x="6995160" y="2788920"/>
            <a:ext cx="822960" cy="822960"/>
          </a:xfrm>
          <a:prstGeom prst="ellipse">
            <a:avLst/>
          </a:prstGeom>
          <a:solidFill>
            <a:srgbClr val="2E8B57">
              <a:alpha val="80000"/>
            </a:srgbClr>
          </a:solidFill>
          <a:ln w="10160">
            <a:solidFill>
              <a:srgbClr val="FFFFFF"/>
            </a:solidFill>
            <a:prstDash val="solid"/>
          </a:ln>
        </p:spPr>
        <p:txBody>
          <a:bodyPr/>
          <a:lstStyle/>
          <a:p>
            <a:endParaRPr lang="en-GB"/>
          </a:p>
        </p:txBody>
      </p:sp>
      <p:pic>
        <p:nvPicPr>
          <p:cNvPr id="16" name="Image 4" descr="preencoded.png"/>
          <p:cNvPicPr>
            <a:picLocks noChangeAspect="1"/>
          </p:cNvPicPr>
          <p:nvPr/>
        </p:nvPicPr>
        <p:blipFill>
          <a:blip r:embed="rId7"/>
          <a:stretch>
            <a:fillRect/>
          </a:stretch>
        </p:blipFill>
        <p:spPr>
          <a:xfrm>
            <a:off x="7132320" y="2926080"/>
            <a:ext cx="548640" cy="548640"/>
          </a:xfrm>
          <a:prstGeom prst="rect">
            <a:avLst/>
          </a:prstGeom>
        </p:spPr>
      </p:pic>
      <p:sp>
        <p:nvSpPr>
          <p:cNvPr id="17" name="Shape 10"/>
          <p:cNvSpPr/>
          <p:nvPr/>
        </p:nvSpPr>
        <p:spPr>
          <a:xfrm>
            <a:off x="6172200" y="3429000"/>
            <a:ext cx="822960" cy="822960"/>
          </a:xfrm>
          <a:prstGeom prst="ellipse">
            <a:avLst/>
          </a:prstGeom>
          <a:solidFill>
            <a:srgbClr val="E08A00">
              <a:alpha val="80000"/>
            </a:srgbClr>
          </a:solidFill>
          <a:ln w="10160">
            <a:solidFill>
              <a:srgbClr val="FFFFFF"/>
            </a:solidFill>
            <a:prstDash val="solid"/>
          </a:ln>
        </p:spPr>
        <p:txBody>
          <a:bodyPr/>
          <a:lstStyle/>
          <a:p>
            <a:endParaRPr lang="en-GB"/>
          </a:p>
        </p:txBody>
      </p:sp>
      <p:pic>
        <p:nvPicPr>
          <p:cNvPr id="18" name="Image 5" descr="preencoded.png"/>
          <p:cNvPicPr>
            <a:picLocks noChangeAspect="1"/>
          </p:cNvPicPr>
          <p:nvPr/>
        </p:nvPicPr>
        <p:blipFill>
          <a:blip r:embed="rId8"/>
          <a:stretch>
            <a:fillRect/>
          </a:stretch>
        </p:blipFill>
        <p:spPr>
          <a:xfrm>
            <a:off x="6309360" y="3566160"/>
            <a:ext cx="548640" cy="548640"/>
          </a:xfrm>
          <a:prstGeom prst="rect">
            <a:avLst/>
          </a:prstGeom>
        </p:spPr>
      </p:pic>
      <p:sp>
        <p:nvSpPr>
          <p:cNvPr id="19" name="Rectangle 1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10"/>
          <a:stretch>
            <a:fillRect/>
          </a:stretch>
        </p:blipFill>
        <p:spPr>
          <a:xfrm>
            <a:off x="7562088" y="100584"/>
            <a:ext cx="566928" cy="347472"/>
          </a:xfrm>
          <a:prstGeom prst="rect">
            <a:avLst/>
          </a:prstGeom>
        </p:spPr>
      </p:pic>
      <p:pic>
        <p:nvPicPr>
          <p:cNvPr id="21" name="Picture 20" descr="image.png"/>
          <p:cNvPicPr>
            <a:picLocks noChangeAspect="1"/>
          </p:cNvPicPr>
          <p:nvPr/>
        </p:nvPicPr>
        <p:blipFill>
          <a:blip r:embed="rId9"/>
          <a:stretch>
            <a:fillRect/>
          </a:stretch>
        </p:blipFill>
        <p:spPr>
          <a:xfrm>
            <a:off x="8174736" y="100584"/>
            <a:ext cx="658368" cy="347472"/>
          </a:xfrm>
          <a:prstGeom prst="rect">
            <a:avLst/>
          </a:prstGeom>
        </p:spPr>
      </p:pic>
      <p:sp>
        <p:nvSpPr>
          <p:cNvPr id="22" name="Rectangle 2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What You Will Learn</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Learning Objectives</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Shape 7"/>
          <p:cNvSpPr/>
          <p:nvPr/>
        </p:nvSpPr>
        <p:spPr>
          <a:xfrm>
            <a:off x="347472" y="1453896"/>
            <a:ext cx="310896" cy="310896"/>
          </a:xfrm>
          <a:prstGeom prst="ellipse">
            <a:avLst/>
          </a:prstGeom>
          <a:solidFill>
            <a:srgbClr val="83348F"/>
          </a:solidFill>
          <a:ln w="12700">
            <a:solidFill>
              <a:srgbClr val="83348F"/>
            </a:solidFill>
            <a:prstDash val="solid"/>
          </a:ln>
        </p:spPr>
        <p:txBody>
          <a:bodyPr/>
          <a:lstStyle/>
          <a:p>
            <a:endParaRPr lang="en-GB"/>
          </a:p>
        </p:txBody>
      </p:sp>
      <p:pic>
        <p:nvPicPr>
          <p:cNvPr id="11" name="Image 1" descr="preencoded.png"/>
          <p:cNvPicPr>
            <a:picLocks noChangeAspect="1"/>
          </p:cNvPicPr>
          <p:nvPr/>
        </p:nvPicPr>
        <p:blipFill>
          <a:blip r:embed="rId4"/>
          <a:stretch>
            <a:fillRect/>
          </a:stretch>
        </p:blipFill>
        <p:spPr>
          <a:xfrm>
            <a:off x="393192" y="1472184"/>
            <a:ext cx="219456" cy="219456"/>
          </a:xfrm>
          <a:prstGeom prst="rect">
            <a:avLst/>
          </a:prstGeom>
        </p:spPr>
      </p:pic>
      <p:sp>
        <p:nvSpPr>
          <p:cNvPr id="12" name="Text 8"/>
          <p:cNvSpPr/>
          <p:nvPr/>
        </p:nvSpPr>
        <p:spPr>
          <a:xfrm>
            <a:off x="786384" y="1426464"/>
            <a:ext cx="8010144"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What COSHH is and why it applies to your work</a:t>
            </a:r>
            <a:endParaRPr lang="en-US" sz="1300" dirty="0"/>
          </a:p>
        </p:txBody>
      </p:sp>
      <p:sp>
        <p:nvSpPr>
          <p:cNvPr id="13" name="Shape 9"/>
          <p:cNvSpPr/>
          <p:nvPr/>
        </p:nvSpPr>
        <p:spPr>
          <a:xfrm>
            <a:off x="347472" y="1911096"/>
            <a:ext cx="310896" cy="310896"/>
          </a:xfrm>
          <a:prstGeom prst="ellipse">
            <a:avLst/>
          </a:prstGeom>
          <a:solidFill>
            <a:srgbClr val="C0392B"/>
          </a:solidFill>
          <a:ln w="12700">
            <a:solidFill>
              <a:srgbClr val="C0392B"/>
            </a:solidFill>
            <a:prstDash val="solid"/>
          </a:ln>
        </p:spPr>
        <p:txBody>
          <a:bodyPr/>
          <a:lstStyle/>
          <a:p>
            <a:endParaRPr lang="en-GB"/>
          </a:p>
        </p:txBody>
      </p:sp>
      <p:pic>
        <p:nvPicPr>
          <p:cNvPr id="14" name="Image 2" descr="preencoded.png"/>
          <p:cNvPicPr>
            <a:picLocks noChangeAspect="1"/>
          </p:cNvPicPr>
          <p:nvPr/>
        </p:nvPicPr>
        <p:blipFill>
          <a:blip r:embed="rId5"/>
          <a:stretch>
            <a:fillRect/>
          </a:stretch>
        </p:blipFill>
        <p:spPr>
          <a:xfrm>
            <a:off x="393192" y="1929384"/>
            <a:ext cx="219456" cy="219456"/>
          </a:xfrm>
          <a:prstGeom prst="rect">
            <a:avLst/>
          </a:prstGeom>
        </p:spPr>
      </p:pic>
      <p:sp>
        <p:nvSpPr>
          <p:cNvPr id="15" name="Text 10"/>
          <p:cNvSpPr/>
          <p:nvPr/>
        </p:nvSpPr>
        <p:spPr>
          <a:xfrm>
            <a:off x="786384" y="1883664"/>
            <a:ext cx="8010144"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What counts as a hazardous substance and where to find them in your workplace</a:t>
            </a:r>
            <a:endParaRPr lang="en-US" sz="1300" dirty="0"/>
          </a:p>
        </p:txBody>
      </p:sp>
      <p:sp>
        <p:nvSpPr>
          <p:cNvPr id="16" name="Shape 11"/>
          <p:cNvSpPr/>
          <p:nvPr/>
        </p:nvSpPr>
        <p:spPr>
          <a:xfrm>
            <a:off x="347472" y="2368296"/>
            <a:ext cx="310896" cy="310896"/>
          </a:xfrm>
          <a:prstGeom prst="ellipse">
            <a:avLst/>
          </a:prstGeom>
          <a:solidFill>
            <a:srgbClr val="83348F"/>
          </a:solidFill>
          <a:ln w="12700">
            <a:solidFill>
              <a:srgbClr val="83348F"/>
            </a:solidFill>
            <a:prstDash val="solid"/>
          </a:ln>
        </p:spPr>
        <p:txBody>
          <a:bodyPr/>
          <a:lstStyle/>
          <a:p>
            <a:endParaRPr lang="en-GB"/>
          </a:p>
        </p:txBody>
      </p:sp>
      <p:pic>
        <p:nvPicPr>
          <p:cNvPr id="17" name="Image 3" descr="preencoded.png"/>
          <p:cNvPicPr>
            <a:picLocks noChangeAspect="1"/>
          </p:cNvPicPr>
          <p:nvPr/>
        </p:nvPicPr>
        <p:blipFill>
          <a:blip r:embed="rId6"/>
          <a:stretch>
            <a:fillRect/>
          </a:stretch>
        </p:blipFill>
        <p:spPr>
          <a:xfrm>
            <a:off x="393192" y="2386584"/>
            <a:ext cx="219456" cy="219456"/>
          </a:xfrm>
          <a:prstGeom prst="rect">
            <a:avLst/>
          </a:prstGeom>
        </p:spPr>
      </p:pic>
      <p:sp>
        <p:nvSpPr>
          <p:cNvPr id="18" name="Text 12"/>
          <p:cNvSpPr/>
          <p:nvPr/>
        </p:nvSpPr>
        <p:spPr>
          <a:xfrm>
            <a:off x="786384" y="2340864"/>
            <a:ext cx="8010144"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How hazardous substances can enter your body and the harm they cause</a:t>
            </a:r>
            <a:endParaRPr lang="en-US" sz="1300" dirty="0"/>
          </a:p>
        </p:txBody>
      </p:sp>
      <p:sp>
        <p:nvSpPr>
          <p:cNvPr id="19" name="Shape 13"/>
          <p:cNvSpPr/>
          <p:nvPr/>
        </p:nvSpPr>
        <p:spPr>
          <a:xfrm>
            <a:off x="347472" y="2825496"/>
            <a:ext cx="310896" cy="310896"/>
          </a:xfrm>
          <a:prstGeom prst="ellipse">
            <a:avLst/>
          </a:prstGeom>
          <a:solidFill>
            <a:srgbClr val="006FAA"/>
          </a:solidFill>
          <a:ln w="12700">
            <a:solidFill>
              <a:srgbClr val="006FAA"/>
            </a:solidFill>
            <a:prstDash val="solid"/>
          </a:ln>
        </p:spPr>
        <p:txBody>
          <a:bodyPr/>
          <a:lstStyle/>
          <a:p>
            <a:endParaRPr lang="en-GB"/>
          </a:p>
        </p:txBody>
      </p:sp>
      <p:pic>
        <p:nvPicPr>
          <p:cNvPr id="20" name="Image 4" descr="preencoded.png"/>
          <p:cNvPicPr>
            <a:picLocks noChangeAspect="1"/>
          </p:cNvPicPr>
          <p:nvPr/>
        </p:nvPicPr>
        <p:blipFill>
          <a:blip r:embed="rId7"/>
          <a:stretch>
            <a:fillRect/>
          </a:stretch>
        </p:blipFill>
        <p:spPr>
          <a:xfrm>
            <a:off x="393192" y="2843784"/>
            <a:ext cx="219456" cy="219456"/>
          </a:xfrm>
          <a:prstGeom prst="rect">
            <a:avLst/>
          </a:prstGeom>
        </p:spPr>
      </p:pic>
      <p:sp>
        <p:nvSpPr>
          <p:cNvPr id="21" name="Text 14"/>
          <p:cNvSpPr/>
          <p:nvPr/>
        </p:nvSpPr>
        <p:spPr>
          <a:xfrm>
            <a:off x="786384" y="2798064"/>
            <a:ext cx="8010144"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How to find and read your COSHH assessment and Safety Data Sheet</a:t>
            </a:r>
            <a:endParaRPr lang="en-US" sz="1300" dirty="0"/>
          </a:p>
        </p:txBody>
      </p:sp>
      <p:sp>
        <p:nvSpPr>
          <p:cNvPr id="22" name="Shape 15"/>
          <p:cNvSpPr/>
          <p:nvPr/>
        </p:nvSpPr>
        <p:spPr>
          <a:xfrm>
            <a:off x="347472" y="3282696"/>
            <a:ext cx="310896" cy="310896"/>
          </a:xfrm>
          <a:prstGeom prst="ellipse">
            <a:avLst/>
          </a:prstGeom>
          <a:solidFill>
            <a:srgbClr val="2E8B57"/>
          </a:solidFill>
          <a:ln w="12700">
            <a:solidFill>
              <a:srgbClr val="2E8B57"/>
            </a:solidFill>
            <a:prstDash val="solid"/>
          </a:ln>
        </p:spPr>
        <p:txBody>
          <a:bodyPr/>
          <a:lstStyle/>
          <a:p>
            <a:endParaRPr lang="en-GB"/>
          </a:p>
        </p:txBody>
      </p:sp>
      <p:pic>
        <p:nvPicPr>
          <p:cNvPr id="23" name="Image 5" descr="preencoded.png"/>
          <p:cNvPicPr>
            <a:picLocks noChangeAspect="1"/>
          </p:cNvPicPr>
          <p:nvPr/>
        </p:nvPicPr>
        <p:blipFill>
          <a:blip r:embed="rId8"/>
          <a:stretch>
            <a:fillRect/>
          </a:stretch>
        </p:blipFill>
        <p:spPr>
          <a:xfrm>
            <a:off x="393192" y="3300984"/>
            <a:ext cx="219456" cy="219456"/>
          </a:xfrm>
          <a:prstGeom prst="rect">
            <a:avLst/>
          </a:prstGeom>
        </p:spPr>
      </p:pic>
      <p:sp>
        <p:nvSpPr>
          <p:cNvPr id="24" name="Text 16"/>
          <p:cNvSpPr/>
          <p:nvPr/>
        </p:nvSpPr>
        <p:spPr>
          <a:xfrm>
            <a:off x="786384" y="3255264"/>
            <a:ext cx="8010144"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The controls that protect you and your responsibilities in using them correctly</a:t>
            </a:r>
            <a:endParaRPr lang="en-US" sz="1300" dirty="0"/>
          </a:p>
        </p:txBody>
      </p:sp>
      <p:sp>
        <p:nvSpPr>
          <p:cNvPr id="25" name="Shape 17"/>
          <p:cNvSpPr/>
          <p:nvPr/>
        </p:nvSpPr>
        <p:spPr>
          <a:xfrm>
            <a:off x="347472" y="3739896"/>
            <a:ext cx="310896" cy="310896"/>
          </a:xfrm>
          <a:prstGeom prst="ellipse">
            <a:avLst/>
          </a:prstGeom>
          <a:solidFill>
            <a:srgbClr val="E08A00"/>
          </a:solidFill>
          <a:ln w="12700">
            <a:solidFill>
              <a:srgbClr val="E08A00"/>
            </a:solidFill>
            <a:prstDash val="solid"/>
          </a:ln>
        </p:spPr>
        <p:txBody>
          <a:bodyPr/>
          <a:lstStyle/>
          <a:p>
            <a:endParaRPr lang="en-GB"/>
          </a:p>
        </p:txBody>
      </p:sp>
      <p:pic>
        <p:nvPicPr>
          <p:cNvPr id="26" name="Image 6" descr="preencoded.png"/>
          <p:cNvPicPr>
            <a:picLocks noChangeAspect="1"/>
          </p:cNvPicPr>
          <p:nvPr/>
        </p:nvPicPr>
        <p:blipFill>
          <a:blip r:embed="rId9"/>
          <a:stretch>
            <a:fillRect/>
          </a:stretch>
        </p:blipFill>
        <p:spPr>
          <a:xfrm>
            <a:off x="393192" y="3758184"/>
            <a:ext cx="219456" cy="219456"/>
          </a:xfrm>
          <a:prstGeom prst="rect">
            <a:avLst/>
          </a:prstGeom>
        </p:spPr>
      </p:pic>
      <p:sp>
        <p:nvSpPr>
          <p:cNvPr id="27" name="Text 18"/>
          <p:cNvSpPr/>
          <p:nvPr/>
        </p:nvSpPr>
        <p:spPr>
          <a:xfrm>
            <a:off x="786384" y="3712464"/>
            <a:ext cx="8010144"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How to select and use PPE correctly for hazardous substance work</a:t>
            </a:r>
            <a:endParaRPr lang="en-US" sz="1300" dirty="0"/>
          </a:p>
        </p:txBody>
      </p:sp>
      <p:sp>
        <p:nvSpPr>
          <p:cNvPr id="28" name="Shape 19"/>
          <p:cNvSpPr/>
          <p:nvPr/>
        </p:nvSpPr>
        <p:spPr>
          <a:xfrm>
            <a:off x="347472" y="4197096"/>
            <a:ext cx="310896" cy="310896"/>
          </a:xfrm>
          <a:prstGeom prst="ellipse">
            <a:avLst/>
          </a:prstGeom>
          <a:solidFill>
            <a:srgbClr val="009FE3"/>
          </a:solidFill>
          <a:ln w="12700">
            <a:solidFill>
              <a:srgbClr val="009FE3"/>
            </a:solidFill>
            <a:prstDash val="solid"/>
          </a:ln>
        </p:spPr>
        <p:txBody>
          <a:bodyPr/>
          <a:lstStyle/>
          <a:p>
            <a:endParaRPr lang="en-GB"/>
          </a:p>
        </p:txBody>
      </p:sp>
      <p:pic>
        <p:nvPicPr>
          <p:cNvPr id="29" name="Image 7" descr="preencoded.png"/>
          <p:cNvPicPr>
            <a:picLocks noChangeAspect="1"/>
          </p:cNvPicPr>
          <p:nvPr/>
        </p:nvPicPr>
        <p:blipFill>
          <a:blip r:embed="rId10"/>
          <a:stretch>
            <a:fillRect/>
          </a:stretch>
        </p:blipFill>
        <p:spPr>
          <a:xfrm>
            <a:off x="393192" y="4215384"/>
            <a:ext cx="219456" cy="219456"/>
          </a:xfrm>
          <a:prstGeom prst="rect">
            <a:avLst/>
          </a:prstGeom>
        </p:spPr>
      </p:pic>
      <p:sp>
        <p:nvSpPr>
          <p:cNvPr id="30" name="Text 20"/>
          <p:cNvSpPr/>
          <p:nvPr/>
        </p:nvSpPr>
        <p:spPr>
          <a:xfrm>
            <a:off x="786384" y="4169664"/>
            <a:ext cx="8010144"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What health surveillance means and why your participation matters</a:t>
            </a:r>
            <a:endParaRPr lang="en-US" sz="1300" dirty="0"/>
          </a:p>
        </p:txBody>
      </p:sp>
      <p:sp>
        <p:nvSpPr>
          <p:cNvPr id="31" name="Shape 21"/>
          <p:cNvSpPr/>
          <p:nvPr/>
        </p:nvSpPr>
        <p:spPr>
          <a:xfrm>
            <a:off x="347472" y="4654296"/>
            <a:ext cx="310896" cy="310896"/>
          </a:xfrm>
          <a:prstGeom prst="ellipse">
            <a:avLst/>
          </a:prstGeom>
          <a:solidFill>
            <a:srgbClr val="001E3C"/>
          </a:solidFill>
          <a:ln w="12700">
            <a:solidFill>
              <a:srgbClr val="001E3C"/>
            </a:solidFill>
            <a:prstDash val="solid"/>
          </a:ln>
        </p:spPr>
        <p:txBody>
          <a:bodyPr/>
          <a:lstStyle/>
          <a:p>
            <a:endParaRPr lang="en-GB"/>
          </a:p>
        </p:txBody>
      </p:sp>
      <p:pic>
        <p:nvPicPr>
          <p:cNvPr id="32" name="Image 8" descr="preencoded.png"/>
          <p:cNvPicPr>
            <a:picLocks noChangeAspect="1"/>
          </p:cNvPicPr>
          <p:nvPr/>
        </p:nvPicPr>
        <p:blipFill>
          <a:blip r:embed="rId11"/>
          <a:stretch>
            <a:fillRect/>
          </a:stretch>
        </p:blipFill>
        <p:spPr>
          <a:xfrm>
            <a:off x="393192" y="4672584"/>
            <a:ext cx="219456" cy="219456"/>
          </a:xfrm>
          <a:prstGeom prst="rect">
            <a:avLst/>
          </a:prstGeom>
        </p:spPr>
      </p:pic>
      <p:sp>
        <p:nvSpPr>
          <p:cNvPr id="33" name="Rectangle 3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13"/>
          <a:stretch>
            <a:fillRect/>
          </a:stretch>
        </p:blipFill>
        <p:spPr>
          <a:xfrm>
            <a:off x="7562088" y="100584"/>
            <a:ext cx="566928" cy="347472"/>
          </a:xfrm>
          <a:prstGeom prst="rect">
            <a:avLst/>
          </a:prstGeom>
        </p:spPr>
      </p:pic>
      <p:pic>
        <p:nvPicPr>
          <p:cNvPr id="35" name="Picture 34" descr="image.png"/>
          <p:cNvPicPr>
            <a:picLocks noChangeAspect="1"/>
          </p:cNvPicPr>
          <p:nvPr/>
        </p:nvPicPr>
        <p:blipFill>
          <a:blip r:embed="rId12"/>
          <a:stretch>
            <a:fillRect/>
          </a:stretch>
        </p:blipFill>
        <p:spPr>
          <a:xfrm>
            <a:off x="8174736" y="100584"/>
            <a:ext cx="658368" cy="347472"/>
          </a:xfrm>
          <a:prstGeom prst="rect">
            <a:avLst/>
          </a:prstGeom>
        </p:spPr>
      </p:pic>
      <p:sp>
        <p:nvSpPr>
          <p:cNvPr id="36" name="Rectangle 3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The Law</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What is COSHH and Why Does It Exist?</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566928"/>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COSHH stands for the Control of Substances Hazardous to Health. The COSHH Regulations 2002 (as amended) are the main piece of UK law that governs how employers and employees manage exposure to hazardous substances in the workplace. They exist because occupational exposure to hazardous substances kills and seriously harms thousands of workers every year.</a:t>
            </a:r>
            <a:endParaRPr lang="en-US" sz="1300" dirty="0"/>
          </a:p>
        </p:txBody>
      </p:sp>
      <p:sp>
        <p:nvSpPr>
          <p:cNvPr id="11" name="Shape 8"/>
          <p:cNvSpPr/>
          <p:nvPr/>
        </p:nvSpPr>
        <p:spPr>
          <a:xfrm>
            <a:off x="347472" y="2011680"/>
            <a:ext cx="4133088" cy="1188720"/>
          </a:xfrm>
          <a:prstGeom prst="roundRect">
            <a:avLst>
              <a:gd name="adj" fmla="val 6154"/>
            </a:avLst>
          </a:prstGeom>
          <a:solidFill>
            <a:srgbClr val="FAFAFA"/>
          </a:solidFill>
          <a:ln w="10160">
            <a:solidFill>
              <a:srgbClr val="DDDDDD"/>
            </a:solidFill>
            <a:prstDash val="solid"/>
          </a:ln>
          <a:effectLst>
            <a:outerShdw blurRad="50800" dist="25400" dir="8100000" algn="bl" rotWithShape="0">
              <a:srgbClr val="000000">
                <a:alpha val="7000"/>
              </a:srgbClr>
            </a:outerShdw>
          </a:effectLst>
        </p:spPr>
        <p:txBody>
          <a:bodyPr/>
          <a:lstStyle/>
          <a:p>
            <a:endParaRPr lang="en-GB"/>
          </a:p>
        </p:txBody>
      </p:sp>
      <p:sp>
        <p:nvSpPr>
          <p:cNvPr id="12" name="Shape 9"/>
          <p:cNvSpPr/>
          <p:nvPr/>
        </p:nvSpPr>
        <p:spPr>
          <a:xfrm>
            <a:off x="475488" y="2121408"/>
            <a:ext cx="365760" cy="365760"/>
          </a:xfrm>
          <a:prstGeom prst="ellipse">
            <a:avLst/>
          </a:prstGeom>
          <a:solidFill>
            <a:srgbClr val="83348F"/>
          </a:solidFill>
          <a:ln w="12700">
            <a:solidFill>
              <a:srgbClr val="83348F"/>
            </a:solidFill>
            <a:prstDash val="solid"/>
          </a:ln>
        </p:spPr>
        <p:txBody>
          <a:bodyPr/>
          <a:lstStyle/>
          <a:p>
            <a:endParaRPr lang="en-GB"/>
          </a:p>
        </p:txBody>
      </p:sp>
      <p:sp>
        <p:nvSpPr>
          <p:cNvPr id="13" name="Text 10"/>
          <p:cNvSpPr/>
          <p:nvPr/>
        </p:nvSpPr>
        <p:spPr>
          <a:xfrm>
            <a:off x="475488" y="21214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4" name="Text 11"/>
          <p:cNvSpPr/>
          <p:nvPr/>
        </p:nvSpPr>
        <p:spPr>
          <a:xfrm>
            <a:off x="914400" y="2139696"/>
            <a:ext cx="3438144" cy="274320"/>
          </a:xfrm>
          <a:prstGeom prst="rect">
            <a:avLst/>
          </a:prstGeom>
          <a:noFill/>
          <a:ln/>
        </p:spPr>
        <p:txBody>
          <a:bodyPr wrap="square" lIns="0" tIns="0" rIns="0" bIns="0" rtlCol="0" anchor="ctr"/>
          <a:lstStyle/>
          <a:p>
            <a:pPr marL="0" indent="0">
              <a:buNone/>
            </a:pPr>
            <a:r>
              <a:rPr lang="en-US" sz="1200" b="1" dirty="0">
                <a:solidFill>
                  <a:srgbClr val="001E3C"/>
                </a:solidFill>
                <a:latin typeface="Arial" pitchFamily="34" charset="0"/>
                <a:ea typeface="Arial" pitchFamily="34" charset="-122"/>
                <a:cs typeface="Arial" pitchFamily="34" charset="-120"/>
              </a:rPr>
              <a:t>Employer duty to assess</a:t>
            </a:r>
            <a:endParaRPr lang="en-US" sz="1200" dirty="0"/>
          </a:p>
        </p:txBody>
      </p:sp>
      <p:sp>
        <p:nvSpPr>
          <p:cNvPr id="15" name="Text 12"/>
          <p:cNvSpPr/>
          <p:nvPr/>
        </p:nvSpPr>
        <p:spPr>
          <a:xfrm>
            <a:off x="493776" y="2487168"/>
            <a:ext cx="3877056" cy="621792"/>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Every employer must identify hazardous substances used at work and carry out a COSHH assessment for each one before work begins. The assessment must evaluate who is at risk and how.</a:t>
            </a:r>
            <a:endParaRPr lang="en-US" sz="1100" dirty="0"/>
          </a:p>
        </p:txBody>
      </p:sp>
      <p:sp>
        <p:nvSpPr>
          <p:cNvPr id="16" name="Shape 13"/>
          <p:cNvSpPr/>
          <p:nvPr/>
        </p:nvSpPr>
        <p:spPr>
          <a:xfrm>
            <a:off x="4663440" y="2011680"/>
            <a:ext cx="4133088" cy="1188720"/>
          </a:xfrm>
          <a:prstGeom prst="roundRect">
            <a:avLst>
              <a:gd name="adj" fmla="val 6154"/>
            </a:avLst>
          </a:prstGeom>
          <a:solidFill>
            <a:srgbClr val="FAFAFA"/>
          </a:solidFill>
          <a:ln w="10160">
            <a:solidFill>
              <a:srgbClr val="DDDDDD"/>
            </a:solidFill>
            <a:prstDash val="solid"/>
          </a:ln>
          <a:effectLst>
            <a:outerShdw blurRad="50800" dist="25400" dir="8100000" algn="bl" rotWithShape="0">
              <a:srgbClr val="000000">
                <a:alpha val="7000"/>
              </a:srgbClr>
            </a:outerShdw>
          </a:effectLst>
        </p:spPr>
        <p:txBody>
          <a:bodyPr/>
          <a:lstStyle/>
          <a:p>
            <a:endParaRPr lang="en-GB"/>
          </a:p>
        </p:txBody>
      </p:sp>
      <p:sp>
        <p:nvSpPr>
          <p:cNvPr id="17" name="Shape 14"/>
          <p:cNvSpPr/>
          <p:nvPr/>
        </p:nvSpPr>
        <p:spPr>
          <a:xfrm>
            <a:off x="4791456" y="2121408"/>
            <a:ext cx="365760" cy="365760"/>
          </a:xfrm>
          <a:prstGeom prst="ellipse">
            <a:avLst/>
          </a:prstGeom>
          <a:solidFill>
            <a:srgbClr val="83348F"/>
          </a:solidFill>
          <a:ln w="12700">
            <a:solidFill>
              <a:srgbClr val="83348F"/>
            </a:solidFill>
            <a:prstDash val="solid"/>
          </a:ln>
        </p:spPr>
        <p:txBody>
          <a:bodyPr/>
          <a:lstStyle/>
          <a:p>
            <a:endParaRPr lang="en-GB"/>
          </a:p>
        </p:txBody>
      </p:sp>
      <p:sp>
        <p:nvSpPr>
          <p:cNvPr id="18" name="Text 15"/>
          <p:cNvSpPr/>
          <p:nvPr/>
        </p:nvSpPr>
        <p:spPr>
          <a:xfrm>
            <a:off x="4791456" y="21214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5230368" y="2139696"/>
            <a:ext cx="3438144" cy="274320"/>
          </a:xfrm>
          <a:prstGeom prst="rect">
            <a:avLst/>
          </a:prstGeom>
          <a:noFill/>
          <a:ln/>
        </p:spPr>
        <p:txBody>
          <a:bodyPr wrap="square" lIns="0" tIns="0" rIns="0" bIns="0" rtlCol="0" anchor="ctr"/>
          <a:lstStyle/>
          <a:p>
            <a:pPr marL="0" indent="0">
              <a:buNone/>
            </a:pPr>
            <a:r>
              <a:rPr lang="en-US" sz="1200" b="1" dirty="0">
                <a:solidFill>
                  <a:srgbClr val="001E3C"/>
                </a:solidFill>
                <a:latin typeface="Arial" pitchFamily="34" charset="0"/>
                <a:ea typeface="Arial" pitchFamily="34" charset="-122"/>
                <a:cs typeface="Arial" pitchFamily="34" charset="-120"/>
              </a:rPr>
              <a:t>Employer duty to control</a:t>
            </a:r>
            <a:endParaRPr lang="en-US" sz="1200" dirty="0"/>
          </a:p>
        </p:txBody>
      </p:sp>
      <p:sp>
        <p:nvSpPr>
          <p:cNvPr id="20" name="Text 17"/>
          <p:cNvSpPr/>
          <p:nvPr/>
        </p:nvSpPr>
        <p:spPr>
          <a:xfrm>
            <a:off x="4809744" y="2487168"/>
            <a:ext cx="3877056" cy="621792"/>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Employers must put in place adequate controls to prevent or adequately control exposure. Controls must follow the hierarchy: elimination first, PPE last. Controls must be maintained and tested.</a:t>
            </a:r>
            <a:endParaRPr lang="en-US" sz="1100" dirty="0"/>
          </a:p>
        </p:txBody>
      </p:sp>
      <p:sp>
        <p:nvSpPr>
          <p:cNvPr id="21" name="Shape 18"/>
          <p:cNvSpPr/>
          <p:nvPr/>
        </p:nvSpPr>
        <p:spPr>
          <a:xfrm>
            <a:off x="347472" y="3310128"/>
            <a:ext cx="4133088" cy="1188720"/>
          </a:xfrm>
          <a:prstGeom prst="roundRect">
            <a:avLst>
              <a:gd name="adj" fmla="val 6154"/>
            </a:avLst>
          </a:prstGeom>
          <a:solidFill>
            <a:srgbClr val="FAFAFA"/>
          </a:solidFill>
          <a:ln w="10160">
            <a:solidFill>
              <a:srgbClr val="DDDDDD"/>
            </a:solidFill>
            <a:prstDash val="solid"/>
          </a:ln>
          <a:effectLst>
            <a:outerShdw blurRad="50800" dist="25400" dir="8100000" algn="bl" rotWithShape="0">
              <a:srgbClr val="000000">
                <a:alpha val="7000"/>
              </a:srgbClr>
            </a:outerShdw>
          </a:effectLst>
        </p:spPr>
        <p:txBody>
          <a:bodyPr/>
          <a:lstStyle/>
          <a:p>
            <a:endParaRPr lang="en-GB"/>
          </a:p>
        </p:txBody>
      </p:sp>
      <p:sp>
        <p:nvSpPr>
          <p:cNvPr id="22" name="Shape 19"/>
          <p:cNvSpPr/>
          <p:nvPr/>
        </p:nvSpPr>
        <p:spPr>
          <a:xfrm>
            <a:off x="475488" y="3419856"/>
            <a:ext cx="365760" cy="365760"/>
          </a:xfrm>
          <a:prstGeom prst="ellipse">
            <a:avLst/>
          </a:prstGeom>
          <a:solidFill>
            <a:srgbClr val="009FE3"/>
          </a:solidFill>
          <a:ln w="12700">
            <a:solidFill>
              <a:srgbClr val="009FE3"/>
            </a:solidFill>
            <a:prstDash val="solid"/>
          </a:ln>
        </p:spPr>
        <p:txBody>
          <a:bodyPr/>
          <a:lstStyle/>
          <a:p>
            <a:endParaRPr lang="en-GB"/>
          </a:p>
        </p:txBody>
      </p:sp>
      <p:sp>
        <p:nvSpPr>
          <p:cNvPr id="23" name="Text 20"/>
          <p:cNvSpPr/>
          <p:nvPr/>
        </p:nvSpPr>
        <p:spPr>
          <a:xfrm>
            <a:off x="475488" y="341985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4" name="Text 21"/>
          <p:cNvSpPr/>
          <p:nvPr/>
        </p:nvSpPr>
        <p:spPr>
          <a:xfrm>
            <a:off x="914400" y="3438144"/>
            <a:ext cx="3438144" cy="274320"/>
          </a:xfrm>
          <a:prstGeom prst="rect">
            <a:avLst/>
          </a:prstGeom>
          <a:noFill/>
          <a:ln/>
        </p:spPr>
        <p:txBody>
          <a:bodyPr wrap="square" lIns="0" tIns="0" rIns="0" bIns="0" rtlCol="0" anchor="ctr"/>
          <a:lstStyle/>
          <a:p>
            <a:pPr marL="0" indent="0">
              <a:buNone/>
            </a:pPr>
            <a:r>
              <a:rPr lang="en-US" sz="1200" b="1" dirty="0">
                <a:solidFill>
                  <a:srgbClr val="001E3C"/>
                </a:solidFill>
                <a:latin typeface="Arial" pitchFamily="34" charset="0"/>
                <a:ea typeface="Arial" pitchFamily="34" charset="-122"/>
                <a:cs typeface="Arial" pitchFamily="34" charset="-120"/>
              </a:rPr>
              <a:t>Employee duty to cooperate</a:t>
            </a:r>
            <a:endParaRPr lang="en-US" sz="1200" dirty="0"/>
          </a:p>
        </p:txBody>
      </p:sp>
      <p:sp>
        <p:nvSpPr>
          <p:cNvPr id="25" name="Text 22"/>
          <p:cNvSpPr/>
          <p:nvPr/>
        </p:nvSpPr>
        <p:spPr>
          <a:xfrm>
            <a:off x="493776" y="3785616"/>
            <a:ext cx="3877056" cy="621792"/>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You are legally required to follow the controls in your COSHH assessment, use PPE correctly, report concerns, and attend health surveillance when arranged. This is not optional.</a:t>
            </a:r>
            <a:endParaRPr lang="en-US" sz="1100" dirty="0"/>
          </a:p>
        </p:txBody>
      </p:sp>
      <p:sp>
        <p:nvSpPr>
          <p:cNvPr id="26" name="Shape 23"/>
          <p:cNvSpPr/>
          <p:nvPr/>
        </p:nvSpPr>
        <p:spPr>
          <a:xfrm>
            <a:off x="4663440" y="3310128"/>
            <a:ext cx="4133088" cy="1188720"/>
          </a:xfrm>
          <a:prstGeom prst="roundRect">
            <a:avLst>
              <a:gd name="adj" fmla="val 6154"/>
            </a:avLst>
          </a:prstGeom>
          <a:solidFill>
            <a:srgbClr val="FAFAFA"/>
          </a:solidFill>
          <a:ln w="10160">
            <a:solidFill>
              <a:srgbClr val="DDDDDD"/>
            </a:solidFill>
            <a:prstDash val="solid"/>
          </a:ln>
          <a:effectLst>
            <a:outerShdw blurRad="50800" dist="25400" dir="8100000" algn="bl" rotWithShape="0">
              <a:srgbClr val="000000">
                <a:alpha val="7000"/>
              </a:srgbClr>
            </a:outerShdw>
          </a:effectLst>
        </p:spPr>
        <p:txBody>
          <a:bodyPr/>
          <a:lstStyle/>
          <a:p>
            <a:endParaRPr lang="en-GB"/>
          </a:p>
        </p:txBody>
      </p:sp>
      <p:sp>
        <p:nvSpPr>
          <p:cNvPr id="27" name="Shape 24"/>
          <p:cNvSpPr/>
          <p:nvPr/>
        </p:nvSpPr>
        <p:spPr>
          <a:xfrm>
            <a:off x="4791456" y="3419856"/>
            <a:ext cx="365760" cy="365760"/>
          </a:xfrm>
          <a:prstGeom prst="ellipse">
            <a:avLst/>
          </a:prstGeom>
          <a:solidFill>
            <a:srgbClr val="009FE3"/>
          </a:solidFill>
          <a:ln w="12700">
            <a:solidFill>
              <a:srgbClr val="009FE3"/>
            </a:solidFill>
            <a:prstDash val="solid"/>
          </a:ln>
        </p:spPr>
        <p:txBody>
          <a:bodyPr/>
          <a:lstStyle/>
          <a:p>
            <a:endParaRPr lang="en-GB"/>
          </a:p>
        </p:txBody>
      </p:sp>
      <p:sp>
        <p:nvSpPr>
          <p:cNvPr id="28" name="Text 25"/>
          <p:cNvSpPr/>
          <p:nvPr/>
        </p:nvSpPr>
        <p:spPr>
          <a:xfrm>
            <a:off x="4791456" y="341985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6"/>
          <p:cNvSpPr/>
          <p:nvPr/>
        </p:nvSpPr>
        <p:spPr>
          <a:xfrm>
            <a:off x="5230368" y="3438144"/>
            <a:ext cx="3438144" cy="274320"/>
          </a:xfrm>
          <a:prstGeom prst="rect">
            <a:avLst/>
          </a:prstGeom>
          <a:noFill/>
          <a:ln/>
        </p:spPr>
        <p:txBody>
          <a:bodyPr wrap="square" lIns="0" tIns="0" rIns="0" bIns="0" rtlCol="0" anchor="ctr"/>
          <a:lstStyle/>
          <a:p>
            <a:pPr marL="0" indent="0">
              <a:buNone/>
            </a:pPr>
            <a:r>
              <a:rPr lang="en-US" sz="1200" b="1" dirty="0">
                <a:solidFill>
                  <a:srgbClr val="001E3C"/>
                </a:solidFill>
                <a:latin typeface="Arial" pitchFamily="34" charset="0"/>
                <a:ea typeface="Arial" pitchFamily="34" charset="-122"/>
                <a:cs typeface="Arial" pitchFamily="34" charset="-120"/>
              </a:rPr>
              <a:t>Health surveillance</a:t>
            </a:r>
            <a:endParaRPr lang="en-US" sz="1200" dirty="0"/>
          </a:p>
        </p:txBody>
      </p:sp>
      <p:sp>
        <p:nvSpPr>
          <p:cNvPr id="30" name="Text 27"/>
          <p:cNvSpPr/>
          <p:nvPr/>
        </p:nvSpPr>
        <p:spPr>
          <a:xfrm>
            <a:off x="4809744" y="3785616"/>
            <a:ext cx="3877056" cy="621792"/>
          </a:xfrm>
          <a:prstGeom prst="rect">
            <a:avLst/>
          </a:prstGeom>
          <a:noFill/>
          <a:ln/>
        </p:spPr>
        <p:txBody>
          <a:bodyPr wrap="square" lIns="0" tIns="0" rIns="0" bIns="0" rtlCol="0" anchor="t"/>
          <a:lstStyle/>
          <a:p>
            <a:pPr marL="0" indent="0">
              <a:buNone/>
            </a:pPr>
            <a:r>
              <a:rPr lang="en-US" sz="1100" dirty="0">
                <a:solidFill>
                  <a:srgbClr val="5B595A"/>
                </a:solidFill>
                <a:latin typeface="Arial" pitchFamily="34" charset="0"/>
                <a:ea typeface="Arial" pitchFamily="34" charset="-122"/>
                <a:cs typeface="Arial" pitchFamily="34" charset="-120"/>
              </a:rPr>
              <a:t>Where COSHH assessments identify a risk of specific health effects, employers must arrange health surveillance. You have the right to access your own health surveillance records.</a:t>
            </a:r>
            <a:endParaRPr lang="en-US" sz="1100" dirty="0"/>
          </a:p>
        </p:txBody>
      </p:sp>
      <p:sp>
        <p:nvSpPr>
          <p:cNvPr id="31" name="Rectangle 3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7562088" y="100584"/>
            <a:ext cx="566928" cy="347472"/>
          </a:xfrm>
          <a:prstGeom prst="rect">
            <a:avLst/>
          </a:prstGeom>
        </p:spPr>
      </p:pic>
      <p:pic>
        <p:nvPicPr>
          <p:cNvPr id="33" name="Picture 32" descr="image.png"/>
          <p:cNvPicPr>
            <a:picLocks noChangeAspect="1"/>
          </p:cNvPicPr>
          <p:nvPr/>
        </p:nvPicPr>
        <p:blipFill>
          <a:blip r:embed="rId4"/>
          <a:stretch>
            <a:fillRect/>
          </a:stretch>
        </p:blipFill>
        <p:spPr>
          <a:xfrm>
            <a:off x="8174736" y="100584"/>
            <a:ext cx="658368" cy="347472"/>
          </a:xfrm>
          <a:prstGeom prst="rect">
            <a:avLst/>
          </a:prstGeom>
        </p:spPr>
      </p:pic>
      <p:sp>
        <p:nvSpPr>
          <p:cNvPr id="34" name="Rectangle 3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Identifying Hazards</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What Counts as a Hazardous Substance?</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411480"/>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A hazardous substance is any substance (solid, liquid, gas, vapour, dust, fume, or mist) that is capable of causing harm to health. In manufacturing and engineering, they are everywhere.</a:t>
            </a:r>
            <a:endParaRPr lang="en-US" sz="1300" dirty="0"/>
          </a:p>
        </p:txBody>
      </p:sp>
      <p:sp>
        <p:nvSpPr>
          <p:cNvPr id="11" name="Shape 8"/>
          <p:cNvSpPr/>
          <p:nvPr/>
        </p:nvSpPr>
        <p:spPr>
          <a:xfrm>
            <a:off x="347472" y="1874520"/>
            <a:ext cx="2688336" cy="1207008"/>
          </a:xfrm>
          <a:prstGeom prst="roundRect">
            <a:avLst>
              <a:gd name="adj" fmla="val 6061"/>
            </a:avLst>
          </a:prstGeom>
          <a:solidFill>
            <a:srgbClr val="F8F8F8"/>
          </a:solidFill>
          <a:ln w="8890">
            <a:solidFill>
              <a:srgbClr val="DDDDDD"/>
            </a:solidFill>
            <a:prstDash val="solid"/>
          </a:ln>
        </p:spPr>
        <p:txBody>
          <a:bodyPr/>
          <a:lstStyle/>
          <a:p>
            <a:endParaRPr lang="en-GB"/>
          </a:p>
        </p:txBody>
      </p:sp>
      <p:sp>
        <p:nvSpPr>
          <p:cNvPr id="12" name="Shape 9"/>
          <p:cNvSpPr/>
          <p:nvPr/>
        </p:nvSpPr>
        <p:spPr>
          <a:xfrm>
            <a:off x="475488" y="1938528"/>
            <a:ext cx="512064" cy="512064"/>
          </a:xfrm>
          <a:prstGeom prst="ellipse">
            <a:avLst/>
          </a:prstGeom>
          <a:solidFill>
            <a:srgbClr val="83348F"/>
          </a:solidFill>
          <a:ln w="12700">
            <a:solidFill>
              <a:srgbClr val="83348F"/>
            </a:solidFill>
            <a:prstDash val="solid"/>
          </a:ln>
        </p:spPr>
        <p:txBody>
          <a:bodyPr/>
          <a:lstStyle/>
          <a:p>
            <a:endParaRPr lang="en-GB"/>
          </a:p>
        </p:txBody>
      </p:sp>
      <p:pic>
        <p:nvPicPr>
          <p:cNvPr id="13" name="Image 1" descr="preencoded.png"/>
          <p:cNvPicPr>
            <a:picLocks noChangeAspect="1"/>
          </p:cNvPicPr>
          <p:nvPr/>
        </p:nvPicPr>
        <p:blipFill>
          <a:blip r:embed="rId4"/>
          <a:stretch>
            <a:fillRect/>
          </a:stretch>
        </p:blipFill>
        <p:spPr>
          <a:xfrm>
            <a:off x="590702" y="2053742"/>
            <a:ext cx="281635" cy="281635"/>
          </a:xfrm>
          <a:prstGeom prst="rect">
            <a:avLst/>
          </a:prstGeom>
        </p:spPr>
      </p:pic>
      <p:sp>
        <p:nvSpPr>
          <p:cNvPr id="14" name="Text 10"/>
          <p:cNvSpPr/>
          <p:nvPr/>
        </p:nvSpPr>
        <p:spPr>
          <a:xfrm>
            <a:off x="1097280" y="1965960"/>
            <a:ext cx="1828800" cy="402336"/>
          </a:xfrm>
          <a:prstGeom prst="rect">
            <a:avLst/>
          </a:prstGeom>
          <a:noFill/>
          <a:ln/>
        </p:spPr>
        <p:txBody>
          <a:bodyPr wrap="square" lIns="0" tIns="0" rIns="0" bIns="0" rtlCol="0" anchor="ctr"/>
          <a:lstStyle/>
          <a:p>
            <a:pPr marL="0" indent="0">
              <a:buNone/>
            </a:pPr>
            <a:r>
              <a:rPr lang="en-US" sz="1150" b="1" dirty="0">
                <a:solidFill>
                  <a:srgbClr val="83348F"/>
                </a:solidFill>
                <a:latin typeface="Arial" pitchFamily="34" charset="0"/>
                <a:ea typeface="Arial" pitchFamily="34" charset="-122"/>
                <a:cs typeface="Arial" pitchFamily="34" charset="-120"/>
              </a:rPr>
              <a:t>Chemicals</a:t>
            </a:r>
            <a:endParaRPr lang="en-US" sz="1150" dirty="0"/>
          </a:p>
        </p:txBody>
      </p:sp>
      <p:sp>
        <p:nvSpPr>
          <p:cNvPr id="15" name="Text 11"/>
          <p:cNvSpPr/>
          <p:nvPr/>
        </p:nvSpPr>
        <p:spPr>
          <a:xfrm>
            <a:off x="438912" y="2404872"/>
            <a:ext cx="2505456" cy="621792"/>
          </a:xfrm>
          <a:prstGeom prst="rect">
            <a:avLst/>
          </a:prstGeom>
          <a:noFill/>
          <a:ln/>
        </p:spPr>
        <p:txBody>
          <a:bodyPr wrap="square" lIns="0" tIns="0" rIns="0" bIns="0" rtlCol="0" anchor="t"/>
          <a:lstStyle/>
          <a:p>
            <a:pPr marL="0" indent="0">
              <a:buNone/>
            </a:pPr>
            <a:r>
              <a:rPr lang="en-US" sz="950" dirty="0">
                <a:solidFill>
                  <a:srgbClr val="5B595A"/>
                </a:solidFill>
                <a:latin typeface="Arial" pitchFamily="34" charset="0"/>
                <a:ea typeface="Arial" pitchFamily="34" charset="-122"/>
                <a:cs typeface="Arial" pitchFamily="34" charset="-120"/>
              </a:rPr>
              <a:t>Solvents, acids, alkalis, adhesives, lubricants, hydraulic fluids, cutting oils</a:t>
            </a:r>
            <a:endParaRPr lang="en-US" sz="950" dirty="0"/>
          </a:p>
        </p:txBody>
      </p:sp>
      <p:sp>
        <p:nvSpPr>
          <p:cNvPr id="16" name="Shape 12"/>
          <p:cNvSpPr/>
          <p:nvPr/>
        </p:nvSpPr>
        <p:spPr>
          <a:xfrm>
            <a:off x="3200400" y="1874520"/>
            <a:ext cx="2688336" cy="1207008"/>
          </a:xfrm>
          <a:prstGeom prst="roundRect">
            <a:avLst>
              <a:gd name="adj" fmla="val 6061"/>
            </a:avLst>
          </a:prstGeom>
          <a:solidFill>
            <a:srgbClr val="F8F8F8"/>
          </a:solidFill>
          <a:ln w="8890">
            <a:solidFill>
              <a:srgbClr val="DDDDDD"/>
            </a:solidFill>
            <a:prstDash val="solid"/>
          </a:ln>
        </p:spPr>
        <p:txBody>
          <a:bodyPr/>
          <a:lstStyle/>
          <a:p>
            <a:endParaRPr lang="en-GB"/>
          </a:p>
        </p:txBody>
      </p:sp>
      <p:sp>
        <p:nvSpPr>
          <p:cNvPr id="17" name="Shape 13"/>
          <p:cNvSpPr/>
          <p:nvPr/>
        </p:nvSpPr>
        <p:spPr>
          <a:xfrm>
            <a:off x="3328416" y="1938528"/>
            <a:ext cx="512064" cy="512064"/>
          </a:xfrm>
          <a:prstGeom prst="ellipse">
            <a:avLst/>
          </a:prstGeom>
          <a:solidFill>
            <a:srgbClr val="C0392B"/>
          </a:solidFill>
          <a:ln w="12700">
            <a:solidFill>
              <a:srgbClr val="C0392B"/>
            </a:solidFill>
            <a:prstDash val="solid"/>
          </a:ln>
        </p:spPr>
        <p:txBody>
          <a:bodyPr/>
          <a:lstStyle/>
          <a:p>
            <a:endParaRPr lang="en-GB"/>
          </a:p>
        </p:txBody>
      </p:sp>
      <p:pic>
        <p:nvPicPr>
          <p:cNvPr id="18" name="Image 2" descr="preencoded.png"/>
          <p:cNvPicPr>
            <a:picLocks noChangeAspect="1"/>
          </p:cNvPicPr>
          <p:nvPr/>
        </p:nvPicPr>
        <p:blipFill>
          <a:blip r:embed="rId5"/>
          <a:stretch>
            <a:fillRect/>
          </a:stretch>
        </p:blipFill>
        <p:spPr>
          <a:xfrm>
            <a:off x="3443630" y="2053742"/>
            <a:ext cx="281635" cy="281635"/>
          </a:xfrm>
          <a:prstGeom prst="rect">
            <a:avLst/>
          </a:prstGeom>
        </p:spPr>
      </p:pic>
      <p:sp>
        <p:nvSpPr>
          <p:cNvPr id="19" name="Text 14"/>
          <p:cNvSpPr/>
          <p:nvPr/>
        </p:nvSpPr>
        <p:spPr>
          <a:xfrm>
            <a:off x="3950208" y="1965960"/>
            <a:ext cx="1828800" cy="402336"/>
          </a:xfrm>
          <a:prstGeom prst="rect">
            <a:avLst/>
          </a:prstGeom>
          <a:noFill/>
          <a:ln/>
        </p:spPr>
        <p:txBody>
          <a:bodyPr wrap="square" lIns="0" tIns="0" rIns="0" bIns="0" rtlCol="0" anchor="ctr"/>
          <a:lstStyle/>
          <a:p>
            <a:pPr marL="0" indent="0">
              <a:buNone/>
            </a:pPr>
            <a:r>
              <a:rPr lang="en-US" sz="1150" b="1" dirty="0">
                <a:solidFill>
                  <a:srgbClr val="C0392B"/>
                </a:solidFill>
                <a:latin typeface="Arial" pitchFamily="34" charset="0"/>
                <a:ea typeface="Arial" pitchFamily="34" charset="-122"/>
                <a:cs typeface="Arial" pitchFamily="34" charset="-120"/>
              </a:rPr>
              <a:t>Dusts &amp; Fumes</a:t>
            </a:r>
            <a:endParaRPr lang="en-US" sz="1150" dirty="0"/>
          </a:p>
        </p:txBody>
      </p:sp>
      <p:sp>
        <p:nvSpPr>
          <p:cNvPr id="20" name="Text 15"/>
          <p:cNvSpPr/>
          <p:nvPr/>
        </p:nvSpPr>
        <p:spPr>
          <a:xfrm>
            <a:off x="3291840" y="2404872"/>
            <a:ext cx="2505456" cy="621792"/>
          </a:xfrm>
          <a:prstGeom prst="rect">
            <a:avLst/>
          </a:prstGeom>
          <a:noFill/>
          <a:ln/>
        </p:spPr>
        <p:txBody>
          <a:bodyPr wrap="square" lIns="0" tIns="0" rIns="0" bIns="0" rtlCol="0" anchor="t"/>
          <a:lstStyle/>
          <a:p>
            <a:pPr marL="0" indent="0">
              <a:buNone/>
            </a:pPr>
            <a:r>
              <a:rPr lang="en-US" sz="950" dirty="0">
                <a:solidFill>
                  <a:srgbClr val="5B595A"/>
                </a:solidFill>
                <a:latin typeface="Arial" pitchFamily="34" charset="0"/>
                <a:ea typeface="Arial" pitchFamily="34" charset="-122"/>
                <a:cs typeface="Arial" pitchFamily="34" charset="-120"/>
              </a:rPr>
              <a:t>Metal dust, wood dust, welding fume, grinding dust, paint mist, flour dust</a:t>
            </a:r>
            <a:endParaRPr lang="en-US" sz="950" dirty="0"/>
          </a:p>
        </p:txBody>
      </p:sp>
      <p:sp>
        <p:nvSpPr>
          <p:cNvPr id="21" name="Shape 16"/>
          <p:cNvSpPr/>
          <p:nvPr/>
        </p:nvSpPr>
        <p:spPr>
          <a:xfrm>
            <a:off x="6053328" y="1874520"/>
            <a:ext cx="2688336" cy="1207008"/>
          </a:xfrm>
          <a:prstGeom prst="roundRect">
            <a:avLst>
              <a:gd name="adj" fmla="val 6061"/>
            </a:avLst>
          </a:prstGeom>
          <a:solidFill>
            <a:srgbClr val="F8F8F8"/>
          </a:solidFill>
          <a:ln w="8890">
            <a:solidFill>
              <a:srgbClr val="DDDDDD"/>
            </a:solidFill>
            <a:prstDash val="solid"/>
          </a:ln>
        </p:spPr>
        <p:txBody>
          <a:bodyPr/>
          <a:lstStyle/>
          <a:p>
            <a:endParaRPr lang="en-GB"/>
          </a:p>
        </p:txBody>
      </p:sp>
      <p:sp>
        <p:nvSpPr>
          <p:cNvPr id="22" name="Shape 17"/>
          <p:cNvSpPr/>
          <p:nvPr/>
        </p:nvSpPr>
        <p:spPr>
          <a:xfrm>
            <a:off x="6181344" y="1938528"/>
            <a:ext cx="512064" cy="512064"/>
          </a:xfrm>
          <a:prstGeom prst="ellipse">
            <a:avLst/>
          </a:prstGeom>
          <a:solidFill>
            <a:srgbClr val="2E8B57"/>
          </a:solidFill>
          <a:ln w="12700">
            <a:solidFill>
              <a:srgbClr val="2E8B57"/>
            </a:solidFill>
            <a:prstDash val="solid"/>
          </a:ln>
        </p:spPr>
        <p:txBody>
          <a:bodyPr/>
          <a:lstStyle/>
          <a:p>
            <a:endParaRPr lang="en-GB"/>
          </a:p>
        </p:txBody>
      </p:sp>
      <p:pic>
        <p:nvPicPr>
          <p:cNvPr id="23" name="Image 3" descr="preencoded.png"/>
          <p:cNvPicPr>
            <a:picLocks noChangeAspect="1"/>
          </p:cNvPicPr>
          <p:nvPr/>
        </p:nvPicPr>
        <p:blipFill>
          <a:blip r:embed="rId6"/>
          <a:stretch>
            <a:fillRect/>
          </a:stretch>
        </p:blipFill>
        <p:spPr>
          <a:xfrm>
            <a:off x="6296558" y="2053742"/>
            <a:ext cx="281635" cy="281635"/>
          </a:xfrm>
          <a:prstGeom prst="rect">
            <a:avLst/>
          </a:prstGeom>
        </p:spPr>
      </p:pic>
      <p:sp>
        <p:nvSpPr>
          <p:cNvPr id="24" name="Text 18"/>
          <p:cNvSpPr/>
          <p:nvPr/>
        </p:nvSpPr>
        <p:spPr>
          <a:xfrm>
            <a:off x="6803136" y="1965960"/>
            <a:ext cx="1828800" cy="402336"/>
          </a:xfrm>
          <a:prstGeom prst="rect">
            <a:avLst/>
          </a:prstGeom>
          <a:noFill/>
          <a:ln/>
        </p:spPr>
        <p:txBody>
          <a:bodyPr wrap="square" lIns="0" tIns="0" rIns="0" bIns="0" rtlCol="0" anchor="ctr"/>
          <a:lstStyle/>
          <a:p>
            <a:pPr marL="0" indent="0">
              <a:buNone/>
            </a:pPr>
            <a:r>
              <a:rPr lang="en-US" sz="1150" b="1" dirty="0">
                <a:solidFill>
                  <a:srgbClr val="2E8B57"/>
                </a:solidFill>
                <a:latin typeface="Arial" pitchFamily="34" charset="0"/>
                <a:ea typeface="Arial" pitchFamily="34" charset="-122"/>
                <a:cs typeface="Arial" pitchFamily="34" charset="-120"/>
              </a:rPr>
              <a:t>Natural substances</a:t>
            </a:r>
            <a:endParaRPr lang="en-US" sz="1150" dirty="0"/>
          </a:p>
        </p:txBody>
      </p:sp>
      <p:sp>
        <p:nvSpPr>
          <p:cNvPr id="25" name="Text 19"/>
          <p:cNvSpPr/>
          <p:nvPr/>
        </p:nvSpPr>
        <p:spPr>
          <a:xfrm>
            <a:off x="6144768" y="2404872"/>
            <a:ext cx="2505456" cy="621792"/>
          </a:xfrm>
          <a:prstGeom prst="rect">
            <a:avLst/>
          </a:prstGeom>
          <a:noFill/>
          <a:ln/>
        </p:spPr>
        <p:txBody>
          <a:bodyPr wrap="square" lIns="0" tIns="0" rIns="0" bIns="0" rtlCol="0" anchor="t"/>
          <a:lstStyle/>
          <a:p>
            <a:pPr marL="0" indent="0">
              <a:buNone/>
            </a:pPr>
            <a:r>
              <a:rPr lang="en-US" sz="950" dirty="0">
                <a:solidFill>
                  <a:srgbClr val="5B595A"/>
                </a:solidFill>
                <a:latin typeface="Arial" pitchFamily="34" charset="0"/>
                <a:ea typeface="Arial" pitchFamily="34" charset="-122"/>
                <a:cs typeface="Arial" pitchFamily="34" charset="-120"/>
              </a:rPr>
              <a:t>Latex, flour, biological agents, mould, animal matter, bacteria in coolant</a:t>
            </a:r>
            <a:endParaRPr lang="en-US" sz="950" dirty="0"/>
          </a:p>
        </p:txBody>
      </p:sp>
      <p:sp>
        <p:nvSpPr>
          <p:cNvPr id="26" name="Shape 20"/>
          <p:cNvSpPr/>
          <p:nvPr/>
        </p:nvSpPr>
        <p:spPr>
          <a:xfrm>
            <a:off x="347472" y="3200400"/>
            <a:ext cx="2688336" cy="1207008"/>
          </a:xfrm>
          <a:prstGeom prst="roundRect">
            <a:avLst>
              <a:gd name="adj" fmla="val 6061"/>
            </a:avLst>
          </a:prstGeom>
          <a:solidFill>
            <a:srgbClr val="F8F8F8"/>
          </a:solidFill>
          <a:ln w="8890">
            <a:solidFill>
              <a:srgbClr val="DDDDDD"/>
            </a:solidFill>
            <a:prstDash val="solid"/>
          </a:ln>
        </p:spPr>
        <p:txBody>
          <a:bodyPr/>
          <a:lstStyle/>
          <a:p>
            <a:endParaRPr lang="en-GB"/>
          </a:p>
        </p:txBody>
      </p:sp>
      <p:sp>
        <p:nvSpPr>
          <p:cNvPr id="27" name="Shape 21"/>
          <p:cNvSpPr/>
          <p:nvPr/>
        </p:nvSpPr>
        <p:spPr>
          <a:xfrm>
            <a:off x="475488" y="3264408"/>
            <a:ext cx="512064" cy="512064"/>
          </a:xfrm>
          <a:prstGeom prst="ellipse">
            <a:avLst/>
          </a:prstGeom>
          <a:solidFill>
            <a:srgbClr val="E08A00"/>
          </a:solidFill>
          <a:ln w="12700">
            <a:solidFill>
              <a:srgbClr val="E08A00"/>
            </a:solidFill>
            <a:prstDash val="solid"/>
          </a:ln>
        </p:spPr>
        <p:txBody>
          <a:bodyPr/>
          <a:lstStyle/>
          <a:p>
            <a:endParaRPr lang="en-GB"/>
          </a:p>
        </p:txBody>
      </p:sp>
      <p:pic>
        <p:nvPicPr>
          <p:cNvPr id="28" name="Image 4" descr="preencoded.png"/>
          <p:cNvPicPr>
            <a:picLocks noChangeAspect="1"/>
          </p:cNvPicPr>
          <p:nvPr/>
        </p:nvPicPr>
        <p:blipFill>
          <a:blip r:embed="rId7"/>
          <a:stretch>
            <a:fillRect/>
          </a:stretch>
        </p:blipFill>
        <p:spPr>
          <a:xfrm>
            <a:off x="590702" y="3379622"/>
            <a:ext cx="281635" cy="281635"/>
          </a:xfrm>
          <a:prstGeom prst="rect">
            <a:avLst/>
          </a:prstGeom>
        </p:spPr>
      </p:pic>
      <p:sp>
        <p:nvSpPr>
          <p:cNvPr id="29" name="Text 22"/>
          <p:cNvSpPr/>
          <p:nvPr/>
        </p:nvSpPr>
        <p:spPr>
          <a:xfrm>
            <a:off x="1097280" y="3291840"/>
            <a:ext cx="1828800" cy="402336"/>
          </a:xfrm>
          <a:prstGeom prst="rect">
            <a:avLst/>
          </a:prstGeom>
          <a:noFill/>
          <a:ln/>
        </p:spPr>
        <p:txBody>
          <a:bodyPr wrap="square" lIns="0" tIns="0" rIns="0" bIns="0" rtlCol="0" anchor="ctr"/>
          <a:lstStyle/>
          <a:p>
            <a:pPr marL="0" indent="0">
              <a:buNone/>
            </a:pPr>
            <a:r>
              <a:rPr lang="en-US" sz="1150" b="1" dirty="0">
                <a:solidFill>
                  <a:srgbClr val="E08A00"/>
                </a:solidFill>
                <a:latin typeface="Arial" pitchFamily="34" charset="0"/>
                <a:ea typeface="Arial" pitchFamily="34" charset="-122"/>
                <a:cs typeface="Arial" pitchFamily="34" charset="-120"/>
              </a:rPr>
              <a:t>Biological agents</a:t>
            </a:r>
            <a:endParaRPr lang="en-US" sz="1150" dirty="0"/>
          </a:p>
        </p:txBody>
      </p:sp>
      <p:sp>
        <p:nvSpPr>
          <p:cNvPr id="30" name="Text 23"/>
          <p:cNvSpPr/>
          <p:nvPr/>
        </p:nvSpPr>
        <p:spPr>
          <a:xfrm>
            <a:off x="438912" y="3730752"/>
            <a:ext cx="2505456" cy="621792"/>
          </a:xfrm>
          <a:prstGeom prst="rect">
            <a:avLst/>
          </a:prstGeom>
          <a:noFill/>
          <a:ln/>
        </p:spPr>
        <p:txBody>
          <a:bodyPr wrap="square" lIns="0" tIns="0" rIns="0" bIns="0" rtlCol="0" anchor="t"/>
          <a:lstStyle/>
          <a:p>
            <a:pPr marL="0" indent="0">
              <a:buNone/>
            </a:pPr>
            <a:r>
              <a:rPr lang="en-US" sz="950" dirty="0">
                <a:solidFill>
                  <a:srgbClr val="5B595A"/>
                </a:solidFill>
                <a:latin typeface="Arial" pitchFamily="34" charset="0"/>
                <a:ea typeface="Arial" pitchFamily="34" charset="-122"/>
                <a:cs typeface="Arial" pitchFamily="34" charset="-120"/>
              </a:rPr>
              <a:t>Legionella in water systems, MWF bacteria, blood-borne viruses if first aiding</a:t>
            </a:r>
            <a:endParaRPr lang="en-US" sz="950" dirty="0"/>
          </a:p>
        </p:txBody>
      </p:sp>
      <p:sp>
        <p:nvSpPr>
          <p:cNvPr id="31" name="Shape 24"/>
          <p:cNvSpPr/>
          <p:nvPr/>
        </p:nvSpPr>
        <p:spPr>
          <a:xfrm>
            <a:off x="3200400" y="3200400"/>
            <a:ext cx="2688336" cy="1207008"/>
          </a:xfrm>
          <a:prstGeom prst="roundRect">
            <a:avLst>
              <a:gd name="adj" fmla="val 6061"/>
            </a:avLst>
          </a:prstGeom>
          <a:solidFill>
            <a:srgbClr val="F8F8F8"/>
          </a:solidFill>
          <a:ln w="8890">
            <a:solidFill>
              <a:srgbClr val="DDDDDD"/>
            </a:solidFill>
            <a:prstDash val="solid"/>
          </a:ln>
        </p:spPr>
        <p:txBody>
          <a:bodyPr/>
          <a:lstStyle/>
          <a:p>
            <a:endParaRPr lang="en-GB"/>
          </a:p>
        </p:txBody>
      </p:sp>
      <p:sp>
        <p:nvSpPr>
          <p:cNvPr id="32" name="Shape 25"/>
          <p:cNvSpPr/>
          <p:nvPr/>
        </p:nvSpPr>
        <p:spPr>
          <a:xfrm>
            <a:off x="3328416" y="3264408"/>
            <a:ext cx="512064" cy="512064"/>
          </a:xfrm>
          <a:prstGeom prst="ellipse">
            <a:avLst/>
          </a:prstGeom>
          <a:solidFill>
            <a:srgbClr val="006FAA"/>
          </a:solidFill>
          <a:ln w="12700">
            <a:solidFill>
              <a:srgbClr val="006FAA"/>
            </a:solidFill>
            <a:prstDash val="solid"/>
          </a:ln>
        </p:spPr>
        <p:txBody>
          <a:bodyPr/>
          <a:lstStyle/>
          <a:p>
            <a:endParaRPr lang="en-GB"/>
          </a:p>
        </p:txBody>
      </p:sp>
      <p:pic>
        <p:nvPicPr>
          <p:cNvPr id="33" name="Image 5" descr="preencoded.png"/>
          <p:cNvPicPr>
            <a:picLocks noChangeAspect="1"/>
          </p:cNvPicPr>
          <p:nvPr/>
        </p:nvPicPr>
        <p:blipFill>
          <a:blip r:embed="rId8"/>
          <a:stretch>
            <a:fillRect/>
          </a:stretch>
        </p:blipFill>
        <p:spPr>
          <a:xfrm>
            <a:off x="3443630" y="3379622"/>
            <a:ext cx="281635" cy="281635"/>
          </a:xfrm>
          <a:prstGeom prst="rect">
            <a:avLst/>
          </a:prstGeom>
        </p:spPr>
      </p:pic>
      <p:sp>
        <p:nvSpPr>
          <p:cNvPr id="34" name="Text 26"/>
          <p:cNvSpPr/>
          <p:nvPr/>
        </p:nvSpPr>
        <p:spPr>
          <a:xfrm>
            <a:off x="3950208" y="3291840"/>
            <a:ext cx="1828800" cy="402336"/>
          </a:xfrm>
          <a:prstGeom prst="rect">
            <a:avLst/>
          </a:prstGeom>
          <a:noFill/>
          <a:ln/>
        </p:spPr>
        <p:txBody>
          <a:bodyPr wrap="square" lIns="0" tIns="0" rIns="0" bIns="0" rtlCol="0" anchor="ctr"/>
          <a:lstStyle/>
          <a:p>
            <a:pPr marL="0" indent="0">
              <a:buNone/>
            </a:pPr>
            <a:r>
              <a:rPr lang="en-US" sz="1150" b="1" dirty="0">
                <a:solidFill>
                  <a:srgbClr val="006FAA"/>
                </a:solidFill>
                <a:latin typeface="Arial" pitchFamily="34" charset="0"/>
                <a:ea typeface="Arial" pitchFamily="34" charset="-122"/>
                <a:cs typeface="Arial" pitchFamily="34" charset="-120"/>
              </a:rPr>
              <a:t>Nanomaterials</a:t>
            </a:r>
            <a:endParaRPr lang="en-US" sz="1150" dirty="0"/>
          </a:p>
        </p:txBody>
      </p:sp>
      <p:sp>
        <p:nvSpPr>
          <p:cNvPr id="35" name="Text 27"/>
          <p:cNvSpPr/>
          <p:nvPr/>
        </p:nvSpPr>
        <p:spPr>
          <a:xfrm>
            <a:off x="3291840" y="3730752"/>
            <a:ext cx="2505456" cy="621792"/>
          </a:xfrm>
          <a:prstGeom prst="rect">
            <a:avLst/>
          </a:prstGeom>
          <a:noFill/>
          <a:ln/>
        </p:spPr>
        <p:txBody>
          <a:bodyPr wrap="square" lIns="0" tIns="0" rIns="0" bIns="0" rtlCol="0" anchor="t"/>
          <a:lstStyle/>
          <a:p>
            <a:pPr marL="0" indent="0">
              <a:buNone/>
            </a:pPr>
            <a:r>
              <a:rPr lang="en-US" sz="950" dirty="0">
                <a:solidFill>
                  <a:srgbClr val="5B595A"/>
                </a:solidFill>
                <a:latin typeface="Arial" pitchFamily="34" charset="0"/>
                <a:ea typeface="Arial" pitchFamily="34" charset="-122"/>
                <a:cs typeface="Arial" pitchFamily="34" charset="-120"/>
              </a:rPr>
              <a:t>Some advanced manufacturing processes generate nano-scale particles with unknown health effects</a:t>
            </a:r>
            <a:endParaRPr lang="en-US" sz="950" dirty="0"/>
          </a:p>
        </p:txBody>
      </p:sp>
      <p:sp>
        <p:nvSpPr>
          <p:cNvPr id="36" name="Shape 28"/>
          <p:cNvSpPr/>
          <p:nvPr/>
        </p:nvSpPr>
        <p:spPr>
          <a:xfrm>
            <a:off x="6053328" y="3200400"/>
            <a:ext cx="2688336" cy="1207008"/>
          </a:xfrm>
          <a:prstGeom prst="roundRect">
            <a:avLst>
              <a:gd name="adj" fmla="val 6061"/>
            </a:avLst>
          </a:prstGeom>
          <a:solidFill>
            <a:srgbClr val="F8F8F8"/>
          </a:solidFill>
          <a:ln w="8890">
            <a:solidFill>
              <a:srgbClr val="DDDDDD"/>
            </a:solidFill>
            <a:prstDash val="solid"/>
          </a:ln>
        </p:spPr>
        <p:txBody>
          <a:bodyPr/>
          <a:lstStyle/>
          <a:p>
            <a:endParaRPr lang="en-GB"/>
          </a:p>
        </p:txBody>
      </p:sp>
      <p:sp>
        <p:nvSpPr>
          <p:cNvPr id="37" name="Shape 29"/>
          <p:cNvSpPr/>
          <p:nvPr/>
        </p:nvSpPr>
        <p:spPr>
          <a:xfrm>
            <a:off x="6181344" y="3264408"/>
            <a:ext cx="512064" cy="512064"/>
          </a:xfrm>
          <a:prstGeom prst="ellipse">
            <a:avLst/>
          </a:prstGeom>
          <a:solidFill>
            <a:srgbClr val="5B595A"/>
          </a:solidFill>
          <a:ln w="12700">
            <a:solidFill>
              <a:srgbClr val="5B595A"/>
            </a:solidFill>
            <a:prstDash val="solid"/>
          </a:ln>
        </p:spPr>
        <p:txBody>
          <a:bodyPr/>
          <a:lstStyle/>
          <a:p>
            <a:endParaRPr lang="en-GB"/>
          </a:p>
        </p:txBody>
      </p:sp>
      <p:pic>
        <p:nvPicPr>
          <p:cNvPr id="38" name="Image 6" descr="preencoded.png"/>
          <p:cNvPicPr>
            <a:picLocks noChangeAspect="1"/>
          </p:cNvPicPr>
          <p:nvPr/>
        </p:nvPicPr>
        <p:blipFill>
          <a:blip r:embed="rId9"/>
          <a:stretch>
            <a:fillRect/>
          </a:stretch>
        </p:blipFill>
        <p:spPr>
          <a:xfrm>
            <a:off x="6296558" y="3379622"/>
            <a:ext cx="281635" cy="281635"/>
          </a:xfrm>
          <a:prstGeom prst="rect">
            <a:avLst/>
          </a:prstGeom>
        </p:spPr>
      </p:pic>
      <p:sp>
        <p:nvSpPr>
          <p:cNvPr id="39" name="Text 30"/>
          <p:cNvSpPr/>
          <p:nvPr/>
        </p:nvSpPr>
        <p:spPr>
          <a:xfrm>
            <a:off x="6803136" y="3291840"/>
            <a:ext cx="1828800" cy="402336"/>
          </a:xfrm>
          <a:prstGeom prst="rect">
            <a:avLst/>
          </a:prstGeom>
          <a:noFill/>
          <a:ln/>
        </p:spPr>
        <p:txBody>
          <a:bodyPr wrap="square" lIns="0" tIns="0" rIns="0" bIns="0" rtlCol="0" anchor="ctr"/>
          <a:lstStyle/>
          <a:p>
            <a:pPr marL="0" indent="0">
              <a:buNone/>
            </a:pPr>
            <a:r>
              <a:rPr lang="en-US" sz="1150" b="1" dirty="0">
                <a:solidFill>
                  <a:srgbClr val="5B595A"/>
                </a:solidFill>
                <a:latin typeface="Arial" pitchFamily="34" charset="0"/>
                <a:ea typeface="Arial" pitchFamily="34" charset="-122"/>
                <a:cs typeface="Arial" pitchFamily="34" charset="-120"/>
              </a:rPr>
              <a:t>Carcinogens</a:t>
            </a:r>
            <a:endParaRPr lang="en-US" sz="1150" dirty="0"/>
          </a:p>
        </p:txBody>
      </p:sp>
      <p:sp>
        <p:nvSpPr>
          <p:cNvPr id="40" name="Text 31"/>
          <p:cNvSpPr/>
          <p:nvPr/>
        </p:nvSpPr>
        <p:spPr>
          <a:xfrm>
            <a:off x="6144768" y="3730752"/>
            <a:ext cx="2505456" cy="621792"/>
          </a:xfrm>
          <a:prstGeom prst="rect">
            <a:avLst/>
          </a:prstGeom>
          <a:noFill/>
          <a:ln/>
        </p:spPr>
        <p:txBody>
          <a:bodyPr wrap="square" lIns="0" tIns="0" rIns="0" bIns="0" rtlCol="0" anchor="t"/>
          <a:lstStyle/>
          <a:p>
            <a:pPr marL="0" indent="0">
              <a:buNone/>
            </a:pPr>
            <a:r>
              <a:rPr lang="en-US" sz="950" dirty="0">
                <a:solidFill>
                  <a:srgbClr val="5B595A"/>
                </a:solidFill>
                <a:latin typeface="Arial" pitchFamily="34" charset="0"/>
                <a:ea typeface="Arial" pitchFamily="34" charset="-122"/>
                <a:cs typeface="Arial" pitchFamily="34" charset="-120"/>
              </a:rPr>
              <a:t>Welding fume (Group 1), hardwood dust, mineral oils (prolonged skin contact), silica dust</a:t>
            </a:r>
            <a:endParaRPr lang="en-US" sz="950" dirty="0"/>
          </a:p>
        </p:txBody>
      </p:sp>
      <p:sp>
        <p:nvSpPr>
          <p:cNvPr id="41" name="Rectangle 4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11"/>
          <a:stretch>
            <a:fillRect/>
          </a:stretch>
        </p:blipFill>
        <p:spPr>
          <a:xfrm>
            <a:off x="7562088" y="100584"/>
            <a:ext cx="566928" cy="347472"/>
          </a:xfrm>
          <a:prstGeom prst="rect">
            <a:avLst/>
          </a:prstGeom>
        </p:spPr>
      </p:pic>
      <p:pic>
        <p:nvPicPr>
          <p:cNvPr id="43" name="Picture 42" descr="image.png"/>
          <p:cNvPicPr>
            <a:picLocks noChangeAspect="1"/>
          </p:cNvPicPr>
          <p:nvPr/>
        </p:nvPicPr>
        <p:blipFill>
          <a:blip r:embed="rId10"/>
          <a:stretch>
            <a:fillRect/>
          </a:stretch>
        </p:blipFill>
        <p:spPr>
          <a:xfrm>
            <a:off x="8174736" y="100584"/>
            <a:ext cx="658368" cy="347472"/>
          </a:xfrm>
          <a:prstGeom prst="rect">
            <a:avLst/>
          </a:prstGeom>
        </p:spPr>
      </p:pic>
      <p:sp>
        <p:nvSpPr>
          <p:cNvPr id="44" name="Rectangle 4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Routes of Entry</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How Hazardous Substances Enter Your Body</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475488"/>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Understanding how substances enter the body is essential to understanding why the correct controls matter. A substance cannot harm you unless it gets inside you. The four routes below are the primary entry points in a manufacturing environment.</a:t>
            </a:r>
            <a:endParaRPr lang="en-US" sz="1300" dirty="0"/>
          </a:p>
        </p:txBody>
      </p:sp>
      <p:sp>
        <p:nvSpPr>
          <p:cNvPr id="11" name="Shape 8"/>
          <p:cNvSpPr/>
          <p:nvPr/>
        </p:nvSpPr>
        <p:spPr>
          <a:xfrm>
            <a:off x="347472" y="1938528"/>
            <a:ext cx="2011680" cy="402336"/>
          </a:xfrm>
          <a:prstGeom prst="rect">
            <a:avLst/>
          </a:prstGeom>
          <a:solidFill>
            <a:srgbClr val="83348F"/>
          </a:solidFill>
          <a:ln w="12700">
            <a:solidFill>
              <a:srgbClr val="83348F"/>
            </a:solidFill>
            <a:prstDash val="solid"/>
          </a:ln>
        </p:spPr>
        <p:txBody>
          <a:bodyPr/>
          <a:lstStyle/>
          <a:p>
            <a:endParaRPr lang="en-GB"/>
          </a:p>
        </p:txBody>
      </p:sp>
      <p:pic>
        <p:nvPicPr>
          <p:cNvPr id="12" name="Image 1" descr="preencoded.png"/>
          <p:cNvPicPr>
            <a:picLocks noChangeAspect="1"/>
          </p:cNvPicPr>
          <p:nvPr/>
        </p:nvPicPr>
        <p:blipFill>
          <a:blip r:embed="rId4"/>
          <a:stretch>
            <a:fillRect/>
          </a:stretch>
        </p:blipFill>
        <p:spPr>
          <a:xfrm>
            <a:off x="420624" y="1956816"/>
            <a:ext cx="292608" cy="292608"/>
          </a:xfrm>
          <a:prstGeom prst="rect">
            <a:avLst/>
          </a:prstGeom>
        </p:spPr>
      </p:pic>
      <p:sp>
        <p:nvSpPr>
          <p:cNvPr id="13" name="Text 9"/>
          <p:cNvSpPr/>
          <p:nvPr/>
        </p:nvSpPr>
        <p:spPr>
          <a:xfrm>
            <a:off x="768096" y="1956816"/>
            <a:ext cx="1481328"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Inhalation</a:t>
            </a:r>
            <a:endParaRPr lang="en-US" sz="1150" dirty="0"/>
          </a:p>
        </p:txBody>
      </p:sp>
      <p:sp>
        <p:nvSpPr>
          <p:cNvPr id="14" name="Text 10"/>
          <p:cNvSpPr/>
          <p:nvPr/>
        </p:nvSpPr>
        <p:spPr>
          <a:xfrm>
            <a:off x="768096" y="2176272"/>
            <a:ext cx="1481328" cy="182880"/>
          </a:xfrm>
          <a:prstGeom prst="rect">
            <a:avLst/>
          </a:prstGeom>
          <a:noFill/>
          <a:ln/>
        </p:spPr>
        <p:txBody>
          <a:bodyPr wrap="square" lIns="0" tIns="0" rIns="0" bIns="0" rtlCol="0" anchor="ctr"/>
          <a:lstStyle/>
          <a:p>
            <a:pPr marL="0" indent="0">
              <a:buNone/>
            </a:pPr>
            <a:r>
              <a:rPr lang="en-US" sz="900" i="1" dirty="0">
                <a:solidFill>
                  <a:srgbClr val="FFFFFF"/>
                </a:solidFill>
                <a:latin typeface="Arial" pitchFamily="34" charset="0"/>
                <a:ea typeface="Arial" pitchFamily="34" charset="-122"/>
                <a:cs typeface="Arial" pitchFamily="34" charset="-120"/>
              </a:rPr>
              <a:t>Breathing in</a:t>
            </a:r>
            <a:endParaRPr lang="en-US" sz="900" dirty="0"/>
          </a:p>
        </p:txBody>
      </p:sp>
      <p:sp>
        <p:nvSpPr>
          <p:cNvPr id="15" name="Text 11"/>
          <p:cNvSpPr/>
          <p:nvPr/>
        </p:nvSpPr>
        <p:spPr>
          <a:xfrm>
            <a:off x="347472" y="2340864"/>
            <a:ext cx="2011680" cy="329184"/>
          </a:xfrm>
          <a:prstGeom prst="rect">
            <a:avLst/>
          </a:prstGeom>
          <a:noFill/>
          <a:ln/>
        </p:spPr>
        <p:txBody>
          <a:bodyPr wrap="square" lIns="0" tIns="0" rIns="0" bIns="0" rtlCol="0" anchor="ctr"/>
          <a:lstStyle/>
          <a:p>
            <a:pPr marL="0" indent="0" algn="ctr">
              <a:buNone/>
            </a:pPr>
            <a:r>
              <a:rPr lang="en-US" sz="1800" b="1" dirty="0">
                <a:solidFill>
                  <a:srgbClr val="83348F"/>
                </a:solidFill>
                <a:latin typeface="Cambria" pitchFamily="34" charset="0"/>
                <a:ea typeface="Cambria" pitchFamily="34" charset="-122"/>
                <a:cs typeface="Cambria" pitchFamily="34" charset="-120"/>
              </a:rPr>
              <a:t>~80%</a:t>
            </a:r>
            <a:endParaRPr lang="en-US" sz="1800" dirty="0"/>
          </a:p>
        </p:txBody>
      </p:sp>
      <p:sp>
        <p:nvSpPr>
          <p:cNvPr id="16" name="Text 12"/>
          <p:cNvSpPr/>
          <p:nvPr/>
        </p:nvSpPr>
        <p:spPr>
          <a:xfrm>
            <a:off x="347472" y="2633472"/>
            <a:ext cx="2011680" cy="182880"/>
          </a:xfrm>
          <a:prstGeom prst="rect">
            <a:avLst/>
          </a:prstGeom>
          <a:noFill/>
          <a:ln/>
        </p:spPr>
        <p:txBody>
          <a:bodyPr wrap="square" lIns="0" tIns="0" rIns="0" bIns="0"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of cases</a:t>
            </a:r>
            <a:endParaRPr lang="en-US" sz="900" dirty="0"/>
          </a:p>
        </p:txBody>
      </p:sp>
      <p:sp>
        <p:nvSpPr>
          <p:cNvPr id="17" name="Shape 13"/>
          <p:cNvSpPr/>
          <p:nvPr/>
        </p:nvSpPr>
        <p:spPr>
          <a:xfrm>
            <a:off x="347472" y="2788920"/>
            <a:ext cx="2011680" cy="2057400"/>
          </a:xfrm>
          <a:prstGeom prst="rect">
            <a:avLst/>
          </a:prstGeom>
          <a:solidFill>
            <a:srgbClr val="F8F8F8"/>
          </a:solidFill>
          <a:ln w="6350">
            <a:solidFill>
              <a:srgbClr val="DDDDDD"/>
            </a:solidFill>
            <a:prstDash val="solid"/>
          </a:ln>
        </p:spPr>
        <p:txBody>
          <a:bodyPr/>
          <a:lstStyle/>
          <a:p>
            <a:endParaRPr lang="en-GB"/>
          </a:p>
        </p:txBody>
      </p:sp>
      <p:sp>
        <p:nvSpPr>
          <p:cNvPr id="18" name="Text 14"/>
          <p:cNvSpPr/>
          <p:nvPr/>
        </p:nvSpPr>
        <p:spPr>
          <a:xfrm>
            <a:off x="438912" y="2834640"/>
            <a:ext cx="1828800" cy="1938528"/>
          </a:xfrm>
          <a:prstGeom prst="rect">
            <a:avLst/>
          </a:prstGeom>
          <a:noFill/>
          <a:ln/>
        </p:spPr>
        <p:txBody>
          <a:bodyPr wrap="square" lIns="0" tIns="0" rIns="0" bIns="0" rtlCol="0" anchor="t"/>
          <a:lstStyle/>
          <a:p>
            <a:pPr marL="0" indent="0">
              <a:buNone/>
            </a:pPr>
            <a:r>
              <a:rPr lang="en-US" sz="1050" dirty="0">
                <a:solidFill>
                  <a:srgbClr val="5B595A"/>
                </a:solidFill>
                <a:latin typeface="Arial" pitchFamily="34" charset="0"/>
                <a:ea typeface="Arial" pitchFamily="34" charset="-122"/>
                <a:cs typeface="Arial" pitchFamily="34" charset="-120"/>
              </a:rPr>
              <a:t>By far the most common route in manufacturing. Vapours, fumes, mists, dusts, and gases are inhaled directly into the lungs. Effects can be immediate (irritation, dizziness) or develop over years (asthma, fibrosis, cancer).</a:t>
            </a:r>
            <a:endParaRPr lang="en-US" sz="1050" dirty="0"/>
          </a:p>
        </p:txBody>
      </p:sp>
      <p:sp>
        <p:nvSpPr>
          <p:cNvPr id="19" name="Shape 15"/>
          <p:cNvSpPr/>
          <p:nvPr/>
        </p:nvSpPr>
        <p:spPr>
          <a:xfrm>
            <a:off x="2523744" y="1938528"/>
            <a:ext cx="2011680" cy="402336"/>
          </a:xfrm>
          <a:prstGeom prst="rect">
            <a:avLst/>
          </a:prstGeom>
          <a:solidFill>
            <a:srgbClr val="009FE3"/>
          </a:solidFill>
          <a:ln w="12700">
            <a:solidFill>
              <a:srgbClr val="009FE3"/>
            </a:solidFill>
            <a:prstDash val="solid"/>
          </a:ln>
        </p:spPr>
        <p:txBody>
          <a:bodyPr/>
          <a:lstStyle/>
          <a:p>
            <a:endParaRPr lang="en-GB"/>
          </a:p>
        </p:txBody>
      </p:sp>
      <p:pic>
        <p:nvPicPr>
          <p:cNvPr id="20" name="Image 2" descr="preencoded.png"/>
          <p:cNvPicPr>
            <a:picLocks noChangeAspect="1"/>
          </p:cNvPicPr>
          <p:nvPr/>
        </p:nvPicPr>
        <p:blipFill>
          <a:blip r:embed="rId5"/>
          <a:stretch>
            <a:fillRect/>
          </a:stretch>
        </p:blipFill>
        <p:spPr>
          <a:xfrm>
            <a:off x="2596896" y="1956816"/>
            <a:ext cx="292608" cy="292608"/>
          </a:xfrm>
          <a:prstGeom prst="rect">
            <a:avLst/>
          </a:prstGeom>
        </p:spPr>
      </p:pic>
      <p:sp>
        <p:nvSpPr>
          <p:cNvPr id="21" name="Text 16"/>
          <p:cNvSpPr/>
          <p:nvPr/>
        </p:nvSpPr>
        <p:spPr>
          <a:xfrm>
            <a:off x="2944368" y="1956816"/>
            <a:ext cx="1481328"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Skin Absorption</a:t>
            </a:r>
            <a:endParaRPr lang="en-US" sz="1150" dirty="0"/>
          </a:p>
        </p:txBody>
      </p:sp>
      <p:sp>
        <p:nvSpPr>
          <p:cNvPr id="22" name="Text 17"/>
          <p:cNvSpPr/>
          <p:nvPr/>
        </p:nvSpPr>
        <p:spPr>
          <a:xfrm>
            <a:off x="2944368" y="2176272"/>
            <a:ext cx="1481328" cy="182880"/>
          </a:xfrm>
          <a:prstGeom prst="rect">
            <a:avLst/>
          </a:prstGeom>
          <a:noFill/>
          <a:ln/>
        </p:spPr>
        <p:txBody>
          <a:bodyPr wrap="square" lIns="0" tIns="0" rIns="0" bIns="0" rtlCol="0" anchor="ctr"/>
          <a:lstStyle/>
          <a:p>
            <a:pPr marL="0" indent="0">
              <a:buNone/>
            </a:pPr>
            <a:r>
              <a:rPr lang="en-US" sz="900" i="1" dirty="0">
                <a:solidFill>
                  <a:srgbClr val="FFFFFF"/>
                </a:solidFill>
                <a:latin typeface="Arial" pitchFamily="34" charset="0"/>
                <a:ea typeface="Arial" pitchFamily="34" charset="-122"/>
                <a:cs typeface="Arial" pitchFamily="34" charset="-120"/>
              </a:rPr>
              <a:t>Through the skin</a:t>
            </a:r>
            <a:endParaRPr lang="en-US" sz="900" dirty="0"/>
          </a:p>
        </p:txBody>
      </p:sp>
      <p:sp>
        <p:nvSpPr>
          <p:cNvPr id="23" name="Text 18"/>
          <p:cNvSpPr/>
          <p:nvPr/>
        </p:nvSpPr>
        <p:spPr>
          <a:xfrm>
            <a:off x="2523744" y="2340864"/>
            <a:ext cx="2011680" cy="329184"/>
          </a:xfrm>
          <a:prstGeom prst="rect">
            <a:avLst/>
          </a:prstGeom>
          <a:noFill/>
          <a:ln/>
        </p:spPr>
        <p:txBody>
          <a:bodyPr wrap="square" lIns="0" tIns="0" rIns="0" bIns="0" rtlCol="0" anchor="ctr"/>
          <a:lstStyle/>
          <a:p>
            <a:pPr marL="0" indent="0" algn="ctr">
              <a:buNone/>
            </a:pPr>
            <a:r>
              <a:rPr lang="en-US" sz="1800" b="1" dirty="0">
                <a:solidFill>
                  <a:srgbClr val="009FE3"/>
                </a:solidFill>
                <a:latin typeface="Cambria" pitchFamily="34" charset="0"/>
                <a:ea typeface="Cambria" pitchFamily="34" charset="-122"/>
                <a:cs typeface="Cambria" pitchFamily="34" charset="-120"/>
              </a:rPr>
              <a:t>~15%</a:t>
            </a:r>
            <a:endParaRPr lang="en-US" sz="1800" dirty="0"/>
          </a:p>
        </p:txBody>
      </p:sp>
      <p:sp>
        <p:nvSpPr>
          <p:cNvPr id="24" name="Text 19"/>
          <p:cNvSpPr/>
          <p:nvPr/>
        </p:nvSpPr>
        <p:spPr>
          <a:xfrm>
            <a:off x="2523744" y="2633472"/>
            <a:ext cx="2011680" cy="182880"/>
          </a:xfrm>
          <a:prstGeom prst="rect">
            <a:avLst/>
          </a:prstGeom>
          <a:noFill/>
          <a:ln/>
        </p:spPr>
        <p:txBody>
          <a:bodyPr wrap="square" lIns="0" tIns="0" rIns="0" bIns="0"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of cases</a:t>
            </a:r>
            <a:endParaRPr lang="en-US" sz="900" dirty="0"/>
          </a:p>
        </p:txBody>
      </p:sp>
      <p:sp>
        <p:nvSpPr>
          <p:cNvPr id="25" name="Shape 20"/>
          <p:cNvSpPr/>
          <p:nvPr/>
        </p:nvSpPr>
        <p:spPr>
          <a:xfrm>
            <a:off x="2523744" y="2788920"/>
            <a:ext cx="2011680" cy="2057400"/>
          </a:xfrm>
          <a:prstGeom prst="rect">
            <a:avLst/>
          </a:prstGeom>
          <a:solidFill>
            <a:srgbClr val="F8F8F8"/>
          </a:solidFill>
          <a:ln w="6350">
            <a:solidFill>
              <a:srgbClr val="DDDDDD"/>
            </a:solidFill>
            <a:prstDash val="solid"/>
          </a:ln>
        </p:spPr>
        <p:txBody>
          <a:bodyPr/>
          <a:lstStyle/>
          <a:p>
            <a:endParaRPr lang="en-GB"/>
          </a:p>
        </p:txBody>
      </p:sp>
      <p:sp>
        <p:nvSpPr>
          <p:cNvPr id="26" name="Text 21"/>
          <p:cNvSpPr/>
          <p:nvPr/>
        </p:nvSpPr>
        <p:spPr>
          <a:xfrm>
            <a:off x="2615184" y="2834640"/>
            <a:ext cx="1828800" cy="1938528"/>
          </a:xfrm>
          <a:prstGeom prst="rect">
            <a:avLst/>
          </a:prstGeom>
          <a:noFill/>
          <a:ln/>
        </p:spPr>
        <p:txBody>
          <a:bodyPr wrap="square" lIns="0" tIns="0" rIns="0" bIns="0" rtlCol="0" anchor="t"/>
          <a:lstStyle/>
          <a:p>
            <a:pPr marL="0" indent="0">
              <a:buNone/>
            </a:pPr>
            <a:r>
              <a:rPr lang="en-US" sz="1050" dirty="0">
                <a:solidFill>
                  <a:srgbClr val="5B595A"/>
                </a:solidFill>
                <a:latin typeface="Arial" pitchFamily="34" charset="0"/>
                <a:ea typeface="Arial" pitchFamily="34" charset="-122"/>
                <a:cs typeface="Arial" pitchFamily="34" charset="-120"/>
              </a:rPr>
              <a:t>Many solvents and chemicals pass directly through the skin without any visible sign of entry. Repeated skin contact with cutting fluids causes dermatitis. Organic solvents can pass through to the bloodstream.</a:t>
            </a:r>
            <a:endParaRPr lang="en-US" sz="1050" dirty="0"/>
          </a:p>
        </p:txBody>
      </p:sp>
      <p:sp>
        <p:nvSpPr>
          <p:cNvPr id="27" name="Shape 22"/>
          <p:cNvSpPr/>
          <p:nvPr/>
        </p:nvSpPr>
        <p:spPr>
          <a:xfrm>
            <a:off x="4700016" y="1938528"/>
            <a:ext cx="2011680" cy="402336"/>
          </a:xfrm>
          <a:prstGeom prst="rect">
            <a:avLst/>
          </a:prstGeom>
          <a:solidFill>
            <a:srgbClr val="E08A00"/>
          </a:solidFill>
          <a:ln w="12700">
            <a:solidFill>
              <a:srgbClr val="E08A00"/>
            </a:solidFill>
            <a:prstDash val="solid"/>
          </a:ln>
        </p:spPr>
        <p:txBody>
          <a:bodyPr/>
          <a:lstStyle/>
          <a:p>
            <a:endParaRPr lang="en-GB"/>
          </a:p>
        </p:txBody>
      </p:sp>
      <p:pic>
        <p:nvPicPr>
          <p:cNvPr id="28" name="Image 3" descr="preencoded.png"/>
          <p:cNvPicPr>
            <a:picLocks noChangeAspect="1"/>
          </p:cNvPicPr>
          <p:nvPr/>
        </p:nvPicPr>
        <p:blipFill>
          <a:blip r:embed="rId6"/>
          <a:stretch>
            <a:fillRect/>
          </a:stretch>
        </p:blipFill>
        <p:spPr>
          <a:xfrm>
            <a:off x="4773168" y="1956816"/>
            <a:ext cx="292608" cy="292608"/>
          </a:xfrm>
          <a:prstGeom prst="rect">
            <a:avLst/>
          </a:prstGeom>
        </p:spPr>
      </p:pic>
      <p:sp>
        <p:nvSpPr>
          <p:cNvPr id="29" name="Text 23"/>
          <p:cNvSpPr/>
          <p:nvPr/>
        </p:nvSpPr>
        <p:spPr>
          <a:xfrm>
            <a:off x="5120640" y="1956816"/>
            <a:ext cx="1481328"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Eye Contact</a:t>
            </a:r>
            <a:endParaRPr lang="en-US" sz="1150" dirty="0"/>
          </a:p>
        </p:txBody>
      </p:sp>
      <p:sp>
        <p:nvSpPr>
          <p:cNvPr id="30" name="Text 24"/>
          <p:cNvSpPr/>
          <p:nvPr/>
        </p:nvSpPr>
        <p:spPr>
          <a:xfrm>
            <a:off x="5120640" y="2176272"/>
            <a:ext cx="1481328" cy="182880"/>
          </a:xfrm>
          <a:prstGeom prst="rect">
            <a:avLst/>
          </a:prstGeom>
          <a:noFill/>
          <a:ln/>
        </p:spPr>
        <p:txBody>
          <a:bodyPr wrap="square" lIns="0" tIns="0" rIns="0" bIns="0" rtlCol="0" anchor="ctr"/>
          <a:lstStyle/>
          <a:p>
            <a:pPr marL="0" indent="0">
              <a:buNone/>
            </a:pPr>
            <a:r>
              <a:rPr lang="en-US" sz="900" i="1" dirty="0">
                <a:solidFill>
                  <a:srgbClr val="FFFFFF"/>
                </a:solidFill>
                <a:latin typeface="Arial" pitchFamily="34" charset="0"/>
                <a:ea typeface="Arial" pitchFamily="34" charset="-122"/>
                <a:cs typeface="Arial" pitchFamily="34" charset="-120"/>
              </a:rPr>
              <a:t>Splash or vapour</a:t>
            </a:r>
            <a:endParaRPr lang="en-US" sz="900" dirty="0"/>
          </a:p>
        </p:txBody>
      </p:sp>
      <p:sp>
        <p:nvSpPr>
          <p:cNvPr id="31" name="Shape 25"/>
          <p:cNvSpPr/>
          <p:nvPr/>
        </p:nvSpPr>
        <p:spPr>
          <a:xfrm>
            <a:off x="4700016" y="2788920"/>
            <a:ext cx="2011680" cy="2057400"/>
          </a:xfrm>
          <a:prstGeom prst="rect">
            <a:avLst/>
          </a:prstGeom>
          <a:solidFill>
            <a:srgbClr val="F8F8F8"/>
          </a:solidFill>
          <a:ln w="6350">
            <a:solidFill>
              <a:srgbClr val="DDDDDD"/>
            </a:solidFill>
            <a:prstDash val="solid"/>
          </a:ln>
        </p:spPr>
        <p:txBody>
          <a:bodyPr/>
          <a:lstStyle/>
          <a:p>
            <a:endParaRPr lang="en-GB"/>
          </a:p>
        </p:txBody>
      </p:sp>
      <p:sp>
        <p:nvSpPr>
          <p:cNvPr id="32" name="Text 26"/>
          <p:cNvSpPr/>
          <p:nvPr/>
        </p:nvSpPr>
        <p:spPr>
          <a:xfrm>
            <a:off x="4791456" y="2834640"/>
            <a:ext cx="1828800" cy="1938528"/>
          </a:xfrm>
          <a:prstGeom prst="rect">
            <a:avLst/>
          </a:prstGeom>
          <a:noFill/>
          <a:ln/>
        </p:spPr>
        <p:txBody>
          <a:bodyPr wrap="square" lIns="0" tIns="0" rIns="0" bIns="0" rtlCol="0" anchor="t"/>
          <a:lstStyle/>
          <a:p>
            <a:pPr marL="0" indent="0">
              <a:buNone/>
            </a:pPr>
            <a:r>
              <a:rPr lang="en-US" sz="1050" dirty="0">
                <a:solidFill>
                  <a:srgbClr val="5B595A"/>
                </a:solidFill>
                <a:latin typeface="Arial" pitchFamily="34" charset="0"/>
                <a:ea typeface="Arial" pitchFamily="34" charset="-122"/>
                <a:cs typeface="Arial" pitchFamily="34" charset="-120"/>
              </a:rPr>
              <a:t>Splashes of liquid chemicals or airborne particles cause immediate eye damage. Some vapours cause chronic eye irritation with prolonged exposure. Eye contact can also allow substances to enter the bloodstream via the lacrimal system.</a:t>
            </a:r>
            <a:endParaRPr lang="en-US" sz="1050" dirty="0"/>
          </a:p>
        </p:txBody>
      </p:sp>
      <p:sp>
        <p:nvSpPr>
          <p:cNvPr id="33" name="Shape 27"/>
          <p:cNvSpPr/>
          <p:nvPr/>
        </p:nvSpPr>
        <p:spPr>
          <a:xfrm>
            <a:off x="6876288" y="1938528"/>
            <a:ext cx="2011680" cy="402336"/>
          </a:xfrm>
          <a:prstGeom prst="rect">
            <a:avLst/>
          </a:prstGeom>
          <a:solidFill>
            <a:srgbClr val="C0392B"/>
          </a:solidFill>
          <a:ln w="12700">
            <a:solidFill>
              <a:srgbClr val="C0392B"/>
            </a:solidFill>
            <a:prstDash val="solid"/>
          </a:ln>
        </p:spPr>
        <p:txBody>
          <a:bodyPr/>
          <a:lstStyle/>
          <a:p>
            <a:endParaRPr lang="en-GB"/>
          </a:p>
        </p:txBody>
      </p:sp>
      <p:pic>
        <p:nvPicPr>
          <p:cNvPr id="34" name="Image 4" descr="preencoded.png"/>
          <p:cNvPicPr>
            <a:picLocks noChangeAspect="1"/>
          </p:cNvPicPr>
          <p:nvPr/>
        </p:nvPicPr>
        <p:blipFill>
          <a:blip r:embed="rId7"/>
          <a:stretch>
            <a:fillRect/>
          </a:stretch>
        </p:blipFill>
        <p:spPr>
          <a:xfrm>
            <a:off x="6949440" y="1956816"/>
            <a:ext cx="292608" cy="292608"/>
          </a:xfrm>
          <a:prstGeom prst="rect">
            <a:avLst/>
          </a:prstGeom>
        </p:spPr>
      </p:pic>
      <p:sp>
        <p:nvSpPr>
          <p:cNvPr id="35" name="Text 28"/>
          <p:cNvSpPr/>
          <p:nvPr/>
        </p:nvSpPr>
        <p:spPr>
          <a:xfrm>
            <a:off x="7296912" y="1956816"/>
            <a:ext cx="1481328"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Ingestion</a:t>
            </a:r>
            <a:endParaRPr lang="en-US" sz="1150" dirty="0"/>
          </a:p>
        </p:txBody>
      </p:sp>
      <p:sp>
        <p:nvSpPr>
          <p:cNvPr id="36" name="Text 29"/>
          <p:cNvSpPr/>
          <p:nvPr/>
        </p:nvSpPr>
        <p:spPr>
          <a:xfrm>
            <a:off x="7296912" y="2176272"/>
            <a:ext cx="1481328" cy="182880"/>
          </a:xfrm>
          <a:prstGeom prst="rect">
            <a:avLst/>
          </a:prstGeom>
          <a:noFill/>
          <a:ln/>
        </p:spPr>
        <p:txBody>
          <a:bodyPr wrap="square" lIns="0" tIns="0" rIns="0" bIns="0" rtlCol="0" anchor="ctr"/>
          <a:lstStyle/>
          <a:p>
            <a:pPr marL="0" indent="0">
              <a:buNone/>
            </a:pPr>
            <a:r>
              <a:rPr lang="en-US" sz="900" i="1" dirty="0">
                <a:solidFill>
                  <a:srgbClr val="FFFFFF"/>
                </a:solidFill>
                <a:latin typeface="Arial" pitchFamily="34" charset="0"/>
                <a:ea typeface="Arial" pitchFamily="34" charset="-122"/>
                <a:cs typeface="Arial" pitchFamily="34" charset="-120"/>
              </a:rPr>
              <a:t>Swallowing</a:t>
            </a:r>
            <a:endParaRPr lang="en-US" sz="900" dirty="0"/>
          </a:p>
        </p:txBody>
      </p:sp>
      <p:sp>
        <p:nvSpPr>
          <p:cNvPr id="37" name="Text 30"/>
          <p:cNvSpPr/>
          <p:nvPr/>
        </p:nvSpPr>
        <p:spPr>
          <a:xfrm>
            <a:off x="6876288" y="2340864"/>
            <a:ext cx="2011680" cy="329184"/>
          </a:xfrm>
          <a:prstGeom prst="rect">
            <a:avLst/>
          </a:prstGeom>
          <a:noFill/>
          <a:ln/>
        </p:spPr>
        <p:txBody>
          <a:bodyPr wrap="square" lIns="0" tIns="0" rIns="0" bIns="0" rtlCol="0" anchor="ctr"/>
          <a:lstStyle/>
          <a:p>
            <a:pPr marL="0" indent="0" algn="ctr">
              <a:buNone/>
            </a:pPr>
            <a:r>
              <a:rPr lang="en-US" sz="1800" b="1" dirty="0">
                <a:solidFill>
                  <a:srgbClr val="C0392B"/>
                </a:solidFill>
                <a:latin typeface="Cambria" pitchFamily="34" charset="0"/>
                <a:ea typeface="Cambria" pitchFamily="34" charset="-122"/>
                <a:cs typeface="Cambria" pitchFamily="34" charset="-120"/>
              </a:rPr>
              <a:t>~5%</a:t>
            </a:r>
            <a:endParaRPr lang="en-US" sz="1800" dirty="0"/>
          </a:p>
        </p:txBody>
      </p:sp>
      <p:sp>
        <p:nvSpPr>
          <p:cNvPr id="38" name="Text 31"/>
          <p:cNvSpPr/>
          <p:nvPr/>
        </p:nvSpPr>
        <p:spPr>
          <a:xfrm>
            <a:off x="6876288" y="2633472"/>
            <a:ext cx="2011680" cy="182880"/>
          </a:xfrm>
          <a:prstGeom prst="rect">
            <a:avLst/>
          </a:prstGeom>
          <a:noFill/>
          <a:ln/>
        </p:spPr>
        <p:txBody>
          <a:bodyPr wrap="square" lIns="0" tIns="0" rIns="0" bIns="0"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of cases</a:t>
            </a:r>
            <a:endParaRPr lang="en-US" sz="900" dirty="0"/>
          </a:p>
        </p:txBody>
      </p:sp>
      <p:sp>
        <p:nvSpPr>
          <p:cNvPr id="39" name="Shape 32"/>
          <p:cNvSpPr/>
          <p:nvPr/>
        </p:nvSpPr>
        <p:spPr>
          <a:xfrm>
            <a:off x="6876288" y="2788920"/>
            <a:ext cx="2011680" cy="2057400"/>
          </a:xfrm>
          <a:prstGeom prst="rect">
            <a:avLst/>
          </a:prstGeom>
          <a:solidFill>
            <a:srgbClr val="F8F8F8"/>
          </a:solidFill>
          <a:ln w="6350">
            <a:solidFill>
              <a:srgbClr val="DDDDDD"/>
            </a:solidFill>
            <a:prstDash val="solid"/>
          </a:ln>
        </p:spPr>
        <p:txBody>
          <a:bodyPr/>
          <a:lstStyle/>
          <a:p>
            <a:endParaRPr lang="en-GB"/>
          </a:p>
        </p:txBody>
      </p:sp>
      <p:sp>
        <p:nvSpPr>
          <p:cNvPr id="40" name="Text 33"/>
          <p:cNvSpPr/>
          <p:nvPr/>
        </p:nvSpPr>
        <p:spPr>
          <a:xfrm>
            <a:off x="6967728" y="2834640"/>
            <a:ext cx="1828800" cy="1938528"/>
          </a:xfrm>
          <a:prstGeom prst="rect">
            <a:avLst/>
          </a:prstGeom>
          <a:noFill/>
          <a:ln/>
        </p:spPr>
        <p:txBody>
          <a:bodyPr wrap="square" lIns="0" tIns="0" rIns="0" bIns="0" rtlCol="0" anchor="t"/>
          <a:lstStyle/>
          <a:p>
            <a:pPr marL="0" indent="0">
              <a:buNone/>
            </a:pPr>
            <a:r>
              <a:rPr lang="en-US" sz="1050" dirty="0">
                <a:solidFill>
                  <a:srgbClr val="5B595A"/>
                </a:solidFill>
                <a:latin typeface="Arial" pitchFamily="34" charset="0"/>
                <a:ea typeface="Arial" pitchFamily="34" charset="-122"/>
                <a:cs typeface="Arial" pitchFamily="34" charset="-120"/>
              </a:rPr>
              <a:t>Accidental ingestion from contaminated hands. Eating, drinking, or smoking in work areas. Touching the face with contaminated hands. This route is almost entirely preventable through good hygiene practices.</a:t>
            </a:r>
            <a:endParaRPr lang="en-US" sz="1050" dirty="0"/>
          </a:p>
        </p:txBody>
      </p:sp>
      <p:sp>
        <p:nvSpPr>
          <p:cNvPr id="41" name="Rectangle 4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9"/>
          <a:stretch>
            <a:fillRect/>
          </a:stretch>
        </p:blipFill>
        <p:spPr>
          <a:xfrm>
            <a:off x="7562088" y="100584"/>
            <a:ext cx="566928" cy="347472"/>
          </a:xfrm>
          <a:prstGeom prst="rect">
            <a:avLst/>
          </a:prstGeom>
        </p:spPr>
      </p:pic>
      <p:pic>
        <p:nvPicPr>
          <p:cNvPr id="43" name="Picture 42" descr="image.png"/>
          <p:cNvPicPr>
            <a:picLocks noChangeAspect="1"/>
          </p:cNvPicPr>
          <p:nvPr/>
        </p:nvPicPr>
        <p:blipFill>
          <a:blip r:embed="rId8"/>
          <a:stretch>
            <a:fillRect/>
          </a:stretch>
        </p:blipFill>
        <p:spPr>
          <a:xfrm>
            <a:off x="8174736" y="100584"/>
            <a:ext cx="658368" cy="347472"/>
          </a:xfrm>
          <a:prstGeom prst="rect">
            <a:avLst/>
          </a:prstGeom>
        </p:spPr>
      </p:pic>
      <p:sp>
        <p:nvSpPr>
          <p:cNvPr id="44" name="Rectangle 4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Health Effects</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Acute vs Chronic Health Effects</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475488"/>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The timing of health effects from hazardous substances varies enormously. Some are immediate and obvious. Others develop silently over years before any symptoms appear. Chronic effects are often irreversible by the time they are diagnosed.</a:t>
            </a:r>
            <a:endParaRPr lang="en-US" sz="1300" dirty="0"/>
          </a:p>
        </p:txBody>
      </p:sp>
      <p:sp>
        <p:nvSpPr>
          <p:cNvPr id="11" name="Shape 8"/>
          <p:cNvSpPr/>
          <p:nvPr/>
        </p:nvSpPr>
        <p:spPr>
          <a:xfrm>
            <a:off x="347472" y="1920240"/>
            <a:ext cx="4133088" cy="347472"/>
          </a:xfrm>
          <a:prstGeom prst="rect">
            <a:avLst/>
          </a:prstGeom>
          <a:solidFill>
            <a:srgbClr val="C0392B"/>
          </a:solidFill>
          <a:ln w="12700">
            <a:solidFill>
              <a:srgbClr val="C0392B"/>
            </a:solidFill>
            <a:prstDash val="solid"/>
          </a:ln>
        </p:spPr>
        <p:txBody>
          <a:bodyPr/>
          <a:lstStyle/>
          <a:p>
            <a:endParaRPr lang="en-GB"/>
          </a:p>
        </p:txBody>
      </p:sp>
      <p:sp>
        <p:nvSpPr>
          <p:cNvPr id="12" name="Text 9"/>
          <p:cNvSpPr/>
          <p:nvPr/>
        </p:nvSpPr>
        <p:spPr>
          <a:xfrm>
            <a:off x="457200" y="1938528"/>
            <a:ext cx="3931920" cy="292608"/>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ACUTE EFFECTS — Immediate or Short-Term</a:t>
            </a:r>
            <a:endParaRPr lang="en-US" sz="1150" dirty="0"/>
          </a:p>
        </p:txBody>
      </p:sp>
      <p:sp>
        <p:nvSpPr>
          <p:cNvPr id="13" name="Shape 10"/>
          <p:cNvSpPr/>
          <p:nvPr/>
        </p:nvSpPr>
        <p:spPr>
          <a:xfrm>
            <a:off x="402336" y="2350008"/>
            <a:ext cx="146304" cy="146304"/>
          </a:xfrm>
          <a:prstGeom prst="ellipse">
            <a:avLst/>
          </a:prstGeom>
          <a:solidFill>
            <a:srgbClr val="C0392B"/>
          </a:solidFill>
          <a:ln w="12700">
            <a:solidFill>
              <a:srgbClr val="C0392B"/>
            </a:solidFill>
            <a:prstDash val="solid"/>
          </a:ln>
        </p:spPr>
        <p:txBody>
          <a:bodyPr/>
          <a:lstStyle/>
          <a:p>
            <a:endParaRPr lang="en-GB"/>
          </a:p>
        </p:txBody>
      </p:sp>
      <p:sp>
        <p:nvSpPr>
          <p:cNvPr id="14" name="Text 11"/>
          <p:cNvSpPr/>
          <p:nvPr/>
        </p:nvSpPr>
        <p:spPr>
          <a:xfrm>
            <a:off x="621792" y="2322576"/>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Irritation of eyes, nose, throat, or skin — often within seconds of exposure</a:t>
            </a:r>
            <a:endParaRPr lang="en-US" sz="1100" dirty="0"/>
          </a:p>
        </p:txBody>
      </p:sp>
      <p:sp>
        <p:nvSpPr>
          <p:cNvPr id="15" name="Shape 12"/>
          <p:cNvSpPr/>
          <p:nvPr/>
        </p:nvSpPr>
        <p:spPr>
          <a:xfrm>
            <a:off x="402336" y="2743200"/>
            <a:ext cx="146304" cy="146304"/>
          </a:xfrm>
          <a:prstGeom prst="ellipse">
            <a:avLst/>
          </a:prstGeom>
          <a:solidFill>
            <a:srgbClr val="C0392B"/>
          </a:solidFill>
          <a:ln w="12700">
            <a:solidFill>
              <a:srgbClr val="C0392B"/>
            </a:solidFill>
            <a:prstDash val="solid"/>
          </a:ln>
        </p:spPr>
        <p:txBody>
          <a:bodyPr/>
          <a:lstStyle/>
          <a:p>
            <a:endParaRPr lang="en-GB"/>
          </a:p>
        </p:txBody>
      </p:sp>
      <p:sp>
        <p:nvSpPr>
          <p:cNvPr id="16" name="Text 13"/>
          <p:cNvSpPr/>
          <p:nvPr/>
        </p:nvSpPr>
        <p:spPr>
          <a:xfrm>
            <a:off x="621792" y="2715768"/>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Dizziness, nausea, or headache from solvent or fume inhalation</a:t>
            </a:r>
            <a:endParaRPr lang="en-US" sz="1100" dirty="0"/>
          </a:p>
        </p:txBody>
      </p:sp>
      <p:sp>
        <p:nvSpPr>
          <p:cNvPr id="17" name="Shape 14"/>
          <p:cNvSpPr/>
          <p:nvPr/>
        </p:nvSpPr>
        <p:spPr>
          <a:xfrm>
            <a:off x="402336" y="3136392"/>
            <a:ext cx="146304" cy="146304"/>
          </a:xfrm>
          <a:prstGeom prst="ellipse">
            <a:avLst/>
          </a:prstGeom>
          <a:solidFill>
            <a:srgbClr val="C0392B"/>
          </a:solidFill>
          <a:ln w="12700">
            <a:solidFill>
              <a:srgbClr val="C0392B"/>
            </a:solidFill>
            <a:prstDash val="solid"/>
          </a:ln>
        </p:spPr>
        <p:txBody>
          <a:bodyPr/>
          <a:lstStyle/>
          <a:p>
            <a:endParaRPr lang="en-GB"/>
          </a:p>
        </p:txBody>
      </p:sp>
      <p:sp>
        <p:nvSpPr>
          <p:cNvPr id="18" name="Text 15"/>
          <p:cNvSpPr/>
          <p:nvPr/>
        </p:nvSpPr>
        <p:spPr>
          <a:xfrm>
            <a:off x="621792" y="3108960"/>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Chemical burns to skin or eyes from acid or alkali contact</a:t>
            </a:r>
            <a:endParaRPr lang="en-US" sz="1100" dirty="0"/>
          </a:p>
        </p:txBody>
      </p:sp>
      <p:sp>
        <p:nvSpPr>
          <p:cNvPr id="19" name="Shape 16"/>
          <p:cNvSpPr/>
          <p:nvPr/>
        </p:nvSpPr>
        <p:spPr>
          <a:xfrm>
            <a:off x="402336" y="3529584"/>
            <a:ext cx="146304" cy="146304"/>
          </a:xfrm>
          <a:prstGeom prst="ellipse">
            <a:avLst/>
          </a:prstGeom>
          <a:solidFill>
            <a:srgbClr val="C0392B"/>
          </a:solidFill>
          <a:ln w="12700">
            <a:solidFill>
              <a:srgbClr val="C0392B"/>
            </a:solidFill>
            <a:prstDash val="solid"/>
          </a:ln>
        </p:spPr>
        <p:txBody>
          <a:bodyPr/>
          <a:lstStyle/>
          <a:p>
            <a:endParaRPr lang="en-GB"/>
          </a:p>
        </p:txBody>
      </p:sp>
      <p:sp>
        <p:nvSpPr>
          <p:cNvPr id="20" name="Text 17"/>
          <p:cNvSpPr/>
          <p:nvPr/>
        </p:nvSpPr>
        <p:spPr>
          <a:xfrm>
            <a:off x="621792" y="3502152"/>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Breathing difficulties from high concentration fume or gas inhalation</a:t>
            </a:r>
            <a:endParaRPr lang="en-US" sz="1100" dirty="0"/>
          </a:p>
        </p:txBody>
      </p:sp>
      <p:sp>
        <p:nvSpPr>
          <p:cNvPr id="21" name="Shape 18"/>
          <p:cNvSpPr/>
          <p:nvPr/>
        </p:nvSpPr>
        <p:spPr>
          <a:xfrm>
            <a:off x="402336" y="3922776"/>
            <a:ext cx="146304" cy="146304"/>
          </a:xfrm>
          <a:prstGeom prst="ellipse">
            <a:avLst/>
          </a:prstGeom>
          <a:solidFill>
            <a:srgbClr val="C0392B"/>
          </a:solidFill>
          <a:ln w="12700">
            <a:solidFill>
              <a:srgbClr val="C0392B"/>
            </a:solidFill>
            <a:prstDash val="solid"/>
          </a:ln>
        </p:spPr>
        <p:txBody>
          <a:bodyPr/>
          <a:lstStyle/>
          <a:p>
            <a:endParaRPr lang="en-GB"/>
          </a:p>
        </p:txBody>
      </p:sp>
      <p:sp>
        <p:nvSpPr>
          <p:cNvPr id="22" name="Text 19"/>
          <p:cNvSpPr/>
          <p:nvPr/>
        </p:nvSpPr>
        <p:spPr>
          <a:xfrm>
            <a:off x="621792" y="3895344"/>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Metal fume fever from inhalation of zinc or other metal oxide fumes when welding galvanised steel</a:t>
            </a:r>
            <a:endParaRPr lang="en-US" sz="1100" dirty="0"/>
          </a:p>
        </p:txBody>
      </p:sp>
      <p:sp>
        <p:nvSpPr>
          <p:cNvPr id="23" name="Shape 20"/>
          <p:cNvSpPr/>
          <p:nvPr/>
        </p:nvSpPr>
        <p:spPr>
          <a:xfrm>
            <a:off x="4663440" y="1920240"/>
            <a:ext cx="4133088" cy="347472"/>
          </a:xfrm>
          <a:prstGeom prst="rect">
            <a:avLst/>
          </a:prstGeom>
          <a:solidFill>
            <a:srgbClr val="83348F"/>
          </a:solidFill>
          <a:ln w="12700">
            <a:solidFill>
              <a:srgbClr val="83348F"/>
            </a:solidFill>
            <a:prstDash val="solid"/>
          </a:ln>
        </p:spPr>
        <p:txBody>
          <a:bodyPr/>
          <a:lstStyle/>
          <a:p>
            <a:endParaRPr lang="en-GB"/>
          </a:p>
        </p:txBody>
      </p:sp>
      <p:sp>
        <p:nvSpPr>
          <p:cNvPr id="24" name="Text 21"/>
          <p:cNvSpPr/>
          <p:nvPr/>
        </p:nvSpPr>
        <p:spPr>
          <a:xfrm>
            <a:off x="4773168" y="1938528"/>
            <a:ext cx="3931920" cy="292608"/>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CHRONIC EFFECTS — Long-Term or Latent</a:t>
            </a:r>
            <a:endParaRPr lang="en-US" sz="1150" dirty="0"/>
          </a:p>
        </p:txBody>
      </p:sp>
      <p:sp>
        <p:nvSpPr>
          <p:cNvPr id="25" name="Shape 22"/>
          <p:cNvSpPr/>
          <p:nvPr/>
        </p:nvSpPr>
        <p:spPr>
          <a:xfrm>
            <a:off x="4718304" y="2350008"/>
            <a:ext cx="146304" cy="146304"/>
          </a:xfrm>
          <a:prstGeom prst="ellipse">
            <a:avLst/>
          </a:prstGeom>
          <a:solidFill>
            <a:srgbClr val="83348F"/>
          </a:solidFill>
          <a:ln w="12700">
            <a:solidFill>
              <a:srgbClr val="83348F"/>
            </a:solidFill>
            <a:prstDash val="solid"/>
          </a:ln>
        </p:spPr>
        <p:txBody>
          <a:bodyPr/>
          <a:lstStyle/>
          <a:p>
            <a:endParaRPr lang="en-GB"/>
          </a:p>
        </p:txBody>
      </p:sp>
      <p:sp>
        <p:nvSpPr>
          <p:cNvPr id="26" name="Text 23"/>
          <p:cNvSpPr/>
          <p:nvPr/>
        </p:nvSpPr>
        <p:spPr>
          <a:xfrm>
            <a:off x="4937760" y="2322576"/>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Occupational asthma from sensitisation to isocyanates, MWF, or welding fume</a:t>
            </a:r>
            <a:endParaRPr lang="en-US" sz="1100" dirty="0"/>
          </a:p>
        </p:txBody>
      </p:sp>
      <p:sp>
        <p:nvSpPr>
          <p:cNvPr id="27" name="Shape 24"/>
          <p:cNvSpPr/>
          <p:nvPr/>
        </p:nvSpPr>
        <p:spPr>
          <a:xfrm>
            <a:off x="4718304" y="2743200"/>
            <a:ext cx="146304" cy="146304"/>
          </a:xfrm>
          <a:prstGeom prst="ellipse">
            <a:avLst/>
          </a:prstGeom>
          <a:solidFill>
            <a:srgbClr val="83348F"/>
          </a:solidFill>
          <a:ln w="12700">
            <a:solidFill>
              <a:srgbClr val="83348F"/>
            </a:solidFill>
            <a:prstDash val="solid"/>
          </a:ln>
        </p:spPr>
        <p:txBody>
          <a:bodyPr/>
          <a:lstStyle/>
          <a:p>
            <a:endParaRPr lang="en-GB"/>
          </a:p>
        </p:txBody>
      </p:sp>
      <p:sp>
        <p:nvSpPr>
          <p:cNvPr id="28" name="Text 25"/>
          <p:cNvSpPr/>
          <p:nvPr/>
        </p:nvSpPr>
        <p:spPr>
          <a:xfrm>
            <a:off x="4937760" y="2715768"/>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Occupational dermatitis from repeated skin contact with oils, solvents, or chemicals</a:t>
            </a:r>
            <a:endParaRPr lang="en-US" sz="1100" dirty="0"/>
          </a:p>
        </p:txBody>
      </p:sp>
      <p:sp>
        <p:nvSpPr>
          <p:cNvPr id="29" name="Shape 26"/>
          <p:cNvSpPr/>
          <p:nvPr/>
        </p:nvSpPr>
        <p:spPr>
          <a:xfrm>
            <a:off x="4718304" y="3136392"/>
            <a:ext cx="146304" cy="146304"/>
          </a:xfrm>
          <a:prstGeom prst="ellipse">
            <a:avLst/>
          </a:prstGeom>
          <a:solidFill>
            <a:srgbClr val="83348F"/>
          </a:solidFill>
          <a:ln w="12700">
            <a:solidFill>
              <a:srgbClr val="83348F"/>
            </a:solidFill>
            <a:prstDash val="solid"/>
          </a:ln>
        </p:spPr>
        <p:txBody>
          <a:bodyPr/>
          <a:lstStyle/>
          <a:p>
            <a:endParaRPr lang="en-GB"/>
          </a:p>
        </p:txBody>
      </p:sp>
      <p:sp>
        <p:nvSpPr>
          <p:cNvPr id="30" name="Text 27"/>
          <p:cNvSpPr/>
          <p:nvPr/>
        </p:nvSpPr>
        <p:spPr>
          <a:xfrm>
            <a:off x="4937760" y="3108960"/>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Cancer from long-term exposure to carcinogens such as welding fume or mineral oils</a:t>
            </a:r>
            <a:endParaRPr lang="en-US" sz="1100" dirty="0"/>
          </a:p>
        </p:txBody>
      </p:sp>
      <p:sp>
        <p:nvSpPr>
          <p:cNvPr id="31" name="Shape 28"/>
          <p:cNvSpPr/>
          <p:nvPr/>
        </p:nvSpPr>
        <p:spPr>
          <a:xfrm>
            <a:off x="4718304" y="3529584"/>
            <a:ext cx="146304" cy="146304"/>
          </a:xfrm>
          <a:prstGeom prst="ellipse">
            <a:avLst/>
          </a:prstGeom>
          <a:solidFill>
            <a:srgbClr val="83348F"/>
          </a:solidFill>
          <a:ln w="12700">
            <a:solidFill>
              <a:srgbClr val="83348F"/>
            </a:solidFill>
            <a:prstDash val="solid"/>
          </a:ln>
        </p:spPr>
        <p:txBody>
          <a:bodyPr/>
          <a:lstStyle/>
          <a:p>
            <a:endParaRPr lang="en-GB"/>
          </a:p>
        </p:txBody>
      </p:sp>
      <p:sp>
        <p:nvSpPr>
          <p:cNvPr id="32" name="Text 29"/>
          <p:cNvSpPr/>
          <p:nvPr/>
        </p:nvSpPr>
        <p:spPr>
          <a:xfrm>
            <a:off x="4937760" y="3502152"/>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Silicosis, asbestosis, or other occupational lung diseases from dust exposure</a:t>
            </a:r>
            <a:endParaRPr lang="en-US" sz="1100" dirty="0"/>
          </a:p>
        </p:txBody>
      </p:sp>
      <p:sp>
        <p:nvSpPr>
          <p:cNvPr id="33" name="Shape 30"/>
          <p:cNvSpPr/>
          <p:nvPr/>
        </p:nvSpPr>
        <p:spPr>
          <a:xfrm>
            <a:off x="4718304" y="3922776"/>
            <a:ext cx="146304" cy="146304"/>
          </a:xfrm>
          <a:prstGeom prst="ellipse">
            <a:avLst/>
          </a:prstGeom>
          <a:solidFill>
            <a:srgbClr val="83348F"/>
          </a:solidFill>
          <a:ln w="12700">
            <a:solidFill>
              <a:srgbClr val="83348F"/>
            </a:solidFill>
            <a:prstDash val="solid"/>
          </a:ln>
        </p:spPr>
        <p:txBody>
          <a:bodyPr/>
          <a:lstStyle/>
          <a:p>
            <a:endParaRPr lang="en-GB"/>
          </a:p>
        </p:txBody>
      </p:sp>
      <p:sp>
        <p:nvSpPr>
          <p:cNvPr id="34" name="Text 31"/>
          <p:cNvSpPr/>
          <p:nvPr/>
        </p:nvSpPr>
        <p:spPr>
          <a:xfrm>
            <a:off x="4937760" y="3895344"/>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Neurological damage from chronic solvent or heavy metal exposure over many years</a:t>
            </a:r>
            <a:endParaRPr lang="en-US" sz="1100" dirty="0"/>
          </a:p>
        </p:txBody>
      </p:sp>
      <p:sp>
        <p:nvSpPr>
          <p:cNvPr id="35" name="Shape 32"/>
          <p:cNvSpPr/>
          <p:nvPr/>
        </p:nvSpPr>
        <p:spPr>
          <a:xfrm>
            <a:off x="347472" y="4462272"/>
            <a:ext cx="8449056" cy="402336"/>
          </a:xfrm>
          <a:prstGeom prst="roundRect">
            <a:avLst>
              <a:gd name="adj" fmla="val 13636"/>
            </a:avLst>
          </a:prstGeom>
          <a:solidFill>
            <a:srgbClr val="001E3C"/>
          </a:solidFill>
          <a:ln w="12700">
            <a:solidFill>
              <a:srgbClr val="001E3C"/>
            </a:solidFill>
            <a:prstDash val="solid"/>
          </a:ln>
        </p:spPr>
        <p:txBody>
          <a:bodyPr/>
          <a:lstStyle/>
          <a:p>
            <a:endParaRPr lang="en-GB"/>
          </a:p>
        </p:txBody>
      </p:sp>
      <p:sp>
        <p:nvSpPr>
          <p:cNvPr id="36" name="Text 33"/>
          <p:cNvSpPr/>
          <p:nvPr/>
        </p:nvSpPr>
        <p:spPr>
          <a:xfrm>
            <a:off x="475488" y="4480560"/>
            <a:ext cx="8229600" cy="365760"/>
          </a:xfrm>
          <a:prstGeom prst="rect">
            <a:avLst/>
          </a:prstGeom>
          <a:noFill/>
          <a:ln/>
        </p:spPr>
        <p:txBody>
          <a:bodyPr wrap="square" lIns="0" tIns="0" rIns="0" bIns="0" rtlCol="0" anchor="ctr"/>
          <a:lstStyle/>
          <a:p>
            <a:pPr marL="0" indent="0">
              <a:buNone/>
            </a:pPr>
            <a:r>
              <a:rPr lang="en-US" sz="1150" b="1" dirty="0">
                <a:solidFill>
                  <a:srgbClr val="009FE3"/>
                </a:solidFill>
                <a:latin typeface="Arial" pitchFamily="34" charset="0"/>
                <a:ea typeface="Arial" pitchFamily="34" charset="-122"/>
                <a:cs typeface="Arial" pitchFamily="34" charset="-120"/>
              </a:rPr>
              <a:t>Critical point:  </a:t>
            </a:r>
            <a:r>
              <a:rPr lang="en-US" sz="1150" dirty="0">
                <a:solidFill>
                  <a:srgbClr val="FFFFFF"/>
                </a:solidFill>
                <a:latin typeface="Arial" pitchFamily="34" charset="0"/>
                <a:ea typeface="Arial" pitchFamily="34" charset="-122"/>
                <a:cs typeface="Arial" pitchFamily="34" charset="-120"/>
              </a:rPr>
              <a:t>Chronic occupational diseases typically have a latency period of 5-40 years. By the time a worker is diagnosed with occupational asthma or lung cancer, the damage from exposures decades earlier is irreversible.</a:t>
            </a:r>
            <a:endParaRPr lang="en-US" sz="1150" dirty="0"/>
          </a:p>
        </p:txBody>
      </p:sp>
      <p:sp>
        <p:nvSpPr>
          <p:cNvPr id="37" name="Rectangle 3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5"/>
          <a:stretch>
            <a:fillRect/>
          </a:stretch>
        </p:blipFill>
        <p:spPr>
          <a:xfrm>
            <a:off x="7562088" y="100584"/>
            <a:ext cx="566928" cy="347472"/>
          </a:xfrm>
          <a:prstGeom prst="rect">
            <a:avLst/>
          </a:prstGeom>
        </p:spPr>
      </p:pic>
      <p:pic>
        <p:nvPicPr>
          <p:cNvPr id="39" name="Picture 38" descr="image.png"/>
          <p:cNvPicPr>
            <a:picLocks noChangeAspect="1"/>
          </p:cNvPicPr>
          <p:nvPr/>
        </p:nvPicPr>
        <p:blipFill>
          <a:blip r:embed="rId4"/>
          <a:stretch>
            <a:fillRect/>
          </a:stretch>
        </p:blipFill>
        <p:spPr>
          <a:xfrm>
            <a:off x="8174736" y="100584"/>
            <a:ext cx="658368" cy="347472"/>
          </a:xfrm>
          <a:prstGeom prst="rect">
            <a:avLst/>
          </a:prstGeom>
        </p:spPr>
      </p:pic>
      <p:sp>
        <p:nvSpPr>
          <p:cNvPr id="40" name="Rectangle 3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Safety Data Sheets</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Reading a Safety Data Sheet (SDS)</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475488"/>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Every hazardous substance supplied for use at work must have a Safety Data Sheet (SDS) provided by the supplier. An SDS has 16 mandatory sections. You do not need to read all 16 in detail — but you must be able to find the sections that matter for your job.</a:t>
            </a:r>
            <a:endParaRPr lang="en-US" sz="1300" dirty="0"/>
          </a:p>
        </p:txBody>
      </p:sp>
      <p:sp>
        <p:nvSpPr>
          <p:cNvPr id="11" name="Shape 8"/>
          <p:cNvSpPr/>
          <p:nvPr/>
        </p:nvSpPr>
        <p:spPr>
          <a:xfrm>
            <a:off x="347472" y="1920240"/>
            <a:ext cx="4133088" cy="493776"/>
          </a:xfrm>
          <a:prstGeom prst="roundRect">
            <a:avLst>
              <a:gd name="adj" fmla="val 9259"/>
            </a:avLst>
          </a:prstGeom>
          <a:solidFill>
            <a:srgbClr val="FFF8E6"/>
          </a:solidFill>
          <a:ln w="15240">
            <a:solidFill>
              <a:srgbClr val="E08A00"/>
            </a:solidFill>
            <a:prstDash val="solid"/>
          </a:ln>
        </p:spPr>
        <p:txBody>
          <a:bodyPr/>
          <a:lstStyle/>
          <a:p>
            <a:endParaRPr lang="en-GB"/>
          </a:p>
        </p:txBody>
      </p:sp>
      <p:sp>
        <p:nvSpPr>
          <p:cNvPr id="12" name="Shape 9"/>
          <p:cNvSpPr/>
          <p:nvPr/>
        </p:nvSpPr>
        <p:spPr>
          <a:xfrm>
            <a:off x="438912" y="2011680"/>
            <a:ext cx="274320" cy="274320"/>
          </a:xfrm>
          <a:prstGeom prst="ellipse">
            <a:avLst/>
          </a:prstGeom>
          <a:solidFill>
            <a:srgbClr val="E08A00"/>
          </a:solidFill>
          <a:ln w="12700">
            <a:solidFill>
              <a:srgbClr val="E08A00"/>
            </a:solidFill>
            <a:prstDash val="solid"/>
          </a:ln>
        </p:spPr>
        <p:txBody>
          <a:bodyPr/>
          <a:lstStyle/>
          <a:p>
            <a:endParaRPr lang="en-GB"/>
          </a:p>
        </p:txBody>
      </p:sp>
      <p:sp>
        <p:nvSpPr>
          <p:cNvPr id="13" name="Text 10"/>
          <p:cNvSpPr/>
          <p:nvPr/>
        </p:nvSpPr>
        <p:spPr>
          <a:xfrm>
            <a:off x="438912" y="201168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4" name="Text 11"/>
          <p:cNvSpPr/>
          <p:nvPr/>
        </p:nvSpPr>
        <p:spPr>
          <a:xfrm>
            <a:off x="786384" y="1956816"/>
            <a:ext cx="3584448" cy="219456"/>
          </a:xfrm>
          <a:prstGeom prst="rect">
            <a:avLst/>
          </a:prstGeom>
          <a:noFill/>
          <a:ln/>
        </p:spPr>
        <p:txBody>
          <a:bodyPr wrap="square" lIns="0" tIns="0" rIns="0" bIns="0" rtlCol="0" anchor="ctr"/>
          <a:lstStyle/>
          <a:p>
            <a:pPr marL="0" indent="0">
              <a:buNone/>
            </a:pPr>
            <a:r>
              <a:rPr lang="en-US" sz="1050" b="1" dirty="0">
                <a:solidFill>
                  <a:srgbClr val="8B6000"/>
                </a:solidFill>
                <a:latin typeface="Arial" pitchFamily="34" charset="0"/>
                <a:ea typeface="Arial" pitchFamily="34" charset="-122"/>
                <a:cs typeface="Arial" pitchFamily="34" charset="-120"/>
              </a:rPr>
              <a:t>Identification</a:t>
            </a:r>
            <a:endParaRPr lang="en-US" sz="1050" dirty="0"/>
          </a:p>
        </p:txBody>
      </p:sp>
      <p:sp>
        <p:nvSpPr>
          <p:cNvPr id="15" name="Text 12"/>
          <p:cNvSpPr/>
          <p:nvPr/>
        </p:nvSpPr>
        <p:spPr>
          <a:xfrm>
            <a:off x="786384" y="2176272"/>
            <a:ext cx="3584448"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Product name, supplier, emergency contact</a:t>
            </a:r>
            <a:endParaRPr lang="en-US" sz="1000" dirty="0"/>
          </a:p>
        </p:txBody>
      </p:sp>
      <p:sp>
        <p:nvSpPr>
          <p:cNvPr id="16" name="Shape 13"/>
          <p:cNvSpPr/>
          <p:nvPr/>
        </p:nvSpPr>
        <p:spPr>
          <a:xfrm>
            <a:off x="347472" y="2487168"/>
            <a:ext cx="4133088" cy="493776"/>
          </a:xfrm>
          <a:prstGeom prst="roundRect">
            <a:avLst>
              <a:gd name="adj" fmla="val 9259"/>
            </a:avLst>
          </a:prstGeom>
          <a:solidFill>
            <a:srgbClr val="FFF8E6"/>
          </a:solidFill>
          <a:ln w="15240">
            <a:solidFill>
              <a:srgbClr val="E08A00"/>
            </a:solidFill>
            <a:prstDash val="solid"/>
          </a:ln>
        </p:spPr>
        <p:txBody>
          <a:bodyPr/>
          <a:lstStyle/>
          <a:p>
            <a:endParaRPr lang="en-GB"/>
          </a:p>
        </p:txBody>
      </p:sp>
      <p:sp>
        <p:nvSpPr>
          <p:cNvPr id="17" name="Shape 14"/>
          <p:cNvSpPr/>
          <p:nvPr/>
        </p:nvSpPr>
        <p:spPr>
          <a:xfrm>
            <a:off x="438912" y="2578608"/>
            <a:ext cx="274320" cy="274320"/>
          </a:xfrm>
          <a:prstGeom prst="ellipse">
            <a:avLst/>
          </a:prstGeom>
          <a:solidFill>
            <a:srgbClr val="E08A00"/>
          </a:solidFill>
          <a:ln w="12700">
            <a:solidFill>
              <a:srgbClr val="E08A00"/>
            </a:solidFill>
            <a:prstDash val="solid"/>
          </a:ln>
        </p:spPr>
        <p:txBody>
          <a:bodyPr/>
          <a:lstStyle/>
          <a:p>
            <a:endParaRPr lang="en-GB"/>
          </a:p>
        </p:txBody>
      </p:sp>
      <p:sp>
        <p:nvSpPr>
          <p:cNvPr id="18" name="Text 15"/>
          <p:cNvSpPr/>
          <p:nvPr/>
        </p:nvSpPr>
        <p:spPr>
          <a:xfrm>
            <a:off x="438912" y="257860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9" name="Text 16"/>
          <p:cNvSpPr/>
          <p:nvPr/>
        </p:nvSpPr>
        <p:spPr>
          <a:xfrm>
            <a:off x="786384" y="2523744"/>
            <a:ext cx="3584448" cy="219456"/>
          </a:xfrm>
          <a:prstGeom prst="rect">
            <a:avLst/>
          </a:prstGeom>
          <a:noFill/>
          <a:ln/>
        </p:spPr>
        <p:txBody>
          <a:bodyPr wrap="square" lIns="0" tIns="0" rIns="0" bIns="0" rtlCol="0" anchor="ctr"/>
          <a:lstStyle/>
          <a:p>
            <a:pPr marL="0" indent="0">
              <a:buNone/>
            </a:pPr>
            <a:r>
              <a:rPr lang="en-US" sz="1050" b="1" dirty="0">
                <a:solidFill>
                  <a:srgbClr val="8B6000"/>
                </a:solidFill>
                <a:latin typeface="Arial" pitchFamily="34" charset="0"/>
                <a:ea typeface="Arial" pitchFamily="34" charset="-122"/>
                <a:cs typeface="Arial" pitchFamily="34" charset="-120"/>
              </a:rPr>
              <a:t>Hazard Identification</a:t>
            </a:r>
            <a:endParaRPr lang="en-US" sz="1050" dirty="0"/>
          </a:p>
        </p:txBody>
      </p:sp>
      <p:sp>
        <p:nvSpPr>
          <p:cNvPr id="20" name="Text 17"/>
          <p:cNvSpPr/>
          <p:nvPr/>
        </p:nvSpPr>
        <p:spPr>
          <a:xfrm>
            <a:off x="786384" y="2743200"/>
            <a:ext cx="3584448"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GHS classification, hazard statements (H-codes)</a:t>
            </a:r>
            <a:endParaRPr lang="en-US" sz="1000" dirty="0"/>
          </a:p>
        </p:txBody>
      </p:sp>
      <p:sp>
        <p:nvSpPr>
          <p:cNvPr id="21" name="Shape 18"/>
          <p:cNvSpPr/>
          <p:nvPr/>
        </p:nvSpPr>
        <p:spPr>
          <a:xfrm>
            <a:off x="347472" y="3054096"/>
            <a:ext cx="4133088" cy="493776"/>
          </a:xfrm>
          <a:prstGeom prst="roundRect">
            <a:avLst>
              <a:gd name="adj" fmla="val 9259"/>
            </a:avLst>
          </a:prstGeom>
          <a:solidFill>
            <a:srgbClr val="F8F8F8"/>
          </a:solidFill>
          <a:ln w="7620">
            <a:solidFill>
              <a:srgbClr val="DDDDDD"/>
            </a:solidFill>
            <a:prstDash val="solid"/>
          </a:ln>
        </p:spPr>
        <p:txBody>
          <a:bodyPr/>
          <a:lstStyle/>
          <a:p>
            <a:endParaRPr lang="en-GB"/>
          </a:p>
        </p:txBody>
      </p:sp>
      <p:sp>
        <p:nvSpPr>
          <p:cNvPr id="22" name="Shape 19"/>
          <p:cNvSpPr/>
          <p:nvPr/>
        </p:nvSpPr>
        <p:spPr>
          <a:xfrm>
            <a:off x="438912" y="3145536"/>
            <a:ext cx="274320" cy="274320"/>
          </a:xfrm>
          <a:prstGeom prst="ellipse">
            <a:avLst/>
          </a:prstGeom>
          <a:solidFill>
            <a:srgbClr val="5B595A"/>
          </a:solidFill>
          <a:ln w="12700">
            <a:solidFill>
              <a:srgbClr val="5B595A"/>
            </a:solidFill>
            <a:prstDash val="solid"/>
          </a:ln>
        </p:spPr>
        <p:txBody>
          <a:bodyPr/>
          <a:lstStyle/>
          <a:p>
            <a:endParaRPr lang="en-GB"/>
          </a:p>
        </p:txBody>
      </p:sp>
      <p:sp>
        <p:nvSpPr>
          <p:cNvPr id="23" name="Text 20"/>
          <p:cNvSpPr/>
          <p:nvPr/>
        </p:nvSpPr>
        <p:spPr>
          <a:xfrm>
            <a:off x="438912" y="314553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4" name="Text 21"/>
          <p:cNvSpPr/>
          <p:nvPr/>
        </p:nvSpPr>
        <p:spPr>
          <a:xfrm>
            <a:off x="786384" y="3090672"/>
            <a:ext cx="3584448" cy="219456"/>
          </a:xfrm>
          <a:prstGeom prst="rect">
            <a:avLst/>
          </a:prstGeom>
          <a:noFill/>
          <a:ln/>
        </p:spPr>
        <p:txBody>
          <a:bodyPr wrap="square" lIns="0" tIns="0" rIns="0" bIns="0" rtlCol="0" anchor="ctr"/>
          <a:lstStyle/>
          <a:p>
            <a:pPr marL="0" indent="0">
              <a:buNone/>
            </a:pPr>
            <a:r>
              <a:rPr lang="en-US" sz="1050" b="1" dirty="0">
                <a:solidFill>
                  <a:srgbClr val="001E3C"/>
                </a:solidFill>
                <a:latin typeface="Arial" pitchFamily="34" charset="0"/>
                <a:ea typeface="Arial" pitchFamily="34" charset="-122"/>
                <a:cs typeface="Arial" pitchFamily="34" charset="-120"/>
              </a:rPr>
              <a:t>Composition</a:t>
            </a:r>
            <a:endParaRPr lang="en-US" sz="1050" dirty="0"/>
          </a:p>
        </p:txBody>
      </p:sp>
      <p:sp>
        <p:nvSpPr>
          <p:cNvPr id="25" name="Text 22"/>
          <p:cNvSpPr/>
          <p:nvPr/>
        </p:nvSpPr>
        <p:spPr>
          <a:xfrm>
            <a:off x="786384" y="3310128"/>
            <a:ext cx="3584448"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Ingredients and concentrations</a:t>
            </a:r>
            <a:endParaRPr lang="en-US" sz="1000" dirty="0"/>
          </a:p>
        </p:txBody>
      </p:sp>
      <p:sp>
        <p:nvSpPr>
          <p:cNvPr id="26" name="Shape 23"/>
          <p:cNvSpPr/>
          <p:nvPr/>
        </p:nvSpPr>
        <p:spPr>
          <a:xfrm>
            <a:off x="347472" y="3621024"/>
            <a:ext cx="4133088" cy="493776"/>
          </a:xfrm>
          <a:prstGeom prst="roundRect">
            <a:avLst>
              <a:gd name="adj" fmla="val 9259"/>
            </a:avLst>
          </a:prstGeom>
          <a:solidFill>
            <a:srgbClr val="FFF8E6"/>
          </a:solidFill>
          <a:ln w="15240">
            <a:solidFill>
              <a:srgbClr val="E08A00"/>
            </a:solidFill>
            <a:prstDash val="solid"/>
          </a:ln>
        </p:spPr>
        <p:txBody>
          <a:bodyPr/>
          <a:lstStyle/>
          <a:p>
            <a:endParaRPr lang="en-GB"/>
          </a:p>
        </p:txBody>
      </p:sp>
      <p:sp>
        <p:nvSpPr>
          <p:cNvPr id="27" name="Shape 24"/>
          <p:cNvSpPr/>
          <p:nvPr/>
        </p:nvSpPr>
        <p:spPr>
          <a:xfrm>
            <a:off x="438912" y="3712464"/>
            <a:ext cx="274320" cy="274320"/>
          </a:xfrm>
          <a:prstGeom prst="ellipse">
            <a:avLst/>
          </a:prstGeom>
          <a:solidFill>
            <a:srgbClr val="E08A00"/>
          </a:solidFill>
          <a:ln w="12700">
            <a:solidFill>
              <a:srgbClr val="E08A00"/>
            </a:solidFill>
            <a:prstDash val="solid"/>
          </a:ln>
        </p:spPr>
        <p:txBody>
          <a:bodyPr/>
          <a:lstStyle/>
          <a:p>
            <a:endParaRPr lang="en-GB"/>
          </a:p>
        </p:txBody>
      </p:sp>
      <p:sp>
        <p:nvSpPr>
          <p:cNvPr id="28" name="Text 25"/>
          <p:cNvSpPr/>
          <p:nvPr/>
        </p:nvSpPr>
        <p:spPr>
          <a:xfrm>
            <a:off x="438912" y="3712464"/>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9" name="Text 26"/>
          <p:cNvSpPr/>
          <p:nvPr/>
        </p:nvSpPr>
        <p:spPr>
          <a:xfrm>
            <a:off x="786384" y="3657600"/>
            <a:ext cx="3584448" cy="219456"/>
          </a:xfrm>
          <a:prstGeom prst="rect">
            <a:avLst/>
          </a:prstGeom>
          <a:noFill/>
          <a:ln/>
        </p:spPr>
        <p:txBody>
          <a:bodyPr wrap="square" lIns="0" tIns="0" rIns="0" bIns="0" rtlCol="0" anchor="ctr"/>
          <a:lstStyle/>
          <a:p>
            <a:pPr marL="0" indent="0">
              <a:buNone/>
            </a:pPr>
            <a:r>
              <a:rPr lang="en-US" sz="1050" b="1" dirty="0">
                <a:solidFill>
                  <a:srgbClr val="8B6000"/>
                </a:solidFill>
                <a:latin typeface="Arial" pitchFamily="34" charset="0"/>
                <a:ea typeface="Arial" pitchFamily="34" charset="-122"/>
                <a:cs typeface="Arial" pitchFamily="34" charset="-120"/>
              </a:rPr>
              <a:t>First Aid Measures</a:t>
            </a:r>
            <a:endParaRPr lang="en-US" sz="1050" dirty="0"/>
          </a:p>
        </p:txBody>
      </p:sp>
      <p:sp>
        <p:nvSpPr>
          <p:cNvPr id="30" name="Text 27"/>
          <p:cNvSpPr/>
          <p:nvPr/>
        </p:nvSpPr>
        <p:spPr>
          <a:xfrm>
            <a:off x="786384" y="3877056"/>
            <a:ext cx="3584448"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What to do if exposed — CRITICAL for emergencies</a:t>
            </a:r>
            <a:endParaRPr lang="en-US" sz="1000" dirty="0"/>
          </a:p>
        </p:txBody>
      </p:sp>
      <p:sp>
        <p:nvSpPr>
          <p:cNvPr id="31" name="Shape 28"/>
          <p:cNvSpPr/>
          <p:nvPr/>
        </p:nvSpPr>
        <p:spPr>
          <a:xfrm>
            <a:off x="347472" y="4187952"/>
            <a:ext cx="4133088" cy="493776"/>
          </a:xfrm>
          <a:prstGeom prst="roundRect">
            <a:avLst>
              <a:gd name="adj" fmla="val 9259"/>
            </a:avLst>
          </a:prstGeom>
          <a:solidFill>
            <a:srgbClr val="F8F8F8"/>
          </a:solidFill>
          <a:ln w="7620">
            <a:solidFill>
              <a:srgbClr val="DDDDDD"/>
            </a:solidFill>
            <a:prstDash val="solid"/>
          </a:ln>
        </p:spPr>
        <p:txBody>
          <a:bodyPr/>
          <a:lstStyle/>
          <a:p>
            <a:endParaRPr lang="en-GB"/>
          </a:p>
        </p:txBody>
      </p:sp>
      <p:sp>
        <p:nvSpPr>
          <p:cNvPr id="32" name="Shape 29"/>
          <p:cNvSpPr/>
          <p:nvPr/>
        </p:nvSpPr>
        <p:spPr>
          <a:xfrm>
            <a:off x="438912" y="4279392"/>
            <a:ext cx="274320" cy="274320"/>
          </a:xfrm>
          <a:prstGeom prst="ellipse">
            <a:avLst/>
          </a:prstGeom>
          <a:solidFill>
            <a:srgbClr val="5B595A"/>
          </a:solidFill>
          <a:ln w="12700">
            <a:solidFill>
              <a:srgbClr val="5B595A"/>
            </a:solidFill>
            <a:prstDash val="solid"/>
          </a:ln>
        </p:spPr>
        <p:txBody>
          <a:bodyPr/>
          <a:lstStyle/>
          <a:p>
            <a:endParaRPr lang="en-GB"/>
          </a:p>
        </p:txBody>
      </p:sp>
      <p:sp>
        <p:nvSpPr>
          <p:cNvPr id="33" name="Text 30"/>
          <p:cNvSpPr/>
          <p:nvPr/>
        </p:nvSpPr>
        <p:spPr>
          <a:xfrm>
            <a:off x="438912" y="42793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4" name="Text 31"/>
          <p:cNvSpPr/>
          <p:nvPr/>
        </p:nvSpPr>
        <p:spPr>
          <a:xfrm>
            <a:off x="786384" y="4224528"/>
            <a:ext cx="3584448" cy="219456"/>
          </a:xfrm>
          <a:prstGeom prst="rect">
            <a:avLst/>
          </a:prstGeom>
          <a:noFill/>
          <a:ln/>
        </p:spPr>
        <p:txBody>
          <a:bodyPr wrap="square" lIns="0" tIns="0" rIns="0" bIns="0" rtlCol="0" anchor="ctr"/>
          <a:lstStyle/>
          <a:p>
            <a:pPr marL="0" indent="0">
              <a:buNone/>
            </a:pPr>
            <a:r>
              <a:rPr lang="en-US" sz="1050" b="1" dirty="0">
                <a:solidFill>
                  <a:srgbClr val="001E3C"/>
                </a:solidFill>
                <a:latin typeface="Arial" pitchFamily="34" charset="0"/>
                <a:ea typeface="Arial" pitchFamily="34" charset="-122"/>
                <a:cs typeface="Arial" pitchFamily="34" charset="-120"/>
              </a:rPr>
              <a:t>Fire-Fighting Measures</a:t>
            </a:r>
            <a:endParaRPr lang="en-US" sz="1050" dirty="0"/>
          </a:p>
        </p:txBody>
      </p:sp>
      <p:sp>
        <p:nvSpPr>
          <p:cNvPr id="35" name="Text 32"/>
          <p:cNvSpPr/>
          <p:nvPr/>
        </p:nvSpPr>
        <p:spPr>
          <a:xfrm>
            <a:off x="786384" y="4443984"/>
            <a:ext cx="3584448"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Extinguisher types, hazardous combustion products</a:t>
            </a:r>
            <a:endParaRPr lang="en-US" sz="1000" dirty="0"/>
          </a:p>
        </p:txBody>
      </p:sp>
      <p:sp>
        <p:nvSpPr>
          <p:cNvPr id="36" name="Shape 33"/>
          <p:cNvSpPr/>
          <p:nvPr/>
        </p:nvSpPr>
        <p:spPr>
          <a:xfrm>
            <a:off x="4663440" y="1920240"/>
            <a:ext cx="4133088" cy="493776"/>
          </a:xfrm>
          <a:prstGeom prst="roundRect">
            <a:avLst>
              <a:gd name="adj" fmla="val 9259"/>
            </a:avLst>
          </a:prstGeom>
          <a:solidFill>
            <a:srgbClr val="FFF8E6"/>
          </a:solidFill>
          <a:ln w="15240">
            <a:solidFill>
              <a:srgbClr val="E08A00"/>
            </a:solidFill>
            <a:prstDash val="solid"/>
          </a:ln>
        </p:spPr>
        <p:txBody>
          <a:bodyPr/>
          <a:lstStyle/>
          <a:p>
            <a:endParaRPr lang="en-GB"/>
          </a:p>
        </p:txBody>
      </p:sp>
      <p:sp>
        <p:nvSpPr>
          <p:cNvPr id="37" name="Shape 34"/>
          <p:cNvSpPr/>
          <p:nvPr/>
        </p:nvSpPr>
        <p:spPr>
          <a:xfrm>
            <a:off x="4754880" y="2011680"/>
            <a:ext cx="274320" cy="274320"/>
          </a:xfrm>
          <a:prstGeom prst="ellipse">
            <a:avLst/>
          </a:prstGeom>
          <a:solidFill>
            <a:srgbClr val="E08A00"/>
          </a:solidFill>
          <a:ln w="12700">
            <a:solidFill>
              <a:srgbClr val="E08A00"/>
            </a:solidFill>
            <a:prstDash val="solid"/>
          </a:ln>
        </p:spPr>
        <p:txBody>
          <a:bodyPr/>
          <a:lstStyle/>
          <a:p>
            <a:endParaRPr lang="en-GB"/>
          </a:p>
        </p:txBody>
      </p:sp>
      <p:sp>
        <p:nvSpPr>
          <p:cNvPr id="38" name="Text 35"/>
          <p:cNvSpPr/>
          <p:nvPr/>
        </p:nvSpPr>
        <p:spPr>
          <a:xfrm>
            <a:off x="4754880" y="201168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39" name="Text 36"/>
          <p:cNvSpPr/>
          <p:nvPr/>
        </p:nvSpPr>
        <p:spPr>
          <a:xfrm>
            <a:off x="5102352" y="1956816"/>
            <a:ext cx="3584448" cy="219456"/>
          </a:xfrm>
          <a:prstGeom prst="rect">
            <a:avLst/>
          </a:prstGeom>
          <a:noFill/>
          <a:ln/>
        </p:spPr>
        <p:txBody>
          <a:bodyPr wrap="square" lIns="0" tIns="0" rIns="0" bIns="0" rtlCol="0" anchor="ctr"/>
          <a:lstStyle/>
          <a:p>
            <a:pPr marL="0" indent="0">
              <a:buNone/>
            </a:pPr>
            <a:r>
              <a:rPr lang="en-US" sz="1050" b="1" dirty="0">
                <a:solidFill>
                  <a:srgbClr val="8B6000"/>
                </a:solidFill>
                <a:latin typeface="Arial" pitchFamily="34" charset="0"/>
                <a:ea typeface="Arial" pitchFamily="34" charset="-122"/>
                <a:cs typeface="Arial" pitchFamily="34" charset="-120"/>
              </a:rPr>
              <a:t>Accidental Release</a:t>
            </a:r>
            <a:endParaRPr lang="en-US" sz="1050" dirty="0"/>
          </a:p>
        </p:txBody>
      </p:sp>
      <p:sp>
        <p:nvSpPr>
          <p:cNvPr id="40" name="Text 37"/>
          <p:cNvSpPr/>
          <p:nvPr/>
        </p:nvSpPr>
        <p:spPr>
          <a:xfrm>
            <a:off x="5102352" y="2176272"/>
            <a:ext cx="3584448"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Spill procedure, containment, disposal</a:t>
            </a:r>
            <a:endParaRPr lang="en-US" sz="1000" dirty="0"/>
          </a:p>
        </p:txBody>
      </p:sp>
      <p:sp>
        <p:nvSpPr>
          <p:cNvPr id="41" name="Shape 38"/>
          <p:cNvSpPr/>
          <p:nvPr/>
        </p:nvSpPr>
        <p:spPr>
          <a:xfrm>
            <a:off x="4663440" y="2487168"/>
            <a:ext cx="4133088" cy="493776"/>
          </a:xfrm>
          <a:prstGeom prst="roundRect">
            <a:avLst>
              <a:gd name="adj" fmla="val 9259"/>
            </a:avLst>
          </a:prstGeom>
          <a:solidFill>
            <a:srgbClr val="FFF8E6"/>
          </a:solidFill>
          <a:ln w="15240">
            <a:solidFill>
              <a:srgbClr val="E08A00"/>
            </a:solidFill>
            <a:prstDash val="solid"/>
          </a:ln>
        </p:spPr>
        <p:txBody>
          <a:bodyPr/>
          <a:lstStyle/>
          <a:p>
            <a:endParaRPr lang="en-GB"/>
          </a:p>
        </p:txBody>
      </p:sp>
      <p:sp>
        <p:nvSpPr>
          <p:cNvPr id="42" name="Shape 39"/>
          <p:cNvSpPr/>
          <p:nvPr/>
        </p:nvSpPr>
        <p:spPr>
          <a:xfrm>
            <a:off x="4754880" y="2578608"/>
            <a:ext cx="274320" cy="274320"/>
          </a:xfrm>
          <a:prstGeom prst="ellipse">
            <a:avLst/>
          </a:prstGeom>
          <a:solidFill>
            <a:srgbClr val="E08A00"/>
          </a:solidFill>
          <a:ln w="12700">
            <a:solidFill>
              <a:srgbClr val="E08A00"/>
            </a:solidFill>
            <a:prstDash val="solid"/>
          </a:ln>
        </p:spPr>
        <p:txBody>
          <a:bodyPr/>
          <a:lstStyle/>
          <a:p>
            <a:endParaRPr lang="en-GB"/>
          </a:p>
        </p:txBody>
      </p:sp>
      <p:sp>
        <p:nvSpPr>
          <p:cNvPr id="43" name="Text 40"/>
          <p:cNvSpPr/>
          <p:nvPr/>
        </p:nvSpPr>
        <p:spPr>
          <a:xfrm>
            <a:off x="4754880" y="257860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44" name="Text 41"/>
          <p:cNvSpPr/>
          <p:nvPr/>
        </p:nvSpPr>
        <p:spPr>
          <a:xfrm>
            <a:off x="5102352" y="2523744"/>
            <a:ext cx="3584448" cy="219456"/>
          </a:xfrm>
          <a:prstGeom prst="rect">
            <a:avLst/>
          </a:prstGeom>
          <a:noFill/>
          <a:ln/>
        </p:spPr>
        <p:txBody>
          <a:bodyPr wrap="square" lIns="0" tIns="0" rIns="0" bIns="0" rtlCol="0" anchor="ctr"/>
          <a:lstStyle/>
          <a:p>
            <a:pPr marL="0" indent="0">
              <a:buNone/>
            </a:pPr>
            <a:r>
              <a:rPr lang="en-US" sz="1050" b="1" dirty="0">
                <a:solidFill>
                  <a:srgbClr val="8B6000"/>
                </a:solidFill>
                <a:latin typeface="Arial" pitchFamily="34" charset="0"/>
                <a:ea typeface="Arial" pitchFamily="34" charset="-122"/>
                <a:cs typeface="Arial" pitchFamily="34" charset="-120"/>
              </a:rPr>
              <a:t>Handling and Storage</a:t>
            </a:r>
            <a:endParaRPr lang="en-US" sz="1050" dirty="0"/>
          </a:p>
        </p:txBody>
      </p:sp>
      <p:sp>
        <p:nvSpPr>
          <p:cNvPr id="45" name="Text 42"/>
          <p:cNvSpPr/>
          <p:nvPr/>
        </p:nvSpPr>
        <p:spPr>
          <a:xfrm>
            <a:off x="5102352" y="2743200"/>
            <a:ext cx="3584448"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Safe use conditions, incompatibilities</a:t>
            </a:r>
            <a:endParaRPr lang="en-US" sz="1000" dirty="0"/>
          </a:p>
        </p:txBody>
      </p:sp>
      <p:sp>
        <p:nvSpPr>
          <p:cNvPr id="46" name="Shape 43"/>
          <p:cNvSpPr/>
          <p:nvPr/>
        </p:nvSpPr>
        <p:spPr>
          <a:xfrm>
            <a:off x="4663440" y="3054096"/>
            <a:ext cx="4133088" cy="493776"/>
          </a:xfrm>
          <a:prstGeom prst="roundRect">
            <a:avLst>
              <a:gd name="adj" fmla="val 9259"/>
            </a:avLst>
          </a:prstGeom>
          <a:solidFill>
            <a:srgbClr val="FFF8E6"/>
          </a:solidFill>
          <a:ln w="15240">
            <a:solidFill>
              <a:srgbClr val="E08A00"/>
            </a:solidFill>
            <a:prstDash val="solid"/>
          </a:ln>
        </p:spPr>
        <p:txBody>
          <a:bodyPr/>
          <a:lstStyle/>
          <a:p>
            <a:endParaRPr lang="en-GB"/>
          </a:p>
        </p:txBody>
      </p:sp>
      <p:sp>
        <p:nvSpPr>
          <p:cNvPr id="47" name="Shape 44"/>
          <p:cNvSpPr/>
          <p:nvPr/>
        </p:nvSpPr>
        <p:spPr>
          <a:xfrm>
            <a:off x="4754880" y="3145536"/>
            <a:ext cx="274320" cy="274320"/>
          </a:xfrm>
          <a:prstGeom prst="ellipse">
            <a:avLst/>
          </a:prstGeom>
          <a:solidFill>
            <a:srgbClr val="E08A00"/>
          </a:solidFill>
          <a:ln w="12700">
            <a:solidFill>
              <a:srgbClr val="E08A00"/>
            </a:solidFill>
            <a:prstDash val="solid"/>
          </a:ln>
        </p:spPr>
        <p:txBody>
          <a:bodyPr/>
          <a:lstStyle/>
          <a:p>
            <a:endParaRPr lang="en-GB"/>
          </a:p>
        </p:txBody>
      </p:sp>
      <p:sp>
        <p:nvSpPr>
          <p:cNvPr id="48" name="Text 45"/>
          <p:cNvSpPr/>
          <p:nvPr/>
        </p:nvSpPr>
        <p:spPr>
          <a:xfrm>
            <a:off x="4754880" y="314553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49" name="Text 46"/>
          <p:cNvSpPr/>
          <p:nvPr/>
        </p:nvSpPr>
        <p:spPr>
          <a:xfrm>
            <a:off x="5102352" y="3090672"/>
            <a:ext cx="3584448" cy="219456"/>
          </a:xfrm>
          <a:prstGeom prst="rect">
            <a:avLst/>
          </a:prstGeom>
          <a:noFill/>
          <a:ln/>
        </p:spPr>
        <p:txBody>
          <a:bodyPr wrap="square" lIns="0" tIns="0" rIns="0" bIns="0" rtlCol="0" anchor="ctr"/>
          <a:lstStyle/>
          <a:p>
            <a:pPr marL="0" indent="0">
              <a:buNone/>
            </a:pPr>
            <a:r>
              <a:rPr lang="en-US" sz="1050" b="1" dirty="0">
                <a:solidFill>
                  <a:srgbClr val="8B6000"/>
                </a:solidFill>
                <a:latin typeface="Arial" pitchFamily="34" charset="0"/>
                <a:ea typeface="Arial" pitchFamily="34" charset="-122"/>
                <a:cs typeface="Arial" pitchFamily="34" charset="-120"/>
              </a:rPr>
              <a:t>Exposure Controls / PPE</a:t>
            </a:r>
            <a:endParaRPr lang="en-US" sz="1050" dirty="0"/>
          </a:p>
        </p:txBody>
      </p:sp>
      <p:sp>
        <p:nvSpPr>
          <p:cNvPr id="50" name="Text 47"/>
          <p:cNvSpPr/>
          <p:nvPr/>
        </p:nvSpPr>
        <p:spPr>
          <a:xfrm>
            <a:off x="5102352" y="3310128"/>
            <a:ext cx="3584448"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WEL values, required PPE specifications</a:t>
            </a:r>
            <a:endParaRPr lang="en-US" sz="1000" dirty="0"/>
          </a:p>
        </p:txBody>
      </p:sp>
      <p:sp>
        <p:nvSpPr>
          <p:cNvPr id="51" name="Shape 48"/>
          <p:cNvSpPr/>
          <p:nvPr/>
        </p:nvSpPr>
        <p:spPr>
          <a:xfrm>
            <a:off x="4663440" y="3621024"/>
            <a:ext cx="4133088" cy="493776"/>
          </a:xfrm>
          <a:prstGeom prst="roundRect">
            <a:avLst>
              <a:gd name="adj" fmla="val 9259"/>
            </a:avLst>
          </a:prstGeom>
          <a:solidFill>
            <a:srgbClr val="FFF8E6"/>
          </a:solidFill>
          <a:ln w="15240">
            <a:solidFill>
              <a:srgbClr val="E08A00"/>
            </a:solidFill>
            <a:prstDash val="solid"/>
          </a:ln>
        </p:spPr>
        <p:txBody>
          <a:bodyPr/>
          <a:lstStyle/>
          <a:p>
            <a:endParaRPr lang="en-GB"/>
          </a:p>
        </p:txBody>
      </p:sp>
      <p:sp>
        <p:nvSpPr>
          <p:cNvPr id="52" name="Shape 49"/>
          <p:cNvSpPr/>
          <p:nvPr/>
        </p:nvSpPr>
        <p:spPr>
          <a:xfrm>
            <a:off x="4754880" y="3712464"/>
            <a:ext cx="274320" cy="274320"/>
          </a:xfrm>
          <a:prstGeom prst="ellipse">
            <a:avLst/>
          </a:prstGeom>
          <a:solidFill>
            <a:srgbClr val="E08A00"/>
          </a:solidFill>
          <a:ln w="12700">
            <a:solidFill>
              <a:srgbClr val="E08A00"/>
            </a:solidFill>
            <a:prstDash val="solid"/>
          </a:ln>
        </p:spPr>
        <p:txBody>
          <a:bodyPr/>
          <a:lstStyle/>
          <a:p>
            <a:endParaRPr lang="en-GB"/>
          </a:p>
        </p:txBody>
      </p:sp>
      <p:sp>
        <p:nvSpPr>
          <p:cNvPr id="53" name="Text 50"/>
          <p:cNvSpPr/>
          <p:nvPr/>
        </p:nvSpPr>
        <p:spPr>
          <a:xfrm>
            <a:off x="4754880" y="3712464"/>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11</a:t>
            </a:r>
            <a:endParaRPr lang="en-US" sz="900" dirty="0"/>
          </a:p>
        </p:txBody>
      </p:sp>
      <p:sp>
        <p:nvSpPr>
          <p:cNvPr id="54" name="Text 51"/>
          <p:cNvSpPr/>
          <p:nvPr/>
        </p:nvSpPr>
        <p:spPr>
          <a:xfrm>
            <a:off x="5102352" y="3657600"/>
            <a:ext cx="3584448" cy="219456"/>
          </a:xfrm>
          <a:prstGeom prst="rect">
            <a:avLst/>
          </a:prstGeom>
          <a:noFill/>
          <a:ln/>
        </p:spPr>
        <p:txBody>
          <a:bodyPr wrap="square" lIns="0" tIns="0" rIns="0" bIns="0" rtlCol="0" anchor="ctr"/>
          <a:lstStyle/>
          <a:p>
            <a:pPr marL="0" indent="0">
              <a:buNone/>
            </a:pPr>
            <a:r>
              <a:rPr lang="en-US" sz="1050" b="1" dirty="0">
                <a:solidFill>
                  <a:srgbClr val="8B6000"/>
                </a:solidFill>
                <a:latin typeface="Arial" pitchFamily="34" charset="0"/>
                <a:ea typeface="Arial" pitchFamily="34" charset="-122"/>
                <a:cs typeface="Arial" pitchFamily="34" charset="-120"/>
              </a:rPr>
              <a:t>Toxicological Information</a:t>
            </a:r>
            <a:endParaRPr lang="en-US" sz="1050" dirty="0"/>
          </a:p>
        </p:txBody>
      </p:sp>
      <p:sp>
        <p:nvSpPr>
          <p:cNvPr id="55" name="Text 52"/>
          <p:cNvSpPr/>
          <p:nvPr/>
        </p:nvSpPr>
        <p:spPr>
          <a:xfrm>
            <a:off x="5102352" y="3877056"/>
            <a:ext cx="3584448"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Acute toxicity, skin/respiratory sensitisation</a:t>
            </a:r>
            <a:endParaRPr lang="en-US" sz="1000" dirty="0"/>
          </a:p>
        </p:txBody>
      </p:sp>
      <p:sp>
        <p:nvSpPr>
          <p:cNvPr id="56" name="Shape 53"/>
          <p:cNvSpPr/>
          <p:nvPr/>
        </p:nvSpPr>
        <p:spPr>
          <a:xfrm>
            <a:off x="4663440" y="4187952"/>
            <a:ext cx="4133088" cy="493776"/>
          </a:xfrm>
          <a:prstGeom prst="roundRect">
            <a:avLst>
              <a:gd name="adj" fmla="val 9259"/>
            </a:avLst>
          </a:prstGeom>
          <a:solidFill>
            <a:srgbClr val="F8F8F8"/>
          </a:solidFill>
          <a:ln w="7620">
            <a:solidFill>
              <a:srgbClr val="DDDDDD"/>
            </a:solidFill>
            <a:prstDash val="solid"/>
          </a:ln>
        </p:spPr>
        <p:txBody>
          <a:bodyPr/>
          <a:lstStyle/>
          <a:p>
            <a:endParaRPr lang="en-GB"/>
          </a:p>
        </p:txBody>
      </p:sp>
      <p:sp>
        <p:nvSpPr>
          <p:cNvPr id="57" name="Shape 54"/>
          <p:cNvSpPr/>
          <p:nvPr/>
        </p:nvSpPr>
        <p:spPr>
          <a:xfrm>
            <a:off x="4754880" y="4279392"/>
            <a:ext cx="274320" cy="274320"/>
          </a:xfrm>
          <a:prstGeom prst="ellipse">
            <a:avLst/>
          </a:prstGeom>
          <a:solidFill>
            <a:srgbClr val="5B595A"/>
          </a:solidFill>
          <a:ln w="12700">
            <a:solidFill>
              <a:srgbClr val="5B595A"/>
            </a:solidFill>
            <a:prstDash val="solid"/>
          </a:ln>
        </p:spPr>
        <p:txBody>
          <a:bodyPr/>
          <a:lstStyle/>
          <a:p>
            <a:endParaRPr lang="en-GB"/>
          </a:p>
        </p:txBody>
      </p:sp>
      <p:sp>
        <p:nvSpPr>
          <p:cNvPr id="58" name="Text 55"/>
          <p:cNvSpPr/>
          <p:nvPr/>
        </p:nvSpPr>
        <p:spPr>
          <a:xfrm>
            <a:off x="4754880" y="42793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15</a:t>
            </a:r>
            <a:endParaRPr lang="en-US" sz="900" dirty="0"/>
          </a:p>
        </p:txBody>
      </p:sp>
      <p:sp>
        <p:nvSpPr>
          <p:cNvPr id="59" name="Text 56"/>
          <p:cNvSpPr/>
          <p:nvPr/>
        </p:nvSpPr>
        <p:spPr>
          <a:xfrm>
            <a:off x="5102352" y="4224528"/>
            <a:ext cx="3584448" cy="219456"/>
          </a:xfrm>
          <a:prstGeom prst="rect">
            <a:avLst/>
          </a:prstGeom>
          <a:noFill/>
          <a:ln/>
        </p:spPr>
        <p:txBody>
          <a:bodyPr wrap="square" lIns="0" tIns="0" rIns="0" bIns="0" rtlCol="0" anchor="ctr"/>
          <a:lstStyle/>
          <a:p>
            <a:pPr marL="0" indent="0">
              <a:buNone/>
            </a:pPr>
            <a:r>
              <a:rPr lang="en-US" sz="1050" b="1" dirty="0">
                <a:solidFill>
                  <a:srgbClr val="001E3C"/>
                </a:solidFill>
                <a:latin typeface="Arial" pitchFamily="34" charset="0"/>
                <a:ea typeface="Arial" pitchFamily="34" charset="-122"/>
                <a:cs typeface="Arial" pitchFamily="34" charset="-120"/>
              </a:rPr>
              <a:t>Regulatory Information</a:t>
            </a:r>
            <a:endParaRPr lang="en-US" sz="1050" dirty="0"/>
          </a:p>
        </p:txBody>
      </p:sp>
      <p:sp>
        <p:nvSpPr>
          <p:cNvPr id="60" name="Text 57"/>
          <p:cNvSpPr/>
          <p:nvPr/>
        </p:nvSpPr>
        <p:spPr>
          <a:xfrm>
            <a:off x="5102352" y="4443984"/>
            <a:ext cx="3584448"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REACH, specific regulations applicable</a:t>
            </a:r>
            <a:endParaRPr lang="en-US" sz="1000" dirty="0"/>
          </a:p>
        </p:txBody>
      </p:sp>
      <p:sp>
        <p:nvSpPr>
          <p:cNvPr id="61" name="Rectangle 6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image.png"/>
          <p:cNvPicPr>
            <a:picLocks noChangeAspect="1"/>
          </p:cNvPicPr>
          <p:nvPr/>
        </p:nvPicPr>
        <p:blipFill>
          <a:blip r:embed="rId5"/>
          <a:stretch>
            <a:fillRect/>
          </a:stretch>
        </p:blipFill>
        <p:spPr>
          <a:xfrm>
            <a:off x="7562088" y="100584"/>
            <a:ext cx="566928" cy="347472"/>
          </a:xfrm>
          <a:prstGeom prst="rect">
            <a:avLst/>
          </a:prstGeom>
        </p:spPr>
      </p:pic>
      <p:pic>
        <p:nvPicPr>
          <p:cNvPr id="63" name="Picture 62" descr="image.png"/>
          <p:cNvPicPr>
            <a:picLocks noChangeAspect="1"/>
          </p:cNvPicPr>
          <p:nvPr/>
        </p:nvPicPr>
        <p:blipFill>
          <a:blip r:embed="rId4"/>
          <a:stretch>
            <a:fillRect/>
          </a:stretch>
        </p:blipFill>
        <p:spPr>
          <a:xfrm>
            <a:off x="8174736" y="100584"/>
            <a:ext cx="658368" cy="347472"/>
          </a:xfrm>
          <a:prstGeom prst="rect">
            <a:avLst/>
          </a:prstGeom>
        </p:spPr>
      </p:pic>
      <p:sp>
        <p:nvSpPr>
          <p:cNvPr id="64" name="Rectangle 6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Your COSHH Assessment</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What Your COSHH Assessment Tells You</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475488"/>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Your employer must produce a COSHH assessment for every hazardous substance you work with. This is not a tick-box document. It is your specific protection plan for that substance in your workplace. You must read it before working with the substance.</a:t>
            </a:r>
            <a:endParaRPr lang="en-US" sz="1300" dirty="0"/>
          </a:p>
        </p:txBody>
      </p:sp>
      <p:sp>
        <p:nvSpPr>
          <p:cNvPr id="11" name="Shape 8"/>
          <p:cNvSpPr/>
          <p:nvPr/>
        </p:nvSpPr>
        <p:spPr>
          <a:xfrm>
            <a:off x="347472" y="1920240"/>
            <a:ext cx="4133088" cy="475488"/>
          </a:xfrm>
          <a:prstGeom prst="roundRect">
            <a:avLst>
              <a:gd name="adj" fmla="val 9615"/>
            </a:avLst>
          </a:prstGeom>
          <a:solidFill>
            <a:srgbClr val="F5EEF8"/>
          </a:solidFill>
          <a:ln w="6350">
            <a:solidFill>
              <a:srgbClr val="CCCCCC"/>
            </a:solidFill>
            <a:prstDash val="solid"/>
          </a:ln>
        </p:spPr>
        <p:txBody>
          <a:bodyPr/>
          <a:lstStyle/>
          <a:p>
            <a:endParaRPr lang="en-GB"/>
          </a:p>
        </p:txBody>
      </p:sp>
      <p:sp>
        <p:nvSpPr>
          <p:cNvPr id="12" name="Shape 9"/>
          <p:cNvSpPr/>
          <p:nvPr/>
        </p:nvSpPr>
        <p:spPr>
          <a:xfrm>
            <a:off x="438912" y="2029968"/>
            <a:ext cx="237744" cy="237744"/>
          </a:xfrm>
          <a:prstGeom prst="ellipse">
            <a:avLst/>
          </a:prstGeom>
          <a:solidFill>
            <a:srgbClr val="83348F"/>
          </a:solidFill>
          <a:ln w="12700">
            <a:solidFill>
              <a:srgbClr val="83348F"/>
            </a:solidFill>
            <a:prstDash val="solid"/>
          </a:ln>
        </p:spPr>
        <p:txBody>
          <a:bodyPr/>
          <a:lstStyle/>
          <a:p>
            <a:endParaRPr lang="en-GB"/>
          </a:p>
        </p:txBody>
      </p:sp>
      <p:sp>
        <p:nvSpPr>
          <p:cNvPr id="13" name="Text 10"/>
          <p:cNvSpPr/>
          <p:nvPr/>
        </p:nvSpPr>
        <p:spPr>
          <a:xfrm>
            <a:off x="749808" y="1956816"/>
            <a:ext cx="3621024" cy="201168"/>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What the substance is</a:t>
            </a:r>
            <a:endParaRPr lang="en-US" sz="1050" dirty="0"/>
          </a:p>
        </p:txBody>
      </p:sp>
      <p:sp>
        <p:nvSpPr>
          <p:cNvPr id="14" name="Text 11"/>
          <p:cNvSpPr/>
          <p:nvPr/>
        </p:nvSpPr>
        <p:spPr>
          <a:xfrm>
            <a:off x="749808" y="2157984"/>
            <a:ext cx="3621024"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Product name, chemical name, SDS reference, hazard classification</a:t>
            </a:r>
            <a:endParaRPr lang="en-US" sz="1000" dirty="0"/>
          </a:p>
        </p:txBody>
      </p:sp>
      <p:sp>
        <p:nvSpPr>
          <p:cNvPr id="15" name="Shape 12"/>
          <p:cNvSpPr/>
          <p:nvPr/>
        </p:nvSpPr>
        <p:spPr>
          <a:xfrm>
            <a:off x="347472" y="2468880"/>
            <a:ext cx="4133088" cy="475488"/>
          </a:xfrm>
          <a:prstGeom prst="roundRect">
            <a:avLst>
              <a:gd name="adj" fmla="val 9615"/>
            </a:avLst>
          </a:prstGeom>
          <a:solidFill>
            <a:srgbClr val="FFFFFF"/>
          </a:solidFill>
          <a:ln w="6350">
            <a:solidFill>
              <a:srgbClr val="CCCCCC"/>
            </a:solidFill>
            <a:prstDash val="solid"/>
          </a:ln>
        </p:spPr>
        <p:txBody>
          <a:bodyPr/>
          <a:lstStyle/>
          <a:p>
            <a:endParaRPr lang="en-GB"/>
          </a:p>
        </p:txBody>
      </p:sp>
      <p:sp>
        <p:nvSpPr>
          <p:cNvPr id="16" name="Shape 13"/>
          <p:cNvSpPr/>
          <p:nvPr/>
        </p:nvSpPr>
        <p:spPr>
          <a:xfrm>
            <a:off x="438912" y="2578608"/>
            <a:ext cx="237744" cy="237744"/>
          </a:xfrm>
          <a:prstGeom prst="ellipse">
            <a:avLst/>
          </a:prstGeom>
          <a:solidFill>
            <a:srgbClr val="83348F"/>
          </a:solidFill>
          <a:ln w="12700">
            <a:solidFill>
              <a:srgbClr val="83348F"/>
            </a:solidFill>
            <a:prstDash val="solid"/>
          </a:ln>
        </p:spPr>
        <p:txBody>
          <a:bodyPr/>
          <a:lstStyle/>
          <a:p>
            <a:endParaRPr lang="en-GB"/>
          </a:p>
        </p:txBody>
      </p:sp>
      <p:sp>
        <p:nvSpPr>
          <p:cNvPr id="17" name="Text 14"/>
          <p:cNvSpPr/>
          <p:nvPr/>
        </p:nvSpPr>
        <p:spPr>
          <a:xfrm>
            <a:off x="749808" y="2505456"/>
            <a:ext cx="3621024" cy="201168"/>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What task you are using it for</a:t>
            </a:r>
            <a:endParaRPr lang="en-US" sz="1050" dirty="0"/>
          </a:p>
        </p:txBody>
      </p:sp>
      <p:sp>
        <p:nvSpPr>
          <p:cNvPr id="18" name="Text 15"/>
          <p:cNvSpPr/>
          <p:nvPr/>
        </p:nvSpPr>
        <p:spPr>
          <a:xfrm>
            <a:off x="749808" y="2706624"/>
            <a:ext cx="3621024"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The specific operation, machine, or process the assessment covers</a:t>
            </a:r>
            <a:endParaRPr lang="en-US" sz="1000" dirty="0"/>
          </a:p>
        </p:txBody>
      </p:sp>
      <p:sp>
        <p:nvSpPr>
          <p:cNvPr id="19" name="Shape 16"/>
          <p:cNvSpPr/>
          <p:nvPr/>
        </p:nvSpPr>
        <p:spPr>
          <a:xfrm>
            <a:off x="347472" y="3017520"/>
            <a:ext cx="4133088" cy="475488"/>
          </a:xfrm>
          <a:prstGeom prst="roundRect">
            <a:avLst>
              <a:gd name="adj" fmla="val 9615"/>
            </a:avLst>
          </a:prstGeom>
          <a:solidFill>
            <a:srgbClr val="F5EEF8"/>
          </a:solidFill>
          <a:ln w="6350">
            <a:solidFill>
              <a:srgbClr val="CCCCCC"/>
            </a:solidFill>
            <a:prstDash val="solid"/>
          </a:ln>
        </p:spPr>
        <p:txBody>
          <a:bodyPr/>
          <a:lstStyle/>
          <a:p>
            <a:endParaRPr lang="en-GB"/>
          </a:p>
        </p:txBody>
      </p:sp>
      <p:sp>
        <p:nvSpPr>
          <p:cNvPr id="20" name="Shape 17"/>
          <p:cNvSpPr/>
          <p:nvPr/>
        </p:nvSpPr>
        <p:spPr>
          <a:xfrm>
            <a:off x="438912" y="3127248"/>
            <a:ext cx="237744" cy="237744"/>
          </a:xfrm>
          <a:prstGeom prst="ellipse">
            <a:avLst/>
          </a:prstGeom>
          <a:solidFill>
            <a:srgbClr val="83348F"/>
          </a:solidFill>
          <a:ln w="12700">
            <a:solidFill>
              <a:srgbClr val="83348F"/>
            </a:solidFill>
            <a:prstDash val="solid"/>
          </a:ln>
        </p:spPr>
        <p:txBody>
          <a:bodyPr/>
          <a:lstStyle/>
          <a:p>
            <a:endParaRPr lang="en-GB"/>
          </a:p>
        </p:txBody>
      </p:sp>
      <p:sp>
        <p:nvSpPr>
          <p:cNvPr id="21" name="Text 18"/>
          <p:cNvSpPr/>
          <p:nvPr/>
        </p:nvSpPr>
        <p:spPr>
          <a:xfrm>
            <a:off x="749808" y="3054096"/>
            <a:ext cx="3621024" cy="201168"/>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Who is at risk</a:t>
            </a:r>
            <a:endParaRPr lang="en-US" sz="1050" dirty="0"/>
          </a:p>
        </p:txBody>
      </p:sp>
      <p:sp>
        <p:nvSpPr>
          <p:cNvPr id="22" name="Text 19"/>
          <p:cNvSpPr/>
          <p:nvPr/>
        </p:nvSpPr>
        <p:spPr>
          <a:xfrm>
            <a:off x="749808" y="3255264"/>
            <a:ext cx="3621024"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Which job roles or groups could be exposed, including bystanders</a:t>
            </a:r>
            <a:endParaRPr lang="en-US" sz="1000" dirty="0"/>
          </a:p>
        </p:txBody>
      </p:sp>
      <p:sp>
        <p:nvSpPr>
          <p:cNvPr id="23" name="Shape 20"/>
          <p:cNvSpPr/>
          <p:nvPr/>
        </p:nvSpPr>
        <p:spPr>
          <a:xfrm>
            <a:off x="347472" y="3566160"/>
            <a:ext cx="4133088" cy="475488"/>
          </a:xfrm>
          <a:prstGeom prst="roundRect">
            <a:avLst>
              <a:gd name="adj" fmla="val 9615"/>
            </a:avLst>
          </a:prstGeom>
          <a:solidFill>
            <a:srgbClr val="FFFFFF"/>
          </a:solidFill>
          <a:ln w="6350">
            <a:solidFill>
              <a:srgbClr val="CCCCCC"/>
            </a:solidFill>
            <a:prstDash val="solid"/>
          </a:ln>
        </p:spPr>
        <p:txBody>
          <a:bodyPr/>
          <a:lstStyle/>
          <a:p>
            <a:endParaRPr lang="en-GB"/>
          </a:p>
        </p:txBody>
      </p:sp>
      <p:sp>
        <p:nvSpPr>
          <p:cNvPr id="24" name="Shape 21"/>
          <p:cNvSpPr/>
          <p:nvPr/>
        </p:nvSpPr>
        <p:spPr>
          <a:xfrm>
            <a:off x="438912" y="3675888"/>
            <a:ext cx="237744" cy="237744"/>
          </a:xfrm>
          <a:prstGeom prst="ellipse">
            <a:avLst/>
          </a:prstGeom>
          <a:solidFill>
            <a:srgbClr val="83348F"/>
          </a:solidFill>
          <a:ln w="12700">
            <a:solidFill>
              <a:srgbClr val="83348F"/>
            </a:solidFill>
            <a:prstDash val="solid"/>
          </a:ln>
        </p:spPr>
        <p:txBody>
          <a:bodyPr/>
          <a:lstStyle/>
          <a:p>
            <a:endParaRPr lang="en-GB"/>
          </a:p>
        </p:txBody>
      </p:sp>
      <p:sp>
        <p:nvSpPr>
          <p:cNvPr id="25" name="Text 22"/>
          <p:cNvSpPr/>
          <p:nvPr/>
        </p:nvSpPr>
        <p:spPr>
          <a:xfrm>
            <a:off x="749808" y="3602736"/>
            <a:ext cx="3621024" cy="201168"/>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How you might be exposed</a:t>
            </a:r>
            <a:endParaRPr lang="en-US" sz="1050" dirty="0"/>
          </a:p>
        </p:txBody>
      </p:sp>
      <p:sp>
        <p:nvSpPr>
          <p:cNvPr id="26" name="Text 23"/>
          <p:cNvSpPr/>
          <p:nvPr/>
        </p:nvSpPr>
        <p:spPr>
          <a:xfrm>
            <a:off x="749808" y="3803904"/>
            <a:ext cx="3621024"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Which routes of entry are relevant: inhalation, skin, ingestion</a:t>
            </a:r>
            <a:endParaRPr lang="en-US" sz="1000" dirty="0"/>
          </a:p>
        </p:txBody>
      </p:sp>
      <p:sp>
        <p:nvSpPr>
          <p:cNvPr id="27" name="Shape 24"/>
          <p:cNvSpPr/>
          <p:nvPr/>
        </p:nvSpPr>
        <p:spPr>
          <a:xfrm>
            <a:off x="347472" y="4114800"/>
            <a:ext cx="4133088" cy="475488"/>
          </a:xfrm>
          <a:prstGeom prst="roundRect">
            <a:avLst>
              <a:gd name="adj" fmla="val 9615"/>
            </a:avLst>
          </a:prstGeom>
          <a:solidFill>
            <a:srgbClr val="F5EEF8"/>
          </a:solidFill>
          <a:ln w="6350">
            <a:solidFill>
              <a:srgbClr val="CCCCCC"/>
            </a:solidFill>
            <a:prstDash val="solid"/>
          </a:ln>
        </p:spPr>
        <p:txBody>
          <a:bodyPr/>
          <a:lstStyle/>
          <a:p>
            <a:endParaRPr lang="en-GB"/>
          </a:p>
        </p:txBody>
      </p:sp>
      <p:sp>
        <p:nvSpPr>
          <p:cNvPr id="28" name="Shape 25"/>
          <p:cNvSpPr/>
          <p:nvPr/>
        </p:nvSpPr>
        <p:spPr>
          <a:xfrm>
            <a:off x="438912" y="4224528"/>
            <a:ext cx="237744" cy="237744"/>
          </a:xfrm>
          <a:prstGeom prst="ellipse">
            <a:avLst/>
          </a:prstGeom>
          <a:solidFill>
            <a:srgbClr val="83348F"/>
          </a:solidFill>
          <a:ln w="12700">
            <a:solidFill>
              <a:srgbClr val="83348F"/>
            </a:solidFill>
            <a:prstDash val="solid"/>
          </a:ln>
        </p:spPr>
        <p:txBody>
          <a:bodyPr/>
          <a:lstStyle/>
          <a:p>
            <a:endParaRPr lang="en-GB"/>
          </a:p>
        </p:txBody>
      </p:sp>
      <p:sp>
        <p:nvSpPr>
          <p:cNvPr id="29" name="Text 26"/>
          <p:cNvSpPr/>
          <p:nvPr/>
        </p:nvSpPr>
        <p:spPr>
          <a:xfrm>
            <a:off x="749808" y="4151376"/>
            <a:ext cx="3621024" cy="201168"/>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What the health effects are</a:t>
            </a:r>
            <a:endParaRPr lang="en-US" sz="1050" dirty="0"/>
          </a:p>
        </p:txBody>
      </p:sp>
      <p:sp>
        <p:nvSpPr>
          <p:cNvPr id="30" name="Text 27"/>
          <p:cNvSpPr/>
          <p:nvPr/>
        </p:nvSpPr>
        <p:spPr>
          <a:xfrm>
            <a:off x="749808" y="4352544"/>
            <a:ext cx="3621024"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Both acute and chronic effects specifically relevant to this substance</a:t>
            </a:r>
            <a:endParaRPr lang="en-US" sz="1000" dirty="0"/>
          </a:p>
        </p:txBody>
      </p:sp>
      <p:sp>
        <p:nvSpPr>
          <p:cNvPr id="31" name="Shape 28"/>
          <p:cNvSpPr/>
          <p:nvPr/>
        </p:nvSpPr>
        <p:spPr>
          <a:xfrm>
            <a:off x="4663440" y="1920240"/>
            <a:ext cx="4133088" cy="475488"/>
          </a:xfrm>
          <a:prstGeom prst="roundRect">
            <a:avLst>
              <a:gd name="adj" fmla="val 9615"/>
            </a:avLst>
          </a:prstGeom>
          <a:solidFill>
            <a:srgbClr val="FFFFFF"/>
          </a:solidFill>
          <a:ln w="6350">
            <a:solidFill>
              <a:srgbClr val="CCCCCC"/>
            </a:solidFill>
            <a:prstDash val="solid"/>
          </a:ln>
        </p:spPr>
        <p:txBody>
          <a:bodyPr/>
          <a:lstStyle/>
          <a:p>
            <a:endParaRPr lang="en-GB"/>
          </a:p>
        </p:txBody>
      </p:sp>
      <p:sp>
        <p:nvSpPr>
          <p:cNvPr id="32" name="Shape 29"/>
          <p:cNvSpPr/>
          <p:nvPr/>
        </p:nvSpPr>
        <p:spPr>
          <a:xfrm>
            <a:off x="4754880" y="2029968"/>
            <a:ext cx="237744" cy="237744"/>
          </a:xfrm>
          <a:prstGeom prst="ellipse">
            <a:avLst/>
          </a:prstGeom>
          <a:solidFill>
            <a:srgbClr val="83348F"/>
          </a:solidFill>
          <a:ln w="12700">
            <a:solidFill>
              <a:srgbClr val="83348F"/>
            </a:solidFill>
            <a:prstDash val="solid"/>
          </a:ln>
        </p:spPr>
        <p:txBody>
          <a:bodyPr/>
          <a:lstStyle/>
          <a:p>
            <a:endParaRPr lang="en-GB"/>
          </a:p>
        </p:txBody>
      </p:sp>
      <p:sp>
        <p:nvSpPr>
          <p:cNvPr id="33" name="Text 30"/>
          <p:cNvSpPr/>
          <p:nvPr/>
        </p:nvSpPr>
        <p:spPr>
          <a:xfrm>
            <a:off x="5065776" y="1956816"/>
            <a:ext cx="3621024" cy="201168"/>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What controls are in place</a:t>
            </a:r>
            <a:endParaRPr lang="en-US" sz="1050" dirty="0"/>
          </a:p>
        </p:txBody>
      </p:sp>
      <p:sp>
        <p:nvSpPr>
          <p:cNvPr id="34" name="Text 31"/>
          <p:cNvSpPr/>
          <p:nvPr/>
        </p:nvSpPr>
        <p:spPr>
          <a:xfrm>
            <a:off x="5065776" y="2157984"/>
            <a:ext cx="3621024"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Engineering controls (LEV), admin controls (SOPs), health surveillance</a:t>
            </a:r>
            <a:endParaRPr lang="en-US" sz="1000" dirty="0"/>
          </a:p>
        </p:txBody>
      </p:sp>
      <p:sp>
        <p:nvSpPr>
          <p:cNvPr id="35" name="Shape 32"/>
          <p:cNvSpPr/>
          <p:nvPr/>
        </p:nvSpPr>
        <p:spPr>
          <a:xfrm>
            <a:off x="4663440" y="2468880"/>
            <a:ext cx="4133088" cy="475488"/>
          </a:xfrm>
          <a:prstGeom prst="roundRect">
            <a:avLst>
              <a:gd name="adj" fmla="val 9615"/>
            </a:avLst>
          </a:prstGeom>
          <a:solidFill>
            <a:srgbClr val="F5EEF8"/>
          </a:solidFill>
          <a:ln w="6350">
            <a:solidFill>
              <a:srgbClr val="CCCCCC"/>
            </a:solidFill>
            <a:prstDash val="solid"/>
          </a:ln>
        </p:spPr>
        <p:txBody>
          <a:bodyPr/>
          <a:lstStyle/>
          <a:p>
            <a:endParaRPr lang="en-GB"/>
          </a:p>
        </p:txBody>
      </p:sp>
      <p:sp>
        <p:nvSpPr>
          <p:cNvPr id="36" name="Shape 33"/>
          <p:cNvSpPr/>
          <p:nvPr/>
        </p:nvSpPr>
        <p:spPr>
          <a:xfrm>
            <a:off x="4754880" y="2578608"/>
            <a:ext cx="237744" cy="237744"/>
          </a:xfrm>
          <a:prstGeom prst="ellipse">
            <a:avLst/>
          </a:prstGeom>
          <a:solidFill>
            <a:srgbClr val="83348F"/>
          </a:solidFill>
          <a:ln w="12700">
            <a:solidFill>
              <a:srgbClr val="83348F"/>
            </a:solidFill>
            <a:prstDash val="solid"/>
          </a:ln>
        </p:spPr>
        <p:txBody>
          <a:bodyPr/>
          <a:lstStyle/>
          <a:p>
            <a:endParaRPr lang="en-GB"/>
          </a:p>
        </p:txBody>
      </p:sp>
      <p:sp>
        <p:nvSpPr>
          <p:cNvPr id="37" name="Text 34"/>
          <p:cNvSpPr/>
          <p:nvPr/>
        </p:nvSpPr>
        <p:spPr>
          <a:xfrm>
            <a:off x="5065776" y="2505456"/>
            <a:ext cx="3621024" cy="201168"/>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What PPE you must wear</a:t>
            </a:r>
            <a:endParaRPr lang="en-US" sz="1050" dirty="0"/>
          </a:p>
        </p:txBody>
      </p:sp>
      <p:sp>
        <p:nvSpPr>
          <p:cNvPr id="38" name="Text 35"/>
          <p:cNvSpPr/>
          <p:nvPr/>
        </p:nvSpPr>
        <p:spPr>
          <a:xfrm>
            <a:off x="5065776" y="2706624"/>
            <a:ext cx="3621024"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Specific PPE type, standard rating, and when it is required</a:t>
            </a:r>
            <a:endParaRPr lang="en-US" sz="1000" dirty="0"/>
          </a:p>
        </p:txBody>
      </p:sp>
      <p:sp>
        <p:nvSpPr>
          <p:cNvPr id="39" name="Shape 36"/>
          <p:cNvSpPr/>
          <p:nvPr/>
        </p:nvSpPr>
        <p:spPr>
          <a:xfrm>
            <a:off x="4663440" y="3017520"/>
            <a:ext cx="4133088" cy="475488"/>
          </a:xfrm>
          <a:prstGeom prst="roundRect">
            <a:avLst>
              <a:gd name="adj" fmla="val 9615"/>
            </a:avLst>
          </a:prstGeom>
          <a:solidFill>
            <a:srgbClr val="FFFFFF"/>
          </a:solidFill>
          <a:ln w="6350">
            <a:solidFill>
              <a:srgbClr val="CCCCCC"/>
            </a:solidFill>
            <a:prstDash val="solid"/>
          </a:ln>
        </p:spPr>
        <p:txBody>
          <a:bodyPr/>
          <a:lstStyle/>
          <a:p>
            <a:endParaRPr lang="en-GB"/>
          </a:p>
        </p:txBody>
      </p:sp>
      <p:sp>
        <p:nvSpPr>
          <p:cNvPr id="40" name="Shape 37"/>
          <p:cNvSpPr/>
          <p:nvPr/>
        </p:nvSpPr>
        <p:spPr>
          <a:xfrm>
            <a:off x="4754880" y="3127248"/>
            <a:ext cx="237744" cy="237744"/>
          </a:xfrm>
          <a:prstGeom prst="ellipse">
            <a:avLst/>
          </a:prstGeom>
          <a:solidFill>
            <a:srgbClr val="83348F"/>
          </a:solidFill>
          <a:ln w="12700">
            <a:solidFill>
              <a:srgbClr val="83348F"/>
            </a:solidFill>
            <a:prstDash val="solid"/>
          </a:ln>
        </p:spPr>
        <p:txBody>
          <a:bodyPr/>
          <a:lstStyle/>
          <a:p>
            <a:endParaRPr lang="en-GB"/>
          </a:p>
        </p:txBody>
      </p:sp>
      <p:sp>
        <p:nvSpPr>
          <p:cNvPr id="41" name="Text 38"/>
          <p:cNvSpPr/>
          <p:nvPr/>
        </p:nvSpPr>
        <p:spPr>
          <a:xfrm>
            <a:off x="5065776" y="3054096"/>
            <a:ext cx="3621024" cy="201168"/>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What to do in an emergency</a:t>
            </a:r>
            <a:endParaRPr lang="en-US" sz="1050" dirty="0"/>
          </a:p>
        </p:txBody>
      </p:sp>
      <p:sp>
        <p:nvSpPr>
          <p:cNvPr id="42" name="Text 39"/>
          <p:cNvSpPr/>
          <p:nvPr/>
        </p:nvSpPr>
        <p:spPr>
          <a:xfrm>
            <a:off x="5065776" y="3255264"/>
            <a:ext cx="3621024"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Spill procedure, first aid, emergency contacts</a:t>
            </a:r>
            <a:endParaRPr lang="en-US" sz="1000" dirty="0"/>
          </a:p>
        </p:txBody>
      </p:sp>
      <p:sp>
        <p:nvSpPr>
          <p:cNvPr id="43" name="Shape 40"/>
          <p:cNvSpPr/>
          <p:nvPr/>
        </p:nvSpPr>
        <p:spPr>
          <a:xfrm>
            <a:off x="4663440" y="3566160"/>
            <a:ext cx="4133088" cy="475488"/>
          </a:xfrm>
          <a:prstGeom prst="roundRect">
            <a:avLst>
              <a:gd name="adj" fmla="val 9615"/>
            </a:avLst>
          </a:prstGeom>
          <a:solidFill>
            <a:srgbClr val="F5EEF8"/>
          </a:solidFill>
          <a:ln w="6350">
            <a:solidFill>
              <a:srgbClr val="CCCCCC"/>
            </a:solidFill>
            <a:prstDash val="solid"/>
          </a:ln>
        </p:spPr>
        <p:txBody>
          <a:bodyPr/>
          <a:lstStyle/>
          <a:p>
            <a:endParaRPr lang="en-GB"/>
          </a:p>
        </p:txBody>
      </p:sp>
      <p:sp>
        <p:nvSpPr>
          <p:cNvPr id="44" name="Shape 41"/>
          <p:cNvSpPr/>
          <p:nvPr/>
        </p:nvSpPr>
        <p:spPr>
          <a:xfrm>
            <a:off x="4754880" y="3675888"/>
            <a:ext cx="237744" cy="237744"/>
          </a:xfrm>
          <a:prstGeom prst="ellipse">
            <a:avLst/>
          </a:prstGeom>
          <a:solidFill>
            <a:srgbClr val="83348F"/>
          </a:solidFill>
          <a:ln w="12700">
            <a:solidFill>
              <a:srgbClr val="83348F"/>
            </a:solidFill>
            <a:prstDash val="solid"/>
          </a:ln>
        </p:spPr>
        <p:txBody>
          <a:bodyPr/>
          <a:lstStyle/>
          <a:p>
            <a:endParaRPr lang="en-GB"/>
          </a:p>
        </p:txBody>
      </p:sp>
      <p:sp>
        <p:nvSpPr>
          <p:cNvPr id="45" name="Text 42"/>
          <p:cNvSpPr/>
          <p:nvPr/>
        </p:nvSpPr>
        <p:spPr>
          <a:xfrm>
            <a:off x="5065776" y="3602736"/>
            <a:ext cx="3621024" cy="201168"/>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When it was assessed and reviewed</a:t>
            </a:r>
            <a:endParaRPr lang="en-US" sz="1050" dirty="0"/>
          </a:p>
        </p:txBody>
      </p:sp>
      <p:sp>
        <p:nvSpPr>
          <p:cNvPr id="46" name="Text 43"/>
          <p:cNvSpPr/>
          <p:nvPr/>
        </p:nvSpPr>
        <p:spPr>
          <a:xfrm>
            <a:off x="5065776" y="3803904"/>
            <a:ext cx="3621024"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Assessment date, assessor name, and next review date</a:t>
            </a:r>
            <a:endParaRPr lang="en-US" sz="1000" dirty="0"/>
          </a:p>
        </p:txBody>
      </p:sp>
      <p:sp>
        <p:nvSpPr>
          <p:cNvPr id="47" name="Shape 44"/>
          <p:cNvSpPr/>
          <p:nvPr/>
        </p:nvSpPr>
        <p:spPr>
          <a:xfrm>
            <a:off x="4663440" y="4114800"/>
            <a:ext cx="4133088" cy="475488"/>
          </a:xfrm>
          <a:prstGeom prst="roundRect">
            <a:avLst>
              <a:gd name="adj" fmla="val 9615"/>
            </a:avLst>
          </a:prstGeom>
          <a:solidFill>
            <a:srgbClr val="F5EEF8"/>
          </a:solidFill>
          <a:ln w="6350">
            <a:solidFill>
              <a:srgbClr val="CCCCCC"/>
            </a:solidFill>
            <a:prstDash val="solid"/>
          </a:ln>
        </p:spPr>
        <p:txBody>
          <a:bodyPr/>
          <a:lstStyle/>
          <a:p>
            <a:endParaRPr lang="en-GB"/>
          </a:p>
        </p:txBody>
      </p:sp>
      <p:sp>
        <p:nvSpPr>
          <p:cNvPr id="48" name="Shape 45"/>
          <p:cNvSpPr/>
          <p:nvPr/>
        </p:nvSpPr>
        <p:spPr>
          <a:xfrm>
            <a:off x="4754880" y="4224528"/>
            <a:ext cx="237744" cy="237744"/>
          </a:xfrm>
          <a:prstGeom prst="ellipse">
            <a:avLst/>
          </a:prstGeom>
          <a:solidFill>
            <a:srgbClr val="83348F"/>
          </a:solidFill>
          <a:ln w="12700">
            <a:solidFill>
              <a:srgbClr val="83348F"/>
            </a:solidFill>
            <a:prstDash val="solid"/>
          </a:ln>
        </p:spPr>
        <p:txBody>
          <a:bodyPr/>
          <a:lstStyle/>
          <a:p>
            <a:endParaRPr lang="en-GB"/>
          </a:p>
        </p:txBody>
      </p:sp>
      <p:sp>
        <p:nvSpPr>
          <p:cNvPr id="49" name="Text 46"/>
          <p:cNvSpPr/>
          <p:nvPr/>
        </p:nvSpPr>
        <p:spPr>
          <a:xfrm>
            <a:off x="5065776" y="4151376"/>
            <a:ext cx="3621024" cy="201168"/>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When it was assessed and reviewed</a:t>
            </a:r>
            <a:endParaRPr lang="en-US" sz="1050" dirty="0"/>
          </a:p>
        </p:txBody>
      </p:sp>
      <p:sp>
        <p:nvSpPr>
          <p:cNvPr id="50" name="Text 47"/>
          <p:cNvSpPr/>
          <p:nvPr/>
        </p:nvSpPr>
        <p:spPr>
          <a:xfrm>
            <a:off x="5065776" y="4352544"/>
            <a:ext cx="3621024" cy="201168"/>
          </a:xfrm>
          <a:prstGeom prst="rect">
            <a:avLst/>
          </a:prstGeom>
          <a:noFill/>
          <a:ln/>
        </p:spPr>
        <p:txBody>
          <a:bodyPr wrap="square" lIns="0" tIns="0" rIns="0" bIns="0" rtlCol="0" anchor="ctr"/>
          <a:lstStyle/>
          <a:p>
            <a:pPr marL="0" indent="0">
              <a:buNone/>
            </a:pPr>
            <a:r>
              <a:rPr lang="en-US" sz="1000" dirty="0">
                <a:solidFill>
                  <a:srgbClr val="5B595A"/>
                </a:solidFill>
                <a:latin typeface="Arial" pitchFamily="34" charset="0"/>
                <a:ea typeface="Arial" pitchFamily="34" charset="-122"/>
                <a:cs typeface="Arial" pitchFamily="34" charset="-120"/>
              </a:rPr>
              <a:t>Assessment date, assessor name, and next review date</a:t>
            </a:r>
            <a:endParaRPr lang="en-US" sz="1000" dirty="0"/>
          </a:p>
        </p:txBody>
      </p:sp>
      <p:sp>
        <p:nvSpPr>
          <p:cNvPr id="51" name="Rectangle 5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5"/>
          <a:stretch>
            <a:fillRect/>
          </a:stretch>
        </p:blipFill>
        <p:spPr>
          <a:xfrm>
            <a:off x="7562088" y="100584"/>
            <a:ext cx="566928" cy="347472"/>
          </a:xfrm>
          <a:prstGeom prst="rect">
            <a:avLst/>
          </a:prstGeom>
        </p:spPr>
      </p:pic>
      <p:pic>
        <p:nvPicPr>
          <p:cNvPr id="53" name="Picture 52" descr="image.png"/>
          <p:cNvPicPr>
            <a:picLocks noChangeAspect="1"/>
          </p:cNvPicPr>
          <p:nvPr/>
        </p:nvPicPr>
        <p:blipFill>
          <a:blip r:embed="rId4"/>
          <a:stretch>
            <a:fillRect/>
          </a:stretch>
        </p:blipFill>
        <p:spPr>
          <a:xfrm>
            <a:off x="8174736" y="100584"/>
            <a:ext cx="658368" cy="347472"/>
          </a:xfrm>
          <a:prstGeom prst="rect">
            <a:avLst/>
          </a:prstGeom>
        </p:spPr>
      </p:pic>
      <p:sp>
        <p:nvSpPr>
          <p:cNvPr id="54" name="Rectangle 5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Control Hierarchy</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Controlling Exposure: The Right Order</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475488"/>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COSHH Regulation 7 requires employers to prevent exposure to hazardous substances, or where that is not reasonably practicable, to adequately control it. Controls must be applied in this order. PPE is always the last resort — not the first response.</a:t>
            </a:r>
            <a:endParaRPr lang="en-US" sz="1300" dirty="0"/>
          </a:p>
        </p:txBody>
      </p:sp>
      <p:sp>
        <p:nvSpPr>
          <p:cNvPr id="11" name="Shape 8"/>
          <p:cNvSpPr/>
          <p:nvPr/>
        </p:nvSpPr>
        <p:spPr>
          <a:xfrm>
            <a:off x="347472" y="1901952"/>
            <a:ext cx="8449056" cy="512064"/>
          </a:xfrm>
          <a:prstGeom prst="rect">
            <a:avLst/>
          </a:prstGeom>
          <a:solidFill>
            <a:srgbClr val="1A5E2A"/>
          </a:solidFill>
          <a:ln w="12700">
            <a:solidFill>
              <a:srgbClr val="1A5E2A"/>
            </a:solidFill>
            <a:prstDash val="solid"/>
          </a:ln>
        </p:spPr>
        <p:txBody>
          <a:bodyPr/>
          <a:lstStyle/>
          <a:p>
            <a:endParaRPr lang="en-GB"/>
          </a:p>
        </p:txBody>
      </p:sp>
      <p:sp>
        <p:nvSpPr>
          <p:cNvPr id="12" name="Text 9"/>
          <p:cNvSpPr/>
          <p:nvPr/>
        </p:nvSpPr>
        <p:spPr>
          <a:xfrm>
            <a:off x="457200" y="1920240"/>
            <a:ext cx="2560320" cy="47548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1. ELIMINATION  |  Most Effective</a:t>
            </a:r>
            <a:endParaRPr lang="en-US" sz="1000" dirty="0"/>
          </a:p>
        </p:txBody>
      </p:sp>
      <p:sp>
        <p:nvSpPr>
          <p:cNvPr id="13" name="Text 10"/>
          <p:cNvSpPr/>
          <p:nvPr/>
        </p:nvSpPr>
        <p:spPr>
          <a:xfrm>
            <a:off x="3090672" y="1920240"/>
            <a:ext cx="5568696" cy="47548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Remove the hazardous substance completely. Can the process be redesigned so the substance is no longer needed? Example: water-based adhesive replacing solvent-based.</a:t>
            </a:r>
            <a:endParaRPr lang="en-US" sz="1050" dirty="0"/>
          </a:p>
        </p:txBody>
      </p:sp>
      <p:sp>
        <p:nvSpPr>
          <p:cNvPr id="14" name="Shape 11"/>
          <p:cNvSpPr/>
          <p:nvPr/>
        </p:nvSpPr>
        <p:spPr>
          <a:xfrm>
            <a:off x="530352" y="2487168"/>
            <a:ext cx="8083296" cy="512064"/>
          </a:xfrm>
          <a:prstGeom prst="rect">
            <a:avLst/>
          </a:prstGeom>
          <a:solidFill>
            <a:srgbClr val="2E8B57"/>
          </a:solidFill>
          <a:ln w="12700">
            <a:solidFill>
              <a:srgbClr val="2E8B57"/>
            </a:solidFill>
            <a:prstDash val="solid"/>
          </a:ln>
        </p:spPr>
        <p:txBody>
          <a:bodyPr/>
          <a:lstStyle/>
          <a:p>
            <a:endParaRPr lang="en-GB"/>
          </a:p>
        </p:txBody>
      </p:sp>
      <p:sp>
        <p:nvSpPr>
          <p:cNvPr id="15" name="Text 12"/>
          <p:cNvSpPr/>
          <p:nvPr/>
        </p:nvSpPr>
        <p:spPr>
          <a:xfrm>
            <a:off x="640080" y="2505456"/>
            <a:ext cx="2560320" cy="47548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2. SUBSTITUTION</a:t>
            </a:r>
            <a:endParaRPr lang="en-US" sz="1000" dirty="0"/>
          </a:p>
        </p:txBody>
      </p:sp>
      <p:sp>
        <p:nvSpPr>
          <p:cNvPr id="16" name="Text 13"/>
          <p:cNvSpPr/>
          <p:nvPr/>
        </p:nvSpPr>
        <p:spPr>
          <a:xfrm>
            <a:off x="3273552" y="2505456"/>
            <a:ext cx="5202936" cy="47548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Replace with a less hazardous substance or form. Example: soluble cutting oil with a lower sensitisation potential. Water-miscible paint instead of solvent-borne.</a:t>
            </a:r>
            <a:endParaRPr lang="en-US" sz="1050" dirty="0"/>
          </a:p>
        </p:txBody>
      </p:sp>
      <p:sp>
        <p:nvSpPr>
          <p:cNvPr id="17" name="Shape 14"/>
          <p:cNvSpPr/>
          <p:nvPr/>
        </p:nvSpPr>
        <p:spPr>
          <a:xfrm>
            <a:off x="713232" y="3072384"/>
            <a:ext cx="7717536" cy="512064"/>
          </a:xfrm>
          <a:prstGeom prst="rect">
            <a:avLst/>
          </a:prstGeom>
          <a:solidFill>
            <a:srgbClr val="006FAA"/>
          </a:solidFill>
          <a:ln w="12700">
            <a:solidFill>
              <a:srgbClr val="006FAA"/>
            </a:solidFill>
            <a:prstDash val="solid"/>
          </a:ln>
        </p:spPr>
        <p:txBody>
          <a:bodyPr/>
          <a:lstStyle/>
          <a:p>
            <a:endParaRPr lang="en-GB"/>
          </a:p>
        </p:txBody>
      </p:sp>
      <p:sp>
        <p:nvSpPr>
          <p:cNvPr id="18" name="Text 15"/>
          <p:cNvSpPr/>
          <p:nvPr/>
        </p:nvSpPr>
        <p:spPr>
          <a:xfrm>
            <a:off x="822960" y="3090672"/>
            <a:ext cx="2560320" cy="47548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3. ENGINEERING CONTROLS</a:t>
            </a:r>
            <a:endParaRPr lang="en-US" sz="1000" dirty="0"/>
          </a:p>
        </p:txBody>
      </p:sp>
      <p:sp>
        <p:nvSpPr>
          <p:cNvPr id="19" name="Text 16"/>
          <p:cNvSpPr/>
          <p:nvPr/>
        </p:nvSpPr>
        <p:spPr>
          <a:xfrm>
            <a:off x="3456432" y="3090672"/>
            <a:ext cx="4837176" cy="47548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Physical controls to contain or extract the substance. Local Exhaust Ventilation (LEV), total enclosure, wetting down of dusts, enclosed processes. Must be maintained and tested.</a:t>
            </a:r>
            <a:endParaRPr lang="en-US" sz="1050" dirty="0"/>
          </a:p>
        </p:txBody>
      </p:sp>
      <p:sp>
        <p:nvSpPr>
          <p:cNvPr id="20" name="Shape 17"/>
          <p:cNvSpPr/>
          <p:nvPr/>
        </p:nvSpPr>
        <p:spPr>
          <a:xfrm>
            <a:off x="896112" y="3657600"/>
            <a:ext cx="7351776" cy="512064"/>
          </a:xfrm>
          <a:prstGeom prst="rect">
            <a:avLst/>
          </a:prstGeom>
          <a:solidFill>
            <a:srgbClr val="E08A00"/>
          </a:solidFill>
          <a:ln w="12700">
            <a:solidFill>
              <a:srgbClr val="E08A00"/>
            </a:solidFill>
            <a:prstDash val="solid"/>
          </a:ln>
        </p:spPr>
        <p:txBody>
          <a:bodyPr/>
          <a:lstStyle/>
          <a:p>
            <a:endParaRPr lang="en-GB"/>
          </a:p>
        </p:txBody>
      </p:sp>
      <p:sp>
        <p:nvSpPr>
          <p:cNvPr id="21" name="Text 18"/>
          <p:cNvSpPr/>
          <p:nvPr/>
        </p:nvSpPr>
        <p:spPr>
          <a:xfrm>
            <a:off x="1005840" y="3675888"/>
            <a:ext cx="2560320" cy="47548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4. ADMINISTRATIVE CONTROLS</a:t>
            </a:r>
            <a:endParaRPr lang="en-US" sz="1000" dirty="0"/>
          </a:p>
        </p:txBody>
      </p:sp>
      <p:sp>
        <p:nvSpPr>
          <p:cNvPr id="22" name="Text 19"/>
          <p:cNvSpPr/>
          <p:nvPr/>
        </p:nvSpPr>
        <p:spPr>
          <a:xfrm>
            <a:off x="3639312" y="3675888"/>
            <a:ext cx="4471416" cy="47548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Reduce exposure through how work is organised. Limit duration of exposure, rotate workers, restrict access to areas, safe systems of work, good supervision, training.</a:t>
            </a:r>
            <a:endParaRPr lang="en-US" sz="1050" dirty="0"/>
          </a:p>
        </p:txBody>
      </p:sp>
      <p:sp>
        <p:nvSpPr>
          <p:cNvPr id="23" name="Shape 20"/>
          <p:cNvSpPr/>
          <p:nvPr/>
        </p:nvSpPr>
        <p:spPr>
          <a:xfrm>
            <a:off x="1078992" y="4242816"/>
            <a:ext cx="6986016" cy="512064"/>
          </a:xfrm>
          <a:prstGeom prst="rect">
            <a:avLst/>
          </a:prstGeom>
          <a:solidFill>
            <a:srgbClr val="C0392B"/>
          </a:solidFill>
          <a:ln w="12700">
            <a:solidFill>
              <a:srgbClr val="C0392B"/>
            </a:solidFill>
            <a:prstDash val="solid"/>
          </a:ln>
        </p:spPr>
        <p:txBody>
          <a:bodyPr/>
          <a:lstStyle/>
          <a:p>
            <a:endParaRPr lang="en-GB"/>
          </a:p>
        </p:txBody>
      </p:sp>
      <p:sp>
        <p:nvSpPr>
          <p:cNvPr id="24" name="Text 21"/>
          <p:cNvSpPr/>
          <p:nvPr/>
        </p:nvSpPr>
        <p:spPr>
          <a:xfrm>
            <a:off x="1188720" y="4261104"/>
            <a:ext cx="2560320" cy="47548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5. PPE  |  Least Effective</a:t>
            </a:r>
            <a:endParaRPr lang="en-US" sz="1000" dirty="0"/>
          </a:p>
        </p:txBody>
      </p:sp>
      <p:sp>
        <p:nvSpPr>
          <p:cNvPr id="25" name="Text 22"/>
          <p:cNvSpPr/>
          <p:nvPr/>
        </p:nvSpPr>
        <p:spPr>
          <a:xfrm>
            <a:off x="3822192" y="4261104"/>
            <a:ext cx="4105656" cy="475488"/>
          </a:xfrm>
          <a:prstGeom prst="rect">
            <a:avLst/>
          </a:prstGeom>
          <a:noFill/>
          <a:ln/>
        </p:spPr>
        <p:txBody>
          <a:bodyPr wrap="square" lIns="0" tIns="0" rIns="0" bIns="0" rtlCol="0" anchor="ctr"/>
          <a:lstStyle/>
          <a:p>
            <a:pPr marL="0" indent="0">
              <a:buNone/>
            </a:pPr>
            <a:r>
              <a:rPr lang="en-US" sz="1050" dirty="0">
                <a:solidFill>
                  <a:srgbClr val="FFFFFF"/>
                </a:solidFill>
                <a:latin typeface="Arial" pitchFamily="34" charset="0"/>
                <a:ea typeface="Arial" pitchFamily="34" charset="-122"/>
                <a:cs typeface="Arial" pitchFamily="34" charset="-120"/>
              </a:rPr>
              <a:t>Respiratory Protective Equipment, gloves, aprons, eye protection as the final layer of protection. Must be the correct type, properly fitted, maintained, and consistently worn.</a:t>
            </a:r>
            <a:endParaRPr lang="en-US" sz="1050" dirty="0"/>
          </a:p>
        </p:txBody>
      </p:sp>
      <p:sp>
        <p:nvSpPr>
          <p:cNvPr id="26" name="Rectangle 25"/>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7562088" y="100584"/>
            <a:ext cx="566928" cy="347472"/>
          </a:xfrm>
          <a:prstGeom prst="rect">
            <a:avLst/>
          </a:prstGeom>
        </p:spPr>
      </p:pic>
      <p:pic>
        <p:nvPicPr>
          <p:cNvPr id="28" name="Picture 27" descr="image.png"/>
          <p:cNvPicPr>
            <a:picLocks noChangeAspect="1"/>
          </p:cNvPicPr>
          <p:nvPr/>
        </p:nvPicPr>
        <p:blipFill>
          <a:blip r:embed="rId4"/>
          <a:stretch>
            <a:fillRect/>
          </a:stretch>
        </p:blipFill>
        <p:spPr>
          <a:xfrm>
            <a:off x="8174736" y="100584"/>
            <a:ext cx="658368" cy="347472"/>
          </a:xfrm>
          <a:prstGeom prst="rect">
            <a:avLst/>
          </a:prstGeom>
        </p:spPr>
      </p:pic>
      <p:sp>
        <p:nvSpPr>
          <p:cNvPr id="29" name="Rectangle 28"/>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Engineering Controls</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Local Exhaust Ventilation (LEV): Your Primary Defence</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530352"/>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Local Exhaust Ventilation (LEV) is the most important engineering control for airborne hazardous substances in manufacturing. When designed, positioned, and maintained correctly, LEV captures fume, dust, or vapour at the point of generation before it enters the breathing zone. It only works if it is used correctly every time.</a:t>
            </a:r>
            <a:endParaRPr lang="en-US" sz="1300" dirty="0"/>
          </a:p>
        </p:txBody>
      </p:sp>
      <p:sp>
        <p:nvSpPr>
          <p:cNvPr id="11" name="Shape 8"/>
          <p:cNvSpPr/>
          <p:nvPr/>
        </p:nvSpPr>
        <p:spPr>
          <a:xfrm>
            <a:off x="347472" y="1938528"/>
            <a:ext cx="4160520" cy="320040"/>
          </a:xfrm>
          <a:prstGeom prst="rect">
            <a:avLst/>
          </a:prstGeom>
          <a:solidFill>
            <a:srgbClr val="2E8B57"/>
          </a:solidFill>
          <a:ln w="12700">
            <a:solidFill>
              <a:srgbClr val="2E8B57"/>
            </a:solidFill>
            <a:prstDash val="solid"/>
          </a:ln>
        </p:spPr>
        <p:txBody>
          <a:bodyPr/>
          <a:lstStyle/>
          <a:p>
            <a:endParaRPr lang="en-GB"/>
          </a:p>
        </p:txBody>
      </p:sp>
      <p:sp>
        <p:nvSpPr>
          <p:cNvPr id="12" name="Text 9"/>
          <p:cNvSpPr/>
          <p:nvPr/>
        </p:nvSpPr>
        <p:spPr>
          <a:xfrm>
            <a:off x="457200" y="1956816"/>
            <a:ext cx="3977640"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Using LEV Correctly</a:t>
            </a:r>
            <a:endParaRPr lang="en-US" sz="1150" dirty="0"/>
          </a:p>
        </p:txBody>
      </p:sp>
      <p:sp>
        <p:nvSpPr>
          <p:cNvPr id="13" name="Shape 10"/>
          <p:cNvSpPr/>
          <p:nvPr/>
        </p:nvSpPr>
        <p:spPr>
          <a:xfrm>
            <a:off x="402336" y="2331720"/>
            <a:ext cx="164592" cy="164592"/>
          </a:xfrm>
          <a:prstGeom prst="ellipse">
            <a:avLst/>
          </a:prstGeom>
          <a:solidFill>
            <a:srgbClr val="2E8B57"/>
          </a:solidFill>
          <a:ln w="12700">
            <a:solidFill>
              <a:srgbClr val="2E8B57"/>
            </a:solidFill>
            <a:prstDash val="solid"/>
          </a:ln>
        </p:spPr>
        <p:txBody>
          <a:bodyPr/>
          <a:lstStyle/>
          <a:p>
            <a:endParaRPr lang="en-GB"/>
          </a:p>
        </p:txBody>
      </p:sp>
      <p:sp>
        <p:nvSpPr>
          <p:cNvPr id="14" name="Text 11"/>
          <p:cNvSpPr/>
          <p:nvPr/>
        </p:nvSpPr>
        <p:spPr>
          <a:xfrm>
            <a:off x="640080" y="2304288"/>
            <a:ext cx="374904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Position the extraction hood within the specified distance of the source (typically within 100-300mm for welding LEV)</a:t>
            </a:r>
            <a:endParaRPr lang="en-US" sz="1100" dirty="0"/>
          </a:p>
        </p:txBody>
      </p:sp>
      <p:sp>
        <p:nvSpPr>
          <p:cNvPr id="15" name="Shape 12"/>
          <p:cNvSpPr/>
          <p:nvPr/>
        </p:nvSpPr>
        <p:spPr>
          <a:xfrm>
            <a:off x="402336" y="2724912"/>
            <a:ext cx="164592" cy="164592"/>
          </a:xfrm>
          <a:prstGeom prst="ellipse">
            <a:avLst/>
          </a:prstGeom>
          <a:solidFill>
            <a:srgbClr val="2E8B57"/>
          </a:solidFill>
          <a:ln w="12700">
            <a:solidFill>
              <a:srgbClr val="2E8B57"/>
            </a:solidFill>
            <a:prstDash val="solid"/>
          </a:ln>
        </p:spPr>
        <p:txBody>
          <a:bodyPr/>
          <a:lstStyle/>
          <a:p>
            <a:endParaRPr lang="en-GB"/>
          </a:p>
        </p:txBody>
      </p:sp>
      <p:sp>
        <p:nvSpPr>
          <p:cNvPr id="16" name="Text 13"/>
          <p:cNvSpPr/>
          <p:nvPr/>
        </p:nvSpPr>
        <p:spPr>
          <a:xfrm>
            <a:off x="640080" y="2697480"/>
            <a:ext cx="374904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Switch LEV on before starting work and leave it running for a period after work stops to clear residual fume</a:t>
            </a:r>
            <a:endParaRPr lang="en-US" sz="1100" dirty="0"/>
          </a:p>
        </p:txBody>
      </p:sp>
      <p:sp>
        <p:nvSpPr>
          <p:cNvPr id="17" name="Shape 14"/>
          <p:cNvSpPr/>
          <p:nvPr/>
        </p:nvSpPr>
        <p:spPr>
          <a:xfrm>
            <a:off x="402336" y="3118104"/>
            <a:ext cx="164592" cy="164592"/>
          </a:xfrm>
          <a:prstGeom prst="ellipse">
            <a:avLst/>
          </a:prstGeom>
          <a:solidFill>
            <a:srgbClr val="2E8B57"/>
          </a:solidFill>
          <a:ln w="12700">
            <a:solidFill>
              <a:srgbClr val="2E8B57"/>
            </a:solidFill>
            <a:prstDash val="solid"/>
          </a:ln>
        </p:spPr>
        <p:txBody>
          <a:bodyPr/>
          <a:lstStyle/>
          <a:p>
            <a:endParaRPr lang="en-GB"/>
          </a:p>
        </p:txBody>
      </p:sp>
      <p:sp>
        <p:nvSpPr>
          <p:cNvPr id="18" name="Text 15"/>
          <p:cNvSpPr/>
          <p:nvPr/>
        </p:nvSpPr>
        <p:spPr>
          <a:xfrm>
            <a:off x="640080" y="3090672"/>
            <a:ext cx="374904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Check the face velocity and airflow indicator before starting work if one is fitted</a:t>
            </a:r>
            <a:endParaRPr lang="en-US" sz="1100" dirty="0"/>
          </a:p>
        </p:txBody>
      </p:sp>
      <p:sp>
        <p:nvSpPr>
          <p:cNvPr id="19" name="Shape 16"/>
          <p:cNvSpPr/>
          <p:nvPr/>
        </p:nvSpPr>
        <p:spPr>
          <a:xfrm>
            <a:off x="402336" y="3511296"/>
            <a:ext cx="164592" cy="164592"/>
          </a:xfrm>
          <a:prstGeom prst="ellipse">
            <a:avLst/>
          </a:prstGeom>
          <a:solidFill>
            <a:srgbClr val="2E8B57"/>
          </a:solidFill>
          <a:ln w="12700">
            <a:solidFill>
              <a:srgbClr val="2E8B57"/>
            </a:solidFill>
            <a:prstDash val="solid"/>
          </a:ln>
        </p:spPr>
        <p:txBody>
          <a:bodyPr/>
          <a:lstStyle/>
          <a:p>
            <a:endParaRPr lang="en-GB"/>
          </a:p>
        </p:txBody>
      </p:sp>
      <p:sp>
        <p:nvSpPr>
          <p:cNvPr id="20" name="Text 17"/>
          <p:cNvSpPr/>
          <p:nvPr/>
        </p:nvSpPr>
        <p:spPr>
          <a:xfrm>
            <a:off x="640080" y="3483864"/>
            <a:ext cx="374904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Report any signs of reduced airflow, unusual noise, or visual signs of fume escaping to your supervisor</a:t>
            </a:r>
            <a:endParaRPr lang="en-US" sz="1100" dirty="0"/>
          </a:p>
        </p:txBody>
      </p:sp>
      <p:sp>
        <p:nvSpPr>
          <p:cNvPr id="21" name="Shape 18"/>
          <p:cNvSpPr/>
          <p:nvPr/>
        </p:nvSpPr>
        <p:spPr>
          <a:xfrm>
            <a:off x="402336" y="3904488"/>
            <a:ext cx="164592" cy="164592"/>
          </a:xfrm>
          <a:prstGeom prst="ellipse">
            <a:avLst/>
          </a:prstGeom>
          <a:solidFill>
            <a:srgbClr val="2E8B57"/>
          </a:solidFill>
          <a:ln w="12700">
            <a:solidFill>
              <a:srgbClr val="2E8B57"/>
            </a:solidFill>
            <a:prstDash val="solid"/>
          </a:ln>
        </p:spPr>
        <p:txBody>
          <a:bodyPr/>
          <a:lstStyle/>
          <a:p>
            <a:endParaRPr lang="en-GB"/>
          </a:p>
        </p:txBody>
      </p:sp>
      <p:sp>
        <p:nvSpPr>
          <p:cNvPr id="22" name="Text 19"/>
          <p:cNvSpPr/>
          <p:nvPr/>
        </p:nvSpPr>
        <p:spPr>
          <a:xfrm>
            <a:off x="640080" y="3877056"/>
            <a:ext cx="374904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Never block or redirect LEV ductwork with materials, equipment, or other obstructions</a:t>
            </a:r>
            <a:endParaRPr lang="en-US" sz="1100" dirty="0"/>
          </a:p>
        </p:txBody>
      </p:sp>
      <p:sp>
        <p:nvSpPr>
          <p:cNvPr id="23" name="Shape 20"/>
          <p:cNvSpPr/>
          <p:nvPr/>
        </p:nvSpPr>
        <p:spPr>
          <a:xfrm>
            <a:off x="4663440" y="1938528"/>
            <a:ext cx="4133088" cy="320040"/>
          </a:xfrm>
          <a:prstGeom prst="rect">
            <a:avLst/>
          </a:prstGeom>
          <a:solidFill>
            <a:srgbClr val="C0392B"/>
          </a:solidFill>
          <a:ln w="12700">
            <a:solidFill>
              <a:srgbClr val="C0392B"/>
            </a:solidFill>
            <a:prstDash val="solid"/>
          </a:ln>
        </p:spPr>
        <p:txBody>
          <a:bodyPr/>
          <a:lstStyle/>
          <a:p>
            <a:endParaRPr lang="en-GB"/>
          </a:p>
        </p:txBody>
      </p:sp>
      <p:sp>
        <p:nvSpPr>
          <p:cNvPr id="24" name="Text 21"/>
          <p:cNvSpPr/>
          <p:nvPr/>
        </p:nvSpPr>
        <p:spPr>
          <a:xfrm>
            <a:off x="4773168" y="1956816"/>
            <a:ext cx="3931920"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Common LEV Mistakes</a:t>
            </a:r>
            <a:endParaRPr lang="en-US" sz="1150" dirty="0"/>
          </a:p>
        </p:txBody>
      </p:sp>
      <p:sp>
        <p:nvSpPr>
          <p:cNvPr id="25" name="Shape 22"/>
          <p:cNvSpPr/>
          <p:nvPr/>
        </p:nvSpPr>
        <p:spPr>
          <a:xfrm>
            <a:off x="4718304" y="2331720"/>
            <a:ext cx="146304" cy="146304"/>
          </a:xfrm>
          <a:prstGeom prst="rect">
            <a:avLst/>
          </a:prstGeom>
          <a:solidFill>
            <a:srgbClr val="C0392B"/>
          </a:solidFill>
          <a:ln w="12700">
            <a:solidFill>
              <a:srgbClr val="C0392B"/>
            </a:solidFill>
            <a:prstDash val="solid"/>
          </a:ln>
        </p:spPr>
        <p:txBody>
          <a:bodyPr/>
          <a:lstStyle/>
          <a:p>
            <a:endParaRPr lang="en-GB"/>
          </a:p>
        </p:txBody>
      </p:sp>
      <p:sp>
        <p:nvSpPr>
          <p:cNvPr id="26" name="Text 23"/>
          <p:cNvSpPr/>
          <p:nvPr/>
        </p:nvSpPr>
        <p:spPr>
          <a:xfrm>
            <a:off x="4937760" y="2304288"/>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Hood too far from source — fume escapes before being captured</a:t>
            </a:r>
            <a:endParaRPr lang="en-US" sz="1100" dirty="0"/>
          </a:p>
        </p:txBody>
      </p:sp>
      <p:sp>
        <p:nvSpPr>
          <p:cNvPr id="27" name="Shape 24"/>
          <p:cNvSpPr/>
          <p:nvPr/>
        </p:nvSpPr>
        <p:spPr>
          <a:xfrm>
            <a:off x="4718304" y="2724912"/>
            <a:ext cx="146304" cy="146304"/>
          </a:xfrm>
          <a:prstGeom prst="rect">
            <a:avLst/>
          </a:prstGeom>
          <a:solidFill>
            <a:srgbClr val="C0392B"/>
          </a:solidFill>
          <a:ln w="12700">
            <a:solidFill>
              <a:srgbClr val="C0392B"/>
            </a:solidFill>
            <a:prstDash val="solid"/>
          </a:ln>
        </p:spPr>
        <p:txBody>
          <a:bodyPr/>
          <a:lstStyle/>
          <a:p>
            <a:endParaRPr lang="en-GB"/>
          </a:p>
        </p:txBody>
      </p:sp>
      <p:sp>
        <p:nvSpPr>
          <p:cNvPr id="28" name="Text 25"/>
          <p:cNvSpPr/>
          <p:nvPr/>
        </p:nvSpPr>
        <p:spPr>
          <a:xfrm>
            <a:off x="4937760" y="2697480"/>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Working on the wrong side of the extraction — fume drawn across the breathing zone</a:t>
            </a:r>
            <a:endParaRPr lang="en-US" sz="1100" dirty="0"/>
          </a:p>
        </p:txBody>
      </p:sp>
      <p:sp>
        <p:nvSpPr>
          <p:cNvPr id="29" name="Shape 26"/>
          <p:cNvSpPr/>
          <p:nvPr/>
        </p:nvSpPr>
        <p:spPr>
          <a:xfrm>
            <a:off x="4718304" y="3118104"/>
            <a:ext cx="146304" cy="146304"/>
          </a:xfrm>
          <a:prstGeom prst="rect">
            <a:avLst/>
          </a:prstGeom>
          <a:solidFill>
            <a:srgbClr val="C0392B"/>
          </a:solidFill>
          <a:ln w="12700">
            <a:solidFill>
              <a:srgbClr val="C0392B"/>
            </a:solidFill>
            <a:prstDash val="solid"/>
          </a:ln>
        </p:spPr>
        <p:txBody>
          <a:bodyPr/>
          <a:lstStyle/>
          <a:p>
            <a:endParaRPr lang="en-GB"/>
          </a:p>
        </p:txBody>
      </p:sp>
      <p:sp>
        <p:nvSpPr>
          <p:cNvPr id="30" name="Text 27"/>
          <p:cNvSpPr/>
          <p:nvPr/>
        </p:nvSpPr>
        <p:spPr>
          <a:xfrm>
            <a:off x="4937760" y="3090672"/>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LEV switched off to save time before work is complete</a:t>
            </a:r>
            <a:endParaRPr lang="en-US" sz="1100" dirty="0"/>
          </a:p>
        </p:txBody>
      </p:sp>
      <p:sp>
        <p:nvSpPr>
          <p:cNvPr id="31" name="Shape 28"/>
          <p:cNvSpPr/>
          <p:nvPr/>
        </p:nvSpPr>
        <p:spPr>
          <a:xfrm>
            <a:off x="4718304" y="3511296"/>
            <a:ext cx="146304" cy="146304"/>
          </a:xfrm>
          <a:prstGeom prst="rect">
            <a:avLst/>
          </a:prstGeom>
          <a:solidFill>
            <a:srgbClr val="C0392B"/>
          </a:solidFill>
          <a:ln w="12700">
            <a:solidFill>
              <a:srgbClr val="C0392B"/>
            </a:solidFill>
            <a:prstDash val="solid"/>
          </a:ln>
        </p:spPr>
        <p:txBody>
          <a:bodyPr/>
          <a:lstStyle/>
          <a:p>
            <a:endParaRPr lang="en-GB"/>
          </a:p>
        </p:txBody>
      </p:sp>
      <p:sp>
        <p:nvSpPr>
          <p:cNvPr id="32" name="Text 29"/>
          <p:cNvSpPr/>
          <p:nvPr/>
        </p:nvSpPr>
        <p:spPr>
          <a:xfrm>
            <a:off x="4937760" y="3483864"/>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Ductwork blocked, kinked, or disconnected reducing airflow substantially</a:t>
            </a:r>
            <a:endParaRPr lang="en-US" sz="1100" dirty="0"/>
          </a:p>
        </p:txBody>
      </p:sp>
      <p:sp>
        <p:nvSpPr>
          <p:cNvPr id="33" name="Shape 30"/>
          <p:cNvSpPr/>
          <p:nvPr/>
        </p:nvSpPr>
        <p:spPr>
          <a:xfrm>
            <a:off x="4718304" y="3904488"/>
            <a:ext cx="146304" cy="146304"/>
          </a:xfrm>
          <a:prstGeom prst="rect">
            <a:avLst/>
          </a:prstGeom>
          <a:solidFill>
            <a:srgbClr val="C0392B"/>
          </a:solidFill>
          <a:ln w="12700">
            <a:solidFill>
              <a:srgbClr val="C0392B"/>
            </a:solidFill>
            <a:prstDash val="solid"/>
          </a:ln>
        </p:spPr>
        <p:txBody>
          <a:bodyPr/>
          <a:lstStyle/>
          <a:p>
            <a:endParaRPr lang="en-GB"/>
          </a:p>
        </p:txBody>
      </p:sp>
      <p:sp>
        <p:nvSpPr>
          <p:cNvPr id="34" name="Text 31"/>
          <p:cNvSpPr/>
          <p:nvPr/>
        </p:nvSpPr>
        <p:spPr>
          <a:xfrm>
            <a:off x="4937760" y="3877056"/>
            <a:ext cx="3794760" cy="347472"/>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Assuming LEV is working because it makes noise — flow must be verified</a:t>
            </a:r>
            <a:endParaRPr lang="en-US" sz="1100" dirty="0"/>
          </a:p>
        </p:txBody>
      </p:sp>
      <p:sp>
        <p:nvSpPr>
          <p:cNvPr id="35" name="Shape 32"/>
          <p:cNvSpPr/>
          <p:nvPr/>
        </p:nvSpPr>
        <p:spPr>
          <a:xfrm>
            <a:off x="347472" y="4462272"/>
            <a:ext cx="8449056" cy="402336"/>
          </a:xfrm>
          <a:prstGeom prst="roundRect">
            <a:avLst>
              <a:gd name="adj" fmla="val 13636"/>
            </a:avLst>
          </a:prstGeom>
          <a:solidFill>
            <a:srgbClr val="001E3C"/>
          </a:solidFill>
          <a:ln w="12700">
            <a:solidFill>
              <a:srgbClr val="001E3C"/>
            </a:solidFill>
            <a:prstDash val="solid"/>
          </a:ln>
        </p:spPr>
        <p:txBody>
          <a:bodyPr/>
          <a:lstStyle/>
          <a:p>
            <a:endParaRPr lang="en-GB"/>
          </a:p>
        </p:txBody>
      </p:sp>
      <p:sp>
        <p:nvSpPr>
          <p:cNvPr id="36" name="Text 33"/>
          <p:cNvSpPr/>
          <p:nvPr/>
        </p:nvSpPr>
        <p:spPr>
          <a:xfrm>
            <a:off x="475488" y="4480560"/>
            <a:ext cx="8229600" cy="365760"/>
          </a:xfrm>
          <a:prstGeom prst="rect">
            <a:avLst/>
          </a:prstGeom>
          <a:noFill/>
          <a:ln/>
        </p:spPr>
        <p:txBody>
          <a:bodyPr wrap="square" lIns="0" tIns="0" rIns="0" bIns="0" rtlCol="0" anchor="ctr"/>
          <a:lstStyle/>
          <a:p>
            <a:pPr marL="0" indent="0">
              <a:buNone/>
            </a:pPr>
            <a:r>
              <a:rPr lang="en-US" sz="1150" b="1" dirty="0">
                <a:solidFill>
                  <a:srgbClr val="009FE3"/>
                </a:solidFill>
                <a:latin typeface="Arial" pitchFamily="34" charset="0"/>
                <a:ea typeface="Arial" pitchFamily="34" charset="-122"/>
                <a:cs typeface="Arial" pitchFamily="34" charset="-120"/>
              </a:rPr>
              <a:t>Legal requirement:  </a:t>
            </a:r>
            <a:r>
              <a:rPr lang="en-US" sz="1150" dirty="0">
                <a:solidFill>
                  <a:srgbClr val="FFFFFF"/>
                </a:solidFill>
                <a:latin typeface="Arial" pitchFamily="34" charset="0"/>
                <a:ea typeface="Arial" pitchFamily="34" charset="-122"/>
                <a:cs typeface="Arial" pitchFamily="34" charset="-120"/>
              </a:rPr>
              <a:t>LEV systems must be examined and tested by a competent person at least every 14 months under COSHH Regulation 9. Records must be kept for at least 5 years. Employers must not use LEV known to be faulty.</a:t>
            </a:r>
            <a:endParaRPr lang="en-US" sz="1150" dirty="0"/>
          </a:p>
        </p:txBody>
      </p:sp>
      <p:sp>
        <p:nvSpPr>
          <p:cNvPr id="37" name="Rectangle 3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5"/>
          <a:stretch>
            <a:fillRect/>
          </a:stretch>
        </p:blipFill>
        <p:spPr>
          <a:xfrm>
            <a:off x="7562088" y="100584"/>
            <a:ext cx="566928" cy="347472"/>
          </a:xfrm>
          <a:prstGeom prst="rect">
            <a:avLst/>
          </a:prstGeom>
        </p:spPr>
      </p:pic>
      <p:pic>
        <p:nvPicPr>
          <p:cNvPr id="39" name="Picture 38" descr="image.png"/>
          <p:cNvPicPr>
            <a:picLocks noChangeAspect="1"/>
          </p:cNvPicPr>
          <p:nvPr/>
        </p:nvPicPr>
        <p:blipFill>
          <a:blip r:embed="rId4"/>
          <a:stretch>
            <a:fillRect/>
          </a:stretch>
        </p:blipFill>
        <p:spPr>
          <a:xfrm>
            <a:off x="8174736" y="100584"/>
            <a:ext cx="658368" cy="347472"/>
          </a:xfrm>
          <a:prstGeom prst="rect">
            <a:avLst/>
          </a:prstGeom>
        </p:spPr>
      </p:pic>
      <p:sp>
        <p:nvSpPr>
          <p:cNvPr id="40" name="Rectangle 3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PPE for COSHH</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Selecting and Using PPE for Hazardous Substances</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475488"/>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When engineering and administrative controls are not sufficient alone, PPE provides the final layer of protection. The COSHH assessment specifies exactly which PPE is required for each substance. Generic PPE does not provide adequate protection. Specification matters.</a:t>
            </a:r>
            <a:endParaRPr lang="en-US" sz="1300" dirty="0"/>
          </a:p>
        </p:txBody>
      </p:sp>
      <p:sp>
        <p:nvSpPr>
          <p:cNvPr id="11" name="Shape 8"/>
          <p:cNvSpPr/>
          <p:nvPr/>
        </p:nvSpPr>
        <p:spPr>
          <a:xfrm>
            <a:off x="347472" y="1920240"/>
            <a:ext cx="4133088" cy="1207008"/>
          </a:xfrm>
          <a:prstGeom prst="roundRect">
            <a:avLst>
              <a:gd name="adj" fmla="val 6061"/>
            </a:avLst>
          </a:prstGeom>
          <a:solidFill>
            <a:srgbClr val="F8F8F8"/>
          </a:solidFill>
          <a:ln w="8890">
            <a:solidFill>
              <a:srgbClr val="DDDDDD"/>
            </a:solidFill>
            <a:prstDash val="solid"/>
          </a:ln>
        </p:spPr>
        <p:txBody>
          <a:bodyPr/>
          <a:lstStyle/>
          <a:p>
            <a:endParaRPr lang="en-GB"/>
          </a:p>
        </p:txBody>
      </p:sp>
      <p:sp>
        <p:nvSpPr>
          <p:cNvPr id="12" name="Shape 9"/>
          <p:cNvSpPr/>
          <p:nvPr/>
        </p:nvSpPr>
        <p:spPr>
          <a:xfrm>
            <a:off x="438912" y="2002536"/>
            <a:ext cx="512064" cy="512064"/>
          </a:xfrm>
          <a:prstGeom prst="ellipse">
            <a:avLst/>
          </a:prstGeom>
          <a:solidFill>
            <a:srgbClr val="83348F"/>
          </a:solidFill>
          <a:ln w="12700">
            <a:solidFill>
              <a:srgbClr val="83348F"/>
            </a:solidFill>
            <a:prstDash val="solid"/>
          </a:ln>
        </p:spPr>
        <p:txBody>
          <a:bodyPr/>
          <a:lstStyle/>
          <a:p>
            <a:endParaRPr lang="en-GB"/>
          </a:p>
        </p:txBody>
      </p:sp>
      <p:pic>
        <p:nvPicPr>
          <p:cNvPr id="13" name="Image 1" descr="preencoded.png"/>
          <p:cNvPicPr>
            <a:picLocks noChangeAspect="1"/>
          </p:cNvPicPr>
          <p:nvPr/>
        </p:nvPicPr>
        <p:blipFill>
          <a:blip r:embed="rId4"/>
          <a:stretch>
            <a:fillRect/>
          </a:stretch>
        </p:blipFill>
        <p:spPr>
          <a:xfrm>
            <a:off x="554126" y="2117750"/>
            <a:ext cx="281635" cy="281635"/>
          </a:xfrm>
          <a:prstGeom prst="rect">
            <a:avLst/>
          </a:prstGeom>
        </p:spPr>
      </p:pic>
      <p:sp>
        <p:nvSpPr>
          <p:cNvPr id="14" name="Text 10"/>
          <p:cNvSpPr/>
          <p:nvPr/>
        </p:nvSpPr>
        <p:spPr>
          <a:xfrm>
            <a:off x="1060704" y="2011680"/>
            <a:ext cx="3310128" cy="329184"/>
          </a:xfrm>
          <a:prstGeom prst="rect">
            <a:avLst/>
          </a:prstGeom>
          <a:noFill/>
          <a:ln/>
        </p:spPr>
        <p:txBody>
          <a:bodyPr wrap="square" lIns="0" tIns="0" rIns="0" bIns="0" rtlCol="0" anchor="ctr"/>
          <a:lstStyle/>
          <a:p>
            <a:pPr marL="0" indent="0">
              <a:buNone/>
            </a:pPr>
            <a:r>
              <a:rPr lang="en-US" sz="1100" b="1" dirty="0">
                <a:solidFill>
                  <a:srgbClr val="83348F"/>
                </a:solidFill>
                <a:latin typeface="Arial" pitchFamily="34" charset="0"/>
                <a:ea typeface="Arial" pitchFamily="34" charset="-122"/>
                <a:cs typeface="Arial" pitchFamily="34" charset="-120"/>
              </a:rPr>
              <a:t>Respiratory Protective Equipment (RPE)</a:t>
            </a:r>
            <a:endParaRPr lang="en-US" sz="1100" dirty="0"/>
          </a:p>
        </p:txBody>
      </p:sp>
      <p:sp>
        <p:nvSpPr>
          <p:cNvPr id="15" name="Text 11"/>
          <p:cNvSpPr/>
          <p:nvPr/>
        </p:nvSpPr>
        <p:spPr>
          <a:xfrm>
            <a:off x="438912" y="2450592"/>
            <a:ext cx="3931920" cy="621792"/>
          </a:xfrm>
          <a:prstGeom prst="rect">
            <a:avLst/>
          </a:prstGeom>
          <a:noFill/>
          <a:ln/>
        </p:spPr>
        <p:txBody>
          <a:bodyPr wrap="square" lIns="0" tIns="0" rIns="0" bIns="0" rtlCol="0" anchor="t"/>
          <a:lstStyle/>
          <a:p>
            <a:pPr marL="0" indent="0">
              <a:buNone/>
            </a:pPr>
            <a:r>
              <a:rPr lang="en-US" sz="1000" dirty="0">
                <a:solidFill>
                  <a:srgbClr val="5B595A"/>
                </a:solidFill>
                <a:latin typeface="Arial" pitchFamily="34" charset="0"/>
                <a:ea typeface="Arial" pitchFamily="34" charset="-122"/>
                <a:cs typeface="Arial" pitchFamily="34" charset="-120"/>
              </a:rPr>
              <a:t>FFP2 or FFP3 disposable masks are not equivalent. FFP3 required for carcinogens. Half-face with P3 filter for dusts/particulates. OV (organic vapour) cartridge for solvents. Face fit test required for tight-fitting RPE. Check expiry dates on disposable masks.</a:t>
            </a:r>
            <a:endParaRPr lang="en-US" sz="1000" dirty="0"/>
          </a:p>
        </p:txBody>
      </p:sp>
      <p:sp>
        <p:nvSpPr>
          <p:cNvPr id="16" name="Shape 12"/>
          <p:cNvSpPr/>
          <p:nvPr/>
        </p:nvSpPr>
        <p:spPr>
          <a:xfrm>
            <a:off x="4663440" y="1920240"/>
            <a:ext cx="4133088" cy="1207008"/>
          </a:xfrm>
          <a:prstGeom prst="roundRect">
            <a:avLst>
              <a:gd name="adj" fmla="val 6061"/>
            </a:avLst>
          </a:prstGeom>
          <a:solidFill>
            <a:srgbClr val="F8F8F8"/>
          </a:solidFill>
          <a:ln w="8890">
            <a:solidFill>
              <a:srgbClr val="DDDDDD"/>
            </a:solidFill>
            <a:prstDash val="solid"/>
          </a:ln>
        </p:spPr>
        <p:txBody>
          <a:bodyPr/>
          <a:lstStyle/>
          <a:p>
            <a:endParaRPr lang="en-GB"/>
          </a:p>
        </p:txBody>
      </p:sp>
      <p:sp>
        <p:nvSpPr>
          <p:cNvPr id="17" name="Shape 13"/>
          <p:cNvSpPr/>
          <p:nvPr/>
        </p:nvSpPr>
        <p:spPr>
          <a:xfrm>
            <a:off x="4754880" y="2002536"/>
            <a:ext cx="512064" cy="512064"/>
          </a:xfrm>
          <a:prstGeom prst="ellipse">
            <a:avLst/>
          </a:prstGeom>
          <a:solidFill>
            <a:srgbClr val="009FE3"/>
          </a:solidFill>
          <a:ln w="12700">
            <a:solidFill>
              <a:srgbClr val="009FE3"/>
            </a:solidFill>
            <a:prstDash val="solid"/>
          </a:ln>
        </p:spPr>
        <p:txBody>
          <a:bodyPr/>
          <a:lstStyle/>
          <a:p>
            <a:endParaRPr lang="en-GB"/>
          </a:p>
        </p:txBody>
      </p:sp>
      <p:pic>
        <p:nvPicPr>
          <p:cNvPr id="18" name="Image 2" descr="preencoded.png"/>
          <p:cNvPicPr>
            <a:picLocks noChangeAspect="1"/>
          </p:cNvPicPr>
          <p:nvPr/>
        </p:nvPicPr>
        <p:blipFill>
          <a:blip r:embed="rId5"/>
          <a:stretch>
            <a:fillRect/>
          </a:stretch>
        </p:blipFill>
        <p:spPr>
          <a:xfrm>
            <a:off x="4870094" y="2117750"/>
            <a:ext cx="281635" cy="281635"/>
          </a:xfrm>
          <a:prstGeom prst="rect">
            <a:avLst/>
          </a:prstGeom>
        </p:spPr>
      </p:pic>
      <p:sp>
        <p:nvSpPr>
          <p:cNvPr id="19" name="Text 14"/>
          <p:cNvSpPr/>
          <p:nvPr/>
        </p:nvSpPr>
        <p:spPr>
          <a:xfrm>
            <a:off x="5376672" y="2011680"/>
            <a:ext cx="3310128" cy="329184"/>
          </a:xfrm>
          <a:prstGeom prst="rect">
            <a:avLst/>
          </a:prstGeom>
          <a:noFill/>
          <a:ln/>
        </p:spPr>
        <p:txBody>
          <a:bodyPr wrap="square" lIns="0" tIns="0" rIns="0" bIns="0" rtlCol="0" anchor="ctr"/>
          <a:lstStyle/>
          <a:p>
            <a:pPr marL="0" indent="0">
              <a:buNone/>
            </a:pPr>
            <a:r>
              <a:rPr lang="en-US" sz="1100" b="1" dirty="0">
                <a:solidFill>
                  <a:srgbClr val="009FE3"/>
                </a:solidFill>
                <a:latin typeface="Arial" pitchFamily="34" charset="0"/>
                <a:ea typeface="Arial" pitchFamily="34" charset="-122"/>
                <a:cs typeface="Arial" pitchFamily="34" charset="-120"/>
              </a:rPr>
              <a:t>Gloves</a:t>
            </a:r>
            <a:endParaRPr lang="en-US" sz="1100" dirty="0"/>
          </a:p>
        </p:txBody>
      </p:sp>
      <p:sp>
        <p:nvSpPr>
          <p:cNvPr id="20" name="Text 15"/>
          <p:cNvSpPr/>
          <p:nvPr/>
        </p:nvSpPr>
        <p:spPr>
          <a:xfrm>
            <a:off x="4754880" y="2450592"/>
            <a:ext cx="3931920" cy="621792"/>
          </a:xfrm>
          <a:prstGeom prst="rect">
            <a:avLst/>
          </a:prstGeom>
          <a:noFill/>
          <a:ln/>
        </p:spPr>
        <p:txBody>
          <a:bodyPr wrap="square" lIns="0" tIns="0" rIns="0" bIns="0" rtlCol="0" anchor="t"/>
          <a:lstStyle/>
          <a:p>
            <a:pPr marL="0" indent="0">
              <a:buNone/>
            </a:pPr>
            <a:r>
              <a:rPr lang="en-US" sz="1000" dirty="0">
                <a:solidFill>
                  <a:srgbClr val="5B595A"/>
                </a:solidFill>
                <a:latin typeface="Arial" pitchFamily="34" charset="0"/>
                <a:ea typeface="Arial" pitchFamily="34" charset="-122"/>
                <a:cs typeface="Arial" pitchFamily="34" charset="-120"/>
              </a:rPr>
              <a:t>Different materials protect against different chemicals. Nitrile for oils and solvents. Neoprene for acids. Latex avoided where skin sensitisation risk exists. Check EN374 chemical resistance standards. Gloves have breakthrough times — check the SDS and do not exceed them.</a:t>
            </a:r>
            <a:endParaRPr lang="en-US" sz="1000" dirty="0"/>
          </a:p>
        </p:txBody>
      </p:sp>
      <p:sp>
        <p:nvSpPr>
          <p:cNvPr id="21" name="Shape 16"/>
          <p:cNvSpPr/>
          <p:nvPr/>
        </p:nvSpPr>
        <p:spPr>
          <a:xfrm>
            <a:off x="347472" y="3246120"/>
            <a:ext cx="4133088" cy="1207008"/>
          </a:xfrm>
          <a:prstGeom prst="roundRect">
            <a:avLst>
              <a:gd name="adj" fmla="val 6061"/>
            </a:avLst>
          </a:prstGeom>
          <a:solidFill>
            <a:srgbClr val="F8F8F8"/>
          </a:solidFill>
          <a:ln w="8890">
            <a:solidFill>
              <a:srgbClr val="DDDDDD"/>
            </a:solidFill>
            <a:prstDash val="solid"/>
          </a:ln>
        </p:spPr>
        <p:txBody>
          <a:bodyPr/>
          <a:lstStyle/>
          <a:p>
            <a:endParaRPr lang="en-GB"/>
          </a:p>
        </p:txBody>
      </p:sp>
      <p:sp>
        <p:nvSpPr>
          <p:cNvPr id="22" name="Shape 17"/>
          <p:cNvSpPr/>
          <p:nvPr/>
        </p:nvSpPr>
        <p:spPr>
          <a:xfrm>
            <a:off x="438912" y="3328416"/>
            <a:ext cx="512064" cy="512064"/>
          </a:xfrm>
          <a:prstGeom prst="ellipse">
            <a:avLst/>
          </a:prstGeom>
          <a:solidFill>
            <a:srgbClr val="E08A00"/>
          </a:solidFill>
          <a:ln w="12700">
            <a:solidFill>
              <a:srgbClr val="E08A00"/>
            </a:solidFill>
            <a:prstDash val="solid"/>
          </a:ln>
        </p:spPr>
        <p:txBody>
          <a:bodyPr/>
          <a:lstStyle/>
          <a:p>
            <a:endParaRPr lang="en-GB"/>
          </a:p>
        </p:txBody>
      </p:sp>
      <p:pic>
        <p:nvPicPr>
          <p:cNvPr id="23" name="Image 3" descr="preencoded.png"/>
          <p:cNvPicPr>
            <a:picLocks noChangeAspect="1"/>
          </p:cNvPicPr>
          <p:nvPr/>
        </p:nvPicPr>
        <p:blipFill>
          <a:blip r:embed="rId6"/>
          <a:stretch>
            <a:fillRect/>
          </a:stretch>
        </p:blipFill>
        <p:spPr>
          <a:xfrm>
            <a:off x="554126" y="3443630"/>
            <a:ext cx="281635" cy="281635"/>
          </a:xfrm>
          <a:prstGeom prst="rect">
            <a:avLst/>
          </a:prstGeom>
        </p:spPr>
      </p:pic>
      <p:sp>
        <p:nvSpPr>
          <p:cNvPr id="24" name="Text 18"/>
          <p:cNvSpPr/>
          <p:nvPr/>
        </p:nvSpPr>
        <p:spPr>
          <a:xfrm>
            <a:off x="1060704" y="3337560"/>
            <a:ext cx="3310128" cy="329184"/>
          </a:xfrm>
          <a:prstGeom prst="rect">
            <a:avLst/>
          </a:prstGeom>
          <a:noFill/>
          <a:ln/>
        </p:spPr>
        <p:txBody>
          <a:bodyPr wrap="square" lIns="0" tIns="0" rIns="0" bIns="0" rtlCol="0" anchor="ctr"/>
          <a:lstStyle/>
          <a:p>
            <a:pPr marL="0" indent="0">
              <a:buNone/>
            </a:pPr>
            <a:r>
              <a:rPr lang="en-US" sz="1100" b="1" dirty="0">
                <a:solidFill>
                  <a:srgbClr val="E08A00"/>
                </a:solidFill>
                <a:latin typeface="Arial" pitchFamily="34" charset="0"/>
                <a:ea typeface="Arial" pitchFamily="34" charset="-122"/>
                <a:cs typeface="Arial" pitchFamily="34" charset="-120"/>
              </a:rPr>
              <a:t>Eye and Face Protection</a:t>
            </a:r>
            <a:endParaRPr lang="en-US" sz="1100" dirty="0"/>
          </a:p>
        </p:txBody>
      </p:sp>
      <p:sp>
        <p:nvSpPr>
          <p:cNvPr id="25" name="Text 19"/>
          <p:cNvSpPr/>
          <p:nvPr/>
        </p:nvSpPr>
        <p:spPr>
          <a:xfrm>
            <a:off x="438912" y="3776472"/>
            <a:ext cx="3931920" cy="621792"/>
          </a:xfrm>
          <a:prstGeom prst="rect">
            <a:avLst/>
          </a:prstGeom>
          <a:noFill/>
          <a:ln/>
        </p:spPr>
        <p:txBody>
          <a:bodyPr wrap="square" lIns="0" tIns="0" rIns="0" bIns="0" rtlCol="0" anchor="t"/>
          <a:lstStyle/>
          <a:p>
            <a:pPr marL="0" indent="0">
              <a:buNone/>
            </a:pPr>
            <a:r>
              <a:rPr lang="en-US" sz="1000" dirty="0">
                <a:solidFill>
                  <a:srgbClr val="5B595A"/>
                </a:solidFill>
                <a:latin typeface="Arial" pitchFamily="34" charset="0"/>
                <a:ea typeface="Arial" pitchFamily="34" charset="-122"/>
                <a:cs typeface="Arial" pitchFamily="34" charset="-120"/>
              </a:rPr>
              <a:t>Safety glasses alone do not protect against splashes. Chemical splash goggles (indirect venting) required where splashing risk exists. Face shield required for transfer of bulk hazardous liquids. UV-blocking visor mandatory for welding. Check EN166 classification.</a:t>
            </a:r>
            <a:endParaRPr lang="en-US" sz="1000" dirty="0"/>
          </a:p>
        </p:txBody>
      </p:sp>
      <p:sp>
        <p:nvSpPr>
          <p:cNvPr id="26" name="Shape 20"/>
          <p:cNvSpPr/>
          <p:nvPr/>
        </p:nvSpPr>
        <p:spPr>
          <a:xfrm>
            <a:off x="4663440" y="3246120"/>
            <a:ext cx="4133088" cy="1207008"/>
          </a:xfrm>
          <a:prstGeom prst="roundRect">
            <a:avLst>
              <a:gd name="adj" fmla="val 6061"/>
            </a:avLst>
          </a:prstGeom>
          <a:solidFill>
            <a:srgbClr val="F8F8F8"/>
          </a:solidFill>
          <a:ln w="8890">
            <a:solidFill>
              <a:srgbClr val="DDDDDD"/>
            </a:solidFill>
            <a:prstDash val="solid"/>
          </a:ln>
        </p:spPr>
        <p:txBody>
          <a:bodyPr/>
          <a:lstStyle/>
          <a:p>
            <a:endParaRPr lang="en-GB"/>
          </a:p>
        </p:txBody>
      </p:sp>
      <p:sp>
        <p:nvSpPr>
          <p:cNvPr id="27" name="Shape 21"/>
          <p:cNvSpPr/>
          <p:nvPr/>
        </p:nvSpPr>
        <p:spPr>
          <a:xfrm>
            <a:off x="4754880" y="3328416"/>
            <a:ext cx="512064" cy="512064"/>
          </a:xfrm>
          <a:prstGeom prst="ellipse">
            <a:avLst/>
          </a:prstGeom>
          <a:solidFill>
            <a:srgbClr val="2E8B57"/>
          </a:solidFill>
          <a:ln w="12700">
            <a:solidFill>
              <a:srgbClr val="2E8B57"/>
            </a:solidFill>
            <a:prstDash val="solid"/>
          </a:ln>
        </p:spPr>
        <p:txBody>
          <a:bodyPr/>
          <a:lstStyle/>
          <a:p>
            <a:endParaRPr lang="en-GB"/>
          </a:p>
        </p:txBody>
      </p:sp>
      <p:pic>
        <p:nvPicPr>
          <p:cNvPr id="28" name="Image 4" descr="preencoded.png"/>
          <p:cNvPicPr>
            <a:picLocks noChangeAspect="1"/>
          </p:cNvPicPr>
          <p:nvPr/>
        </p:nvPicPr>
        <p:blipFill>
          <a:blip r:embed="rId7"/>
          <a:stretch>
            <a:fillRect/>
          </a:stretch>
        </p:blipFill>
        <p:spPr>
          <a:xfrm>
            <a:off x="4870094" y="3443630"/>
            <a:ext cx="281635" cy="281635"/>
          </a:xfrm>
          <a:prstGeom prst="rect">
            <a:avLst/>
          </a:prstGeom>
        </p:spPr>
      </p:pic>
      <p:sp>
        <p:nvSpPr>
          <p:cNvPr id="29" name="Text 22"/>
          <p:cNvSpPr/>
          <p:nvPr/>
        </p:nvSpPr>
        <p:spPr>
          <a:xfrm>
            <a:off x="5376672" y="3337560"/>
            <a:ext cx="3310128" cy="329184"/>
          </a:xfrm>
          <a:prstGeom prst="rect">
            <a:avLst/>
          </a:prstGeom>
          <a:noFill/>
          <a:ln/>
        </p:spPr>
        <p:txBody>
          <a:bodyPr wrap="square" lIns="0" tIns="0" rIns="0" bIns="0" rtlCol="0" anchor="ctr"/>
          <a:lstStyle/>
          <a:p>
            <a:pPr marL="0" indent="0">
              <a:buNone/>
            </a:pPr>
            <a:r>
              <a:rPr lang="en-US" sz="1100" b="1" dirty="0">
                <a:solidFill>
                  <a:srgbClr val="2E8B57"/>
                </a:solidFill>
                <a:latin typeface="Arial" pitchFamily="34" charset="0"/>
                <a:ea typeface="Arial" pitchFamily="34" charset="-122"/>
                <a:cs typeface="Arial" pitchFamily="34" charset="-120"/>
              </a:rPr>
              <a:t>Skin and Body Protection</a:t>
            </a:r>
            <a:endParaRPr lang="en-US" sz="1100" dirty="0"/>
          </a:p>
        </p:txBody>
      </p:sp>
      <p:sp>
        <p:nvSpPr>
          <p:cNvPr id="30" name="Text 23"/>
          <p:cNvSpPr/>
          <p:nvPr/>
        </p:nvSpPr>
        <p:spPr>
          <a:xfrm>
            <a:off x="4754880" y="3776472"/>
            <a:ext cx="3931920" cy="621792"/>
          </a:xfrm>
          <a:prstGeom prst="rect">
            <a:avLst/>
          </a:prstGeom>
          <a:noFill/>
          <a:ln/>
        </p:spPr>
        <p:txBody>
          <a:bodyPr wrap="square" lIns="0" tIns="0" rIns="0" bIns="0" rtlCol="0" anchor="t"/>
          <a:lstStyle/>
          <a:p>
            <a:pPr marL="0" indent="0">
              <a:buNone/>
            </a:pPr>
            <a:r>
              <a:rPr lang="en-US" sz="1000" dirty="0">
                <a:solidFill>
                  <a:srgbClr val="5B595A"/>
                </a:solidFill>
                <a:latin typeface="Arial" pitchFamily="34" charset="0"/>
                <a:ea typeface="Arial" pitchFamily="34" charset="-122"/>
                <a:cs typeface="Arial" pitchFamily="34" charset="-120"/>
              </a:rPr>
              <a:t>Chemical-resistant apron or lab coat for splashing risk. Full coverall for total enclosure entry or high contamination tasks. Ankle boots or wellingtons for floor-level chemical risk. Replace items that become contaminated — do not continue wearing.</a:t>
            </a:r>
            <a:endParaRPr lang="en-US" sz="1000" dirty="0"/>
          </a:p>
        </p:txBody>
      </p:sp>
      <p:sp>
        <p:nvSpPr>
          <p:cNvPr id="31" name="Rectangle 3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9"/>
          <a:stretch>
            <a:fillRect/>
          </a:stretch>
        </p:blipFill>
        <p:spPr>
          <a:xfrm>
            <a:off x="7562088" y="100584"/>
            <a:ext cx="566928" cy="347472"/>
          </a:xfrm>
          <a:prstGeom prst="rect">
            <a:avLst/>
          </a:prstGeom>
        </p:spPr>
      </p:pic>
      <p:pic>
        <p:nvPicPr>
          <p:cNvPr id="33" name="Picture 32" descr="image.png"/>
          <p:cNvPicPr>
            <a:picLocks noChangeAspect="1"/>
          </p:cNvPicPr>
          <p:nvPr/>
        </p:nvPicPr>
        <p:blipFill>
          <a:blip r:embed="rId8"/>
          <a:stretch>
            <a:fillRect/>
          </a:stretch>
        </p:blipFill>
        <p:spPr>
          <a:xfrm>
            <a:off x="8174736" y="100584"/>
            <a:ext cx="658368" cy="347472"/>
          </a:xfrm>
          <a:prstGeom prst="rect">
            <a:avLst/>
          </a:prstGeom>
        </p:spPr>
      </p:pic>
      <p:sp>
        <p:nvSpPr>
          <p:cNvPr id="34" name="Rectangle 3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Skin Protection</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Protecting Your Skin: Dermatitis is Preventable</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530352"/>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Occupational skin disease, primarily contact dermatitis, is one of the most common occupational health conditions in manufacturing. It is also almost entirely preventable. Once skin becomes sensitised to a substance, even tiny amounts can trigger a reaction for the rest of a person's working life.</a:t>
            </a:r>
            <a:endParaRPr lang="en-US" sz="1300" dirty="0"/>
          </a:p>
        </p:txBody>
      </p:sp>
      <p:sp>
        <p:nvSpPr>
          <p:cNvPr id="11" name="Shape 8"/>
          <p:cNvSpPr/>
          <p:nvPr/>
        </p:nvSpPr>
        <p:spPr>
          <a:xfrm>
            <a:off x="347472" y="1938528"/>
            <a:ext cx="4160520" cy="320040"/>
          </a:xfrm>
          <a:prstGeom prst="rect">
            <a:avLst/>
          </a:prstGeom>
          <a:solidFill>
            <a:srgbClr val="E08A00"/>
          </a:solidFill>
          <a:ln w="12700">
            <a:solidFill>
              <a:srgbClr val="E08A00"/>
            </a:solidFill>
            <a:prstDash val="solid"/>
          </a:ln>
        </p:spPr>
        <p:txBody>
          <a:bodyPr/>
          <a:lstStyle/>
          <a:p>
            <a:endParaRPr lang="en-GB"/>
          </a:p>
        </p:txBody>
      </p:sp>
      <p:sp>
        <p:nvSpPr>
          <p:cNvPr id="12" name="Text 9"/>
          <p:cNvSpPr/>
          <p:nvPr/>
        </p:nvSpPr>
        <p:spPr>
          <a:xfrm>
            <a:off x="457200" y="1956816"/>
            <a:ext cx="3977640"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The Skin Care Routine: Three Steps</a:t>
            </a:r>
            <a:endParaRPr lang="en-US" sz="1150" dirty="0"/>
          </a:p>
        </p:txBody>
      </p:sp>
      <p:sp>
        <p:nvSpPr>
          <p:cNvPr id="13" name="Shape 10"/>
          <p:cNvSpPr/>
          <p:nvPr/>
        </p:nvSpPr>
        <p:spPr>
          <a:xfrm>
            <a:off x="347472" y="2322576"/>
            <a:ext cx="4133088" cy="658368"/>
          </a:xfrm>
          <a:prstGeom prst="roundRect">
            <a:avLst>
              <a:gd name="adj" fmla="val 8333"/>
            </a:avLst>
          </a:prstGeom>
          <a:solidFill>
            <a:srgbClr val="FFF8E6"/>
          </a:solidFill>
          <a:ln w="10160">
            <a:solidFill>
              <a:srgbClr val="E08A00"/>
            </a:solidFill>
            <a:prstDash val="solid"/>
          </a:ln>
        </p:spPr>
        <p:txBody>
          <a:bodyPr/>
          <a:lstStyle/>
          <a:p>
            <a:endParaRPr lang="en-GB"/>
          </a:p>
        </p:txBody>
      </p:sp>
      <p:sp>
        <p:nvSpPr>
          <p:cNvPr id="14" name="Shape 11"/>
          <p:cNvSpPr/>
          <p:nvPr/>
        </p:nvSpPr>
        <p:spPr>
          <a:xfrm>
            <a:off x="420624" y="2459736"/>
            <a:ext cx="365760" cy="365760"/>
          </a:xfrm>
          <a:prstGeom prst="ellipse">
            <a:avLst/>
          </a:prstGeom>
          <a:solidFill>
            <a:srgbClr val="E08A00"/>
          </a:solidFill>
          <a:ln w="12700">
            <a:solidFill>
              <a:srgbClr val="E08A00"/>
            </a:solidFill>
            <a:prstDash val="solid"/>
          </a:ln>
        </p:spPr>
        <p:txBody>
          <a:bodyPr/>
          <a:lstStyle/>
          <a:p>
            <a:endParaRPr lang="en-GB"/>
          </a:p>
        </p:txBody>
      </p:sp>
      <p:sp>
        <p:nvSpPr>
          <p:cNvPr id="15" name="Text 12"/>
          <p:cNvSpPr/>
          <p:nvPr/>
        </p:nvSpPr>
        <p:spPr>
          <a:xfrm>
            <a:off x="420624" y="24597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6" name="Text 13"/>
          <p:cNvSpPr/>
          <p:nvPr/>
        </p:nvSpPr>
        <p:spPr>
          <a:xfrm>
            <a:off x="868680" y="2377440"/>
            <a:ext cx="3493008" cy="219456"/>
          </a:xfrm>
          <a:prstGeom prst="rect">
            <a:avLst/>
          </a:prstGeom>
          <a:noFill/>
          <a:ln/>
        </p:spPr>
        <p:txBody>
          <a:bodyPr wrap="square" lIns="0" tIns="0" rIns="0" bIns="0" rtlCol="0" anchor="ctr"/>
          <a:lstStyle/>
          <a:p>
            <a:pPr marL="0" indent="0">
              <a:buNone/>
            </a:pPr>
            <a:r>
              <a:rPr lang="en-US" sz="1100" b="1" dirty="0">
                <a:solidFill>
                  <a:srgbClr val="8B6000"/>
                </a:solidFill>
                <a:latin typeface="Arial" pitchFamily="34" charset="0"/>
                <a:ea typeface="Arial" pitchFamily="34" charset="-122"/>
                <a:cs typeface="Arial" pitchFamily="34" charset="-120"/>
              </a:rPr>
              <a:t>BEFORE work</a:t>
            </a:r>
            <a:endParaRPr lang="en-US" sz="1100" dirty="0"/>
          </a:p>
        </p:txBody>
      </p:sp>
      <p:sp>
        <p:nvSpPr>
          <p:cNvPr id="17" name="Text 14"/>
          <p:cNvSpPr/>
          <p:nvPr/>
        </p:nvSpPr>
        <p:spPr>
          <a:xfrm>
            <a:off x="868680" y="2596896"/>
            <a:ext cx="349300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Apply barrier cream to clean, dry skin BEFORE putting on gloves or starting work. Barrier cream is not a substitute for gloves — it works alongside them. Apply to hands, wrists, and any other exposed skin.</a:t>
            </a:r>
            <a:endParaRPr lang="en-US" sz="1050" dirty="0"/>
          </a:p>
        </p:txBody>
      </p:sp>
      <p:sp>
        <p:nvSpPr>
          <p:cNvPr id="18" name="Shape 15"/>
          <p:cNvSpPr/>
          <p:nvPr/>
        </p:nvSpPr>
        <p:spPr>
          <a:xfrm>
            <a:off x="347472" y="3054096"/>
            <a:ext cx="4133088" cy="658368"/>
          </a:xfrm>
          <a:prstGeom prst="roundRect">
            <a:avLst>
              <a:gd name="adj" fmla="val 8333"/>
            </a:avLst>
          </a:prstGeom>
          <a:solidFill>
            <a:srgbClr val="FFFFFF"/>
          </a:solidFill>
          <a:ln w="10160">
            <a:solidFill>
              <a:srgbClr val="E08A00"/>
            </a:solidFill>
            <a:prstDash val="solid"/>
          </a:ln>
        </p:spPr>
        <p:txBody>
          <a:bodyPr/>
          <a:lstStyle/>
          <a:p>
            <a:endParaRPr lang="en-GB"/>
          </a:p>
        </p:txBody>
      </p:sp>
      <p:sp>
        <p:nvSpPr>
          <p:cNvPr id="19" name="Shape 16"/>
          <p:cNvSpPr/>
          <p:nvPr/>
        </p:nvSpPr>
        <p:spPr>
          <a:xfrm>
            <a:off x="420624" y="3191256"/>
            <a:ext cx="365760" cy="365760"/>
          </a:xfrm>
          <a:prstGeom prst="ellipse">
            <a:avLst/>
          </a:prstGeom>
          <a:solidFill>
            <a:srgbClr val="E08A00"/>
          </a:solidFill>
          <a:ln w="12700">
            <a:solidFill>
              <a:srgbClr val="E08A00"/>
            </a:solidFill>
            <a:prstDash val="solid"/>
          </a:ln>
        </p:spPr>
        <p:txBody>
          <a:bodyPr/>
          <a:lstStyle/>
          <a:p>
            <a:endParaRPr lang="en-GB"/>
          </a:p>
        </p:txBody>
      </p:sp>
      <p:sp>
        <p:nvSpPr>
          <p:cNvPr id="20" name="Text 17"/>
          <p:cNvSpPr/>
          <p:nvPr/>
        </p:nvSpPr>
        <p:spPr>
          <a:xfrm>
            <a:off x="420624" y="319125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1" name="Text 18"/>
          <p:cNvSpPr/>
          <p:nvPr/>
        </p:nvSpPr>
        <p:spPr>
          <a:xfrm>
            <a:off x="868680" y="3108960"/>
            <a:ext cx="3493008" cy="219456"/>
          </a:xfrm>
          <a:prstGeom prst="rect">
            <a:avLst/>
          </a:prstGeom>
          <a:noFill/>
          <a:ln/>
        </p:spPr>
        <p:txBody>
          <a:bodyPr wrap="square" lIns="0" tIns="0" rIns="0" bIns="0" rtlCol="0" anchor="ctr"/>
          <a:lstStyle/>
          <a:p>
            <a:pPr marL="0" indent="0">
              <a:buNone/>
            </a:pPr>
            <a:r>
              <a:rPr lang="en-US" sz="1100" b="1" dirty="0">
                <a:solidFill>
                  <a:srgbClr val="8B6000"/>
                </a:solidFill>
                <a:latin typeface="Arial" pitchFamily="34" charset="0"/>
                <a:ea typeface="Arial" pitchFamily="34" charset="-122"/>
                <a:cs typeface="Arial" pitchFamily="34" charset="-120"/>
              </a:rPr>
              <a:t>DURING work</a:t>
            </a:r>
            <a:endParaRPr lang="en-US" sz="1100" dirty="0"/>
          </a:p>
        </p:txBody>
      </p:sp>
      <p:sp>
        <p:nvSpPr>
          <p:cNvPr id="22" name="Text 19"/>
          <p:cNvSpPr/>
          <p:nvPr/>
        </p:nvSpPr>
        <p:spPr>
          <a:xfrm>
            <a:off x="868680" y="3328416"/>
            <a:ext cx="349300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Wear nitrile gloves as specified in the COSHH assessment. Remove and replace gloves if they become contaminated inside, torn, or show signs of chemical breakthrough (discolouration, softening).</a:t>
            </a:r>
            <a:endParaRPr lang="en-US" sz="1050" dirty="0"/>
          </a:p>
        </p:txBody>
      </p:sp>
      <p:sp>
        <p:nvSpPr>
          <p:cNvPr id="23" name="Shape 20"/>
          <p:cNvSpPr/>
          <p:nvPr/>
        </p:nvSpPr>
        <p:spPr>
          <a:xfrm>
            <a:off x="347472" y="3785616"/>
            <a:ext cx="4133088" cy="658368"/>
          </a:xfrm>
          <a:prstGeom prst="roundRect">
            <a:avLst>
              <a:gd name="adj" fmla="val 8333"/>
            </a:avLst>
          </a:prstGeom>
          <a:solidFill>
            <a:srgbClr val="FFF8E6"/>
          </a:solidFill>
          <a:ln w="10160">
            <a:solidFill>
              <a:srgbClr val="E08A00"/>
            </a:solidFill>
            <a:prstDash val="solid"/>
          </a:ln>
        </p:spPr>
        <p:txBody>
          <a:bodyPr/>
          <a:lstStyle/>
          <a:p>
            <a:endParaRPr lang="en-GB"/>
          </a:p>
        </p:txBody>
      </p:sp>
      <p:sp>
        <p:nvSpPr>
          <p:cNvPr id="24" name="Shape 21"/>
          <p:cNvSpPr/>
          <p:nvPr/>
        </p:nvSpPr>
        <p:spPr>
          <a:xfrm>
            <a:off x="420624" y="3922776"/>
            <a:ext cx="365760" cy="365760"/>
          </a:xfrm>
          <a:prstGeom prst="ellipse">
            <a:avLst/>
          </a:prstGeom>
          <a:solidFill>
            <a:srgbClr val="E08A00"/>
          </a:solidFill>
          <a:ln w="12700">
            <a:solidFill>
              <a:srgbClr val="E08A00"/>
            </a:solidFill>
            <a:prstDash val="solid"/>
          </a:ln>
        </p:spPr>
        <p:txBody>
          <a:bodyPr/>
          <a:lstStyle/>
          <a:p>
            <a:endParaRPr lang="en-GB"/>
          </a:p>
        </p:txBody>
      </p:sp>
      <p:sp>
        <p:nvSpPr>
          <p:cNvPr id="25" name="Text 22"/>
          <p:cNvSpPr/>
          <p:nvPr/>
        </p:nvSpPr>
        <p:spPr>
          <a:xfrm>
            <a:off x="420624" y="39227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3"/>
          <p:cNvSpPr/>
          <p:nvPr/>
        </p:nvSpPr>
        <p:spPr>
          <a:xfrm>
            <a:off x="868680" y="3840480"/>
            <a:ext cx="3493008" cy="219456"/>
          </a:xfrm>
          <a:prstGeom prst="rect">
            <a:avLst/>
          </a:prstGeom>
          <a:noFill/>
          <a:ln/>
        </p:spPr>
        <p:txBody>
          <a:bodyPr wrap="square" lIns="0" tIns="0" rIns="0" bIns="0" rtlCol="0" anchor="ctr"/>
          <a:lstStyle/>
          <a:p>
            <a:pPr marL="0" indent="0">
              <a:buNone/>
            </a:pPr>
            <a:r>
              <a:rPr lang="en-US" sz="1100" b="1" dirty="0">
                <a:solidFill>
                  <a:srgbClr val="8B6000"/>
                </a:solidFill>
                <a:latin typeface="Arial" pitchFamily="34" charset="0"/>
                <a:ea typeface="Arial" pitchFamily="34" charset="-122"/>
                <a:cs typeface="Arial" pitchFamily="34" charset="-120"/>
              </a:rPr>
              <a:t>AFTER work</a:t>
            </a:r>
            <a:endParaRPr lang="en-US" sz="1100" dirty="0"/>
          </a:p>
        </p:txBody>
      </p:sp>
      <p:sp>
        <p:nvSpPr>
          <p:cNvPr id="27" name="Text 24"/>
          <p:cNvSpPr/>
          <p:nvPr/>
        </p:nvSpPr>
        <p:spPr>
          <a:xfrm>
            <a:off x="868680" y="4059936"/>
            <a:ext cx="3493008" cy="32918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Wash with warm water and a mild, pH-neutral soap. Do not use solvents or harsh abrasives to clean your skin. Dry thoroughly with a clean towel. Apply moisturising cream after washing to restore skin barrier function.</a:t>
            </a:r>
            <a:endParaRPr lang="en-US" sz="1050" dirty="0"/>
          </a:p>
        </p:txBody>
      </p:sp>
      <p:sp>
        <p:nvSpPr>
          <p:cNvPr id="28" name="Shape 25"/>
          <p:cNvSpPr/>
          <p:nvPr/>
        </p:nvSpPr>
        <p:spPr>
          <a:xfrm>
            <a:off x="4663440" y="1938528"/>
            <a:ext cx="4133088" cy="320040"/>
          </a:xfrm>
          <a:prstGeom prst="rect">
            <a:avLst/>
          </a:prstGeom>
          <a:solidFill>
            <a:srgbClr val="C0392B"/>
          </a:solidFill>
          <a:ln w="12700">
            <a:solidFill>
              <a:srgbClr val="C0392B"/>
            </a:solidFill>
            <a:prstDash val="solid"/>
          </a:ln>
        </p:spPr>
        <p:txBody>
          <a:bodyPr/>
          <a:lstStyle/>
          <a:p>
            <a:endParaRPr lang="en-GB"/>
          </a:p>
        </p:txBody>
      </p:sp>
      <p:sp>
        <p:nvSpPr>
          <p:cNvPr id="29" name="Text 26"/>
          <p:cNvSpPr/>
          <p:nvPr/>
        </p:nvSpPr>
        <p:spPr>
          <a:xfrm>
            <a:off x="4773168" y="1956816"/>
            <a:ext cx="3931920"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Warning Signs: Report These Immediately</a:t>
            </a:r>
            <a:endParaRPr lang="en-US" sz="1150" dirty="0"/>
          </a:p>
        </p:txBody>
      </p:sp>
      <p:sp>
        <p:nvSpPr>
          <p:cNvPr id="30" name="Shape 27"/>
          <p:cNvSpPr/>
          <p:nvPr/>
        </p:nvSpPr>
        <p:spPr>
          <a:xfrm>
            <a:off x="4718304" y="2340864"/>
            <a:ext cx="146304" cy="146304"/>
          </a:xfrm>
          <a:prstGeom prst="rect">
            <a:avLst/>
          </a:prstGeom>
          <a:solidFill>
            <a:srgbClr val="C0392B"/>
          </a:solidFill>
          <a:ln w="12700">
            <a:solidFill>
              <a:srgbClr val="C0392B"/>
            </a:solidFill>
            <a:prstDash val="solid"/>
          </a:ln>
        </p:spPr>
        <p:txBody>
          <a:bodyPr/>
          <a:lstStyle/>
          <a:p>
            <a:endParaRPr lang="en-GB"/>
          </a:p>
        </p:txBody>
      </p:sp>
      <p:sp>
        <p:nvSpPr>
          <p:cNvPr id="31" name="Text 28"/>
          <p:cNvSpPr/>
          <p:nvPr/>
        </p:nvSpPr>
        <p:spPr>
          <a:xfrm>
            <a:off x="4937760" y="2313432"/>
            <a:ext cx="3794760" cy="384048"/>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Redness, itching, or dry and cracked skin on hands or forearms</a:t>
            </a:r>
            <a:endParaRPr lang="en-US" sz="1100" dirty="0"/>
          </a:p>
        </p:txBody>
      </p:sp>
      <p:sp>
        <p:nvSpPr>
          <p:cNvPr id="32" name="Shape 29"/>
          <p:cNvSpPr/>
          <p:nvPr/>
        </p:nvSpPr>
        <p:spPr>
          <a:xfrm>
            <a:off x="4718304" y="2770632"/>
            <a:ext cx="146304" cy="146304"/>
          </a:xfrm>
          <a:prstGeom prst="rect">
            <a:avLst/>
          </a:prstGeom>
          <a:solidFill>
            <a:srgbClr val="C0392B"/>
          </a:solidFill>
          <a:ln w="12700">
            <a:solidFill>
              <a:srgbClr val="C0392B"/>
            </a:solidFill>
            <a:prstDash val="solid"/>
          </a:ln>
        </p:spPr>
        <p:txBody>
          <a:bodyPr/>
          <a:lstStyle/>
          <a:p>
            <a:endParaRPr lang="en-GB"/>
          </a:p>
        </p:txBody>
      </p:sp>
      <p:sp>
        <p:nvSpPr>
          <p:cNvPr id="33" name="Text 30"/>
          <p:cNvSpPr/>
          <p:nvPr/>
        </p:nvSpPr>
        <p:spPr>
          <a:xfrm>
            <a:off x="4937760" y="2743200"/>
            <a:ext cx="3794760" cy="384048"/>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Blisters, swelling, or weeping sores on the skin after chemical contact</a:t>
            </a:r>
            <a:endParaRPr lang="en-US" sz="1100" dirty="0"/>
          </a:p>
        </p:txBody>
      </p:sp>
      <p:sp>
        <p:nvSpPr>
          <p:cNvPr id="34" name="Shape 31"/>
          <p:cNvSpPr/>
          <p:nvPr/>
        </p:nvSpPr>
        <p:spPr>
          <a:xfrm>
            <a:off x="4718304" y="3200400"/>
            <a:ext cx="146304" cy="146304"/>
          </a:xfrm>
          <a:prstGeom prst="rect">
            <a:avLst/>
          </a:prstGeom>
          <a:solidFill>
            <a:srgbClr val="C0392B"/>
          </a:solidFill>
          <a:ln w="12700">
            <a:solidFill>
              <a:srgbClr val="C0392B"/>
            </a:solidFill>
            <a:prstDash val="solid"/>
          </a:ln>
        </p:spPr>
        <p:txBody>
          <a:bodyPr/>
          <a:lstStyle/>
          <a:p>
            <a:endParaRPr lang="en-GB"/>
          </a:p>
        </p:txBody>
      </p:sp>
      <p:sp>
        <p:nvSpPr>
          <p:cNvPr id="35" name="Text 32"/>
          <p:cNvSpPr/>
          <p:nvPr/>
        </p:nvSpPr>
        <p:spPr>
          <a:xfrm>
            <a:off x="4937760" y="3172968"/>
            <a:ext cx="3794760" cy="384048"/>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Skin that remains inflamed even at weekends or during holiday periods</a:t>
            </a:r>
            <a:endParaRPr lang="en-US" sz="1100" dirty="0"/>
          </a:p>
        </p:txBody>
      </p:sp>
      <p:sp>
        <p:nvSpPr>
          <p:cNvPr id="36" name="Shape 33"/>
          <p:cNvSpPr/>
          <p:nvPr/>
        </p:nvSpPr>
        <p:spPr>
          <a:xfrm>
            <a:off x="4718304" y="3630168"/>
            <a:ext cx="146304" cy="146304"/>
          </a:xfrm>
          <a:prstGeom prst="rect">
            <a:avLst/>
          </a:prstGeom>
          <a:solidFill>
            <a:srgbClr val="C0392B"/>
          </a:solidFill>
          <a:ln w="12700">
            <a:solidFill>
              <a:srgbClr val="C0392B"/>
            </a:solidFill>
            <a:prstDash val="solid"/>
          </a:ln>
        </p:spPr>
        <p:txBody>
          <a:bodyPr/>
          <a:lstStyle/>
          <a:p>
            <a:endParaRPr lang="en-GB"/>
          </a:p>
        </p:txBody>
      </p:sp>
      <p:sp>
        <p:nvSpPr>
          <p:cNvPr id="37" name="Text 34"/>
          <p:cNvSpPr/>
          <p:nvPr/>
        </p:nvSpPr>
        <p:spPr>
          <a:xfrm>
            <a:off x="4937760" y="3602736"/>
            <a:ext cx="3794760" cy="384048"/>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Breathing difficulties, cough, or wheeze that worsens during or after work</a:t>
            </a:r>
            <a:endParaRPr lang="en-US" sz="1100" dirty="0"/>
          </a:p>
        </p:txBody>
      </p:sp>
      <p:sp>
        <p:nvSpPr>
          <p:cNvPr id="38" name="Shape 35"/>
          <p:cNvSpPr/>
          <p:nvPr/>
        </p:nvSpPr>
        <p:spPr>
          <a:xfrm>
            <a:off x="4718304" y="4059936"/>
            <a:ext cx="146304" cy="146304"/>
          </a:xfrm>
          <a:prstGeom prst="rect">
            <a:avLst/>
          </a:prstGeom>
          <a:solidFill>
            <a:srgbClr val="C0392B"/>
          </a:solidFill>
          <a:ln w="12700">
            <a:solidFill>
              <a:srgbClr val="C0392B"/>
            </a:solidFill>
            <a:prstDash val="solid"/>
          </a:ln>
        </p:spPr>
        <p:txBody>
          <a:bodyPr/>
          <a:lstStyle/>
          <a:p>
            <a:endParaRPr lang="en-GB"/>
          </a:p>
        </p:txBody>
      </p:sp>
      <p:sp>
        <p:nvSpPr>
          <p:cNvPr id="39" name="Text 36"/>
          <p:cNvSpPr/>
          <p:nvPr/>
        </p:nvSpPr>
        <p:spPr>
          <a:xfrm>
            <a:off x="4937760" y="4032504"/>
            <a:ext cx="3794760" cy="384048"/>
          </a:xfrm>
          <a:prstGeom prst="rect">
            <a:avLst/>
          </a:prstGeom>
          <a:noFill/>
          <a:ln/>
        </p:spPr>
        <p:txBody>
          <a:bodyPr wrap="square" lIns="0" tIns="0" rIns="0" bIns="0" rtlCol="0" anchor="ctr"/>
          <a:lstStyle/>
          <a:p>
            <a:pPr marL="0" indent="0">
              <a:buNone/>
            </a:pPr>
            <a:r>
              <a:rPr lang="en-US" sz="1100" dirty="0">
                <a:solidFill>
                  <a:srgbClr val="5B595A"/>
                </a:solidFill>
                <a:latin typeface="Arial" pitchFamily="34" charset="0"/>
                <a:ea typeface="Arial" pitchFamily="34" charset="-122"/>
                <a:cs typeface="Arial" pitchFamily="34" charset="-120"/>
              </a:rPr>
              <a:t>Eye irritation, watering, or redness that occurs during the working day</a:t>
            </a:r>
            <a:endParaRPr lang="en-US" sz="1100" dirty="0"/>
          </a:p>
        </p:txBody>
      </p:sp>
      <p:sp>
        <p:nvSpPr>
          <p:cNvPr id="40" name="Shape 37"/>
          <p:cNvSpPr/>
          <p:nvPr/>
        </p:nvSpPr>
        <p:spPr>
          <a:xfrm>
            <a:off x="347472" y="4462272"/>
            <a:ext cx="8449056" cy="402336"/>
          </a:xfrm>
          <a:prstGeom prst="roundRect">
            <a:avLst>
              <a:gd name="adj" fmla="val 13636"/>
            </a:avLst>
          </a:prstGeom>
          <a:solidFill>
            <a:srgbClr val="001E3C"/>
          </a:solidFill>
          <a:ln w="12700">
            <a:solidFill>
              <a:srgbClr val="001E3C"/>
            </a:solidFill>
            <a:prstDash val="solid"/>
          </a:ln>
        </p:spPr>
        <p:txBody>
          <a:bodyPr/>
          <a:lstStyle/>
          <a:p>
            <a:endParaRPr lang="en-GB"/>
          </a:p>
        </p:txBody>
      </p:sp>
      <p:sp>
        <p:nvSpPr>
          <p:cNvPr id="41" name="Text 38"/>
          <p:cNvSpPr/>
          <p:nvPr/>
        </p:nvSpPr>
        <p:spPr>
          <a:xfrm>
            <a:off x="475488" y="4480560"/>
            <a:ext cx="8229600" cy="365760"/>
          </a:xfrm>
          <a:prstGeom prst="rect">
            <a:avLst/>
          </a:prstGeom>
          <a:noFill/>
          <a:ln/>
        </p:spPr>
        <p:txBody>
          <a:bodyPr wrap="square" lIns="0" tIns="0" rIns="0" bIns="0" rtlCol="0" anchor="ctr"/>
          <a:lstStyle/>
          <a:p>
            <a:pPr marL="0" indent="0">
              <a:buNone/>
            </a:pPr>
            <a:r>
              <a:rPr lang="en-US" sz="1150" b="1" dirty="0">
                <a:solidFill>
                  <a:srgbClr val="009FE3"/>
                </a:solidFill>
                <a:latin typeface="Arial" pitchFamily="34" charset="0"/>
                <a:ea typeface="Arial" pitchFamily="34" charset="-122"/>
                <a:cs typeface="Arial" pitchFamily="34" charset="-120"/>
              </a:rPr>
              <a:t>Do not wait:  </a:t>
            </a:r>
            <a:r>
              <a:rPr lang="en-US" sz="1150" dirty="0">
                <a:solidFill>
                  <a:srgbClr val="FFFFFF"/>
                </a:solidFill>
                <a:latin typeface="Arial" pitchFamily="34" charset="0"/>
                <a:ea typeface="Arial" pitchFamily="34" charset="-122"/>
                <a:cs typeface="Arial" pitchFamily="34" charset="-120"/>
              </a:rPr>
              <a:t>Report any of the above symptoms to your supervisor or occupational health contact immediately. Early intervention almost always prevents permanent sensitisation. Delaying report allows permanent damage to develop.</a:t>
            </a:r>
            <a:endParaRPr lang="en-US" sz="1150" dirty="0"/>
          </a:p>
        </p:txBody>
      </p:sp>
      <p:sp>
        <p:nvSpPr>
          <p:cNvPr id="42" name="Rectangle 4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image.png"/>
          <p:cNvPicPr>
            <a:picLocks noChangeAspect="1"/>
          </p:cNvPicPr>
          <p:nvPr/>
        </p:nvPicPr>
        <p:blipFill>
          <a:blip r:embed="rId5"/>
          <a:stretch>
            <a:fillRect/>
          </a:stretch>
        </p:blipFill>
        <p:spPr>
          <a:xfrm>
            <a:off x="7562088" y="100584"/>
            <a:ext cx="566928" cy="347472"/>
          </a:xfrm>
          <a:prstGeom prst="rect">
            <a:avLst/>
          </a:prstGeom>
        </p:spPr>
      </p:pic>
      <p:pic>
        <p:nvPicPr>
          <p:cNvPr id="44" name="Picture 43" descr="image.png"/>
          <p:cNvPicPr>
            <a:picLocks noChangeAspect="1"/>
          </p:cNvPicPr>
          <p:nvPr/>
        </p:nvPicPr>
        <p:blipFill>
          <a:blip r:embed="rId4"/>
          <a:stretch>
            <a:fillRect/>
          </a:stretch>
        </p:blipFill>
        <p:spPr>
          <a:xfrm>
            <a:off x="8174736" y="100584"/>
            <a:ext cx="658368" cy="347472"/>
          </a:xfrm>
          <a:prstGeom prst="rect">
            <a:avLst/>
          </a:prstGeom>
        </p:spPr>
      </p:pic>
      <p:sp>
        <p:nvSpPr>
          <p:cNvPr id="45" name="Rectangle 4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Health Surveillance</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Health Surveillance: Your Right and Your Protection</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502920"/>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Where the COSHH assessment shows there is a reasonable likelihood that a substance could cause identifiable disease or health effects, COSHH Regulation 11 requires the employer to carry out health surveillance. Health surveillance is designed to detect early signs of harm before they become serious.</a:t>
            </a:r>
            <a:endParaRPr lang="en-US" sz="1300" dirty="0"/>
          </a:p>
        </p:txBody>
      </p:sp>
      <p:sp>
        <p:nvSpPr>
          <p:cNvPr id="11" name="Shape 8"/>
          <p:cNvSpPr/>
          <p:nvPr/>
        </p:nvSpPr>
        <p:spPr>
          <a:xfrm>
            <a:off x="347472" y="1920240"/>
            <a:ext cx="4133088" cy="1188720"/>
          </a:xfrm>
          <a:prstGeom prst="roundRect">
            <a:avLst>
              <a:gd name="adj" fmla="val 6154"/>
            </a:avLst>
          </a:prstGeom>
          <a:solidFill>
            <a:srgbClr val="F8F8F8"/>
          </a:solidFill>
          <a:ln w="8890">
            <a:solidFill>
              <a:srgbClr val="DDDDDD"/>
            </a:solidFill>
            <a:prstDash val="solid"/>
          </a:ln>
        </p:spPr>
        <p:txBody>
          <a:bodyPr/>
          <a:lstStyle/>
          <a:p>
            <a:endParaRPr lang="en-GB"/>
          </a:p>
        </p:txBody>
      </p:sp>
      <p:sp>
        <p:nvSpPr>
          <p:cNvPr id="12" name="Shape 9"/>
          <p:cNvSpPr/>
          <p:nvPr/>
        </p:nvSpPr>
        <p:spPr>
          <a:xfrm>
            <a:off x="347472" y="1920240"/>
            <a:ext cx="4133088" cy="329184"/>
          </a:xfrm>
          <a:prstGeom prst="rect">
            <a:avLst/>
          </a:prstGeom>
          <a:solidFill>
            <a:srgbClr val="E08A00"/>
          </a:solidFill>
          <a:ln w="12700">
            <a:solidFill>
              <a:srgbClr val="E08A00"/>
            </a:solidFill>
            <a:prstDash val="solid"/>
          </a:ln>
        </p:spPr>
        <p:txBody>
          <a:bodyPr/>
          <a:lstStyle/>
          <a:p>
            <a:endParaRPr lang="en-GB"/>
          </a:p>
        </p:txBody>
      </p:sp>
      <p:sp>
        <p:nvSpPr>
          <p:cNvPr id="13" name="Text 10"/>
          <p:cNvSpPr/>
          <p:nvPr/>
        </p:nvSpPr>
        <p:spPr>
          <a:xfrm>
            <a:off x="438912" y="1956816"/>
            <a:ext cx="3108960" cy="25603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Skin surveillance</a:t>
            </a:r>
            <a:endParaRPr lang="en-US" sz="1100" dirty="0"/>
          </a:p>
        </p:txBody>
      </p:sp>
      <p:sp>
        <p:nvSpPr>
          <p:cNvPr id="14" name="Text 11"/>
          <p:cNvSpPr/>
          <p:nvPr/>
        </p:nvSpPr>
        <p:spPr>
          <a:xfrm>
            <a:off x="3547872" y="1956816"/>
            <a:ext cx="822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Quarterly</a:t>
            </a:r>
            <a:endParaRPr lang="en-US" sz="1000" dirty="0"/>
          </a:p>
        </p:txBody>
      </p:sp>
      <p:sp>
        <p:nvSpPr>
          <p:cNvPr id="15" name="Text 12"/>
          <p:cNvSpPr/>
          <p:nvPr/>
        </p:nvSpPr>
        <p:spPr>
          <a:xfrm>
            <a:off x="457200" y="2304288"/>
            <a:ext cx="3913632" cy="749808"/>
          </a:xfrm>
          <a:prstGeom prst="rect">
            <a:avLst/>
          </a:prstGeom>
          <a:noFill/>
          <a:ln/>
        </p:spPr>
        <p:txBody>
          <a:bodyPr wrap="square" lIns="0" tIns="0" rIns="0" bIns="0" rtlCol="0" anchor="t"/>
          <a:lstStyle/>
          <a:p>
            <a:pPr marL="0" indent="0">
              <a:buNone/>
            </a:pPr>
            <a:r>
              <a:rPr lang="en-US" sz="1050" dirty="0">
                <a:solidFill>
                  <a:srgbClr val="5B595A"/>
                </a:solidFill>
                <a:latin typeface="Arial" pitchFamily="34" charset="0"/>
                <a:ea typeface="Arial" pitchFamily="34" charset="-122"/>
                <a:cs typeface="Arial" pitchFamily="34" charset="-120"/>
              </a:rPr>
              <a:t>Regular visual inspection of hands, wrists, and forearms by a trained person. Identifies early dermatitis. Required for workers exposed to metalworking fluids, cutting oils, solvents, and epoxy resins.</a:t>
            </a:r>
            <a:endParaRPr lang="en-US" sz="1050" dirty="0"/>
          </a:p>
        </p:txBody>
      </p:sp>
      <p:sp>
        <p:nvSpPr>
          <p:cNvPr id="16" name="Shape 13"/>
          <p:cNvSpPr/>
          <p:nvPr/>
        </p:nvSpPr>
        <p:spPr>
          <a:xfrm>
            <a:off x="4663440" y="1920240"/>
            <a:ext cx="4133088" cy="1188720"/>
          </a:xfrm>
          <a:prstGeom prst="roundRect">
            <a:avLst>
              <a:gd name="adj" fmla="val 6154"/>
            </a:avLst>
          </a:prstGeom>
          <a:solidFill>
            <a:srgbClr val="F8F8F8"/>
          </a:solidFill>
          <a:ln w="8890">
            <a:solidFill>
              <a:srgbClr val="DDDDDD"/>
            </a:solidFill>
            <a:prstDash val="solid"/>
          </a:ln>
        </p:spPr>
        <p:txBody>
          <a:bodyPr/>
          <a:lstStyle/>
          <a:p>
            <a:endParaRPr lang="en-GB"/>
          </a:p>
        </p:txBody>
      </p:sp>
      <p:sp>
        <p:nvSpPr>
          <p:cNvPr id="17" name="Shape 14"/>
          <p:cNvSpPr/>
          <p:nvPr/>
        </p:nvSpPr>
        <p:spPr>
          <a:xfrm>
            <a:off x="4663440" y="1920240"/>
            <a:ext cx="4133088" cy="329184"/>
          </a:xfrm>
          <a:prstGeom prst="rect">
            <a:avLst/>
          </a:prstGeom>
          <a:solidFill>
            <a:srgbClr val="83348F"/>
          </a:solidFill>
          <a:ln w="12700">
            <a:solidFill>
              <a:srgbClr val="83348F"/>
            </a:solidFill>
            <a:prstDash val="solid"/>
          </a:ln>
        </p:spPr>
        <p:txBody>
          <a:bodyPr/>
          <a:lstStyle/>
          <a:p>
            <a:endParaRPr lang="en-GB"/>
          </a:p>
        </p:txBody>
      </p:sp>
      <p:sp>
        <p:nvSpPr>
          <p:cNvPr id="18" name="Text 15"/>
          <p:cNvSpPr/>
          <p:nvPr/>
        </p:nvSpPr>
        <p:spPr>
          <a:xfrm>
            <a:off x="4754880" y="1956816"/>
            <a:ext cx="3108960" cy="25603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Respiratory surveillance</a:t>
            </a:r>
            <a:endParaRPr lang="en-US" sz="1100" dirty="0"/>
          </a:p>
        </p:txBody>
      </p:sp>
      <p:sp>
        <p:nvSpPr>
          <p:cNvPr id="19" name="Text 16"/>
          <p:cNvSpPr/>
          <p:nvPr/>
        </p:nvSpPr>
        <p:spPr>
          <a:xfrm>
            <a:off x="7863840" y="1956816"/>
            <a:ext cx="822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Annual</a:t>
            </a:r>
            <a:endParaRPr lang="en-US" sz="1000" dirty="0"/>
          </a:p>
        </p:txBody>
      </p:sp>
      <p:sp>
        <p:nvSpPr>
          <p:cNvPr id="20" name="Text 17"/>
          <p:cNvSpPr/>
          <p:nvPr/>
        </p:nvSpPr>
        <p:spPr>
          <a:xfrm>
            <a:off x="4773168" y="2304288"/>
            <a:ext cx="3913632" cy="749808"/>
          </a:xfrm>
          <a:prstGeom prst="rect">
            <a:avLst/>
          </a:prstGeom>
          <a:noFill/>
          <a:ln/>
        </p:spPr>
        <p:txBody>
          <a:bodyPr wrap="square" lIns="0" tIns="0" rIns="0" bIns="0" rtlCol="0" anchor="t"/>
          <a:lstStyle/>
          <a:p>
            <a:pPr marL="0" indent="0">
              <a:buNone/>
            </a:pPr>
            <a:r>
              <a:rPr lang="en-US" sz="1050" dirty="0">
                <a:solidFill>
                  <a:srgbClr val="5B595A"/>
                </a:solidFill>
                <a:latin typeface="Arial" pitchFamily="34" charset="0"/>
                <a:ea typeface="Arial" pitchFamily="34" charset="-122"/>
                <a:cs typeface="Arial" pitchFamily="34" charset="-120"/>
              </a:rPr>
              <a:t>Annual lung function test (spirometry) for workers exposed to respiratory sensitisers including welding fume, isocyanates, wood dust, and flour. Baseline test on first exposure.</a:t>
            </a:r>
            <a:endParaRPr lang="en-US" sz="1050" dirty="0"/>
          </a:p>
        </p:txBody>
      </p:sp>
      <p:sp>
        <p:nvSpPr>
          <p:cNvPr id="21" name="Shape 18"/>
          <p:cNvSpPr/>
          <p:nvPr/>
        </p:nvSpPr>
        <p:spPr>
          <a:xfrm>
            <a:off x="347472" y="3218688"/>
            <a:ext cx="4133088" cy="1188720"/>
          </a:xfrm>
          <a:prstGeom prst="roundRect">
            <a:avLst>
              <a:gd name="adj" fmla="val 6154"/>
            </a:avLst>
          </a:prstGeom>
          <a:solidFill>
            <a:srgbClr val="F8F8F8"/>
          </a:solidFill>
          <a:ln w="8890">
            <a:solidFill>
              <a:srgbClr val="DDDDDD"/>
            </a:solidFill>
            <a:prstDash val="solid"/>
          </a:ln>
        </p:spPr>
        <p:txBody>
          <a:bodyPr/>
          <a:lstStyle/>
          <a:p>
            <a:endParaRPr lang="en-GB"/>
          </a:p>
        </p:txBody>
      </p:sp>
      <p:sp>
        <p:nvSpPr>
          <p:cNvPr id="22" name="Shape 19"/>
          <p:cNvSpPr/>
          <p:nvPr/>
        </p:nvSpPr>
        <p:spPr>
          <a:xfrm>
            <a:off x="347472" y="3218688"/>
            <a:ext cx="4133088" cy="329184"/>
          </a:xfrm>
          <a:prstGeom prst="rect">
            <a:avLst/>
          </a:prstGeom>
          <a:solidFill>
            <a:srgbClr val="009FE3"/>
          </a:solidFill>
          <a:ln w="12700">
            <a:solidFill>
              <a:srgbClr val="009FE3"/>
            </a:solidFill>
            <a:prstDash val="solid"/>
          </a:ln>
        </p:spPr>
        <p:txBody>
          <a:bodyPr/>
          <a:lstStyle/>
          <a:p>
            <a:endParaRPr lang="en-GB"/>
          </a:p>
        </p:txBody>
      </p:sp>
      <p:sp>
        <p:nvSpPr>
          <p:cNvPr id="23" name="Text 20"/>
          <p:cNvSpPr/>
          <p:nvPr/>
        </p:nvSpPr>
        <p:spPr>
          <a:xfrm>
            <a:off x="438912" y="3255264"/>
            <a:ext cx="3108960" cy="25603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Audiometric testing</a:t>
            </a:r>
            <a:endParaRPr lang="en-US" sz="1100" dirty="0"/>
          </a:p>
        </p:txBody>
      </p:sp>
      <p:sp>
        <p:nvSpPr>
          <p:cNvPr id="24" name="Text 21"/>
          <p:cNvSpPr/>
          <p:nvPr/>
        </p:nvSpPr>
        <p:spPr>
          <a:xfrm>
            <a:off x="3547872" y="3255264"/>
            <a:ext cx="822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Annual</a:t>
            </a:r>
            <a:endParaRPr lang="en-US" sz="1000" dirty="0"/>
          </a:p>
        </p:txBody>
      </p:sp>
      <p:sp>
        <p:nvSpPr>
          <p:cNvPr id="25" name="Text 22"/>
          <p:cNvSpPr/>
          <p:nvPr/>
        </p:nvSpPr>
        <p:spPr>
          <a:xfrm>
            <a:off x="457200" y="3602736"/>
            <a:ext cx="3913632" cy="749808"/>
          </a:xfrm>
          <a:prstGeom prst="rect">
            <a:avLst/>
          </a:prstGeom>
          <a:noFill/>
          <a:ln/>
        </p:spPr>
        <p:txBody>
          <a:bodyPr wrap="square" lIns="0" tIns="0" rIns="0" bIns="0" rtlCol="0" anchor="t"/>
          <a:lstStyle/>
          <a:p>
            <a:pPr marL="0" indent="0">
              <a:buNone/>
            </a:pPr>
            <a:r>
              <a:rPr lang="en-US" sz="1050" dirty="0">
                <a:solidFill>
                  <a:srgbClr val="5B595A"/>
                </a:solidFill>
                <a:latin typeface="Arial" pitchFamily="34" charset="0"/>
                <a:ea typeface="Arial" pitchFamily="34" charset="-122"/>
                <a:cs typeface="Arial" pitchFamily="34" charset="-120"/>
              </a:rPr>
              <a:t>Pure tone audiometry for workers in hearing protection zones or exposed to noise above 85 dB(A). Detects early hearing loss from noise exposure.</a:t>
            </a:r>
            <a:endParaRPr lang="en-US" sz="1050" dirty="0"/>
          </a:p>
        </p:txBody>
      </p:sp>
      <p:sp>
        <p:nvSpPr>
          <p:cNvPr id="26" name="Shape 23"/>
          <p:cNvSpPr/>
          <p:nvPr/>
        </p:nvSpPr>
        <p:spPr>
          <a:xfrm>
            <a:off x="4663440" y="3218688"/>
            <a:ext cx="4133088" cy="1188720"/>
          </a:xfrm>
          <a:prstGeom prst="roundRect">
            <a:avLst>
              <a:gd name="adj" fmla="val 6154"/>
            </a:avLst>
          </a:prstGeom>
          <a:solidFill>
            <a:srgbClr val="F8F8F8"/>
          </a:solidFill>
          <a:ln w="8890">
            <a:solidFill>
              <a:srgbClr val="DDDDDD"/>
            </a:solidFill>
            <a:prstDash val="solid"/>
          </a:ln>
        </p:spPr>
        <p:txBody>
          <a:bodyPr/>
          <a:lstStyle/>
          <a:p>
            <a:endParaRPr lang="en-GB"/>
          </a:p>
        </p:txBody>
      </p:sp>
      <p:sp>
        <p:nvSpPr>
          <p:cNvPr id="27" name="Shape 24"/>
          <p:cNvSpPr/>
          <p:nvPr/>
        </p:nvSpPr>
        <p:spPr>
          <a:xfrm>
            <a:off x="4663440" y="3218688"/>
            <a:ext cx="4133088" cy="329184"/>
          </a:xfrm>
          <a:prstGeom prst="rect">
            <a:avLst/>
          </a:prstGeom>
          <a:solidFill>
            <a:srgbClr val="2E8B57"/>
          </a:solidFill>
          <a:ln w="12700">
            <a:solidFill>
              <a:srgbClr val="2E8B57"/>
            </a:solidFill>
            <a:prstDash val="solid"/>
          </a:ln>
        </p:spPr>
        <p:txBody>
          <a:bodyPr/>
          <a:lstStyle/>
          <a:p>
            <a:endParaRPr lang="en-GB"/>
          </a:p>
        </p:txBody>
      </p:sp>
      <p:sp>
        <p:nvSpPr>
          <p:cNvPr id="28" name="Text 25"/>
          <p:cNvSpPr/>
          <p:nvPr/>
        </p:nvSpPr>
        <p:spPr>
          <a:xfrm>
            <a:off x="4754880" y="3255264"/>
            <a:ext cx="3108960" cy="25603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Health questionnaire</a:t>
            </a:r>
            <a:endParaRPr lang="en-US" sz="1100" dirty="0"/>
          </a:p>
        </p:txBody>
      </p:sp>
      <p:sp>
        <p:nvSpPr>
          <p:cNvPr id="29" name="Text 26"/>
          <p:cNvSpPr/>
          <p:nvPr/>
        </p:nvSpPr>
        <p:spPr>
          <a:xfrm>
            <a:off x="7863840" y="3255264"/>
            <a:ext cx="822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Annual</a:t>
            </a:r>
            <a:endParaRPr lang="en-US" sz="1000" dirty="0"/>
          </a:p>
        </p:txBody>
      </p:sp>
      <p:sp>
        <p:nvSpPr>
          <p:cNvPr id="30" name="Text 27"/>
          <p:cNvSpPr/>
          <p:nvPr/>
        </p:nvSpPr>
        <p:spPr>
          <a:xfrm>
            <a:off x="4773168" y="3602736"/>
            <a:ext cx="3913632" cy="749808"/>
          </a:xfrm>
          <a:prstGeom prst="rect">
            <a:avLst/>
          </a:prstGeom>
          <a:noFill/>
          <a:ln/>
        </p:spPr>
        <p:txBody>
          <a:bodyPr wrap="square" lIns="0" tIns="0" rIns="0" bIns="0" rtlCol="0" anchor="t"/>
          <a:lstStyle/>
          <a:p>
            <a:pPr marL="0" indent="0">
              <a:buNone/>
            </a:pPr>
            <a:r>
              <a:rPr lang="en-US" sz="1050" dirty="0">
                <a:solidFill>
                  <a:srgbClr val="5B595A"/>
                </a:solidFill>
                <a:latin typeface="Arial" pitchFamily="34" charset="0"/>
                <a:ea typeface="Arial" pitchFamily="34" charset="-122"/>
                <a:cs typeface="Arial" pitchFamily="34" charset="-120"/>
              </a:rPr>
              <a:t>Structured questionnaire asking about respiratory, skin, and general health symptoms. Can identify early sensitisation before clinical signs appear. Completed before first exposure and annually.</a:t>
            </a:r>
            <a:endParaRPr lang="en-US" sz="1050" dirty="0"/>
          </a:p>
        </p:txBody>
      </p:sp>
      <p:sp>
        <p:nvSpPr>
          <p:cNvPr id="31" name="Rectangle 3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7562088" y="100584"/>
            <a:ext cx="566928" cy="347472"/>
          </a:xfrm>
          <a:prstGeom prst="rect">
            <a:avLst/>
          </a:prstGeom>
        </p:spPr>
      </p:pic>
      <p:pic>
        <p:nvPicPr>
          <p:cNvPr id="33" name="Picture 32" descr="image.png"/>
          <p:cNvPicPr>
            <a:picLocks noChangeAspect="1"/>
          </p:cNvPicPr>
          <p:nvPr/>
        </p:nvPicPr>
        <p:blipFill>
          <a:blip r:embed="rId4"/>
          <a:stretch>
            <a:fillRect/>
          </a:stretch>
        </p:blipFill>
        <p:spPr>
          <a:xfrm>
            <a:off x="8174736" y="100584"/>
            <a:ext cx="658368" cy="347472"/>
          </a:xfrm>
          <a:prstGeom prst="rect">
            <a:avLst/>
          </a:prstGeom>
        </p:spPr>
      </p:pic>
      <p:sp>
        <p:nvSpPr>
          <p:cNvPr id="34" name="Rectangle 3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Emergencies</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What to Do in a COSHH Emergency</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475488"/>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COSHH Regulation 13 requires employers to prepare procedures for accidents, incidents, and emergencies involving hazardous substances. Every employee must know the immediate actions for the substances they work with. Do not wait until an emergency to find out.</a:t>
            </a:r>
            <a:endParaRPr lang="en-US" sz="1300" dirty="0"/>
          </a:p>
        </p:txBody>
      </p:sp>
      <p:sp>
        <p:nvSpPr>
          <p:cNvPr id="11" name="Shape 8"/>
          <p:cNvSpPr/>
          <p:nvPr/>
        </p:nvSpPr>
        <p:spPr>
          <a:xfrm>
            <a:off x="347472" y="1920240"/>
            <a:ext cx="4133088" cy="1261872"/>
          </a:xfrm>
          <a:prstGeom prst="roundRect">
            <a:avLst>
              <a:gd name="adj" fmla="val 5797"/>
            </a:avLst>
          </a:prstGeom>
          <a:solidFill>
            <a:srgbClr val="F8F8F8"/>
          </a:solidFill>
          <a:ln w="12700">
            <a:solidFill>
              <a:srgbClr val="E08A00"/>
            </a:solidFill>
            <a:prstDash val="solid"/>
          </a:ln>
        </p:spPr>
        <p:txBody>
          <a:bodyPr/>
          <a:lstStyle/>
          <a:p>
            <a:endParaRPr lang="en-GB"/>
          </a:p>
        </p:txBody>
      </p:sp>
      <p:sp>
        <p:nvSpPr>
          <p:cNvPr id="12" name="Shape 9"/>
          <p:cNvSpPr/>
          <p:nvPr/>
        </p:nvSpPr>
        <p:spPr>
          <a:xfrm>
            <a:off x="347472" y="1920240"/>
            <a:ext cx="4133088" cy="310896"/>
          </a:xfrm>
          <a:prstGeom prst="rect">
            <a:avLst/>
          </a:prstGeom>
          <a:solidFill>
            <a:srgbClr val="E08A00"/>
          </a:solidFill>
          <a:ln w="12700">
            <a:solidFill>
              <a:srgbClr val="E08A00"/>
            </a:solidFill>
            <a:prstDash val="solid"/>
          </a:ln>
        </p:spPr>
        <p:txBody>
          <a:bodyPr/>
          <a:lstStyle/>
          <a:p>
            <a:endParaRPr lang="en-GB"/>
          </a:p>
        </p:txBody>
      </p:sp>
      <p:sp>
        <p:nvSpPr>
          <p:cNvPr id="13" name="Text 10"/>
          <p:cNvSpPr/>
          <p:nvPr/>
        </p:nvSpPr>
        <p:spPr>
          <a:xfrm>
            <a:off x="438912" y="1956816"/>
            <a:ext cx="3931920" cy="237744"/>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Skin Contact</a:t>
            </a:r>
            <a:endParaRPr lang="en-US" sz="1150" dirty="0"/>
          </a:p>
        </p:txBody>
      </p:sp>
      <p:sp>
        <p:nvSpPr>
          <p:cNvPr id="14" name="Shape 11"/>
          <p:cNvSpPr/>
          <p:nvPr/>
        </p:nvSpPr>
        <p:spPr>
          <a:xfrm>
            <a:off x="438912" y="2286000"/>
            <a:ext cx="109728" cy="109728"/>
          </a:xfrm>
          <a:prstGeom prst="ellipse">
            <a:avLst/>
          </a:prstGeom>
          <a:solidFill>
            <a:srgbClr val="E08A00"/>
          </a:solidFill>
          <a:ln w="12700">
            <a:solidFill>
              <a:srgbClr val="E08A00"/>
            </a:solidFill>
            <a:prstDash val="solid"/>
          </a:ln>
        </p:spPr>
        <p:txBody>
          <a:bodyPr/>
          <a:lstStyle/>
          <a:p>
            <a:endParaRPr lang="en-GB"/>
          </a:p>
        </p:txBody>
      </p:sp>
      <p:sp>
        <p:nvSpPr>
          <p:cNvPr id="15" name="Text 12"/>
          <p:cNvSpPr/>
          <p:nvPr/>
        </p:nvSpPr>
        <p:spPr>
          <a:xfrm>
            <a:off x="603504" y="2249424"/>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Remove contaminated clothing immediately</a:t>
            </a:r>
            <a:endParaRPr lang="en-US" sz="950" dirty="0"/>
          </a:p>
        </p:txBody>
      </p:sp>
      <p:sp>
        <p:nvSpPr>
          <p:cNvPr id="16" name="Shape 13"/>
          <p:cNvSpPr/>
          <p:nvPr/>
        </p:nvSpPr>
        <p:spPr>
          <a:xfrm>
            <a:off x="438912" y="2468880"/>
            <a:ext cx="109728" cy="109728"/>
          </a:xfrm>
          <a:prstGeom prst="ellipse">
            <a:avLst/>
          </a:prstGeom>
          <a:solidFill>
            <a:srgbClr val="E08A00"/>
          </a:solidFill>
          <a:ln w="12700">
            <a:solidFill>
              <a:srgbClr val="E08A00"/>
            </a:solidFill>
            <a:prstDash val="solid"/>
          </a:ln>
        </p:spPr>
        <p:txBody>
          <a:bodyPr/>
          <a:lstStyle/>
          <a:p>
            <a:endParaRPr lang="en-GB"/>
          </a:p>
        </p:txBody>
      </p:sp>
      <p:sp>
        <p:nvSpPr>
          <p:cNvPr id="17" name="Text 14"/>
          <p:cNvSpPr/>
          <p:nvPr/>
        </p:nvSpPr>
        <p:spPr>
          <a:xfrm>
            <a:off x="603504" y="2432304"/>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Wash skin with large quantities of water for at least 15 minutes</a:t>
            </a:r>
            <a:endParaRPr lang="en-US" sz="950" dirty="0"/>
          </a:p>
        </p:txBody>
      </p:sp>
      <p:sp>
        <p:nvSpPr>
          <p:cNvPr id="18" name="Shape 15"/>
          <p:cNvSpPr/>
          <p:nvPr/>
        </p:nvSpPr>
        <p:spPr>
          <a:xfrm>
            <a:off x="438912" y="2651760"/>
            <a:ext cx="109728" cy="109728"/>
          </a:xfrm>
          <a:prstGeom prst="ellipse">
            <a:avLst/>
          </a:prstGeom>
          <a:solidFill>
            <a:srgbClr val="E08A00"/>
          </a:solidFill>
          <a:ln w="12700">
            <a:solidFill>
              <a:srgbClr val="E08A00"/>
            </a:solidFill>
            <a:prstDash val="solid"/>
          </a:ln>
        </p:spPr>
        <p:txBody>
          <a:bodyPr/>
          <a:lstStyle/>
          <a:p>
            <a:endParaRPr lang="en-GB"/>
          </a:p>
        </p:txBody>
      </p:sp>
      <p:sp>
        <p:nvSpPr>
          <p:cNvPr id="19" name="Text 16"/>
          <p:cNvSpPr/>
          <p:nvPr/>
        </p:nvSpPr>
        <p:spPr>
          <a:xfrm>
            <a:off x="603504" y="2615184"/>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Check SDS Section 4 for specific first aid guidance</a:t>
            </a:r>
            <a:endParaRPr lang="en-US" sz="950" dirty="0"/>
          </a:p>
        </p:txBody>
      </p:sp>
      <p:sp>
        <p:nvSpPr>
          <p:cNvPr id="20" name="Shape 17"/>
          <p:cNvSpPr/>
          <p:nvPr/>
        </p:nvSpPr>
        <p:spPr>
          <a:xfrm>
            <a:off x="438912" y="2834640"/>
            <a:ext cx="109728" cy="109728"/>
          </a:xfrm>
          <a:prstGeom prst="ellipse">
            <a:avLst/>
          </a:prstGeom>
          <a:solidFill>
            <a:srgbClr val="E08A00"/>
          </a:solidFill>
          <a:ln w="12700">
            <a:solidFill>
              <a:srgbClr val="E08A00"/>
            </a:solidFill>
            <a:prstDash val="solid"/>
          </a:ln>
        </p:spPr>
        <p:txBody>
          <a:bodyPr/>
          <a:lstStyle/>
          <a:p>
            <a:endParaRPr lang="en-GB"/>
          </a:p>
        </p:txBody>
      </p:sp>
      <p:sp>
        <p:nvSpPr>
          <p:cNvPr id="21" name="Text 18"/>
          <p:cNvSpPr/>
          <p:nvPr/>
        </p:nvSpPr>
        <p:spPr>
          <a:xfrm>
            <a:off x="603504" y="2798064"/>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Seek medical attention if irritation persists or substance is severely corrosive</a:t>
            </a:r>
            <a:endParaRPr lang="en-US" sz="950" dirty="0"/>
          </a:p>
        </p:txBody>
      </p:sp>
      <p:sp>
        <p:nvSpPr>
          <p:cNvPr id="22" name="Shape 19"/>
          <p:cNvSpPr/>
          <p:nvPr/>
        </p:nvSpPr>
        <p:spPr>
          <a:xfrm>
            <a:off x="438912" y="3017520"/>
            <a:ext cx="109728" cy="109728"/>
          </a:xfrm>
          <a:prstGeom prst="ellipse">
            <a:avLst/>
          </a:prstGeom>
          <a:solidFill>
            <a:srgbClr val="E08A00"/>
          </a:solidFill>
          <a:ln w="12700">
            <a:solidFill>
              <a:srgbClr val="E08A00"/>
            </a:solidFill>
            <a:prstDash val="solid"/>
          </a:ln>
        </p:spPr>
        <p:txBody>
          <a:bodyPr/>
          <a:lstStyle/>
          <a:p>
            <a:endParaRPr lang="en-GB"/>
          </a:p>
        </p:txBody>
      </p:sp>
      <p:sp>
        <p:nvSpPr>
          <p:cNvPr id="23" name="Text 20"/>
          <p:cNvSpPr/>
          <p:nvPr/>
        </p:nvSpPr>
        <p:spPr>
          <a:xfrm>
            <a:off x="603504" y="2980944"/>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Report to supervisor and complete incident report</a:t>
            </a:r>
            <a:endParaRPr lang="en-US" sz="950" dirty="0"/>
          </a:p>
        </p:txBody>
      </p:sp>
      <p:sp>
        <p:nvSpPr>
          <p:cNvPr id="24" name="Shape 21"/>
          <p:cNvSpPr/>
          <p:nvPr/>
        </p:nvSpPr>
        <p:spPr>
          <a:xfrm>
            <a:off x="4663440" y="1920240"/>
            <a:ext cx="4133088" cy="1261872"/>
          </a:xfrm>
          <a:prstGeom prst="roundRect">
            <a:avLst>
              <a:gd name="adj" fmla="val 5797"/>
            </a:avLst>
          </a:prstGeom>
          <a:solidFill>
            <a:srgbClr val="F8F8F8"/>
          </a:solidFill>
          <a:ln w="12700">
            <a:solidFill>
              <a:srgbClr val="C0392B"/>
            </a:solidFill>
            <a:prstDash val="solid"/>
          </a:ln>
        </p:spPr>
        <p:txBody>
          <a:bodyPr/>
          <a:lstStyle/>
          <a:p>
            <a:endParaRPr lang="en-GB"/>
          </a:p>
        </p:txBody>
      </p:sp>
      <p:sp>
        <p:nvSpPr>
          <p:cNvPr id="25" name="Shape 22"/>
          <p:cNvSpPr/>
          <p:nvPr/>
        </p:nvSpPr>
        <p:spPr>
          <a:xfrm>
            <a:off x="4663440" y="1920240"/>
            <a:ext cx="4133088" cy="310896"/>
          </a:xfrm>
          <a:prstGeom prst="rect">
            <a:avLst/>
          </a:prstGeom>
          <a:solidFill>
            <a:srgbClr val="C0392B"/>
          </a:solidFill>
          <a:ln w="12700">
            <a:solidFill>
              <a:srgbClr val="C0392B"/>
            </a:solidFill>
            <a:prstDash val="solid"/>
          </a:ln>
        </p:spPr>
        <p:txBody>
          <a:bodyPr/>
          <a:lstStyle/>
          <a:p>
            <a:endParaRPr lang="en-GB"/>
          </a:p>
        </p:txBody>
      </p:sp>
      <p:sp>
        <p:nvSpPr>
          <p:cNvPr id="26" name="Text 23"/>
          <p:cNvSpPr/>
          <p:nvPr/>
        </p:nvSpPr>
        <p:spPr>
          <a:xfrm>
            <a:off x="4754880" y="1956816"/>
            <a:ext cx="3931920" cy="237744"/>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Eye Contact</a:t>
            </a:r>
            <a:endParaRPr lang="en-US" sz="1150" dirty="0"/>
          </a:p>
        </p:txBody>
      </p:sp>
      <p:sp>
        <p:nvSpPr>
          <p:cNvPr id="27" name="Shape 24"/>
          <p:cNvSpPr/>
          <p:nvPr/>
        </p:nvSpPr>
        <p:spPr>
          <a:xfrm>
            <a:off x="4754880" y="2286000"/>
            <a:ext cx="109728" cy="109728"/>
          </a:xfrm>
          <a:prstGeom prst="ellipse">
            <a:avLst/>
          </a:prstGeom>
          <a:solidFill>
            <a:srgbClr val="C0392B"/>
          </a:solidFill>
          <a:ln w="12700">
            <a:solidFill>
              <a:srgbClr val="C0392B"/>
            </a:solidFill>
            <a:prstDash val="solid"/>
          </a:ln>
        </p:spPr>
        <p:txBody>
          <a:bodyPr/>
          <a:lstStyle/>
          <a:p>
            <a:endParaRPr lang="en-GB"/>
          </a:p>
        </p:txBody>
      </p:sp>
      <p:sp>
        <p:nvSpPr>
          <p:cNvPr id="28" name="Text 25"/>
          <p:cNvSpPr/>
          <p:nvPr/>
        </p:nvSpPr>
        <p:spPr>
          <a:xfrm>
            <a:off x="4919472" y="2249424"/>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Irrigate eye immediately with clean water for at least 15 minutes</a:t>
            </a:r>
            <a:endParaRPr lang="en-US" sz="950" dirty="0"/>
          </a:p>
        </p:txBody>
      </p:sp>
      <p:sp>
        <p:nvSpPr>
          <p:cNvPr id="29" name="Shape 26"/>
          <p:cNvSpPr/>
          <p:nvPr/>
        </p:nvSpPr>
        <p:spPr>
          <a:xfrm>
            <a:off x="4754880" y="2468880"/>
            <a:ext cx="109728" cy="109728"/>
          </a:xfrm>
          <a:prstGeom prst="ellipse">
            <a:avLst/>
          </a:prstGeom>
          <a:solidFill>
            <a:srgbClr val="C0392B"/>
          </a:solidFill>
          <a:ln w="12700">
            <a:solidFill>
              <a:srgbClr val="C0392B"/>
            </a:solidFill>
            <a:prstDash val="solid"/>
          </a:ln>
        </p:spPr>
        <p:txBody>
          <a:bodyPr/>
          <a:lstStyle/>
          <a:p>
            <a:endParaRPr lang="en-GB"/>
          </a:p>
        </p:txBody>
      </p:sp>
      <p:sp>
        <p:nvSpPr>
          <p:cNvPr id="30" name="Text 27"/>
          <p:cNvSpPr/>
          <p:nvPr/>
        </p:nvSpPr>
        <p:spPr>
          <a:xfrm>
            <a:off x="4919472" y="2432304"/>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Use the nearest eyewash station — they must be accessible within seconds</a:t>
            </a:r>
            <a:endParaRPr lang="en-US" sz="950" dirty="0"/>
          </a:p>
        </p:txBody>
      </p:sp>
      <p:sp>
        <p:nvSpPr>
          <p:cNvPr id="31" name="Shape 28"/>
          <p:cNvSpPr/>
          <p:nvPr/>
        </p:nvSpPr>
        <p:spPr>
          <a:xfrm>
            <a:off x="4754880" y="2651760"/>
            <a:ext cx="109728" cy="109728"/>
          </a:xfrm>
          <a:prstGeom prst="ellipse">
            <a:avLst/>
          </a:prstGeom>
          <a:solidFill>
            <a:srgbClr val="C0392B"/>
          </a:solidFill>
          <a:ln w="12700">
            <a:solidFill>
              <a:srgbClr val="C0392B"/>
            </a:solidFill>
            <a:prstDash val="solid"/>
          </a:ln>
        </p:spPr>
        <p:txBody>
          <a:bodyPr/>
          <a:lstStyle/>
          <a:p>
            <a:endParaRPr lang="en-GB"/>
          </a:p>
        </p:txBody>
      </p:sp>
      <p:sp>
        <p:nvSpPr>
          <p:cNvPr id="32" name="Text 29"/>
          <p:cNvSpPr/>
          <p:nvPr/>
        </p:nvSpPr>
        <p:spPr>
          <a:xfrm>
            <a:off x="4919472" y="2615184"/>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Hold eyelids open during irrigation to ensure full flushing</a:t>
            </a:r>
            <a:endParaRPr lang="en-US" sz="950" dirty="0"/>
          </a:p>
        </p:txBody>
      </p:sp>
      <p:sp>
        <p:nvSpPr>
          <p:cNvPr id="33" name="Shape 30"/>
          <p:cNvSpPr/>
          <p:nvPr/>
        </p:nvSpPr>
        <p:spPr>
          <a:xfrm>
            <a:off x="4754880" y="2834640"/>
            <a:ext cx="109728" cy="109728"/>
          </a:xfrm>
          <a:prstGeom prst="ellipse">
            <a:avLst/>
          </a:prstGeom>
          <a:solidFill>
            <a:srgbClr val="C0392B"/>
          </a:solidFill>
          <a:ln w="12700">
            <a:solidFill>
              <a:srgbClr val="C0392B"/>
            </a:solidFill>
            <a:prstDash val="solid"/>
          </a:ln>
        </p:spPr>
        <p:txBody>
          <a:bodyPr/>
          <a:lstStyle/>
          <a:p>
            <a:endParaRPr lang="en-GB"/>
          </a:p>
        </p:txBody>
      </p:sp>
      <p:sp>
        <p:nvSpPr>
          <p:cNvPr id="34" name="Text 31"/>
          <p:cNvSpPr/>
          <p:nvPr/>
        </p:nvSpPr>
        <p:spPr>
          <a:xfrm>
            <a:off x="4919472" y="2798064"/>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Do not rub the eye</a:t>
            </a:r>
            <a:endParaRPr lang="en-US" sz="950" dirty="0"/>
          </a:p>
        </p:txBody>
      </p:sp>
      <p:sp>
        <p:nvSpPr>
          <p:cNvPr id="35" name="Shape 32"/>
          <p:cNvSpPr/>
          <p:nvPr/>
        </p:nvSpPr>
        <p:spPr>
          <a:xfrm>
            <a:off x="4754880" y="3017520"/>
            <a:ext cx="109728" cy="109728"/>
          </a:xfrm>
          <a:prstGeom prst="ellipse">
            <a:avLst/>
          </a:prstGeom>
          <a:solidFill>
            <a:srgbClr val="C0392B"/>
          </a:solidFill>
          <a:ln w="12700">
            <a:solidFill>
              <a:srgbClr val="C0392B"/>
            </a:solidFill>
            <a:prstDash val="solid"/>
          </a:ln>
        </p:spPr>
        <p:txBody>
          <a:bodyPr/>
          <a:lstStyle/>
          <a:p>
            <a:endParaRPr lang="en-GB"/>
          </a:p>
        </p:txBody>
      </p:sp>
      <p:sp>
        <p:nvSpPr>
          <p:cNvPr id="36" name="Text 33"/>
          <p:cNvSpPr/>
          <p:nvPr/>
        </p:nvSpPr>
        <p:spPr>
          <a:xfrm>
            <a:off x="4919472" y="2980944"/>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Seek medical attention immediately for all chemical eye contacts</a:t>
            </a:r>
            <a:endParaRPr lang="en-US" sz="950" dirty="0"/>
          </a:p>
        </p:txBody>
      </p:sp>
      <p:sp>
        <p:nvSpPr>
          <p:cNvPr id="37" name="Shape 34"/>
          <p:cNvSpPr/>
          <p:nvPr/>
        </p:nvSpPr>
        <p:spPr>
          <a:xfrm>
            <a:off x="347472" y="3310128"/>
            <a:ext cx="4133088" cy="1261872"/>
          </a:xfrm>
          <a:prstGeom prst="roundRect">
            <a:avLst>
              <a:gd name="adj" fmla="val 5797"/>
            </a:avLst>
          </a:prstGeom>
          <a:solidFill>
            <a:srgbClr val="F8F8F8"/>
          </a:solidFill>
          <a:ln w="12700">
            <a:solidFill>
              <a:srgbClr val="83348F"/>
            </a:solidFill>
            <a:prstDash val="solid"/>
          </a:ln>
        </p:spPr>
        <p:txBody>
          <a:bodyPr/>
          <a:lstStyle/>
          <a:p>
            <a:endParaRPr lang="en-GB"/>
          </a:p>
        </p:txBody>
      </p:sp>
      <p:sp>
        <p:nvSpPr>
          <p:cNvPr id="38" name="Shape 35"/>
          <p:cNvSpPr/>
          <p:nvPr/>
        </p:nvSpPr>
        <p:spPr>
          <a:xfrm>
            <a:off x="347472" y="3310128"/>
            <a:ext cx="4133088" cy="310896"/>
          </a:xfrm>
          <a:prstGeom prst="rect">
            <a:avLst/>
          </a:prstGeom>
          <a:solidFill>
            <a:srgbClr val="83348F"/>
          </a:solidFill>
          <a:ln w="12700">
            <a:solidFill>
              <a:srgbClr val="83348F"/>
            </a:solidFill>
            <a:prstDash val="solid"/>
          </a:ln>
        </p:spPr>
        <p:txBody>
          <a:bodyPr/>
          <a:lstStyle/>
          <a:p>
            <a:endParaRPr lang="en-GB"/>
          </a:p>
        </p:txBody>
      </p:sp>
      <p:sp>
        <p:nvSpPr>
          <p:cNvPr id="39" name="Text 36"/>
          <p:cNvSpPr/>
          <p:nvPr/>
        </p:nvSpPr>
        <p:spPr>
          <a:xfrm>
            <a:off x="438912" y="3346704"/>
            <a:ext cx="3931920" cy="237744"/>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Inhalation</a:t>
            </a:r>
            <a:endParaRPr lang="en-US" sz="1150" dirty="0"/>
          </a:p>
        </p:txBody>
      </p:sp>
      <p:sp>
        <p:nvSpPr>
          <p:cNvPr id="40" name="Shape 37"/>
          <p:cNvSpPr/>
          <p:nvPr/>
        </p:nvSpPr>
        <p:spPr>
          <a:xfrm>
            <a:off x="438912" y="3675888"/>
            <a:ext cx="109728" cy="109728"/>
          </a:xfrm>
          <a:prstGeom prst="ellipse">
            <a:avLst/>
          </a:prstGeom>
          <a:solidFill>
            <a:srgbClr val="83348F"/>
          </a:solidFill>
          <a:ln w="12700">
            <a:solidFill>
              <a:srgbClr val="83348F"/>
            </a:solidFill>
            <a:prstDash val="solid"/>
          </a:ln>
        </p:spPr>
        <p:txBody>
          <a:bodyPr/>
          <a:lstStyle/>
          <a:p>
            <a:endParaRPr lang="en-GB"/>
          </a:p>
        </p:txBody>
      </p:sp>
      <p:sp>
        <p:nvSpPr>
          <p:cNvPr id="41" name="Text 38"/>
          <p:cNvSpPr/>
          <p:nvPr/>
        </p:nvSpPr>
        <p:spPr>
          <a:xfrm>
            <a:off x="603504" y="3639312"/>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Remove person from the exposure area to fresh air immediately</a:t>
            </a:r>
            <a:endParaRPr lang="en-US" sz="950" dirty="0"/>
          </a:p>
        </p:txBody>
      </p:sp>
      <p:sp>
        <p:nvSpPr>
          <p:cNvPr id="42" name="Shape 39"/>
          <p:cNvSpPr/>
          <p:nvPr/>
        </p:nvSpPr>
        <p:spPr>
          <a:xfrm>
            <a:off x="438912" y="3858768"/>
            <a:ext cx="109728" cy="109728"/>
          </a:xfrm>
          <a:prstGeom prst="ellipse">
            <a:avLst/>
          </a:prstGeom>
          <a:solidFill>
            <a:srgbClr val="83348F"/>
          </a:solidFill>
          <a:ln w="12700">
            <a:solidFill>
              <a:srgbClr val="83348F"/>
            </a:solidFill>
            <a:prstDash val="solid"/>
          </a:ln>
        </p:spPr>
        <p:txBody>
          <a:bodyPr/>
          <a:lstStyle/>
          <a:p>
            <a:endParaRPr lang="en-GB"/>
          </a:p>
        </p:txBody>
      </p:sp>
      <p:sp>
        <p:nvSpPr>
          <p:cNvPr id="43" name="Text 40"/>
          <p:cNvSpPr/>
          <p:nvPr/>
        </p:nvSpPr>
        <p:spPr>
          <a:xfrm>
            <a:off x="603504" y="3822192"/>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Loosen any tight clothing around the neck or chest</a:t>
            </a:r>
            <a:endParaRPr lang="en-US" sz="950" dirty="0"/>
          </a:p>
        </p:txBody>
      </p:sp>
      <p:sp>
        <p:nvSpPr>
          <p:cNvPr id="44" name="Shape 41"/>
          <p:cNvSpPr/>
          <p:nvPr/>
        </p:nvSpPr>
        <p:spPr>
          <a:xfrm>
            <a:off x="438912" y="4041648"/>
            <a:ext cx="109728" cy="109728"/>
          </a:xfrm>
          <a:prstGeom prst="ellipse">
            <a:avLst/>
          </a:prstGeom>
          <a:solidFill>
            <a:srgbClr val="83348F"/>
          </a:solidFill>
          <a:ln w="12700">
            <a:solidFill>
              <a:srgbClr val="83348F"/>
            </a:solidFill>
            <a:prstDash val="solid"/>
          </a:ln>
        </p:spPr>
        <p:txBody>
          <a:bodyPr/>
          <a:lstStyle/>
          <a:p>
            <a:endParaRPr lang="en-GB"/>
          </a:p>
        </p:txBody>
      </p:sp>
      <p:sp>
        <p:nvSpPr>
          <p:cNvPr id="45" name="Text 42"/>
          <p:cNvSpPr/>
          <p:nvPr/>
        </p:nvSpPr>
        <p:spPr>
          <a:xfrm>
            <a:off x="603504" y="4005072"/>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If unconscious or not breathing, call 999 and start CPR</a:t>
            </a:r>
            <a:endParaRPr lang="en-US" sz="950" dirty="0"/>
          </a:p>
        </p:txBody>
      </p:sp>
      <p:sp>
        <p:nvSpPr>
          <p:cNvPr id="46" name="Shape 43"/>
          <p:cNvSpPr/>
          <p:nvPr/>
        </p:nvSpPr>
        <p:spPr>
          <a:xfrm>
            <a:off x="438912" y="4224528"/>
            <a:ext cx="109728" cy="109728"/>
          </a:xfrm>
          <a:prstGeom prst="ellipse">
            <a:avLst/>
          </a:prstGeom>
          <a:solidFill>
            <a:srgbClr val="83348F"/>
          </a:solidFill>
          <a:ln w="12700">
            <a:solidFill>
              <a:srgbClr val="83348F"/>
            </a:solidFill>
            <a:prstDash val="solid"/>
          </a:ln>
        </p:spPr>
        <p:txBody>
          <a:bodyPr/>
          <a:lstStyle/>
          <a:p>
            <a:endParaRPr lang="en-GB"/>
          </a:p>
        </p:txBody>
      </p:sp>
      <p:sp>
        <p:nvSpPr>
          <p:cNvPr id="47" name="Text 44"/>
          <p:cNvSpPr/>
          <p:nvPr/>
        </p:nvSpPr>
        <p:spPr>
          <a:xfrm>
            <a:off x="603504" y="4187952"/>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Do not re-enter a contaminated atmosphere without RPE</a:t>
            </a:r>
            <a:endParaRPr lang="en-US" sz="950" dirty="0"/>
          </a:p>
        </p:txBody>
      </p:sp>
      <p:sp>
        <p:nvSpPr>
          <p:cNvPr id="48" name="Shape 45"/>
          <p:cNvSpPr/>
          <p:nvPr/>
        </p:nvSpPr>
        <p:spPr>
          <a:xfrm>
            <a:off x="438912" y="4407408"/>
            <a:ext cx="109728" cy="109728"/>
          </a:xfrm>
          <a:prstGeom prst="ellipse">
            <a:avLst/>
          </a:prstGeom>
          <a:solidFill>
            <a:srgbClr val="83348F"/>
          </a:solidFill>
          <a:ln w="12700">
            <a:solidFill>
              <a:srgbClr val="83348F"/>
            </a:solidFill>
            <a:prstDash val="solid"/>
          </a:ln>
        </p:spPr>
        <p:txBody>
          <a:bodyPr/>
          <a:lstStyle/>
          <a:p>
            <a:endParaRPr lang="en-GB"/>
          </a:p>
        </p:txBody>
      </p:sp>
      <p:sp>
        <p:nvSpPr>
          <p:cNvPr id="49" name="Text 46"/>
          <p:cNvSpPr/>
          <p:nvPr/>
        </p:nvSpPr>
        <p:spPr>
          <a:xfrm>
            <a:off x="603504" y="4370832"/>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Seek medical attention — symptoms may be delayed for several hours</a:t>
            </a:r>
            <a:endParaRPr lang="en-US" sz="950" dirty="0"/>
          </a:p>
        </p:txBody>
      </p:sp>
      <p:sp>
        <p:nvSpPr>
          <p:cNvPr id="50" name="Shape 47"/>
          <p:cNvSpPr/>
          <p:nvPr/>
        </p:nvSpPr>
        <p:spPr>
          <a:xfrm>
            <a:off x="4663440" y="3310128"/>
            <a:ext cx="4133088" cy="1261872"/>
          </a:xfrm>
          <a:prstGeom prst="roundRect">
            <a:avLst>
              <a:gd name="adj" fmla="val 5797"/>
            </a:avLst>
          </a:prstGeom>
          <a:solidFill>
            <a:srgbClr val="F8F8F8"/>
          </a:solidFill>
          <a:ln w="12700">
            <a:solidFill>
              <a:srgbClr val="009FE3"/>
            </a:solidFill>
            <a:prstDash val="solid"/>
          </a:ln>
        </p:spPr>
        <p:txBody>
          <a:bodyPr/>
          <a:lstStyle/>
          <a:p>
            <a:endParaRPr lang="en-GB"/>
          </a:p>
        </p:txBody>
      </p:sp>
      <p:sp>
        <p:nvSpPr>
          <p:cNvPr id="51" name="Shape 48"/>
          <p:cNvSpPr/>
          <p:nvPr/>
        </p:nvSpPr>
        <p:spPr>
          <a:xfrm>
            <a:off x="4663440" y="3310128"/>
            <a:ext cx="4133088" cy="310896"/>
          </a:xfrm>
          <a:prstGeom prst="rect">
            <a:avLst/>
          </a:prstGeom>
          <a:solidFill>
            <a:srgbClr val="009FE3"/>
          </a:solidFill>
          <a:ln w="12700">
            <a:solidFill>
              <a:srgbClr val="009FE3"/>
            </a:solidFill>
            <a:prstDash val="solid"/>
          </a:ln>
        </p:spPr>
        <p:txBody>
          <a:bodyPr/>
          <a:lstStyle/>
          <a:p>
            <a:endParaRPr lang="en-GB"/>
          </a:p>
        </p:txBody>
      </p:sp>
      <p:sp>
        <p:nvSpPr>
          <p:cNvPr id="52" name="Text 49"/>
          <p:cNvSpPr/>
          <p:nvPr/>
        </p:nvSpPr>
        <p:spPr>
          <a:xfrm>
            <a:off x="4754880" y="3346704"/>
            <a:ext cx="3931920" cy="237744"/>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Spill</a:t>
            </a:r>
            <a:endParaRPr lang="en-US" sz="1150" dirty="0"/>
          </a:p>
        </p:txBody>
      </p:sp>
      <p:sp>
        <p:nvSpPr>
          <p:cNvPr id="53" name="Shape 50"/>
          <p:cNvSpPr/>
          <p:nvPr/>
        </p:nvSpPr>
        <p:spPr>
          <a:xfrm>
            <a:off x="4754880" y="3675888"/>
            <a:ext cx="109728" cy="109728"/>
          </a:xfrm>
          <a:prstGeom prst="ellipse">
            <a:avLst/>
          </a:prstGeom>
          <a:solidFill>
            <a:srgbClr val="009FE3"/>
          </a:solidFill>
          <a:ln w="12700">
            <a:solidFill>
              <a:srgbClr val="009FE3"/>
            </a:solidFill>
            <a:prstDash val="solid"/>
          </a:ln>
        </p:spPr>
        <p:txBody>
          <a:bodyPr/>
          <a:lstStyle/>
          <a:p>
            <a:endParaRPr lang="en-GB"/>
          </a:p>
        </p:txBody>
      </p:sp>
      <p:sp>
        <p:nvSpPr>
          <p:cNvPr id="54" name="Text 51"/>
          <p:cNvSpPr/>
          <p:nvPr/>
        </p:nvSpPr>
        <p:spPr>
          <a:xfrm>
            <a:off x="4919472" y="3639312"/>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Evacuate personnel from the immediate area</a:t>
            </a:r>
            <a:endParaRPr lang="en-US" sz="950" dirty="0"/>
          </a:p>
        </p:txBody>
      </p:sp>
      <p:sp>
        <p:nvSpPr>
          <p:cNvPr id="55" name="Shape 52"/>
          <p:cNvSpPr/>
          <p:nvPr/>
        </p:nvSpPr>
        <p:spPr>
          <a:xfrm>
            <a:off x="4754880" y="3858768"/>
            <a:ext cx="109728" cy="109728"/>
          </a:xfrm>
          <a:prstGeom prst="ellipse">
            <a:avLst/>
          </a:prstGeom>
          <a:solidFill>
            <a:srgbClr val="009FE3"/>
          </a:solidFill>
          <a:ln w="12700">
            <a:solidFill>
              <a:srgbClr val="009FE3"/>
            </a:solidFill>
            <a:prstDash val="solid"/>
          </a:ln>
        </p:spPr>
        <p:txBody>
          <a:bodyPr/>
          <a:lstStyle/>
          <a:p>
            <a:endParaRPr lang="en-GB"/>
          </a:p>
        </p:txBody>
      </p:sp>
      <p:sp>
        <p:nvSpPr>
          <p:cNvPr id="56" name="Text 53"/>
          <p:cNvSpPr/>
          <p:nvPr/>
        </p:nvSpPr>
        <p:spPr>
          <a:xfrm>
            <a:off x="4919472" y="3822192"/>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Ventilate the area if safe to do so without creating further exposure</a:t>
            </a:r>
            <a:endParaRPr lang="en-US" sz="950" dirty="0"/>
          </a:p>
        </p:txBody>
      </p:sp>
      <p:sp>
        <p:nvSpPr>
          <p:cNvPr id="57" name="Shape 54"/>
          <p:cNvSpPr/>
          <p:nvPr/>
        </p:nvSpPr>
        <p:spPr>
          <a:xfrm>
            <a:off x="4754880" y="4041648"/>
            <a:ext cx="109728" cy="109728"/>
          </a:xfrm>
          <a:prstGeom prst="ellipse">
            <a:avLst/>
          </a:prstGeom>
          <a:solidFill>
            <a:srgbClr val="009FE3"/>
          </a:solidFill>
          <a:ln w="12700">
            <a:solidFill>
              <a:srgbClr val="009FE3"/>
            </a:solidFill>
            <a:prstDash val="solid"/>
          </a:ln>
        </p:spPr>
        <p:txBody>
          <a:bodyPr/>
          <a:lstStyle/>
          <a:p>
            <a:endParaRPr lang="en-GB"/>
          </a:p>
        </p:txBody>
      </p:sp>
      <p:sp>
        <p:nvSpPr>
          <p:cNvPr id="58" name="Text 55"/>
          <p:cNvSpPr/>
          <p:nvPr/>
        </p:nvSpPr>
        <p:spPr>
          <a:xfrm>
            <a:off x="4919472" y="4005072"/>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Use spill kit materials specified for the substance — know where they are</a:t>
            </a:r>
            <a:endParaRPr lang="en-US" sz="950" dirty="0"/>
          </a:p>
        </p:txBody>
      </p:sp>
      <p:sp>
        <p:nvSpPr>
          <p:cNvPr id="59" name="Shape 56"/>
          <p:cNvSpPr/>
          <p:nvPr/>
        </p:nvSpPr>
        <p:spPr>
          <a:xfrm>
            <a:off x="4754880" y="4224528"/>
            <a:ext cx="109728" cy="109728"/>
          </a:xfrm>
          <a:prstGeom prst="ellipse">
            <a:avLst/>
          </a:prstGeom>
          <a:solidFill>
            <a:srgbClr val="009FE3"/>
          </a:solidFill>
          <a:ln w="12700">
            <a:solidFill>
              <a:srgbClr val="009FE3"/>
            </a:solidFill>
            <a:prstDash val="solid"/>
          </a:ln>
        </p:spPr>
        <p:txBody>
          <a:bodyPr/>
          <a:lstStyle/>
          <a:p>
            <a:endParaRPr lang="en-GB"/>
          </a:p>
        </p:txBody>
      </p:sp>
      <p:sp>
        <p:nvSpPr>
          <p:cNvPr id="60" name="Text 57"/>
          <p:cNvSpPr/>
          <p:nvPr/>
        </p:nvSpPr>
        <p:spPr>
          <a:xfrm>
            <a:off x="4919472" y="4187952"/>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Do not use absorbent materials that may react with the spilled substance</a:t>
            </a:r>
            <a:endParaRPr lang="en-US" sz="950" dirty="0"/>
          </a:p>
        </p:txBody>
      </p:sp>
      <p:sp>
        <p:nvSpPr>
          <p:cNvPr id="61" name="Shape 58"/>
          <p:cNvSpPr/>
          <p:nvPr/>
        </p:nvSpPr>
        <p:spPr>
          <a:xfrm>
            <a:off x="4754880" y="4407408"/>
            <a:ext cx="109728" cy="109728"/>
          </a:xfrm>
          <a:prstGeom prst="ellipse">
            <a:avLst/>
          </a:prstGeom>
          <a:solidFill>
            <a:srgbClr val="009FE3"/>
          </a:solidFill>
          <a:ln w="12700">
            <a:solidFill>
              <a:srgbClr val="009FE3"/>
            </a:solidFill>
            <a:prstDash val="solid"/>
          </a:ln>
        </p:spPr>
        <p:txBody>
          <a:bodyPr/>
          <a:lstStyle/>
          <a:p>
            <a:endParaRPr lang="en-GB"/>
          </a:p>
        </p:txBody>
      </p:sp>
      <p:sp>
        <p:nvSpPr>
          <p:cNvPr id="62" name="Text 59"/>
          <p:cNvSpPr/>
          <p:nvPr/>
        </p:nvSpPr>
        <p:spPr>
          <a:xfrm>
            <a:off x="4919472" y="4370832"/>
            <a:ext cx="3803904" cy="16459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Do not allow entry to clean up without correct PPE and training</a:t>
            </a:r>
            <a:endParaRPr lang="en-US" sz="950" dirty="0"/>
          </a:p>
        </p:txBody>
      </p:sp>
      <p:sp>
        <p:nvSpPr>
          <p:cNvPr id="63" name="Rectangle 6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image.png"/>
          <p:cNvPicPr>
            <a:picLocks noChangeAspect="1"/>
          </p:cNvPicPr>
          <p:nvPr/>
        </p:nvPicPr>
        <p:blipFill>
          <a:blip r:embed="rId5"/>
          <a:stretch>
            <a:fillRect/>
          </a:stretch>
        </p:blipFill>
        <p:spPr>
          <a:xfrm>
            <a:off x="7562088" y="100584"/>
            <a:ext cx="566928" cy="347472"/>
          </a:xfrm>
          <a:prstGeom prst="rect">
            <a:avLst/>
          </a:prstGeom>
        </p:spPr>
      </p:pic>
      <p:pic>
        <p:nvPicPr>
          <p:cNvPr id="65" name="Picture 64" descr="image.png"/>
          <p:cNvPicPr>
            <a:picLocks noChangeAspect="1"/>
          </p:cNvPicPr>
          <p:nvPr/>
        </p:nvPicPr>
        <p:blipFill>
          <a:blip r:embed="rId4"/>
          <a:stretch>
            <a:fillRect/>
          </a:stretch>
        </p:blipFill>
        <p:spPr>
          <a:xfrm>
            <a:off x="8174736" y="100584"/>
            <a:ext cx="658368" cy="347472"/>
          </a:xfrm>
          <a:prstGeom prst="rect">
            <a:avLst/>
          </a:prstGeom>
        </p:spPr>
      </p:pic>
      <p:sp>
        <p:nvSpPr>
          <p:cNvPr id="66" name="Rectangle 6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Hygiene</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Workplace Hygiene: Simple Actions that Prevent Serious Harm</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502920"/>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Many occupational health conditions caused by hazardous substances are preventable through basic hygiene measures. These are simple, cost nothing, and can prevent irreversible harm. They are also a legal requirement under the Workplace (Health, Safety and Welfare) Regulations 1992.</a:t>
            </a:r>
            <a:endParaRPr lang="en-US" sz="1300" dirty="0"/>
          </a:p>
        </p:txBody>
      </p:sp>
      <p:sp>
        <p:nvSpPr>
          <p:cNvPr id="11" name="Shape 8"/>
          <p:cNvSpPr/>
          <p:nvPr/>
        </p:nvSpPr>
        <p:spPr>
          <a:xfrm>
            <a:off x="347472" y="1920240"/>
            <a:ext cx="4160520" cy="310896"/>
          </a:xfrm>
          <a:prstGeom prst="rect">
            <a:avLst/>
          </a:prstGeom>
          <a:solidFill>
            <a:srgbClr val="2E8B57"/>
          </a:solidFill>
          <a:ln w="12700">
            <a:solidFill>
              <a:srgbClr val="2E8B57"/>
            </a:solidFill>
            <a:prstDash val="solid"/>
          </a:ln>
        </p:spPr>
        <p:txBody>
          <a:bodyPr/>
          <a:lstStyle/>
          <a:p>
            <a:endParaRPr lang="en-GB"/>
          </a:p>
        </p:txBody>
      </p:sp>
      <p:sp>
        <p:nvSpPr>
          <p:cNvPr id="12" name="Text 9"/>
          <p:cNvSpPr/>
          <p:nvPr/>
        </p:nvSpPr>
        <p:spPr>
          <a:xfrm>
            <a:off x="457200" y="1938528"/>
            <a:ext cx="4005072"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Good Practice — Always Do These</a:t>
            </a:r>
            <a:endParaRPr lang="en-US" sz="1150" dirty="0"/>
          </a:p>
        </p:txBody>
      </p:sp>
      <p:sp>
        <p:nvSpPr>
          <p:cNvPr id="13" name="Shape 10"/>
          <p:cNvSpPr/>
          <p:nvPr/>
        </p:nvSpPr>
        <p:spPr>
          <a:xfrm>
            <a:off x="402336" y="2313432"/>
            <a:ext cx="146304" cy="146304"/>
          </a:xfrm>
          <a:prstGeom prst="ellipse">
            <a:avLst/>
          </a:prstGeom>
          <a:solidFill>
            <a:srgbClr val="2E8B57"/>
          </a:solidFill>
          <a:ln w="12700">
            <a:solidFill>
              <a:srgbClr val="2E8B57"/>
            </a:solidFill>
            <a:prstDash val="solid"/>
          </a:ln>
        </p:spPr>
        <p:txBody>
          <a:bodyPr/>
          <a:lstStyle/>
          <a:p>
            <a:endParaRPr lang="en-GB"/>
          </a:p>
        </p:txBody>
      </p:sp>
      <p:sp>
        <p:nvSpPr>
          <p:cNvPr id="14" name="Text 11"/>
          <p:cNvSpPr/>
          <p:nvPr/>
        </p:nvSpPr>
        <p:spPr>
          <a:xfrm>
            <a:off x="621792" y="2286000"/>
            <a:ext cx="3794760" cy="42062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Always wash hands before eating, drinking, or visiting the toilet after working with hazardous substances. Use warm water and mild soap. Dry thoroughly.</a:t>
            </a:r>
            <a:endParaRPr lang="en-US" sz="1050" dirty="0"/>
          </a:p>
        </p:txBody>
      </p:sp>
      <p:sp>
        <p:nvSpPr>
          <p:cNvPr id="15" name="Shape 12"/>
          <p:cNvSpPr/>
          <p:nvPr/>
        </p:nvSpPr>
        <p:spPr>
          <a:xfrm>
            <a:off x="402336" y="2788920"/>
            <a:ext cx="146304" cy="146304"/>
          </a:xfrm>
          <a:prstGeom prst="ellipse">
            <a:avLst/>
          </a:prstGeom>
          <a:solidFill>
            <a:srgbClr val="2E8B57"/>
          </a:solidFill>
          <a:ln w="12700">
            <a:solidFill>
              <a:srgbClr val="2E8B57"/>
            </a:solidFill>
            <a:prstDash val="solid"/>
          </a:ln>
        </p:spPr>
        <p:txBody>
          <a:bodyPr/>
          <a:lstStyle/>
          <a:p>
            <a:endParaRPr lang="en-GB"/>
          </a:p>
        </p:txBody>
      </p:sp>
      <p:sp>
        <p:nvSpPr>
          <p:cNvPr id="16" name="Text 13"/>
          <p:cNvSpPr/>
          <p:nvPr/>
        </p:nvSpPr>
        <p:spPr>
          <a:xfrm>
            <a:off x="621792" y="2761488"/>
            <a:ext cx="3794760" cy="42062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Never eat, drink, chew gum, or smoke in areas where hazardous substances are used or stored. Ingestion is a preventable route of entry.</a:t>
            </a:r>
            <a:endParaRPr lang="en-US" sz="1050" dirty="0"/>
          </a:p>
        </p:txBody>
      </p:sp>
      <p:sp>
        <p:nvSpPr>
          <p:cNvPr id="17" name="Shape 14"/>
          <p:cNvSpPr/>
          <p:nvPr/>
        </p:nvSpPr>
        <p:spPr>
          <a:xfrm>
            <a:off x="402336" y="3264408"/>
            <a:ext cx="146304" cy="146304"/>
          </a:xfrm>
          <a:prstGeom prst="ellipse">
            <a:avLst/>
          </a:prstGeom>
          <a:solidFill>
            <a:srgbClr val="2E8B57"/>
          </a:solidFill>
          <a:ln w="12700">
            <a:solidFill>
              <a:srgbClr val="2E8B57"/>
            </a:solidFill>
            <a:prstDash val="solid"/>
          </a:ln>
        </p:spPr>
        <p:txBody>
          <a:bodyPr/>
          <a:lstStyle/>
          <a:p>
            <a:endParaRPr lang="en-GB"/>
          </a:p>
        </p:txBody>
      </p:sp>
      <p:sp>
        <p:nvSpPr>
          <p:cNvPr id="18" name="Text 15"/>
          <p:cNvSpPr/>
          <p:nvPr/>
        </p:nvSpPr>
        <p:spPr>
          <a:xfrm>
            <a:off x="621792" y="3236976"/>
            <a:ext cx="3794760" cy="42062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Keep contaminated clothing separate from clean clothing. Change clothing if significantly contaminated. Do not take contaminated PPE or workwear home.</a:t>
            </a:r>
            <a:endParaRPr lang="en-US" sz="1050" dirty="0"/>
          </a:p>
        </p:txBody>
      </p:sp>
      <p:sp>
        <p:nvSpPr>
          <p:cNvPr id="19" name="Shape 16"/>
          <p:cNvSpPr/>
          <p:nvPr/>
        </p:nvSpPr>
        <p:spPr>
          <a:xfrm>
            <a:off x="402336" y="3739896"/>
            <a:ext cx="146304" cy="146304"/>
          </a:xfrm>
          <a:prstGeom prst="ellipse">
            <a:avLst/>
          </a:prstGeom>
          <a:solidFill>
            <a:srgbClr val="2E8B57"/>
          </a:solidFill>
          <a:ln w="12700">
            <a:solidFill>
              <a:srgbClr val="2E8B57"/>
            </a:solidFill>
            <a:prstDash val="solid"/>
          </a:ln>
        </p:spPr>
        <p:txBody>
          <a:bodyPr/>
          <a:lstStyle/>
          <a:p>
            <a:endParaRPr lang="en-GB"/>
          </a:p>
        </p:txBody>
      </p:sp>
      <p:sp>
        <p:nvSpPr>
          <p:cNvPr id="20" name="Text 17"/>
          <p:cNvSpPr/>
          <p:nvPr/>
        </p:nvSpPr>
        <p:spPr>
          <a:xfrm>
            <a:off x="621792" y="3712464"/>
            <a:ext cx="3794760" cy="42062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Apply moisturising cream after washing hands at end of shift. This restores the skin barrier and dramatically reduces dermatitis risk.</a:t>
            </a:r>
            <a:endParaRPr lang="en-US" sz="1050" dirty="0"/>
          </a:p>
        </p:txBody>
      </p:sp>
      <p:sp>
        <p:nvSpPr>
          <p:cNvPr id="21" name="Shape 18"/>
          <p:cNvSpPr/>
          <p:nvPr/>
        </p:nvSpPr>
        <p:spPr>
          <a:xfrm>
            <a:off x="402336" y="4215384"/>
            <a:ext cx="146304" cy="146304"/>
          </a:xfrm>
          <a:prstGeom prst="ellipse">
            <a:avLst/>
          </a:prstGeom>
          <a:solidFill>
            <a:srgbClr val="2E8B57"/>
          </a:solidFill>
          <a:ln w="12700">
            <a:solidFill>
              <a:srgbClr val="2E8B57"/>
            </a:solidFill>
            <a:prstDash val="solid"/>
          </a:ln>
        </p:spPr>
        <p:txBody>
          <a:bodyPr/>
          <a:lstStyle/>
          <a:p>
            <a:endParaRPr lang="en-GB"/>
          </a:p>
        </p:txBody>
      </p:sp>
      <p:sp>
        <p:nvSpPr>
          <p:cNvPr id="22" name="Text 19"/>
          <p:cNvSpPr/>
          <p:nvPr/>
        </p:nvSpPr>
        <p:spPr>
          <a:xfrm>
            <a:off x="621792" y="4187952"/>
            <a:ext cx="3794760" cy="420624"/>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Report any leaks, spills, or substance releases to your supervisor immediately, even if they appear minor. Small exposures add up over time.</a:t>
            </a:r>
            <a:endParaRPr lang="en-US" sz="1050" dirty="0"/>
          </a:p>
        </p:txBody>
      </p:sp>
      <p:sp>
        <p:nvSpPr>
          <p:cNvPr id="23" name="Shape 20"/>
          <p:cNvSpPr/>
          <p:nvPr/>
        </p:nvSpPr>
        <p:spPr>
          <a:xfrm>
            <a:off x="4663440" y="1920240"/>
            <a:ext cx="4133088" cy="310896"/>
          </a:xfrm>
          <a:prstGeom prst="rect">
            <a:avLst/>
          </a:prstGeom>
          <a:solidFill>
            <a:srgbClr val="C0392B"/>
          </a:solidFill>
          <a:ln w="12700">
            <a:solidFill>
              <a:srgbClr val="C0392B"/>
            </a:solidFill>
            <a:prstDash val="solid"/>
          </a:ln>
        </p:spPr>
        <p:txBody>
          <a:bodyPr/>
          <a:lstStyle/>
          <a:p>
            <a:endParaRPr lang="en-GB"/>
          </a:p>
        </p:txBody>
      </p:sp>
      <p:sp>
        <p:nvSpPr>
          <p:cNvPr id="24" name="Text 21"/>
          <p:cNvSpPr/>
          <p:nvPr/>
        </p:nvSpPr>
        <p:spPr>
          <a:xfrm>
            <a:off x="4773168" y="1938528"/>
            <a:ext cx="3931920"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Common Mistakes — Never Do These</a:t>
            </a:r>
            <a:endParaRPr lang="en-US" sz="1150" dirty="0"/>
          </a:p>
        </p:txBody>
      </p:sp>
      <p:sp>
        <p:nvSpPr>
          <p:cNvPr id="25" name="Shape 22"/>
          <p:cNvSpPr/>
          <p:nvPr/>
        </p:nvSpPr>
        <p:spPr>
          <a:xfrm>
            <a:off x="4718304" y="2340864"/>
            <a:ext cx="146304" cy="146304"/>
          </a:xfrm>
          <a:prstGeom prst="rect">
            <a:avLst/>
          </a:prstGeom>
          <a:solidFill>
            <a:srgbClr val="C0392B"/>
          </a:solidFill>
          <a:ln w="12700">
            <a:solidFill>
              <a:srgbClr val="C0392B"/>
            </a:solidFill>
            <a:prstDash val="solid"/>
          </a:ln>
        </p:spPr>
        <p:txBody>
          <a:bodyPr/>
          <a:lstStyle/>
          <a:p>
            <a:endParaRPr lang="en-GB"/>
          </a:p>
        </p:txBody>
      </p:sp>
      <p:sp>
        <p:nvSpPr>
          <p:cNvPr id="26" name="Text 23"/>
          <p:cNvSpPr/>
          <p:nvPr/>
        </p:nvSpPr>
        <p:spPr>
          <a:xfrm>
            <a:off x="4937760" y="2304288"/>
            <a:ext cx="3794760" cy="621792"/>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Never use solvents, thinners, or any hazardous substance to clean your skin. This removes protective oils and introduces chemicals directly through the skin barrier.</a:t>
            </a:r>
            <a:endParaRPr lang="en-US" sz="1050" dirty="0"/>
          </a:p>
        </p:txBody>
      </p:sp>
      <p:sp>
        <p:nvSpPr>
          <p:cNvPr id="27" name="Shape 24"/>
          <p:cNvSpPr/>
          <p:nvPr/>
        </p:nvSpPr>
        <p:spPr>
          <a:xfrm>
            <a:off x="4718304" y="3035808"/>
            <a:ext cx="146304" cy="146304"/>
          </a:xfrm>
          <a:prstGeom prst="rect">
            <a:avLst/>
          </a:prstGeom>
          <a:solidFill>
            <a:srgbClr val="C0392B"/>
          </a:solidFill>
          <a:ln w="12700">
            <a:solidFill>
              <a:srgbClr val="C0392B"/>
            </a:solidFill>
            <a:prstDash val="solid"/>
          </a:ln>
        </p:spPr>
        <p:txBody>
          <a:bodyPr/>
          <a:lstStyle/>
          <a:p>
            <a:endParaRPr lang="en-GB"/>
          </a:p>
        </p:txBody>
      </p:sp>
      <p:sp>
        <p:nvSpPr>
          <p:cNvPr id="28" name="Text 25"/>
          <p:cNvSpPr/>
          <p:nvPr/>
        </p:nvSpPr>
        <p:spPr>
          <a:xfrm>
            <a:off x="4937760" y="2999232"/>
            <a:ext cx="3794760" cy="621792"/>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Do not ignore safety data sheets, COSHH assessments, or hazard labels because you have used the substance for years without apparent harm. Chronic effects develop slowly.</a:t>
            </a:r>
            <a:endParaRPr lang="en-US" sz="1050" dirty="0"/>
          </a:p>
        </p:txBody>
      </p:sp>
      <p:sp>
        <p:nvSpPr>
          <p:cNvPr id="29" name="Shape 26"/>
          <p:cNvSpPr/>
          <p:nvPr/>
        </p:nvSpPr>
        <p:spPr>
          <a:xfrm>
            <a:off x="4718304" y="3730752"/>
            <a:ext cx="146304" cy="146304"/>
          </a:xfrm>
          <a:prstGeom prst="rect">
            <a:avLst/>
          </a:prstGeom>
          <a:solidFill>
            <a:srgbClr val="C0392B"/>
          </a:solidFill>
          <a:ln w="12700">
            <a:solidFill>
              <a:srgbClr val="C0392B"/>
            </a:solidFill>
            <a:prstDash val="solid"/>
          </a:ln>
        </p:spPr>
        <p:txBody>
          <a:bodyPr/>
          <a:lstStyle/>
          <a:p>
            <a:endParaRPr lang="en-GB"/>
          </a:p>
        </p:txBody>
      </p:sp>
      <p:sp>
        <p:nvSpPr>
          <p:cNvPr id="30" name="Text 27"/>
          <p:cNvSpPr/>
          <p:nvPr/>
        </p:nvSpPr>
        <p:spPr>
          <a:xfrm>
            <a:off x="4937760" y="3694176"/>
            <a:ext cx="3794760" cy="621792"/>
          </a:xfrm>
          <a:prstGeom prst="rect">
            <a:avLst/>
          </a:prstGeom>
          <a:noFill/>
          <a:ln/>
        </p:spPr>
        <p:txBody>
          <a:bodyPr wrap="square" lIns="0" tIns="0" rIns="0" bIns="0" rtlCol="0" anchor="ctr"/>
          <a:lstStyle/>
          <a:p>
            <a:pPr marL="0" indent="0">
              <a:buNone/>
            </a:pPr>
            <a:r>
              <a:rPr lang="en-US" sz="1050" dirty="0">
                <a:solidFill>
                  <a:srgbClr val="5B595A"/>
                </a:solidFill>
                <a:latin typeface="Arial" pitchFamily="34" charset="0"/>
                <a:ea typeface="Arial" pitchFamily="34" charset="-122"/>
                <a:cs typeface="Arial" pitchFamily="34" charset="-120"/>
              </a:rPr>
              <a:t>Do not decant substances into unmarked containers. Always keep hazardous substances in their original, correctly labelled container.</a:t>
            </a:r>
            <a:endParaRPr lang="en-US" sz="1050" dirty="0"/>
          </a:p>
        </p:txBody>
      </p:sp>
      <p:sp>
        <p:nvSpPr>
          <p:cNvPr id="31" name="Rectangle 3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7562088" y="100584"/>
            <a:ext cx="566928" cy="347472"/>
          </a:xfrm>
          <a:prstGeom prst="rect">
            <a:avLst/>
          </a:prstGeom>
        </p:spPr>
      </p:pic>
      <p:pic>
        <p:nvPicPr>
          <p:cNvPr id="33" name="Picture 32" descr="image.png"/>
          <p:cNvPicPr>
            <a:picLocks noChangeAspect="1"/>
          </p:cNvPicPr>
          <p:nvPr/>
        </p:nvPicPr>
        <p:blipFill>
          <a:blip r:embed="rId4"/>
          <a:stretch>
            <a:fillRect/>
          </a:stretch>
        </p:blipFill>
        <p:spPr>
          <a:xfrm>
            <a:off x="8174736" y="100584"/>
            <a:ext cx="658368" cy="347472"/>
          </a:xfrm>
          <a:prstGeom prst="rect">
            <a:avLst/>
          </a:prstGeom>
        </p:spPr>
      </p:pic>
      <p:sp>
        <p:nvSpPr>
          <p:cNvPr id="34" name="Rectangle 3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Your Workplace</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Common Substances in Manufacturing: Know the Risks</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411480"/>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The following are the substances most frequently associated with occupational health conditions in engineering and manufacturing. Each is common, each is hazardous, and each is manageable with the right controls.</a:t>
            </a:r>
            <a:endParaRPr lang="en-US" sz="1300" dirty="0"/>
          </a:p>
        </p:txBody>
      </p:sp>
      <p:sp>
        <p:nvSpPr>
          <p:cNvPr id="11" name="Shape 8"/>
          <p:cNvSpPr/>
          <p:nvPr/>
        </p:nvSpPr>
        <p:spPr>
          <a:xfrm>
            <a:off x="347472" y="1847088"/>
            <a:ext cx="4133088" cy="932688"/>
          </a:xfrm>
          <a:prstGeom prst="roundRect">
            <a:avLst>
              <a:gd name="adj" fmla="val 6863"/>
            </a:avLst>
          </a:prstGeom>
          <a:solidFill>
            <a:srgbClr val="F8F8F8"/>
          </a:solidFill>
          <a:ln w="10160">
            <a:solidFill>
              <a:srgbClr val="009FE3"/>
            </a:solidFill>
            <a:prstDash val="solid"/>
          </a:ln>
        </p:spPr>
        <p:txBody>
          <a:bodyPr/>
          <a:lstStyle/>
          <a:p>
            <a:endParaRPr lang="en-GB"/>
          </a:p>
        </p:txBody>
      </p:sp>
      <p:sp>
        <p:nvSpPr>
          <p:cNvPr id="12" name="Shape 9"/>
          <p:cNvSpPr/>
          <p:nvPr/>
        </p:nvSpPr>
        <p:spPr>
          <a:xfrm>
            <a:off x="347472" y="1847088"/>
            <a:ext cx="182880" cy="932688"/>
          </a:xfrm>
          <a:prstGeom prst="rect">
            <a:avLst/>
          </a:prstGeom>
          <a:solidFill>
            <a:srgbClr val="009FE3"/>
          </a:solidFill>
          <a:ln w="12700">
            <a:solidFill>
              <a:srgbClr val="009FE3"/>
            </a:solidFill>
            <a:prstDash val="solid"/>
          </a:ln>
        </p:spPr>
        <p:txBody>
          <a:bodyPr/>
          <a:lstStyle/>
          <a:p>
            <a:endParaRPr lang="en-GB"/>
          </a:p>
        </p:txBody>
      </p:sp>
      <p:sp>
        <p:nvSpPr>
          <p:cNvPr id="13" name="Text 10"/>
          <p:cNvSpPr/>
          <p:nvPr/>
        </p:nvSpPr>
        <p:spPr>
          <a:xfrm>
            <a:off x="603504" y="1892808"/>
            <a:ext cx="3767328" cy="219456"/>
          </a:xfrm>
          <a:prstGeom prst="rect">
            <a:avLst/>
          </a:prstGeom>
          <a:noFill/>
          <a:ln/>
        </p:spPr>
        <p:txBody>
          <a:bodyPr wrap="square" lIns="0" tIns="0" rIns="0" bIns="0" rtlCol="0" anchor="ctr"/>
          <a:lstStyle/>
          <a:p>
            <a:pPr marL="0" indent="0">
              <a:buNone/>
            </a:pPr>
            <a:r>
              <a:rPr lang="en-US" sz="1050" b="1" dirty="0">
                <a:solidFill>
                  <a:srgbClr val="009FE3"/>
                </a:solidFill>
                <a:latin typeface="Arial" pitchFamily="34" charset="0"/>
                <a:ea typeface="Arial" pitchFamily="34" charset="-122"/>
                <a:cs typeface="Arial" pitchFamily="34" charset="-120"/>
              </a:rPr>
              <a:t>Metalworking Cutting Fluids (MWF)</a:t>
            </a:r>
            <a:endParaRPr lang="en-US" sz="1050" dirty="0"/>
          </a:p>
        </p:txBody>
      </p:sp>
      <p:sp>
        <p:nvSpPr>
          <p:cNvPr id="14" name="Text 11"/>
          <p:cNvSpPr/>
          <p:nvPr/>
        </p:nvSpPr>
        <p:spPr>
          <a:xfrm>
            <a:off x="603504" y="2139696"/>
            <a:ext cx="3767328" cy="25603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Risk: Dermatitis, occupational asthma, hypersensitivity pneumonitis</a:t>
            </a:r>
            <a:endParaRPr lang="en-US" sz="950" dirty="0"/>
          </a:p>
        </p:txBody>
      </p:sp>
      <p:sp>
        <p:nvSpPr>
          <p:cNvPr id="15" name="Text 12"/>
          <p:cNvSpPr/>
          <p:nvPr/>
        </p:nvSpPr>
        <p:spPr>
          <a:xfrm>
            <a:off x="603504" y="2414016"/>
            <a:ext cx="3767328" cy="310896"/>
          </a:xfrm>
          <a:prstGeom prst="rect">
            <a:avLst/>
          </a:prstGeom>
          <a:noFill/>
          <a:ln/>
        </p:spPr>
        <p:txBody>
          <a:bodyPr wrap="square" lIns="0" tIns="0" rIns="0" bIns="0" rtlCol="0" anchor="ctr"/>
          <a:lstStyle/>
          <a:p>
            <a:pPr marL="0" indent="0">
              <a:buNone/>
            </a:pPr>
            <a:r>
              <a:rPr lang="en-US" sz="950" i="1" dirty="0">
                <a:solidFill>
                  <a:srgbClr val="001E3C"/>
                </a:solidFill>
                <a:latin typeface="Arial" pitchFamily="34" charset="0"/>
                <a:ea typeface="Arial" pitchFamily="34" charset="-122"/>
                <a:cs typeface="Arial" pitchFamily="34" charset="-120"/>
              </a:rPr>
              <a:t>Controls: Concentration monitoring, sump hygiene, gloves, barrier cream, skin surveillance quarterly</a:t>
            </a:r>
            <a:endParaRPr lang="en-US" sz="950" dirty="0"/>
          </a:p>
        </p:txBody>
      </p:sp>
      <p:sp>
        <p:nvSpPr>
          <p:cNvPr id="16" name="Shape 13"/>
          <p:cNvSpPr/>
          <p:nvPr/>
        </p:nvSpPr>
        <p:spPr>
          <a:xfrm>
            <a:off x="4663440" y="1847088"/>
            <a:ext cx="4133088" cy="932688"/>
          </a:xfrm>
          <a:prstGeom prst="roundRect">
            <a:avLst>
              <a:gd name="adj" fmla="val 6863"/>
            </a:avLst>
          </a:prstGeom>
          <a:solidFill>
            <a:srgbClr val="F8F8F8"/>
          </a:solidFill>
          <a:ln w="10160">
            <a:solidFill>
              <a:srgbClr val="C0392B"/>
            </a:solidFill>
            <a:prstDash val="solid"/>
          </a:ln>
        </p:spPr>
        <p:txBody>
          <a:bodyPr/>
          <a:lstStyle/>
          <a:p>
            <a:endParaRPr lang="en-GB"/>
          </a:p>
        </p:txBody>
      </p:sp>
      <p:sp>
        <p:nvSpPr>
          <p:cNvPr id="17" name="Shape 14"/>
          <p:cNvSpPr/>
          <p:nvPr/>
        </p:nvSpPr>
        <p:spPr>
          <a:xfrm>
            <a:off x="4663440" y="1847088"/>
            <a:ext cx="182880" cy="932688"/>
          </a:xfrm>
          <a:prstGeom prst="rect">
            <a:avLst/>
          </a:prstGeom>
          <a:solidFill>
            <a:srgbClr val="C0392B"/>
          </a:solidFill>
          <a:ln w="12700">
            <a:solidFill>
              <a:srgbClr val="C0392B"/>
            </a:solidFill>
            <a:prstDash val="solid"/>
          </a:ln>
        </p:spPr>
        <p:txBody>
          <a:bodyPr/>
          <a:lstStyle/>
          <a:p>
            <a:endParaRPr lang="en-GB"/>
          </a:p>
        </p:txBody>
      </p:sp>
      <p:sp>
        <p:nvSpPr>
          <p:cNvPr id="18" name="Text 15"/>
          <p:cNvSpPr/>
          <p:nvPr/>
        </p:nvSpPr>
        <p:spPr>
          <a:xfrm>
            <a:off x="4919472" y="1892808"/>
            <a:ext cx="3767328" cy="219456"/>
          </a:xfrm>
          <a:prstGeom prst="rect">
            <a:avLst/>
          </a:prstGeom>
          <a:noFill/>
          <a:ln/>
        </p:spPr>
        <p:txBody>
          <a:bodyPr wrap="square" lIns="0" tIns="0" rIns="0" bIns="0" rtlCol="0" anchor="ctr"/>
          <a:lstStyle/>
          <a:p>
            <a:pPr marL="0" indent="0">
              <a:buNone/>
            </a:pPr>
            <a:r>
              <a:rPr lang="en-US" sz="1050" b="1" dirty="0">
                <a:solidFill>
                  <a:srgbClr val="C0392B"/>
                </a:solidFill>
                <a:latin typeface="Arial" pitchFamily="34" charset="0"/>
                <a:ea typeface="Arial" pitchFamily="34" charset="-122"/>
                <a:cs typeface="Arial" pitchFamily="34" charset="-120"/>
              </a:rPr>
              <a:t>Welding Fume (all types)</a:t>
            </a:r>
            <a:endParaRPr lang="en-US" sz="1050" dirty="0"/>
          </a:p>
        </p:txBody>
      </p:sp>
      <p:sp>
        <p:nvSpPr>
          <p:cNvPr id="19" name="Text 16"/>
          <p:cNvSpPr/>
          <p:nvPr/>
        </p:nvSpPr>
        <p:spPr>
          <a:xfrm>
            <a:off x="4919472" y="2139696"/>
            <a:ext cx="3767328" cy="25603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Risk: Lung cancer (Group 1 carcinogen), manganism, COPD, metal fume fever</a:t>
            </a:r>
            <a:endParaRPr lang="en-US" sz="950" dirty="0"/>
          </a:p>
        </p:txBody>
      </p:sp>
      <p:sp>
        <p:nvSpPr>
          <p:cNvPr id="20" name="Text 17"/>
          <p:cNvSpPr/>
          <p:nvPr/>
        </p:nvSpPr>
        <p:spPr>
          <a:xfrm>
            <a:off x="4919472" y="2414016"/>
            <a:ext cx="3767328" cy="310896"/>
          </a:xfrm>
          <a:prstGeom prst="rect">
            <a:avLst/>
          </a:prstGeom>
          <a:noFill/>
          <a:ln/>
        </p:spPr>
        <p:txBody>
          <a:bodyPr wrap="square" lIns="0" tIns="0" rIns="0" bIns="0" rtlCol="0" anchor="ctr"/>
          <a:lstStyle/>
          <a:p>
            <a:pPr marL="0" indent="0">
              <a:buNone/>
            </a:pPr>
            <a:r>
              <a:rPr lang="en-US" sz="950" i="1" dirty="0">
                <a:solidFill>
                  <a:srgbClr val="001E3C"/>
                </a:solidFill>
                <a:latin typeface="Arial" pitchFamily="34" charset="0"/>
                <a:ea typeface="Arial" pitchFamily="34" charset="-122"/>
                <a:cs typeface="Arial" pitchFamily="34" charset="-120"/>
              </a:rPr>
              <a:t>Controls: LEV at source within 300mm, RPE (P3 minimum) when LEV marginal, no compressed air to clear fume</a:t>
            </a:r>
            <a:endParaRPr lang="en-US" sz="950" dirty="0"/>
          </a:p>
        </p:txBody>
      </p:sp>
      <p:sp>
        <p:nvSpPr>
          <p:cNvPr id="21" name="Shape 18"/>
          <p:cNvSpPr/>
          <p:nvPr/>
        </p:nvSpPr>
        <p:spPr>
          <a:xfrm>
            <a:off x="347472" y="2871216"/>
            <a:ext cx="4133088" cy="932688"/>
          </a:xfrm>
          <a:prstGeom prst="roundRect">
            <a:avLst>
              <a:gd name="adj" fmla="val 6863"/>
            </a:avLst>
          </a:prstGeom>
          <a:solidFill>
            <a:srgbClr val="F8F8F8"/>
          </a:solidFill>
          <a:ln w="10160">
            <a:solidFill>
              <a:srgbClr val="83348F"/>
            </a:solidFill>
            <a:prstDash val="solid"/>
          </a:ln>
        </p:spPr>
        <p:txBody>
          <a:bodyPr/>
          <a:lstStyle/>
          <a:p>
            <a:endParaRPr lang="en-GB"/>
          </a:p>
        </p:txBody>
      </p:sp>
      <p:sp>
        <p:nvSpPr>
          <p:cNvPr id="22" name="Shape 19"/>
          <p:cNvSpPr/>
          <p:nvPr/>
        </p:nvSpPr>
        <p:spPr>
          <a:xfrm>
            <a:off x="347472" y="2871216"/>
            <a:ext cx="182880" cy="932688"/>
          </a:xfrm>
          <a:prstGeom prst="rect">
            <a:avLst/>
          </a:prstGeom>
          <a:solidFill>
            <a:srgbClr val="83348F"/>
          </a:solidFill>
          <a:ln w="12700">
            <a:solidFill>
              <a:srgbClr val="83348F"/>
            </a:solidFill>
            <a:prstDash val="solid"/>
          </a:ln>
        </p:spPr>
        <p:txBody>
          <a:bodyPr/>
          <a:lstStyle/>
          <a:p>
            <a:endParaRPr lang="en-GB"/>
          </a:p>
        </p:txBody>
      </p:sp>
      <p:sp>
        <p:nvSpPr>
          <p:cNvPr id="23" name="Text 20"/>
          <p:cNvSpPr/>
          <p:nvPr/>
        </p:nvSpPr>
        <p:spPr>
          <a:xfrm>
            <a:off x="603504" y="2916936"/>
            <a:ext cx="3767328" cy="219456"/>
          </a:xfrm>
          <a:prstGeom prst="rect">
            <a:avLst/>
          </a:prstGeom>
          <a:noFill/>
          <a:ln/>
        </p:spPr>
        <p:txBody>
          <a:bodyPr wrap="square" lIns="0" tIns="0" rIns="0" bIns="0" rtlCol="0" anchor="ctr"/>
          <a:lstStyle/>
          <a:p>
            <a:pPr marL="0" indent="0">
              <a:buNone/>
            </a:pPr>
            <a:r>
              <a:rPr lang="en-US" sz="1050" b="1" dirty="0">
                <a:solidFill>
                  <a:srgbClr val="83348F"/>
                </a:solidFill>
                <a:latin typeface="Arial" pitchFamily="34" charset="0"/>
                <a:ea typeface="Arial" pitchFamily="34" charset="-122"/>
                <a:cs typeface="Arial" pitchFamily="34" charset="-120"/>
              </a:rPr>
              <a:t>Solvents (IPA, acetone, thinners)</a:t>
            </a:r>
            <a:endParaRPr lang="en-US" sz="1050" dirty="0"/>
          </a:p>
        </p:txBody>
      </p:sp>
      <p:sp>
        <p:nvSpPr>
          <p:cNvPr id="24" name="Text 21"/>
          <p:cNvSpPr/>
          <p:nvPr/>
        </p:nvSpPr>
        <p:spPr>
          <a:xfrm>
            <a:off x="603504" y="3163824"/>
            <a:ext cx="3767328" cy="25603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Risk: CNS effects, dermatitis (defatting), liver damage with chronic exposure</a:t>
            </a:r>
            <a:endParaRPr lang="en-US" sz="950" dirty="0"/>
          </a:p>
        </p:txBody>
      </p:sp>
      <p:sp>
        <p:nvSpPr>
          <p:cNvPr id="25" name="Text 22"/>
          <p:cNvSpPr/>
          <p:nvPr/>
        </p:nvSpPr>
        <p:spPr>
          <a:xfrm>
            <a:off x="603504" y="3438144"/>
            <a:ext cx="3767328" cy="310896"/>
          </a:xfrm>
          <a:prstGeom prst="rect">
            <a:avLst/>
          </a:prstGeom>
          <a:noFill/>
          <a:ln/>
        </p:spPr>
        <p:txBody>
          <a:bodyPr wrap="square" lIns="0" tIns="0" rIns="0" bIns="0" rtlCol="0" anchor="ctr"/>
          <a:lstStyle/>
          <a:p>
            <a:pPr marL="0" indent="0">
              <a:buNone/>
            </a:pPr>
            <a:r>
              <a:rPr lang="en-US" sz="950" i="1" dirty="0">
                <a:solidFill>
                  <a:srgbClr val="001E3C"/>
                </a:solidFill>
                <a:latin typeface="Arial" pitchFamily="34" charset="0"/>
                <a:ea typeface="Arial" pitchFamily="34" charset="-122"/>
                <a:cs typeface="Arial" pitchFamily="34" charset="-120"/>
              </a:rPr>
              <a:t>Controls: Enclosed processes, MEL/WEL monitoring, OV cartridge RPE, no skin cleaning with solvents</a:t>
            </a:r>
            <a:endParaRPr lang="en-US" sz="950" dirty="0"/>
          </a:p>
        </p:txBody>
      </p:sp>
      <p:sp>
        <p:nvSpPr>
          <p:cNvPr id="26" name="Shape 23"/>
          <p:cNvSpPr/>
          <p:nvPr/>
        </p:nvSpPr>
        <p:spPr>
          <a:xfrm>
            <a:off x="4663440" y="2871216"/>
            <a:ext cx="4133088" cy="932688"/>
          </a:xfrm>
          <a:prstGeom prst="roundRect">
            <a:avLst>
              <a:gd name="adj" fmla="val 6863"/>
            </a:avLst>
          </a:prstGeom>
          <a:solidFill>
            <a:srgbClr val="F8F8F8"/>
          </a:solidFill>
          <a:ln w="10160">
            <a:solidFill>
              <a:srgbClr val="E08A00"/>
            </a:solidFill>
            <a:prstDash val="solid"/>
          </a:ln>
        </p:spPr>
        <p:txBody>
          <a:bodyPr/>
          <a:lstStyle/>
          <a:p>
            <a:endParaRPr lang="en-GB"/>
          </a:p>
        </p:txBody>
      </p:sp>
      <p:sp>
        <p:nvSpPr>
          <p:cNvPr id="27" name="Shape 24"/>
          <p:cNvSpPr/>
          <p:nvPr/>
        </p:nvSpPr>
        <p:spPr>
          <a:xfrm>
            <a:off x="4663440" y="2871216"/>
            <a:ext cx="182880" cy="932688"/>
          </a:xfrm>
          <a:prstGeom prst="rect">
            <a:avLst/>
          </a:prstGeom>
          <a:solidFill>
            <a:srgbClr val="E08A00"/>
          </a:solidFill>
          <a:ln w="12700">
            <a:solidFill>
              <a:srgbClr val="E08A00"/>
            </a:solidFill>
            <a:prstDash val="solid"/>
          </a:ln>
        </p:spPr>
        <p:txBody>
          <a:bodyPr/>
          <a:lstStyle/>
          <a:p>
            <a:endParaRPr lang="en-GB"/>
          </a:p>
        </p:txBody>
      </p:sp>
      <p:sp>
        <p:nvSpPr>
          <p:cNvPr id="28" name="Text 25"/>
          <p:cNvSpPr/>
          <p:nvPr/>
        </p:nvSpPr>
        <p:spPr>
          <a:xfrm>
            <a:off x="4919472" y="2916936"/>
            <a:ext cx="3767328" cy="219456"/>
          </a:xfrm>
          <a:prstGeom prst="rect">
            <a:avLst/>
          </a:prstGeom>
          <a:noFill/>
          <a:ln/>
        </p:spPr>
        <p:txBody>
          <a:bodyPr wrap="square" lIns="0" tIns="0" rIns="0" bIns="0" rtlCol="0" anchor="ctr"/>
          <a:lstStyle/>
          <a:p>
            <a:pPr marL="0" indent="0">
              <a:buNone/>
            </a:pPr>
            <a:r>
              <a:rPr lang="en-US" sz="1050" b="1" dirty="0">
                <a:solidFill>
                  <a:srgbClr val="E08A00"/>
                </a:solidFill>
                <a:latin typeface="Arial" pitchFamily="34" charset="0"/>
                <a:ea typeface="Arial" pitchFamily="34" charset="-122"/>
                <a:cs typeface="Arial" pitchFamily="34" charset="-120"/>
              </a:rPr>
              <a:t>Silica Dust (grinding, cutting)</a:t>
            </a:r>
            <a:endParaRPr lang="en-US" sz="1050" dirty="0"/>
          </a:p>
        </p:txBody>
      </p:sp>
      <p:sp>
        <p:nvSpPr>
          <p:cNvPr id="29" name="Text 26"/>
          <p:cNvSpPr/>
          <p:nvPr/>
        </p:nvSpPr>
        <p:spPr>
          <a:xfrm>
            <a:off x="4919472" y="3163824"/>
            <a:ext cx="3767328" cy="25603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Risk: Silicosis (irreversible fibrosis), lung cancer, COPD</a:t>
            </a:r>
            <a:endParaRPr lang="en-US" sz="950" dirty="0"/>
          </a:p>
        </p:txBody>
      </p:sp>
      <p:sp>
        <p:nvSpPr>
          <p:cNvPr id="30" name="Text 27"/>
          <p:cNvSpPr/>
          <p:nvPr/>
        </p:nvSpPr>
        <p:spPr>
          <a:xfrm>
            <a:off x="4919472" y="3438144"/>
            <a:ext cx="3767328" cy="310896"/>
          </a:xfrm>
          <a:prstGeom prst="rect">
            <a:avLst/>
          </a:prstGeom>
          <a:noFill/>
          <a:ln/>
        </p:spPr>
        <p:txBody>
          <a:bodyPr wrap="square" lIns="0" tIns="0" rIns="0" bIns="0" rtlCol="0" anchor="ctr"/>
          <a:lstStyle/>
          <a:p>
            <a:pPr marL="0" indent="0">
              <a:buNone/>
            </a:pPr>
            <a:r>
              <a:rPr lang="en-US" sz="950" i="1" dirty="0">
                <a:solidFill>
                  <a:srgbClr val="001E3C"/>
                </a:solidFill>
                <a:latin typeface="Arial" pitchFamily="34" charset="0"/>
                <a:ea typeface="Arial" pitchFamily="34" charset="-122"/>
                <a:cs typeface="Arial" pitchFamily="34" charset="-120"/>
              </a:rPr>
              <a:t>Controls: Wet suppression, LEV, FFP3 RPE, no dry sweeping, WEL 0.1 mg/m3 (respirable fraction)</a:t>
            </a:r>
            <a:endParaRPr lang="en-US" sz="950" dirty="0"/>
          </a:p>
        </p:txBody>
      </p:sp>
      <p:sp>
        <p:nvSpPr>
          <p:cNvPr id="31" name="Shape 28"/>
          <p:cNvSpPr/>
          <p:nvPr/>
        </p:nvSpPr>
        <p:spPr>
          <a:xfrm>
            <a:off x="347472" y="3895344"/>
            <a:ext cx="4133088" cy="932688"/>
          </a:xfrm>
          <a:prstGeom prst="roundRect">
            <a:avLst>
              <a:gd name="adj" fmla="val 6863"/>
            </a:avLst>
          </a:prstGeom>
          <a:solidFill>
            <a:srgbClr val="F8F8F8"/>
          </a:solidFill>
          <a:ln w="10160">
            <a:solidFill>
              <a:srgbClr val="2E8B57"/>
            </a:solidFill>
            <a:prstDash val="solid"/>
          </a:ln>
        </p:spPr>
        <p:txBody>
          <a:bodyPr/>
          <a:lstStyle/>
          <a:p>
            <a:endParaRPr lang="en-GB"/>
          </a:p>
        </p:txBody>
      </p:sp>
      <p:sp>
        <p:nvSpPr>
          <p:cNvPr id="32" name="Shape 29"/>
          <p:cNvSpPr/>
          <p:nvPr/>
        </p:nvSpPr>
        <p:spPr>
          <a:xfrm>
            <a:off x="347472" y="3895344"/>
            <a:ext cx="182880" cy="932688"/>
          </a:xfrm>
          <a:prstGeom prst="rect">
            <a:avLst/>
          </a:prstGeom>
          <a:solidFill>
            <a:srgbClr val="2E8B57"/>
          </a:solidFill>
          <a:ln w="12700">
            <a:solidFill>
              <a:srgbClr val="2E8B57"/>
            </a:solidFill>
            <a:prstDash val="solid"/>
          </a:ln>
        </p:spPr>
        <p:txBody>
          <a:bodyPr/>
          <a:lstStyle/>
          <a:p>
            <a:endParaRPr lang="en-GB"/>
          </a:p>
        </p:txBody>
      </p:sp>
      <p:sp>
        <p:nvSpPr>
          <p:cNvPr id="33" name="Text 30"/>
          <p:cNvSpPr/>
          <p:nvPr/>
        </p:nvSpPr>
        <p:spPr>
          <a:xfrm>
            <a:off x="603504" y="3941064"/>
            <a:ext cx="3767328" cy="219456"/>
          </a:xfrm>
          <a:prstGeom prst="rect">
            <a:avLst/>
          </a:prstGeom>
          <a:noFill/>
          <a:ln/>
        </p:spPr>
        <p:txBody>
          <a:bodyPr wrap="square" lIns="0" tIns="0" rIns="0" bIns="0" rtlCol="0" anchor="ctr"/>
          <a:lstStyle/>
          <a:p>
            <a:pPr marL="0" indent="0">
              <a:buNone/>
            </a:pPr>
            <a:r>
              <a:rPr lang="en-US" sz="1050" b="1" dirty="0">
                <a:solidFill>
                  <a:srgbClr val="2E8B57"/>
                </a:solidFill>
                <a:latin typeface="Arial" pitchFamily="34" charset="0"/>
                <a:ea typeface="Arial" pitchFamily="34" charset="-122"/>
                <a:cs typeface="Arial" pitchFamily="34" charset="-120"/>
              </a:rPr>
              <a:t>Epoxy Resins and Hardeners</a:t>
            </a:r>
            <a:endParaRPr lang="en-US" sz="1050" dirty="0"/>
          </a:p>
        </p:txBody>
      </p:sp>
      <p:sp>
        <p:nvSpPr>
          <p:cNvPr id="34" name="Text 31"/>
          <p:cNvSpPr/>
          <p:nvPr/>
        </p:nvSpPr>
        <p:spPr>
          <a:xfrm>
            <a:off x="603504" y="4187952"/>
            <a:ext cx="3767328" cy="25603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Risk: Skin sensitisation (permanent), asthma, eye and respiratory irritation</a:t>
            </a:r>
            <a:endParaRPr lang="en-US" sz="950" dirty="0"/>
          </a:p>
        </p:txBody>
      </p:sp>
      <p:sp>
        <p:nvSpPr>
          <p:cNvPr id="35" name="Text 32"/>
          <p:cNvSpPr/>
          <p:nvPr/>
        </p:nvSpPr>
        <p:spPr>
          <a:xfrm>
            <a:off x="603504" y="4462272"/>
            <a:ext cx="3767328" cy="310896"/>
          </a:xfrm>
          <a:prstGeom prst="rect">
            <a:avLst/>
          </a:prstGeom>
          <a:noFill/>
          <a:ln/>
        </p:spPr>
        <p:txBody>
          <a:bodyPr wrap="square" lIns="0" tIns="0" rIns="0" bIns="0" rtlCol="0" anchor="ctr"/>
          <a:lstStyle/>
          <a:p>
            <a:pPr marL="0" indent="0">
              <a:buNone/>
            </a:pPr>
            <a:r>
              <a:rPr lang="en-US" sz="950" i="1" dirty="0">
                <a:solidFill>
                  <a:srgbClr val="001E3C"/>
                </a:solidFill>
                <a:latin typeface="Arial" pitchFamily="34" charset="0"/>
                <a:ea typeface="Arial" pitchFamily="34" charset="-122"/>
                <a:cs typeface="Arial" pitchFamily="34" charset="-120"/>
              </a:rPr>
              <a:t>Controls: Nitrile gloves, RPE for spraying/heating, skin surveillance, avoid skin contact completely</a:t>
            </a:r>
            <a:endParaRPr lang="en-US" sz="950" dirty="0"/>
          </a:p>
        </p:txBody>
      </p:sp>
      <p:sp>
        <p:nvSpPr>
          <p:cNvPr id="36" name="Shape 33"/>
          <p:cNvSpPr/>
          <p:nvPr/>
        </p:nvSpPr>
        <p:spPr>
          <a:xfrm>
            <a:off x="4663440" y="3895344"/>
            <a:ext cx="4133088" cy="932688"/>
          </a:xfrm>
          <a:prstGeom prst="roundRect">
            <a:avLst>
              <a:gd name="adj" fmla="val 6863"/>
            </a:avLst>
          </a:prstGeom>
          <a:solidFill>
            <a:srgbClr val="F8F8F8"/>
          </a:solidFill>
          <a:ln w="10160">
            <a:solidFill>
              <a:srgbClr val="5B595A"/>
            </a:solidFill>
            <a:prstDash val="solid"/>
          </a:ln>
        </p:spPr>
        <p:txBody>
          <a:bodyPr/>
          <a:lstStyle/>
          <a:p>
            <a:endParaRPr lang="en-GB"/>
          </a:p>
        </p:txBody>
      </p:sp>
      <p:sp>
        <p:nvSpPr>
          <p:cNvPr id="37" name="Shape 34"/>
          <p:cNvSpPr/>
          <p:nvPr/>
        </p:nvSpPr>
        <p:spPr>
          <a:xfrm>
            <a:off x="4663440" y="3895344"/>
            <a:ext cx="182880" cy="932688"/>
          </a:xfrm>
          <a:prstGeom prst="rect">
            <a:avLst/>
          </a:prstGeom>
          <a:solidFill>
            <a:srgbClr val="5B595A"/>
          </a:solidFill>
          <a:ln w="12700">
            <a:solidFill>
              <a:srgbClr val="5B595A"/>
            </a:solidFill>
            <a:prstDash val="solid"/>
          </a:ln>
        </p:spPr>
        <p:txBody>
          <a:bodyPr/>
          <a:lstStyle/>
          <a:p>
            <a:endParaRPr lang="en-GB"/>
          </a:p>
        </p:txBody>
      </p:sp>
      <p:sp>
        <p:nvSpPr>
          <p:cNvPr id="38" name="Text 35"/>
          <p:cNvSpPr/>
          <p:nvPr/>
        </p:nvSpPr>
        <p:spPr>
          <a:xfrm>
            <a:off x="4919472" y="3941064"/>
            <a:ext cx="3767328" cy="219456"/>
          </a:xfrm>
          <a:prstGeom prst="rect">
            <a:avLst/>
          </a:prstGeom>
          <a:noFill/>
          <a:ln/>
        </p:spPr>
        <p:txBody>
          <a:bodyPr wrap="square" lIns="0" tIns="0" rIns="0" bIns="0" rtlCol="0" anchor="ctr"/>
          <a:lstStyle/>
          <a:p>
            <a:pPr marL="0" indent="0">
              <a:buNone/>
            </a:pPr>
            <a:r>
              <a:rPr lang="en-US" sz="1050" b="1" dirty="0">
                <a:solidFill>
                  <a:srgbClr val="5B595A"/>
                </a:solidFill>
                <a:latin typeface="Arial" pitchFamily="34" charset="0"/>
                <a:ea typeface="Arial" pitchFamily="34" charset="-122"/>
                <a:cs typeface="Arial" pitchFamily="34" charset="-120"/>
              </a:rPr>
              <a:t>Mineral Oils (neat cutting oils)</a:t>
            </a:r>
            <a:endParaRPr lang="en-US" sz="1050" dirty="0"/>
          </a:p>
        </p:txBody>
      </p:sp>
      <p:sp>
        <p:nvSpPr>
          <p:cNvPr id="39" name="Text 36"/>
          <p:cNvSpPr/>
          <p:nvPr/>
        </p:nvSpPr>
        <p:spPr>
          <a:xfrm>
            <a:off x="4919472" y="4187952"/>
            <a:ext cx="3767328" cy="256032"/>
          </a:xfrm>
          <a:prstGeom prst="rect">
            <a:avLst/>
          </a:prstGeom>
          <a:noFill/>
          <a:ln/>
        </p:spPr>
        <p:txBody>
          <a:bodyPr wrap="square" lIns="0" tIns="0" rIns="0" bIns="0" rtlCol="0" anchor="ctr"/>
          <a:lstStyle/>
          <a:p>
            <a:pPr marL="0" indent="0">
              <a:buNone/>
            </a:pPr>
            <a:r>
              <a:rPr lang="en-US" sz="950" dirty="0">
                <a:solidFill>
                  <a:srgbClr val="5B595A"/>
                </a:solidFill>
                <a:latin typeface="Arial" pitchFamily="34" charset="0"/>
                <a:ea typeface="Arial" pitchFamily="34" charset="-122"/>
                <a:cs typeface="Arial" pitchFamily="34" charset="-120"/>
              </a:rPr>
              <a:t>Risk: Dermatitis, scrotal cancer with prolonged skin contact, folliculitis</a:t>
            </a:r>
            <a:endParaRPr lang="en-US" sz="950" dirty="0"/>
          </a:p>
        </p:txBody>
      </p:sp>
      <p:sp>
        <p:nvSpPr>
          <p:cNvPr id="40" name="Text 37"/>
          <p:cNvSpPr/>
          <p:nvPr/>
        </p:nvSpPr>
        <p:spPr>
          <a:xfrm>
            <a:off x="4919472" y="4462272"/>
            <a:ext cx="3767328" cy="310896"/>
          </a:xfrm>
          <a:prstGeom prst="rect">
            <a:avLst/>
          </a:prstGeom>
          <a:noFill/>
          <a:ln/>
        </p:spPr>
        <p:txBody>
          <a:bodyPr wrap="square" lIns="0" tIns="0" rIns="0" bIns="0" rtlCol="0" anchor="ctr"/>
          <a:lstStyle/>
          <a:p>
            <a:pPr marL="0" indent="0">
              <a:buNone/>
            </a:pPr>
            <a:r>
              <a:rPr lang="en-US" sz="950" i="1" dirty="0">
                <a:solidFill>
                  <a:srgbClr val="001E3C"/>
                </a:solidFill>
                <a:latin typeface="Arial" pitchFamily="34" charset="0"/>
                <a:ea typeface="Arial" pitchFamily="34" charset="-122"/>
                <a:cs typeface="Arial" pitchFamily="34" charset="-120"/>
              </a:rPr>
              <a:t>Controls: Skin contact minimisation, gloves, regular monitoring of oil condition, pre-employment and annual health check</a:t>
            </a:r>
            <a:endParaRPr lang="en-US" sz="950" dirty="0"/>
          </a:p>
        </p:txBody>
      </p:sp>
      <p:sp>
        <p:nvSpPr>
          <p:cNvPr id="41" name="Rectangle 4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5"/>
          <a:stretch>
            <a:fillRect/>
          </a:stretch>
        </p:blipFill>
        <p:spPr>
          <a:xfrm>
            <a:off x="7562088" y="100584"/>
            <a:ext cx="566928" cy="347472"/>
          </a:xfrm>
          <a:prstGeom prst="rect">
            <a:avLst/>
          </a:prstGeom>
        </p:spPr>
      </p:pic>
      <p:pic>
        <p:nvPicPr>
          <p:cNvPr id="43" name="Picture 42" descr="image.png"/>
          <p:cNvPicPr>
            <a:picLocks noChangeAspect="1"/>
          </p:cNvPicPr>
          <p:nvPr/>
        </p:nvPicPr>
        <p:blipFill>
          <a:blip r:embed="rId4"/>
          <a:stretch>
            <a:fillRect/>
          </a:stretch>
        </p:blipFill>
        <p:spPr>
          <a:xfrm>
            <a:off x="8174736" y="100584"/>
            <a:ext cx="658368" cy="347472"/>
          </a:xfrm>
          <a:prstGeom prst="rect">
            <a:avLst/>
          </a:prstGeom>
        </p:spPr>
      </p:pic>
      <p:sp>
        <p:nvSpPr>
          <p:cNvPr id="44" name="Rectangle 4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Your Responsibilities</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What COSHH Requires From You</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475488"/>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COSHH places legal duties not just on employers but on employees. You cannot opt out of these responsibilities. Failure to comply with COSHH requirements puts your health and the health of your colleagues at risk, and may result in disciplinary action.</a:t>
            </a:r>
            <a:endParaRPr lang="en-US" sz="1300" dirty="0"/>
          </a:p>
        </p:txBody>
      </p:sp>
      <p:sp>
        <p:nvSpPr>
          <p:cNvPr id="11" name="Shape 8"/>
          <p:cNvSpPr/>
          <p:nvPr/>
        </p:nvSpPr>
        <p:spPr>
          <a:xfrm>
            <a:off x="347472" y="1920240"/>
            <a:ext cx="8449056" cy="384048"/>
          </a:xfrm>
          <a:prstGeom prst="roundRect">
            <a:avLst>
              <a:gd name="adj" fmla="val 11905"/>
            </a:avLst>
          </a:prstGeom>
          <a:solidFill>
            <a:srgbClr val="F5EEF8"/>
          </a:solidFill>
          <a:ln w="6350">
            <a:solidFill>
              <a:srgbClr val="CCCCCC"/>
            </a:solidFill>
            <a:prstDash val="solid"/>
          </a:ln>
        </p:spPr>
        <p:txBody>
          <a:bodyPr/>
          <a:lstStyle/>
          <a:p>
            <a:endParaRPr lang="en-GB"/>
          </a:p>
        </p:txBody>
      </p:sp>
      <p:sp>
        <p:nvSpPr>
          <p:cNvPr id="12" name="Shape 9"/>
          <p:cNvSpPr/>
          <p:nvPr/>
        </p:nvSpPr>
        <p:spPr>
          <a:xfrm>
            <a:off x="420624" y="2011680"/>
            <a:ext cx="219456" cy="219456"/>
          </a:xfrm>
          <a:prstGeom prst="ellipse">
            <a:avLst/>
          </a:prstGeom>
          <a:solidFill>
            <a:srgbClr val="83348F"/>
          </a:solidFill>
          <a:ln w="12700">
            <a:solidFill>
              <a:srgbClr val="83348F"/>
            </a:solidFill>
            <a:prstDash val="solid"/>
          </a:ln>
        </p:spPr>
        <p:txBody>
          <a:bodyPr/>
          <a:lstStyle/>
          <a:p>
            <a:endParaRPr lang="en-GB"/>
          </a:p>
        </p:txBody>
      </p:sp>
      <p:sp>
        <p:nvSpPr>
          <p:cNvPr id="13" name="Text 10"/>
          <p:cNvSpPr/>
          <p:nvPr/>
        </p:nvSpPr>
        <p:spPr>
          <a:xfrm>
            <a:off x="420624" y="2011680"/>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4" name="Text 11"/>
          <p:cNvSpPr/>
          <p:nvPr/>
        </p:nvSpPr>
        <p:spPr>
          <a:xfrm>
            <a:off x="713232" y="1956816"/>
            <a:ext cx="8010144" cy="310896"/>
          </a:xfrm>
          <a:prstGeom prst="rect">
            <a:avLst/>
          </a:prstGeom>
          <a:noFill/>
          <a:ln/>
        </p:spPr>
        <p:txBody>
          <a:bodyPr wrap="square" lIns="0" tIns="0" rIns="0" bIns="0" rtlCol="0" anchor="ctr"/>
          <a:lstStyle/>
          <a:p>
            <a:pPr marL="0" indent="0">
              <a:buNone/>
            </a:pPr>
            <a:r>
              <a:rPr lang="en-US" sz="1200" dirty="0">
                <a:solidFill>
                  <a:srgbClr val="001E3C"/>
                </a:solidFill>
                <a:latin typeface="Arial" pitchFamily="34" charset="0"/>
                <a:ea typeface="Arial" pitchFamily="34" charset="-122"/>
                <a:cs typeface="Arial" pitchFamily="34" charset="-120"/>
              </a:rPr>
              <a:t>Read and follow the COSHH assessment for every substance you use before you start work</a:t>
            </a:r>
            <a:endParaRPr lang="en-US" sz="1200" dirty="0"/>
          </a:p>
        </p:txBody>
      </p:sp>
      <p:sp>
        <p:nvSpPr>
          <p:cNvPr id="15" name="Shape 12"/>
          <p:cNvSpPr/>
          <p:nvPr/>
        </p:nvSpPr>
        <p:spPr>
          <a:xfrm>
            <a:off x="347472" y="2359152"/>
            <a:ext cx="8449056" cy="384048"/>
          </a:xfrm>
          <a:prstGeom prst="roundRect">
            <a:avLst>
              <a:gd name="adj" fmla="val 11905"/>
            </a:avLst>
          </a:prstGeom>
          <a:solidFill>
            <a:srgbClr val="FFFFFF"/>
          </a:solidFill>
          <a:ln w="6350">
            <a:solidFill>
              <a:srgbClr val="CCCCCC"/>
            </a:solidFill>
            <a:prstDash val="solid"/>
          </a:ln>
        </p:spPr>
        <p:txBody>
          <a:bodyPr/>
          <a:lstStyle/>
          <a:p>
            <a:endParaRPr lang="en-GB"/>
          </a:p>
        </p:txBody>
      </p:sp>
      <p:sp>
        <p:nvSpPr>
          <p:cNvPr id="16" name="Shape 13"/>
          <p:cNvSpPr/>
          <p:nvPr/>
        </p:nvSpPr>
        <p:spPr>
          <a:xfrm>
            <a:off x="420624" y="2450592"/>
            <a:ext cx="219456" cy="219456"/>
          </a:xfrm>
          <a:prstGeom prst="ellipse">
            <a:avLst/>
          </a:prstGeom>
          <a:solidFill>
            <a:srgbClr val="83348F"/>
          </a:solidFill>
          <a:ln w="12700">
            <a:solidFill>
              <a:srgbClr val="83348F"/>
            </a:solidFill>
            <a:prstDash val="solid"/>
          </a:ln>
        </p:spPr>
        <p:txBody>
          <a:bodyPr/>
          <a:lstStyle/>
          <a:p>
            <a:endParaRPr lang="en-GB"/>
          </a:p>
        </p:txBody>
      </p:sp>
      <p:sp>
        <p:nvSpPr>
          <p:cNvPr id="17" name="Text 14"/>
          <p:cNvSpPr/>
          <p:nvPr/>
        </p:nvSpPr>
        <p:spPr>
          <a:xfrm>
            <a:off x="420624" y="2450592"/>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8" name="Text 15"/>
          <p:cNvSpPr/>
          <p:nvPr/>
        </p:nvSpPr>
        <p:spPr>
          <a:xfrm>
            <a:off x="713232" y="2395728"/>
            <a:ext cx="8010144" cy="310896"/>
          </a:xfrm>
          <a:prstGeom prst="rect">
            <a:avLst/>
          </a:prstGeom>
          <a:noFill/>
          <a:ln/>
        </p:spPr>
        <p:txBody>
          <a:bodyPr wrap="square" lIns="0" tIns="0" rIns="0" bIns="0" rtlCol="0" anchor="ctr"/>
          <a:lstStyle/>
          <a:p>
            <a:pPr marL="0" indent="0">
              <a:buNone/>
            </a:pPr>
            <a:r>
              <a:rPr lang="en-US" sz="1200" dirty="0">
                <a:solidFill>
                  <a:srgbClr val="001E3C"/>
                </a:solidFill>
                <a:latin typeface="Arial" pitchFamily="34" charset="0"/>
                <a:ea typeface="Arial" pitchFamily="34" charset="-122"/>
                <a:cs typeface="Arial" pitchFamily="34" charset="-120"/>
              </a:rPr>
              <a:t>Use all engineering controls provided (LEV, enclosed systems, ventilation) in the way they are designed to be used</a:t>
            </a:r>
            <a:endParaRPr lang="en-US" sz="1200" dirty="0"/>
          </a:p>
        </p:txBody>
      </p:sp>
      <p:sp>
        <p:nvSpPr>
          <p:cNvPr id="19" name="Shape 16"/>
          <p:cNvSpPr/>
          <p:nvPr/>
        </p:nvSpPr>
        <p:spPr>
          <a:xfrm>
            <a:off x="347472" y="2798064"/>
            <a:ext cx="8449056" cy="384048"/>
          </a:xfrm>
          <a:prstGeom prst="roundRect">
            <a:avLst>
              <a:gd name="adj" fmla="val 11905"/>
            </a:avLst>
          </a:prstGeom>
          <a:solidFill>
            <a:srgbClr val="F5EEF8"/>
          </a:solidFill>
          <a:ln w="6350">
            <a:solidFill>
              <a:srgbClr val="CCCCCC"/>
            </a:solidFill>
            <a:prstDash val="solid"/>
          </a:ln>
        </p:spPr>
        <p:txBody>
          <a:bodyPr/>
          <a:lstStyle/>
          <a:p>
            <a:endParaRPr lang="en-GB"/>
          </a:p>
        </p:txBody>
      </p:sp>
      <p:sp>
        <p:nvSpPr>
          <p:cNvPr id="20" name="Shape 17"/>
          <p:cNvSpPr/>
          <p:nvPr/>
        </p:nvSpPr>
        <p:spPr>
          <a:xfrm>
            <a:off x="420624" y="2889504"/>
            <a:ext cx="219456" cy="219456"/>
          </a:xfrm>
          <a:prstGeom prst="ellipse">
            <a:avLst/>
          </a:prstGeom>
          <a:solidFill>
            <a:srgbClr val="83348F"/>
          </a:solidFill>
          <a:ln w="12700">
            <a:solidFill>
              <a:srgbClr val="83348F"/>
            </a:solidFill>
            <a:prstDash val="solid"/>
          </a:ln>
        </p:spPr>
        <p:txBody>
          <a:bodyPr/>
          <a:lstStyle/>
          <a:p>
            <a:endParaRPr lang="en-GB"/>
          </a:p>
        </p:txBody>
      </p:sp>
      <p:sp>
        <p:nvSpPr>
          <p:cNvPr id="21" name="Text 18"/>
          <p:cNvSpPr/>
          <p:nvPr/>
        </p:nvSpPr>
        <p:spPr>
          <a:xfrm>
            <a:off x="420624" y="2889504"/>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2" name="Text 19"/>
          <p:cNvSpPr/>
          <p:nvPr/>
        </p:nvSpPr>
        <p:spPr>
          <a:xfrm>
            <a:off x="713232" y="2834640"/>
            <a:ext cx="8010144" cy="310896"/>
          </a:xfrm>
          <a:prstGeom prst="rect">
            <a:avLst/>
          </a:prstGeom>
          <a:noFill/>
          <a:ln/>
        </p:spPr>
        <p:txBody>
          <a:bodyPr wrap="square" lIns="0" tIns="0" rIns="0" bIns="0" rtlCol="0" anchor="ctr"/>
          <a:lstStyle/>
          <a:p>
            <a:pPr marL="0" indent="0">
              <a:buNone/>
            </a:pPr>
            <a:r>
              <a:rPr lang="en-US" sz="1200" dirty="0">
                <a:solidFill>
                  <a:srgbClr val="001E3C"/>
                </a:solidFill>
                <a:latin typeface="Arial" pitchFamily="34" charset="0"/>
                <a:ea typeface="Arial" pitchFamily="34" charset="-122"/>
                <a:cs typeface="Arial" pitchFamily="34" charset="-120"/>
              </a:rPr>
              <a:t>Wear all PPE specified in the COSHH assessment correctly and for the full duration of the task</a:t>
            </a:r>
            <a:endParaRPr lang="en-US" sz="1200" dirty="0"/>
          </a:p>
        </p:txBody>
      </p:sp>
      <p:sp>
        <p:nvSpPr>
          <p:cNvPr id="23" name="Shape 20"/>
          <p:cNvSpPr/>
          <p:nvPr/>
        </p:nvSpPr>
        <p:spPr>
          <a:xfrm>
            <a:off x="347472" y="3236976"/>
            <a:ext cx="8449056" cy="384048"/>
          </a:xfrm>
          <a:prstGeom prst="roundRect">
            <a:avLst>
              <a:gd name="adj" fmla="val 11905"/>
            </a:avLst>
          </a:prstGeom>
          <a:solidFill>
            <a:srgbClr val="FFFFFF"/>
          </a:solidFill>
          <a:ln w="6350">
            <a:solidFill>
              <a:srgbClr val="CCCCCC"/>
            </a:solidFill>
            <a:prstDash val="solid"/>
          </a:ln>
        </p:spPr>
        <p:txBody>
          <a:bodyPr/>
          <a:lstStyle/>
          <a:p>
            <a:endParaRPr lang="en-GB"/>
          </a:p>
        </p:txBody>
      </p:sp>
      <p:sp>
        <p:nvSpPr>
          <p:cNvPr id="24" name="Shape 21"/>
          <p:cNvSpPr/>
          <p:nvPr/>
        </p:nvSpPr>
        <p:spPr>
          <a:xfrm>
            <a:off x="420624" y="3328416"/>
            <a:ext cx="219456" cy="219456"/>
          </a:xfrm>
          <a:prstGeom prst="ellipse">
            <a:avLst/>
          </a:prstGeom>
          <a:solidFill>
            <a:srgbClr val="83348F"/>
          </a:solidFill>
          <a:ln w="12700">
            <a:solidFill>
              <a:srgbClr val="83348F"/>
            </a:solidFill>
            <a:prstDash val="solid"/>
          </a:ln>
        </p:spPr>
        <p:txBody>
          <a:bodyPr/>
          <a:lstStyle/>
          <a:p>
            <a:endParaRPr lang="en-GB"/>
          </a:p>
        </p:txBody>
      </p:sp>
      <p:sp>
        <p:nvSpPr>
          <p:cNvPr id="25" name="Text 22"/>
          <p:cNvSpPr/>
          <p:nvPr/>
        </p:nvSpPr>
        <p:spPr>
          <a:xfrm>
            <a:off x="420624" y="3328416"/>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6" name="Text 23"/>
          <p:cNvSpPr/>
          <p:nvPr/>
        </p:nvSpPr>
        <p:spPr>
          <a:xfrm>
            <a:off x="713232" y="3273552"/>
            <a:ext cx="8010144" cy="310896"/>
          </a:xfrm>
          <a:prstGeom prst="rect">
            <a:avLst/>
          </a:prstGeom>
          <a:noFill/>
          <a:ln/>
        </p:spPr>
        <p:txBody>
          <a:bodyPr wrap="square" lIns="0" tIns="0" rIns="0" bIns="0" rtlCol="0" anchor="ctr"/>
          <a:lstStyle/>
          <a:p>
            <a:pPr marL="0" indent="0">
              <a:buNone/>
            </a:pPr>
            <a:r>
              <a:rPr lang="en-US" sz="1200" dirty="0">
                <a:solidFill>
                  <a:srgbClr val="001E3C"/>
                </a:solidFill>
                <a:latin typeface="Arial" pitchFamily="34" charset="0"/>
                <a:ea typeface="Arial" pitchFamily="34" charset="-122"/>
                <a:cs typeface="Arial" pitchFamily="34" charset="-120"/>
              </a:rPr>
              <a:t>Attend health surveillance appointments arranged by your employer — failure to attend is a breach of your legal duty</a:t>
            </a:r>
            <a:endParaRPr lang="en-US" sz="1200" dirty="0"/>
          </a:p>
        </p:txBody>
      </p:sp>
      <p:sp>
        <p:nvSpPr>
          <p:cNvPr id="27" name="Shape 24"/>
          <p:cNvSpPr/>
          <p:nvPr/>
        </p:nvSpPr>
        <p:spPr>
          <a:xfrm>
            <a:off x="347472" y="3675888"/>
            <a:ext cx="8449056" cy="384048"/>
          </a:xfrm>
          <a:prstGeom prst="roundRect">
            <a:avLst>
              <a:gd name="adj" fmla="val 11905"/>
            </a:avLst>
          </a:prstGeom>
          <a:solidFill>
            <a:srgbClr val="F5EEF8"/>
          </a:solidFill>
          <a:ln w="6350">
            <a:solidFill>
              <a:srgbClr val="CCCCCC"/>
            </a:solidFill>
            <a:prstDash val="solid"/>
          </a:ln>
        </p:spPr>
        <p:txBody>
          <a:bodyPr/>
          <a:lstStyle/>
          <a:p>
            <a:endParaRPr lang="en-GB"/>
          </a:p>
        </p:txBody>
      </p:sp>
      <p:sp>
        <p:nvSpPr>
          <p:cNvPr id="28" name="Shape 25"/>
          <p:cNvSpPr/>
          <p:nvPr/>
        </p:nvSpPr>
        <p:spPr>
          <a:xfrm>
            <a:off x="420624" y="3767328"/>
            <a:ext cx="219456" cy="219456"/>
          </a:xfrm>
          <a:prstGeom prst="ellipse">
            <a:avLst/>
          </a:prstGeom>
          <a:solidFill>
            <a:srgbClr val="83348F"/>
          </a:solidFill>
          <a:ln w="12700">
            <a:solidFill>
              <a:srgbClr val="83348F"/>
            </a:solidFill>
            <a:prstDash val="solid"/>
          </a:ln>
        </p:spPr>
        <p:txBody>
          <a:bodyPr/>
          <a:lstStyle/>
          <a:p>
            <a:endParaRPr lang="en-GB"/>
          </a:p>
        </p:txBody>
      </p:sp>
      <p:sp>
        <p:nvSpPr>
          <p:cNvPr id="29" name="Text 26"/>
          <p:cNvSpPr/>
          <p:nvPr/>
        </p:nvSpPr>
        <p:spPr>
          <a:xfrm>
            <a:off x="420624" y="3767328"/>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0" name="Text 27"/>
          <p:cNvSpPr/>
          <p:nvPr/>
        </p:nvSpPr>
        <p:spPr>
          <a:xfrm>
            <a:off x="713232" y="3712464"/>
            <a:ext cx="8010144" cy="310896"/>
          </a:xfrm>
          <a:prstGeom prst="rect">
            <a:avLst/>
          </a:prstGeom>
          <a:noFill/>
          <a:ln/>
        </p:spPr>
        <p:txBody>
          <a:bodyPr wrap="square" lIns="0" tIns="0" rIns="0" bIns="0" rtlCol="0" anchor="ctr"/>
          <a:lstStyle/>
          <a:p>
            <a:pPr marL="0" indent="0">
              <a:buNone/>
            </a:pPr>
            <a:r>
              <a:rPr lang="en-US" sz="1200" dirty="0">
                <a:solidFill>
                  <a:srgbClr val="001E3C"/>
                </a:solidFill>
                <a:latin typeface="Arial" pitchFamily="34" charset="0"/>
                <a:ea typeface="Arial" pitchFamily="34" charset="-122"/>
                <a:cs typeface="Arial" pitchFamily="34" charset="-120"/>
              </a:rPr>
              <a:t>Report any symptoms of skin irritation, respiratory difficulty, or ill health that may be work-related to your supervisor immediately</a:t>
            </a:r>
            <a:endParaRPr lang="en-US" sz="1200" dirty="0"/>
          </a:p>
        </p:txBody>
      </p:sp>
      <p:sp>
        <p:nvSpPr>
          <p:cNvPr id="31" name="Shape 28"/>
          <p:cNvSpPr/>
          <p:nvPr/>
        </p:nvSpPr>
        <p:spPr>
          <a:xfrm>
            <a:off x="347472" y="4114800"/>
            <a:ext cx="8449056" cy="384048"/>
          </a:xfrm>
          <a:prstGeom prst="roundRect">
            <a:avLst>
              <a:gd name="adj" fmla="val 11905"/>
            </a:avLst>
          </a:prstGeom>
          <a:solidFill>
            <a:srgbClr val="FFFFFF"/>
          </a:solidFill>
          <a:ln w="6350">
            <a:solidFill>
              <a:srgbClr val="CCCCCC"/>
            </a:solidFill>
            <a:prstDash val="solid"/>
          </a:ln>
        </p:spPr>
        <p:txBody>
          <a:bodyPr/>
          <a:lstStyle/>
          <a:p>
            <a:endParaRPr lang="en-GB"/>
          </a:p>
        </p:txBody>
      </p:sp>
      <p:sp>
        <p:nvSpPr>
          <p:cNvPr id="32" name="Shape 29"/>
          <p:cNvSpPr/>
          <p:nvPr/>
        </p:nvSpPr>
        <p:spPr>
          <a:xfrm>
            <a:off x="420624" y="4206240"/>
            <a:ext cx="219456" cy="219456"/>
          </a:xfrm>
          <a:prstGeom prst="ellipse">
            <a:avLst/>
          </a:prstGeom>
          <a:solidFill>
            <a:srgbClr val="83348F"/>
          </a:solidFill>
          <a:ln w="12700">
            <a:solidFill>
              <a:srgbClr val="83348F"/>
            </a:solidFill>
            <a:prstDash val="solid"/>
          </a:ln>
        </p:spPr>
        <p:txBody>
          <a:bodyPr/>
          <a:lstStyle/>
          <a:p>
            <a:endParaRPr lang="en-GB"/>
          </a:p>
        </p:txBody>
      </p:sp>
      <p:sp>
        <p:nvSpPr>
          <p:cNvPr id="33" name="Text 30"/>
          <p:cNvSpPr/>
          <p:nvPr/>
        </p:nvSpPr>
        <p:spPr>
          <a:xfrm>
            <a:off x="420624" y="4206240"/>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34" name="Text 31"/>
          <p:cNvSpPr/>
          <p:nvPr/>
        </p:nvSpPr>
        <p:spPr>
          <a:xfrm>
            <a:off x="713232" y="4151376"/>
            <a:ext cx="8010144" cy="310896"/>
          </a:xfrm>
          <a:prstGeom prst="rect">
            <a:avLst/>
          </a:prstGeom>
          <a:noFill/>
          <a:ln/>
        </p:spPr>
        <p:txBody>
          <a:bodyPr wrap="square" lIns="0" tIns="0" rIns="0" bIns="0" rtlCol="0" anchor="ctr"/>
          <a:lstStyle/>
          <a:p>
            <a:pPr marL="0" indent="0">
              <a:buNone/>
            </a:pPr>
            <a:r>
              <a:rPr lang="en-US" sz="1200" dirty="0">
                <a:solidFill>
                  <a:srgbClr val="001E3C"/>
                </a:solidFill>
                <a:latin typeface="Arial" pitchFamily="34" charset="0"/>
                <a:ea typeface="Arial" pitchFamily="34" charset="-122"/>
                <a:cs typeface="Arial" pitchFamily="34" charset="-120"/>
              </a:rPr>
              <a:t>Report any defects in controls (LEV not working, PPE damaged, substances incorrectly stored or labelled) without delay</a:t>
            </a:r>
            <a:endParaRPr lang="en-US" sz="1200" dirty="0"/>
          </a:p>
        </p:txBody>
      </p:sp>
      <p:sp>
        <p:nvSpPr>
          <p:cNvPr id="36" name="Shape 33"/>
          <p:cNvSpPr/>
          <p:nvPr/>
        </p:nvSpPr>
        <p:spPr>
          <a:xfrm>
            <a:off x="420624" y="4645152"/>
            <a:ext cx="219456" cy="219456"/>
          </a:xfrm>
          <a:prstGeom prst="ellipse">
            <a:avLst/>
          </a:prstGeom>
          <a:solidFill>
            <a:srgbClr val="83348F"/>
          </a:solidFill>
          <a:ln w="12700">
            <a:solidFill>
              <a:srgbClr val="83348F"/>
            </a:solidFill>
            <a:prstDash val="solid"/>
          </a:ln>
        </p:spPr>
        <p:txBody>
          <a:bodyPr/>
          <a:lstStyle/>
          <a:p>
            <a:endParaRPr lang="en-GB"/>
          </a:p>
        </p:txBody>
      </p:sp>
      <p:sp>
        <p:nvSpPr>
          <p:cNvPr id="37" name="Text 34"/>
          <p:cNvSpPr/>
          <p:nvPr/>
        </p:nvSpPr>
        <p:spPr>
          <a:xfrm>
            <a:off x="420624" y="4645152"/>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38" name="Rectangle 3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png"/>
          <p:cNvPicPr>
            <a:picLocks noChangeAspect="1"/>
          </p:cNvPicPr>
          <p:nvPr/>
        </p:nvPicPr>
        <p:blipFill>
          <a:blip r:embed="rId5"/>
          <a:stretch>
            <a:fillRect/>
          </a:stretch>
        </p:blipFill>
        <p:spPr>
          <a:xfrm>
            <a:off x="7562088" y="100584"/>
            <a:ext cx="566928" cy="347472"/>
          </a:xfrm>
          <a:prstGeom prst="rect">
            <a:avLst/>
          </a:prstGeom>
        </p:spPr>
      </p:pic>
      <p:pic>
        <p:nvPicPr>
          <p:cNvPr id="40" name="Picture 39" descr="image.png"/>
          <p:cNvPicPr>
            <a:picLocks noChangeAspect="1"/>
          </p:cNvPicPr>
          <p:nvPr/>
        </p:nvPicPr>
        <p:blipFill>
          <a:blip r:embed="rId4"/>
          <a:stretch>
            <a:fillRect/>
          </a:stretch>
        </p:blipFill>
        <p:spPr>
          <a:xfrm>
            <a:off x="8174736" y="100584"/>
            <a:ext cx="658368" cy="347472"/>
          </a:xfrm>
          <a:prstGeom prst="rect">
            <a:avLst/>
          </a:prstGeom>
        </p:spPr>
      </p:pic>
      <p:sp>
        <p:nvSpPr>
          <p:cNvPr id="41" name="Rectangle 4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Nuclear Supply Chain</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COSHH in the Nuclear Supply Chain</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Text 7"/>
          <p:cNvSpPr/>
          <p:nvPr/>
        </p:nvSpPr>
        <p:spPr>
          <a:xfrm>
            <a:off x="347472" y="1353312"/>
            <a:ext cx="8449056" cy="530352"/>
          </a:xfrm>
          <a:prstGeom prst="rect">
            <a:avLst/>
          </a:prstGeom>
          <a:noFill/>
          <a:ln/>
        </p:spPr>
        <p:txBody>
          <a:bodyPr wrap="square" lIns="0" tIns="0" rIns="0" bIns="0" rtlCol="0" anchor="t"/>
          <a:lstStyle/>
          <a:p>
            <a:pPr marL="0" indent="0" algn="l">
              <a:buNone/>
            </a:pPr>
            <a:r>
              <a:rPr lang="en-US" sz="1300" dirty="0">
                <a:solidFill>
                  <a:srgbClr val="5B595A"/>
                </a:solidFill>
                <a:latin typeface="Arial" pitchFamily="34" charset="0"/>
                <a:ea typeface="Arial" pitchFamily="34" charset="-122"/>
                <a:cs typeface="Arial" pitchFamily="34" charset="-120"/>
              </a:rPr>
              <a:t>As part of the nuclear supply chain, your approach to hazardous substance management is under close scrutiny. Nuclear clients and the F4N assessment specifically examine your COSHH systems, records, and culture. A company that cannot demonstrate effective COSHH management will not win nuclear contracts.</a:t>
            </a:r>
            <a:endParaRPr lang="en-US" sz="1300" dirty="0"/>
          </a:p>
        </p:txBody>
      </p:sp>
      <p:sp>
        <p:nvSpPr>
          <p:cNvPr id="11" name="Shape 8"/>
          <p:cNvSpPr/>
          <p:nvPr/>
        </p:nvSpPr>
        <p:spPr>
          <a:xfrm>
            <a:off x="347472" y="1956816"/>
            <a:ext cx="4133088" cy="1133856"/>
          </a:xfrm>
          <a:prstGeom prst="roundRect">
            <a:avLst>
              <a:gd name="adj" fmla="val 6452"/>
            </a:avLst>
          </a:prstGeom>
          <a:solidFill>
            <a:srgbClr val="F5EEF8"/>
          </a:solidFill>
          <a:ln w="10160">
            <a:solidFill>
              <a:srgbClr val="83348F"/>
            </a:solidFill>
            <a:prstDash val="solid"/>
          </a:ln>
        </p:spPr>
        <p:txBody>
          <a:bodyPr/>
          <a:lstStyle/>
          <a:p>
            <a:endParaRPr lang="en-GB"/>
          </a:p>
        </p:txBody>
      </p:sp>
      <p:sp>
        <p:nvSpPr>
          <p:cNvPr id="12" name="Text 9"/>
          <p:cNvSpPr/>
          <p:nvPr/>
        </p:nvSpPr>
        <p:spPr>
          <a:xfrm>
            <a:off x="484632" y="2048256"/>
            <a:ext cx="3886200" cy="256032"/>
          </a:xfrm>
          <a:prstGeom prst="rect">
            <a:avLst/>
          </a:prstGeom>
          <a:noFill/>
          <a:ln/>
        </p:spPr>
        <p:txBody>
          <a:bodyPr wrap="square" lIns="0" tIns="0" rIns="0" bIns="0" rtlCol="0" anchor="ctr"/>
          <a:lstStyle/>
          <a:p>
            <a:pPr marL="0" indent="0">
              <a:buNone/>
            </a:pPr>
            <a:r>
              <a:rPr lang="en-US" sz="1200" b="1" dirty="0">
                <a:solidFill>
                  <a:srgbClr val="83348F"/>
                </a:solidFill>
                <a:latin typeface="Arial" pitchFamily="34" charset="0"/>
                <a:ea typeface="Arial" pitchFamily="34" charset="-122"/>
                <a:cs typeface="Arial" pitchFamily="34" charset="-120"/>
              </a:rPr>
              <a:t>Conservative approach to exposure</a:t>
            </a:r>
            <a:endParaRPr lang="en-US" sz="1200" dirty="0"/>
          </a:p>
        </p:txBody>
      </p:sp>
      <p:sp>
        <p:nvSpPr>
          <p:cNvPr id="13" name="Text 10"/>
          <p:cNvSpPr/>
          <p:nvPr/>
        </p:nvSpPr>
        <p:spPr>
          <a:xfrm>
            <a:off x="484632" y="2340864"/>
            <a:ext cx="3886200" cy="694944"/>
          </a:xfrm>
          <a:prstGeom prst="rect">
            <a:avLst/>
          </a:prstGeom>
          <a:noFill/>
          <a:ln/>
        </p:spPr>
        <p:txBody>
          <a:bodyPr wrap="square" lIns="0" tIns="0" rIns="0" bIns="0" rtlCol="0" anchor="t"/>
          <a:lstStyle/>
          <a:p>
            <a:pPr marL="0" indent="0">
              <a:buNone/>
            </a:pPr>
            <a:r>
              <a:rPr lang="en-US" sz="1050" dirty="0">
                <a:solidFill>
                  <a:srgbClr val="5B595A"/>
                </a:solidFill>
                <a:latin typeface="Arial" pitchFamily="34" charset="0"/>
                <a:ea typeface="Arial" pitchFamily="34" charset="-122"/>
                <a:cs typeface="Arial" pitchFamily="34" charset="-120"/>
              </a:rPr>
              <a:t>In nuclear culture, the principle of erring on the side of caution applies to COSHH just as it does to safety. Where there is uncertainty about whether a control is adequate, assume it is not and improve it. Do not assume 'it has always been done this way' means it is safe.</a:t>
            </a:r>
            <a:endParaRPr lang="en-US" sz="1050" dirty="0"/>
          </a:p>
        </p:txBody>
      </p:sp>
      <p:sp>
        <p:nvSpPr>
          <p:cNvPr id="14" name="Shape 11"/>
          <p:cNvSpPr/>
          <p:nvPr/>
        </p:nvSpPr>
        <p:spPr>
          <a:xfrm>
            <a:off x="4663440" y="1956816"/>
            <a:ext cx="4133088" cy="1133856"/>
          </a:xfrm>
          <a:prstGeom prst="roundRect">
            <a:avLst>
              <a:gd name="adj" fmla="val 6452"/>
            </a:avLst>
          </a:prstGeom>
          <a:solidFill>
            <a:srgbClr val="F5EEF8"/>
          </a:solidFill>
          <a:ln w="10160">
            <a:solidFill>
              <a:srgbClr val="83348F"/>
            </a:solidFill>
            <a:prstDash val="solid"/>
          </a:ln>
        </p:spPr>
        <p:txBody>
          <a:bodyPr/>
          <a:lstStyle/>
          <a:p>
            <a:endParaRPr lang="en-GB"/>
          </a:p>
        </p:txBody>
      </p:sp>
      <p:sp>
        <p:nvSpPr>
          <p:cNvPr id="15" name="Text 12"/>
          <p:cNvSpPr/>
          <p:nvPr/>
        </p:nvSpPr>
        <p:spPr>
          <a:xfrm>
            <a:off x="4800600" y="2048256"/>
            <a:ext cx="3886200" cy="256032"/>
          </a:xfrm>
          <a:prstGeom prst="rect">
            <a:avLst/>
          </a:prstGeom>
          <a:noFill/>
          <a:ln/>
        </p:spPr>
        <p:txBody>
          <a:bodyPr wrap="square" lIns="0" tIns="0" rIns="0" bIns="0" rtlCol="0" anchor="ctr"/>
          <a:lstStyle/>
          <a:p>
            <a:pPr marL="0" indent="0">
              <a:buNone/>
            </a:pPr>
            <a:r>
              <a:rPr lang="en-US" sz="1200" b="1" dirty="0">
                <a:solidFill>
                  <a:srgbClr val="83348F"/>
                </a:solidFill>
                <a:latin typeface="Arial" pitchFamily="34" charset="0"/>
                <a:ea typeface="Arial" pitchFamily="34" charset="-122"/>
                <a:cs typeface="Arial" pitchFamily="34" charset="-120"/>
              </a:rPr>
              <a:t>Documentation and traceability</a:t>
            </a:r>
            <a:endParaRPr lang="en-US" sz="1200" dirty="0"/>
          </a:p>
        </p:txBody>
      </p:sp>
      <p:sp>
        <p:nvSpPr>
          <p:cNvPr id="16" name="Text 13"/>
          <p:cNvSpPr/>
          <p:nvPr/>
        </p:nvSpPr>
        <p:spPr>
          <a:xfrm>
            <a:off x="4800600" y="2340864"/>
            <a:ext cx="3886200" cy="694944"/>
          </a:xfrm>
          <a:prstGeom prst="rect">
            <a:avLst/>
          </a:prstGeom>
          <a:noFill/>
          <a:ln/>
        </p:spPr>
        <p:txBody>
          <a:bodyPr wrap="square" lIns="0" tIns="0" rIns="0" bIns="0" rtlCol="0" anchor="t"/>
          <a:lstStyle/>
          <a:p>
            <a:pPr marL="0" indent="0">
              <a:buNone/>
            </a:pPr>
            <a:r>
              <a:rPr lang="en-US" sz="1050" dirty="0">
                <a:solidFill>
                  <a:srgbClr val="5B595A"/>
                </a:solidFill>
                <a:latin typeface="Arial" pitchFamily="34" charset="0"/>
                <a:ea typeface="Arial" pitchFamily="34" charset="-122"/>
                <a:cs typeface="Arial" pitchFamily="34" charset="-120"/>
              </a:rPr>
              <a:t>Nuclear clients will ask to see COSHH assessment records, LEV test records, health surveillance records, and training records. These must be current, accessible, and clearly linked to specific substances and tasks. Records missing or out of date will be flagged.</a:t>
            </a:r>
            <a:endParaRPr lang="en-US" sz="1050" dirty="0"/>
          </a:p>
        </p:txBody>
      </p:sp>
      <p:sp>
        <p:nvSpPr>
          <p:cNvPr id="17" name="Shape 14"/>
          <p:cNvSpPr/>
          <p:nvPr/>
        </p:nvSpPr>
        <p:spPr>
          <a:xfrm>
            <a:off x="347472" y="3200400"/>
            <a:ext cx="4133088" cy="1133856"/>
          </a:xfrm>
          <a:prstGeom prst="roundRect">
            <a:avLst>
              <a:gd name="adj" fmla="val 6452"/>
            </a:avLst>
          </a:prstGeom>
          <a:solidFill>
            <a:srgbClr val="F5EEF8"/>
          </a:solidFill>
          <a:ln w="10160">
            <a:solidFill>
              <a:srgbClr val="83348F"/>
            </a:solidFill>
            <a:prstDash val="solid"/>
          </a:ln>
        </p:spPr>
        <p:txBody>
          <a:bodyPr/>
          <a:lstStyle/>
          <a:p>
            <a:endParaRPr lang="en-GB"/>
          </a:p>
        </p:txBody>
      </p:sp>
      <p:sp>
        <p:nvSpPr>
          <p:cNvPr id="18" name="Text 15"/>
          <p:cNvSpPr/>
          <p:nvPr/>
        </p:nvSpPr>
        <p:spPr>
          <a:xfrm>
            <a:off x="484632" y="3291840"/>
            <a:ext cx="3886200" cy="256032"/>
          </a:xfrm>
          <a:prstGeom prst="rect">
            <a:avLst/>
          </a:prstGeom>
          <a:noFill/>
          <a:ln/>
        </p:spPr>
        <p:txBody>
          <a:bodyPr wrap="square" lIns="0" tIns="0" rIns="0" bIns="0" rtlCol="0" anchor="ctr"/>
          <a:lstStyle/>
          <a:p>
            <a:pPr marL="0" indent="0">
              <a:buNone/>
            </a:pPr>
            <a:r>
              <a:rPr lang="en-US" sz="1200" b="1" dirty="0">
                <a:solidFill>
                  <a:srgbClr val="83348F"/>
                </a:solidFill>
                <a:latin typeface="Arial" pitchFamily="34" charset="0"/>
                <a:ea typeface="Arial" pitchFamily="34" charset="-122"/>
                <a:cs typeface="Arial" pitchFamily="34" charset="-120"/>
              </a:rPr>
              <a:t>Personal responsibility</a:t>
            </a:r>
            <a:endParaRPr lang="en-US" sz="1200" dirty="0"/>
          </a:p>
        </p:txBody>
      </p:sp>
      <p:sp>
        <p:nvSpPr>
          <p:cNvPr id="19" name="Text 16"/>
          <p:cNvSpPr/>
          <p:nvPr/>
        </p:nvSpPr>
        <p:spPr>
          <a:xfrm>
            <a:off x="484632" y="3584448"/>
            <a:ext cx="3886200" cy="694944"/>
          </a:xfrm>
          <a:prstGeom prst="rect">
            <a:avLst/>
          </a:prstGeom>
          <a:noFill/>
          <a:ln/>
        </p:spPr>
        <p:txBody>
          <a:bodyPr wrap="square" lIns="0" tIns="0" rIns="0" bIns="0" rtlCol="0" anchor="t"/>
          <a:lstStyle/>
          <a:p>
            <a:pPr marL="0" indent="0">
              <a:buNone/>
            </a:pPr>
            <a:r>
              <a:rPr lang="en-US" sz="1050" dirty="0">
                <a:solidFill>
                  <a:srgbClr val="5B595A"/>
                </a:solidFill>
                <a:latin typeface="Arial" pitchFamily="34" charset="0"/>
                <a:ea typeface="Arial" pitchFamily="34" charset="-122"/>
                <a:cs typeface="Arial" pitchFamily="34" charset="-120"/>
              </a:rPr>
              <a:t>Every individual in the nuclear supply chain is expected to take personal ownership of health and safety. If you see a COSHH control not being followed, you are expected to challenge it. This is a core nuclear safety culture behaviour.</a:t>
            </a:r>
            <a:endParaRPr lang="en-US" sz="1050" dirty="0"/>
          </a:p>
        </p:txBody>
      </p:sp>
      <p:sp>
        <p:nvSpPr>
          <p:cNvPr id="20" name="Shape 17"/>
          <p:cNvSpPr/>
          <p:nvPr/>
        </p:nvSpPr>
        <p:spPr>
          <a:xfrm>
            <a:off x="4663440" y="3200400"/>
            <a:ext cx="4133088" cy="1133856"/>
          </a:xfrm>
          <a:prstGeom prst="roundRect">
            <a:avLst>
              <a:gd name="adj" fmla="val 6452"/>
            </a:avLst>
          </a:prstGeom>
          <a:solidFill>
            <a:srgbClr val="F5EEF8"/>
          </a:solidFill>
          <a:ln w="10160">
            <a:solidFill>
              <a:srgbClr val="83348F"/>
            </a:solidFill>
            <a:prstDash val="solid"/>
          </a:ln>
        </p:spPr>
        <p:txBody>
          <a:bodyPr/>
          <a:lstStyle/>
          <a:p>
            <a:endParaRPr lang="en-GB"/>
          </a:p>
        </p:txBody>
      </p:sp>
      <p:sp>
        <p:nvSpPr>
          <p:cNvPr id="21" name="Text 18"/>
          <p:cNvSpPr/>
          <p:nvPr/>
        </p:nvSpPr>
        <p:spPr>
          <a:xfrm>
            <a:off x="4800600" y="3291840"/>
            <a:ext cx="3886200" cy="256032"/>
          </a:xfrm>
          <a:prstGeom prst="rect">
            <a:avLst/>
          </a:prstGeom>
          <a:noFill/>
          <a:ln/>
        </p:spPr>
        <p:txBody>
          <a:bodyPr wrap="square" lIns="0" tIns="0" rIns="0" bIns="0" rtlCol="0" anchor="ctr"/>
          <a:lstStyle/>
          <a:p>
            <a:pPr marL="0" indent="0">
              <a:buNone/>
            </a:pPr>
            <a:r>
              <a:rPr lang="en-US" sz="1200" b="1" dirty="0">
                <a:solidFill>
                  <a:srgbClr val="83348F"/>
                </a:solidFill>
                <a:latin typeface="Arial" pitchFamily="34" charset="0"/>
                <a:ea typeface="Arial" pitchFamily="34" charset="-122"/>
                <a:cs typeface="Arial" pitchFamily="34" charset="-120"/>
              </a:rPr>
              <a:t>Alignment with ISO 45001</a:t>
            </a:r>
            <a:endParaRPr lang="en-US" sz="1200" dirty="0"/>
          </a:p>
        </p:txBody>
      </p:sp>
      <p:sp>
        <p:nvSpPr>
          <p:cNvPr id="22" name="Text 19"/>
          <p:cNvSpPr/>
          <p:nvPr/>
        </p:nvSpPr>
        <p:spPr>
          <a:xfrm>
            <a:off x="4800600" y="3584448"/>
            <a:ext cx="3886200" cy="694944"/>
          </a:xfrm>
          <a:prstGeom prst="rect">
            <a:avLst/>
          </a:prstGeom>
          <a:noFill/>
          <a:ln/>
        </p:spPr>
        <p:txBody>
          <a:bodyPr wrap="square" lIns="0" tIns="0" rIns="0" bIns="0" rtlCol="0" anchor="t"/>
          <a:lstStyle/>
          <a:p>
            <a:pPr marL="0" indent="0">
              <a:buNone/>
            </a:pPr>
            <a:r>
              <a:rPr lang="en-US" sz="1050" dirty="0">
                <a:solidFill>
                  <a:srgbClr val="5B595A"/>
                </a:solidFill>
                <a:latin typeface="Arial" pitchFamily="34" charset="0"/>
                <a:ea typeface="Arial" pitchFamily="34" charset="-122"/>
                <a:cs typeface="Arial" pitchFamily="34" charset="-120"/>
              </a:rPr>
              <a:t>COSHH management is a central element of an ISO 45001 occupational health and safety management system. F4N assessors will look for evidence that COSHH assessments are systematically reviewed, that exposure is monitored, and that health surveillance is completed and recorded.</a:t>
            </a:r>
            <a:endParaRPr lang="en-US" sz="1050" dirty="0"/>
          </a:p>
        </p:txBody>
      </p:sp>
      <p:sp>
        <p:nvSpPr>
          <p:cNvPr id="23" name="Rectangle 2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5"/>
          <a:stretch>
            <a:fillRect/>
          </a:stretch>
        </p:blipFill>
        <p:spPr>
          <a:xfrm>
            <a:off x="7562088" y="100584"/>
            <a:ext cx="566928" cy="347472"/>
          </a:xfrm>
          <a:prstGeom prst="rect">
            <a:avLst/>
          </a:prstGeom>
        </p:spPr>
      </p:pic>
      <p:pic>
        <p:nvPicPr>
          <p:cNvPr id="25" name="Picture 24" descr="image.png"/>
          <p:cNvPicPr>
            <a:picLocks noChangeAspect="1"/>
          </p:cNvPicPr>
          <p:nvPr/>
        </p:nvPicPr>
        <p:blipFill>
          <a:blip r:embed="rId4"/>
          <a:stretch>
            <a:fillRect/>
          </a:stretch>
        </p:blipFill>
        <p:spPr>
          <a:xfrm>
            <a:off x="8174736" y="100584"/>
            <a:ext cx="658368" cy="347472"/>
          </a:xfrm>
          <a:prstGeom prst="rect">
            <a:avLst/>
          </a:prstGeom>
        </p:spPr>
      </p:pic>
      <p:sp>
        <p:nvSpPr>
          <p:cNvPr id="26" name="Rectangle 2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6" name="Shape 3"/>
          <p:cNvSpPr/>
          <p:nvPr/>
        </p:nvSpPr>
        <p:spPr>
          <a:xfrm>
            <a:off x="347472" y="201168"/>
            <a:ext cx="2377440" cy="292608"/>
          </a:xfrm>
          <a:prstGeom prst="roundRect">
            <a:avLst>
              <a:gd name="adj" fmla="val 15625"/>
            </a:avLst>
          </a:prstGeom>
          <a:solidFill>
            <a:srgbClr val="83348F"/>
          </a:solidFill>
          <a:ln w="12700">
            <a:solidFill>
              <a:srgbClr val="83348F"/>
            </a:solidFill>
            <a:prstDash val="solid"/>
          </a:ln>
        </p:spPr>
        <p:txBody>
          <a:bodyPr/>
          <a:lstStyle/>
          <a:p>
            <a:endParaRPr lang="en-GB"/>
          </a:p>
        </p:txBody>
      </p:sp>
      <p:sp>
        <p:nvSpPr>
          <p:cNvPr id="7" name="Text 4"/>
          <p:cNvSpPr/>
          <p:nvPr/>
        </p:nvSpPr>
        <p:spPr>
          <a:xfrm>
            <a:off x="347472" y="201168"/>
            <a:ext cx="23774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Summary</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marL="0" indent="0">
              <a:buNone/>
            </a:pPr>
            <a:r>
              <a:rPr lang="en-US" sz="2600" b="1" dirty="0">
                <a:solidFill>
                  <a:srgbClr val="001E3C"/>
                </a:solidFill>
                <a:latin typeface="Cambria" pitchFamily="34" charset="0"/>
                <a:ea typeface="Cambria" pitchFamily="34" charset="-122"/>
                <a:cs typeface="Cambria" pitchFamily="34" charset="-120"/>
              </a:rPr>
              <a:t>Key Messages: What to Take Away</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txBody>
          <a:bodyPr/>
          <a:lstStyle/>
          <a:p>
            <a:endParaRPr lang="en-GB"/>
          </a:p>
        </p:txBody>
      </p:sp>
      <p:sp>
        <p:nvSpPr>
          <p:cNvPr id="10" name="Shape 7"/>
          <p:cNvSpPr/>
          <p:nvPr/>
        </p:nvSpPr>
        <p:spPr>
          <a:xfrm>
            <a:off x="347472" y="1453896"/>
            <a:ext cx="310896" cy="310896"/>
          </a:xfrm>
          <a:prstGeom prst="ellipse">
            <a:avLst/>
          </a:prstGeom>
          <a:solidFill>
            <a:srgbClr val="83348F"/>
          </a:solidFill>
          <a:ln w="12700">
            <a:solidFill>
              <a:srgbClr val="83348F"/>
            </a:solidFill>
            <a:prstDash val="solid"/>
          </a:ln>
        </p:spPr>
        <p:txBody>
          <a:bodyPr/>
          <a:lstStyle/>
          <a:p>
            <a:endParaRPr lang="en-GB"/>
          </a:p>
        </p:txBody>
      </p:sp>
      <p:sp>
        <p:nvSpPr>
          <p:cNvPr id="11" name="Text 8"/>
          <p:cNvSpPr/>
          <p:nvPr/>
        </p:nvSpPr>
        <p:spPr>
          <a:xfrm>
            <a:off x="347472" y="145389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12" name="Text 9"/>
          <p:cNvSpPr/>
          <p:nvPr/>
        </p:nvSpPr>
        <p:spPr>
          <a:xfrm>
            <a:off x="768096" y="1426464"/>
            <a:ext cx="8028432"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COSHH applies to all hazardous substances in your workplace. If it has an SDS, it is hazardous.</a:t>
            </a:r>
            <a:endParaRPr lang="en-US" sz="1300" dirty="0"/>
          </a:p>
        </p:txBody>
      </p:sp>
      <p:sp>
        <p:nvSpPr>
          <p:cNvPr id="13" name="Shape 10"/>
          <p:cNvSpPr/>
          <p:nvPr/>
        </p:nvSpPr>
        <p:spPr>
          <a:xfrm>
            <a:off x="347472" y="1911096"/>
            <a:ext cx="310896" cy="310896"/>
          </a:xfrm>
          <a:prstGeom prst="ellipse">
            <a:avLst/>
          </a:prstGeom>
          <a:solidFill>
            <a:srgbClr val="C0392B"/>
          </a:solidFill>
          <a:ln w="12700">
            <a:solidFill>
              <a:srgbClr val="C0392B"/>
            </a:solidFill>
            <a:prstDash val="solid"/>
          </a:ln>
        </p:spPr>
        <p:txBody>
          <a:bodyPr/>
          <a:lstStyle/>
          <a:p>
            <a:endParaRPr lang="en-GB"/>
          </a:p>
        </p:txBody>
      </p:sp>
      <p:sp>
        <p:nvSpPr>
          <p:cNvPr id="14" name="Text 11"/>
          <p:cNvSpPr/>
          <p:nvPr/>
        </p:nvSpPr>
        <p:spPr>
          <a:xfrm>
            <a:off x="347472" y="191109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15" name="Text 12"/>
          <p:cNvSpPr/>
          <p:nvPr/>
        </p:nvSpPr>
        <p:spPr>
          <a:xfrm>
            <a:off x="768096" y="1883664"/>
            <a:ext cx="8028432"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Chronic diseases develop silently over years. The damage can be permanent before symptoms appear.</a:t>
            </a:r>
            <a:endParaRPr lang="en-US" sz="1300" dirty="0"/>
          </a:p>
        </p:txBody>
      </p:sp>
      <p:sp>
        <p:nvSpPr>
          <p:cNvPr id="16" name="Shape 13"/>
          <p:cNvSpPr/>
          <p:nvPr/>
        </p:nvSpPr>
        <p:spPr>
          <a:xfrm>
            <a:off x="347472" y="2368296"/>
            <a:ext cx="310896" cy="310896"/>
          </a:xfrm>
          <a:prstGeom prst="ellipse">
            <a:avLst/>
          </a:prstGeom>
          <a:solidFill>
            <a:srgbClr val="009FE3"/>
          </a:solidFill>
          <a:ln w="12700">
            <a:solidFill>
              <a:srgbClr val="009FE3"/>
            </a:solidFill>
            <a:prstDash val="solid"/>
          </a:ln>
        </p:spPr>
        <p:txBody>
          <a:bodyPr/>
          <a:lstStyle/>
          <a:p>
            <a:endParaRPr lang="en-GB"/>
          </a:p>
        </p:txBody>
      </p:sp>
      <p:sp>
        <p:nvSpPr>
          <p:cNvPr id="17" name="Text 14"/>
          <p:cNvSpPr/>
          <p:nvPr/>
        </p:nvSpPr>
        <p:spPr>
          <a:xfrm>
            <a:off x="347472" y="236829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18" name="Text 15"/>
          <p:cNvSpPr/>
          <p:nvPr/>
        </p:nvSpPr>
        <p:spPr>
          <a:xfrm>
            <a:off x="768096" y="2340864"/>
            <a:ext cx="8028432"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Read your COSHH assessment and SDS before using any hazardous substance. Know the controls.</a:t>
            </a:r>
            <a:endParaRPr lang="en-US" sz="1300" dirty="0"/>
          </a:p>
        </p:txBody>
      </p:sp>
      <p:sp>
        <p:nvSpPr>
          <p:cNvPr id="19" name="Shape 16"/>
          <p:cNvSpPr/>
          <p:nvPr/>
        </p:nvSpPr>
        <p:spPr>
          <a:xfrm>
            <a:off x="347472" y="2825496"/>
            <a:ext cx="310896" cy="310896"/>
          </a:xfrm>
          <a:prstGeom prst="ellipse">
            <a:avLst/>
          </a:prstGeom>
          <a:solidFill>
            <a:srgbClr val="2E8B57"/>
          </a:solidFill>
          <a:ln w="12700">
            <a:solidFill>
              <a:srgbClr val="2E8B57"/>
            </a:solidFill>
            <a:prstDash val="solid"/>
          </a:ln>
        </p:spPr>
        <p:txBody>
          <a:bodyPr/>
          <a:lstStyle/>
          <a:p>
            <a:endParaRPr lang="en-GB"/>
          </a:p>
        </p:txBody>
      </p:sp>
      <p:sp>
        <p:nvSpPr>
          <p:cNvPr id="20" name="Text 17"/>
          <p:cNvSpPr/>
          <p:nvPr/>
        </p:nvSpPr>
        <p:spPr>
          <a:xfrm>
            <a:off x="347472" y="282549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21" name="Text 18"/>
          <p:cNvSpPr/>
          <p:nvPr/>
        </p:nvSpPr>
        <p:spPr>
          <a:xfrm>
            <a:off x="768096" y="2798064"/>
            <a:ext cx="8028432"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Engineering controls come before PPE in the hierarchy. LEV must be used correctly every time.</a:t>
            </a:r>
            <a:endParaRPr lang="en-US" sz="1300" dirty="0"/>
          </a:p>
        </p:txBody>
      </p:sp>
      <p:sp>
        <p:nvSpPr>
          <p:cNvPr id="22" name="Shape 19"/>
          <p:cNvSpPr/>
          <p:nvPr/>
        </p:nvSpPr>
        <p:spPr>
          <a:xfrm>
            <a:off x="347472" y="3282696"/>
            <a:ext cx="310896" cy="310896"/>
          </a:xfrm>
          <a:prstGeom prst="ellipse">
            <a:avLst/>
          </a:prstGeom>
          <a:solidFill>
            <a:srgbClr val="E08A00"/>
          </a:solidFill>
          <a:ln w="12700">
            <a:solidFill>
              <a:srgbClr val="E08A00"/>
            </a:solidFill>
            <a:prstDash val="solid"/>
          </a:ln>
        </p:spPr>
        <p:txBody>
          <a:bodyPr/>
          <a:lstStyle/>
          <a:p>
            <a:endParaRPr lang="en-GB"/>
          </a:p>
        </p:txBody>
      </p:sp>
      <p:sp>
        <p:nvSpPr>
          <p:cNvPr id="23" name="Text 20"/>
          <p:cNvSpPr/>
          <p:nvPr/>
        </p:nvSpPr>
        <p:spPr>
          <a:xfrm>
            <a:off x="347472" y="328269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05</a:t>
            </a:r>
            <a:endParaRPr lang="en-US" sz="1000" dirty="0"/>
          </a:p>
        </p:txBody>
      </p:sp>
      <p:sp>
        <p:nvSpPr>
          <p:cNvPr id="24" name="Text 21"/>
          <p:cNvSpPr/>
          <p:nvPr/>
        </p:nvSpPr>
        <p:spPr>
          <a:xfrm>
            <a:off x="768096" y="3255264"/>
            <a:ext cx="8028432"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PPE must be the correct type and specification. Generic gloves or masks do not provide adequate protection.</a:t>
            </a:r>
            <a:endParaRPr lang="en-US" sz="1300" dirty="0"/>
          </a:p>
        </p:txBody>
      </p:sp>
      <p:sp>
        <p:nvSpPr>
          <p:cNvPr id="25" name="Shape 22"/>
          <p:cNvSpPr/>
          <p:nvPr/>
        </p:nvSpPr>
        <p:spPr>
          <a:xfrm>
            <a:off x="347472" y="3739896"/>
            <a:ext cx="310896" cy="310896"/>
          </a:xfrm>
          <a:prstGeom prst="ellipse">
            <a:avLst/>
          </a:prstGeom>
          <a:solidFill>
            <a:srgbClr val="83348F"/>
          </a:solidFill>
          <a:ln w="12700">
            <a:solidFill>
              <a:srgbClr val="83348F"/>
            </a:solidFill>
            <a:prstDash val="solid"/>
          </a:ln>
        </p:spPr>
        <p:txBody>
          <a:bodyPr/>
          <a:lstStyle/>
          <a:p>
            <a:endParaRPr lang="en-GB"/>
          </a:p>
        </p:txBody>
      </p:sp>
      <p:sp>
        <p:nvSpPr>
          <p:cNvPr id="26" name="Text 23"/>
          <p:cNvSpPr/>
          <p:nvPr/>
        </p:nvSpPr>
        <p:spPr>
          <a:xfrm>
            <a:off x="347472" y="373989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06</a:t>
            </a:r>
            <a:endParaRPr lang="en-US" sz="1000" dirty="0"/>
          </a:p>
        </p:txBody>
      </p:sp>
      <p:sp>
        <p:nvSpPr>
          <p:cNvPr id="27" name="Text 24"/>
          <p:cNvSpPr/>
          <p:nvPr/>
        </p:nvSpPr>
        <p:spPr>
          <a:xfrm>
            <a:off x="768096" y="3712464"/>
            <a:ext cx="8028432"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Attend all health surveillance. Participate actively. Your results are your health record.</a:t>
            </a:r>
            <a:endParaRPr lang="en-US" sz="1300" dirty="0"/>
          </a:p>
        </p:txBody>
      </p:sp>
      <p:sp>
        <p:nvSpPr>
          <p:cNvPr id="28" name="Shape 25"/>
          <p:cNvSpPr/>
          <p:nvPr/>
        </p:nvSpPr>
        <p:spPr>
          <a:xfrm>
            <a:off x="347472" y="4197096"/>
            <a:ext cx="310896" cy="310896"/>
          </a:xfrm>
          <a:prstGeom prst="ellipse">
            <a:avLst/>
          </a:prstGeom>
          <a:solidFill>
            <a:srgbClr val="C0392B"/>
          </a:solidFill>
          <a:ln w="12700">
            <a:solidFill>
              <a:srgbClr val="C0392B"/>
            </a:solidFill>
            <a:prstDash val="solid"/>
          </a:ln>
        </p:spPr>
        <p:txBody>
          <a:bodyPr/>
          <a:lstStyle/>
          <a:p>
            <a:endParaRPr lang="en-GB"/>
          </a:p>
        </p:txBody>
      </p:sp>
      <p:sp>
        <p:nvSpPr>
          <p:cNvPr id="29" name="Text 26"/>
          <p:cNvSpPr/>
          <p:nvPr/>
        </p:nvSpPr>
        <p:spPr>
          <a:xfrm>
            <a:off x="347472" y="419709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07</a:t>
            </a:r>
            <a:endParaRPr lang="en-US" sz="1000" dirty="0"/>
          </a:p>
        </p:txBody>
      </p:sp>
      <p:sp>
        <p:nvSpPr>
          <p:cNvPr id="30" name="Text 27"/>
          <p:cNvSpPr/>
          <p:nvPr/>
        </p:nvSpPr>
        <p:spPr>
          <a:xfrm>
            <a:off x="768096" y="4169664"/>
            <a:ext cx="8028432" cy="384048"/>
          </a:xfrm>
          <a:prstGeom prst="rect">
            <a:avLst/>
          </a:prstGeom>
          <a:noFill/>
          <a:ln/>
        </p:spPr>
        <p:txBody>
          <a:bodyPr wrap="square" lIns="0" tIns="0" rIns="0" bIns="0" rtlCol="0" anchor="ctr"/>
          <a:lstStyle/>
          <a:p>
            <a:pPr marL="0" indent="0">
              <a:buNone/>
            </a:pPr>
            <a:r>
              <a:rPr lang="en-US" sz="1300" dirty="0">
                <a:solidFill>
                  <a:srgbClr val="001E3C"/>
                </a:solidFill>
                <a:latin typeface="Arial" pitchFamily="34" charset="0"/>
                <a:ea typeface="Arial" pitchFamily="34" charset="-122"/>
                <a:cs typeface="Arial" pitchFamily="34" charset="-120"/>
              </a:rPr>
              <a:t>Report symptoms early. Skin irritation, breathing problems, or eye issues during work must be reported the same day.</a:t>
            </a:r>
            <a:endParaRPr lang="en-US" sz="1300" dirty="0"/>
          </a:p>
        </p:txBody>
      </p:sp>
      <p:sp>
        <p:nvSpPr>
          <p:cNvPr id="31" name="Shape 28"/>
          <p:cNvSpPr/>
          <p:nvPr/>
        </p:nvSpPr>
        <p:spPr>
          <a:xfrm>
            <a:off x="347472" y="4654296"/>
            <a:ext cx="310896" cy="310896"/>
          </a:xfrm>
          <a:prstGeom prst="ellipse">
            <a:avLst/>
          </a:prstGeom>
          <a:solidFill>
            <a:srgbClr val="001E3C"/>
          </a:solidFill>
          <a:ln w="12700">
            <a:solidFill>
              <a:srgbClr val="001E3C"/>
            </a:solidFill>
            <a:prstDash val="solid"/>
          </a:ln>
        </p:spPr>
        <p:txBody>
          <a:bodyPr/>
          <a:lstStyle/>
          <a:p>
            <a:endParaRPr lang="en-GB"/>
          </a:p>
        </p:txBody>
      </p:sp>
      <p:sp>
        <p:nvSpPr>
          <p:cNvPr id="32" name="Text 29"/>
          <p:cNvSpPr/>
          <p:nvPr/>
        </p:nvSpPr>
        <p:spPr>
          <a:xfrm>
            <a:off x="347472" y="465429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08</a:t>
            </a:r>
            <a:endParaRPr lang="en-US" sz="1000" dirty="0"/>
          </a:p>
        </p:txBody>
      </p:sp>
      <p:sp>
        <p:nvSpPr>
          <p:cNvPr id="33" name="Rectangle 3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5"/>
          <a:stretch>
            <a:fillRect/>
          </a:stretch>
        </p:blipFill>
        <p:spPr>
          <a:xfrm>
            <a:off x="7562088" y="100584"/>
            <a:ext cx="566928" cy="347472"/>
          </a:xfrm>
          <a:prstGeom prst="rect">
            <a:avLst/>
          </a:prstGeom>
        </p:spPr>
      </p:pic>
      <p:pic>
        <p:nvPicPr>
          <p:cNvPr id="35" name="Picture 34" descr="image.png"/>
          <p:cNvPicPr>
            <a:picLocks noChangeAspect="1"/>
          </p:cNvPicPr>
          <p:nvPr/>
        </p:nvPicPr>
        <p:blipFill>
          <a:blip r:embed="rId4"/>
          <a:stretch>
            <a:fillRect/>
          </a:stretch>
        </p:blipFill>
        <p:spPr>
          <a:xfrm>
            <a:off x="8174736" y="100584"/>
            <a:ext cx="658368" cy="347472"/>
          </a:xfrm>
          <a:prstGeom prst="rect">
            <a:avLst/>
          </a:prstGeom>
        </p:spPr>
      </p:pic>
      <p:sp>
        <p:nvSpPr>
          <p:cNvPr id="36" name="Rectangle 3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1E3C"/>
        </a:solidFill>
        <a:effectLst/>
      </p:bgPr>
    </p:bg>
    <p:spTree>
      <p:nvGrpSpPr>
        <p:cNvPr id="1" name=""/>
        <p:cNvGrpSpPr/>
        <p:nvPr/>
      </p:nvGrpSpPr>
      <p:grpSpPr>
        <a:xfrm>
          <a:off x="0" y="0"/>
          <a:ext cx="0" cy="0"/>
          <a:chOff x="0" y="0"/>
          <a:chExt cx="0" cy="0"/>
        </a:xfrm>
      </p:grpSpPr>
      <p:sp>
        <p:nvSpPr>
          <p:cNvPr id="2" name="Shape 0"/>
          <p:cNvSpPr/>
          <p:nvPr/>
        </p:nvSpPr>
        <p:spPr>
          <a:xfrm>
            <a:off x="0" y="0"/>
            <a:ext cx="4206240" cy="5143500"/>
          </a:xfrm>
          <a:prstGeom prst="rect">
            <a:avLst/>
          </a:prstGeom>
          <a:solidFill>
            <a:srgbClr val="83348F">
              <a:alpha val="90000"/>
            </a:srgbClr>
          </a:solidFill>
          <a:ln w="12700">
            <a:solidFill>
              <a:srgbClr val="83348F"/>
            </a:solidFill>
            <a:prstDash val="solid"/>
          </a:ln>
        </p:spPr>
        <p:txBody>
          <a:bodyPr/>
          <a:lstStyle/>
          <a:p>
            <a:endParaRPr lang="en-GB"/>
          </a:p>
        </p:txBody>
      </p:sp>
      <p:pic>
        <p:nvPicPr>
          <p:cNvPr id="3" name="Image 0" descr="/home/claude/nuccol_logo.jpg"/>
          <p:cNvPicPr>
            <a:picLocks noChangeAspect="1"/>
          </p:cNvPicPr>
          <p:nvPr/>
        </p:nvPicPr>
        <p:blipFill>
          <a:blip r:embed="rId3"/>
          <a:stretch>
            <a:fillRect/>
          </a:stretch>
        </p:blipFill>
        <p:spPr>
          <a:xfrm>
            <a:off x="274320" y="228600"/>
            <a:ext cx="1417320" cy="676656"/>
          </a:xfrm>
          <a:prstGeom prst="rect">
            <a:avLst/>
          </a:prstGeom>
        </p:spPr>
      </p:pic>
      <p:sp>
        <p:nvSpPr>
          <p:cNvPr id="4" name="Text 1"/>
          <p:cNvSpPr/>
          <p:nvPr/>
        </p:nvSpPr>
        <p:spPr>
          <a:xfrm>
            <a:off x="274320" y="1143000"/>
            <a:ext cx="3566160" cy="402336"/>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Next Steps</a:t>
            </a:r>
            <a:endParaRPr lang="en-US" sz="2200" dirty="0"/>
          </a:p>
        </p:txBody>
      </p:sp>
      <p:sp>
        <p:nvSpPr>
          <p:cNvPr id="5" name="Shape 2"/>
          <p:cNvSpPr/>
          <p:nvPr/>
        </p:nvSpPr>
        <p:spPr>
          <a:xfrm>
            <a:off x="310896" y="1664208"/>
            <a:ext cx="219456" cy="219456"/>
          </a:xfrm>
          <a:prstGeom prst="ellipse">
            <a:avLst/>
          </a:prstGeom>
          <a:solidFill>
            <a:srgbClr val="FFFFFF">
              <a:alpha val="75000"/>
            </a:srgbClr>
          </a:solidFill>
          <a:ln w="10160">
            <a:solidFill>
              <a:srgbClr val="FFFFFF"/>
            </a:solidFill>
            <a:prstDash val="solid"/>
          </a:ln>
        </p:spPr>
        <p:txBody>
          <a:bodyPr/>
          <a:lstStyle/>
          <a:p>
            <a:endParaRPr lang="en-GB"/>
          </a:p>
        </p:txBody>
      </p:sp>
      <p:sp>
        <p:nvSpPr>
          <p:cNvPr id="6" name="Text 3"/>
          <p:cNvSpPr/>
          <p:nvPr/>
        </p:nvSpPr>
        <p:spPr>
          <a:xfrm>
            <a:off x="310896" y="1664208"/>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7" name="Text 4"/>
          <p:cNvSpPr/>
          <p:nvPr/>
        </p:nvSpPr>
        <p:spPr>
          <a:xfrm>
            <a:off x="603504" y="1645920"/>
            <a:ext cx="3474720" cy="420624"/>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Locate and read the COSHH assessment for every substance you use in your area</a:t>
            </a:r>
            <a:endParaRPr lang="en-US" sz="1100" dirty="0"/>
          </a:p>
        </p:txBody>
      </p:sp>
      <p:sp>
        <p:nvSpPr>
          <p:cNvPr id="8" name="Shape 5"/>
          <p:cNvSpPr/>
          <p:nvPr/>
        </p:nvSpPr>
        <p:spPr>
          <a:xfrm>
            <a:off x="310896" y="2139696"/>
            <a:ext cx="219456" cy="219456"/>
          </a:xfrm>
          <a:prstGeom prst="ellipse">
            <a:avLst/>
          </a:prstGeom>
          <a:solidFill>
            <a:srgbClr val="FFFFFF">
              <a:alpha val="75000"/>
            </a:srgbClr>
          </a:solidFill>
          <a:ln w="10160">
            <a:solidFill>
              <a:srgbClr val="FFFFFF"/>
            </a:solidFill>
            <a:prstDash val="solid"/>
          </a:ln>
        </p:spPr>
        <p:txBody>
          <a:bodyPr/>
          <a:lstStyle/>
          <a:p>
            <a:endParaRPr lang="en-GB"/>
          </a:p>
        </p:txBody>
      </p:sp>
      <p:sp>
        <p:nvSpPr>
          <p:cNvPr id="9" name="Text 6"/>
          <p:cNvSpPr/>
          <p:nvPr/>
        </p:nvSpPr>
        <p:spPr>
          <a:xfrm>
            <a:off x="310896" y="2139696"/>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0" name="Text 7"/>
          <p:cNvSpPr/>
          <p:nvPr/>
        </p:nvSpPr>
        <p:spPr>
          <a:xfrm>
            <a:off x="603504" y="2121408"/>
            <a:ext cx="3474720" cy="420624"/>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Check you know where the Safety Data Sheets are kept at the point of use</a:t>
            </a:r>
            <a:endParaRPr lang="en-US" sz="1100" dirty="0"/>
          </a:p>
        </p:txBody>
      </p:sp>
      <p:sp>
        <p:nvSpPr>
          <p:cNvPr id="11" name="Shape 8"/>
          <p:cNvSpPr/>
          <p:nvPr/>
        </p:nvSpPr>
        <p:spPr>
          <a:xfrm>
            <a:off x="310896" y="2615184"/>
            <a:ext cx="219456" cy="219456"/>
          </a:xfrm>
          <a:prstGeom prst="ellipse">
            <a:avLst/>
          </a:prstGeom>
          <a:solidFill>
            <a:srgbClr val="FFFFFF">
              <a:alpha val="75000"/>
            </a:srgbClr>
          </a:solidFill>
          <a:ln w="10160">
            <a:solidFill>
              <a:srgbClr val="FFFFFF"/>
            </a:solidFill>
            <a:prstDash val="solid"/>
          </a:ln>
        </p:spPr>
        <p:txBody>
          <a:bodyPr/>
          <a:lstStyle/>
          <a:p>
            <a:endParaRPr lang="en-GB"/>
          </a:p>
        </p:txBody>
      </p:sp>
      <p:sp>
        <p:nvSpPr>
          <p:cNvPr id="12" name="Text 9"/>
          <p:cNvSpPr/>
          <p:nvPr/>
        </p:nvSpPr>
        <p:spPr>
          <a:xfrm>
            <a:off x="310896" y="2615184"/>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3" name="Text 10"/>
          <p:cNvSpPr/>
          <p:nvPr/>
        </p:nvSpPr>
        <p:spPr>
          <a:xfrm>
            <a:off x="603504" y="2596896"/>
            <a:ext cx="3474720" cy="420624"/>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Confirm your PPE is the correct specification for the substances you handle</a:t>
            </a:r>
            <a:endParaRPr lang="en-US" sz="1100" dirty="0"/>
          </a:p>
        </p:txBody>
      </p:sp>
      <p:sp>
        <p:nvSpPr>
          <p:cNvPr id="14" name="Shape 11"/>
          <p:cNvSpPr/>
          <p:nvPr/>
        </p:nvSpPr>
        <p:spPr>
          <a:xfrm>
            <a:off x="310896" y="3090672"/>
            <a:ext cx="219456" cy="219456"/>
          </a:xfrm>
          <a:prstGeom prst="ellipse">
            <a:avLst/>
          </a:prstGeom>
          <a:solidFill>
            <a:srgbClr val="FFFFFF">
              <a:alpha val="75000"/>
            </a:srgbClr>
          </a:solidFill>
          <a:ln w="10160">
            <a:solidFill>
              <a:srgbClr val="FFFFFF"/>
            </a:solidFill>
            <a:prstDash val="solid"/>
          </a:ln>
        </p:spPr>
        <p:txBody>
          <a:bodyPr/>
          <a:lstStyle/>
          <a:p>
            <a:endParaRPr lang="en-GB"/>
          </a:p>
        </p:txBody>
      </p:sp>
      <p:sp>
        <p:nvSpPr>
          <p:cNvPr id="15" name="Text 12"/>
          <p:cNvSpPr/>
          <p:nvPr/>
        </p:nvSpPr>
        <p:spPr>
          <a:xfrm>
            <a:off x="310896" y="3090672"/>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6" name="Text 13"/>
          <p:cNvSpPr/>
          <p:nvPr/>
        </p:nvSpPr>
        <p:spPr>
          <a:xfrm>
            <a:off x="603504" y="3072384"/>
            <a:ext cx="3474720" cy="420624"/>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Book your next health surveillance appointment if it is overdue</a:t>
            </a:r>
            <a:endParaRPr lang="en-US" sz="1100" dirty="0"/>
          </a:p>
        </p:txBody>
      </p:sp>
      <p:sp>
        <p:nvSpPr>
          <p:cNvPr id="17" name="Shape 14"/>
          <p:cNvSpPr/>
          <p:nvPr/>
        </p:nvSpPr>
        <p:spPr>
          <a:xfrm>
            <a:off x="310896" y="3566160"/>
            <a:ext cx="219456" cy="219456"/>
          </a:xfrm>
          <a:prstGeom prst="ellipse">
            <a:avLst/>
          </a:prstGeom>
          <a:solidFill>
            <a:srgbClr val="FFFFFF">
              <a:alpha val="75000"/>
            </a:srgbClr>
          </a:solidFill>
          <a:ln w="10160">
            <a:solidFill>
              <a:srgbClr val="FFFFFF"/>
            </a:solidFill>
            <a:prstDash val="solid"/>
          </a:ln>
        </p:spPr>
        <p:txBody>
          <a:bodyPr/>
          <a:lstStyle/>
          <a:p>
            <a:endParaRPr lang="en-GB"/>
          </a:p>
        </p:txBody>
      </p:sp>
      <p:sp>
        <p:nvSpPr>
          <p:cNvPr id="18" name="Text 15"/>
          <p:cNvSpPr/>
          <p:nvPr/>
        </p:nvSpPr>
        <p:spPr>
          <a:xfrm>
            <a:off x="310896" y="3566160"/>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19" name="Text 16"/>
          <p:cNvSpPr/>
          <p:nvPr/>
        </p:nvSpPr>
        <p:spPr>
          <a:xfrm>
            <a:off x="603504" y="3547872"/>
            <a:ext cx="3474720" cy="420624"/>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Report any COSHH concerns or symptoms to your supervisor today</a:t>
            </a:r>
            <a:endParaRPr lang="en-US" sz="1100" dirty="0"/>
          </a:p>
        </p:txBody>
      </p:sp>
      <p:sp>
        <p:nvSpPr>
          <p:cNvPr id="20" name="Text 17"/>
          <p:cNvSpPr/>
          <p:nvPr/>
        </p:nvSpPr>
        <p:spPr>
          <a:xfrm>
            <a:off x="274320" y="4187952"/>
            <a:ext cx="356616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Further Resources</a:t>
            </a:r>
            <a:endParaRPr lang="en-US" sz="1200" dirty="0"/>
          </a:p>
        </p:txBody>
      </p:sp>
      <p:sp>
        <p:nvSpPr>
          <p:cNvPr id="21" name="Text 18"/>
          <p:cNvSpPr/>
          <p:nvPr/>
        </p:nvSpPr>
        <p:spPr>
          <a:xfrm>
            <a:off x="274320" y="4462272"/>
            <a:ext cx="3566160" cy="548640"/>
          </a:xfrm>
          <a:prstGeom prst="rect">
            <a:avLst/>
          </a:prstGeom>
          <a:noFill/>
          <a:ln/>
        </p:spPr>
        <p:txBody>
          <a:bodyPr wrap="square" lIns="0" tIns="0" rIns="0" bIns="0" rtlCol="0" anchor="ctr"/>
          <a:lstStyle/>
          <a:p>
            <a:pPr marL="0" indent="0">
              <a:buNone/>
            </a:pPr>
            <a:r>
              <a:rPr lang="en-US" sz="950" dirty="0">
                <a:solidFill>
                  <a:srgbClr val="BBAACC"/>
                </a:solidFill>
                <a:latin typeface="Arial" pitchFamily="34" charset="0"/>
                <a:ea typeface="Arial" pitchFamily="34" charset="-122"/>
                <a:cs typeface="Arial" pitchFamily="34" charset="-120"/>
              </a:rPr>
              <a:t>COSHH Regulations 2002 (as amended)</a:t>
            </a:r>
            <a:endParaRPr lang="en-US" sz="950" dirty="0"/>
          </a:p>
          <a:p>
            <a:pPr marL="0" indent="0">
              <a:buNone/>
            </a:pPr>
            <a:r>
              <a:rPr lang="en-US" sz="950" dirty="0">
                <a:solidFill>
                  <a:srgbClr val="BBAACC"/>
                </a:solidFill>
                <a:latin typeface="Arial" pitchFamily="34" charset="0"/>
                <a:ea typeface="Arial" pitchFamily="34" charset="-122"/>
                <a:cs typeface="Arial" pitchFamily="34" charset="-120"/>
              </a:rPr>
              <a:t>HSG97 — A Step-by-Step Guide to COSHH Assessment</a:t>
            </a:r>
            <a:endParaRPr lang="en-US" sz="950" dirty="0"/>
          </a:p>
          <a:p>
            <a:pPr marL="0" indent="0">
              <a:buNone/>
            </a:pPr>
            <a:r>
              <a:rPr lang="en-US" sz="950" dirty="0">
                <a:solidFill>
                  <a:srgbClr val="BBAACC"/>
                </a:solidFill>
                <a:latin typeface="Arial" pitchFamily="34" charset="0"/>
                <a:ea typeface="Arial" pitchFamily="34" charset="-122"/>
                <a:cs typeface="Arial" pitchFamily="34" charset="-120"/>
              </a:rPr>
              <a:t>EH40 — Workplace Exposure Limits</a:t>
            </a:r>
            <a:endParaRPr lang="en-US" sz="950" dirty="0"/>
          </a:p>
          <a:p>
            <a:pPr marL="0" indent="0">
              <a:buNone/>
            </a:pPr>
            <a:r>
              <a:rPr lang="en-US" sz="950" dirty="0">
                <a:solidFill>
                  <a:srgbClr val="BBAACC"/>
                </a:solidFill>
                <a:latin typeface="Arial" pitchFamily="34" charset="0"/>
                <a:ea typeface="Arial" pitchFamily="34" charset="-122"/>
                <a:cs typeface="Arial" pitchFamily="34" charset="-120"/>
              </a:rPr>
              <a:t>HSE COSHH Essentials Tool — www.hse.gov.uk/coshh</a:t>
            </a:r>
            <a:endParaRPr lang="en-US" sz="950" dirty="0"/>
          </a:p>
        </p:txBody>
      </p:sp>
      <p:sp>
        <p:nvSpPr>
          <p:cNvPr id="22" name="Text 19"/>
          <p:cNvSpPr/>
          <p:nvPr/>
        </p:nvSpPr>
        <p:spPr>
          <a:xfrm>
            <a:off x="4434840" y="1234440"/>
            <a:ext cx="4480560" cy="59436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23" name="Text 20"/>
          <p:cNvSpPr/>
          <p:nvPr/>
        </p:nvSpPr>
        <p:spPr>
          <a:xfrm>
            <a:off x="4434840" y="1901952"/>
            <a:ext cx="4480560" cy="347472"/>
          </a:xfrm>
          <a:prstGeom prst="rect">
            <a:avLst/>
          </a:prstGeom>
          <a:noFill/>
          <a:ln/>
        </p:spPr>
        <p:txBody>
          <a:bodyPr wrap="square" lIns="0" tIns="0" rIns="0" bIns="0" rtlCol="0" anchor="ctr"/>
          <a:lstStyle/>
          <a:p>
            <a:pPr marL="0" indent="0">
              <a:buNone/>
            </a:pPr>
            <a:r>
              <a:rPr lang="en-US" sz="1800" i="1" dirty="0">
                <a:solidFill>
                  <a:srgbClr val="BBAACC"/>
                </a:solidFill>
                <a:latin typeface="Cambria" pitchFamily="34" charset="0"/>
                <a:ea typeface="Cambria" pitchFamily="34" charset="-122"/>
                <a:cs typeface="Cambria" pitchFamily="34" charset="-120"/>
              </a:rPr>
              <a:t>COSHH Awareness for Employees</a:t>
            </a:r>
            <a:endParaRPr lang="en-US" sz="1800" dirty="0"/>
          </a:p>
        </p:txBody>
      </p:sp>
      <p:sp>
        <p:nvSpPr>
          <p:cNvPr id="24" name="Shape 21"/>
          <p:cNvSpPr/>
          <p:nvPr/>
        </p:nvSpPr>
        <p:spPr>
          <a:xfrm>
            <a:off x="4434840" y="2322576"/>
            <a:ext cx="4389120" cy="0"/>
          </a:xfrm>
          <a:prstGeom prst="line">
            <a:avLst/>
          </a:prstGeom>
          <a:noFill/>
          <a:ln w="15240">
            <a:solidFill>
              <a:srgbClr val="83348F"/>
            </a:solidFill>
            <a:prstDash val="solid"/>
          </a:ln>
        </p:spPr>
        <p:txBody>
          <a:bodyPr/>
          <a:lstStyle/>
          <a:p>
            <a:endParaRPr lang="en-GB"/>
          </a:p>
        </p:txBody>
      </p:sp>
      <p:sp>
        <p:nvSpPr>
          <p:cNvPr id="25" name="Text 22"/>
          <p:cNvSpPr/>
          <p:nvPr/>
        </p:nvSpPr>
        <p:spPr>
          <a:xfrm>
            <a:off x="4434840" y="2450592"/>
            <a:ext cx="4480560" cy="45720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Questions? Speak to your supervisor, QHSE lead,</a:t>
            </a:r>
            <a:endParaRPr lang="en-US" sz="1300" dirty="0"/>
          </a:p>
          <a:p>
            <a:pPr marL="0" indent="0">
              <a:buNone/>
            </a:pPr>
            <a:r>
              <a:rPr lang="en-US" sz="1300" dirty="0">
                <a:solidFill>
                  <a:srgbClr val="FFFFFF"/>
                </a:solidFill>
                <a:latin typeface="Arial" pitchFamily="34" charset="0"/>
                <a:ea typeface="Arial" pitchFamily="34" charset="-122"/>
                <a:cs typeface="Arial" pitchFamily="34" charset="-120"/>
              </a:rPr>
              <a:t>or your NucCol Supply Chain Consultant.</a:t>
            </a:r>
            <a:endParaRPr lang="en-US" sz="1300" dirty="0"/>
          </a:p>
        </p:txBody>
      </p:sp>
      <p:sp>
        <p:nvSpPr>
          <p:cNvPr id="26" name="Text 23"/>
          <p:cNvSpPr/>
          <p:nvPr/>
        </p:nvSpPr>
        <p:spPr>
          <a:xfrm>
            <a:off x="4434840" y="3063240"/>
            <a:ext cx="4480560" cy="685800"/>
          </a:xfrm>
          <a:prstGeom prst="rect">
            <a:avLst/>
          </a:prstGeom>
          <a:noFill/>
          <a:ln/>
        </p:spPr>
        <p:txBody>
          <a:bodyPr wrap="square" lIns="0" tIns="0" rIns="0" bIns="0" rtlCol="0" anchor="ctr"/>
          <a:lstStyle/>
          <a:p>
            <a:pPr marL="0" indent="0">
              <a:buNone/>
            </a:pPr>
            <a:r>
              <a:rPr lang="en-US" sz="1300" dirty="0">
                <a:solidFill>
                  <a:srgbClr val="BBAACC"/>
                </a:solidFill>
                <a:latin typeface="Arial" pitchFamily="34" charset="0"/>
                <a:ea typeface="Arial" pitchFamily="34" charset="-122"/>
                <a:cs typeface="Arial" pitchFamily="34" charset="-120"/>
              </a:rPr>
              <a:t>Nuclear Collaboration Ltd</a:t>
            </a:r>
            <a:endParaRPr lang="en-US" sz="1300" dirty="0"/>
          </a:p>
          <a:p>
            <a:pPr marL="0" indent="0">
              <a:buNone/>
            </a:pPr>
            <a:r>
              <a:rPr lang="en-US" sz="1300" dirty="0">
                <a:solidFill>
                  <a:srgbClr val="BBAACC"/>
                </a:solidFill>
                <a:latin typeface="Arial" pitchFamily="34" charset="0"/>
                <a:ea typeface="Arial" pitchFamily="34" charset="-122"/>
                <a:cs typeface="Arial" pitchFamily="34" charset="-120"/>
              </a:rPr>
              <a:t>www.nuccol.co.uk</a:t>
            </a:r>
            <a:endParaRPr lang="en-US" sz="1300" dirty="0"/>
          </a:p>
          <a:p>
            <a:pPr marL="0" indent="0">
              <a:buNone/>
            </a:pPr>
            <a:r>
              <a:rPr lang="en-US" sz="1300" dirty="0">
                <a:solidFill>
                  <a:srgbClr val="BBAACC"/>
                </a:solidFill>
                <a:latin typeface="Arial" pitchFamily="34" charset="0"/>
                <a:ea typeface="Arial" pitchFamily="34" charset="-122"/>
                <a:cs typeface="Arial" pitchFamily="34" charset="-120"/>
              </a:rPr>
              <a:t>enquiries@nuccol.co.uk</a:t>
            </a:r>
            <a:endParaRPr lang="en-US" sz="1300" dirty="0"/>
          </a:p>
        </p:txBody>
      </p:sp>
      <p:sp>
        <p:nvSpPr>
          <p:cNvPr id="27" name="Rectangle 2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5"/>
          <a:stretch>
            <a:fillRect/>
          </a:stretch>
        </p:blipFill>
        <p:spPr>
          <a:xfrm>
            <a:off x="7562088" y="100584"/>
            <a:ext cx="566928" cy="347472"/>
          </a:xfrm>
          <a:prstGeom prst="rect">
            <a:avLst/>
          </a:prstGeom>
        </p:spPr>
      </p:pic>
      <p:pic>
        <p:nvPicPr>
          <p:cNvPr id="29" name="Picture 28" descr="image.png"/>
          <p:cNvPicPr>
            <a:picLocks noChangeAspect="1"/>
          </p:cNvPicPr>
          <p:nvPr/>
        </p:nvPicPr>
        <p:blipFill>
          <a:blip r:embed="rId4"/>
          <a:stretch>
            <a:fillRect/>
          </a:stretch>
        </p:blipFill>
        <p:spPr>
          <a:xfrm>
            <a:off x="8174736" y="100584"/>
            <a:ext cx="658368" cy="347472"/>
          </a:xfrm>
          <a:prstGeom prst="rect">
            <a:avLst/>
          </a:prstGeom>
        </p:spPr>
      </p:pic>
      <p:sp>
        <p:nvSpPr>
          <p:cNvPr id="30" name="Rectangle 2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5AADB7A-A859-429E-A76F-5F8196EE3FD5}"/>
</file>

<file path=customXml/itemProps2.xml><?xml version="1.0" encoding="utf-8"?>
<ds:datastoreItem xmlns:ds="http://schemas.openxmlformats.org/officeDocument/2006/customXml" ds:itemID="{A39F4336-27F0-4ED8-A0B4-796778A647EF}"/>
</file>

<file path=customXml/itemProps3.xml><?xml version="1.0" encoding="utf-8"?>
<ds:datastoreItem xmlns:ds="http://schemas.openxmlformats.org/officeDocument/2006/customXml" ds:itemID="{B7BF8F17-1E7A-47F5-9906-D5D82AC86B63}"/>
</file>

<file path=docProps/app.xml><?xml version="1.0" encoding="utf-8"?>
<Properties xmlns="http://schemas.openxmlformats.org/officeDocument/2006/extended-properties" xmlns:vt="http://schemas.openxmlformats.org/officeDocument/2006/docPropsVTypes">
  <TotalTime>0</TotalTime>
  <Words>5383</Words>
  <Application>Microsoft Office PowerPoint</Application>
  <PresentationFormat>On-screen Show (16:9)</PresentationFormat>
  <Paragraphs>426</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QHSE-TG02 COSHH Awareness Training Guide</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