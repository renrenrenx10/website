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media/image-1-1.jpg" ContentType="image/jpg"/>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media/image-2-1.jpg" ContentType="image/jpg"/>
  <Override PartName="/ppt/notesSlides/notesSlide2.xml" ContentType="application/vnd.openxmlformats-officedocument.presentationml.notesSlide+xml"/>
  <Override PartName="/ppt/slides/slide3.xml" ContentType="application/vnd.openxmlformats-officedocument.presentationml.slide+xml"/>
  <Override PartName="/ppt/media/image-3-1.jpg" ContentType="image/jpg"/>
  <Override PartName="/ppt/notesSlides/notesSlide3.xml" ContentType="application/vnd.openxmlformats-officedocument.presentationml.notesSlide+xml"/>
  <Override PartName="/ppt/slides/slide4.xml" ContentType="application/vnd.openxmlformats-officedocument.presentationml.slide+xml"/>
  <Override PartName="/ppt/media/image-4-1.jpg" ContentType="image/jpg"/>
  <Override PartName="/ppt/notesSlides/notesSlide4.xml" ContentType="application/vnd.openxmlformats-officedocument.presentationml.notesSlide+xml"/>
  <Override PartName="/ppt/slides/slide5.xml" ContentType="application/vnd.openxmlformats-officedocument.presentationml.slide+xml"/>
  <Override PartName="/ppt/media/image-5-1.jpg" ContentType="image/jpg"/>
  <Override PartName="/ppt/notesSlides/notesSlide5.xml" ContentType="application/vnd.openxmlformats-officedocument.presentationml.notesSlide+xml"/>
  <Override PartName="/ppt/slides/slide6.xml" ContentType="application/vnd.openxmlformats-officedocument.presentationml.slide+xml"/>
  <Override PartName="/ppt/media/image-6-1.jpg" ContentType="image/jpg"/>
  <Override PartName="/ppt/notesSlides/notesSlide6.xml" ContentType="application/vnd.openxmlformats-officedocument.presentationml.notesSlide+xml"/>
  <Override PartName="/ppt/slides/slide7.xml" ContentType="application/vnd.openxmlformats-officedocument.presentationml.slide+xml"/>
  <Override PartName="/ppt/media/image-7-1.jpg" ContentType="image/jpg"/>
  <Override PartName="/ppt/notesSlides/notesSlide7.xml" ContentType="application/vnd.openxmlformats-officedocument.presentationml.notesSlide+xml"/>
  <Override PartName="/ppt/slides/slide8.xml" ContentType="application/vnd.openxmlformats-officedocument.presentationml.slide+xml"/>
  <Override PartName="/ppt/media/image-8-1.jpg" ContentType="image/jpg"/>
  <Override PartName="/ppt/notesSlides/notesSlide8.xml" ContentType="application/vnd.openxmlformats-officedocument.presentationml.notesSlide+xml"/>
  <Override PartName="/ppt/slides/slide9.xml" ContentType="application/vnd.openxmlformats-officedocument.presentationml.slide+xml"/>
  <Override PartName="/ppt/media/image-9-1.jpg" ContentType="image/jpg"/>
  <Override PartName="/ppt/notesSlides/notesSlide9.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 Id="rId9" Type="http://schemas.openxmlformats.org/officeDocument/2006/relationships/image" Target="../media/image1.png"/><Relationship Id="rId10"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 Id="rId10" Type="http://schemas.openxmlformats.org/officeDocument/2006/relationships/image" Target="../media/image1.png"/><Relationship Id="rId1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1.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1.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image" Target="../media/image1.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D4550A">
              <a:alpha val="90000"/>
            </a:srgbClr>
          </a:solidFill>
          <a:ln w="12700">
            <a:solidFill>
              <a:srgbClr val="D4550A"/>
            </a:solidFill>
            <a:prstDash val="solid"/>
          </a:ln>
        </p:spPr>
      </p:sp>
      <p:pic>
        <p:nvPicPr>
          <p:cNvPr id="3" name="Image 0" descr="/home/claude/nuccol_logo.jpg">    </p:cNvPr>
          <p:cNvPicPr>
            <a:picLocks noChangeAspect="1"/>
          </p:cNvPicPr>
          <p:nvPr/>
        </p:nvPicPr>
        <p:blipFill>
          <a:blip r:embed="rId1"/>
          <a:stretch>
            <a:fillRect/>
          </a:stretch>
        </p:blipFill>
        <p:spPr>
          <a:xfrm>
            <a:off x="274320" y="228600"/>
            <a:ext cx="1417320" cy="676656"/>
          </a:xfrm>
          <a:prstGeom prst="rect">
            <a:avLst/>
          </a:prstGeom>
        </p:spPr>
      </p:pic>
      <p:sp>
        <p:nvSpPr>
          <p:cNvPr id="4" name="Text 1"/>
          <p:cNvSpPr/>
          <p:nvPr/>
        </p:nvSpPr>
        <p:spPr>
          <a:xfrm>
            <a:off x="274320" y="1115568"/>
            <a:ext cx="3474720" cy="292608"/>
          </a:xfrm>
          <a:prstGeom prst="rect">
            <a:avLst/>
          </a:prstGeom>
          <a:noFill/>
          <a:ln/>
        </p:spPr>
        <p:txBody>
          <a:bodyPr wrap="square" lIns="0" tIns="0" rIns="0" bIns="0" rtlCol="0" anchor="ctr"/>
          <a:lstStyle/>
          <a:p>
            <a:pPr indent="0" marL="0">
              <a:buNone/>
            </a:pPr>
            <a:r>
              <a:rPr lang="en-US" sz="1300" i="1" spc="200" kern="0" dirty="0">
                <a:solidFill>
                  <a:srgbClr val="FFFFFF"/>
                </a:solidFill>
                <a:latin typeface="Arial" pitchFamily="34" charset="0"/>
                <a:ea typeface="Arial" pitchFamily="34" charset="-122"/>
                <a:cs typeface="Arial" pitchFamily="34" charset="-120"/>
              </a:rPr>
              <a:t>QHSE Training Guide</a:t>
            </a:r>
            <a:endParaRPr lang="en-US" sz="1300" dirty="0"/>
          </a:p>
        </p:txBody>
      </p:sp>
      <p:sp>
        <p:nvSpPr>
          <p:cNvPr id="5" name="Text 2"/>
          <p:cNvSpPr/>
          <p:nvPr/>
        </p:nvSpPr>
        <p:spPr>
          <a:xfrm>
            <a:off x="274320" y="1463040"/>
            <a:ext cx="3474720" cy="14173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Fire Safety and</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Emergency</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Procedures</a:t>
            </a:r>
            <a:endParaRPr lang="en-US" sz="3200" dirty="0"/>
          </a:p>
        </p:txBody>
      </p:sp>
      <p:sp>
        <p:nvSpPr>
          <p:cNvPr id="6" name="Shape 3"/>
          <p:cNvSpPr/>
          <p:nvPr/>
        </p:nvSpPr>
        <p:spPr>
          <a:xfrm>
            <a:off x="274320" y="2926080"/>
            <a:ext cx="3383280" cy="0"/>
          </a:xfrm>
          <a:prstGeom prst="line">
            <a:avLst/>
          </a:prstGeom>
          <a:noFill/>
          <a:ln w="12700">
            <a:solidFill>
              <a:srgbClr val="FFFFFF"/>
            </a:solidFill>
            <a:prstDash val="solid"/>
          </a:ln>
        </p:spPr>
      </p:sp>
      <p:sp>
        <p:nvSpPr>
          <p:cNvPr id="7" name="Text 4"/>
          <p:cNvSpPr/>
          <p:nvPr/>
        </p:nvSpPr>
        <p:spPr>
          <a:xfrm>
            <a:off x="274320" y="3017520"/>
            <a:ext cx="3474720" cy="77724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Understanding fire prevention, evacuation, extinguishers, and your responsibilities.</a:t>
            </a:r>
            <a:endParaRPr lang="en-US" sz="1150" dirty="0"/>
          </a:p>
        </p:txBody>
      </p:sp>
      <p:sp>
        <p:nvSpPr>
          <p:cNvPr id="8" name="Text 5"/>
          <p:cNvSpPr/>
          <p:nvPr/>
        </p:nvSpPr>
        <p:spPr>
          <a:xfrm>
            <a:off x="274320" y="4224528"/>
            <a:ext cx="3474720" cy="457200"/>
          </a:xfrm>
          <a:prstGeom prst="rect">
            <a:avLst/>
          </a:prstGeom>
          <a:noFill/>
          <a:ln/>
        </p:spPr>
        <p:txBody>
          <a:bodyPr wrap="square" lIns="0" tIns="0" rIns="0" bIns="0" rtlCol="0" anchor="t"/>
          <a:lstStyle/>
          <a:p>
            <a:pPr indent="0" marL="0">
              <a:buNone/>
            </a:pPr>
            <a:r>
              <a:rPr lang="en-US" sz="850" dirty="0">
                <a:solidFill>
                  <a:srgbClr val="BBAACC"/>
                </a:solidFill>
                <a:latin typeface="Arial" pitchFamily="34" charset="0"/>
                <a:ea typeface="Arial" pitchFamily="34" charset="-122"/>
                <a:cs typeface="Arial" pitchFamily="34" charset="-120"/>
              </a:rPr>
              <a:t>Aligned to: Regulatory Reform (Fire Safety) Order 2005  |  ISO 45001  |  BS 9999</a:t>
            </a:r>
            <a:endParaRPr lang="en-US" sz="850" dirty="0"/>
          </a:p>
        </p:txBody>
      </p:sp>
      <p:sp>
        <p:nvSpPr>
          <p:cNvPr id="9" name="Shape 6"/>
          <p:cNvSpPr/>
          <p:nvPr/>
        </p:nvSpPr>
        <p:spPr>
          <a:xfrm>
            <a:off x="6080760" y="411480"/>
            <a:ext cx="822960" cy="822960"/>
          </a:xfrm>
          <a:prstGeom prst="ellipse">
            <a:avLst/>
          </a:prstGeom>
          <a:solidFill>
            <a:srgbClr val="C0392B">
              <a:alpha val="82000"/>
            </a:srgbClr>
          </a:solidFill>
          <a:ln w="1016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6217920" y="548640"/>
            <a:ext cx="548640" cy="548640"/>
          </a:xfrm>
          <a:prstGeom prst="rect">
            <a:avLst/>
          </a:prstGeom>
        </p:spPr>
      </p:pic>
      <p:sp>
        <p:nvSpPr>
          <p:cNvPr id="11" name="Shape 7"/>
          <p:cNvSpPr/>
          <p:nvPr/>
        </p:nvSpPr>
        <p:spPr>
          <a:xfrm>
            <a:off x="7086600" y="1234440"/>
            <a:ext cx="822960" cy="822960"/>
          </a:xfrm>
          <a:prstGeom prst="ellipse">
            <a:avLst/>
          </a:prstGeom>
          <a:solidFill>
            <a:srgbClr val="D4550A">
              <a:alpha val="82000"/>
            </a:srgbClr>
          </a:solidFill>
          <a:ln w="1016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7223760" y="1371600"/>
            <a:ext cx="548640" cy="548640"/>
          </a:xfrm>
          <a:prstGeom prst="rect">
            <a:avLst/>
          </a:prstGeom>
        </p:spPr>
      </p:pic>
      <p:sp>
        <p:nvSpPr>
          <p:cNvPr id="13" name="Shape 8"/>
          <p:cNvSpPr/>
          <p:nvPr/>
        </p:nvSpPr>
        <p:spPr>
          <a:xfrm>
            <a:off x="6446520" y="2057400"/>
            <a:ext cx="822960" cy="822960"/>
          </a:xfrm>
          <a:prstGeom prst="ellipse">
            <a:avLst/>
          </a:prstGeom>
          <a:solidFill>
            <a:srgbClr val="E08A00">
              <a:alpha val="82000"/>
            </a:srgbClr>
          </a:solidFill>
          <a:ln w="10160">
            <a:solidFill>
              <a:srgbClr val="FFFFFF"/>
            </a:solidFill>
            <a:prstDash val="solid"/>
          </a:ln>
        </p:spPr>
      </p:sp>
      <p:pic>
        <p:nvPicPr>
          <p:cNvPr id="14" name="Image 3" descr="preencoded.png">    </p:cNvPr>
          <p:cNvPicPr>
            <a:picLocks noChangeAspect="1"/>
          </p:cNvPicPr>
          <p:nvPr/>
        </p:nvPicPr>
        <p:blipFill>
          <a:blip r:embed="rId4"/>
          <a:stretch>
            <a:fillRect/>
          </a:stretch>
        </p:blipFill>
        <p:spPr>
          <a:xfrm>
            <a:off x="6583680" y="2194560"/>
            <a:ext cx="548640" cy="548640"/>
          </a:xfrm>
          <a:prstGeom prst="rect">
            <a:avLst/>
          </a:prstGeom>
        </p:spPr>
      </p:pic>
      <p:sp>
        <p:nvSpPr>
          <p:cNvPr id="15" name="Shape 9"/>
          <p:cNvSpPr/>
          <p:nvPr/>
        </p:nvSpPr>
        <p:spPr>
          <a:xfrm>
            <a:off x="6903720" y="2880360"/>
            <a:ext cx="822960" cy="822960"/>
          </a:xfrm>
          <a:prstGeom prst="ellipse">
            <a:avLst/>
          </a:prstGeom>
          <a:solidFill>
            <a:srgbClr val="2E8B57">
              <a:alpha val="82000"/>
            </a:srgbClr>
          </a:solidFill>
          <a:ln w="10160">
            <a:solidFill>
              <a:srgbClr val="FFFFFF"/>
            </a:solidFill>
            <a:prstDash val="solid"/>
          </a:ln>
        </p:spPr>
      </p:sp>
      <p:pic>
        <p:nvPicPr>
          <p:cNvPr id="16" name="Image 4" descr="preencoded.png">    </p:cNvPr>
          <p:cNvPicPr>
            <a:picLocks noChangeAspect="1"/>
          </p:cNvPicPr>
          <p:nvPr/>
        </p:nvPicPr>
        <p:blipFill>
          <a:blip r:embed="rId5"/>
          <a:stretch>
            <a:fillRect/>
          </a:stretch>
        </p:blipFill>
        <p:spPr>
          <a:xfrm>
            <a:off x="7040880" y="3017520"/>
            <a:ext cx="548640" cy="548640"/>
          </a:xfrm>
          <a:prstGeom prst="rect">
            <a:avLst/>
          </a:prstGeom>
        </p:spPr>
      </p:pic>
      <p:sp>
        <p:nvSpPr>
          <p:cNvPr id="17" name="Shape 10"/>
          <p:cNvSpPr/>
          <p:nvPr/>
        </p:nvSpPr>
        <p:spPr>
          <a:xfrm>
            <a:off x="6172200" y="3520440"/>
            <a:ext cx="822960" cy="822960"/>
          </a:xfrm>
          <a:prstGeom prst="ellipse">
            <a:avLst/>
          </a:prstGeom>
          <a:solidFill>
            <a:srgbClr val="009FE3">
              <a:alpha val="82000"/>
            </a:srgbClr>
          </a:solidFill>
          <a:ln w="10160">
            <a:solidFill>
              <a:srgbClr val="FFFFFF"/>
            </a:solidFill>
            <a:prstDash val="solid"/>
          </a:ln>
        </p:spPr>
      </p:sp>
      <p:pic>
        <p:nvPicPr>
          <p:cNvPr id="18" name="Image 5" descr="preencoded.png">    </p:cNvPr>
          <p:cNvPicPr>
            <a:picLocks noChangeAspect="1"/>
          </p:cNvPicPr>
          <p:nvPr/>
        </p:nvPicPr>
        <p:blipFill>
          <a:blip r:embed="rId6"/>
          <a:stretch>
            <a:fillRect/>
          </a:stretch>
        </p:blipFill>
        <p:spPr>
          <a:xfrm>
            <a:off x="6309360" y="3657600"/>
            <a:ext cx="548640" cy="548640"/>
          </a:xfrm>
          <a:prstGeom prst="rect">
            <a:avLst/>
          </a:prstGeom>
        </p:spPr>
      </p:pic>
      <p:sp>
        <p:nvSpPr>
          <p:cNvPr id="19" name="Rectangle 18"/>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10"/>
          <a:stretch>
            <a:fillRect/>
          </a:stretch>
        </p:blipFill>
        <p:spPr>
          <a:xfrm>
            <a:off x="7562088" y="100584"/>
            <a:ext cx="566928" cy="347472"/>
          </a:xfrm>
          <a:prstGeom prst="rect">
            <a:avLst/>
          </a:prstGeom>
        </p:spPr>
      </p:pic>
      <p:pic>
        <p:nvPicPr>
          <p:cNvPr id="21" name="Picture 20" descr="image.png"/>
          <p:cNvPicPr>
            <a:picLocks noChangeAspect="1"/>
          </p:cNvPicPr>
          <p:nvPr/>
        </p:nvPicPr>
        <p:blipFill>
          <a:blip r:embed="rId9"/>
          <a:stretch>
            <a:fillRect/>
          </a:stretch>
        </p:blipFill>
        <p:spPr>
          <a:xfrm>
            <a:off x="8174736" y="100584"/>
            <a:ext cx="658368" cy="347472"/>
          </a:xfrm>
          <a:prstGeom prst="rect">
            <a:avLst/>
          </a:prstGeom>
        </p:spPr>
      </p:pic>
      <p:sp>
        <p:nvSpPr>
          <p:cNvPr id="22" name="Rectangle 21"/>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D4550A"/>
          </a:solidFill>
          <a:ln w="12700">
            <a:solidFill>
              <a:srgbClr val="D4550A"/>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The Law</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Fire Safety Law: What It Requires</a:t>
            </a:r>
            <a:endParaRPr lang="en-US" sz="2600" dirty="0"/>
          </a:p>
        </p:txBody>
      </p:sp>
      <p:sp>
        <p:nvSpPr>
          <p:cNvPr id="9" name="Shape 6"/>
          <p:cNvSpPr/>
          <p:nvPr/>
        </p:nvSpPr>
        <p:spPr>
          <a:xfrm>
            <a:off x="347472" y="1261872"/>
            <a:ext cx="8449056" cy="0"/>
          </a:xfrm>
          <a:prstGeom prst="line">
            <a:avLst/>
          </a:prstGeom>
          <a:noFill/>
          <a:ln w="19050">
            <a:solidFill>
              <a:srgbClr val="D4550A"/>
            </a:solidFill>
            <a:prstDash val="solid"/>
          </a:ln>
        </p:spPr>
      </p:sp>
      <p:sp>
        <p:nvSpPr>
          <p:cNvPr id="10" name="Text 7"/>
          <p:cNvSpPr/>
          <p:nvPr/>
        </p:nvSpPr>
        <p:spPr>
          <a:xfrm>
            <a:off x="347472" y="1353312"/>
            <a:ext cx="8449056" cy="502920"/>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The Regulatory Reform (Fire Safety) Order 2005 (RRO) is the primary legislation governing fire safety in UK workplaces. It places duties on the 'Responsible Person' — typically the employer or building owner — and on all employees. Fire safety is everyone's responsibility.</a:t>
            </a:r>
            <a:endParaRPr lang="en-US" sz="1250" dirty="0"/>
          </a:p>
        </p:txBody>
      </p:sp>
      <p:sp>
        <p:nvSpPr>
          <p:cNvPr id="11" name="Shape 8"/>
          <p:cNvSpPr/>
          <p:nvPr/>
        </p:nvSpPr>
        <p:spPr>
          <a:xfrm>
            <a:off x="347472" y="1938528"/>
            <a:ext cx="8449056" cy="329184"/>
          </a:xfrm>
          <a:prstGeom prst="rect">
            <a:avLst/>
          </a:prstGeom>
          <a:solidFill>
            <a:srgbClr val="D4550A"/>
          </a:solidFill>
          <a:ln w="12700">
            <a:solidFill>
              <a:srgbClr val="D4550A"/>
            </a:solidFill>
            <a:prstDash val="solid"/>
          </a:ln>
        </p:spPr>
      </p:sp>
      <p:sp>
        <p:nvSpPr>
          <p:cNvPr id="12" name="Text 9"/>
          <p:cNvSpPr/>
          <p:nvPr/>
        </p:nvSpPr>
        <p:spPr>
          <a:xfrm>
            <a:off x="457200" y="1975104"/>
            <a:ext cx="8229600"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Employer / Responsible Person</a:t>
            </a:r>
            <a:endParaRPr lang="en-US" sz="1150" dirty="0"/>
          </a:p>
        </p:txBody>
      </p:sp>
      <p:sp>
        <p:nvSpPr>
          <p:cNvPr id="13" name="Shape 10"/>
          <p:cNvSpPr/>
          <p:nvPr/>
        </p:nvSpPr>
        <p:spPr>
          <a:xfrm>
            <a:off x="347472" y="2267712"/>
            <a:ext cx="8449056" cy="1042416"/>
          </a:xfrm>
          <a:prstGeom prst="rect">
            <a:avLst/>
          </a:prstGeom>
          <a:solidFill>
            <a:srgbClr val="FFF3E8"/>
          </a:solidFill>
          <a:ln w="8890">
            <a:solidFill>
              <a:srgbClr val="CCCCCC"/>
            </a:solidFill>
            <a:prstDash val="solid"/>
          </a:ln>
        </p:spPr>
      </p:sp>
      <p:sp>
        <p:nvSpPr>
          <p:cNvPr id="14" name="Shape 11"/>
          <p:cNvSpPr/>
          <p:nvPr/>
        </p:nvSpPr>
        <p:spPr>
          <a:xfrm>
            <a:off x="457200" y="2395728"/>
            <a:ext cx="109728" cy="109728"/>
          </a:xfrm>
          <a:prstGeom prst="ellipse">
            <a:avLst/>
          </a:prstGeom>
          <a:solidFill>
            <a:srgbClr val="D4550A"/>
          </a:solidFill>
          <a:ln w="12700">
            <a:solidFill>
              <a:srgbClr val="D4550A"/>
            </a:solidFill>
            <a:prstDash val="solid"/>
          </a:ln>
        </p:spPr>
      </p:sp>
      <p:sp>
        <p:nvSpPr>
          <p:cNvPr id="15" name="Text 12"/>
          <p:cNvSpPr/>
          <p:nvPr/>
        </p:nvSpPr>
        <p:spPr>
          <a:xfrm>
            <a:off x="640080" y="2368296"/>
            <a:ext cx="8092440" cy="18288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Carry out a fire risk assessment and keep it under review</a:t>
            </a:r>
            <a:endParaRPr lang="en-US" sz="1100" dirty="0"/>
          </a:p>
        </p:txBody>
      </p:sp>
      <p:sp>
        <p:nvSpPr>
          <p:cNvPr id="16" name="Shape 13"/>
          <p:cNvSpPr/>
          <p:nvPr/>
        </p:nvSpPr>
        <p:spPr>
          <a:xfrm>
            <a:off x="457200" y="2596896"/>
            <a:ext cx="109728" cy="109728"/>
          </a:xfrm>
          <a:prstGeom prst="ellipse">
            <a:avLst/>
          </a:prstGeom>
          <a:solidFill>
            <a:srgbClr val="D4550A"/>
          </a:solidFill>
          <a:ln w="12700">
            <a:solidFill>
              <a:srgbClr val="D4550A"/>
            </a:solidFill>
            <a:prstDash val="solid"/>
          </a:ln>
        </p:spPr>
      </p:sp>
      <p:sp>
        <p:nvSpPr>
          <p:cNvPr id="17" name="Text 14"/>
          <p:cNvSpPr/>
          <p:nvPr/>
        </p:nvSpPr>
        <p:spPr>
          <a:xfrm>
            <a:off x="640080" y="2569464"/>
            <a:ext cx="8092440" cy="18288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Implement and maintain appropriate fire precautions</a:t>
            </a:r>
            <a:endParaRPr lang="en-US" sz="1100" dirty="0"/>
          </a:p>
        </p:txBody>
      </p:sp>
      <p:sp>
        <p:nvSpPr>
          <p:cNvPr id="18" name="Shape 15"/>
          <p:cNvSpPr/>
          <p:nvPr/>
        </p:nvSpPr>
        <p:spPr>
          <a:xfrm>
            <a:off x="457200" y="2798064"/>
            <a:ext cx="109728" cy="109728"/>
          </a:xfrm>
          <a:prstGeom prst="ellipse">
            <a:avLst/>
          </a:prstGeom>
          <a:solidFill>
            <a:srgbClr val="D4550A"/>
          </a:solidFill>
          <a:ln w="12700">
            <a:solidFill>
              <a:srgbClr val="D4550A"/>
            </a:solidFill>
            <a:prstDash val="solid"/>
          </a:ln>
        </p:spPr>
      </p:sp>
      <p:sp>
        <p:nvSpPr>
          <p:cNvPr id="19" name="Text 16"/>
          <p:cNvSpPr/>
          <p:nvPr/>
        </p:nvSpPr>
        <p:spPr>
          <a:xfrm>
            <a:off x="640080" y="2770632"/>
            <a:ext cx="8092440" cy="18288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Provide fire safety information and training to all employees</a:t>
            </a:r>
            <a:endParaRPr lang="en-US" sz="1100" dirty="0"/>
          </a:p>
        </p:txBody>
      </p:sp>
      <p:sp>
        <p:nvSpPr>
          <p:cNvPr id="20" name="Shape 17"/>
          <p:cNvSpPr/>
          <p:nvPr/>
        </p:nvSpPr>
        <p:spPr>
          <a:xfrm>
            <a:off x="457200" y="2999232"/>
            <a:ext cx="109728" cy="109728"/>
          </a:xfrm>
          <a:prstGeom prst="ellipse">
            <a:avLst/>
          </a:prstGeom>
          <a:solidFill>
            <a:srgbClr val="D4550A"/>
          </a:solidFill>
          <a:ln w="12700">
            <a:solidFill>
              <a:srgbClr val="D4550A"/>
            </a:solidFill>
            <a:prstDash val="solid"/>
          </a:ln>
        </p:spPr>
      </p:sp>
      <p:sp>
        <p:nvSpPr>
          <p:cNvPr id="21" name="Text 18"/>
          <p:cNvSpPr/>
          <p:nvPr/>
        </p:nvSpPr>
        <p:spPr>
          <a:xfrm>
            <a:off x="640080" y="2971800"/>
            <a:ext cx="8092440" cy="18288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Ensure fire detection, warning, and suppression systems are maintained</a:t>
            </a:r>
            <a:endParaRPr lang="en-US" sz="1100" dirty="0"/>
          </a:p>
        </p:txBody>
      </p:sp>
      <p:sp>
        <p:nvSpPr>
          <p:cNvPr id="22" name="Shape 19"/>
          <p:cNvSpPr/>
          <p:nvPr/>
        </p:nvSpPr>
        <p:spPr>
          <a:xfrm>
            <a:off x="457200" y="3200400"/>
            <a:ext cx="109728" cy="109728"/>
          </a:xfrm>
          <a:prstGeom prst="ellipse">
            <a:avLst/>
          </a:prstGeom>
          <a:solidFill>
            <a:srgbClr val="D4550A"/>
          </a:solidFill>
          <a:ln w="12700">
            <a:solidFill>
              <a:srgbClr val="D4550A"/>
            </a:solidFill>
            <a:prstDash val="solid"/>
          </a:ln>
        </p:spPr>
      </p:sp>
      <p:sp>
        <p:nvSpPr>
          <p:cNvPr id="23" name="Text 20"/>
          <p:cNvSpPr/>
          <p:nvPr/>
        </p:nvSpPr>
        <p:spPr>
          <a:xfrm>
            <a:off x="640080" y="3172968"/>
            <a:ext cx="8092440" cy="18288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Establish and rehearse emergency evacuation procedures</a:t>
            </a:r>
            <a:endParaRPr lang="en-US" sz="1100" dirty="0"/>
          </a:p>
        </p:txBody>
      </p:sp>
      <p:sp>
        <p:nvSpPr>
          <p:cNvPr id="24" name="Shape 21"/>
          <p:cNvSpPr/>
          <p:nvPr/>
        </p:nvSpPr>
        <p:spPr>
          <a:xfrm>
            <a:off x="347472" y="3383280"/>
            <a:ext cx="8449056" cy="329184"/>
          </a:xfrm>
          <a:prstGeom prst="rect">
            <a:avLst/>
          </a:prstGeom>
          <a:solidFill>
            <a:srgbClr val="001E3C"/>
          </a:solidFill>
          <a:ln w="12700">
            <a:solidFill>
              <a:srgbClr val="001E3C"/>
            </a:solidFill>
            <a:prstDash val="solid"/>
          </a:ln>
        </p:spPr>
      </p:sp>
      <p:sp>
        <p:nvSpPr>
          <p:cNvPr id="25" name="Text 22"/>
          <p:cNvSpPr/>
          <p:nvPr/>
        </p:nvSpPr>
        <p:spPr>
          <a:xfrm>
            <a:off x="457200" y="3419856"/>
            <a:ext cx="8229600"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Every Employee</a:t>
            </a:r>
            <a:endParaRPr lang="en-US" sz="1150" dirty="0"/>
          </a:p>
        </p:txBody>
      </p:sp>
      <p:sp>
        <p:nvSpPr>
          <p:cNvPr id="26" name="Shape 23"/>
          <p:cNvSpPr/>
          <p:nvPr/>
        </p:nvSpPr>
        <p:spPr>
          <a:xfrm>
            <a:off x="347472" y="3712464"/>
            <a:ext cx="8449056" cy="1042416"/>
          </a:xfrm>
          <a:prstGeom prst="rect">
            <a:avLst/>
          </a:prstGeom>
          <a:solidFill>
            <a:srgbClr val="EEF2F8"/>
          </a:solidFill>
          <a:ln w="8890">
            <a:solidFill>
              <a:srgbClr val="CCCCCC"/>
            </a:solidFill>
            <a:prstDash val="solid"/>
          </a:ln>
        </p:spPr>
      </p:sp>
      <p:sp>
        <p:nvSpPr>
          <p:cNvPr id="27" name="Shape 24"/>
          <p:cNvSpPr/>
          <p:nvPr/>
        </p:nvSpPr>
        <p:spPr>
          <a:xfrm>
            <a:off x="457200" y="3840480"/>
            <a:ext cx="109728" cy="109728"/>
          </a:xfrm>
          <a:prstGeom prst="ellipse">
            <a:avLst/>
          </a:prstGeom>
          <a:solidFill>
            <a:srgbClr val="001E3C"/>
          </a:solidFill>
          <a:ln w="12700">
            <a:solidFill>
              <a:srgbClr val="001E3C"/>
            </a:solidFill>
            <a:prstDash val="solid"/>
          </a:ln>
        </p:spPr>
      </p:sp>
      <p:sp>
        <p:nvSpPr>
          <p:cNvPr id="28" name="Text 25"/>
          <p:cNvSpPr/>
          <p:nvPr/>
        </p:nvSpPr>
        <p:spPr>
          <a:xfrm>
            <a:off x="640080" y="3813048"/>
            <a:ext cx="8092440" cy="18288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Take reasonable care for their own fire safety and that of others</a:t>
            </a:r>
            <a:endParaRPr lang="en-US" sz="1100" dirty="0"/>
          </a:p>
        </p:txBody>
      </p:sp>
      <p:sp>
        <p:nvSpPr>
          <p:cNvPr id="29" name="Shape 26"/>
          <p:cNvSpPr/>
          <p:nvPr/>
        </p:nvSpPr>
        <p:spPr>
          <a:xfrm>
            <a:off x="457200" y="4041648"/>
            <a:ext cx="109728" cy="109728"/>
          </a:xfrm>
          <a:prstGeom prst="ellipse">
            <a:avLst/>
          </a:prstGeom>
          <a:solidFill>
            <a:srgbClr val="001E3C"/>
          </a:solidFill>
          <a:ln w="12700">
            <a:solidFill>
              <a:srgbClr val="001E3C"/>
            </a:solidFill>
            <a:prstDash val="solid"/>
          </a:ln>
        </p:spPr>
      </p:sp>
      <p:sp>
        <p:nvSpPr>
          <p:cNvPr id="30" name="Text 27"/>
          <p:cNvSpPr/>
          <p:nvPr/>
        </p:nvSpPr>
        <p:spPr>
          <a:xfrm>
            <a:off x="640080" y="4014216"/>
            <a:ext cx="8092440" cy="18288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Cooperate with the employer's fire safety procedures</a:t>
            </a:r>
            <a:endParaRPr lang="en-US" sz="1100" dirty="0"/>
          </a:p>
        </p:txBody>
      </p:sp>
      <p:sp>
        <p:nvSpPr>
          <p:cNvPr id="31" name="Shape 28"/>
          <p:cNvSpPr/>
          <p:nvPr/>
        </p:nvSpPr>
        <p:spPr>
          <a:xfrm>
            <a:off x="457200" y="4242816"/>
            <a:ext cx="109728" cy="109728"/>
          </a:xfrm>
          <a:prstGeom prst="ellipse">
            <a:avLst/>
          </a:prstGeom>
          <a:solidFill>
            <a:srgbClr val="001E3C"/>
          </a:solidFill>
          <a:ln w="12700">
            <a:solidFill>
              <a:srgbClr val="001E3C"/>
            </a:solidFill>
            <a:prstDash val="solid"/>
          </a:ln>
        </p:spPr>
      </p:sp>
      <p:sp>
        <p:nvSpPr>
          <p:cNvPr id="32" name="Text 29"/>
          <p:cNvSpPr/>
          <p:nvPr/>
        </p:nvSpPr>
        <p:spPr>
          <a:xfrm>
            <a:off x="640080" y="4215384"/>
            <a:ext cx="8092440" cy="18288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Use fire safety equipment only for its intended purpose</a:t>
            </a:r>
            <a:endParaRPr lang="en-US" sz="1100" dirty="0"/>
          </a:p>
        </p:txBody>
      </p:sp>
      <p:sp>
        <p:nvSpPr>
          <p:cNvPr id="33" name="Shape 30"/>
          <p:cNvSpPr/>
          <p:nvPr/>
        </p:nvSpPr>
        <p:spPr>
          <a:xfrm>
            <a:off x="457200" y="4443984"/>
            <a:ext cx="109728" cy="109728"/>
          </a:xfrm>
          <a:prstGeom prst="ellipse">
            <a:avLst/>
          </a:prstGeom>
          <a:solidFill>
            <a:srgbClr val="001E3C"/>
          </a:solidFill>
          <a:ln w="12700">
            <a:solidFill>
              <a:srgbClr val="001E3C"/>
            </a:solidFill>
            <a:prstDash val="solid"/>
          </a:ln>
        </p:spPr>
      </p:sp>
      <p:sp>
        <p:nvSpPr>
          <p:cNvPr id="34" name="Text 31"/>
          <p:cNvSpPr/>
          <p:nvPr/>
        </p:nvSpPr>
        <p:spPr>
          <a:xfrm>
            <a:off x="640080" y="4416552"/>
            <a:ext cx="8092440" cy="182880"/>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Report any fire hazards, defects in equipment, or concerns immediately</a:t>
            </a:r>
            <a:endParaRPr lang="en-US" sz="1100" dirty="0"/>
          </a:p>
        </p:txBody>
      </p:sp>
      <p:sp>
        <p:nvSpPr>
          <p:cNvPr id="35" name="Shape 32"/>
          <p:cNvSpPr/>
          <p:nvPr/>
        </p:nvSpPr>
        <p:spPr>
          <a:xfrm>
            <a:off x="457200" y="4645152"/>
            <a:ext cx="109728" cy="109728"/>
          </a:xfrm>
          <a:prstGeom prst="ellipse">
            <a:avLst/>
          </a:prstGeom>
          <a:solidFill>
            <a:srgbClr val="001E3C"/>
          </a:solidFill>
          <a:ln w="12700">
            <a:solidFill>
              <a:srgbClr val="001E3C"/>
            </a:solidFill>
            <a:prstDash val="solid"/>
          </a:ln>
        </p:spPr>
      </p:sp>
      <p:sp>
        <p:nvSpPr>
          <p:cNvPr id="36" name="Rectangle 35"/>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5"/>
          <a:stretch>
            <a:fillRect/>
          </a:stretch>
        </p:blipFill>
        <p:spPr>
          <a:xfrm>
            <a:off x="7562088" y="100584"/>
            <a:ext cx="566928" cy="347472"/>
          </a:xfrm>
          <a:prstGeom prst="rect">
            <a:avLst/>
          </a:prstGeom>
        </p:spPr>
      </p:pic>
      <p:pic>
        <p:nvPicPr>
          <p:cNvPr id="38" name="Picture 37" descr="image.png"/>
          <p:cNvPicPr>
            <a:picLocks noChangeAspect="1"/>
          </p:cNvPicPr>
          <p:nvPr/>
        </p:nvPicPr>
        <p:blipFill>
          <a:blip r:embed="rId4"/>
          <a:stretch>
            <a:fillRect/>
          </a:stretch>
        </p:blipFill>
        <p:spPr>
          <a:xfrm>
            <a:off x="8174736" y="100584"/>
            <a:ext cx="658368" cy="347472"/>
          </a:xfrm>
          <a:prstGeom prst="rect">
            <a:avLst/>
          </a:prstGeom>
        </p:spPr>
      </p:pic>
      <p:sp>
        <p:nvSpPr>
          <p:cNvPr id="39" name="Rectangle 38"/>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D4550A"/>
          </a:solidFill>
          <a:ln w="12700">
            <a:solidFill>
              <a:srgbClr val="D4550A"/>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Fire Prevention</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The Fire Triangle and Common Workplace Causes</a:t>
            </a:r>
            <a:endParaRPr lang="en-US" sz="2600" dirty="0"/>
          </a:p>
        </p:txBody>
      </p:sp>
      <p:sp>
        <p:nvSpPr>
          <p:cNvPr id="9" name="Shape 6"/>
          <p:cNvSpPr/>
          <p:nvPr/>
        </p:nvSpPr>
        <p:spPr>
          <a:xfrm>
            <a:off x="347472" y="1261872"/>
            <a:ext cx="8449056" cy="0"/>
          </a:xfrm>
          <a:prstGeom prst="line">
            <a:avLst/>
          </a:prstGeom>
          <a:noFill/>
          <a:ln w="19050">
            <a:solidFill>
              <a:srgbClr val="D4550A"/>
            </a:solidFill>
            <a:prstDash val="solid"/>
          </a:ln>
        </p:spPr>
      </p:sp>
      <p:sp>
        <p:nvSpPr>
          <p:cNvPr id="10" name="Text 7"/>
          <p:cNvSpPr/>
          <p:nvPr/>
        </p:nvSpPr>
        <p:spPr>
          <a:xfrm>
            <a:off x="347472" y="1353312"/>
            <a:ext cx="8449056" cy="438912"/>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Fire requires three elements to start and continue: fuel, heat, and oxygen. Remove any one of these and the fire cannot exist. Every fire prevention measure works by targeting one or more of these three elements.</a:t>
            </a:r>
            <a:endParaRPr lang="en-US" sz="1250" dirty="0"/>
          </a:p>
        </p:txBody>
      </p:sp>
      <p:sp>
        <p:nvSpPr>
          <p:cNvPr id="11" name="Shape 8"/>
          <p:cNvSpPr/>
          <p:nvPr/>
        </p:nvSpPr>
        <p:spPr>
          <a:xfrm>
            <a:off x="2971800" y="1371600"/>
            <a:ext cx="1097280" cy="1097280"/>
          </a:xfrm>
          <a:prstGeom prst="ellipse">
            <a:avLst/>
          </a:prstGeom>
          <a:solidFill>
            <a:srgbClr val="D4550A">
              <a:alpha val="85000"/>
            </a:srgbClr>
          </a:solidFill>
          <a:ln w="19050">
            <a:solidFill>
              <a:srgbClr val="D4550A"/>
            </a:solidFill>
            <a:prstDash val="solid"/>
          </a:ln>
        </p:spPr>
      </p:sp>
      <p:sp>
        <p:nvSpPr>
          <p:cNvPr id="12" name="Text 9"/>
          <p:cNvSpPr/>
          <p:nvPr/>
        </p:nvSpPr>
        <p:spPr>
          <a:xfrm>
            <a:off x="2971800" y="1371600"/>
            <a:ext cx="1097280" cy="457200"/>
          </a:xfrm>
          <a:prstGeom prst="rect">
            <a:avLst/>
          </a:prstGeom>
          <a:noFill/>
          <a:ln/>
        </p:spPr>
        <p:txBody>
          <a:bodyPr wrap="square" lIns="0" tIns="0" rIns="0" bIns="0" rtlCol="0" anchor="ctr"/>
          <a:lstStyle/>
          <a:p>
            <a:pPr algn="ctr" indent="0" marL="0">
              <a:buNone/>
            </a:pPr>
            <a:r>
              <a:rPr lang="en-US" sz="1100" b="1" dirty="0">
                <a:solidFill>
                  <a:srgbClr val="D4550A"/>
                </a:solidFill>
                <a:latin typeface="Arial" pitchFamily="34" charset="0"/>
                <a:ea typeface="Arial" pitchFamily="34" charset="-122"/>
                <a:cs typeface="Arial" pitchFamily="34" charset="-120"/>
              </a:rPr>
              <a:t>FUEL</a:t>
            </a:r>
            <a:endParaRPr lang="en-US" sz="1100" dirty="0"/>
          </a:p>
        </p:txBody>
      </p:sp>
      <p:sp>
        <p:nvSpPr>
          <p:cNvPr id="13" name="Text 10"/>
          <p:cNvSpPr/>
          <p:nvPr/>
        </p:nvSpPr>
        <p:spPr>
          <a:xfrm>
            <a:off x="2057400" y="2514600"/>
            <a:ext cx="2926080" cy="457200"/>
          </a:xfrm>
          <a:prstGeom prst="rect">
            <a:avLst/>
          </a:prstGeom>
          <a:noFill/>
          <a:ln/>
        </p:spPr>
        <p:txBody>
          <a:bodyPr wrap="square" lIns="0" tIns="0" rIns="0" bIns="0" rtlCol="0" anchor="ctr"/>
          <a:lstStyle/>
          <a:p>
            <a:pPr algn="ctr" indent="0" marL="0">
              <a:buNone/>
            </a:pPr>
            <a:r>
              <a:rPr lang="en-US" sz="950" dirty="0">
                <a:solidFill>
                  <a:srgbClr val="5B595A"/>
                </a:solidFill>
                <a:latin typeface="Arial" pitchFamily="34" charset="0"/>
                <a:ea typeface="Arial" pitchFamily="34" charset="-122"/>
                <a:cs typeface="Arial" pitchFamily="34" charset="-120"/>
              </a:rPr>
              <a:t>Combustible materials: wood, paper, cardboard, oils, plastics, solvents, gases</a:t>
            </a:r>
            <a:endParaRPr lang="en-US" sz="950" dirty="0"/>
          </a:p>
        </p:txBody>
      </p:sp>
      <p:sp>
        <p:nvSpPr>
          <p:cNvPr id="14" name="Shape 11"/>
          <p:cNvSpPr/>
          <p:nvPr/>
        </p:nvSpPr>
        <p:spPr>
          <a:xfrm>
            <a:off x="457200" y="3383280"/>
            <a:ext cx="1097280" cy="1097280"/>
          </a:xfrm>
          <a:prstGeom prst="ellipse">
            <a:avLst/>
          </a:prstGeom>
          <a:solidFill>
            <a:srgbClr val="C0392B">
              <a:alpha val="85000"/>
            </a:srgbClr>
          </a:solidFill>
          <a:ln w="19050">
            <a:solidFill>
              <a:srgbClr val="C0392B"/>
            </a:solidFill>
            <a:prstDash val="solid"/>
          </a:ln>
        </p:spPr>
      </p:sp>
      <p:sp>
        <p:nvSpPr>
          <p:cNvPr id="15" name="Text 12"/>
          <p:cNvSpPr/>
          <p:nvPr/>
        </p:nvSpPr>
        <p:spPr>
          <a:xfrm>
            <a:off x="457200" y="3383280"/>
            <a:ext cx="1097280" cy="457200"/>
          </a:xfrm>
          <a:prstGeom prst="rect">
            <a:avLst/>
          </a:prstGeom>
          <a:noFill/>
          <a:ln/>
        </p:spPr>
        <p:txBody>
          <a:bodyPr wrap="square" lIns="0" tIns="0" rIns="0" bIns="0" rtlCol="0" anchor="ctr"/>
          <a:lstStyle/>
          <a:p>
            <a:pPr algn="ctr" indent="0" marL="0">
              <a:buNone/>
            </a:pPr>
            <a:r>
              <a:rPr lang="en-US" sz="1100" b="1" dirty="0">
                <a:solidFill>
                  <a:srgbClr val="C0392B"/>
                </a:solidFill>
                <a:latin typeface="Arial" pitchFamily="34" charset="0"/>
                <a:ea typeface="Arial" pitchFamily="34" charset="-122"/>
                <a:cs typeface="Arial" pitchFamily="34" charset="-120"/>
              </a:rPr>
              <a:t>HEAT</a:t>
            </a:r>
            <a:endParaRPr lang="en-US" sz="1100" dirty="0"/>
          </a:p>
        </p:txBody>
      </p:sp>
      <p:sp>
        <p:nvSpPr>
          <p:cNvPr id="16" name="Text 13"/>
          <p:cNvSpPr/>
          <p:nvPr/>
        </p:nvSpPr>
        <p:spPr>
          <a:xfrm>
            <a:off x="-457200" y="4526280"/>
            <a:ext cx="2926080" cy="457200"/>
          </a:xfrm>
          <a:prstGeom prst="rect">
            <a:avLst/>
          </a:prstGeom>
          <a:noFill/>
          <a:ln/>
        </p:spPr>
        <p:txBody>
          <a:bodyPr wrap="square" lIns="0" tIns="0" rIns="0" bIns="0" rtlCol="0" anchor="ctr"/>
          <a:lstStyle/>
          <a:p>
            <a:pPr algn="ctr" indent="0" marL="0">
              <a:buNone/>
            </a:pPr>
            <a:r>
              <a:rPr lang="en-US" sz="950" dirty="0">
                <a:solidFill>
                  <a:srgbClr val="5B595A"/>
                </a:solidFill>
                <a:latin typeface="Arial" pitchFamily="34" charset="0"/>
                <a:ea typeface="Arial" pitchFamily="34" charset="-122"/>
                <a:cs typeface="Arial" pitchFamily="34" charset="-120"/>
              </a:rPr>
              <a:t>Ignition sources: electrical faults, hot work, hot surfaces, static electricity, friction</a:t>
            </a:r>
            <a:endParaRPr lang="en-US" sz="950" dirty="0"/>
          </a:p>
        </p:txBody>
      </p:sp>
      <p:sp>
        <p:nvSpPr>
          <p:cNvPr id="17" name="Shape 14"/>
          <p:cNvSpPr/>
          <p:nvPr/>
        </p:nvSpPr>
        <p:spPr>
          <a:xfrm>
            <a:off x="5486400" y="3383280"/>
            <a:ext cx="1097280" cy="1097280"/>
          </a:xfrm>
          <a:prstGeom prst="ellipse">
            <a:avLst/>
          </a:prstGeom>
          <a:solidFill>
            <a:srgbClr val="E08A00">
              <a:alpha val="85000"/>
            </a:srgbClr>
          </a:solidFill>
          <a:ln w="19050">
            <a:solidFill>
              <a:srgbClr val="E08A00"/>
            </a:solidFill>
            <a:prstDash val="solid"/>
          </a:ln>
        </p:spPr>
      </p:sp>
      <p:sp>
        <p:nvSpPr>
          <p:cNvPr id="18" name="Text 15"/>
          <p:cNvSpPr/>
          <p:nvPr/>
        </p:nvSpPr>
        <p:spPr>
          <a:xfrm>
            <a:off x="5486400" y="3383280"/>
            <a:ext cx="1097280" cy="457200"/>
          </a:xfrm>
          <a:prstGeom prst="rect">
            <a:avLst/>
          </a:prstGeom>
          <a:noFill/>
          <a:ln/>
        </p:spPr>
        <p:txBody>
          <a:bodyPr wrap="square" lIns="0" tIns="0" rIns="0" bIns="0" rtlCol="0" anchor="ctr"/>
          <a:lstStyle/>
          <a:p>
            <a:pPr algn="ctr" indent="0" marL="0">
              <a:buNone/>
            </a:pPr>
            <a:r>
              <a:rPr lang="en-US" sz="1100" b="1" dirty="0">
                <a:solidFill>
                  <a:srgbClr val="E08A00"/>
                </a:solidFill>
                <a:latin typeface="Arial" pitchFamily="34" charset="0"/>
                <a:ea typeface="Arial" pitchFamily="34" charset="-122"/>
                <a:cs typeface="Arial" pitchFamily="34" charset="-120"/>
              </a:rPr>
              <a:t>OXYGEN</a:t>
            </a:r>
            <a:endParaRPr lang="en-US" sz="1100" dirty="0"/>
          </a:p>
        </p:txBody>
      </p:sp>
      <p:sp>
        <p:nvSpPr>
          <p:cNvPr id="19" name="Text 16"/>
          <p:cNvSpPr/>
          <p:nvPr/>
        </p:nvSpPr>
        <p:spPr>
          <a:xfrm>
            <a:off x="4572000" y="4526280"/>
            <a:ext cx="2926080" cy="457200"/>
          </a:xfrm>
          <a:prstGeom prst="rect">
            <a:avLst/>
          </a:prstGeom>
          <a:noFill/>
          <a:ln/>
        </p:spPr>
        <p:txBody>
          <a:bodyPr wrap="square" lIns="0" tIns="0" rIns="0" bIns="0" rtlCol="0" anchor="ctr"/>
          <a:lstStyle/>
          <a:p>
            <a:pPr algn="ctr" indent="0" marL="0">
              <a:buNone/>
            </a:pPr>
            <a:r>
              <a:rPr lang="en-US" sz="950" dirty="0">
                <a:solidFill>
                  <a:srgbClr val="5B595A"/>
                </a:solidFill>
                <a:latin typeface="Arial" pitchFamily="34" charset="0"/>
                <a:ea typeface="Arial" pitchFamily="34" charset="-122"/>
                <a:cs typeface="Arial" pitchFamily="34" charset="-120"/>
              </a:rPr>
              <a:t>Typically air at 21% O2. Enclosed spaces may concentrate; some processes use enriched O2</a:t>
            </a:r>
            <a:endParaRPr lang="en-US" sz="950" dirty="0"/>
          </a:p>
        </p:txBody>
      </p:sp>
      <p:sp>
        <p:nvSpPr>
          <p:cNvPr id="20" name="Text 17"/>
          <p:cNvSpPr/>
          <p:nvPr/>
        </p:nvSpPr>
        <p:spPr>
          <a:xfrm>
            <a:off x="3200400" y="2560320"/>
            <a:ext cx="2743200" cy="548640"/>
          </a:xfrm>
          <a:prstGeom prst="rect">
            <a:avLst/>
          </a:prstGeom>
          <a:noFill/>
          <a:ln/>
        </p:spPr>
        <p:txBody>
          <a:bodyPr wrap="square" lIns="0" tIns="0" rIns="0" bIns="0" rtlCol="0" anchor="ctr"/>
          <a:lstStyle/>
          <a:p>
            <a:pPr algn="ctr" indent="0" marL="0">
              <a:buNone/>
            </a:pPr>
            <a:r>
              <a:rPr lang="en-US" sz="1100" b="1" dirty="0">
                <a:solidFill>
                  <a:srgbClr val="001E3C"/>
                </a:solidFill>
                <a:latin typeface="Arial" pitchFamily="34" charset="0"/>
                <a:ea typeface="Arial" pitchFamily="34" charset="-122"/>
                <a:cs typeface="Arial" pitchFamily="34" charset="-120"/>
              </a:rPr>
              <a:t>Remove any one</a:t>
            </a:r>
            <a:endParaRPr lang="en-US" sz="1100" dirty="0"/>
          </a:p>
          <a:p>
            <a:pPr algn="ctr" indent="0" marL="0">
              <a:buNone/>
            </a:pPr>
            <a:r>
              <a:rPr lang="en-US" sz="1100" b="1" dirty="0">
                <a:solidFill>
                  <a:srgbClr val="001E3C"/>
                </a:solidFill>
                <a:latin typeface="Arial" pitchFamily="34" charset="0"/>
                <a:ea typeface="Arial" pitchFamily="34" charset="-122"/>
                <a:cs typeface="Arial" pitchFamily="34" charset="-120"/>
              </a:rPr>
              <a:t>to extinguish</a:t>
            </a:r>
            <a:endParaRPr lang="en-US" sz="1100" dirty="0"/>
          </a:p>
        </p:txBody>
      </p:sp>
      <p:sp>
        <p:nvSpPr>
          <p:cNvPr id="21" name="Shape 18"/>
          <p:cNvSpPr/>
          <p:nvPr/>
        </p:nvSpPr>
        <p:spPr>
          <a:xfrm>
            <a:off x="347472" y="4425696"/>
            <a:ext cx="8449056" cy="292608"/>
          </a:xfrm>
          <a:prstGeom prst="rect">
            <a:avLst/>
          </a:prstGeom>
          <a:solidFill>
            <a:srgbClr val="001E3C"/>
          </a:solidFill>
          <a:ln w="12700">
            <a:solidFill>
              <a:srgbClr val="001E3C"/>
            </a:solidFill>
            <a:prstDash val="solid"/>
          </a:ln>
        </p:spPr>
      </p:sp>
      <p:sp>
        <p:nvSpPr>
          <p:cNvPr id="22" name="Text 19"/>
          <p:cNvSpPr/>
          <p:nvPr/>
        </p:nvSpPr>
        <p:spPr>
          <a:xfrm>
            <a:off x="457200" y="4443984"/>
            <a:ext cx="8229600" cy="237744"/>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Most Common Causes of Workplace Fires</a:t>
            </a:r>
            <a:endParaRPr lang="en-US" sz="1100" dirty="0"/>
          </a:p>
        </p:txBody>
      </p:sp>
      <p:sp>
        <p:nvSpPr>
          <p:cNvPr id="23" name="Shape 20"/>
          <p:cNvSpPr/>
          <p:nvPr/>
        </p:nvSpPr>
        <p:spPr>
          <a:xfrm>
            <a:off x="457200" y="4773168"/>
            <a:ext cx="0" cy="0"/>
          </a:xfrm>
          <a:prstGeom prst="ellipse">
            <a:avLst/>
          </a:prstGeom>
          <a:solidFill>
            <a:srgbClr val="C0392B"/>
          </a:solidFill>
          <a:ln w="12700">
            <a:solidFill>
              <a:srgbClr val="C0392B"/>
            </a:solidFill>
            <a:prstDash val="solid"/>
          </a:ln>
        </p:spPr>
      </p:sp>
      <p:sp>
        <p:nvSpPr>
          <p:cNvPr id="25" name="Shape 22"/>
          <p:cNvSpPr/>
          <p:nvPr/>
        </p:nvSpPr>
        <p:spPr>
          <a:xfrm>
            <a:off x="457200" y="4773168"/>
            <a:ext cx="0" cy="0"/>
          </a:xfrm>
          <a:prstGeom prst="ellipse">
            <a:avLst/>
          </a:prstGeom>
          <a:solidFill>
            <a:srgbClr val="C0392B"/>
          </a:solidFill>
          <a:ln w="12700">
            <a:solidFill>
              <a:srgbClr val="C0392B"/>
            </a:solidFill>
            <a:prstDash val="solid"/>
          </a:ln>
        </p:spPr>
      </p:sp>
      <p:sp>
        <p:nvSpPr>
          <p:cNvPr id="27" name="Shape 24"/>
          <p:cNvSpPr/>
          <p:nvPr/>
        </p:nvSpPr>
        <p:spPr>
          <a:xfrm>
            <a:off x="457200" y="4773168"/>
            <a:ext cx="0" cy="0"/>
          </a:xfrm>
          <a:prstGeom prst="ellipse">
            <a:avLst/>
          </a:prstGeom>
          <a:solidFill>
            <a:srgbClr val="C0392B"/>
          </a:solidFill>
          <a:ln w="12700">
            <a:solidFill>
              <a:srgbClr val="C0392B"/>
            </a:solidFill>
            <a:prstDash val="solid"/>
          </a:ln>
        </p:spPr>
      </p:sp>
      <p:sp>
        <p:nvSpPr>
          <p:cNvPr id="29" name="Shape 26"/>
          <p:cNvSpPr/>
          <p:nvPr/>
        </p:nvSpPr>
        <p:spPr>
          <a:xfrm>
            <a:off x="457200" y="4773168"/>
            <a:ext cx="0" cy="0"/>
          </a:xfrm>
          <a:prstGeom prst="ellipse">
            <a:avLst/>
          </a:prstGeom>
          <a:solidFill>
            <a:srgbClr val="C0392B"/>
          </a:solidFill>
          <a:ln w="12700">
            <a:solidFill>
              <a:srgbClr val="C0392B"/>
            </a:solidFill>
            <a:prstDash val="solid"/>
          </a:ln>
        </p:spPr>
      </p:sp>
      <p:sp>
        <p:nvSpPr>
          <p:cNvPr id="31" name="Shape 28"/>
          <p:cNvSpPr/>
          <p:nvPr/>
        </p:nvSpPr>
        <p:spPr>
          <a:xfrm>
            <a:off x="457200" y="4773168"/>
            <a:ext cx="0" cy="0"/>
          </a:xfrm>
          <a:prstGeom prst="ellipse">
            <a:avLst/>
          </a:prstGeom>
          <a:solidFill>
            <a:srgbClr val="C0392B"/>
          </a:solidFill>
          <a:ln w="12700">
            <a:solidFill>
              <a:srgbClr val="C0392B"/>
            </a:solidFill>
            <a:prstDash val="solid"/>
          </a:ln>
        </p:spPr>
      </p:sp>
      <p:sp>
        <p:nvSpPr>
          <p:cNvPr id="32" name="Rectangle 31"/>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5"/>
          <a:stretch>
            <a:fillRect/>
          </a:stretch>
        </p:blipFill>
        <p:spPr>
          <a:xfrm>
            <a:off x="7562088" y="100584"/>
            <a:ext cx="566928" cy="347472"/>
          </a:xfrm>
          <a:prstGeom prst="rect">
            <a:avLst/>
          </a:prstGeom>
        </p:spPr>
      </p:pic>
      <p:pic>
        <p:nvPicPr>
          <p:cNvPr id="34" name="Picture 33" descr="image.png"/>
          <p:cNvPicPr>
            <a:picLocks noChangeAspect="1"/>
          </p:cNvPicPr>
          <p:nvPr/>
        </p:nvPicPr>
        <p:blipFill>
          <a:blip r:embed="rId4"/>
          <a:stretch>
            <a:fillRect/>
          </a:stretch>
        </p:blipFill>
        <p:spPr>
          <a:xfrm>
            <a:off x="8174736" y="100584"/>
            <a:ext cx="658368" cy="347472"/>
          </a:xfrm>
          <a:prstGeom prst="rect">
            <a:avLst/>
          </a:prstGeom>
        </p:spPr>
      </p:pic>
      <p:sp>
        <p:nvSpPr>
          <p:cNvPr id="35" name="Rectangle 34"/>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D4550A"/>
          </a:solidFill>
          <a:ln w="12700">
            <a:solidFill>
              <a:srgbClr val="D4550A"/>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Your Workplace</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Know Your Building: What You Must Be Able to Locate</a:t>
            </a:r>
            <a:endParaRPr lang="en-US" sz="2600" dirty="0"/>
          </a:p>
        </p:txBody>
      </p:sp>
      <p:sp>
        <p:nvSpPr>
          <p:cNvPr id="9" name="Shape 6"/>
          <p:cNvSpPr/>
          <p:nvPr/>
        </p:nvSpPr>
        <p:spPr>
          <a:xfrm>
            <a:off x="347472" y="1261872"/>
            <a:ext cx="8449056" cy="0"/>
          </a:xfrm>
          <a:prstGeom prst="line">
            <a:avLst/>
          </a:prstGeom>
          <a:noFill/>
          <a:ln w="19050">
            <a:solidFill>
              <a:srgbClr val="D4550A"/>
            </a:solidFill>
            <a:prstDash val="solid"/>
          </a:ln>
        </p:spPr>
      </p:sp>
      <p:sp>
        <p:nvSpPr>
          <p:cNvPr id="10" name="Text 7"/>
          <p:cNvSpPr/>
          <p:nvPr/>
        </p:nvSpPr>
        <p:spPr>
          <a:xfrm>
            <a:off x="347472" y="1353312"/>
            <a:ext cx="8449056" cy="438912"/>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In a fire emergency, you will not have time to search for information. You must already know it. Every person on site must be able to locate these items and perform these actions without hesitation.</a:t>
            </a:r>
            <a:endParaRPr lang="en-US" sz="1250" dirty="0"/>
          </a:p>
        </p:txBody>
      </p:sp>
      <p:sp>
        <p:nvSpPr>
          <p:cNvPr id="11" name="Shape 8"/>
          <p:cNvSpPr/>
          <p:nvPr/>
        </p:nvSpPr>
        <p:spPr>
          <a:xfrm>
            <a:off x="347472" y="1920240"/>
            <a:ext cx="4133088" cy="877824"/>
          </a:xfrm>
          <a:prstGeom prst="roundRect">
            <a:avLst>
              <a:gd name="adj" fmla="val 7292"/>
            </a:avLst>
          </a:prstGeom>
          <a:solidFill>
            <a:srgbClr val="F8F8F8"/>
          </a:solidFill>
          <a:ln w="10160">
            <a:solidFill>
              <a:srgbClr val="C0392B"/>
            </a:solidFill>
            <a:prstDash val="solid"/>
          </a:ln>
        </p:spPr>
      </p:sp>
      <p:sp>
        <p:nvSpPr>
          <p:cNvPr id="12" name="Shape 9"/>
          <p:cNvSpPr/>
          <p:nvPr/>
        </p:nvSpPr>
        <p:spPr>
          <a:xfrm>
            <a:off x="384048" y="2103120"/>
            <a:ext cx="512064" cy="512064"/>
          </a:xfrm>
          <a:prstGeom prst="ellipse">
            <a:avLst/>
          </a:prstGeom>
          <a:solidFill>
            <a:srgbClr val="C0392B"/>
          </a:solidFill>
          <a:ln w="12700">
            <a:solidFill>
              <a:srgbClr val="C0392B"/>
            </a:solidFill>
            <a:prstDash val="solid"/>
          </a:ln>
        </p:spPr>
      </p:sp>
      <p:pic>
        <p:nvPicPr>
          <p:cNvPr id="13" name="Image 1" descr="preencoded.png">    </p:cNvPr>
          <p:cNvPicPr>
            <a:picLocks noChangeAspect="1"/>
          </p:cNvPicPr>
          <p:nvPr/>
        </p:nvPicPr>
        <p:blipFill>
          <a:blip r:embed="rId2"/>
          <a:stretch>
            <a:fillRect/>
          </a:stretch>
        </p:blipFill>
        <p:spPr>
          <a:xfrm>
            <a:off x="499262" y="2218334"/>
            <a:ext cx="281635" cy="281635"/>
          </a:xfrm>
          <a:prstGeom prst="rect">
            <a:avLst/>
          </a:prstGeom>
        </p:spPr>
      </p:pic>
      <p:sp>
        <p:nvSpPr>
          <p:cNvPr id="14" name="Text 10"/>
          <p:cNvSpPr/>
          <p:nvPr/>
        </p:nvSpPr>
        <p:spPr>
          <a:xfrm>
            <a:off x="1005840" y="1993392"/>
            <a:ext cx="3364992" cy="27432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Fire alarm call points</a:t>
            </a:r>
            <a:endParaRPr lang="en-US" sz="1150" dirty="0"/>
          </a:p>
        </p:txBody>
      </p:sp>
      <p:sp>
        <p:nvSpPr>
          <p:cNvPr id="15" name="Text 11"/>
          <p:cNvSpPr/>
          <p:nvPr/>
        </p:nvSpPr>
        <p:spPr>
          <a:xfrm>
            <a:off x="1005840" y="2322576"/>
            <a:ext cx="3364992" cy="420624"/>
          </a:xfrm>
          <a:prstGeom prst="rect">
            <a:avLst/>
          </a:prstGeom>
          <a:noFill/>
          <a:ln/>
        </p:spPr>
        <p:txBody>
          <a:bodyPr wrap="square" lIns="0" tIns="0" rIns="0" bIns="0" rtlCol="0" anchor="t"/>
          <a:lstStyle/>
          <a:p>
            <a:pPr indent="0" marL="0">
              <a:buNone/>
            </a:pPr>
            <a:r>
              <a:rPr lang="en-US" sz="1000" dirty="0">
                <a:solidFill>
                  <a:srgbClr val="5B595A"/>
                </a:solidFill>
                <a:latin typeface="Arial" pitchFamily="34" charset="0"/>
                <a:ea typeface="Arial" pitchFamily="34" charset="-122"/>
                <a:cs typeface="Arial" pitchFamily="34" charset="-120"/>
              </a:rPr>
              <a:t>Know the location of every manual call point on your route to the exit. You should be able to reach one within 30 seconds of detecting a fire.</a:t>
            </a:r>
            <a:endParaRPr lang="en-US" sz="1000" dirty="0"/>
          </a:p>
        </p:txBody>
      </p:sp>
      <p:sp>
        <p:nvSpPr>
          <p:cNvPr id="16" name="Shape 12"/>
          <p:cNvSpPr/>
          <p:nvPr/>
        </p:nvSpPr>
        <p:spPr>
          <a:xfrm>
            <a:off x="4663440" y="1920240"/>
            <a:ext cx="4133088" cy="877824"/>
          </a:xfrm>
          <a:prstGeom prst="roundRect">
            <a:avLst>
              <a:gd name="adj" fmla="val 7292"/>
            </a:avLst>
          </a:prstGeom>
          <a:solidFill>
            <a:srgbClr val="F8F8F8"/>
          </a:solidFill>
          <a:ln w="10160">
            <a:solidFill>
              <a:srgbClr val="D4550A"/>
            </a:solidFill>
            <a:prstDash val="solid"/>
          </a:ln>
        </p:spPr>
      </p:sp>
      <p:sp>
        <p:nvSpPr>
          <p:cNvPr id="17" name="Shape 13"/>
          <p:cNvSpPr/>
          <p:nvPr/>
        </p:nvSpPr>
        <p:spPr>
          <a:xfrm>
            <a:off x="4700016" y="2103120"/>
            <a:ext cx="512064" cy="512064"/>
          </a:xfrm>
          <a:prstGeom prst="ellipse">
            <a:avLst/>
          </a:prstGeom>
          <a:solidFill>
            <a:srgbClr val="D4550A"/>
          </a:solidFill>
          <a:ln w="12700">
            <a:solidFill>
              <a:srgbClr val="D4550A"/>
            </a:solidFill>
            <a:prstDash val="solid"/>
          </a:ln>
        </p:spPr>
      </p:sp>
      <p:pic>
        <p:nvPicPr>
          <p:cNvPr id="18" name="Image 2" descr="preencoded.png">    </p:cNvPr>
          <p:cNvPicPr>
            <a:picLocks noChangeAspect="1"/>
          </p:cNvPicPr>
          <p:nvPr/>
        </p:nvPicPr>
        <p:blipFill>
          <a:blip r:embed="rId3"/>
          <a:stretch>
            <a:fillRect/>
          </a:stretch>
        </p:blipFill>
        <p:spPr>
          <a:xfrm>
            <a:off x="4815230" y="2218334"/>
            <a:ext cx="281635" cy="281635"/>
          </a:xfrm>
          <a:prstGeom prst="rect">
            <a:avLst/>
          </a:prstGeom>
        </p:spPr>
      </p:pic>
      <p:sp>
        <p:nvSpPr>
          <p:cNvPr id="19" name="Text 14"/>
          <p:cNvSpPr/>
          <p:nvPr/>
        </p:nvSpPr>
        <p:spPr>
          <a:xfrm>
            <a:off x="5321808" y="1993392"/>
            <a:ext cx="3364992" cy="274320"/>
          </a:xfrm>
          <a:prstGeom prst="rect">
            <a:avLst/>
          </a:prstGeom>
          <a:noFill/>
          <a:ln/>
        </p:spPr>
        <p:txBody>
          <a:bodyPr wrap="square" lIns="0" tIns="0" rIns="0" bIns="0" rtlCol="0" anchor="ctr"/>
          <a:lstStyle/>
          <a:p>
            <a:pPr indent="0" marL="0">
              <a:buNone/>
            </a:pPr>
            <a:r>
              <a:rPr lang="en-US" sz="1150" b="1" dirty="0">
                <a:solidFill>
                  <a:srgbClr val="D4550A"/>
                </a:solidFill>
                <a:latin typeface="Arial" pitchFamily="34" charset="0"/>
                <a:ea typeface="Arial" pitchFamily="34" charset="-122"/>
                <a:cs typeface="Arial" pitchFamily="34" charset="-120"/>
              </a:rPr>
              <a:t>Fire extinguishers</a:t>
            </a:r>
            <a:endParaRPr lang="en-US" sz="1150" dirty="0"/>
          </a:p>
        </p:txBody>
      </p:sp>
      <p:sp>
        <p:nvSpPr>
          <p:cNvPr id="20" name="Text 15"/>
          <p:cNvSpPr/>
          <p:nvPr/>
        </p:nvSpPr>
        <p:spPr>
          <a:xfrm>
            <a:off x="5321808" y="2322576"/>
            <a:ext cx="3364992" cy="420624"/>
          </a:xfrm>
          <a:prstGeom prst="rect">
            <a:avLst/>
          </a:prstGeom>
          <a:noFill/>
          <a:ln/>
        </p:spPr>
        <p:txBody>
          <a:bodyPr wrap="square" lIns="0" tIns="0" rIns="0" bIns="0" rtlCol="0" anchor="t"/>
          <a:lstStyle/>
          <a:p>
            <a:pPr indent="0" marL="0">
              <a:buNone/>
            </a:pPr>
            <a:r>
              <a:rPr lang="en-US" sz="1000" dirty="0">
                <a:solidFill>
                  <a:srgbClr val="5B595A"/>
                </a:solidFill>
                <a:latin typeface="Arial" pitchFamily="34" charset="0"/>
                <a:ea typeface="Arial" pitchFamily="34" charset="-122"/>
                <a:cs typeface="Arial" pitchFamily="34" charset="-120"/>
              </a:rPr>
              <a:t>Know the type and colour coding of extinguishers in your area. Know which classes of fire each type is designed for. See the next slide.</a:t>
            </a:r>
            <a:endParaRPr lang="en-US" sz="1000" dirty="0"/>
          </a:p>
        </p:txBody>
      </p:sp>
      <p:sp>
        <p:nvSpPr>
          <p:cNvPr id="21" name="Shape 16"/>
          <p:cNvSpPr/>
          <p:nvPr/>
        </p:nvSpPr>
        <p:spPr>
          <a:xfrm>
            <a:off x="347472" y="2907792"/>
            <a:ext cx="4133088" cy="877824"/>
          </a:xfrm>
          <a:prstGeom prst="roundRect">
            <a:avLst>
              <a:gd name="adj" fmla="val 7292"/>
            </a:avLst>
          </a:prstGeom>
          <a:solidFill>
            <a:srgbClr val="F8F8F8"/>
          </a:solidFill>
          <a:ln w="10160">
            <a:solidFill>
              <a:srgbClr val="2E8B57"/>
            </a:solidFill>
            <a:prstDash val="solid"/>
          </a:ln>
        </p:spPr>
      </p:sp>
      <p:sp>
        <p:nvSpPr>
          <p:cNvPr id="22" name="Shape 17"/>
          <p:cNvSpPr/>
          <p:nvPr/>
        </p:nvSpPr>
        <p:spPr>
          <a:xfrm>
            <a:off x="384048" y="3090672"/>
            <a:ext cx="512064" cy="512064"/>
          </a:xfrm>
          <a:prstGeom prst="ellipse">
            <a:avLst/>
          </a:prstGeom>
          <a:solidFill>
            <a:srgbClr val="2E8B57"/>
          </a:solidFill>
          <a:ln w="12700">
            <a:solidFill>
              <a:srgbClr val="2E8B57"/>
            </a:solidFill>
            <a:prstDash val="solid"/>
          </a:ln>
        </p:spPr>
      </p:sp>
      <p:pic>
        <p:nvPicPr>
          <p:cNvPr id="23" name="Image 3" descr="preencoded.png">    </p:cNvPr>
          <p:cNvPicPr>
            <a:picLocks noChangeAspect="1"/>
          </p:cNvPicPr>
          <p:nvPr/>
        </p:nvPicPr>
        <p:blipFill>
          <a:blip r:embed="rId4"/>
          <a:stretch>
            <a:fillRect/>
          </a:stretch>
        </p:blipFill>
        <p:spPr>
          <a:xfrm>
            <a:off x="499262" y="3205886"/>
            <a:ext cx="281635" cy="281635"/>
          </a:xfrm>
          <a:prstGeom prst="rect">
            <a:avLst/>
          </a:prstGeom>
        </p:spPr>
      </p:pic>
      <p:sp>
        <p:nvSpPr>
          <p:cNvPr id="24" name="Text 18"/>
          <p:cNvSpPr/>
          <p:nvPr/>
        </p:nvSpPr>
        <p:spPr>
          <a:xfrm>
            <a:off x="1005840" y="2980944"/>
            <a:ext cx="3364992" cy="274320"/>
          </a:xfrm>
          <a:prstGeom prst="rect">
            <a:avLst/>
          </a:prstGeom>
          <a:noFill/>
          <a:ln/>
        </p:spPr>
        <p:txBody>
          <a:bodyPr wrap="square" lIns="0" tIns="0" rIns="0" bIns="0" rtlCol="0" anchor="ctr"/>
          <a:lstStyle/>
          <a:p>
            <a:pPr indent="0" marL="0">
              <a:buNone/>
            </a:pPr>
            <a:r>
              <a:rPr lang="en-US" sz="1150" b="1" dirty="0">
                <a:solidFill>
                  <a:srgbClr val="2E8B57"/>
                </a:solidFill>
                <a:latin typeface="Arial" pitchFamily="34" charset="0"/>
                <a:ea typeface="Arial" pitchFamily="34" charset="-122"/>
                <a:cs typeface="Arial" pitchFamily="34" charset="-120"/>
              </a:rPr>
              <a:t>Fire exits and routes</a:t>
            </a:r>
            <a:endParaRPr lang="en-US" sz="1150" dirty="0"/>
          </a:p>
        </p:txBody>
      </p:sp>
      <p:sp>
        <p:nvSpPr>
          <p:cNvPr id="25" name="Text 19"/>
          <p:cNvSpPr/>
          <p:nvPr/>
        </p:nvSpPr>
        <p:spPr>
          <a:xfrm>
            <a:off x="1005840" y="3310128"/>
            <a:ext cx="3364992" cy="420624"/>
          </a:xfrm>
          <a:prstGeom prst="rect">
            <a:avLst/>
          </a:prstGeom>
          <a:noFill/>
          <a:ln/>
        </p:spPr>
        <p:txBody>
          <a:bodyPr wrap="square" lIns="0" tIns="0" rIns="0" bIns="0" rtlCol="0" anchor="t"/>
          <a:lstStyle/>
          <a:p>
            <a:pPr indent="0" marL="0">
              <a:buNone/>
            </a:pPr>
            <a:r>
              <a:rPr lang="en-US" sz="1000" dirty="0">
                <a:solidFill>
                  <a:srgbClr val="5B595A"/>
                </a:solidFill>
                <a:latin typeface="Arial" pitchFamily="34" charset="0"/>
                <a:ea typeface="Arial" pitchFamily="34" charset="-122"/>
                <a:cs typeface="Arial" pitchFamily="34" charset="-120"/>
              </a:rPr>
              <a:t>Walk your primary and secondary evacuation routes. Confirm they are unobstructed. Know which doors are fire doors and must remain closed.</a:t>
            </a:r>
            <a:endParaRPr lang="en-US" sz="1000" dirty="0"/>
          </a:p>
        </p:txBody>
      </p:sp>
      <p:sp>
        <p:nvSpPr>
          <p:cNvPr id="26" name="Shape 20"/>
          <p:cNvSpPr/>
          <p:nvPr/>
        </p:nvSpPr>
        <p:spPr>
          <a:xfrm>
            <a:off x="4663440" y="2907792"/>
            <a:ext cx="4133088" cy="877824"/>
          </a:xfrm>
          <a:prstGeom prst="roundRect">
            <a:avLst>
              <a:gd name="adj" fmla="val 7292"/>
            </a:avLst>
          </a:prstGeom>
          <a:solidFill>
            <a:srgbClr val="F8F8F8"/>
          </a:solidFill>
          <a:ln w="10160">
            <a:solidFill>
              <a:srgbClr val="009FE3"/>
            </a:solidFill>
            <a:prstDash val="solid"/>
          </a:ln>
        </p:spPr>
      </p:sp>
      <p:sp>
        <p:nvSpPr>
          <p:cNvPr id="27" name="Shape 21"/>
          <p:cNvSpPr/>
          <p:nvPr/>
        </p:nvSpPr>
        <p:spPr>
          <a:xfrm>
            <a:off x="4700016" y="3090672"/>
            <a:ext cx="512064" cy="512064"/>
          </a:xfrm>
          <a:prstGeom prst="ellipse">
            <a:avLst/>
          </a:prstGeom>
          <a:solidFill>
            <a:srgbClr val="009FE3"/>
          </a:solidFill>
          <a:ln w="12700">
            <a:solidFill>
              <a:srgbClr val="009FE3"/>
            </a:solidFill>
            <a:prstDash val="solid"/>
          </a:ln>
        </p:spPr>
      </p:sp>
      <p:pic>
        <p:nvPicPr>
          <p:cNvPr id="28" name="Image 4" descr="preencoded.png">    </p:cNvPr>
          <p:cNvPicPr>
            <a:picLocks noChangeAspect="1"/>
          </p:cNvPicPr>
          <p:nvPr/>
        </p:nvPicPr>
        <p:blipFill>
          <a:blip r:embed="rId5"/>
          <a:stretch>
            <a:fillRect/>
          </a:stretch>
        </p:blipFill>
        <p:spPr>
          <a:xfrm>
            <a:off x="4815230" y="3205886"/>
            <a:ext cx="281635" cy="281635"/>
          </a:xfrm>
          <a:prstGeom prst="rect">
            <a:avLst/>
          </a:prstGeom>
        </p:spPr>
      </p:pic>
      <p:sp>
        <p:nvSpPr>
          <p:cNvPr id="29" name="Text 22"/>
          <p:cNvSpPr/>
          <p:nvPr/>
        </p:nvSpPr>
        <p:spPr>
          <a:xfrm>
            <a:off x="5321808" y="2980944"/>
            <a:ext cx="3364992" cy="274320"/>
          </a:xfrm>
          <a:prstGeom prst="rect">
            <a:avLst/>
          </a:prstGeom>
          <a:noFill/>
          <a:ln/>
        </p:spPr>
        <p:txBody>
          <a:bodyPr wrap="square" lIns="0" tIns="0" rIns="0" bIns="0" rtlCol="0" anchor="ctr"/>
          <a:lstStyle/>
          <a:p>
            <a:pPr indent="0" marL="0">
              <a:buNone/>
            </a:pPr>
            <a:r>
              <a:rPr lang="en-US" sz="1150" b="1" dirty="0">
                <a:solidFill>
                  <a:srgbClr val="009FE3"/>
                </a:solidFill>
                <a:latin typeface="Arial" pitchFamily="34" charset="0"/>
                <a:ea typeface="Arial" pitchFamily="34" charset="-122"/>
                <a:cs typeface="Arial" pitchFamily="34" charset="-120"/>
              </a:rPr>
              <a:t>Assembly point</a:t>
            </a:r>
            <a:endParaRPr lang="en-US" sz="1150" dirty="0"/>
          </a:p>
        </p:txBody>
      </p:sp>
      <p:sp>
        <p:nvSpPr>
          <p:cNvPr id="30" name="Text 23"/>
          <p:cNvSpPr/>
          <p:nvPr/>
        </p:nvSpPr>
        <p:spPr>
          <a:xfrm>
            <a:off x="5321808" y="3310128"/>
            <a:ext cx="3364992" cy="420624"/>
          </a:xfrm>
          <a:prstGeom prst="rect">
            <a:avLst/>
          </a:prstGeom>
          <a:noFill/>
          <a:ln/>
        </p:spPr>
        <p:txBody>
          <a:bodyPr wrap="square" lIns="0" tIns="0" rIns="0" bIns="0" rtlCol="0" anchor="t"/>
          <a:lstStyle/>
          <a:p>
            <a:pPr indent="0" marL="0">
              <a:buNone/>
            </a:pPr>
            <a:r>
              <a:rPr lang="en-US" sz="1000" dirty="0">
                <a:solidFill>
                  <a:srgbClr val="5B595A"/>
                </a:solidFill>
                <a:latin typeface="Arial" pitchFamily="34" charset="0"/>
                <a:ea typeface="Arial" pitchFamily="34" charset="-122"/>
                <a:cs typeface="Arial" pitchFamily="34" charset="-120"/>
              </a:rPr>
              <a:t>Know the exact location of your designated assembly point. Know your alternative if the primary route is blocked. Never re-enter until authorised.</a:t>
            </a:r>
            <a:endParaRPr lang="en-US" sz="1000" dirty="0"/>
          </a:p>
        </p:txBody>
      </p:sp>
      <p:sp>
        <p:nvSpPr>
          <p:cNvPr id="31" name="Shape 24"/>
          <p:cNvSpPr/>
          <p:nvPr/>
        </p:nvSpPr>
        <p:spPr>
          <a:xfrm>
            <a:off x="347472" y="3895344"/>
            <a:ext cx="4133088" cy="877824"/>
          </a:xfrm>
          <a:prstGeom prst="roundRect">
            <a:avLst>
              <a:gd name="adj" fmla="val 7292"/>
            </a:avLst>
          </a:prstGeom>
          <a:solidFill>
            <a:srgbClr val="F8F8F8"/>
          </a:solidFill>
          <a:ln w="10160">
            <a:solidFill>
              <a:srgbClr val="83348F"/>
            </a:solidFill>
            <a:prstDash val="solid"/>
          </a:ln>
        </p:spPr>
      </p:sp>
      <p:sp>
        <p:nvSpPr>
          <p:cNvPr id="32" name="Shape 25"/>
          <p:cNvSpPr/>
          <p:nvPr/>
        </p:nvSpPr>
        <p:spPr>
          <a:xfrm>
            <a:off x="384048" y="4078224"/>
            <a:ext cx="512064" cy="512064"/>
          </a:xfrm>
          <a:prstGeom prst="ellipse">
            <a:avLst/>
          </a:prstGeom>
          <a:solidFill>
            <a:srgbClr val="83348F"/>
          </a:solidFill>
          <a:ln w="12700">
            <a:solidFill>
              <a:srgbClr val="83348F"/>
            </a:solidFill>
            <a:prstDash val="solid"/>
          </a:ln>
        </p:spPr>
      </p:sp>
      <p:pic>
        <p:nvPicPr>
          <p:cNvPr id="33" name="Image 5" descr="preencoded.png">    </p:cNvPr>
          <p:cNvPicPr>
            <a:picLocks noChangeAspect="1"/>
          </p:cNvPicPr>
          <p:nvPr/>
        </p:nvPicPr>
        <p:blipFill>
          <a:blip r:embed="rId6"/>
          <a:stretch>
            <a:fillRect/>
          </a:stretch>
        </p:blipFill>
        <p:spPr>
          <a:xfrm>
            <a:off x="499262" y="4193438"/>
            <a:ext cx="281635" cy="281635"/>
          </a:xfrm>
          <a:prstGeom prst="rect">
            <a:avLst/>
          </a:prstGeom>
        </p:spPr>
      </p:pic>
      <p:sp>
        <p:nvSpPr>
          <p:cNvPr id="34" name="Text 26"/>
          <p:cNvSpPr/>
          <p:nvPr/>
        </p:nvSpPr>
        <p:spPr>
          <a:xfrm>
            <a:off x="1005840" y="3968496"/>
            <a:ext cx="3364992" cy="274320"/>
          </a:xfrm>
          <a:prstGeom prst="rect">
            <a:avLst/>
          </a:prstGeom>
          <a:noFill/>
          <a:ln/>
        </p:spPr>
        <p:txBody>
          <a:bodyPr wrap="square" lIns="0" tIns="0" rIns="0" bIns="0" rtlCol="0" anchor="ctr"/>
          <a:lstStyle/>
          <a:p>
            <a:pPr indent="0" marL="0">
              <a:buNone/>
            </a:pPr>
            <a:r>
              <a:rPr lang="en-US" sz="1150" b="1" dirty="0">
                <a:solidFill>
                  <a:srgbClr val="83348F"/>
                </a:solidFill>
                <a:latin typeface="Arial" pitchFamily="34" charset="0"/>
                <a:ea typeface="Arial" pitchFamily="34" charset="-122"/>
                <a:cs typeface="Arial" pitchFamily="34" charset="-120"/>
              </a:rPr>
              <a:t>Emergency contacts</a:t>
            </a:r>
            <a:endParaRPr lang="en-US" sz="1150" dirty="0"/>
          </a:p>
        </p:txBody>
      </p:sp>
      <p:sp>
        <p:nvSpPr>
          <p:cNvPr id="35" name="Text 27"/>
          <p:cNvSpPr/>
          <p:nvPr/>
        </p:nvSpPr>
        <p:spPr>
          <a:xfrm>
            <a:off x="1005840" y="4297680"/>
            <a:ext cx="3364992" cy="420624"/>
          </a:xfrm>
          <a:prstGeom prst="rect">
            <a:avLst/>
          </a:prstGeom>
          <a:noFill/>
          <a:ln/>
        </p:spPr>
        <p:txBody>
          <a:bodyPr wrap="square" lIns="0" tIns="0" rIns="0" bIns="0" rtlCol="0" anchor="t"/>
          <a:lstStyle/>
          <a:p>
            <a:pPr indent="0" marL="0">
              <a:buNone/>
            </a:pPr>
            <a:r>
              <a:rPr lang="en-US" sz="1000" dirty="0">
                <a:solidFill>
                  <a:srgbClr val="5B595A"/>
                </a:solidFill>
                <a:latin typeface="Arial" pitchFamily="34" charset="0"/>
                <a:ea typeface="Arial" pitchFamily="34" charset="-122"/>
                <a:cs typeface="Arial" pitchFamily="34" charset="-120"/>
              </a:rPr>
              <a:t>Know the number for emergency services (999), your site's fire safety officer or premises manager, and your nearest first aider.</a:t>
            </a:r>
            <a:endParaRPr lang="en-US" sz="1000" dirty="0"/>
          </a:p>
        </p:txBody>
      </p:sp>
      <p:sp>
        <p:nvSpPr>
          <p:cNvPr id="36" name="Shape 28"/>
          <p:cNvSpPr/>
          <p:nvPr/>
        </p:nvSpPr>
        <p:spPr>
          <a:xfrm>
            <a:off x="4663440" y="3895344"/>
            <a:ext cx="4133088" cy="877824"/>
          </a:xfrm>
          <a:prstGeom prst="roundRect">
            <a:avLst>
              <a:gd name="adj" fmla="val 7292"/>
            </a:avLst>
          </a:prstGeom>
          <a:solidFill>
            <a:srgbClr val="F8F8F8"/>
          </a:solidFill>
          <a:ln w="10160">
            <a:solidFill>
              <a:srgbClr val="006FAA"/>
            </a:solidFill>
            <a:prstDash val="solid"/>
          </a:ln>
        </p:spPr>
      </p:sp>
      <p:sp>
        <p:nvSpPr>
          <p:cNvPr id="37" name="Shape 29"/>
          <p:cNvSpPr/>
          <p:nvPr/>
        </p:nvSpPr>
        <p:spPr>
          <a:xfrm>
            <a:off x="4700016" y="4078224"/>
            <a:ext cx="512064" cy="512064"/>
          </a:xfrm>
          <a:prstGeom prst="ellipse">
            <a:avLst/>
          </a:prstGeom>
          <a:solidFill>
            <a:srgbClr val="006FAA"/>
          </a:solidFill>
          <a:ln w="12700">
            <a:solidFill>
              <a:srgbClr val="006FAA"/>
            </a:solidFill>
            <a:prstDash val="solid"/>
          </a:ln>
        </p:spPr>
      </p:sp>
      <p:pic>
        <p:nvPicPr>
          <p:cNvPr id="38" name="Image 6" descr="preencoded.png">    </p:cNvPr>
          <p:cNvPicPr>
            <a:picLocks noChangeAspect="1"/>
          </p:cNvPicPr>
          <p:nvPr/>
        </p:nvPicPr>
        <p:blipFill>
          <a:blip r:embed="rId7"/>
          <a:stretch>
            <a:fillRect/>
          </a:stretch>
        </p:blipFill>
        <p:spPr>
          <a:xfrm>
            <a:off x="4815230" y="4193438"/>
            <a:ext cx="281635" cy="281635"/>
          </a:xfrm>
          <a:prstGeom prst="rect">
            <a:avLst/>
          </a:prstGeom>
        </p:spPr>
      </p:pic>
      <p:sp>
        <p:nvSpPr>
          <p:cNvPr id="39" name="Text 30"/>
          <p:cNvSpPr/>
          <p:nvPr/>
        </p:nvSpPr>
        <p:spPr>
          <a:xfrm>
            <a:off x="5321808" y="3968496"/>
            <a:ext cx="3364992" cy="274320"/>
          </a:xfrm>
          <a:prstGeom prst="rect">
            <a:avLst/>
          </a:prstGeom>
          <a:noFill/>
          <a:ln/>
        </p:spPr>
        <p:txBody>
          <a:bodyPr wrap="square" lIns="0" tIns="0" rIns="0" bIns="0" rtlCol="0" anchor="ctr"/>
          <a:lstStyle/>
          <a:p>
            <a:pPr indent="0" marL="0">
              <a:buNone/>
            </a:pPr>
            <a:r>
              <a:rPr lang="en-US" sz="1150" b="1" dirty="0">
                <a:solidFill>
                  <a:srgbClr val="006FAA"/>
                </a:solidFill>
                <a:latin typeface="Arial" pitchFamily="34" charset="0"/>
                <a:ea typeface="Arial" pitchFamily="34" charset="-122"/>
                <a:cs typeface="Arial" pitchFamily="34" charset="-120"/>
              </a:rPr>
              <a:t>Fire action notices</a:t>
            </a:r>
            <a:endParaRPr lang="en-US" sz="1150" dirty="0"/>
          </a:p>
        </p:txBody>
      </p:sp>
      <p:sp>
        <p:nvSpPr>
          <p:cNvPr id="40" name="Text 31"/>
          <p:cNvSpPr/>
          <p:nvPr/>
        </p:nvSpPr>
        <p:spPr>
          <a:xfrm>
            <a:off x="5321808" y="4297680"/>
            <a:ext cx="3364992" cy="420624"/>
          </a:xfrm>
          <a:prstGeom prst="rect">
            <a:avLst/>
          </a:prstGeom>
          <a:noFill/>
          <a:ln/>
        </p:spPr>
        <p:txBody>
          <a:bodyPr wrap="square" lIns="0" tIns="0" rIns="0" bIns="0" rtlCol="0" anchor="t"/>
          <a:lstStyle/>
          <a:p>
            <a:pPr indent="0" marL="0">
              <a:buNone/>
            </a:pPr>
            <a:r>
              <a:rPr lang="en-US" sz="1000" dirty="0">
                <a:solidFill>
                  <a:srgbClr val="5B595A"/>
                </a:solidFill>
                <a:latin typeface="Arial" pitchFamily="34" charset="0"/>
                <a:ea typeface="Arial" pitchFamily="34" charset="-122"/>
                <a:cs typeface="Arial" pitchFamily="34" charset="-120"/>
              </a:rPr>
              <a:t>Posted throughout the building. Read them before an emergency — not during. Confirm they are up to date and clearly visible in your area.</a:t>
            </a:r>
            <a:endParaRPr lang="en-US" sz="1000" dirty="0"/>
          </a:p>
        </p:txBody>
      </p:sp>
      <p:sp>
        <p:nvSpPr>
          <p:cNvPr id="41" name="Rectangle 4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11"/>
          <a:stretch>
            <a:fillRect/>
          </a:stretch>
        </p:blipFill>
        <p:spPr>
          <a:xfrm>
            <a:off x="7562088" y="100584"/>
            <a:ext cx="566928" cy="347472"/>
          </a:xfrm>
          <a:prstGeom prst="rect">
            <a:avLst/>
          </a:prstGeom>
        </p:spPr>
      </p:pic>
      <p:pic>
        <p:nvPicPr>
          <p:cNvPr id="43" name="Picture 42" descr="image.png"/>
          <p:cNvPicPr>
            <a:picLocks noChangeAspect="1"/>
          </p:cNvPicPr>
          <p:nvPr/>
        </p:nvPicPr>
        <p:blipFill>
          <a:blip r:embed="rId10"/>
          <a:stretch>
            <a:fillRect/>
          </a:stretch>
        </p:blipFill>
        <p:spPr>
          <a:xfrm>
            <a:off x="8174736" y="100584"/>
            <a:ext cx="658368" cy="347472"/>
          </a:xfrm>
          <a:prstGeom prst="rect">
            <a:avLst/>
          </a:prstGeom>
        </p:spPr>
      </p:pic>
      <p:sp>
        <p:nvSpPr>
          <p:cNvPr id="44" name="Rectangle 4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D4550A"/>
          </a:solidFill>
          <a:ln w="12700">
            <a:solidFill>
              <a:srgbClr val="D4550A"/>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Extinguishers</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Fire Extinguisher Types: Match the Extinguisher to the Fire</a:t>
            </a:r>
            <a:endParaRPr lang="en-US" sz="2600" dirty="0"/>
          </a:p>
        </p:txBody>
      </p:sp>
      <p:sp>
        <p:nvSpPr>
          <p:cNvPr id="9" name="Shape 6"/>
          <p:cNvSpPr/>
          <p:nvPr/>
        </p:nvSpPr>
        <p:spPr>
          <a:xfrm>
            <a:off x="347472" y="1261872"/>
            <a:ext cx="8449056" cy="0"/>
          </a:xfrm>
          <a:prstGeom prst="line">
            <a:avLst/>
          </a:prstGeom>
          <a:noFill/>
          <a:ln w="19050">
            <a:solidFill>
              <a:srgbClr val="D4550A"/>
            </a:solidFill>
            <a:prstDash val="solid"/>
          </a:ln>
        </p:spPr>
      </p:sp>
      <p:sp>
        <p:nvSpPr>
          <p:cNvPr id="10" name="Text 7"/>
          <p:cNvSpPr/>
          <p:nvPr/>
        </p:nvSpPr>
        <p:spPr>
          <a:xfrm>
            <a:off x="347472" y="1353312"/>
            <a:ext cx="8449056" cy="411480"/>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Using the wrong type of extinguisher on a fire can make it significantly worse. Never use water on an electrical or flammable liquid fire. Know the types in your area before you need them.</a:t>
            </a:r>
            <a:endParaRPr lang="en-US" sz="1250" dirty="0"/>
          </a:p>
        </p:txBody>
      </p:sp>
      <p:sp>
        <p:nvSpPr>
          <p:cNvPr id="11" name="Shape 8"/>
          <p:cNvSpPr/>
          <p:nvPr/>
        </p:nvSpPr>
        <p:spPr>
          <a:xfrm>
            <a:off x="347472" y="1901952"/>
            <a:ext cx="822960" cy="548640"/>
          </a:xfrm>
          <a:prstGeom prst="roundRect">
            <a:avLst>
              <a:gd name="adj" fmla="val 10000"/>
            </a:avLst>
          </a:prstGeom>
          <a:solidFill>
            <a:srgbClr val="CC0000"/>
          </a:solidFill>
          <a:ln w="12700">
            <a:solidFill>
              <a:srgbClr val="CC0000"/>
            </a:solidFill>
            <a:prstDash val="solid"/>
          </a:ln>
        </p:spPr>
      </p:sp>
      <p:sp>
        <p:nvSpPr>
          <p:cNvPr id="12" name="Text 9"/>
          <p:cNvSpPr/>
          <p:nvPr/>
        </p:nvSpPr>
        <p:spPr>
          <a:xfrm>
            <a:off x="1261872" y="1938528"/>
            <a:ext cx="2286000" cy="274320"/>
          </a:xfrm>
          <a:prstGeom prst="rect">
            <a:avLst/>
          </a:prstGeom>
          <a:noFill/>
          <a:ln/>
        </p:spPr>
        <p:txBody>
          <a:bodyPr wrap="square" lIns="0" tIns="0" rIns="0" bIns="0" rtlCol="0" anchor="ctr"/>
          <a:lstStyle/>
          <a:p>
            <a:pPr indent="0" marL="0">
              <a:buNone/>
            </a:pPr>
            <a:r>
              <a:rPr lang="en-US" sz="1100" b="1" dirty="0">
                <a:solidFill>
                  <a:srgbClr val="CC0000"/>
                </a:solidFill>
                <a:latin typeface="Arial" pitchFamily="34" charset="0"/>
                <a:ea typeface="Arial" pitchFamily="34" charset="-122"/>
                <a:cs typeface="Arial" pitchFamily="34" charset="-120"/>
              </a:rPr>
              <a:t>Water (Red)</a:t>
            </a:r>
            <a:endParaRPr lang="en-US" sz="1100" dirty="0"/>
          </a:p>
        </p:txBody>
      </p:sp>
      <p:sp>
        <p:nvSpPr>
          <p:cNvPr id="13" name="Text 10"/>
          <p:cNvSpPr/>
          <p:nvPr/>
        </p:nvSpPr>
        <p:spPr>
          <a:xfrm>
            <a:off x="1261872" y="2212848"/>
            <a:ext cx="3657600" cy="201168"/>
          </a:xfrm>
          <a:prstGeom prst="rect">
            <a:avLst/>
          </a:prstGeom>
          <a:noFill/>
          <a:ln/>
        </p:spPr>
        <p:txBody>
          <a:bodyPr wrap="square" lIns="0" tIns="0" rIns="0" bIns="0" rtlCol="0" anchor="ctr"/>
          <a:lstStyle/>
          <a:p>
            <a:pPr indent="0" marL="0">
              <a:buNone/>
            </a:pPr>
            <a:r>
              <a:rPr lang="en-US" sz="1050" b="1" dirty="0">
                <a:solidFill>
                  <a:srgbClr val="2E8B57"/>
                </a:solidFill>
                <a:latin typeface="Arial" pitchFamily="34" charset="0"/>
                <a:ea typeface="Arial" pitchFamily="34" charset="-122"/>
                <a:cs typeface="Arial" pitchFamily="34" charset="-120"/>
              </a:rPr>
              <a:t>Use for: Paper, wood, textiles (Class A)</a:t>
            </a:r>
            <a:endParaRPr lang="en-US" sz="1050" dirty="0"/>
          </a:p>
        </p:txBody>
      </p:sp>
      <p:sp>
        <p:nvSpPr>
          <p:cNvPr id="14" name="Text 11"/>
          <p:cNvSpPr/>
          <p:nvPr/>
        </p:nvSpPr>
        <p:spPr>
          <a:xfrm>
            <a:off x="4956048" y="1938528"/>
            <a:ext cx="3794760" cy="475488"/>
          </a:xfrm>
          <a:prstGeom prst="rect">
            <a:avLst/>
          </a:prstGeom>
          <a:noFill/>
          <a:ln/>
        </p:spPr>
        <p:txBody>
          <a:bodyPr wrap="square" lIns="0" tIns="0" rIns="0" bIns="0" rtlCol="0" anchor="ctr"/>
          <a:lstStyle/>
          <a:p>
            <a:pPr indent="0" marL="0">
              <a:buNone/>
            </a:pPr>
            <a:r>
              <a:rPr lang="en-US" sz="1050" dirty="0">
                <a:solidFill>
                  <a:srgbClr val="C0392B"/>
                </a:solidFill>
                <a:latin typeface="Arial" pitchFamily="34" charset="0"/>
                <a:ea typeface="Arial" pitchFamily="34" charset="-122"/>
                <a:cs typeface="Arial" pitchFamily="34" charset="-120"/>
              </a:rPr>
              <a:t>Avoid: Electrical fires. Flammable liquids.</a:t>
            </a:r>
            <a:endParaRPr lang="en-US" sz="1050" dirty="0"/>
          </a:p>
        </p:txBody>
      </p:sp>
      <p:sp>
        <p:nvSpPr>
          <p:cNvPr id="15" name="Shape 12"/>
          <p:cNvSpPr/>
          <p:nvPr/>
        </p:nvSpPr>
        <p:spPr>
          <a:xfrm>
            <a:off x="347472" y="2523744"/>
            <a:ext cx="822960" cy="548640"/>
          </a:xfrm>
          <a:prstGeom prst="roundRect">
            <a:avLst>
              <a:gd name="adj" fmla="val 10000"/>
            </a:avLst>
          </a:prstGeom>
          <a:solidFill>
            <a:srgbClr val="E05000"/>
          </a:solidFill>
          <a:ln w="12700">
            <a:solidFill>
              <a:srgbClr val="E05000"/>
            </a:solidFill>
            <a:prstDash val="solid"/>
          </a:ln>
        </p:spPr>
      </p:sp>
      <p:sp>
        <p:nvSpPr>
          <p:cNvPr id="16" name="Text 13"/>
          <p:cNvSpPr/>
          <p:nvPr/>
        </p:nvSpPr>
        <p:spPr>
          <a:xfrm>
            <a:off x="1261872" y="2560320"/>
            <a:ext cx="2286000" cy="274320"/>
          </a:xfrm>
          <a:prstGeom prst="rect">
            <a:avLst/>
          </a:prstGeom>
          <a:noFill/>
          <a:ln/>
        </p:spPr>
        <p:txBody>
          <a:bodyPr wrap="square" lIns="0" tIns="0" rIns="0" bIns="0" rtlCol="0" anchor="ctr"/>
          <a:lstStyle/>
          <a:p>
            <a:pPr indent="0" marL="0">
              <a:buNone/>
            </a:pPr>
            <a:r>
              <a:rPr lang="en-US" sz="1100" b="1" dirty="0">
                <a:solidFill>
                  <a:srgbClr val="E05000"/>
                </a:solidFill>
                <a:latin typeface="Arial" pitchFamily="34" charset="0"/>
                <a:ea typeface="Arial" pitchFamily="34" charset="-122"/>
                <a:cs typeface="Arial" pitchFamily="34" charset="-120"/>
              </a:rPr>
              <a:t>CO2 (Black)</a:t>
            </a:r>
            <a:endParaRPr lang="en-US" sz="1100" dirty="0"/>
          </a:p>
        </p:txBody>
      </p:sp>
      <p:sp>
        <p:nvSpPr>
          <p:cNvPr id="17" name="Text 14"/>
          <p:cNvSpPr/>
          <p:nvPr/>
        </p:nvSpPr>
        <p:spPr>
          <a:xfrm>
            <a:off x="1261872" y="2834640"/>
            <a:ext cx="3657600" cy="201168"/>
          </a:xfrm>
          <a:prstGeom prst="rect">
            <a:avLst/>
          </a:prstGeom>
          <a:noFill/>
          <a:ln/>
        </p:spPr>
        <p:txBody>
          <a:bodyPr wrap="square" lIns="0" tIns="0" rIns="0" bIns="0" rtlCol="0" anchor="ctr"/>
          <a:lstStyle/>
          <a:p>
            <a:pPr indent="0" marL="0">
              <a:buNone/>
            </a:pPr>
            <a:r>
              <a:rPr lang="en-US" sz="1050" b="1" dirty="0">
                <a:solidFill>
                  <a:srgbClr val="2E8B57"/>
                </a:solidFill>
                <a:latin typeface="Arial" pitchFamily="34" charset="0"/>
                <a:ea typeface="Arial" pitchFamily="34" charset="-122"/>
                <a:cs typeface="Arial" pitchFamily="34" charset="-120"/>
              </a:rPr>
              <a:t>Use for: Electrical equipment. Flammable liquids (Class B/E)</a:t>
            </a:r>
            <a:endParaRPr lang="en-US" sz="1050" dirty="0"/>
          </a:p>
        </p:txBody>
      </p:sp>
      <p:sp>
        <p:nvSpPr>
          <p:cNvPr id="18" name="Text 15"/>
          <p:cNvSpPr/>
          <p:nvPr/>
        </p:nvSpPr>
        <p:spPr>
          <a:xfrm>
            <a:off x="4956048" y="2560320"/>
            <a:ext cx="3794760" cy="475488"/>
          </a:xfrm>
          <a:prstGeom prst="rect">
            <a:avLst/>
          </a:prstGeom>
          <a:noFill/>
          <a:ln/>
        </p:spPr>
        <p:txBody>
          <a:bodyPr wrap="square" lIns="0" tIns="0" rIns="0" bIns="0" rtlCol="0" anchor="ctr"/>
          <a:lstStyle/>
          <a:p>
            <a:pPr indent="0" marL="0">
              <a:buNone/>
            </a:pPr>
            <a:r>
              <a:rPr lang="en-US" sz="1050" dirty="0">
                <a:solidFill>
                  <a:srgbClr val="C0392B"/>
                </a:solidFill>
                <a:latin typeface="Arial" pitchFamily="34" charset="0"/>
                <a:ea typeface="Arial" pitchFamily="34" charset="-122"/>
                <a:cs typeface="Arial" pitchFamily="34" charset="-120"/>
              </a:rPr>
              <a:t>Avoid: Do not use in confined spaces. No knock-back effect.</a:t>
            </a:r>
            <a:endParaRPr lang="en-US" sz="1050" dirty="0"/>
          </a:p>
        </p:txBody>
      </p:sp>
      <p:sp>
        <p:nvSpPr>
          <p:cNvPr id="19" name="Shape 16"/>
          <p:cNvSpPr/>
          <p:nvPr/>
        </p:nvSpPr>
        <p:spPr>
          <a:xfrm>
            <a:off x="347472" y="3145536"/>
            <a:ext cx="822960" cy="548640"/>
          </a:xfrm>
          <a:prstGeom prst="roundRect">
            <a:avLst>
              <a:gd name="adj" fmla="val 10000"/>
            </a:avLst>
          </a:prstGeom>
          <a:solidFill>
            <a:srgbClr val="333399"/>
          </a:solidFill>
          <a:ln w="12700">
            <a:solidFill>
              <a:srgbClr val="333399"/>
            </a:solidFill>
            <a:prstDash val="solid"/>
          </a:ln>
        </p:spPr>
      </p:sp>
      <p:sp>
        <p:nvSpPr>
          <p:cNvPr id="20" name="Text 17"/>
          <p:cNvSpPr/>
          <p:nvPr/>
        </p:nvSpPr>
        <p:spPr>
          <a:xfrm>
            <a:off x="1261872" y="3182112"/>
            <a:ext cx="2286000" cy="274320"/>
          </a:xfrm>
          <a:prstGeom prst="rect">
            <a:avLst/>
          </a:prstGeom>
          <a:noFill/>
          <a:ln/>
        </p:spPr>
        <p:txBody>
          <a:bodyPr wrap="square" lIns="0" tIns="0" rIns="0" bIns="0" rtlCol="0" anchor="ctr"/>
          <a:lstStyle/>
          <a:p>
            <a:pPr indent="0" marL="0">
              <a:buNone/>
            </a:pPr>
            <a:r>
              <a:rPr lang="en-US" sz="1100" b="1" dirty="0">
                <a:solidFill>
                  <a:srgbClr val="333399"/>
                </a:solidFill>
                <a:latin typeface="Arial" pitchFamily="34" charset="0"/>
                <a:ea typeface="Arial" pitchFamily="34" charset="-122"/>
                <a:cs typeface="Arial" pitchFamily="34" charset="-120"/>
              </a:rPr>
              <a:t>Dry Powder (Blue)</a:t>
            </a:r>
            <a:endParaRPr lang="en-US" sz="1100" dirty="0"/>
          </a:p>
        </p:txBody>
      </p:sp>
      <p:sp>
        <p:nvSpPr>
          <p:cNvPr id="21" name="Text 18"/>
          <p:cNvSpPr/>
          <p:nvPr/>
        </p:nvSpPr>
        <p:spPr>
          <a:xfrm>
            <a:off x="1261872" y="3456432"/>
            <a:ext cx="3657600" cy="201168"/>
          </a:xfrm>
          <a:prstGeom prst="rect">
            <a:avLst/>
          </a:prstGeom>
          <a:noFill/>
          <a:ln/>
        </p:spPr>
        <p:txBody>
          <a:bodyPr wrap="square" lIns="0" tIns="0" rIns="0" bIns="0" rtlCol="0" anchor="ctr"/>
          <a:lstStyle/>
          <a:p>
            <a:pPr indent="0" marL="0">
              <a:buNone/>
            </a:pPr>
            <a:r>
              <a:rPr lang="en-US" sz="1050" b="1" dirty="0">
                <a:solidFill>
                  <a:srgbClr val="2E8B57"/>
                </a:solidFill>
                <a:latin typeface="Arial" pitchFamily="34" charset="0"/>
                <a:ea typeface="Arial" pitchFamily="34" charset="-122"/>
                <a:cs typeface="Arial" pitchFamily="34" charset="-120"/>
              </a:rPr>
              <a:t>Use for: Flammable liquids, gases, electrical (B/C/E)</a:t>
            </a:r>
            <a:endParaRPr lang="en-US" sz="1050" dirty="0"/>
          </a:p>
        </p:txBody>
      </p:sp>
      <p:sp>
        <p:nvSpPr>
          <p:cNvPr id="22" name="Text 19"/>
          <p:cNvSpPr/>
          <p:nvPr/>
        </p:nvSpPr>
        <p:spPr>
          <a:xfrm>
            <a:off x="4956048" y="3182112"/>
            <a:ext cx="3794760" cy="475488"/>
          </a:xfrm>
          <a:prstGeom prst="rect">
            <a:avLst/>
          </a:prstGeom>
          <a:noFill/>
          <a:ln/>
        </p:spPr>
        <p:txBody>
          <a:bodyPr wrap="square" lIns="0" tIns="0" rIns="0" bIns="0" rtlCol="0" anchor="ctr"/>
          <a:lstStyle/>
          <a:p>
            <a:pPr indent="0" marL="0">
              <a:buNone/>
            </a:pPr>
            <a:r>
              <a:rPr lang="en-US" sz="1050" dirty="0">
                <a:solidFill>
                  <a:srgbClr val="C0392B"/>
                </a:solidFill>
                <a:latin typeface="Arial" pitchFamily="34" charset="0"/>
                <a:ea typeface="Arial" pitchFamily="34" charset="-122"/>
                <a:cs typeface="Arial" pitchFamily="34" charset="-120"/>
              </a:rPr>
              <a:t>Avoid: Damages equipment. Poor visibility when discharged.</a:t>
            </a:r>
            <a:endParaRPr lang="en-US" sz="1050" dirty="0"/>
          </a:p>
        </p:txBody>
      </p:sp>
      <p:sp>
        <p:nvSpPr>
          <p:cNvPr id="23" name="Shape 20"/>
          <p:cNvSpPr/>
          <p:nvPr/>
        </p:nvSpPr>
        <p:spPr>
          <a:xfrm>
            <a:off x="347472" y="3767328"/>
            <a:ext cx="822960" cy="548640"/>
          </a:xfrm>
          <a:prstGeom prst="roundRect">
            <a:avLst>
              <a:gd name="adj" fmla="val 10000"/>
            </a:avLst>
          </a:prstGeom>
          <a:solidFill>
            <a:srgbClr val="AAAA00"/>
          </a:solidFill>
          <a:ln w="12700">
            <a:solidFill>
              <a:srgbClr val="AAAA00"/>
            </a:solidFill>
            <a:prstDash val="solid"/>
          </a:ln>
        </p:spPr>
      </p:sp>
      <p:sp>
        <p:nvSpPr>
          <p:cNvPr id="24" name="Text 21"/>
          <p:cNvSpPr/>
          <p:nvPr/>
        </p:nvSpPr>
        <p:spPr>
          <a:xfrm>
            <a:off x="1261872" y="3803904"/>
            <a:ext cx="2286000" cy="274320"/>
          </a:xfrm>
          <a:prstGeom prst="rect">
            <a:avLst/>
          </a:prstGeom>
          <a:noFill/>
          <a:ln/>
        </p:spPr>
        <p:txBody>
          <a:bodyPr wrap="square" lIns="0" tIns="0" rIns="0" bIns="0" rtlCol="0" anchor="ctr"/>
          <a:lstStyle/>
          <a:p>
            <a:pPr indent="0" marL="0">
              <a:buNone/>
            </a:pPr>
            <a:r>
              <a:rPr lang="en-US" sz="1100" b="1" dirty="0">
                <a:solidFill>
                  <a:srgbClr val="AAAA00"/>
                </a:solidFill>
                <a:latin typeface="Arial" pitchFamily="34" charset="0"/>
                <a:ea typeface="Arial" pitchFamily="34" charset="-122"/>
                <a:cs typeface="Arial" pitchFamily="34" charset="-120"/>
              </a:rPr>
              <a:t>Foam (Cream)</a:t>
            </a:r>
            <a:endParaRPr lang="en-US" sz="1100" dirty="0"/>
          </a:p>
        </p:txBody>
      </p:sp>
      <p:sp>
        <p:nvSpPr>
          <p:cNvPr id="25" name="Text 22"/>
          <p:cNvSpPr/>
          <p:nvPr/>
        </p:nvSpPr>
        <p:spPr>
          <a:xfrm>
            <a:off x="1261872" y="4078224"/>
            <a:ext cx="3657600" cy="201168"/>
          </a:xfrm>
          <a:prstGeom prst="rect">
            <a:avLst/>
          </a:prstGeom>
          <a:noFill/>
          <a:ln/>
        </p:spPr>
        <p:txBody>
          <a:bodyPr wrap="square" lIns="0" tIns="0" rIns="0" bIns="0" rtlCol="0" anchor="ctr"/>
          <a:lstStyle/>
          <a:p>
            <a:pPr indent="0" marL="0">
              <a:buNone/>
            </a:pPr>
            <a:r>
              <a:rPr lang="en-US" sz="1050" b="1" dirty="0">
                <a:solidFill>
                  <a:srgbClr val="2E8B57"/>
                </a:solidFill>
                <a:latin typeface="Arial" pitchFamily="34" charset="0"/>
                <a:ea typeface="Arial" pitchFamily="34" charset="-122"/>
                <a:cs typeface="Arial" pitchFamily="34" charset="-120"/>
              </a:rPr>
              <a:t>Use for: Flammable liquids (Class B). Also Class A</a:t>
            </a:r>
            <a:endParaRPr lang="en-US" sz="1050" dirty="0"/>
          </a:p>
        </p:txBody>
      </p:sp>
      <p:sp>
        <p:nvSpPr>
          <p:cNvPr id="26" name="Text 23"/>
          <p:cNvSpPr/>
          <p:nvPr/>
        </p:nvSpPr>
        <p:spPr>
          <a:xfrm>
            <a:off x="4956048" y="3803904"/>
            <a:ext cx="3794760" cy="475488"/>
          </a:xfrm>
          <a:prstGeom prst="rect">
            <a:avLst/>
          </a:prstGeom>
          <a:noFill/>
          <a:ln/>
        </p:spPr>
        <p:txBody>
          <a:bodyPr wrap="square" lIns="0" tIns="0" rIns="0" bIns="0" rtlCol="0" anchor="ctr"/>
          <a:lstStyle/>
          <a:p>
            <a:pPr indent="0" marL="0">
              <a:buNone/>
            </a:pPr>
            <a:r>
              <a:rPr lang="en-US" sz="1050" dirty="0">
                <a:solidFill>
                  <a:srgbClr val="C0392B"/>
                </a:solidFill>
                <a:latin typeface="Arial" pitchFamily="34" charset="0"/>
                <a:ea typeface="Arial" pitchFamily="34" charset="-122"/>
                <a:cs typeface="Arial" pitchFamily="34" charset="-120"/>
              </a:rPr>
              <a:t>Avoid: Do not use on electrical fires or cooking oils.</a:t>
            </a:r>
            <a:endParaRPr lang="en-US" sz="1050" dirty="0"/>
          </a:p>
        </p:txBody>
      </p:sp>
      <p:sp>
        <p:nvSpPr>
          <p:cNvPr id="27" name="Shape 24"/>
          <p:cNvSpPr/>
          <p:nvPr/>
        </p:nvSpPr>
        <p:spPr>
          <a:xfrm>
            <a:off x="347472" y="4389120"/>
            <a:ext cx="822960" cy="548640"/>
          </a:xfrm>
          <a:prstGeom prst="roundRect">
            <a:avLst>
              <a:gd name="adj" fmla="val 10000"/>
            </a:avLst>
          </a:prstGeom>
          <a:solidFill>
            <a:srgbClr val="336633"/>
          </a:solidFill>
          <a:ln w="12700">
            <a:solidFill>
              <a:srgbClr val="336633"/>
            </a:solidFill>
            <a:prstDash val="solid"/>
          </a:ln>
        </p:spPr>
      </p:sp>
      <p:sp>
        <p:nvSpPr>
          <p:cNvPr id="28" name="Text 25"/>
          <p:cNvSpPr/>
          <p:nvPr/>
        </p:nvSpPr>
        <p:spPr>
          <a:xfrm>
            <a:off x="1261872" y="4425696"/>
            <a:ext cx="2286000" cy="274320"/>
          </a:xfrm>
          <a:prstGeom prst="rect">
            <a:avLst/>
          </a:prstGeom>
          <a:noFill/>
          <a:ln/>
        </p:spPr>
        <p:txBody>
          <a:bodyPr wrap="square" lIns="0" tIns="0" rIns="0" bIns="0" rtlCol="0" anchor="ctr"/>
          <a:lstStyle/>
          <a:p>
            <a:pPr indent="0" marL="0">
              <a:buNone/>
            </a:pPr>
            <a:r>
              <a:rPr lang="en-US" sz="1100" b="1" dirty="0">
                <a:solidFill>
                  <a:srgbClr val="336633"/>
                </a:solidFill>
                <a:latin typeface="Arial" pitchFamily="34" charset="0"/>
                <a:ea typeface="Arial" pitchFamily="34" charset="-122"/>
                <a:cs typeface="Arial" pitchFamily="34" charset="-120"/>
              </a:rPr>
              <a:t>Wet Chemical (Yellow)</a:t>
            </a:r>
            <a:endParaRPr lang="en-US" sz="1100" dirty="0"/>
          </a:p>
        </p:txBody>
      </p:sp>
      <p:sp>
        <p:nvSpPr>
          <p:cNvPr id="30" name="Text 27"/>
          <p:cNvSpPr/>
          <p:nvPr/>
        </p:nvSpPr>
        <p:spPr>
          <a:xfrm>
            <a:off x="4956048" y="4425696"/>
            <a:ext cx="3794760" cy="475488"/>
          </a:xfrm>
          <a:prstGeom prst="rect">
            <a:avLst/>
          </a:prstGeom>
          <a:noFill/>
          <a:ln/>
        </p:spPr>
        <p:txBody>
          <a:bodyPr wrap="square" lIns="0" tIns="0" rIns="0" bIns="0" rtlCol="0" anchor="ctr"/>
          <a:lstStyle/>
          <a:p>
            <a:pPr indent="0" marL="0">
              <a:buNone/>
            </a:pPr>
            <a:r>
              <a:rPr lang="en-US" sz="1050" dirty="0">
                <a:solidFill>
                  <a:srgbClr val="C0392B"/>
                </a:solidFill>
                <a:latin typeface="Arial" pitchFamily="34" charset="0"/>
                <a:ea typeface="Arial" pitchFamily="34" charset="-122"/>
                <a:cs typeface="Arial" pitchFamily="34" charset="-120"/>
              </a:rPr>
              <a:t>Avoid: Not suitable for Class B or electrical fires.</a:t>
            </a:r>
            <a:endParaRPr lang="en-US" sz="1050" dirty="0"/>
          </a:p>
        </p:txBody>
      </p:sp>
      <p:sp>
        <p:nvSpPr>
          <p:cNvPr id="31" name="Shape 28"/>
          <p:cNvSpPr/>
          <p:nvPr/>
        </p:nvSpPr>
        <p:spPr>
          <a:xfrm>
            <a:off x="347472" y="4261104"/>
            <a:ext cx="8449056" cy="402336"/>
          </a:xfrm>
          <a:prstGeom prst="roundRect">
            <a:avLst>
              <a:gd name="adj" fmla="val 13636"/>
            </a:avLst>
          </a:prstGeom>
          <a:solidFill>
            <a:srgbClr val="001E3C"/>
          </a:solidFill>
          <a:ln w="12700">
            <a:solidFill>
              <a:srgbClr val="001E3C"/>
            </a:solidFill>
            <a:prstDash val="solid"/>
          </a:ln>
        </p:spPr>
      </p:sp>
      <p:sp>
        <p:nvSpPr>
          <p:cNvPr id="32" name="Text 29"/>
          <p:cNvSpPr/>
          <p:nvPr/>
        </p:nvSpPr>
        <p:spPr>
          <a:xfrm>
            <a:off x="475488" y="4279392"/>
            <a:ext cx="8229600" cy="365760"/>
          </a:xfrm>
          <a:prstGeom prst="rect">
            <a:avLst/>
          </a:prstGeom>
          <a:noFill/>
          <a:ln/>
        </p:spPr>
        <p:txBody>
          <a:bodyPr wrap="square" lIns="0" tIns="0" rIns="0" bIns="0" rtlCol="0" anchor="ctr"/>
          <a:lstStyle/>
          <a:p>
            <a:pPr indent="0" marL="0">
              <a:buNone/>
            </a:pPr>
            <a:r>
              <a:rPr lang="en-US" sz="1150" b="1" dirty="0">
                <a:solidFill>
                  <a:srgbClr val="009FE3"/>
                </a:solidFill>
                <a:latin typeface="Arial" pitchFamily="34" charset="0"/>
                <a:ea typeface="Arial" pitchFamily="34" charset="-122"/>
                <a:cs typeface="Arial" pitchFamily="34" charset="-120"/>
              </a:rPr>
              <a:t>P.A.S.S technique:  </a:t>
            </a:r>
            <a:pPr indent="0" marL="0">
              <a:buNone/>
            </a:pPr>
            <a:r>
              <a:rPr lang="en-US" sz="1150" dirty="0">
                <a:solidFill>
                  <a:srgbClr val="FFFFFF"/>
                </a:solidFill>
                <a:latin typeface="Arial" pitchFamily="34" charset="0"/>
                <a:ea typeface="Arial" pitchFamily="34" charset="-122"/>
                <a:cs typeface="Arial" pitchFamily="34" charset="-120"/>
              </a:rPr>
              <a:t>Pull the pin  |  Aim at the base of the fire  |  Squeeze the handle  |  Sweep side to side. Only tackle a fire in its earliest stages and when you have a clear exit behind you.</a:t>
            </a:r>
            <a:endParaRPr lang="en-US" sz="1150" dirty="0"/>
          </a:p>
        </p:txBody>
      </p:sp>
      <p:sp>
        <p:nvSpPr>
          <p:cNvPr id="33" name="Rectangle 32"/>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5"/>
          <a:stretch>
            <a:fillRect/>
          </a:stretch>
        </p:blipFill>
        <p:spPr>
          <a:xfrm>
            <a:off x="7562088" y="100584"/>
            <a:ext cx="566928" cy="347472"/>
          </a:xfrm>
          <a:prstGeom prst="rect">
            <a:avLst/>
          </a:prstGeom>
        </p:spPr>
      </p:pic>
      <p:pic>
        <p:nvPicPr>
          <p:cNvPr id="35" name="Picture 34" descr="image.png"/>
          <p:cNvPicPr>
            <a:picLocks noChangeAspect="1"/>
          </p:cNvPicPr>
          <p:nvPr/>
        </p:nvPicPr>
        <p:blipFill>
          <a:blip r:embed="rId4"/>
          <a:stretch>
            <a:fillRect/>
          </a:stretch>
        </p:blipFill>
        <p:spPr>
          <a:xfrm>
            <a:off x="8174736" y="100584"/>
            <a:ext cx="658368" cy="347472"/>
          </a:xfrm>
          <a:prstGeom prst="rect">
            <a:avLst/>
          </a:prstGeom>
        </p:spPr>
      </p:pic>
      <p:sp>
        <p:nvSpPr>
          <p:cNvPr id="36" name="Rectangle 35"/>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D4550A"/>
          </a:solidFill>
          <a:ln w="12700">
            <a:solidFill>
              <a:srgbClr val="D4550A"/>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Prevention</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Fire Doors and Hot Work: Two Critical Controls</a:t>
            </a:r>
            <a:endParaRPr lang="en-US" sz="2600" dirty="0"/>
          </a:p>
        </p:txBody>
      </p:sp>
      <p:sp>
        <p:nvSpPr>
          <p:cNvPr id="9" name="Shape 6"/>
          <p:cNvSpPr/>
          <p:nvPr/>
        </p:nvSpPr>
        <p:spPr>
          <a:xfrm>
            <a:off x="347472" y="1261872"/>
            <a:ext cx="8449056" cy="0"/>
          </a:xfrm>
          <a:prstGeom prst="line">
            <a:avLst/>
          </a:prstGeom>
          <a:noFill/>
          <a:ln w="19050">
            <a:solidFill>
              <a:srgbClr val="D4550A"/>
            </a:solidFill>
            <a:prstDash val="solid"/>
          </a:ln>
        </p:spPr>
      </p:sp>
      <p:sp>
        <p:nvSpPr>
          <p:cNvPr id="10" name="Text 7"/>
          <p:cNvSpPr/>
          <p:nvPr/>
        </p:nvSpPr>
        <p:spPr>
          <a:xfrm>
            <a:off x="347472" y="1353312"/>
            <a:ext cx="8449056" cy="438912"/>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Two of the most common fire safety failures in manufacturing workplaces are propped-open fire doors and hot work carried out without proper controls. Both are easily preventable and both have caused fatalities.</a:t>
            </a:r>
            <a:endParaRPr lang="en-US" sz="1250" dirty="0"/>
          </a:p>
        </p:txBody>
      </p:sp>
      <p:sp>
        <p:nvSpPr>
          <p:cNvPr id="11" name="Shape 8"/>
          <p:cNvSpPr/>
          <p:nvPr/>
        </p:nvSpPr>
        <p:spPr>
          <a:xfrm>
            <a:off x="347472" y="1901952"/>
            <a:ext cx="4133088" cy="329184"/>
          </a:xfrm>
          <a:prstGeom prst="rect">
            <a:avLst/>
          </a:prstGeom>
          <a:solidFill>
            <a:srgbClr val="C0392B"/>
          </a:solidFill>
          <a:ln w="12700">
            <a:solidFill>
              <a:srgbClr val="C0392B"/>
            </a:solidFill>
            <a:prstDash val="solid"/>
          </a:ln>
        </p:spPr>
      </p:sp>
      <p:sp>
        <p:nvSpPr>
          <p:cNvPr id="12" name="Text 9"/>
          <p:cNvSpPr/>
          <p:nvPr/>
        </p:nvSpPr>
        <p:spPr>
          <a:xfrm>
            <a:off x="457200" y="1920240"/>
            <a:ext cx="3977640"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Fire Doors: Never Prop Them Open</a:t>
            </a:r>
            <a:endParaRPr lang="en-US" sz="1150" dirty="0"/>
          </a:p>
        </p:txBody>
      </p:sp>
      <p:sp>
        <p:nvSpPr>
          <p:cNvPr id="13" name="Shape 10"/>
          <p:cNvSpPr/>
          <p:nvPr/>
        </p:nvSpPr>
        <p:spPr>
          <a:xfrm>
            <a:off x="420624" y="2304288"/>
            <a:ext cx="146304" cy="146304"/>
          </a:xfrm>
          <a:prstGeom prst="ellipse">
            <a:avLst/>
          </a:prstGeom>
          <a:solidFill>
            <a:srgbClr val="C0392B"/>
          </a:solidFill>
          <a:ln w="12700">
            <a:solidFill>
              <a:srgbClr val="C0392B"/>
            </a:solidFill>
            <a:prstDash val="solid"/>
          </a:ln>
        </p:spPr>
      </p:sp>
      <p:sp>
        <p:nvSpPr>
          <p:cNvPr id="14" name="Text 11"/>
          <p:cNvSpPr/>
          <p:nvPr/>
        </p:nvSpPr>
        <p:spPr>
          <a:xfrm>
            <a:off x="640080" y="2276856"/>
            <a:ext cx="3749040" cy="347472"/>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A closed fire door can hold back fire and smoke for 30-60 minutes — it is a physical life safety device</a:t>
            </a:r>
            <a:endParaRPr lang="en-US" sz="1100" dirty="0"/>
          </a:p>
        </p:txBody>
      </p:sp>
      <p:sp>
        <p:nvSpPr>
          <p:cNvPr id="15" name="Shape 12"/>
          <p:cNvSpPr/>
          <p:nvPr/>
        </p:nvSpPr>
        <p:spPr>
          <a:xfrm>
            <a:off x="420624" y="2688336"/>
            <a:ext cx="146304" cy="146304"/>
          </a:xfrm>
          <a:prstGeom prst="ellipse">
            <a:avLst/>
          </a:prstGeom>
          <a:solidFill>
            <a:srgbClr val="C0392B"/>
          </a:solidFill>
          <a:ln w="12700">
            <a:solidFill>
              <a:srgbClr val="C0392B"/>
            </a:solidFill>
            <a:prstDash val="solid"/>
          </a:ln>
        </p:spPr>
      </p:sp>
      <p:sp>
        <p:nvSpPr>
          <p:cNvPr id="16" name="Text 13"/>
          <p:cNvSpPr/>
          <p:nvPr/>
        </p:nvSpPr>
        <p:spPr>
          <a:xfrm>
            <a:off x="640080" y="2660904"/>
            <a:ext cx="3749040" cy="347472"/>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A propped-open fire door removes this protection entirely and may render the building's fire strategy ineffective</a:t>
            </a:r>
            <a:endParaRPr lang="en-US" sz="1100" dirty="0"/>
          </a:p>
        </p:txBody>
      </p:sp>
      <p:sp>
        <p:nvSpPr>
          <p:cNvPr id="17" name="Shape 14"/>
          <p:cNvSpPr/>
          <p:nvPr/>
        </p:nvSpPr>
        <p:spPr>
          <a:xfrm>
            <a:off x="420624" y="3072384"/>
            <a:ext cx="146304" cy="146304"/>
          </a:xfrm>
          <a:prstGeom prst="ellipse">
            <a:avLst/>
          </a:prstGeom>
          <a:solidFill>
            <a:srgbClr val="C0392B"/>
          </a:solidFill>
          <a:ln w="12700">
            <a:solidFill>
              <a:srgbClr val="C0392B"/>
            </a:solidFill>
            <a:prstDash val="solid"/>
          </a:ln>
        </p:spPr>
      </p:sp>
      <p:sp>
        <p:nvSpPr>
          <p:cNvPr id="18" name="Text 15"/>
          <p:cNvSpPr/>
          <p:nvPr/>
        </p:nvSpPr>
        <p:spPr>
          <a:xfrm>
            <a:off x="640080" y="3044952"/>
            <a:ext cx="3749040" cy="347472"/>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Fire doors must be self-closing. Report any door with a damaged or missing self-closer immediately</a:t>
            </a:r>
            <a:endParaRPr lang="en-US" sz="1100" dirty="0"/>
          </a:p>
        </p:txBody>
      </p:sp>
      <p:sp>
        <p:nvSpPr>
          <p:cNvPr id="19" name="Shape 16"/>
          <p:cNvSpPr/>
          <p:nvPr/>
        </p:nvSpPr>
        <p:spPr>
          <a:xfrm>
            <a:off x="420624" y="3456432"/>
            <a:ext cx="146304" cy="146304"/>
          </a:xfrm>
          <a:prstGeom prst="ellipse">
            <a:avLst/>
          </a:prstGeom>
          <a:solidFill>
            <a:srgbClr val="C0392B"/>
          </a:solidFill>
          <a:ln w="12700">
            <a:solidFill>
              <a:srgbClr val="C0392B"/>
            </a:solidFill>
            <a:prstDash val="solid"/>
          </a:ln>
        </p:spPr>
      </p:sp>
      <p:sp>
        <p:nvSpPr>
          <p:cNvPr id="20" name="Text 17"/>
          <p:cNvSpPr/>
          <p:nvPr/>
        </p:nvSpPr>
        <p:spPr>
          <a:xfrm>
            <a:off x="640080" y="3429000"/>
            <a:ext cx="3749040" cy="347472"/>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Never wedge, prop, or deliberately hold open a fire door, even temporarily</a:t>
            </a:r>
            <a:endParaRPr lang="en-US" sz="1100" dirty="0"/>
          </a:p>
        </p:txBody>
      </p:sp>
      <p:sp>
        <p:nvSpPr>
          <p:cNvPr id="21" name="Shape 18"/>
          <p:cNvSpPr/>
          <p:nvPr/>
        </p:nvSpPr>
        <p:spPr>
          <a:xfrm>
            <a:off x="420624" y="3840480"/>
            <a:ext cx="146304" cy="146304"/>
          </a:xfrm>
          <a:prstGeom prst="ellipse">
            <a:avLst/>
          </a:prstGeom>
          <a:solidFill>
            <a:srgbClr val="C0392B"/>
          </a:solidFill>
          <a:ln w="12700">
            <a:solidFill>
              <a:srgbClr val="C0392B"/>
            </a:solidFill>
            <a:prstDash val="solid"/>
          </a:ln>
        </p:spPr>
      </p:sp>
      <p:sp>
        <p:nvSpPr>
          <p:cNvPr id="22" name="Text 19"/>
          <p:cNvSpPr/>
          <p:nvPr/>
        </p:nvSpPr>
        <p:spPr>
          <a:xfrm>
            <a:off x="640080" y="3813048"/>
            <a:ext cx="3749040" cy="347472"/>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Regularly check that fire doors in your area close fully and latch correctly. Report any defects</a:t>
            </a:r>
            <a:endParaRPr lang="en-US" sz="1100" dirty="0"/>
          </a:p>
        </p:txBody>
      </p:sp>
      <p:sp>
        <p:nvSpPr>
          <p:cNvPr id="23" name="Shape 20"/>
          <p:cNvSpPr/>
          <p:nvPr/>
        </p:nvSpPr>
        <p:spPr>
          <a:xfrm>
            <a:off x="4663440" y="1901952"/>
            <a:ext cx="4133088" cy="329184"/>
          </a:xfrm>
          <a:prstGeom prst="rect">
            <a:avLst/>
          </a:prstGeom>
          <a:solidFill>
            <a:srgbClr val="E08A00"/>
          </a:solidFill>
          <a:ln w="12700">
            <a:solidFill>
              <a:srgbClr val="E08A00"/>
            </a:solidFill>
            <a:prstDash val="solid"/>
          </a:ln>
        </p:spPr>
      </p:sp>
      <p:sp>
        <p:nvSpPr>
          <p:cNvPr id="24" name="Text 21"/>
          <p:cNvSpPr/>
          <p:nvPr/>
        </p:nvSpPr>
        <p:spPr>
          <a:xfrm>
            <a:off x="4773168" y="1920240"/>
            <a:ext cx="3977640" cy="256032"/>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Hot Work Permit: Always Required</a:t>
            </a:r>
            <a:endParaRPr lang="en-US" sz="1150" dirty="0"/>
          </a:p>
        </p:txBody>
      </p:sp>
      <p:sp>
        <p:nvSpPr>
          <p:cNvPr id="25" name="Shape 22"/>
          <p:cNvSpPr/>
          <p:nvPr/>
        </p:nvSpPr>
        <p:spPr>
          <a:xfrm>
            <a:off x="4736592" y="2304288"/>
            <a:ext cx="146304" cy="146304"/>
          </a:xfrm>
          <a:prstGeom prst="ellipse">
            <a:avLst/>
          </a:prstGeom>
          <a:solidFill>
            <a:srgbClr val="E08A00"/>
          </a:solidFill>
          <a:ln w="12700">
            <a:solidFill>
              <a:srgbClr val="E08A00"/>
            </a:solidFill>
            <a:prstDash val="solid"/>
          </a:ln>
        </p:spPr>
      </p:sp>
      <p:sp>
        <p:nvSpPr>
          <p:cNvPr id="26" name="Text 23"/>
          <p:cNvSpPr/>
          <p:nvPr/>
        </p:nvSpPr>
        <p:spPr>
          <a:xfrm>
            <a:off x="4956048" y="2276856"/>
            <a:ext cx="3749040" cy="347472"/>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All welding, cutting, grinding, and brazing must be covered by a signed hot work permit before work starts</a:t>
            </a:r>
            <a:endParaRPr lang="en-US" sz="1100" dirty="0"/>
          </a:p>
        </p:txBody>
      </p:sp>
      <p:sp>
        <p:nvSpPr>
          <p:cNvPr id="27" name="Shape 24"/>
          <p:cNvSpPr/>
          <p:nvPr/>
        </p:nvSpPr>
        <p:spPr>
          <a:xfrm>
            <a:off x="4736592" y="2688336"/>
            <a:ext cx="146304" cy="146304"/>
          </a:xfrm>
          <a:prstGeom prst="ellipse">
            <a:avLst/>
          </a:prstGeom>
          <a:solidFill>
            <a:srgbClr val="E08A00"/>
          </a:solidFill>
          <a:ln w="12700">
            <a:solidFill>
              <a:srgbClr val="E08A00"/>
            </a:solidFill>
            <a:prstDash val="solid"/>
          </a:ln>
        </p:spPr>
      </p:sp>
      <p:sp>
        <p:nvSpPr>
          <p:cNvPr id="28" name="Text 25"/>
          <p:cNvSpPr/>
          <p:nvPr/>
        </p:nvSpPr>
        <p:spPr>
          <a:xfrm>
            <a:off x="4956048" y="2660904"/>
            <a:ext cx="3749040" cy="347472"/>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Clear the area within 3 metres of all combustible materials before work begins</a:t>
            </a:r>
            <a:endParaRPr lang="en-US" sz="1100" dirty="0"/>
          </a:p>
        </p:txBody>
      </p:sp>
      <p:sp>
        <p:nvSpPr>
          <p:cNvPr id="29" name="Shape 26"/>
          <p:cNvSpPr/>
          <p:nvPr/>
        </p:nvSpPr>
        <p:spPr>
          <a:xfrm>
            <a:off x="4736592" y="3072384"/>
            <a:ext cx="146304" cy="146304"/>
          </a:xfrm>
          <a:prstGeom prst="ellipse">
            <a:avLst/>
          </a:prstGeom>
          <a:solidFill>
            <a:srgbClr val="E08A00"/>
          </a:solidFill>
          <a:ln w="12700">
            <a:solidFill>
              <a:srgbClr val="E08A00"/>
            </a:solidFill>
            <a:prstDash val="solid"/>
          </a:ln>
        </p:spPr>
      </p:sp>
      <p:sp>
        <p:nvSpPr>
          <p:cNvPr id="30" name="Text 27"/>
          <p:cNvSpPr/>
          <p:nvPr/>
        </p:nvSpPr>
        <p:spPr>
          <a:xfrm>
            <a:off x="4956048" y="3044952"/>
            <a:ext cx="3749040" cy="347472"/>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Have a fire extinguisher of the correct type immediately to hand throughout the operation</a:t>
            </a:r>
            <a:endParaRPr lang="en-US" sz="1100" dirty="0"/>
          </a:p>
        </p:txBody>
      </p:sp>
      <p:sp>
        <p:nvSpPr>
          <p:cNvPr id="31" name="Shape 28"/>
          <p:cNvSpPr/>
          <p:nvPr/>
        </p:nvSpPr>
        <p:spPr>
          <a:xfrm>
            <a:off x="4736592" y="3456432"/>
            <a:ext cx="146304" cy="146304"/>
          </a:xfrm>
          <a:prstGeom prst="ellipse">
            <a:avLst/>
          </a:prstGeom>
          <a:solidFill>
            <a:srgbClr val="E08A00"/>
          </a:solidFill>
          <a:ln w="12700">
            <a:solidFill>
              <a:srgbClr val="E08A00"/>
            </a:solidFill>
            <a:prstDash val="solid"/>
          </a:ln>
        </p:spPr>
      </p:sp>
      <p:sp>
        <p:nvSpPr>
          <p:cNvPr id="32" name="Text 29"/>
          <p:cNvSpPr/>
          <p:nvPr/>
        </p:nvSpPr>
        <p:spPr>
          <a:xfrm>
            <a:off x="4956048" y="3429000"/>
            <a:ext cx="3749040" cy="347472"/>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Assign a dedicated fire watcher to monitor during the work</a:t>
            </a:r>
            <a:endParaRPr lang="en-US" sz="1100" dirty="0"/>
          </a:p>
        </p:txBody>
      </p:sp>
      <p:sp>
        <p:nvSpPr>
          <p:cNvPr id="33" name="Shape 30"/>
          <p:cNvSpPr/>
          <p:nvPr/>
        </p:nvSpPr>
        <p:spPr>
          <a:xfrm>
            <a:off x="4736592" y="3840480"/>
            <a:ext cx="146304" cy="146304"/>
          </a:xfrm>
          <a:prstGeom prst="ellipse">
            <a:avLst/>
          </a:prstGeom>
          <a:solidFill>
            <a:srgbClr val="E08A00"/>
          </a:solidFill>
          <a:ln w="12700">
            <a:solidFill>
              <a:srgbClr val="E08A00"/>
            </a:solidFill>
            <a:prstDash val="solid"/>
          </a:ln>
        </p:spPr>
      </p:sp>
      <p:sp>
        <p:nvSpPr>
          <p:cNvPr id="34" name="Text 31"/>
          <p:cNvSpPr/>
          <p:nvPr/>
        </p:nvSpPr>
        <p:spPr>
          <a:xfrm>
            <a:off x="4956048" y="3813048"/>
            <a:ext cx="3749040" cy="347472"/>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Carry out a 30-minute fire watch after hot work ends — fires can smoulder for up to an hour undetected</a:t>
            </a:r>
            <a:endParaRPr lang="en-US" sz="1100" dirty="0"/>
          </a:p>
        </p:txBody>
      </p:sp>
      <p:sp>
        <p:nvSpPr>
          <p:cNvPr id="35" name="Shape 32"/>
          <p:cNvSpPr/>
          <p:nvPr/>
        </p:nvSpPr>
        <p:spPr>
          <a:xfrm>
            <a:off x="4736592" y="4224528"/>
            <a:ext cx="146304" cy="146304"/>
          </a:xfrm>
          <a:prstGeom prst="ellipse">
            <a:avLst/>
          </a:prstGeom>
          <a:solidFill>
            <a:srgbClr val="E08A00"/>
          </a:solidFill>
          <a:ln w="12700">
            <a:solidFill>
              <a:srgbClr val="E08A00"/>
            </a:solidFill>
            <a:prstDash val="solid"/>
          </a:ln>
        </p:spPr>
      </p:sp>
      <p:sp>
        <p:nvSpPr>
          <p:cNvPr id="36" name="Text 33"/>
          <p:cNvSpPr/>
          <p:nvPr/>
        </p:nvSpPr>
        <p:spPr>
          <a:xfrm>
            <a:off x="4956048" y="4197096"/>
            <a:ext cx="3749040" cy="347472"/>
          </a:xfrm>
          <a:prstGeom prst="rect">
            <a:avLst/>
          </a:prstGeom>
          <a:noFill/>
          <a:ln/>
        </p:spPr>
        <p:txBody>
          <a:bodyPr wrap="square" lIns="0" tIns="0" rIns="0" bIns="0" rtlCol="0" anchor="ctr"/>
          <a:lstStyle/>
          <a:p>
            <a:pPr indent="0" marL="0">
              <a:buNone/>
            </a:pPr>
            <a:r>
              <a:rPr lang="en-US" sz="1100" dirty="0">
                <a:solidFill>
                  <a:srgbClr val="5B595A"/>
                </a:solidFill>
                <a:latin typeface="Arial" pitchFamily="34" charset="0"/>
                <a:ea typeface="Arial" pitchFamily="34" charset="-122"/>
                <a:cs typeface="Arial" pitchFamily="34" charset="-120"/>
              </a:rPr>
              <a:t>Return and re-inspect the area 1 hour after the fire watch ends</a:t>
            </a:r>
            <a:endParaRPr lang="en-US" sz="1100" dirty="0"/>
          </a:p>
        </p:txBody>
      </p:sp>
      <p:sp>
        <p:nvSpPr>
          <p:cNvPr id="37" name="Rectangle 36"/>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5"/>
          <a:stretch>
            <a:fillRect/>
          </a:stretch>
        </p:blipFill>
        <p:spPr>
          <a:xfrm>
            <a:off x="7562088" y="100584"/>
            <a:ext cx="566928" cy="347472"/>
          </a:xfrm>
          <a:prstGeom prst="rect">
            <a:avLst/>
          </a:prstGeom>
        </p:spPr>
      </p:pic>
      <p:pic>
        <p:nvPicPr>
          <p:cNvPr id="39" name="Picture 38" descr="image.png"/>
          <p:cNvPicPr>
            <a:picLocks noChangeAspect="1"/>
          </p:cNvPicPr>
          <p:nvPr/>
        </p:nvPicPr>
        <p:blipFill>
          <a:blip r:embed="rId4"/>
          <a:stretch>
            <a:fillRect/>
          </a:stretch>
        </p:blipFill>
        <p:spPr>
          <a:xfrm>
            <a:off x="8174736" y="100584"/>
            <a:ext cx="658368" cy="347472"/>
          </a:xfrm>
          <a:prstGeom prst="rect">
            <a:avLst/>
          </a:prstGeom>
        </p:spPr>
      </p:pic>
      <p:sp>
        <p:nvSpPr>
          <p:cNvPr id="40" name="Rectangle 39"/>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2E8B57"/>
          </a:solidFill>
          <a:ln w="12700">
            <a:solidFill>
              <a:srgbClr val="2E8B57"/>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Evacuation</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What to Do When the Fire Alarm Sounds</a:t>
            </a:r>
            <a:endParaRPr lang="en-US" sz="2600" dirty="0"/>
          </a:p>
        </p:txBody>
      </p:sp>
      <p:sp>
        <p:nvSpPr>
          <p:cNvPr id="9" name="Shape 6"/>
          <p:cNvSpPr/>
          <p:nvPr/>
        </p:nvSpPr>
        <p:spPr>
          <a:xfrm>
            <a:off x="347472" y="1261872"/>
            <a:ext cx="8449056" cy="0"/>
          </a:xfrm>
          <a:prstGeom prst="line">
            <a:avLst/>
          </a:prstGeom>
          <a:noFill/>
          <a:ln w="19050">
            <a:solidFill>
              <a:srgbClr val="2E8B57"/>
            </a:solidFill>
            <a:prstDash val="solid"/>
          </a:ln>
        </p:spPr>
      </p:sp>
      <p:sp>
        <p:nvSpPr>
          <p:cNvPr id="10" name="Text 7"/>
          <p:cNvSpPr/>
          <p:nvPr/>
        </p:nvSpPr>
        <p:spPr>
          <a:xfrm>
            <a:off x="347472" y="1353312"/>
            <a:ext cx="8449056" cy="475488"/>
          </a:xfrm>
          <a:prstGeom prst="rect">
            <a:avLst/>
          </a:prstGeom>
          <a:noFill/>
          <a:ln/>
        </p:spPr>
        <p:txBody>
          <a:bodyPr wrap="square" lIns="0" tIns="0" rIns="0" bIns="0" rtlCol="0" anchor="t"/>
          <a:lstStyle/>
          <a:p>
            <a:pPr algn="l" indent="0" marL="0">
              <a:buNone/>
            </a:pPr>
            <a:r>
              <a:rPr lang="en-US" sz="1250" dirty="0">
                <a:solidFill>
                  <a:srgbClr val="5B595A"/>
                </a:solidFill>
                <a:latin typeface="Arial" pitchFamily="34" charset="0"/>
                <a:ea typeface="Arial" pitchFamily="34" charset="-122"/>
                <a:cs typeface="Arial" pitchFamily="34" charset="-120"/>
              </a:rPr>
              <a:t>There is one rule when the fire alarm sounds: leave. Do not investigate. Do not collect belongings. Do not wait to see if the alarm is a false alarm. Every second of delay reduces the margin of safety. The following steps must be followed in order.</a:t>
            </a:r>
            <a:endParaRPr lang="en-US" sz="1250" dirty="0"/>
          </a:p>
        </p:txBody>
      </p:sp>
      <p:sp>
        <p:nvSpPr>
          <p:cNvPr id="11" name="Shape 8"/>
          <p:cNvSpPr/>
          <p:nvPr/>
        </p:nvSpPr>
        <p:spPr>
          <a:xfrm>
            <a:off x="347472" y="1920240"/>
            <a:ext cx="4133088" cy="914400"/>
          </a:xfrm>
          <a:prstGeom prst="roundRect">
            <a:avLst>
              <a:gd name="adj" fmla="val 7000"/>
            </a:avLst>
          </a:prstGeom>
          <a:solidFill>
            <a:srgbClr val="F8F8F8"/>
          </a:solidFill>
          <a:ln w="10160">
            <a:solidFill>
              <a:srgbClr val="C0392B"/>
            </a:solidFill>
            <a:prstDash val="solid"/>
          </a:ln>
        </p:spPr>
      </p:sp>
      <p:sp>
        <p:nvSpPr>
          <p:cNvPr id="12" name="Shape 9"/>
          <p:cNvSpPr/>
          <p:nvPr/>
        </p:nvSpPr>
        <p:spPr>
          <a:xfrm>
            <a:off x="457200" y="1993392"/>
            <a:ext cx="384048" cy="384048"/>
          </a:xfrm>
          <a:prstGeom prst="ellipse">
            <a:avLst/>
          </a:prstGeom>
          <a:solidFill>
            <a:srgbClr val="C0392B"/>
          </a:solidFill>
          <a:ln w="12700">
            <a:solidFill>
              <a:srgbClr val="C0392B"/>
            </a:solidFill>
            <a:prstDash val="solid"/>
          </a:ln>
        </p:spPr>
      </p:sp>
      <p:sp>
        <p:nvSpPr>
          <p:cNvPr id="13" name="Text 10"/>
          <p:cNvSpPr/>
          <p:nvPr/>
        </p:nvSpPr>
        <p:spPr>
          <a:xfrm>
            <a:off x="457200" y="19933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4" name="Text 11"/>
          <p:cNvSpPr/>
          <p:nvPr/>
        </p:nvSpPr>
        <p:spPr>
          <a:xfrm>
            <a:off x="914400" y="2011680"/>
            <a:ext cx="3456432" cy="27432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Stop what you are doing</a:t>
            </a:r>
            <a:endParaRPr lang="en-US" sz="1150" dirty="0"/>
          </a:p>
        </p:txBody>
      </p:sp>
      <p:sp>
        <p:nvSpPr>
          <p:cNvPr id="15" name="Text 12"/>
          <p:cNvSpPr/>
          <p:nvPr/>
        </p:nvSpPr>
        <p:spPr>
          <a:xfrm>
            <a:off x="493776" y="2377440"/>
            <a:ext cx="3895344" cy="402336"/>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Switch off any equipment that poses an immediate risk if left unattended, if this can be done in under 5 seconds. Do not stop for anything else.</a:t>
            </a:r>
            <a:endParaRPr lang="en-US" sz="1050" dirty="0"/>
          </a:p>
        </p:txBody>
      </p:sp>
      <p:sp>
        <p:nvSpPr>
          <p:cNvPr id="16" name="Shape 13"/>
          <p:cNvSpPr/>
          <p:nvPr/>
        </p:nvSpPr>
        <p:spPr>
          <a:xfrm>
            <a:off x="4663440" y="1920240"/>
            <a:ext cx="4133088" cy="914400"/>
          </a:xfrm>
          <a:prstGeom prst="roundRect">
            <a:avLst>
              <a:gd name="adj" fmla="val 7000"/>
            </a:avLst>
          </a:prstGeom>
          <a:solidFill>
            <a:srgbClr val="F8F8F8"/>
          </a:solidFill>
          <a:ln w="10160">
            <a:solidFill>
              <a:srgbClr val="D4550A"/>
            </a:solidFill>
            <a:prstDash val="solid"/>
          </a:ln>
        </p:spPr>
      </p:sp>
      <p:sp>
        <p:nvSpPr>
          <p:cNvPr id="17" name="Shape 14"/>
          <p:cNvSpPr/>
          <p:nvPr/>
        </p:nvSpPr>
        <p:spPr>
          <a:xfrm>
            <a:off x="4773168" y="1993392"/>
            <a:ext cx="384048" cy="384048"/>
          </a:xfrm>
          <a:prstGeom prst="ellipse">
            <a:avLst/>
          </a:prstGeom>
          <a:solidFill>
            <a:srgbClr val="D4550A"/>
          </a:solidFill>
          <a:ln w="12700">
            <a:solidFill>
              <a:srgbClr val="D4550A"/>
            </a:solidFill>
            <a:prstDash val="solid"/>
          </a:ln>
        </p:spPr>
      </p:sp>
      <p:sp>
        <p:nvSpPr>
          <p:cNvPr id="18" name="Text 15"/>
          <p:cNvSpPr/>
          <p:nvPr/>
        </p:nvSpPr>
        <p:spPr>
          <a:xfrm>
            <a:off x="4773168" y="1993392"/>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9" name="Text 16"/>
          <p:cNvSpPr/>
          <p:nvPr/>
        </p:nvSpPr>
        <p:spPr>
          <a:xfrm>
            <a:off x="5230368" y="2011680"/>
            <a:ext cx="3456432" cy="274320"/>
          </a:xfrm>
          <a:prstGeom prst="rect">
            <a:avLst/>
          </a:prstGeom>
          <a:noFill/>
          <a:ln/>
        </p:spPr>
        <p:txBody>
          <a:bodyPr wrap="square" lIns="0" tIns="0" rIns="0" bIns="0" rtlCol="0" anchor="ctr"/>
          <a:lstStyle/>
          <a:p>
            <a:pPr indent="0" marL="0">
              <a:buNone/>
            </a:pPr>
            <a:r>
              <a:rPr lang="en-US" sz="1150" b="1" dirty="0">
                <a:solidFill>
                  <a:srgbClr val="D4550A"/>
                </a:solidFill>
                <a:latin typeface="Arial" pitchFamily="34" charset="0"/>
                <a:ea typeface="Arial" pitchFamily="34" charset="-122"/>
                <a:cs typeface="Arial" pitchFamily="34" charset="-120"/>
              </a:rPr>
              <a:t>Leave by the nearest safe exit</a:t>
            </a:r>
            <a:endParaRPr lang="en-US" sz="1150" dirty="0"/>
          </a:p>
        </p:txBody>
      </p:sp>
      <p:sp>
        <p:nvSpPr>
          <p:cNvPr id="20" name="Text 17"/>
          <p:cNvSpPr/>
          <p:nvPr/>
        </p:nvSpPr>
        <p:spPr>
          <a:xfrm>
            <a:off x="4809744" y="2377440"/>
            <a:ext cx="3895344" cy="402336"/>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Use the primary exit if clear. If not, use your secondary route. Do not use lifts. Do not run but walk purposefully and calmly.</a:t>
            </a:r>
            <a:endParaRPr lang="en-US" sz="1050" dirty="0"/>
          </a:p>
        </p:txBody>
      </p:sp>
      <p:sp>
        <p:nvSpPr>
          <p:cNvPr id="21" name="Shape 18"/>
          <p:cNvSpPr/>
          <p:nvPr/>
        </p:nvSpPr>
        <p:spPr>
          <a:xfrm>
            <a:off x="347472" y="2944368"/>
            <a:ext cx="4133088" cy="914400"/>
          </a:xfrm>
          <a:prstGeom prst="roundRect">
            <a:avLst>
              <a:gd name="adj" fmla="val 7000"/>
            </a:avLst>
          </a:prstGeom>
          <a:solidFill>
            <a:srgbClr val="F8F8F8"/>
          </a:solidFill>
          <a:ln w="10160">
            <a:solidFill>
              <a:srgbClr val="E08A00"/>
            </a:solidFill>
            <a:prstDash val="solid"/>
          </a:ln>
        </p:spPr>
      </p:sp>
      <p:sp>
        <p:nvSpPr>
          <p:cNvPr id="22" name="Shape 19"/>
          <p:cNvSpPr/>
          <p:nvPr/>
        </p:nvSpPr>
        <p:spPr>
          <a:xfrm>
            <a:off x="457200" y="3017520"/>
            <a:ext cx="384048" cy="384048"/>
          </a:xfrm>
          <a:prstGeom prst="ellipse">
            <a:avLst/>
          </a:prstGeom>
          <a:solidFill>
            <a:srgbClr val="E08A00"/>
          </a:solidFill>
          <a:ln w="12700">
            <a:solidFill>
              <a:srgbClr val="E08A00"/>
            </a:solidFill>
            <a:prstDash val="solid"/>
          </a:ln>
        </p:spPr>
      </p:sp>
      <p:sp>
        <p:nvSpPr>
          <p:cNvPr id="23" name="Text 20"/>
          <p:cNvSpPr/>
          <p:nvPr/>
        </p:nvSpPr>
        <p:spPr>
          <a:xfrm>
            <a:off x="457200" y="3017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4" name="Text 21"/>
          <p:cNvSpPr/>
          <p:nvPr/>
        </p:nvSpPr>
        <p:spPr>
          <a:xfrm>
            <a:off x="914400" y="3035808"/>
            <a:ext cx="3456432" cy="274320"/>
          </a:xfrm>
          <a:prstGeom prst="rect">
            <a:avLst/>
          </a:prstGeom>
          <a:noFill/>
          <a:ln/>
        </p:spPr>
        <p:txBody>
          <a:bodyPr wrap="square" lIns="0" tIns="0" rIns="0" bIns="0" rtlCol="0" anchor="ctr"/>
          <a:lstStyle/>
          <a:p>
            <a:pPr indent="0" marL="0">
              <a:buNone/>
            </a:pPr>
            <a:r>
              <a:rPr lang="en-US" sz="1150" b="1" dirty="0">
                <a:solidFill>
                  <a:srgbClr val="E08A00"/>
                </a:solidFill>
                <a:latin typeface="Arial" pitchFamily="34" charset="0"/>
                <a:ea typeface="Arial" pitchFamily="34" charset="-122"/>
                <a:cs typeface="Arial" pitchFamily="34" charset="-120"/>
              </a:rPr>
              <a:t>Close doors behind you</a:t>
            </a:r>
            <a:endParaRPr lang="en-US" sz="1150" dirty="0"/>
          </a:p>
        </p:txBody>
      </p:sp>
      <p:sp>
        <p:nvSpPr>
          <p:cNvPr id="25" name="Text 22"/>
          <p:cNvSpPr/>
          <p:nvPr/>
        </p:nvSpPr>
        <p:spPr>
          <a:xfrm>
            <a:off x="493776" y="3401568"/>
            <a:ext cx="3895344" cy="402336"/>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Close all doors as you leave — do not lock them. Closed doors slow the spread of fire and smoke and can save lives.</a:t>
            </a:r>
            <a:endParaRPr lang="en-US" sz="1050" dirty="0"/>
          </a:p>
        </p:txBody>
      </p:sp>
      <p:sp>
        <p:nvSpPr>
          <p:cNvPr id="26" name="Shape 23"/>
          <p:cNvSpPr/>
          <p:nvPr/>
        </p:nvSpPr>
        <p:spPr>
          <a:xfrm>
            <a:off x="4663440" y="2944368"/>
            <a:ext cx="4133088" cy="914400"/>
          </a:xfrm>
          <a:prstGeom prst="roundRect">
            <a:avLst>
              <a:gd name="adj" fmla="val 7000"/>
            </a:avLst>
          </a:prstGeom>
          <a:solidFill>
            <a:srgbClr val="F8F8F8"/>
          </a:solidFill>
          <a:ln w="10160">
            <a:solidFill>
              <a:srgbClr val="2E8B57"/>
            </a:solidFill>
            <a:prstDash val="solid"/>
          </a:ln>
        </p:spPr>
      </p:sp>
      <p:sp>
        <p:nvSpPr>
          <p:cNvPr id="27" name="Shape 24"/>
          <p:cNvSpPr/>
          <p:nvPr/>
        </p:nvSpPr>
        <p:spPr>
          <a:xfrm>
            <a:off x="4773168" y="3017520"/>
            <a:ext cx="384048" cy="384048"/>
          </a:xfrm>
          <a:prstGeom prst="ellipse">
            <a:avLst/>
          </a:prstGeom>
          <a:solidFill>
            <a:srgbClr val="2E8B57"/>
          </a:solidFill>
          <a:ln w="12700">
            <a:solidFill>
              <a:srgbClr val="2E8B57"/>
            </a:solidFill>
            <a:prstDash val="solid"/>
          </a:ln>
        </p:spPr>
      </p:sp>
      <p:sp>
        <p:nvSpPr>
          <p:cNvPr id="28" name="Text 25"/>
          <p:cNvSpPr/>
          <p:nvPr/>
        </p:nvSpPr>
        <p:spPr>
          <a:xfrm>
            <a:off x="4773168" y="301752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9" name="Text 26"/>
          <p:cNvSpPr/>
          <p:nvPr/>
        </p:nvSpPr>
        <p:spPr>
          <a:xfrm>
            <a:off x="5230368" y="3035808"/>
            <a:ext cx="3456432" cy="274320"/>
          </a:xfrm>
          <a:prstGeom prst="rect">
            <a:avLst/>
          </a:prstGeom>
          <a:noFill/>
          <a:ln/>
        </p:spPr>
        <p:txBody>
          <a:bodyPr wrap="square" lIns="0" tIns="0" rIns="0" bIns="0" rtlCol="0" anchor="ctr"/>
          <a:lstStyle/>
          <a:p>
            <a:pPr indent="0" marL="0">
              <a:buNone/>
            </a:pPr>
            <a:r>
              <a:rPr lang="en-US" sz="1150" b="1" dirty="0">
                <a:solidFill>
                  <a:srgbClr val="2E8B57"/>
                </a:solidFill>
                <a:latin typeface="Arial" pitchFamily="34" charset="0"/>
                <a:ea typeface="Arial" pitchFamily="34" charset="-122"/>
                <a:cs typeface="Arial" pitchFamily="34" charset="-120"/>
              </a:rPr>
              <a:t>Proceed to the assembly point</a:t>
            </a:r>
            <a:endParaRPr lang="en-US" sz="1150" dirty="0"/>
          </a:p>
        </p:txBody>
      </p:sp>
      <p:sp>
        <p:nvSpPr>
          <p:cNvPr id="30" name="Text 27"/>
          <p:cNvSpPr/>
          <p:nvPr/>
        </p:nvSpPr>
        <p:spPr>
          <a:xfrm>
            <a:off x="4809744" y="3401568"/>
            <a:ext cx="3895344" cy="402336"/>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Go directly to your designated assembly point. Do not divert to your car, collect colleagues from other areas, or re-enter the building for any reason.</a:t>
            </a:r>
            <a:endParaRPr lang="en-US" sz="1050" dirty="0"/>
          </a:p>
        </p:txBody>
      </p:sp>
      <p:sp>
        <p:nvSpPr>
          <p:cNvPr id="31" name="Shape 28"/>
          <p:cNvSpPr/>
          <p:nvPr/>
        </p:nvSpPr>
        <p:spPr>
          <a:xfrm>
            <a:off x="347472" y="3968496"/>
            <a:ext cx="4133088" cy="914400"/>
          </a:xfrm>
          <a:prstGeom prst="roundRect">
            <a:avLst>
              <a:gd name="adj" fmla="val 7000"/>
            </a:avLst>
          </a:prstGeom>
          <a:solidFill>
            <a:srgbClr val="F8F8F8"/>
          </a:solidFill>
          <a:ln w="10160">
            <a:solidFill>
              <a:srgbClr val="009FE3"/>
            </a:solidFill>
            <a:prstDash val="solid"/>
          </a:ln>
        </p:spPr>
      </p:sp>
      <p:sp>
        <p:nvSpPr>
          <p:cNvPr id="32" name="Shape 29"/>
          <p:cNvSpPr/>
          <p:nvPr/>
        </p:nvSpPr>
        <p:spPr>
          <a:xfrm>
            <a:off x="457200" y="4041648"/>
            <a:ext cx="384048" cy="384048"/>
          </a:xfrm>
          <a:prstGeom prst="ellipse">
            <a:avLst/>
          </a:prstGeom>
          <a:solidFill>
            <a:srgbClr val="009FE3"/>
          </a:solidFill>
          <a:ln w="12700">
            <a:solidFill>
              <a:srgbClr val="009FE3"/>
            </a:solidFill>
            <a:prstDash val="solid"/>
          </a:ln>
        </p:spPr>
      </p:sp>
      <p:sp>
        <p:nvSpPr>
          <p:cNvPr id="33" name="Text 30"/>
          <p:cNvSpPr/>
          <p:nvPr/>
        </p:nvSpPr>
        <p:spPr>
          <a:xfrm>
            <a:off x="457200" y="404164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34" name="Text 31"/>
          <p:cNvSpPr/>
          <p:nvPr/>
        </p:nvSpPr>
        <p:spPr>
          <a:xfrm>
            <a:off x="914400" y="4059936"/>
            <a:ext cx="3456432" cy="274320"/>
          </a:xfrm>
          <a:prstGeom prst="rect">
            <a:avLst/>
          </a:prstGeom>
          <a:noFill/>
          <a:ln/>
        </p:spPr>
        <p:txBody>
          <a:bodyPr wrap="square" lIns="0" tIns="0" rIns="0" bIns="0" rtlCol="0" anchor="ctr"/>
          <a:lstStyle/>
          <a:p>
            <a:pPr indent="0" marL="0">
              <a:buNone/>
            </a:pPr>
            <a:r>
              <a:rPr lang="en-US" sz="1150" b="1" dirty="0">
                <a:solidFill>
                  <a:srgbClr val="009FE3"/>
                </a:solidFill>
                <a:latin typeface="Arial" pitchFamily="34" charset="0"/>
                <a:ea typeface="Arial" pitchFamily="34" charset="-122"/>
                <a:cs typeface="Arial" pitchFamily="34" charset="-120"/>
              </a:rPr>
              <a:t>Report to your fire warden</a:t>
            </a:r>
            <a:endParaRPr lang="en-US" sz="1150" dirty="0"/>
          </a:p>
        </p:txBody>
      </p:sp>
      <p:sp>
        <p:nvSpPr>
          <p:cNvPr id="35" name="Text 32"/>
          <p:cNvSpPr/>
          <p:nvPr/>
        </p:nvSpPr>
        <p:spPr>
          <a:xfrm>
            <a:off x="493776" y="4425696"/>
            <a:ext cx="3895344" cy="402336"/>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Confirm your presence at the assembly point. Fire wardens must account for every person. Do not leave the assembly point without permission from a fire warden.</a:t>
            </a:r>
            <a:endParaRPr lang="en-US" sz="1050" dirty="0"/>
          </a:p>
        </p:txBody>
      </p:sp>
      <p:sp>
        <p:nvSpPr>
          <p:cNvPr id="36" name="Shape 33"/>
          <p:cNvSpPr/>
          <p:nvPr/>
        </p:nvSpPr>
        <p:spPr>
          <a:xfrm>
            <a:off x="4663440" y="3968496"/>
            <a:ext cx="4133088" cy="914400"/>
          </a:xfrm>
          <a:prstGeom prst="roundRect">
            <a:avLst>
              <a:gd name="adj" fmla="val 7000"/>
            </a:avLst>
          </a:prstGeom>
          <a:solidFill>
            <a:srgbClr val="F8F8F8"/>
          </a:solidFill>
          <a:ln w="10160">
            <a:solidFill>
              <a:srgbClr val="83348F"/>
            </a:solidFill>
            <a:prstDash val="solid"/>
          </a:ln>
        </p:spPr>
      </p:sp>
      <p:sp>
        <p:nvSpPr>
          <p:cNvPr id="37" name="Shape 34"/>
          <p:cNvSpPr/>
          <p:nvPr/>
        </p:nvSpPr>
        <p:spPr>
          <a:xfrm>
            <a:off x="4773168" y="4041648"/>
            <a:ext cx="384048" cy="384048"/>
          </a:xfrm>
          <a:prstGeom prst="ellipse">
            <a:avLst/>
          </a:prstGeom>
          <a:solidFill>
            <a:srgbClr val="83348F"/>
          </a:solidFill>
          <a:ln w="12700">
            <a:solidFill>
              <a:srgbClr val="83348F"/>
            </a:solidFill>
            <a:prstDash val="solid"/>
          </a:ln>
        </p:spPr>
      </p:sp>
      <p:sp>
        <p:nvSpPr>
          <p:cNvPr id="38" name="Text 35"/>
          <p:cNvSpPr/>
          <p:nvPr/>
        </p:nvSpPr>
        <p:spPr>
          <a:xfrm>
            <a:off x="4773168" y="4041648"/>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39" name="Text 36"/>
          <p:cNvSpPr/>
          <p:nvPr/>
        </p:nvSpPr>
        <p:spPr>
          <a:xfrm>
            <a:off x="5230368" y="4059936"/>
            <a:ext cx="3456432" cy="274320"/>
          </a:xfrm>
          <a:prstGeom prst="rect">
            <a:avLst/>
          </a:prstGeom>
          <a:noFill/>
          <a:ln/>
        </p:spPr>
        <p:txBody>
          <a:bodyPr wrap="square" lIns="0" tIns="0" rIns="0" bIns="0" rtlCol="0" anchor="ctr"/>
          <a:lstStyle/>
          <a:p>
            <a:pPr indent="0" marL="0">
              <a:buNone/>
            </a:pPr>
            <a:r>
              <a:rPr lang="en-US" sz="1150" b="1" dirty="0">
                <a:solidFill>
                  <a:srgbClr val="83348F"/>
                </a:solidFill>
                <a:latin typeface="Arial" pitchFamily="34" charset="0"/>
                <a:ea typeface="Arial" pitchFamily="34" charset="-122"/>
                <a:cs typeface="Arial" pitchFamily="34" charset="-120"/>
              </a:rPr>
              <a:t>Do not re-enter</a:t>
            </a:r>
            <a:endParaRPr lang="en-US" sz="1150" dirty="0"/>
          </a:p>
        </p:txBody>
      </p:sp>
      <p:sp>
        <p:nvSpPr>
          <p:cNvPr id="40" name="Text 37"/>
          <p:cNvSpPr/>
          <p:nvPr/>
        </p:nvSpPr>
        <p:spPr>
          <a:xfrm>
            <a:off x="4809744" y="4425696"/>
            <a:ext cx="3895344" cy="402336"/>
          </a:xfrm>
          <a:prstGeom prst="rect">
            <a:avLst/>
          </a:prstGeom>
          <a:noFill/>
          <a:ln/>
        </p:spPr>
        <p:txBody>
          <a:bodyPr wrap="square" lIns="0" tIns="0" rIns="0" bIns="0" rtlCol="0" anchor="t"/>
          <a:lstStyle/>
          <a:p>
            <a:pPr indent="0" marL="0">
              <a:buNone/>
            </a:pPr>
            <a:r>
              <a:rPr lang="en-US" sz="1050" dirty="0">
                <a:solidFill>
                  <a:srgbClr val="5B595A"/>
                </a:solidFill>
                <a:latin typeface="Arial" pitchFamily="34" charset="0"/>
                <a:ea typeface="Arial" pitchFamily="34" charset="-122"/>
                <a:cs typeface="Arial" pitchFamily="34" charset="-120"/>
              </a:rPr>
              <a:t>Do not re-enter the building until the Responsible Person, fire warden, or fire service confirms it is safe to do so. This authority cannot be delegated to a colleague.</a:t>
            </a:r>
            <a:endParaRPr lang="en-US" sz="1050" dirty="0"/>
          </a:p>
        </p:txBody>
      </p:sp>
      <p:sp>
        <p:nvSpPr>
          <p:cNvPr id="41" name="Rectangle 4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5"/>
          <a:stretch>
            <a:fillRect/>
          </a:stretch>
        </p:blipFill>
        <p:spPr>
          <a:xfrm>
            <a:off x="7562088" y="100584"/>
            <a:ext cx="566928" cy="347472"/>
          </a:xfrm>
          <a:prstGeom prst="rect">
            <a:avLst/>
          </a:prstGeom>
        </p:spPr>
      </p:pic>
      <p:pic>
        <p:nvPicPr>
          <p:cNvPr id="43" name="Picture 42" descr="image.png"/>
          <p:cNvPicPr>
            <a:picLocks noChangeAspect="1"/>
          </p:cNvPicPr>
          <p:nvPr/>
        </p:nvPicPr>
        <p:blipFill>
          <a:blip r:embed="rId4"/>
          <a:stretch>
            <a:fillRect/>
          </a:stretch>
        </p:blipFill>
        <p:spPr>
          <a:xfrm>
            <a:off x="8174736" y="100584"/>
            <a:ext cx="658368" cy="347472"/>
          </a:xfrm>
          <a:prstGeom prst="rect">
            <a:avLst/>
          </a:prstGeom>
        </p:spPr>
      </p:pic>
      <p:sp>
        <p:nvSpPr>
          <p:cNvPr id="44" name="Rectangle 4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6" name="Shape 3"/>
          <p:cNvSpPr/>
          <p:nvPr/>
        </p:nvSpPr>
        <p:spPr>
          <a:xfrm>
            <a:off x="347472" y="201168"/>
            <a:ext cx="2560320" cy="292608"/>
          </a:xfrm>
          <a:prstGeom prst="roundRect">
            <a:avLst>
              <a:gd name="adj" fmla="val 15625"/>
            </a:avLst>
          </a:prstGeom>
          <a:solidFill>
            <a:srgbClr val="D4550A"/>
          </a:solidFill>
          <a:ln w="12700">
            <a:solidFill>
              <a:srgbClr val="D4550A"/>
            </a:solidFill>
            <a:prstDash val="solid"/>
          </a:ln>
        </p:spPr>
      </p:sp>
      <p:sp>
        <p:nvSpPr>
          <p:cNvPr id="7" name="Text 4"/>
          <p:cNvSpPr/>
          <p:nvPr/>
        </p:nvSpPr>
        <p:spPr>
          <a:xfrm>
            <a:off x="347472" y="201168"/>
            <a:ext cx="25603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Summary</a:t>
            </a:r>
            <a:endParaRPr lang="en-US" sz="1000" dirty="0"/>
          </a:p>
        </p:txBody>
      </p:sp>
      <p:sp>
        <p:nvSpPr>
          <p:cNvPr id="8" name="Text 5"/>
          <p:cNvSpPr/>
          <p:nvPr/>
        </p:nvSpPr>
        <p:spPr>
          <a:xfrm>
            <a:off x="347472" y="566928"/>
            <a:ext cx="8503920" cy="658368"/>
          </a:xfrm>
          <a:prstGeom prst="rect">
            <a:avLst/>
          </a:prstGeom>
          <a:noFill/>
          <a:ln/>
        </p:spPr>
        <p:txBody>
          <a:bodyPr wrap="square" lIns="0" tIns="0" rIns="0" bIns="0" rtlCol="0" anchor="t"/>
          <a:lstStyle/>
          <a:p>
            <a:pPr indent="0" marL="0">
              <a:buNone/>
            </a:pPr>
            <a:r>
              <a:rPr lang="en-US" sz="2600" b="1" dirty="0">
                <a:solidFill>
                  <a:srgbClr val="001E3C"/>
                </a:solidFill>
                <a:latin typeface="Cambria" pitchFamily="34" charset="0"/>
                <a:ea typeface="Cambria" pitchFamily="34" charset="-122"/>
                <a:cs typeface="Cambria" pitchFamily="34" charset="-120"/>
              </a:rPr>
              <a:t>Key Messages</a:t>
            </a:r>
            <a:endParaRPr lang="en-US" sz="2600" dirty="0"/>
          </a:p>
        </p:txBody>
      </p:sp>
      <p:sp>
        <p:nvSpPr>
          <p:cNvPr id="9" name="Shape 6"/>
          <p:cNvSpPr/>
          <p:nvPr/>
        </p:nvSpPr>
        <p:spPr>
          <a:xfrm>
            <a:off x="347472" y="1261872"/>
            <a:ext cx="8449056" cy="0"/>
          </a:xfrm>
          <a:prstGeom prst="line">
            <a:avLst/>
          </a:prstGeom>
          <a:noFill/>
          <a:ln w="19050">
            <a:solidFill>
              <a:srgbClr val="D4550A"/>
            </a:solidFill>
            <a:prstDash val="solid"/>
          </a:ln>
        </p:spPr>
      </p:sp>
      <p:sp>
        <p:nvSpPr>
          <p:cNvPr id="10" name="Shape 7"/>
          <p:cNvSpPr/>
          <p:nvPr/>
        </p:nvSpPr>
        <p:spPr>
          <a:xfrm>
            <a:off x="347472" y="1453896"/>
            <a:ext cx="310896" cy="310896"/>
          </a:xfrm>
          <a:prstGeom prst="ellipse">
            <a:avLst/>
          </a:prstGeom>
          <a:solidFill>
            <a:srgbClr val="D4550A"/>
          </a:solidFill>
          <a:ln w="12700">
            <a:solidFill>
              <a:srgbClr val="D4550A"/>
            </a:solidFill>
            <a:prstDash val="solid"/>
          </a:ln>
        </p:spPr>
      </p:sp>
      <p:sp>
        <p:nvSpPr>
          <p:cNvPr id="11" name="Text 8"/>
          <p:cNvSpPr/>
          <p:nvPr/>
        </p:nvSpPr>
        <p:spPr>
          <a:xfrm>
            <a:off x="347472" y="14538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12" name="Text 9"/>
          <p:cNvSpPr/>
          <p:nvPr/>
        </p:nvSpPr>
        <p:spPr>
          <a:xfrm>
            <a:off x="768096" y="14264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Fire requires fuel, heat, and oxygen. Remove any one and the fire cannot continue.</a:t>
            </a:r>
            <a:endParaRPr lang="en-US" sz="1300" dirty="0"/>
          </a:p>
        </p:txBody>
      </p:sp>
      <p:sp>
        <p:nvSpPr>
          <p:cNvPr id="13" name="Shape 10"/>
          <p:cNvSpPr/>
          <p:nvPr/>
        </p:nvSpPr>
        <p:spPr>
          <a:xfrm>
            <a:off x="347472" y="1911096"/>
            <a:ext cx="310896" cy="310896"/>
          </a:xfrm>
          <a:prstGeom prst="ellipse">
            <a:avLst/>
          </a:prstGeom>
          <a:solidFill>
            <a:srgbClr val="C0392B"/>
          </a:solidFill>
          <a:ln w="12700">
            <a:solidFill>
              <a:srgbClr val="C0392B"/>
            </a:solidFill>
            <a:prstDash val="solid"/>
          </a:ln>
        </p:spPr>
      </p:sp>
      <p:sp>
        <p:nvSpPr>
          <p:cNvPr id="14" name="Text 11"/>
          <p:cNvSpPr/>
          <p:nvPr/>
        </p:nvSpPr>
        <p:spPr>
          <a:xfrm>
            <a:off x="347472" y="19110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15" name="Text 12"/>
          <p:cNvSpPr/>
          <p:nvPr/>
        </p:nvSpPr>
        <p:spPr>
          <a:xfrm>
            <a:off x="768096" y="18836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Know your evacuation route, your assembly point, and the alarm signal for your area before a fire — not during it.</a:t>
            </a:r>
            <a:endParaRPr lang="en-US" sz="1300" dirty="0"/>
          </a:p>
        </p:txBody>
      </p:sp>
      <p:sp>
        <p:nvSpPr>
          <p:cNvPr id="16" name="Shape 13"/>
          <p:cNvSpPr/>
          <p:nvPr/>
        </p:nvSpPr>
        <p:spPr>
          <a:xfrm>
            <a:off x="347472" y="2368296"/>
            <a:ext cx="310896" cy="310896"/>
          </a:xfrm>
          <a:prstGeom prst="ellipse">
            <a:avLst/>
          </a:prstGeom>
          <a:solidFill>
            <a:srgbClr val="E08A00"/>
          </a:solidFill>
          <a:ln w="12700">
            <a:solidFill>
              <a:srgbClr val="E08A00"/>
            </a:solidFill>
            <a:prstDash val="solid"/>
          </a:ln>
        </p:spPr>
      </p:sp>
      <p:sp>
        <p:nvSpPr>
          <p:cNvPr id="17" name="Text 14"/>
          <p:cNvSpPr/>
          <p:nvPr/>
        </p:nvSpPr>
        <p:spPr>
          <a:xfrm>
            <a:off x="347472" y="23682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18" name="Text 15"/>
          <p:cNvSpPr/>
          <p:nvPr/>
        </p:nvSpPr>
        <p:spPr>
          <a:xfrm>
            <a:off x="768096" y="23408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Never use the wrong type of extinguisher. Know the types in your area. Use P.A.S.S.</a:t>
            </a:r>
            <a:endParaRPr lang="en-US" sz="1300" dirty="0"/>
          </a:p>
        </p:txBody>
      </p:sp>
      <p:sp>
        <p:nvSpPr>
          <p:cNvPr id="19" name="Shape 16"/>
          <p:cNvSpPr/>
          <p:nvPr/>
        </p:nvSpPr>
        <p:spPr>
          <a:xfrm>
            <a:off x="347472" y="2825496"/>
            <a:ext cx="310896" cy="310896"/>
          </a:xfrm>
          <a:prstGeom prst="ellipse">
            <a:avLst/>
          </a:prstGeom>
          <a:solidFill>
            <a:srgbClr val="C0392B"/>
          </a:solidFill>
          <a:ln w="12700">
            <a:solidFill>
              <a:srgbClr val="C0392B"/>
            </a:solidFill>
            <a:prstDash val="solid"/>
          </a:ln>
        </p:spPr>
      </p:sp>
      <p:sp>
        <p:nvSpPr>
          <p:cNvPr id="20" name="Text 17"/>
          <p:cNvSpPr/>
          <p:nvPr/>
        </p:nvSpPr>
        <p:spPr>
          <a:xfrm>
            <a:off x="347472" y="28254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21" name="Text 18"/>
          <p:cNvSpPr/>
          <p:nvPr/>
        </p:nvSpPr>
        <p:spPr>
          <a:xfrm>
            <a:off x="768096" y="27980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Fire doors must never be propped open. A closed fire door can hold back fire for up to 60 minutes.</a:t>
            </a:r>
            <a:endParaRPr lang="en-US" sz="1300" dirty="0"/>
          </a:p>
        </p:txBody>
      </p:sp>
      <p:sp>
        <p:nvSpPr>
          <p:cNvPr id="22" name="Shape 19"/>
          <p:cNvSpPr/>
          <p:nvPr/>
        </p:nvSpPr>
        <p:spPr>
          <a:xfrm>
            <a:off x="347472" y="3282696"/>
            <a:ext cx="310896" cy="310896"/>
          </a:xfrm>
          <a:prstGeom prst="ellipse">
            <a:avLst/>
          </a:prstGeom>
          <a:solidFill>
            <a:srgbClr val="D4550A"/>
          </a:solidFill>
          <a:ln w="12700">
            <a:solidFill>
              <a:srgbClr val="D4550A"/>
            </a:solidFill>
            <a:prstDash val="solid"/>
          </a:ln>
        </p:spPr>
      </p:sp>
      <p:sp>
        <p:nvSpPr>
          <p:cNvPr id="23" name="Text 20"/>
          <p:cNvSpPr/>
          <p:nvPr/>
        </p:nvSpPr>
        <p:spPr>
          <a:xfrm>
            <a:off x="347472" y="32826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05</a:t>
            </a:r>
            <a:endParaRPr lang="en-US" sz="1000" dirty="0"/>
          </a:p>
        </p:txBody>
      </p:sp>
      <p:sp>
        <p:nvSpPr>
          <p:cNvPr id="24" name="Text 21"/>
          <p:cNvSpPr/>
          <p:nvPr/>
        </p:nvSpPr>
        <p:spPr>
          <a:xfrm>
            <a:off x="768096" y="32552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Hot work permits are mandatory for all welding, grinding, and cutting. The 30-minute fire watch is not optional.</a:t>
            </a:r>
            <a:endParaRPr lang="en-US" sz="1300" dirty="0"/>
          </a:p>
        </p:txBody>
      </p:sp>
      <p:sp>
        <p:nvSpPr>
          <p:cNvPr id="25" name="Shape 22"/>
          <p:cNvSpPr/>
          <p:nvPr/>
        </p:nvSpPr>
        <p:spPr>
          <a:xfrm>
            <a:off x="347472" y="3739896"/>
            <a:ext cx="310896" cy="310896"/>
          </a:xfrm>
          <a:prstGeom prst="ellipse">
            <a:avLst/>
          </a:prstGeom>
          <a:solidFill>
            <a:srgbClr val="C0392B"/>
          </a:solidFill>
          <a:ln w="12700">
            <a:solidFill>
              <a:srgbClr val="C0392B"/>
            </a:solidFill>
            <a:prstDash val="solid"/>
          </a:ln>
        </p:spPr>
      </p:sp>
      <p:sp>
        <p:nvSpPr>
          <p:cNvPr id="26" name="Text 23"/>
          <p:cNvSpPr/>
          <p:nvPr/>
        </p:nvSpPr>
        <p:spPr>
          <a:xfrm>
            <a:off x="347472" y="37398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06</a:t>
            </a:r>
            <a:endParaRPr lang="en-US" sz="1000" dirty="0"/>
          </a:p>
        </p:txBody>
      </p:sp>
      <p:sp>
        <p:nvSpPr>
          <p:cNvPr id="27" name="Text 24"/>
          <p:cNvSpPr/>
          <p:nvPr/>
        </p:nvSpPr>
        <p:spPr>
          <a:xfrm>
            <a:off x="768096" y="37124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When the alarm sounds — leave immediately. Do not collect belongings. Do not investigate. Do not re-enter.</a:t>
            </a:r>
            <a:endParaRPr lang="en-US" sz="1300" dirty="0"/>
          </a:p>
        </p:txBody>
      </p:sp>
      <p:sp>
        <p:nvSpPr>
          <p:cNvPr id="28" name="Shape 25"/>
          <p:cNvSpPr/>
          <p:nvPr/>
        </p:nvSpPr>
        <p:spPr>
          <a:xfrm>
            <a:off x="347472" y="4197096"/>
            <a:ext cx="310896" cy="310896"/>
          </a:xfrm>
          <a:prstGeom prst="ellipse">
            <a:avLst/>
          </a:prstGeom>
          <a:solidFill>
            <a:srgbClr val="2E8B57"/>
          </a:solidFill>
          <a:ln w="12700">
            <a:solidFill>
              <a:srgbClr val="2E8B57"/>
            </a:solidFill>
            <a:prstDash val="solid"/>
          </a:ln>
        </p:spPr>
      </p:sp>
      <p:sp>
        <p:nvSpPr>
          <p:cNvPr id="29" name="Text 26"/>
          <p:cNvSpPr/>
          <p:nvPr/>
        </p:nvSpPr>
        <p:spPr>
          <a:xfrm>
            <a:off x="347472" y="419709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07</a:t>
            </a:r>
            <a:endParaRPr lang="en-US" sz="1000" dirty="0"/>
          </a:p>
        </p:txBody>
      </p:sp>
      <p:sp>
        <p:nvSpPr>
          <p:cNvPr id="30" name="Text 27"/>
          <p:cNvSpPr/>
          <p:nvPr/>
        </p:nvSpPr>
        <p:spPr>
          <a:xfrm>
            <a:off x="768096" y="4169664"/>
            <a:ext cx="8028432" cy="384048"/>
          </a:xfrm>
          <a:prstGeom prst="rect">
            <a:avLst/>
          </a:prstGeom>
          <a:noFill/>
          <a:ln/>
        </p:spPr>
        <p:txBody>
          <a:bodyPr wrap="square" lIns="0" tIns="0" rIns="0" bIns="0" rtlCol="0" anchor="ctr"/>
          <a:lstStyle/>
          <a:p>
            <a:pPr indent="0" marL="0">
              <a:buNone/>
            </a:pPr>
            <a:r>
              <a:rPr lang="en-US" sz="1300" dirty="0">
                <a:solidFill>
                  <a:srgbClr val="001E3C"/>
                </a:solidFill>
                <a:latin typeface="Arial" pitchFamily="34" charset="0"/>
                <a:ea typeface="Arial" pitchFamily="34" charset="-122"/>
                <a:cs typeface="Arial" pitchFamily="34" charset="-120"/>
              </a:rPr>
              <a:t>Report fire hazards, damaged equipment, or obstructed exits as soon as you find them.</a:t>
            </a:r>
            <a:endParaRPr lang="en-US" sz="1300" dirty="0"/>
          </a:p>
        </p:txBody>
      </p:sp>
      <p:sp>
        <p:nvSpPr>
          <p:cNvPr id="31" name="Rectangle 30"/>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5"/>
          <a:stretch>
            <a:fillRect/>
          </a:stretch>
        </p:blipFill>
        <p:spPr>
          <a:xfrm>
            <a:off x="7562088" y="100584"/>
            <a:ext cx="566928" cy="347472"/>
          </a:xfrm>
          <a:prstGeom prst="rect">
            <a:avLst/>
          </a:prstGeom>
        </p:spPr>
      </p:pic>
      <p:pic>
        <p:nvPicPr>
          <p:cNvPr id="33" name="Picture 32" descr="image.png"/>
          <p:cNvPicPr>
            <a:picLocks noChangeAspect="1"/>
          </p:cNvPicPr>
          <p:nvPr/>
        </p:nvPicPr>
        <p:blipFill>
          <a:blip r:embed="rId4"/>
          <a:stretch>
            <a:fillRect/>
          </a:stretch>
        </p:blipFill>
        <p:spPr>
          <a:xfrm>
            <a:off x="8174736" y="100584"/>
            <a:ext cx="658368" cy="347472"/>
          </a:xfrm>
          <a:prstGeom prst="rect">
            <a:avLst/>
          </a:prstGeom>
        </p:spPr>
      </p:pic>
      <p:sp>
        <p:nvSpPr>
          <p:cNvPr id="34" name="Rectangle 33"/>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0" y="0"/>
            <a:ext cx="4206240" cy="5143500"/>
          </a:xfrm>
          <a:prstGeom prst="rect">
            <a:avLst/>
          </a:prstGeom>
          <a:solidFill>
            <a:srgbClr val="D4550A">
              <a:alpha val="90000"/>
            </a:srgbClr>
          </a:solidFill>
          <a:ln w="12700">
            <a:solidFill>
              <a:srgbClr val="D4550A"/>
            </a:solidFill>
            <a:prstDash val="solid"/>
          </a:ln>
        </p:spPr>
      </p:sp>
      <p:pic>
        <p:nvPicPr>
          <p:cNvPr id="3" name="Image 0" descr="/home/claude/nuccol_logo.jpg">    </p:cNvPr>
          <p:cNvPicPr>
            <a:picLocks noChangeAspect="1"/>
          </p:cNvPicPr>
          <p:nvPr/>
        </p:nvPicPr>
        <p:blipFill>
          <a:blip r:embed="rId1"/>
          <a:stretch>
            <a:fillRect/>
          </a:stretch>
        </p:blipFill>
        <p:spPr>
          <a:xfrm>
            <a:off x="274320" y="228600"/>
            <a:ext cx="1417320" cy="676656"/>
          </a:xfrm>
          <a:prstGeom prst="rect">
            <a:avLst/>
          </a:prstGeom>
        </p:spPr>
      </p:pic>
      <p:sp>
        <p:nvSpPr>
          <p:cNvPr id="4" name="Text 1"/>
          <p:cNvSpPr/>
          <p:nvPr/>
        </p:nvSpPr>
        <p:spPr>
          <a:xfrm>
            <a:off x="274320" y="1170432"/>
            <a:ext cx="3566160" cy="40233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Next Steps</a:t>
            </a:r>
            <a:endParaRPr lang="en-US" sz="2200" dirty="0"/>
          </a:p>
        </p:txBody>
      </p:sp>
      <p:sp>
        <p:nvSpPr>
          <p:cNvPr id="5" name="Shape 2"/>
          <p:cNvSpPr/>
          <p:nvPr/>
        </p:nvSpPr>
        <p:spPr>
          <a:xfrm>
            <a:off x="310896" y="1691640"/>
            <a:ext cx="219456" cy="219456"/>
          </a:xfrm>
          <a:prstGeom prst="ellipse">
            <a:avLst/>
          </a:prstGeom>
          <a:solidFill>
            <a:srgbClr val="FFFFFF">
              <a:alpha val="75000"/>
            </a:srgbClr>
          </a:solidFill>
          <a:ln w="10160">
            <a:solidFill>
              <a:srgbClr val="FFFFFF"/>
            </a:solidFill>
            <a:prstDash val="solid"/>
          </a:ln>
        </p:spPr>
      </p:sp>
      <p:sp>
        <p:nvSpPr>
          <p:cNvPr id="6" name="Text 3"/>
          <p:cNvSpPr/>
          <p:nvPr/>
        </p:nvSpPr>
        <p:spPr>
          <a:xfrm>
            <a:off x="310896" y="16916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7" name="Text 4"/>
          <p:cNvSpPr/>
          <p:nvPr/>
        </p:nvSpPr>
        <p:spPr>
          <a:xfrm>
            <a:off x="603504" y="1673352"/>
            <a:ext cx="3474720" cy="42062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Walk your evacuation route and confirm your assembly point today</a:t>
            </a:r>
            <a:endParaRPr lang="en-US" sz="1100" dirty="0"/>
          </a:p>
        </p:txBody>
      </p:sp>
      <p:sp>
        <p:nvSpPr>
          <p:cNvPr id="8" name="Shape 5"/>
          <p:cNvSpPr/>
          <p:nvPr/>
        </p:nvSpPr>
        <p:spPr>
          <a:xfrm>
            <a:off x="310896" y="2167128"/>
            <a:ext cx="219456" cy="219456"/>
          </a:xfrm>
          <a:prstGeom prst="ellipse">
            <a:avLst/>
          </a:prstGeom>
          <a:solidFill>
            <a:srgbClr val="FFFFFF">
              <a:alpha val="75000"/>
            </a:srgbClr>
          </a:solidFill>
          <a:ln w="10160">
            <a:solidFill>
              <a:srgbClr val="FFFFFF"/>
            </a:solidFill>
            <a:prstDash val="solid"/>
          </a:ln>
        </p:spPr>
      </p:sp>
      <p:sp>
        <p:nvSpPr>
          <p:cNvPr id="9" name="Text 6"/>
          <p:cNvSpPr/>
          <p:nvPr/>
        </p:nvSpPr>
        <p:spPr>
          <a:xfrm>
            <a:off x="310896" y="2167128"/>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0" name="Text 7"/>
          <p:cNvSpPr/>
          <p:nvPr/>
        </p:nvSpPr>
        <p:spPr>
          <a:xfrm>
            <a:off x="603504" y="2148840"/>
            <a:ext cx="3474720" cy="42062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Check fire extinguisher types in your area — do you know what each one is for?</a:t>
            </a:r>
            <a:endParaRPr lang="en-US" sz="1100" dirty="0"/>
          </a:p>
        </p:txBody>
      </p:sp>
      <p:sp>
        <p:nvSpPr>
          <p:cNvPr id="11" name="Shape 8"/>
          <p:cNvSpPr/>
          <p:nvPr/>
        </p:nvSpPr>
        <p:spPr>
          <a:xfrm>
            <a:off x="310896" y="2642616"/>
            <a:ext cx="219456" cy="219456"/>
          </a:xfrm>
          <a:prstGeom prst="ellipse">
            <a:avLst/>
          </a:prstGeom>
          <a:solidFill>
            <a:srgbClr val="FFFFFF">
              <a:alpha val="75000"/>
            </a:srgbClr>
          </a:solidFill>
          <a:ln w="10160">
            <a:solidFill>
              <a:srgbClr val="FFFFFF"/>
            </a:solidFill>
            <a:prstDash val="solid"/>
          </a:ln>
        </p:spPr>
      </p:sp>
      <p:sp>
        <p:nvSpPr>
          <p:cNvPr id="12" name="Text 9"/>
          <p:cNvSpPr/>
          <p:nvPr/>
        </p:nvSpPr>
        <p:spPr>
          <a:xfrm>
            <a:off x="310896" y="2642616"/>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13" name="Text 10"/>
          <p:cNvSpPr/>
          <p:nvPr/>
        </p:nvSpPr>
        <p:spPr>
          <a:xfrm>
            <a:off x="603504" y="2624328"/>
            <a:ext cx="3474720" cy="42062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Confirm there are no obstructions in fire exits or on evacuation routes</a:t>
            </a:r>
            <a:endParaRPr lang="en-US" sz="1100" dirty="0"/>
          </a:p>
        </p:txBody>
      </p:sp>
      <p:sp>
        <p:nvSpPr>
          <p:cNvPr id="14" name="Shape 11"/>
          <p:cNvSpPr/>
          <p:nvPr/>
        </p:nvSpPr>
        <p:spPr>
          <a:xfrm>
            <a:off x="310896" y="3118104"/>
            <a:ext cx="219456" cy="219456"/>
          </a:xfrm>
          <a:prstGeom prst="ellipse">
            <a:avLst/>
          </a:prstGeom>
          <a:solidFill>
            <a:srgbClr val="FFFFFF">
              <a:alpha val="75000"/>
            </a:srgbClr>
          </a:solidFill>
          <a:ln w="10160">
            <a:solidFill>
              <a:srgbClr val="FFFFFF"/>
            </a:solidFill>
            <a:prstDash val="solid"/>
          </a:ln>
        </p:spPr>
      </p:sp>
      <p:sp>
        <p:nvSpPr>
          <p:cNvPr id="15" name="Text 12"/>
          <p:cNvSpPr/>
          <p:nvPr/>
        </p:nvSpPr>
        <p:spPr>
          <a:xfrm>
            <a:off x="310896" y="311810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16" name="Text 13"/>
          <p:cNvSpPr/>
          <p:nvPr/>
        </p:nvSpPr>
        <p:spPr>
          <a:xfrm>
            <a:off x="603504" y="3099816"/>
            <a:ext cx="3474720" cy="420624"/>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Report any fire door defects, damaged detection equipment, or hazards to your supervisor</a:t>
            </a:r>
            <a:endParaRPr lang="en-US" sz="1100" dirty="0"/>
          </a:p>
        </p:txBody>
      </p:sp>
      <p:sp>
        <p:nvSpPr>
          <p:cNvPr id="17" name="Text 14"/>
          <p:cNvSpPr/>
          <p:nvPr/>
        </p:nvSpPr>
        <p:spPr>
          <a:xfrm>
            <a:off x="274320" y="4206240"/>
            <a:ext cx="3566160" cy="2560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Further Resources</a:t>
            </a:r>
            <a:endParaRPr lang="en-US" sz="1300" dirty="0"/>
          </a:p>
        </p:txBody>
      </p:sp>
      <p:sp>
        <p:nvSpPr>
          <p:cNvPr id="18" name="Text 15"/>
          <p:cNvSpPr/>
          <p:nvPr/>
        </p:nvSpPr>
        <p:spPr>
          <a:xfrm>
            <a:off x="274320" y="4480560"/>
            <a:ext cx="3566160" cy="530352"/>
          </a:xfrm>
          <a:prstGeom prst="rect">
            <a:avLst/>
          </a:prstGeom>
          <a:noFill/>
          <a:ln/>
        </p:spPr>
        <p:txBody>
          <a:bodyPr wrap="square" lIns="0" tIns="0" rIns="0" bIns="0" rtlCol="0" anchor="ctr"/>
          <a:lstStyle/>
          <a:p>
            <a:pPr indent="0" marL="0">
              <a:buNone/>
            </a:pPr>
            <a:r>
              <a:rPr lang="en-US" sz="900" dirty="0">
                <a:solidFill>
                  <a:srgbClr val="BBAACC"/>
                </a:solidFill>
                <a:latin typeface="Arial" pitchFamily="34" charset="0"/>
                <a:ea typeface="Arial" pitchFamily="34" charset="-122"/>
                <a:cs typeface="Arial" pitchFamily="34" charset="-120"/>
              </a:rPr>
              <a:t>Regulatory Reform (Fire Safety) Order 2005</a:t>
            </a:r>
            <a:endParaRPr lang="en-US" sz="900" dirty="0"/>
          </a:p>
          <a:p>
            <a:pPr indent="0" marL="0">
              <a:buNone/>
            </a:pPr>
            <a:r>
              <a:rPr lang="en-US" sz="900" dirty="0">
                <a:solidFill>
                  <a:srgbClr val="BBAACC"/>
                </a:solidFill>
                <a:latin typeface="Arial" pitchFamily="34" charset="0"/>
                <a:ea typeface="Arial" pitchFamily="34" charset="-122"/>
                <a:cs typeface="Arial" pitchFamily="34" charset="-120"/>
              </a:rPr>
              <a:t>BS 9999 — Fire Safety in Design, Management and Use of Buildings</a:t>
            </a:r>
            <a:endParaRPr lang="en-US" sz="900" dirty="0"/>
          </a:p>
          <a:p>
            <a:pPr indent="0" marL="0">
              <a:buNone/>
            </a:pPr>
            <a:r>
              <a:rPr lang="en-US" sz="900" dirty="0">
                <a:solidFill>
                  <a:srgbClr val="BBAACC"/>
                </a:solidFill>
                <a:latin typeface="Arial" pitchFamily="34" charset="0"/>
                <a:ea typeface="Arial" pitchFamily="34" charset="-122"/>
                <a:cs typeface="Arial" pitchFamily="34" charset="-120"/>
              </a:rPr>
              <a:t>HSE Fire Safety Guidance</a:t>
            </a:r>
            <a:endParaRPr lang="en-US" sz="900" dirty="0"/>
          </a:p>
          <a:p>
            <a:pPr indent="0" marL="0">
              <a:buNone/>
            </a:pPr>
            <a:r>
              <a:rPr lang="en-US" sz="900" dirty="0">
                <a:solidFill>
                  <a:srgbClr val="BBAACC"/>
                </a:solidFill>
                <a:latin typeface="Arial" pitchFamily="34" charset="0"/>
                <a:ea typeface="Arial" pitchFamily="34" charset="-122"/>
                <a:cs typeface="Arial" pitchFamily="34" charset="-120"/>
              </a:rPr>
              <a:t>ISO 45001:2018 — Occupational H&amp;S Management</a:t>
            </a:r>
            <a:endParaRPr lang="en-US" sz="900" dirty="0"/>
          </a:p>
        </p:txBody>
      </p:sp>
      <p:sp>
        <p:nvSpPr>
          <p:cNvPr id="19" name="Text 16"/>
          <p:cNvSpPr/>
          <p:nvPr/>
        </p:nvSpPr>
        <p:spPr>
          <a:xfrm>
            <a:off x="4389120" y="1261872"/>
            <a:ext cx="4526280" cy="5943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Thank You</a:t>
            </a:r>
            <a:endParaRPr lang="en-US" sz="3600" dirty="0"/>
          </a:p>
        </p:txBody>
      </p:sp>
      <p:sp>
        <p:nvSpPr>
          <p:cNvPr id="20" name="Text 17"/>
          <p:cNvSpPr/>
          <p:nvPr/>
        </p:nvSpPr>
        <p:spPr>
          <a:xfrm>
            <a:off x="4389120" y="1920240"/>
            <a:ext cx="4526280" cy="347472"/>
          </a:xfrm>
          <a:prstGeom prst="rect">
            <a:avLst/>
          </a:prstGeom>
          <a:noFill/>
          <a:ln/>
        </p:spPr>
        <p:txBody>
          <a:bodyPr wrap="square" lIns="0" tIns="0" rIns="0" bIns="0" rtlCol="0" anchor="ctr"/>
          <a:lstStyle/>
          <a:p>
            <a:pPr indent="0" marL="0">
              <a:buNone/>
            </a:pPr>
            <a:r>
              <a:rPr lang="en-US" sz="1700" i="1" dirty="0">
                <a:solidFill>
                  <a:srgbClr val="BBAACC"/>
                </a:solidFill>
                <a:latin typeface="Cambria" pitchFamily="34" charset="0"/>
                <a:ea typeface="Cambria" pitchFamily="34" charset="-122"/>
                <a:cs typeface="Cambria" pitchFamily="34" charset="-120"/>
              </a:rPr>
              <a:t>Fire Safety and Emergency Procedures</a:t>
            </a:r>
            <a:endParaRPr lang="en-US" sz="1700" dirty="0"/>
          </a:p>
        </p:txBody>
      </p:sp>
      <p:sp>
        <p:nvSpPr>
          <p:cNvPr id="21" name="Shape 18"/>
          <p:cNvSpPr/>
          <p:nvPr/>
        </p:nvSpPr>
        <p:spPr>
          <a:xfrm>
            <a:off x="4389120" y="2331720"/>
            <a:ext cx="4389120" cy="0"/>
          </a:xfrm>
          <a:prstGeom prst="line">
            <a:avLst/>
          </a:prstGeom>
          <a:noFill/>
          <a:ln w="15240">
            <a:solidFill>
              <a:srgbClr val="D4550A"/>
            </a:solidFill>
            <a:prstDash val="solid"/>
          </a:ln>
        </p:spPr>
      </p:sp>
      <p:sp>
        <p:nvSpPr>
          <p:cNvPr id="22" name="Text 19"/>
          <p:cNvSpPr/>
          <p:nvPr/>
        </p:nvSpPr>
        <p:spPr>
          <a:xfrm>
            <a:off x="4389120" y="2450592"/>
            <a:ext cx="4526280" cy="45720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Questions? Speak to your supervisor, QHSE lead, or your NucCol Supply Chain Consultant.</a:t>
            </a:r>
            <a:endParaRPr lang="en-US" sz="1300" dirty="0"/>
          </a:p>
        </p:txBody>
      </p:sp>
      <p:sp>
        <p:nvSpPr>
          <p:cNvPr id="23" name="Text 20"/>
          <p:cNvSpPr/>
          <p:nvPr/>
        </p:nvSpPr>
        <p:spPr>
          <a:xfrm>
            <a:off x="4389120" y="3090672"/>
            <a:ext cx="4526280" cy="658368"/>
          </a:xfrm>
          <a:prstGeom prst="rect">
            <a:avLst/>
          </a:prstGeom>
          <a:noFill/>
          <a:ln/>
        </p:spPr>
        <p:txBody>
          <a:bodyPr wrap="square" lIns="0" tIns="0" rIns="0" bIns="0" rtlCol="0" anchor="ctr"/>
          <a:lstStyle/>
          <a:p>
            <a:pPr indent="0" marL="0">
              <a:buNone/>
            </a:pPr>
            <a:r>
              <a:rPr lang="en-US" sz="1300" dirty="0">
                <a:solidFill>
                  <a:srgbClr val="BBAACC"/>
                </a:solidFill>
                <a:latin typeface="Arial" pitchFamily="34" charset="0"/>
                <a:ea typeface="Arial" pitchFamily="34" charset="-122"/>
                <a:cs typeface="Arial" pitchFamily="34" charset="-120"/>
              </a:rPr>
              <a:t>Nuclear Collaboration Ltd</a:t>
            </a:r>
            <a:endParaRPr lang="en-US" sz="1300" dirty="0"/>
          </a:p>
          <a:p>
            <a:pPr indent="0" marL="0">
              <a:buNone/>
            </a:pPr>
            <a:r>
              <a:rPr lang="en-US" sz="1300" dirty="0">
                <a:solidFill>
                  <a:srgbClr val="BBAACC"/>
                </a:solidFill>
                <a:latin typeface="Arial" pitchFamily="34" charset="0"/>
                <a:ea typeface="Arial" pitchFamily="34" charset="-122"/>
                <a:cs typeface="Arial" pitchFamily="34" charset="-120"/>
              </a:rPr>
              <a:t>www.nuccol.co.uk</a:t>
            </a:r>
            <a:endParaRPr lang="en-US" sz="1300" dirty="0"/>
          </a:p>
          <a:p>
            <a:pPr indent="0" marL="0">
              <a:buNone/>
            </a:pPr>
            <a:r>
              <a:rPr lang="en-US" sz="1300" dirty="0">
                <a:solidFill>
                  <a:srgbClr val="BBAACC"/>
                </a:solidFill>
                <a:latin typeface="Arial" pitchFamily="34" charset="0"/>
                <a:ea typeface="Arial" pitchFamily="34" charset="-122"/>
                <a:cs typeface="Arial" pitchFamily="34" charset="-120"/>
              </a:rPr>
              <a:t>enquiries@nuccol.co.uk</a:t>
            </a:r>
            <a:endParaRPr lang="en-US" sz="1300" dirty="0"/>
          </a:p>
        </p:txBody>
      </p:sp>
      <p:sp>
        <p:nvSpPr>
          <p:cNvPr id="24" name="Rectangle 23"/>
          <p:cNvSpPr/>
          <p:nvPr/>
        </p:nvSpPr>
        <p:spPr>
          <a:xfrm>
            <a:off x="7516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5"/>
          <a:stretch>
            <a:fillRect/>
          </a:stretch>
        </p:blipFill>
        <p:spPr>
          <a:xfrm>
            <a:off x="7562088" y="100584"/>
            <a:ext cx="566928" cy="347472"/>
          </a:xfrm>
          <a:prstGeom prst="rect">
            <a:avLst/>
          </a:prstGeom>
        </p:spPr>
      </p:pic>
      <p:pic>
        <p:nvPicPr>
          <p:cNvPr id="26" name="Picture 25" descr="image.png"/>
          <p:cNvPicPr>
            <a:picLocks noChangeAspect="1"/>
          </p:cNvPicPr>
          <p:nvPr/>
        </p:nvPicPr>
        <p:blipFill>
          <a:blip r:embed="rId4"/>
          <a:stretch>
            <a:fillRect/>
          </a:stretch>
        </p:blipFill>
        <p:spPr>
          <a:xfrm>
            <a:off x="8174736" y="100584"/>
            <a:ext cx="658368" cy="347472"/>
          </a:xfrm>
          <a:prstGeom prst="rect">
            <a:avLst/>
          </a:prstGeom>
        </p:spPr>
      </p:pic>
      <p:sp>
        <p:nvSpPr>
          <p:cNvPr id="27" name="Rectangle 26"/>
          <p:cNvSpPr/>
          <p:nvPr/>
        </p:nvSpPr>
        <p:spPr>
          <a:xfrm>
            <a:off x="0" y="4914900"/>
            <a:ext cx="9144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459E75E-CD61-4197-A19D-0AF4CBD1C4D7}"/>
</file>

<file path=customXml/itemProps2.xml><?xml version="1.0" encoding="utf-8"?>
<ds:datastoreItem xmlns:ds="http://schemas.openxmlformats.org/officeDocument/2006/customXml" ds:itemID="{8D1D1A73-795D-4587-AFC2-3C68C079EF0B}"/>
</file>

<file path=customXml/itemProps3.xml><?xml version="1.0" encoding="utf-8"?>
<ds:datastoreItem xmlns:ds="http://schemas.openxmlformats.org/officeDocument/2006/customXml" ds:itemID="{11113A04-CF20-4F5E-997E-175B1C9B95DC}"/>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QHSE-TG04 Fire Safety Training Guide</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