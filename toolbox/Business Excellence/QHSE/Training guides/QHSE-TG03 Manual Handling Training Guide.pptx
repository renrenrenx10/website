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media/image-1-1.jpg" ContentType="image/jpg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media/image-2-1.jpg" ContentType="image/jpg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media/image-3-1.jpg" ContentType="image/jpg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media/image-4-1.jpg" ContentType="image/jpg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media/image-5-1.jpg" ContentType="image/jpg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media/image-6-1.jpg" ContentType="image/jpg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media/image-7-1.jpg" ContentType="image/jpg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media/image-8-1.jpg" ContentType="image/jpg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media/image-9-1.jpg" ContentType="image/jpg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weight guidelines are NOT legal limits. They are risk indicators. Any manual handling that causes pain or injury is unacceptable regardless of the 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Relationship Id="rId9" Type="http://schemas.openxmlformats.org/officeDocument/2006/relationships/image" Target="../media/image1.png"/><Relationship Id="rId10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09FE3">
              <a:alpha val="90000"/>
            </a:srgbClr>
          </a:solidFill>
          <a:ln w="12700">
            <a:solidFill>
              <a:srgbClr val="009FE3"/>
            </a:solidFill>
            <a:prstDash val="solid"/>
          </a:ln>
        </p:spPr>
      </p:sp>
      <p:pic>
        <p:nvPicPr>
          <p:cNvPr id="3" name="Image 0" descr="/home/claude/nucc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417320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1155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QHSE Training Guide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74320" y="146304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Handling: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Protecting Your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 for Life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274320" y="2926080"/>
            <a:ext cx="33832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30175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risks, the law, and how to handle safely every day.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74320" y="42245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to: Manual Handling Operations Regulations 1992  |  ISO 45001  |  HSG115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080760" y="411480"/>
            <a:ext cx="822960" cy="822960"/>
          </a:xfrm>
          <a:prstGeom prst="ellipse">
            <a:avLst/>
          </a:prstGeom>
          <a:solidFill>
            <a:srgbClr val="009FE3">
              <a:alpha val="82000"/>
            </a:srgbClr>
          </a:solidFill>
          <a:ln w="10160">
            <a:solidFill>
              <a:srgbClr val="FFFF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548640"/>
            <a:ext cx="548640" cy="548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086600" y="1234440"/>
            <a:ext cx="822960" cy="822960"/>
          </a:xfrm>
          <a:prstGeom prst="ellipse">
            <a:avLst/>
          </a:prstGeom>
          <a:solidFill>
            <a:srgbClr val="C0392B">
              <a:alpha val="82000"/>
            </a:srgbClr>
          </a:solidFill>
          <a:ln w="1016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371600"/>
            <a:ext cx="548640" cy="5486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446520" y="2057400"/>
            <a:ext cx="822960" cy="822960"/>
          </a:xfrm>
          <a:prstGeom prst="ellipse">
            <a:avLst/>
          </a:prstGeom>
          <a:solidFill>
            <a:srgbClr val="E08A00">
              <a:alpha val="82000"/>
            </a:srgbClr>
          </a:solidFill>
          <a:ln w="10160">
            <a:solidFill>
              <a:srgbClr val="FFFFFF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94560"/>
            <a:ext cx="548640" cy="54864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903720" y="2880360"/>
            <a:ext cx="822960" cy="822960"/>
          </a:xfrm>
          <a:prstGeom prst="ellipse">
            <a:avLst/>
          </a:prstGeom>
          <a:solidFill>
            <a:srgbClr val="2E8B57">
              <a:alpha val="82000"/>
            </a:srgbClr>
          </a:solidFill>
          <a:ln w="10160">
            <a:solidFill>
              <a:srgbClr val="FFFFFF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3017520"/>
            <a:ext cx="548640" cy="54864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172200" y="3520440"/>
            <a:ext cx="822960" cy="822960"/>
          </a:xfrm>
          <a:prstGeom prst="ellipse">
            <a:avLst/>
          </a:prstGeom>
          <a:solidFill>
            <a:srgbClr val="83348F">
              <a:alpha val="82000"/>
            </a:srgbClr>
          </a:solidFill>
          <a:ln w="10160">
            <a:solidFill>
              <a:srgbClr val="FFFFFF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657600"/>
            <a:ext cx="548640" cy="54864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347472" y="201168"/>
            <a:ext cx="2560320" cy="292608"/>
          </a:xfrm>
          <a:prstGeom prst="roundRect">
            <a:avLst>
              <a:gd name="adj" fmla="val 15625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201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Law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47472" y="56692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Legal Duties: Manual Handling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7472" y="1261872"/>
            <a:ext cx="8449056" cy="0"/>
          </a:xfrm>
          <a:prstGeom prst="line">
            <a:avLst/>
          </a:prstGeom>
          <a:noFill/>
          <a:ln w="19050">
            <a:solidFill>
              <a:srgbClr val="009F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1353312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Manual Handling Operations Regulations 1992 (as amended 2002) require employers to, so far as is reasonably practicable: avoid hazardous manual handling operations; assess the risk where they cannot be avoided; and reduce the risk of injury to the lowest reasonably practicable level. Employees must follow safe systems of work and report issues.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7472" y="1956816"/>
            <a:ext cx="4133088" cy="1152144"/>
          </a:xfrm>
          <a:prstGeom prst="roundRect">
            <a:avLst>
              <a:gd name="adj" fmla="val 6349"/>
            </a:avLst>
          </a:prstGeom>
          <a:solidFill>
            <a:srgbClr val="F8F8F8"/>
          </a:solidFill>
          <a:ln w="1016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" y="2066544"/>
            <a:ext cx="347472" cy="34747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" y="2066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96112" y="208483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" y="2414016"/>
            <a:ext cx="3877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 task be mechanised, automated, or reorganised so that hazardous manual handling is not required? This is the preferred option and must always be considered first.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63440" y="1956816"/>
            <a:ext cx="4133088" cy="1152144"/>
          </a:xfrm>
          <a:prstGeom prst="roundRect">
            <a:avLst>
              <a:gd name="adj" fmla="val 6349"/>
            </a:avLst>
          </a:prstGeom>
          <a:solidFill>
            <a:srgbClr val="F8F8F8"/>
          </a:solidFill>
          <a:ln w="1016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91456" y="2066544"/>
            <a:ext cx="347472" cy="347472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91456" y="2066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212080" y="208483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09744" y="2414016"/>
            <a:ext cx="3877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manual handling cannot be avoided, a suitable assessment must be carried out using the TILE framework: Task, Individual, Load, Environment. See the next slides.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7472" y="3218688"/>
            <a:ext cx="4133088" cy="1152144"/>
          </a:xfrm>
          <a:prstGeom prst="roundRect">
            <a:avLst>
              <a:gd name="adj" fmla="val 6349"/>
            </a:avLst>
          </a:prstGeom>
          <a:solidFill>
            <a:srgbClr val="F8F8F8"/>
          </a:solidFill>
          <a:ln w="1016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" y="3328416"/>
            <a:ext cx="347472" cy="3474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96112" y="334670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93776" y="3675888"/>
            <a:ext cx="3877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controls in place to reduce the risk to the lowest reasonably practicable level. Use mechanical aids, change the task, improve the environment, provide training.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63440" y="3218688"/>
            <a:ext cx="4133088" cy="1152144"/>
          </a:xfrm>
          <a:prstGeom prst="roundRect">
            <a:avLst>
              <a:gd name="adj" fmla="val 6349"/>
            </a:avLst>
          </a:prstGeom>
          <a:solidFill>
            <a:srgbClr val="F8F8F8"/>
          </a:solidFill>
          <a:ln w="1016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91456" y="3328416"/>
            <a:ext cx="347472" cy="347472"/>
          </a:xfrm>
          <a:prstGeom prst="ellipse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91456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212080" y="334670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duty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809744" y="3675888"/>
            <a:ext cx="3877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must make use of any equipment provided, follow safe systems of work, and tell their employer if they become aware of a hazard or condition affecting their ability to handle safely.</a:t>
            </a:r>
            <a:endParaRPr lang="en-US" sz="1100" dirty="0"/>
          </a:p>
        </p:txBody>
      </p:sp>
      <p:sp>
        <p:nvSpPr>
          <p:cNvPr id="31" name="Rectangle 30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347472" y="201168"/>
            <a:ext cx="2560320" cy="292608"/>
          </a:xfrm>
          <a:prstGeom prst="roundRect">
            <a:avLst>
              <a:gd name="adj" fmla="val 15625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201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47472" y="56692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TILE Framework: Assessing Manual Handling Risk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7472" y="1261872"/>
            <a:ext cx="8449056" cy="0"/>
          </a:xfrm>
          <a:prstGeom prst="line">
            <a:avLst/>
          </a:prstGeom>
          <a:noFill/>
          <a:ln w="19050">
            <a:solidFill>
              <a:srgbClr val="009F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135331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any manual handling task, the four factors of TILE must be considered. All four interact: a load that is manageable in ideal conditions may become hazardous when the environment, individual capability, or task demands change.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7472" y="1938528"/>
            <a:ext cx="4133088" cy="1353312"/>
          </a:xfrm>
          <a:prstGeom prst="roundRect">
            <a:avLst>
              <a:gd name="adj" fmla="val 5405"/>
            </a:avLst>
          </a:prstGeom>
          <a:solidFill>
            <a:srgbClr val="F8F8F8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011680"/>
            <a:ext cx="512064" cy="512064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042416" y="207568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487168"/>
            <a:ext cx="91440" cy="91440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" y="2459736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involve twisting, stooping, or reaching?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2688336"/>
            <a:ext cx="91440" cy="91440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" y="2660904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involve long carry distances or pushing/pulling?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2889504"/>
            <a:ext cx="91440" cy="91440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3504" y="286207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repetitive? Does it require sudden movements?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7200" y="3090672"/>
            <a:ext cx="91440" cy="91440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" y="3063240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sufficient rest between handling operations?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663440" y="1938528"/>
            <a:ext cx="4133088" cy="1353312"/>
          </a:xfrm>
          <a:prstGeom prst="roundRect">
            <a:avLst>
              <a:gd name="adj" fmla="val 5405"/>
            </a:avLst>
          </a:prstGeom>
          <a:solidFill>
            <a:srgbClr val="F8F8F8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73168" y="2011680"/>
            <a:ext cx="512064" cy="512064"/>
          </a:xfrm>
          <a:prstGeom prst="ellipse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73168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5358384" y="207568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773168" y="2487168"/>
            <a:ext cx="91440" cy="91440"/>
          </a:xfrm>
          <a:prstGeom prst="ellipse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19472" y="2459736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person have any known health conditions?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73168" y="2688336"/>
            <a:ext cx="91440" cy="91440"/>
          </a:xfrm>
          <a:prstGeom prst="ellipse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19472" y="2660904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they pregnant, recently returned from injury, or new to the job?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773168" y="2889504"/>
            <a:ext cx="91440" cy="91440"/>
          </a:xfrm>
          <a:prstGeom prst="ellipse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19472" y="286207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they have the right training and experience for this task?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773168" y="3090672"/>
            <a:ext cx="91440" cy="91440"/>
          </a:xfrm>
          <a:prstGeom prst="ellipse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919472" y="3063240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they physically capable of the task in its current form?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47472" y="3401568"/>
            <a:ext cx="4133088" cy="1353312"/>
          </a:xfrm>
          <a:prstGeom prst="roundRect">
            <a:avLst>
              <a:gd name="adj" fmla="val 5405"/>
            </a:avLst>
          </a:prstGeom>
          <a:solidFill>
            <a:srgbClr val="F8F8F8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7200" y="3474720"/>
            <a:ext cx="512064" cy="512064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7200" y="3474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1042416" y="35387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457200" y="3950208"/>
            <a:ext cx="91440" cy="9144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03504" y="3922776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heavy, bulky, unwieldy, or difficult to grip?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57200" y="4151376"/>
            <a:ext cx="91440" cy="9144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03504" y="4123944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have sharp edges, hot surfaces, or unstable contents?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57200" y="4352544"/>
            <a:ext cx="91440" cy="9144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03504" y="432511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weight distribution uneven or unpredictable?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57200" y="4553712"/>
            <a:ext cx="91440" cy="9144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03504" y="4526280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the load shift or move during handling?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4663440" y="3401568"/>
            <a:ext cx="4133088" cy="1353312"/>
          </a:xfrm>
          <a:prstGeom prst="roundRect">
            <a:avLst>
              <a:gd name="adj" fmla="val 5405"/>
            </a:avLst>
          </a:prstGeom>
          <a:solidFill>
            <a:srgbClr val="F8F8F8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773168" y="3474720"/>
            <a:ext cx="512064" cy="51206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773168" y="3474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000" dirty="0"/>
          </a:p>
        </p:txBody>
      </p:sp>
      <p:sp>
        <p:nvSpPr>
          <p:cNvPr id="50" name="Text 47"/>
          <p:cNvSpPr/>
          <p:nvPr/>
        </p:nvSpPr>
        <p:spPr>
          <a:xfrm>
            <a:off x="5358384" y="35387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4773168" y="3950208"/>
            <a:ext cx="91440" cy="914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919472" y="3922776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floors even, clean, and free from obstructions?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4773168" y="4151376"/>
            <a:ext cx="91440" cy="914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919472" y="4123944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enough space to handle the load safely?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4773168" y="4352544"/>
            <a:ext cx="91440" cy="914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919472" y="4325112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lighting adequate? Are there steps, ramps, or changes in level?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773168" y="4553712"/>
            <a:ext cx="91440" cy="914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919472" y="4526280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temperature extreme? Are there strong air movements?</a:t>
            </a:r>
            <a:endParaRPr lang="en-US" sz="950" dirty="0"/>
          </a:p>
        </p:txBody>
      </p:sp>
      <p:sp>
        <p:nvSpPr>
          <p:cNvPr id="59" name="Rectangle 58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347472" y="201168"/>
            <a:ext cx="2560320" cy="292608"/>
          </a:xfrm>
          <a:prstGeom prst="roundRect">
            <a:avLst>
              <a:gd name="adj" fmla="val 15625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201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Technique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47472" y="56692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Safe Lifting Sequence: Step by Step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7472" y="1261872"/>
            <a:ext cx="8449056" cy="0"/>
          </a:xfrm>
          <a:prstGeom prst="line">
            <a:avLst/>
          </a:prstGeom>
          <a:noFill/>
          <a:ln w="19050">
            <a:solidFill>
              <a:srgbClr val="009F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135331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single 'correct' way to lift that applies to every situation. What matters is planning the lift, keeping the spine in a neutral position, using the legs, and keeping the load close to the body. Follow these steps for lifting from a low level.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7472" y="1938528"/>
            <a:ext cx="2688336" cy="1316736"/>
          </a:xfrm>
          <a:prstGeom prst="roundRect">
            <a:avLst>
              <a:gd name="adj" fmla="val 5556"/>
            </a:avLst>
          </a:prstGeom>
          <a:solidFill>
            <a:srgbClr val="F8F8F8"/>
          </a:solidFill>
          <a:ln w="10160">
            <a:solidFill>
              <a:srgbClr val="009F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029968"/>
            <a:ext cx="347472" cy="347472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77824" y="206654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before you lift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38912" y="2450592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weight, the destination, and the route. Clear the path. Can you use a mechanical aid? Do you need a second person? Decide before you touch the load.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00400" y="1938528"/>
            <a:ext cx="2688336" cy="1316736"/>
          </a:xfrm>
          <a:prstGeom prst="roundRect">
            <a:avLst>
              <a:gd name="adj" fmla="val 5556"/>
            </a:avLst>
          </a:prstGeom>
          <a:solidFill>
            <a:srgbClr val="F8F8F8"/>
          </a:solidFill>
          <a:ln w="10160">
            <a:solidFill>
              <a:srgbClr val="006FA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10128" y="2029968"/>
            <a:ext cx="347472" cy="347472"/>
          </a:xfrm>
          <a:prstGeom prst="ellipse">
            <a:avLst/>
          </a:prstGeom>
          <a:solidFill>
            <a:srgbClr val="006FAA"/>
          </a:solidFill>
          <a:ln w="12700">
            <a:solidFill>
              <a:srgbClr val="006FA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10128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730752" y="206654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your feet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291840" y="2450592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close to the load with feet shoulder-width apart. One foot slightly ahead of the other for balance. Face the direction of travel where possible.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53328" y="1938528"/>
            <a:ext cx="2688336" cy="1316736"/>
          </a:xfrm>
          <a:prstGeom prst="roundRect">
            <a:avLst>
              <a:gd name="adj" fmla="val 5556"/>
            </a:avLst>
          </a:prstGeom>
          <a:solidFill>
            <a:srgbClr val="F8F8F8"/>
          </a:solidFill>
          <a:ln w="10160">
            <a:solidFill>
              <a:srgbClr val="83348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63056" y="2029968"/>
            <a:ext cx="347472" cy="347472"/>
          </a:xfrm>
          <a:prstGeom prst="ellipse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63056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583680" y="206654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Bend your knees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44768" y="2450592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Squat down by bending the knees and hips. Keep your back in its natural curve — do not hunch it or hyper-extend it. Tuck your chin in slightly.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47472" y="3355848"/>
            <a:ext cx="2688336" cy="1316736"/>
          </a:xfrm>
          <a:prstGeom prst="roundRect">
            <a:avLst>
              <a:gd name="adj" fmla="val 5556"/>
            </a:avLst>
          </a:prstGeom>
          <a:solidFill>
            <a:srgbClr val="F8F8F8"/>
          </a:solidFill>
          <a:ln w="10160">
            <a:solidFill>
              <a:srgbClr val="2E8B5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3447288"/>
            <a:ext cx="347472" cy="34747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77824" y="348386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firm grip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38912" y="3867912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Grip the load securely. Use the full palm, not just the fingers. If the load is too heavy or awkward to grip safely, stop and get help or a mechanical aid.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200400" y="3355848"/>
            <a:ext cx="2688336" cy="1316736"/>
          </a:xfrm>
          <a:prstGeom prst="roundRect">
            <a:avLst>
              <a:gd name="adj" fmla="val 5556"/>
            </a:avLst>
          </a:prstGeom>
          <a:solidFill>
            <a:srgbClr val="F8F8F8"/>
          </a:solidFill>
          <a:ln w="10160">
            <a:solidFill>
              <a:srgbClr val="E08A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310128" y="3447288"/>
            <a:ext cx="347472" cy="347472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10128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3730752" y="348386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smoothly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291840" y="3867912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Straighten the knees in a smooth, controlled movement. Do not jerk or twist as you lift. Keep the load close to your body throughout the movement.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053328" y="3355848"/>
            <a:ext cx="2688336" cy="1316736"/>
          </a:xfrm>
          <a:prstGeom prst="roundRect">
            <a:avLst>
              <a:gd name="adj" fmla="val 5556"/>
            </a:avLst>
          </a:prstGeom>
          <a:solidFill>
            <a:srgbClr val="F8F8F8"/>
          </a:solidFill>
          <a:ln w="10160">
            <a:solidFill>
              <a:srgbClr val="D4550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63056" y="3447288"/>
            <a:ext cx="347472" cy="347472"/>
          </a:xfrm>
          <a:prstGeom prst="ellipse">
            <a:avLst/>
          </a:prstGeom>
          <a:solidFill>
            <a:srgbClr val="D4550A"/>
          </a:solidFill>
          <a:ln w="12700">
            <a:solidFill>
              <a:srgbClr val="D4550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163056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583680" y="348386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and set down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144768" y="3867912"/>
            <a:ext cx="2505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small, controlled steps. Keep the load below chest height. To set the load down, reverse the process: bend the knees, keep the back straight, lower smoothly.</a:t>
            </a:r>
            <a:endParaRPr lang="en-US" sz="1000" dirty="0"/>
          </a:p>
        </p:txBody>
      </p:sp>
      <p:sp>
        <p:nvSpPr>
          <p:cNvPr id="41" name="Rectangle 40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347472" y="201168"/>
            <a:ext cx="2560320" cy="292608"/>
          </a:xfrm>
          <a:prstGeom prst="roundRect">
            <a:avLst>
              <a:gd name="adj" fmla="val 15625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201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Guidelines &amp; Aids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47472" y="56692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 Guidelines and When to Use Mechanical Aids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7472" y="1261872"/>
            <a:ext cx="8449056" cy="0"/>
          </a:xfrm>
          <a:prstGeom prst="line">
            <a:avLst/>
          </a:prstGeom>
          <a:noFill/>
          <a:ln w="19050">
            <a:solidFill>
              <a:srgbClr val="009F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135331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HSE publishes suggested weight guidelines as a starting point — not absolute limits. These assume ideal conditions: good posture, infrequent lifting, no twisting. Real conditions will often require lower limits. Where mechanical aids are available, they must be used.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7472" y="1938528"/>
            <a:ext cx="1965960" cy="1298448"/>
          </a:xfrm>
          <a:prstGeom prst="roundRect">
            <a:avLst>
              <a:gd name="adj" fmla="val 7042"/>
            </a:avLst>
          </a:prstGeom>
          <a:solidFill>
            <a:srgbClr val="009FE3">
              <a:alpha val="90000"/>
            </a:srgbClr>
          </a:solidFill>
          <a:ln w="19050">
            <a:solidFill>
              <a:srgbClr val="009F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" y="202996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9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kg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20624" y="2688336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at knuckle height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20624" y="298094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Ideal, infrequent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496312" y="1938528"/>
            <a:ext cx="1965960" cy="1298448"/>
          </a:xfrm>
          <a:prstGeom prst="roundRect">
            <a:avLst>
              <a:gd name="adj" fmla="val 7042"/>
            </a:avLst>
          </a:prstGeom>
          <a:solidFill>
            <a:srgbClr val="83348F">
              <a:alpha val="90000"/>
            </a:srgbClr>
          </a:solidFill>
          <a:ln w="19050">
            <a:solidFill>
              <a:srgbClr val="83348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96312" y="202996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334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kg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2569464" y="2688336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at knuckle height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569464" y="298094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Ideal, infrequent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45152" y="1938528"/>
            <a:ext cx="1965960" cy="1298448"/>
          </a:xfrm>
          <a:prstGeom prst="roundRect">
            <a:avLst>
              <a:gd name="adj" fmla="val 7042"/>
            </a:avLst>
          </a:prstGeom>
          <a:solidFill>
            <a:srgbClr val="E08A00">
              <a:alpha val="90000"/>
            </a:srgbClr>
          </a:solidFill>
          <a:ln w="19050">
            <a:solidFill>
              <a:srgbClr val="E08A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45152" y="202996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-10%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4718304" y="2688336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for twisting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718304" y="298094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45° of rotation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793992" y="1938528"/>
            <a:ext cx="1965960" cy="1298448"/>
          </a:xfrm>
          <a:prstGeom prst="roundRect">
            <a:avLst>
              <a:gd name="adj" fmla="val 7042"/>
            </a:avLst>
          </a:prstGeom>
          <a:solidFill>
            <a:srgbClr val="C0392B">
              <a:alpha val="90000"/>
            </a:srgbClr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93992" y="202996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-30%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6867144" y="2688336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for frequency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867144" y="298094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tasks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47472" y="3310128"/>
            <a:ext cx="8449056" cy="329184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3328416"/>
            <a:ext cx="8275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Aids: Always Use Them When Available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347472" y="3712464"/>
            <a:ext cx="4133088" cy="310896"/>
          </a:xfrm>
          <a:prstGeom prst="rect">
            <a:avLst/>
          </a:prstGeom>
          <a:solidFill>
            <a:srgbClr val="E6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38912" y="37490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Pallet truck / pump truck: 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901952" y="374904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loaded pallets across flat surfaces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663440" y="3712464"/>
            <a:ext cx="4133088" cy="31089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37490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Overhead hoist / crane: 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217920" y="374904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Lifting and positioning heavy or awkward loads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47472" y="4059936"/>
            <a:ext cx="4133088" cy="310896"/>
          </a:xfrm>
          <a:prstGeom prst="rect">
            <a:avLst/>
          </a:prstGeom>
          <a:solidFill>
            <a:srgbClr val="E6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38912" y="40965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Vacuum lifter: 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901952" y="409651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sheet materials, glass, and smooth-surfaced loads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663440" y="4059936"/>
            <a:ext cx="4133088" cy="31089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54880" y="40965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Roller conveyor: 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217920" y="409651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boxes and totes along a fixed route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347472" y="4407408"/>
            <a:ext cx="4133088" cy="310896"/>
          </a:xfrm>
          <a:prstGeom prst="rect">
            <a:avLst/>
          </a:prstGeom>
          <a:solidFill>
            <a:srgbClr val="E6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38912" y="44439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Height-adjustable workstation: 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1901952" y="444398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Eliminating the need to bend to floor level for operations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663440" y="4407408"/>
            <a:ext cx="4133088" cy="31089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54880" y="44439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lift protocol: 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6217920" y="444398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 persons with a designated lead for co-ordination</a:t>
            </a:r>
            <a:endParaRPr lang="en-US" sz="1000" dirty="0"/>
          </a:p>
        </p:txBody>
      </p:sp>
      <p:sp>
        <p:nvSpPr>
          <p:cNvPr id="47" name="Rectangle 46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347472" y="201168"/>
            <a:ext cx="2560320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201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Injuries &amp; Reporting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47472" y="56692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Injuries and Why Reporting Matters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7472" y="1261872"/>
            <a:ext cx="8449056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135331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Musculoskeletal disorders (MSDs) from manual handling rarely result from a single incident. They accumulate over time. Early symptoms are warnings. Ignoring them allows permanent damage to develop. Report every sign of discomfort — not just injuries.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7472" y="1389888"/>
            <a:ext cx="4133088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1426464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Manual Handling Injuries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7472" y="1719072"/>
            <a:ext cx="4133088" cy="2926080"/>
          </a:xfrm>
          <a:prstGeom prst="rect">
            <a:avLst/>
          </a:prstGeom>
          <a:solidFill>
            <a:srgbClr val="FFF0EE"/>
          </a:solidFill>
          <a:ln w="8890">
            <a:solidFill>
              <a:srgbClr val="CCCCC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8912" y="1865376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back pain and disc injuries — the most frequently reported MSD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8912" y="2267712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22311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Shoulder and rotator cuff strains from overhead or reaching movements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38912" y="2670048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26334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 and forearm injuries from repetitive carry and grip tasks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38912" y="3072384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3035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Knee injuries from repeated deep squatting or kneeling on hard surfaces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38912" y="3474720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34381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Hernias from lifting loads that are too heavy, particularly with incorrect technique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38912" y="3877056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3840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upper limb disorders (ULDs) from repetitive low-weight tasks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63440" y="1389888"/>
            <a:ext cx="4133088" cy="329184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1426464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These Symptoms Immediately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663440" y="1719072"/>
            <a:ext cx="4133088" cy="2926080"/>
          </a:xfrm>
          <a:prstGeom prst="rect">
            <a:avLst/>
          </a:prstGeom>
          <a:solidFill>
            <a:srgbClr val="EFF7FC"/>
          </a:solidFill>
          <a:ln w="8890">
            <a:solidFill>
              <a:srgbClr val="CCCCC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754880" y="1865376"/>
            <a:ext cx="137160" cy="137160"/>
          </a:xfrm>
          <a:prstGeom prst="ellipse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56048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pain, aching, or burning in the back, shoulders, arms, or legs after a handling task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754880" y="2267712"/>
            <a:ext cx="137160" cy="137160"/>
          </a:xfrm>
          <a:prstGeom prst="ellipse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56048" y="22311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Tingling or numbness in the hands or fingers during or after work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754880" y="2670048"/>
            <a:ext cx="137160" cy="137160"/>
          </a:xfrm>
          <a:prstGeom prst="ellipse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956048" y="26334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Stiffness that is worse in the morning and eases during the day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754880" y="3072384"/>
            <a:ext cx="137160" cy="137160"/>
          </a:xfrm>
          <a:prstGeom prst="ellipse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56048" y="3035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Swelling around a joint, particularly wrists, elbows, or shoulders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754880" y="3474720"/>
            <a:ext cx="137160" cy="137160"/>
          </a:xfrm>
          <a:prstGeom prst="ellipse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56048" y="34381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that persists at weekends or during rest away from work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754880" y="3877056"/>
            <a:ext cx="137160" cy="137160"/>
          </a:xfrm>
          <a:prstGeom prst="ellipse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956048" y="3840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task that consistently causes discomfort — even if it feels manageable</a:t>
            </a:r>
            <a:endParaRPr lang="en-US" sz="1100" dirty="0"/>
          </a:p>
        </p:txBody>
      </p:sp>
      <p:sp>
        <p:nvSpPr>
          <p:cNvPr id="41" name="Rectangle 40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347472" y="201168"/>
            <a:ext cx="2560320" cy="292608"/>
          </a:xfrm>
          <a:prstGeom prst="roundRect">
            <a:avLst>
              <a:gd name="adj" fmla="val 15625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201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Practice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47472" y="56692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Manual Handling: Do and Do Not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7472" y="1261872"/>
            <a:ext cx="8449056" cy="0"/>
          </a:xfrm>
          <a:prstGeom prst="line">
            <a:avLst/>
          </a:prstGeom>
          <a:noFill/>
          <a:ln w="19050">
            <a:solidFill>
              <a:srgbClr val="009F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" y="1389888"/>
            <a:ext cx="4133088" cy="32918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" y="1426464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Do These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7472" y="1719072"/>
            <a:ext cx="4133088" cy="3328416"/>
          </a:xfrm>
          <a:prstGeom prst="rect">
            <a:avLst/>
          </a:prstGeom>
          <a:solidFill>
            <a:srgbClr val="E8F5EE"/>
          </a:solidFill>
          <a:ln w="8890">
            <a:solidFill>
              <a:srgbClr val="CCCC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912" y="1865376"/>
            <a:ext cx="137160" cy="1371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every lift before touching the load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8912" y="2267712"/>
            <a:ext cx="137160" cy="1371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22311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mechanical aids whenever available — they exist for a reason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8912" y="2670048"/>
            <a:ext cx="137160" cy="1371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26334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load as close to your body as possible throughout the carry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38912" y="3072384"/>
            <a:ext cx="137160" cy="1371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3035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Bend your knees and keep your spine in a natural position when lifting from low level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8912" y="3474720"/>
            <a:ext cx="137160" cy="1371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34381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help or use a team lift if the load is awkward, heavy, or unstable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38912" y="3877056"/>
            <a:ext cx="137160" cy="1371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3840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regular breaks from repetitive handling operations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38912" y="4279392"/>
            <a:ext cx="137160" cy="1371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424281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any pain, discomfort, or musculoskeletal symptom promptly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663440" y="1389888"/>
            <a:ext cx="4133088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54880" y="1426464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Do These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663440" y="1719072"/>
            <a:ext cx="4133088" cy="3328416"/>
          </a:xfrm>
          <a:prstGeom prst="rect">
            <a:avLst/>
          </a:prstGeom>
          <a:solidFill>
            <a:srgbClr val="FFF0EE"/>
          </a:solidFill>
          <a:ln w="8890">
            <a:solidFill>
              <a:srgbClr val="CCCCC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54880" y="1865376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56048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twist your spine while carrying a load — turn with your feet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754880" y="2267712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56048" y="22311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rush a lift. A moment of carelessness can cause months of pain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754880" y="2670048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956048" y="26334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carry a load that obscures your line of sight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754880" y="3072384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56048" y="3035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ignore the discomfort, thinking it will go away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754880" y="3474720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956048" y="34381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attempt an unsafe lift because you think asking for help shows weakness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754880" y="3877056"/>
            <a:ext cx="137160" cy="1371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956048" y="3840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carry loads that exceed your own safe limit without mechanical assistance</a:t>
            </a:r>
            <a:endParaRPr lang="en-US" sz="1100" dirty="0"/>
          </a:p>
        </p:txBody>
      </p:sp>
      <p:sp>
        <p:nvSpPr>
          <p:cNvPr id="42" name="Rectangle 4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347472" y="201168"/>
            <a:ext cx="2560320" cy="292608"/>
          </a:xfrm>
          <a:prstGeom prst="roundRect">
            <a:avLst>
              <a:gd name="adj" fmla="val 15625"/>
            </a:avLst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201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47472" y="56692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Messages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7472" y="1261872"/>
            <a:ext cx="8449056" cy="0"/>
          </a:xfrm>
          <a:prstGeom prst="line">
            <a:avLst/>
          </a:prstGeom>
          <a:noFill/>
          <a:ln w="19050">
            <a:solidFill>
              <a:srgbClr val="009F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" y="1453896"/>
            <a:ext cx="310896" cy="310896"/>
          </a:xfrm>
          <a:prstGeom prst="ellipse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1453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68096" y="1426464"/>
            <a:ext cx="8028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handling injuries build up over time. Do not wait for a serious incident before taking action.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7472" y="1911096"/>
            <a:ext cx="310896" cy="310896"/>
          </a:xfrm>
          <a:prstGeom prst="ellipse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" y="1911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68096" y="1883664"/>
            <a:ext cx="8028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TILE: always assess Task, Individual, Load, and Environment before handling.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47472" y="2368296"/>
            <a:ext cx="310896" cy="310896"/>
          </a:xfrm>
          <a:prstGeom prst="ellipse">
            <a:avLst/>
          </a:prstGeom>
          <a:solidFill>
            <a:srgbClr val="E08A00"/>
          </a:solidFill>
          <a:ln w="12700">
            <a:solidFill>
              <a:srgbClr val="E08A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7472" y="2368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68096" y="2340864"/>
            <a:ext cx="8028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guidelines are not limits — they are starting points for assessment.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47472" y="2825496"/>
            <a:ext cx="310896" cy="31089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7472" y="2825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68096" y="2798064"/>
            <a:ext cx="8028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Bend the knees, keep the load close, do not twist. These three principles prevent the majority of back injuries.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47472" y="3282696"/>
            <a:ext cx="310896" cy="310896"/>
          </a:xfrm>
          <a:prstGeom prst="ellipse">
            <a:avLst/>
          </a:prstGeom>
          <a:solidFill>
            <a:srgbClr val="006FAA"/>
          </a:solidFill>
          <a:ln w="12700">
            <a:solidFill>
              <a:srgbClr val="006FA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7472" y="3282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68096" y="3255264"/>
            <a:ext cx="8028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mechanical aids. They are provided to protect you. Using them is not a sign of weakness.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47472" y="3739896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7472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68096" y="3712464"/>
            <a:ext cx="8028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symptoms early. Early treatment almost always prevents permanent damage.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47472" y="4197096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7472" y="419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68096" y="4169664"/>
            <a:ext cx="8028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legally required to follow safe systems of work and use the equipment provided.</a:t>
            </a:r>
            <a:endParaRPr lang="en-US" sz="1300" dirty="0"/>
          </a:p>
        </p:txBody>
      </p:sp>
      <p:sp>
        <p:nvSpPr>
          <p:cNvPr id="31" name="Rectangle 30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009FE3">
              <a:alpha val="90000"/>
            </a:srgbClr>
          </a:solidFill>
          <a:ln w="12700">
            <a:solidFill>
              <a:srgbClr val="009FE3"/>
            </a:solidFill>
            <a:prstDash val="solid"/>
          </a:ln>
        </p:spPr>
      </p:sp>
      <p:pic>
        <p:nvPicPr>
          <p:cNvPr id="3" name="Image 0" descr="/home/claude/nucc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1417320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17043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10896" y="1691640"/>
            <a:ext cx="219456" cy="219456"/>
          </a:xfrm>
          <a:prstGeom prst="ellipse">
            <a:avLst/>
          </a:prstGeom>
          <a:solidFill>
            <a:srgbClr val="FFFFFF">
              <a:alpha val="75000"/>
            </a:srgbClr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10896" y="16916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03504" y="167335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TILE assessment for your most demanding manual handling task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10896" y="2167128"/>
            <a:ext cx="219456" cy="219456"/>
          </a:xfrm>
          <a:prstGeom prst="ellipse">
            <a:avLst/>
          </a:prstGeom>
          <a:solidFill>
            <a:srgbClr val="FFFFFF">
              <a:alpha val="75000"/>
            </a:srgbClr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0896" y="21671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03504" y="214884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any mechanical aids available that are not currently being used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0896" y="2642616"/>
            <a:ext cx="219456" cy="219456"/>
          </a:xfrm>
          <a:prstGeom prst="ellipse">
            <a:avLst/>
          </a:prstGeom>
          <a:solidFill>
            <a:srgbClr val="FFFFFF">
              <a:alpha val="75000"/>
            </a:srgbClr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" y="26426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" y="262432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any recurring pain or discomfort to your supervisor today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0896" y="3118104"/>
            <a:ext cx="219456" cy="219456"/>
          </a:xfrm>
          <a:prstGeom prst="ellipse">
            <a:avLst/>
          </a:prstGeom>
          <a:solidFill>
            <a:srgbClr val="FFFFFF">
              <a:alpha val="75000"/>
            </a:srgbClr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0896" y="31181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3504" y="309981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work area for manual handling hazards — poor floor surfaces, restricted space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74320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Resources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74320" y="448056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Handling Operations Regulations 1992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HSG115 — Manual Handling Guidance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HSE MAC Tool — Manual Handling Assessment Charts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45001:2018 — Occupational H&amp;S Management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389120" y="1261872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4389120" y="192024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BAA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Handling: Protecting Your Body for Life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4389120" y="2331720"/>
            <a:ext cx="4389120" cy="0"/>
          </a:xfrm>
          <a:prstGeom prst="line">
            <a:avLst/>
          </a:prstGeom>
          <a:noFill/>
          <a:ln w="15240">
            <a:solidFill>
              <a:srgbClr val="009FE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89120" y="24505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Speak to your supervisor, QHSE lead, or your NucCol Supply Chain Consultant.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389120" y="3090672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Collaboration Ltd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www.nuccol.co.uk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BAA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enquiries@nuccol.co.uk</a:t>
            </a:r>
            <a:endParaRPr lang="en-US" sz="1300" dirty="0"/>
          </a:p>
        </p:txBody>
      </p:sp>
      <p:sp>
        <p:nvSpPr>
          <p:cNvPr id="24" name="Rectangle 23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260014D-A106-41B8-9A5E-C06163A9576E}"/>
</file>

<file path=customXml/itemProps2.xml><?xml version="1.0" encoding="utf-8"?>
<ds:datastoreItem xmlns:ds="http://schemas.openxmlformats.org/officeDocument/2006/customXml" ds:itemID="{BE26AEC2-F7C8-4CE9-AFD6-F41AD74B1211}"/>
</file>

<file path=customXml/itemProps3.xml><?xml version="1.0" encoding="utf-8"?>
<ds:datastoreItem xmlns:ds="http://schemas.openxmlformats.org/officeDocument/2006/customXml" ds:itemID="{66BA7857-6284-4AFB-B7FC-6E98839A984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QHSE-TG03 Manual Handling Training Guide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