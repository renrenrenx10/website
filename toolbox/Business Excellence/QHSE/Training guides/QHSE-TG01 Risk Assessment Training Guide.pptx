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172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guide and its objectives. This training covers the legal framework, the 5-step risk assessment process, risk scoring, hierarchy of controls, and completing a compliant risk assessment 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all seven learning outcomes. Ask participants to think about their own current risk assessment process before you begin.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'suitable and sufficient' is the legal test — not perfect, but proportionate to the risk. Five employees trigger the written record requirement. ISO 45001 aligns directly with this legislative framework.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conceptual distinction. Trainees frequently confuse hazard and risk. Use the examples to reinforce. The formula at the bottom underpins all risk scoring.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overview slide gives the full shape of the process. Refer back to it throughout the training. The five steps come directly from HSE guidance 'Five steps to risk assessment' (INDG163).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walkthroughs must be done with the task actually being performed, not from a desk. Worker consultation is a legal requirement under the Safety Representatives and Safety Committees Regulations 1977.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Vulnerable groups require specific consideration under the Management of Health and Safety at Work Regulations 1999. New and young workers, pregnant workers, and those returning from absence all require individual assessment.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5x5 matrix is the most widely used approach. Stress that the score is always Likelihood BEFORE controls x Severity = Initial Risk, then Likelihood AFTER controls x Severity = Residual Risk.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several example scores with the group. A 4x5=20 score before controls should reduce significantly with proper controls in place. The residual risk should always be as low as reasonably practicable.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pyramid shape is deliberate — widest at the bottom (PPE) which is the weakest control, narrowest at the top (elimination) which is the strongest. Common mistake: going straight to PPE because it is the easiest option.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examples make the hierarchy tangible for shopfloor workers and supervisors. Encourage participants to think of examples from their own areas during discussion.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critical for quality of output. Many organisations have risk assessments that would not withstand legal scrutiny. The 'signs of a poor assessment' list comes directly from common HSE enforcement findings.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blank risk assessment form at this point and map each column heading to the fields described on this slide. The NucCol Risk Assessment Template covers all of these fields.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review frequency should reflect actual risk levels. Many organisations default to annual for everything — this is insufficient for high-risk activities. Review schedules should be built into the QHSE calendar.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Competent person is defined in Regulation 7 of the Management of Health and Safety at Work Regulations 1999. There is no requirement for a specific qualification, but the person must demonstrate appropriate knowledge and experience.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mistakes come from HSE enforcement experience and are the most common reasons risk assessments fail to protect workers or provide legal protection. Encourage honest self-assessment from the group.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row by row. Show how additional controls reduce the likelihood score but not necessarily the severity — the consequence of contact with swarf remains the same, but the probability of it occurring is reduced.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general training to the nuclear context. F4N verification assessors will look at risk assessments during the QHSE section of the visit. The key attributes they look for map directly to the nuclear safety culture principles.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if delivering in person, distribute or screen-share the blank template workbook. Allow 5 minutes for participants to familiarise themselves with the layout before moving to the practice exercise.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part of the training. Real assessments from real workplaces generate far more learning than theoretical examples. Allocate 20-25 minutes. Review 2-3 completed assessments as a group, focusing on hazard identification completeness and control hierarchy application.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slide. Ask each participant to name the one thing they will do differently as a result of this training. Record their answers for follow-up.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Allow 10 minutes for open questions. Collect attendance records. Issue action: complete the template exercise within 2 weeks and share with QHSE lead.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14.png"/><Relationship Id="rId10"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3.png"/><Relationship Id="rId10" Type="http://schemas.openxmlformats.org/officeDocument/2006/relationships/image" Target="../media/image6.png"/><Relationship Id="rId11" Type="http://schemas.openxmlformats.org/officeDocument/2006/relationships/image" Target="../media/image14.png"/><Relationship Id="rId12"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 Id="rId9" Type="http://schemas.openxmlformats.org/officeDocument/2006/relationships/image" Target="../media/image14.png"/><Relationship Id="rId10"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4.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a:effectLst/>
      </p:bgPr>
    </p:bg>
    <p:spTree>
      <p:nvGrpSpPr>
        <p:cNvPr id="1" name=""/>
        <p:cNvGrpSpPr/>
        <p:nvPr/>
      </p:nvGrpSpPr>
      <p:grpSpPr>
        <a:xfrm>
          <a:off x="0" y="0"/>
          <a:ext cx="0" cy="0"/>
          <a:chOff x="0" y="0"/>
          <a:chExt cx="0" cy="0"/>
        </a:xfrm>
      </p:grpSpPr>
      <p:sp>
        <p:nvSpPr>
          <p:cNvPr id="2" name="Shape 0"/>
          <p:cNvSpPr/>
          <p:nvPr/>
        </p:nvSpPr>
        <p:spPr>
          <a:xfrm>
            <a:off x="0" y="0"/>
            <a:ext cx="4023360" cy="5143500"/>
          </a:xfrm>
          <a:prstGeom prst="rect">
            <a:avLst/>
          </a:prstGeom>
          <a:solidFill>
            <a:srgbClr val="009FE3">
              <a:alpha val="92000"/>
            </a:srgbClr>
          </a:solidFill>
          <a:ln w="12700">
            <a:solidFill>
              <a:srgbClr val="009FE3"/>
            </a:solidFill>
            <a:prstDash val="solid"/>
          </a:ln>
        </p:spPr>
        <p:txBody>
          <a:bodyPr/>
          <a:lstStyle/>
          <a:p>
            <a:endParaRPr lang="en-GB"/>
          </a:p>
        </p:txBody>
      </p:sp>
      <p:pic>
        <p:nvPicPr>
          <p:cNvPr id="3" name="Image 0" descr="/home/claude/nuccol_logo.jpg"/>
          <p:cNvPicPr>
            <a:picLocks noChangeAspect="1"/>
          </p:cNvPicPr>
          <p:nvPr/>
        </p:nvPicPr>
        <p:blipFill>
          <a:blip r:embed="rId3"/>
          <a:stretch>
            <a:fillRect/>
          </a:stretch>
        </p:blipFill>
        <p:spPr>
          <a:xfrm>
            <a:off x="274320" y="228600"/>
            <a:ext cx="1417320" cy="676656"/>
          </a:xfrm>
          <a:prstGeom prst="rect">
            <a:avLst/>
          </a:prstGeom>
        </p:spPr>
      </p:pic>
      <p:sp>
        <p:nvSpPr>
          <p:cNvPr id="4" name="Text 1"/>
          <p:cNvSpPr/>
          <p:nvPr/>
        </p:nvSpPr>
        <p:spPr>
          <a:xfrm>
            <a:off x="274320" y="1097280"/>
            <a:ext cx="3383280" cy="329184"/>
          </a:xfrm>
          <a:prstGeom prst="rect">
            <a:avLst/>
          </a:prstGeom>
          <a:noFill/>
          <a:ln/>
        </p:spPr>
        <p:txBody>
          <a:bodyPr wrap="square" lIns="0" tIns="0" rIns="0" bIns="0" rtlCol="0" anchor="ctr"/>
          <a:lstStyle/>
          <a:p>
            <a:pPr marL="0" indent="0">
              <a:buNone/>
            </a:pPr>
            <a:r>
              <a:rPr lang="en-US" sz="1300" i="1" kern="0" spc="200" dirty="0">
                <a:solidFill>
                  <a:srgbClr val="FFFFFF"/>
                </a:solidFill>
                <a:latin typeface="Arial" pitchFamily="34" charset="0"/>
                <a:ea typeface="Arial" pitchFamily="34" charset="-122"/>
                <a:cs typeface="Arial" pitchFamily="34" charset="-120"/>
              </a:rPr>
              <a:t>QHSE Training Guide</a:t>
            </a:r>
            <a:endParaRPr lang="en-US" sz="1300" dirty="0"/>
          </a:p>
        </p:txBody>
      </p:sp>
      <p:sp>
        <p:nvSpPr>
          <p:cNvPr id="5" name="Text 2"/>
          <p:cNvSpPr/>
          <p:nvPr/>
        </p:nvSpPr>
        <p:spPr>
          <a:xfrm>
            <a:off x="274320" y="1481328"/>
            <a:ext cx="3429000" cy="141732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How to Write a</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Risk Assessment</a:t>
            </a:r>
            <a:endParaRPr lang="en-US" sz="3400" dirty="0"/>
          </a:p>
        </p:txBody>
      </p:sp>
      <p:sp>
        <p:nvSpPr>
          <p:cNvPr id="6" name="Shape 3"/>
          <p:cNvSpPr/>
          <p:nvPr/>
        </p:nvSpPr>
        <p:spPr>
          <a:xfrm>
            <a:off x="274320" y="2971800"/>
            <a:ext cx="3291840" cy="0"/>
          </a:xfrm>
          <a:prstGeom prst="line">
            <a:avLst/>
          </a:prstGeom>
          <a:noFill/>
          <a:ln w="12700">
            <a:solidFill>
              <a:srgbClr val="FFFFFF"/>
            </a:solidFill>
            <a:prstDash val="solid"/>
          </a:ln>
        </p:spPr>
        <p:txBody>
          <a:bodyPr/>
          <a:lstStyle/>
          <a:p>
            <a:endParaRPr lang="en-GB"/>
          </a:p>
        </p:txBody>
      </p:sp>
      <p:sp>
        <p:nvSpPr>
          <p:cNvPr id="7" name="Text 4"/>
          <p:cNvSpPr/>
          <p:nvPr/>
        </p:nvSpPr>
        <p:spPr>
          <a:xfrm>
            <a:off x="274320" y="3063240"/>
            <a:ext cx="3429000" cy="822960"/>
          </a:xfrm>
          <a:prstGeom prst="rect">
            <a:avLst/>
          </a:prstGeom>
          <a:noFill/>
          <a:ln/>
        </p:spPr>
        <p:txBody>
          <a:bodyPr wrap="square" lIns="0" tIns="0" rIns="0" bIns="0" rtlCol="0" anchor="t"/>
          <a:lstStyle/>
          <a:p>
            <a:pPr marL="0" indent="0">
              <a:buNone/>
            </a:pPr>
            <a:r>
              <a:rPr lang="en-US" sz="1200" dirty="0">
                <a:solidFill>
                  <a:srgbClr val="FFFFFF"/>
                </a:solidFill>
                <a:latin typeface="Arial" pitchFamily="34" charset="0"/>
                <a:ea typeface="Arial" pitchFamily="34" charset="-122"/>
                <a:cs typeface="Arial" pitchFamily="34" charset="-120"/>
              </a:rPr>
              <a:t>A practical guide to the 5-step HSE process,</a:t>
            </a:r>
            <a:endParaRPr lang="en-US" sz="1200" dirty="0"/>
          </a:p>
          <a:p>
            <a:pPr marL="0" indent="0">
              <a:buNone/>
            </a:pPr>
            <a:r>
              <a:rPr lang="en-US" sz="1200" dirty="0">
                <a:solidFill>
                  <a:srgbClr val="FFFFFF"/>
                </a:solidFill>
                <a:latin typeface="Arial" pitchFamily="34" charset="0"/>
                <a:ea typeface="Arial" pitchFamily="34" charset="-122"/>
                <a:cs typeface="Arial" pitchFamily="34" charset="-120"/>
              </a:rPr>
              <a:t>risk scoring, control hierarchies and completing</a:t>
            </a:r>
            <a:endParaRPr lang="en-US" sz="1200" dirty="0"/>
          </a:p>
          <a:p>
            <a:pPr marL="0" indent="0">
              <a:buNone/>
            </a:pPr>
            <a:r>
              <a:rPr lang="en-US" sz="1200" dirty="0">
                <a:solidFill>
                  <a:srgbClr val="FFFFFF"/>
                </a:solidFill>
                <a:latin typeface="Arial" pitchFamily="34" charset="0"/>
                <a:ea typeface="Arial" pitchFamily="34" charset="-122"/>
                <a:cs typeface="Arial" pitchFamily="34" charset="-120"/>
              </a:rPr>
              <a:t>your assessment correctly every time.</a:t>
            </a:r>
            <a:endParaRPr lang="en-US" sz="1200" dirty="0"/>
          </a:p>
        </p:txBody>
      </p:sp>
      <p:sp>
        <p:nvSpPr>
          <p:cNvPr id="8" name="Text 5"/>
          <p:cNvSpPr/>
          <p:nvPr/>
        </p:nvSpPr>
        <p:spPr>
          <a:xfrm>
            <a:off x="274320" y="4224528"/>
            <a:ext cx="3429000" cy="457200"/>
          </a:xfrm>
          <a:prstGeom prst="rect">
            <a:avLst/>
          </a:prstGeom>
          <a:noFill/>
          <a:ln/>
        </p:spPr>
        <p:txBody>
          <a:bodyPr wrap="square" lIns="0" tIns="0" rIns="0" bIns="0" rtlCol="0" anchor="t"/>
          <a:lstStyle/>
          <a:p>
            <a:pPr marL="0" indent="0">
              <a:buNone/>
            </a:pPr>
            <a:r>
              <a:rPr lang="en-US" sz="900" dirty="0">
                <a:solidFill>
                  <a:srgbClr val="AACCEE"/>
                </a:solidFill>
                <a:latin typeface="Arial" pitchFamily="34" charset="0"/>
                <a:ea typeface="Arial" pitchFamily="34" charset="-122"/>
                <a:cs typeface="Arial" pitchFamily="34" charset="-120"/>
              </a:rPr>
              <a:t>Aligned to: HSG65 | ISO 45001:2018 | The Management of Health and Safety at Work Regulations 1999</a:t>
            </a:r>
            <a:endParaRPr lang="en-US" sz="900" dirty="0"/>
          </a:p>
        </p:txBody>
      </p:sp>
      <p:sp>
        <p:nvSpPr>
          <p:cNvPr id="9" name="Shape 6"/>
          <p:cNvSpPr/>
          <p:nvPr/>
        </p:nvSpPr>
        <p:spPr>
          <a:xfrm>
            <a:off x="6492240" y="457200"/>
            <a:ext cx="914400" cy="914400"/>
          </a:xfrm>
          <a:prstGeom prst="ellipse">
            <a:avLst/>
          </a:prstGeom>
          <a:solidFill>
            <a:srgbClr val="009FE3">
              <a:alpha val="82000"/>
            </a:srgbClr>
          </a:solidFill>
          <a:ln w="12700">
            <a:solidFill>
              <a:srgbClr val="FFFFFF"/>
            </a:solidFill>
            <a:prstDash val="solid"/>
          </a:ln>
        </p:spPr>
        <p:txBody>
          <a:bodyPr/>
          <a:lstStyle/>
          <a:p>
            <a:endParaRPr lang="en-GB"/>
          </a:p>
        </p:txBody>
      </p:sp>
      <p:pic>
        <p:nvPicPr>
          <p:cNvPr id="10" name="Image 1" descr="preencoded.png"/>
          <p:cNvPicPr>
            <a:picLocks noChangeAspect="1"/>
          </p:cNvPicPr>
          <p:nvPr/>
        </p:nvPicPr>
        <p:blipFill>
          <a:blip r:embed="rId4"/>
          <a:stretch>
            <a:fillRect/>
          </a:stretch>
        </p:blipFill>
        <p:spPr>
          <a:xfrm>
            <a:off x="6656832" y="621792"/>
            <a:ext cx="585216" cy="585216"/>
          </a:xfrm>
          <a:prstGeom prst="rect">
            <a:avLst/>
          </a:prstGeom>
        </p:spPr>
      </p:pic>
      <p:sp>
        <p:nvSpPr>
          <p:cNvPr id="11" name="Shape 7"/>
          <p:cNvSpPr/>
          <p:nvPr/>
        </p:nvSpPr>
        <p:spPr>
          <a:xfrm>
            <a:off x="7406640" y="1280160"/>
            <a:ext cx="914400" cy="914400"/>
          </a:xfrm>
          <a:prstGeom prst="ellipse">
            <a:avLst/>
          </a:prstGeom>
          <a:solidFill>
            <a:srgbClr val="83348F">
              <a:alpha val="82000"/>
            </a:srgbClr>
          </a:solidFill>
          <a:ln w="12700">
            <a:solidFill>
              <a:srgbClr val="FFFFFF"/>
            </a:solidFill>
            <a:prstDash val="solid"/>
          </a:ln>
        </p:spPr>
        <p:txBody>
          <a:bodyPr/>
          <a:lstStyle/>
          <a:p>
            <a:endParaRPr lang="en-GB"/>
          </a:p>
        </p:txBody>
      </p:sp>
      <p:pic>
        <p:nvPicPr>
          <p:cNvPr id="12" name="Image 2" descr="preencoded.png"/>
          <p:cNvPicPr>
            <a:picLocks noChangeAspect="1"/>
          </p:cNvPicPr>
          <p:nvPr/>
        </p:nvPicPr>
        <p:blipFill>
          <a:blip r:embed="rId5"/>
          <a:stretch>
            <a:fillRect/>
          </a:stretch>
        </p:blipFill>
        <p:spPr>
          <a:xfrm>
            <a:off x="7571232" y="1444752"/>
            <a:ext cx="585216" cy="585216"/>
          </a:xfrm>
          <a:prstGeom prst="rect">
            <a:avLst/>
          </a:prstGeom>
        </p:spPr>
      </p:pic>
      <p:sp>
        <p:nvSpPr>
          <p:cNvPr id="13" name="Shape 8"/>
          <p:cNvSpPr/>
          <p:nvPr/>
        </p:nvSpPr>
        <p:spPr>
          <a:xfrm>
            <a:off x="6126480" y="1828800"/>
            <a:ext cx="914400" cy="914400"/>
          </a:xfrm>
          <a:prstGeom prst="ellipse">
            <a:avLst/>
          </a:prstGeom>
          <a:solidFill>
            <a:srgbClr val="006FAA">
              <a:alpha val="82000"/>
            </a:srgbClr>
          </a:solidFill>
          <a:ln w="12700">
            <a:solidFill>
              <a:srgbClr val="FFFFFF"/>
            </a:solidFill>
            <a:prstDash val="solid"/>
          </a:ln>
        </p:spPr>
        <p:txBody>
          <a:bodyPr/>
          <a:lstStyle/>
          <a:p>
            <a:endParaRPr lang="en-GB"/>
          </a:p>
        </p:txBody>
      </p:sp>
      <p:pic>
        <p:nvPicPr>
          <p:cNvPr id="14" name="Image 3" descr="preencoded.png"/>
          <p:cNvPicPr>
            <a:picLocks noChangeAspect="1"/>
          </p:cNvPicPr>
          <p:nvPr/>
        </p:nvPicPr>
        <p:blipFill>
          <a:blip r:embed="rId6"/>
          <a:stretch>
            <a:fillRect/>
          </a:stretch>
        </p:blipFill>
        <p:spPr>
          <a:xfrm>
            <a:off x="6291072" y="1993392"/>
            <a:ext cx="585216" cy="585216"/>
          </a:xfrm>
          <a:prstGeom prst="rect">
            <a:avLst/>
          </a:prstGeom>
        </p:spPr>
      </p:pic>
      <p:sp>
        <p:nvSpPr>
          <p:cNvPr id="15" name="Shape 9"/>
          <p:cNvSpPr/>
          <p:nvPr/>
        </p:nvSpPr>
        <p:spPr>
          <a:xfrm>
            <a:off x="7132320" y="2560320"/>
            <a:ext cx="914400" cy="914400"/>
          </a:xfrm>
          <a:prstGeom prst="ellipse">
            <a:avLst/>
          </a:prstGeom>
          <a:solidFill>
            <a:srgbClr val="2E8B57">
              <a:alpha val="82000"/>
            </a:srgbClr>
          </a:solidFill>
          <a:ln w="12700">
            <a:solidFill>
              <a:srgbClr val="FFFFFF"/>
            </a:solidFill>
            <a:prstDash val="solid"/>
          </a:ln>
        </p:spPr>
        <p:txBody>
          <a:bodyPr/>
          <a:lstStyle/>
          <a:p>
            <a:endParaRPr lang="en-GB"/>
          </a:p>
        </p:txBody>
      </p:sp>
      <p:pic>
        <p:nvPicPr>
          <p:cNvPr id="16" name="Image 4" descr="preencoded.png"/>
          <p:cNvPicPr>
            <a:picLocks noChangeAspect="1"/>
          </p:cNvPicPr>
          <p:nvPr/>
        </p:nvPicPr>
        <p:blipFill>
          <a:blip r:embed="rId7"/>
          <a:stretch>
            <a:fillRect/>
          </a:stretch>
        </p:blipFill>
        <p:spPr>
          <a:xfrm>
            <a:off x="7296912" y="2724912"/>
            <a:ext cx="585216" cy="585216"/>
          </a:xfrm>
          <a:prstGeom prst="rect">
            <a:avLst/>
          </a:prstGeom>
        </p:spPr>
      </p:pic>
      <p:sp>
        <p:nvSpPr>
          <p:cNvPr id="17" name="Shape 10"/>
          <p:cNvSpPr/>
          <p:nvPr/>
        </p:nvSpPr>
        <p:spPr>
          <a:xfrm>
            <a:off x="6675120" y="3291840"/>
            <a:ext cx="914400" cy="914400"/>
          </a:xfrm>
          <a:prstGeom prst="ellipse">
            <a:avLst/>
          </a:prstGeom>
          <a:solidFill>
            <a:srgbClr val="E08A00">
              <a:alpha val="82000"/>
            </a:srgbClr>
          </a:solidFill>
          <a:ln w="12700">
            <a:solidFill>
              <a:srgbClr val="FFFFFF"/>
            </a:solidFill>
            <a:prstDash val="solid"/>
          </a:ln>
        </p:spPr>
        <p:txBody>
          <a:bodyPr/>
          <a:lstStyle/>
          <a:p>
            <a:endParaRPr lang="en-GB"/>
          </a:p>
        </p:txBody>
      </p:sp>
      <p:pic>
        <p:nvPicPr>
          <p:cNvPr id="18" name="Image 5" descr="preencoded.png"/>
          <p:cNvPicPr>
            <a:picLocks noChangeAspect="1"/>
          </p:cNvPicPr>
          <p:nvPr/>
        </p:nvPicPr>
        <p:blipFill>
          <a:blip r:embed="rId8"/>
          <a:stretch>
            <a:fillRect/>
          </a:stretch>
        </p:blipFill>
        <p:spPr>
          <a:xfrm>
            <a:off x="6839712" y="3456432"/>
            <a:ext cx="585216" cy="585216"/>
          </a:xfrm>
          <a:prstGeom prst="rect">
            <a:avLst/>
          </a:prstGeom>
        </p:spPr>
      </p:pic>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10"/>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9"/>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Overview</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You Will Learn</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Shape 7"/>
          <p:cNvSpPr/>
          <p:nvPr/>
        </p:nvSpPr>
        <p:spPr>
          <a:xfrm>
            <a:off x="347472" y="1472184"/>
            <a:ext cx="329184" cy="329184"/>
          </a:xfrm>
          <a:prstGeom prst="ellipse">
            <a:avLst/>
          </a:prstGeom>
          <a:solidFill>
            <a:srgbClr val="009FE3"/>
          </a:solidFill>
          <a:ln w="12700">
            <a:solidFill>
              <a:srgbClr val="009FE3"/>
            </a:solidFill>
            <a:prstDash val="solid"/>
          </a:ln>
        </p:spPr>
        <p:txBody>
          <a:bodyPr/>
          <a:lstStyle/>
          <a:p>
            <a:endParaRPr lang="en-GB"/>
          </a:p>
        </p:txBody>
      </p:sp>
      <p:pic>
        <p:nvPicPr>
          <p:cNvPr id="11" name="Image 1" descr="preencoded.png"/>
          <p:cNvPicPr>
            <a:picLocks noChangeAspect="1"/>
          </p:cNvPicPr>
          <p:nvPr/>
        </p:nvPicPr>
        <p:blipFill>
          <a:blip r:embed="rId4"/>
          <a:stretch>
            <a:fillRect/>
          </a:stretch>
        </p:blipFill>
        <p:spPr>
          <a:xfrm>
            <a:off x="393192" y="1490472"/>
            <a:ext cx="237744" cy="237744"/>
          </a:xfrm>
          <a:prstGeom prst="rect">
            <a:avLst/>
          </a:prstGeom>
        </p:spPr>
      </p:pic>
      <p:sp>
        <p:nvSpPr>
          <p:cNvPr id="12" name="Text 8"/>
          <p:cNvSpPr/>
          <p:nvPr/>
        </p:nvSpPr>
        <p:spPr>
          <a:xfrm>
            <a:off x="804672" y="1444752"/>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Why risk assessment is a legal requirement and what that means for you</a:t>
            </a:r>
            <a:endParaRPr lang="en-US" sz="1300" dirty="0"/>
          </a:p>
        </p:txBody>
      </p:sp>
      <p:sp>
        <p:nvSpPr>
          <p:cNvPr id="13" name="Shape 9"/>
          <p:cNvSpPr/>
          <p:nvPr/>
        </p:nvSpPr>
        <p:spPr>
          <a:xfrm>
            <a:off x="347472" y="1947672"/>
            <a:ext cx="329184" cy="329184"/>
          </a:xfrm>
          <a:prstGeom prst="ellipse">
            <a:avLst/>
          </a:prstGeom>
          <a:solidFill>
            <a:srgbClr val="83348F"/>
          </a:solidFill>
          <a:ln w="12700">
            <a:solidFill>
              <a:srgbClr val="83348F"/>
            </a:solidFill>
            <a:prstDash val="solid"/>
          </a:ln>
        </p:spPr>
        <p:txBody>
          <a:bodyPr/>
          <a:lstStyle/>
          <a:p>
            <a:endParaRPr lang="en-GB"/>
          </a:p>
        </p:txBody>
      </p:sp>
      <p:pic>
        <p:nvPicPr>
          <p:cNvPr id="14" name="Image 2" descr="preencoded.png"/>
          <p:cNvPicPr>
            <a:picLocks noChangeAspect="1"/>
          </p:cNvPicPr>
          <p:nvPr/>
        </p:nvPicPr>
        <p:blipFill>
          <a:blip r:embed="rId5"/>
          <a:stretch>
            <a:fillRect/>
          </a:stretch>
        </p:blipFill>
        <p:spPr>
          <a:xfrm>
            <a:off x="393192" y="1965960"/>
            <a:ext cx="237744" cy="237744"/>
          </a:xfrm>
          <a:prstGeom prst="rect">
            <a:avLst/>
          </a:prstGeom>
        </p:spPr>
      </p:pic>
      <p:sp>
        <p:nvSpPr>
          <p:cNvPr id="15" name="Text 10"/>
          <p:cNvSpPr/>
          <p:nvPr/>
        </p:nvSpPr>
        <p:spPr>
          <a:xfrm>
            <a:off x="804672" y="1920240"/>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The 5 steps of the HSE risk assessment process in full detail</a:t>
            </a:r>
            <a:endParaRPr lang="en-US" sz="1300" dirty="0"/>
          </a:p>
        </p:txBody>
      </p:sp>
      <p:sp>
        <p:nvSpPr>
          <p:cNvPr id="16" name="Shape 11"/>
          <p:cNvSpPr/>
          <p:nvPr/>
        </p:nvSpPr>
        <p:spPr>
          <a:xfrm>
            <a:off x="347472" y="2423160"/>
            <a:ext cx="329184" cy="329184"/>
          </a:xfrm>
          <a:prstGeom prst="ellipse">
            <a:avLst/>
          </a:prstGeom>
          <a:solidFill>
            <a:srgbClr val="006FAA"/>
          </a:solidFill>
          <a:ln w="12700">
            <a:solidFill>
              <a:srgbClr val="006FAA"/>
            </a:solidFill>
            <a:prstDash val="solid"/>
          </a:ln>
        </p:spPr>
        <p:txBody>
          <a:bodyPr/>
          <a:lstStyle/>
          <a:p>
            <a:endParaRPr lang="en-GB"/>
          </a:p>
        </p:txBody>
      </p:sp>
      <p:pic>
        <p:nvPicPr>
          <p:cNvPr id="17" name="Image 3" descr="preencoded.png"/>
          <p:cNvPicPr>
            <a:picLocks noChangeAspect="1"/>
          </p:cNvPicPr>
          <p:nvPr/>
        </p:nvPicPr>
        <p:blipFill>
          <a:blip r:embed="rId6"/>
          <a:stretch>
            <a:fillRect/>
          </a:stretch>
        </p:blipFill>
        <p:spPr>
          <a:xfrm>
            <a:off x="393192" y="2441448"/>
            <a:ext cx="237744" cy="237744"/>
          </a:xfrm>
          <a:prstGeom prst="rect">
            <a:avLst/>
          </a:prstGeom>
        </p:spPr>
      </p:pic>
      <p:sp>
        <p:nvSpPr>
          <p:cNvPr id="18" name="Text 12"/>
          <p:cNvSpPr/>
          <p:nvPr/>
        </p:nvSpPr>
        <p:spPr>
          <a:xfrm>
            <a:off x="804672" y="2395728"/>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to identify hazards correctly and who might be harmed</a:t>
            </a:r>
            <a:endParaRPr lang="en-US" sz="1300" dirty="0"/>
          </a:p>
        </p:txBody>
      </p:sp>
      <p:sp>
        <p:nvSpPr>
          <p:cNvPr id="19" name="Shape 13"/>
          <p:cNvSpPr/>
          <p:nvPr/>
        </p:nvSpPr>
        <p:spPr>
          <a:xfrm>
            <a:off x="347472" y="2898648"/>
            <a:ext cx="329184" cy="329184"/>
          </a:xfrm>
          <a:prstGeom prst="ellipse">
            <a:avLst/>
          </a:prstGeom>
          <a:solidFill>
            <a:srgbClr val="E08A00"/>
          </a:solidFill>
          <a:ln w="12700">
            <a:solidFill>
              <a:srgbClr val="E08A00"/>
            </a:solidFill>
            <a:prstDash val="solid"/>
          </a:ln>
        </p:spPr>
        <p:txBody>
          <a:bodyPr/>
          <a:lstStyle/>
          <a:p>
            <a:endParaRPr lang="en-GB"/>
          </a:p>
        </p:txBody>
      </p:sp>
      <p:pic>
        <p:nvPicPr>
          <p:cNvPr id="20" name="Image 4" descr="preencoded.png"/>
          <p:cNvPicPr>
            <a:picLocks noChangeAspect="1"/>
          </p:cNvPicPr>
          <p:nvPr/>
        </p:nvPicPr>
        <p:blipFill>
          <a:blip r:embed="rId7"/>
          <a:stretch>
            <a:fillRect/>
          </a:stretch>
        </p:blipFill>
        <p:spPr>
          <a:xfrm>
            <a:off x="393192" y="2916936"/>
            <a:ext cx="237744" cy="237744"/>
          </a:xfrm>
          <a:prstGeom prst="rect">
            <a:avLst/>
          </a:prstGeom>
        </p:spPr>
      </p:pic>
      <p:sp>
        <p:nvSpPr>
          <p:cNvPr id="21" name="Text 14"/>
          <p:cNvSpPr/>
          <p:nvPr/>
        </p:nvSpPr>
        <p:spPr>
          <a:xfrm>
            <a:off x="804672" y="2871216"/>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to score likelihood and severity to calculate a risk rating</a:t>
            </a:r>
            <a:endParaRPr lang="en-US" sz="1300" dirty="0"/>
          </a:p>
        </p:txBody>
      </p:sp>
      <p:sp>
        <p:nvSpPr>
          <p:cNvPr id="22" name="Shape 15"/>
          <p:cNvSpPr/>
          <p:nvPr/>
        </p:nvSpPr>
        <p:spPr>
          <a:xfrm>
            <a:off x="347472" y="3374136"/>
            <a:ext cx="329184" cy="329184"/>
          </a:xfrm>
          <a:prstGeom prst="ellipse">
            <a:avLst/>
          </a:prstGeom>
          <a:solidFill>
            <a:srgbClr val="2E8B57"/>
          </a:solidFill>
          <a:ln w="12700">
            <a:solidFill>
              <a:srgbClr val="2E8B57"/>
            </a:solidFill>
            <a:prstDash val="solid"/>
          </a:ln>
        </p:spPr>
        <p:txBody>
          <a:bodyPr/>
          <a:lstStyle/>
          <a:p>
            <a:endParaRPr lang="en-GB"/>
          </a:p>
        </p:txBody>
      </p:sp>
      <p:pic>
        <p:nvPicPr>
          <p:cNvPr id="23" name="Image 5" descr="preencoded.png"/>
          <p:cNvPicPr>
            <a:picLocks noChangeAspect="1"/>
          </p:cNvPicPr>
          <p:nvPr/>
        </p:nvPicPr>
        <p:blipFill>
          <a:blip r:embed="rId8"/>
          <a:stretch>
            <a:fillRect/>
          </a:stretch>
        </p:blipFill>
        <p:spPr>
          <a:xfrm>
            <a:off x="393192" y="3392424"/>
            <a:ext cx="237744" cy="237744"/>
          </a:xfrm>
          <a:prstGeom prst="rect">
            <a:avLst/>
          </a:prstGeom>
        </p:spPr>
      </p:pic>
      <p:sp>
        <p:nvSpPr>
          <p:cNvPr id="24" name="Text 16"/>
          <p:cNvSpPr/>
          <p:nvPr/>
        </p:nvSpPr>
        <p:spPr>
          <a:xfrm>
            <a:off x="804672" y="3346704"/>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The Hierarchy of Controls and how to apply it in the right order</a:t>
            </a:r>
            <a:endParaRPr lang="en-US" sz="1300" dirty="0"/>
          </a:p>
        </p:txBody>
      </p:sp>
      <p:sp>
        <p:nvSpPr>
          <p:cNvPr id="25" name="Shape 17"/>
          <p:cNvSpPr/>
          <p:nvPr/>
        </p:nvSpPr>
        <p:spPr>
          <a:xfrm>
            <a:off x="347472" y="3849624"/>
            <a:ext cx="329184" cy="329184"/>
          </a:xfrm>
          <a:prstGeom prst="ellipse">
            <a:avLst/>
          </a:prstGeom>
          <a:solidFill>
            <a:srgbClr val="009FE3"/>
          </a:solidFill>
          <a:ln w="12700">
            <a:solidFill>
              <a:srgbClr val="009FE3"/>
            </a:solidFill>
            <a:prstDash val="solid"/>
          </a:ln>
        </p:spPr>
        <p:txBody>
          <a:bodyPr/>
          <a:lstStyle/>
          <a:p>
            <a:endParaRPr lang="en-GB"/>
          </a:p>
        </p:txBody>
      </p:sp>
      <p:pic>
        <p:nvPicPr>
          <p:cNvPr id="26" name="Image 6" descr="preencoded.png"/>
          <p:cNvPicPr>
            <a:picLocks noChangeAspect="1"/>
          </p:cNvPicPr>
          <p:nvPr/>
        </p:nvPicPr>
        <p:blipFill>
          <a:blip r:embed="rId9"/>
          <a:stretch>
            <a:fillRect/>
          </a:stretch>
        </p:blipFill>
        <p:spPr>
          <a:xfrm>
            <a:off x="393192" y="3867912"/>
            <a:ext cx="237744" cy="237744"/>
          </a:xfrm>
          <a:prstGeom prst="rect">
            <a:avLst/>
          </a:prstGeom>
        </p:spPr>
      </p:pic>
      <p:sp>
        <p:nvSpPr>
          <p:cNvPr id="27" name="Text 18"/>
          <p:cNvSpPr/>
          <p:nvPr/>
        </p:nvSpPr>
        <p:spPr>
          <a:xfrm>
            <a:off x="804672" y="3822192"/>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What makes a risk assessment suitable and sufficient under the law</a:t>
            </a:r>
            <a:endParaRPr lang="en-US" sz="1300" dirty="0"/>
          </a:p>
        </p:txBody>
      </p:sp>
      <p:sp>
        <p:nvSpPr>
          <p:cNvPr id="28" name="Shape 19"/>
          <p:cNvSpPr/>
          <p:nvPr/>
        </p:nvSpPr>
        <p:spPr>
          <a:xfrm>
            <a:off x="347472" y="4325112"/>
            <a:ext cx="329184" cy="329184"/>
          </a:xfrm>
          <a:prstGeom prst="ellipse">
            <a:avLst/>
          </a:prstGeom>
          <a:solidFill>
            <a:srgbClr val="83348F"/>
          </a:solidFill>
          <a:ln w="12700">
            <a:solidFill>
              <a:srgbClr val="83348F"/>
            </a:solidFill>
            <a:prstDash val="solid"/>
          </a:ln>
        </p:spPr>
        <p:txBody>
          <a:bodyPr/>
          <a:lstStyle/>
          <a:p>
            <a:endParaRPr lang="en-GB"/>
          </a:p>
        </p:txBody>
      </p:sp>
      <p:pic>
        <p:nvPicPr>
          <p:cNvPr id="29" name="Image 7" descr="preencoded.png"/>
          <p:cNvPicPr>
            <a:picLocks noChangeAspect="1"/>
          </p:cNvPicPr>
          <p:nvPr/>
        </p:nvPicPr>
        <p:blipFill>
          <a:blip r:embed="rId10"/>
          <a:stretch>
            <a:fillRect/>
          </a:stretch>
        </p:blipFill>
        <p:spPr>
          <a:xfrm>
            <a:off x="393192" y="4343400"/>
            <a:ext cx="237744" cy="237744"/>
          </a:xfrm>
          <a:prstGeom prst="rect">
            <a:avLst/>
          </a:prstGeom>
        </p:spPr>
      </p:pic>
      <p:sp>
        <p:nvSpPr>
          <p:cNvPr id="30" name="Text 20"/>
          <p:cNvSpPr/>
          <p:nvPr/>
        </p:nvSpPr>
        <p:spPr>
          <a:xfrm>
            <a:off x="804672" y="4297680"/>
            <a:ext cx="7909560"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to review and keep your risk assessments current</a:t>
            </a:r>
            <a:endParaRPr lang="en-US" sz="13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2"/>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11"/>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Legal Framework</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The Legal Duty to Assess Risk</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30352"/>
          </a:xfrm>
          <a:prstGeom prst="rect">
            <a:avLst/>
          </a:prstGeom>
          <a:noFill/>
          <a:ln/>
        </p:spPr>
        <p:txBody>
          <a:bodyPr wrap="square" lIns="0" tIns="0" rIns="0" bIns="0" rtlCol="0" anchor="t"/>
          <a:lstStyle/>
          <a:p>
            <a:pPr marL="0" indent="0">
              <a:buNone/>
            </a:pPr>
            <a:r>
              <a:rPr lang="en-US" sz="1300" dirty="0">
                <a:solidFill>
                  <a:srgbClr val="5B595A"/>
                </a:solidFill>
                <a:latin typeface="Arial" pitchFamily="34" charset="0"/>
                <a:ea typeface="Arial" pitchFamily="34" charset="-122"/>
                <a:cs typeface="Arial" pitchFamily="34" charset="-120"/>
              </a:rPr>
              <a:t>Risk assessment is not optional. It is a statutory requirement under UK law. Employers who fail to carry out suitable and sufficient risk assessments face prosecution, unlimited fines, and imprisonment.</a:t>
            </a:r>
            <a:endParaRPr lang="en-US" sz="1300" dirty="0"/>
          </a:p>
        </p:txBody>
      </p:sp>
      <p:sp>
        <p:nvSpPr>
          <p:cNvPr id="11" name="Shape 8"/>
          <p:cNvSpPr/>
          <p:nvPr/>
        </p:nvSpPr>
        <p:spPr>
          <a:xfrm>
            <a:off x="347472" y="1956816"/>
            <a:ext cx="8449056" cy="804672"/>
          </a:xfrm>
          <a:prstGeom prst="roundRect">
            <a:avLst>
              <a:gd name="adj" fmla="val 7955"/>
            </a:avLst>
          </a:prstGeom>
          <a:solidFill>
            <a:srgbClr val="F5F0F8"/>
          </a:solidFill>
          <a:ln w="10160">
            <a:solidFill>
              <a:srgbClr val="83348F"/>
            </a:solidFill>
            <a:prstDash val="solid"/>
          </a:ln>
        </p:spPr>
        <p:txBody>
          <a:bodyPr/>
          <a:lstStyle/>
          <a:p>
            <a:endParaRPr lang="en-GB"/>
          </a:p>
        </p:txBody>
      </p:sp>
      <p:sp>
        <p:nvSpPr>
          <p:cNvPr id="12" name="Text 9"/>
          <p:cNvSpPr/>
          <p:nvPr/>
        </p:nvSpPr>
        <p:spPr>
          <a:xfrm>
            <a:off x="502920" y="2020824"/>
            <a:ext cx="813816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Management of Health and Safety at Work Regulations 1999</a:t>
            </a:r>
            <a:endParaRPr lang="en-US" sz="1200" dirty="0"/>
          </a:p>
        </p:txBody>
      </p:sp>
      <p:sp>
        <p:nvSpPr>
          <p:cNvPr id="13" name="Text 10"/>
          <p:cNvSpPr/>
          <p:nvPr/>
        </p:nvSpPr>
        <p:spPr>
          <a:xfrm>
            <a:off x="502920" y="2286000"/>
            <a:ext cx="8138160" cy="42062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Regulation 3 requires every employer to make a suitable and sufficient assessment of the risks to the health and safety of their employees and others affected by their work. The results of any risk assessments with five or more employees must be recorded.</a:t>
            </a:r>
            <a:endParaRPr lang="en-US" sz="1100" dirty="0"/>
          </a:p>
        </p:txBody>
      </p:sp>
      <p:sp>
        <p:nvSpPr>
          <p:cNvPr id="14" name="Shape 11"/>
          <p:cNvSpPr/>
          <p:nvPr/>
        </p:nvSpPr>
        <p:spPr>
          <a:xfrm>
            <a:off x="347472" y="2852928"/>
            <a:ext cx="8449056" cy="804672"/>
          </a:xfrm>
          <a:prstGeom prst="roundRect">
            <a:avLst>
              <a:gd name="adj" fmla="val 7955"/>
            </a:avLst>
          </a:prstGeom>
          <a:solidFill>
            <a:srgbClr val="F5F0F8"/>
          </a:solidFill>
          <a:ln w="10160">
            <a:solidFill>
              <a:srgbClr val="83348F"/>
            </a:solidFill>
            <a:prstDash val="solid"/>
          </a:ln>
        </p:spPr>
        <p:txBody>
          <a:bodyPr/>
          <a:lstStyle/>
          <a:p>
            <a:endParaRPr lang="en-GB"/>
          </a:p>
        </p:txBody>
      </p:sp>
      <p:sp>
        <p:nvSpPr>
          <p:cNvPr id="15" name="Text 12"/>
          <p:cNvSpPr/>
          <p:nvPr/>
        </p:nvSpPr>
        <p:spPr>
          <a:xfrm>
            <a:off x="502920" y="2916936"/>
            <a:ext cx="813816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Health and Safety at Work etc. Act 1974</a:t>
            </a:r>
            <a:endParaRPr lang="en-US" sz="1200" dirty="0"/>
          </a:p>
        </p:txBody>
      </p:sp>
      <p:sp>
        <p:nvSpPr>
          <p:cNvPr id="16" name="Text 13"/>
          <p:cNvSpPr/>
          <p:nvPr/>
        </p:nvSpPr>
        <p:spPr>
          <a:xfrm>
            <a:off x="502920" y="3182112"/>
            <a:ext cx="8138160" cy="42062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Section 2 places a general duty on employers to ensure, so far as is reasonably practicable, the health, safety and welfare of their employees. Section 3 extends this duty to others who may be affected.</a:t>
            </a:r>
            <a:endParaRPr lang="en-US" sz="1100" dirty="0"/>
          </a:p>
        </p:txBody>
      </p:sp>
      <p:sp>
        <p:nvSpPr>
          <p:cNvPr id="17" name="Shape 14"/>
          <p:cNvSpPr/>
          <p:nvPr/>
        </p:nvSpPr>
        <p:spPr>
          <a:xfrm>
            <a:off x="347472" y="3749040"/>
            <a:ext cx="8449056" cy="804672"/>
          </a:xfrm>
          <a:prstGeom prst="roundRect">
            <a:avLst>
              <a:gd name="adj" fmla="val 7955"/>
            </a:avLst>
          </a:prstGeom>
          <a:solidFill>
            <a:srgbClr val="F5F0F8"/>
          </a:solidFill>
          <a:ln w="10160">
            <a:solidFill>
              <a:srgbClr val="83348F"/>
            </a:solidFill>
            <a:prstDash val="solid"/>
          </a:ln>
        </p:spPr>
        <p:txBody>
          <a:bodyPr/>
          <a:lstStyle/>
          <a:p>
            <a:endParaRPr lang="en-GB"/>
          </a:p>
        </p:txBody>
      </p:sp>
      <p:sp>
        <p:nvSpPr>
          <p:cNvPr id="18" name="Text 15"/>
          <p:cNvSpPr/>
          <p:nvPr/>
        </p:nvSpPr>
        <p:spPr>
          <a:xfrm>
            <a:off x="502920" y="3813048"/>
            <a:ext cx="813816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ISO 45001:2018 and HSG65</a:t>
            </a:r>
            <a:endParaRPr lang="en-US" sz="1200" dirty="0"/>
          </a:p>
        </p:txBody>
      </p:sp>
      <p:sp>
        <p:nvSpPr>
          <p:cNvPr id="19" name="Text 16"/>
          <p:cNvSpPr/>
          <p:nvPr/>
        </p:nvSpPr>
        <p:spPr>
          <a:xfrm>
            <a:off x="502920" y="4078224"/>
            <a:ext cx="8138160" cy="42062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The international standard for occupational health and safety management systems requires a systematic process for hazard identification and risk assessment. HSG65 provides the UK regulatory guidance framework underpinning this approach.</a:t>
            </a:r>
            <a:endParaRPr lang="en-US" sz="1100" dirty="0"/>
          </a:p>
        </p:txBody>
      </p:sp>
      <p:sp>
        <p:nvSpPr>
          <p:cNvPr id="20" name="Rectangle 1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562088"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8174736" y="100584"/>
            <a:ext cx="658368" cy="347472"/>
          </a:xfrm>
          <a:prstGeom prst="rect">
            <a:avLst/>
          </a:prstGeom>
        </p:spPr>
      </p:pic>
      <p:sp>
        <p:nvSpPr>
          <p:cNvPr id="23" name="Rectangle 2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Fundamentals</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Hazard vs Risk: Know the Difference</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Shape 7"/>
          <p:cNvSpPr/>
          <p:nvPr/>
        </p:nvSpPr>
        <p:spPr>
          <a:xfrm>
            <a:off x="347472" y="1353312"/>
            <a:ext cx="4069080" cy="457200"/>
          </a:xfrm>
          <a:prstGeom prst="rect">
            <a:avLst/>
          </a:prstGeom>
          <a:solidFill>
            <a:srgbClr val="009FE3"/>
          </a:solidFill>
          <a:ln w="12700">
            <a:solidFill>
              <a:srgbClr val="009FE3"/>
            </a:solidFill>
            <a:prstDash val="solid"/>
          </a:ln>
        </p:spPr>
        <p:txBody>
          <a:bodyPr/>
          <a:lstStyle/>
          <a:p>
            <a:endParaRPr lang="en-GB"/>
          </a:p>
        </p:txBody>
      </p:sp>
      <p:pic>
        <p:nvPicPr>
          <p:cNvPr id="11" name="Image 1" descr="preencoded.png"/>
          <p:cNvPicPr>
            <a:picLocks noChangeAspect="1"/>
          </p:cNvPicPr>
          <p:nvPr/>
        </p:nvPicPr>
        <p:blipFill>
          <a:blip r:embed="rId4"/>
          <a:stretch>
            <a:fillRect/>
          </a:stretch>
        </p:blipFill>
        <p:spPr>
          <a:xfrm>
            <a:off x="457200" y="1371600"/>
            <a:ext cx="347472" cy="347472"/>
          </a:xfrm>
          <a:prstGeom prst="rect">
            <a:avLst/>
          </a:prstGeom>
        </p:spPr>
      </p:pic>
      <p:sp>
        <p:nvSpPr>
          <p:cNvPr id="12" name="Text 8"/>
          <p:cNvSpPr/>
          <p:nvPr/>
        </p:nvSpPr>
        <p:spPr>
          <a:xfrm>
            <a:off x="896112" y="1371600"/>
            <a:ext cx="33832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HAZARD</a:t>
            </a:r>
            <a:endParaRPr lang="en-US" sz="1600" dirty="0"/>
          </a:p>
        </p:txBody>
      </p:sp>
      <p:sp>
        <p:nvSpPr>
          <p:cNvPr id="13" name="Shape 9"/>
          <p:cNvSpPr/>
          <p:nvPr/>
        </p:nvSpPr>
        <p:spPr>
          <a:xfrm>
            <a:off x="347472" y="1810512"/>
            <a:ext cx="4069080" cy="2606040"/>
          </a:xfrm>
          <a:prstGeom prst="rect">
            <a:avLst/>
          </a:prstGeom>
          <a:solidFill>
            <a:srgbClr val="F8F8F8"/>
          </a:solidFill>
          <a:ln w="10160">
            <a:solidFill>
              <a:srgbClr val="DDDDDD"/>
            </a:solidFill>
            <a:prstDash val="solid"/>
          </a:ln>
        </p:spPr>
        <p:txBody>
          <a:bodyPr/>
          <a:lstStyle/>
          <a:p>
            <a:endParaRPr lang="en-GB"/>
          </a:p>
        </p:txBody>
      </p:sp>
      <p:sp>
        <p:nvSpPr>
          <p:cNvPr id="14" name="Text 10"/>
          <p:cNvSpPr/>
          <p:nvPr/>
        </p:nvSpPr>
        <p:spPr>
          <a:xfrm>
            <a:off x="484632" y="1901952"/>
            <a:ext cx="3840480" cy="228600"/>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Definition:</a:t>
            </a:r>
            <a:endParaRPr lang="en-US" sz="1100" dirty="0"/>
          </a:p>
        </p:txBody>
      </p:sp>
      <p:sp>
        <p:nvSpPr>
          <p:cNvPr id="15" name="Text 11"/>
          <p:cNvSpPr/>
          <p:nvPr/>
        </p:nvSpPr>
        <p:spPr>
          <a:xfrm>
            <a:off x="484632" y="2121408"/>
            <a:ext cx="3840480" cy="502920"/>
          </a:xfrm>
          <a:prstGeom prst="rect">
            <a:avLst/>
          </a:prstGeom>
          <a:noFill/>
          <a:ln/>
        </p:spPr>
        <p:txBody>
          <a:bodyPr wrap="square" lIns="0" tIns="0" rIns="0" bIns="0" rtlCol="0" anchor="ctr"/>
          <a:lstStyle/>
          <a:p>
            <a:pPr marL="0" indent="0">
              <a:buNone/>
            </a:pPr>
            <a:r>
              <a:rPr lang="en-US" sz="1250" dirty="0">
                <a:solidFill>
                  <a:srgbClr val="5B595A"/>
                </a:solidFill>
                <a:latin typeface="Arial" pitchFamily="34" charset="0"/>
                <a:ea typeface="Arial" pitchFamily="34" charset="-122"/>
                <a:cs typeface="Arial" pitchFamily="34" charset="-120"/>
              </a:rPr>
              <a:t>Anything that has the POTENTIAL to cause harm.</a:t>
            </a:r>
            <a:endParaRPr lang="en-US" sz="1250" dirty="0"/>
          </a:p>
        </p:txBody>
      </p:sp>
      <p:sp>
        <p:nvSpPr>
          <p:cNvPr id="16" name="Shape 12"/>
          <p:cNvSpPr/>
          <p:nvPr/>
        </p:nvSpPr>
        <p:spPr>
          <a:xfrm>
            <a:off x="484632" y="2651760"/>
            <a:ext cx="3749040" cy="0"/>
          </a:xfrm>
          <a:prstGeom prst="line">
            <a:avLst/>
          </a:prstGeom>
          <a:noFill/>
          <a:ln w="8890">
            <a:solidFill>
              <a:srgbClr val="CCCCCC"/>
            </a:solidFill>
            <a:prstDash val="solid"/>
          </a:ln>
        </p:spPr>
        <p:txBody>
          <a:bodyPr/>
          <a:lstStyle/>
          <a:p>
            <a:endParaRPr lang="en-GB"/>
          </a:p>
        </p:txBody>
      </p:sp>
      <p:sp>
        <p:nvSpPr>
          <p:cNvPr id="17" name="Text 13"/>
          <p:cNvSpPr/>
          <p:nvPr/>
        </p:nvSpPr>
        <p:spPr>
          <a:xfrm>
            <a:off x="484632" y="2724912"/>
            <a:ext cx="3840480" cy="228600"/>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In practice:</a:t>
            </a:r>
            <a:endParaRPr lang="en-US" sz="1100" dirty="0"/>
          </a:p>
        </p:txBody>
      </p:sp>
      <p:sp>
        <p:nvSpPr>
          <p:cNvPr id="18" name="Text 14"/>
          <p:cNvSpPr/>
          <p:nvPr/>
        </p:nvSpPr>
        <p:spPr>
          <a:xfrm>
            <a:off x="484632" y="2944368"/>
            <a:ext cx="3840480" cy="129844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Examples: a wet floor, rotating machinery, a chemical substance, working at height, a heavy load.</a:t>
            </a:r>
            <a:endParaRPr lang="en-US" sz="1150" dirty="0"/>
          </a:p>
        </p:txBody>
      </p:sp>
      <p:sp>
        <p:nvSpPr>
          <p:cNvPr id="19" name="Shape 15"/>
          <p:cNvSpPr/>
          <p:nvPr/>
        </p:nvSpPr>
        <p:spPr>
          <a:xfrm>
            <a:off x="4553712" y="1353312"/>
            <a:ext cx="4069080" cy="457200"/>
          </a:xfrm>
          <a:prstGeom prst="rect">
            <a:avLst/>
          </a:prstGeom>
          <a:solidFill>
            <a:srgbClr val="83348F"/>
          </a:solidFill>
          <a:ln w="12700">
            <a:solidFill>
              <a:srgbClr val="83348F"/>
            </a:solidFill>
            <a:prstDash val="solid"/>
          </a:ln>
        </p:spPr>
        <p:txBody>
          <a:bodyPr/>
          <a:lstStyle/>
          <a:p>
            <a:endParaRPr lang="en-GB"/>
          </a:p>
        </p:txBody>
      </p:sp>
      <p:pic>
        <p:nvPicPr>
          <p:cNvPr id="20" name="Image 2" descr="preencoded.png"/>
          <p:cNvPicPr>
            <a:picLocks noChangeAspect="1"/>
          </p:cNvPicPr>
          <p:nvPr/>
        </p:nvPicPr>
        <p:blipFill>
          <a:blip r:embed="rId5"/>
          <a:stretch>
            <a:fillRect/>
          </a:stretch>
        </p:blipFill>
        <p:spPr>
          <a:xfrm>
            <a:off x="4663440" y="1371600"/>
            <a:ext cx="347472" cy="347472"/>
          </a:xfrm>
          <a:prstGeom prst="rect">
            <a:avLst/>
          </a:prstGeom>
        </p:spPr>
      </p:pic>
      <p:sp>
        <p:nvSpPr>
          <p:cNvPr id="21" name="Text 16"/>
          <p:cNvSpPr/>
          <p:nvPr/>
        </p:nvSpPr>
        <p:spPr>
          <a:xfrm>
            <a:off x="5102352" y="1371600"/>
            <a:ext cx="33832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RISK</a:t>
            </a:r>
            <a:endParaRPr lang="en-US" sz="1600" dirty="0"/>
          </a:p>
        </p:txBody>
      </p:sp>
      <p:sp>
        <p:nvSpPr>
          <p:cNvPr id="22" name="Shape 17"/>
          <p:cNvSpPr/>
          <p:nvPr/>
        </p:nvSpPr>
        <p:spPr>
          <a:xfrm>
            <a:off x="4553712" y="1810512"/>
            <a:ext cx="4069080" cy="2606040"/>
          </a:xfrm>
          <a:prstGeom prst="rect">
            <a:avLst/>
          </a:prstGeom>
          <a:solidFill>
            <a:srgbClr val="F8F8F8"/>
          </a:solidFill>
          <a:ln w="10160">
            <a:solidFill>
              <a:srgbClr val="DDDDDD"/>
            </a:solidFill>
            <a:prstDash val="solid"/>
          </a:ln>
        </p:spPr>
        <p:txBody>
          <a:bodyPr/>
          <a:lstStyle/>
          <a:p>
            <a:endParaRPr lang="en-GB"/>
          </a:p>
        </p:txBody>
      </p:sp>
      <p:sp>
        <p:nvSpPr>
          <p:cNvPr id="23" name="Text 18"/>
          <p:cNvSpPr/>
          <p:nvPr/>
        </p:nvSpPr>
        <p:spPr>
          <a:xfrm>
            <a:off x="4690872" y="1901952"/>
            <a:ext cx="3840480" cy="228600"/>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Definition:</a:t>
            </a:r>
            <a:endParaRPr lang="en-US" sz="1100" dirty="0"/>
          </a:p>
        </p:txBody>
      </p:sp>
      <p:sp>
        <p:nvSpPr>
          <p:cNvPr id="24" name="Text 19"/>
          <p:cNvSpPr/>
          <p:nvPr/>
        </p:nvSpPr>
        <p:spPr>
          <a:xfrm>
            <a:off x="4690872" y="2121408"/>
            <a:ext cx="3840480" cy="502920"/>
          </a:xfrm>
          <a:prstGeom prst="rect">
            <a:avLst/>
          </a:prstGeom>
          <a:noFill/>
          <a:ln/>
        </p:spPr>
        <p:txBody>
          <a:bodyPr wrap="square" lIns="0" tIns="0" rIns="0" bIns="0" rtlCol="0" anchor="ctr"/>
          <a:lstStyle/>
          <a:p>
            <a:pPr marL="0" indent="0">
              <a:buNone/>
            </a:pPr>
            <a:r>
              <a:rPr lang="en-US" sz="1250" dirty="0">
                <a:solidFill>
                  <a:srgbClr val="5B595A"/>
                </a:solidFill>
                <a:latin typeface="Arial" pitchFamily="34" charset="0"/>
                <a:ea typeface="Arial" pitchFamily="34" charset="-122"/>
                <a:cs typeface="Arial" pitchFamily="34" charset="-120"/>
              </a:rPr>
              <a:t>The LIKELIHOOD that the hazard will cause harm, combined with the SEVERITY of that harm.</a:t>
            </a:r>
            <a:endParaRPr lang="en-US" sz="1250" dirty="0"/>
          </a:p>
        </p:txBody>
      </p:sp>
      <p:sp>
        <p:nvSpPr>
          <p:cNvPr id="25" name="Shape 20"/>
          <p:cNvSpPr/>
          <p:nvPr/>
        </p:nvSpPr>
        <p:spPr>
          <a:xfrm>
            <a:off x="4690872" y="2651760"/>
            <a:ext cx="3749040" cy="0"/>
          </a:xfrm>
          <a:prstGeom prst="line">
            <a:avLst/>
          </a:prstGeom>
          <a:noFill/>
          <a:ln w="8890">
            <a:solidFill>
              <a:srgbClr val="CCCCCC"/>
            </a:solidFill>
            <a:prstDash val="solid"/>
          </a:ln>
        </p:spPr>
        <p:txBody>
          <a:bodyPr/>
          <a:lstStyle/>
          <a:p>
            <a:endParaRPr lang="en-GB"/>
          </a:p>
        </p:txBody>
      </p:sp>
      <p:sp>
        <p:nvSpPr>
          <p:cNvPr id="26" name="Text 21"/>
          <p:cNvSpPr/>
          <p:nvPr/>
        </p:nvSpPr>
        <p:spPr>
          <a:xfrm>
            <a:off x="4690872" y="2724912"/>
            <a:ext cx="3840480" cy="228600"/>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In practice:</a:t>
            </a:r>
            <a:endParaRPr lang="en-US" sz="1100" dirty="0"/>
          </a:p>
        </p:txBody>
      </p:sp>
      <p:sp>
        <p:nvSpPr>
          <p:cNvPr id="27" name="Text 22"/>
          <p:cNvSpPr/>
          <p:nvPr/>
        </p:nvSpPr>
        <p:spPr>
          <a:xfrm>
            <a:off x="4690872" y="2944368"/>
            <a:ext cx="3840480" cy="129844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Example: a wet floor (hazard) in a busy corridor with no warning sign = HIGH risk. A wet floor in a locked cupboard = LOW risk.</a:t>
            </a:r>
            <a:endParaRPr lang="en-US" sz="1150" dirty="0"/>
          </a:p>
        </p:txBody>
      </p:sp>
      <p:sp>
        <p:nvSpPr>
          <p:cNvPr id="28" name="Text 23"/>
          <p:cNvSpPr/>
          <p:nvPr/>
        </p:nvSpPr>
        <p:spPr>
          <a:xfrm>
            <a:off x="4325112" y="1371600"/>
            <a:ext cx="9144" cy="9144"/>
          </a:xfrm>
          <a:prstGeom prst="rect">
            <a:avLst/>
          </a:prstGeom>
          <a:noFill/>
          <a:ln/>
        </p:spPr>
        <p:txBody>
          <a:bodyPr wrap="square" rtlCol="0" anchor="ctr"/>
          <a:lstStyle/>
          <a:p>
            <a:pPr marL="0" indent="0">
              <a:buNone/>
            </a:pPr>
            <a:r>
              <a:rPr lang="en-US" sz="100" dirty="0">
                <a:solidFill>
                  <a:srgbClr val="FFFFFF"/>
                </a:solidFill>
              </a:rPr>
              <a:t>Divider</a:t>
            </a:r>
            <a:endParaRPr lang="en-US" sz="100" dirty="0"/>
          </a:p>
        </p:txBody>
      </p:sp>
      <p:sp>
        <p:nvSpPr>
          <p:cNvPr id="29" name="Shape 24"/>
          <p:cNvSpPr/>
          <p:nvPr/>
        </p:nvSpPr>
        <p:spPr>
          <a:xfrm>
            <a:off x="347472" y="4526280"/>
            <a:ext cx="8449056" cy="347472"/>
          </a:xfrm>
          <a:prstGeom prst="roundRect">
            <a:avLst>
              <a:gd name="adj" fmla="val 15789"/>
            </a:avLst>
          </a:prstGeom>
          <a:solidFill>
            <a:srgbClr val="001E3C"/>
          </a:solidFill>
          <a:ln w="12700">
            <a:solidFill>
              <a:srgbClr val="001E3C"/>
            </a:solidFill>
            <a:prstDash val="solid"/>
          </a:ln>
        </p:spPr>
        <p:txBody>
          <a:bodyPr/>
          <a:lstStyle/>
          <a:p>
            <a:endParaRPr lang="en-GB"/>
          </a:p>
        </p:txBody>
      </p:sp>
      <p:sp>
        <p:nvSpPr>
          <p:cNvPr id="30" name="Rectangle 2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7562088" y="100584"/>
            <a:ext cx="566928" cy="347472"/>
          </a:xfrm>
          <a:prstGeom prst="rect">
            <a:avLst/>
          </a:prstGeom>
        </p:spPr>
      </p:pic>
      <p:pic>
        <p:nvPicPr>
          <p:cNvPr id="32" name="Picture 31" descr="image.png"/>
          <p:cNvPicPr>
            <a:picLocks noChangeAspect="1"/>
          </p:cNvPicPr>
          <p:nvPr/>
        </p:nvPicPr>
        <p:blipFill>
          <a:blip r:embed="rId6"/>
          <a:stretch>
            <a:fillRect/>
          </a:stretch>
        </p:blipFill>
        <p:spPr>
          <a:xfrm>
            <a:off x="8174736" y="100584"/>
            <a:ext cx="658368" cy="347472"/>
          </a:xfrm>
          <a:prstGeom prst="rect">
            <a:avLst/>
          </a:prstGeom>
        </p:spPr>
      </p:pic>
      <p:sp>
        <p:nvSpPr>
          <p:cNvPr id="33" name="Rectangle 3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The Process</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The HSE 5-Step Risk Assessment Process</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Text 7"/>
          <p:cNvSpPr/>
          <p:nvPr/>
        </p:nvSpPr>
        <p:spPr>
          <a:xfrm>
            <a:off x="347472" y="1353312"/>
            <a:ext cx="8449056" cy="402336"/>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The Health and Safety Executive sets out a clear five-step process for carrying out risk assessments. Every risk assessment in your organisation should follow these steps in order.</a:t>
            </a:r>
            <a:endParaRPr lang="en-US" sz="1250" dirty="0"/>
          </a:p>
        </p:txBody>
      </p:sp>
      <p:sp>
        <p:nvSpPr>
          <p:cNvPr id="11" name="Shape 8"/>
          <p:cNvSpPr/>
          <p:nvPr/>
        </p:nvSpPr>
        <p:spPr>
          <a:xfrm>
            <a:off x="347472" y="1901952"/>
            <a:ext cx="1554480" cy="2560320"/>
          </a:xfrm>
          <a:prstGeom prst="rect">
            <a:avLst/>
          </a:prstGeom>
          <a:solidFill>
            <a:srgbClr val="009FE3"/>
          </a:solidFill>
          <a:ln w="12700">
            <a:solidFill>
              <a:srgbClr val="009FE3"/>
            </a:solidFill>
            <a:prstDash val="solid"/>
          </a:ln>
        </p:spPr>
        <p:txBody>
          <a:bodyPr/>
          <a:lstStyle/>
          <a:p>
            <a:endParaRPr lang="en-GB"/>
          </a:p>
        </p:txBody>
      </p:sp>
      <p:sp>
        <p:nvSpPr>
          <p:cNvPr id="12" name="Shape 9"/>
          <p:cNvSpPr/>
          <p:nvPr/>
        </p:nvSpPr>
        <p:spPr>
          <a:xfrm>
            <a:off x="777240" y="2011680"/>
            <a:ext cx="694944" cy="694944"/>
          </a:xfrm>
          <a:prstGeom prst="ellipse">
            <a:avLst/>
          </a:prstGeom>
          <a:solidFill>
            <a:srgbClr val="FFFFFF">
              <a:alpha val="80000"/>
            </a:srgbClr>
          </a:solidFill>
          <a:ln w="12700">
            <a:solidFill>
              <a:srgbClr val="FFFFFF"/>
            </a:solidFill>
            <a:prstDash val="solid"/>
          </a:ln>
        </p:spPr>
        <p:txBody>
          <a:bodyPr/>
          <a:lstStyle/>
          <a:p>
            <a:endParaRPr lang="en-GB"/>
          </a:p>
        </p:txBody>
      </p:sp>
      <p:pic>
        <p:nvPicPr>
          <p:cNvPr id="13" name="Image 1" descr="preencoded.png"/>
          <p:cNvPicPr>
            <a:picLocks noChangeAspect="1"/>
          </p:cNvPicPr>
          <p:nvPr/>
        </p:nvPicPr>
        <p:blipFill>
          <a:blip r:embed="rId4"/>
          <a:stretch>
            <a:fillRect/>
          </a:stretch>
        </p:blipFill>
        <p:spPr>
          <a:xfrm>
            <a:off x="850392" y="2084832"/>
            <a:ext cx="530352" cy="530352"/>
          </a:xfrm>
          <a:prstGeom prst="rect">
            <a:avLst/>
          </a:prstGeom>
        </p:spPr>
      </p:pic>
      <p:sp>
        <p:nvSpPr>
          <p:cNvPr id="14" name="Text 10"/>
          <p:cNvSpPr/>
          <p:nvPr/>
        </p:nvSpPr>
        <p:spPr>
          <a:xfrm>
            <a:off x="347472" y="2816352"/>
            <a:ext cx="15544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1</a:t>
            </a:r>
            <a:endParaRPr lang="en-US" sz="1050" dirty="0"/>
          </a:p>
        </p:txBody>
      </p:sp>
      <p:sp>
        <p:nvSpPr>
          <p:cNvPr id="15" name="Text 11"/>
          <p:cNvSpPr/>
          <p:nvPr/>
        </p:nvSpPr>
        <p:spPr>
          <a:xfrm>
            <a:off x="393192" y="3108960"/>
            <a:ext cx="1463040" cy="1298448"/>
          </a:xfrm>
          <a:prstGeom prst="rect">
            <a:avLst/>
          </a:prstGeom>
          <a:noFill/>
          <a:ln/>
        </p:spPr>
        <p:txBody>
          <a:bodyPr wrap="square" lIns="0" tIns="0" rIns="0" bIns="0" rtlCol="0" anchor="t"/>
          <a:lstStyle/>
          <a:p>
            <a:pPr marL="0" indent="0" algn="ctr">
              <a:buNone/>
            </a:pPr>
            <a:r>
              <a:rPr lang="en-US" sz="1150" dirty="0">
                <a:solidFill>
                  <a:srgbClr val="FFFFFF"/>
                </a:solidFill>
                <a:latin typeface="Arial" pitchFamily="34" charset="0"/>
                <a:ea typeface="Arial" pitchFamily="34" charset="-122"/>
                <a:cs typeface="Arial" pitchFamily="34" charset="-120"/>
              </a:rPr>
              <a:t>Identify the Hazards</a:t>
            </a:r>
            <a:endParaRPr lang="en-US" sz="1150" dirty="0"/>
          </a:p>
        </p:txBody>
      </p:sp>
      <p:sp>
        <p:nvSpPr>
          <p:cNvPr id="16" name="Shape 12"/>
          <p:cNvSpPr/>
          <p:nvPr/>
        </p:nvSpPr>
        <p:spPr>
          <a:xfrm>
            <a:off x="1920240" y="2724912"/>
            <a:ext cx="146304" cy="0"/>
          </a:xfrm>
          <a:prstGeom prst="line">
            <a:avLst/>
          </a:prstGeom>
          <a:noFill/>
          <a:ln w="25400">
            <a:solidFill>
              <a:srgbClr val="5B595A"/>
            </a:solidFill>
            <a:prstDash val="solid"/>
          </a:ln>
        </p:spPr>
        <p:txBody>
          <a:bodyPr/>
          <a:lstStyle/>
          <a:p>
            <a:endParaRPr lang="en-GB"/>
          </a:p>
        </p:txBody>
      </p:sp>
      <p:sp>
        <p:nvSpPr>
          <p:cNvPr id="17" name="Text 13"/>
          <p:cNvSpPr/>
          <p:nvPr/>
        </p:nvSpPr>
        <p:spPr>
          <a:xfrm>
            <a:off x="1975104" y="2670048"/>
            <a:ext cx="182880" cy="182880"/>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t>
            </a:r>
            <a:endParaRPr lang="en-US" sz="1000" dirty="0"/>
          </a:p>
        </p:txBody>
      </p:sp>
      <p:sp>
        <p:nvSpPr>
          <p:cNvPr id="18" name="Shape 14"/>
          <p:cNvSpPr/>
          <p:nvPr/>
        </p:nvSpPr>
        <p:spPr>
          <a:xfrm>
            <a:off x="2084832" y="1901952"/>
            <a:ext cx="1554480" cy="2560320"/>
          </a:xfrm>
          <a:prstGeom prst="rect">
            <a:avLst/>
          </a:prstGeom>
          <a:solidFill>
            <a:srgbClr val="006FAA"/>
          </a:solidFill>
          <a:ln w="12700">
            <a:solidFill>
              <a:srgbClr val="006FAA"/>
            </a:solidFill>
            <a:prstDash val="solid"/>
          </a:ln>
        </p:spPr>
        <p:txBody>
          <a:bodyPr/>
          <a:lstStyle/>
          <a:p>
            <a:endParaRPr lang="en-GB"/>
          </a:p>
        </p:txBody>
      </p:sp>
      <p:sp>
        <p:nvSpPr>
          <p:cNvPr id="19" name="Shape 15"/>
          <p:cNvSpPr/>
          <p:nvPr/>
        </p:nvSpPr>
        <p:spPr>
          <a:xfrm>
            <a:off x="2514600" y="2011680"/>
            <a:ext cx="694944" cy="694944"/>
          </a:xfrm>
          <a:prstGeom prst="ellipse">
            <a:avLst/>
          </a:prstGeom>
          <a:solidFill>
            <a:srgbClr val="FFFFFF">
              <a:alpha val="80000"/>
            </a:srgbClr>
          </a:solidFill>
          <a:ln w="12700">
            <a:solidFill>
              <a:srgbClr val="FFFFFF"/>
            </a:solidFill>
            <a:prstDash val="solid"/>
          </a:ln>
        </p:spPr>
        <p:txBody>
          <a:bodyPr/>
          <a:lstStyle/>
          <a:p>
            <a:endParaRPr lang="en-GB"/>
          </a:p>
        </p:txBody>
      </p:sp>
      <p:pic>
        <p:nvPicPr>
          <p:cNvPr id="20" name="Image 2" descr="preencoded.png"/>
          <p:cNvPicPr>
            <a:picLocks noChangeAspect="1"/>
          </p:cNvPicPr>
          <p:nvPr/>
        </p:nvPicPr>
        <p:blipFill>
          <a:blip r:embed="rId5"/>
          <a:stretch>
            <a:fillRect/>
          </a:stretch>
        </p:blipFill>
        <p:spPr>
          <a:xfrm>
            <a:off x="2587752" y="2084832"/>
            <a:ext cx="530352" cy="530352"/>
          </a:xfrm>
          <a:prstGeom prst="rect">
            <a:avLst/>
          </a:prstGeom>
        </p:spPr>
      </p:pic>
      <p:sp>
        <p:nvSpPr>
          <p:cNvPr id="21" name="Text 16"/>
          <p:cNvSpPr/>
          <p:nvPr/>
        </p:nvSpPr>
        <p:spPr>
          <a:xfrm>
            <a:off x="2084832" y="2816352"/>
            <a:ext cx="15544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2</a:t>
            </a:r>
            <a:endParaRPr lang="en-US" sz="1050" dirty="0"/>
          </a:p>
        </p:txBody>
      </p:sp>
      <p:sp>
        <p:nvSpPr>
          <p:cNvPr id="22" name="Text 17"/>
          <p:cNvSpPr/>
          <p:nvPr/>
        </p:nvSpPr>
        <p:spPr>
          <a:xfrm>
            <a:off x="2130552" y="3108960"/>
            <a:ext cx="1463040" cy="1298448"/>
          </a:xfrm>
          <a:prstGeom prst="rect">
            <a:avLst/>
          </a:prstGeom>
          <a:noFill/>
          <a:ln/>
        </p:spPr>
        <p:txBody>
          <a:bodyPr wrap="square" lIns="0" tIns="0" rIns="0" bIns="0" rtlCol="0" anchor="t"/>
          <a:lstStyle/>
          <a:p>
            <a:pPr marL="0" indent="0" algn="ctr">
              <a:buNone/>
            </a:pPr>
            <a:r>
              <a:rPr lang="en-US" sz="1150" dirty="0">
                <a:solidFill>
                  <a:srgbClr val="FFFFFF"/>
                </a:solidFill>
                <a:latin typeface="Arial" pitchFamily="34" charset="0"/>
                <a:ea typeface="Arial" pitchFamily="34" charset="-122"/>
                <a:cs typeface="Arial" pitchFamily="34" charset="-120"/>
              </a:rPr>
              <a:t>Decide Who Might Be Harmed and How</a:t>
            </a:r>
            <a:endParaRPr lang="en-US" sz="1150" dirty="0"/>
          </a:p>
        </p:txBody>
      </p:sp>
      <p:sp>
        <p:nvSpPr>
          <p:cNvPr id="23" name="Shape 18"/>
          <p:cNvSpPr/>
          <p:nvPr/>
        </p:nvSpPr>
        <p:spPr>
          <a:xfrm>
            <a:off x="3657600" y="2724912"/>
            <a:ext cx="146304" cy="0"/>
          </a:xfrm>
          <a:prstGeom prst="line">
            <a:avLst/>
          </a:prstGeom>
          <a:noFill/>
          <a:ln w="25400">
            <a:solidFill>
              <a:srgbClr val="5B595A"/>
            </a:solidFill>
            <a:prstDash val="solid"/>
          </a:ln>
        </p:spPr>
        <p:txBody>
          <a:bodyPr/>
          <a:lstStyle/>
          <a:p>
            <a:endParaRPr lang="en-GB"/>
          </a:p>
        </p:txBody>
      </p:sp>
      <p:sp>
        <p:nvSpPr>
          <p:cNvPr id="24" name="Text 19"/>
          <p:cNvSpPr/>
          <p:nvPr/>
        </p:nvSpPr>
        <p:spPr>
          <a:xfrm>
            <a:off x="3712464" y="2670048"/>
            <a:ext cx="182880" cy="182880"/>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t>
            </a:r>
            <a:endParaRPr lang="en-US" sz="1000" dirty="0"/>
          </a:p>
        </p:txBody>
      </p:sp>
      <p:sp>
        <p:nvSpPr>
          <p:cNvPr id="25" name="Shape 20"/>
          <p:cNvSpPr/>
          <p:nvPr/>
        </p:nvSpPr>
        <p:spPr>
          <a:xfrm>
            <a:off x="3822192" y="1901952"/>
            <a:ext cx="1554480" cy="2560320"/>
          </a:xfrm>
          <a:prstGeom prst="rect">
            <a:avLst/>
          </a:prstGeom>
          <a:solidFill>
            <a:srgbClr val="83348F"/>
          </a:solidFill>
          <a:ln w="12700">
            <a:solidFill>
              <a:srgbClr val="83348F"/>
            </a:solidFill>
            <a:prstDash val="solid"/>
          </a:ln>
        </p:spPr>
        <p:txBody>
          <a:bodyPr/>
          <a:lstStyle/>
          <a:p>
            <a:endParaRPr lang="en-GB"/>
          </a:p>
        </p:txBody>
      </p:sp>
      <p:sp>
        <p:nvSpPr>
          <p:cNvPr id="26" name="Shape 21"/>
          <p:cNvSpPr/>
          <p:nvPr/>
        </p:nvSpPr>
        <p:spPr>
          <a:xfrm>
            <a:off x="4251960" y="2011680"/>
            <a:ext cx="694944" cy="694944"/>
          </a:xfrm>
          <a:prstGeom prst="ellipse">
            <a:avLst/>
          </a:prstGeom>
          <a:solidFill>
            <a:srgbClr val="FFFFFF">
              <a:alpha val="80000"/>
            </a:srgbClr>
          </a:solidFill>
          <a:ln w="12700">
            <a:solidFill>
              <a:srgbClr val="FFFFFF"/>
            </a:solidFill>
            <a:prstDash val="solid"/>
          </a:ln>
        </p:spPr>
        <p:txBody>
          <a:bodyPr/>
          <a:lstStyle/>
          <a:p>
            <a:endParaRPr lang="en-GB"/>
          </a:p>
        </p:txBody>
      </p:sp>
      <p:pic>
        <p:nvPicPr>
          <p:cNvPr id="27" name="Image 3" descr="preencoded.png"/>
          <p:cNvPicPr>
            <a:picLocks noChangeAspect="1"/>
          </p:cNvPicPr>
          <p:nvPr/>
        </p:nvPicPr>
        <p:blipFill>
          <a:blip r:embed="rId6"/>
          <a:stretch>
            <a:fillRect/>
          </a:stretch>
        </p:blipFill>
        <p:spPr>
          <a:xfrm>
            <a:off x="4325112" y="2084832"/>
            <a:ext cx="530352" cy="530352"/>
          </a:xfrm>
          <a:prstGeom prst="rect">
            <a:avLst/>
          </a:prstGeom>
        </p:spPr>
      </p:pic>
      <p:sp>
        <p:nvSpPr>
          <p:cNvPr id="28" name="Text 22"/>
          <p:cNvSpPr/>
          <p:nvPr/>
        </p:nvSpPr>
        <p:spPr>
          <a:xfrm>
            <a:off x="3822192" y="2816352"/>
            <a:ext cx="15544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3</a:t>
            </a:r>
            <a:endParaRPr lang="en-US" sz="1050" dirty="0"/>
          </a:p>
        </p:txBody>
      </p:sp>
      <p:sp>
        <p:nvSpPr>
          <p:cNvPr id="29" name="Text 23"/>
          <p:cNvSpPr/>
          <p:nvPr/>
        </p:nvSpPr>
        <p:spPr>
          <a:xfrm>
            <a:off x="3867912" y="3108960"/>
            <a:ext cx="1463040" cy="1298448"/>
          </a:xfrm>
          <a:prstGeom prst="rect">
            <a:avLst/>
          </a:prstGeom>
          <a:noFill/>
          <a:ln/>
        </p:spPr>
        <p:txBody>
          <a:bodyPr wrap="square" lIns="0" tIns="0" rIns="0" bIns="0" rtlCol="0" anchor="t"/>
          <a:lstStyle/>
          <a:p>
            <a:pPr marL="0" indent="0" algn="ctr">
              <a:buNone/>
            </a:pPr>
            <a:r>
              <a:rPr lang="en-US" sz="1150" dirty="0">
                <a:solidFill>
                  <a:srgbClr val="FFFFFF"/>
                </a:solidFill>
                <a:latin typeface="Arial" pitchFamily="34" charset="0"/>
                <a:ea typeface="Arial" pitchFamily="34" charset="-122"/>
                <a:cs typeface="Arial" pitchFamily="34" charset="-120"/>
              </a:rPr>
              <a:t>Evaluate the Risks and Decide on Controls</a:t>
            </a:r>
            <a:endParaRPr lang="en-US" sz="1150" dirty="0"/>
          </a:p>
        </p:txBody>
      </p:sp>
      <p:sp>
        <p:nvSpPr>
          <p:cNvPr id="30" name="Shape 24"/>
          <p:cNvSpPr/>
          <p:nvPr/>
        </p:nvSpPr>
        <p:spPr>
          <a:xfrm>
            <a:off x="5394960" y="2724912"/>
            <a:ext cx="146304" cy="0"/>
          </a:xfrm>
          <a:prstGeom prst="line">
            <a:avLst/>
          </a:prstGeom>
          <a:noFill/>
          <a:ln w="25400">
            <a:solidFill>
              <a:srgbClr val="5B595A"/>
            </a:solidFill>
            <a:prstDash val="solid"/>
          </a:ln>
        </p:spPr>
        <p:txBody>
          <a:bodyPr/>
          <a:lstStyle/>
          <a:p>
            <a:endParaRPr lang="en-GB"/>
          </a:p>
        </p:txBody>
      </p:sp>
      <p:sp>
        <p:nvSpPr>
          <p:cNvPr id="31" name="Text 25"/>
          <p:cNvSpPr/>
          <p:nvPr/>
        </p:nvSpPr>
        <p:spPr>
          <a:xfrm>
            <a:off x="5449824" y="2670048"/>
            <a:ext cx="182880" cy="182880"/>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t>
            </a:r>
            <a:endParaRPr lang="en-US" sz="1000" dirty="0"/>
          </a:p>
        </p:txBody>
      </p:sp>
      <p:sp>
        <p:nvSpPr>
          <p:cNvPr id="32" name="Shape 26"/>
          <p:cNvSpPr/>
          <p:nvPr/>
        </p:nvSpPr>
        <p:spPr>
          <a:xfrm>
            <a:off x="5559552" y="1901952"/>
            <a:ext cx="1554480" cy="2560320"/>
          </a:xfrm>
          <a:prstGeom prst="rect">
            <a:avLst/>
          </a:prstGeom>
          <a:solidFill>
            <a:srgbClr val="E08A00"/>
          </a:solidFill>
          <a:ln w="12700">
            <a:solidFill>
              <a:srgbClr val="E08A00"/>
            </a:solidFill>
            <a:prstDash val="solid"/>
          </a:ln>
        </p:spPr>
        <p:txBody>
          <a:bodyPr/>
          <a:lstStyle/>
          <a:p>
            <a:endParaRPr lang="en-GB"/>
          </a:p>
        </p:txBody>
      </p:sp>
      <p:sp>
        <p:nvSpPr>
          <p:cNvPr id="33" name="Shape 27"/>
          <p:cNvSpPr/>
          <p:nvPr/>
        </p:nvSpPr>
        <p:spPr>
          <a:xfrm>
            <a:off x="5989320" y="2011680"/>
            <a:ext cx="694944" cy="694944"/>
          </a:xfrm>
          <a:prstGeom prst="ellipse">
            <a:avLst/>
          </a:prstGeom>
          <a:solidFill>
            <a:srgbClr val="FFFFFF">
              <a:alpha val="80000"/>
            </a:srgbClr>
          </a:solidFill>
          <a:ln w="12700">
            <a:solidFill>
              <a:srgbClr val="FFFFFF"/>
            </a:solidFill>
            <a:prstDash val="solid"/>
          </a:ln>
        </p:spPr>
        <p:txBody>
          <a:bodyPr/>
          <a:lstStyle/>
          <a:p>
            <a:endParaRPr lang="en-GB"/>
          </a:p>
        </p:txBody>
      </p:sp>
      <p:pic>
        <p:nvPicPr>
          <p:cNvPr id="34" name="Image 4" descr="preencoded.png"/>
          <p:cNvPicPr>
            <a:picLocks noChangeAspect="1"/>
          </p:cNvPicPr>
          <p:nvPr/>
        </p:nvPicPr>
        <p:blipFill>
          <a:blip r:embed="rId7"/>
          <a:stretch>
            <a:fillRect/>
          </a:stretch>
        </p:blipFill>
        <p:spPr>
          <a:xfrm>
            <a:off x="6062472" y="2084832"/>
            <a:ext cx="530352" cy="530352"/>
          </a:xfrm>
          <a:prstGeom prst="rect">
            <a:avLst/>
          </a:prstGeom>
        </p:spPr>
      </p:pic>
      <p:sp>
        <p:nvSpPr>
          <p:cNvPr id="35" name="Text 28"/>
          <p:cNvSpPr/>
          <p:nvPr/>
        </p:nvSpPr>
        <p:spPr>
          <a:xfrm>
            <a:off x="5559552" y="2816352"/>
            <a:ext cx="15544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4</a:t>
            </a:r>
            <a:endParaRPr lang="en-US" sz="1050" dirty="0"/>
          </a:p>
        </p:txBody>
      </p:sp>
      <p:sp>
        <p:nvSpPr>
          <p:cNvPr id="36" name="Text 29"/>
          <p:cNvSpPr/>
          <p:nvPr/>
        </p:nvSpPr>
        <p:spPr>
          <a:xfrm>
            <a:off x="5605272" y="3108960"/>
            <a:ext cx="1463040" cy="1298448"/>
          </a:xfrm>
          <a:prstGeom prst="rect">
            <a:avLst/>
          </a:prstGeom>
          <a:noFill/>
          <a:ln/>
        </p:spPr>
        <p:txBody>
          <a:bodyPr wrap="square" lIns="0" tIns="0" rIns="0" bIns="0" rtlCol="0" anchor="t"/>
          <a:lstStyle/>
          <a:p>
            <a:pPr marL="0" indent="0" algn="ctr">
              <a:buNone/>
            </a:pPr>
            <a:r>
              <a:rPr lang="en-US" sz="1150" dirty="0">
                <a:solidFill>
                  <a:srgbClr val="FFFFFF"/>
                </a:solidFill>
                <a:latin typeface="Arial" pitchFamily="34" charset="0"/>
                <a:ea typeface="Arial" pitchFamily="34" charset="-122"/>
                <a:cs typeface="Arial" pitchFamily="34" charset="-120"/>
              </a:rPr>
              <a:t>Record Your Findings</a:t>
            </a:r>
            <a:endParaRPr lang="en-US" sz="1150" dirty="0"/>
          </a:p>
        </p:txBody>
      </p:sp>
      <p:sp>
        <p:nvSpPr>
          <p:cNvPr id="37" name="Shape 30"/>
          <p:cNvSpPr/>
          <p:nvPr/>
        </p:nvSpPr>
        <p:spPr>
          <a:xfrm>
            <a:off x="7132320" y="2724912"/>
            <a:ext cx="146304" cy="0"/>
          </a:xfrm>
          <a:prstGeom prst="line">
            <a:avLst/>
          </a:prstGeom>
          <a:noFill/>
          <a:ln w="25400">
            <a:solidFill>
              <a:srgbClr val="5B595A"/>
            </a:solidFill>
            <a:prstDash val="solid"/>
          </a:ln>
        </p:spPr>
        <p:txBody>
          <a:bodyPr/>
          <a:lstStyle/>
          <a:p>
            <a:endParaRPr lang="en-GB"/>
          </a:p>
        </p:txBody>
      </p:sp>
      <p:sp>
        <p:nvSpPr>
          <p:cNvPr id="38" name="Text 31"/>
          <p:cNvSpPr/>
          <p:nvPr/>
        </p:nvSpPr>
        <p:spPr>
          <a:xfrm>
            <a:off x="7187184" y="2670048"/>
            <a:ext cx="182880" cy="182880"/>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t>
            </a:r>
            <a:endParaRPr lang="en-US" sz="1000" dirty="0"/>
          </a:p>
        </p:txBody>
      </p:sp>
      <p:sp>
        <p:nvSpPr>
          <p:cNvPr id="39" name="Shape 32"/>
          <p:cNvSpPr/>
          <p:nvPr/>
        </p:nvSpPr>
        <p:spPr>
          <a:xfrm>
            <a:off x="7296912" y="1901952"/>
            <a:ext cx="1554480" cy="2560320"/>
          </a:xfrm>
          <a:prstGeom prst="rect">
            <a:avLst/>
          </a:prstGeom>
          <a:solidFill>
            <a:srgbClr val="2E8B57"/>
          </a:solidFill>
          <a:ln w="12700">
            <a:solidFill>
              <a:srgbClr val="2E8B57"/>
            </a:solidFill>
            <a:prstDash val="solid"/>
          </a:ln>
        </p:spPr>
        <p:txBody>
          <a:bodyPr/>
          <a:lstStyle/>
          <a:p>
            <a:endParaRPr lang="en-GB"/>
          </a:p>
        </p:txBody>
      </p:sp>
      <p:sp>
        <p:nvSpPr>
          <p:cNvPr id="40" name="Shape 33"/>
          <p:cNvSpPr/>
          <p:nvPr/>
        </p:nvSpPr>
        <p:spPr>
          <a:xfrm>
            <a:off x="7726680" y="2011680"/>
            <a:ext cx="694944" cy="694944"/>
          </a:xfrm>
          <a:prstGeom prst="ellipse">
            <a:avLst/>
          </a:prstGeom>
          <a:solidFill>
            <a:srgbClr val="FFFFFF">
              <a:alpha val="80000"/>
            </a:srgbClr>
          </a:solidFill>
          <a:ln w="12700">
            <a:solidFill>
              <a:srgbClr val="FFFFFF"/>
            </a:solidFill>
            <a:prstDash val="solid"/>
          </a:ln>
        </p:spPr>
        <p:txBody>
          <a:bodyPr/>
          <a:lstStyle/>
          <a:p>
            <a:endParaRPr lang="en-GB"/>
          </a:p>
        </p:txBody>
      </p:sp>
      <p:pic>
        <p:nvPicPr>
          <p:cNvPr id="41" name="Image 5" descr="preencoded.png"/>
          <p:cNvPicPr>
            <a:picLocks noChangeAspect="1"/>
          </p:cNvPicPr>
          <p:nvPr/>
        </p:nvPicPr>
        <p:blipFill>
          <a:blip r:embed="rId8"/>
          <a:stretch>
            <a:fillRect/>
          </a:stretch>
        </p:blipFill>
        <p:spPr>
          <a:xfrm>
            <a:off x="7799832" y="2084832"/>
            <a:ext cx="530352" cy="530352"/>
          </a:xfrm>
          <a:prstGeom prst="rect">
            <a:avLst/>
          </a:prstGeom>
        </p:spPr>
      </p:pic>
      <p:sp>
        <p:nvSpPr>
          <p:cNvPr id="42" name="Text 34"/>
          <p:cNvSpPr/>
          <p:nvPr/>
        </p:nvSpPr>
        <p:spPr>
          <a:xfrm>
            <a:off x="7296912" y="2816352"/>
            <a:ext cx="15544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5</a:t>
            </a:r>
            <a:endParaRPr lang="en-US" sz="1050" dirty="0"/>
          </a:p>
        </p:txBody>
      </p:sp>
      <p:sp>
        <p:nvSpPr>
          <p:cNvPr id="43" name="Text 35"/>
          <p:cNvSpPr/>
          <p:nvPr/>
        </p:nvSpPr>
        <p:spPr>
          <a:xfrm>
            <a:off x="7342632" y="3108960"/>
            <a:ext cx="1463040" cy="1298448"/>
          </a:xfrm>
          <a:prstGeom prst="rect">
            <a:avLst/>
          </a:prstGeom>
          <a:noFill/>
          <a:ln/>
        </p:spPr>
        <p:txBody>
          <a:bodyPr wrap="square" lIns="0" tIns="0" rIns="0" bIns="0" rtlCol="0" anchor="t"/>
          <a:lstStyle/>
          <a:p>
            <a:pPr marL="0" indent="0" algn="ctr">
              <a:buNone/>
            </a:pPr>
            <a:r>
              <a:rPr lang="en-US" sz="1150" dirty="0">
                <a:solidFill>
                  <a:srgbClr val="FFFFFF"/>
                </a:solidFill>
                <a:latin typeface="Arial" pitchFamily="34" charset="0"/>
                <a:ea typeface="Arial" pitchFamily="34" charset="-122"/>
                <a:cs typeface="Arial" pitchFamily="34" charset="-120"/>
              </a:rPr>
              <a:t>Review and Update</a:t>
            </a:r>
            <a:endParaRPr lang="en-US" sz="1150" dirty="0"/>
          </a:p>
        </p:txBody>
      </p:sp>
      <p:sp>
        <p:nvSpPr>
          <p:cNvPr id="44" name="Rectangle 4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mage.png"/>
          <p:cNvPicPr>
            <a:picLocks noChangeAspect="1"/>
          </p:cNvPicPr>
          <p:nvPr/>
        </p:nvPicPr>
        <p:blipFill>
          <a:blip r:embed="rId10"/>
          <a:stretch>
            <a:fillRect/>
          </a:stretch>
        </p:blipFill>
        <p:spPr>
          <a:xfrm>
            <a:off x="7562088" y="100584"/>
            <a:ext cx="566928" cy="347472"/>
          </a:xfrm>
          <a:prstGeom prst="rect">
            <a:avLst/>
          </a:prstGeom>
        </p:spPr>
      </p:pic>
      <p:pic>
        <p:nvPicPr>
          <p:cNvPr id="46" name="Picture 45" descr="image.png"/>
          <p:cNvPicPr>
            <a:picLocks noChangeAspect="1"/>
          </p:cNvPicPr>
          <p:nvPr/>
        </p:nvPicPr>
        <p:blipFill>
          <a:blip r:embed="rId9"/>
          <a:stretch>
            <a:fillRect/>
          </a:stretch>
        </p:blipFill>
        <p:spPr>
          <a:xfrm>
            <a:off x="8174736" y="100584"/>
            <a:ext cx="658368" cy="347472"/>
          </a:xfrm>
          <a:prstGeom prst="rect">
            <a:avLst/>
          </a:prstGeom>
        </p:spPr>
      </p:pic>
      <p:sp>
        <p:nvSpPr>
          <p:cNvPr id="47" name="Rectangle 4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1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Identify the Hazards</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Text 7"/>
          <p:cNvSpPr/>
          <p:nvPr/>
        </p:nvSpPr>
        <p:spPr>
          <a:xfrm>
            <a:off x="347472" y="1353312"/>
            <a:ext cx="8449056" cy="502920"/>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You cannot control what you have not identified. This step is about systematically finding every hazard associated with the activity or area you are assessing — not just the obvious ones.</a:t>
            </a:r>
            <a:endParaRPr lang="en-US" sz="1250" dirty="0"/>
          </a:p>
        </p:txBody>
      </p:sp>
      <p:sp>
        <p:nvSpPr>
          <p:cNvPr id="11" name="Shape 8"/>
          <p:cNvSpPr/>
          <p:nvPr/>
        </p:nvSpPr>
        <p:spPr>
          <a:xfrm>
            <a:off x="347472" y="1920240"/>
            <a:ext cx="4160520" cy="320040"/>
          </a:xfrm>
          <a:prstGeom prst="rect">
            <a:avLst/>
          </a:prstGeom>
          <a:solidFill>
            <a:srgbClr val="009FE3"/>
          </a:solidFill>
          <a:ln w="12700">
            <a:solidFill>
              <a:srgbClr val="009FE3"/>
            </a:solidFill>
            <a:prstDash val="solid"/>
          </a:ln>
        </p:spPr>
        <p:txBody>
          <a:bodyPr/>
          <a:lstStyle/>
          <a:p>
            <a:endParaRPr lang="en-GB"/>
          </a:p>
        </p:txBody>
      </p:sp>
      <p:sp>
        <p:nvSpPr>
          <p:cNvPr id="12" name="Text 9"/>
          <p:cNvSpPr/>
          <p:nvPr/>
        </p:nvSpPr>
        <p:spPr>
          <a:xfrm>
            <a:off x="457200" y="1938528"/>
            <a:ext cx="397764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How to Identify Hazards</a:t>
            </a:r>
            <a:endParaRPr lang="en-US" sz="1150" dirty="0"/>
          </a:p>
        </p:txBody>
      </p:sp>
      <p:sp>
        <p:nvSpPr>
          <p:cNvPr id="13" name="Shape 10"/>
          <p:cNvSpPr/>
          <p:nvPr/>
        </p:nvSpPr>
        <p:spPr>
          <a:xfrm>
            <a:off x="384048" y="2313432"/>
            <a:ext cx="182880" cy="182880"/>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640080" y="2286000"/>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Walk the area / task route and observe what is actually happening</a:t>
            </a:r>
            <a:endParaRPr lang="en-US" sz="1100" dirty="0"/>
          </a:p>
        </p:txBody>
      </p:sp>
      <p:sp>
        <p:nvSpPr>
          <p:cNvPr id="15" name="Shape 12"/>
          <p:cNvSpPr/>
          <p:nvPr/>
        </p:nvSpPr>
        <p:spPr>
          <a:xfrm>
            <a:off x="384048" y="2706624"/>
            <a:ext cx="182880" cy="182880"/>
          </a:xfrm>
          <a:prstGeom prst="ellipse">
            <a:avLst/>
          </a:prstGeom>
          <a:solidFill>
            <a:srgbClr val="009FE3"/>
          </a:solidFill>
          <a:ln w="12700">
            <a:solidFill>
              <a:srgbClr val="009FE3"/>
            </a:solidFill>
            <a:prstDash val="solid"/>
          </a:ln>
        </p:spPr>
        <p:txBody>
          <a:bodyPr/>
          <a:lstStyle/>
          <a:p>
            <a:endParaRPr lang="en-GB"/>
          </a:p>
        </p:txBody>
      </p:sp>
      <p:sp>
        <p:nvSpPr>
          <p:cNvPr id="16" name="Text 13"/>
          <p:cNvSpPr/>
          <p:nvPr/>
        </p:nvSpPr>
        <p:spPr>
          <a:xfrm>
            <a:off x="640080" y="2679192"/>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Review accident, incident, and near miss records for the area</a:t>
            </a:r>
            <a:endParaRPr lang="en-US" sz="1100" dirty="0"/>
          </a:p>
        </p:txBody>
      </p:sp>
      <p:sp>
        <p:nvSpPr>
          <p:cNvPr id="17" name="Shape 14"/>
          <p:cNvSpPr/>
          <p:nvPr/>
        </p:nvSpPr>
        <p:spPr>
          <a:xfrm>
            <a:off x="384048" y="3099816"/>
            <a:ext cx="182880" cy="182880"/>
          </a:xfrm>
          <a:prstGeom prst="ellipse">
            <a:avLst/>
          </a:prstGeom>
          <a:solidFill>
            <a:srgbClr val="009FE3"/>
          </a:solidFill>
          <a:ln w="12700">
            <a:solidFill>
              <a:srgbClr val="009FE3"/>
            </a:solidFill>
            <a:prstDash val="solid"/>
          </a:ln>
        </p:spPr>
        <p:txBody>
          <a:bodyPr/>
          <a:lstStyle/>
          <a:p>
            <a:endParaRPr lang="en-GB"/>
          </a:p>
        </p:txBody>
      </p:sp>
      <p:sp>
        <p:nvSpPr>
          <p:cNvPr id="18" name="Text 15"/>
          <p:cNvSpPr/>
          <p:nvPr/>
        </p:nvSpPr>
        <p:spPr>
          <a:xfrm>
            <a:off x="640080" y="3072384"/>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Consult the people doing the job — they know the real hazards</a:t>
            </a:r>
            <a:endParaRPr lang="en-US" sz="1100" dirty="0"/>
          </a:p>
        </p:txBody>
      </p:sp>
      <p:sp>
        <p:nvSpPr>
          <p:cNvPr id="19" name="Shape 16"/>
          <p:cNvSpPr/>
          <p:nvPr/>
        </p:nvSpPr>
        <p:spPr>
          <a:xfrm>
            <a:off x="384048" y="3493008"/>
            <a:ext cx="182880" cy="182880"/>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640080" y="3465576"/>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Review manufacturer instructions, Safety Data Sheets, and technical data</a:t>
            </a:r>
            <a:endParaRPr lang="en-US" sz="1100" dirty="0"/>
          </a:p>
        </p:txBody>
      </p:sp>
      <p:sp>
        <p:nvSpPr>
          <p:cNvPr id="21" name="Shape 18"/>
          <p:cNvSpPr/>
          <p:nvPr/>
        </p:nvSpPr>
        <p:spPr>
          <a:xfrm>
            <a:off x="384048" y="3886200"/>
            <a:ext cx="182880" cy="182880"/>
          </a:xfrm>
          <a:prstGeom prst="ellipse">
            <a:avLst/>
          </a:prstGeom>
          <a:solidFill>
            <a:srgbClr val="009FE3"/>
          </a:solidFill>
          <a:ln w="12700">
            <a:solidFill>
              <a:srgbClr val="009FE3"/>
            </a:solidFill>
            <a:prstDash val="solid"/>
          </a:ln>
        </p:spPr>
        <p:txBody>
          <a:bodyPr/>
          <a:lstStyle/>
          <a:p>
            <a:endParaRPr lang="en-GB"/>
          </a:p>
        </p:txBody>
      </p:sp>
      <p:sp>
        <p:nvSpPr>
          <p:cNvPr id="22" name="Text 19"/>
          <p:cNvSpPr/>
          <p:nvPr/>
        </p:nvSpPr>
        <p:spPr>
          <a:xfrm>
            <a:off x="640080" y="3858768"/>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Consider non-routine tasks: maintenance, cleaning, emergencies</a:t>
            </a:r>
            <a:endParaRPr lang="en-US" sz="1100" dirty="0"/>
          </a:p>
        </p:txBody>
      </p:sp>
      <p:sp>
        <p:nvSpPr>
          <p:cNvPr id="23" name="Shape 20"/>
          <p:cNvSpPr/>
          <p:nvPr/>
        </p:nvSpPr>
        <p:spPr>
          <a:xfrm>
            <a:off x="384048" y="4279392"/>
            <a:ext cx="182880" cy="182880"/>
          </a:xfrm>
          <a:prstGeom prst="ellipse">
            <a:avLst/>
          </a:prstGeom>
          <a:solidFill>
            <a:srgbClr val="009FE3"/>
          </a:solidFill>
          <a:ln w="12700">
            <a:solidFill>
              <a:srgbClr val="009FE3"/>
            </a:solidFill>
            <a:prstDash val="solid"/>
          </a:ln>
        </p:spPr>
        <p:txBody>
          <a:bodyPr/>
          <a:lstStyle/>
          <a:p>
            <a:endParaRPr lang="en-GB"/>
          </a:p>
        </p:txBody>
      </p:sp>
      <p:sp>
        <p:nvSpPr>
          <p:cNvPr id="24" name="Text 21"/>
          <p:cNvSpPr/>
          <p:nvPr/>
        </p:nvSpPr>
        <p:spPr>
          <a:xfrm>
            <a:off x="640080" y="4251960"/>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Think about what happens when things go wrong, not just normal operations</a:t>
            </a:r>
            <a:endParaRPr lang="en-US" sz="1100" dirty="0"/>
          </a:p>
        </p:txBody>
      </p:sp>
      <p:sp>
        <p:nvSpPr>
          <p:cNvPr id="25" name="Shape 22"/>
          <p:cNvSpPr/>
          <p:nvPr/>
        </p:nvSpPr>
        <p:spPr>
          <a:xfrm>
            <a:off x="4736592" y="1920240"/>
            <a:ext cx="4059936" cy="320040"/>
          </a:xfrm>
          <a:prstGeom prst="rect">
            <a:avLst/>
          </a:prstGeom>
          <a:solidFill>
            <a:srgbClr val="83348F"/>
          </a:solidFill>
          <a:ln w="12700">
            <a:solidFill>
              <a:srgbClr val="83348F"/>
            </a:solidFill>
            <a:prstDash val="solid"/>
          </a:ln>
        </p:spPr>
        <p:txBody>
          <a:bodyPr/>
          <a:lstStyle/>
          <a:p>
            <a:endParaRPr lang="en-GB"/>
          </a:p>
        </p:txBody>
      </p:sp>
      <p:sp>
        <p:nvSpPr>
          <p:cNvPr id="26" name="Text 23"/>
          <p:cNvSpPr/>
          <p:nvPr/>
        </p:nvSpPr>
        <p:spPr>
          <a:xfrm>
            <a:off x="4846320" y="1938528"/>
            <a:ext cx="388620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Common Hazard Categories</a:t>
            </a:r>
            <a:endParaRPr lang="en-US" sz="1150" dirty="0"/>
          </a:p>
        </p:txBody>
      </p:sp>
      <p:sp>
        <p:nvSpPr>
          <p:cNvPr id="27" name="Text 24"/>
          <p:cNvSpPr/>
          <p:nvPr/>
        </p:nvSpPr>
        <p:spPr>
          <a:xfrm>
            <a:off x="4773168" y="2313432"/>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Physical:</a:t>
            </a:r>
            <a:endParaRPr lang="en-US" sz="1100" dirty="0"/>
          </a:p>
        </p:txBody>
      </p:sp>
      <p:sp>
        <p:nvSpPr>
          <p:cNvPr id="28" name="Text 25"/>
          <p:cNvSpPr/>
          <p:nvPr/>
        </p:nvSpPr>
        <p:spPr>
          <a:xfrm>
            <a:off x="5870448" y="2313432"/>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Machinery, noise, vibration, temperature, radiation, moving vehicles</a:t>
            </a:r>
            <a:endParaRPr lang="en-US" sz="1100" dirty="0"/>
          </a:p>
        </p:txBody>
      </p:sp>
      <p:sp>
        <p:nvSpPr>
          <p:cNvPr id="29" name="Text 26"/>
          <p:cNvSpPr/>
          <p:nvPr/>
        </p:nvSpPr>
        <p:spPr>
          <a:xfrm>
            <a:off x="4773168" y="2706624"/>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Chemical:</a:t>
            </a:r>
            <a:endParaRPr lang="en-US" sz="1100" dirty="0"/>
          </a:p>
        </p:txBody>
      </p:sp>
      <p:sp>
        <p:nvSpPr>
          <p:cNvPr id="30" name="Text 27"/>
          <p:cNvSpPr/>
          <p:nvPr/>
        </p:nvSpPr>
        <p:spPr>
          <a:xfrm>
            <a:off x="5870448" y="2706624"/>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Hazardous substances, COSHH, dusts, fumes, gases, solvents</a:t>
            </a:r>
            <a:endParaRPr lang="en-US" sz="1100" dirty="0"/>
          </a:p>
        </p:txBody>
      </p:sp>
      <p:sp>
        <p:nvSpPr>
          <p:cNvPr id="31" name="Text 28"/>
          <p:cNvSpPr/>
          <p:nvPr/>
        </p:nvSpPr>
        <p:spPr>
          <a:xfrm>
            <a:off x="4773168" y="3099816"/>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Biological:</a:t>
            </a:r>
            <a:endParaRPr lang="en-US" sz="1100" dirty="0"/>
          </a:p>
        </p:txBody>
      </p:sp>
      <p:sp>
        <p:nvSpPr>
          <p:cNvPr id="32" name="Text 29"/>
          <p:cNvSpPr/>
          <p:nvPr/>
        </p:nvSpPr>
        <p:spPr>
          <a:xfrm>
            <a:off x="5870448" y="3099816"/>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Bacteria, viruses, bodily fluids, animal matter</a:t>
            </a:r>
            <a:endParaRPr lang="en-US" sz="1100" dirty="0"/>
          </a:p>
        </p:txBody>
      </p:sp>
      <p:sp>
        <p:nvSpPr>
          <p:cNvPr id="33" name="Text 30"/>
          <p:cNvSpPr/>
          <p:nvPr/>
        </p:nvSpPr>
        <p:spPr>
          <a:xfrm>
            <a:off x="4773168" y="3493008"/>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Ergonomic:</a:t>
            </a:r>
            <a:endParaRPr lang="en-US" sz="1100" dirty="0"/>
          </a:p>
        </p:txBody>
      </p:sp>
      <p:sp>
        <p:nvSpPr>
          <p:cNvPr id="34" name="Text 31"/>
          <p:cNvSpPr/>
          <p:nvPr/>
        </p:nvSpPr>
        <p:spPr>
          <a:xfrm>
            <a:off x="5870448" y="3493008"/>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Manual handling, repetitive movements, DSE, awkward postures</a:t>
            </a:r>
            <a:endParaRPr lang="en-US" sz="1100" dirty="0"/>
          </a:p>
        </p:txBody>
      </p:sp>
      <p:sp>
        <p:nvSpPr>
          <p:cNvPr id="35" name="Text 32"/>
          <p:cNvSpPr/>
          <p:nvPr/>
        </p:nvSpPr>
        <p:spPr>
          <a:xfrm>
            <a:off x="4773168" y="3886200"/>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Psychological:</a:t>
            </a:r>
            <a:endParaRPr lang="en-US" sz="1100" dirty="0"/>
          </a:p>
        </p:txBody>
      </p:sp>
      <p:sp>
        <p:nvSpPr>
          <p:cNvPr id="36" name="Text 33"/>
          <p:cNvSpPr/>
          <p:nvPr/>
        </p:nvSpPr>
        <p:spPr>
          <a:xfrm>
            <a:off x="5870448" y="3886200"/>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Work-related stress, workload, shift patterns, lone working</a:t>
            </a:r>
            <a:endParaRPr lang="en-US" sz="1100" dirty="0"/>
          </a:p>
        </p:txBody>
      </p:sp>
      <p:sp>
        <p:nvSpPr>
          <p:cNvPr id="37" name="Text 34"/>
          <p:cNvSpPr/>
          <p:nvPr/>
        </p:nvSpPr>
        <p:spPr>
          <a:xfrm>
            <a:off x="4773168" y="4279392"/>
            <a:ext cx="10972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Environmental:</a:t>
            </a:r>
            <a:endParaRPr lang="en-US" sz="1100" dirty="0"/>
          </a:p>
        </p:txBody>
      </p:sp>
      <p:sp>
        <p:nvSpPr>
          <p:cNvPr id="38" name="Text 35"/>
          <p:cNvSpPr/>
          <p:nvPr/>
        </p:nvSpPr>
        <p:spPr>
          <a:xfrm>
            <a:off x="5870448" y="4279392"/>
            <a:ext cx="2852928"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Fire, flooding, electrical systems, working at height, confined spaces</a:t>
            </a:r>
            <a:endParaRPr lang="en-US" sz="1100" dirty="0"/>
          </a:p>
        </p:txBody>
      </p:sp>
      <p:sp>
        <p:nvSpPr>
          <p:cNvPr id="39" name="Rectangle 3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5"/>
          <a:stretch>
            <a:fillRect/>
          </a:stretch>
        </p:blipFill>
        <p:spPr>
          <a:xfrm>
            <a:off x="7562088" y="100584"/>
            <a:ext cx="566928" cy="347472"/>
          </a:xfrm>
          <a:prstGeom prst="rect">
            <a:avLst/>
          </a:prstGeom>
        </p:spPr>
      </p:pic>
      <p:pic>
        <p:nvPicPr>
          <p:cNvPr id="41" name="Picture 40" descr="image.png"/>
          <p:cNvPicPr>
            <a:picLocks noChangeAspect="1"/>
          </p:cNvPicPr>
          <p:nvPr/>
        </p:nvPicPr>
        <p:blipFill>
          <a:blip r:embed="rId4"/>
          <a:stretch>
            <a:fillRect/>
          </a:stretch>
        </p:blipFill>
        <p:spPr>
          <a:xfrm>
            <a:off x="8174736" y="100584"/>
            <a:ext cx="658368" cy="347472"/>
          </a:xfrm>
          <a:prstGeom prst="rect">
            <a:avLst/>
          </a:prstGeom>
        </p:spPr>
      </p:pic>
      <p:sp>
        <p:nvSpPr>
          <p:cNvPr id="42" name="Rectangle 4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6FAA"/>
          </a:solidFill>
          <a:ln w="12700">
            <a:solidFill>
              <a:srgbClr val="006FAA"/>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2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Decide Who Might Be Harmed and How</a:t>
            </a:r>
            <a:endParaRPr lang="en-US" sz="2600" dirty="0"/>
          </a:p>
        </p:txBody>
      </p:sp>
      <p:sp>
        <p:nvSpPr>
          <p:cNvPr id="9" name="Shape 6"/>
          <p:cNvSpPr/>
          <p:nvPr/>
        </p:nvSpPr>
        <p:spPr>
          <a:xfrm>
            <a:off x="347472" y="1261872"/>
            <a:ext cx="8449056" cy="0"/>
          </a:xfrm>
          <a:prstGeom prst="line">
            <a:avLst/>
          </a:prstGeom>
          <a:noFill/>
          <a:ln w="19050">
            <a:solidFill>
              <a:srgbClr val="006FAA"/>
            </a:solidFill>
            <a:prstDash val="solid"/>
          </a:ln>
        </p:spPr>
        <p:txBody>
          <a:bodyPr/>
          <a:lstStyle/>
          <a:p>
            <a:endParaRPr lang="en-GB"/>
          </a:p>
        </p:txBody>
      </p:sp>
      <p:sp>
        <p:nvSpPr>
          <p:cNvPr id="10" name="Text 7"/>
          <p:cNvSpPr/>
          <p:nvPr/>
        </p:nvSpPr>
        <p:spPr>
          <a:xfrm>
            <a:off x="347472" y="1353312"/>
            <a:ext cx="8449056" cy="502920"/>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It is not enough to identify the hazard. You must think through who could realistically be harmed and what the mechanism of harm would be. This step forces you to consider people beyond your immediate team.</a:t>
            </a:r>
            <a:endParaRPr lang="en-US" sz="1250" dirty="0"/>
          </a:p>
        </p:txBody>
      </p:sp>
      <p:sp>
        <p:nvSpPr>
          <p:cNvPr id="11" name="Shape 8"/>
          <p:cNvSpPr/>
          <p:nvPr/>
        </p:nvSpPr>
        <p:spPr>
          <a:xfrm>
            <a:off x="347472" y="1938528"/>
            <a:ext cx="4133088" cy="1143000"/>
          </a:xfrm>
          <a:prstGeom prst="roundRect">
            <a:avLst>
              <a:gd name="adj" fmla="val 6400"/>
            </a:avLst>
          </a:prstGeom>
          <a:solidFill>
            <a:srgbClr val="F8F8F8"/>
          </a:solidFill>
          <a:ln w="10160">
            <a:solidFill>
              <a:srgbClr val="DDDDDD"/>
            </a:solidFill>
            <a:prstDash val="solid"/>
          </a:ln>
        </p:spPr>
        <p:txBody>
          <a:bodyPr/>
          <a:lstStyle/>
          <a:p>
            <a:endParaRPr lang="en-GB"/>
          </a:p>
        </p:txBody>
      </p:sp>
      <p:sp>
        <p:nvSpPr>
          <p:cNvPr id="12" name="Shape 9"/>
          <p:cNvSpPr/>
          <p:nvPr/>
        </p:nvSpPr>
        <p:spPr>
          <a:xfrm>
            <a:off x="457200" y="2048256"/>
            <a:ext cx="438912" cy="438912"/>
          </a:xfrm>
          <a:prstGeom prst="ellipse">
            <a:avLst/>
          </a:prstGeom>
          <a:solidFill>
            <a:srgbClr val="006FAA"/>
          </a:solidFill>
          <a:ln w="12700">
            <a:solidFill>
              <a:srgbClr val="006FAA"/>
            </a:solidFill>
            <a:prstDash val="solid"/>
          </a:ln>
        </p:spPr>
        <p:txBody>
          <a:bodyPr/>
          <a:lstStyle/>
          <a:p>
            <a:endParaRPr lang="en-GB"/>
          </a:p>
        </p:txBody>
      </p:sp>
      <p:pic>
        <p:nvPicPr>
          <p:cNvPr id="13" name="Image 1" descr="preencoded.png"/>
          <p:cNvPicPr>
            <a:picLocks noChangeAspect="1"/>
          </p:cNvPicPr>
          <p:nvPr/>
        </p:nvPicPr>
        <p:blipFill>
          <a:blip r:embed="rId4"/>
          <a:stretch>
            <a:fillRect/>
          </a:stretch>
        </p:blipFill>
        <p:spPr>
          <a:xfrm>
            <a:off x="493776" y="2075688"/>
            <a:ext cx="347472" cy="347472"/>
          </a:xfrm>
          <a:prstGeom prst="rect">
            <a:avLst/>
          </a:prstGeom>
        </p:spPr>
      </p:pic>
      <p:sp>
        <p:nvSpPr>
          <p:cNvPr id="14" name="Text 10"/>
          <p:cNvSpPr/>
          <p:nvPr/>
        </p:nvSpPr>
        <p:spPr>
          <a:xfrm>
            <a:off x="987552" y="2048256"/>
            <a:ext cx="3383280" cy="329184"/>
          </a:xfrm>
          <a:prstGeom prst="rect">
            <a:avLst/>
          </a:prstGeom>
          <a:noFill/>
          <a:ln/>
        </p:spPr>
        <p:txBody>
          <a:bodyPr wrap="square" lIns="0" tIns="0" rIns="0" bIns="0" rtlCol="0" anchor="ctr"/>
          <a:lstStyle/>
          <a:p>
            <a:pPr marL="0" indent="0">
              <a:buNone/>
            </a:pPr>
            <a:r>
              <a:rPr lang="en-US" sz="1300" b="1" dirty="0">
                <a:solidFill>
                  <a:srgbClr val="001E3C"/>
                </a:solidFill>
                <a:latin typeface="Arial" pitchFamily="34" charset="0"/>
                <a:ea typeface="Arial" pitchFamily="34" charset="-122"/>
                <a:cs typeface="Arial" pitchFamily="34" charset="-120"/>
              </a:rPr>
              <a:t>Employees</a:t>
            </a:r>
            <a:endParaRPr lang="en-US" sz="1300" dirty="0"/>
          </a:p>
        </p:txBody>
      </p:sp>
      <p:sp>
        <p:nvSpPr>
          <p:cNvPr id="15" name="Text 11"/>
          <p:cNvSpPr/>
          <p:nvPr/>
        </p:nvSpPr>
        <p:spPr>
          <a:xfrm>
            <a:off x="484632" y="2441448"/>
            <a:ext cx="3886200" cy="566928"/>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Operators, maintenance staff, cleaners, supervisors, office workers in adjacent areas</a:t>
            </a:r>
            <a:endParaRPr lang="en-US" sz="1100" dirty="0"/>
          </a:p>
        </p:txBody>
      </p:sp>
      <p:sp>
        <p:nvSpPr>
          <p:cNvPr id="16" name="Shape 12"/>
          <p:cNvSpPr/>
          <p:nvPr/>
        </p:nvSpPr>
        <p:spPr>
          <a:xfrm>
            <a:off x="4663440" y="1938528"/>
            <a:ext cx="4133088" cy="1143000"/>
          </a:xfrm>
          <a:prstGeom prst="roundRect">
            <a:avLst>
              <a:gd name="adj" fmla="val 6400"/>
            </a:avLst>
          </a:prstGeom>
          <a:solidFill>
            <a:srgbClr val="F8F8F8"/>
          </a:solidFill>
          <a:ln w="10160">
            <a:solidFill>
              <a:srgbClr val="DDDDDD"/>
            </a:solidFill>
            <a:prstDash val="solid"/>
          </a:ln>
        </p:spPr>
        <p:txBody>
          <a:bodyPr/>
          <a:lstStyle/>
          <a:p>
            <a:endParaRPr lang="en-GB"/>
          </a:p>
        </p:txBody>
      </p:sp>
      <p:sp>
        <p:nvSpPr>
          <p:cNvPr id="17" name="Shape 13"/>
          <p:cNvSpPr/>
          <p:nvPr/>
        </p:nvSpPr>
        <p:spPr>
          <a:xfrm>
            <a:off x="4773168" y="2048256"/>
            <a:ext cx="438912" cy="438912"/>
          </a:xfrm>
          <a:prstGeom prst="ellipse">
            <a:avLst/>
          </a:prstGeom>
          <a:solidFill>
            <a:srgbClr val="009FE3"/>
          </a:solidFill>
          <a:ln w="12700">
            <a:solidFill>
              <a:srgbClr val="009FE3"/>
            </a:solidFill>
            <a:prstDash val="solid"/>
          </a:ln>
        </p:spPr>
        <p:txBody>
          <a:bodyPr/>
          <a:lstStyle/>
          <a:p>
            <a:endParaRPr lang="en-GB"/>
          </a:p>
        </p:txBody>
      </p:sp>
      <p:pic>
        <p:nvPicPr>
          <p:cNvPr id="18" name="Image 2" descr="preencoded.png"/>
          <p:cNvPicPr>
            <a:picLocks noChangeAspect="1"/>
          </p:cNvPicPr>
          <p:nvPr/>
        </p:nvPicPr>
        <p:blipFill>
          <a:blip r:embed="rId5"/>
          <a:stretch>
            <a:fillRect/>
          </a:stretch>
        </p:blipFill>
        <p:spPr>
          <a:xfrm>
            <a:off x="4809744" y="2075688"/>
            <a:ext cx="347472" cy="347472"/>
          </a:xfrm>
          <a:prstGeom prst="rect">
            <a:avLst/>
          </a:prstGeom>
        </p:spPr>
      </p:pic>
      <p:sp>
        <p:nvSpPr>
          <p:cNvPr id="19" name="Text 14"/>
          <p:cNvSpPr/>
          <p:nvPr/>
        </p:nvSpPr>
        <p:spPr>
          <a:xfrm>
            <a:off x="5303520" y="2048256"/>
            <a:ext cx="3383280" cy="329184"/>
          </a:xfrm>
          <a:prstGeom prst="rect">
            <a:avLst/>
          </a:prstGeom>
          <a:noFill/>
          <a:ln/>
        </p:spPr>
        <p:txBody>
          <a:bodyPr wrap="square" lIns="0" tIns="0" rIns="0" bIns="0" rtlCol="0" anchor="ctr"/>
          <a:lstStyle/>
          <a:p>
            <a:pPr marL="0" indent="0">
              <a:buNone/>
            </a:pPr>
            <a:r>
              <a:rPr lang="en-US" sz="1300" b="1" dirty="0">
                <a:solidFill>
                  <a:srgbClr val="001E3C"/>
                </a:solidFill>
                <a:latin typeface="Arial" pitchFamily="34" charset="0"/>
                <a:ea typeface="Arial" pitchFamily="34" charset="-122"/>
                <a:cs typeface="Arial" pitchFamily="34" charset="-120"/>
              </a:rPr>
              <a:t>Contractors</a:t>
            </a:r>
            <a:endParaRPr lang="en-US" sz="1300" dirty="0"/>
          </a:p>
        </p:txBody>
      </p:sp>
      <p:sp>
        <p:nvSpPr>
          <p:cNvPr id="20" name="Text 15"/>
          <p:cNvSpPr/>
          <p:nvPr/>
        </p:nvSpPr>
        <p:spPr>
          <a:xfrm>
            <a:off x="4800600" y="2441448"/>
            <a:ext cx="3886200" cy="566928"/>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Visiting engineers, maintenance contractors, delivery drivers working on or near the task</a:t>
            </a:r>
            <a:endParaRPr lang="en-US" sz="1100" dirty="0"/>
          </a:p>
        </p:txBody>
      </p:sp>
      <p:sp>
        <p:nvSpPr>
          <p:cNvPr id="21" name="Shape 16"/>
          <p:cNvSpPr/>
          <p:nvPr/>
        </p:nvSpPr>
        <p:spPr>
          <a:xfrm>
            <a:off x="347472" y="3200400"/>
            <a:ext cx="4133088" cy="1143000"/>
          </a:xfrm>
          <a:prstGeom prst="roundRect">
            <a:avLst>
              <a:gd name="adj" fmla="val 6400"/>
            </a:avLst>
          </a:prstGeom>
          <a:solidFill>
            <a:srgbClr val="F8F8F8"/>
          </a:solidFill>
          <a:ln w="10160">
            <a:solidFill>
              <a:srgbClr val="DDDDDD"/>
            </a:solidFill>
            <a:prstDash val="solid"/>
          </a:ln>
        </p:spPr>
        <p:txBody>
          <a:bodyPr/>
          <a:lstStyle/>
          <a:p>
            <a:endParaRPr lang="en-GB"/>
          </a:p>
        </p:txBody>
      </p:sp>
      <p:sp>
        <p:nvSpPr>
          <p:cNvPr id="22" name="Shape 17"/>
          <p:cNvSpPr/>
          <p:nvPr/>
        </p:nvSpPr>
        <p:spPr>
          <a:xfrm>
            <a:off x="457200" y="3310128"/>
            <a:ext cx="438912" cy="438912"/>
          </a:xfrm>
          <a:prstGeom prst="ellipse">
            <a:avLst/>
          </a:prstGeom>
          <a:solidFill>
            <a:srgbClr val="83348F"/>
          </a:solidFill>
          <a:ln w="12700">
            <a:solidFill>
              <a:srgbClr val="83348F"/>
            </a:solidFill>
            <a:prstDash val="solid"/>
          </a:ln>
        </p:spPr>
        <p:txBody>
          <a:bodyPr/>
          <a:lstStyle/>
          <a:p>
            <a:endParaRPr lang="en-GB"/>
          </a:p>
        </p:txBody>
      </p:sp>
      <p:pic>
        <p:nvPicPr>
          <p:cNvPr id="23" name="Image 3" descr="preencoded.png"/>
          <p:cNvPicPr>
            <a:picLocks noChangeAspect="1"/>
          </p:cNvPicPr>
          <p:nvPr/>
        </p:nvPicPr>
        <p:blipFill>
          <a:blip r:embed="rId4"/>
          <a:stretch>
            <a:fillRect/>
          </a:stretch>
        </p:blipFill>
        <p:spPr>
          <a:xfrm>
            <a:off x="493776" y="3337560"/>
            <a:ext cx="347472" cy="347472"/>
          </a:xfrm>
          <a:prstGeom prst="rect">
            <a:avLst/>
          </a:prstGeom>
        </p:spPr>
      </p:pic>
      <p:sp>
        <p:nvSpPr>
          <p:cNvPr id="24" name="Text 18"/>
          <p:cNvSpPr/>
          <p:nvPr/>
        </p:nvSpPr>
        <p:spPr>
          <a:xfrm>
            <a:off x="987552" y="3310128"/>
            <a:ext cx="3383280" cy="329184"/>
          </a:xfrm>
          <a:prstGeom prst="rect">
            <a:avLst/>
          </a:prstGeom>
          <a:noFill/>
          <a:ln/>
        </p:spPr>
        <p:txBody>
          <a:bodyPr wrap="square" lIns="0" tIns="0" rIns="0" bIns="0" rtlCol="0" anchor="ctr"/>
          <a:lstStyle/>
          <a:p>
            <a:pPr marL="0" indent="0">
              <a:buNone/>
            </a:pPr>
            <a:r>
              <a:rPr lang="en-US" sz="1300" b="1" dirty="0">
                <a:solidFill>
                  <a:srgbClr val="001E3C"/>
                </a:solidFill>
                <a:latin typeface="Arial" pitchFamily="34" charset="0"/>
                <a:ea typeface="Arial" pitchFamily="34" charset="-122"/>
                <a:cs typeface="Arial" pitchFamily="34" charset="-120"/>
              </a:rPr>
              <a:t>Visitors and public</a:t>
            </a:r>
            <a:endParaRPr lang="en-US" sz="1300" dirty="0"/>
          </a:p>
        </p:txBody>
      </p:sp>
      <p:sp>
        <p:nvSpPr>
          <p:cNvPr id="25" name="Text 19"/>
          <p:cNvSpPr/>
          <p:nvPr/>
        </p:nvSpPr>
        <p:spPr>
          <a:xfrm>
            <a:off x="484632" y="3703320"/>
            <a:ext cx="3886200" cy="566928"/>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Customers, auditors, members of the public who may be near the workplace</a:t>
            </a:r>
            <a:endParaRPr lang="en-US" sz="1100" dirty="0"/>
          </a:p>
        </p:txBody>
      </p:sp>
      <p:sp>
        <p:nvSpPr>
          <p:cNvPr id="26" name="Shape 20"/>
          <p:cNvSpPr/>
          <p:nvPr/>
        </p:nvSpPr>
        <p:spPr>
          <a:xfrm>
            <a:off x="4663440" y="3200400"/>
            <a:ext cx="4133088" cy="1143000"/>
          </a:xfrm>
          <a:prstGeom prst="roundRect">
            <a:avLst>
              <a:gd name="adj" fmla="val 6400"/>
            </a:avLst>
          </a:prstGeom>
          <a:solidFill>
            <a:srgbClr val="F8F8F8"/>
          </a:solidFill>
          <a:ln w="10160">
            <a:solidFill>
              <a:srgbClr val="DDDDDD"/>
            </a:solidFill>
            <a:prstDash val="solid"/>
          </a:ln>
        </p:spPr>
        <p:txBody>
          <a:bodyPr/>
          <a:lstStyle/>
          <a:p>
            <a:endParaRPr lang="en-GB"/>
          </a:p>
        </p:txBody>
      </p:sp>
      <p:sp>
        <p:nvSpPr>
          <p:cNvPr id="27" name="Shape 21"/>
          <p:cNvSpPr/>
          <p:nvPr/>
        </p:nvSpPr>
        <p:spPr>
          <a:xfrm>
            <a:off x="4773168" y="3310128"/>
            <a:ext cx="438912" cy="438912"/>
          </a:xfrm>
          <a:prstGeom prst="ellipse">
            <a:avLst/>
          </a:prstGeom>
          <a:solidFill>
            <a:srgbClr val="E08A00"/>
          </a:solidFill>
          <a:ln w="12700">
            <a:solidFill>
              <a:srgbClr val="E08A00"/>
            </a:solidFill>
            <a:prstDash val="solid"/>
          </a:ln>
        </p:spPr>
        <p:txBody>
          <a:bodyPr/>
          <a:lstStyle/>
          <a:p>
            <a:endParaRPr lang="en-GB"/>
          </a:p>
        </p:txBody>
      </p:sp>
      <p:pic>
        <p:nvPicPr>
          <p:cNvPr id="28" name="Image 4" descr="preencoded.png"/>
          <p:cNvPicPr>
            <a:picLocks noChangeAspect="1"/>
          </p:cNvPicPr>
          <p:nvPr/>
        </p:nvPicPr>
        <p:blipFill>
          <a:blip r:embed="rId6"/>
          <a:stretch>
            <a:fillRect/>
          </a:stretch>
        </p:blipFill>
        <p:spPr>
          <a:xfrm>
            <a:off x="4809744" y="3337560"/>
            <a:ext cx="347472" cy="347472"/>
          </a:xfrm>
          <a:prstGeom prst="rect">
            <a:avLst/>
          </a:prstGeom>
        </p:spPr>
      </p:pic>
      <p:sp>
        <p:nvSpPr>
          <p:cNvPr id="29" name="Text 22"/>
          <p:cNvSpPr/>
          <p:nvPr/>
        </p:nvSpPr>
        <p:spPr>
          <a:xfrm>
            <a:off x="5303520" y="3310128"/>
            <a:ext cx="3383280" cy="329184"/>
          </a:xfrm>
          <a:prstGeom prst="rect">
            <a:avLst/>
          </a:prstGeom>
          <a:noFill/>
          <a:ln/>
        </p:spPr>
        <p:txBody>
          <a:bodyPr wrap="square" lIns="0" tIns="0" rIns="0" bIns="0" rtlCol="0" anchor="ctr"/>
          <a:lstStyle/>
          <a:p>
            <a:pPr marL="0" indent="0">
              <a:buNone/>
            </a:pPr>
            <a:r>
              <a:rPr lang="en-US" sz="1300" b="1" dirty="0">
                <a:solidFill>
                  <a:srgbClr val="001E3C"/>
                </a:solidFill>
                <a:latin typeface="Arial" pitchFamily="34" charset="0"/>
                <a:ea typeface="Arial" pitchFamily="34" charset="-122"/>
                <a:cs typeface="Arial" pitchFamily="34" charset="-120"/>
              </a:rPr>
              <a:t>Vulnerable groups</a:t>
            </a:r>
            <a:endParaRPr lang="en-US" sz="1300" dirty="0"/>
          </a:p>
        </p:txBody>
      </p:sp>
      <p:sp>
        <p:nvSpPr>
          <p:cNvPr id="30" name="Text 23"/>
          <p:cNvSpPr/>
          <p:nvPr/>
        </p:nvSpPr>
        <p:spPr>
          <a:xfrm>
            <a:off x="4800600" y="3703320"/>
            <a:ext cx="3886200" cy="566928"/>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New or young workers, pregnant workers, those with disabilities or health conditions, lone workers</a:t>
            </a:r>
            <a:endParaRPr lang="en-US" sz="1100" dirty="0"/>
          </a:p>
        </p:txBody>
      </p:sp>
      <p:sp>
        <p:nvSpPr>
          <p:cNvPr id="31" name="Shape 24"/>
          <p:cNvSpPr/>
          <p:nvPr/>
        </p:nvSpPr>
        <p:spPr>
          <a:xfrm>
            <a:off x="347472" y="4462272"/>
            <a:ext cx="8449056" cy="384048"/>
          </a:xfrm>
          <a:prstGeom prst="roundRect">
            <a:avLst>
              <a:gd name="adj" fmla="val 14286"/>
            </a:avLst>
          </a:prstGeom>
          <a:solidFill>
            <a:srgbClr val="006FAA"/>
          </a:solidFill>
          <a:ln w="12700">
            <a:solidFill>
              <a:srgbClr val="006FAA"/>
            </a:solidFill>
            <a:prstDash val="solid"/>
          </a:ln>
        </p:spPr>
        <p:txBody>
          <a:bodyPr/>
          <a:lstStyle/>
          <a:p>
            <a:endParaRPr lang="en-GB"/>
          </a:p>
        </p:txBody>
      </p:sp>
      <p:sp>
        <p:nvSpPr>
          <p:cNvPr id="32" name="Text 25"/>
          <p:cNvSpPr/>
          <p:nvPr/>
        </p:nvSpPr>
        <p:spPr>
          <a:xfrm>
            <a:off x="475488" y="4480560"/>
            <a:ext cx="8229600" cy="338328"/>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Key question: Who might not be in the area all the time but could pass through, be nearby, or be affected indirectly? Do not limit your thinking to the operator alone.</a:t>
            </a:r>
            <a:endParaRPr lang="en-US" sz="115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8"/>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7"/>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3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Evaluate the Risks: The Risk Matrix</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48640"/>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Once you have identified the hazards and who might be harmed, you need to assess how significant each risk is. We do this by scoring Likelihood and Severity on a scale of 1 to 5, then multiplying them together to produce a Risk Rating.</a:t>
            </a:r>
            <a:endParaRPr lang="en-US" sz="1250" dirty="0"/>
          </a:p>
        </p:txBody>
      </p:sp>
      <p:sp>
        <p:nvSpPr>
          <p:cNvPr id="11" name="Text 8"/>
          <p:cNvSpPr/>
          <p:nvPr/>
        </p:nvSpPr>
        <p:spPr>
          <a:xfrm>
            <a:off x="347472" y="1993392"/>
            <a:ext cx="3931920" cy="274320"/>
          </a:xfrm>
          <a:prstGeom prst="rect">
            <a:avLst/>
          </a:prstGeom>
          <a:noFill/>
          <a:ln/>
        </p:spPr>
        <p:txBody>
          <a:bodyPr wrap="square" lIns="0" tIns="0" rIns="0" bIns="0" rtlCol="0" anchor="ctr"/>
          <a:lstStyle/>
          <a:p>
            <a:pPr marL="0" indent="0">
              <a:buNone/>
            </a:pPr>
            <a:r>
              <a:rPr lang="en-US" sz="1200" b="1" dirty="0">
                <a:solidFill>
                  <a:srgbClr val="83348F"/>
                </a:solidFill>
                <a:latin typeface="Cambria" pitchFamily="34" charset="0"/>
                <a:ea typeface="Cambria" pitchFamily="34" charset="-122"/>
                <a:cs typeface="Cambria" pitchFamily="34" charset="-120"/>
              </a:rPr>
              <a:t>LIKELIHOOD</a:t>
            </a:r>
            <a:endParaRPr lang="en-US" sz="1200" dirty="0"/>
          </a:p>
        </p:txBody>
      </p:sp>
      <p:sp>
        <p:nvSpPr>
          <p:cNvPr id="12" name="Shape 9"/>
          <p:cNvSpPr/>
          <p:nvPr/>
        </p:nvSpPr>
        <p:spPr>
          <a:xfrm>
            <a:off x="347472" y="2286000"/>
            <a:ext cx="3931920" cy="365760"/>
          </a:xfrm>
          <a:prstGeom prst="rect">
            <a:avLst/>
          </a:prstGeom>
          <a:solidFill>
            <a:srgbClr val="F5F0F8"/>
          </a:solidFill>
          <a:ln w="6350">
            <a:solidFill>
              <a:srgbClr val="DDDDDD"/>
            </a:solidFill>
            <a:prstDash val="solid"/>
          </a:ln>
        </p:spPr>
        <p:txBody>
          <a:bodyPr/>
          <a:lstStyle/>
          <a:p>
            <a:endParaRPr lang="en-GB"/>
          </a:p>
        </p:txBody>
      </p:sp>
      <p:sp>
        <p:nvSpPr>
          <p:cNvPr id="13" name="Text 10"/>
          <p:cNvSpPr/>
          <p:nvPr/>
        </p:nvSpPr>
        <p:spPr>
          <a:xfrm>
            <a:off x="411480" y="2304288"/>
            <a:ext cx="1417320" cy="329184"/>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1 – Very Unlikely</a:t>
            </a:r>
            <a:endParaRPr lang="en-US" sz="1050" dirty="0"/>
          </a:p>
        </p:txBody>
      </p:sp>
      <p:sp>
        <p:nvSpPr>
          <p:cNvPr id="14" name="Text 11"/>
          <p:cNvSpPr/>
          <p:nvPr/>
        </p:nvSpPr>
        <p:spPr>
          <a:xfrm>
            <a:off x="1828800" y="2304288"/>
            <a:ext cx="2377440"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Could happen in theory but almost never in practice</a:t>
            </a:r>
            <a:endParaRPr lang="en-US" sz="1050" dirty="0"/>
          </a:p>
        </p:txBody>
      </p:sp>
      <p:sp>
        <p:nvSpPr>
          <p:cNvPr id="15" name="Shape 12"/>
          <p:cNvSpPr/>
          <p:nvPr/>
        </p:nvSpPr>
        <p:spPr>
          <a:xfrm>
            <a:off x="347472" y="2670048"/>
            <a:ext cx="3931920" cy="365760"/>
          </a:xfrm>
          <a:prstGeom prst="rect">
            <a:avLst/>
          </a:prstGeom>
          <a:solidFill>
            <a:srgbClr val="FFFFFF"/>
          </a:solidFill>
          <a:ln w="6350">
            <a:solidFill>
              <a:srgbClr val="DDDDDD"/>
            </a:solidFill>
            <a:prstDash val="solid"/>
          </a:ln>
        </p:spPr>
        <p:txBody>
          <a:bodyPr/>
          <a:lstStyle/>
          <a:p>
            <a:endParaRPr lang="en-GB"/>
          </a:p>
        </p:txBody>
      </p:sp>
      <p:sp>
        <p:nvSpPr>
          <p:cNvPr id="16" name="Text 13"/>
          <p:cNvSpPr/>
          <p:nvPr/>
        </p:nvSpPr>
        <p:spPr>
          <a:xfrm>
            <a:off x="411480" y="2688336"/>
            <a:ext cx="1417320" cy="329184"/>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2 – Unlikely</a:t>
            </a:r>
            <a:endParaRPr lang="en-US" sz="1050" dirty="0"/>
          </a:p>
        </p:txBody>
      </p:sp>
      <p:sp>
        <p:nvSpPr>
          <p:cNvPr id="17" name="Text 14"/>
          <p:cNvSpPr/>
          <p:nvPr/>
        </p:nvSpPr>
        <p:spPr>
          <a:xfrm>
            <a:off x="1828800" y="2688336"/>
            <a:ext cx="2377440"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Has happened occasionally across the industry</a:t>
            </a:r>
            <a:endParaRPr lang="en-US" sz="1050" dirty="0"/>
          </a:p>
        </p:txBody>
      </p:sp>
      <p:sp>
        <p:nvSpPr>
          <p:cNvPr id="18" name="Shape 15"/>
          <p:cNvSpPr/>
          <p:nvPr/>
        </p:nvSpPr>
        <p:spPr>
          <a:xfrm>
            <a:off x="347472" y="3054096"/>
            <a:ext cx="3931920" cy="365760"/>
          </a:xfrm>
          <a:prstGeom prst="rect">
            <a:avLst/>
          </a:prstGeom>
          <a:solidFill>
            <a:srgbClr val="F5F0F8"/>
          </a:solidFill>
          <a:ln w="6350">
            <a:solidFill>
              <a:srgbClr val="DDDDDD"/>
            </a:solidFill>
            <a:prstDash val="solid"/>
          </a:ln>
        </p:spPr>
        <p:txBody>
          <a:bodyPr/>
          <a:lstStyle/>
          <a:p>
            <a:endParaRPr lang="en-GB"/>
          </a:p>
        </p:txBody>
      </p:sp>
      <p:sp>
        <p:nvSpPr>
          <p:cNvPr id="19" name="Text 16"/>
          <p:cNvSpPr/>
          <p:nvPr/>
        </p:nvSpPr>
        <p:spPr>
          <a:xfrm>
            <a:off x="411480" y="3072384"/>
            <a:ext cx="1417320" cy="329184"/>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3 – Possible</a:t>
            </a:r>
            <a:endParaRPr lang="en-US" sz="1050" dirty="0"/>
          </a:p>
        </p:txBody>
      </p:sp>
      <p:sp>
        <p:nvSpPr>
          <p:cNvPr id="20" name="Text 17"/>
          <p:cNvSpPr/>
          <p:nvPr/>
        </p:nvSpPr>
        <p:spPr>
          <a:xfrm>
            <a:off x="1828800" y="3072384"/>
            <a:ext cx="2377440"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Could happen a few times a year in this workplace</a:t>
            </a:r>
            <a:endParaRPr lang="en-US" sz="1050" dirty="0"/>
          </a:p>
        </p:txBody>
      </p:sp>
      <p:sp>
        <p:nvSpPr>
          <p:cNvPr id="21" name="Shape 18"/>
          <p:cNvSpPr/>
          <p:nvPr/>
        </p:nvSpPr>
        <p:spPr>
          <a:xfrm>
            <a:off x="347472" y="3438144"/>
            <a:ext cx="3931920" cy="365760"/>
          </a:xfrm>
          <a:prstGeom prst="rect">
            <a:avLst/>
          </a:prstGeom>
          <a:solidFill>
            <a:srgbClr val="FFFFFF"/>
          </a:solidFill>
          <a:ln w="6350">
            <a:solidFill>
              <a:srgbClr val="DDDDDD"/>
            </a:solidFill>
            <a:prstDash val="solid"/>
          </a:ln>
        </p:spPr>
        <p:txBody>
          <a:bodyPr/>
          <a:lstStyle/>
          <a:p>
            <a:endParaRPr lang="en-GB"/>
          </a:p>
        </p:txBody>
      </p:sp>
      <p:sp>
        <p:nvSpPr>
          <p:cNvPr id="22" name="Text 19"/>
          <p:cNvSpPr/>
          <p:nvPr/>
        </p:nvSpPr>
        <p:spPr>
          <a:xfrm>
            <a:off x="411480" y="3456432"/>
            <a:ext cx="1417320" cy="329184"/>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4 – Likely</a:t>
            </a:r>
            <a:endParaRPr lang="en-US" sz="1050" dirty="0"/>
          </a:p>
        </p:txBody>
      </p:sp>
      <p:sp>
        <p:nvSpPr>
          <p:cNvPr id="23" name="Text 20"/>
          <p:cNvSpPr/>
          <p:nvPr/>
        </p:nvSpPr>
        <p:spPr>
          <a:xfrm>
            <a:off x="1828800" y="3456432"/>
            <a:ext cx="2377440"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Happens regularly without intervention</a:t>
            </a:r>
            <a:endParaRPr lang="en-US" sz="1050" dirty="0"/>
          </a:p>
        </p:txBody>
      </p:sp>
      <p:sp>
        <p:nvSpPr>
          <p:cNvPr id="24" name="Shape 21"/>
          <p:cNvSpPr/>
          <p:nvPr/>
        </p:nvSpPr>
        <p:spPr>
          <a:xfrm>
            <a:off x="347472" y="3822192"/>
            <a:ext cx="3931920" cy="365760"/>
          </a:xfrm>
          <a:prstGeom prst="rect">
            <a:avLst/>
          </a:prstGeom>
          <a:solidFill>
            <a:srgbClr val="F5F0F8"/>
          </a:solidFill>
          <a:ln w="6350">
            <a:solidFill>
              <a:srgbClr val="DDDDDD"/>
            </a:solidFill>
            <a:prstDash val="solid"/>
          </a:ln>
        </p:spPr>
        <p:txBody>
          <a:bodyPr/>
          <a:lstStyle/>
          <a:p>
            <a:endParaRPr lang="en-GB"/>
          </a:p>
        </p:txBody>
      </p:sp>
      <p:sp>
        <p:nvSpPr>
          <p:cNvPr id="25" name="Text 22"/>
          <p:cNvSpPr/>
          <p:nvPr/>
        </p:nvSpPr>
        <p:spPr>
          <a:xfrm>
            <a:off x="411480" y="3840480"/>
            <a:ext cx="1417320" cy="329184"/>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5 – Almost Certain</a:t>
            </a:r>
            <a:endParaRPr lang="en-US" sz="1050" dirty="0"/>
          </a:p>
        </p:txBody>
      </p:sp>
      <p:sp>
        <p:nvSpPr>
          <p:cNvPr id="26" name="Text 23"/>
          <p:cNvSpPr/>
          <p:nvPr/>
        </p:nvSpPr>
        <p:spPr>
          <a:xfrm>
            <a:off x="1828800" y="3840480"/>
            <a:ext cx="2377440"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Will happen frequently without controls</a:t>
            </a:r>
            <a:endParaRPr lang="en-US" sz="1050" dirty="0"/>
          </a:p>
        </p:txBody>
      </p:sp>
      <p:sp>
        <p:nvSpPr>
          <p:cNvPr id="27" name="Text 24"/>
          <p:cNvSpPr/>
          <p:nvPr/>
        </p:nvSpPr>
        <p:spPr>
          <a:xfrm>
            <a:off x="4663440" y="1993392"/>
            <a:ext cx="4133088" cy="274320"/>
          </a:xfrm>
          <a:prstGeom prst="rect">
            <a:avLst/>
          </a:prstGeom>
          <a:noFill/>
          <a:ln/>
        </p:spPr>
        <p:txBody>
          <a:bodyPr wrap="square" lIns="0" tIns="0" rIns="0" bIns="0" rtlCol="0" anchor="ctr"/>
          <a:lstStyle/>
          <a:p>
            <a:pPr marL="0" indent="0">
              <a:buNone/>
            </a:pPr>
            <a:r>
              <a:rPr lang="en-US" sz="1200" b="1" dirty="0">
                <a:solidFill>
                  <a:srgbClr val="009FE3"/>
                </a:solidFill>
                <a:latin typeface="Cambria" pitchFamily="34" charset="0"/>
                <a:ea typeface="Cambria" pitchFamily="34" charset="-122"/>
                <a:cs typeface="Cambria" pitchFamily="34" charset="-120"/>
              </a:rPr>
              <a:t>SEVERITY</a:t>
            </a:r>
            <a:endParaRPr lang="en-US" sz="1200" dirty="0"/>
          </a:p>
        </p:txBody>
      </p:sp>
      <p:sp>
        <p:nvSpPr>
          <p:cNvPr id="28" name="Shape 25"/>
          <p:cNvSpPr/>
          <p:nvPr/>
        </p:nvSpPr>
        <p:spPr>
          <a:xfrm>
            <a:off x="4663440" y="2286000"/>
            <a:ext cx="4133088" cy="365760"/>
          </a:xfrm>
          <a:prstGeom prst="rect">
            <a:avLst/>
          </a:prstGeom>
          <a:solidFill>
            <a:srgbClr val="E8F5FD"/>
          </a:solidFill>
          <a:ln w="6350">
            <a:solidFill>
              <a:srgbClr val="DDDDDD"/>
            </a:solidFill>
            <a:prstDash val="solid"/>
          </a:ln>
        </p:spPr>
        <p:txBody>
          <a:bodyPr/>
          <a:lstStyle/>
          <a:p>
            <a:endParaRPr lang="en-GB"/>
          </a:p>
        </p:txBody>
      </p:sp>
      <p:sp>
        <p:nvSpPr>
          <p:cNvPr id="29" name="Text 26"/>
          <p:cNvSpPr/>
          <p:nvPr/>
        </p:nvSpPr>
        <p:spPr>
          <a:xfrm>
            <a:off x="4727448" y="2304288"/>
            <a:ext cx="1463040" cy="329184"/>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1 – Negligible</a:t>
            </a:r>
            <a:endParaRPr lang="en-US" sz="1050" dirty="0"/>
          </a:p>
        </p:txBody>
      </p:sp>
      <p:sp>
        <p:nvSpPr>
          <p:cNvPr id="30" name="Text 27"/>
          <p:cNvSpPr/>
          <p:nvPr/>
        </p:nvSpPr>
        <p:spPr>
          <a:xfrm>
            <a:off x="6190488" y="2304288"/>
            <a:ext cx="253288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No injury or minor first aid only</a:t>
            </a:r>
            <a:endParaRPr lang="en-US" sz="1050" dirty="0"/>
          </a:p>
        </p:txBody>
      </p:sp>
      <p:sp>
        <p:nvSpPr>
          <p:cNvPr id="31" name="Shape 28"/>
          <p:cNvSpPr/>
          <p:nvPr/>
        </p:nvSpPr>
        <p:spPr>
          <a:xfrm>
            <a:off x="4663440" y="2670048"/>
            <a:ext cx="4133088" cy="365760"/>
          </a:xfrm>
          <a:prstGeom prst="rect">
            <a:avLst/>
          </a:prstGeom>
          <a:solidFill>
            <a:srgbClr val="FFFFFF"/>
          </a:solidFill>
          <a:ln w="6350">
            <a:solidFill>
              <a:srgbClr val="DDDDDD"/>
            </a:solidFill>
            <a:prstDash val="solid"/>
          </a:ln>
        </p:spPr>
        <p:txBody>
          <a:bodyPr/>
          <a:lstStyle/>
          <a:p>
            <a:endParaRPr lang="en-GB"/>
          </a:p>
        </p:txBody>
      </p:sp>
      <p:sp>
        <p:nvSpPr>
          <p:cNvPr id="32" name="Text 29"/>
          <p:cNvSpPr/>
          <p:nvPr/>
        </p:nvSpPr>
        <p:spPr>
          <a:xfrm>
            <a:off x="4727448" y="2688336"/>
            <a:ext cx="1463040" cy="329184"/>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2 – Minor</a:t>
            </a:r>
            <a:endParaRPr lang="en-US" sz="1050" dirty="0"/>
          </a:p>
        </p:txBody>
      </p:sp>
      <p:sp>
        <p:nvSpPr>
          <p:cNvPr id="33" name="Text 30"/>
          <p:cNvSpPr/>
          <p:nvPr/>
        </p:nvSpPr>
        <p:spPr>
          <a:xfrm>
            <a:off x="6190488" y="2688336"/>
            <a:ext cx="253288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Minor injury, no lost time</a:t>
            </a:r>
            <a:endParaRPr lang="en-US" sz="1050" dirty="0"/>
          </a:p>
        </p:txBody>
      </p:sp>
      <p:sp>
        <p:nvSpPr>
          <p:cNvPr id="34" name="Shape 31"/>
          <p:cNvSpPr/>
          <p:nvPr/>
        </p:nvSpPr>
        <p:spPr>
          <a:xfrm>
            <a:off x="4663440" y="3054096"/>
            <a:ext cx="4133088" cy="365760"/>
          </a:xfrm>
          <a:prstGeom prst="rect">
            <a:avLst/>
          </a:prstGeom>
          <a:solidFill>
            <a:srgbClr val="E8F5FD"/>
          </a:solidFill>
          <a:ln w="6350">
            <a:solidFill>
              <a:srgbClr val="DDDDDD"/>
            </a:solidFill>
            <a:prstDash val="solid"/>
          </a:ln>
        </p:spPr>
        <p:txBody>
          <a:bodyPr/>
          <a:lstStyle/>
          <a:p>
            <a:endParaRPr lang="en-GB"/>
          </a:p>
        </p:txBody>
      </p:sp>
      <p:sp>
        <p:nvSpPr>
          <p:cNvPr id="35" name="Text 32"/>
          <p:cNvSpPr/>
          <p:nvPr/>
        </p:nvSpPr>
        <p:spPr>
          <a:xfrm>
            <a:off x="4727448" y="3072384"/>
            <a:ext cx="1463040" cy="329184"/>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3 – Moderate</a:t>
            </a:r>
            <a:endParaRPr lang="en-US" sz="1050" dirty="0"/>
          </a:p>
        </p:txBody>
      </p:sp>
      <p:sp>
        <p:nvSpPr>
          <p:cNvPr id="36" name="Text 33"/>
          <p:cNvSpPr/>
          <p:nvPr/>
        </p:nvSpPr>
        <p:spPr>
          <a:xfrm>
            <a:off x="6190488" y="3072384"/>
            <a:ext cx="253288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Injury requiring medical treatment, short lost time</a:t>
            </a:r>
            <a:endParaRPr lang="en-US" sz="1050" dirty="0"/>
          </a:p>
        </p:txBody>
      </p:sp>
      <p:sp>
        <p:nvSpPr>
          <p:cNvPr id="37" name="Shape 34"/>
          <p:cNvSpPr/>
          <p:nvPr/>
        </p:nvSpPr>
        <p:spPr>
          <a:xfrm>
            <a:off x="4663440" y="3438144"/>
            <a:ext cx="4133088" cy="365760"/>
          </a:xfrm>
          <a:prstGeom prst="rect">
            <a:avLst/>
          </a:prstGeom>
          <a:solidFill>
            <a:srgbClr val="FFFFFF"/>
          </a:solidFill>
          <a:ln w="6350">
            <a:solidFill>
              <a:srgbClr val="DDDDDD"/>
            </a:solidFill>
            <a:prstDash val="solid"/>
          </a:ln>
        </p:spPr>
        <p:txBody>
          <a:bodyPr/>
          <a:lstStyle/>
          <a:p>
            <a:endParaRPr lang="en-GB"/>
          </a:p>
        </p:txBody>
      </p:sp>
      <p:sp>
        <p:nvSpPr>
          <p:cNvPr id="38" name="Text 35"/>
          <p:cNvSpPr/>
          <p:nvPr/>
        </p:nvSpPr>
        <p:spPr>
          <a:xfrm>
            <a:off x="4727448" y="3456432"/>
            <a:ext cx="1463040" cy="329184"/>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4 – Major</a:t>
            </a:r>
            <a:endParaRPr lang="en-US" sz="1050" dirty="0"/>
          </a:p>
        </p:txBody>
      </p:sp>
      <p:sp>
        <p:nvSpPr>
          <p:cNvPr id="39" name="Text 36"/>
          <p:cNvSpPr/>
          <p:nvPr/>
        </p:nvSpPr>
        <p:spPr>
          <a:xfrm>
            <a:off x="6190488" y="3456432"/>
            <a:ext cx="253288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Serious injury, hospitalisation, significant lost time</a:t>
            </a:r>
            <a:endParaRPr lang="en-US" sz="1050" dirty="0"/>
          </a:p>
        </p:txBody>
      </p:sp>
      <p:sp>
        <p:nvSpPr>
          <p:cNvPr id="40" name="Shape 37"/>
          <p:cNvSpPr/>
          <p:nvPr/>
        </p:nvSpPr>
        <p:spPr>
          <a:xfrm>
            <a:off x="4663440" y="3822192"/>
            <a:ext cx="4133088" cy="365760"/>
          </a:xfrm>
          <a:prstGeom prst="rect">
            <a:avLst/>
          </a:prstGeom>
          <a:solidFill>
            <a:srgbClr val="E8F5FD"/>
          </a:solidFill>
          <a:ln w="6350">
            <a:solidFill>
              <a:srgbClr val="DDDDDD"/>
            </a:solidFill>
            <a:prstDash val="solid"/>
          </a:ln>
        </p:spPr>
        <p:txBody>
          <a:bodyPr/>
          <a:lstStyle/>
          <a:p>
            <a:endParaRPr lang="en-GB"/>
          </a:p>
        </p:txBody>
      </p:sp>
      <p:sp>
        <p:nvSpPr>
          <p:cNvPr id="41" name="Text 38"/>
          <p:cNvSpPr/>
          <p:nvPr/>
        </p:nvSpPr>
        <p:spPr>
          <a:xfrm>
            <a:off x="4727448" y="3840480"/>
            <a:ext cx="1463040" cy="329184"/>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5 – Catastrophic</a:t>
            </a:r>
            <a:endParaRPr lang="en-US" sz="1050" dirty="0"/>
          </a:p>
        </p:txBody>
      </p:sp>
      <p:sp>
        <p:nvSpPr>
          <p:cNvPr id="42" name="Text 39"/>
          <p:cNvSpPr/>
          <p:nvPr/>
        </p:nvSpPr>
        <p:spPr>
          <a:xfrm>
            <a:off x="6190488" y="3840480"/>
            <a:ext cx="253288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Fatality or permanent disability</a:t>
            </a:r>
            <a:endParaRPr lang="en-US" sz="1050" dirty="0"/>
          </a:p>
        </p:txBody>
      </p:sp>
      <p:sp>
        <p:nvSpPr>
          <p:cNvPr id="43" name="Shape 40"/>
          <p:cNvSpPr/>
          <p:nvPr/>
        </p:nvSpPr>
        <p:spPr>
          <a:xfrm>
            <a:off x="347472" y="4315968"/>
            <a:ext cx="8449056" cy="384048"/>
          </a:xfrm>
          <a:prstGeom prst="roundRect">
            <a:avLst>
              <a:gd name="adj" fmla="val 14286"/>
            </a:avLst>
          </a:prstGeom>
          <a:solidFill>
            <a:srgbClr val="001E3C"/>
          </a:solidFill>
          <a:ln w="12700">
            <a:solidFill>
              <a:srgbClr val="001E3C"/>
            </a:solidFill>
            <a:prstDash val="solid"/>
          </a:ln>
        </p:spPr>
        <p:txBody>
          <a:bodyPr/>
          <a:lstStyle/>
          <a:p>
            <a:endParaRPr lang="en-GB"/>
          </a:p>
        </p:txBody>
      </p:sp>
      <p:sp>
        <p:nvSpPr>
          <p:cNvPr id="44" name="Text 41"/>
          <p:cNvSpPr/>
          <p:nvPr/>
        </p:nvSpPr>
        <p:spPr>
          <a:xfrm>
            <a:off x="475488" y="4334256"/>
            <a:ext cx="8229600"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RISK RATING  =  Likelihood (1–5)  ×  Severity (1–5)  =  Score of 1–25</a:t>
            </a:r>
            <a:endParaRPr lang="en-US" sz="1300" dirty="0"/>
          </a:p>
        </p:txBody>
      </p:sp>
      <p:sp>
        <p:nvSpPr>
          <p:cNvPr id="45" name="Rectangle 4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5"/>
          <a:stretch>
            <a:fillRect/>
          </a:stretch>
        </p:blipFill>
        <p:spPr>
          <a:xfrm>
            <a:off x="7562088" y="100584"/>
            <a:ext cx="566928" cy="347472"/>
          </a:xfrm>
          <a:prstGeom prst="rect">
            <a:avLst/>
          </a:prstGeom>
        </p:spPr>
      </p:pic>
      <p:pic>
        <p:nvPicPr>
          <p:cNvPr id="47" name="Picture 46" descr="image.png"/>
          <p:cNvPicPr>
            <a:picLocks noChangeAspect="1"/>
          </p:cNvPicPr>
          <p:nvPr/>
        </p:nvPicPr>
        <p:blipFill>
          <a:blip r:embed="rId4"/>
          <a:stretch>
            <a:fillRect/>
          </a:stretch>
        </p:blipFill>
        <p:spPr>
          <a:xfrm>
            <a:off x="8174736" y="100584"/>
            <a:ext cx="658368" cy="347472"/>
          </a:xfrm>
          <a:prstGeom prst="rect">
            <a:avLst/>
          </a:prstGeom>
        </p:spPr>
      </p:pic>
      <p:sp>
        <p:nvSpPr>
          <p:cNvPr id="48" name="Rectangle 4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3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Reading the 5x5 Risk Matrix</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2286000" y="1207008"/>
            <a:ext cx="5120640" cy="228600"/>
          </a:xfrm>
          <a:prstGeom prst="rect">
            <a:avLst/>
          </a:prstGeom>
          <a:noFill/>
          <a:ln/>
        </p:spPr>
        <p:txBody>
          <a:bodyPr wrap="square" lIns="0" tIns="0" rIns="0" bIns="0" rtlCol="0" anchor="ctr"/>
          <a:lstStyle/>
          <a:p>
            <a:pPr marL="0" indent="0" algn="ctr">
              <a:buNone/>
            </a:pPr>
            <a:r>
              <a:rPr lang="en-US" sz="1000" b="1" dirty="0">
                <a:solidFill>
                  <a:srgbClr val="83348F"/>
                </a:solidFill>
                <a:latin typeface="Arial" pitchFamily="34" charset="0"/>
                <a:ea typeface="Arial" pitchFamily="34" charset="-122"/>
                <a:cs typeface="Arial" pitchFamily="34" charset="-120"/>
              </a:rPr>
              <a:t>LIKELIHOOD →</a:t>
            </a:r>
            <a:endParaRPr lang="en-US" sz="1000" dirty="0"/>
          </a:p>
        </p:txBody>
      </p:sp>
      <p:sp>
        <p:nvSpPr>
          <p:cNvPr id="11" name="Text 8"/>
          <p:cNvSpPr/>
          <p:nvPr/>
        </p:nvSpPr>
        <p:spPr>
          <a:xfrm rot="16200000">
            <a:off x="1005840" y="1645920"/>
            <a:ext cx="1234440" cy="3246120"/>
          </a:xfrm>
          <a:prstGeom prst="rect">
            <a:avLst/>
          </a:prstGeom>
          <a:noFill/>
          <a:ln/>
        </p:spPr>
        <p:txBody>
          <a:bodyPr wrap="square" lIns="0" tIns="0" rIns="0" bIns="0" rtlCol="0" anchor="ctr"/>
          <a:lstStyle/>
          <a:p>
            <a:pPr marL="0" indent="0" algn="ctr">
              <a:buNone/>
            </a:pPr>
            <a:r>
              <a:rPr lang="en-US" sz="1000" b="1" dirty="0">
                <a:solidFill>
                  <a:srgbClr val="009FE3"/>
                </a:solidFill>
                <a:latin typeface="Arial" pitchFamily="34" charset="0"/>
                <a:ea typeface="Arial" pitchFamily="34" charset="-122"/>
                <a:cs typeface="Arial" pitchFamily="34" charset="-120"/>
              </a:rPr>
              <a:t>SEVERITY ↑</a:t>
            </a:r>
            <a:endParaRPr lang="en-US" sz="1000" dirty="0"/>
          </a:p>
        </p:txBody>
      </p:sp>
      <p:sp>
        <p:nvSpPr>
          <p:cNvPr id="12" name="Text 9"/>
          <p:cNvSpPr/>
          <p:nvPr/>
        </p:nvSpPr>
        <p:spPr>
          <a:xfrm>
            <a:off x="2286000" y="914400"/>
            <a:ext cx="1005840" cy="402336"/>
          </a:xfrm>
          <a:prstGeom prst="rect">
            <a:avLst/>
          </a:prstGeom>
          <a:noFill/>
          <a:ln/>
        </p:spPr>
        <p:txBody>
          <a:bodyPr wrap="square" lIns="0" tIns="0" rIns="0" bIns="0" rtlCol="0" anchor="ctr"/>
          <a:lstStyle/>
          <a:p>
            <a:pPr marL="0" indent="0" algn="ctr">
              <a:buNone/>
            </a:pPr>
            <a:r>
              <a:rPr lang="en-US" sz="800" b="1" dirty="0">
                <a:solidFill>
                  <a:srgbClr val="83348F"/>
                </a:solidFill>
                <a:latin typeface="Arial" pitchFamily="34" charset="0"/>
                <a:ea typeface="Arial" pitchFamily="34" charset="-122"/>
                <a:cs typeface="Arial" pitchFamily="34" charset="-120"/>
              </a:rPr>
              <a:t>1</a:t>
            </a:r>
            <a:endParaRPr lang="en-US" sz="800" dirty="0"/>
          </a:p>
          <a:p>
            <a:pPr marL="0" indent="0" algn="ctr">
              <a:buNone/>
            </a:pPr>
            <a:r>
              <a:rPr lang="en-US" sz="800" b="1" dirty="0">
                <a:solidFill>
                  <a:srgbClr val="83348F"/>
                </a:solidFill>
                <a:latin typeface="Arial" pitchFamily="34" charset="0"/>
                <a:ea typeface="Arial" pitchFamily="34" charset="-122"/>
                <a:cs typeface="Arial" pitchFamily="34" charset="-120"/>
              </a:rPr>
              <a:t>V.Unlikely</a:t>
            </a:r>
            <a:endParaRPr lang="en-US" sz="800" dirty="0"/>
          </a:p>
        </p:txBody>
      </p:sp>
      <p:sp>
        <p:nvSpPr>
          <p:cNvPr id="13" name="Text 10"/>
          <p:cNvSpPr/>
          <p:nvPr/>
        </p:nvSpPr>
        <p:spPr>
          <a:xfrm>
            <a:off x="3291840" y="914400"/>
            <a:ext cx="1005840" cy="402336"/>
          </a:xfrm>
          <a:prstGeom prst="rect">
            <a:avLst/>
          </a:prstGeom>
          <a:noFill/>
          <a:ln/>
        </p:spPr>
        <p:txBody>
          <a:bodyPr wrap="square" lIns="0" tIns="0" rIns="0" bIns="0" rtlCol="0" anchor="ctr"/>
          <a:lstStyle/>
          <a:p>
            <a:pPr marL="0" indent="0" algn="ctr">
              <a:buNone/>
            </a:pPr>
            <a:r>
              <a:rPr lang="en-US" sz="800" b="1" dirty="0">
                <a:solidFill>
                  <a:srgbClr val="83348F"/>
                </a:solidFill>
                <a:latin typeface="Arial" pitchFamily="34" charset="0"/>
                <a:ea typeface="Arial" pitchFamily="34" charset="-122"/>
                <a:cs typeface="Arial" pitchFamily="34" charset="-120"/>
              </a:rPr>
              <a:t>2</a:t>
            </a:r>
            <a:endParaRPr lang="en-US" sz="800" dirty="0"/>
          </a:p>
          <a:p>
            <a:pPr marL="0" indent="0" algn="ctr">
              <a:buNone/>
            </a:pPr>
            <a:r>
              <a:rPr lang="en-US" sz="800" b="1" dirty="0">
                <a:solidFill>
                  <a:srgbClr val="83348F"/>
                </a:solidFill>
                <a:latin typeface="Arial" pitchFamily="34" charset="0"/>
                <a:ea typeface="Arial" pitchFamily="34" charset="-122"/>
                <a:cs typeface="Arial" pitchFamily="34" charset="-120"/>
              </a:rPr>
              <a:t>Unlikely</a:t>
            </a:r>
            <a:endParaRPr lang="en-US" sz="800" dirty="0"/>
          </a:p>
        </p:txBody>
      </p:sp>
      <p:sp>
        <p:nvSpPr>
          <p:cNvPr id="14" name="Text 11"/>
          <p:cNvSpPr/>
          <p:nvPr/>
        </p:nvSpPr>
        <p:spPr>
          <a:xfrm>
            <a:off x="4297680" y="914400"/>
            <a:ext cx="1005840" cy="402336"/>
          </a:xfrm>
          <a:prstGeom prst="rect">
            <a:avLst/>
          </a:prstGeom>
          <a:noFill/>
          <a:ln/>
        </p:spPr>
        <p:txBody>
          <a:bodyPr wrap="square" lIns="0" tIns="0" rIns="0" bIns="0" rtlCol="0" anchor="ctr"/>
          <a:lstStyle/>
          <a:p>
            <a:pPr marL="0" indent="0" algn="ctr">
              <a:buNone/>
            </a:pPr>
            <a:r>
              <a:rPr lang="en-US" sz="800" b="1" dirty="0">
                <a:solidFill>
                  <a:srgbClr val="83348F"/>
                </a:solidFill>
                <a:latin typeface="Arial" pitchFamily="34" charset="0"/>
                <a:ea typeface="Arial" pitchFamily="34" charset="-122"/>
                <a:cs typeface="Arial" pitchFamily="34" charset="-120"/>
              </a:rPr>
              <a:t>3</a:t>
            </a:r>
            <a:endParaRPr lang="en-US" sz="800" dirty="0"/>
          </a:p>
          <a:p>
            <a:pPr marL="0" indent="0" algn="ctr">
              <a:buNone/>
            </a:pPr>
            <a:r>
              <a:rPr lang="en-US" sz="800" b="1" dirty="0">
                <a:solidFill>
                  <a:srgbClr val="83348F"/>
                </a:solidFill>
                <a:latin typeface="Arial" pitchFamily="34" charset="0"/>
                <a:ea typeface="Arial" pitchFamily="34" charset="-122"/>
                <a:cs typeface="Arial" pitchFamily="34" charset="-120"/>
              </a:rPr>
              <a:t>Possible</a:t>
            </a:r>
            <a:endParaRPr lang="en-US" sz="800" dirty="0"/>
          </a:p>
        </p:txBody>
      </p:sp>
      <p:sp>
        <p:nvSpPr>
          <p:cNvPr id="15" name="Text 12"/>
          <p:cNvSpPr/>
          <p:nvPr/>
        </p:nvSpPr>
        <p:spPr>
          <a:xfrm>
            <a:off x="5303520" y="914400"/>
            <a:ext cx="1005840" cy="402336"/>
          </a:xfrm>
          <a:prstGeom prst="rect">
            <a:avLst/>
          </a:prstGeom>
          <a:noFill/>
          <a:ln/>
        </p:spPr>
        <p:txBody>
          <a:bodyPr wrap="square" lIns="0" tIns="0" rIns="0" bIns="0" rtlCol="0" anchor="ctr"/>
          <a:lstStyle/>
          <a:p>
            <a:pPr marL="0" indent="0" algn="ctr">
              <a:buNone/>
            </a:pPr>
            <a:r>
              <a:rPr lang="en-US" sz="800" b="1" dirty="0">
                <a:solidFill>
                  <a:srgbClr val="83348F"/>
                </a:solidFill>
                <a:latin typeface="Arial" pitchFamily="34" charset="0"/>
                <a:ea typeface="Arial" pitchFamily="34" charset="-122"/>
                <a:cs typeface="Arial" pitchFamily="34" charset="-120"/>
              </a:rPr>
              <a:t>4</a:t>
            </a:r>
            <a:endParaRPr lang="en-US" sz="800" dirty="0"/>
          </a:p>
          <a:p>
            <a:pPr marL="0" indent="0" algn="ctr">
              <a:buNone/>
            </a:pPr>
            <a:r>
              <a:rPr lang="en-US" sz="800" b="1" dirty="0">
                <a:solidFill>
                  <a:srgbClr val="83348F"/>
                </a:solidFill>
                <a:latin typeface="Arial" pitchFamily="34" charset="0"/>
                <a:ea typeface="Arial" pitchFamily="34" charset="-122"/>
                <a:cs typeface="Arial" pitchFamily="34" charset="-120"/>
              </a:rPr>
              <a:t>Likely</a:t>
            </a:r>
            <a:endParaRPr lang="en-US" sz="800" dirty="0"/>
          </a:p>
        </p:txBody>
      </p:sp>
      <p:sp>
        <p:nvSpPr>
          <p:cNvPr id="16" name="Text 13"/>
          <p:cNvSpPr/>
          <p:nvPr/>
        </p:nvSpPr>
        <p:spPr>
          <a:xfrm>
            <a:off x="6309360" y="914400"/>
            <a:ext cx="1005840" cy="402336"/>
          </a:xfrm>
          <a:prstGeom prst="rect">
            <a:avLst/>
          </a:prstGeom>
          <a:noFill/>
          <a:ln/>
        </p:spPr>
        <p:txBody>
          <a:bodyPr wrap="square" lIns="0" tIns="0" rIns="0" bIns="0" rtlCol="0" anchor="ctr"/>
          <a:lstStyle/>
          <a:p>
            <a:pPr marL="0" indent="0" algn="ctr">
              <a:buNone/>
            </a:pPr>
            <a:r>
              <a:rPr lang="en-US" sz="800" b="1" dirty="0">
                <a:solidFill>
                  <a:srgbClr val="83348F"/>
                </a:solidFill>
                <a:latin typeface="Arial" pitchFamily="34" charset="0"/>
                <a:ea typeface="Arial" pitchFamily="34" charset="-122"/>
                <a:cs typeface="Arial" pitchFamily="34" charset="-120"/>
              </a:rPr>
              <a:t>5</a:t>
            </a:r>
            <a:endParaRPr lang="en-US" sz="800" dirty="0"/>
          </a:p>
          <a:p>
            <a:pPr marL="0" indent="0" algn="ctr">
              <a:buNone/>
            </a:pPr>
            <a:r>
              <a:rPr lang="en-US" sz="800" b="1" dirty="0">
                <a:solidFill>
                  <a:srgbClr val="83348F"/>
                </a:solidFill>
                <a:latin typeface="Arial" pitchFamily="34" charset="0"/>
                <a:ea typeface="Arial" pitchFamily="34" charset="-122"/>
                <a:cs typeface="Arial" pitchFamily="34" charset="-120"/>
              </a:rPr>
              <a:t>Certain</a:t>
            </a:r>
            <a:endParaRPr lang="en-US" sz="800" dirty="0"/>
          </a:p>
        </p:txBody>
      </p:sp>
      <p:sp>
        <p:nvSpPr>
          <p:cNvPr id="17" name="Text 14"/>
          <p:cNvSpPr/>
          <p:nvPr/>
        </p:nvSpPr>
        <p:spPr>
          <a:xfrm>
            <a:off x="1261872" y="3712464"/>
            <a:ext cx="987552" cy="585216"/>
          </a:xfrm>
          <a:prstGeom prst="rect">
            <a:avLst/>
          </a:prstGeom>
          <a:noFill/>
          <a:ln/>
        </p:spPr>
        <p:txBody>
          <a:bodyPr wrap="square" lIns="0" tIns="0" rIns="0" bIns="0" rtlCol="0" anchor="ctr"/>
          <a:lstStyle/>
          <a:p>
            <a:pPr marL="0" indent="0" algn="r">
              <a:buNone/>
            </a:pPr>
            <a:r>
              <a:rPr lang="en-US" sz="800" b="1" dirty="0">
                <a:solidFill>
                  <a:srgbClr val="009FE3"/>
                </a:solidFill>
                <a:latin typeface="Arial" pitchFamily="34" charset="0"/>
                <a:ea typeface="Arial" pitchFamily="34" charset="-122"/>
                <a:cs typeface="Arial" pitchFamily="34" charset="-120"/>
              </a:rPr>
              <a:t>1</a:t>
            </a:r>
            <a:endParaRPr lang="en-US" sz="800" dirty="0"/>
          </a:p>
          <a:p>
            <a:pPr marL="0" indent="0" algn="r">
              <a:buNone/>
            </a:pPr>
            <a:r>
              <a:rPr lang="en-US" sz="800" b="1" dirty="0">
                <a:solidFill>
                  <a:srgbClr val="009FE3"/>
                </a:solidFill>
                <a:latin typeface="Arial" pitchFamily="34" charset="0"/>
                <a:ea typeface="Arial" pitchFamily="34" charset="-122"/>
                <a:cs typeface="Arial" pitchFamily="34" charset="-120"/>
              </a:rPr>
              <a:t>Negligible</a:t>
            </a:r>
            <a:endParaRPr lang="en-US" sz="800" dirty="0"/>
          </a:p>
        </p:txBody>
      </p:sp>
      <p:sp>
        <p:nvSpPr>
          <p:cNvPr id="18" name="Text 15"/>
          <p:cNvSpPr/>
          <p:nvPr/>
        </p:nvSpPr>
        <p:spPr>
          <a:xfrm>
            <a:off x="1261872" y="3127248"/>
            <a:ext cx="987552" cy="585216"/>
          </a:xfrm>
          <a:prstGeom prst="rect">
            <a:avLst/>
          </a:prstGeom>
          <a:noFill/>
          <a:ln/>
        </p:spPr>
        <p:txBody>
          <a:bodyPr wrap="square" lIns="0" tIns="0" rIns="0" bIns="0" rtlCol="0" anchor="ctr"/>
          <a:lstStyle/>
          <a:p>
            <a:pPr marL="0" indent="0" algn="r">
              <a:buNone/>
            </a:pPr>
            <a:r>
              <a:rPr lang="en-US" sz="800" b="1" dirty="0">
                <a:solidFill>
                  <a:srgbClr val="009FE3"/>
                </a:solidFill>
                <a:latin typeface="Arial" pitchFamily="34" charset="0"/>
                <a:ea typeface="Arial" pitchFamily="34" charset="-122"/>
                <a:cs typeface="Arial" pitchFamily="34" charset="-120"/>
              </a:rPr>
              <a:t>2</a:t>
            </a:r>
            <a:endParaRPr lang="en-US" sz="800" dirty="0"/>
          </a:p>
          <a:p>
            <a:pPr marL="0" indent="0" algn="r">
              <a:buNone/>
            </a:pPr>
            <a:r>
              <a:rPr lang="en-US" sz="800" b="1" dirty="0">
                <a:solidFill>
                  <a:srgbClr val="009FE3"/>
                </a:solidFill>
                <a:latin typeface="Arial" pitchFamily="34" charset="0"/>
                <a:ea typeface="Arial" pitchFamily="34" charset="-122"/>
                <a:cs typeface="Arial" pitchFamily="34" charset="-120"/>
              </a:rPr>
              <a:t>Minor</a:t>
            </a:r>
            <a:endParaRPr lang="en-US" sz="800" dirty="0"/>
          </a:p>
        </p:txBody>
      </p:sp>
      <p:sp>
        <p:nvSpPr>
          <p:cNvPr id="19" name="Text 16"/>
          <p:cNvSpPr/>
          <p:nvPr/>
        </p:nvSpPr>
        <p:spPr>
          <a:xfrm>
            <a:off x="1261872" y="2542032"/>
            <a:ext cx="987552" cy="585216"/>
          </a:xfrm>
          <a:prstGeom prst="rect">
            <a:avLst/>
          </a:prstGeom>
          <a:noFill/>
          <a:ln/>
        </p:spPr>
        <p:txBody>
          <a:bodyPr wrap="square" lIns="0" tIns="0" rIns="0" bIns="0" rtlCol="0" anchor="ctr"/>
          <a:lstStyle/>
          <a:p>
            <a:pPr marL="0" indent="0" algn="r">
              <a:buNone/>
            </a:pPr>
            <a:r>
              <a:rPr lang="en-US" sz="800" b="1" dirty="0">
                <a:solidFill>
                  <a:srgbClr val="009FE3"/>
                </a:solidFill>
                <a:latin typeface="Arial" pitchFamily="34" charset="0"/>
                <a:ea typeface="Arial" pitchFamily="34" charset="-122"/>
                <a:cs typeface="Arial" pitchFamily="34" charset="-120"/>
              </a:rPr>
              <a:t>3</a:t>
            </a:r>
            <a:endParaRPr lang="en-US" sz="800" dirty="0"/>
          </a:p>
          <a:p>
            <a:pPr marL="0" indent="0" algn="r">
              <a:buNone/>
            </a:pPr>
            <a:r>
              <a:rPr lang="en-US" sz="800" b="1" dirty="0">
                <a:solidFill>
                  <a:srgbClr val="009FE3"/>
                </a:solidFill>
                <a:latin typeface="Arial" pitchFamily="34" charset="0"/>
                <a:ea typeface="Arial" pitchFamily="34" charset="-122"/>
                <a:cs typeface="Arial" pitchFamily="34" charset="-120"/>
              </a:rPr>
              <a:t>Moderate</a:t>
            </a:r>
            <a:endParaRPr lang="en-US" sz="800" dirty="0"/>
          </a:p>
        </p:txBody>
      </p:sp>
      <p:sp>
        <p:nvSpPr>
          <p:cNvPr id="20" name="Text 17"/>
          <p:cNvSpPr/>
          <p:nvPr/>
        </p:nvSpPr>
        <p:spPr>
          <a:xfrm>
            <a:off x="1261872" y="1956816"/>
            <a:ext cx="987552" cy="585216"/>
          </a:xfrm>
          <a:prstGeom prst="rect">
            <a:avLst/>
          </a:prstGeom>
          <a:noFill/>
          <a:ln/>
        </p:spPr>
        <p:txBody>
          <a:bodyPr wrap="square" lIns="0" tIns="0" rIns="0" bIns="0" rtlCol="0" anchor="ctr"/>
          <a:lstStyle/>
          <a:p>
            <a:pPr marL="0" indent="0" algn="r">
              <a:buNone/>
            </a:pPr>
            <a:r>
              <a:rPr lang="en-US" sz="800" b="1" dirty="0">
                <a:solidFill>
                  <a:srgbClr val="009FE3"/>
                </a:solidFill>
                <a:latin typeface="Arial" pitchFamily="34" charset="0"/>
                <a:ea typeface="Arial" pitchFamily="34" charset="-122"/>
                <a:cs typeface="Arial" pitchFamily="34" charset="-120"/>
              </a:rPr>
              <a:t>4</a:t>
            </a:r>
            <a:endParaRPr lang="en-US" sz="800" dirty="0"/>
          </a:p>
          <a:p>
            <a:pPr marL="0" indent="0" algn="r">
              <a:buNone/>
            </a:pPr>
            <a:r>
              <a:rPr lang="en-US" sz="800" b="1" dirty="0">
                <a:solidFill>
                  <a:srgbClr val="009FE3"/>
                </a:solidFill>
                <a:latin typeface="Arial" pitchFamily="34" charset="0"/>
                <a:ea typeface="Arial" pitchFamily="34" charset="-122"/>
                <a:cs typeface="Arial" pitchFamily="34" charset="-120"/>
              </a:rPr>
              <a:t>Major</a:t>
            </a:r>
            <a:endParaRPr lang="en-US" sz="800" dirty="0"/>
          </a:p>
        </p:txBody>
      </p:sp>
      <p:sp>
        <p:nvSpPr>
          <p:cNvPr id="21" name="Text 18"/>
          <p:cNvSpPr/>
          <p:nvPr/>
        </p:nvSpPr>
        <p:spPr>
          <a:xfrm>
            <a:off x="1261872" y="1371600"/>
            <a:ext cx="987552" cy="585216"/>
          </a:xfrm>
          <a:prstGeom prst="rect">
            <a:avLst/>
          </a:prstGeom>
          <a:noFill/>
          <a:ln/>
        </p:spPr>
        <p:txBody>
          <a:bodyPr wrap="square" lIns="0" tIns="0" rIns="0" bIns="0" rtlCol="0" anchor="ctr"/>
          <a:lstStyle/>
          <a:p>
            <a:pPr marL="0" indent="0" algn="r">
              <a:buNone/>
            </a:pPr>
            <a:r>
              <a:rPr lang="en-US" sz="800" b="1" dirty="0">
                <a:solidFill>
                  <a:srgbClr val="009FE3"/>
                </a:solidFill>
                <a:latin typeface="Arial" pitchFamily="34" charset="0"/>
                <a:ea typeface="Arial" pitchFamily="34" charset="-122"/>
                <a:cs typeface="Arial" pitchFamily="34" charset="-120"/>
              </a:rPr>
              <a:t>5</a:t>
            </a:r>
            <a:endParaRPr lang="en-US" sz="800" dirty="0"/>
          </a:p>
          <a:p>
            <a:pPr marL="0" indent="0" algn="r">
              <a:buNone/>
            </a:pPr>
            <a:r>
              <a:rPr lang="en-US" sz="800" b="1" dirty="0">
                <a:solidFill>
                  <a:srgbClr val="009FE3"/>
                </a:solidFill>
                <a:latin typeface="Arial" pitchFamily="34" charset="0"/>
                <a:ea typeface="Arial" pitchFamily="34" charset="-122"/>
                <a:cs typeface="Arial" pitchFamily="34" charset="-120"/>
              </a:rPr>
              <a:t>Catastroph.</a:t>
            </a:r>
            <a:endParaRPr lang="en-US" sz="800" dirty="0"/>
          </a:p>
        </p:txBody>
      </p:sp>
      <p:sp>
        <p:nvSpPr>
          <p:cNvPr id="22" name="Shape 19"/>
          <p:cNvSpPr/>
          <p:nvPr/>
        </p:nvSpPr>
        <p:spPr>
          <a:xfrm>
            <a:off x="2286000" y="3712464"/>
            <a:ext cx="1005840" cy="585216"/>
          </a:xfrm>
          <a:prstGeom prst="rect">
            <a:avLst/>
          </a:prstGeom>
          <a:solidFill>
            <a:srgbClr val="2E8B57"/>
          </a:solidFill>
          <a:ln w="15240">
            <a:solidFill>
              <a:srgbClr val="FFFFFF"/>
            </a:solidFill>
            <a:prstDash val="solid"/>
          </a:ln>
        </p:spPr>
        <p:txBody>
          <a:bodyPr/>
          <a:lstStyle/>
          <a:p>
            <a:endParaRPr lang="en-GB"/>
          </a:p>
        </p:txBody>
      </p:sp>
      <p:sp>
        <p:nvSpPr>
          <p:cNvPr id="23" name="Text 20"/>
          <p:cNvSpPr/>
          <p:nvPr/>
        </p:nvSpPr>
        <p:spPr>
          <a:xfrm>
            <a:off x="2286000" y="3712464"/>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24" name="Shape 21"/>
          <p:cNvSpPr/>
          <p:nvPr/>
        </p:nvSpPr>
        <p:spPr>
          <a:xfrm>
            <a:off x="3291840" y="3712464"/>
            <a:ext cx="1005840" cy="585216"/>
          </a:xfrm>
          <a:prstGeom prst="rect">
            <a:avLst/>
          </a:prstGeom>
          <a:solidFill>
            <a:srgbClr val="2E8B57"/>
          </a:solidFill>
          <a:ln w="15240">
            <a:solidFill>
              <a:srgbClr val="FFFFFF"/>
            </a:solidFill>
            <a:prstDash val="solid"/>
          </a:ln>
        </p:spPr>
        <p:txBody>
          <a:bodyPr/>
          <a:lstStyle/>
          <a:p>
            <a:endParaRPr lang="en-GB"/>
          </a:p>
        </p:txBody>
      </p:sp>
      <p:sp>
        <p:nvSpPr>
          <p:cNvPr id="25" name="Text 22"/>
          <p:cNvSpPr/>
          <p:nvPr/>
        </p:nvSpPr>
        <p:spPr>
          <a:xfrm>
            <a:off x="3291840" y="3712464"/>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6" name="Shape 23"/>
          <p:cNvSpPr/>
          <p:nvPr/>
        </p:nvSpPr>
        <p:spPr>
          <a:xfrm>
            <a:off x="4297680" y="3712464"/>
            <a:ext cx="1005840" cy="585216"/>
          </a:xfrm>
          <a:prstGeom prst="rect">
            <a:avLst/>
          </a:prstGeom>
          <a:solidFill>
            <a:srgbClr val="2E8B57"/>
          </a:solidFill>
          <a:ln w="15240">
            <a:solidFill>
              <a:srgbClr val="FFFFFF"/>
            </a:solidFill>
            <a:prstDash val="solid"/>
          </a:ln>
        </p:spPr>
        <p:txBody>
          <a:bodyPr/>
          <a:lstStyle/>
          <a:p>
            <a:endParaRPr lang="en-GB"/>
          </a:p>
        </p:txBody>
      </p:sp>
      <p:sp>
        <p:nvSpPr>
          <p:cNvPr id="27" name="Text 24"/>
          <p:cNvSpPr/>
          <p:nvPr/>
        </p:nvSpPr>
        <p:spPr>
          <a:xfrm>
            <a:off x="4297680" y="3712464"/>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8" name="Shape 25"/>
          <p:cNvSpPr/>
          <p:nvPr/>
        </p:nvSpPr>
        <p:spPr>
          <a:xfrm>
            <a:off x="5303520" y="3712464"/>
            <a:ext cx="1005840" cy="585216"/>
          </a:xfrm>
          <a:prstGeom prst="rect">
            <a:avLst/>
          </a:prstGeom>
          <a:solidFill>
            <a:srgbClr val="2E8B57"/>
          </a:solidFill>
          <a:ln w="15240">
            <a:solidFill>
              <a:srgbClr val="FFFFFF"/>
            </a:solidFill>
            <a:prstDash val="solid"/>
          </a:ln>
        </p:spPr>
        <p:txBody>
          <a:bodyPr/>
          <a:lstStyle/>
          <a:p>
            <a:endParaRPr lang="en-GB"/>
          </a:p>
        </p:txBody>
      </p:sp>
      <p:sp>
        <p:nvSpPr>
          <p:cNvPr id="29" name="Text 26"/>
          <p:cNvSpPr/>
          <p:nvPr/>
        </p:nvSpPr>
        <p:spPr>
          <a:xfrm>
            <a:off x="5303520" y="3712464"/>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0" name="Shape 27"/>
          <p:cNvSpPr/>
          <p:nvPr/>
        </p:nvSpPr>
        <p:spPr>
          <a:xfrm>
            <a:off x="6309360" y="3712464"/>
            <a:ext cx="1005840" cy="585216"/>
          </a:xfrm>
          <a:prstGeom prst="rect">
            <a:avLst/>
          </a:prstGeom>
          <a:solidFill>
            <a:srgbClr val="E08A00"/>
          </a:solidFill>
          <a:ln w="15240">
            <a:solidFill>
              <a:srgbClr val="FFFFFF"/>
            </a:solidFill>
            <a:prstDash val="solid"/>
          </a:ln>
        </p:spPr>
        <p:txBody>
          <a:bodyPr/>
          <a:lstStyle/>
          <a:p>
            <a:endParaRPr lang="en-GB"/>
          </a:p>
        </p:txBody>
      </p:sp>
      <p:sp>
        <p:nvSpPr>
          <p:cNvPr id="31" name="Text 28"/>
          <p:cNvSpPr/>
          <p:nvPr/>
        </p:nvSpPr>
        <p:spPr>
          <a:xfrm>
            <a:off x="6309360" y="3712464"/>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2" name="Shape 29"/>
          <p:cNvSpPr/>
          <p:nvPr/>
        </p:nvSpPr>
        <p:spPr>
          <a:xfrm>
            <a:off x="2286000" y="3127248"/>
            <a:ext cx="1005840" cy="585216"/>
          </a:xfrm>
          <a:prstGeom prst="rect">
            <a:avLst/>
          </a:prstGeom>
          <a:solidFill>
            <a:srgbClr val="2E8B57"/>
          </a:solidFill>
          <a:ln w="15240">
            <a:solidFill>
              <a:srgbClr val="FFFFFF"/>
            </a:solidFill>
            <a:prstDash val="solid"/>
          </a:ln>
        </p:spPr>
        <p:txBody>
          <a:bodyPr/>
          <a:lstStyle/>
          <a:p>
            <a:endParaRPr lang="en-GB"/>
          </a:p>
        </p:txBody>
      </p:sp>
      <p:sp>
        <p:nvSpPr>
          <p:cNvPr id="33" name="Text 30"/>
          <p:cNvSpPr/>
          <p:nvPr/>
        </p:nvSpPr>
        <p:spPr>
          <a:xfrm>
            <a:off x="2286000" y="3127248"/>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34" name="Shape 31"/>
          <p:cNvSpPr/>
          <p:nvPr/>
        </p:nvSpPr>
        <p:spPr>
          <a:xfrm>
            <a:off x="3291840" y="3127248"/>
            <a:ext cx="1005840" cy="585216"/>
          </a:xfrm>
          <a:prstGeom prst="rect">
            <a:avLst/>
          </a:prstGeom>
          <a:solidFill>
            <a:srgbClr val="2E8B57"/>
          </a:solidFill>
          <a:ln w="15240">
            <a:solidFill>
              <a:srgbClr val="FFFFFF"/>
            </a:solidFill>
            <a:prstDash val="solid"/>
          </a:ln>
        </p:spPr>
        <p:txBody>
          <a:bodyPr/>
          <a:lstStyle/>
          <a:p>
            <a:endParaRPr lang="en-GB"/>
          </a:p>
        </p:txBody>
      </p:sp>
      <p:sp>
        <p:nvSpPr>
          <p:cNvPr id="35" name="Text 32"/>
          <p:cNvSpPr/>
          <p:nvPr/>
        </p:nvSpPr>
        <p:spPr>
          <a:xfrm>
            <a:off x="3291840" y="3127248"/>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6" name="Shape 33"/>
          <p:cNvSpPr/>
          <p:nvPr/>
        </p:nvSpPr>
        <p:spPr>
          <a:xfrm>
            <a:off x="4297680" y="3127248"/>
            <a:ext cx="1005840" cy="585216"/>
          </a:xfrm>
          <a:prstGeom prst="rect">
            <a:avLst/>
          </a:prstGeom>
          <a:solidFill>
            <a:srgbClr val="E08A00"/>
          </a:solidFill>
          <a:ln w="15240">
            <a:solidFill>
              <a:srgbClr val="FFFFFF"/>
            </a:solidFill>
            <a:prstDash val="solid"/>
          </a:ln>
        </p:spPr>
        <p:txBody>
          <a:bodyPr/>
          <a:lstStyle/>
          <a:p>
            <a:endParaRPr lang="en-GB"/>
          </a:p>
        </p:txBody>
      </p:sp>
      <p:sp>
        <p:nvSpPr>
          <p:cNvPr id="37" name="Text 34"/>
          <p:cNvSpPr/>
          <p:nvPr/>
        </p:nvSpPr>
        <p:spPr>
          <a:xfrm>
            <a:off x="4297680" y="3127248"/>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8" name="Shape 35"/>
          <p:cNvSpPr/>
          <p:nvPr/>
        </p:nvSpPr>
        <p:spPr>
          <a:xfrm>
            <a:off x="5303520" y="3127248"/>
            <a:ext cx="1005840" cy="585216"/>
          </a:xfrm>
          <a:prstGeom prst="rect">
            <a:avLst/>
          </a:prstGeom>
          <a:solidFill>
            <a:srgbClr val="E08A00"/>
          </a:solidFill>
          <a:ln w="15240">
            <a:solidFill>
              <a:srgbClr val="FFFFFF"/>
            </a:solidFill>
            <a:prstDash val="solid"/>
          </a:ln>
        </p:spPr>
        <p:txBody>
          <a:bodyPr/>
          <a:lstStyle/>
          <a:p>
            <a:endParaRPr lang="en-GB"/>
          </a:p>
        </p:txBody>
      </p:sp>
      <p:sp>
        <p:nvSpPr>
          <p:cNvPr id="39" name="Text 36"/>
          <p:cNvSpPr/>
          <p:nvPr/>
        </p:nvSpPr>
        <p:spPr>
          <a:xfrm>
            <a:off x="5303520" y="3127248"/>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0" name="Shape 37"/>
          <p:cNvSpPr/>
          <p:nvPr/>
        </p:nvSpPr>
        <p:spPr>
          <a:xfrm>
            <a:off x="6309360" y="3127248"/>
            <a:ext cx="1005840" cy="585216"/>
          </a:xfrm>
          <a:prstGeom prst="rect">
            <a:avLst/>
          </a:prstGeom>
          <a:solidFill>
            <a:srgbClr val="E08020"/>
          </a:solidFill>
          <a:ln w="15240">
            <a:solidFill>
              <a:srgbClr val="FFFFFF"/>
            </a:solidFill>
            <a:prstDash val="solid"/>
          </a:ln>
        </p:spPr>
        <p:txBody>
          <a:bodyPr/>
          <a:lstStyle/>
          <a:p>
            <a:endParaRPr lang="en-GB"/>
          </a:p>
        </p:txBody>
      </p:sp>
      <p:sp>
        <p:nvSpPr>
          <p:cNvPr id="41" name="Text 38"/>
          <p:cNvSpPr/>
          <p:nvPr/>
        </p:nvSpPr>
        <p:spPr>
          <a:xfrm>
            <a:off x="6309360" y="3127248"/>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42" name="Shape 39"/>
          <p:cNvSpPr/>
          <p:nvPr/>
        </p:nvSpPr>
        <p:spPr>
          <a:xfrm>
            <a:off x="2286000" y="2542032"/>
            <a:ext cx="1005840" cy="585216"/>
          </a:xfrm>
          <a:prstGeom prst="rect">
            <a:avLst/>
          </a:prstGeom>
          <a:solidFill>
            <a:srgbClr val="2E8B57"/>
          </a:solidFill>
          <a:ln w="15240">
            <a:solidFill>
              <a:srgbClr val="FFFFFF"/>
            </a:solidFill>
            <a:prstDash val="solid"/>
          </a:ln>
        </p:spPr>
        <p:txBody>
          <a:bodyPr/>
          <a:lstStyle/>
          <a:p>
            <a:endParaRPr lang="en-GB"/>
          </a:p>
        </p:txBody>
      </p:sp>
      <p:sp>
        <p:nvSpPr>
          <p:cNvPr id="43" name="Text 40"/>
          <p:cNvSpPr/>
          <p:nvPr/>
        </p:nvSpPr>
        <p:spPr>
          <a:xfrm>
            <a:off x="2286000" y="2542032"/>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4" name="Shape 41"/>
          <p:cNvSpPr/>
          <p:nvPr/>
        </p:nvSpPr>
        <p:spPr>
          <a:xfrm>
            <a:off x="3291840" y="2542032"/>
            <a:ext cx="1005840" cy="585216"/>
          </a:xfrm>
          <a:prstGeom prst="rect">
            <a:avLst/>
          </a:prstGeom>
          <a:solidFill>
            <a:srgbClr val="E08A00"/>
          </a:solidFill>
          <a:ln w="15240">
            <a:solidFill>
              <a:srgbClr val="FFFFFF"/>
            </a:solidFill>
            <a:prstDash val="solid"/>
          </a:ln>
        </p:spPr>
        <p:txBody>
          <a:bodyPr/>
          <a:lstStyle/>
          <a:p>
            <a:endParaRPr lang="en-GB"/>
          </a:p>
        </p:txBody>
      </p:sp>
      <p:sp>
        <p:nvSpPr>
          <p:cNvPr id="45" name="Text 42"/>
          <p:cNvSpPr/>
          <p:nvPr/>
        </p:nvSpPr>
        <p:spPr>
          <a:xfrm>
            <a:off x="3291840" y="2542032"/>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6" name="Shape 43"/>
          <p:cNvSpPr/>
          <p:nvPr/>
        </p:nvSpPr>
        <p:spPr>
          <a:xfrm>
            <a:off x="4297680" y="2542032"/>
            <a:ext cx="1005840" cy="585216"/>
          </a:xfrm>
          <a:prstGeom prst="rect">
            <a:avLst/>
          </a:prstGeom>
          <a:solidFill>
            <a:srgbClr val="E08A00"/>
          </a:solidFill>
          <a:ln w="15240">
            <a:solidFill>
              <a:srgbClr val="FFFFFF"/>
            </a:solidFill>
            <a:prstDash val="solid"/>
          </a:ln>
        </p:spPr>
        <p:txBody>
          <a:bodyPr/>
          <a:lstStyle/>
          <a:p>
            <a:endParaRPr lang="en-GB"/>
          </a:p>
        </p:txBody>
      </p:sp>
      <p:sp>
        <p:nvSpPr>
          <p:cNvPr id="47" name="Text 44"/>
          <p:cNvSpPr/>
          <p:nvPr/>
        </p:nvSpPr>
        <p:spPr>
          <a:xfrm>
            <a:off x="4297680" y="2542032"/>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48" name="Shape 45"/>
          <p:cNvSpPr/>
          <p:nvPr/>
        </p:nvSpPr>
        <p:spPr>
          <a:xfrm>
            <a:off x="5303520" y="2542032"/>
            <a:ext cx="1005840" cy="585216"/>
          </a:xfrm>
          <a:prstGeom prst="rect">
            <a:avLst/>
          </a:prstGeom>
          <a:solidFill>
            <a:srgbClr val="E08020"/>
          </a:solidFill>
          <a:ln w="15240">
            <a:solidFill>
              <a:srgbClr val="FFFFFF"/>
            </a:solidFill>
            <a:prstDash val="solid"/>
          </a:ln>
        </p:spPr>
        <p:txBody>
          <a:bodyPr/>
          <a:lstStyle/>
          <a:p>
            <a:endParaRPr lang="en-GB"/>
          </a:p>
        </p:txBody>
      </p:sp>
      <p:sp>
        <p:nvSpPr>
          <p:cNvPr id="49" name="Text 46"/>
          <p:cNvSpPr/>
          <p:nvPr/>
        </p:nvSpPr>
        <p:spPr>
          <a:xfrm>
            <a:off x="5303520" y="2542032"/>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12</a:t>
            </a:r>
            <a:endParaRPr lang="en-US" sz="1800" dirty="0"/>
          </a:p>
        </p:txBody>
      </p:sp>
      <p:sp>
        <p:nvSpPr>
          <p:cNvPr id="50" name="Shape 47"/>
          <p:cNvSpPr/>
          <p:nvPr/>
        </p:nvSpPr>
        <p:spPr>
          <a:xfrm>
            <a:off x="6309360" y="2542032"/>
            <a:ext cx="1005840" cy="585216"/>
          </a:xfrm>
          <a:prstGeom prst="rect">
            <a:avLst/>
          </a:prstGeom>
          <a:solidFill>
            <a:srgbClr val="E08020"/>
          </a:solidFill>
          <a:ln w="15240">
            <a:solidFill>
              <a:srgbClr val="FFFFFF"/>
            </a:solidFill>
            <a:prstDash val="solid"/>
          </a:ln>
        </p:spPr>
        <p:txBody>
          <a:bodyPr/>
          <a:lstStyle/>
          <a:p>
            <a:endParaRPr lang="en-GB"/>
          </a:p>
        </p:txBody>
      </p:sp>
      <p:sp>
        <p:nvSpPr>
          <p:cNvPr id="51" name="Text 48"/>
          <p:cNvSpPr/>
          <p:nvPr/>
        </p:nvSpPr>
        <p:spPr>
          <a:xfrm>
            <a:off x="6309360" y="2542032"/>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15</a:t>
            </a:r>
            <a:endParaRPr lang="en-US" sz="1800" dirty="0"/>
          </a:p>
        </p:txBody>
      </p:sp>
      <p:sp>
        <p:nvSpPr>
          <p:cNvPr id="52" name="Shape 49"/>
          <p:cNvSpPr/>
          <p:nvPr/>
        </p:nvSpPr>
        <p:spPr>
          <a:xfrm>
            <a:off x="2286000" y="1956816"/>
            <a:ext cx="1005840" cy="585216"/>
          </a:xfrm>
          <a:prstGeom prst="rect">
            <a:avLst/>
          </a:prstGeom>
          <a:solidFill>
            <a:srgbClr val="2E8B57"/>
          </a:solidFill>
          <a:ln w="15240">
            <a:solidFill>
              <a:srgbClr val="FFFFFF"/>
            </a:solidFill>
            <a:prstDash val="solid"/>
          </a:ln>
        </p:spPr>
        <p:txBody>
          <a:bodyPr/>
          <a:lstStyle/>
          <a:p>
            <a:endParaRPr lang="en-GB"/>
          </a:p>
        </p:txBody>
      </p:sp>
      <p:sp>
        <p:nvSpPr>
          <p:cNvPr id="53" name="Text 50"/>
          <p:cNvSpPr/>
          <p:nvPr/>
        </p:nvSpPr>
        <p:spPr>
          <a:xfrm>
            <a:off x="2286000" y="1956816"/>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54" name="Shape 51"/>
          <p:cNvSpPr/>
          <p:nvPr/>
        </p:nvSpPr>
        <p:spPr>
          <a:xfrm>
            <a:off x="3291840" y="1956816"/>
            <a:ext cx="1005840" cy="585216"/>
          </a:xfrm>
          <a:prstGeom prst="rect">
            <a:avLst/>
          </a:prstGeom>
          <a:solidFill>
            <a:srgbClr val="E08A00"/>
          </a:solidFill>
          <a:ln w="15240">
            <a:solidFill>
              <a:srgbClr val="FFFFFF"/>
            </a:solidFill>
            <a:prstDash val="solid"/>
          </a:ln>
        </p:spPr>
        <p:txBody>
          <a:bodyPr/>
          <a:lstStyle/>
          <a:p>
            <a:endParaRPr lang="en-GB"/>
          </a:p>
        </p:txBody>
      </p:sp>
      <p:sp>
        <p:nvSpPr>
          <p:cNvPr id="55" name="Text 52"/>
          <p:cNvSpPr/>
          <p:nvPr/>
        </p:nvSpPr>
        <p:spPr>
          <a:xfrm>
            <a:off x="3291840" y="1956816"/>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56" name="Shape 53"/>
          <p:cNvSpPr/>
          <p:nvPr/>
        </p:nvSpPr>
        <p:spPr>
          <a:xfrm>
            <a:off x="4297680" y="1956816"/>
            <a:ext cx="1005840" cy="585216"/>
          </a:xfrm>
          <a:prstGeom prst="rect">
            <a:avLst/>
          </a:prstGeom>
          <a:solidFill>
            <a:srgbClr val="E08020"/>
          </a:solidFill>
          <a:ln w="15240">
            <a:solidFill>
              <a:srgbClr val="FFFFFF"/>
            </a:solidFill>
            <a:prstDash val="solid"/>
          </a:ln>
        </p:spPr>
        <p:txBody>
          <a:bodyPr/>
          <a:lstStyle/>
          <a:p>
            <a:endParaRPr lang="en-GB"/>
          </a:p>
        </p:txBody>
      </p:sp>
      <p:sp>
        <p:nvSpPr>
          <p:cNvPr id="57" name="Text 54"/>
          <p:cNvSpPr/>
          <p:nvPr/>
        </p:nvSpPr>
        <p:spPr>
          <a:xfrm>
            <a:off x="4297680" y="1956816"/>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12</a:t>
            </a:r>
            <a:endParaRPr lang="en-US" sz="1800" dirty="0"/>
          </a:p>
        </p:txBody>
      </p:sp>
      <p:sp>
        <p:nvSpPr>
          <p:cNvPr id="58" name="Shape 55"/>
          <p:cNvSpPr/>
          <p:nvPr/>
        </p:nvSpPr>
        <p:spPr>
          <a:xfrm>
            <a:off x="5303520" y="1956816"/>
            <a:ext cx="1005840" cy="585216"/>
          </a:xfrm>
          <a:prstGeom prst="rect">
            <a:avLst/>
          </a:prstGeom>
          <a:solidFill>
            <a:srgbClr val="E08020"/>
          </a:solidFill>
          <a:ln w="15240">
            <a:solidFill>
              <a:srgbClr val="FFFFFF"/>
            </a:solidFill>
            <a:prstDash val="solid"/>
          </a:ln>
        </p:spPr>
        <p:txBody>
          <a:bodyPr/>
          <a:lstStyle/>
          <a:p>
            <a:endParaRPr lang="en-GB"/>
          </a:p>
        </p:txBody>
      </p:sp>
      <p:sp>
        <p:nvSpPr>
          <p:cNvPr id="59" name="Text 56"/>
          <p:cNvSpPr/>
          <p:nvPr/>
        </p:nvSpPr>
        <p:spPr>
          <a:xfrm>
            <a:off x="5303520" y="1956816"/>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16</a:t>
            </a:r>
            <a:endParaRPr lang="en-US" sz="1800" dirty="0"/>
          </a:p>
        </p:txBody>
      </p:sp>
      <p:sp>
        <p:nvSpPr>
          <p:cNvPr id="60" name="Shape 57"/>
          <p:cNvSpPr/>
          <p:nvPr/>
        </p:nvSpPr>
        <p:spPr>
          <a:xfrm>
            <a:off x="6309360" y="1956816"/>
            <a:ext cx="1005840" cy="585216"/>
          </a:xfrm>
          <a:prstGeom prst="rect">
            <a:avLst/>
          </a:prstGeom>
          <a:solidFill>
            <a:srgbClr val="C0392B"/>
          </a:solidFill>
          <a:ln w="15240">
            <a:solidFill>
              <a:srgbClr val="FFFFFF"/>
            </a:solidFill>
            <a:prstDash val="solid"/>
          </a:ln>
        </p:spPr>
        <p:txBody>
          <a:bodyPr/>
          <a:lstStyle/>
          <a:p>
            <a:endParaRPr lang="en-GB"/>
          </a:p>
        </p:txBody>
      </p:sp>
      <p:sp>
        <p:nvSpPr>
          <p:cNvPr id="61" name="Text 58"/>
          <p:cNvSpPr/>
          <p:nvPr/>
        </p:nvSpPr>
        <p:spPr>
          <a:xfrm>
            <a:off x="6309360" y="1956816"/>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20</a:t>
            </a:r>
            <a:endParaRPr lang="en-US" sz="1800" dirty="0"/>
          </a:p>
        </p:txBody>
      </p:sp>
      <p:sp>
        <p:nvSpPr>
          <p:cNvPr id="62" name="Shape 59"/>
          <p:cNvSpPr/>
          <p:nvPr/>
        </p:nvSpPr>
        <p:spPr>
          <a:xfrm>
            <a:off x="2286000" y="1371600"/>
            <a:ext cx="1005840" cy="585216"/>
          </a:xfrm>
          <a:prstGeom prst="rect">
            <a:avLst/>
          </a:prstGeom>
          <a:solidFill>
            <a:srgbClr val="E08A00"/>
          </a:solidFill>
          <a:ln w="15240">
            <a:solidFill>
              <a:srgbClr val="FFFFFF"/>
            </a:solidFill>
            <a:prstDash val="solid"/>
          </a:ln>
        </p:spPr>
        <p:txBody>
          <a:bodyPr/>
          <a:lstStyle/>
          <a:p>
            <a:endParaRPr lang="en-GB"/>
          </a:p>
        </p:txBody>
      </p:sp>
      <p:sp>
        <p:nvSpPr>
          <p:cNvPr id="63" name="Text 60"/>
          <p:cNvSpPr/>
          <p:nvPr/>
        </p:nvSpPr>
        <p:spPr>
          <a:xfrm>
            <a:off x="2286000" y="1371600"/>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64" name="Shape 61"/>
          <p:cNvSpPr/>
          <p:nvPr/>
        </p:nvSpPr>
        <p:spPr>
          <a:xfrm>
            <a:off x="3291840" y="1371600"/>
            <a:ext cx="1005840" cy="585216"/>
          </a:xfrm>
          <a:prstGeom prst="rect">
            <a:avLst/>
          </a:prstGeom>
          <a:solidFill>
            <a:srgbClr val="E08020"/>
          </a:solidFill>
          <a:ln w="15240">
            <a:solidFill>
              <a:srgbClr val="FFFFFF"/>
            </a:solidFill>
            <a:prstDash val="solid"/>
          </a:ln>
        </p:spPr>
        <p:txBody>
          <a:bodyPr/>
          <a:lstStyle/>
          <a:p>
            <a:endParaRPr lang="en-GB"/>
          </a:p>
        </p:txBody>
      </p:sp>
      <p:sp>
        <p:nvSpPr>
          <p:cNvPr id="65" name="Text 62"/>
          <p:cNvSpPr/>
          <p:nvPr/>
        </p:nvSpPr>
        <p:spPr>
          <a:xfrm>
            <a:off x="3291840" y="1371600"/>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66" name="Shape 63"/>
          <p:cNvSpPr/>
          <p:nvPr/>
        </p:nvSpPr>
        <p:spPr>
          <a:xfrm>
            <a:off x="4297680" y="1371600"/>
            <a:ext cx="1005840" cy="585216"/>
          </a:xfrm>
          <a:prstGeom prst="rect">
            <a:avLst/>
          </a:prstGeom>
          <a:solidFill>
            <a:srgbClr val="E08020"/>
          </a:solidFill>
          <a:ln w="15240">
            <a:solidFill>
              <a:srgbClr val="FFFFFF"/>
            </a:solidFill>
            <a:prstDash val="solid"/>
          </a:ln>
        </p:spPr>
        <p:txBody>
          <a:bodyPr/>
          <a:lstStyle/>
          <a:p>
            <a:endParaRPr lang="en-GB"/>
          </a:p>
        </p:txBody>
      </p:sp>
      <p:sp>
        <p:nvSpPr>
          <p:cNvPr id="67" name="Text 64"/>
          <p:cNvSpPr/>
          <p:nvPr/>
        </p:nvSpPr>
        <p:spPr>
          <a:xfrm>
            <a:off x="4297680" y="1371600"/>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15</a:t>
            </a:r>
            <a:endParaRPr lang="en-US" sz="1800" dirty="0"/>
          </a:p>
        </p:txBody>
      </p:sp>
      <p:sp>
        <p:nvSpPr>
          <p:cNvPr id="68" name="Shape 65"/>
          <p:cNvSpPr/>
          <p:nvPr/>
        </p:nvSpPr>
        <p:spPr>
          <a:xfrm>
            <a:off x="5303520" y="1371600"/>
            <a:ext cx="1005840" cy="585216"/>
          </a:xfrm>
          <a:prstGeom prst="rect">
            <a:avLst/>
          </a:prstGeom>
          <a:solidFill>
            <a:srgbClr val="C0392B"/>
          </a:solidFill>
          <a:ln w="15240">
            <a:solidFill>
              <a:srgbClr val="FFFFFF"/>
            </a:solidFill>
            <a:prstDash val="solid"/>
          </a:ln>
        </p:spPr>
        <p:txBody>
          <a:bodyPr/>
          <a:lstStyle/>
          <a:p>
            <a:endParaRPr lang="en-GB"/>
          </a:p>
        </p:txBody>
      </p:sp>
      <p:sp>
        <p:nvSpPr>
          <p:cNvPr id="69" name="Text 66"/>
          <p:cNvSpPr/>
          <p:nvPr/>
        </p:nvSpPr>
        <p:spPr>
          <a:xfrm>
            <a:off x="5303520" y="1371600"/>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20</a:t>
            </a:r>
            <a:endParaRPr lang="en-US" sz="1800" dirty="0"/>
          </a:p>
        </p:txBody>
      </p:sp>
      <p:sp>
        <p:nvSpPr>
          <p:cNvPr id="70" name="Shape 67"/>
          <p:cNvSpPr/>
          <p:nvPr/>
        </p:nvSpPr>
        <p:spPr>
          <a:xfrm>
            <a:off x="6309360" y="1371600"/>
            <a:ext cx="1005840" cy="585216"/>
          </a:xfrm>
          <a:prstGeom prst="rect">
            <a:avLst/>
          </a:prstGeom>
          <a:solidFill>
            <a:srgbClr val="C0392B"/>
          </a:solidFill>
          <a:ln w="15240">
            <a:solidFill>
              <a:srgbClr val="FFFFFF"/>
            </a:solidFill>
            <a:prstDash val="solid"/>
          </a:ln>
        </p:spPr>
        <p:txBody>
          <a:bodyPr/>
          <a:lstStyle/>
          <a:p>
            <a:endParaRPr lang="en-GB"/>
          </a:p>
        </p:txBody>
      </p:sp>
      <p:sp>
        <p:nvSpPr>
          <p:cNvPr id="71" name="Text 68"/>
          <p:cNvSpPr/>
          <p:nvPr/>
        </p:nvSpPr>
        <p:spPr>
          <a:xfrm>
            <a:off x="6309360" y="1371600"/>
            <a:ext cx="1005840"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25</a:t>
            </a:r>
            <a:endParaRPr lang="en-US" sz="1800" dirty="0"/>
          </a:p>
        </p:txBody>
      </p:sp>
      <p:sp>
        <p:nvSpPr>
          <p:cNvPr id="72" name="Shape 69"/>
          <p:cNvSpPr/>
          <p:nvPr/>
        </p:nvSpPr>
        <p:spPr>
          <a:xfrm>
            <a:off x="7315200" y="1508760"/>
            <a:ext cx="292608" cy="292608"/>
          </a:xfrm>
          <a:prstGeom prst="rect">
            <a:avLst/>
          </a:prstGeom>
          <a:solidFill>
            <a:srgbClr val="2E8B57"/>
          </a:solidFill>
          <a:ln w="12700">
            <a:solidFill>
              <a:srgbClr val="2E8B57"/>
            </a:solidFill>
            <a:prstDash val="solid"/>
          </a:ln>
        </p:spPr>
        <p:txBody>
          <a:bodyPr/>
          <a:lstStyle/>
          <a:p>
            <a:endParaRPr lang="en-GB"/>
          </a:p>
        </p:txBody>
      </p:sp>
      <p:sp>
        <p:nvSpPr>
          <p:cNvPr id="73" name="Text 70"/>
          <p:cNvSpPr/>
          <p:nvPr/>
        </p:nvSpPr>
        <p:spPr>
          <a:xfrm>
            <a:off x="7662672" y="1508760"/>
            <a:ext cx="1444752" cy="201168"/>
          </a:xfrm>
          <a:prstGeom prst="rect">
            <a:avLst/>
          </a:prstGeom>
          <a:noFill/>
          <a:ln/>
        </p:spPr>
        <p:txBody>
          <a:bodyPr wrap="square" lIns="0" tIns="0" rIns="0" bIns="0" rtlCol="0" anchor="ctr"/>
          <a:lstStyle/>
          <a:p>
            <a:pPr marL="0" indent="0">
              <a:buNone/>
            </a:pPr>
            <a:r>
              <a:rPr lang="en-US" sz="1000" b="1" dirty="0">
                <a:solidFill>
                  <a:srgbClr val="001E3C"/>
                </a:solidFill>
                <a:latin typeface="Arial" pitchFamily="34" charset="0"/>
                <a:ea typeface="Arial" pitchFamily="34" charset="-122"/>
                <a:cs typeface="Arial" pitchFamily="34" charset="-120"/>
              </a:rPr>
              <a:t>1–4   LOW</a:t>
            </a:r>
            <a:endParaRPr lang="en-US" sz="1000" dirty="0"/>
          </a:p>
        </p:txBody>
      </p:sp>
      <p:sp>
        <p:nvSpPr>
          <p:cNvPr id="74" name="Text 71"/>
          <p:cNvSpPr/>
          <p:nvPr/>
        </p:nvSpPr>
        <p:spPr>
          <a:xfrm>
            <a:off x="7662672" y="1709928"/>
            <a:ext cx="1444752" cy="274320"/>
          </a:xfrm>
          <a:prstGeom prst="rect">
            <a:avLst/>
          </a:prstGeom>
          <a:noFill/>
          <a:ln/>
        </p:spPr>
        <p:txBody>
          <a:bodyPr wrap="square" lIns="0" tIns="0" rIns="0" bIns="0" rtlCol="0" anchor="ctr"/>
          <a:lstStyle/>
          <a:p>
            <a:pPr marL="0" indent="0">
              <a:buNone/>
            </a:pPr>
            <a:r>
              <a:rPr lang="en-US" sz="900" dirty="0">
                <a:solidFill>
                  <a:srgbClr val="5B595A"/>
                </a:solidFill>
                <a:latin typeface="Arial" pitchFamily="34" charset="0"/>
                <a:ea typeface="Arial" pitchFamily="34" charset="-122"/>
                <a:cs typeface="Arial" pitchFamily="34" charset="-120"/>
              </a:rPr>
              <a:t>Acceptable. Document and monitor.</a:t>
            </a:r>
            <a:endParaRPr lang="en-US" sz="900" dirty="0"/>
          </a:p>
        </p:txBody>
      </p:sp>
      <p:sp>
        <p:nvSpPr>
          <p:cNvPr id="75" name="Shape 72"/>
          <p:cNvSpPr/>
          <p:nvPr/>
        </p:nvSpPr>
        <p:spPr>
          <a:xfrm>
            <a:off x="7315200" y="2167128"/>
            <a:ext cx="292608" cy="292608"/>
          </a:xfrm>
          <a:prstGeom prst="rect">
            <a:avLst/>
          </a:prstGeom>
          <a:solidFill>
            <a:srgbClr val="E08A00"/>
          </a:solidFill>
          <a:ln w="12700">
            <a:solidFill>
              <a:srgbClr val="E08A00"/>
            </a:solidFill>
            <a:prstDash val="solid"/>
          </a:ln>
        </p:spPr>
        <p:txBody>
          <a:bodyPr/>
          <a:lstStyle/>
          <a:p>
            <a:endParaRPr lang="en-GB"/>
          </a:p>
        </p:txBody>
      </p:sp>
      <p:sp>
        <p:nvSpPr>
          <p:cNvPr id="76" name="Text 73"/>
          <p:cNvSpPr/>
          <p:nvPr/>
        </p:nvSpPr>
        <p:spPr>
          <a:xfrm>
            <a:off x="7662672" y="2167128"/>
            <a:ext cx="1444752" cy="201168"/>
          </a:xfrm>
          <a:prstGeom prst="rect">
            <a:avLst/>
          </a:prstGeom>
          <a:noFill/>
          <a:ln/>
        </p:spPr>
        <p:txBody>
          <a:bodyPr wrap="square" lIns="0" tIns="0" rIns="0" bIns="0" rtlCol="0" anchor="ctr"/>
          <a:lstStyle/>
          <a:p>
            <a:pPr marL="0" indent="0">
              <a:buNone/>
            </a:pPr>
            <a:r>
              <a:rPr lang="en-US" sz="1000" b="1" dirty="0">
                <a:solidFill>
                  <a:srgbClr val="001E3C"/>
                </a:solidFill>
                <a:latin typeface="Arial" pitchFamily="34" charset="0"/>
                <a:ea typeface="Arial" pitchFamily="34" charset="-122"/>
                <a:cs typeface="Arial" pitchFamily="34" charset="-120"/>
              </a:rPr>
              <a:t>5–9   MEDIUM</a:t>
            </a:r>
            <a:endParaRPr lang="en-US" sz="1000" dirty="0"/>
          </a:p>
        </p:txBody>
      </p:sp>
      <p:sp>
        <p:nvSpPr>
          <p:cNvPr id="77" name="Text 74"/>
          <p:cNvSpPr/>
          <p:nvPr/>
        </p:nvSpPr>
        <p:spPr>
          <a:xfrm>
            <a:off x="7662672" y="2368296"/>
            <a:ext cx="1444752" cy="274320"/>
          </a:xfrm>
          <a:prstGeom prst="rect">
            <a:avLst/>
          </a:prstGeom>
          <a:noFill/>
          <a:ln/>
        </p:spPr>
        <p:txBody>
          <a:bodyPr wrap="square" lIns="0" tIns="0" rIns="0" bIns="0" rtlCol="0" anchor="ctr"/>
          <a:lstStyle/>
          <a:p>
            <a:pPr marL="0" indent="0">
              <a:buNone/>
            </a:pPr>
            <a:r>
              <a:rPr lang="en-US" sz="900" dirty="0">
                <a:solidFill>
                  <a:srgbClr val="5B595A"/>
                </a:solidFill>
                <a:latin typeface="Arial" pitchFamily="34" charset="0"/>
                <a:ea typeface="Arial" pitchFamily="34" charset="-122"/>
                <a:cs typeface="Arial" pitchFamily="34" charset="-120"/>
              </a:rPr>
              <a:t>Requires action. Review controls.</a:t>
            </a:r>
            <a:endParaRPr lang="en-US" sz="900" dirty="0"/>
          </a:p>
        </p:txBody>
      </p:sp>
      <p:sp>
        <p:nvSpPr>
          <p:cNvPr id="78" name="Shape 75"/>
          <p:cNvSpPr/>
          <p:nvPr/>
        </p:nvSpPr>
        <p:spPr>
          <a:xfrm>
            <a:off x="7315200" y="2825496"/>
            <a:ext cx="292608" cy="292608"/>
          </a:xfrm>
          <a:prstGeom prst="rect">
            <a:avLst/>
          </a:prstGeom>
          <a:solidFill>
            <a:srgbClr val="E08020"/>
          </a:solidFill>
          <a:ln w="12700">
            <a:solidFill>
              <a:srgbClr val="E08020"/>
            </a:solidFill>
            <a:prstDash val="solid"/>
          </a:ln>
        </p:spPr>
        <p:txBody>
          <a:bodyPr/>
          <a:lstStyle/>
          <a:p>
            <a:endParaRPr lang="en-GB"/>
          </a:p>
        </p:txBody>
      </p:sp>
      <p:sp>
        <p:nvSpPr>
          <p:cNvPr id="79" name="Text 76"/>
          <p:cNvSpPr/>
          <p:nvPr/>
        </p:nvSpPr>
        <p:spPr>
          <a:xfrm>
            <a:off x="7662672" y="2825496"/>
            <a:ext cx="1444752" cy="201168"/>
          </a:xfrm>
          <a:prstGeom prst="rect">
            <a:avLst/>
          </a:prstGeom>
          <a:noFill/>
          <a:ln/>
        </p:spPr>
        <p:txBody>
          <a:bodyPr wrap="square" lIns="0" tIns="0" rIns="0" bIns="0" rtlCol="0" anchor="ctr"/>
          <a:lstStyle/>
          <a:p>
            <a:pPr marL="0" indent="0">
              <a:buNone/>
            </a:pPr>
            <a:r>
              <a:rPr lang="en-US" sz="1000" b="1" dirty="0">
                <a:solidFill>
                  <a:srgbClr val="001E3C"/>
                </a:solidFill>
                <a:latin typeface="Arial" pitchFamily="34" charset="0"/>
                <a:ea typeface="Arial" pitchFamily="34" charset="-122"/>
                <a:cs typeface="Arial" pitchFamily="34" charset="-120"/>
              </a:rPr>
              <a:t>10–16 HIGH</a:t>
            </a:r>
            <a:endParaRPr lang="en-US" sz="1000" dirty="0"/>
          </a:p>
        </p:txBody>
      </p:sp>
      <p:sp>
        <p:nvSpPr>
          <p:cNvPr id="80" name="Text 77"/>
          <p:cNvSpPr/>
          <p:nvPr/>
        </p:nvSpPr>
        <p:spPr>
          <a:xfrm>
            <a:off x="7662672" y="3026664"/>
            <a:ext cx="1444752" cy="274320"/>
          </a:xfrm>
          <a:prstGeom prst="rect">
            <a:avLst/>
          </a:prstGeom>
          <a:noFill/>
          <a:ln/>
        </p:spPr>
        <p:txBody>
          <a:bodyPr wrap="square" lIns="0" tIns="0" rIns="0" bIns="0" rtlCol="0" anchor="ctr"/>
          <a:lstStyle/>
          <a:p>
            <a:pPr marL="0" indent="0">
              <a:buNone/>
            </a:pPr>
            <a:r>
              <a:rPr lang="en-US" sz="900" dirty="0">
                <a:solidFill>
                  <a:srgbClr val="5B595A"/>
                </a:solidFill>
                <a:latin typeface="Arial" pitchFamily="34" charset="0"/>
                <a:ea typeface="Arial" pitchFamily="34" charset="-122"/>
                <a:cs typeface="Arial" pitchFamily="34" charset="-120"/>
              </a:rPr>
              <a:t>Significant action required urgently.</a:t>
            </a:r>
            <a:endParaRPr lang="en-US" sz="900" dirty="0"/>
          </a:p>
        </p:txBody>
      </p:sp>
      <p:sp>
        <p:nvSpPr>
          <p:cNvPr id="81" name="Shape 78"/>
          <p:cNvSpPr/>
          <p:nvPr/>
        </p:nvSpPr>
        <p:spPr>
          <a:xfrm>
            <a:off x="7315200" y="3483864"/>
            <a:ext cx="292608" cy="292608"/>
          </a:xfrm>
          <a:prstGeom prst="rect">
            <a:avLst/>
          </a:prstGeom>
          <a:solidFill>
            <a:srgbClr val="C0392B"/>
          </a:solidFill>
          <a:ln w="12700">
            <a:solidFill>
              <a:srgbClr val="C0392B"/>
            </a:solidFill>
            <a:prstDash val="solid"/>
          </a:ln>
        </p:spPr>
        <p:txBody>
          <a:bodyPr/>
          <a:lstStyle/>
          <a:p>
            <a:endParaRPr lang="en-GB"/>
          </a:p>
        </p:txBody>
      </p:sp>
      <p:sp>
        <p:nvSpPr>
          <p:cNvPr id="82" name="Text 79"/>
          <p:cNvSpPr/>
          <p:nvPr/>
        </p:nvSpPr>
        <p:spPr>
          <a:xfrm>
            <a:off x="7662672" y="3483864"/>
            <a:ext cx="1444752" cy="201168"/>
          </a:xfrm>
          <a:prstGeom prst="rect">
            <a:avLst/>
          </a:prstGeom>
          <a:noFill/>
          <a:ln/>
        </p:spPr>
        <p:txBody>
          <a:bodyPr wrap="square" lIns="0" tIns="0" rIns="0" bIns="0" rtlCol="0" anchor="ctr"/>
          <a:lstStyle/>
          <a:p>
            <a:pPr marL="0" indent="0">
              <a:buNone/>
            </a:pPr>
            <a:r>
              <a:rPr lang="en-US" sz="1000" b="1" dirty="0">
                <a:solidFill>
                  <a:srgbClr val="001E3C"/>
                </a:solidFill>
                <a:latin typeface="Arial" pitchFamily="34" charset="0"/>
                <a:ea typeface="Arial" pitchFamily="34" charset="-122"/>
                <a:cs typeface="Arial" pitchFamily="34" charset="-120"/>
              </a:rPr>
              <a:t>17–25 VERY HIGH</a:t>
            </a:r>
            <a:endParaRPr lang="en-US" sz="1000" dirty="0"/>
          </a:p>
        </p:txBody>
      </p:sp>
      <p:sp>
        <p:nvSpPr>
          <p:cNvPr id="83" name="Text 80"/>
          <p:cNvSpPr/>
          <p:nvPr/>
        </p:nvSpPr>
        <p:spPr>
          <a:xfrm>
            <a:off x="7662672" y="3685032"/>
            <a:ext cx="1444752" cy="274320"/>
          </a:xfrm>
          <a:prstGeom prst="rect">
            <a:avLst/>
          </a:prstGeom>
          <a:noFill/>
          <a:ln/>
        </p:spPr>
        <p:txBody>
          <a:bodyPr wrap="square" lIns="0" tIns="0" rIns="0" bIns="0" rtlCol="0" anchor="ctr"/>
          <a:lstStyle/>
          <a:p>
            <a:pPr marL="0" indent="0">
              <a:buNone/>
            </a:pPr>
            <a:r>
              <a:rPr lang="en-US" sz="900" dirty="0">
                <a:solidFill>
                  <a:srgbClr val="5B595A"/>
                </a:solidFill>
                <a:latin typeface="Arial" pitchFamily="34" charset="0"/>
                <a:ea typeface="Arial" pitchFamily="34" charset="-122"/>
                <a:cs typeface="Arial" pitchFamily="34" charset="-120"/>
              </a:rPr>
              <a:t>Stop the activity. Immediate action.</a:t>
            </a:r>
            <a:endParaRPr lang="en-US" sz="900" dirty="0"/>
          </a:p>
        </p:txBody>
      </p:sp>
      <p:sp>
        <p:nvSpPr>
          <p:cNvPr id="84" name="Text 81"/>
          <p:cNvSpPr/>
          <p:nvPr/>
        </p:nvSpPr>
        <p:spPr>
          <a:xfrm>
            <a:off x="347472" y="4462272"/>
            <a:ext cx="6858000" cy="384048"/>
          </a:xfrm>
          <a:prstGeom prst="rect">
            <a:avLst/>
          </a:prstGeom>
          <a:noFill/>
          <a:ln/>
        </p:spPr>
        <p:txBody>
          <a:bodyPr wrap="square" lIns="0" tIns="0" rIns="0" bIns="0" rtlCol="0" anchor="ctr"/>
          <a:lstStyle/>
          <a:p>
            <a:pPr marL="0" indent="0">
              <a:buNone/>
            </a:pPr>
            <a:r>
              <a:rPr lang="en-US" sz="1150" i="1" dirty="0">
                <a:solidFill>
                  <a:srgbClr val="5B595A"/>
                </a:solidFill>
                <a:latin typeface="Arial" pitchFamily="34" charset="0"/>
                <a:ea typeface="Arial" pitchFamily="34" charset="-122"/>
                <a:cs typeface="Arial" pitchFamily="34" charset="-120"/>
              </a:rPr>
              <a:t>Score the risk BEFORE controls (initial risk) and AGAIN after controls are applied (residual risk). Both scores must be recorded on the assessment.</a:t>
            </a:r>
            <a:endParaRPr lang="en-US" sz="1150" dirty="0"/>
          </a:p>
        </p:txBody>
      </p:sp>
      <p:sp>
        <p:nvSpPr>
          <p:cNvPr id="85" name="Rectangle 8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5"/>
          <a:stretch>
            <a:fillRect/>
          </a:stretch>
        </p:blipFill>
        <p:spPr>
          <a:xfrm>
            <a:off x="7562088" y="100584"/>
            <a:ext cx="566928" cy="347472"/>
          </a:xfrm>
          <a:prstGeom prst="rect">
            <a:avLst/>
          </a:prstGeom>
        </p:spPr>
      </p:pic>
      <p:pic>
        <p:nvPicPr>
          <p:cNvPr id="87" name="Picture 86" descr="image.png"/>
          <p:cNvPicPr>
            <a:picLocks noChangeAspect="1"/>
          </p:cNvPicPr>
          <p:nvPr/>
        </p:nvPicPr>
        <p:blipFill>
          <a:blip r:embed="rId4"/>
          <a:stretch>
            <a:fillRect/>
          </a:stretch>
        </p:blipFill>
        <p:spPr>
          <a:xfrm>
            <a:off x="8174736" y="100584"/>
            <a:ext cx="658368" cy="347472"/>
          </a:xfrm>
          <a:prstGeom prst="rect">
            <a:avLst/>
          </a:prstGeom>
        </p:spPr>
      </p:pic>
      <p:sp>
        <p:nvSpPr>
          <p:cNvPr id="88" name="Rectangle 8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3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The Hierarchy of Controls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11480"/>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Controls must be applied in order of effectiveness. You must always start at the top of the hierarchy and work down. PPE is always the last resort — not the first answer.</a:t>
            </a:r>
            <a:endParaRPr lang="en-US" sz="1250" dirty="0"/>
          </a:p>
        </p:txBody>
      </p:sp>
      <p:sp>
        <p:nvSpPr>
          <p:cNvPr id="11" name="Shape 8"/>
          <p:cNvSpPr/>
          <p:nvPr/>
        </p:nvSpPr>
        <p:spPr>
          <a:xfrm>
            <a:off x="347472" y="1828800"/>
            <a:ext cx="8449056" cy="548640"/>
          </a:xfrm>
          <a:prstGeom prst="rect">
            <a:avLst/>
          </a:prstGeom>
          <a:solidFill>
            <a:srgbClr val="1A5E2A"/>
          </a:solidFill>
          <a:ln w="12700">
            <a:solidFill>
              <a:srgbClr val="1A5E2A"/>
            </a:solidFill>
            <a:prstDash val="solid"/>
          </a:ln>
        </p:spPr>
        <p:txBody>
          <a:bodyPr/>
          <a:lstStyle/>
          <a:p>
            <a:endParaRPr lang="en-GB"/>
          </a:p>
        </p:txBody>
      </p:sp>
      <p:sp>
        <p:nvSpPr>
          <p:cNvPr id="12" name="Text 9"/>
          <p:cNvSpPr/>
          <p:nvPr/>
        </p:nvSpPr>
        <p:spPr>
          <a:xfrm>
            <a:off x="457200" y="1847088"/>
            <a:ext cx="2377440" cy="51206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1. ELIMINATION  |  Most Effective</a:t>
            </a:r>
            <a:endParaRPr lang="en-US" sz="1050" dirty="0"/>
          </a:p>
        </p:txBody>
      </p:sp>
      <p:sp>
        <p:nvSpPr>
          <p:cNvPr id="13" name="Text 10"/>
          <p:cNvSpPr/>
          <p:nvPr/>
        </p:nvSpPr>
        <p:spPr>
          <a:xfrm>
            <a:off x="2907792" y="1847088"/>
            <a:ext cx="5751576" cy="512064"/>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Remove the hazard completely. Can the task be redesigned so the hazard no longer exists? Example: automate a manual handling task to remove it entirely.</a:t>
            </a:r>
            <a:endParaRPr lang="en-US" sz="1050" dirty="0"/>
          </a:p>
        </p:txBody>
      </p:sp>
      <p:sp>
        <p:nvSpPr>
          <p:cNvPr id="14" name="Shape 11"/>
          <p:cNvSpPr/>
          <p:nvPr/>
        </p:nvSpPr>
        <p:spPr>
          <a:xfrm>
            <a:off x="548640" y="2450592"/>
            <a:ext cx="8046720" cy="548640"/>
          </a:xfrm>
          <a:prstGeom prst="rect">
            <a:avLst/>
          </a:prstGeom>
          <a:solidFill>
            <a:srgbClr val="2E8B57"/>
          </a:solidFill>
          <a:ln w="12700">
            <a:solidFill>
              <a:srgbClr val="2E8B57"/>
            </a:solidFill>
            <a:prstDash val="solid"/>
          </a:ln>
        </p:spPr>
        <p:txBody>
          <a:bodyPr/>
          <a:lstStyle/>
          <a:p>
            <a:endParaRPr lang="en-GB"/>
          </a:p>
        </p:txBody>
      </p:sp>
      <p:sp>
        <p:nvSpPr>
          <p:cNvPr id="15" name="Text 12"/>
          <p:cNvSpPr/>
          <p:nvPr/>
        </p:nvSpPr>
        <p:spPr>
          <a:xfrm>
            <a:off x="658368" y="2468880"/>
            <a:ext cx="2377440" cy="51206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2. SUBSTITUTION</a:t>
            </a:r>
            <a:endParaRPr lang="en-US" sz="1050" dirty="0"/>
          </a:p>
        </p:txBody>
      </p:sp>
      <p:sp>
        <p:nvSpPr>
          <p:cNvPr id="16" name="Text 13"/>
          <p:cNvSpPr/>
          <p:nvPr/>
        </p:nvSpPr>
        <p:spPr>
          <a:xfrm>
            <a:off x="3108960" y="2468880"/>
            <a:ext cx="5349240" cy="512064"/>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Replace the hazard with something less dangerous. Example: replace a solvent-based adhesive with a water-based alternative.</a:t>
            </a:r>
            <a:endParaRPr lang="en-US" sz="1050" dirty="0"/>
          </a:p>
        </p:txBody>
      </p:sp>
      <p:sp>
        <p:nvSpPr>
          <p:cNvPr id="17" name="Shape 14"/>
          <p:cNvSpPr/>
          <p:nvPr/>
        </p:nvSpPr>
        <p:spPr>
          <a:xfrm>
            <a:off x="749808" y="3072384"/>
            <a:ext cx="7644384" cy="548640"/>
          </a:xfrm>
          <a:prstGeom prst="rect">
            <a:avLst/>
          </a:prstGeom>
          <a:solidFill>
            <a:srgbClr val="006FAA"/>
          </a:solidFill>
          <a:ln w="12700">
            <a:solidFill>
              <a:srgbClr val="006FAA"/>
            </a:solidFill>
            <a:prstDash val="solid"/>
          </a:ln>
        </p:spPr>
        <p:txBody>
          <a:bodyPr/>
          <a:lstStyle/>
          <a:p>
            <a:endParaRPr lang="en-GB"/>
          </a:p>
        </p:txBody>
      </p:sp>
      <p:sp>
        <p:nvSpPr>
          <p:cNvPr id="18" name="Text 15"/>
          <p:cNvSpPr/>
          <p:nvPr/>
        </p:nvSpPr>
        <p:spPr>
          <a:xfrm>
            <a:off x="859536" y="3090672"/>
            <a:ext cx="2377440" cy="51206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3. ENGINEERING CONTROLS</a:t>
            </a:r>
            <a:endParaRPr lang="en-US" sz="1050" dirty="0"/>
          </a:p>
        </p:txBody>
      </p:sp>
      <p:sp>
        <p:nvSpPr>
          <p:cNvPr id="19" name="Text 16"/>
          <p:cNvSpPr/>
          <p:nvPr/>
        </p:nvSpPr>
        <p:spPr>
          <a:xfrm>
            <a:off x="3310128" y="3090672"/>
            <a:ext cx="4946904" cy="512064"/>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Use physical means to separate people from the hazard. Example: machine guards, LEV extraction, interlocks, enclosed systems.</a:t>
            </a:r>
            <a:endParaRPr lang="en-US" sz="1050" dirty="0"/>
          </a:p>
        </p:txBody>
      </p:sp>
      <p:sp>
        <p:nvSpPr>
          <p:cNvPr id="20" name="Shape 17"/>
          <p:cNvSpPr/>
          <p:nvPr/>
        </p:nvSpPr>
        <p:spPr>
          <a:xfrm>
            <a:off x="950976" y="3694176"/>
            <a:ext cx="7242048" cy="548640"/>
          </a:xfrm>
          <a:prstGeom prst="rect">
            <a:avLst/>
          </a:prstGeom>
          <a:solidFill>
            <a:srgbClr val="E08A00"/>
          </a:solidFill>
          <a:ln w="12700">
            <a:solidFill>
              <a:srgbClr val="E08A00"/>
            </a:solidFill>
            <a:prstDash val="solid"/>
          </a:ln>
        </p:spPr>
        <p:txBody>
          <a:bodyPr/>
          <a:lstStyle/>
          <a:p>
            <a:endParaRPr lang="en-GB"/>
          </a:p>
        </p:txBody>
      </p:sp>
      <p:sp>
        <p:nvSpPr>
          <p:cNvPr id="21" name="Text 18"/>
          <p:cNvSpPr/>
          <p:nvPr/>
        </p:nvSpPr>
        <p:spPr>
          <a:xfrm>
            <a:off x="1060704" y="3712464"/>
            <a:ext cx="2377440" cy="51206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4. ADMINISTRATIVE CONTROLS</a:t>
            </a:r>
            <a:endParaRPr lang="en-US" sz="1050" dirty="0"/>
          </a:p>
        </p:txBody>
      </p:sp>
      <p:sp>
        <p:nvSpPr>
          <p:cNvPr id="22" name="Text 19"/>
          <p:cNvSpPr/>
          <p:nvPr/>
        </p:nvSpPr>
        <p:spPr>
          <a:xfrm>
            <a:off x="3511296" y="3712464"/>
            <a:ext cx="4544568" cy="512064"/>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Change the way people work. Example: safe systems of work, permit to work, job rotation to reduce exposure time, training, supervision.</a:t>
            </a:r>
            <a:endParaRPr lang="en-US" sz="1050" dirty="0"/>
          </a:p>
        </p:txBody>
      </p:sp>
      <p:sp>
        <p:nvSpPr>
          <p:cNvPr id="23" name="Shape 20"/>
          <p:cNvSpPr/>
          <p:nvPr/>
        </p:nvSpPr>
        <p:spPr>
          <a:xfrm>
            <a:off x="1152144" y="4315968"/>
            <a:ext cx="6839712" cy="548640"/>
          </a:xfrm>
          <a:prstGeom prst="rect">
            <a:avLst/>
          </a:prstGeom>
          <a:solidFill>
            <a:srgbClr val="C0392B"/>
          </a:solidFill>
          <a:ln w="12700">
            <a:solidFill>
              <a:srgbClr val="C0392B"/>
            </a:solidFill>
            <a:prstDash val="solid"/>
          </a:ln>
        </p:spPr>
        <p:txBody>
          <a:bodyPr/>
          <a:lstStyle/>
          <a:p>
            <a:endParaRPr lang="en-GB"/>
          </a:p>
        </p:txBody>
      </p:sp>
      <p:sp>
        <p:nvSpPr>
          <p:cNvPr id="24" name="Text 21"/>
          <p:cNvSpPr/>
          <p:nvPr/>
        </p:nvSpPr>
        <p:spPr>
          <a:xfrm>
            <a:off x="1261872" y="4334256"/>
            <a:ext cx="2377440" cy="51206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5. PPE  |  Least Effective</a:t>
            </a:r>
            <a:endParaRPr lang="en-US" sz="1050" dirty="0"/>
          </a:p>
        </p:txBody>
      </p:sp>
      <p:sp>
        <p:nvSpPr>
          <p:cNvPr id="25" name="Text 22"/>
          <p:cNvSpPr/>
          <p:nvPr/>
        </p:nvSpPr>
        <p:spPr>
          <a:xfrm>
            <a:off x="3712464" y="4334256"/>
            <a:ext cx="4142232" cy="512064"/>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Protect the person as a last resort when all other controls are insufficient. Example: gloves, RPE, eye protection, hearing protection.</a:t>
            </a:r>
            <a:endParaRPr lang="en-US" sz="1050" dirty="0"/>
          </a:p>
        </p:txBody>
      </p:sp>
      <p:sp>
        <p:nvSpPr>
          <p:cNvPr id="26" name="Rectangle 2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7562088" y="100584"/>
            <a:ext cx="566928" cy="347472"/>
          </a:xfrm>
          <a:prstGeom prst="rect">
            <a:avLst/>
          </a:prstGeom>
        </p:spPr>
      </p:pic>
      <p:pic>
        <p:nvPicPr>
          <p:cNvPr id="28" name="Picture 27" descr="image.png"/>
          <p:cNvPicPr>
            <a:picLocks noChangeAspect="1"/>
          </p:cNvPicPr>
          <p:nvPr/>
        </p:nvPicPr>
        <p:blipFill>
          <a:blip r:embed="rId4"/>
          <a:stretch>
            <a:fillRect/>
          </a:stretch>
        </p:blipFill>
        <p:spPr>
          <a:xfrm>
            <a:off x="8174736" y="100584"/>
            <a:ext cx="658368" cy="347472"/>
          </a:xfrm>
          <a:prstGeom prst="rect">
            <a:avLst/>
          </a:prstGeom>
        </p:spPr>
      </p:pic>
      <p:sp>
        <p:nvSpPr>
          <p:cNvPr id="29" name="Rectangle 2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3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Hierarchy of Controls: Manufacturing Examples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292608"/>
          </a:xfrm>
          <a:prstGeom prst="rect">
            <a:avLst/>
          </a:prstGeom>
          <a:noFill/>
          <a:ln/>
        </p:spPr>
        <p:txBody>
          <a:bodyPr wrap="square" lIns="0" tIns="0" rIns="0" bIns="0" rtlCol="0" anchor="ctr"/>
          <a:lstStyle/>
          <a:p>
            <a:pPr marL="0" indent="0">
              <a:buNone/>
            </a:pPr>
            <a:r>
              <a:rPr lang="en-US" sz="1300" b="1" dirty="0">
                <a:solidFill>
                  <a:srgbClr val="001E3C"/>
                </a:solidFill>
                <a:latin typeface="Arial" pitchFamily="34" charset="0"/>
                <a:ea typeface="Arial" pitchFamily="34" charset="-122"/>
                <a:cs typeface="Arial" pitchFamily="34" charset="-120"/>
              </a:rPr>
              <a:t>Applying the hierarchy in practice — CNC machining swarf ejection hazard:</a:t>
            </a:r>
            <a:endParaRPr lang="en-US" sz="1300" dirty="0"/>
          </a:p>
        </p:txBody>
      </p:sp>
      <p:sp>
        <p:nvSpPr>
          <p:cNvPr id="11" name="Shape 8"/>
          <p:cNvSpPr/>
          <p:nvPr/>
        </p:nvSpPr>
        <p:spPr>
          <a:xfrm>
            <a:off x="347472" y="1755648"/>
            <a:ext cx="1965960" cy="475488"/>
          </a:xfrm>
          <a:prstGeom prst="rect">
            <a:avLst/>
          </a:prstGeom>
          <a:solidFill>
            <a:srgbClr val="1A5E2A"/>
          </a:solidFill>
          <a:ln w="12700">
            <a:solidFill>
              <a:srgbClr val="1A5E2A"/>
            </a:solidFill>
            <a:prstDash val="solid"/>
          </a:ln>
        </p:spPr>
        <p:txBody>
          <a:bodyPr/>
          <a:lstStyle/>
          <a:p>
            <a:endParaRPr lang="en-GB"/>
          </a:p>
        </p:txBody>
      </p:sp>
      <p:sp>
        <p:nvSpPr>
          <p:cNvPr id="12" name="Text 9"/>
          <p:cNvSpPr/>
          <p:nvPr/>
        </p:nvSpPr>
        <p:spPr>
          <a:xfrm>
            <a:off x="411480" y="1755648"/>
            <a:ext cx="18470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Elimination</a:t>
            </a:r>
            <a:endParaRPr lang="en-US" sz="1050" dirty="0"/>
          </a:p>
        </p:txBody>
      </p:sp>
      <p:sp>
        <p:nvSpPr>
          <p:cNvPr id="13" name="Shape 10"/>
          <p:cNvSpPr/>
          <p:nvPr/>
        </p:nvSpPr>
        <p:spPr>
          <a:xfrm>
            <a:off x="2322576" y="1755648"/>
            <a:ext cx="6473952" cy="475488"/>
          </a:xfrm>
          <a:prstGeom prst="rect">
            <a:avLst/>
          </a:prstGeom>
          <a:solidFill>
            <a:srgbClr val="F8F8F8"/>
          </a:solidFill>
          <a:ln w="7620">
            <a:solidFill>
              <a:srgbClr val="DDDDDD"/>
            </a:solidFill>
            <a:prstDash val="solid"/>
          </a:ln>
        </p:spPr>
        <p:txBody>
          <a:bodyPr/>
          <a:lstStyle/>
          <a:p>
            <a:endParaRPr lang="en-GB"/>
          </a:p>
        </p:txBody>
      </p:sp>
      <p:sp>
        <p:nvSpPr>
          <p:cNvPr id="14" name="Text 11"/>
          <p:cNvSpPr/>
          <p:nvPr/>
        </p:nvSpPr>
        <p:spPr>
          <a:xfrm>
            <a:off x="2414016" y="1792224"/>
            <a:ext cx="6309360" cy="402336"/>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Design parts so swarf is not generated (not always possible — but consider it first)</a:t>
            </a:r>
            <a:endParaRPr lang="en-US" sz="1150" dirty="0"/>
          </a:p>
        </p:txBody>
      </p:sp>
      <p:sp>
        <p:nvSpPr>
          <p:cNvPr id="15" name="Shape 12"/>
          <p:cNvSpPr/>
          <p:nvPr/>
        </p:nvSpPr>
        <p:spPr>
          <a:xfrm>
            <a:off x="347472" y="2322576"/>
            <a:ext cx="1965960" cy="475488"/>
          </a:xfrm>
          <a:prstGeom prst="rect">
            <a:avLst/>
          </a:prstGeom>
          <a:solidFill>
            <a:srgbClr val="2E8B57"/>
          </a:solidFill>
          <a:ln w="12700">
            <a:solidFill>
              <a:srgbClr val="2E8B57"/>
            </a:solidFill>
            <a:prstDash val="solid"/>
          </a:ln>
        </p:spPr>
        <p:txBody>
          <a:bodyPr/>
          <a:lstStyle/>
          <a:p>
            <a:endParaRPr lang="en-GB"/>
          </a:p>
        </p:txBody>
      </p:sp>
      <p:sp>
        <p:nvSpPr>
          <p:cNvPr id="16" name="Text 13"/>
          <p:cNvSpPr/>
          <p:nvPr/>
        </p:nvSpPr>
        <p:spPr>
          <a:xfrm>
            <a:off x="411480" y="2322576"/>
            <a:ext cx="18470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Substitution</a:t>
            </a:r>
            <a:endParaRPr lang="en-US" sz="1050" dirty="0"/>
          </a:p>
        </p:txBody>
      </p:sp>
      <p:sp>
        <p:nvSpPr>
          <p:cNvPr id="17" name="Shape 14"/>
          <p:cNvSpPr/>
          <p:nvPr/>
        </p:nvSpPr>
        <p:spPr>
          <a:xfrm>
            <a:off x="2322576" y="2322576"/>
            <a:ext cx="6473952" cy="475488"/>
          </a:xfrm>
          <a:prstGeom prst="rect">
            <a:avLst/>
          </a:prstGeom>
          <a:solidFill>
            <a:srgbClr val="F8F8F8"/>
          </a:solidFill>
          <a:ln w="7620">
            <a:solidFill>
              <a:srgbClr val="DDDDDD"/>
            </a:solidFill>
            <a:prstDash val="solid"/>
          </a:ln>
        </p:spPr>
        <p:txBody>
          <a:bodyPr/>
          <a:lstStyle/>
          <a:p>
            <a:endParaRPr lang="en-GB"/>
          </a:p>
        </p:txBody>
      </p:sp>
      <p:sp>
        <p:nvSpPr>
          <p:cNvPr id="18" name="Text 15"/>
          <p:cNvSpPr/>
          <p:nvPr/>
        </p:nvSpPr>
        <p:spPr>
          <a:xfrm>
            <a:off x="2414016" y="2359152"/>
            <a:ext cx="6309360" cy="402336"/>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Use a process or material that generates less or finer swarf, reducing ejection risk</a:t>
            </a:r>
            <a:endParaRPr lang="en-US" sz="1150" dirty="0"/>
          </a:p>
        </p:txBody>
      </p:sp>
      <p:sp>
        <p:nvSpPr>
          <p:cNvPr id="19" name="Shape 16"/>
          <p:cNvSpPr/>
          <p:nvPr/>
        </p:nvSpPr>
        <p:spPr>
          <a:xfrm>
            <a:off x="347472" y="2889504"/>
            <a:ext cx="1965960" cy="475488"/>
          </a:xfrm>
          <a:prstGeom prst="rect">
            <a:avLst/>
          </a:prstGeom>
          <a:solidFill>
            <a:srgbClr val="006FAA"/>
          </a:solidFill>
          <a:ln w="12700">
            <a:solidFill>
              <a:srgbClr val="006FAA"/>
            </a:solidFill>
            <a:prstDash val="solid"/>
          </a:ln>
        </p:spPr>
        <p:txBody>
          <a:bodyPr/>
          <a:lstStyle/>
          <a:p>
            <a:endParaRPr lang="en-GB"/>
          </a:p>
        </p:txBody>
      </p:sp>
      <p:sp>
        <p:nvSpPr>
          <p:cNvPr id="20" name="Text 17"/>
          <p:cNvSpPr/>
          <p:nvPr/>
        </p:nvSpPr>
        <p:spPr>
          <a:xfrm>
            <a:off x="411480" y="2889504"/>
            <a:ext cx="18470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Engineering Controls</a:t>
            </a:r>
            <a:endParaRPr lang="en-US" sz="1050" dirty="0"/>
          </a:p>
        </p:txBody>
      </p:sp>
      <p:sp>
        <p:nvSpPr>
          <p:cNvPr id="21" name="Shape 18"/>
          <p:cNvSpPr/>
          <p:nvPr/>
        </p:nvSpPr>
        <p:spPr>
          <a:xfrm>
            <a:off x="2322576" y="2889504"/>
            <a:ext cx="6473952" cy="475488"/>
          </a:xfrm>
          <a:prstGeom prst="rect">
            <a:avLst/>
          </a:prstGeom>
          <a:solidFill>
            <a:srgbClr val="F8F8F8"/>
          </a:solidFill>
          <a:ln w="7620">
            <a:solidFill>
              <a:srgbClr val="DDDDDD"/>
            </a:solidFill>
            <a:prstDash val="solid"/>
          </a:ln>
        </p:spPr>
        <p:txBody>
          <a:bodyPr/>
          <a:lstStyle/>
          <a:p>
            <a:endParaRPr lang="en-GB"/>
          </a:p>
        </p:txBody>
      </p:sp>
      <p:sp>
        <p:nvSpPr>
          <p:cNvPr id="22" name="Text 19"/>
          <p:cNvSpPr/>
          <p:nvPr/>
        </p:nvSpPr>
        <p:spPr>
          <a:xfrm>
            <a:off x="2414016" y="2926080"/>
            <a:ext cx="6309360" cy="402336"/>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Full machine enclosure, interlocked guards, automatic swarf conveyors, local exhaust</a:t>
            </a:r>
            <a:endParaRPr lang="en-US" sz="1150" dirty="0"/>
          </a:p>
        </p:txBody>
      </p:sp>
      <p:sp>
        <p:nvSpPr>
          <p:cNvPr id="23" name="Shape 20"/>
          <p:cNvSpPr/>
          <p:nvPr/>
        </p:nvSpPr>
        <p:spPr>
          <a:xfrm>
            <a:off x="347472" y="3456432"/>
            <a:ext cx="1965960" cy="475488"/>
          </a:xfrm>
          <a:prstGeom prst="rect">
            <a:avLst/>
          </a:prstGeom>
          <a:solidFill>
            <a:srgbClr val="E08A00"/>
          </a:solidFill>
          <a:ln w="12700">
            <a:solidFill>
              <a:srgbClr val="E08A00"/>
            </a:solidFill>
            <a:prstDash val="solid"/>
          </a:ln>
        </p:spPr>
        <p:txBody>
          <a:bodyPr/>
          <a:lstStyle/>
          <a:p>
            <a:endParaRPr lang="en-GB"/>
          </a:p>
        </p:txBody>
      </p:sp>
      <p:sp>
        <p:nvSpPr>
          <p:cNvPr id="24" name="Text 21"/>
          <p:cNvSpPr/>
          <p:nvPr/>
        </p:nvSpPr>
        <p:spPr>
          <a:xfrm>
            <a:off x="411480" y="3456432"/>
            <a:ext cx="18470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Administrative</a:t>
            </a:r>
            <a:endParaRPr lang="en-US" sz="1050" dirty="0"/>
          </a:p>
        </p:txBody>
      </p:sp>
      <p:sp>
        <p:nvSpPr>
          <p:cNvPr id="25" name="Shape 22"/>
          <p:cNvSpPr/>
          <p:nvPr/>
        </p:nvSpPr>
        <p:spPr>
          <a:xfrm>
            <a:off x="2322576" y="3456432"/>
            <a:ext cx="6473952" cy="475488"/>
          </a:xfrm>
          <a:prstGeom prst="rect">
            <a:avLst/>
          </a:prstGeom>
          <a:solidFill>
            <a:srgbClr val="F8F8F8"/>
          </a:solidFill>
          <a:ln w="7620">
            <a:solidFill>
              <a:srgbClr val="DDDDDD"/>
            </a:solidFill>
            <a:prstDash val="solid"/>
          </a:ln>
        </p:spPr>
        <p:txBody>
          <a:bodyPr/>
          <a:lstStyle/>
          <a:p>
            <a:endParaRPr lang="en-GB"/>
          </a:p>
        </p:txBody>
      </p:sp>
      <p:sp>
        <p:nvSpPr>
          <p:cNvPr id="26" name="Text 23"/>
          <p:cNvSpPr/>
          <p:nvPr/>
        </p:nvSpPr>
        <p:spPr>
          <a:xfrm>
            <a:off x="2414016" y="3493008"/>
            <a:ext cx="6309360" cy="402336"/>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SOP requiring machine door closed during operation; training; supervisor sign-off for setup</a:t>
            </a:r>
            <a:endParaRPr lang="en-US" sz="1150" dirty="0"/>
          </a:p>
        </p:txBody>
      </p:sp>
      <p:sp>
        <p:nvSpPr>
          <p:cNvPr id="27" name="Shape 24"/>
          <p:cNvSpPr/>
          <p:nvPr/>
        </p:nvSpPr>
        <p:spPr>
          <a:xfrm>
            <a:off x="347472" y="4023360"/>
            <a:ext cx="1965960" cy="475488"/>
          </a:xfrm>
          <a:prstGeom prst="rect">
            <a:avLst/>
          </a:prstGeom>
          <a:solidFill>
            <a:srgbClr val="C0392B"/>
          </a:solidFill>
          <a:ln w="12700">
            <a:solidFill>
              <a:srgbClr val="C0392B"/>
            </a:solidFill>
            <a:prstDash val="solid"/>
          </a:ln>
        </p:spPr>
        <p:txBody>
          <a:bodyPr/>
          <a:lstStyle/>
          <a:p>
            <a:endParaRPr lang="en-GB"/>
          </a:p>
        </p:txBody>
      </p:sp>
      <p:sp>
        <p:nvSpPr>
          <p:cNvPr id="28" name="Text 25"/>
          <p:cNvSpPr/>
          <p:nvPr/>
        </p:nvSpPr>
        <p:spPr>
          <a:xfrm>
            <a:off x="411480" y="4023360"/>
            <a:ext cx="18470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PPE</a:t>
            </a:r>
            <a:endParaRPr lang="en-US" sz="1050" dirty="0"/>
          </a:p>
        </p:txBody>
      </p:sp>
      <p:sp>
        <p:nvSpPr>
          <p:cNvPr id="29" name="Shape 26"/>
          <p:cNvSpPr/>
          <p:nvPr/>
        </p:nvSpPr>
        <p:spPr>
          <a:xfrm>
            <a:off x="2322576" y="4023360"/>
            <a:ext cx="6473952" cy="475488"/>
          </a:xfrm>
          <a:prstGeom prst="rect">
            <a:avLst/>
          </a:prstGeom>
          <a:solidFill>
            <a:srgbClr val="F8F8F8"/>
          </a:solidFill>
          <a:ln w="7620">
            <a:solidFill>
              <a:srgbClr val="DDDDDD"/>
            </a:solidFill>
            <a:prstDash val="solid"/>
          </a:ln>
        </p:spPr>
        <p:txBody>
          <a:bodyPr/>
          <a:lstStyle/>
          <a:p>
            <a:endParaRPr lang="en-GB"/>
          </a:p>
        </p:txBody>
      </p:sp>
      <p:sp>
        <p:nvSpPr>
          <p:cNvPr id="30" name="Text 27"/>
          <p:cNvSpPr/>
          <p:nvPr/>
        </p:nvSpPr>
        <p:spPr>
          <a:xfrm>
            <a:off x="2414016" y="4059936"/>
            <a:ext cx="6309360" cy="402336"/>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Safety glasses, face shield for setup operations, cut-resistant gloves for swarf removal</a:t>
            </a:r>
            <a:endParaRPr lang="en-US" sz="115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Legal Test</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Does 'Suitable and Sufficient' Mean?</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Text 7"/>
          <p:cNvSpPr/>
          <p:nvPr/>
        </p:nvSpPr>
        <p:spPr>
          <a:xfrm>
            <a:off x="347472" y="1353312"/>
            <a:ext cx="8449056" cy="566928"/>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The Management of Health and Safety at Work Regulations 1999 require risk assessments to be 'suitable and sufficient'. This is a legal standard — and it is tested if an incident occurs. It does not mean perfect. It means proportionate, thorough, and documented.</a:t>
            </a:r>
            <a:endParaRPr lang="en-US" sz="1250" dirty="0"/>
          </a:p>
        </p:txBody>
      </p:sp>
      <p:sp>
        <p:nvSpPr>
          <p:cNvPr id="11" name="Shape 8"/>
          <p:cNvSpPr/>
          <p:nvPr/>
        </p:nvSpPr>
        <p:spPr>
          <a:xfrm>
            <a:off x="347472" y="2011680"/>
            <a:ext cx="4160520" cy="320040"/>
          </a:xfrm>
          <a:prstGeom prst="rect">
            <a:avLst/>
          </a:prstGeom>
          <a:solidFill>
            <a:srgbClr val="2E8B57"/>
          </a:solidFill>
          <a:ln w="12700">
            <a:solidFill>
              <a:srgbClr val="2E8B57"/>
            </a:solidFill>
            <a:prstDash val="solid"/>
          </a:ln>
        </p:spPr>
        <p:txBody>
          <a:bodyPr/>
          <a:lstStyle/>
          <a:p>
            <a:endParaRPr lang="en-GB"/>
          </a:p>
        </p:txBody>
      </p:sp>
      <p:pic>
        <p:nvPicPr>
          <p:cNvPr id="12" name="Image 1" descr="preencoded.png"/>
          <p:cNvPicPr>
            <a:picLocks noChangeAspect="1"/>
          </p:cNvPicPr>
          <p:nvPr/>
        </p:nvPicPr>
        <p:blipFill>
          <a:blip r:embed="rId4"/>
          <a:stretch>
            <a:fillRect/>
          </a:stretch>
        </p:blipFill>
        <p:spPr>
          <a:xfrm>
            <a:off x="402336" y="2029968"/>
            <a:ext cx="256032" cy="256032"/>
          </a:xfrm>
          <a:prstGeom prst="rect">
            <a:avLst/>
          </a:prstGeom>
        </p:spPr>
      </p:pic>
      <p:sp>
        <p:nvSpPr>
          <p:cNvPr id="13" name="Text 9"/>
          <p:cNvSpPr/>
          <p:nvPr/>
        </p:nvSpPr>
        <p:spPr>
          <a:xfrm>
            <a:off x="731520" y="2029968"/>
            <a:ext cx="370332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A SUITABLE AND SUFFICIENT Assessment:</a:t>
            </a:r>
            <a:endParaRPr lang="en-US" sz="1100" dirty="0"/>
          </a:p>
        </p:txBody>
      </p:sp>
      <p:sp>
        <p:nvSpPr>
          <p:cNvPr id="14" name="Shape 10"/>
          <p:cNvSpPr/>
          <p:nvPr/>
        </p:nvSpPr>
        <p:spPr>
          <a:xfrm>
            <a:off x="402336" y="2404872"/>
            <a:ext cx="146304" cy="146304"/>
          </a:xfrm>
          <a:prstGeom prst="ellipse">
            <a:avLst/>
          </a:prstGeom>
          <a:solidFill>
            <a:srgbClr val="2E8B57"/>
          </a:solidFill>
          <a:ln w="12700">
            <a:solidFill>
              <a:srgbClr val="2E8B57"/>
            </a:solidFill>
            <a:prstDash val="solid"/>
          </a:ln>
        </p:spPr>
        <p:txBody>
          <a:bodyPr/>
          <a:lstStyle/>
          <a:p>
            <a:endParaRPr lang="en-GB"/>
          </a:p>
        </p:txBody>
      </p:sp>
      <p:sp>
        <p:nvSpPr>
          <p:cNvPr id="15" name="Text 11"/>
          <p:cNvSpPr/>
          <p:nvPr/>
        </p:nvSpPr>
        <p:spPr>
          <a:xfrm>
            <a:off x="621792" y="2377440"/>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Identifies all significant hazards relevant to the activity</a:t>
            </a:r>
            <a:endParaRPr lang="en-US" sz="1050" dirty="0"/>
          </a:p>
        </p:txBody>
      </p:sp>
      <p:sp>
        <p:nvSpPr>
          <p:cNvPr id="16" name="Shape 12"/>
          <p:cNvSpPr/>
          <p:nvPr/>
        </p:nvSpPr>
        <p:spPr>
          <a:xfrm>
            <a:off x="402336" y="2743200"/>
            <a:ext cx="146304" cy="146304"/>
          </a:xfrm>
          <a:prstGeom prst="ellipse">
            <a:avLst/>
          </a:prstGeom>
          <a:solidFill>
            <a:srgbClr val="2E8B57"/>
          </a:solidFill>
          <a:ln w="12700">
            <a:solidFill>
              <a:srgbClr val="2E8B57"/>
            </a:solidFill>
            <a:prstDash val="solid"/>
          </a:ln>
        </p:spPr>
        <p:txBody>
          <a:bodyPr/>
          <a:lstStyle/>
          <a:p>
            <a:endParaRPr lang="en-GB"/>
          </a:p>
        </p:txBody>
      </p:sp>
      <p:sp>
        <p:nvSpPr>
          <p:cNvPr id="17" name="Text 13"/>
          <p:cNvSpPr/>
          <p:nvPr/>
        </p:nvSpPr>
        <p:spPr>
          <a:xfrm>
            <a:off x="621792" y="2715768"/>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Identifies all the groups who might realistically be harmed</a:t>
            </a:r>
            <a:endParaRPr lang="en-US" sz="1050" dirty="0"/>
          </a:p>
        </p:txBody>
      </p:sp>
      <p:sp>
        <p:nvSpPr>
          <p:cNvPr id="18" name="Shape 14"/>
          <p:cNvSpPr/>
          <p:nvPr/>
        </p:nvSpPr>
        <p:spPr>
          <a:xfrm>
            <a:off x="402336" y="3081528"/>
            <a:ext cx="146304" cy="146304"/>
          </a:xfrm>
          <a:prstGeom prst="ellipse">
            <a:avLst/>
          </a:prstGeom>
          <a:solidFill>
            <a:srgbClr val="2E8B57"/>
          </a:solidFill>
          <a:ln w="12700">
            <a:solidFill>
              <a:srgbClr val="2E8B57"/>
            </a:solidFill>
            <a:prstDash val="solid"/>
          </a:ln>
        </p:spPr>
        <p:txBody>
          <a:bodyPr/>
          <a:lstStyle/>
          <a:p>
            <a:endParaRPr lang="en-GB"/>
          </a:p>
        </p:txBody>
      </p:sp>
      <p:sp>
        <p:nvSpPr>
          <p:cNvPr id="19" name="Text 15"/>
          <p:cNvSpPr/>
          <p:nvPr/>
        </p:nvSpPr>
        <p:spPr>
          <a:xfrm>
            <a:off x="621792" y="3054096"/>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Evaluates both the initial (pre-control) and residual (post-control) risk</a:t>
            </a:r>
            <a:endParaRPr lang="en-US" sz="1050" dirty="0"/>
          </a:p>
        </p:txBody>
      </p:sp>
      <p:sp>
        <p:nvSpPr>
          <p:cNvPr id="20" name="Shape 16"/>
          <p:cNvSpPr/>
          <p:nvPr/>
        </p:nvSpPr>
        <p:spPr>
          <a:xfrm>
            <a:off x="402336" y="3419856"/>
            <a:ext cx="146304" cy="146304"/>
          </a:xfrm>
          <a:prstGeom prst="ellipse">
            <a:avLst/>
          </a:prstGeom>
          <a:solidFill>
            <a:srgbClr val="2E8B57"/>
          </a:solidFill>
          <a:ln w="12700">
            <a:solidFill>
              <a:srgbClr val="2E8B57"/>
            </a:solidFill>
            <a:prstDash val="solid"/>
          </a:ln>
        </p:spPr>
        <p:txBody>
          <a:bodyPr/>
          <a:lstStyle/>
          <a:p>
            <a:endParaRPr lang="en-GB"/>
          </a:p>
        </p:txBody>
      </p:sp>
      <p:sp>
        <p:nvSpPr>
          <p:cNvPr id="21" name="Text 17"/>
          <p:cNvSpPr/>
          <p:nvPr/>
        </p:nvSpPr>
        <p:spPr>
          <a:xfrm>
            <a:off x="621792" y="3392424"/>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Specifies controls that are actually in place and being used</a:t>
            </a:r>
            <a:endParaRPr lang="en-US" sz="1050" dirty="0"/>
          </a:p>
        </p:txBody>
      </p:sp>
      <p:sp>
        <p:nvSpPr>
          <p:cNvPr id="22" name="Shape 18"/>
          <p:cNvSpPr/>
          <p:nvPr/>
        </p:nvSpPr>
        <p:spPr>
          <a:xfrm>
            <a:off x="402336" y="3758184"/>
            <a:ext cx="146304" cy="146304"/>
          </a:xfrm>
          <a:prstGeom prst="ellipse">
            <a:avLst/>
          </a:prstGeom>
          <a:solidFill>
            <a:srgbClr val="2E8B57"/>
          </a:solidFill>
          <a:ln w="12700">
            <a:solidFill>
              <a:srgbClr val="2E8B57"/>
            </a:solidFill>
            <a:prstDash val="solid"/>
          </a:ln>
        </p:spPr>
        <p:txBody>
          <a:bodyPr/>
          <a:lstStyle/>
          <a:p>
            <a:endParaRPr lang="en-GB"/>
          </a:p>
        </p:txBody>
      </p:sp>
      <p:sp>
        <p:nvSpPr>
          <p:cNvPr id="23" name="Text 19"/>
          <p:cNvSpPr/>
          <p:nvPr/>
        </p:nvSpPr>
        <p:spPr>
          <a:xfrm>
            <a:off x="621792" y="3730752"/>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Is specific enough to be useful — not generic boilerplate</a:t>
            </a:r>
            <a:endParaRPr lang="en-US" sz="1050" dirty="0"/>
          </a:p>
        </p:txBody>
      </p:sp>
      <p:sp>
        <p:nvSpPr>
          <p:cNvPr id="24" name="Shape 20"/>
          <p:cNvSpPr/>
          <p:nvPr/>
        </p:nvSpPr>
        <p:spPr>
          <a:xfrm>
            <a:off x="402336" y="4096512"/>
            <a:ext cx="146304" cy="146304"/>
          </a:xfrm>
          <a:prstGeom prst="ellipse">
            <a:avLst/>
          </a:prstGeom>
          <a:solidFill>
            <a:srgbClr val="2E8B57"/>
          </a:solidFill>
          <a:ln w="12700">
            <a:solidFill>
              <a:srgbClr val="2E8B57"/>
            </a:solidFill>
            <a:prstDash val="solid"/>
          </a:ln>
        </p:spPr>
        <p:txBody>
          <a:bodyPr/>
          <a:lstStyle/>
          <a:p>
            <a:endParaRPr lang="en-GB"/>
          </a:p>
        </p:txBody>
      </p:sp>
      <p:sp>
        <p:nvSpPr>
          <p:cNvPr id="25" name="Text 21"/>
          <p:cNvSpPr/>
          <p:nvPr/>
        </p:nvSpPr>
        <p:spPr>
          <a:xfrm>
            <a:off x="621792" y="4069080"/>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Has been completed by a competent person who knows the task</a:t>
            </a:r>
            <a:endParaRPr lang="en-US" sz="1050" dirty="0"/>
          </a:p>
        </p:txBody>
      </p:sp>
      <p:sp>
        <p:nvSpPr>
          <p:cNvPr id="26" name="Shape 22"/>
          <p:cNvSpPr/>
          <p:nvPr/>
        </p:nvSpPr>
        <p:spPr>
          <a:xfrm>
            <a:off x="402336" y="4434840"/>
            <a:ext cx="146304" cy="146304"/>
          </a:xfrm>
          <a:prstGeom prst="ellipse">
            <a:avLst/>
          </a:prstGeom>
          <a:solidFill>
            <a:srgbClr val="2E8B57"/>
          </a:solidFill>
          <a:ln w="12700">
            <a:solidFill>
              <a:srgbClr val="2E8B57"/>
            </a:solidFill>
            <a:prstDash val="solid"/>
          </a:ln>
        </p:spPr>
        <p:txBody>
          <a:bodyPr/>
          <a:lstStyle/>
          <a:p>
            <a:endParaRPr lang="en-GB"/>
          </a:p>
        </p:txBody>
      </p:sp>
      <p:sp>
        <p:nvSpPr>
          <p:cNvPr id="27" name="Text 23"/>
          <p:cNvSpPr/>
          <p:nvPr/>
        </p:nvSpPr>
        <p:spPr>
          <a:xfrm>
            <a:off x="621792" y="4407408"/>
            <a:ext cx="3822192"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Is dated, signed, reviewed regularly and updated when things change</a:t>
            </a:r>
            <a:endParaRPr lang="en-US" sz="1050" dirty="0"/>
          </a:p>
        </p:txBody>
      </p:sp>
      <p:sp>
        <p:nvSpPr>
          <p:cNvPr id="28" name="Shape 24"/>
          <p:cNvSpPr/>
          <p:nvPr/>
        </p:nvSpPr>
        <p:spPr>
          <a:xfrm>
            <a:off x="4663440" y="2011680"/>
            <a:ext cx="4133088" cy="320040"/>
          </a:xfrm>
          <a:prstGeom prst="rect">
            <a:avLst/>
          </a:prstGeom>
          <a:solidFill>
            <a:srgbClr val="C0392B"/>
          </a:solidFill>
          <a:ln w="12700">
            <a:solidFill>
              <a:srgbClr val="C0392B"/>
            </a:solidFill>
            <a:prstDash val="solid"/>
          </a:ln>
        </p:spPr>
        <p:txBody>
          <a:bodyPr/>
          <a:lstStyle/>
          <a:p>
            <a:endParaRPr lang="en-GB"/>
          </a:p>
        </p:txBody>
      </p:sp>
      <p:pic>
        <p:nvPicPr>
          <p:cNvPr id="29" name="Image 2" descr="preencoded.png"/>
          <p:cNvPicPr>
            <a:picLocks noChangeAspect="1"/>
          </p:cNvPicPr>
          <p:nvPr/>
        </p:nvPicPr>
        <p:blipFill>
          <a:blip r:embed="rId5"/>
          <a:stretch>
            <a:fillRect/>
          </a:stretch>
        </p:blipFill>
        <p:spPr>
          <a:xfrm>
            <a:off x="4718304" y="2029968"/>
            <a:ext cx="256032" cy="256032"/>
          </a:xfrm>
          <a:prstGeom prst="rect">
            <a:avLst/>
          </a:prstGeom>
        </p:spPr>
      </p:pic>
      <p:sp>
        <p:nvSpPr>
          <p:cNvPr id="30" name="Text 25"/>
          <p:cNvSpPr/>
          <p:nvPr/>
        </p:nvSpPr>
        <p:spPr>
          <a:xfrm>
            <a:off x="5047488" y="2029968"/>
            <a:ext cx="3639312"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Signs of a POOR Assessment:</a:t>
            </a:r>
            <a:endParaRPr lang="en-US" sz="1100" dirty="0"/>
          </a:p>
        </p:txBody>
      </p:sp>
      <p:sp>
        <p:nvSpPr>
          <p:cNvPr id="31" name="Shape 26"/>
          <p:cNvSpPr/>
          <p:nvPr/>
        </p:nvSpPr>
        <p:spPr>
          <a:xfrm>
            <a:off x="4718304" y="2432304"/>
            <a:ext cx="128016" cy="128016"/>
          </a:xfrm>
          <a:prstGeom prst="rect">
            <a:avLst/>
          </a:prstGeom>
          <a:solidFill>
            <a:srgbClr val="C0392B"/>
          </a:solidFill>
          <a:ln w="12700">
            <a:solidFill>
              <a:srgbClr val="C0392B"/>
            </a:solidFill>
            <a:prstDash val="solid"/>
          </a:ln>
        </p:spPr>
        <p:txBody>
          <a:bodyPr/>
          <a:lstStyle/>
          <a:p>
            <a:endParaRPr lang="en-GB"/>
          </a:p>
        </p:txBody>
      </p:sp>
      <p:sp>
        <p:nvSpPr>
          <p:cNvPr id="32" name="Text 27"/>
          <p:cNvSpPr/>
          <p:nvPr/>
        </p:nvSpPr>
        <p:spPr>
          <a:xfrm>
            <a:off x="4919472" y="2395728"/>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Lists hazards but offers only 'train employees' as the control</a:t>
            </a:r>
            <a:endParaRPr lang="en-US" sz="1050" dirty="0"/>
          </a:p>
        </p:txBody>
      </p:sp>
      <p:sp>
        <p:nvSpPr>
          <p:cNvPr id="33" name="Shape 28"/>
          <p:cNvSpPr/>
          <p:nvPr/>
        </p:nvSpPr>
        <p:spPr>
          <a:xfrm>
            <a:off x="4718304" y="2770632"/>
            <a:ext cx="128016" cy="128016"/>
          </a:xfrm>
          <a:prstGeom prst="rect">
            <a:avLst/>
          </a:prstGeom>
          <a:solidFill>
            <a:srgbClr val="C0392B"/>
          </a:solidFill>
          <a:ln w="12700">
            <a:solidFill>
              <a:srgbClr val="C0392B"/>
            </a:solidFill>
            <a:prstDash val="solid"/>
          </a:ln>
        </p:spPr>
        <p:txBody>
          <a:bodyPr/>
          <a:lstStyle/>
          <a:p>
            <a:endParaRPr lang="en-GB"/>
          </a:p>
        </p:txBody>
      </p:sp>
      <p:sp>
        <p:nvSpPr>
          <p:cNvPr id="34" name="Text 29"/>
          <p:cNvSpPr/>
          <p:nvPr/>
        </p:nvSpPr>
        <p:spPr>
          <a:xfrm>
            <a:off x="4919472" y="2734056"/>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Gives generic controls that could apply to any task in any industry</a:t>
            </a:r>
            <a:endParaRPr lang="en-US" sz="1050" dirty="0"/>
          </a:p>
        </p:txBody>
      </p:sp>
      <p:sp>
        <p:nvSpPr>
          <p:cNvPr id="35" name="Shape 30"/>
          <p:cNvSpPr/>
          <p:nvPr/>
        </p:nvSpPr>
        <p:spPr>
          <a:xfrm>
            <a:off x="4718304" y="3108960"/>
            <a:ext cx="128016" cy="128016"/>
          </a:xfrm>
          <a:prstGeom prst="rect">
            <a:avLst/>
          </a:prstGeom>
          <a:solidFill>
            <a:srgbClr val="C0392B"/>
          </a:solidFill>
          <a:ln w="12700">
            <a:solidFill>
              <a:srgbClr val="C0392B"/>
            </a:solidFill>
            <a:prstDash val="solid"/>
          </a:ln>
        </p:spPr>
        <p:txBody>
          <a:bodyPr/>
          <a:lstStyle/>
          <a:p>
            <a:endParaRPr lang="en-GB"/>
          </a:p>
        </p:txBody>
      </p:sp>
      <p:sp>
        <p:nvSpPr>
          <p:cNvPr id="36" name="Text 31"/>
          <p:cNvSpPr/>
          <p:nvPr/>
        </p:nvSpPr>
        <p:spPr>
          <a:xfrm>
            <a:off x="4919472" y="3072384"/>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Has no risk scores or scores that have not been genuinely evaluated</a:t>
            </a:r>
            <a:endParaRPr lang="en-US" sz="1050" dirty="0"/>
          </a:p>
        </p:txBody>
      </p:sp>
      <p:sp>
        <p:nvSpPr>
          <p:cNvPr id="37" name="Shape 32"/>
          <p:cNvSpPr/>
          <p:nvPr/>
        </p:nvSpPr>
        <p:spPr>
          <a:xfrm>
            <a:off x="4718304" y="3447288"/>
            <a:ext cx="128016" cy="128016"/>
          </a:xfrm>
          <a:prstGeom prst="rect">
            <a:avLst/>
          </a:prstGeom>
          <a:solidFill>
            <a:srgbClr val="C0392B"/>
          </a:solidFill>
          <a:ln w="12700">
            <a:solidFill>
              <a:srgbClr val="C0392B"/>
            </a:solidFill>
            <a:prstDash val="solid"/>
          </a:ln>
        </p:spPr>
        <p:txBody>
          <a:bodyPr/>
          <a:lstStyle/>
          <a:p>
            <a:endParaRPr lang="en-GB"/>
          </a:p>
        </p:txBody>
      </p:sp>
      <p:sp>
        <p:nvSpPr>
          <p:cNvPr id="38" name="Text 33"/>
          <p:cNvSpPr/>
          <p:nvPr/>
        </p:nvSpPr>
        <p:spPr>
          <a:xfrm>
            <a:off x="4919472" y="3410712"/>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Was completed at a desk without observing the actual task</a:t>
            </a:r>
            <a:endParaRPr lang="en-US" sz="1050" dirty="0"/>
          </a:p>
        </p:txBody>
      </p:sp>
      <p:sp>
        <p:nvSpPr>
          <p:cNvPr id="39" name="Shape 34"/>
          <p:cNvSpPr/>
          <p:nvPr/>
        </p:nvSpPr>
        <p:spPr>
          <a:xfrm>
            <a:off x="4718304" y="3785616"/>
            <a:ext cx="128016" cy="128016"/>
          </a:xfrm>
          <a:prstGeom prst="rect">
            <a:avLst/>
          </a:prstGeom>
          <a:solidFill>
            <a:srgbClr val="C0392B"/>
          </a:solidFill>
          <a:ln w="12700">
            <a:solidFill>
              <a:srgbClr val="C0392B"/>
            </a:solidFill>
            <a:prstDash val="solid"/>
          </a:ln>
        </p:spPr>
        <p:txBody>
          <a:bodyPr/>
          <a:lstStyle/>
          <a:p>
            <a:endParaRPr lang="en-GB"/>
          </a:p>
        </p:txBody>
      </p:sp>
      <p:sp>
        <p:nvSpPr>
          <p:cNvPr id="40" name="Text 35"/>
          <p:cNvSpPr/>
          <p:nvPr/>
        </p:nvSpPr>
        <p:spPr>
          <a:xfrm>
            <a:off x="4919472" y="3749040"/>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Has not been reviewed since the task, equipment, or people changed</a:t>
            </a:r>
            <a:endParaRPr lang="en-US" sz="1050" dirty="0"/>
          </a:p>
        </p:txBody>
      </p:sp>
      <p:sp>
        <p:nvSpPr>
          <p:cNvPr id="41" name="Shape 36"/>
          <p:cNvSpPr/>
          <p:nvPr/>
        </p:nvSpPr>
        <p:spPr>
          <a:xfrm>
            <a:off x="4718304" y="4123944"/>
            <a:ext cx="128016" cy="128016"/>
          </a:xfrm>
          <a:prstGeom prst="rect">
            <a:avLst/>
          </a:prstGeom>
          <a:solidFill>
            <a:srgbClr val="C0392B"/>
          </a:solidFill>
          <a:ln w="12700">
            <a:solidFill>
              <a:srgbClr val="C0392B"/>
            </a:solidFill>
            <a:prstDash val="solid"/>
          </a:ln>
        </p:spPr>
        <p:txBody>
          <a:bodyPr/>
          <a:lstStyle/>
          <a:p>
            <a:endParaRPr lang="en-GB"/>
          </a:p>
        </p:txBody>
      </p:sp>
      <p:sp>
        <p:nvSpPr>
          <p:cNvPr id="42" name="Text 37"/>
          <p:cNvSpPr/>
          <p:nvPr/>
        </p:nvSpPr>
        <p:spPr>
          <a:xfrm>
            <a:off x="4919472" y="4087368"/>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Is not accessible to the people doing the job</a:t>
            </a:r>
            <a:endParaRPr lang="en-US" sz="1050" dirty="0"/>
          </a:p>
        </p:txBody>
      </p:sp>
      <p:sp>
        <p:nvSpPr>
          <p:cNvPr id="43" name="Shape 38"/>
          <p:cNvSpPr/>
          <p:nvPr/>
        </p:nvSpPr>
        <p:spPr>
          <a:xfrm>
            <a:off x="4718304" y="4462272"/>
            <a:ext cx="128016" cy="128016"/>
          </a:xfrm>
          <a:prstGeom prst="rect">
            <a:avLst/>
          </a:prstGeom>
          <a:solidFill>
            <a:srgbClr val="C0392B"/>
          </a:solidFill>
          <a:ln w="12700">
            <a:solidFill>
              <a:srgbClr val="C0392B"/>
            </a:solidFill>
            <a:prstDash val="solid"/>
          </a:ln>
        </p:spPr>
        <p:txBody>
          <a:bodyPr/>
          <a:lstStyle/>
          <a:p>
            <a:endParaRPr lang="en-GB"/>
          </a:p>
        </p:txBody>
      </p:sp>
      <p:sp>
        <p:nvSpPr>
          <p:cNvPr id="44" name="Text 39"/>
          <p:cNvSpPr/>
          <p:nvPr/>
        </p:nvSpPr>
        <p:spPr>
          <a:xfrm>
            <a:off x="4919472" y="4425696"/>
            <a:ext cx="3767328" cy="31089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Residual risk is the same as initial risk — controls have made no difference</a:t>
            </a:r>
            <a:endParaRPr lang="en-US" sz="1050" dirty="0"/>
          </a:p>
        </p:txBody>
      </p:sp>
      <p:sp>
        <p:nvSpPr>
          <p:cNvPr id="45" name="Rectangle 4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7"/>
          <a:stretch>
            <a:fillRect/>
          </a:stretch>
        </p:blipFill>
        <p:spPr>
          <a:xfrm>
            <a:off x="7562088" y="100584"/>
            <a:ext cx="566928" cy="347472"/>
          </a:xfrm>
          <a:prstGeom prst="rect">
            <a:avLst/>
          </a:prstGeom>
        </p:spPr>
      </p:pic>
      <p:pic>
        <p:nvPicPr>
          <p:cNvPr id="47" name="Picture 46" descr="image.png"/>
          <p:cNvPicPr>
            <a:picLocks noChangeAspect="1"/>
          </p:cNvPicPr>
          <p:nvPr/>
        </p:nvPicPr>
        <p:blipFill>
          <a:blip r:embed="rId6"/>
          <a:stretch>
            <a:fillRect/>
          </a:stretch>
        </p:blipFill>
        <p:spPr>
          <a:xfrm>
            <a:off x="8174736" y="100584"/>
            <a:ext cx="658368" cy="347472"/>
          </a:xfrm>
          <a:prstGeom prst="rect">
            <a:avLst/>
          </a:prstGeom>
        </p:spPr>
      </p:pic>
      <p:sp>
        <p:nvSpPr>
          <p:cNvPr id="48" name="Rectangle 4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E08A00"/>
          </a:solidFill>
          <a:ln w="12700">
            <a:solidFill>
              <a:srgbClr val="E08A00"/>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4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Record Your Findings: What to Document</a:t>
            </a:r>
            <a:endParaRPr lang="en-US" sz="2600" dirty="0"/>
          </a:p>
        </p:txBody>
      </p:sp>
      <p:sp>
        <p:nvSpPr>
          <p:cNvPr id="9" name="Shape 6"/>
          <p:cNvSpPr/>
          <p:nvPr/>
        </p:nvSpPr>
        <p:spPr>
          <a:xfrm>
            <a:off x="347472" y="1261872"/>
            <a:ext cx="8449056" cy="0"/>
          </a:xfrm>
          <a:prstGeom prst="line">
            <a:avLst/>
          </a:prstGeom>
          <a:noFill/>
          <a:ln w="19050">
            <a:solidFill>
              <a:srgbClr val="E08A00"/>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If you employ five or more people, you must record the significant findings of your risk assessment. Even where fewer are employed, a written record is strongly recommended as evidence of due diligence.</a:t>
            </a:r>
            <a:endParaRPr lang="en-US" sz="1250" dirty="0"/>
          </a:p>
        </p:txBody>
      </p:sp>
      <p:sp>
        <p:nvSpPr>
          <p:cNvPr id="11" name="Shape 8"/>
          <p:cNvSpPr/>
          <p:nvPr/>
        </p:nvSpPr>
        <p:spPr>
          <a:xfrm>
            <a:off x="347472" y="1920240"/>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12" name="Text 9"/>
          <p:cNvSpPr/>
          <p:nvPr/>
        </p:nvSpPr>
        <p:spPr>
          <a:xfrm>
            <a:off x="457200" y="1965960"/>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Activity / Task Description</a:t>
            </a:r>
            <a:endParaRPr lang="en-US" sz="1100" dirty="0"/>
          </a:p>
        </p:txBody>
      </p:sp>
      <p:sp>
        <p:nvSpPr>
          <p:cNvPr id="13" name="Text 10"/>
          <p:cNvSpPr/>
          <p:nvPr/>
        </p:nvSpPr>
        <p:spPr>
          <a:xfrm>
            <a:off x="457200" y="2194560"/>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Be specific. 'Workshop operations' is not sufficient. Name the task, the machine, the material, and the location.</a:t>
            </a:r>
            <a:endParaRPr lang="en-US" sz="1050" dirty="0"/>
          </a:p>
        </p:txBody>
      </p:sp>
      <p:sp>
        <p:nvSpPr>
          <p:cNvPr id="14" name="Shape 11"/>
          <p:cNvSpPr/>
          <p:nvPr/>
        </p:nvSpPr>
        <p:spPr>
          <a:xfrm>
            <a:off x="4663440" y="1920240"/>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15" name="Text 12"/>
          <p:cNvSpPr/>
          <p:nvPr/>
        </p:nvSpPr>
        <p:spPr>
          <a:xfrm>
            <a:off x="4773168" y="1965960"/>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Hazard Identified</a:t>
            </a:r>
            <a:endParaRPr lang="en-US" sz="1100" dirty="0"/>
          </a:p>
        </p:txBody>
      </p:sp>
      <p:sp>
        <p:nvSpPr>
          <p:cNvPr id="16" name="Text 13"/>
          <p:cNvSpPr/>
          <p:nvPr/>
        </p:nvSpPr>
        <p:spPr>
          <a:xfrm>
            <a:off x="4773168" y="2194560"/>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State the specific hazard clearly: 'Rotating chuck entanglement' not just 'machinery'.</a:t>
            </a:r>
            <a:endParaRPr lang="en-US" sz="1050" dirty="0"/>
          </a:p>
        </p:txBody>
      </p:sp>
      <p:sp>
        <p:nvSpPr>
          <p:cNvPr id="17" name="Shape 14"/>
          <p:cNvSpPr/>
          <p:nvPr/>
        </p:nvSpPr>
        <p:spPr>
          <a:xfrm>
            <a:off x="347472" y="2633472"/>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18" name="Text 15"/>
          <p:cNvSpPr/>
          <p:nvPr/>
        </p:nvSpPr>
        <p:spPr>
          <a:xfrm>
            <a:off x="457200" y="2679192"/>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Who Might Be Harmed</a:t>
            </a:r>
            <a:endParaRPr lang="en-US" sz="1100" dirty="0"/>
          </a:p>
        </p:txBody>
      </p:sp>
      <p:sp>
        <p:nvSpPr>
          <p:cNvPr id="19" name="Text 16"/>
          <p:cNvSpPr/>
          <p:nvPr/>
        </p:nvSpPr>
        <p:spPr>
          <a:xfrm>
            <a:off x="457200" y="2907792"/>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List the groups: operators, maintenance staff, visitors, etc. Note any vulnerable groups separately.</a:t>
            </a:r>
            <a:endParaRPr lang="en-US" sz="1050" dirty="0"/>
          </a:p>
        </p:txBody>
      </p:sp>
      <p:sp>
        <p:nvSpPr>
          <p:cNvPr id="20" name="Shape 17"/>
          <p:cNvSpPr/>
          <p:nvPr/>
        </p:nvSpPr>
        <p:spPr>
          <a:xfrm>
            <a:off x="4663440" y="2633472"/>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21" name="Text 18"/>
          <p:cNvSpPr/>
          <p:nvPr/>
        </p:nvSpPr>
        <p:spPr>
          <a:xfrm>
            <a:off x="4773168" y="2679192"/>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Existing Controls</a:t>
            </a:r>
            <a:endParaRPr lang="en-US" sz="1100" dirty="0"/>
          </a:p>
        </p:txBody>
      </p:sp>
      <p:sp>
        <p:nvSpPr>
          <p:cNvPr id="22" name="Text 19"/>
          <p:cNvSpPr/>
          <p:nvPr/>
        </p:nvSpPr>
        <p:spPr>
          <a:xfrm>
            <a:off x="4773168" y="2907792"/>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What controls are already in place before you add any new ones? Guards, PPE, training, procedures.</a:t>
            </a:r>
            <a:endParaRPr lang="en-US" sz="1050" dirty="0"/>
          </a:p>
        </p:txBody>
      </p:sp>
      <p:sp>
        <p:nvSpPr>
          <p:cNvPr id="23" name="Shape 20"/>
          <p:cNvSpPr/>
          <p:nvPr/>
        </p:nvSpPr>
        <p:spPr>
          <a:xfrm>
            <a:off x="347472" y="3346704"/>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24" name="Text 21"/>
          <p:cNvSpPr/>
          <p:nvPr/>
        </p:nvSpPr>
        <p:spPr>
          <a:xfrm>
            <a:off x="457200" y="3392424"/>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Initial Risk Score (L x S)</a:t>
            </a:r>
            <a:endParaRPr lang="en-US" sz="1100" dirty="0"/>
          </a:p>
        </p:txBody>
      </p:sp>
      <p:sp>
        <p:nvSpPr>
          <p:cNvPr id="25" name="Text 22"/>
          <p:cNvSpPr/>
          <p:nvPr/>
        </p:nvSpPr>
        <p:spPr>
          <a:xfrm>
            <a:off x="457200" y="3621024"/>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The likelihood and severity score before your additional controls are applied. Record both scores separately.</a:t>
            </a:r>
            <a:endParaRPr lang="en-US" sz="1050" dirty="0"/>
          </a:p>
        </p:txBody>
      </p:sp>
      <p:sp>
        <p:nvSpPr>
          <p:cNvPr id="26" name="Shape 23"/>
          <p:cNvSpPr/>
          <p:nvPr/>
        </p:nvSpPr>
        <p:spPr>
          <a:xfrm>
            <a:off x="4663440" y="3346704"/>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27" name="Text 24"/>
          <p:cNvSpPr/>
          <p:nvPr/>
        </p:nvSpPr>
        <p:spPr>
          <a:xfrm>
            <a:off x="4773168" y="3392424"/>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Additional Controls Required</a:t>
            </a:r>
            <a:endParaRPr lang="en-US" sz="1100" dirty="0"/>
          </a:p>
        </p:txBody>
      </p:sp>
      <p:sp>
        <p:nvSpPr>
          <p:cNvPr id="28" name="Text 25"/>
          <p:cNvSpPr/>
          <p:nvPr/>
        </p:nvSpPr>
        <p:spPr>
          <a:xfrm>
            <a:off x="4773168" y="3621024"/>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What further action is needed? Who is responsible and by when? Be specific and achievable.</a:t>
            </a:r>
            <a:endParaRPr lang="en-US" sz="1050" dirty="0"/>
          </a:p>
        </p:txBody>
      </p:sp>
      <p:sp>
        <p:nvSpPr>
          <p:cNvPr id="29" name="Shape 26"/>
          <p:cNvSpPr/>
          <p:nvPr/>
        </p:nvSpPr>
        <p:spPr>
          <a:xfrm>
            <a:off x="347472" y="4059936"/>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30" name="Text 27"/>
          <p:cNvSpPr/>
          <p:nvPr/>
        </p:nvSpPr>
        <p:spPr>
          <a:xfrm>
            <a:off x="457200" y="4105656"/>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Residual Risk Score (L x S)</a:t>
            </a:r>
            <a:endParaRPr lang="en-US" sz="1100" dirty="0"/>
          </a:p>
        </p:txBody>
      </p:sp>
      <p:sp>
        <p:nvSpPr>
          <p:cNvPr id="31" name="Text 28"/>
          <p:cNvSpPr/>
          <p:nvPr/>
        </p:nvSpPr>
        <p:spPr>
          <a:xfrm>
            <a:off x="457200" y="4334256"/>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The likelihood and severity score after all controls have been applied. This is your target risk level.</a:t>
            </a:r>
            <a:endParaRPr lang="en-US" sz="1050" dirty="0"/>
          </a:p>
        </p:txBody>
      </p:sp>
      <p:sp>
        <p:nvSpPr>
          <p:cNvPr id="32" name="Shape 29"/>
          <p:cNvSpPr/>
          <p:nvPr/>
        </p:nvSpPr>
        <p:spPr>
          <a:xfrm>
            <a:off x="4663440" y="4059936"/>
            <a:ext cx="4133088" cy="640080"/>
          </a:xfrm>
          <a:prstGeom prst="roundRect">
            <a:avLst>
              <a:gd name="adj" fmla="val 10000"/>
            </a:avLst>
          </a:prstGeom>
          <a:solidFill>
            <a:srgbClr val="FFFBF0"/>
          </a:solidFill>
          <a:ln w="10160">
            <a:solidFill>
              <a:srgbClr val="E08A00"/>
            </a:solidFill>
            <a:prstDash val="solid"/>
          </a:ln>
        </p:spPr>
        <p:txBody>
          <a:bodyPr/>
          <a:lstStyle/>
          <a:p>
            <a:endParaRPr lang="en-GB"/>
          </a:p>
        </p:txBody>
      </p:sp>
      <p:sp>
        <p:nvSpPr>
          <p:cNvPr id="33" name="Text 30"/>
          <p:cNvSpPr/>
          <p:nvPr/>
        </p:nvSpPr>
        <p:spPr>
          <a:xfrm>
            <a:off x="4773168" y="4105656"/>
            <a:ext cx="3950208" cy="228600"/>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Assessment Date and Review Date</a:t>
            </a:r>
            <a:endParaRPr lang="en-US" sz="1100" dirty="0"/>
          </a:p>
        </p:txBody>
      </p:sp>
      <p:sp>
        <p:nvSpPr>
          <p:cNvPr id="34" name="Text 31"/>
          <p:cNvSpPr/>
          <p:nvPr/>
        </p:nvSpPr>
        <p:spPr>
          <a:xfrm>
            <a:off x="4773168" y="4334256"/>
            <a:ext cx="39502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Date completed, name and competence of assessor, and the scheduled review date (or trigger for earlier review).</a:t>
            </a:r>
            <a:endParaRPr lang="en-US" sz="1050" dirty="0"/>
          </a:p>
        </p:txBody>
      </p:sp>
      <p:sp>
        <p:nvSpPr>
          <p:cNvPr id="35" name="Rectangle 3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5"/>
          <a:stretch>
            <a:fillRect/>
          </a:stretch>
        </p:blipFill>
        <p:spPr>
          <a:xfrm>
            <a:off x="7562088" y="100584"/>
            <a:ext cx="566928" cy="347472"/>
          </a:xfrm>
          <a:prstGeom prst="rect">
            <a:avLst/>
          </a:prstGeom>
        </p:spPr>
      </p:pic>
      <p:pic>
        <p:nvPicPr>
          <p:cNvPr id="37" name="Picture 36" descr="image.png"/>
          <p:cNvPicPr>
            <a:picLocks noChangeAspect="1"/>
          </p:cNvPicPr>
          <p:nvPr/>
        </p:nvPicPr>
        <p:blipFill>
          <a:blip r:embed="rId4"/>
          <a:stretch>
            <a:fillRect/>
          </a:stretch>
        </p:blipFill>
        <p:spPr>
          <a:xfrm>
            <a:off x="8174736" y="100584"/>
            <a:ext cx="658368" cy="347472"/>
          </a:xfrm>
          <a:prstGeom prst="rect">
            <a:avLst/>
          </a:prstGeom>
        </p:spPr>
      </p:pic>
      <p:sp>
        <p:nvSpPr>
          <p:cNvPr id="38" name="Rectangle 3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2E8B57"/>
          </a:solidFill>
          <a:ln w="12700">
            <a:solidFill>
              <a:srgbClr val="2E8B57"/>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Step 5 of 5</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Review and Keep Your Assessments Up to Date</a:t>
            </a:r>
            <a:endParaRPr lang="en-US" sz="2600" dirty="0"/>
          </a:p>
        </p:txBody>
      </p:sp>
      <p:sp>
        <p:nvSpPr>
          <p:cNvPr id="9" name="Shape 6"/>
          <p:cNvSpPr/>
          <p:nvPr/>
        </p:nvSpPr>
        <p:spPr>
          <a:xfrm>
            <a:off x="347472" y="1261872"/>
            <a:ext cx="8449056" cy="0"/>
          </a:xfrm>
          <a:prstGeom prst="line">
            <a:avLst/>
          </a:prstGeom>
          <a:noFill/>
          <a:ln w="19050">
            <a:solidFill>
              <a:srgbClr val="2E8B57"/>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A risk assessment is a live document. It must be reviewed whenever there is reason to believe it is no longer valid, and at regular planned intervals. An out-of-date risk assessment provides no legal protection.</a:t>
            </a:r>
            <a:endParaRPr lang="en-US" sz="1250" dirty="0"/>
          </a:p>
        </p:txBody>
      </p:sp>
      <p:sp>
        <p:nvSpPr>
          <p:cNvPr id="11" name="Shape 8"/>
          <p:cNvSpPr/>
          <p:nvPr/>
        </p:nvSpPr>
        <p:spPr>
          <a:xfrm>
            <a:off x="347472" y="1920240"/>
            <a:ext cx="4160520" cy="320040"/>
          </a:xfrm>
          <a:prstGeom prst="rect">
            <a:avLst/>
          </a:prstGeom>
          <a:solidFill>
            <a:srgbClr val="2E8B57"/>
          </a:solidFill>
          <a:ln w="12700">
            <a:solidFill>
              <a:srgbClr val="2E8B57"/>
            </a:solidFill>
            <a:prstDash val="solid"/>
          </a:ln>
        </p:spPr>
        <p:txBody>
          <a:bodyPr/>
          <a:lstStyle/>
          <a:p>
            <a:endParaRPr lang="en-GB"/>
          </a:p>
        </p:txBody>
      </p:sp>
      <p:sp>
        <p:nvSpPr>
          <p:cNvPr id="12" name="Text 9"/>
          <p:cNvSpPr/>
          <p:nvPr/>
        </p:nvSpPr>
        <p:spPr>
          <a:xfrm>
            <a:off x="457200" y="1938528"/>
            <a:ext cx="4005072"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Triggers for Immediate Review</a:t>
            </a:r>
            <a:endParaRPr lang="en-US" sz="1150" dirty="0"/>
          </a:p>
        </p:txBody>
      </p:sp>
      <p:sp>
        <p:nvSpPr>
          <p:cNvPr id="13" name="Shape 10"/>
          <p:cNvSpPr/>
          <p:nvPr/>
        </p:nvSpPr>
        <p:spPr>
          <a:xfrm>
            <a:off x="402336" y="2322576"/>
            <a:ext cx="164592" cy="164592"/>
          </a:xfrm>
          <a:prstGeom prst="ellipse">
            <a:avLst/>
          </a:prstGeom>
          <a:solidFill>
            <a:srgbClr val="2E8B57"/>
          </a:solidFill>
          <a:ln w="12700">
            <a:solidFill>
              <a:srgbClr val="2E8B57"/>
            </a:solidFill>
            <a:prstDash val="solid"/>
          </a:ln>
        </p:spPr>
        <p:txBody>
          <a:bodyPr/>
          <a:lstStyle/>
          <a:p>
            <a:endParaRPr lang="en-GB"/>
          </a:p>
        </p:txBody>
      </p:sp>
      <p:sp>
        <p:nvSpPr>
          <p:cNvPr id="14" name="Text 11"/>
          <p:cNvSpPr/>
          <p:nvPr/>
        </p:nvSpPr>
        <p:spPr>
          <a:xfrm>
            <a:off x="640080" y="229514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An accident, incident, or near miss occurs related to the task</a:t>
            </a:r>
            <a:endParaRPr lang="en-US" sz="1100" dirty="0"/>
          </a:p>
        </p:txBody>
      </p:sp>
      <p:sp>
        <p:nvSpPr>
          <p:cNvPr id="15" name="Shape 12"/>
          <p:cNvSpPr/>
          <p:nvPr/>
        </p:nvSpPr>
        <p:spPr>
          <a:xfrm>
            <a:off x="402336" y="2688336"/>
            <a:ext cx="164592" cy="164592"/>
          </a:xfrm>
          <a:prstGeom prst="ellipse">
            <a:avLst/>
          </a:prstGeom>
          <a:solidFill>
            <a:srgbClr val="2E8B57"/>
          </a:solidFill>
          <a:ln w="12700">
            <a:solidFill>
              <a:srgbClr val="2E8B57"/>
            </a:solidFill>
            <a:prstDash val="solid"/>
          </a:ln>
        </p:spPr>
        <p:txBody>
          <a:bodyPr/>
          <a:lstStyle/>
          <a:p>
            <a:endParaRPr lang="en-GB"/>
          </a:p>
        </p:txBody>
      </p:sp>
      <p:sp>
        <p:nvSpPr>
          <p:cNvPr id="16" name="Text 13"/>
          <p:cNvSpPr/>
          <p:nvPr/>
        </p:nvSpPr>
        <p:spPr>
          <a:xfrm>
            <a:off x="640080" y="266090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New equipment, materials, or substances are introduced</a:t>
            </a:r>
            <a:endParaRPr lang="en-US" sz="1100" dirty="0"/>
          </a:p>
        </p:txBody>
      </p:sp>
      <p:sp>
        <p:nvSpPr>
          <p:cNvPr id="17" name="Shape 14"/>
          <p:cNvSpPr/>
          <p:nvPr/>
        </p:nvSpPr>
        <p:spPr>
          <a:xfrm>
            <a:off x="402336" y="3054096"/>
            <a:ext cx="164592" cy="164592"/>
          </a:xfrm>
          <a:prstGeom prst="ellipse">
            <a:avLst/>
          </a:prstGeom>
          <a:solidFill>
            <a:srgbClr val="2E8B57"/>
          </a:solidFill>
          <a:ln w="12700">
            <a:solidFill>
              <a:srgbClr val="2E8B57"/>
            </a:solidFill>
            <a:prstDash val="solid"/>
          </a:ln>
        </p:spPr>
        <p:txBody>
          <a:bodyPr/>
          <a:lstStyle/>
          <a:p>
            <a:endParaRPr lang="en-GB"/>
          </a:p>
        </p:txBody>
      </p:sp>
      <p:sp>
        <p:nvSpPr>
          <p:cNvPr id="18" name="Text 15"/>
          <p:cNvSpPr/>
          <p:nvPr/>
        </p:nvSpPr>
        <p:spPr>
          <a:xfrm>
            <a:off x="640080" y="302666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The task, location, or working method changes significantly</a:t>
            </a:r>
            <a:endParaRPr lang="en-US" sz="1100" dirty="0"/>
          </a:p>
        </p:txBody>
      </p:sp>
      <p:sp>
        <p:nvSpPr>
          <p:cNvPr id="19" name="Shape 16"/>
          <p:cNvSpPr/>
          <p:nvPr/>
        </p:nvSpPr>
        <p:spPr>
          <a:xfrm>
            <a:off x="402336" y="3419856"/>
            <a:ext cx="164592" cy="164592"/>
          </a:xfrm>
          <a:prstGeom prst="ellipse">
            <a:avLst/>
          </a:prstGeom>
          <a:solidFill>
            <a:srgbClr val="2E8B57"/>
          </a:solidFill>
          <a:ln w="12700">
            <a:solidFill>
              <a:srgbClr val="2E8B57"/>
            </a:solidFill>
            <a:prstDash val="solid"/>
          </a:ln>
        </p:spPr>
        <p:txBody>
          <a:bodyPr/>
          <a:lstStyle/>
          <a:p>
            <a:endParaRPr lang="en-GB"/>
          </a:p>
        </p:txBody>
      </p:sp>
      <p:sp>
        <p:nvSpPr>
          <p:cNvPr id="20" name="Text 17"/>
          <p:cNvSpPr/>
          <p:nvPr/>
        </p:nvSpPr>
        <p:spPr>
          <a:xfrm>
            <a:off x="640080" y="339242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New information becomes available about the hazards involved</a:t>
            </a:r>
            <a:endParaRPr lang="en-US" sz="1100" dirty="0"/>
          </a:p>
        </p:txBody>
      </p:sp>
      <p:sp>
        <p:nvSpPr>
          <p:cNvPr id="21" name="Shape 18"/>
          <p:cNvSpPr/>
          <p:nvPr/>
        </p:nvSpPr>
        <p:spPr>
          <a:xfrm>
            <a:off x="402336" y="3785616"/>
            <a:ext cx="164592" cy="164592"/>
          </a:xfrm>
          <a:prstGeom prst="ellipse">
            <a:avLst/>
          </a:prstGeom>
          <a:solidFill>
            <a:srgbClr val="2E8B57"/>
          </a:solidFill>
          <a:ln w="12700">
            <a:solidFill>
              <a:srgbClr val="2E8B57"/>
            </a:solidFill>
            <a:prstDash val="solid"/>
          </a:ln>
        </p:spPr>
        <p:txBody>
          <a:bodyPr/>
          <a:lstStyle/>
          <a:p>
            <a:endParaRPr lang="en-GB"/>
          </a:p>
        </p:txBody>
      </p:sp>
      <p:sp>
        <p:nvSpPr>
          <p:cNvPr id="22" name="Text 19"/>
          <p:cNvSpPr/>
          <p:nvPr/>
        </p:nvSpPr>
        <p:spPr>
          <a:xfrm>
            <a:off x="640080" y="375818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A new employee joins the team, particularly a vulnerable group member</a:t>
            </a:r>
            <a:endParaRPr lang="en-US" sz="1100" dirty="0"/>
          </a:p>
        </p:txBody>
      </p:sp>
      <p:sp>
        <p:nvSpPr>
          <p:cNvPr id="23" name="Shape 20"/>
          <p:cNvSpPr/>
          <p:nvPr/>
        </p:nvSpPr>
        <p:spPr>
          <a:xfrm>
            <a:off x="402336" y="4151376"/>
            <a:ext cx="164592" cy="164592"/>
          </a:xfrm>
          <a:prstGeom prst="ellipse">
            <a:avLst/>
          </a:prstGeom>
          <a:solidFill>
            <a:srgbClr val="2E8B57"/>
          </a:solidFill>
          <a:ln w="12700">
            <a:solidFill>
              <a:srgbClr val="2E8B57"/>
            </a:solidFill>
            <a:prstDash val="solid"/>
          </a:ln>
        </p:spPr>
        <p:txBody>
          <a:bodyPr/>
          <a:lstStyle/>
          <a:p>
            <a:endParaRPr lang="en-GB"/>
          </a:p>
        </p:txBody>
      </p:sp>
      <p:sp>
        <p:nvSpPr>
          <p:cNvPr id="24" name="Text 21"/>
          <p:cNvSpPr/>
          <p:nvPr/>
        </p:nvSpPr>
        <p:spPr>
          <a:xfrm>
            <a:off x="640080" y="4123944"/>
            <a:ext cx="3794760" cy="329184"/>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Significant changes to legislation or guidance affecting the task</a:t>
            </a:r>
            <a:endParaRPr lang="en-US" sz="1100" dirty="0"/>
          </a:p>
        </p:txBody>
      </p:sp>
      <p:sp>
        <p:nvSpPr>
          <p:cNvPr id="25" name="Shape 22"/>
          <p:cNvSpPr/>
          <p:nvPr/>
        </p:nvSpPr>
        <p:spPr>
          <a:xfrm>
            <a:off x="4663440" y="1920240"/>
            <a:ext cx="4133088" cy="320040"/>
          </a:xfrm>
          <a:prstGeom prst="rect">
            <a:avLst/>
          </a:prstGeom>
          <a:solidFill>
            <a:srgbClr val="009FE3"/>
          </a:solidFill>
          <a:ln w="12700">
            <a:solidFill>
              <a:srgbClr val="009FE3"/>
            </a:solidFill>
            <a:prstDash val="solid"/>
          </a:ln>
        </p:spPr>
        <p:txBody>
          <a:bodyPr/>
          <a:lstStyle/>
          <a:p>
            <a:endParaRPr lang="en-GB"/>
          </a:p>
        </p:txBody>
      </p:sp>
      <p:sp>
        <p:nvSpPr>
          <p:cNvPr id="26" name="Text 23"/>
          <p:cNvSpPr/>
          <p:nvPr/>
        </p:nvSpPr>
        <p:spPr>
          <a:xfrm>
            <a:off x="4773168" y="1938528"/>
            <a:ext cx="397764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Planned Review Schedule</a:t>
            </a:r>
            <a:endParaRPr lang="en-US" sz="1150" dirty="0"/>
          </a:p>
        </p:txBody>
      </p:sp>
      <p:sp>
        <p:nvSpPr>
          <p:cNvPr id="27" name="Shape 24"/>
          <p:cNvSpPr/>
          <p:nvPr/>
        </p:nvSpPr>
        <p:spPr>
          <a:xfrm>
            <a:off x="4663440" y="2322576"/>
            <a:ext cx="4133088" cy="402336"/>
          </a:xfrm>
          <a:prstGeom prst="roundRect">
            <a:avLst>
              <a:gd name="adj" fmla="val 11364"/>
            </a:avLst>
          </a:prstGeom>
          <a:solidFill>
            <a:srgbClr val="F0F8F0"/>
          </a:solidFill>
          <a:ln w="6350">
            <a:solidFill>
              <a:srgbClr val="CCDDCC"/>
            </a:solidFill>
            <a:prstDash val="solid"/>
          </a:ln>
        </p:spPr>
        <p:txBody>
          <a:bodyPr/>
          <a:lstStyle/>
          <a:p>
            <a:endParaRPr lang="en-GB"/>
          </a:p>
        </p:txBody>
      </p:sp>
      <p:sp>
        <p:nvSpPr>
          <p:cNvPr id="28" name="Text 25"/>
          <p:cNvSpPr/>
          <p:nvPr/>
        </p:nvSpPr>
        <p:spPr>
          <a:xfrm>
            <a:off x="4754880" y="2359152"/>
            <a:ext cx="2011680" cy="329184"/>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Low-risk activities</a:t>
            </a:r>
            <a:endParaRPr lang="en-US" sz="1100" dirty="0"/>
          </a:p>
        </p:txBody>
      </p:sp>
      <p:sp>
        <p:nvSpPr>
          <p:cNvPr id="29" name="Text 26"/>
          <p:cNvSpPr/>
          <p:nvPr/>
        </p:nvSpPr>
        <p:spPr>
          <a:xfrm>
            <a:off x="6766560" y="2359152"/>
            <a:ext cx="1920240" cy="329184"/>
          </a:xfrm>
          <a:prstGeom prst="rect">
            <a:avLst/>
          </a:prstGeom>
          <a:noFill/>
          <a:ln/>
        </p:spPr>
        <p:txBody>
          <a:bodyPr wrap="square" lIns="0" tIns="0" rIns="0" bIns="0" rtlCol="0" anchor="ctr"/>
          <a:lstStyle/>
          <a:p>
            <a:pPr marL="0" indent="0">
              <a:buNone/>
            </a:pPr>
            <a:r>
              <a:rPr lang="en-US" sz="1100" dirty="0">
                <a:solidFill>
                  <a:srgbClr val="2E8B57"/>
                </a:solidFill>
                <a:latin typeface="Arial" pitchFamily="34" charset="0"/>
                <a:ea typeface="Arial" pitchFamily="34" charset="-122"/>
                <a:cs typeface="Arial" pitchFamily="34" charset="-120"/>
              </a:rPr>
              <a:t>Minimum annually</a:t>
            </a:r>
            <a:endParaRPr lang="en-US" sz="1100" dirty="0"/>
          </a:p>
        </p:txBody>
      </p:sp>
      <p:sp>
        <p:nvSpPr>
          <p:cNvPr id="30" name="Shape 27"/>
          <p:cNvSpPr/>
          <p:nvPr/>
        </p:nvSpPr>
        <p:spPr>
          <a:xfrm>
            <a:off x="4663440" y="2798064"/>
            <a:ext cx="4133088" cy="402336"/>
          </a:xfrm>
          <a:prstGeom prst="roundRect">
            <a:avLst>
              <a:gd name="adj" fmla="val 11364"/>
            </a:avLst>
          </a:prstGeom>
          <a:solidFill>
            <a:srgbClr val="F0F8F0"/>
          </a:solidFill>
          <a:ln w="6350">
            <a:solidFill>
              <a:srgbClr val="CCDDCC"/>
            </a:solidFill>
            <a:prstDash val="solid"/>
          </a:ln>
        </p:spPr>
        <p:txBody>
          <a:bodyPr/>
          <a:lstStyle/>
          <a:p>
            <a:endParaRPr lang="en-GB"/>
          </a:p>
        </p:txBody>
      </p:sp>
      <p:sp>
        <p:nvSpPr>
          <p:cNvPr id="31" name="Text 28"/>
          <p:cNvSpPr/>
          <p:nvPr/>
        </p:nvSpPr>
        <p:spPr>
          <a:xfrm>
            <a:off x="4754880" y="2834640"/>
            <a:ext cx="2011680" cy="329184"/>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Medium-risk activities</a:t>
            </a:r>
            <a:endParaRPr lang="en-US" sz="1100" dirty="0"/>
          </a:p>
        </p:txBody>
      </p:sp>
      <p:sp>
        <p:nvSpPr>
          <p:cNvPr id="32" name="Text 29"/>
          <p:cNvSpPr/>
          <p:nvPr/>
        </p:nvSpPr>
        <p:spPr>
          <a:xfrm>
            <a:off x="6766560" y="2834640"/>
            <a:ext cx="1920240" cy="329184"/>
          </a:xfrm>
          <a:prstGeom prst="rect">
            <a:avLst/>
          </a:prstGeom>
          <a:noFill/>
          <a:ln/>
        </p:spPr>
        <p:txBody>
          <a:bodyPr wrap="square" lIns="0" tIns="0" rIns="0" bIns="0" rtlCol="0" anchor="ctr"/>
          <a:lstStyle/>
          <a:p>
            <a:pPr marL="0" indent="0">
              <a:buNone/>
            </a:pPr>
            <a:r>
              <a:rPr lang="en-US" sz="1100" dirty="0">
                <a:solidFill>
                  <a:srgbClr val="2E8B57"/>
                </a:solidFill>
                <a:latin typeface="Arial" pitchFamily="34" charset="0"/>
                <a:ea typeface="Arial" pitchFamily="34" charset="-122"/>
                <a:cs typeface="Arial" pitchFamily="34" charset="-120"/>
              </a:rPr>
              <a:t>Every 6 months or when triggers apply</a:t>
            </a:r>
            <a:endParaRPr lang="en-US" sz="1100" dirty="0"/>
          </a:p>
        </p:txBody>
      </p:sp>
      <p:sp>
        <p:nvSpPr>
          <p:cNvPr id="33" name="Shape 30"/>
          <p:cNvSpPr/>
          <p:nvPr/>
        </p:nvSpPr>
        <p:spPr>
          <a:xfrm>
            <a:off x="4663440" y="3273552"/>
            <a:ext cx="4133088" cy="402336"/>
          </a:xfrm>
          <a:prstGeom prst="roundRect">
            <a:avLst>
              <a:gd name="adj" fmla="val 11364"/>
            </a:avLst>
          </a:prstGeom>
          <a:solidFill>
            <a:srgbClr val="F0F8F0"/>
          </a:solidFill>
          <a:ln w="6350">
            <a:solidFill>
              <a:srgbClr val="CCDDCC"/>
            </a:solidFill>
            <a:prstDash val="solid"/>
          </a:ln>
        </p:spPr>
        <p:txBody>
          <a:bodyPr/>
          <a:lstStyle/>
          <a:p>
            <a:endParaRPr lang="en-GB"/>
          </a:p>
        </p:txBody>
      </p:sp>
      <p:sp>
        <p:nvSpPr>
          <p:cNvPr id="34" name="Text 31"/>
          <p:cNvSpPr/>
          <p:nvPr/>
        </p:nvSpPr>
        <p:spPr>
          <a:xfrm>
            <a:off x="4754880" y="3310128"/>
            <a:ext cx="2011680" cy="329184"/>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High-risk activities</a:t>
            </a:r>
            <a:endParaRPr lang="en-US" sz="1100" dirty="0"/>
          </a:p>
        </p:txBody>
      </p:sp>
      <p:sp>
        <p:nvSpPr>
          <p:cNvPr id="35" name="Text 32"/>
          <p:cNvSpPr/>
          <p:nvPr/>
        </p:nvSpPr>
        <p:spPr>
          <a:xfrm>
            <a:off x="6766560" y="3310128"/>
            <a:ext cx="1920240" cy="329184"/>
          </a:xfrm>
          <a:prstGeom prst="rect">
            <a:avLst/>
          </a:prstGeom>
          <a:noFill/>
          <a:ln/>
        </p:spPr>
        <p:txBody>
          <a:bodyPr wrap="square" lIns="0" tIns="0" rIns="0" bIns="0" rtlCol="0" anchor="ctr"/>
          <a:lstStyle/>
          <a:p>
            <a:pPr marL="0" indent="0">
              <a:buNone/>
            </a:pPr>
            <a:r>
              <a:rPr lang="en-US" sz="1100" dirty="0">
                <a:solidFill>
                  <a:srgbClr val="2E8B57"/>
                </a:solidFill>
                <a:latin typeface="Arial" pitchFamily="34" charset="0"/>
                <a:ea typeface="Arial" pitchFamily="34" charset="-122"/>
                <a:cs typeface="Arial" pitchFamily="34" charset="-120"/>
              </a:rPr>
              <a:t>Every 3 months, or on each occasion</a:t>
            </a:r>
            <a:endParaRPr lang="en-US" sz="1100" dirty="0"/>
          </a:p>
        </p:txBody>
      </p:sp>
      <p:sp>
        <p:nvSpPr>
          <p:cNvPr id="36" name="Shape 33"/>
          <p:cNvSpPr/>
          <p:nvPr/>
        </p:nvSpPr>
        <p:spPr>
          <a:xfrm>
            <a:off x="4663440" y="3749040"/>
            <a:ext cx="4133088" cy="402336"/>
          </a:xfrm>
          <a:prstGeom prst="roundRect">
            <a:avLst>
              <a:gd name="adj" fmla="val 11364"/>
            </a:avLst>
          </a:prstGeom>
          <a:solidFill>
            <a:srgbClr val="F0F8F0"/>
          </a:solidFill>
          <a:ln w="6350">
            <a:solidFill>
              <a:srgbClr val="CCDDCC"/>
            </a:solidFill>
            <a:prstDash val="solid"/>
          </a:ln>
        </p:spPr>
        <p:txBody>
          <a:bodyPr/>
          <a:lstStyle/>
          <a:p>
            <a:endParaRPr lang="en-GB"/>
          </a:p>
        </p:txBody>
      </p:sp>
      <p:sp>
        <p:nvSpPr>
          <p:cNvPr id="37" name="Text 34"/>
          <p:cNvSpPr/>
          <p:nvPr/>
        </p:nvSpPr>
        <p:spPr>
          <a:xfrm>
            <a:off x="4754880" y="3785616"/>
            <a:ext cx="2011680" cy="329184"/>
          </a:xfrm>
          <a:prstGeom prst="rect">
            <a:avLst/>
          </a:prstGeom>
          <a:noFill/>
          <a:ln/>
        </p:spPr>
        <p:txBody>
          <a:bodyPr wrap="square" lIns="0" tIns="0" rIns="0" bIns="0" rtlCol="0" anchor="ctr"/>
          <a:lstStyle/>
          <a:p>
            <a:pPr marL="0" indent="0">
              <a:buNone/>
            </a:pPr>
            <a:r>
              <a:rPr lang="en-US" sz="1100" b="1" dirty="0">
                <a:solidFill>
                  <a:srgbClr val="001E3C"/>
                </a:solidFill>
                <a:latin typeface="Arial" pitchFamily="34" charset="0"/>
                <a:ea typeface="Arial" pitchFamily="34" charset="-122"/>
                <a:cs typeface="Arial" pitchFamily="34" charset="-120"/>
              </a:rPr>
              <a:t>Critical activities</a:t>
            </a:r>
            <a:endParaRPr lang="en-US" sz="1100" dirty="0"/>
          </a:p>
        </p:txBody>
      </p:sp>
      <p:sp>
        <p:nvSpPr>
          <p:cNvPr id="38" name="Text 35"/>
          <p:cNvSpPr/>
          <p:nvPr/>
        </p:nvSpPr>
        <p:spPr>
          <a:xfrm>
            <a:off x="6766560" y="3785616"/>
            <a:ext cx="1920240" cy="329184"/>
          </a:xfrm>
          <a:prstGeom prst="rect">
            <a:avLst/>
          </a:prstGeom>
          <a:noFill/>
          <a:ln/>
        </p:spPr>
        <p:txBody>
          <a:bodyPr wrap="square" lIns="0" tIns="0" rIns="0" bIns="0" rtlCol="0" anchor="ctr"/>
          <a:lstStyle/>
          <a:p>
            <a:pPr marL="0" indent="0">
              <a:buNone/>
            </a:pPr>
            <a:r>
              <a:rPr lang="en-US" sz="1100" dirty="0">
                <a:solidFill>
                  <a:srgbClr val="2E8B57"/>
                </a:solidFill>
                <a:latin typeface="Arial" pitchFamily="34" charset="0"/>
                <a:ea typeface="Arial" pitchFamily="34" charset="-122"/>
                <a:cs typeface="Arial" pitchFamily="34" charset="-120"/>
              </a:rPr>
              <a:t>Before every instance of the work</a:t>
            </a:r>
            <a:endParaRPr lang="en-US" sz="1100" dirty="0"/>
          </a:p>
        </p:txBody>
      </p:sp>
      <p:sp>
        <p:nvSpPr>
          <p:cNvPr id="39" name="Rectangle 3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5"/>
          <a:stretch>
            <a:fillRect/>
          </a:stretch>
        </p:blipFill>
        <p:spPr>
          <a:xfrm>
            <a:off x="7562088" y="100584"/>
            <a:ext cx="566928" cy="347472"/>
          </a:xfrm>
          <a:prstGeom prst="rect">
            <a:avLst/>
          </a:prstGeom>
        </p:spPr>
      </p:pic>
      <p:pic>
        <p:nvPicPr>
          <p:cNvPr id="41" name="Picture 40" descr="image.png"/>
          <p:cNvPicPr>
            <a:picLocks noChangeAspect="1"/>
          </p:cNvPicPr>
          <p:nvPr/>
        </p:nvPicPr>
        <p:blipFill>
          <a:blip r:embed="rId4"/>
          <a:stretch>
            <a:fillRect/>
          </a:stretch>
        </p:blipFill>
        <p:spPr>
          <a:xfrm>
            <a:off x="8174736" y="100584"/>
            <a:ext cx="658368" cy="347472"/>
          </a:xfrm>
          <a:prstGeom prst="rect">
            <a:avLst/>
          </a:prstGeom>
        </p:spPr>
      </p:pic>
      <p:sp>
        <p:nvSpPr>
          <p:cNvPr id="42" name="Rectangle 4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Competence</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Who Should Write a Risk Assessment?</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Text 7"/>
          <p:cNvSpPr/>
          <p:nvPr/>
        </p:nvSpPr>
        <p:spPr>
          <a:xfrm>
            <a:off x="347472" y="1353312"/>
            <a:ext cx="8449056" cy="502920"/>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The law requires risk assessments to be carried out by a 'competent person' — someone with sufficient knowledge, training, and experience of the work being assessed. This does not necessarily mean a QHSE professional.</a:t>
            </a:r>
            <a:endParaRPr lang="en-US" sz="1250" dirty="0"/>
          </a:p>
        </p:txBody>
      </p:sp>
      <p:sp>
        <p:nvSpPr>
          <p:cNvPr id="11" name="Shape 8"/>
          <p:cNvSpPr/>
          <p:nvPr/>
        </p:nvSpPr>
        <p:spPr>
          <a:xfrm>
            <a:off x="347472" y="1938528"/>
            <a:ext cx="4133088" cy="1078992"/>
          </a:xfrm>
          <a:prstGeom prst="roundRect">
            <a:avLst>
              <a:gd name="adj" fmla="val 6780"/>
            </a:avLst>
          </a:prstGeom>
          <a:solidFill>
            <a:srgbClr val="F0F5FF"/>
          </a:solidFill>
          <a:ln w="10160">
            <a:solidFill>
              <a:srgbClr val="009FE3"/>
            </a:solidFill>
            <a:prstDash val="solid"/>
          </a:ln>
        </p:spPr>
        <p:txBody>
          <a:bodyPr/>
          <a:lstStyle/>
          <a:p>
            <a:endParaRPr lang="en-GB"/>
          </a:p>
        </p:txBody>
      </p:sp>
      <p:sp>
        <p:nvSpPr>
          <p:cNvPr id="12" name="Text 9"/>
          <p:cNvSpPr/>
          <p:nvPr/>
        </p:nvSpPr>
        <p:spPr>
          <a:xfrm>
            <a:off x="484632" y="2029968"/>
            <a:ext cx="3886200" cy="274320"/>
          </a:xfrm>
          <a:prstGeom prst="rect">
            <a:avLst/>
          </a:prstGeom>
          <a:noFill/>
          <a:ln/>
        </p:spPr>
        <p:txBody>
          <a:bodyPr wrap="square" lIns="0" tIns="0" rIns="0" bIns="0" rtlCol="0" anchor="ctr"/>
          <a:lstStyle/>
          <a:p>
            <a:pPr marL="0" indent="0">
              <a:buNone/>
            </a:pPr>
            <a:r>
              <a:rPr lang="en-US" sz="1200" b="1" dirty="0">
                <a:solidFill>
                  <a:srgbClr val="009FE3"/>
                </a:solidFill>
                <a:latin typeface="Arial" pitchFamily="34" charset="0"/>
                <a:ea typeface="Arial" pitchFamily="34" charset="-122"/>
                <a:cs typeface="Arial" pitchFamily="34" charset="-120"/>
              </a:rPr>
              <a:t>1. Knowledge of the task</a:t>
            </a:r>
            <a:endParaRPr lang="en-US" sz="1200" dirty="0"/>
          </a:p>
        </p:txBody>
      </p:sp>
      <p:sp>
        <p:nvSpPr>
          <p:cNvPr id="13" name="Text 10"/>
          <p:cNvSpPr/>
          <p:nvPr/>
        </p:nvSpPr>
        <p:spPr>
          <a:xfrm>
            <a:off x="484632" y="2322576"/>
            <a:ext cx="3886200" cy="640080"/>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The assessor must understand how the work is actually done, including non-routine elements. A risk assessment written purely at a desk by someone who has never done the job will miss critical hazards.</a:t>
            </a:r>
            <a:endParaRPr lang="en-US" sz="1100" dirty="0"/>
          </a:p>
        </p:txBody>
      </p:sp>
      <p:sp>
        <p:nvSpPr>
          <p:cNvPr id="14" name="Shape 11"/>
          <p:cNvSpPr/>
          <p:nvPr/>
        </p:nvSpPr>
        <p:spPr>
          <a:xfrm>
            <a:off x="4663440" y="1938528"/>
            <a:ext cx="4133088" cy="1078992"/>
          </a:xfrm>
          <a:prstGeom prst="roundRect">
            <a:avLst>
              <a:gd name="adj" fmla="val 6780"/>
            </a:avLst>
          </a:prstGeom>
          <a:solidFill>
            <a:srgbClr val="F0F5FF"/>
          </a:solidFill>
          <a:ln w="10160">
            <a:solidFill>
              <a:srgbClr val="009FE3"/>
            </a:solidFill>
            <a:prstDash val="solid"/>
          </a:ln>
        </p:spPr>
        <p:txBody>
          <a:bodyPr/>
          <a:lstStyle/>
          <a:p>
            <a:endParaRPr lang="en-GB"/>
          </a:p>
        </p:txBody>
      </p:sp>
      <p:sp>
        <p:nvSpPr>
          <p:cNvPr id="15" name="Text 12"/>
          <p:cNvSpPr/>
          <p:nvPr/>
        </p:nvSpPr>
        <p:spPr>
          <a:xfrm>
            <a:off x="4800600" y="2029968"/>
            <a:ext cx="3886200" cy="274320"/>
          </a:xfrm>
          <a:prstGeom prst="rect">
            <a:avLst/>
          </a:prstGeom>
          <a:noFill/>
          <a:ln/>
        </p:spPr>
        <p:txBody>
          <a:bodyPr wrap="square" lIns="0" tIns="0" rIns="0" bIns="0" rtlCol="0" anchor="ctr"/>
          <a:lstStyle/>
          <a:p>
            <a:pPr marL="0" indent="0">
              <a:buNone/>
            </a:pPr>
            <a:r>
              <a:rPr lang="en-US" sz="1200" b="1" dirty="0">
                <a:solidFill>
                  <a:srgbClr val="009FE3"/>
                </a:solidFill>
                <a:latin typeface="Arial" pitchFamily="34" charset="0"/>
                <a:ea typeface="Arial" pitchFamily="34" charset="-122"/>
                <a:cs typeface="Arial" pitchFamily="34" charset="-120"/>
              </a:rPr>
              <a:t>2. Understanding of the hazards</a:t>
            </a:r>
            <a:endParaRPr lang="en-US" sz="1200" dirty="0"/>
          </a:p>
        </p:txBody>
      </p:sp>
      <p:sp>
        <p:nvSpPr>
          <p:cNvPr id="16" name="Text 13"/>
          <p:cNvSpPr/>
          <p:nvPr/>
        </p:nvSpPr>
        <p:spPr>
          <a:xfrm>
            <a:off x="4800600" y="2322576"/>
            <a:ext cx="3886200" cy="640080"/>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The assessor needs sufficient technical knowledge to identify the full range of hazards. For specialist tasks, a qualified technical expert should be involved.</a:t>
            </a:r>
            <a:endParaRPr lang="en-US" sz="1100" dirty="0"/>
          </a:p>
        </p:txBody>
      </p:sp>
      <p:sp>
        <p:nvSpPr>
          <p:cNvPr id="17" name="Shape 14"/>
          <p:cNvSpPr/>
          <p:nvPr/>
        </p:nvSpPr>
        <p:spPr>
          <a:xfrm>
            <a:off x="347472" y="3108960"/>
            <a:ext cx="4133088" cy="1078992"/>
          </a:xfrm>
          <a:prstGeom prst="roundRect">
            <a:avLst>
              <a:gd name="adj" fmla="val 6780"/>
            </a:avLst>
          </a:prstGeom>
          <a:solidFill>
            <a:srgbClr val="F0F5FF"/>
          </a:solidFill>
          <a:ln w="10160">
            <a:solidFill>
              <a:srgbClr val="009FE3"/>
            </a:solidFill>
            <a:prstDash val="solid"/>
          </a:ln>
        </p:spPr>
        <p:txBody>
          <a:bodyPr/>
          <a:lstStyle/>
          <a:p>
            <a:endParaRPr lang="en-GB"/>
          </a:p>
        </p:txBody>
      </p:sp>
      <p:sp>
        <p:nvSpPr>
          <p:cNvPr id="18" name="Text 15"/>
          <p:cNvSpPr/>
          <p:nvPr/>
        </p:nvSpPr>
        <p:spPr>
          <a:xfrm>
            <a:off x="484632" y="3200400"/>
            <a:ext cx="3886200" cy="274320"/>
          </a:xfrm>
          <a:prstGeom prst="rect">
            <a:avLst/>
          </a:prstGeom>
          <a:noFill/>
          <a:ln/>
        </p:spPr>
        <p:txBody>
          <a:bodyPr wrap="square" lIns="0" tIns="0" rIns="0" bIns="0" rtlCol="0" anchor="ctr"/>
          <a:lstStyle/>
          <a:p>
            <a:pPr marL="0" indent="0">
              <a:buNone/>
            </a:pPr>
            <a:r>
              <a:rPr lang="en-US" sz="1200" b="1" dirty="0">
                <a:solidFill>
                  <a:srgbClr val="009FE3"/>
                </a:solidFill>
                <a:latin typeface="Arial" pitchFamily="34" charset="0"/>
                <a:ea typeface="Arial" pitchFamily="34" charset="-122"/>
                <a:cs typeface="Arial" pitchFamily="34" charset="-120"/>
              </a:rPr>
              <a:t>3. Knowledge of the controls</a:t>
            </a:r>
            <a:endParaRPr lang="en-US" sz="1200" dirty="0"/>
          </a:p>
        </p:txBody>
      </p:sp>
      <p:sp>
        <p:nvSpPr>
          <p:cNvPr id="19" name="Text 16"/>
          <p:cNvSpPr/>
          <p:nvPr/>
        </p:nvSpPr>
        <p:spPr>
          <a:xfrm>
            <a:off x="484632" y="3493008"/>
            <a:ext cx="3886200" cy="640080"/>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The assessor must know what control measures are available, how effective they are, and whether they are actually being used correctly in practice.</a:t>
            </a:r>
            <a:endParaRPr lang="en-US" sz="1100" dirty="0"/>
          </a:p>
        </p:txBody>
      </p:sp>
      <p:sp>
        <p:nvSpPr>
          <p:cNvPr id="20" name="Shape 17"/>
          <p:cNvSpPr/>
          <p:nvPr/>
        </p:nvSpPr>
        <p:spPr>
          <a:xfrm>
            <a:off x="4663440" y="3108960"/>
            <a:ext cx="4133088" cy="1078992"/>
          </a:xfrm>
          <a:prstGeom prst="roundRect">
            <a:avLst>
              <a:gd name="adj" fmla="val 6780"/>
            </a:avLst>
          </a:prstGeom>
          <a:solidFill>
            <a:srgbClr val="F0F5FF"/>
          </a:solidFill>
          <a:ln w="10160">
            <a:solidFill>
              <a:srgbClr val="009FE3"/>
            </a:solidFill>
            <a:prstDash val="solid"/>
          </a:ln>
        </p:spPr>
        <p:txBody>
          <a:bodyPr/>
          <a:lstStyle/>
          <a:p>
            <a:endParaRPr lang="en-GB"/>
          </a:p>
        </p:txBody>
      </p:sp>
      <p:sp>
        <p:nvSpPr>
          <p:cNvPr id="21" name="Text 18"/>
          <p:cNvSpPr/>
          <p:nvPr/>
        </p:nvSpPr>
        <p:spPr>
          <a:xfrm>
            <a:off x="4800600" y="3200400"/>
            <a:ext cx="3886200" cy="274320"/>
          </a:xfrm>
          <a:prstGeom prst="rect">
            <a:avLst/>
          </a:prstGeom>
          <a:noFill/>
          <a:ln/>
        </p:spPr>
        <p:txBody>
          <a:bodyPr wrap="square" lIns="0" tIns="0" rIns="0" bIns="0" rtlCol="0" anchor="ctr"/>
          <a:lstStyle/>
          <a:p>
            <a:pPr marL="0" indent="0">
              <a:buNone/>
            </a:pPr>
            <a:r>
              <a:rPr lang="en-US" sz="1200" b="1" dirty="0">
                <a:solidFill>
                  <a:srgbClr val="009FE3"/>
                </a:solidFill>
                <a:latin typeface="Arial" pitchFamily="34" charset="0"/>
                <a:ea typeface="Arial" pitchFamily="34" charset="-122"/>
                <a:cs typeface="Arial" pitchFamily="34" charset="-120"/>
              </a:rPr>
              <a:t>4. Ability to apply the process</a:t>
            </a:r>
            <a:endParaRPr lang="en-US" sz="1200" dirty="0"/>
          </a:p>
        </p:txBody>
      </p:sp>
      <p:sp>
        <p:nvSpPr>
          <p:cNvPr id="22" name="Text 19"/>
          <p:cNvSpPr/>
          <p:nvPr/>
        </p:nvSpPr>
        <p:spPr>
          <a:xfrm>
            <a:off x="4800600" y="3493008"/>
            <a:ext cx="3886200" cy="640080"/>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Competence in using the risk scoring system and applying the hierarchy of controls consistently. This is exactly what this training develops.</a:t>
            </a:r>
            <a:endParaRPr lang="en-US" sz="1100" dirty="0"/>
          </a:p>
        </p:txBody>
      </p:sp>
      <p:sp>
        <p:nvSpPr>
          <p:cNvPr id="23" name="Shape 20"/>
          <p:cNvSpPr/>
          <p:nvPr/>
        </p:nvSpPr>
        <p:spPr>
          <a:xfrm>
            <a:off x="347472" y="4315968"/>
            <a:ext cx="8449056" cy="530352"/>
          </a:xfrm>
          <a:prstGeom prst="roundRect">
            <a:avLst>
              <a:gd name="adj" fmla="val 12069"/>
            </a:avLst>
          </a:prstGeom>
          <a:solidFill>
            <a:srgbClr val="E8F5FD"/>
          </a:solidFill>
          <a:ln w="10160">
            <a:solidFill>
              <a:srgbClr val="009FE3"/>
            </a:solidFill>
            <a:prstDash val="solid"/>
          </a:ln>
        </p:spPr>
        <p:txBody>
          <a:bodyPr/>
          <a:lstStyle/>
          <a:p>
            <a:endParaRPr lang="en-GB"/>
          </a:p>
        </p:txBody>
      </p:sp>
      <p:sp>
        <p:nvSpPr>
          <p:cNvPr id="24" name="Text 21"/>
          <p:cNvSpPr/>
          <p:nvPr/>
        </p:nvSpPr>
        <p:spPr>
          <a:xfrm>
            <a:off x="475488" y="4352544"/>
            <a:ext cx="8229600" cy="457200"/>
          </a:xfrm>
          <a:prstGeom prst="rect">
            <a:avLst/>
          </a:prstGeom>
          <a:noFill/>
          <a:ln/>
        </p:spPr>
        <p:txBody>
          <a:bodyPr wrap="square" lIns="0" tIns="0" rIns="0" bIns="0" rtlCol="0" anchor="ctr"/>
          <a:lstStyle/>
          <a:p>
            <a:pPr marL="0" indent="0">
              <a:buNone/>
            </a:pPr>
            <a:r>
              <a:rPr lang="en-US" sz="1150" dirty="0">
                <a:solidFill>
                  <a:srgbClr val="001E3C"/>
                </a:solidFill>
                <a:latin typeface="Arial" pitchFamily="34" charset="0"/>
                <a:ea typeface="Arial" pitchFamily="34" charset="-122"/>
                <a:cs typeface="Arial" pitchFamily="34" charset="-120"/>
              </a:rPr>
              <a:t>Best practice: Involve the people who do the job. They know where the real hazards are. The QHSE team can provide the framework and verify the output — but the assessor should be the person closest to the task. Complex or high-risk activities should always have QHSE sign-off.</a:t>
            </a:r>
            <a:endParaRPr lang="en-US" sz="1150" dirty="0"/>
          </a:p>
        </p:txBody>
      </p:sp>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C0392B"/>
          </a:solidFill>
          <a:ln w="12700">
            <a:solidFill>
              <a:srgbClr val="C0392B"/>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Common Mistakes</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The 8 Most Common Risk Assessment Mistakes</a:t>
            </a:r>
            <a:endParaRPr lang="en-US" sz="2600" dirty="0"/>
          </a:p>
        </p:txBody>
      </p:sp>
      <p:sp>
        <p:nvSpPr>
          <p:cNvPr id="9" name="Shape 6"/>
          <p:cNvSpPr/>
          <p:nvPr/>
        </p:nvSpPr>
        <p:spPr>
          <a:xfrm>
            <a:off x="347472" y="1261872"/>
            <a:ext cx="8449056" cy="0"/>
          </a:xfrm>
          <a:prstGeom prst="line">
            <a:avLst/>
          </a:prstGeom>
          <a:noFill/>
          <a:ln w="19050">
            <a:solidFill>
              <a:srgbClr val="C0392B"/>
            </a:solidFill>
            <a:prstDash val="solid"/>
          </a:ln>
        </p:spPr>
        <p:txBody>
          <a:bodyPr/>
          <a:lstStyle/>
          <a:p>
            <a:endParaRPr lang="en-GB"/>
          </a:p>
        </p:txBody>
      </p:sp>
      <p:sp>
        <p:nvSpPr>
          <p:cNvPr id="10" name="Shape 7"/>
          <p:cNvSpPr/>
          <p:nvPr/>
        </p:nvSpPr>
        <p:spPr>
          <a:xfrm>
            <a:off x="347472" y="1389888"/>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11" name="Shape 8"/>
          <p:cNvSpPr/>
          <p:nvPr/>
        </p:nvSpPr>
        <p:spPr>
          <a:xfrm>
            <a:off x="347472" y="1389888"/>
            <a:ext cx="201168" cy="758952"/>
          </a:xfrm>
          <a:prstGeom prst="rect">
            <a:avLst/>
          </a:prstGeom>
          <a:solidFill>
            <a:srgbClr val="C0392B"/>
          </a:solidFill>
          <a:ln w="12700">
            <a:solidFill>
              <a:srgbClr val="C0392B"/>
            </a:solidFill>
            <a:prstDash val="solid"/>
          </a:ln>
        </p:spPr>
        <p:txBody>
          <a:bodyPr/>
          <a:lstStyle/>
          <a:p>
            <a:endParaRPr lang="en-GB"/>
          </a:p>
        </p:txBody>
      </p:sp>
      <p:sp>
        <p:nvSpPr>
          <p:cNvPr id="12" name="Text 9"/>
          <p:cNvSpPr/>
          <p:nvPr/>
        </p:nvSpPr>
        <p:spPr>
          <a:xfrm>
            <a:off x="347472" y="1389888"/>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 name="Text 10"/>
          <p:cNvSpPr/>
          <p:nvPr/>
        </p:nvSpPr>
        <p:spPr>
          <a:xfrm>
            <a:off x="621792" y="1444752"/>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Too generic</a:t>
            </a:r>
            <a:endParaRPr lang="en-US" sz="1150" dirty="0"/>
          </a:p>
        </p:txBody>
      </p:sp>
      <p:sp>
        <p:nvSpPr>
          <p:cNvPr id="14" name="Text 11"/>
          <p:cNvSpPr/>
          <p:nvPr/>
        </p:nvSpPr>
        <p:spPr>
          <a:xfrm>
            <a:off x="621792" y="1719072"/>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Risks described in vague terms with no specificity to the actual task, workplace, or people involved.</a:t>
            </a:r>
            <a:endParaRPr lang="en-US" sz="1050" dirty="0"/>
          </a:p>
        </p:txBody>
      </p:sp>
      <p:sp>
        <p:nvSpPr>
          <p:cNvPr id="15" name="Shape 12"/>
          <p:cNvSpPr/>
          <p:nvPr/>
        </p:nvSpPr>
        <p:spPr>
          <a:xfrm>
            <a:off x="4663440" y="1389888"/>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16" name="Shape 13"/>
          <p:cNvSpPr/>
          <p:nvPr/>
        </p:nvSpPr>
        <p:spPr>
          <a:xfrm>
            <a:off x="4663440" y="1389888"/>
            <a:ext cx="201168" cy="758952"/>
          </a:xfrm>
          <a:prstGeom prst="rect">
            <a:avLst/>
          </a:prstGeom>
          <a:solidFill>
            <a:srgbClr val="C0392B"/>
          </a:solidFill>
          <a:ln w="12700">
            <a:solidFill>
              <a:srgbClr val="C0392B"/>
            </a:solidFill>
            <a:prstDash val="solid"/>
          </a:ln>
        </p:spPr>
        <p:txBody>
          <a:bodyPr/>
          <a:lstStyle/>
          <a:p>
            <a:endParaRPr lang="en-GB"/>
          </a:p>
        </p:txBody>
      </p:sp>
      <p:sp>
        <p:nvSpPr>
          <p:cNvPr id="17" name="Text 14"/>
          <p:cNvSpPr/>
          <p:nvPr/>
        </p:nvSpPr>
        <p:spPr>
          <a:xfrm>
            <a:off x="4663440" y="1389888"/>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5"/>
          <p:cNvSpPr/>
          <p:nvPr/>
        </p:nvSpPr>
        <p:spPr>
          <a:xfrm>
            <a:off x="4937760" y="1444752"/>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PPE as the only control</a:t>
            </a:r>
            <a:endParaRPr lang="en-US" sz="1150" dirty="0"/>
          </a:p>
        </p:txBody>
      </p:sp>
      <p:sp>
        <p:nvSpPr>
          <p:cNvPr id="19" name="Text 16"/>
          <p:cNvSpPr/>
          <p:nvPr/>
        </p:nvSpPr>
        <p:spPr>
          <a:xfrm>
            <a:off x="4937760" y="1719072"/>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Jumping straight to PPE without working through elimination, engineering, and administrative controls first.</a:t>
            </a:r>
            <a:endParaRPr lang="en-US" sz="1050" dirty="0"/>
          </a:p>
        </p:txBody>
      </p:sp>
      <p:sp>
        <p:nvSpPr>
          <p:cNvPr id="20" name="Shape 17"/>
          <p:cNvSpPr/>
          <p:nvPr/>
        </p:nvSpPr>
        <p:spPr>
          <a:xfrm>
            <a:off x="347472" y="2231136"/>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21" name="Shape 18"/>
          <p:cNvSpPr/>
          <p:nvPr/>
        </p:nvSpPr>
        <p:spPr>
          <a:xfrm>
            <a:off x="347472" y="2231136"/>
            <a:ext cx="201168" cy="758952"/>
          </a:xfrm>
          <a:prstGeom prst="rect">
            <a:avLst/>
          </a:prstGeom>
          <a:solidFill>
            <a:srgbClr val="C0392B"/>
          </a:solidFill>
          <a:ln w="12700">
            <a:solidFill>
              <a:srgbClr val="C0392B"/>
            </a:solidFill>
            <a:prstDash val="solid"/>
          </a:ln>
        </p:spPr>
        <p:txBody>
          <a:bodyPr/>
          <a:lstStyle/>
          <a:p>
            <a:endParaRPr lang="en-GB"/>
          </a:p>
        </p:txBody>
      </p:sp>
      <p:sp>
        <p:nvSpPr>
          <p:cNvPr id="22" name="Text 19"/>
          <p:cNvSpPr/>
          <p:nvPr/>
        </p:nvSpPr>
        <p:spPr>
          <a:xfrm>
            <a:off x="347472" y="2231136"/>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621792" y="2286000"/>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No residual score</a:t>
            </a:r>
            <a:endParaRPr lang="en-US" sz="1150" dirty="0"/>
          </a:p>
        </p:txBody>
      </p:sp>
      <p:sp>
        <p:nvSpPr>
          <p:cNvPr id="24" name="Text 21"/>
          <p:cNvSpPr/>
          <p:nvPr/>
        </p:nvSpPr>
        <p:spPr>
          <a:xfrm>
            <a:off x="621792" y="2560320"/>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Recording only the initial risk score without re-evaluating after controls are applied.</a:t>
            </a:r>
            <a:endParaRPr lang="en-US" sz="1050" dirty="0"/>
          </a:p>
        </p:txBody>
      </p:sp>
      <p:sp>
        <p:nvSpPr>
          <p:cNvPr id="25" name="Shape 22"/>
          <p:cNvSpPr/>
          <p:nvPr/>
        </p:nvSpPr>
        <p:spPr>
          <a:xfrm>
            <a:off x="4663440" y="2231136"/>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26" name="Shape 23"/>
          <p:cNvSpPr/>
          <p:nvPr/>
        </p:nvSpPr>
        <p:spPr>
          <a:xfrm>
            <a:off x="4663440" y="2231136"/>
            <a:ext cx="201168" cy="758952"/>
          </a:xfrm>
          <a:prstGeom prst="rect">
            <a:avLst/>
          </a:prstGeom>
          <a:solidFill>
            <a:srgbClr val="C0392B"/>
          </a:solidFill>
          <a:ln w="12700">
            <a:solidFill>
              <a:srgbClr val="C0392B"/>
            </a:solidFill>
            <a:prstDash val="solid"/>
          </a:ln>
        </p:spPr>
        <p:txBody>
          <a:bodyPr/>
          <a:lstStyle/>
          <a:p>
            <a:endParaRPr lang="en-GB"/>
          </a:p>
        </p:txBody>
      </p:sp>
      <p:sp>
        <p:nvSpPr>
          <p:cNvPr id="27" name="Text 24"/>
          <p:cNvSpPr/>
          <p:nvPr/>
        </p:nvSpPr>
        <p:spPr>
          <a:xfrm>
            <a:off x="4663440" y="2231136"/>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8" name="Text 25"/>
          <p:cNvSpPr/>
          <p:nvPr/>
        </p:nvSpPr>
        <p:spPr>
          <a:xfrm>
            <a:off x="4937760" y="2286000"/>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Desk exercise</a:t>
            </a:r>
            <a:endParaRPr lang="en-US" sz="1150" dirty="0"/>
          </a:p>
        </p:txBody>
      </p:sp>
      <p:sp>
        <p:nvSpPr>
          <p:cNvPr id="29" name="Text 26"/>
          <p:cNvSpPr/>
          <p:nvPr/>
        </p:nvSpPr>
        <p:spPr>
          <a:xfrm>
            <a:off x="4937760" y="2560320"/>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Completing the assessment without observing the task being carried out in practice.</a:t>
            </a:r>
            <a:endParaRPr lang="en-US" sz="1050" dirty="0"/>
          </a:p>
        </p:txBody>
      </p:sp>
      <p:sp>
        <p:nvSpPr>
          <p:cNvPr id="30" name="Shape 27"/>
          <p:cNvSpPr/>
          <p:nvPr/>
        </p:nvSpPr>
        <p:spPr>
          <a:xfrm>
            <a:off x="347472" y="3072384"/>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31" name="Shape 28"/>
          <p:cNvSpPr/>
          <p:nvPr/>
        </p:nvSpPr>
        <p:spPr>
          <a:xfrm>
            <a:off x="347472" y="3072384"/>
            <a:ext cx="201168" cy="758952"/>
          </a:xfrm>
          <a:prstGeom prst="rect">
            <a:avLst/>
          </a:prstGeom>
          <a:solidFill>
            <a:srgbClr val="C0392B"/>
          </a:solidFill>
          <a:ln w="12700">
            <a:solidFill>
              <a:srgbClr val="C0392B"/>
            </a:solidFill>
            <a:prstDash val="solid"/>
          </a:ln>
        </p:spPr>
        <p:txBody>
          <a:bodyPr/>
          <a:lstStyle/>
          <a:p>
            <a:endParaRPr lang="en-GB"/>
          </a:p>
        </p:txBody>
      </p:sp>
      <p:sp>
        <p:nvSpPr>
          <p:cNvPr id="32" name="Text 29"/>
          <p:cNvSpPr/>
          <p:nvPr/>
        </p:nvSpPr>
        <p:spPr>
          <a:xfrm>
            <a:off x="347472" y="3072384"/>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621792" y="3127248"/>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Never reviewed</a:t>
            </a:r>
            <a:endParaRPr lang="en-US" sz="1150" dirty="0"/>
          </a:p>
        </p:txBody>
      </p:sp>
      <p:sp>
        <p:nvSpPr>
          <p:cNvPr id="34" name="Text 31"/>
          <p:cNvSpPr/>
          <p:nvPr/>
        </p:nvSpPr>
        <p:spPr>
          <a:xfrm>
            <a:off x="621792" y="3401568"/>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Risk assessments that have not been reviewed for years despite changes in people, equipment, or methods.</a:t>
            </a:r>
            <a:endParaRPr lang="en-US" sz="1050" dirty="0"/>
          </a:p>
        </p:txBody>
      </p:sp>
      <p:sp>
        <p:nvSpPr>
          <p:cNvPr id="35" name="Shape 32"/>
          <p:cNvSpPr/>
          <p:nvPr/>
        </p:nvSpPr>
        <p:spPr>
          <a:xfrm>
            <a:off x="4663440" y="3072384"/>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36" name="Shape 33"/>
          <p:cNvSpPr/>
          <p:nvPr/>
        </p:nvSpPr>
        <p:spPr>
          <a:xfrm>
            <a:off x="4663440" y="3072384"/>
            <a:ext cx="201168" cy="758952"/>
          </a:xfrm>
          <a:prstGeom prst="rect">
            <a:avLst/>
          </a:prstGeom>
          <a:solidFill>
            <a:srgbClr val="C0392B"/>
          </a:solidFill>
          <a:ln w="12700">
            <a:solidFill>
              <a:srgbClr val="C0392B"/>
            </a:solidFill>
            <a:prstDash val="solid"/>
          </a:ln>
        </p:spPr>
        <p:txBody>
          <a:bodyPr/>
          <a:lstStyle/>
          <a:p>
            <a:endParaRPr lang="en-GB"/>
          </a:p>
        </p:txBody>
      </p:sp>
      <p:sp>
        <p:nvSpPr>
          <p:cNvPr id="37" name="Text 34"/>
          <p:cNvSpPr/>
          <p:nvPr/>
        </p:nvSpPr>
        <p:spPr>
          <a:xfrm>
            <a:off x="4663440" y="3072384"/>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8" name="Text 35"/>
          <p:cNvSpPr/>
          <p:nvPr/>
        </p:nvSpPr>
        <p:spPr>
          <a:xfrm>
            <a:off x="4937760" y="3127248"/>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Controls not verified</a:t>
            </a:r>
            <a:endParaRPr lang="en-US" sz="1150" dirty="0"/>
          </a:p>
        </p:txBody>
      </p:sp>
      <p:sp>
        <p:nvSpPr>
          <p:cNvPr id="39" name="Text 36"/>
          <p:cNvSpPr/>
          <p:nvPr/>
        </p:nvSpPr>
        <p:spPr>
          <a:xfrm>
            <a:off x="4937760" y="3401568"/>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Listing controls that exist on paper but are not actually being implemented on the shopfloor.</a:t>
            </a:r>
            <a:endParaRPr lang="en-US" sz="1050" dirty="0"/>
          </a:p>
        </p:txBody>
      </p:sp>
      <p:sp>
        <p:nvSpPr>
          <p:cNvPr id="40" name="Shape 37"/>
          <p:cNvSpPr/>
          <p:nvPr/>
        </p:nvSpPr>
        <p:spPr>
          <a:xfrm>
            <a:off x="347472" y="3913632"/>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41" name="Shape 38"/>
          <p:cNvSpPr/>
          <p:nvPr/>
        </p:nvSpPr>
        <p:spPr>
          <a:xfrm>
            <a:off x="347472" y="3913632"/>
            <a:ext cx="201168" cy="758952"/>
          </a:xfrm>
          <a:prstGeom prst="rect">
            <a:avLst/>
          </a:prstGeom>
          <a:solidFill>
            <a:srgbClr val="C0392B"/>
          </a:solidFill>
          <a:ln w="12700">
            <a:solidFill>
              <a:srgbClr val="C0392B"/>
            </a:solidFill>
            <a:prstDash val="solid"/>
          </a:ln>
        </p:spPr>
        <p:txBody>
          <a:bodyPr/>
          <a:lstStyle/>
          <a:p>
            <a:endParaRPr lang="en-GB"/>
          </a:p>
        </p:txBody>
      </p:sp>
      <p:sp>
        <p:nvSpPr>
          <p:cNvPr id="42" name="Text 39"/>
          <p:cNvSpPr/>
          <p:nvPr/>
        </p:nvSpPr>
        <p:spPr>
          <a:xfrm>
            <a:off x="347472" y="3913632"/>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3" name="Text 40"/>
          <p:cNvSpPr/>
          <p:nvPr/>
        </p:nvSpPr>
        <p:spPr>
          <a:xfrm>
            <a:off x="621792" y="3968496"/>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Wrong people</a:t>
            </a:r>
            <a:endParaRPr lang="en-US" sz="1150" dirty="0"/>
          </a:p>
        </p:txBody>
      </p:sp>
      <p:sp>
        <p:nvSpPr>
          <p:cNvPr id="44" name="Text 41"/>
          <p:cNvSpPr/>
          <p:nvPr/>
        </p:nvSpPr>
        <p:spPr>
          <a:xfrm>
            <a:off x="621792" y="4242816"/>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Assessments written by QHSE staff who do not know the task, without input from the people who do it.</a:t>
            </a:r>
            <a:endParaRPr lang="en-US" sz="1050" dirty="0"/>
          </a:p>
        </p:txBody>
      </p:sp>
      <p:sp>
        <p:nvSpPr>
          <p:cNvPr id="45" name="Shape 42"/>
          <p:cNvSpPr/>
          <p:nvPr/>
        </p:nvSpPr>
        <p:spPr>
          <a:xfrm>
            <a:off x="4663440" y="3913632"/>
            <a:ext cx="4133088" cy="758952"/>
          </a:xfrm>
          <a:prstGeom prst="roundRect">
            <a:avLst>
              <a:gd name="adj" fmla="val 8434"/>
            </a:avLst>
          </a:prstGeom>
          <a:solidFill>
            <a:srgbClr val="FFF0EE"/>
          </a:solidFill>
          <a:ln w="8890">
            <a:solidFill>
              <a:srgbClr val="C0392B"/>
            </a:solidFill>
            <a:prstDash val="solid"/>
          </a:ln>
        </p:spPr>
        <p:txBody>
          <a:bodyPr/>
          <a:lstStyle/>
          <a:p>
            <a:endParaRPr lang="en-GB"/>
          </a:p>
        </p:txBody>
      </p:sp>
      <p:sp>
        <p:nvSpPr>
          <p:cNvPr id="46" name="Shape 43"/>
          <p:cNvSpPr/>
          <p:nvPr/>
        </p:nvSpPr>
        <p:spPr>
          <a:xfrm>
            <a:off x="4663440" y="3913632"/>
            <a:ext cx="201168" cy="758952"/>
          </a:xfrm>
          <a:prstGeom prst="rect">
            <a:avLst/>
          </a:prstGeom>
          <a:solidFill>
            <a:srgbClr val="C0392B"/>
          </a:solidFill>
          <a:ln w="12700">
            <a:solidFill>
              <a:srgbClr val="C0392B"/>
            </a:solidFill>
            <a:prstDash val="solid"/>
          </a:ln>
        </p:spPr>
        <p:txBody>
          <a:bodyPr/>
          <a:lstStyle/>
          <a:p>
            <a:endParaRPr lang="en-GB"/>
          </a:p>
        </p:txBody>
      </p:sp>
      <p:sp>
        <p:nvSpPr>
          <p:cNvPr id="47" name="Text 44"/>
          <p:cNvSpPr/>
          <p:nvPr/>
        </p:nvSpPr>
        <p:spPr>
          <a:xfrm>
            <a:off x="4663440" y="3913632"/>
            <a:ext cx="201168" cy="7589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48" name="Text 45"/>
          <p:cNvSpPr/>
          <p:nvPr/>
        </p:nvSpPr>
        <p:spPr>
          <a:xfrm>
            <a:off x="4937760" y="3968496"/>
            <a:ext cx="3749040" cy="246888"/>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Not communicated</a:t>
            </a:r>
            <a:endParaRPr lang="en-US" sz="1150" dirty="0"/>
          </a:p>
        </p:txBody>
      </p:sp>
      <p:sp>
        <p:nvSpPr>
          <p:cNvPr id="49" name="Text 46"/>
          <p:cNvSpPr/>
          <p:nvPr/>
        </p:nvSpPr>
        <p:spPr>
          <a:xfrm>
            <a:off x="4937760" y="4242816"/>
            <a:ext cx="3749040" cy="402336"/>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Risk assessments that are filed away but never shared with the workers they are designed to protect.</a:t>
            </a:r>
            <a:endParaRPr lang="en-US" sz="1050" dirty="0"/>
          </a:p>
        </p:txBody>
      </p:sp>
      <p:sp>
        <p:nvSpPr>
          <p:cNvPr id="50" name="Rectangle 4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5"/>
          <a:stretch>
            <a:fillRect/>
          </a:stretch>
        </p:blipFill>
        <p:spPr>
          <a:xfrm>
            <a:off x="7562088" y="100584"/>
            <a:ext cx="566928" cy="347472"/>
          </a:xfrm>
          <a:prstGeom prst="rect">
            <a:avLst/>
          </a:prstGeom>
        </p:spPr>
      </p:pic>
      <p:pic>
        <p:nvPicPr>
          <p:cNvPr id="52" name="Picture 51" descr="image.png"/>
          <p:cNvPicPr>
            <a:picLocks noChangeAspect="1"/>
          </p:cNvPicPr>
          <p:nvPr/>
        </p:nvPicPr>
        <p:blipFill>
          <a:blip r:embed="rId4"/>
          <a:stretch>
            <a:fillRect/>
          </a:stretch>
        </p:blipFill>
        <p:spPr>
          <a:xfrm>
            <a:off x="8174736" y="100584"/>
            <a:ext cx="658368" cy="347472"/>
          </a:xfrm>
          <a:prstGeom prst="rect">
            <a:avLst/>
          </a:prstGeom>
        </p:spPr>
      </p:pic>
      <p:sp>
        <p:nvSpPr>
          <p:cNvPr id="53" name="Rectangle 5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6FAA"/>
          </a:solidFill>
          <a:ln w="12700">
            <a:solidFill>
              <a:srgbClr val="006FAA"/>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Worked Example</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Worked Example: CNC Machining — Swarf Ejection</a:t>
            </a:r>
            <a:endParaRPr lang="en-US" sz="2600" dirty="0"/>
          </a:p>
        </p:txBody>
      </p:sp>
      <p:sp>
        <p:nvSpPr>
          <p:cNvPr id="9" name="Shape 6"/>
          <p:cNvSpPr/>
          <p:nvPr/>
        </p:nvSpPr>
        <p:spPr>
          <a:xfrm>
            <a:off x="347472" y="1261872"/>
            <a:ext cx="8449056" cy="0"/>
          </a:xfrm>
          <a:prstGeom prst="line">
            <a:avLst/>
          </a:prstGeom>
          <a:noFill/>
          <a:ln w="19050">
            <a:solidFill>
              <a:srgbClr val="006FAA"/>
            </a:solidFill>
            <a:prstDash val="solid"/>
          </a:ln>
        </p:spPr>
        <p:txBody>
          <a:bodyPr/>
          <a:lstStyle/>
          <a:p>
            <a:endParaRPr lang="en-GB"/>
          </a:p>
        </p:txBody>
      </p:sp>
      <p:sp>
        <p:nvSpPr>
          <p:cNvPr id="10" name="Text 7"/>
          <p:cNvSpPr/>
          <p:nvPr/>
        </p:nvSpPr>
        <p:spPr>
          <a:xfrm>
            <a:off x="347472" y="1353312"/>
            <a:ext cx="8449056" cy="274320"/>
          </a:xfrm>
          <a:prstGeom prst="rect">
            <a:avLst/>
          </a:prstGeom>
          <a:noFill/>
          <a:ln/>
        </p:spPr>
        <p:txBody>
          <a:bodyPr wrap="square" lIns="0" tIns="0" rIns="0" bIns="0" rtlCol="0" anchor="ctr"/>
          <a:lstStyle/>
          <a:p>
            <a:pPr marL="0" indent="0">
              <a:buNone/>
            </a:pPr>
            <a:r>
              <a:rPr lang="en-US" sz="1200" b="1" dirty="0">
                <a:solidFill>
                  <a:srgbClr val="001E3C"/>
                </a:solidFill>
                <a:latin typeface="Arial" pitchFamily="34" charset="0"/>
                <a:ea typeface="Arial" pitchFamily="34" charset="-122"/>
                <a:cs typeface="Arial" pitchFamily="34" charset="-120"/>
              </a:rPr>
              <a:t>Activity: CNC turning of steel components. Hazard: Swarf ejection from rotating workpiece or tool.</a:t>
            </a:r>
            <a:endParaRPr lang="en-US" sz="1200" dirty="0"/>
          </a:p>
        </p:txBody>
      </p:sp>
      <p:sp>
        <p:nvSpPr>
          <p:cNvPr id="11" name="Shape 8"/>
          <p:cNvSpPr/>
          <p:nvPr/>
        </p:nvSpPr>
        <p:spPr>
          <a:xfrm>
            <a:off x="347472" y="1719072"/>
            <a:ext cx="1463040" cy="347472"/>
          </a:xfrm>
          <a:prstGeom prst="rect">
            <a:avLst/>
          </a:prstGeom>
          <a:solidFill>
            <a:srgbClr val="006FAA"/>
          </a:solidFill>
          <a:ln w="10160">
            <a:solidFill>
              <a:srgbClr val="FFFFFF"/>
            </a:solidFill>
            <a:prstDash val="solid"/>
          </a:ln>
        </p:spPr>
        <p:txBody>
          <a:bodyPr/>
          <a:lstStyle/>
          <a:p>
            <a:endParaRPr lang="en-GB"/>
          </a:p>
        </p:txBody>
      </p:sp>
      <p:sp>
        <p:nvSpPr>
          <p:cNvPr id="12" name="Text 9"/>
          <p:cNvSpPr/>
          <p:nvPr/>
        </p:nvSpPr>
        <p:spPr>
          <a:xfrm>
            <a:off x="347472" y="1719072"/>
            <a:ext cx="14630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Who at Risk</a:t>
            </a:r>
            <a:endParaRPr lang="en-US" sz="850" dirty="0"/>
          </a:p>
        </p:txBody>
      </p:sp>
      <p:sp>
        <p:nvSpPr>
          <p:cNvPr id="13" name="Shape 10"/>
          <p:cNvSpPr/>
          <p:nvPr/>
        </p:nvSpPr>
        <p:spPr>
          <a:xfrm>
            <a:off x="1810512" y="1719072"/>
            <a:ext cx="2011680" cy="347472"/>
          </a:xfrm>
          <a:prstGeom prst="rect">
            <a:avLst/>
          </a:prstGeom>
          <a:solidFill>
            <a:srgbClr val="006FAA"/>
          </a:solidFill>
          <a:ln w="10160">
            <a:solidFill>
              <a:srgbClr val="FFFFFF"/>
            </a:solidFill>
            <a:prstDash val="solid"/>
          </a:ln>
        </p:spPr>
        <p:txBody>
          <a:bodyPr/>
          <a:lstStyle/>
          <a:p>
            <a:endParaRPr lang="en-GB"/>
          </a:p>
        </p:txBody>
      </p:sp>
      <p:sp>
        <p:nvSpPr>
          <p:cNvPr id="14" name="Text 11"/>
          <p:cNvSpPr/>
          <p:nvPr/>
        </p:nvSpPr>
        <p:spPr>
          <a:xfrm>
            <a:off x="1810512" y="1719072"/>
            <a:ext cx="20116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Existing Controls</a:t>
            </a:r>
            <a:endParaRPr lang="en-US" sz="850" dirty="0"/>
          </a:p>
        </p:txBody>
      </p:sp>
      <p:sp>
        <p:nvSpPr>
          <p:cNvPr id="15" name="Shape 12"/>
          <p:cNvSpPr/>
          <p:nvPr/>
        </p:nvSpPr>
        <p:spPr>
          <a:xfrm>
            <a:off x="3822192" y="1719072"/>
            <a:ext cx="402336" cy="347472"/>
          </a:xfrm>
          <a:prstGeom prst="rect">
            <a:avLst/>
          </a:prstGeom>
          <a:solidFill>
            <a:srgbClr val="006FAA"/>
          </a:solidFill>
          <a:ln w="10160">
            <a:solidFill>
              <a:srgbClr val="FFFFFF"/>
            </a:solidFill>
            <a:prstDash val="solid"/>
          </a:ln>
        </p:spPr>
        <p:txBody>
          <a:bodyPr/>
          <a:lstStyle/>
          <a:p>
            <a:endParaRPr lang="en-GB"/>
          </a:p>
        </p:txBody>
      </p:sp>
      <p:sp>
        <p:nvSpPr>
          <p:cNvPr id="16" name="Text 13"/>
          <p:cNvSpPr/>
          <p:nvPr/>
        </p:nvSpPr>
        <p:spPr>
          <a:xfrm>
            <a:off x="3822192" y="1719072"/>
            <a:ext cx="402336"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L</a:t>
            </a:r>
            <a:endParaRPr lang="en-US" sz="850" dirty="0"/>
          </a:p>
        </p:txBody>
      </p:sp>
      <p:sp>
        <p:nvSpPr>
          <p:cNvPr id="17" name="Shape 14"/>
          <p:cNvSpPr/>
          <p:nvPr/>
        </p:nvSpPr>
        <p:spPr>
          <a:xfrm>
            <a:off x="4224528" y="1719072"/>
            <a:ext cx="402336" cy="347472"/>
          </a:xfrm>
          <a:prstGeom prst="rect">
            <a:avLst/>
          </a:prstGeom>
          <a:solidFill>
            <a:srgbClr val="006FAA"/>
          </a:solidFill>
          <a:ln w="10160">
            <a:solidFill>
              <a:srgbClr val="FFFFFF"/>
            </a:solidFill>
            <a:prstDash val="solid"/>
          </a:ln>
        </p:spPr>
        <p:txBody>
          <a:bodyPr/>
          <a:lstStyle/>
          <a:p>
            <a:endParaRPr lang="en-GB"/>
          </a:p>
        </p:txBody>
      </p:sp>
      <p:sp>
        <p:nvSpPr>
          <p:cNvPr id="18" name="Text 15"/>
          <p:cNvSpPr/>
          <p:nvPr/>
        </p:nvSpPr>
        <p:spPr>
          <a:xfrm>
            <a:off x="4224528" y="1719072"/>
            <a:ext cx="402336"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a:t>
            </a:r>
            <a:endParaRPr lang="en-US" sz="850" dirty="0"/>
          </a:p>
        </p:txBody>
      </p:sp>
      <p:sp>
        <p:nvSpPr>
          <p:cNvPr id="19" name="Shape 16"/>
          <p:cNvSpPr/>
          <p:nvPr/>
        </p:nvSpPr>
        <p:spPr>
          <a:xfrm>
            <a:off x="4626864" y="1719072"/>
            <a:ext cx="566928" cy="347472"/>
          </a:xfrm>
          <a:prstGeom prst="rect">
            <a:avLst/>
          </a:prstGeom>
          <a:solidFill>
            <a:srgbClr val="006FAA"/>
          </a:solidFill>
          <a:ln w="10160">
            <a:solidFill>
              <a:srgbClr val="FFFFFF"/>
            </a:solidFill>
            <a:prstDash val="solid"/>
          </a:ln>
        </p:spPr>
        <p:txBody>
          <a:bodyPr/>
          <a:lstStyle/>
          <a:p>
            <a:endParaRPr lang="en-GB"/>
          </a:p>
        </p:txBody>
      </p:sp>
      <p:sp>
        <p:nvSpPr>
          <p:cNvPr id="20" name="Text 17"/>
          <p:cNvSpPr/>
          <p:nvPr/>
        </p:nvSpPr>
        <p:spPr>
          <a:xfrm>
            <a:off x="4626864" y="1719072"/>
            <a:ext cx="566928"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Initial</a:t>
            </a:r>
            <a:endParaRPr lang="en-US" sz="850" dirty="0"/>
          </a:p>
        </p:txBody>
      </p:sp>
      <p:sp>
        <p:nvSpPr>
          <p:cNvPr id="21" name="Shape 18"/>
          <p:cNvSpPr/>
          <p:nvPr/>
        </p:nvSpPr>
        <p:spPr>
          <a:xfrm>
            <a:off x="5193792" y="1719072"/>
            <a:ext cx="2011680" cy="347472"/>
          </a:xfrm>
          <a:prstGeom prst="rect">
            <a:avLst/>
          </a:prstGeom>
          <a:solidFill>
            <a:srgbClr val="006FAA"/>
          </a:solidFill>
          <a:ln w="10160">
            <a:solidFill>
              <a:srgbClr val="FFFFFF"/>
            </a:solidFill>
            <a:prstDash val="solid"/>
          </a:ln>
        </p:spPr>
        <p:txBody>
          <a:bodyPr/>
          <a:lstStyle/>
          <a:p>
            <a:endParaRPr lang="en-GB"/>
          </a:p>
        </p:txBody>
      </p:sp>
      <p:sp>
        <p:nvSpPr>
          <p:cNvPr id="22" name="Text 19"/>
          <p:cNvSpPr/>
          <p:nvPr/>
        </p:nvSpPr>
        <p:spPr>
          <a:xfrm>
            <a:off x="5193792" y="1719072"/>
            <a:ext cx="201168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Additional Controls</a:t>
            </a:r>
            <a:endParaRPr lang="en-US" sz="850" dirty="0"/>
          </a:p>
        </p:txBody>
      </p:sp>
      <p:sp>
        <p:nvSpPr>
          <p:cNvPr id="23" name="Shape 20"/>
          <p:cNvSpPr/>
          <p:nvPr/>
        </p:nvSpPr>
        <p:spPr>
          <a:xfrm>
            <a:off x="7205472" y="1719072"/>
            <a:ext cx="402336" cy="347472"/>
          </a:xfrm>
          <a:prstGeom prst="rect">
            <a:avLst/>
          </a:prstGeom>
          <a:solidFill>
            <a:srgbClr val="006FAA"/>
          </a:solidFill>
          <a:ln w="10160">
            <a:solidFill>
              <a:srgbClr val="FFFFFF"/>
            </a:solidFill>
            <a:prstDash val="solid"/>
          </a:ln>
        </p:spPr>
        <p:txBody>
          <a:bodyPr/>
          <a:lstStyle/>
          <a:p>
            <a:endParaRPr lang="en-GB"/>
          </a:p>
        </p:txBody>
      </p:sp>
      <p:sp>
        <p:nvSpPr>
          <p:cNvPr id="24" name="Text 21"/>
          <p:cNvSpPr/>
          <p:nvPr/>
        </p:nvSpPr>
        <p:spPr>
          <a:xfrm>
            <a:off x="7205472" y="1719072"/>
            <a:ext cx="402336"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L</a:t>
            </a:r>
            <a:endParaRPr lang="en-US" sz="850" dirty="0"/>
          </a:p>
        </p:txBody>
      </p:sp>
      <p:sp>
        <p:nvSpPr>
          <p:cNvPr id="25" name="Shape 22"/>
          <p:cNvSpPr/>
          <p:nvPr/>
        </p:nvSpPr>
        <p:spPr>
          <a:xfrm>
            <a:off x="7607808" y="1719072"/>
            <a:ext cx="402336" cy="347472"/>
          </a:xfrm>
          <a:prstGeom prst="rect">
            <a:avLst/>
          </a:prstGeom>
          <a:solidFill>
            <a:srgbClr val="006FAA"/>
          </a:solidFill>
          <a:ln w="10160">
            <a:solidFill>
              <a:srgbClr val="FFFFFF"/>
            </a:solidFill>
            <a:prstDash val="solid"/>
          </a:ln>
        </p:spPr>
        <p:txBody>
          <a:bodyPr/>
          <a:lstStyle/>
          <a:p>
            <a:endParaRPr lang="en-GB"/>
          </a:p>
        </p:txBody>
      </p:sp>
      <p:sp>
        <p:nvSpPr>
          <p:cNvPr id="26" name="Text 23"/>
          <p:cNvSpPr/>
          <p:nvPr/>
        </p:nvSpPr>
        <p:spPr>
          <a:xfrm>
            <a:off x="7607808" y="1719072"/>
            <a:ext cx="402336"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a:t>
            </a:r>
            <a:endParaRPr lang="en-US" sz="850" dirty="0"/>
          </a:p>
        </p:txBody>
      </p:sp>
      <p:sp>
        <p:nvSpPr>
          <p:cNvPr id="27" name="Shape 24"/>
          <p:cNvSpPr/>
          <p:nvPr/>
        </p:nvSpPr>
        <p:spPr>
          <a:xfrm>
            <a:off x="8010144" y="1719072"/>
            <a:ext cx="566928" cy="347472"/>
          </a:xfrm>
          <a:prstGeom prst="rect">
            <a:avLst/>
          </a:prstGeom>
          <a:solidFill>
            <a:srgbClr val="006FAA"/>
          </a:solidFill>
          <a:ln w="10160">
            <a:solidFill>
              <a:srgbClr val="FFFFFF"/>
            </a:solidFill>
            <a:prstDash val="solid"/>
          </a:ln>
        </p:spPr>
        <p:txBody>
          <a:bodyPr/>
          <a:lstStyle/>
          <a:p>
            <a:endParaRPr lang="en-GB"/>
          </a:p>
        </p:txBody>
      </p:sp>
      <p:sp>
        <p:nvSpPr>
          <p:cNvPr id="28" name="Text 25"/>
          <p:cNvSpPr/>
          <p:nvPr/>
        </p:nvSpPr>
        <p:spPr>
          <a:xfrm>
            <a:off x="8010144" y="1719072"/>
            <a:ext cx="566928"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Residual</a:t>
            </a:r>
            <a:endParaRPr lang="en-US" sz="850" dirty="0"/>
          </a:p>
        </p:txBody>
      </p:sp>
      <p:sp>
        <p:nvSpPr>
          <p:cNvPr id="29" name="Shape 26"/>
          <p:cNvSpPr/>
          <p:nvPr/>
        </p:nvSpPr>
        <p:spPr>
          <a:xfrm>
            <a:off x="347472" y="2066544"/>
            <a:ext cx="1463040" cy="621792"/>
          </a:xfrm>
          <a:prstGeom prst="rect">
            <a:avLst/>
          </a:prstGeom>
          <a:solidFill>
            <a:srgbClr val="F0F6FF"/>
          </a:solidFill>
          <a:ln w="6350">
            <a:solidFill>
              <a:srgbClr val="DDDDDD"/>
            </a:solidFill>
            <a:prstDash val="solid"/>
          </a:ln>
        </p:spPr>
        <p:txBody>
          <a:bodyPr/>
          <a:lstStyle/>
          <a:p>
            <a:endParaRPr lang="en-GB"/>
          </a:p>
        </p:txBody>
      </p:sp>
      <p:sp>
        <p:nvSpPr>
          <p:cNvPr id="30" name="Text 27"/>
          <p:cNvSpPr/>
          <p:nvPr/>
        </p:nvSpPr>
        <p:spPr>
          <a:xfrm>
            <a:off x="384048" y="2084832"/>
            <a:ext cx="138988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Machine operators</a:t>
            </a:r>
            <a:endParaRPr lang="en-US" sz="950" dirty="0"/>
          </a:p>
        </p:txBody>
      </p:sp>
      <p:sp>
        <p:nvSpPr>
          <p:cNvPr id="31" name="Shape 28"/>
          <p:cNvSpPr/>
          <p:nvPr/>
        </p:nvSpPr>
        <p:spPr>
          <a:xfrm>
            <a:off x="1810512" y="2066544"/>
            <a:ext cx="2011680" cy="621792"/>
          </a:xfrm>
          <a:prstGeom prst="rect">
            <a:avLst/>
          </a:prstGeom>
          <a:solidFill>
            <a:srgbClr val="F0F6FF"/>
          </a:solidFill>
          <a:ln w="6350">
            <a:solidFill>
              <a:srgbClr val="DDDDDD"/>
            </a:solidFill>
            <a:prstDash val="solid"/>
          </a:ln>
        </p:spPr>
        <p:txBody>
          <a:bodyPr/>
          <a:lstStyle/>
          <a:p>
            <a:endParaRPr lang="en-GB"/>
          </a:p>
        </p:txBody>
      </p:sp>
      <p:sp>
        <p:nvSpPr>
          <p:cNvPr id="32" name="Text 29"/>
          <p:cNvSpPr/>
          <p:nvPr/>
        </p:nvSpPr>
        <p:spPr>
          <a:xfrm>
            <a:off x="1847088" y="2084832"/>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Enclosure guard on machine, operator training, SOP in place</a:t>
            </a:r>
            <a:endParaRPr lang="en-US" sz="950" dirty="0"/>
          </a:p>
        </p:txBody>
      </p:sp>
      <p:sp>
        <p:nvSpPr>
          <p:cNvPr id="33" name="Shape 30"/>
          <p:cNvSpPr/>
          <p:nvPr/>
        </p:nvSpPr>
        <p:spPr>
          <a:xfrm>
            <a:off x="3822192" y="2066544"/>
            <a:ext cx="402336" cy="621792"/>
          </a:xfrm>
          <a:prstGeom prst="rect">
            <a:avLst/>
          </a:prstGeom>
          <a:solidFill>
            <a:srgbClr val="F0F6FF"/>
          </a:solidFill>
          <a:ln w="6350">
            <a:solidFill>
              <a:srgbClr val="DDDDDD"/>
            </a:solidFill>
            <a:prstDash val="solid"/>
          </a:ln>
        </p:spPr>
        <p:txBody>
          <a:bodyPr/>
          <a:lstStyle/>
          <a:p>
            <a:endParaRPr lang="en-GB"/>
          </a:p>
        </p:txBody>
      </p:sp>
      <p:sp>
        <p:nvSpPr>
          <p:cNvPr id="34" name="Text 31"/>
          <p:cNvSpPr/>
          <p:nvPr/>
        </p:nvSpPr>
        <p:spPr>
          <a:xfrm>
            <a:off x="3858768" y="2084832"/>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3</a:t>
            </a:r>
            <a:endParaRPr lang="en-US" sz="1150" dirty="0"/>
          </a:p>
        </p:txBody>
      </p:sp>
      <p:sp>
        <p:nvSpPr>
          <p:cNvPr id="35" name="Shape 32"/>
          <p:cNvSpPr/>
          <p:nvPr/>
        </p:nvSpPr>
        <p:spPr>
          <a:xfrm>
            <a:off x="4224528" y="2066544"/>
            <a:ext cx="402336" cy="621792"/>
          </a:xfrm>
          <a:prstGeom prst="rect">
            <a:avLst/>
          </a:prstGeom>
          <a:solidFill>
            <a:srgbClr val="F0F6FF"/>
          </a:solidFill>
          <a:ln w="6350">
            <a:solidFill>
              <a:srgbClr val="DDDDDD"/>
            </a:solidFill>
            <a:prstDash val="solid"/>
          </a:ln>
        </p:spPr>
        <p:txBody>
          <a:bodyPr/>
          <a:lstStyle/>
          <a:p>
            <a:endParaRPr lang="en-GB"/>
          </a:p>
        </p:txBody>
      </p:sp>
      <p:sp>
        <p:nvSpPr>
          <p:cNvPr id="36" name="Text 33"/>
          <p:cNvSpPr/>
          <p:nvPr/>
        </p:nvSpPr>
        <p:spPr>
          <a:xfrm>
            <a:off x="4261104" y="2084832"/>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37" name="Shape 34"/>
          <p:cNvSpPr/>
          <p:nvPr/>
        </p:nvSpPr>
        <p:spPr>
          <a:xfrm>
            <a:off x="4626864" y="2066544"/>
            <a:ext cx="566928" cy="621792"/>
          </a:xfrm>
          <a:prstGeom prst="rect">
            <a:avLst/>
          </a:prstGeom>
          <a:solidFill>
            <a:srgbClr val="FFF3CC"/>
          </a:solidFill>
          <a:ln w="6350">
            <a:solidFill>
              <a:srgbClr val="DDDDDD"/>
            </a:solidFill>
            <a:prstDash val="solid"/>
          </a:ln>
        </p:spPr>
        <p:txBody>
          <a:bodyPr/>
          <a:lstStyle/>
          <a:p>
            <a:endParaRPr lang="en-GB"/>
          </a:p>
        </p:txBody>
      </p:sp>
      <p:sp>
        <p:nvSpPr>
          <p:cNvPr id="38" name="Text 35"/>
          <p:cNvSpPr/>
          <p:nvPr/>
        </p:nvSpPr>
        <p:spPr>
          <a:xfrm>
            <a:off x="4663440" y="2084832"/>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12</a:t>
            </a:r>
            <a:endParaRPr lang="en-US" sz="1150" dirty="0"/>
          </a:p>
        </p:txBody>
      </p:sp>
      <p:sp>
        <p:nvSpPr>
          <p:cNvPr id="39" name="Shape 36"/>
          <p:cNvSpPr/>
          <p:nvPr/>
        </p:nvSpPr>
        <p:spPr>
          <a:xfrm>
            <a:off x="5193792" y="2066544"/>
            <a:ext cx="2011680" cy="621792"/>
          </a:xfrm>
          <a:prstGeom prst="rect">
            <a:avLst/>
          </a:prstGeom>
          <a:solidFill>
            <a:srgbClr val="F0F6FF"/>
          </a:solidFill>
          <a:ln w="6350">
            <a:solidFill>
              <a:srgbClr val="DDDDDD"/>
            </a:solidFill>
            <a:prstDash val="solid"/>
          </a:ln>
        </p:spPr>
        <p:txBody>
          <a:bodyPr/>
          <a:lstStyle/>
          <a:p>
            <a:endParaRPr lang="en-GB"/>
          </a:p>
        </p:txBody>
      </p:sp>
      <p:sp>
        <p:nvSpPr>
          <p:cNvPr id="40" name="Text 37"/>
          <p:cNvSpPr/>
          <p:nvPr/>
        </p:nvSpPr>
        <p:spPr>
          <a:xfrm>
            <a:off x="5230368" y="2084832"/>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Guard interlock check pre-shift, face shield for setup, compressed air prohibited</a:t>
            </a:r>
            <a:endParaRPr lang="en-US" sz="950" dirty="0"/>
          </a:p>
        </p:txBody>
      </p:sp>
      <p:sp>
        <p:nvSpPr>
          <p:cNvPr id="41" name="Shape 38"/>
          <p:cNvSpPr/>
          <p:nvPr/>
        </p:nvSpPr>
        <p:spPr>
          <a:xfrm>
            <a:off x="7205472" y="2066544"/>
            <a:ext cx="402336" cy="621792"/>
          </a:xfrm>
          <a:prstGeom prst="rect">
            <a:avLst/>
          </a:prstGeom>
          <a:solidFill>
            <a:srgbClr val="F0F6FF"/>
          </a:solidFill>
          <a:ln w="6350">
            <a:solidFill>
              <a:srgbClr val="DDDDDD"/>
            </a:solidFill>
            <a:prstDash val="solid"/>
          </a:ln>
        </p:spPr>
        <p:txBody>
          <a:bodyPr/>
          <a:lstStyle/>
          <a:p>
            <a:endParaRPr lang="en-GB"/>
          </a:p>
        </p:txBody>
      </p:sp>
      <p:sp>
        <p:nvSpPr>
          <p:cNvPr id="42" name="Text 39"/>
          <p:cNvSpPr/>
          <p:nvPr/>
        </p:nvSpPr>
        <p:spPr>
          <a:xfrm>
            <a:off x="7242048" y="2084832"/>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2</a:t>
            </a:r>
            <a:endParaRPr lang="en-US" sz="1150" dirty="0"/>
          </a:p>
        </p:txBody>
      </p:sp>
      <p:sp>
        <p:nvSpPr>
          <p:cNvPr id="43" name="Shape 40"/>
          <p:cNvSpPr/>
          <p:nvPr/>
        </p:nvSpPr>
        <p:spPr>
          <a:xfrm>
            <a:off x="7607808" y="2066544"/>
            <a:ext cx="402336" cy="621792"/>
          </a:xfrm>
          <a:prstGeom prst="rect">
            <a:avLst/>
          </a:prstGeom>
          <a:solidFill>
            <a:srgbClr val="F0F6FF"/>
          </a:solidFill>
          <a:ln w="6350">
            <a:solidFill>
              <a:srgbClr val="DDDDDD"/>
            </a:solidFill>
            <a:prstDash val="solid"/>
          </a:ln>
        </p:spPr>
        <p:txBody>
          <a:bodyPr/>
          <a:lstStyle/>
          <a:p>
            <a:endParaRPr lang="en-GB"/>
          </a:p>
        </p:txBody>
      </p:sp>
      <p:sp>
        <p:nvSpPr>
          <p:cNvPr id="44" name="Text 41"/>
          <p:cNvSpPr/>
          <p:nvPr/>
        </p:nvSpPr>
        <p:spPr>
          <a:xfrm>
            <a:off x="7644384" y="2084832"/>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45" name="Shape 42"/>
          <p:cNvSpPr/>
          <p:nvPr/>
        </p:nvSpPr>
        <p:spPr>
          <a:xfrm>
            <a:off x="8010144" y="2066544"/>
            <a:ext cx="566928" cy="621792"/>
          </a:xfrm>
          <a:prstGeom prst="rect">
            <a:avLst/>
          </a:prstGeom>
          <a:solidFill>
            <a:srgbClr val="FFF3CC"/>
          </a:solidFill>
          <a:ln w="6350">
            <a:solidFill>
              <a:srgbClr val="DDDDDD"/>
            </a:solidFill>
            <a:prstDash val="solid"/>
          </a:ln>
        </p:spPr>
        <p:txBody>
          <a:bodyPr/>
          <a:lstStyle/>
          <a:p>
            <a:endParaRPr lang="en-GB"/>
          </a:p>
        </p:txBody>
      </p:sp>
      <p:sp>
        <p:nvSpPr>
          <p:cNvPr id="46" name="Text 43"/>
          <p:cNvSpPr/>
          <p:nvPr/>
        </p:nvSpPr>
        <p:spPr>
          <a:xfrm>
            <a:off x="8046720" y="2084832"/>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8</a:t>
            </a:r>
            <a:endParaRPr lang="en-US" sz="1150" dirty="0"/>
          </a:p>
        </p:txBody>
      </p:sp>
      <p:sp>
        <p:nvSpPr>
          <p:cNvPr id="47" name="Shape 44"/>
          <p:cNvSpPr/>
          <p:nvPr/>
        </p:nvSpPr>
        <p:spPr>
          <a:xfrm>
            <a:off x="347472" y="2724912"/>
            <a:ext cx="1463040" cy="621792"/>
          </a:xfrm>
          <a:prstGeom prst="rect">
            <a:avLst/>
          </a:prstGeom>
          <a:solidFill>
            <a:srgbClr val="FFFFFF"/>
          </a:solidFill>
          <a:ln w="6350">
            <a:solidFill>
              <a:srgbClr val="DDDDDD"/>
            </a:solidFill>
            <a:prstDash val="solid"/>
          </a:ln>
        </p:spPr>
        <p:txBody>
          <a:bodyPr/>
          <a:lstStyle/>
          <a:p>
            <a:endParaRPr lang="en-GB"/>
          </a:p>
        </p:txBody>
      </p:sp>
      <p:sp>
        <p:nvSpPr>
          <p:cNvPr id="48" name="Text 45"/>
          <p:cNvSpPr/>
          <p:nvPr/>
        </p:nvSpPr>
        <p:spPr>
          <a:xfrm>
            <a:off x="384048" y="2743200"/>
            <a:ext cx="138988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Maintenance staff</a:t>
            </a:r>
            <a:endParaRPr lang="en-US" sz="950" dirty="0"/>
          </a:p>
        </p:txBody>
      </p:sp>
      <p:sp>
        <p:nvSpPr>
          <p:cNvPr id="49" name="Shape 46"/>
          <p:cNvSpPr/>
          <p:nvPr/>
        </p:nvSpPr>
        <p:spPr>
          <a:xfrm>
            <a:off x="1810512" y="2724912"/>
            <a:ext cx="2011680" cy="621792"/>
          </a:xfrm>
          <a:prstGeom prst="rect">
            <a:avLst/>
          </a:prstGeom>
          <a:solidFill>
            <a:srgbClr val="FFFFFF"/>
          </a:solidFill>
          <a:ln w="6350">
            <a:solidFill>
              <a:srgbClr val="DDDDDD"/>
            </a:solidFill>
            <a:prstDash val="solid"/>
          </a:ln>
        </p:spPr>
        <p:txBody>
          <a:bodyPr/>
          <a:lstStyle/>
          <a:p>
            <a:endParaRPr lang="en-GB"/>
          </a:p>
        </p:txBody>
      </p:sp>
      <p:sp>
        <p:nvSpPr>
          <p:cNvPr id="50" name="Text 47"/>
          <p:cNvSpPr/>
          <p:nvPr/>
        </p:nvSpPr>
        <p:spPr>
          <a:xfrm>
            <a:off x="1847088" y="2743200"/>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Machine isolated before maintenance (LOTO procedure)</a:t>
            </a:r>
            <a:endParaRPr lang="en-US" sz="950" dirty="0"/>
          </a:p>
        </p:txBody>
      </p:sp>
      <p:sp>
        <p:nvSpPr>
          <p:cNvPr id="51" name="Shape 48"/>
          <p:cNvSpPr/>
          <p:nvPr/>
        </p:nvSpPr>
        <p:spPr>
          <a:xfrm>
            <a:off x="3822192" y="2724912"/>
            <a:ext cx="402336" cy="621792"/>
          </a:xfrm>
          <a:prstGeom prst="rect">
            <a:avLst/>
          </a:prstGeom>
          <a:solidFill>
            <a:srgbClr val="FFFFFF"/>
          </a:solidFill>
          <a:ln w="6350">
            <a:solidFill>
              <a:srgbClr val="DDDDDD"/>
            </a:solidFill>
            <a:prstDash val="solid"/>
          </a:ln>
        </p:spPr>
        <p:txBody>
          <a:bodyPr/>
          <a:lstStyle/>
          <a:p>
            <a:endParaRPr lang="en-GB"/>
          </a:p>
        </p:txBody>
      </p:sp>
      <p:sp>
        <p:nvSpPr>
          <p:cNvPr id="52" name="Text 49"/>
          <p:cNvSpPr/>
          <p:nvPr/>
        </p:nvSpPr>
        <p:spPr>
          <a:xfrm>
            <a:off x="3858768" y="2743200"/>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2</a:t>
            </a:r>
            <a:endParaRPr lang="en-US" sz="1150" dirty="0"/>
          </a:p>
        </p:txBody>
      </p:sp>
      <p:sp>
        <p:nvSpPr>
          <p:cNvPr id="53" name="Shape 50"/>
          <p:cNvSpPr/>
          <p:nvPr/>
        </p:nvSpPr>
        <p:spPr>
          <a:xfrm>
            <a:off x="4224528" y="2724912"/>
            <a:ext cx="402336" cy="621792"/>
          </a:xfrm>
          <a:prstGeom prst="rect">
            <a:avLst/>
          </a:prstGeom>
          <a:solidFill>
            <a:srgbClr val="FFFFFF"/>
          </a:solidFill>
          <a:ln w="6350">
            <a:solidFill>
              <a:srgbClr val="DDDDDD"/>
            </a:solidFill>
            <a:prstDash val="solid"/>
          </a:ln>
        </p:spPr>
        <p:txBody>
          <a:bodyPr/>
          <a:lstStyle/>
          <a:p>
            <a:endParaRPr lang="en-GB"/>
          </a:p>
        </p:txBody>
      </p:sp>
      <p:sp>
        <p:nvSpPr>
          <p:cNvPr id="54" name="Text 51"/>
          <p:cNvSpPr/>
          <p:nvPr/>
        </p:nvSpPr>
        <p:spPr>
          <a:xfrm>
            <a:off x="4261104" y="2743200"/>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55" name="Shape 52"/>
          <p:cNvSpPr/>
          <p:nvPr/>
        </p:nvSpPr>
        <p:spPr>
          <a:xfrm>
            <a:off x="4626864" y="2724912"/>
            <a:ext cx="566928" cy="621792"/>
          </a:xfrm>
          <a:prstGeom prst="rect">
            <a:avLst/>
          </a:prstGeom>
          <a:solidFill>
            <a:srgbClr val="FFF3CC"/>
          </a:solidFill>
          <a:ln w="6350">
            <a:solidFill>
              <a:srgbClr val="DDDDDD"/>
            </a:solidFill>
            <a:prstDash val="solid"/>
          </a:ln>
        </p:spPr>
        <p:txBody>
          <a:bodyPr/>
          <a:lstStyle/>
          <a:p>
            <a:endParaRPr lang="en-GB"/>
          </a:p>
        </p:txBody>
      </p:sp>
      <p:sp>
        <p:nvSpPr>
          <p:cNvPr id="56" name="Text 53"/>
          <p:cNvSpPr/>
          <p:nvPr/>
        </p:nvSpPr>
        <p:spPr>
          <a:xfrm>
            <a:off x="4663440" y="2743200"/>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8</a:t>
            </a:r>
            <a:endParaRPr lang="en-US" sz="1150" dirty="0"/>
          </a:p>
        </p:txBody>
      </p:sp>
      <p:sp>
        <p:nvSpPr>
          <p:cNvPr id="57" name="Shape 54"/>
          <p:cNvSpPr/>
          <p:nvPr/>
        </p:nvSpPr>
        <p:spPr>
          <a:xfrm>
            <a:off x="5193792" y="2724912"/>
            <a:ext cx="2011680" cy="621792"/>
          </a:xfrm>
          <a:prstGeom prst="rect">
            <a:avLst/>
          </a:prstGeom>
          <a:solidFill>
            <a:srgbClr val="FFFFFF"/>
          </a:solidFill>
          <a:ln w="6350">
            <a:solidFill>
              <a:srgbClr val="DDDDDD"/>
            </a:solidFill>
            <a:prstDash val="solid"/>
          </a:ln>
        </p:spPr>
        <p:txBody>
          <a:bodyPr/>
          <a:lstStyle/>
          <a:p>
            <a:endParaRPr lang="en-GB"/>
          </a:p>
        </p:txBody>
      </p:sp>
      <p:sp>
        <p:nvSpPr>
          <p:cNvPr id="58" name="Text 55"/>
          <p:cNvSpPr/>
          <p:nvPr/>
        </p:nvSpPr>
        <p:spPr>
          <a:xfrm>
            <a:off x="5230368" y="2743200"/>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LOTO procedure verified, PPE — face shield during tool change</a:t>
            </a:r>
            <a:endParaRPr lang="en-US" sz="950" dirty="0"/>
          </a:p>
        </p:txBody>
      </p:sp>
      <p:sp>
        <p:nvSpPr>
          <p:cNvPr id="59" name="Shape 56"/>
          <p:cNvSpPr/>
          <p:nvPr/>
        </p:nvSpPr>
        <p:spPr>
          <a:xfrm>
            <a:off x="7205472" y="2724912"/>
            <a:ext cx="402336" cy="621792"/>
          </a:xfrm>
          <a:prstGeom prst="rect">
            <a:avLst/>
          </a:prstGeom>
          <a:solidFill>
            <a:srgbClr val="FFFFFF"/>
          </a:solidFill>
          <a:ln w="6350">
            <a:solidFill>
              <a:srgbClr val="DDDDDD"/>
            </a:solidFill>
            <a:prstDash val="solid"/>
          </a:ln>
        </p:spPr>
        <p:txBody>
          <a:bodyPr/>
          <a:lstStyle/>
          <a:p>
            <a:endParaRPr lang="en-GB"/>
          </a:p>
        </p:txBody>
      </p:sp>
      <p:sp>
        <p:nvSpPr>
          <p:cNvPr id="60" name="Text 57"/>
          <p:cNvSpPr/>
          <p:nvPr/>
        </p:nvSpPr>
        <p:spPr>
          <a:xfrm>
            <a:off x="7242048" y="2743200"/>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1</a:t>
            </a:r>
            <a:endParaRPr lang="en-US" sz="1150" dirty="0"/>
          </a:p>
        </p:txBody>
      </p:sp>
      <p:sp>
        <p:nvSpPr>
          <p:cNvPr id="61" name="Shape 58"/>
          <p:cNvSpPr/>
          <p:nvPr/>
        </p:nvSpPr>
        <p:spPr>
          <a:xfrm>
            <a:off x="7607808" y="2724912"/>
            <a:ext cx="402336" cy="621792"/>
          </a:xfrm>
          <a:prstGeom prst="rect">
            <a:avLst/>
          </a:prstGeom>
          <a:solidFill>
            <a:srgbClr val="FFFFFF"/>
          </a:solidFill>
          <a:ln w="6350">
            <a:solidFill>
              <a:srgbClr val="DDDDDD"/>
            </a:solidFill>
            <a:prstDash val="solid"/>
          </a:ln>
        </p:spPr>
        <p:txBody>
          <a:bodyPr/>
          <a:lstStyle/>
          <a:p>
            <a:endParaRPr lang="en-GB"/>
          </a:p>
        </p:txBody>
      </p:sp>
      <p:sp>
        <p:nvSpPr>
          <p:cNvPr id="62" name="Text 59"/>
          <p:cNvSpPr/>
          <p:nvPr/>
        </p:nvSpPr>
        <p:spPr>
          <a:xfrm>
            <a:off x="7644384" y="2743200"/>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63" name="Shape 60"/>
          <p:cNvSpPr/>
          <p:nvPr/>
        </p:nvSpPr>
        <p:spPr>
          <a:xfrm>
            <a:off x="8010144" y="2724912"/>
            <a:ext cx="566928" cy="621792"/>
          </a:xfrm>
          <a:prstGeom prst="rect">
            <a:avLst/>
          </a:prstGeom>
          <a:solidFill>
            <a:srgbClr val="E8F5E8"/>
          </a:solidFill>
          <a:ln w="6350">
            <a:solidFill>
              <a:srgbClr val="DDDDDD"/>
            </a:solidFill>
            <a:prstDash val="solid"/>
          </a:ln>
        </p:spPr>
        <p:txBody>
          <a:bodyPr/>
          <a:lstStyle/>
          <a:p>
            <a:endParaRPr lang="en-GB"/>
          </a:p>
        </p:txBody>
      </p:sp>
      <p:sp>
        <p:nvSpPr>
          <p:cNvPr id="64" name="Text 61"/>
          <p:cNvSpPr/>
          <p:nvPr/>
        </p:nvSpPr>
        <p:spPr>
          <a:xfrm>
            <a:off x="8046720" y="2743200"/>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65" name="Shape 62"/>
          <p:cNvSpPr/>
          <p:nvPr/>
        </p:nvSpPr>
        <p:spPr>
          <a:xfrm>
            <a:off x="347472" y="3383280"/>
            <a:ext cx="1463040" cy="621792"/>
          </a:xfrm>
          <a:prstGeom prst="rect">
            <a:avLst/>
          </a:prstGeom>
          <a:solidFill>
            <a:srgbClr val="F0F6FF"/>
          </a:solidFill>
          <a:ln w="6350">
            <a:solidFill>
              <a:srgbClr val="DDDDDD"/>
            </a:solidFill>
            <a:prstDash val="solid"/>
          </a:ln>
        </p:spPr>
        <p:txBody>
          <a:bodyPr/>
          <a:lstStyle/>
          <a:p>
            <a:endParaRPr lang="en-GB"/>
          </a:p>
        </p:txBody>
      </p:sp>
      <p:sp>
        <p:nvSpPr>
          <p:cNvPr id="66" name="Text 63"/>
          <p:cNvSpPr/>
          <p:nvPr/>
        </p:nvSpPr>
        <p:spPr>
          <a:xfrm>
            <a:off x="384048" y="3401568"/>
            <a:ext cx="138988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Visitors / others</a:t>
            </a:r>
            <a:endParaRPr lang="en-US" sz="950" dirty="0"/>
          </a:p>
        </p:txBody>
      </p:sp>
      <p:sp>
        <p:nvSpPr>
          <p:cNvPr id="67" name="Shape 64"/>
          <p:cNvSpPr/>
          <p:nvPr/>
        </p:nvSpPr>
        <p:spPr>
          <a:xfrm>
            <a:off x="1810512" y="3383280"/>
            <a:ext cx="2011680" cy="621792"/>
          </a:xfrm>
          <a:prstGeom prst="rect">
            <a:avLst/>
          </a:prstGeom>
          <a:solidFill>
            <a:srgbClr val="F0F6FF"/>
          </a:solidFill>
          <a:ln w="6350">
            <a:solidFill>
              <a:srgbClr val="DDDDDD"/>
            </a:solidFill>
            <a:prstDash val="solid"/>
          </a:ln>
        </p:spPr>
        <p:txBody>
          <a:bodyPr/>
          <a:lstStyle/>
          <a:p>
            <a:endParaRPr lang="en-GB"/>
          </a:p>
        </p:txBody>
      </p:sp>
      <p:sp>
        <p:nvSpPr>
          <p:cNvPr id="68" name="Text 65"/>
          <p:cNvSpPr/>
          <p:nvPr/>
        </p:nvSpPr>
        <p:spPr>
          <a:xfrm>
            <a:off x="1847088" y="3401568"/>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Exclusion zone marked, visitors not permitted in machining area without escort</a:t>
            </a:r>
            <a:endParaRPr lang="en-US" sz="950" dirty="0"/>
          </a:p>
        </p:txBody>
      </p:sp>
      <p:sp>
        <p:nvSpPr>
          <p:cNvPr id="69" name="Shape 66"/>
          <p:cNvSpPr/>
          <p:nvPr/>
        </p:nvSpPr>
        <p:spPr>
          <a:xfrm>
            <a:off x="3822192" y="3383280"/>
            <a:ext cx="402336" cy="621792"/>
          </a:xfrm>
          <a:prstGeom prst="rect">
            <a:avLst/>
          </a:prstGeom>
          <a:solidFill>
            <a:srgbClr val="F0F6FF"/>
          </a:solidFill>
          <a:ln w="6350">
            <a:solidFill>
              <a:srgbClr val="DDDDDD"/>
            </a:solidFill>
            <a:prstDash val="solid"/>
          </a:ln>
        </p:spPr>
        <p:txBody>
          <a:bodyPr/>
          <a:lstStyle/>
          <a:p>
            <a:endParaRPr lang="en-GB"/>
          </a:p>
        </p:txBody>
      </p:sp>
      <p:sp>
        <p:nvSpPr>
          <p:cNvPr id="70" name="Text 67"/>
          <p:cNvSpPr/>
          <p:nvPr/>
        </p:nvSpPr>
        <p:spPr>
          <a:xfrm>
            <a:off x="3858768" y="3401568"/>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2</a:t>
            </a:r>
            <a:endParaRPr lang="en-US" sz="1150" dirty="0"/>
          </a:p>
        </p:txBody>
      </p:sp>
      <p:sp>
        <p:nvSpPr>
          <p:cNvPr id="71" name="Shape 68"/>
          <p:cNvSpPr/>
          <p:nvPr/>
        </p:nvSpPr>
        <p:spPr>
          <a:xfrm>
            <a:off x="4224528" y="3383280"/>
            <a:ext cx="402336" cy="621792"/>
          </a:xfrm>
          <a:prstGeom prst="rect">
            <a:avLst/>
          </a:prstGeom>
          <a:solidFill>
            <a:srgbClr val="F0F6FF"/>
          </a:solidFill>
          <a:ln w="6350">
            <a:solidFill>
              <a:srgbClr val="DDDDDD"/>
            </a:solidFill>
            <a:prstDash val="solid"/>
          </a:ln>
        </p:spPr>
        <p:txBody>
          <a:bodyPr/>
          <a:lstStyle/>
          <a:p>
            <a:endParaRPr lang="en-GB"/>
          </a:p>
        </p:txBody>
      </p:sp>
      <p:sp>
        <p:nvSpPr>
          <p:cNvPr id="72" name="Text 69"/>
          <p:cNvSpPr/>
          <p:nvPr/>
        </p:nvSpPr>
        <p:spPr>
          <a:xfrm>
            <a:off x="4261104" y="3401568"/>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73" name="Shape 70"/>
          <p:cNvSpPr/>
          <p:nvPr/>
        </p:nvSpPr>
        <p:spPr>
          <a:xfrm>
            <a:off x="4626864" y="3383280"/>
            <a:ext cx="566928" cy="621792"/>
          </a:xfrm>
          <a:prstGeom prst="rect">
            <a:avLst/>
          </a:prstGeom>
          <a:solidFill>
            <a:srgbClr val="FFF3CC"/>
          </a:solidFill>
          <a:ln w="6350">
            <a:solidFill>
              <a:srgbClr val="DDDDDD"/>
            </a:solidFill>
            <a:prstDash val="solid"/>
          </a:ln>
        </p:spPr>
        <p:txBody>
          <a:bodyPr/>
          <a:lstStyle/>
          <a:p>
            <a:endParaRPr lang="en-GB"/>
          </a:p>
        </p:txBody>
      </p:sp>
      <p:sp>
        <p:nvSpPr>
          <p:cNvPr id="74" name="Text 71"/>
          <p:cNvSpPr/>
          <p:nvPr/>
        </p:nvSpPr>
        <p:spPr>
          <a:xfrm>
            <a:off x="4663440" y="3401568"/>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8</a:t>
            </a:r>
            <a:endParaRPr lang="en-US" sz="1150" dirty="0"/>
          </a:p>
        </p:txBody>
      </p:sp>
      <p:sp>
        <p:nvSpPr>
          <p:cNvPr id="75" name="Shape 72"/>
          <p:cNvSpPr/>
          <p:nvPr/>
        </p:nvSpPr>
        <p:spPr>
          <a:xfrm>
            <a:off x="5193792" y="3383280"/>
            <a:ext cx="2011680" cy="621792"/>
          </a:xfrm>
          <a:prstGeom prst="rect">
            <a:avLst/>
          </a:prstGeom>
          <a:solidFill>
            <a:srgbClr val="F0F6FF"/>
          </a:solidFill>
          <a:ln w="6350">
            <a:solidFill>
              <a:srgbClr val="DDDDDD"/>
            </a:solidFill>
            <a:prstDash val="solid"/>
          </a:ln>
        </p:spPr>
        <p:txBody>
          <a:bodyPr/>
          <a:lstStyle/>
          <a:p>
            <a:endParaRPr lang="en-GB"/>
          </a:p>
        </p:txBody>
      </p:sp>
      <p:sp>
        <p:nvSpPr>
          <p:cNvPr id="76" name="Text 73"/>
          <p:cNvSpPr/>
          <p:nvPr/>
        </p:nvSpPr>
        <p:spPr>
          <a:xfrm>
            <a:off x="5230368" y="3401568"/>
            <a:ext cx="1938528" cy="585216"/>
          </a:xfrm>
          <a:prstGeom prst="rect">
            <a:avLst/>
          </a:prstGeom>
          <a:noFill/>
          <a:ln/>
        </p:spPr>
        <p:txBody>
          <a:bodyPr wrap="square" lIns="0" tIns="0" rIns="0" bIns="0" rtlCol="0" anchor="ctr"/>
          <a:lstStyle/>
          <a:p>
            <a:pPr marL="0" indent="0" algn="l">
              <a:buNone/>
            </a:pPr>
            <a:r>
              <a:rPr lang="en-US" sz="950" dirty="0">
                <a:solidFill>
                  <a:srgbClr val="001E3C"/>
                </a:solidFill>
                <a:latin typeface="Arial" pitchFamily="34" charset="0"/>
                <a:ea typeface="Arial" pitchFamily="34" charset="-122"/>
                <a:cs typeface="Arial" pitchFamily="34" charset="-120"/>
              </a:rPr>
              <a:t>Reinforce exclusion zone with physical barrier during CNC operations</a:t>
            </a:r>
            <a:endParaRPr lang="en-US" sz="950" dirty="0"/>
          </a:p>
        </p:txBody>
      </p:sp>
      <p:sp>
        <p:nvSpPr>
          <p:cNvPr id="77" name="Shape 74"/>
          <p:cNvSpPr/>
          <p:nvPr/>
        </p:nvSpPr>
        <p:spPr>
          <a:xfrm>
            <a:off x="7205472" y="3383280"/>
            <a:ext cx="402336" cy="621792"/>
          </a:xfrm>
          <a:prstGeom prst="rect">
            <a:avLst/>
          </a:prstGeom>
          <a:solidFill>
            <a:srgbClr val="F0F6FF"/>
          </a:solidFill>
          <a:ln w="6350">
            <a:solidFill>
              <a:srgbClr val="DDDDDD"/>
            </a:solidFill>
            <a:prstDash val="solid"/>
          </a:ln>
        </p:spPr>
        <p:txBody>
          <a:bodyPr/>
          <a:lstStyle/>
          <a:p>
            <a:endParaRPr lang="en-GB"/>
          </a:p>
        </p:txBody>
      </p:sp>
      <p:sp>
        <p:nvSpPr>
          <p:cNvPr id="78" name="Text 75"/>
          <p:cNvSpPr/>
          <p:nvPr/>
        </p:nvSpPr>
        <p:spPr>
          <a:xfrm>
            <a:off x="7242048" y="3401568"/>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1</a:t>
            </a:r>
            <a:endParaRPr lang="en-US" sz="1150" dirty="0"/>
          </a:p>
        </p:txBody>
      </p:sp>
      <p:sp>
        <p:nvSpPr>
          <p:cNvPr id="79" name="Shape 76"/>
          <p:cNvSpPr/>
          <p:nvPr/>
        </p:nvSpPr>
        <p:spPr>
          <a:xfrm>
            <a:off x="7607808" y="3383280"/>
            <a:ext cx="402336" cy="621792"/>
          </a:xfrm>
          <a:prstGeom prst="rect">
            <a:avLst/>
          </a:prstGeom>
          <a:solidFill>
            <a:srgbClr val="F0F6FF"/>
          </a:solidFill>
          <a:ln w="6350">
            <a:solidFill>
              <a:srgbClr val="DDDDDD"/>
            </a:solidFill>
            <a:prstDash val="solid"/>
          </a:ln>
        </p:spPr>
        <p:txBody>
          <a:bodyPr/>
          <a:lstStyle/>
          <a:p>
            <a:endParaRPr lang="en-GB"/>
          </a:p>
        </p:txBody>
      </p:sp>
      <p:sp>
        <p:nvSpPr>
          <p:cNvPr id="80" name="Text 77"/>
          <p:cNvSpPr/>
          <p:nvPr/>
        </p:nvSpPr>
        <p:spPr>
          <a:xfrm>
            <a:off x="7644384" y="3401568"/>
            <a:ext cx="329184"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81" name="Shape 78"/>
          <p:cNvSpPr/>
          <p:nvPr/>
        </p:nvSpPr>
        <p:spPr>
          <a:xfrm>
            <a:off x="8010144" y="3383280"/>
            <a:ext cx="566928" cy="621792"/>
          </a:xfrm>
          <a:prstGeom prst="rect">
            <a:avLst/>
          </a:prstGeom>
          <a:solidFill>
            <a:srgbClr val="E8F5E8"/>
          </a:solidFill>
          <a:ln w="6350">
            <a:solidFill>
              <a:srgbClr val="DDDDDD"/>
            </a:solidFill>
            <a:prstDash val="solid"/>
          </a:ln>
        </p:spPr>
        <p:txBody>
          <a:bodyPr/>
          <a:lstStyle/>
          <a:p>
            <a:endParaRPr lang="en-GB"/>
          </a:p>
        </p:txBody>
      </p:sp>
      <p:sp>
        <p:nvSpPr>
          <p:cNvPr id="82" name="Text 79"/>
          <p:cNvSpPr/>
          <p:nvPr/>
        </p:nvSpPr>
        <p:spPr>
          <a:xfrm>
            <a:off x="8046720" y="3401568"/>
            <a:ext cx="493776" cy="585216"/>
          </a:xfrm>
          <a:prstGeom prst="rect">
            <a:avLst/>
          </a:prstGeom>
          <a:noFill/>
          <a:ln/>
        </p:spPr>
        <p:txBody>
          <a:bodyPr wrap="square" lIns="0" tIns="0" rIns="0" bIns="0" rtlCol="0" anchor="ctr"/>
          <a:lstStyle/>
          <a:p>
            <a:pPr marL="0" indent="0" algn="ctr">
              <a:buNone/>
            </a:pPr>
            <a:r>
              <a:rPr lang="en-US" sz="1150" b="1" dirty="0">
                <a:solidFill>
                  <a:srgbClr val="001E3C"/>
                </a:solidFill>
                <a:latin typeface="Arial" pitchFamily="34" charset="0"/>
                <a:ea typeface="Arial" pitchFamily="34" charset="-122"/>
                <a:cs typeface="Arial" pitchFamily="34" charset="-120"/>
              </a:rPr>
              <a:t>4</a:t>
            </a:r>
            <a:endParaRPr lang="en-US" sz="1150" dirty="0"/>
          </a:p>
        </p:txBody>
      </p:sp>
      <p:sp>
        <p:nvSpPr>
          <p:cNvPr id="83" name="Shape 80"/>
          <p:cNvSpPr/>
          <p:nvPr/>
        </p:nvSpPr>
        <p:spPr>
          <a:xfrm>
            <a:off x="347472" y="4553712"/>
            <a:ext cx="219456" cy="201168"/>
          </a:xfrm>
          <a:prstGeom prst="rect">
            <a:avLst/>
          </a:prstGeom>
          <a:solidFill>
            <a:srgbClr val="2E8B57"/>
          </a:solidFill>
          <a:ln w="12700">
            <a:solidFill>
              <a:srgbClr val="2E8B57"/>
            </a:solidFill>
            <a:prstDash val="solid"/>
          </a:ln>
        </p:spPr>
        <p:txBody>
          <a:bodyPr/>
          <a:lstStyle/>
          <a:p>
            <a:endParaRPr lang="en-GB"/>
          </a:p>
        </p:txBody>
      </p:sp>
      <p:sp>
        <p:nvSpPr>
          <p:cNvPr id="84" name="Text 81"/>
          <p:cNvSpPr/>
          <p:nvPr/>
        </p:nvSpPr>
        <p:spPr>
          <a:xfrm>
            <a:off x="621792" y="4544568"/>
            <a:ext cx="2286000"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GREEN: 1-4 Low</a:t>
            </a:r>
            <a:endParaRPr lang="en-US" sz="1000" dirty="0"/>
          </a:p>
        </p:txBody>
      </p:sp>
      <p:sp>
        <p:nvSpPr>
          <p:cNvPr id="85" name="Shape 82"/>
          <p:cNvSpPr/>
          <p:nvPr/>
        </p:nvSpPr>
        <p:spPr>
          <a:xfrm>
            <a:off x="3163824" y="4553712"/>
            <a:ext cx="219456" cy="201168"/>
          </a:xfrm>
          <a:prstGeom prst="rect">
            <a:avLst/>
          </a:prstGeom>
          <a:solidFill>
            <a:srgbClr val="E08A00"/>
          </a:solidFill>
          <a:ln w="12700">
            <a:solidFill>
              <a:srgbClr val="E08A00"/>
            </a:solidFill>
            <a:prstDash val="solid"/>
          </a:ln>
        </p:spPr>
        <p:txBody>
          <a:bodyPr/>
          <a:lstStyle/>
          <a:p>
            <a:endParaRPr lang="en-GB"/>
          </a:p>
        </p:txBody>
      </p:sp>
      <p:sp>
        <p:nvSpPr>
          <p:cNvPr id="86" name="Text 83"/>
          <p:cNvSpPr/>
          <p:nvPr/>
        </p:nvSpPr>
        <p:spPr>
          <a:xfrm>
            <a:off x="3438144" y="4544568"/>
            <a:ext cx="2286000"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AMBER: 5-9 Medium</a:t>
            </a:r>
            <a:endParaRPr lang="en-US" sz="1000" dirty="0"/>
          </a:p>
        </p:txBody>
      </p:sp>
      <p:sp>
        <p:nvSpPr>
          <p:cNvPr id="87" name="Shape 84"/>
          <p:cNvSpPr/>
          <p:nvPr/>
        </p:nvSpPr>
        <p:spPr>
          <a:xfrm>
            <a:off x="5980176" y="4553712"/>
            <a:ext cx="219456" cy="201168"/>
          </a:xfrm>
          <a:prstGeom prst="rect">
            <a:avLst/>
          </a:prstGeom>
          <a:solidFill>
            <a:srgbClr val="C0392B"/>
          </a:solidFill>
          <a:ln w="12700">
            <a:solidFill>
              <a:srgbClr val="C0392B"/>
            </a:solidFill>
            <a:prstDash val="solid"/>
          </a:ln>
        </p:spPr>
        <p:txBody>
          <a:bodyPr/>
          <a:lstStyle/>
          <a:p>
            <a:endParaRPr lang="en-GB"/>
          </a:p>
        </p:txBody>
      </p:sp>
      <p:sp>
        <p:nvSpPr>
          <p:cNvPr id="88" name="Text 85"/>
          <p:cNvSpPr/>
          <p:nvPr/>
        </p:nvSpPr>
        <p:spPr>
          <a:xfrm>
            <a:off x="6254496" y="4544568"/>
            <a:ext cx="2286000"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RED: 10+ High/Very High</a:t>
            </a:r>
            <a:endParaRPr lang="en-US" sz="1000" dirty="0"/>
          </a:p>
        </p:txBody>
      </p:sp>
      <p:sp>
        <p:nvSpPr>
          <p:cNvPr id="89" name="Rectangle 8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image.png"/>
          <p:cNvPicPr>
            <a:picLocks noChangeAspect="1"/>
          </p:cNvPicPr>
          <p:nvPr/>
        </p:nvPicPr>
        <p:blipFill>
          <a:blip r:embed="rId5"/>
          <a:stretch>
            <a:fillRect/>
          </a:stretch>
        </p:blipFill>
        <p:spPr>
          <a:xfrm>
            <a:off x="7562088" y="100584"/>
            <a:ext cx="566928" cy="347472"/>
          </a:xfrm>
          <a:prstGeom prst="rect">
            <a:avLst/>
          </a:prstGeom>
        </p:spPr>
      </p:pic>
      <p:pic>
        <p:nvPicPr>
          <p:cNvPr id="91" name="Picture 90" descr="image.png"/>
          <p:cNvPicPr>
            <a:picLocks noChangeAspect="1"/>
          </p:cNvPicPr>
          <p:nvPr/>
        </p:nvPicPr>
        <p:blipFill>
          <a:blip r:embed="rId4"/>
          <a:stretch>
            <a:fillRect/>
          </a:stretch>
        </p:blipFill>
        <p:spPr>
          <a:xfrm>
            <a:off x="8174736" y="100584"/>
            <a:ext cx="658368" cy="347472"/>
          </a:xfrm>
          <a:prstGeom prst="rect">
            <a:avLst/>
          </a:prstGeom>
        </p:spPr>
      </p:pic>
      <p:sp>
        <p:nvSpPr>
          <p:cNvPr id="92" name="Rectangle 9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Nuclear Context</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Risk Assessment in the Nuclear Supply Chain</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66928"/>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As part of the nuclear supply chain, your risk assessments carry additional weight. Nuclear clients and assessors at F4N verification visits will want to see that your risk management approach is systematic, documented, and genuinely embedded in operations.</a:t>
            </a:r>
            <a:endParaRPr lang="en-US" sz="1250" dirty="0"/>
          </a:p>
        </p:txBody>
      </p:sp>
      <p:sp>
        <p:nvSpPr>
          <p:cNvPr id="11" name="Shape 8"/>
          <p:cNvSpPr/>
          <p:nvPr/>
        </p:nvSpPr>
        <p:spPr>
          <a:xfrm>
            <a:off x="347472" y="2029968"/>
            <a:ext cx="4133088" cy="1115568"/>
          </a:xfrm>
          <a:prstGeom prst="roundRect">
            <a:avLst>
              <a:gd name="adj" fmla="val 6557"/>
            </a:avLst>
          </a:prstGeom>
          <a:solidFill>
            <a:srgbClr val="F5F0F8"/>
          </a:solidFill>
          <a:ln w="10160">
            <a:solidFill>
              <a:srgbClr val="83348F"/>
            </a:solidFill>
            <a:prstDash val="solid"/>
          </a:ln>
        </p:spPr>
        <p:txBody>
          <a:bodyPr/>
          <a:lstStyle/>
          <a:p>
            <a:endParaRPr lang="en-GB"/>
          </a:p>
        </p:txBody>
      </p:sp>
      <p:sp>
        <p:nvSpPr>
          <p:cNvPr id="12" name="Text 9"/>
          <p:cNvSpPr/>
          <p:nvPr/>
        </p:nvSpPr>
        <p:spPr>
          <a:xfrm>
            <a:off x="484632" y="2121408"/>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Conservative decision-making</a:t>
            </a:r>
            <a:endParaRPr lang="en-US" sz="1200" dirty="0"/>
          </a:p>
        </p:txBody>
      </p:sp>
      <p:sp>
        <p:nvSpPr>
          <p:cNvPr id="13" name="Text 10"/>
          <p:cNvSpPr/>
          <p:nvPr/>
        </p:nvSpPr>
        <p:spPr>
          <a:xfrm>
            <a:off x="484632" y="2414016"/>
            <a:ext cx="3886200" cy="69494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In the nuclear sector, when in doubt, stop. Risk assessments should reflect this culture: where uncertainty exists about a hazard or its severity, assume the more serious outcome until evidence proves otherwise.</a:t>
            </a:r>
            <a:endParaRPr lang="en-US" sz="1100" dirty="0"/>
          </a:p>
        </p:txBody>
      </p:sp>
      <p:sp>
        <p:nvSpPr>
          <p:cNvPr id="14" name="Shape 11"/>
          <p:cNvSpPr/>
          <p:nvPr/>
        </p:nvSpPr>
        <p:spPr>
          <a:xfrm>
            <a:off x="4663440" y="2029968"/>
            <a:ext cx="4133088" cy="1115568"/>
          </a:xfrm>
          <a:prstGeom prst="roundRect">
            <a:avLst>
              <a:gd name="adj" fmla="val 6557"/>
            </a:avLst>
          </a:prstGeom>
          <a:solidFill>
            <a:srgbClr val="F5F0F8"/>
          </a:solidFill>
          <a:ln w="10160">
            <a:solidFill>
              <a:srgbClr val="83348F"/>
            </a:solidFill>
            <a:prstDash val="solid"/>
          </a:ln>
        </p:spPr>
        <p:txBody>
          <a:bodyPr/>
          <a:lstStyle/>
          <a:p>
            <a:endParaRPr lang="en-GB"/>
          </a:p>
        </p:txBody>
      </p:sp>
      <p:sp>
        <p:nvSpPr>
          <p:cNvPr id="15" name="Text 12"/>
          <p:cNvSpPr/>
          <p:nvPr/>
        </p:nvSpPr>
        <p:spPr>
          <a:xfrm>
            <a:off x="4800600" y="2121408"/>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Questioning attitude</a:t>
            </a:r>
            <a:endParaRPr lang="en-US" sz="1200" dirty="0"/>
          </a:p>
        </p:txBody>
      </p:sp>
      <p:sp>
        <p:nvSpPr>
          <p:cNvPr id="16" name="Text 13"/>
          <p:cNvSpPr/>
          <p:nvPr/>
        </p:nvSpPr>
        <p:spPr>
          <a:xfrm>
            <a:off x="4800600" y="2414016"/>
            <a:ext cx="3886200" cy="69494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All workers are expected to challenge assumptions. If a risk assessment does not match what is actually happening on the shopfloor, raise it. A document that does not reflect reality is worse than no document.</a:t>
            </a:r>
            <a:endParaRPr lang="en-US" sz="1100" dirty="0"/>
          </a:p>
        </p:txBody>
      </p:sp>
      <p:sp>
        <p:nvSpPr>
          <p:cNvPr id="17" name="Shape 14"/>
          <p:cNvSpPr/>
          <p:nvPr/>
        </p:nvSpPr>
        <p:spPr>
          <a:xfrm>
            <a:off x="347472" y="3236976"/>
            <a:ext cx="4133088" cy="1115568"/>
          </a:xfrm>
          <a:prstGeom prst="roundRect">
            <a:avLst>
              <a:gd name="adj" fmla="val 6557"/>
            </a:avLst>
          </a:prstGeom>
          <a:solidFill>
            <a:srgbClr val="F5F0F8"/>
          </a:solidFill>
          <a:ln w="10160">
            <a:solidFill>
              <a:srgbClr val="83348F"/>
            </a:solidFill>
            <a:prstDash val="solid"/>
          </a:ln>
        </p:spPr>
        <p:txBody>
          <a:bodyPr/>
          <a:lstStyle/>
          <a:p>
            <a:endParaRPr lang="en-GB"/>
          </a:p>
        </p:txBody>
      </p:sp>
      <p:sp>
        <p:nvSpPr>
          <p:cNvPr id="18" name="Text 15"/>
          <p:cNvSpPr/>
          <p:nvPr/>
        </p:nvSpPr>
        <p:spPr>
          <a:xfrm>
            <a:off x="484632" y="3328416"/>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Personal responsibility</a:t>
            </a:r>
            <a:endParaRPr lang="en-US" sz="1200" dirty="0"/>
          </a:p>
        </p:txBody>
      </p:sp>
      <p:sp>
        <p:nvSpPr>
          <p:cNvPr id="19" name="Text 16"/>
          <p:cNvSpPr/>
          <p:nvPr/>
        </p:nvSpPr>
        <p:spPr>
          <a:xfrm>
            <a:off x="484632" y="3621024"/>
            <a:ext cx="3886200" cy="69494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Every individual in the supply chain is expected to own their contribution to safety. Risk assessments are not a management exercise — they are a personal commitment to understanding and managing the risks you create.</a:t>
            </a:r>
            <a:endParaRPr lang="en-US" sz="1100" dirty="0"/>
          </a:p>
        </p:txBody>
      </p:sp>
      <p:sp>
        <p:nvSpPr>
          <p:cNvPr id="20" name="Shape 17"/>
          <p:cNvSpPr/>
          <p:nvPr/>
        </p:nvSpPr>
        <p:spPr>
          <a:xfrm>
            <a:off x="4663440" y="3236976"/>
            <a:ext cx="4133088" cy="1115568"/>
          </a:xfrm>
          <a:prstGeom prst="roundRect">
            <a:avLst>
              <a:gd name="adj" fmla="val 6557"/>
            </a:avLst>
          </a:prstGeom>
          <a:solidFill>
            <a:srgbClr val="F5F0F8"/>
          </a:solidFill>
          <a:ln w="10160">
            <a:solidFill>
              <a:srgbClr val="83348F"/>
            </a:solidFill>
            <a:prstDash val="solid"/>
          </a:ln>
        </p:spPr>
        <p:txBody>
          <a:bodyPr/>
          <a:lstStyle/>
          <a:p>
            <a:endParaRPr lang="en-GB"/>
          </a:p>
        </p:txBody>
      </p:sp>
      <p:sp>
        <p:nvSpPr>
          <p:cNvPr id="21" name="Text 18"/>
          <p:cNvSpPr/>
          <p:nvPr/>
        </p:nvSpPr>
        <p:spPr>
          <a:xfrm>
            <a:off x="4800600" y="3328416"/>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ISO 45001 alignment</a:t>
            </a:r>
            <a:endParaRPr lang="en-US" sz="1200" dirty="0"/>
          </a:p>
        </p:txBody>
      </p:sp>
      <p:sp>
        <p:nvSpPr>
          <p:cNvPr id="22" name="Text 19"/>
          <p:cNvSpPr/>
          <p:nvPr/>
        </p:nvSpPr>
        <p:spPr>
          <a:xfrm>
            <a:off x="4800600" y="3621024"/>
            <a:ext cx="3886200" cy="694944"/>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The F4N assessment expects organisations to be certified to ISO 45001 or working towards it. Your risk assessments form a core part of your occupational health and safety management system under this standard.</a:t>
            </a:r>
            <a:endParaRPr lang="en-US" sz="1100" dirty="0"/>
          </a:p>
        </p:txBody>
      </p:sp>
      <p:sp>
        <p:nvSpPr>
          <p:cNvPr id="23" name="Rectangle 2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7562088" y="100584"/>
            <a:ext cx="566928" cy="347472"/>
          </a:xfrm>
          <a:prstGeom prst="rect">
            <a:avLst/>
          </a:prstGeom>
        </p:spPr>
      </p:pic>
      <p:pic>
        <p:nvPicPr>
          <p:cNvPr id="25" name="Picture 24" descr="image.png"/>
          <p:cNvPicPr>
            <a:picLocks noChangeAspect="1"/>
          </p:cNvPicPr>
          <p:nvPr/>
        </p:nvPicPr>
        <p:blipFill>
          <a:blip r:embed="rId4"/>
          <a:stretch>
            <a:fillRect/>
          </a:stretch>
        </p:blipFill>
        <p:spPr>
          <a:xfrm>
            <a:off x="8174736" y="100584"/>
            <a:ext cx="658368" cy="347472"/>
          </a:xfrm>
          <a:prstGeom prst="rect">
            <a:avLst/>
          </a:prstGeom>
        </p:spPr>
      </p:pic>
      <p:sp>
        <p:nvSpPr>
          <p:cNvPr id="26" name="Rectangle 2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Using the Template</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How to Use the NucCol Risk Assessment Template</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Text 7"/>
          <p:cNvSpPr/>
          <p:nvPr/>
        </p:nvSpPr>
        <p:spPr>
          <a:xfrm>
            <a:off x="347472" y="1353312"/>
            <a:ext cx="8449056" cy="384048"/>
          </a:xfrm>
          <a:prstGeom prst="rect">
            <a:avLst/>
          </a:prstGeom>
          <a:noFill/>
          <a:ln/>
        </p:spPr>
        <p:txBody>
          <a:bodyPr wrap="square" lIns="0" tIns="0" rIns="0" bIns="0" rtlCol="0" anchor="t"/>
          <a:lstStyle/>
          <a:p>
            <a:pPr marL="0" indent="0">
              <a:buNone/>
            </a:pPr>
            <a:r>
              <a:rPr lang="en-US" sz="1250" dirty="0">
                <a:solidFill>
                  <a:srgbClr val="5B595A"/>
                </a:solidFill>
                <a:latin typeface="Arial" pitchFamily="34" charset="0"/>
                <a:ea typeface="Arial" pitchFamily="34" charset="-122"/>
                <a:cs typeface="Arial" pitchFamily="34" charset="-120"/>
              </a:rPr>
              <a:t>The NucCol Risk Assessment Template is designed to take you through the 5-step process systematically. Each tab in the workbook has a specific purpose.</a:t>
            </a:r>
            <a:endParaRPr lang="en-US" sz="1250" dirty="0"/>
          </a:p>
        </p:txBody>
      </p:sp>
      <p:sp>
        <p:nvSpPr>
          <p:cNvPr id="11" name="Shape 8"/>
          <p:cNvSpPr/>
          <p:nvPr/>
        </p:nvSpPr>
        <p:spPr>
          <a:xfrm>
            <a:off x="347472" y="1828800"/>
            <a:ext cx="2148840" cy="548640"/>
          </a:xfrm>
          <a:prstGeom prst="rect">
            <a:avLst/>
          </a:prstGeom>
          <a:solidFill>
            <a:srgbClr val="009FE3"/>
          </a:solidFill>
          <a:ln w="12700">
            <a:solidFill>
              <a:srgbClr val="009FE3"/>
            </a:solidFill>
            <a:prstDash val="solid"/>
          </a:ln>
        </p:spPr>
        <p:txBody>
          <a:bodyPr/>
          <a:lstStyle/>
          <a:p>
            <a:endParaRPr lang="en-GB"/>
          </a:p>
        </p:txBody>
      </p:sp>
      <p:sp>
        <p:nvSpPr>
          <p:cNvPr id="12" name="Text 9"/>
          <p:cNvSpPr/>
          <p:nvPr/>
        </p:nvSpPr>
        <p:spPr>
          <a:xfrm>
            <a:off x="420624" y="1828800"/>
            <a:ext cx="20116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Tab 1: Cover Sheet</a:t>
            </a:r>
            <a:endParaRPr lang="en-US" sz="1100" dirty="0"/>
          </a:p>
        </p:txBody>
      </p:sp>
      <p:sp>
        <p:nvSpPr>
          <p:cNvPr id="13" name="Shape 10"/>
          <p:cNvSpPr/>
          <p:nvPr/>
        </p:nvSpPr>
        <p:spPr>
          <a:xfrm>
            <a:off x="2505456" y="1828800"/>
            <a:ext cx="6291072" cy="548640"/>
          </a:xfrm>
          <a:prstGeom prst="rect">
            <a:avLst/>
          </a:prstGeom>
          <a:solidFill>
            <a:srgbClr val="F8F8F8"/>
          </a:solidFill>
          <a:ln w="7620">
            <a:solidFill>
              <a:srgbClr val="DDDDDD"/>
            </a:solidFill>
            <a:prstDash val="solid"/>
          </a:ln>
        </p:spPr>
        <p:txBody>
          <a:bodyPr/>
          <a:lstStyle/>
          <a:p>
            <a:endParaRPr lang="en-GB"/>
          </a:p>
        </p:txBody>
      </p:sp>
      <p:sp>
        <p:nvSpPr>
          <p:cNvPr id="14" name="Text 11"/>
          <p:cNvSpPr/>
          <p:nvPr/>
        </p:nvSpPr>
        <p:spPr>
          <a:xfrm>
            <a:off x="2596896" y="1865376"/>
            <a:ext cx="6126480" cy="47548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Record the activity details, location, assessor name, date, version number, and next review date. This is your version control record.</a:t>
            </a:r>
            <a:endParaRPr lang="en-US" sz="1150" dirty="0"/>
          </a:p>
        </p:txBody>
      </p:sp>
      <p:sp>
        <p:nvSpPr>
          <p:cNvPr id="15" name="Shape 12"/>
          <p:cNvSpPr/>
          <p:nvPr/>
        </p:nvSpPr>
        <p:spPr>
          <a:xfrm>
            <a:off x="347472" y="2450592"/>
            <a:ext cx="2148840" cy="548640"/>
          </a:xfrm>
          <a:prstGeom prst="rect">
            <a:avLst/>
          </a:prstGeom>
          <a:solidFill>
            <a:srgbClr val="83348F"/>
          </a:solidFill>
          <a:ln w="12700">
            <a:solidFill>
              <a:srgbClr val="83348F"/>
            </a:solidFill>
            <a:prstDash val="solid"/>
          </a:ln>
        </p:spPr>
        <p:txBody>
          <a:bodyPr/>
          <a:lstStyle/>
          <a:p>
            <a:endParaRPr lang="en-GB"/>
          </a:p>
        </p:txBody>
      </p:sp>
      <p:sp>
        <p:nvSpPr>
          <p:cNvPr id="16" name="Text 13"/>
          <p:cNvSpPr/>
          <p:nvPr/>
        </p:nvSpPr>
        <p:spPr>
          <a:xfrm>
            <a:off x="420624" y="2450592"/>
            <a:ext cx="20116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Tab 2: Risk Matrix</a:t>
            </a:r>
            <a:endParaRPr lang="en-US" sz="1100" dirty="0"/>
          </a:p>
        </p:txBody>
      </p:sp>
      <p:sp>
        <p:nvSpPr>
          <p:cNvPr id="17" name="Shape 14"/>
          <p:cNvSpPr/>
          <p:nvPr/>
        </p:nvSpPr>
        <p:spPr>
          <a:xfrm>
            <a:off x="2505456" y="2450592"/>
            <a:ext cx="6291072" cy="548640"/>
          </a:xfrm>
          <a:prstGeom prst="rect">
            <a:avLst/>
          </a:prstGeom>
          <a:solidFill>
            <a:srgbClr val="F8F8F8"/>
          </a:solidFill>
          <a:ln w="7620">
            <a:solidFill>
              <a:srgbClr val="DDDDDD"/>
            </a:solidFill>
            <a:prstDash val="solid"/>
          </a:ln>
        </p:spPr>
        <p:txBody>
          <a:bodyPr/>
          <a:lstStyle/>
          <a:p>
            <a:endParaRPr lang="en-GB"/>
          </a:p>
        </p:txBody>
      </p:sp>
      <p:sp>
        <p:nvSpPr>
          <p:cNvPr id="18" name="Text 15"/>
          <p:cNvSpPr/>
          <p:nvPr/>
        </p:nvSpPr>
        <p:spPr>
          <a:xfrm>
            <a:off x="2596896" y="2487168"/>
            <a:ext cx="6126480" cy="47548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The colour-coded 5x5 scoring matrix for reference while completing your assessment. Use this to look up risk scores as you work through each hazard.</a:t>
            </a:r>
            <a:endParaRPr lang="en-US" sz="1150" dirty="0"/>
          </a:p>
        </p:txBody>
      </p:sp>
      <p:sp>
        <p:nvSpPr>
          <p:cNvPr id="19" name="Shape 16"/>
          <p:cNvSpPr/>
          <p:nvPr/>
        </p:nvSpPr>
        <p:spPr>
          <a:xfrm>
            <a:off x="347472" y="3072384"/>
            <a:ext cx="2148840" cy="548640"/>
          </a:xfrm>
          <a:prstGeom prst="rect">
            <a:avLst/>
          </a:prstGeom>
          <a:solidFill>
            <a:srgbClr val="006FAA"/>
          </a:solidFill>
          <a:ln w="12700">
            <a:solidFill>
              <a:srgbClr val="006FAA"/>
            </a:solidFill>
            <a:prstDash val="solid"/>
          </a:ln>
        </p:spPr>
        <p:txBody>
          <a:bodyPr/>
          <a:lstStyle/>
          <a:p>
            <a:endParaRPr lang="en-GB"/>
          </a:p>
        </p:txBody>
      </p:sp>
      <p:sp>
        <p:nvSpPr>
          <p:cNvPr id="20" name="Text 17"/>
          <p:cNvSpPr/>
          <p:nvPr/>
        </p:nvSpPr>
        <p:spPr>
          <a:xfrm>
            <a:off x="420624" y="3072384"/>
            <a:ext cx="20116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Tab 3: Risk Assessment</a:t>
            </a:r>
            <a:endParaRPr lang="en-US" sz="1100" dirty="0"/>
          </a:p>
        </p:txBody>
      </p:sp>
      <p:sp>
        <p:nvSpPr>
          <p:cNvPr id="21" name="Shape 18"/>
          <p:cNvSpPr/>
          <p:nvPr/>
        </p:nvSpPr>
        <p:spPr>
          <a:xfrm>
            <a:off x="2505456" y="3072384"/>
            <a:ext cx="6291072" cy="548640"/>
          </a:xfrm>
          <a:prstGeom prst="rect">
            <a:avLst/>
          </a:prstGeom>
          <a:solidFill>
            <a:srgbClr val="F8F8F8"/>
          </a:solidFill>
          <a:ln w="7620">
            <a:solidFill>
              <a:srgbClr val="DDDDDD"/>
            </a:solidFill>
            <a:prstDash val="solid"/>
          </a:ln>
        </p:spPr>
        <p:txBody>
          <a:bodyPr/>
          <a:lstStyle/>
          <a:p>
            <a:endParaRPr lang="en-GB"/>
          </a:p>
        </p:txBody>
      </p:sp>
      <p:sp>
        <p:nvSpPr>
          <p:cNvPr id="22" name="Text 19"/>
          <p:cNvSpPr/>
          <p:nvPr/>
        </p:nvSpPr>
        <p:spPr>
          <a:xfrm>
            <a:off x="2596896" y="3108960"/>
            <a:ext cx="6126480" cy="47548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The main working sheet. Complete one row per hazard. Includes hazard, who at risk, existing controls, initial score, additional controls required, and residual score.</a:t>
            </a:r>
            <a:endParaRPr lang="en-US" sz="1150" dirty="0"/>
          </a:p>
        </p:txBody>
      </p:sp>
      <p:sp>
        <p:nvSpPr>
          <p:cNvPr id="23" name="Shape 20"/>
          <p:cNvSpPr/>
          <p:nvPr/>
        </p:nvSpPr>
        <p:spPr>
          <a:xfrm>
            <a:off x="347472" y="3694176"/>
            <a:ext cx="2148840" cy="548640"/>
          </a:xfrm>
          <a:prstGeom prst="rect">
            <a:avLst/>
          </a:prstGeom>
          <a:solidFill>
            <a:srgbClr val="E08A00"/>
          </a:solidFill>
          <a:ln w="12700">
            <a:solidFill>
              <a:srgbClr val="E08A00"/>
            </a:solidFill>
            <a:prstDash val="solid"/>
          </a:ln>
        </p:spPr>
        <p:txBody>
          <a:bodyPr/>
          <a:lstStyle/>
          <a:p>
            <a:endParaRPr lang="en-GB"/>
          </a:p>
        </p:txBody>
      </p:sp>
      <p:sp>
        <p:nvSpPr>
          <p:cNvPr id="24" name="Text 21"/>
          <p:cNvSpPr/>
          <p:nvPr/>
        </p:nvSpPr>
        <p:spPr>
          <a:xfrm>
            <a:off x="420624" y="3694176"/>
            <a:ext cx="20116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Tab 4: Action Tracker</a:t>
            </a:r>
            <a:endParaRPr lang="en-US" sz="1100" dirty="0"/>
          </a:p>
        </p:txBody>
      </p:sp>
      <p:sp>
        <p:nvSpPr>
          <p:cNvPr id="25" name="Shape 22"/>
          <p:cNvSpPr/>
          <p:nvPr/>
        </p:nvSpPr>
        <p:spPr>
          <a:xfrm>
            <a:off x="2505456" y="3694176"/>
            <a:ext cx="6291072" cy="548640"/>
          </a:xfrm>
          <a:prstGeom prst="rect">
            <a:avLst/>
          </a:prstGeom>
          <a:solidFill>
            <a:srgbClr val="F8F8F8"/>
          </a:solidFill>
          <a:ln w="7620">
            <a:solidFill>
              <a:srgbClr val="DDDDDD"/>
            </a:solidFill>
            <a:prstDash val="solid"/>
          </a:ln>
        </p:spPr>
        <p:txBody>
          <a:bodyPr/>
          <a:lstStyle/>
          <a:p>
            <a:endParaRPr lang="en-GB"/>
          </a:p>
        </p:txBody>
      </p:sp>
      <p:sp>
        <p:nvSpPr>
          <p:cNvPr id="26" name="Text 23"/>
          <p:cNvSpPr/>
          <p:nvPr/>
        </p:nvSpPr>
        <p:spPr>
          <a:xfrm>
            <a:off x="2596896" y="3730752"/>
            <a:ext cx="6126480" cy="47548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A live action log that pulls forward all additional controls identified. Assign owners and target dates. Close actions off when complete.</a:t>
            </a:r>
            <a:endParaRPr lang="en-US" sz="1150" dirty="0"/>
          </a:p>
        </p:txBody>
      </p:sp>
      <p:sp>
        <p:nvSpPr>
          <p:cNvPr id="27" name="Shape 24"/>
          <p:cNvSpPr/>
          <p:nvPr/>
        </p:nvSpPr>
        <p:spPr>
          <a:xfrm>
            <a:off x="347472" y="4315968"/>
            <a:ext cx="2148840" cy="548640"/>
          </a:xfrm>
          <a:prstGeom prst="rect">
            <a:avLst/>
          </a:prstGeom>
          <a:solidFill>
            <a:srgbClr val="2E8B57"/>
          </a:solidFill>
          <a:ln w="12700">
            <a:solidFill>
              <a:srgbClr val="2E8B57"/>
            </a:solidFill>
            <a:prstDash val="solid"/>
          </a:ln>
        </p:spPr>
        <p:txBody>
          <a:bodyPr/>
          <a:lstStyle/>
          <a:p>
            <a:endParaRPr lang="en-GB"/>
          </a:p>
        </p:txBody>
      </p:sp>
      <p:sp>
        <p:nvSpPr>
          <p:cNvPr id="28" name="Text 25"/>
          <p:cNvSpPr/>
          <p:nvPr/>
        </p:nvSpPr>
        <p:spPr>
          <a:xfrm>
            <a:off x="420624" y="4315968"/>
            <a:ext cx="20116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Tab 5: Review Log</a:t>
            </a:r>
            <a:endParaRPr lang="en-US" sz="1100" dirty="0"/>
          </a:p>
        </p:txBody>
      </p:sp>
      <p:sp>
        <p:nvSpPr>
          <p:cNvPr id="29" name="Shape 26"/>
          <p:cNvSpPr/>
          <p:nvPr/>
        </p:nvSpPr>
        <p:spPr>
          <a:xfrm>
            <a:off x="2505456" y="4315968"/>
            <a:ext cx="6291072" cy="548640"/>
          </a:xfrm>
          <a:prstGeom prst="rect">
            <a:avLst/>
          </a:prstGeom>
          <a:solidFill>
            <a:srgbClr val="F8F8F8"/>
          </a:solidFill>
          <a:ln w="7620">
            <a:solidFill>
              <a:srgbClr val="DDDDDD"/>
            </a:solidFill>
            <a:prstDash val="solid"/>
          </a:ln>
        </p:spPr>
        <p:txBody>
          <a:bodyPr/>
          <a:lstStyle/>
          <a:p>
            <a:endParaRPr lang="en-GB"/>
          </a:p>
        </p:txBody>
      </p:sp>
      <p:sp>
        <p:nvSpPr>
          <p:cNvPr id="30" name="Text 27"/>
          <p:cNvSpPr/>
          <p:nvPr/>
        </p:nvSpPr>
        <p:spPr>
          <a:xfrm>
            <a:off x="2596896" y="4352544"/>
            <a:ext cx="6126480" cy="475488"/>
          </a:xfrm>
          <a:prstGeom prst="rect">
            <a:avLst/>
          </a:prstGeom>
          <a:noFill/>
          <a:ln/>
        </p:spPr>
        <p:txBody>
          <a:bodyPr wrap="square" lIns="0" tIns="0" rIns="0" bIns="0" rtlCol="0" anchor="ctr"/>
          <a:lstStyle/>
          <a:p>
            <a:pPr marL="0" indent="0">
              <a:buNone/>
            </a:pPr>
            <a:r>
              <a:rPr lang="en-US" sz="1150" dirty="0">
                <a:solidFill>
                  <a:srgbClr val="5B595A"/>
                </a:solidFill>
                <a:latin typeface="Arial" pitchFamily="34" charset="0"/>
                <a:ea typeface="Arial" pitchFamily="34" charset="-122"/>
                <a:cs typeface="Arial" pitchFamily="34" charset="-120"/>
              </a:rPr>
              <a:t>Record every review of the assessment here: date, reviewer, reason for review, and any changes made. Provides a complete audit trail.</a:t>
            </a:r>
            <a:endParaRPr lang="en-US" sz="1150" dirty="0"/>
          </a:p>
        </p:txBody>
      </p:sp>
      <p:sp>
        <p:nvSpPr>
          <p:cNvPr id="31" name="Shape 28"/>
          <p:cNvSpPr/>
          <p:nvPr/>
        </p:nvSpPr>
        <p:spPr>
          <a:xfrm>
            <a:off x="347472" y="4517136"/>
            <a:ext cx="8449056" cy="347472"/>
          </a:xfrm>
          <a:prstGeom prst="roundRect">
            <a:avLst>
              <a:gd name="adj" fmla="val 15789"/>
            </a:avLst>
          </a:prstGeom>
          <a:solidFill>
            <a:srgbClr val="001E3C"/>
          </a:solidFill>
          <a:ln w="12700">
            <a:solidFill>
              <a:srgbClr val="001E3C"/>
            </a:solidFill>
            <a:prstDash val="solid"/>
          </a:ln>
        </p:spPr>
        <p:txBody>
          <a:bodyPr/>
          <a:lstStyle/>
          <a:p>
            <a:endParaRPr lang="en-GB"/>
          </a:p>
        </p:txBody>
      </p:sp>
      <p:sp>
        <p:nvSpPr>
          <p:cNvPr id="32" name="Text 29"/>
          <p:cNvSpPr/>
          <p:nvPr/>
        </p:nvSpPr>
        <p:spPr>
          <a:xfrm>
            <a:off x="475488" y="4526280"/>
            <a:ext cx="8229600" cy="31089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The template and two fully worked examples (CNC machining and welding) are available in the NucCol QHSE resource pack.</a:t>
            </a:r>
            <a:endParaRPr lang="en-US" sz="110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4"/>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3C"/>
        </a:solidFill>
        <a:effectLst/>
      </p:bgPr>
    </p:bg>
    <p:spTree>
      <p:nvGrpSpPr>
        <p:cNvPr id="1" name=""/>
        <p:cNvGrpSpPr/>
        <p:nvPr/>
      </p:nvGrpSpPr>
      <p:grpSpPr>
        <a:xfrm>
          <a:off x="0" y="0"/>
          <a:ext cx="0" cy="0"/>
          <a:chOff x="0" y="0"/>
          <a:chExt cx="0" cy="0"/>
        </a:xfrm>
      </p:grpSpPr>
      <p:sp>
        <p:nvSpPr>
          <p:cNvPr id="6" name="Text 3"/>
          <p:cNvSpPr/>
          <p:nvPr/>
        </p:nvSpPr>
        <p:spPr>
          <a:xfrm>
            <a:off x="347472" y="201168"/>
            <a:ext cx="6400800" cy="347472"/>
          </a:xfrm>
          <a:prstGeom prst="rect">
            <a:avLst/>
          </a:prstGeom>
          <a:noFill/>
          <a:ln/>
        </p:spPr>
        <p:txBody>
          <a:bodyPr wrap="square" lIns="0" tIns="0" rIns="0" bIns="0" rtlCol="0" anchor="ctr"/>
          <a:lstStyle/>
          <a:p>
            <a:pPr marL="0" indent="0">
              <a:buNone/>
            </a:pPr>
            <a:r>
              <a:rPr lang="en-US" sz="1300" b="1" kern="0" spc="400" dirty="0">
                <a:solidFill>
                  <a:srgbClr val="009FE3"/>
                </a:solidFill>
                <a:latin typeface="Arial" pitchFamily="34" charset="0"/>
                <a:ea typeface="Arial" pitchFamily="34" charset="-122"/>
                <a:cs typeface="Arial" pitchFamily="34" charset="-120"/>
              </a:rPr>
              <a:t>PRACTICAL EXERCISE</a:t>
            </a:r>
            <a:endParaRPr lang="en-US" sz="1300" dirty="0"/>
          </a:p>
        </p:txBody>
      </p:sp>
      <p:sp>
        <p:nvSpPr>
          <p:cNvPr id="7" name="Text 4"/>
          <p:cNvSpPr/>
          <p:nvPr/>
        </p:nvSpPr>
        <p:spPr>
          <a:xfrm>
            <a:off x="347472" y="594360"/>
            <a:ext cx="8449056" cy="68580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Complete a Risk Assessment for Your Work Area</a:t>
            </a:r>
            <a:endParaRPr lang="en-US" sz="2800" dirty="0"/>
          </a:p>
        </p:txBody>
      </p:sp>
      <p:sp>
        <p:nvSpPr>
          <p:cNvPr id="8" name="Shape 5"/>
          <p:cNvSpPr/>
          <p:nvPr/>
        </p:nvSpPr>
        <p:spPr>
          <a:xfrm>
            <a:off x="347472" y="1325880"/>
            <a:ext cx="8449056" cy="0"/>
          </a:xfrm>
          <a:prstGeom prst="line">
            <a:avLst/>
          </a:prstGeom>
          <a:noFill/>
          <a:ln w="19050">
            <a:solidFill>
              <a:srgbClr val="009FE3"/>
            </a:solidFill>
            <a:prstDash val="solid"/>
          </a:ln>
        </p:spPr>
        <p:txBody>
          <a:bodyPr/>
          <a:lstStyle/>
          <a:p>
            <a:endParaRPr lang="en-GB"/>
          </a:p>
        </p:txBody>
      </p:sp>
      <p:sp>
        <p:nvSpPr>
          <p:cNvPr id="9" name="Text 6"/>
          <p:cNvSpPr/>
          <p:nvPr/>
        </p:nvSpPr>
        <p:spPr>
          <a:xfrm>
            <a:off x="347472" y="1417320"/>
            <a:ext cx="8449056" cy="41148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Working individually or in pairs, use the NucCol Risk Assessment Template to complete a risk assessment for a task from your own workplace.</a:t>
            </a:r>
            <a:endParaRPr lang="en-US" sz="1300" dirty="0"/>
          </a:p>
        </p:txBody>
      </p:sp>
      <p:sp>
        <p:nvSpPr>
          <p:cNvPr id="10" name="Shape 7"/>
          <p:cNvSpPr/>
          <p:nvPr/>
        </p:nvSpPr>
        <p:spPr>
          <a:xfrm>
            <a:off x="347472" y="1975104"/>
            <a:ext cx="329184" cy="329184"/>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347472" y="197510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1</a:t>
            </a:r>
            <a:endParaRPr lang="en-US" sz="900" dirty="0"/>
          </a:p>
        </p:txBody>
      </p:sp>
      <p:sp>
        <p:nvSpPr>
          <p:cNvPr id="12" name="Text 9"/>
          <p:cNvSpPr/>
          <p:nvPr/>
        </p:nvSpPr>
        <p:spPr>
          <a:xfrm>
            <a:off x="768096" y="1956816"/>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Choose a specific task from your work area that has known hazards</a:t>
            </a:r>
            <a:endParaRPr lang="en-US" sz="1300" dirty="0"/>
          </a:p>
        </p:txBody>
      </p:sp>
      <p:sp>
        <p:nvSpPr>
          <p:cNvPr id="13" name="Shape 10"/>
          <p:cNvSpPr/>
          <p:nvPr/>
        </p:nvSpPr>
        <p:spPr>
          <a:xfrm>
            <a:off x="347472" y="2450592"/>
            <a:ext cx="329184" cy="329184"/>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347472" y="2450592"/>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2</a:t>
            </a:r>
            <a:endParaRPr lang="en-US" sz="900" dirty="0"/>
          </a:p>
        </p:txBody>
      </p:sp>
      <p:sp>
        <p:nvSpPr>
          <p:cNvPr id="15" name="Text 12"/>
          <p:cNvSpPr/>
          <p:nvPr/>
        </p:nvSpPr>
        <p:spPr>
          <a:xfrm>
            <a:off x="768096" y="2432304"/>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Walk through and identify at least 4 hazards associated with that task</a:t>
            </a:r>
            <a:endParaRPr lang="en-US" sz="1300" dirty="0"/>
          </a:p>
        </p:txBody>
      </p:sp>
      <p:sp>
        <p:nvSpPr>
          <p:cNvPr id="16" name="Shape 13"/>
          <p:cNvSpPr/>
          <p:nvPr/>
        </p:nvSpPr>
        <p:spPr>
          <a:xfrm>
            <a:off x="347472" y="2926080"/>
            <a:ext cx="329184" cy="329184"/>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347472" y="292608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3</a:t>
            </a:r>
            <a:endParaRPr lang="en-US" sz="900" dirty="0"/>
          </a:p>
        </p:txBody>
      </p:sp>
      <p:sp>
        <p:nvSpPr>
          <p:cNvPr id="18" name="Text 15"/>
          <p:cNvSpPr/>
          <p:nvPr/>
        </p:nvSpPr>
        <p:spPr>
          <a:xfrm>
            <a:off x="768096" y="2907792"/>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For each hazard, identify who might be harmed and how</a:t>
            </a:r>
            <a:endParaRPr lang="en-US" sz="1300" dirty="0"/>
          </a:p>
        </p:txBody>
      </p:sp>
      <p:sp>
        <p:nvSpPr>
          <p:cNvPr id="19" name="Shape 16"/>
          <p:cNvSpPr/>
          <p:nvPr/>
        </p:nvSpPr>
        <p:spPr>
          <a:xfrm>
            <a:off x="347472" y="3401568"/>
            <a:ext cx="329184" cy="329184"/>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347472" y="3401568"/>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4</a:t>
            </a:r>
            <a:endParaRPr lang="en-US" sz="900" dirty="0"/>
          </a:p>
        </p:txBody>
      </p:sp>
      <p:sp>
        <p:nvSpPr>
          <p:cNvPr id="21" name="Text 18"/>
          <p:cNvSpPr/>
          <p:nvPr/>
        </p:nvSpPr>
        <p:spPr>
          <a:xfrm>
            <a:off x="768096" y="3383280"/>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Score the initial likelihood and severity, then identify controls</a:t>
            </a:r>
            <a:endParaRPr lang="en-US" sz="1300" dirty="0"/>
          </a:p>
        </p:txBody>
      </p:sp>
      <p:sp>
        <p:nvSpPr>
          <p:cNvPr id="22" name="Shape 19"/>
          <p:cNvSpPr/>
          <p:nvPr/>
        </p:nvSpPr>
        <p:spPr>
          <a:xfrm>
            <a:off x="347472" y="3877056"/>
            <a:ext cx="329184" cy="329184"/>
          </a:xfrm>
          <a:prstGeom prst="ellipse">
            <a:avLst/>
          </a:prstGeom>
          <a:solidFill>
            <a:srgbClr val="009FE3"/>
          </a:solidFill>
          <a:ln w="12700">
            <a:solidFill>
              <a:srgbClr val="009FE3"/>
            </a:solidFill>
            <a:prstDash val="solid"/>
          </a:ln>
        </p:spPr>
        <p:txBody>
          <a:bodyPr/>
          <a:lstStyle/>
          <a:p>
            <a:endParaRPr lang="en-GB"/>
          </a:p>
        </p:txBody>
      </p:sp>
      <p:sp>
        <p:nvSpPr>
          <p:cNvPr id="23" name="Text 20"/>
          <p:cNvSpPr/>
          <p:nvPr/>
        </p:nvSpPr>
        <p:spPr>
          <a:xfrm>
            <a:off x="347472" y="3877056"/>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5</a:t>
            </a:r>
            <a:endParaRPr lang="en-US" sz="900" dirty="0"/>
          </a:p>
        </p:txBody>
      </p:sp>
      <p:sp>
        <p:nvSpPr>
          <p:cNvPr id="24" name="Text 21"/>
          <p:cNvSpPr/>
          <p:nvPr/>
        </p:nvSpPr>
        <p:spPr>
          <a:xfrm>
            <a:off x="768096" y="3858768"/>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Apply the hierarchy of controls and score the residual risk</a:t>
            </a:r>
            <a:endParaRPr lang="en-US" sz="1300" dirty="0"/>
          </a:p>
        </p:txBody>
      </p:sp>
      <p:sp>
        <p:nvSpPr>
          <p:cNvPr id="25" name="Shape 22"/>
          <p:cNvSpPr/>
          <p:nvPr/>
        </p:nvSpPr>
        <p:spPr>
          <a:xfrm>
            <a:off x="347472" y="4352544"/>
            <a:ext cx="329184" cy="329184"/>
          </a:xfrm>
          <a:prstGeom prst="ellipse">
            <a:avLst/>
          </a:prstGeom>
          <a:solidFill>
            <a:srgbClr val="009FE3"/>
          </a:solidFill>
          <a:ln w="12700">
            <a:solidFill>
              <a:srgbClr val="009FE3"/>
            </a:solidFill>
            <a:prstDash val="solid"/>
          </a:ln>
        </p:spPr>
        <p:txBody>
          <a:bodyPr/>
          <a:lstStyle/>
          <a:p>
            <a:endParaRPr lang="en-GB"/>
          </a:p>
        </p:txBody>
      </p:sp>
      <p:sp>
        <p:nvSpPr>
          <p:cNvPr id="26" name="Text 23"/>
          <p:cNvSpPr/>
          <p:nvPr/>
        </p:nvSpPr>
        <p:spPr>
          <a:xfrm>
            <a:off x="347472" y="435254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Step 6</a:t>
            </a:r>
            <a:endParaRPr lang="en-US" sz="900" dirty="0"/>
          </a:p>
        </p:txBody>
      </p:sp>
      <p:sp>
        <p:nvSpPr>
          <p:cNvPr id="27" name="Text 24"/>
          <p:cNvSpPr/>
          <p:nvPr/>
        </p:nvSpPr>
        <p:spPr>
          <a:xfrm>
            <a:off x="768096" y="4334256"/>
            <a:ext cx="8028432"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Record your additional actions with owners and dates</a:t>
            </a:r>
            <a:endParaRPr lang="en-US" sz="1300" dirty="0"/>
          </a:p>
        </p:txBody>
      </p:sp>
      <p:sp>
        <p:nvSpPr>
          <p:cNvPr id="28" name="Rectangle 2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7562088"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8174736" y="100584"/>
            <a:ext cx="658368" cy="347472"/>
          </a:xfrm>
          <a:prstGeom prst="rect">
            <a:avLst/>
          </a:prstGeom>
        </p:spPr>
      </p:pic>
      <p:sp>
        <p:nvSpPr>
          <p:cNvPr id="31" name="Rectangle 3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194560" cy="292608"/>
          </a:xfrm>
          <a:prstGeom prst="roundRect">
            <a:avLst>
              <a:gd name="adj" fmla="val 15625"/>
            </a:avLst>
          </a:prstGeom>
          <a:solidFill>
            <a:srgbClr val="009FE3"/>
          </a:solidFill>
          <a:ln w="12700">
            <a:solidFill>
              <a:srgbClr val="009FE3"/>
            </a:solidFill>
            <a:prstDash val="solid"/>
          </a:ln>
        </p:spPr>
        <p:txBody>
          <a:bodyPr/>
          <a:lstStyle/>
          <a:p>
            <a:endParaRPr lang="en-GB"/>
          </a:p>
        </p:txBody>
      </p:sp>
      <p:sp>
        <p:nvSpPr>
          <p:cNvPr id="7" name="Text 4"/>
          <p:cNvSpPr/>
          <p:nvPr/>
        </p:nvSpPr>
        <p:spPr>
          <a:xfrm>
            <a:off x="347472" y="201168"/>
            <a:ext cx="21945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347472" y="566928"/>
            <a:ext cx="8503920" cy="640080"/>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Key Messages: What to Remember</a:t>
            </a:r>
            <a:endParaRPr lang="en-US" sz="2600" dirty="0"/>
          </a:p>
        </p:txBody>
      </p:sp>
      <p:sp>
        <p:nvSpPr>
          <p:cNvPr id="9" name="Shape 6"/>
          <p:cNvSpPr/>
          <p:nvPr/>
        </p:nvSpPr>
        <p:spPr>
          <a:xfrm>
            <a:off x="347472" y="1261872"/>
            <a:ext cx="8449056" cy="0"/>
          </a:xfrm>
          <a:prstGeom prst="line">
            <a:avLst/>
          </a:prstGeom>
          <a:noFill/>
          <a:ln w="19050">
            <a:solidFill>
              <a:srgbClr val="009FE3"/>
            </a:solidFill>
            <a:prstDash val="solid"/>
          </a:ln>
        </p:spPr>
        <p:txBody>
          <a:bodyPr/>
          <a:lstStyle/>
          <a:p>
            <a:endParaRPr lang="en-GB"/>
          </a:p>
        </p:txBody>
      </p:sp>
      <p:sp>
        <p:nvSpPr>
          <p:cNvPr id="10" name="Shape 7"/>
          <p:cNvSpPr/>
          <p:nvPr/>
        </p:nvSpPr>
        <p:spPr>
          <a:xfrm>
            <a:off x="347472" y="1444752"/>
            <a:ext cx="347472" cy="347472"/>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347472" y="144475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2" name="Text 9"/>
          <p:cNvSpPr/>
          <p:nvPr/>
        </p:nvSpPr>
        <p:spPr>
          <a:xfrm>
            <a:off x="804672" y="1426464"/>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Risk assessment is a legal requirement. 'Suitable and sufficient' is the test. Document everything.</a:t>
            </a:r>
            <a:endParaRPr lang="en-US" sz="1300" dirty="0"/>
          </a:p>
        </p:txBody>
      </p:sp>
      <p:sp>
        <p:nvSpPr>
          <p:cNvPr id="13" name="Shape 10"/>
          <p:cNvSpPr/>
          <p:nvPr/>
        </p:nvSpPr>
        <p:spPr>
          <a:xfrm>
            <a:off x="347472" y="1929384"/>
            <a:ext cx="347472" cy="347472"/>
          </a:xfrm>
          <a:prstGeom prst="ellipse">
            <a:avLst/>
          </a:prstGeom>
          <a:solidFill>
            <a:srgbClr val="83348F"/>
          </a:solidFill>
          <a:ln w="12700">
            <a:solidFill>
              <a:srgbClr val="83348F"/>
            </a:solidFill>
            <a:prstDash val="solid"/>
          </a:ln>
        </p:spPr>
        <p:txBody>
          <a:bodyPr/>
          <a:lstStyle/>
          <a:p>
            <a:endParaRPr lang="en-GB"/>
          </a:p>
        </p:txBody>
      </p:sp>
      <p:sp>
        <p:nvSpPr>
          <p:cNvPr id="14" name="Text 11"/>
          <p:cNvSpPr/>
          <p:nvPr/>
        </p:nvSpPr>
        <p:spPr>
          <a:xfrm>
            <a:off x="347472" y="192938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5" name="Text 12"/>
          <p:cNvSpPr/>
          <p:nvPr/>
        </p:nvSpPr>
        <p:spPr>
          <a:xfrm>
            <a:off x="804672" y="1911096"/>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A hazard is what could cause harm. Risk is the likelihood and severity of that harm occurring.</a:t>
            </a:r>
            <a:endParaRPr lang="en-US" sz="1300" dirty="0"/>
          </a:p>
        </p:txBody>
      </p:sp>
      <p:sp>
        <p:nvSpPr>
          <p:cNvPr id="16" name="Shape 13"/>
          <p:cNvSpPr/>
          <p:nvPr/>
        </p:nvSpPr>
        <p:spPr>
          <a:xfrm>
            <a:off x="347472" y="2414016"/>
            <a:ext cx="347472" cy="347472"/>
          </a:xfrm>
          <a:prstGeom prst="ellipse">
            <a:avLst/>
          </a:prstGeom>
          <a:solidFill>
            <a:srgbClr val="006FAA"/>
          </a:solidFill>
          <a:ln w="12700">
            <a:solidFill>
              <a:srgbClr val="006FAA"/>
            </a:solidFill>
            <a:prstDash val="solid"/>
          </a:ln>
        </p:spPr>
        <p:txBody>
          <a:bodyPr/>
          <a:lstStyle/>
          <a:p>
            <a:endParaRPr lang="en-GB"/>
          </a:p>
        </p:txBody>
      </p:sp>
      <p:sp>
        <p:nvSpPr>
          <p:cNvPr id="17" name="Text 14"/>
          <p:cNvSpPr/>
          <p:nvPr/>
        </p:nvSpPr>
        <p:spPr>
          <a:xfrm>
            <a:off x="347472" y="24140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8" name="Text 15"/>
          <p:cNvSpPr/>
          <p:nvPr/>
        </p:nvSpPr>
        <p:spPr>
          <a:xfrm>
            <a:off x="804672" y="2395728"/>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Follow the 5 steps: Identify, Who, Evaluate, Record, Review. In that order, every time.</a:t>
            </a:r>
            <a:endParaRPr lang="en-US" sz="1300" dirty="0"/>
          </a:p>
        </p:txBody>
      </p:sp>
      <p:sp>
        <p:nvSpPr>
          <p:cNvPr id="19" name="Shape 16"/>
          <p:cNvSpPr/>
          <p:nvPr/>
        </p:nvSpPr>
        <p:spPr>
          <a:xfrm>
            <a:off x="347472" y="2898648"/>
            <a:ext cx="347472" cy="347472"/>
          </a:xfrm>
          <a:prstGeom prst="ellipse">
            <a:avLst/>
          </a:prstGeom>
          <a:solidFill>
            <a:srgbClr val="E08A00"/>
          </a:solidFill>
          <a:ln w="12700">
            <a:solidFill>
              <a:srgbClr val="E08A00"/>
            </a:solidFill>
            <a:prstDash val="solid"/>
          </a:ln>
        </p:spPr>
        <p:txBody>
          <a:bodyPr/>
          <a:lstStyle/>
          <a:p>
            <a:endParaRPr lang="en-GB"/>
          </a:p>
        </p:txBody>
      </p:sp>
      <p:sp>
        <p:nvSpPr>
          <p:cNvPr id="20" name="Text 17"/>
          <p:cNvSpPr/>
          <p:nvPr/>
        </p:nvSpPr>
        <p:spPr>
          <a:xfrm>
            <a:off x="347472" y="289864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1" name="Text 18"/>
          <p:cNvSpPr/>
          <p:nvPr/>
        </p:nvSpPr>
        <p:spPr>
          <a:xfrm>
            <a:off x="804672" y="2880360"/>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Always apply the hierarchy of controls. PPE is the last resort, not the first answer.</a:t>
            </a:r>
            <a:endParaRPr lang="en-US" sz="1300" dirty="0"/>
          </a:p>
        </p:txBody>
      </p:sp>
      <p:sp>
        <p:nvSpPr>
          <p:cNvPr id="22" name="Shape 19"/>
          <p:cNvSpPr/>
          <p:nvPr/>
        </p:nvSpPr>
        <p:spPr>
          <a:xfrm>
            <a:off x="347472" y="3383280"/>
            <a:ext cx="347472" cy="347472"/>
          </a:xfrm>
          <a:prstGeom prst="ellipse">
            <a:avLst/>
          </a:prstGeom>
          <a:solidFill>
            <a:srgbClr val="2E8B57"/>
          </a:solidFill>
          <a:ln w="12700">
            <a:solidFill>
              <a:srgbClr val="2E8B57"/>
            </a:solidFill>
            <a:prstDash val="solid"/>
          </a:ln>
        </p:spPr>
        <p:txBody>
          <a:bodyPr/>
          <a:lstStyle/>
          <a:p>
            <a:endParaRPr lang="en-GB"/>
          </a:p>
        </p:txBody>
      </p:sp>
      <p:sp>
        <p:nvSpPr>
          <p:cNvPr id="23" name="Text 20"/>
          <p:cNvSpPr/>
          <p:nvPr/>
        </p:nvSpPr>
        <p:spPr>
          <a:xfrm>
            <a:off x="347472" y="338328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24" name="Text 21"/>
          <p:cNvSpPr/>
          <p:nvPr/>
        </p:nvSpPr>
        <p:spPr>
          <a:xfrm>
            <a:off x="804672" y="3364992"/>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Record both initial risk and residual risk. Your controls must make a demonstrable difference.</a:t>
            </a:r>
            <a:endParaRPr lang="en-US" sz="1300" dirty="0"/>
          </a:p>
        </p:txBody>
      </p:sp>
      <p:sp>
        <p:nvSpPr>
          <p:cNvPr id="25" name="Shape 22"/>
          <p:cNvSpPr/>
          <p:nvPr/>
        </p:nvSpPr>
        <p:spPr>
          <a:xfrm>
            <a:off x="347472" y="3867912"/>
            <a:ext cx="347472" cy="347472"/>
          </a:xfrm>
          <a:prstGeom prst="ellipse">
            <a:avLst/>
          </a:prstGeom>
          <a:solidFill>
            <a:srgbClr val="C0392B"/>
          </a:solidFill>
          <a:ln w="12700">
            <a:solidFill>
              <a:srgbClr val="C0392B"/>
            </a:solidFill>
            <a:prstDash val="solid"/>
          </a:ln>
        </p:spPr>
        <p:txBody>
          <a:bodyPr/>
          <a:lstStyle/>
          <a:p>
            <a:endParaRPr lang="en-GB"/>
          </a:p>
        </p:txBody>
      </p:sp>
      <p:sp>
        <p:nvSpPr>
          <p:cNvPr id="26" name="Text 23"/>
          <p:cNvSpPr/>
          <p:nvPr/>
        </p:nvSpPr>
        <p:spPr>
          <a:xfrm>
            <a:off x="347472" y="38679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06</a:t>
            </a:r>
            <a:endParaRPr lang="en-US" sz="1100" dirty="0"/>
          </a:p>
        </p:txBody>
      </p:sp>
      <p:sp>
        <p:nvSpPr>
          <p:cNvPr id="27" name="Text 24"/>
          <p:cNvSpPr/>
          <p:nvPr/>
        </p:nvSpPr>
        <p:spPr>
          <a:xfrm>
            <a:off x="804672" y="3849624"/>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Review assessments whenever something changes and at planned intervals. Never let them go stale.</a:t>
            </a:r>
            <a:endParaRPr lang="en-US" sz="1300" dirty="0"/>
          </a:p>
        </p:txBody>
      </p:sp>
      <p:sp>
        <p:nvSpPr>
          <p:cNvPr id="28" name="Shape 25"/>
          <p:cNvSpPr/>
          <p:nvPr/>
        </p:nvSpPr>
        <p:spPr>
          <a:xfrm>
            <a:off x="347472" y="4352544"/>
            <a:ext cx="347472" cy="347472"/>
          </a:xfrm>
          <a:prstGeom prst="ellipse">
            <a:avLst/>
          </a:prstGeom>
          <a:solidFill>
            <a:srgbClr val="009FE3"/>
          </a:solidFill>
          <a:ln w="12700">
            <a:solidFill>
              <a:srgbClr val="009FE3"/>
            </a:solidFill>
            <a:prstDash val="solid"/>
          </a:ln>
        </p:spPr>
        <p:txBody>
          <a:bodyPr/>
          <a:lstStyle/>
          <a:p>
            <a:endParaRPr lang="en-GB"/>
          </a:p>
        </p:txBody>
      </p:sp>
      <p:sp>
        <p:nvSpPr>
          <p:cNvPr id="29" name="Text 26"/>
          <p:cNvSpPr/>
          <p:nvPr/>
        </p:nvSpPr>
        <p:spPr>
          <a:xfrm>
            <a:off x="347472" y="43525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07</a:t>
            </a:r>
            <a:endParaRPr lang="en-US" sz="1100" dirty="0"/>
          </a:p>
        </p:txBody>
      </p:sp>
      <p:sp>
        <p:nvSpPr>
          <p:cNvPr id="30" name="Text 27"/>
          <p:cNvSpPr/>
          <p:nvPr/>
        </p:nvSpPr>
        <p:spPr>
          <a:xfrm>
            <a:off x="804672" y="4334256"/>
            <a:ext cx="7991856" cy="402336"/>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Involve the people doing the job. They know the real hazards. The best assessments are collaborative.</a:t>
            </a:r>
            <a:endParaRPr lang="en-US" sz="13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1E3C"/>
        </a:solidFill>
        <a:effectLst/>
      </p:bgPr>
    </p:bg>
    <p:spTree>
      <p:nvGrpSpPr>
        <p:cNvPr id="1" name=""/>
        <p:cNvGrpSpPr/>
        <p:nvPr/>
      </p:nvGrpSpPr>
      <p:grpSpPr>
        <a:xfrm>
          <a:off x="0" y="0"/>
          <a:ext cx="0" cy="0"/>
          <a:chOff x="0" y="0"/>
          <a:chExt cx="0" cy="0"/>
        </a:xfrm>
      </p:grpSpPr>
      <p:sp>
        <p:nvSpPr>
          <p:cNvPr id="5" name="Shape 3"/>
          <p:cNvSpPr/>
          <p:nvPr/>
        </p:nvSpPr>
        <p:spPr>
          <a:xfrm>
            <a:off x="0" y="0"/>
            <a:ext cx="4114800" cy="5143500"/>
          </a:xfrm>
          <a:prstGeom prst="rect">
            <a:avLst/>
          </a:prstGeom>
          <a:solidFill>
            <a:srgbClr val="009FE3">
              <a:alpha val="90000"/>
            </a:srgbClr>
          </a:solidFill>
          <a:ln w="12700">
            <a:solidFill>
              <a:srgbClr val="009FE3"/>
            </a:solidFill>
            <a:prstDash val="solid"/>
          </a:ln>
        </p:spPr>
        <p:txBody>
          <a:bodyPr/>
          <a:lstStyle/>
          <a:p>
            <a:endParaRPr lang="en-GB"/>
          </a:p>
        </p:txBody>
      </p:sp>
      <p:pic>
        <p:nvPicPr>
          <p:cNvPr id="6" name="Image 0" descr="/home/claude/nuccol_logo.jpg"/>
          <p:cNvPicPr>
            <a:picLocks noChangeAspect="1"/>
          </p:cNvPicPr>
          <p:nvPr/>
        </p:nvPicPr>
        <p:blipFill>
          <a:blip r:embed="rId3"/>
          <a:stretch>
            <a:fillRect/>
          </a:stretch>
        </p:blipFill>
        <p:spPr>
          <a:xfrm>
            <a:off x="274320" y="228600"/>
            <a:ext cx="1417320" cy="676656"/>
          </a:xfrm>
          <a:prstGeom prst="rect">
            <a:avLst/>
          </a:prstGeom>
        </p:spPr>
      </p:pic>
      <p:sp>
        <p:nvSpPr>
          <p:cNvPr id="7" name="Text 4"/>
          <p:cNvSpPr/>
          <p:nvPr/>
        </p:nvSpPr>
        <p:spPr>
          <a:xfrm>
            <a:off x="274320" y="1188720"/>
            <a:ext cx="347472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8" name="Shape 5"/>
          <p:cNvSpPr/>
          <p:nvPr/>
        </p:nvSpPr>
        <p:spPr>
          <a:xfrm>
            <a:off x="310896" y="1719072"/>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9" name="Text 6"/>
          <p:cNvSpPr/>
          <p:nvPr/>
        </p:nvSpPr>
        <p:spPr>
          <a:xfrm>
            <a:off x="310896" y="171907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p:nvPr/>
        </p:nvSpPr>
        <p:spPr>
          <a:xfrm>
            <a:off x="603504" y="1700784"/>
            <a:ext cx="338328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Download the NucCol Risk Assessment Template from your resource pack</a:t>
            </a:r>
            <a:endParaRPr lang="en-US" sz="1100" dirty="0"/>
          </a:p>
        </p:txBody>
      </p:sp>
      <p:sp>
        <p:nvSpPr>
          <p:cNvPr id="11" name="Shape 8"/>
          <p:cNvSpPr/>
          <p:nvPr/>
        </p:nvSpPr>
        <p:spPr>
          <a:xfrm>
            <a:off x="310896" y="2194560"/>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2" name="Text 9"/>
          <p:cNvSpPr/>
          <p:nvPr/>
        </p:nvSpPr>
        <p:spPr>
          <a:xfrm>
            <a:off x="310896" y="219456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p:nvPr/>
        </p:nvSpPr>
        <p:spPr>
          <a:xfrm>
            <a:off x="603504" y="2176272"/>
            <a:ext cx="338328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Complete a risk assessment for one activity in your area within 2 weeks</a:t>
            </a:r>
            <a:endParaRPr lang="en-US" sz="1100" dirty="0"/>
          </a:p>
        </p:txBody>
      </p:sp>
      <p:sp>
        <p:nvSpPr>
          <p:cNvPr id="14" name="Shape 11"/>
          <p:cNvSpPr/>
          <p:nvPr/>
        </p:nvSpPr>
        <p:spPr>
          <a:xfrm>
            <a:off x="310896" y="2670048"/>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5" name="Text 12"/>
          <p:cNvSpPr/>
          <p:nvPr/>
        </p:nvSpPr>
        <p:spPr>
          <a:xfrm>
            <a:off x="310896" y="267004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p:nvPr/>
        </p:nvSpPr>
        <p:spPr>
          <a:xfrm>
            <a:off x="603504" y="2651760"/>
            <a:ext cx="338328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Share your completed assessment with your QHSE lead for review</a:t>
            </a:r>
            <a:endParaRPr lang="en-US" sz="1100" dirty="0"/>
          </a:p>
        </p:txBody>
      </p:sp>
      <p:sp>
        <p:nvSpPr>
          <p:cNvPr id="17" name="Shape 14"/>
          <p:cNvSpPr/>
          <p:nvPr/>
        </p:nvSpPr>
        <p:spPr>
          <a:xfrm>
            <a:off x="310896" y="3145536"/>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8" name="Text 15"/>
          <p:cNvSpPr/>
          <p:nvPr/>
        </p:nvSpPr>
        <p:spPr>
          <a:xfrm>
            <a:off x="310896" y="3145536"/>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9" name="Text 16"/>
          <p:cNvSpPr/>
          <p:nvPr/>
        </p:nvSpPr>
        <p:spPr>
          <a:xfrm>
            <a:off x="603504" y="3127248"/>
            <a:ext cx="338328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Schedule your first planned review date in the assessment itself</a:t>
            </a:r>
            <a:endParaRPr lang="en-US" sz="1100" dirty="0"/>
          </a:p>
        </p:txBody>
      </p:sp>
      <p:sp>
        <p:nvSpPr>
          <p:cNvPr id="20" name="Shape 17"/>
          <p:cNvSpPr/>
          <p:nvPr/>
        </p:nvSpPr>
        <p:spPr>
          <a:xfrm>
            <a:off x="310896" y="3621024"/>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21" name="Text 18"/>
          <p:cNvSpPr/>
          <p:nvPr/>
        </p:nvSpPr>
        <p:spPr>
          <a:xfrm>
            <a:off x="310896" y="362102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2" name="Text 19"/>
          <p:cNvSpPr/>
          <p:nvPr/>
        </p:nvSpPr>
        <p:spPr>
          <a:xfrm>
            <a:off x="603504" y="3602736"/>
            <a:ext cx="338328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Brief your team on the hazards and controls you have identified</a:t>
            </a:r>
            <a:endParaRPr lang="en-US" sz="1100" dirty="0"/>
          </a:p>
        </p:txBody>
      </p:sp>
      <p:sp>
        <p:nvSpPr>
          <p:cNvPr id="23" name="Text 20"/>
          <p:cNvSpPr/>
          <p:nvPr/>
        </p:nvSpPr>
        <p:spPr>
          <a:xfrm>
            <a:off x="274320" y="4206240"/>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Further Resources</a:t>
            </a:r>
            <a:endParaRPr lang="en-US" sz="1300" dirty="0"/>
          </a:p>
        </p:txBody>
      </p:sp>
      <p:sp>
        <p:nvSpPr>
          <p:cNvPr id="24" name="Text 21"/>
          <p:cNvSpPr/>
          <p:nvPr/>
        </p:nvSpPr>
        <p:spPr>
          <a:xfrm>
            <a:off x="274320" y="4498848"/>
            <a:ext cx="3474720" cy="502920"/>
          </a:xfrm>
          <a:prstGeom prst="rect">
            <a:avLst/>
          </a:prstGeom>
          <a:noFill/>
          <a:ln/>
        </p:spPr>
        <p:txBody>
          <a:bodyPr wrap="square" lIns="0" tIns="0" rIns="0" bIns="0" rtlCol="0" anchor="ctr"/>
          <a:lstStyle/>
          <a:p>
            <a:pPr marL="0" indent="0">
              <a:buNone/>
            </a:pPr>
            <a:r>
              <a:rPr lang="en-US" sz="950" dirty="0">
                <a:solidFill>
                  <a:srgbClr val="AACCEE"/>
                </a:solidFill>
                <a:latin typeface="Arial" pitchFamily="34" charset="0"/>
                <a:ea typeface="Arial" pitchFamily="34" charset="-122"/>
                <a:cs typeface="Arial" pitchFamily="34" charset="-120"/>
              </a:rPr>
              <a:t>HSE INDG163: Five steps to risk assessment</a:t>
            </a:r>
            <a:endParaRPr lang="en-US" sz="950" dirty="0"/>
          </a:p>
          <a:p>
            <a:pPr marL="0" indent="0">
              <a:buNone/>
            </a:pPr>
            <a:r>
              <a:rPr lang="en-US" sz="950" dirty="0">
                <a:solidFill>
                  <a:srgbClr val="AACCEE"/>
                </a:solidFill>
                <a:latin typeface="Arial" pitchFamily="34" charset="0"/>
                <a:ea typeface="Arial" pitchFamily="34" charset="-122"/>
                <a:cs typeface="Arial" pitchFamily="34" charset="-120"/>
              </a:rPr>
              <a:t>HSG65: Managing for Health and Safety</a:t>
            </a:r>
            <a:endParaRPr lang="en-US" sz="950" dirty="0"/>
          </a:p>
          <a:p>
            <a:pPr marL="0" indent="0">
              <a:buNone/>
            </a:pPr>
            <a:r>
              <a:rPr lang="en-US" sz="950" dirty="0">
                <a:solidFill>
                  <a:srgbClr val="AACCEE"/>
                </a:solidFill>
                <a:latin typeface="Arial" pitchFamily="34" charset="0"/>
                <a:ea typeface="Arial" pitchFamily="34" charset="-122"/>
                <a:cs typeface="Arial" pitchFamily="34" charset="-120"/>
              </a:rPr>
              <a:t>ISO 45001:2018 — Occupational H&amp;S Management</a:t>
            </a:r>
            <a:endParaRPr lang="en-US" sz="950" dirty="0"/>
          </a:p>
          <a:p>
            <a:pPr marL="0" indent="0">
              <a:buNone/>
            </a:pPr>
            <a:r>
              <a:rPr lang="en-US" sz="950" dirty="0">
                <a:solidFill>
                  <a:srgbClr val="AACCEE"/>
                </a:solidFill>
                <a:latin typeface="Arial" pitchFamily="34" charset="0"/>
                <a:ea typeface="Arial" pitchFamily="34" charset="-122"/>
                <a:cs typeface="Arial" pitchFamily="34" charset="-120"/>
              </a:rPr>
              <a:t>Management of H&amp;S at Work Regulations 1999</a:t>
            </a:r>
            <a:endParaRPr lang="en-US" sz="950" dirty="0"/>
          </a:p>
        </p:txBody>
      </p:sp>
      <p:sp>
        <p:nvSpPr>
          <p:cNvPr id="25" name="Text 22"/>
          <p:cNvSpPr/>
          <p:nvPr/>
        </p:nvSpPr>
        <p:spPr>
          <a:xfrm>
            <a:off x="4343400" y="1280160"/>
            <a:ext cx="4572000" cy="5943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26" name="Text 23"/>
          <p:cNvSpPr/>
          <p:nvPr/>
        </p:nvSpPr>
        <p:spPr>
          <a:xfrm>
            <a:off x="4343400" y="1901952"/>
            <a:ext cx="4572000" cy="347472"/>
          </a:xfrm>
          <a:prstGeom prst="rect">
            <a:avLst/>
          </a:prstGeom>
          <a:noFill/>
          <a:ln/>
        </p:spPr>
        <p:txBody>
          <a:bodyPr wrap="square" lIns="0" tIns="0" rIns="0" bIns="0" rtlCol="0" anchor="ctr"/>
          <a:lstStyle/>
          <a:p>
            <a:pPr marL="0" indent="0">
              <a:buNone/>
            </a:pPr>
            <a:r>
              <a:rPr lang="en-US" sz="1800" i="1" dirty="0">
                <a:solidFill>
                  <a:srgbClr val="009FE3"/>
                </a:solidFill>
                <a:latin typeface="Cambria" pitchFamily="34" charset="0"/>
                <a:ea typeface="Cambria" pitchFamily="34" charset="-122"/>
                <a:cs typeface="Cambria" pitchFamily="34" charset="-120"/>
              </a:rPr>
              <a:t>How to Write a Risk Assessment</a:t>
            </a:r>
            <a:endParaRPr lang="en-US" sz="1800" dirty="0"/>
          </a:p>
        </p:txBody>
      </p:sp>
      <p:sp>
        <p:nvSpPr>
          <p:cNvPr id="27" name="Shape 24"/>
          <p:cNvSpPr/>
          <p:nvPr/>
        </p:nvSpPr>
        <p:spPr>
          <a:xfrm>
            <a:off x="4343400" y="2304288"/>
            <a:ext cx="4389120" cy="0"/>
          </a:xfrm>
          <a:prstGeom prst="line">
            <a:avLst/>
          </a:prstGeom>
          <a:noFill/>
          <a:ln w="15240">
            <a:solidFill>
              <a:srgbClr val="009FE3"/>
            </a:solidFill>
            <a:prstDash val="solid"/>
          </a:ln>
        </p:spPr>
        <p:txBody>
          <a:bodyPr/>
          <a:lstStyle/>
          <a:p>
            <a:endParaRPr lang="en-GB"/>
          </a:p>
        </p:txBody>
      </p:sp>
      <p:sp>
        <p:nvSpPr>
          <p:cNvPr id="28" name="Text 25"/>
          <p:cNvSpPr/>
          <p:nvPr/>
        </p:nvSpPr>
        <p:spPr>
          <a:xfrm>
            <a:off x="4343400" y="2423160"/>
            <a:ext cx="448056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Questions? Speak to your NucCol Supply Chain Consultant or your site QHSE lead.</a:t>
            </a:r>
            <a:endParaRPr lang="en-US" sz="1300" dirty="0"/>
          </a:p>
        </p:txBody>
      </p:sp>
      <p:sp>
        <p:nvSpPr>
          <p:cNvPr id="29" name="Text 26"/>
          <p:cNvSpPr/>
          <p:nvPr/>
        </p:nvSpPr>
        <p:spPr>
          <a:xfrm>
            <a:off x="4343400" y="3063240"/>
            <a:ext cx="448056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Nuclear Collaboration Ltd</a:t>
            </a:r>
            <a:endParaRPr lang="en-US" sz="1300" dirty="0"/>
          </a:p>
        </p:txBody>
      </p:sp>
      <p:sp>
        <p:nvSpPr>
          <p:cNvPr id="30" name="Text 27"/>
          <p:cNvSpPr/>
          <p:nvPr/>
        </p:nvSpPr>
        <p:spPr>
          <a:xfrm>
            <a:off x="4343400" y="3410712"/>
            <a:ext cx="4480560" cy="320040"/>
          </a:xfrm>
          <a:prstGeom prst="rect">
            <a:avLst/>
          </a:prstGeom>
          <a:noFill/>
          <a:ln/>
        </p:spPr>
        <p:txBody>
          <a:bodyPr wrap="square" lIns="0" tIns="0" rIns="0" bIns="0" rtlCol="0" anchor="ctr"/>
          <a:lstStyle/>
          <a:p>
            <a:pPr marL="0" indent="0">
              <a:buNone/>
            </a:pPr>
            <a:r>
              <a:rPr lang="en-US" sz="1300" dirty="0">
                <a:solidFill>
                  <a:srgbClr val="AACCEE"/>
                </a:solidFill>
                <a:latin typeface="Arial" pitchFamily="34" charset="0"/>
                <a:ea typeface="Arial" pitchFamily="34" charset="-122"/>
                <a:cs typeface="Arial" pitchFamily="34" charset="-120"/>
              </a:rPr>
              <a:t>www.nuccol.co.uk</a:t>
            </a:r>
            <a:endParaRPr lang="en-US" sz="1300" dirty="0"/>
          </a:p>
        </p:txBody>
      </p:sp>
      <p:sp>
        <p:nvSpPr>
          <p:cNvPr id="31" name="Text 28"/>
          <p:cNvSpPr/>
          <p:nvPr/>
        </p:nvSpPr>
        <p:spPr>
          <a:xfrm>
            <a:off x="4343400" y="3758184"/>
            <a:ext cx="4480560" cy="320040"/>
          </a:xfrm>
          <a:prstGeom prst="rect">
            <a:avLst/>
          </a:prstGeom>
          <a:noFill/>
          <a:ln/>
        </p:spPr>
        <p:txBody>
          <a:bodyPr wrap="square" lIns="0" tIns="0" rIns="0" bIns="0" rtlCol="0" anchor="ctr"/>
          <a:lstStyle/>
          <a:p>
            <a:pPr marL="0" indent="0">
              <a:buNone/>
            </a:pPr>
            <a:r>
              <a:rPr lang="en-US" sz="1300" dirty="0">
                <a:solidFill>
                  <a:srgbClr val="AACCEE"/>
                </a:solidFill>
                <a:latin typeface="Arial" pitchFamily="34" charset="0"/>
                <a:ea typeface="Arial" pitchFamily="34" charset="-122"/>
                <a:cs typeface="Arial" pitchFamily="34" charset="-120"/>
              </a:rPr>
              <a:t>enquiries@nuccol.co.uk</a:t>
            </a:r>
            <a:endParaRPr lang="en-US" sz="1300" dirty="0"/>
          </a:p>
        </p:txBody>
      </p:sp>
      <p:sp>
        <p:nvSpPr>
          <p:cNvPr id="32" name="Text 29"/>
          <p:cNvSpPr/>
          <p:nvPr/>
        </p:nvSpPr>
        <p:spPr>
          <a:xfrm>
            <a:off x="4343400" y="4105656"/>
            <a:ext cx="4480560" cy="320040"/>
          </a:xfrm>
          <a:prstGeom prst="rect">
            <a:avLst/>
          </a:prstGeom>
          <a:noFill/>
          <a:ln/>
        </p:spPr>
        <p:txBody>
          <a:bodyPr wrap="square" lIns="0" tIns="0" rIns="0" bIns="0" rtlCol="0" anchor="ctr"/>
          <a:lstStyle/>
          <a:p>
            <a:pPr marL="0" indent="0">
              <a:buNone/>
            </a:pPr>
            <a:r>
              <a:rPr lang="en-US" sz="1300" dirty="0">
                <a:solidFill>
                  <a:srgbClr val="AACCEE"/>
                </a:solidFill>
                <a:latin typeface="Arial" pitchFamily="34" charset="0"/>
                <a:ea typeface="Arial" pitchFamily="34" charset="-122"/>
                <a:cs typeface="Arial" pitchFamily="34" charset="-120"/>
              </a:rPr>
              <a:t>linkedin.com/company/nuccol</a:t>
            </a:r>
            <a:endParaRPr lang="en-US" sz="130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4"/>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280725D-8E6C-479C-B339-C3D4E5B1ABDA}"/>
</file>

<file path=customXml/itemProps2.xml><?xml version="1.0" encoding="utf-8"?>
<ds:datastoreItem xmlns:ds="http://schemas.openxmlformats.org/officeDocument/2006/customXml" ds:itemID="{D51FB416-71F0-45BD-9B6A-79F5CDB528E2}"/>
</file>

<file path=customXml/itemProps3.xml><?xml version="1.0" encoding="utf-8"?>
<ds:datastoreItem xmlns:ds="http://schemas.openxmlformats.org/officeDocument/2006/customXml" ds:itemID="{A79B656D-B972-4852-AB8C-02595CC3261F}"/>
</file>

<file path=docProps/app.xml><?xml version="1.0" encoding="utf-8"?>
<Properties xmlns="http://schemas.openxmlformats.org/officeDocument/2006/extended-properties" xmlns:vt="http://schemas.openxmlformats.org/officeDocument/2006/docPropsVTypes">
  <TotalTime>0</TotalTime>
  <Words>4773</Words>
  <Application>Microsoft Office PowerPoint</Application>
  <PresentationFormat>On-screen Show (16:9)</PresentationFormat>
  <Paragraphs>512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QHSE-TG01 Risk Assessment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