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1.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9FE3"/>
          </a:solidFill>
          <a:ln/>
        </p:spPr>
      </p:sp>
      <p:sp>
        <p:nvSpPr>
          <p:cNvPr id="3" name="Shape 1"/>
          <p:cNvSpPr/>
          <p:nvPr/>
        </p:nvSpPr>
        <p:spPr>
          <a:xfrm>
            <a:off x="0" y="3291840"/>
            <a:ext cx="9144000" cy="1851660"/>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457200" y="457200"/>
            <a:ext cx="2011680" cy="667512"/>
          </a:xfrm>
          <a:prstGeom prst="rect">
            <a:avLst/>
          </a:prstGeom>
        </p:spPr>
      </p:pic>
      <p:sp>
        <p:nvSpPr>
          <p:cNvPr id="5" name="Text 2"/>
          <p:cNvSpPr/>
          <p:nvPr/>
        </p:nvSpPr>
        <p:spPr>
          <a:xfrm>
            <a:off x="457200" y="1188720"/>
            <a:ext cx="8229600" cy="8229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HSE Risk Management</a:t>
            </a:r>
            <a:endParaRPr lang="en-US" sz="3200" dirty="0"/>
          </a:p>
        </p:txBody>
      </p:sp>
      <p:sp>
        <p:nvSpPr>
          <p:cNvPr id="6" name="Text 3"/>
          <p:cNvSpPr/>
          <p:nvPr/>
        </p:nvSpPr>
        <p:spPr>
          <a:xfrm>
            <a:off x="457200" y="2011680"/>
            <a:ext cx="8229600" cy="548640"/>
          </a:xfrm>
          <a:prstGeom prst="rect">
            <a:avLst/>
          </a:prstGeom>
          <a:noFill/>
          <a:ln/>
        </p:spPr>
        <p:txBody>
          <a:bodyPr wrap="square" rtlCol="0" anchor="ctr"/>
          <a:lstStyle/>
          <a:p>
            <a:pPr indent="0" marL="0">
              <a:buNone/>
            </a:pPr>
            <a:r>
              <a:rPr lang="en-US" sz="1800" dirty="0">
                <a:solidFill>
                  <a:srgbClr val="DDDDDD"/>
                </a:solidFill>
                <a:latin typeface="Arial" pitchFamily="34" charset="0"/>
                <a:ea typeface="Arial" pitchFamily="34" charset="-122"/>
                <a:cs typeface="Arial" pitchFamily="34" charset="-120"/>
              </a:rPr>
              <a:t>Documents, Audits, and Safe Systems of Work</a:t>
            </a:r>
            <a:endParaRPr lang="en-US" sz="1800" dirty="0"/>
          </a:p>
        </p:txBody>
      </p:sp>
      <p:sp>
        <p:nvSpPr>
          <p:cNvPr id="7" name="Text 4"/>
          <p:cNvSpPr/>
          <p:nvPr/>
        </p:nvSpPr>
        <p:spPr>
          <a:xfrm>
            <a:off x="457200" y="3429000"/>
            <a:ext cx="822960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A Practical Guide for [Company Name] Teams</a:t>
            </a:r>
            <a:endParaRPr lang="en-US" sz="1400" dirty="0"/>
          </a:p>
        </p:txBody>
      </p:sp>
      <p:sp>
        <p:nvSpPr>
          <p:cNvPr id="8" name="Text 5"/>
          <p:cNvSpPr/>
          <p:nvPr/>
        </p:nvSpPr>
        <p:spPr>
          <a:xfrm>
            <a:off x="457200" y="3931920"/>
            <a:ext cx="8229600" cy="27432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Commercial in Confidence</a:t>
            </a:r>
            <a:endParaRPr lang="en-US" sz="10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Legal Framework for HSE Risk Management</a:t>
            </a:r>
            <a:endParaRPr lang="en-US" sz="2000" dirty="0"/>
          </a:p>
        </p:txBody>
      </p:sp>
      <p:sp>
        <p:nvSpPr>
          <p:cNvPr id="7" name="Text 4"/>
          <p:cNvSpPr/>
          <p:nvPr/>
        </p:nvSpPr>
        <p:spPr>
          <a:xfrm>
            <a:off x="365760" y="749808"/>
            <a:ext cx="8412480" cy="41148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Health and safety law is not optional. These are the key legal duties that apply to your organisation:</a:t>
            </a:r>
            <a:endParaRPr lang="en-US" sz="1100" dirty="0"/>
          </a:p>
        </p:txBody>
      </p:sp>
      <p:sp>
        <p:nvSpPr>
          <p:cNvPr id="8" name="Shape 5"/>
          <p:cNvSpPr/>
          <p:nvPr/>
        </p:nvSpPr>
        <p:spPr>
          <a:xfrm>
            <a:off x="182880" y="1234440"/>
            <a:ext cx="2788920" cy="384048"/>
          </a:xfrm>
          <a:prstGeom prst="rect">
            <a:avLst/>
          </a:prstGeom>
          <a:solidFill>
            <a:srgbClr val="009FE3"/>
          </a:solidFill>
          <a:ln/>
        </p:spPr>
      </p:sp>
      <p:sp>
        <p:nvSpPr>
          <p:cNvPr id="9" name="Text 6"/>
          <p:cNvSpPr/>
          <p:nvPr/>
        </p:nvSpPr>
        <p:spPr>
          <a:xfrm>
            <a:off x="256032" y="1234440"/>
            <a:ext cx="2642616" cy="38404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Health and Safety at Work etc. Act 1974</a:t>
            </a:r>
            <a:endParaRPr lang="en-US" sz="900" dirty="0"/>
          </a:p>
        </p:txBody>
      </p:sp>
      <p:sp>
        <p:nvSpPr>
          <p:cNvPr id="10" name="Shape 7"/>
          <p:cNvSpPr/>
          <p:nvPr/>
        </p:nvSpPr>
        <p:spPr>
          <a:xfrm>
            <a:off x="182880" y="1618488"/>
            <a:ext cx="2788920" cy="1243584"/>
          </a:xfrm>
          <a:prstGeom prst="rect">
            <a:avLst/>
          </a:prstGeom>
          <a:solidFill>
            <a:srgbClr val="F5F5F5"/>
          </a:solidFill>
          <a:ln w="6350">
            <a:solidFill>
              <a:srgbClr val="DDDDDD"/>
            </a:solidFill>
            <a:prstDash val="solid"/>
          </a:ln>
        </p:spPr>
      </p:sp>
      <p:sp>
        <p:nvSpPr>
          <p:cNvPr id="11" name="Text 8"/>
          <p:cNvSpPr/>
          <p:nvPr/>
        </p:nvSpPr>
        <p:spPr>
          <a:xfrm>
            <a:off x="256032" y="1673352"/>
            <a:ext cx="2642616" cy="1115568"/>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The foundation of UK H&amp;S law. Employers must provide safe systems of work, safe equipment, and adequate information and training. Section 2 is the primary duty on employers.</a:t>
            </a:r>
            <a:endParaRPr lang="en-US" sz="900" dirty="0"/>
          </a:p>
        </p:txBody>
      </p:sp>
      <p:sp>
        <p:nvSpPr>
          <p:cNvPr id="12" name="Shape 9"/>
          <p:cNvSpPr/>
          <p:nvPr/>
        </p:nvSpPr>
        <p:spPr>
          <a:xfrm>
            <a:off x="3154680" y="1234440"/>
            <a:ext cx="2788920" cy="384048"/>
          </a:xfrm>
          <a:prstGeom prst="rect">
            <a:avLst/>
          </a:prstGeom>
          <a:solidFill>
            <a:srgbClr val="83348F"/>
          </a:solidFill>
          <a:ln/>
        </p:spPr>
      </p:sp>
      <p:sp>
        <p:nvSpPr>
          <p:cNvPr id="13" name="Text 10"/>
          <p:cNvSpPr/>
          <p:nvPr/>
        </p:nvSpPr>
        <p:spPr>
          <a:xfrm>
            <a:off x="3227832" y="1234440"/>
            <a:ext cx="2642616" cy="38404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Management of H&amp;S at Work Regulations 1999</a:t>
            </a:r>
            <a:endParaRPr lang="en-US" sz="900" dirty="0"/>
          </a:p>
        </p:txBody>
      </p:sp>
      <p:sp>
        <p:nvSpPr>
          <p:cNvPr id="14" name="Shape 11"/>
          <p:cNvSpPr/>
          <p:nvPr/>
        </p:nvSpPr>
        <p:spPr>
          <a:xfrm>
            <a:off x="3154680" y="1618488"/>
            <a:ext cx="2788920" cy="1243584"/>
          </a:xfrm>
          <a:prstGeom prst="rect">
            <a:avLst/>
          </a:prstGeom>
          <a:solidFill>
            <a:srgbClr val="F5F5F5"/>
          </a:solidFill>
          <a:ln w="6350">
            <a:solidFill>
              <a:srgbClr val="DDDDDD"/>
            </a:solidFill>
            <a:prstDash val="solid"/>
          </a:ln>
        </p:spPr>
      </p:sp>
      <p:sp>
        <p:nvSpPr>
          <p:cNvPr id="15" name="Text 12"/>
          <p:cNvSpPr/>
          <p:nvPr/>
        </p:nvSpPr>
        <p:spPr>
          <a:xfrm>
            <a:off x="3227832" y="1673352"/>
            <a:ext cx="2642616" cy="1115568"/>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Requires employers to carry out suitable and sufficient risk assessments (Reg 3) and have arrangements to plan, organise, control, monitor, and review preventive measures (Reg 5).</a:t>
            </a:r>
            <a:endParaRPr lang="en-US" sz="900" dirty="0"/>
          </a:p>
        </p:txBody>
      </p:sp>
      <p:sp>
        <p:nvSpPr>
          <p:cNvPr id="16" name="Shape 13"/>
          <p:cNvSpPr/>
          <p:nvPr/>
        </p:nvSpPr>
        <p:spPr>
          <a:xfrm>
            <a:off x="6126480" y="1234440"/>
            <a:ext cx="2788920" cy="384048"/>
          </a:xfrm>
          <a:prstGeom prst="rect">
            <a:avLst/>
          </a:prstGeom>
          <a:solidFill>
            <a:srgbClr val="009FE3"/>
          </a:solidFill>
          <a:ln/>
        </p:spPr>
      </p:sp>
      <p:sp>
        <p:nvSpPr>
          <p:cNvPr id="17" name="Text 14"/>
          <p:cNvSpPr/>
          <p:nvPr/>
        </p:nvSpPr>
        <p:spPr>
          <a:xfrm>
            <a:off x="6199632" y="1234440"/>
            <a:ext cx="2642616" cy="38404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PUWER 1998</a:t>
            </a:r>
            <a:endParaRPr lang="en-US" sz="900" dirty="0"/>
          </a:p>
        </p:txBody>
      </p:sp>
      <p:sp>
        <p:nvSpPr>
          <p:cNvPr id="18" name="Shape 15"/>
          <p:cNvSpPr/>
          <p:nvPr/>
        </p:nvSpPr>
        <p:spPr>
          <a:xfrm>
            <a:off x="6126480" y="1618488"/>
            <a:ext cx="2788920" cy="1243584"/>
          </a:xfrm>
          <a:prstGeom prst="rect">
            <a:avLst/>
          </a:prstGeom>
          <a:solidFill>
            <a:srgbClr val="F5F5F5"/>
          </a:solidFill>
          <a:ln w="6350">
            <a:solidFill>
              <a:srgbClr val="DDDDDD"/>
            </a:solidFill>
            <a:prstDash val="solid"/>
          </a:ln>
        </p:spPr>
      </p:sp>
      <p:sp>
        <p:nvSpPr>
          <p:cNvPr id="19" name="Text 16"/>
          <p:cNvSpPr/>
          <p:nvPr/>
        </p:nvSpPr>
        <p:spPr>
          <a:xfrm>
            <a:off x="6199632" y="1673352"/>
            <a:ext cx="2642616" cy="1115568"/>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Provision and Use of Work Equipment Regulations. Safe equipment, maintained, with guards and controls. Formal inspection records required.</a:t>
            </a:r>
            <a:endParaRPr lang="en-US" sz="900" dirty="0"/>
          </a:p>
        </p:txBody>
      </p:sp>
      <p:sp>
        <p:nvSpPr>
          <p:cNvPr id="20" name="Shape 17"/>
          <p:cNvSpPr/>
          <p:nvPr/>
        </p:nvSpPr>
        <p:spPr>
          <a:xfrm>
            <a:off x="182880" y="2971800"/>
            <a:ext cx="2788920" cy="384048"/>
          </a:xfrm>
          <a:prstGeom prst="rect">
            <a:avLst/>
          </a:prstGeom>
          <a:solidFill>
            <a:srgbClr val="83348F"/>
          </a:solidFill>
          <a:ln/>
        </p:spPr>
      </p:sp>
      <p:sp>
        <p:nvSpPr>
          <p:cNvPr id="21" name="Text 18"/>
          <p:cNvSpPr/>
          <p:nvPr/>
        </p:nvSpPr>
        <p:spPr>
          <a:xfrm>
            <a:off x="256032" y="2971800"/>
            <a:ext cx="2642616" cy="38404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LOLER 1998</a:t>
            </a:r>
            <a:endParaRPr lang="en-US" sz="900" dirty="0"/>
          </a:p>
        </p:txBody>
      </p:sp>
      <p:sp>
        <p:nvSpPr>
          <p:cNvPr id="22" name="Shape 19"/>
          <p:cNvSpPr/>
          <p:nvPr/>
        </p:nvSpPr>
        <p:spPr>
          <a:xfrm>
            <a:off x="182880" y="3355848"/>
            <a:ext cx="2788920" cy="1243584"/>
          </a:xfrm>
          <a:prstGeom prst="rect">
            <a:avLst/>
          </a:prstGeom>
          <a:solidFill>
            <a:srgbClr val="F5F5F5"/>
          </a:solidFill>
          <a:ln w="6350">
            <a:solidFill>
              <a:srgbClr val="DDDDDD"/>
            </a:solidFill>
            <a:prstDash val="solid"/>
          </a:ln>
        </p:spPr>
      </p:sp>
      <p:sp>
        <p:nvSpPr>
          <p:cNvPr id="23" name="Text 20"/>
          <p:cNvSpPr/>
          <p:nvPr/>
        </p:nvSpPr>
        <p:spPr>
          <a:xfrm>
            <a:off x="256032" y="3410712"/>
            <a:ext cx="2642616" cy="1115568"/>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Lifting Operations and Lifting Equipment Regulations. All lifting equipment must be thoroughly examined at defined intervals. Records retained.</a:t>
            </a:r>
            <a:endParaRPr lang="en-US" sz="900" dirty="0"/>
          </a:p>
        </p:txBody>
      </p:sp>
      <p:sp>
        <p:nvSpPr>
          <p:cNvPr id="24" name="Shape 21"/>
          <p:cNvSpPr/>
          <p:nvPr/>
        </p:nvSpPr>
        <p:spPr>
          <a:xfrm>
            <a:off x="3154680" y="2971800"/>
            <a:ext cx="2788920" cy="384048"/>
          </a:xfrm>
          <a:prstGeom prst="rect">
            <a:avLst/>
          </a:prstGeom>
          <a:solidFill>
            <a:srgbClr val="009FE3"/>
          </a:solidFill>
          <a:ln/>
        </p:spPr>
      </p:sp>
      <p:sp>
        <p:nvSpPr>
          <p:cNvPr id="25" name="Text 22"/>
          <p:cNvSpPr/>
          <p:nvPr/>
        </p:nvSpPr>
        <p:spPr>
          <a:xfrm>
            <a:off x="3227832" y="2971800"/>
            <a:ext cx="2642616" cy="38404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COSHH Regulations 2002</a:t>
            </a:r>
            <a:endParaRPr lang="en-US" sz="900" dirty="0"/>
          </a:p>
        </p:txBody>
      </p:sp>
      <p:sp>
        <p:nvSpPr>
          <p:cNvPr id="26" name="Shape 23"/>
          <p:cNvSpPr/>
          <p:nvPr/>
        </p:nvSpPr>
        <p:spPr>
          <a:xfrm>
            <a:off x="3154680" y="3355848"/>
            <a:ext cx="2788920" cy="1243584"/>
          </a:xfrm>
          <a:prstGeom prst="rect">
            <a:avLst/>
          </a:prstGeom>
          <a:solidFill>
            <a:srgbClr val="F5F5F5"/>
          </a:solidFill>
          <a:ln w="6350">
            <a:solidFill>
              <a:srgbClr val="DDDDDD"/>
            </a:solidFill>
            <a:prstDash val="solid"/>
          </a:ln>
        </p:spPr>
      </p:sp>
      <p:sp>
        <p:nvSpPr>
          <p:cNvPr id="27" name="Text 24"/>
          <p:cNvSpPr/>
          <p:nvPr/>
        </p:nvSpPr>
        <p:spPr>
          <a:xfrm>
            <a:off x="3227832" y="3410712"/>
            <a:ext cx="2642616" cy="1115568"/>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Control of Substances Hazardous to Health. Assess, control, and monitor exposure to hazardous substances. Specific record retention requirements.</a:t>
            </a:r>
            <a:endParaRPr lang="en-US" sz="900" dirty="0"/>
          </a:p>
        </p:txBody>
      </p:sp>
      <p:sp>
        <p:nvSpPr>
          <p:cNvPr id="28" name="Shape 25"/>
          <p:cNvSpPr/>
          <p:nvPr/>
        </p:nvSpPr>
        <p:spPr>
          <a:xfrm>
            <a:off x="6126480" y="2971800"/>
            <a:ext cx="2788920" cy="384048"/>
          </a:xfrm>
          <a:prstGeom prst="rect">
            <a:avLst/>
          </a:prstGeom>
          <a:solidFill>
            <a:srgbClr val="83348F"/>
          </a:solidFill>
          <a:ln/>
        </p:spPr>
      </p:sp>
      <p:sp>
        <p:nvSpPr>
          <p:cNvPr id="29" name="Text 26"/>
          <p:cNvSpPr/>
          <p:nvPr/>
        </p:nvSpPr>
        <p:spPr>
          <a:xfrm>
            <a:off x="6199632" y="2971800"/>
            <a:ext cx="2642616" cy="38404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ISO 45001:2018</a:t>
            </a:r>
            <a:endParaRPr lang="en-US" sz="900" dirty="0"/>
          </a:p>
        </p:txBody>
      </p:sp>
      <p:sp>
        <p:nvSpPr>
          <p:cNvPr id="30" name="Shape 27"/>
          <p:cNvSpPr/>
          <p:nvPr/>
        </p:nvSpPr>
        <p:spPr>
          <a:xfrm>
            <a:off x="6126480" y="3355848"/>
            <a:ext cx="2788920" cy="1243584"/>
          </a:xfrm>
          <a:prstGeom prst="rect">
            <a:avLst/>
          </a:prstGeom>
          <a:solidFill>
            <a:srgbClr val="F5F5F5"/>
          </a:solidFill>
          <a:ln w="6350">
            <a:solidFill>
              <a:srgbClr val="DDDDDD"/>
            </a:solidFill>
            <a:prstDash val="solid"/>
          </a:ln>
        </p:spPr>
      </p:sp>
      <p:sp>
        <p:nvSpPr>
          <p:cNvPr id="31" name="Text 28"/>
          <p:cNvSpPr/>
          <p:nvPr/>
        </p:nvSpPr>
        <p:spPr>
          <a:xfrm>
            <a:off x="6199632" y="3410712"/>
            <a:ext cx="2642616" cy="1115568"/>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International standard for OH&amp;S management systems. F4N expects companies to hold or be working towards certification.</a:t>
            </a:r>
            <a:endParaRPr lang="en-US" sz="900" dirty="0"/>
          </a:p>
        </p:txBody>
      </p:sp>
      <p:sp>
        <p:nvSpPr>
          <p:cNvPr id="32" name="Rectangle 3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5"/>
          <a:stretch>
            <a:fillRect/>
          </a:stretch>
        </p:blipFill>
        <p:spPr>
          <a:xfrm>
            <a:off x="7562088" y="100584"/>
            <a:ext cx="566928" cy="347472"/>
          </a:xfrm>
          <a:prstGeom prst="rect">
            <a:avLst/>
          </a:prstGeom>
        </p:spPr>
      </p:pic>
      <p:pic>
        <p:nvPicPr>
          <p:cNvPr id="34" name="Picture 33" descr="image.png"/>
          <p:cNvPicPr>
            <a:picLocks noChangeAspect="1"/>
          </p:cNvPicPr>
          <p:nvPr/>
        </p:nvPicPr>
        <p:blipFill>
          <a:blip r:embed="rId4"/>
          <a:stretch>
            <a:fillRect/>
          </a:stretch>
        </p:blipFill>
        <p:spPr>
          <a:xfrm>
            <a:off x="8174736" y="100584"/>
            <a:ext cx="658368" cy="347472"/>
          </a:xfrm>
          <a:prstGeom prst="rect">
            <a:avLst/>
          </a:prstGeom>
        </p:spPr>
      </p:pic>
      <p:sp>
        <p:nvSpPr>
          <p:cNvPr id="35" name="Rectangle 3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Risk Assessment: The Fundamentals</a:t>
            </a:r>
            <a:endParaRPr lang="en-US" sz="2000" dirty="0"/>
          </a:p>
        </p:txBody>
      </p:sp>
      <p:sp>
        <p:nvSpPr>
          <p:cNvPr id="7" name="Text 4"/>
          <p:cNvSpPr/>
          <p:nvPr/>
        </p:nvSpPr>
        <p:spPr>
          <a:xfrm>
            <a:off x="365760" y="749808"/>
            <a:ext cx="8412480" cy="50292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A risk assessment is a careful examination of what could cause harm to people in your workplace. It is a legal requirement under the Management of Health and Safety at Work Regulations 1999.</a:t>
            </a:r>
            <a:endParaRPr lang="en-US" sz="1100" dirty="0"/>
          </a:p>
        </p:txBody>
      </p:sp>
      <p:sp>
        <p:nvSpPr>
          <p:cNvPr id="8" name="Text 5"/>
          <p:cNvSpPr/>
          <p:nvPr/>
        </p:nvSpPr>
        <p:spPr>
          <a:xfrm>
            <a:off x="365760" y="1325880"/>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The 5 steps to a risk assessment:</a:t>
            </a:r>
            <a:endParaRPr lang="en-US" sz="1400" dirty="0"/>
          </a:p>
        </p:txBody>
      </p:sp>
      <p:sp>
        <p:nvSpPr>
          <p:cNvPr id="9" name="Shape 6"/>
          <p:cNvSpPr/>
          <p:nvPr/>
        </p:nvSpPr>
        <p:spPr>
          <a:xfrm>
            <a:off x="182880" y="1737360"/>
            <a:ext cx="1627632" cy="457200"/>
          </a:xfrm>
          <a:prstGeom prst="rect">
            <a:avLst/>
          </a:prstGeom>
          <a:solidFill>
            <a:srgbClr val="009FE3"/>
          </a:solidFill>
          <a:ln/>
        </p:spPr>
      </p:sp>
      <p:sp>
        <p:nvSpPr>
          <p:cNvPr id="10" name="Text 7"/>
          <p:cNvSpPr/>
          <p:nvPr/>
        </p:nvSpPr>
        <p:spPr>
          <a:xfrm>
            <a:off x="228600" y="1737360"/>
            <a:ext cx="1536192"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 IDENTIFY THE HAZARDS</a:t>
            </a:r>
            <a:endParaRPr lang="en-US" sz="850" dirty="0"/>
          </a:p>
        </p:txBody>
      </p:sp>
      <p:sp>
        <p:nvSpPr>
          <p:cNvPr id="11" name="Shape 8"/>
          <p:cNvSpPr/>
          <p:nvPr/>
        </p:nvSpPr>
        <p:spPr>
          <a:xfrm>
            <a:off x="182880" y="2194560"/>
            <a:ext cx="1627632" cy="2377440"/>
          </a:xfrm>
          <a:prstGeom prst="rect">
            <a:avLst/>
          </a:prstGeom>
          <a:solidFill>
            <a:srgbClr val="F5F5F5"/>
          </a:solidFill>
          <a:ln w="6350">
            <a:solidFill>
              <a:srgbClr val="DDDDDD"/>
            </a:solidFill>
            <a:prstDash val="solid"/>
          </a:ln>
        </p:spPr>
      </p:sp>
      <p:sp>
        <p:nvSpPr>
          <p:cNvPr id="12" name="Text 9"/>
          <p:cNvSpPr/>
          <p:nvPr/>
        </p:nvSpPr>
        <p:spPr>
          <a:xfrm>
            <a:off x="228600" y="2267712"/>
            <a:ext cx="1536192" cy="224028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Look for things that could cause harm: machinery, chemicals, working at height, manual handling, electrical, etc.</a:t>
            </a:r>
            <a:endParaRPr lang="en-US" sz="900" dirty="0"/>
          </a:p>
        </p:txBody>
      </p:sp>
      <p:sp>
        <p:nvSpPr>
          <p:cNvPr id="13" name="Shape 10"/>
          <p:cNvSpPr/>
          <p:nvPr/>
        </p:nvSpPr>
        <p:spPr>
          <a:xfrm>
            <a:off x="1920240" y="1737360"/>
            <a:ext cx="1627632" cy="457200"/>
          </a:xfrm>
          <a:prstGeom prst="rect">
            <a:avLst/>
          </a:prstGeom>
          <a:solidFill>
            <a:srgbClr val="83348F"/>
          </a:solidFill>
          <a:ln/>
        </p:spPr>
      </p:sp>
      <p:sp>
        <p:nvSpPr>
          <p:cNvPr id="14" name="Text 11"/>
          <p:cNvSpPr/>
          <p:nvPr/>
        </p:nvSpPr>
        <p:spPr>
          <a:xfrm>
            <a:off x="1965960" y="1737360"/>
            <a:ext cx="1536192"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 DECIDE WHO MIGHT BE HARMED AND HOW</a:t>
            </a:r>
            <a:endParaRPr lang="en-US" sz="850" dirty="0"/>
          </a:p>
        </p:txBody>
      </p:sp>
      <p:sp>
        <p:nvSpPr>
          <p:cNvPr id="15" name="Shape 12"/>
          <p:cNvSpPr/>
          <p:nvPr/>
        </p:nvSpPr>
        <p:spPr>
          <a:xfrm>
            <a:off x="1920240" y="2194560"/>
            <a:ext cx="1627632" cy="2377440"/>
          </a:xfrm>
          <a:prstGeom prst="rect">
            <a:avLst/>
          </a:prstGeom>
          <a:solidFill>
            <a:srgbClr val="F5F5F5"/>
          </a:solidFill>
          <a:ln w="6350">
            <a:solidFill>
              <a:srgbClr val="DDDDDD"/>
            </a:solidFill>
            <a:prstDash val="solid"/>
          </a:ln>
        </p:spPr>
      </p:sp>
      <p:sp>
        <p:nvSpPr>
          <p:cNvPr id="16" name="Text 13"/>
          <p:cNvSpPr/>
          <p:nvPr/>
        </p:nvSpPr>
        <p:spPr>
          <a:xfrm>
            <a:off x="1965960" y="2267712"/>
            <a:ext cx="1536192" cy="224028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Consider: employees, contractors, visitors, members of the public. Consider different scenarios.</a:t>
            </a:r>
            <a:endParaRPr lang="en-US" sz="900" dirty="0"/>
          </a:p>
        </p:txBody>
      </p:sp>
      <p:sp>
        <p:nvSpPr>
          <p:cNvPr id="17" name="Shape 14"/>
          <p:cNvSpPr/>
          <p:nvPr/>
        </p:nvSpPr>
        <p:spPr>
          <a:xfrm>
            <a:off x="3657600" y="1737360"/>
            <a:ext cx="1627632" cy="457200"/>
          </a:xfrm>
          <a:prstGeom prst="rect">
            <a:avLst/>
          </a:prstGeom>
          <a:solidFill>
            <a:srgbClr val="009FE3"/>
          </a:solidFill>
          <a:ln/>
        </p:spPr>
      </p:sp>
      <p:sp>
        <p:nvSpPr>
          <p:cNvPr id="18" name="Text 15"/>
          <p:cNvSpPr/>
          <p:nvPr/>
        </p:nvSpPr>
        <p:spPr>
          <a:xfrm>
            <a:off x="3703320" y="1737360"/>
            <a:ext cx="1536192"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 EVALUATE THE RISKS AND EXISTING CONTROLS</a:t>
            </a:r>
            <a:endParaRPr lang="en-US" sz="850" dirty="0"/>
          </a:p>
        </p:txBody>
      </p:sp>
      <p:sp>
        <p:nvSpPr>
          <p:cNvPr id="19" name="Shape 16"/>
          <p:cNvSpPr/>
          <p:nvPr/>
        </p:nvSpPr>
        <p:spPr>
          <a:xfrm>
            <a:off x="3657600" y="2194560"/>
            <a:ext cx="1627632" cy="2377440"/>
          </a:xfrm>
          <a:prstGeom prst="rect">
            <a:avLst/>
          </a:prstGeom>
          <a:solidFill>
            <a:srgbClr val="F5F5F5"/>
          </a:solidFill>
          <a:ln w="6350">
            <a:solidFill>
              <a:srgbClr val="DDDDDD"/>
            </a:solidFill>
            <a:prstDash val="solid"/>
          </a:ln>
        </p:spPr>
      </p:sp>
      <p:sp>
        <p:nvSpPr>
          <p:cNvPr id="20" name="Text 17"/>
          <p:cNvSpPr/>
          <p:nvPr/>
        </p:nvSpPr>
        <p:spPr>
          <a:xfrm>
            <a:off x="3703320" y="2267712"/>
            <a:ext cx="1536192" cy="224028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Score likelihood x severity. What controls are already in place? Are they adequate?</a:t>
            </a:r>
            <a:endParaRPr lang="en-US" sz="900" dirty="0"/>
          </a:p>
        </p:txBody>
      </p:sp>
      <p:sp>
        <p:nvSpPr>
          <p:cNvPr id="21" name="Shape 18"/>
          <p:cNvSpPr/>
          <p:nvPr/>
        </p:nvSpPr>
        <p:spPr>
          <a:xfrm>
            <a:off x="5394960" y="1737360"/>
            <a:ext cx="1627632" cy="457200"/>
          </a:xfrm>
          <a:prstGeom prst="rect">
            <a:avLst/>
          </a:prstGeom>
          <a:solidFill>
            <a:srgbClr val="83348F"/>
          </a:solidFill>
          <a:ln/>
        </p:spPr>
      </p:sp>
      <p:sp>
        <p:nvSpPr>
          <p:cNvPr id="22" name="Text 19"/>
          <p:cNvSpPr/>
          <p:nvPr/>
        </p:nvSpPr>
        <p:spPr>
          <a:xfrm>
            <a:off x="5440680" y="1737360"/>
            <a:ext cx="1536192"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 RECORD YOUR FINDINGS AND IMPLEMENT ACTION</a:t>
            </a:r>
            <a:endParaRPr lang="en-US" sz="850" dirty="0"/>
          </a:p>
        </p:txBody>
      </p:sp>
      <p:sp>
        <p:nvSpPr>
          <p:cNvPr id="23" name="Shape 20"/>
          <p:cNvSpPr/>
          <p:nvPr/>
        </p:nvSpPr>
        <p:spPr>
          <a:xfrm>
            <a:off x="5394960" y="2194560"/>
            <a:ext cx="1627632" cy="2377440"/>
          </a:xfrm>
          <a:prstGeom prst="rect">
            <a:avLst/>
          </a:prstGeom>
          <a:solidFill>
            <a:srgbClr val="F5F5F5"/>
          </a:solidFill>
          <a:ln w="6350">
            <a:solidFill>
              <a:srgbClr val="DDDDDD"/>
            </a:solidFill>
            <a:prstDash val="solid"/>
          </a:ln>
        </p:spPr>
      </p:sp>
      <p:sp>
        <p:nvSpPr>
          <p:cNvPr id="24" name="Text 21"/>
          <p:cNvSpPr/>
          <p:nvPr/>
        </p:nvSpPr>
        <p:spPr>
          <a:xfrm>
            <a:off x="5440680" y="2267712"/>
            <a:ext cx="1536192" cy="224028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Document the assessment. Record significant hazards and conclusions. Implement additional controls.</a:t>
            </a:r>
            <a:endParaRPr lang="en-US" sz="900" dirty="0"/>
          </a:p>
        </p:txBody>
      </p:sp>
      <p:sp>
        <p:nvSpPr>
          <p:cNvPr id="25" name="Shape 22"/>
          <p:cNvSpPr/>
          <p:nvPr/>
        </p:nvSpPr>
        <p:spPr>
          <a:xfrm>
            <a:off x="7132320" y="1737360"/>
            <a:ext cx="1627632" cy="457200"/>
          </a:xfrm>
          <a:prstGeom prst="rect">
            <a:avLst/>
          </a:prstGeom>
          <a:solidFill>
            <a:srgbClr val="009FE3"/>
          </a:solidFill>
          <a:ln/>
        </p:spPr>
      </p:sp>
      <p:sp>
        <p:nvSpPr>
          <p:cNvPr id="26" name="Text 23"/>
          <p:cNvSpPr/>
          <p:nvPr/>
        </p:nvSpPr>
        <p:spPr>
          <a:xfrm>
            <a:off x="7178040" y="1737360"/>
            <a:ext cx="1536192"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 REVIEW AND UPDATE</a:t>
            </a:r>
            <a:endParaRPr lang="en-US" sz="850" dirty="0"/>
          </a:p>
        </p:txBody>
      </p:sp>
      <p:sp>
        <p:nvSpPr>
          <p:cNvPr id="27" name="Shape 24"/>
          <p:cNvSpPr/>
          <p:nvPr/>
        </p:nvSpPr>
        <p:spPr>
          <a:xfrm>
            <a:off x="7132320" y="2194560"/>
            <a:ext cx="1627632" cy="2377440"/>
          </a:xfrm>
          <a:prstGeom prst="rect">
            <a:avLst/>
          </a:prstGeom>
          <a:solidFill>
            <a:srgbClr val="F5F5F5"/>
          </a:solidFill>
          <a:ln w="6350">
            <a:solidFill>
              <a:srgbClr val="DDDDDD"/>
            </a:solidFill>
            <a:prstDash val="solid"/>
          </a:ln>
        </p:spPr>
      </p:sp>
      <p:sp>
        <p:nvSpPr>
          <p:cNvPr id="28" name="Text 25"/>
          <p:cNvSpPr/>
          <p:nvPr/>
        </p:nvSpPr>
        <p:spPr>
          <a:xfrm>
            <a:off x="7178040" y="2267712"/>
            <a:ext cx="1536192" cy="224028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Review at least annually, and after any incident, near miss, or significant change.</a:t>
            </a:r>
            <a:endParaRPr lang="en-US" sz="900" dirty="0"/>
          </a:p>
        </p:txBody>
      </p:sp>
      <p:sp>
        <p:nvSpPr>
          <p:cNvPr id="29" name="Rectangle 2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7562088" y="100584"/>
            <a:ext cx="566928" cy="347472"/>
          </a:xfrm>
          <a:prstGeom prst="rect">
            <a:avLst/>
          </a:prstGeom>
        </p:spPr>
      </p:pic>
      <p:pic>
        <p:nvPicPr>
          <p:cNvPr id="31" name="Picture 30" descr="image.png"/>
          <p:cNvPicPr>
            <a:picLocks noChangeAspect="1"/>
          </p:cNvPicPr>
          <p:nvPr/>
        </p:nvPicPr>
        <p:blipFill>
          <a:blip r:embed="rId4"/>
          <a:stretch>
            <a:fillRect/>
          </a:stretch>
        </p:blipFill>
        <p:spPr>
          <a:xfrm>
            <a:off x="8174736" y="100584"/>
            <a:ext cx="658368" cy="347472"/>
          </a:xfrm>
          <a:prstGeom prst="rect">
            <a:avLst/>
          </a:prstGeom>
        </p:spPr>
      </p:pic>
      <p:sp>
        <p:nvSpPr>
          <p:cNvPr id="32" name="Rectangle 3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Risk Scoring: Likelihood x Severity</a:t>
            </a:r>
            <a:endParaRPr lang="en-US" sz="2000" dirty="0"/>
          </a:p>
        </p:txBody>
      </p:sp>
      <p:sp>
        <p:nvSpPr>
          <p:cNvPr id="7" name="Text 4"/>
          <p:cNvSpPr/>
          <p:nvPr/>
        </p:nvSpPr>
        <p:spPr>
          <a:xfrm>
            <a:off x="365760" y="749808"/>
            <a:ext cx="8412480" cy="36576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Score each hazard using this matrix. Multiply Likelihood (1-5) x Severity (1-5) to get the risk score.</a:t>
            </a:r>
            <a:endParaRPr lang="en-US" sz="1100" dirty="0"/>
          </a:p>
        </p:txBody>
      </p:sp>
      <p:sp>
        <p:nvSpPr>
          <p:cNvPr id="8" name="Text 5"/>
          <p:cNvSpPr/>
          <p:nvPr/>
        </p:nvSpPr>
        <p:spPr>
          <a:xfrm>
            <a:off x="1874520" y="1170432"/>
            <a:ext cx="6217920" cy="274320"/>
          </a:xfrm>
          <a:prstGeom prst="rect">
            <a:avLst/>
          </a:prstGeom>
          <a:noFill/>
          <a:ln/>
        </p:spPr>
        <p:txBody>
          <a:bodyPr wrap="square" rtlCol="0" anchor="ctr"/>
          <a:lstStyle/>
          <a:p>
            <a:pPr algn="ctr" indent="0" marL="0">
              <a:buNone/>
            </a:pPr>
            <a:r>
              <a:rPr lang="en-US" sz="1000" b="1" dirty="0">
                <a:solidFill>
                  <a:srgbClr val="83348F"/>
                </a:solidFill>
                <a:latin typeface="Arial" pitchFamily="34" charset="0"/>
                <a:ea typeface="Arial" pitchFamily="34" charset="-122"/>
                <a:cs typeface="Arial" pitchFamily="34" charset="-120"/>
              </a:rPr>
              <a:t>SEVERITY</a:t>
            </a:r>
            <a:endParaRPr lang="en-US" sz="1000" dirty="0"/>
          </a:p>
        </p:txBody>
      </p:sp>
      <p:sp>
        <p:nvSpPr>
          <p:cNvPr id="9" name="Shape 6"/>
          <p:cNvSpPr/>
          <p:nvPr/>
        </p:nvSpPr>
        <p:spPr>
          <a:xfrm>
            <a:off x="1920240" y="1444752"/>
            <a:ext cx="1234440" cy="457200"/>
          </a:xfrm>
          <a:prstGeom prst="rect">
            <a:avLst/>
          </a:prstGeom>
          <a:solidFill>
            <a:srgbClr val="83348F"/>
          </a:solidFill>
          <a:ln/>
        </p:spPr>
      </p:sp>
      <p:sp>
        <p:nvSpPr>
          <p:cNvPr id="10" name="Text 7"/>
          <p:cNvSpPr/>
          <p:nvPr/>
        </p:nvSpPr>
        <p:spPr>
          <a:xfrm>
            <a:off x="1920240" y="1444752"/>
            <a:ext cx="12344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Negligible</a:t>
            </a:r>
            <a:endParaRPr lang="en-US" sz="850" dirty="0"/>
          </a:p>
        </p:txBody>
      </p:sp>
      <p:sp>
        <p:nvSpPr>
          <p:cNvPr id="11" name="Shape 8"/>
          <p:cNvSpPr/>
          <p:nvPr/>
        </p:nvSpPr>
        <p:spPr>
          <a:xfrm>
            <a:off x="3200400" y="1444752"/>
            <a:ext cx="1234440" cy="457200"/>
          </a:xfrm>
          <a:prstGeom prst="rect">
            <a:avLst/>
          </a:prstGeom>
          <a:solidFill>
            <a:srgbClr val="83348F"/>
          </a:solidFill>
          <a:ln/>
        </p:spPr>
      </p:sp>
      <p:sp>
        <p:nvSpPr>
          <p:cNvPr id="12" name="Text 9"/>
          <p:cNvSpPr/>
          <p:nvPr/>
        </p:nvSpPr>
        <p:spPr>
          <a:xfrm>
            <a:off x="3200400" y="1444752"/>
            <a:ext cx="12344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Minor</a:t>
            </a:r>
            <a:endParaRPr lang="en-US" sz="850" dirty="0"/>
          </a:p>
        </p:txBody>
      </p:sp>
      <p:sp>
        <p:nvSpPr>
          <p:cNvPr id="13" name="Shape 10"/>
          <p:cNvSpPr/>
          <p:nvPr/>
        </p:nvSpPr>
        <p:spPr>
          <a:xfrm>
            <a:off x="4480560" y="1444752"/>
            <a:ext cx="1234440" cy="457200"/>
          </a:xfrm>
          <a:prstGeom prst="rect">
            <a:avLst/>
          </a:prstGeom>
          <a:solidFill>
            <a:srgbClr val="83348F"/>
          </a:solidFill>
          <a:ln/>
        </p:spPr>
      </p:sp>
      <p:sp>
        <p:nvSpPr>
          <p:cNvPr id="14" name="Text 11"/>
          <p:cNvSpPr/>
          <p:nvPr/>
        </p:nvSpPr>
        <p:spPr>
          <a:xfrm>
            <a:off x="4480560" y="1444752"/>
            <a:ext cx="12344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Moderate</a:t>
            </a:r>
            <a:endParaRPr lang="en-US" sz="850" dirty="0"/>
          </a:p>
        </p:txBody>
      </p:sp>
      <p:sp>
        <p:nvSpPr>
          <p:cNvPr id="15" name="Shape 12"/>
          <p:cNvSpPr/>
          <p:nvPr/>
        </p:nvSpPr>
        <p:spPr>
          <a:xfrm>
            <a:off x="5760720" y="1444752"/>
            <a:ext cx="1234440" cy="457200"/>
          </a:xfrm>
          <a:prstGeom prst="rect">
            <a:avLst/>
          </a:prstGeom>
          <a:solidFill>
            <a:srgbClr val="83348F"/>
          </a:solidFill>
          <a:ln/>
        </p:spPr>
      </p:sp>
      <p:sp>
        <p:nvSpPr>
          <p:cNvPr id="16" name="Text 13"/>
          <p:cNvSpPr/>
          <p:nvPr/>
        </p:nvSpPr>
        <p:spPr>
          <a:xfrm>
            <a:off x="5760720" y="1444752"/>
            <a:ext cx="12344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Major</a:t>
            </a:r>
            <a:endParaRPr lang="en-US" sz="850" dirty="0"/>
          </a:p>
        </p:txBody>
      </p:sp>
      <p:sp>
        <p:nvSpPr>
          <p:cNvPr id="17" name="Shape 14"/>
          <p:cNvSpPr/>
          <p:nvPr/>
        </p:nvSpPr>
        <p:spPr>
          <a:xfrm>
            <a:off x="7040880" y="1444752"/>
            <a:ext cx="1234440" cy="457200"/>
          </a:xfrm>
          <a:prstGeom prst="rect">
            <a:avLst/>
          </a:prstGeom>
          <a:solidFill>
            <a:srgbClr val="83348F"/>
          </a:solidFill>
          <a:ln/>
        </p:spPr>
      </p:sp>
      <p:sp>
        <p:nvSpPr>
          <p:cNvPr id="18" name="Text 15"/>
          <p:cNvSpPr/>
          <p:nvPr/>
        </p:nvSpPr>
        <p:spPr>
          <a:xfrm>
            <a:off x="7040880" y="1444752"/>
            <a:ext cx="12344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Catastrophic</a:t>
            </a:r>
            <a:endParaRPr lang="en-US" sz="850" dirty="0"/>
          </a:p>
        </p:txBody>
      </p:sp>
      <p:sp>
        <p:nvSpPr>
          <p:cNvPr id="19" name="Text 16"/>
          <p:cNvSpPr/>
          <p:nvPr/>
        </p:nvSpPr>
        <p:spPr>
          <a:xfrm rot="16200000">
            <a:off x="274320" y="1920240"/>
            <a:ext cx="274320" cy="2834640"/>
          </a:xfrm>
          <a:prstGeom prst="rect">
            <a:avLst/>
          </a:prstGeom>
          <a:noFill/>
          <a:ln/>
        </p:spPr>
        <p:txBody>
          <a:bodyPr wrap="square" rtlCol="0" anchor="ctr"/>
          <a:lstStyle/>
          <a:p>
            <a:pPr algn="ctr" indent="0" marL="0">
              <a:buNone/>
            </a:pPr>
            <a:r>
              <a:rPr lang="en-US" sz="1000" b="1" dirty="0">
                <a:solidFill>
                  <a:srgbClr val="009FE3"/>
                </a:solidFill>
                <a:latin typeface="Arial" pitchFamily="34" charset="0"/>
                <a:ea typeface="Arial" pitchFamily="34" charset="-122"/>
                <a:cs typeface="Arial" pitchFamily="34" charset="-120"/>
              </a:rPr>
              <a:t>LIKELIHOOD</a:t>
            </a:r>
            <a:endParaRPr lang="en-US" sz="1000" dirty="0"/>
          </a:p>
        </p:txBody>
      </p:sp>
      <p:sp>
        <p:nvSpPr>
          <p:cNvPr id="20" name="Shape 17"/>
          <p:cNvSpPr/>
          <p:nvPr/>
        </p:nvSpPr>
        <p:spPr>
          <a:xfrm>
            <a:off x="594360" y="1920240"/>
            <a:ext cx="1234440" cy="530352"/>
          </a:xfrm>
          <a:prstGeom prst="rect">
            <a:avLst/>
          </a:prstGeom>
          <a:solidFill>
            <a:srgbClr val="009FE3"/>
          </a:solidFill>
          <a:ln/>
        </p:spPr>
      </p:sp>
      <p:sp>
        <p:nvSpPr>
          <p:cNvPr id="21" name="Text 18"/>
          <p:cNvSpPr/>
          <p:nvPr/>
        </p:nvSpPr>
        <p:spPr>
          <a:xfrm>
            <a:off x="594360" y="1920240"/>
            <a:ext cx="1234440" cy="530352"/>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 Almost</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Certain</a:t>
            </a:r>
            <a:endParaRPr lang="en-US" sz="850" dirty="0"/>
          </a:p>
        </p:txBody>
      </p:sp>
      <p:sp>
        <p:nvSpPr>
          <p:cNvPr id="22" name="Shape 19"/>
          <p:cNvSpPr/>
          <p:nvPr/>
        </p:nvSpPr>
        <p:spPr>
          <a:xfrm>
            <a:off x="1920240" y="1920240"/>
            <a:ext cx="1234440" cy="530352"/>
          </a:xfrm>
          <a:prstGeom prst="rect">
            <a:avLst/>
          </a:prstGeom>
          <a:solidFill>
            <a:srgbClr val="FFF2CC"/>
          </a:solidFill>
          <a:ln w="6350">
            <a:solidFill>
              <a:srgbClr val="CCCCCC"/>
            </a:solidFill>
            <a:prstDash val="solid"/>
          </a:ln>
        </p:spPr>
      </p:sp>
      <p:sp>
        <p:nvSpPr>
          <p:cNvPr id="23" name="Text 20"/>
          <p:cNvSpPr/>
          <p:nvPr/>
        </p:nvSpPr>
        <p:spPr>
          <a:xfrm>
            <a:off x="1920240" y="1920240"/>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5</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24" name="Shape 21"/>
          <p:cNvSpPr/>
          <p:nvPr/>
        </p:nvSpPr>
        <p:spPr>
          <a:xfrm>
            <a:off x="3200400" y="1920240"/>
            <a:ext cx="1234440" cy="530352"/>
          </a:xfrm>
          <a:prstGeom prst="rect">
            <a:avLst/>
          </a:prstGeom>
          <a:solidFill>
            <a:srgbClr val="FCE4D6"/>
          </a:solidFill>
          <a:ln w="6350">
            <a:solidFill>
              <a:srgbClr val="CCCCCC"/>
            </a:solidFill>
            <a:prstDash val="solid"/>
          </a:ln>
        </p:spPr>
      </p:sp>
      <p:sp>
        <p:nvSpPr>
          <p:cNvPr id="25" name="Text 22"/>
          <p:cNvSpPr/>
          <p:nvPr/>
        </p:nvSpPr>
        <p:spPr>
          <a:xfrm>
            <a:off x="3200400" y="1920240"/>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10</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26" name="Shape 23"/>
          <p:cNvSpPr/>
          <p:nvPr/>
        </p:nvSpPr>
        <p:spPr>
          <a:xfrm>
            <a:off x="4480560" y="1920240"/>
            <a:ext cx="1234440" cy="530352"/>
          </a:xfrm>
          <a:prstGeom prst="rect">
            <a:avLst/>
          </a:prstGeom>
          <a:solidFill>
            <a:srgbClr val="FCE4D6"/>
          </a:solidFill>
          <a:ln w="6350">
            <a:solidFill>
              <a:srgbClr val="CCCCCC"/>
            </a:solidFill>
            <a:prstDash val="solid"/>
          </a:ln>
        </p:spPr>
      </p:sp>
      <p:sp>
        <p:nvSpPr>
          <p:cNvPr id="27" name="Text 24"/>
          <p:cNvSpPr/>
          <p:nvPr/>
        </p:nvSpPr>
        <p:spPr>
          <a:xfrm>
            <a:off x="4480560" y="1920240"/>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15</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28" name="Shape 25"/>
          <p:cNvSpPr/>
          <p:nvPr/>
        </p:nvSpPr>
        <p:spPr>
          <a:xfrm>
            <a:off x="5760720" y="1920240"/>
            <a:ext cx="1234440" cy="530352"/>
          </a:xfrm>
          <a:prstGeom prst="rect">
            <a:avLst/>
          </a:prstGeom>
          <a:solidFill>
            <a:srgbClr val="FCE4D6"/>
          </a:solidFill>
          <a:ln w="6350">
            <a:solidFill>
              <a:srgbClr val="CCCCCC"/>
            </a:solidFill>
            <a:prstDash val="solid"/>
          </a:ln>
        </p:spPr>
      </p:sp>
      <p:sp>
        <p:nvSpPr>
          <p:cNvPr id="29" name="Text 26"/>
          <p:cNvSpPr/>
          <p:nvPr/>
        </p:nvSpPr>
        <p:spPr>
          <a:xfrm>
            <a:off x="5760720" y="1920240"/>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20</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30" name="Shape 27"/>
          <p:cNvSpPr/>
          <p:nvPr/>
        </p:nvSpPr>
        <p:spPr>
          <a:xfrm>
            <a:off x="7040880" y="1920240"/>
            <a:ext cx="1234440" cy="530352"/>
          </a:xfrm>
          <a:prstGeom prst="rect">
            <a:avLst/>
          </a:prstGeom>
          <a:solidFill>
            <a:srgbClr val="FCE4D6"/>
          </a:solidFill>
          <a:ln w="6350">
            <a:solidFill>
              <a:srgbClr val="CCCCCC"/>
            </a:solidFill>
            <a:prstDash val="solid"/>
          </a:ln>
        </p:spPr>
      </p:sp>
      <p:sp>
        <p:nvSpPr>
          <p:cNvPr id="31" name="Text 28"/>
          <p:cNvSpPr/>
          <p:nvPr/>
        </p:nvSpPr>
        <p:spPr>
          <a:xfrm>
            <a:off x="7040880" y="1920240"/>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25</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32" name="Shape 29"/>
          <p:cNvSpPr/>
          <p:nvPr/>
        </p:nvSpPr>
        <p:spPr>
          <a:xfrm>
            <a:off x="594360" y="2487168"/>
            <a:ext cx="1234440" cy="530352"/>
          </a:xfrm>
          <a:prstGeom prst="rect">
            <a:avLst/>
          </a:prstGeom>
          <a:solidFill>
            <a:srgbClr val="009FE3"/>
          </a:solidFill>
          <a:ln/>
        </p:spPr>
      </p:sp>
      <p:sp>
        <p:nvSpPr>
          <p:cNvPr id="33" name="Text 30"/>
          <p:cNvSpPr/>
          <p:nvPr/>
        </p:nvSpPr>
        <p:spPr>
          <a:xfrm>
            <a:off x="594360" y="2487168"/>
            <a:ext cx="1234440" cy="530352"/>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 Likely</a:t>
            </a:r>
            <a:endParaRPr lang="en-US" sz="850" dirty="0"/>
          </a:p>
        </p:txBody>
      </p:sp>
      <p:sp>
        <p:nvSpPr>
          <p:cNvPr id="34" name="Shape 31"/>
          <p:cNvSpPr/>
          <p:nvPr/>
        </p:nvSpPr>
        <p:spPr>
          <a:xfrm>
            <a:off x="1920240" y="2487168"/>
            <a:ext cx="1234440" cy="530352"/>
          </a:xfrm>
          <a:prstGeom prst="rect">
            <a:avLst/>
          </a:prstGeom>
          <a:solidFill>
            <a:srgbClr val="E2EFDA"/>
          </a:solidFill>
          <a:ln w="6350">
            <a:solidFill>
              <a:srgbClr val="CCCCCC"/>
            </a:solidFill>
            <a:prstDash val="solid"/>
          </a:ln>
        </p:spPr>
      </p:sp>
      <p:sp>
        <p:nvSpPr>
          <p:cNvPr id="35" name="Text 32"/>
          <p:cNvSpPr/>
          <p:nvPr/>
        </p:nvSpPr>
        <p:spPr>
          <a:xfrm>
            <a:off x="1920240" y="2487168"/>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4</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36" name="Shape 33"/>
          <p:cNvSpPr/>
          <p:nvPr/>
        </p:nvSpPr>
        <p:spPr>
          <a:xfrm>
            <a:off x="3200400" y="2487168"/>
            <a:ext cx="1234440" cy="530352"/>
          </a:xfrm>
          <a:prstGeom prst="rect">
            <a:avLst/>
          </a:prstGeom>
          <a:solidFill>
            <a:srgbClr val="FFF2CC"/>
          </a:solidFill>
          <a:ln w="6350">
            <a:solidFill>
              <a:srgbClr val="CCCCCC"/>
            </a:solidFill>
            <a:prstDash val="solid"/>
          </a:ln>
        </p:spPr>
      </p:sp>
      <p:sp>
        <p:nvSpPr>
          <p:cNvPr id="37" name="Text 34"/>
          <p:cNvSpPr/>
          <p:nvPr/>
        </p:nvSpPr>
        <p:spPr>
          <a:xfrm>
            <a:off x="3200400" y="2487168"/>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8</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38" name="Shape 35"/>
          <p:cNvSpPr/>
          <p:nvPr/>
        </p:nvSpPr>
        <p:spPr>
          <a:xfrm>
            <a:off x="4480560" y="2487168"/>
            <a:ext cx="1234440" cy="530352"/>
          </a:xfrm>
          <a:prstGeom prst="rect">
            <a:avLst/>
          </a:prstGeom>
          <a:solidFill>
            <a:srgbClr val="FCE4D6"/>
          </a:solidFill>
          <a:ln w="6350">
            <a:solidFill>
              <a:srgbClr val="CCCCCC"/>
            </a:solidFill>
            <a:prstDash val="solid"/>
          </a:ln>
        </p:spPr>
      </p:sp>
      <p:sp>
        <p:nvSpPr>
          <p:cNvPr id="39" name="Text 36"/>
          <p:cNvSpPr/>
          <p:nvPr/>
        </p:nvSpPr>
        <p:spPr>
          <a:xfrm>
            <a:off x="4480560" y="2487168"/>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12</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40" name="Shape 37"/>
          <p:cNvSpPr/>
          <p:nvPr/>
        </p:nvSpPr>
        <p:spPr>
          <a:xfrm>
            <a:off x="5760720" y="2487168"/>
            <a:ext cx="1234440" cy="530352"/>
          </a:xfrm>
          <a:prstGeom prst="rect">
            <a:avLst/>
          </a:prstGeom>
          <a:solidFill>
            <a:srgbClr val="FCE4D6"/>
          </a:solidFill>
          <a:ln w="6350">
            <a:solidFill>
              <a:srgbClr val="CCCCCC"/>
            </a:solidFill>
            <a:prstDash val="solid"/>
          </a:ln>
        </p:spPr>
      </p:sp>
      <p:sp>
        <p:nvSpPr>
          <p:cNvPr id="41" name="Text 38"/>
          <p:cNvSpPr/>
          <p:nvPr/>
        </p:nvSpPr>
        <p:spPr>
          <a:xfrm>
            <a:off x="5760720" y="2487168"/>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16</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42" name="Shape 39"/>
          <p:cNvSpPr/>
          <p:nvPr/>
        </p:nvSpPr>
        <p:spPr>
          <a:xfrm>
            <a:off x="7040880" y="2487168"/>
            <a:ext cx="1234440" cy="530352"/>
          </a:xfrm>
          <a:prstGeom prst="rect">
            <a:avLst/>
          </a:prstGeom>
          <a:solidFill>
            <a:srgbClr val="FCE4D6"/>
          </a:solidFill>
          <a:ln w="6350">
            <a:solidFill>
              <a:srgbClr val="CCCCCC"/>
            </a:solidFill>
            <a:prstDash val="solid"/>
          </a:ln>
        </p:spPr>
      </p:sp>
      <p:sp>
        <p:nvSpPr>
          <p:cNvPr id="43" name="Text 40"/>
          <p:cNvSpPr/>
          <p:nvPr/>
        </p:nvSpPr>
        <p:spPr>
          <a:xfrm>
            <a:off x="7040880" y="2487168"/>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20</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44" name="Shape 41"/>
          <p:cNvSpPr/>
          <p:nvPr/>
        </p:nvSpPr>
        <p:spPr>
          <a:xfrm>
            <a:off x="594360" y="3054096"/>
            <a:ext cx="1234440" cy="530352"/>
          </a:xfrm>
          <a:prstGeom prst="rect">
            <a:avLst/>
          </a:prstGeom>
          <a:solidFill>
            <a:srgbClr val="009FE3"/>
          </a:solidFill>
          <a:ln/>
        </p:spPr>
      </p:sp>
      <p:sp>
        <p:nvSpPr>
          <p:cNvPr id="45" name="Text 42"/>
          <p:cNvSpPr/>
          <p:nvPr/>
        </p:nvSpPr>
        <p:spPr>
          <a:xfrm>
            <a:off x="594360" y="3054096"/>
            <a:ext cx="1234440" cy="530352"/>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 Possible</a:t>
            </a:r>
            <a:endParaRPr lang="en-US" sz="850" dirty="0"/>
          </a:p>
        </p:txBody>
      </p:sp>
      <p:sp>
        <p:nvSpPr>
          <p:cNvPr id="46" name="Shape 43"/>
          <p:cNvSpPr/>
          <p:nvPr/>
        </p:nvSpPr>
        <p:spPr>
          <a:xfrm>
            <a:off x="1920240" y="3054096"/>
            <a:ext cx="1234440" cy="530352"/>
          </a:xfrm>
          <a:prstGeom prst="rect">
            <a:avLst/>
          </a:prstGeom>
          <a:solidFill>
            <a:srgbClr val="E2EFDA"/>
          </a:solidFill>
          <a:ln w="6350">
            <a:solidFill>
              <a:srgbClr val="CCCCCC"/>
            </a:solidFill>
            <a:prstDash val="solid"/>
          </a:ln>
        </p:spPr>
      </p:sp>
      <p:sp>
        <p:nvSpPr>
          <p:cNvPr id="47" name="Text 44"/>
          <p:cNvSpPr/>
          <p:nvPr/>
        </p:nvSpPr>
        <p:spPr>
          <a:xfrm>
            <a:off x="1920240" y="3054096"/>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3</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48" name="Shape 45"/>
          <p:cNvSpPr/>
          <p:nvPr/>
        </p:nvSpPr>
        <p:spPr>
          <a:xfrm>
            <a:off x="3200400" y="3054096"/>
            <a:ext cx="1234440" cy="530352"/>
          </a:xfrm>
          <a:prstGeom prst="rect">
            <a:avLst/>
          </a:prstGeom>
          <a:solidFill>
            <a:srgbClr val="FFF2CC"/>
          </a:solidFill>
          <a:ln w="6350">
            <a:solidFill>
              <a:srgbClr val="CCCCCC"/>
            </a:solidFill>
            <a:prstDash val="solid"/>
          </a:ln>
        </p:spPr>
      </p:sp>
      <p:sp>
        <p:nvSpPr>
          <p:cNvPr id="49" name="Text 46"/>
          <p:cNvSpPr/>
          <p:nvPr/>
        </p:nvSpPr>
        <p:spPr>
          <a:xfrm>
            <a:off x="3200400" y="3054096"/>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6</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50" name="Shape 47"/>
          <p:cNvSpPr/>
          <p:nvPr/>
        </p:nvSpPr>
        <p:spPr>
          <a:xfrm>
            <a:off x="4480560" y="3054096"/>
            <a:ext cx="1234440" cy="530352"/>
          </a:xfrm>
          <a:prstGeom prst="rect">
            <a:avLst/>
          </a:prstGeom>
          <a:solidFill>
            <a:srgbClr val="FFF2CC"/>
          </a:solidFill>
          <a:ln w="6350">
            <a:solidFill>
              <a:srgbClr val="CCCCCC"/>
            </a:solidFill>
            <a:prstDash val="solid"/>
          </a:ln>
        </p:spPr>
      </p:sp>
      <p:sp>
        <p:nvSpPr>
          <p:cNvPr id="51" name="Text 48"/>
          <p:cNvSpPr/>
          <p:nvPr/>
        </p:nvSpPr>
        <p:spPr>
          <a:xfrm>
            <a:off x="4480560" y="3054096"/>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9</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52" name="Shape 49"/>
          <p:cNvSpPr/>
          <p:nvPr/>
        </p:nvSpPr>
        <p:spPr>
          <a:xfrm>
            <a:off x="5760720" y="3054096"/>
            <a:ext cx="1234440" cy="530352"/>
          </a:xfrm>
          <a:prstGeom prst="rect">
            <a:avLst/>
          </a:prstGeom>
          <a:solidFill>
            <a:srgbClr val="FCE4D6"/>
          </a:solidFill>
          <a:ln w="6350">
            <a:solidFill>
              <a:srgbClr val="CCCCCC"/>
            </a:solidFill>
            <a:prstDash val="solid"/>
          </a:ln>
        </p:spPr>
      </p:sp>
      <p:sp>
        <p:nvSpPr>
          <p:cNvPr id="53" name="Text 50"/>
          <p:cNvSpPr/>
          <p:nvPr/>
        </p:nvSpPr>
        <p:spPr>
          <a:xfrm>
            <a:off x="5760720" y="3054096"/>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12</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54" name="Shape 51"/>
          <p:cNvSpPr/>
          <p:nvPr/>
        </p:nvSpPr>
        <p:spPr>
          <a:xfrm>
            <a:off x="7040880" y="3054096"/>
            <a:ext cx="1234440" cy="530352"/>
          </a:xfrm>
          <a:prstGeom prst="rect">
            <a:avLst/>
          </a:prstGeom>
          <a:solidFill>
            <a:srgbClr val="FCE4D6"/>
          </a:solidFill>
          <a:ln w="6350">
            <a:solidFill>
              <a:srgbClr val="CCCCCC"/>
            </a:solidFill>
            <a:prstDash val="solid"/>
          </a:ln>
        </p:spPr>
      </p:sp>
      <p:sp>
        <p:nvSpPr>
          <p:cNvPr id="55" name="Text 52"/>
          <p:cNvSpPr/>
          <p:nvPr/>
        </p:nvSpPr>
        <p:spPr>
          <a:xfrm>
            <a:off x="7040880" y="3054096"/>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15</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56" name="Shape 53"/>
          <p:cNvSpPr/>
          <p:nvPr/>
        </p:nvSpPr>
        <p:spPr>
          <a:xfrm>
            <a:off x="594360" y="3621024"/>
            <a:ext cx="1234440" cy="530352"/>
          </a:xfrm>
          <a:prstGeom prst="rect">
            <a:avLst/>
          </a:prstGeom>
          <a:solidFill>
            <a:srgbClr val="009FE3"/>
          </a:solidFill>
          <a:ln/>
        </p:spPr>
      </p:sp>
      <p:sp>
        <p:nvSpPr>
          <p:cNvPr id="57" name="Text 54"/>
          <p:cNvSpPr/>
          <p:nvPr/>
        </p:nvSpPr>
        <p:spPr>
          <a:xfrm>
            <a:off x="594360" y="3621024"/>
            <a:ext cx="1234440" cy="530352"/>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 Unlikely</a:t>
            </a:r>
            <a:endParaRPr lang="en-US" sz="850" dirty="0"/>
          </a:p>
        </p:txBody>
      </p:sp>
      <p:sp>
        <p:nvSpPr>
          <p:cNvPr id="58" name="Shape 55"/>
          <p:cNvSpPr/>
          <p:nvPr/>
        </p:nvSpPr>
        <p:spPr>
          <a:xfrm>
            <a:off x="1920240" y="3621024"/>
            <a:ext cx="1234440" cy="530352"/>
          </a:xfrm>
          <a:prstGeom prst="rect">
            <a:avLst/>
          </a:prstGeom>
          <a:solidFill>
            <a:srgbClr val="E2EFDA"/>
          </a:solidFill>
          <a:ln w="6350">
            <a:solidFill>
              <a:srgbClr val="CCCCCC"/>
            </a:solidFill>
            <a:prstDash val="solid"/>
          </a:ln>
        </p:spPr>
      </p:sp>
      <p:sp>
        <p:nvSpPr>
          <p:cNvPr id="59" name="Text 56"/>
          <p:cNvSpPr/>
          <p:nvPr/>
        </p:nvSpPr>
        <p:spPr>
          <a:xfrm>
            <a:off x="1920240" y="3621024"/>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2</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60" name="Shape 57"/>
          <p:cNvSpPr/>
          <p:nvPr/>
        </p:nvSpPr>
        <p:spPr>
          <a:xfrm>
            <a:off x="3200400" y="3621024"/>
            <a:ext cx="1234440" cy="530352"/>
          </a:xfrm>
          <a:prstGeom prst="rect">
            <a:avLst/>
          </a:prstGeom>
          <a:solidFill>
            <a:srgbClr val="E2EFDA"/>
          </a:solidFill>
          <a:ln w="6350">
            <a:solidFill>
              <a:srgbClr val="CCCCCC"/>
            </a:solidFill>
            <a:prstDash val="solid"/>
          </a:ln>
        </p:spPr>
      </p:sp>
      <p:sp>
        <p:nvSpPr>
          <p:cNvPr id="61" name="Text 58"/>
          <p:cNvSpPr/>
          <p:nvPr/>
        </p:nvSpPr>
        <p:spPr>
          <a:xfrm>
            <a:off x="3200400" y="3621024"/>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4</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62" name="Shape 59"/>
          <p:cNvSpPr/>
          <p:nvPr/>
        </p:nvSpPr>
        <p:spPr>
          <a:xfrm>
            <a:off x="4480560" y="3621024"/>
            <a:ext cx="1234440" cy="530352"/>
          </a:xfrm>
          <a:prstGeom prst="rect">
            <a:avLst/>
          </a:prstGeom>
          <a:solidFill>
            <a:srgbClr val="FFF2CC"/>
          </a:solidFill>
          <a:ln w="6350">
            <a:solidFill>
              <a:srgbClr val="CCCCCC"/>
            </a:solidFill>
            <a:prstDash val="solid"/>
          </a:ln>
        </p:spPr>
      </p:sp>
      <p:sp>
        <p:nvSpPr>
          <p:cNvPr id="63" name="Text 60"/>
          <p:cNvSpPr/>
          <p:nvPr/>
        </p:nvSpPr>
        <p:spPr>
          <a:xfrm>
            <a:off x="4480560" y="3621024"/>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6</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64" name="Shape 61"/>
          <p:cNvSpPr/>
          <p:nvPr/>
        </p:nvSpPr>
        <p:spPr>
          <a:xfrm>
            <a:off x="5760720" y="3621024"/>
            <a:ext cx="1234440" cy="530352"/>
          </a:xfrm>
          <a:prstGeom prst="rect">
            <a:avLst/>
          </a:prstGeom>
          <a:solidFill>
            <a:srgbClr val="FFF2CC"/>
          </a:solidFill>
          <a:ln w="6350">
            <a:solidFill>
              <a:srgbClr val="CCCCCC"/>
            </a:solidFill>
            <a:prstDash val="solid"/>
          </a:ln>
        </p:spPr>
      </p:sp>
      <p:sp>
        <p:nvSpPr>
          <p:cNvPr id="65" name="Text 62"/>
          <p:cNvSpPr/>
          <p:nvPr/>
        </p:nvSpPr>
        <p:spPr>
          <a:xfrm>
            <a:off x="5760720" y="3621024"/>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8</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66" name="Shape 63"/>
          <p:cNvSpPr/>
          <p:nvPr/>
        </p:nvSpPr>
        <p:spPr>
          <a:xfrm>
            <a:off x="7040880" y="3621024"/>
            <a:ext cx="1234440" cy="530352"/>
          </a:xfrm>
          <a:prstGeom prst="rect">
            <a:avLst/>
          </a:prstGeom>
          <a:solidFill>
            <a:srgbClr val="FCE4D6"/>
          </a:solidFill>
          <a:ln w="6350">
            <a:solidFill>
              <a:srgbClr val="CCCCCC"/>
            </a:solidFill>
            <a:prstDash val="solid"/>
          </a:ln>
        </p:spPr>
      </p:sp>
      <p:sp>
        <p:nvSpPr>
          <p:cNvPr id="67" name="Text 64"/>
          <p:cNvSpPr/>
          <p:nvPr/>
        </p:nvSpPr>
        <p:spPr>
          <a:xfrm>
            <a:off x="7040880" y="3621024"/>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10</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HIGH</a:t>
            </a:r>
            <a:endParaRPr lang="en-US" sz="900" dirty="0"/>
          </a:p>
        </p:txBody>
      </p:sp>
      <p:sp>
        <p:nvSpPr>
          <p:cNvPr id="68" name="Shape 65"/>
          <p:cNvSpPr/>
          <p:nvPr/>
        </p:nvSpPr>
        <p:spPr>
          <a:xfrm>
            <a:off x="594360" y="4187952"/>
            <a:ext cx="1234440" cy="530352"/>
          </a:xfrm>
          <a:prstGeom prst="rect">
            <a:avLst/>
          </a:prstGeom>
          <a:solidFill>
            <a:srgbClr val="009FE3"/>
          </a:solidFill>
          <a:ln/>
        </p:spPr>
      </p:sp>
      <p:sp>
        <p:nvSpPr>
          <p:cNvPr id="69" name="Text 66"/>
          <p:cNvSpPr/>
          <p:nvPr/>
        </p:nvSpPr>
        <p:spPr>
          <a:xfrm>
            <a:off x="594360" y="4187952"/>
            <a:ext cx="1234440" cy="530352"/>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 Rare</a:t>
            </a:r>
            <a:endParaRPr lang="en-US" sz="850" dirty="0"/>
          </a:p>
        </p:txBody>
      </p:sp>
      <p:sp>
        <p:nvSpPr>
          <p:cNvPr id="70" name="Shape 67"/>
          <p:cNvSpPr/>
          <p:nvPr/>
        </p:nvSpPr>
        <p:spPr>
          <a:xfrm>
            <a:off x="1920240" y="4187952"/>
            <a:ext cx="1234440" cy="530352"/>
          </a:xfrm>
          <a:prstGeom prst="rect">
            <a:avLst/>
          </a:prstGeom>
          <a:solidFill>
            <a:srgbClr val="E2EFDA"/>
          </a:solidFill>
          <a:ln w="6350">
            <a:solidFill>
              <a:srgbClr val="CCCCCC"/>
            </a:solidFill>
            <a:prstDash val="solid"/>
          </a:ln>
        </p:spPr>
      </p:sp>
      <p:sp>
        <p:nvSpPr>
          <p:cNvPr id="71" name="Text 68"/>
          <p:cNvSpPr/>
          <p:nvPr/>
        </p:nvSpPr>
        <p:spPr>
          <a:xfrm>
            <a:off x="1920240" y="4187952"/>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1</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72" name="Shape 69"/>
          <p:cNvSpPr/>
          <p:nvPr/>
        </p:nvSpPr>
        <p:spPr>
          <a:xfrm>
            <a:off x="3200400" y="4187952"/>
            <a:ext cx="1234440" cy="530352"/>
          </a:xfrm>
          <a:prstGeom prst="rect">
            <a:avLst/>
          </a:prstGeom>
          <a:solidFill>
            <a:srgbClr val="E2EFDA"/>
          </a:solidFill>
          <a:ln w="6350">
            <a:solidFill>
              <a:srgbClr val="CCCCCC"/>
            </a:solidFill>
            <a:prstDash val="solid"/>
          </a:ln>
        </p:spPr>
      </p:sp>
      <p:sp>
        <p:nvSpPr>
          <p:cNvPr id="73" name="Text 70"/>
          <p:cNvSpPr/>
          <p:nvPr/>
        </p:nvSpPr>
        <p:spPr>
          <a:xfrm>
            <a:off x="3200400" y="4187952"/>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2</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74" name="Shape 71"/>
          <p:cNvSpPr/>
          <p:nvPr/>
        </p:nvSpPr>
        <p:spPr>
          <a:xfrm>
            <a:off x="4480560" y="4187952"/>
            <a:ext cx="1234440" cy="530352"/>
          </a:xfrm>
          <a:prstGeom prst="rect">
            <a:avLst/>
          </a:prstGeom>
          <a:solidFill>
            <a:srgbClr val="E2EFDA"/>
          </a:solidFill>
          <a:ln w="6350">
            <a:solidFill>
              <a:srgbClr val="CCCCCC"/>
            </a:solidFill>
            <a:prstDash val="solid"/>
          </a:ln>
        </p:spPr>
      </p:sp>
      <p:sp>
        <p:nvSpPr>
          <p:cNvPr id="75" name="Text 72"/>
          <p:cNvSpPr/>
          <p:nvPr/>
        </p:nvSpPr>
        <p:spPr>
          <a:xfrm>
            <a:off x="4480560" y="4187952"/>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3</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76" name="Shape 73"/>
          <p:cNvSpPr/>
          <p:nvPr/>
        </p:nvSpPr>
        <p:spPr>
          <a:xfrm>
            <a:off x="5760720" y="4187952"/>
            <a:ext cx="1234440" cy="530352"/>
          </a:xfrm>
          <a:prstGeom prst="rect">
            <a:avLst/>
          </a:prstGeom>
          <a:solidFill>
            <a:srgbClr val="E2EFDA"/>
          </a:solidFill>
          <a:ln w="6350">
            <a:solidFill>
              <a:srgbClr val="CCCCCC"/>
            </a:solidFill>
            <a:prstDash val="solid"/>
          </a:ln>
        </p:spPr>
      </p:sp>
      <p:sp>
        <p:nvSpPr>
          <p:cNvPr id="77" name="Text 74"/>
          <p:cNvSpPr/>
          <p:nvPr/>
        </p:nvSpPr>
        <p:spPr>
          <a:xfrm>
            <a:off x="5760720" y="4187952"/>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4</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LOW</a:t>
            </a:r>
            <a:endParaRPr lang="en-US" sz="900" dirty="0"/>
          </a:p>
        </p:txBody>
      </p:sp>
      <p:sp>
        <p:nvSpPr>
          <p:cNvPr id="78" name="Shape 75"/>
          <p:cNvSpPr/>
          <p:nvPr/>
        </p:nvSpPr>
        <p:spPr>
          <a:xfrm>
            <a:off x="7040880" y="4187952"/>
            <a:ext cx="1234440" cy="530352"/>
          </a:xfrm>
          <a:prstGeom prst="rect">
            <a:avLst/>
          </a:prstGeom>
          <a:solidFill>
            <a:srgbClr val="FFF2CC"/>
          </a:solidFill>
          <a:ln w="6350">
            <a:solidFill>
              <a:srgbClr val="CCCCCC"/>
            </a:solidFill>
            <a:prstDash val="solid"/>
          </a:ln>
        </p:spPr>
      </p:sp>
      <p:sp>
        <p:nvSpPr>
          <p:cNvPr id="79" name="Text 76"/>
          <p:cNvSpPr/>
          <p:nvPr/>
        </p:nvSpPr>
        <p:spPr>
          <a:xfrm>
            <a:off x="7040880" y="4187952"/>
            <a:ext cx="1234440" cy="53035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5</a:t>
            </a:r>
            <a:endParaRPr lang="en-US" sz="900" dirty="0"/>
          </a:p>
          <a:p>
            <a:pPr algn="ctr" indent="0" marL="0">
              <a:buNone/>
            </a:pPr>
            <a:r>
              <a:rPr lang="en-US" sz="900" b="1" dirty="0">
                <a:solidFill>
                  <a:srgbClr val="5B595A"/>
                </a:solidFill>
                <a:latin typeface="Arial" pitchFamily="34" charset="0"/>
                <a:ea typeface="Arial" pitchFamily="34" charset="-122"/>
                <a:cs typeface="Arial" pitchFamily="34" charset="-120"/>
              </a:rPr>
              <a:t>MEDIUM</a:t>
            </a:r>
            <a:endParaRPr lang="en-US" sz="900" dirty="0"/>
          </a:p>
        </p:txBody>
      </p:sp>
      <p:sp>
        <p:nvSpPr>
          <p:cNvPr id="80" name="Shape 77"/>
          <p:cNvSpPr/>
          <p:nvPr/>
        </p:nvSpPr>
        <p:spPr>
          <a:xfrm>
            <a:off x="6400800" y="1444752"/>
            <a:ext cx="2468880" cy="457200"/>
          </a:xfrm>
          <a:prstGeom prst="rect">
            <a:avLst/>
          </a:prstGeom>
          <a:solidFill>
            <a:srgbClr val="E2EFDA"/>
          </a:solidFill>
          <a:ln w="6350">
            <a:solidFill>
              <a:srgbClr val="CCCCCC"/>
            </a:solidFill>
            <a:prstDash val="solid"/>
          </a:ln>
        </p:spPr>
      </p:sp>
      <p:sp>
        <p:nvSpPr>
          <p:cNvPr id="81" name="Text 78"/>
          <p:cNvSpPr/>
          <p:nvPr/>
        </p:nvSpPr>
        <p:spPr>
          <a:xfrm>
            <a:off x="6446520" y="1481328"/>
            <a:ext cx="237744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LOW (1-4): Acceptable. Monitor.</a:t>
            </a:r>
            <a:endParaRPr lang="en-US" sz="900" dirty="0"/>
          </a:p>
        </p:txBody>
      </p:sp>
      <p:sp>
        <p:nvSpPr>
          <p:cNvPr id="82" name="Shape 79"/>
          <p:cNvSpPr/>
          <p:nvPr/>
        </p:nvSpPr>
        <p:spPr>
          <a:xfrm>
            <a:off x="6400800" y="1920240"/>
            <a:ext cx="2468880" cy="457200"/>
          </a:xfrm>
          <a:prstGeom prst="rect">
            <a:avLst/>
          </a:prstGeom>
          <a:solidFill>
            <a:srgbClr val="FFF2CC"/>
          </a:solidFill>
          <a:ln w="6350">
            <a:solidFill>
              <a:srgbClr val="CCCCCC"/>
            </a:solidFill>
            <a:prstDash val="solid"/>
          </a:ln>
        </p:spPr>
      </p:sp>
      <p:sp>
        <p:nvSpPr>
          <p:cNvPr id="83" name="Text 80"/>
          <p:cNvSpPr/>
          <p:nvPr/>
        </p:nvSpPr>
        <p:spPr>
          <a:xfrm>
            <a:off x="6446520" y="1956816"/>
            <a:ext cx="237744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MEDIUM (5-9): Additional controls needed.</a:t>
            </a:r>
            <a:endParaRPr lang="en-US" sz="900" dirty="0"/>
          </a:p>
        </p:txBody>
      </p:sp>
      <p:sp>
        <p:nvSpPr>
          <p:cNvPr id="84" name="Shape 81"/>
          <p:cNvSpPr/>
          <p:nvPr/>
        </p:nvSpPr>
        <p:spPr>
          <a:xfrm>
            <a:off x="6400800" y="2395728"/>
            <a:ext cx="2468880" cy="457200"/>
          </a:xfrm>
          <a:prstGeom prst="rect">
            <a:avLst/>
          </a:prstGeom>
          <a:solidFill>
            <a:srgbClr val="FCE4D6"/>
          </a:solidFill>
          <a:ln w="6350">
            <a:solidFill>
              <a:srgbClr val="CCCCCC"/>
            </a:solidFill>
            <a:prstDash val="solid"/>
          </a:ln>
        </p:spPr>
      </p:sp>
      <p:sp>
        <p:nvSpPr>
          <p:cNvPr id="85" name="Text 82"/>
          <p:cNvSpPr/>
          <p:nvPr/>
        </p:nvSpPr>
        <p:spPr>
          <a:xfrm>
            <a:off x="6446520" y="2432304"/>
            <a:ext cx="237744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HIGH (10+): Must reduce before work starts.</a:t>
            </a:r>
            <a:endParaRPr lang="en-US" sz="900" dirty="0"/>
          </a:p>
        </p:txBody>
      </p:sp>
      <p:sp>
        <p:nvSpPr>
          <p:cNvPr id="86" name="Rectangle 8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mage.png"/>
          <p:cNvPicPr>
            <a:picLocks noChangeAspect="1"/>
          </p:cNvPicPr>
          <p:nvPr/>
        </p:nvPicPr>
        <p:blipFill>
          <a:blip r:embed="rId5"/>
          <a:stretch>
            <a:fillRect/>
          </a:stretch>
        </p:blipFill>
        <p:spPr>
          <a:xfrm>
            <a:off x="7562088" y="100584"/>
            <a:ext cx="566928" cy="347472"/>
          </a:xfrm>
          <a:prstGeom prst="rect">
            <a:avLst/>
          </a:prstGeom>
        </p:spPr>
      </p:pic>
      <p:pic>
        <p:nvPicPr>
          <p:cNvPr id="88" name="Picture 87" descr="image.png"/>
          <p:cNvPicPr>
            <a:picLocks noChangeAspect="1"/>
          </p:cNvPicPr>
          <p:nvPr/>
        </p:nvPicPr>
        <p:blipFill>
          <a:blip r:embed="rId4"/>
          <a:stretch>
            <a:fillRect/>
          </a:stretch>
        </p:blipFill>
        <p:spPr>
          <a:xfrm>
            <a:off x="8174736" y="100584"/>
            <a:ext cx="658368" cy="347472"/>
          </a:xfrm>
          <a:prstGeom prst="rect">
            <a:avLst/>
          </a:prstGeom>
        </p:spPr>
      </p:pic>
      <p:sp>
        <p:nvSpPr>
          <p:cNvPr id="89" name="Rectangle 8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COSHH: Control of Substances Hazardous to Health</a:t>
            </a:r>
            <a:endParaRPr lang="en-US" sz="2000" dirty="0"/>
          </a:p>
        </p:txBody>
      </p:sp>
      <p:sp>
        <p:nvSpPr>
          <p:cNvPr id="7" name="Text 4"/>
          <p:cNvSpPr/>
          <p:nvPr/>
        </p:nvSpPr>
        <p:spPr>
          <a:xfrm>
            <a:off x="365760" y="749808"/>
            <a:ext cx="8412480" cy="45720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Before using any hazardous substance at work, a COSHH assessment must be completed. This is a legal requirement under the COSHH Regulations 2002.</a:t>
            </a:r>
            <a:endParaRPr lang="en-US" sz="1100" dirty="0"/>
          </a:p>
        </p:txBody>
      </p:sp>
      <p:sp>
        <p:nvSpPr>
          <p:cNvPr id="8" name="Text 5"/>
          <p:cNvSpPr/>
          <p:nvPr/>
        </p:nvSpPr>
        <p:spPr>
          <a:xfrm>
            <a:off x="365760" y="1261872"/>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What is a hazardous substance?</a:t>
            </a:r>
            <a:endParaRPr lang="en-US" sz="1400" dirty="0"/>
          </a:p>
        </p:txBody>
      </p:sp>
      <p:sp>
        <p:nvSpPr>
          <p:cNvPr id="9" name="Text 6"/>
          <p:cNvSpPr/>
          <p:nvPr/>
        </p:nvSpPr>
        <p:spPr>
          <a:xfrm>
            <a:off x="365760" y="1581912"/>
            <a:ext cx="4114800" cy="128016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Chemicals, dusts, fumes, vapours, mists, gases, biological agents</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Examples: cutting fluids, welding fume, spray paints, solvents, adhesives, cleaning products</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Welding fume was reclassified as a Group 1 carcinogen (IARC) in 2019: LEV is now mandatory for all welding</a:t>
            </a:r>
            <a:endParaRPr lang="en-US" sz="1100" dirty="0"/>
          </a:p>
        </p:txBody>
      </p:sp>
      <p:sp>
        <p:nvSpPr>
          <p:cNvPr id="10" name="Text 7"/>
          <p:cNvSpPr/>
          <p:nvPr/>
        </p:nvSpPr>
        <p:spPr>
          <a:xfrm>
            <a:off x="4572000" y="1261872"/>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The COSHH hierarchy of control:</a:t>
            </a:r>
            <a:endParaRPr lang="en-US" sz="1400" dirty="0"/>
          </a:p>
        </p:txBody>
      </p:sp>
      <p:sp>
        <p:nvSpPr>
          <p:cNvPr id="11" name="Shape 8"/>
          <p:cNvSpPr/>
          <p:nvPr/>
        </p:nvSpPr>
        <p:spPr>
          <a:xfrm>
            <a:off x="4572000" y="1581912"/>
            <a:ext cx="457200" cy="502920"/>
          </a:xfrm>
          <a:prstGeom prst="rect">
            <a:avLst/>
          </a:prstGeom>
          <a:solidFill>
            <a:srgbClr val="70AD47"/>
          </a:solidFill>
          <a:ln/>
        </p:spPr>
      </p:sp>
      <p:sp>
        <p:nvSpPr>
          <p:cNvPr id="12" name="Text 9"/>
          <p:cNvSpPr/>
          <p:nvPr/>
        </p:nvSpPr>
        <p:spPr>
          <a:xfrm>
            <a:off x="4572000" y="1581912"/>
            <a:ext cx="45720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3" name="Text 10"/>
          <p:cNvSpPr/>
          <p:nvPr/>
        </p:nvSpPr>
        <p:spPr>
          <a:xfrm>
            <a:off x="5120640" y="1627632"/>
            <a:ext cx="3657600" cy="411480"/>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ELIMINATE: Remove the substance or process completely</a:t>
            </a:r>
            <a:endParaRPr lang="en-US" sz="950" dirty="0"/>
          </a:p>
        </p:txBody>
      </p:sp>
      <p:sp>
        <p:nvSpPr>
          <p:cNvPr id="14" name="Shape 11"/>
          <p:cNvSpPr/>
          <p:nvPr/>
        </p:nvSpPr>
        <p:spPr>
          <a:xfrm>
            <a:off x="4572000" y="2157984"/>
            <a:ext cx="457200" cy="502920"/>
          </a:xfrm>
          <a:prstGeom prst="rect">
            <a:avLst/>
          </a:prstGeom>
          <a:solidFill>
            <a:srgbClr val="FFC000"/>
          </a:solidFill>
          <a:ln/>
        </p:spPr>
      </p:sp>
      <p:sp>
        <p:nvSpPr>
          <p:cNvPr id="15" name="Text 12"/>
          <p:cNvSpPr/>
          <p:nvPr/>
        </p:nvSpPr>
        <p:spPr>
          <a:xfrm>
            <a:off x="4572000" y="2157984"/>
            <a:ext cx="45720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120640" y="2203704"/>
            <a:ext cx="3657600" cy="411480"/>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SUBSTITUTE: Replace with a less hazardous substance</a:t>
            </a:r>
            <a:endParaRPr lang="en-US" sz="950" dirty="0"/>
          </a:p>
        </p:txBody>
      </p:sp>
      <p:sp>
        <p:nvSpPr>
          <p:cNvPr id="17" name="Shape 14"/>
          <p:cNvSpPr/>
          <p:nvPr/>
        </p:nvSpPr>
        <p:spPr>
          <a:xfrm>
            <a:off x="4572000" y="2734056"/>
            <a:ext cx="457200" cy="502920"/>
          </a:xfrm>
          <a:prstGeom prst="rect">
            <a:avLst/>
          </a:prstGeom>
          <a:solidFill>
            <a:srgbClr val="009FE3"/>
          </a:solidFill>
          <a:ln/>
        </p:spPr>
      </p:sp>
      <p:sp>
        <p:nvSpPr>
          <p:cNvPr id="18" name="Text 15"/>
          <p:cNvSpPr/>
          <p:nvPr/>
        </p:nvSpPr>
        <p:spPr>
          <a:xfrm>
            <a:off x="4572000" y="2734056"/>
            <a:ext cx="45720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6"/>
          <p:cNvSpPr/>
          <p:nvPr/>
        </p:nvSpPr>
        <p:spPr>
          <a:xfrm>
            <a:off x="5120640" y="2779776"/>
            <a:ext cx="3657600" cy="411480"/>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ENGINEERING CONTROLS: Local exhaust ventilation (LEV); enclosure; isolation</a:t>
            </a:r>
            <a:endParaRPr lang="en-US" sz="950" dirty="0"/>
          </a:p>
        </p:txBody>
      </p:sp>
      <p:sp>
        <p:nvSpPr>
          <p:cNvPr id="20" name="Shape 17"/>
          <p:cNvSpPr/>
          <p:nvPr/>
        </p:nvSpPr>
        <p:spPr>
          <a:xfrm>
            <a:off x="4572000" y="3310128"/>
            <a:ext cx="457200" cy="502920"/>
          </a:xfrm>
          <a:prstGeom prst="rect">
            <a:avLst/>
          </a:prstGeom>
          <a:solidFill>
            <a:srgbClr val="83348F"/>
          </a:solidFill>
          <a:ln/>
        </p:spPr>
      </p:sp>
      <p:sp>
        <p:nvSpPr>
          <p:cNvPr id="21" name="Text 18"/>
          <p:cNvSpPr/>
          <p:nvPr/>
        </p:nvSpPr>
        <p:spPr>
          <a:xfrm>
            <a:off x="4572000" y="3310128"/>
            <a:ext cx="45720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19"/>
          <p:cNvSpPr/>
          <p:nvPr/>
        </p:nvSpPr>
        <p:spPr>
          <a:xfrm>
            <a:off x="5120640" y="3355848"/>
            <a:ext cx="3657600" cy="411480"/>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ADMINISTRATIVE: Reduce exposure time; training; procedures</a:t>
            </a:r>
            <a:endParaRPr lang="en-US" sz="950" dirty="0"/>
          </a:p>
        </p:txBody>
      </p:sp>
      <p:sp>
        <p:nvSpPr>
          <p:cNvPr id="23" name="Shape 20"/>
          <p:cNvSpPr/>
          <p:nvPr/>
        </p:nvSpPr>
        <p:spPr>
          <a:xfrm>
            <a:off x="4572000" y="3886200"/>
            <a:ext cx="457200" cy="502920"/>
          </a:xfrm>
          <a:prstGeom prst="rect">
            <a:avLst/>
          </a:prstGeom>
          <a:solidFill>
            <a:srgbClr val="FF6600"/>
          </a:solidFill>
          <a:ln/>
        </p:spPr>
      </p:sp>
      <p:sp>
        <p:nvSpPr>
          <p:cNvPr id="24" name="Text 21"/>
          <p:cNvSpPr/>
          <p:nvPr/>
        </p:nvSpPr>
        <p:spPr>
          <a:xfrm>
            <a:off x="4572000" y="3886200"/>
            <a:ext cx="45720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5" name="Text 22"/>
          <p:cNvSpPr/>
          <p:nvPr/>
        </p:nvSpPr>
        <p:spPr>
          <a:xfrm>
            <a:off x="5120640" y="3931920"/>
            <a:ext cx="3657600" cy="411480"/>
          </a:xfrm>
          <a:prstGeom prst="rect">
            <a:avLst/>
          </a:prstGeom>
          <a:noFill/>
          <a:ln/>
        </p:spPr>
        <p:txBody>
          <a:bodyPr wrap="square" rtlCol="0" anchor="ctr"/>
          <a:lstStyle/>
          <a:p>
            <a:pPr indent="0" marL="0">
              <a:buNone/>
            </a:pPr>
            <a:r>
              <a:rPr lang="en-US" sz="950" dirty="0">
                <a:solidFill>
                  <a:srgbClr val="5B595A"/>
                </a:solidFill>
                <a:latin typeface="Arial" pitchFamily="34" charset="0"/>
                <a:ea typeface="Arial" pitchFamily="34" charset="-122"/>
                <a:cs typeface="Arial" pitchFamily="34" charset="-120"/>
              </a:rPr>
              <a:t>PPE: Last resort: gloves, RPE, eye protection</a:t>
            </a:r>
            <a:endParaRPr lang="en-US" sz="950" dirty="0"/>
          </a:p>
        </p:txBody>
      </p:sp>
      <p:sp>
        <p:nvSpPr>
          <p:cNvPr id="26" name="Shape 23"/>
          <p:cNvSpPr/>
          <p:nvPr/>
        </p:nvSpPr>
        <p:spPr>
          <a:xfrm>
            <a:off x="365760" y="2971800"/>
            <a:ext cx="8412480" cy="594360"/>
          </a:xfrm>
          <a:prstGeom prst="rect">
            <a:avLst/>
          </a:prstGeom>
          <a:solidFill>
            <a:srgbClr val="E6F4FB"/>
          </a:solidFill>
          <a:ln w="19050">
            <a:solidFill>
              <a:srgbClr val="009FE3"/>
            </a:solidFill>
            <a:prstDash val="solid"/>
          </a:ln>
        </p:spPr>
      </p:sp>
      <p:sp>
        <p:nvSpPr>
          <p:cNvPr id="27" name="Text 24"/>
          <p:cNvSpPr/>
          <p:nvPr/>
        </p:nvSpPr>
        <p:spPr>
          <a:xfrm>
            <a:off x="475488" y="3044952"/>
            <a:ext cx="8193024" cy="448056"/>
          </a:xfrm>
          <a:prstGeom prst="rect">
            <a:avLst/>
          </a:prstGeom>
          <a:noFill/>
          <a:ln/>
        </p:spPr>
        <p:txBody>
          <a:bodyPr wrap="square" rtlCol="0" anchor="t"/>
          <a:lstStyle/>
          <a:p>
            <a:pPr indent="0" marL="0">
              <a:buNone/>
            </a:pPr>
            <a:r>
              <a:rPr lang="en-US" sz="1000" i="1" dirty="0">
                <a:solidFill>
                  <a:srgbClr val="5B595A"/>
                </a:solidFill>
                <a:latin typeface="Arial" pitchFamily="34" charset="0"/>
                <a:ea typeface="Arial" pitchFamily="34" charset="-122"/>
                <a:cs typeface="Arial" pitchFamily="34" charset="-120"/>
              </a:rPr>
              <a:t>Every substance must have its MSDS (Material Safety Data Sheet) accessible at the point of use. Never use a substance without a COSHH assessment. MSDS sheets must be kept up to date.</a:t>
            </a:r>
            <a:endParaRPr lang="en-US" sz="1000" dirty="0"/>
          </a:p>
        </p:txBody>
      </p:sp>
      <p:sp>
        <p:nvSpPr>
          <p:cNvPr id="28" name="Rectangle 2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7562088"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8174736" y="100584"/>
            <a:ext cx="658368" cy="347472"/>
          </a:xfrm>
          <a:prstGeom prst="rect">
            <a:avLst/>
          </a:prstGeom>
        </p:spPr>
      </p:pic>
      <p:sp>
        <p:nvSpPr>
          <p:cNvPr id="31" name="Rectangle 3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Safe Systems of Work (SSOW)</a:t>
            </a:r>
            <a:endParaRPr lang="en-US" sz="2000" dirty="0"/>
          </a:p>
        </p:txBody>
      </p:sp>
      <p:sp>
        <p:nvSpPr>
          <p:cNvPr id="7" name="Text 4"/>
          <p:cNvSpPr/>
          <p:nvPr/>
        </p:nvSpPr>
        <p:spPr>
          <a:xfrm>
            <a:off x="365760" y="749808"/>
            <a:ext cx="8412480" cy="50292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A Safe System of Work is a formal procedure that defines exactly how a high-risk task must be carried out. It goes beyond a risk assessment by specifying the precise step-by-step method.</a:t>
            </a:r>
            <a:endParaRPr lang="en-US" sz="1100" dirty="0"/>
          </a:p>
        </p:txBody>
      </p:sp>
      <p:sp>
        <p:nvSpPr>
          <p:cNvPr id="8" name="Text 5"/>
          <p:cNvSpPr/>
          <p:nvPr/>
        </p:nvSpPr>
        <p:spPr>
          <a:xfrm>
            <a:off x="365760" y="1298448"/>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An SSOW must always include:</a:t>
            </a:r>
            <a:endParaRPr lang="en-US" sz="1400" dirty="0"/>
          </a:p>
        </p:txBody>
      </p:sp>
      <p:sp>
        <p:nvSpPr>
          <p:cNvPr id="9" name="Text 6"/>
          <p:cNvSpPr/>
          <p:nvPr/>
        </p:nvSpPr>
        <p:spPr>
          <a:xfrm>
            <a:off x="365760" y="1618488"/>
            <a:ext cx="4114800" cy="155448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The precise step-by-step sequence of work</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Who does what, in what order</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Safety checks required at each step</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Mandatory PPE at each step</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What to do if something goes wrong</a:t>
            </a:r>
            <a:endParaRPr lang="en-US" sz="1100" dirty="0"/>
          </a:p>
        </p:txBody>
      </p:sp>
      <p:sp>
        <p:nvSpPr>
          <p:cNvPr id="10" name="Text 7"/>
          <p:cNvSpPr/>
          <p:nvPr/>
        </p:nvSpPr>
        <p:spPr>
          <a:xfrm>
            <a:off x="4663440" y="1618488"/>
            <a:ext cx="4114800" cy="155448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All hazards addressed and controls applied</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Required plant, equipment, and tools</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Competencies required for each role</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Emergency arrangements</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 signed operative briefing record</a:t>
            </a:r>
            <a:endParaRPr lang="en-US" sz="1100" dirty="0"/>
          </a:p>
        </p:txBody>
      </p:sp>
      <p:sp>
        <p:nvSpPr>
          <p:cNvPr id="11" name="Shape 8"/>
          <p:cNvSpPr/>
          <p:nvPr/>
        </p:nvSpPr>
        <p:spPr>
          <a:xfrm>
            <a:off x="274320" y="3246120"/>
            <a:ext cx="4160520" cy="1417320"/>
          </a:xfrm>
          <a:prstGeom prst="rect">
            <a:avLst/>
          </a:prstGeom>
          <a:solidFill>
            <a:srgbClr val="FCE4D6"/>
          </a:solidFill>
          <a:ln w="19050">
            <a:solidFill>
              <a:srgbClr val="CC0000"/>
            </a:solidFill>
            <a:prstDash val="solid"/>
          </a:ln>
        </p:spPr>
      </p:sp>
      <p:sp>
        <p:nvSpPr>
          <p:cNvPr id="12" name="Text 9"/>
          <p:cNvSpPr/>
          <p:nvPr/>
        </p:nvSpPr>
        <p:spPr>
          <a:xfrm>
            <a:off x="365760" y="3291840"/>
            <a:ext cx="3977640" cy="320040"/>
          </a:xfrm>
          <a:prstGeom prst="rect">
            <a:avLst/>
          </a:prstGeom>
          <a:noFill/>
          <a:ln/>
        </p:spPr>
        <p:txBody>
          <a:bodyPr wrap="square" rtlCol="0" anchor="ctr"/>
          <a:lstStyle/>
          <a:p>
            <a:pPr indent="0" marL="0">
              <a:buNone/>
            </a:pPr>
            <a:r>
              <a:rPr lang="en-US" sz="1000" b="1" dirty="0">
                <a:solidFill>
                  <a:srgbClr val="CC0000"/>
                </a:solidFill>
                <a:latin typeface="Arial" pitchFamily="34" charset="0"/>
                <a:ea typeface="Arial" pitchFamily="34" charset="-122"/>
                <a:cs typeface="Arial" pitchFamily="34" charset="-120"/>
              </a:rPr>
              <a:t>WHEN IS AN SSOW MANDATORY?</a:t>
            </a:r>
            <a:endParaRPr lang="en-US" sz="1000" dirty="0"/>
          </a:p>
        </p:txBody>
      </p:sp>
      <p:sp>
        <p:nvSpPr>
          <p:cNvPr id="13" name="Text 10"/>
          <p:cNvSpPr/>
          <p:nvPr/>
        </p:nvSpPr>
        <p:spPr>
          <a:xfrm>
            <a:off x="365760" y="3657600"/>
            <a:ext cx="3977640" cy="960120"/>
          </a:xfrm>
          <a:prstGeom prst="rect">
            <a:avLst/>
          </a:prstGeom>
          <a:noFill/>
          <a:ln/>
        </p:spPr>
        <p:txBody>
          <a:bodyPr wrap="square" rtlCol="0" anchor="t"/>
          <a:lstStyle/>
          <a:p>
            <a:pPr marL="342900" indent="-342900">
              <a:buSzPct val="100000"/>
              <a:buChar char="•"/>
            </a:pPr>
            <a:r>
              <a:rPr lang="en-US" sz="950" dirty="0">
                <a:solidFill>
                  <a:srgbClr val="5B595A"/>
                </a:solidFill>
                <a:latin typeface="Arial" pitchFamily="34" charset="0"/>
                <a:ea typeface="Arial" pitchFamily="34" charset="-122"/>
                <a:cs typeface="Arial" pitchFamily="34" charset="-120"/>
              </a:rPr>
              <a:t>High-risk activities (HIGH risk rating)</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Working at height above 2 metres</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All hot work (welding, cutting, grinding)</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Electrical work on or near live systems</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Confined space entry</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Lifting operations with potential for harm</a:t>
            </a:r>
            <a:endParaRPr lang="en-US" sz="950" dirty="0"/>
          </a:p>
        </p:txBody>
      </p:sp>
      <p:sp>
        <p:nvSpPr>
          <p:cNvPr id="14" name="Shape 11"/>
          <p:cNvSpPr/>
          <p:nvPr/>
        </p:nvSpPr>
        <p:spPr>
          <a:xfrm>
            <a:off x="4663440" y="3246120"/>
            <a:ext cx="4160520" cy="1417320"/>
          </a:xfrm>
          <a:prstGeom prst="rect">
            <a:avLst/>
          </a:prstGeom>
          <a:solidFill>
            <a:srgbClr val="E2EFDA"/>
          </a:solidFill>
          <a:ln w="19050">
            <a:solidFill>
              <a:srgbClr val="70AD47"/>
            </a:solidFill>
            <a:prstDash val="solid"/>
          </a:ln>
        </p:spPr>
      </p:sp>
      <p:sp>
        <p:nvSpPr>
          <p:cNvPr id="15" name="Text 12"/>
          <p:cNvSpPr/>
          <p:nvPr/>
        </p:nvSpPr>
        <p:spPr>
          <a:xfrm>
            <a:off x="4754880" y="3291840"/>
            <a:ext cx="3977640" cy="320040"/>
          </a:xfrm>
          <a:prstGeom prst="rect">
            <a:avLst/>
          </a:prstGeom>
          <a:noFill/>
          <a:ln/>
        </p:spPr>
        <p:txBody>
          <a:bodyPr wrap="square" rtlCol="0" anchor="ctr"/>
          <a:lstStyle/>
          <a:p>
            <a:pPr indent="0" marL="0">
              <a:buNone/>
            </a:pPr>
            <a:r>
              <a:rPr lang="en-US" sz="1000" b="1" dirty="0">
                <a:solidFill>
                  <a:srgbClr val="2E7D32"/>
                </a:solidFill>
                <a:latin typeface="Arial" pitchFamily="34" charset="0"/>
                <a:ea typeface="Arial" pitchFamily="34" charset="-122"/>
                <a:cs typeface="Arial" pitchFamily="34" charset="-120"/>
              </a:rPr>
              <a:t>SSOW MUST BE:</a:t>
            </a:r>
            <a:endParaRPr lang="en-US" sz="1000" dirty="0"/>
          </a:p>
        </p:txBody>
      </p:sp>
      <p:sp>
        <p:nvSpPr>
          <p:cNvPr id="16" name="Text 13"/>
          <p:cNvSpPr/>
          <p:nvPr/>
        </p:nvSpPr>
        <p:spPr>
          <a:xfrm>
            <a:off x="4754880" y="3657600"/>
            <a:ext cx="3977640" cy="960120"/>
          </a:xfrm>
          <a:prstGeom prst="rect">
            <a:avLst/>
          </a:prstGeom>
          <a:noFill/>
          <a:ln/>
        </p:spPr>
        <p:txBody>
          <a:bodyPr wrap="square" rtlCol="0" anchor="t"/>
          <a:lstStyle/>
          <a:p>
            <a:pPr marL="342900" indent="-342900">
              <a:buSzPct val="100000"/>
              <a:buChar char="•"/>
            </a:pPr>
            <a:r>
              <a:rPr lang="en-US" sz="950" dirty="0">
                <a:solidFill>
                  <a:srgbClr val="5B595A"/>
                </a:solidFill>
                <a:latin typeface="Arial" pitchFamily="34" charset="0"/>
                <a:ea typeface="Arial" pitchFamily="34" charset="-122"/>
                <a:cs typeface="Arial" pitchFamily="34" charset="-120"/>
              </a:rPr>
              <a:t>Written by a competent person</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Briefed to ALL operatives before starting</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Followed without deviation</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Reviewed after any incident or near miss</a:t>
            </a:r>
            <a:endParaRPr lang="en-US" sz="950" dirty="0"/>
          </a:p>
          <a:p>
            <a:pPr marL="342900" indent="-342900">
              <a:buSzPct val="100000"/>
              <a:buChar char="•"/>
            </a:pPr>
            <a:r>
              <a:rPr lang="en-US" sz="950" dirty="0">
                <a:solidFill>
                  <a:srgbClr val="5B595A"/>
                </a:solidFill>
                <a:latin typeface="Arial" pitchFamily="34" charset="0"/>
                <a:ea typeface="Arial" pitchFamily="34" charset="-122"/>
                <a:cs typeface="Arial" pitchFamily="34" charset="-120"/>
              </a:rPr>
              <a:t>Retained as a record after completion</a:t>
            </a:r>
            <a:endParaRPr lang="en-US" sz="950" dirty="0"/>
          </a:p>
        </p:txBody>
      </p:sp>
      <p:sp>
        <p:nvSpPr>
          <p:cNvPr id="17" name="Rectangle 1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stretch>
            <a:fillRect/>
          </a:stretch>
        </p:blipFill>
        <p:spPr>
          <a:xfrm>
            <a:off x="7562088" y="100584"/>
            <a:ext cx="566928" cy="347472"/>
          </a:xfrm>
          <a:prstGeom prst="rect">
            <a:avLst/>
          </a:prstGeom>
        </p:spPr>
      </p:pic>
      <p:pic>
        <p:nvPicPr>
          <p:cNvPr id="19" name="Picture 18" descr="image.png"/>
          <p:cNvPicPr>
            <a:picLocks noChangeAspect="1"/>
          </p:cNvPicPr>
          <p:nvPr/>
        </p:nvPicPr>
        <p:blipFill>
          <a:blip r:embed="rId4"/>
          <a:stretch>
            <a:fillRect/>
          </a:stretch>
        </p:blipFill>
        <p:spPr>
          <a:xfrm>
            <a:off x="8174736" y="100584"/>
            <a:ext cx="658368" cy="347472"/>
          </a:xfrm>
          <a:prstGeom prst="rect">
            <a:avLst/>
          </a:prstGeom>
        </p:spPr>
      </p:pic>
      <p:sp>
        <p:nvSpPr>
          <p:cNvPr id="20" name="Rectangle 1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Lockout / Tagout (LOTO): Isolating Energy Sources</a:t>
            </a:r>
            <a:endParaRPr lang="en-US" sz="2000" dirty="0"/>
          </a:p>
        </p:txBody>
      </p:sp>
      <p:sp>
        <p:nvSpPr>
          <p:cNvPr id="7" name="Text 4"/>
          <p:cNvSpPr/>
          <p:nvPr/>
        </p:nvSpPr>
        <p:spPr>
          <a:xfrm>
            <a:off x="365760" y="749808"/>
            <a:ext cx="8412480" cy="50292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LOTO is a mandatory procedure to ensure machinery and equipment cannot be accidentally started while maintenance or servicing work is in progress. It prevents serious injuries and fatalities.</a:t>
            </a:r>
            <a:endParaRPr lang="en-US" sz="1100" dirty="0"/>
          </a:p>
        </p:txBody>
      </p:sp>
      <p:sp>
        <p:nvSpPr>
          <p:cNvPr id="8" name="Shape 5"/>
          <p:cNvSpPr/>
          <p:nvPr/>
        </p:nvSpPr>
        <p:spPr>
          <a:xfrm>
            <a:off x="182880" y="1325880"/>
            <a:ext cx="2057400" cy="384048"/>
          </a:xfrm>
          <a:prstGeom prst="rect">
            <a:avLst/>
          </a:prstGeom>
          <a:solidFill>
            <a:srgbClr val="009FE3"/>
          </a:solidFill>
          <a:ln/>
        </p:spPr>
      </p:sp>
      <p:sp>
        <p:nvSpPr>
          <p:cNvPr id="9" name="Text 6"/>
          <p:cNvSpPr/>
          <p:nvPr/>
        </p:nvSpPr>
        <p:spPr>
          <a:xfrm>
            <a:off x="228600" y="132588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 NOTIFY</a:t>
            </a:r>
            <a:endParaRPr lang="en-US" sz="1000" dirty="0"/>
          </a:p>
        </p:txBody>
      </p:sp>
      <p:sp>
        <p:nvSpPr>
          <p:cNvPr id="10" name="Shape 7"/>
          <p:cNvSpPr/>
          <p:nvPr/>
        </p:nvSpPr>
        <p:spPr>
          <a:xfrm>
            <a:off x="182880" y="1709928"/>
            <a:ext cx="2057400" cy="1307592"/>
          </a:xfrm>
          <a:prstGeom prst="rect">
            <a:avLst/>
          </a:prstGeom>
          <a:solidFill>
            <a:srgbClr val="F5F5F5"/>
          </a:solidFill>
          <a:ln w="6350">
            <a:solidFill>
              <a:srgbClr val="DDDDDD"/>
            </a:solidFill>
            <a:prstDash val="solid"/>
          </a:ln>
        </p:spPr>
      </p:sp>
      <p:sp>
        <p:nvSpPr>
          <p:cNvPr id="11" name="Text 8"/>
          <p:cNvSpPr/>
          <p:nvPr/>
        </p:nvSpPr>
        <p:spPr>
          <a:xfrm>
            <a:off x="228600" y="178308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Tell all affected persons that LOTO is being applied.</a:t>
            </a:r>
            <a:endParaRPr lang="en-US" sz="950" dirty="0"/>
          </a:p>
        </p:txBody>
      </p:sp>
      <p:sp>
        <p:nvSpPr>
          <p:cNvPr id="12" name="Shape 9"/>
          <p:cNvSpPr/>
          <p:nvPr/>
        </p:nvSpPr>
        <p:spPr>
          <a:xfrm>
            <a:off x="2377440" y="1325880"/>
            <a:ext cx="2057400" cy="384048"/>
          </a:xfrm>
          <a:prstGeom prst="rect">
            <a:avLst/>
          </a:prstGeom>
          <a:solidFill>
            <a:srgbClr val="83348F"/>
          </a:solidFill>
          <a:ln/>
        </p:spPr>
      </p:sp>
      <p:sp>
        <p:nvSpPr>
          <p:cNvPr id="13" name="Text 10"/>
          <p:cNvSpPr/>
          <p:nvPr/>
        </p:nvSpPr>
        <p:spPr>
          <a:xfrm>
            <a:off x="2423160" y="132588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 IDENTIFY</a:t>
            </a:r>
            <a:endParaRPr lang="en-US" sz="1000" dirty="0"/>
          </a:p>
        </p:txBody>
      </p:sp>
      <p:sp>
        <p:nvSpPr>
          <p:cNvPr id="14" name="Shape 11"/>
          <p:cNvSpPr/>
          <p:nvPr/>
        </p:nvSpPr>
        <p:spPr>
          <a:xfrm>
            <a:off x="2377440" y="1709928"/>
            <a:ext cx="2057400" cy="1307592"/>
          </a:xfrm>
          <a:prstGeom prst="rect">
            <a:avLst/>
          </a:prstGeom>
          <a:solidFill>
            <a:srgbClr val="F5F5F5"/>
          </a:solidFill>
          <a:ln w="6350">
            <a:solidFill>
              <a:srgbClr val="DDDDDD"/>
            </a:solidFill>
            <a:prstDash val="solid"/>
          </a:ln>
        </p:spPr>
      </p:sp>
      <p:sp>
        <p:nvSpPr>
          <p:cNvPr id="15" name="Text 12"/>
          <p:cNvSpPr/>
          <p:nvPr/>
        </p:nvSpPr>
        <p:spPr>
          <a:xfrm>
            <a:off x="2423160" y="178308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Find ALL energy sources that need isolating.</a:t>
            </a:r>
            <a:endParaRPr lang="en-US" sz="950" dirty="0"/>
          </a:p>
        </p:txBody>
      </p:sp>
      <p:sp>
        <p:nvSpPr>
          <p:cNvPr id="16" name="Shape 13"/>
          <p:cNvSpPr/>
          <p:nvPr/>
        </p:nvSpPr>
        <p:spPr>
          <a:xfrm>
            <a:off x="4572000" y="1325880"/>
            <a:ext cx="2057400" cy="384048"/>
          </a:xfrm>
          <a:prstGeom prst="rect">
            <a:avLst/>
          </a:prstGeom>
          <a:solidFill>
            <a:srgbClr val="009FE3"/>
          </a:solidFill>
          <a:ln/>
        </p:spPr>
      </p:sp>
      <p:sp>
        <p:nvSpPr>
          <p:cNvPr id="17" name="Text 14"/>
          <p:cNvSpPr/>
          <p:nvPr/>
        </p:nvSpPr>
        <p:spPr>
          <a:xfrm>
            <a:off x="4617720" y="132588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 ISOLATE</a:t>
            </a:r>
            <a:endParaRPr lang="en-US" sz="1000" dirty="0"/>
          </a:p>
        </p:txBody>
      </p:sp>
      <p:sp>
        <p:nvSpPr>
          <p:cNvPr id="18" name="Shape 15"/>
          <p:cNvSpPr/>
          <p:nvPr/>
        </p:nvSpPr>
        <p:spPr>
          <a:xfrm>
            <a:off x="4572000" y="1709928"/>
            <a:ext cx="2057400" cy="1307592"/>
          </a:xfrm>
          <a:prstGeom prst="rect">
            <a:avLst/>
          </a:prstGeom>
          <a:solidFill>
            <a:srgbClr val="F5F5F5"/>
          </a:solidFill>
          <a:ln w="6350">
            <a:solidFill>
              <a:srgbClr val="DDDDDD"/>
            </a:solidFill>
            <a:prstDash val="solid"/>
          </a:ln>
        </p:spPr>
      </p:sp>
      <p:sp>
        <p:nvSpPr>
          <p:cNvPr id="19" name="Text 16"/>
          <p:cNvSpPr/>
          <p:nvPr/>
        </p:nvSpPr>
        <p:spPr>
          <a:xfrm>
            <a:off x="4617720" y="178308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Turn each isolation device to OFF / SAFE.</a:t>
            </a:r>
            <a:endParaRPr lang="en-US" sz="950" dirty="0"/>
          </a:p>
        </p:txBody>
      </p:sp>
      <p:sp>
        <p:nvSpPr>
          <p:cNvPr id="20" name="Shape 17"/>
          <p:cNvSpPr/>
          <p:nvPr/>
        </p:nvSpPr>
        <p:spPr>
          <a:xfrm>
            <a:off x="6766560" y="1325880"/>
            <a:ext cx="2057400" cy="384048"/>
          </a:xfrm>
          <a:prstGeom prst="rect">
            <a:avLst/>
          </a:prstGeom>
          <a:solidFill>
            <a:srgbClr val="83348F"/>
          </a:solidFill>
          <a:ln/>
        </p:spPr>
      </p:sp>
      <p:sp>
        <p:nvSpPr>
          <p:cNvPr id="21" name="Text 18"/>
          <p:cNvSpPr/>
          <p:nvPr/>
        </p:nvSpPr>
        <p:spPr>
          <a:xfrm>
            <a:off x="6812280" y="132588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 LOCK</a:t>
            </a:r>
            <a:endParaRPr lang="en-US" sz="1000" dirty="0"/>
          </a:p>
        </p:txBody>
      </p:sp>
      <p:sp>
        <p:nvSpPr>
          <p:cNvPr id="22" name="Shape 19"/>
          <p:cNvSpPr/>
          <p:nvPr/>
        </p:nvSpPr>
        <p:spPr>
          <a:xfrm>
            <a:off x="6766560" y="1709928"/>
            <a:ext cx="2057400" cy="1307592"/>
          </a:xfrm>
          <a:prstGeom prst="rect">
            <a:avLst/>
          </a:prstGeom>
          <a:solidFill>
            <a:srgbClr val="F5F5F5"/>
          </a:solidFill>
          <a:ln w="6350">
            <a:solidFill>
              <a:srgbClr val="DDDDDD"/>
            </a:solidFill>
            <a:prstDash val="solid"/>
          </a:ln>
        </p:spPr>
      </p:sp>
      <p:sp>
        <p:nvSpPr>
          <p:cNvPr id="23" name="Text 20"/>
          <p:cNvSpPr/>
          <p:nvPr/>
        </p:nvSpPr>
        <p:spPr>
          <a:xfrm>
            <a:off x="6812280" y="178308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Apply a personal padlock to each isolation point. You hold the key.</a:t>
            </a:r>
            <a:endParaRPr lang="en-US" sz="950" dirty="0"/>
          </a:p>
        </p:txBody>
      </p:sp>
      <p:sp>
        <p:nvSpPr>
          <p:cNvPr id="24" name="Shape 21"/>
          <p:cNvSpPr/>
          <p:nvPr/>
        </p:nvSpPr>
        <p:spPr>
          <a:xfrm>
            <a:off x="182880" y="3108960"/>
            <a:ext cx="2057400" cy="384048"/>
          </a:xfrm>
          <a:prstGeom prst="rect">
            <a:avLst/>
          </a:prstGeom>
          <a:solidFill>
            <a:srgbClr val="009FE3"/>
          </a:solidFill>
          <a:ln/>
        </p:spPr>
      </p:sp>
      <p:sp>
        <p:nvSpPr>
          <p:cNvPr id="25" name="Text 22"/>
          <p:cNvSpPr/>
          <p:nvPr/>
        </p:nvSpPr>
        <p:spPr>
          <a:xfrm>
            <a:off x="228600" y="310896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 TAG</a:t>
            </a:r>
            <a:endParaRPr lang="en-US" sz="1000" dirty="0"/>
          </a:p>
        </p:txBody>
      </p:sp>
      <p:sp>
        <p:nvSpPr>
          <p:cNvPr id="26" name="Shape 23"/>
          <p:cNvSpPr/>
          <p:nvPr/>
        </p:nvSpPr>
        <p:spPr>
          <a:xfrm>
            <a:off x="182880" y="3493008"/>
            <a:ext cx="2057400" cy="1307592"/>
          </a:xfrm>
          <a:prstGeom prst="rect">
            <a:avLst/>
          </a:prstGeom>
          <a:solidFill>
            <a:srgbClr val="F5F5F5"/>
          </a:solidFill>
          <a:ln w="6350">
            <a:solidFill>
              <a:srgbClr val="DDDDDD"/>
            </a:solidFill>
            <a:prstDash val="solid"/>
          </a:ln>
        </p:spPr>
      </p:sp>
      <p:sp>
        <p:nvSpPr>
          <p:cNvPr id="27" name="Text 24"/>
          <p:cNvSpPr/>
          <p:nvPr/>
        </p:nvSpPr>
        <p:spPr>
          <a:xfrm>
            <a:off x="228600" y="356616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Apply a LOTO tag: your name, date, reason, warning.</a:t>
            </a:r>
            <a:endParaRPr lang="en-US" sz="950" dirty="0"/>
          </a:p>
        </p:txBody>
      </p:sp>
      <p:sp>
        <p:nvSpPr>
          <p:cNvPr id="28" name="Shape 25"/>
          <p:cNvSpPr/>
          <p:nvPr/>
        </p:nvSpPr>
        <p:spPr>
          <a:xfrm>
            <a:off x="2377440" y="3108960"/>
            <a:ext cx="2057400" cy="384048"/>
          </a:xfrm>
          <a:prstGeom prst="rect">
            <a:avLst/>
          </a:prstGeom>
          <a:solidFill>
            <a:srgbClr val="83348F"/>
          </a:solidFill>
          <a:ln/>
        </p:spPr>
      </p:sp>
      <p:sp>
        <p:nvSpPr>
          <p:cNvPr id="29" name="Text 26"/>
          <p:cNvSpPr/>
          <p:nvPr/>
        </p:nvSpPr>
        <p:spPr>
          <a:xfrm>
            <a:off x="2423160" y="310896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 TEST</a:t>
            </a:r>
            <a:endParaRPr lang="en-US" sz="1000" dirty="0"/>
          </a:p>
        </p:txBody>
      </p:sp>
      <p:sp>
        <p:nvSpPr>
          <p:cNvPr id="30" name="Shape 27"/>
          <p:cNvSpPr/>
          <p:nvPr/>
        </p:nvSpPr>
        <p:spPr>
          <a:xfrm>
            <a:off x="2377440" y="3493008"/>
            <a:ext cx="2057400" cy="1307592"/>
          </a:xfrm>
          <a:prstGeom prst="rect">
            <a:avLst/>
          </a:prstGeom>
          <a:solidFill>
            <a:srgbClr val="F5F5F5"/>
          </a:solidFill>
          <a:ln w="6350">
            <a:solidFill>
              <a:srgbClr val="DDDDDD"/>
            </a:solidFill>
            <a:prstDash val="solid"/>
          </a:ln>
        </p:spPr>
      </p:sp>
      <p:sp>
        <p:nvSpPr>
          <p:cNvPr id="31" name="Text 28"/>
          <p:cNvSpPr/>
          <p:nvPr/>
        </p:nvSpPr>
        <p:spPr>
          <a:xfrm>
            <a:off x="2423160" y="356616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Try to start the equipment. Test with voltage tester. Confirm zero energy.</a:t>
            </a:r>
            <a:endParaRPr lang="en-US" sz="950" dirty="0"/>
          </a:p>
        </p:txBody>
      </p:sp>
      <p:sp>
        <p:nvSpPr>
          <p:cNvPr id="32" name="Shape 29"/>
          <p:cNvSpPr/>
          <p:nvPr/>
        </p:nvSpPr>
        <p:spPr>
          <a:xfrm>
            <a:off x="4572000" y="3108960"/>
            <a:ext cx="2057400" cy="384048"/>
          </a:xfrm>
          <a:prstGeom prst="rect">
            <a:avLst/>
          </a:prstGeom>
          <a:solidFill>
            <a:srgbClr val="009FE3"/>
          </a:solidFill>
          <a:ln/>
        </p:spPr>
      </p:sp>
      <p:sp>
        <p:nvSpPr>
          <p:cNvPr id="33" name="Text 30"/>
          <p:cNvSpPr/>
          <p:nvPr/>
        </p:nvSpPr>
        <p:spPr>
          <a:xfrm>
            <a:off x="4617720" y="310896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 WORK</a:t>
            </a:r>
            <a:endParaRPr lang="en-US" sz="1000" dirty="0"/>
          </a:p>
        </p:txBody>
      </p:sp>
      <p:sp>
        <p:nvSpPr>
          <p:cNvPr id="34" name="Shape 31"/>
          <p:cNvSpPr/>
          <p:nvPr/>
        </p:nvSpPr>
        <p:spPr>
          <a:xfrm>
            <a:off x="4572000" y="3493008"/>
            <a:ext cx="2057400" cy="1307592"/>
          </a:xfrm>
          <a:prstGeom prst="rect">
            <a:avLst/>
          </a:prstGeom>
          <a:solidFill>
            <a:srgbClr val="F5F5F5"/>
          </a:solidFill>
          <a:ln w="6350">
            <a:solidFill>
              <a:srgbClr val="DDDDDD"/>
            </a:solidFill>
            <a:prstDash val="solid"/>
          </a:ln>
        </p:spPr>
      </p:sp>
      <p:sp>
        <p:nvSpPr>
          <p:cNvPr id="35" name="Text 32"/>
          <p:cNvSpPr/>
          <p:nvPr/>
        </p:nvSpPr>
        <p:spPr>
          <a:xfrm>
            <a:off x="4617720" y="356616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Only now is it safe to begin work.</a:t>
            </a:r>
            <a:endParaRPr lang="en-US" sz="950" dirty="0"/>
          </a:p>
        </p:txBody>
      </p:sp>
      <p:sp>
        <p:nvSpPr>
          <p:cNvPr id="36" name="Shape 33"/>
          <p:cNvSpPr/>
          <p:nvPr/>
        </p:nvSpPr>
        <p:spPr>
          <a:xfrm>
            <a:off x="6766560" y="3108960"/>
            <a:ext cx="2057400" cy="384048"/>
          </a:xfrm>
          <a:prstGeom prst="rect">
            <a:avLst/>
          </a:prstGeom>
          <a:solidFill>
            <a:srgbClr val="83348F"/>
          </a:solidFill>
          <a:ln/>
        </p:spPr>
      </p:sp>
      <p:sp>
        <p:nvSpPr>
          <p:cNvPr id="37" name="Text 34"/>
          <p:cNvSpPr/>
          <p:nvPr/>
        </p:nvSpPr>
        <p:spPr>
          <a:xfrm>
            <a:off x="6812280" y="3108960"/>
            <a:ext cx="1965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 RESTORE</a:t>
            </a:r>
            <a:endParaRPr lang="en-US" sz="1000" dirty="0"/>
          </a:p>
        </p:txBody>
      </p:sp>
      <p:sp>
        <p:nvSpPr>
          <p:cNvPr id="38" name="Shape 35"/>
          <p:cNvSpPr/>
          <p:nvPr/>
        </p:nvSpPr>
        <p:spPr>
          <a:xfrm>
            <a:off x="6766560" y="3493008"/>
            <a:ext cx="2057400" cy="1307592"/>
          </a:xfrm>
          <a:prstGeom prst="rect">
            <a:avLst/>
          </a:prstGeom>
          <a:solidFill>
            <a:srgbClr val="F5F5F5"/>
          </a:solidFill>
          <a:ln w="6350">
            <a:solidFill>
              <a:srgbClr val="DDDDDD"/>
            </a:solidFill>
            <a:prstDash val="solid"/>
          </a:ln>
        </p:spPr>
      </p:sp>
      <p:sp>
        <p:nvSpPr>
          <p:cNvPr id="39" name="Text 36"/>
          <p:cNvSpPr/>
          <p:nvPr/>
        </p:nvSpPr>
        <p:spPr>
          <a:xfrm>
            <a:off x="6812280" y="3566160"/>
            <a:ext cx="1965960" cy="1143000"/>
          </a:xfrm>
          <a:prstGeom prst="rect">
            <a:avLst/>
          </a:prstGeom>
          <a:noFill/>
          <a:ln/>
        </p:spPr>
        <p:txBody>
          <a:bodyPr wrap="square" rtlCol="0" anchor="t"/>
          <a:lstStyle/>
          <a:p>
            <a:pPr indent="0" marL="0">
              <a:buNone/>
            </a:pPr>
            <a:r>
              <a:rPr lang="en-US" sz="950" dirty="0">
                <a:solidFill>
                  <a:srgbClr val="5B595A"/>
                </a:solidFill>
                <a:latin typeface="Arial" pitchFamily="34" charset="0"/>
                <a:ea typeface="Arial" pitchFamily="34" charset="-122"/>
                <a:cs typeface="Arial" pitchFamily="34" charset="-120"/>
              </a:rPr>
              <a:t>Work complete: remove tools, locks, tags. Re-energise only when all clear.</a:t>
            </a:r>
            <a:endParaRPr lang="en-US" sz="950" dirty="0"/>
          </a:p>
        </p:txBody>
      </p:sp>
      <p:sp>
        <p:nvSpPr>
          <p:cNvPr id="40" name="Rectangle 3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5"/>
          <a:stretch>
            <a:fillRect/>
          </a:stretch>
        </p:blipFill>
        <p:spPr>
          <a:xfrm>
            <a:off x="7562088" y="100584"/>
            <a:ext cx="566928" cy="347472"/>
          </a:xfrm>
          <a:prstGeom prst="rect">
            <a:avLst/>
          </a:prstGeom>
        </p:spPr>
      </p:pic>
      <p:pic>
        <p:nvPicPr>
          <p:cNvPr id="42" name="Picture 41" descr="image.png"/>
          <p:cNvPicPr>
            <a:picLocks noChangeAspect="1"/>
          </p:cNvPicPr>
          <p:nvPr/>
        </p:nvPicPr>
        <p:blipFill>
          <a:blip r:embed="rId4"/>
          <a:stretch>
            <a:fillRect/>
          </a:stretch>
        </p:blipFill>
        <p:spPr>
          <a:xfrm>
            <a:off x="8174736" y="100584"/>
            <a:ext cx="658368" cy="347472"/>
          </a:xfrm>
          <a:prstGeom prst="rect">
            <a:avLst/>
          </a:prstGeom>
        </p:spPr>
      </p:pic>
      <p:sp>
        <p:nvSpPr>
          <p:cNvPr id="43" name="Rectangle 4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Permit to Work (PTW)</a:t>
            </a:r>
            <a:endParaRPr lang="en-US" sz="2000" dirty="0"/>
          </a:p>
        </p:txBody>
      </p:sp>
      <p:sp>
        <p:nvSpPr>
          <p:cNvPr id="7" name="Text 4"/>
          <p:cNvSpPr/>
          <p:nvPr/>
        </p:nvSpPr>
        <p:spPr>
          <a:xfrm>
            <a:off x="365760" y="749808"/>
            <a:ext cx="8412480" cy="45720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A Permit to Work is a formal document that authorises specific high-risk work to take place under controlled conditions. It must be issued by an authorised person and has a defined time limit.</a:t>
            </a:r>
            <a:endParaRPr lang="en-US" sz="1100" dirty="0"/>
          </a:p>
        </p:txBody>
      </p:sp>
      <p:sp>
        <p:nvSpPr>
          <p:cNvPr id="8" name="Text 5"/>
          <p:cNvSpPr/>
          <p:nvPr/>
        </p:nvSpPr>
        <p:spPr>
          <a:xfrm>
            <a:off x="365760" y="1261872"/>
            <a:ext cx="402336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When is a PTW required?</a:t>
            </a:r>
            <a:endParaRPr lang="en-US" sz="1400" dirty="0"/>
          </a:p>
        </p:txBody>
      </p:sp>
      <p:sp>
        <p:nvSpPr>
          <p:cNvPr id="9" name="Text 6"/>
          <p:cNvSpPr/>
          <p:nvPr/>
        </p:nvSpPr>
        <p:spPr>
          <a:xfrm>
            <a:off x="4663440" y="1261872"/>
            <a:ext cx="420624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What a PTW must contain:</a:t>
            </a:r>
            <a:endParaRPr lang="en-US" sz="1400" dirty="0"/>
          </a:p>
        </p:txBody>
      </p:sp>
      <p:sp>
        <p:nvSpPr>
          <p:cNvPr id="10" name="Text 7"/>
          <p:cNvSpPr/>
          <p:nvPr/>
        </p:nvSpPr>
        <p:spPr>
          <a:xfrm>
            <a:off x="365760" y="1581912"/>
            <a:ext cx="4023360" cy="169164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Hot work (welding, cutting, grinding near flammable materials)</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Electrical live work above 50V AC / 120V DC</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Confined space entry</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Unprotected work at height above 2m</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work defined as requiring a permit in your SSOW</a:t>
            </a:r>
            <a:endParaRPr lang="en-US" sz="1100" dirty="0"/>
          </a:p>
        </p:txBody>
      </p:sp>
      <p:sp>
        <p:nvSpPr>
          <p:cNvPr id="11" name="Text 8"/>
          <p:cNvSpPr/>
          <p:nvPr/>
        </p:nvSpPr>
        <p:spPr>
          <a:xfrm>
            <a:off x="4663440" y="1581912"/>
            <a:ext cx="4206240" cy="192024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Unique reference number and expiry date/time</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Description of work and exact location</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Name of the person carrying out the work</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All isolations confirmed and LOTO applied</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Pre-work checklist signed off</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Signature of issuing authority and permit holder</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Close-out and clearance signature at completion</a:t>
            </a:r>
            <a:endParaRPr lang="en-US" sz="1100" dirty="0"/>
          </a:p>
        </p:txBody>
      </p:sp>
      <p:sp>
        <p:nvSpPr>
          <p:cNvPr id="12" name="Shape 9"/>
          <p:cNvSpPr/>
          <p:nvPr/>
        </p:nvSpPr>
        <p:spPr>
          <a:xfrm>
            <a:off x="365760" y="3401568"/>
            <a:ext cx="8412480" cy="530352"/>
          </a:xfrm>
          <a:prstGeom prst="rect">
            <a:avLst/>
          </a:prstGeom>
          <a:solidFill>
            <a:srgbClr val="E6F4FB"/>
          </a:solidFill>
          <a:ln w="19050">
            <a:solidFill>
              <a:srgbClr val="009FE3"/>
            </a:solidFill>
            <a:prstDash val="solid"/>
          </a:ln>
        </p:spPr>
      </p:sp>
      <p:sp>
        <p:nvSpPr>
          <p:cNvPr id="13" name="Text 10"/>
          <p:cNvSpPr/>
          <p:nvPr/>
        </p:nvSpPr>
        <p:spPr>
          <a:xfrm>
            <a:off x="475488" y="3474720"/>
            <a:ext cx="8193024" cy="384048"/>
          </a:xfrm>
          <a:prstGeom prst="rect">
            <a:avLst/>
          </a:prstGeom>
          <a:noFill/>
          <a:ln/>
        </p:spPr>
        <p:txBody>
          <a:bodyPr wrap="square" rtlCol="0" anchor="t"/>
          <a:lstStyle/>
          <a:p>
            <a:pPr indent="0" marL="0">
              <a:buNone/>
            </a:pPr>
            <a:r>
              <a:rPr lang="en-US" sz="1000" i="1" dirty="0">
                <a:solidFill>
                  <a:srgbClr val="5B595A"/>
                </a:solidFill>
                <a:latin typeface="Arial" pitchFamily="34" charset="0"/>
                <a:ea typeface="Arial" pitchFamily="34" charset="-122"/>
                <a:cs typeface="Arial" pitchFamily="34" charset="-120"/>
              </a:rPr>
              <a:t>The PTW is only valid for the named person, the described activity, at the stated location, within the time limit. If work stops, the permit is suspended. A new permit is required before restarting. Never sign a blank permit.</a:t>
            </a:r>
            <a:endParaRPr lang="en-US" sz="1000" dirty="0"/>
          </a:p>
        </p:txBody>
      </p:sp>
      <p:sp>
        <p:nvSpPr>
          <p:cNvPr id="14" name="Shape 11"/>
          <p:cNvSpPr/>
          <p:nvPr/>
        </p:nvSpPr>
        <p:spPr>
          <a:xfrm>
            <a:off x="274320" y="4041648"/>
            <a:ext cx="4069080" cy="713232"/>
          </a:xfrm>
          <a:prstGeom prst="rect">
            <a:avLst/>
          </a:prstGeom>
          <a:solidFill>
            <a:srgbClr val="E2EFDA"/>
          </a:solidFill>
          <a:ln w="12700">
            <a:solidFill>
              <a:srgbClr val="70AD47"/>
            </a:solidFill>
            <a:prstDash val="solid"/>
          </a:ln>
        </p:spPr>
      </p:sp>
      <p:sp>
        <p:nvSpPr>
          <p:cNvPr id="15" name="Text 12"/>
          <p:cNvSpPr/>
          <p:nvPr/>
        </p:nvSpPr>
        <p:spPr>
          <a:xfrm>
            <a:off x="365760" y="4087368"/>
            <a:ext cx="3886200" cy="621792"/>
          </a:xfrm>
          <a:prstGeom prst="rect">
            <a:avLst/>
          </a:prstGeom>
          <a:noFill/>
          <a:ln/>
        </p:spPr>
        <p:txBody>
          <a:bodyPr wrap="square" rtlCol="0" anchor="ctr"/>
          <a:lstStyle/>
          <a:p>
            <a:pPr indent="0" marL="0">
              <a:buNone/>
            </a:pPr>
            <a:r>
              <a:rPr lang="en-US" sz="950" i="1" dirty="0">
                <a:solidFill>
                  <a:srgbClr val="5B595A"/>
                </a:solidFill>
                <a:latin typeface="Arial" pitchFamily="34" charset="0"/>
                <a:ea typeface="Arial" pitchFamily="34" charset="-122"/>
                <a:cs typeface="Arial" pitchFamily="34" charset="-120"/>
              </a:rPr>
              <a:t>BEFORE SIGNING: Confirm all isolations are in place. Confirm all controls are active. Confirm all persons involved are briefed.</a:t>
            </a:r>
            <a:endParaRPr lang="en-US" sz="950" dirty="0"/>
          </a:p>
        </p:txBody>
      </p:sp>
      <p:sp>
        <p:nvSpPr>
          <p:cNvPr id="16" name="Shape 13"/>
          <p:cNvSpPr/>
          <p:nvPr/>
        </p:nvSpPr>
        <p:spPr>
          <a:xfrm>
            <a:off x="4663440" y="4041648"/>
            <a:ext cx="4160520" cy="713232"/>
          </a:xfrm>
          <a:prstGeom prst="rect">
            <a:avLst/>
          </a:prstGeom>
          <a:solidFill>
            <a:srgbClr val="FCE4D6"/>
          </a:solidFill>
          <a:ln w="12700">
            <a:solidFill>
              <a:srgbClr val="CC0000"/>
            </a:solidFill>
            <a:prstDash val="solid"/>
          </a:ln>
        </p:spPr>
      </p:sp>
      <p:sp>
        <p:nvSpPr>
          <p:cNvPr id="17" name="Text 14"/>
          <p:cNvSpPr/>
          <p:nvPr/>
        </p:nvSpPr>
        <p:spPr>
          <a:xfrm>
            <a:off x="4754880" y="4087368"/>
            <a:ext cx="3977640" cy="621792"/>
          </a:xfrm>
          <a:prstGeom prst="rect">
            <a:avLst/>
          </a:prstGeom>
          <a:noFill/>
          <a:ln/>
        </p:spPr>
        <p:txBody>
          <a:bodyPr wrap="square" rtlCol="0" anchor="ctr"/>
          <a:lstStyle/>
          <a:p>
            <a:pPr indent="0" marL="0">
              <a:buNone/>
            </a:pPr>
            <a:r>
              <a:rPr lang="en-US" sz="950" i="1" dirty="0">
                <a:solidFill>
                  <a:srgbClr val="5B595A"/>
                </a:solidFill>
                <a:latin typeface="Arial" pitchFamily="34" charset="0"/>
                <a:ea typeface="Arial" pitchFamily="34" charset="-122"/>
                <a:cs typeface="Arial" pitchFamily="34" charset="-120"/>
              </a:rPr>
              <a:t>AT COMPLETION: Do not remove isolations until you have confirmed all personnel are clear of the work area and the area is safe.</a:t>
            </a:r>
            <a:endParaRPr lang="en-US" sz="950" dirty="0"/>
          </a:p>
        </p:txBody>
      </p:sp>
      <p:sp>
        <p:nvSpPr>
          <p:cNvPr id="18" name="Rectangle 1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5"/>
          <a:stretch>
            <a:fillRect/>
          </a:stretch>
        </p:blipFill>
        <p:spPr>
          <a:xfrm>
            <a:off x="7562088" y="100584"/>
            <a:ext cx="566928" cy="347472"/>
          </a:xfrm>
          <a:prstGeom prst="rect">
            <a:avLst/>
          </a:prstGeom>
        </p:spPr>
      </p:pic>
      <p:pic>
        <p:nvPicPr>
          <p:cNvPr id="20" name="Picture 19" descr="image.png"/>
          <p:cNvPicPr>
            <a:picLocks noChangeAspect="1"/>
          </p:cNvPicPr>
          <p:nvPr/>
        </p:nvPicPr>
        <p:blipFill>
          <a:blip r:embed="rId4"/>
          <a:stretch>
            <a:fillRect/>
          </a:stretch>
        </p:blipFill>
        <p:spPr>
          <a:xfrm>
            <a:off x="8174736" y="100584"/>
            <a:ext cx="658368" cy="347472"/>
          </a:xfrm>
          <a:prstGeom prst="rect">
            <a:avLst/>
          </a:prstGeom>
        </p:spPr>
      </p:pic>
      <p:sp>
        <p:nvSpPr>
          <p:cNvPr id="21" name="Rectangle 2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Internal HSE Audits</a:t>
            </a:r>
            <a:endParaRPr lang="en-US" sz="2000" dirty="0"/>
          </a:p>
        </p:txBody>
      </p:sp>
      <p:sp>
        <p:nvSpPr>
          <p:cNvPr id="7" name="Text 4"/>
          <p:cNvSpPr/>
          <p:nvPr/>
        </p:nvSpPr>
        <p:spPr>
          <a:xfrm>
            <a:off x="365760" y="749808"/>
            <a:ext cx="8412480" cy="45720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Internal audits check that your HSE management system is working in practice, not just on paper. They are required by ISO 45001 and represent good practice under HSG65.</a:t>
            </a:r>
            <a:endParaRPr lang="en-US" sz="1100" dirty="0"/>
          </a:p>
        </p:txBody>
      </p:sp>
      <p:sp>
        <p:nvSpPr>
          <p:cNvPr id="8" name="Shape 5"/>
          <p:cNvSpPr/>
          <p:nvPr/>
        </p:nvSpPr>
        <p:spPr>
          <a:xfrm>
            <a:off x="274320" y="1298448"/>
            <a:ext cx="2194560" cy="804672"/>
          </a:xfrm>
          <a:prstGeom prst="rect">
            <a:avLst/>
          </a:prstGeom>
          <a:solidFill>
            <a:srgbClr val="009FE3"/>
          </a:solidFill>
          <a:ln/>
        </p:spPr>
      </p:sp>
      <p:sp>
        <p:nvSpPr>
          <p:cNvPr id="9" name="Text 6"/>
          <p:cNvSpPr/>
          <p:nvPr/>
        </p:nvSpPr>
        <p:spPr>
          <a:xfrm>
            <a:off x="320040" y="1298448"/>
            <a:ext cx="2103120" cy="8046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Full System Audit</a:t>
            </a:r>
            <a:endParaRPr lang="en-US" sz="1100" dirty="0"/>
          </a:p>
        </p:txBody>
      </p:sp>
      <p:sp>
        <p:nvSpPr>
          <p:cNvPr id="10" name="Shape 7"/>
          <p:cNvSpPr/>
          <p:nvPr/>
        </p:nvSpPr>
        <p:spPr>
          <a:xfrm>
            <a:off x="2560320" y="1298448"/>
            <a:ext cx="6309360" cy="804672"/>
          </a:xfrm>
          <a:prstGeom prst="rect">
            <a:avLst/>
          </a:prstGeom>
          <a:solidFill>
            <a:srgbClr val="F5F5F5"/>
          </a:solidFill>
          <a:ln w="6350">
            <a:solidFill>
              <a:srgbClr val="DDDDDD"/>
            </a:solidFill>
            <a:prstDash val="solid"/>
          </a:ln>
        </p:spPr>
      </p:sp>
      <p:sp>
        <p:nvSpPr>
          <p:cNvPr id="11" name="Text 8"/>
          <p:cNvSpPr/>
          <p:nvPr/>
        </p:nvSpPr>
        <p:spPr>
          <a:xfrm>
            <a:off x="2651760" y="1389888"/>
            <a:ext cx="612648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Covers all elements of the HSE management system against ISO 45001 or HSG65. Carried out annually. Led by qualified internal auditor.</a:t>
            </a:r>
            <a:endParaRPr lang="en-US" sz="1000" dirty="0"/>
          </a:p>
        </p:txBody>
      </p:sp>
      <p:sp>
        <p:nvSpPr>
          <p:cNvPr id="12" name="Shape 9"/>
          <p:cNvSpPr/>
          <p:nvPr/>
        </p:nvSpPr>
        <p:spPr>
          <a:xfrm>
            <a:off x="274320" y="2194560"/>
            <a:ext cx="2194560" cy="804672"/>
          </a:xfrm>
          <a:prstGeom prst="rect">
            <a:avLst/>
          </a:prstGeom>
          <a:solidFill>
            <a:srgbClr val="83348F"/>
          </a:solidFill>
          <a:ln/>
        </p:spPr>
      </p:sp>
      <p:sp>
        <p:nvSpPr>
          <p:cNvPr id="13" name="Text 10"/>
          <p:cNvSpPr/>
          <p:nvPr/>
        </p:nvSpPr>
        <p:spPr>
          <a:xfrm>
            <a:off x="320040" y="2194560"/>
            <a:ext cx="2103120" cy="8046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Targeted Audit</a:t>
            </a:r>
            <a:endParaRPr lang="en-US" sz="1100" dirty="0"/>
          </a:p>
        </p:txBody>
      </p:sp>
      <p:sp>
        <p:nvSpPr>
          <p:cNvPr id="14" name="Shape 11"/>
          <p:cNvSpPr/>
          <p:nvPr/>
        </p:nvSpPr>
        <p:spPr>
          <a:xfrm>
            <a:off x="2560320" y="2194560"/>
            <a:ext cx="6309360" cy="804672"/>
          </a:xfrm>
          <a:prstGeom prst="rect">
            <a:avLst/>
          </a:prstGeom>
          <a:solidFill>
            <a:srgbClr val="F5F5F5"/>
          </a:solidFill>
          <a:ln w="6350">
            <a:solidFill>
              <a:srgbClr val="DDDDDD"/>
            </a:solidFill>
            <a:prstDash val="solid"/>
          </a:ln>
        </p:spPr>
      </p:sp>
      <p:sp>
        <p:nvSpPr>
          <p:cNvPr id="15" name="Text 12"/>
          <p:cNvSpPr/>
          <p:nvPr/>
        </p:nvSpPr>
        <p:spPr>
          <a:xfrm>
            <a:off x="2651760" y="2286000"/>
            <a:ext cx="612648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Focuses on one area or one activity. Carried out following an incident, near miss, or when a specific concern is identified.</a:t>
            </a:r>
            <a:endParaRPr lang="en-US" sz="1000" dirty="0"/>
          </a:p>
        </p:txBody>
      </p:sp>
      <p:sp>
        <p:nvSpPr>
          <p:cNvPr id="16" name="Shape 13"/>
          <p:cNvSpPr/>
          <p:nvPr/>
        </p:nvSpPr>
        <p:spPr>
          <a:xfrm>
            <a:off x="274320" y="3090672"/>
            <a:ext cx="2194560" cy="804672"/>
          </a:xfrm>
          <a:prstGeom prst="rect">
            <a:avLst/>
          </a:prstGeom>
          <a:solidFill>
            <a:srgbClr val="009FE3"/>
          </a:solidFill>
          <a:ln/>
        </p:spPr>
      </p:sp>
      <p:sp>
        <p:nvSpPr>
          <p:cNvPr id="17" name="Text 14"/>
          <p:cNvSpPr/>
          <p:nvPr/>
        </p:nvSpPr>
        <p:spPr>
          <a:xfrm>
            <a:off x="320040" y="3090672"/>
            <a:ext cx="2103120" cy="8046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Compliance Audit</a:t>
            </a:r>
            <a:endParaRPr lang="en-US" sz="1100" dirty="0"/>
          </a:p>
        </p:txBody>
      </p:sp>
      <p:sp>
        <p:nvSpPr>
          <p:cNvPr id="18" name="Shape 15"/>
          <p:cNvSpPr/>
          <p:nvPr/>
        </p:nvSpPr>
        <p:spPr>
          <a:xfrm>
            <a:off x="2560320" y="3090672"/>
            <a:ext cx="6309360" cy="804672"/>
          </a:xfrm>
          <a:prstGeom prst="rect">
            <a:avLst/>
          </a:prstGeom>
          <a:solidFill>
            <a:srgbClr val="F5F5F5"/>
          </a:solidFill>
          <a:ln w="6350">
            <a:solidFill>
              <a:srgbClr val="DDDDDD"/>
            </a:solidFill>
            <a:prstDash val="solid"/>
          </a:ln>
        </p:spPr>
      </p:sp>
      <p:sp>
        <p:nvSpPr>
          <p:cNvPr id="19" name="Text 16"/>
          <p:cNvSpPr/>
          <p:nvPr/>
        </p:nvSpPr>
        <p:spPr>
          <a:xfrm>
            <a:off x="2651760" y="3182112"/>
            <a:ext cx="612648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Checks compliance against specific legislation: COSHH, LOLER, PUWER, fire safety, etc. Carried out annually for each key regulation area.</a:t>
            </a:r>
            <a:endParaRPr lang="en-US" sz="1000" dirty="0"/>
          </a:p>
        </p:txBody>
      </p:sp>
      <p:sp>
        <p:nvSpPr>
          <p:cNvPr id="20" name="Shape 17"/>
          <p:cNvSpPr/>
          <p:nvPr/>
        </p:nvSpPr>
        <p:spPr>
          <a:xfrm>
            <a:off x="274320" y="3986784"/>
            <a:ext cx="2194560" cy="804672"/>
          </a:xfrm>
          <a:prstGeom prst="rect">
            <a:avLst/>
          </a:prstGeom>
          <a:solidFill>
            <a:srgbClr val="83348F"/>
          </a:solidFill>
          <a:ln/>
        </p:spPr>
      </p:sp>
      <p:sp>
        <p:nvSpPr>
          <p:cNvPr id="21" name="Text 18"/>
          <p:cNvSpPr/>
          <p:nvPr/>
        </p:nvSpPr>
        <p:spPr>
          <a:xfrm>
            <a:off x="320040" y="3986784"/>
            <a:ext cx="2103120" cy="8046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SSOW / PTW Audit</a:t>
            </a:r>
            <a:endParaRPr lang="en-US" sz="1100" dirty="0"/>
          </a:p>
        </p:txBody>
      </p:sp>
      <p:sp>
        <p:nvSpPr>
          <p:cNvPr id="22" name="Shape 19"/>
          <p:cNvSpPr/>
          <p:nvPr/>
        </p:nvSpPr>
        <p:spPr>
          <a:xfrm>
            <a:off x="2560320" y="3986784"/>
            <a:ext cx="6309360" cy="804672"/>
          </a:xfrm>
          <a:prstGeom prst="rect">
            <a:avLst/>
          </a:prstGeom>
          <a:solidFill>
            <a:srgbClr val="F5F5F5"/>
          </a:solidFill>
          <a:ln w="6350">
            <a:solidFill>
              <a:srgbClr val="DDDDDD"/>
            </a:solidFill>
            <a:prstDash val="solid"/>
          </a:ln>
        </p:spPr>
      </p:sp>
      <p:sp>
        <p:nvSpPr>
          <p:cNvPr id="23" name="Text 20"/>
          <p:cNvSpPr/>
          <p:nvPr/>
        </p:nvSpPr>
        <p:spPr>
          <a:xfrm>
            <a:off x="2651760" y="4078224"/>
            <a:ext cx="612648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Specifically checks that Safe Systems of Work and Permits to Work are being followed correctly. Carried out in high-risk areas every 6 months.</a:t>
            </a:r>
            <a:endParaRPr lang="en-US" sz="1000" dirty="0"/>
          </a:p>
        </p:txBody>
      </p:sp>
      <p:sp>
        <p:nvSpPr>
          <p:cNvPr id="24" name="Rectangle 2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7562088" y="100584"/>
            <a:ext cx="566928" cy="347472"/>
          </a:xfrm>
          <a:prstGeom prst="rect">
            <a:avLst/>
          </a:prstGeom>
        </p:spPr>
      </p:pic>
      <p:pic>
        <p:nvPicPr>
          <p:cNvPr id="26" name="Picture 25" descr="image.png"/>
          <p:cNvPicPr>
            <a:picLocks noChangeAspect="1"/>
          </p:cNvPicPr>
          <p:nvPr/>
        </p:nvPicPr>
        <p:blipFill>
          <a:blip r:embed="rId4"/>
          <a:stretch>
            <a:fillRect/>
          </a:stretch>
        </p:blipFill>
        <p:spPr>
          <a:xfrm>
            <a:off x="8174736" y="100584"/>
            <a:ext cx="658368" cy="347472"/>
          </a:xfrm>
          <a:prstGeom prst="rect">
            <a:avLst/>
          </a:prstGeom>
        </p:spPr>
      </p:pic>
      <p:sp>
        <p:nvSpPr>
          <p:cNvPr id="27" name="Rectangle 2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Near Miss and Incident Reporting</a:t>
            </a:r>
            <a:endParaRPr lang="en-US" sz="2000" dirty="0"/>
          </a:p>
        </p:txBody>
      </p:sp>
      <p:sp>
        <p:nvSpPr>
          <p:cNvPr id="7" name="Text 4"/>
          <p:cNvSpPr/>
          <p:nvPr/>
        </p:nvSpPr>
        <p:spPr>
          <a:xfrm>
            <a:off x="365760" y="749808"/>
            <a:ext cx="8412480" cy="502920"/>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Reporting near misses is one of the most important safety behaviours you can demonstrate. Every near miss is a warning that a real accident could happen. Acting on near misses prevents accidents before they occur.</a:t>
            </a:r>
            <a:endParaRPr lang="en-US" sz="1100" dirty="0"/>
          </a:p>
        </p:txBody>
      </p:sp>
      <p:sp>
        <p:nvSpPr>
          <p:cNvPr id="8" name="Text 5"/>
          <p:cNvSpPr/>
          <p:nvPr/>
        </p:nvSpPr>
        <p:spPr>
          <a:xfrm>
            <a:off x="365760" y="1298448"/>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What must be reported immediately:</a:t>
            </a:r>
            <a:endParaRPr lang="en-US" sz="1400" dirty="0"/>
          </a:p>
        </p:txBody>
      </p:sp>
      <p:sp>
        <p:nvSpPr>
          <p:cNvPr id="9" name="Text 6"/>
          <p:cNvSpPr/>
          <p:nvPr/>
        </p:nvSpPr>
        <p:spPr>
          <a:xfrm>
            <a:off x="365760" y="1618488"/>
            <a:ext cx="4114800" cy="178308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accident or injury (no matter how minor) at work</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near miss: something that nearly caused harm</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dangerous occurrence: a structural collapse, explosion, electrical fault, etc.</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condition that presents a risk to health or safety</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unsafe act you observe</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Any damage to plant or equipment that could affect safety</a:t>
            </a:r>
            <a:endParaRPr lang="en-US" sz="1100" dirty="0"/>
          </a:p>
        </p:txBody>
      </p:sp>
      <p:sp>
        <p:nvSpPr>
          <p:cNvPr id="10" name="Shape 7"/>
          <p:cNvSpPr/>
          <p:nvPr/>
        </p:nvSpPr>
        <p:spPr>
          <a:xfrm>
            <a:off x="4663440" y="1298448"/>
            <a:ext cx="4114800" cy="320040"/>
          </a:xfrm>
          <a:prstGeom prst="rect">
            <a:avLst/>
          </a:prstGeom>
          <a:solidFill>
            <a:srgbClr val="83348F"/>
          </a:solidFill>
          <a:ln/>
        </p:spPr>
      </p:sp>
      <p:sp>
        <p:nvSpPr>
          <p:cNvPr id="11" name="Text 8"/>
          <p:cNvSpPr/>
          <p:nvPr/>
        </p:nvSpPr>
        <p:spPr>
          <a:xfrm>
            <a:off x="4663440" y="1298448"/>
            <a:ext cx="411480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RIDDOR Reporting to HSE</a:t>
            </a:r>
            <a:endParaRPr lang="en-US" sz="1100" dirty="0"/>
          </a:p>
        </p:txBody>
      </p:sp>
      <p:sp>
        <p:nvSpPr>
          <p:cNvPr id="12" name="Shape 9"/>
          <p:cNvSpPr/>
          <p:nvPr/>
        </p:nvSpPr>
        <p:spPr>
          <a:xfrm>
            <a:off x="4663440" y="1691640"/>
            <a:ext cx="2560320" cy="475488"/>
          </a:xfrm>
          <a:prstGeom prst="rect">
            <a:avLst/>
          </a:prstGeom>
          <a:solidFill>
            <a:srgbClr val="F5F5F5"/>
          </a:solidFill>
          <a:ln w="6350">
            <a:solidFill>
              <a:srgbClr val="CCCCCC"/>
            </a:solidFill>
            <a:prstDash val="solid"/>
          </a:ln>
        </p:spPr>
      </p:sp>
      <p:sp>
        <p:nvSpPr>
          <p:cNvPr id="13" name="Text 10"/>
          <p:cNvSpPr/>
          <p:nvPr/>
        </p:nvSpPr>
        <p:spPr>
          <a:xfrm>
            <a:off x="4709160" y="1737360"/>
            <a:ext cx="246888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Fatal or specified injuries</a:t>
            </a:r>
            <a:endParaRPr lang="en-US" sz="900" dirty="0"/>
          </a:p>
        </p:txBody>
      </p:sp>
      <p:sp>
        <p:nvSpPr>
          <p:cNvPr id="14" name="Shape 11"/>
          <p:cNvSpPr/>
          <p:nvPr/>
        </p:nvSpPr>
        <p:spPr>
          <a:xfrm>
            <a:off x="7315200" y="1691640"/>
            <a:ext cx="1463040" cy="475488"/>
          </a:xfrm>
          <a:prstGeom prst="rect">
            <a:avLst/>
          </a:prstGeom>
          <a:solidFill>
            <a:srgbClr val="FFF2CC"/>
          </a:solidFill>
          <a:ln w="6350">
            <a:solidFill>
              <a:srgbClr val="CCCCCC"/>
            </a:solidFill>
            <a:prstDash val="solid"/>
          </a:ln>
        </p:spPr>
      </p:sp>
      <p:sp>
        <p:nvSpPr>
          <p:cNvPr id="15" name="Text 12"/>
          <p:cNvSpPr/>
          <p:nvPr/>
        </p:nvSpPr>
        <p:spPr>
          <a:xfrm>
            <a:off x="7360920" y="1737360"/>
            <a:ext cx="1371600" cy="384048"/>
          </a:xfrm>
          <a:prstGeom prst="rect">
            <a:avLst/>
          </a:prstGeom>
          <a:noFill/>
          <a:ln/>
        </p:spPr>
        <p:txBody>
          <a:bodyPr wrap="square" rtlCol="0" anchor="ctr"/>
          <a:lstStyle/>
          <a:p>
            <a:pPr indent="0" marL="0">
              <a:buNone/>
            </a:pPr>
            <a:r>
              <a:rPr lang="en-US" sz="850" dirty="0">
                <a:solidFill>
                  <a:srgbClr val="5B595A"/>
                </a:solidFill>
                <a:latin typeface="Arial" pitchFamily="34" charset="0"/>
                <a:ea typeface="Arial" pitchFamily="34" charset="-122"/>
                <a:cs typeface="Arial" pitchFamily="34" charset="-120"/>
              </a:rPr>
              <a:t>Immediately - online or telephone</a:t>
            </a:r>
            <a:endParaRPr lang="en-US" sz="850" dirty="0"/>
          </a:p>
        </p:txBody>
      </p:sp>
      <p:sp>
        <p:nvSpPr>
          <p:cNvPr id="16" name="Shape 13"/>
          <p:cNvSpPr/>
          <p:nvPr/>
        </p:nvSpPr>
        <p:spPr>
          <a:xfrm>
            <a:off x="4663440" y="2240280"/>
            <a:ext cx="2560320" cy="475488"/>
          </a:xfrm>
          <a:prstGeom prst="rect">
            <a:avLst/>
          </a:prstGeom>
          <a:solidFill>
            <a:srgbClr val="F5F5F5"/>
          </a:solidFill>
          <a:ln w="6350">
            <a:solidFill>
              <a:srgbClr val="CCCCCC"/>
            </a:solidFill>
            <a:prstDash val="solid"/>
          </a:ln>
        </p:spPr>
      </p:sp>
      <p:sp>
        <p:nvSpPr>
          <p:cNvPr id="17" name="Text 14"/>
          <p:cNvSpPr/>
          <p:nvPr/>
        </p:nvSpPr>
        <p:spPr>
          <a:xfrm>
            <a:off x="4709160" y="2286000"/>
            <a:ext cx="246888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Over-7-day incapacitation</a:t>
            </a:r>
            <a:endParaRPr lang="en-US" sz="900" dirty="0"/>
          </a:p>
        </p:txBody>
      </p:sp>
      <p:sp>
        <p:nvSpPr>
          <p:cNvPr id="18" name="Shape 15"/>
          <p:cNvSpPr/>
          <p:nvPr/>
        </p:nvSpPr>
        <p:spPr>
          <a:xfrm>
            <a:off x="7315200" y="2240280"/>
            <a:ext cx="1463040" cy="475488"/>
          </a:xfrm>
          <a:prstGeom prst="rect">
            <a:avLst/>
          </a:prstGeom>
          <a:solidFill>
            <a:srgbClr val="FFF2CC"/>
          </a:solidFill>
          <a:ln w="6350">
            <a:solidFill>
              <a:srgbClr val="CCCCCC"/>
            </a:solidFill>
            <a:prstDash val="solid"/>
          </a:ln>
        </p:spPr>
      </p:sp>
      <p:sp>
        <p:nvSpPr>
          <p:cNvPr id="19" name="Text 16"/>
          <p:cNvSpPr/>
          <p:nvPr/>
        </p:nvSpPr>
        <p:spPr>
          <a:xfrm>
            <a:off x="7360920" y="2286000"/>
            <a:ext cx="1371600" cy="384048"/>
          </a:xfrm>
          <a:prstGeom prst="rect">
            <a:avLst/>
          </a:prstGeom>
          <a:noFill/>
          <a:ln/>
        </p:spPr>
        <p:txBody>
          <a:bodyPr wrap="square" rtlCol="0" anchor="ctr"/>
          <a:lstStyle/>
          <a:p>
            <a:pPr indent="0" marL="0">
              <a:buNone/>
            </a:pPr>
            <a:r>
              <a:rPr lang="en-US" sz="850" dirty="0">
                <a:solidFill>
                  <a:srgbClr val="5B595A"/>
                </a:solidFill>
                <a:latin typeface="Arial" pitchFamily="34" charset="0"/>
                <a:ea typeface="Arial" pitchFamily="34" charset="-122"/>
                <a:cs typeface="Arial" pitchFamily="34" charset="-120"/>
              </a:rPr>
              <a:t>Within 15 days</a:t>
            </a:r>
            <a:endParaRPr lang="en-US" sz="850" dirty="0"/>
          </a:p>
        </p:txBody>
      </p:sp>
      <p:sp>
        <p:nvSpPr>
          <p:cNvPr id="20" name="Shape 17"/>
          <p:cNvSpPr/>
          <p:nvPr/>
        </p:nvSpPr>
        <p:spPr>
          <a:xfrm>
            <a:off x="4663440" y="2788920"/>
            <a:ext cx="2560320" cy="475488"/>
          </a:xfrm>
          <a:prstGeom prst="rect">
            <a:avLst/>
          </a:prstGeom>
          <a:solidFill>
            <a:srgbClr val="F5F5F5"/>
          </a:solidFill>
          <a:ln w="6350">
            <a:solidFill>
              <a:srgbClr val="CCCCCC"/>
            </a:solidFill>
            <a:prstDash val="solid"/>
          </a:ln>
        </p:spPr>
      </p:sp>
      <p:sp>
        <p:nvSpPr>
          <p:cNvPr id="21" name="Text 18"/>
          <p:cNvSpPr/>
          <p:nvPr/>
        </p:nvSpPr>
        <p:spPr>
          <a:xfrm>
            <a:off x="4709160" y="2834640"/>
            <a:ext cx="246888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Occupational diseases (e.g. dermatitis, HAVS)</a:t>
            </a:r>
            <a:endParaRPr lang="en-US" sz="900" dirty="0"/>
          </a:p>
        </p:txBody>
      </p:sp>
      <p:sp>
        <p:nvSpPr>
          <p:cNvPr id="22" name="Shape 19"/>
          <p:cNvSpPr/>
          <p:nvPr/>
        </p:nvSpPr>
        <p:spPr>
          <a:xfrm>
            <a:off x="7315200" y="2788920"/>
            <a:ext cx="1463040" cy="475488"/>
          </a:xfrm>
          <a:prstGeom prst="rect">
            <a:avLst/>
          </a:prstGeom>
          <a:solidFill>
            <a:srgbClr val="FFF2CC"/>
          </a:solidFill>
          <a:ln w="6350">
            <a:solidFill>
              <a:srgbClr val="CCCCCC"/>
            </a:solidFill>
            <a:prstDash val="solid"/>
          </a:ln>
        </p:spPr>
      </p:sp>
      <p:sp>
        <p:nvSpPr>
          <p:cNvPr id="23" name="Text 20"/>
          <p:cNvSpPr/>
          <p:nvPr/>
        </p:nvSpPr>
        <p:spPr>
          <a:xfrm>
            <a:off x="7360920" y="2834640"/>
            <a:ext cx="1371600" cy="384048"/>
          </a:xfrm>
          <a:prstGeom prst="rect">
            <a:avLst/>
          </a:prstGeom>
          <a:noFill/>
          <a:ln/>
        </p:spPr>
        <p:txBody>
          <a:bodyPr wrap="square" rtlCol="0" anchor="ctr"/>
          <a:lstStyle/>
          <a:p>
            <a:pPr indent="0" marL="0">
              <a:buNone/>
            </a:pPr>
            <a:r>
              <a:rPr lang="en-US" sz="850" dirty="0">
                <a:solidFill>
                  <a:srgbClr val="5B595A"/>
                </a:solidFill>
                <a:latin typeface="Arial" pitchFamily="34" charset="0"/>
                <a:ea typeface="Arial" pitchFamily="34" charset="-122"/>
                <a:cs typeface="Arial" pitchFamily="34" charset="-120"/>
              </a:rPr>
              <a:t>On diagnosis</a:t>
            </a:r>
            <a:endParaRPr lang="en-US" sz="850" dirty="0"/>
          </a:p>
        </p:txBody>
      </p:sp>
      <p:sp>
        <p:nvSpPr>
          <p:cNvPr id="24" name="Shape 21"/>
          <p:cNvSpPr/>
          <p:nvPr/>
        </p:nvSpPr>
        <p:spPr>
          <a:xfrm>
            <a:off x="4663440" y="3337560"/>
            <a:ext cx="2560320" cy="475488"/>
          </a:xfrm>
          <a:prstGeom prst="rect">
            <a:avLst/>
          </a:prstGeom>
          <a:solidFill>
            <a:srgbClr val="F5F5F5"/>
          </a:solidFill>
          <a:ln w="6350">
            <a:solidFill>
              <a:srgbClr val="CCCCCC"/>
            </a:solidFill>
            <a:prstDash val="solid"/>
          </a:ln>
        </p:spPr>
      </p:sp>
      <p:sp>
        <p:nvSpPr>
          <p:cNvPr id="25" name="Text 22"/>
          <p:cNvSpPr/>
          <p:nvPr/>
        </p:nvSpPr>
        <p:spPr>
          <a:xfrm>
            <a:off x="4709160" y="3383280"/>
            <a:ext cx="2468880" cy="38404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Dangerous occurrences</a:t>
            </a:r>
            <a:endParaRPr lang="en-US" sz="900" dirty="0"/>
          </a:p>
        </p:txBody>
      </p:sp>
      <p:sp>
        <p:nvSpPr>
          <p:cNvPr id="26" name="Shape 23"/>
          <p:cNvSpPr/>
          <p:nvPr/>
        </p:nvSpPr>
        <p:spPr>
          <a:xfrm>
            <a:off x="7315200" y="3337560"/>
            <a:ext cx="1463040" cy="475488"/>
          </a:xfrm>
          <a:prstGeom prst="rect">
            <a:avLst/>
          </a:prstGeom>
          <a:solidFill>
            <a:srgbClr val="FFF2CC"/>
          </a:solidFill>
          <a:ln w="6350">
            <a:solidFill>
              <a:srgbClr val="CCCCCC"/>
            </a:solidFill>
            <a:prstDash val="solid"/>
          </a:ln>
        </p:spPr>
      </p:sp>
      <p:sp>
        <p:nvSpPr>
          <p:cNvPr id="27" name="Text 24"/>
          <p:cNvSpPr/>
          <p:nvPr/>
        </p:nvSpPr>
        <p:spPr>
          <a:xfrm>
            <a:off x="7360920" y="3383280"/>
            <a:ext cx="1371600" cy="384048"/>
          </a:xfrm>
          <a:prstGeom prst="rect">
            <a:avLst/>
          </a:prstGeom>
          <a:noFill/>
          <a:ln/>
        </p:spPr>
        <p:txBody>
          <a:bodyPr wrap="square" rtlCol="0" anchor="ctr"/>
          <a:lstStyle/>
          <a:p>
            <a:pPr indent="0" marL="0">
              <a:buNone/>
            </a:pPr>
            <a:r>
              <a:rPr lang="en-US" sz="850" dirty="0">
                <a:solidFill>
                  <a:srgbClr val="5B595A"/>
                </a:solidFill>
                <a:latin typeface="Arial" pitchFamily="34" charset="0"/>
                <a:ea typeface="Arial" pitchFamily="34" charset="-122"/>
                <a:cs typeface="Arial" pitchFamily="34" charset="-120"/>
              </a:rPr>
              <a:t>Immediately</a:t>
            </a:r>
            <a:endParaRPr lang="en-US" sz="850" dirty="0"/>
          </a:p>
        </p:txBody>
      </p:sp>
      <p:sp>
        <p:nvSpPr>
          <p:cNvPr id="28" name="Shape 25"/>
          <p:cNvSpPr/>
          <p:nvPr/>
        </p:nvSpPr>
        <p:spPr>
          <a:xfrm>
            <a:off x="365760" y="3931920"/>
            <a:ext cx="8412480" cy="502920"/>
          </a:xfrm>
          <a:prstGeom prst="rect">
            <a:avLst/>
          </a:prstGeom>
          <a:solidFill>
            <a:srgbClr val="E6F4FB"/>
          </a:solidFill>
          <a:ln w="19050">
            <a:solidFill>
              <a:srgbClr val="009FE3"/>
            </a:solidFill>
            <a:prstDash val="solid"/>
          </a:ln>
        </p:spPr>
      </p:sp>
      <p:sp>
        <p:nvSpPr>
          <p:cNvPr id="29" name="Text 26"/>
          <p:cNvSpPr/>
          <p:nvPr/>
        </p:nvSpPr>
        <p:spPr>
          <a:xfrm>
            <a:off x="475488" y="4005072"/>
            <a:ext cx="8193024" cy="356616"/>
          </a:xfrm>
          <a:prstGeom prst="rect">
            <a:avLst/>
          </a:prstGeom>
          <a:noFill/>
          <a:ln/>
        </p:spPr>
        <p:txBody>
          <a:bodyPr wrap="square" rtlCol="0" anchor="t"/>
          <a:lstStyle/>
          <a:p>
            <a:pPr indent="0" marL="0">
              <a:buNone/>
            </a:pPr>
            <a:r>
              <a:rPr lang="en-US" sz="1000" i="1" dirty="0">
                <a:solidFill>
                  <a:srgbClr val="5B595A"/>
                </a:solidFill>
                <a:latin typeface="Arial" pitchFamily="34" charset="0"/>
                <a:ea typeface="Arial" pitchFamily="34" charset="-122"/>
                <a:cs typeface="Arial" pitchFamily="34" charset="-120"/>
              </a:rPr>
              <a:t>Reporting a near miss is a sign of a strong safety culture. It is never a sign of weakness or incompetence. Organisations that report and learn from near misses have fewer serious accidents.</a:t>
            </a:r>
            <a:endParaRPr lang="en-US" sz="1000" dirty="0"/>
          </a:p>
        </p:txBody>
      </p:sp>
      <p:sp>
        <p:nvSpPr>
          <p:cNvPr id="30" name="Text 27"/>
          <p:cNvSpPr/>
          <p:nvPr/>
        </p:nvSpPr>
        <p:spPr>
          <a:xfrm>
            <a:off x="365760" y="4526280"/>
            <a:ext cx="8412480" cy="292608"/>
          </a:xfrm>
          <a:prstGeom prst="rect">
            <a:avLst/>
          </a:prstGeom>
          <a:noFill/>
          <a:ln/>
        </p:spPr>
        <p:txBody>
          <a:bodyPr wrap="square" rtlCol="0" anchor="ctr"/>
          <a:lstStyle/>
          <a:p>
            <a:pPr indent="0" marL="0">
              <a:buNone/>
            </a:pPr>
            <a:r>
              <a:rPr lang="en-US" sz="1000" b="1" dirty="0">
                <a:solidFill>
                  <a:srgbClr val="CC0000"/>
                </a:solidFill>
                <a:latin typeface="Arial" pitchFamily="34" charset="0"/>
                <a:ea typeface="Arial" pitchFamily="34" charset="-122"/>
                <a:cs typeface="Arial" pitchFamily="34" charset="-120"/>
              </a:rPr>
              <a:t>Never pressure anyone not to report an incident. This is illegal and dangerous.</a:t>
            </a:r>
            <a:endParaRPr lang="en-US" sz="10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Document and Records Control</a:t>
            </a:r>
            <a:endParaRPr lang="en-US" sz="2000" dirty="0"/>
          </a:p>
        </p:txBody>
      </p:sp>
      <p:sp>
        <p:nvSpPr>
          <p:cNvPr id="7" name="Text 4"/>
          <p:cNvSpPr/>
          <p:nvPr/>
        </p:nvSpPr>
        <p:spPr>
          <a:xfrm>
            <a:off x="365760" y="749808"/>
            <a:ext cx="8412480" cy="384048"/>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Controlled documents and proper record-keeping are legal requirements and essential evidence of your HSE management system.</a:t>
            </a:r>
            <a:endParaRPr lang="en-US" sz="1100" dirty="0"/>
          </a:p>
        </p:txBody>
      </p:sp>
      <p:sp>
        <p:nvSpPr>
          <p:cNvPr id="8" name="Shape 5"/>
          <p:cNvSpPr/>
          <p:nvPr/>
        </p:nvSpPr>
        <p:spPr>
          <a:xfrm>
            <a:off x="274320" y="1188720"/>
            <a:ext cx="2560320" cy="804672"/>
          </a:xfrm>
          <a:prstGeom prst="rect">
            <a:avLst/>
          </a:prstGeom>
          <a:solidFill>
            <a:srgbClr val="009FE3"/>
          </a:solidFill>
          <a:ln/>
        </p:spPr>
      </p:sp>
      <p:sp>
        <p:nvSpPr>
          <p:cNvPr id="9" name="Text 6"/>
          <p:cNvSpPr/>
          <p:nvPr/>
        </p:nvSpPr>
        <p:spPr>
          <a:xfrm>
            <a:off x="320040" y="1188720"/>
            <a:ext cx="2468880" cy="8046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What is a controlled document?</a:t>
            </a:r>
            <a:endParaRPr lang="en-US" sz="1000" dirty="0"/>
          </a:p>
        </p:txBody>
      </p:sp>
      <p:sp>
        <p:nvSpPr>
          <p:cNvPr id="10" name="Shape 7"/>
          <p:cNvSpPr/>
          <p:nvPr/>
        </p:nvSpPr>
        <p:spPr>
          <a:xfrm>
            <a:off x="2926080" y="1188720"/>
            <a:ext cx="5943600" cy="804672"/>
          </a:xfrm>
          <a:prstGeom prst="rect">
            <a:avLst/>
          </a:prstGeom>
          <a:solidFill>
            <a:srgbClr val="F5F5F5"/>
          </a:solidFill>
          <a:ln w="6350">
            <a:solidFill>
              <a:srgbClr val="DDDDDD"/>
            </a:solidFill>
            <a:prstDash val="solid"/>
          </a:ln>
        </p:spPr>
      </p:sp>
      <p:sp>
        <p:nvSpPr>
          <p:cNvPr id="11" name="Text 8"/>
          <p:cNvSpPr/>
          <p:nvPr/>
        </p:nvSpPr>
        <p:spPr>
          <a:xfrm>
            <a:off x="3017520" y="1280160"/>
            <a:ext cx="576072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A controlled document has a unique reference number, version number, issue date, author, approver, and review date. Only the current version is in use. Superseded versions are archived, not destroyed.</a:t>
            </a:r>
            <a:endParaRPr lang="en-US" sz="1000" dirty="0"/>
          </a:p>
        </p:txBody>
      </p:sp>
      <p:sp>
        <p:nvSpPr>
          <p:cNvPr id="12" name="Shape 9"/>
          <p:cNvSpPr/>
          <p:nvPr/>
        </p:nvSpPr>
        <p:spPr>
          <a:xfrm>
            <a:off x="274320" y="2084832"/>
            <a:ext cx="2560320" cy="804672"/>
          </a:xfrm>
          <a:prstGeom prst="rect">
            <a:avLst/>
          </a:prstGeom>
          <a:solidFill>
            <a:srgbClr val="83348F"/>
          </a:solidFill>
          <a:ln/>
        </p:spPr>
      </p:sp>
      <p:sp>
        <p:nvSpPr>
          <p:cNvPr id="13" name="Text 10"/>
          <p:cNvSpPr/>
          <p:nvPr/>
        </p:nvSpPr>
        <p:spPr>
          <a:xfrm>
            <a:off x="320040" y="2084832"/>
            <a:ext cx="2468880" cy="8046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Why does version control matter?</a:t>
            </a:r>
            <a:endParaRPr lang="en-US" sz="1000" dirty="0"/>
          </a:p>
        </p:txBody>
      </p:sp>
      <p:sp>
        <p:nvSpPr>
          <p:cNvPr id="14" name="Shape 11"/>
          <p:cNvSpPr/>
          <p:nvPr/>
        </p:nvSpPr>
        <p:spPr>
          <a:xfrm>
            <a:off x="2926080" y="2084832"/>
            <a:ext cx="5943600" cy="804672"/>
          </a:xfrm>
          <a:prstGeom prst="rect">
            <a:avLst/>
          </a:prstGeom>
          <a:solidFill>
            <a:srgbClr val="F5F5F5"/>
          </a:solidFill>
          <a:ln w="6350">
            <a:solidFill>
              <a:srgbClr val="DDDDDD"/>
            </a:solidFill>
            <a:prstDash val="solid"/>
          </a:ln>
        </p:spPr>
      </p:sp>
      <p:sp>
        <p:nvSpPr>
          <p:cNvPr id="15" name="Text 12"/>
          <p:cNvSpPr/>
          <p:nvPr/>
        </p:nvSpPr>
        <p:spPr>
          <a:xfrm>
            <a:off x="3017520" y="2176272"/>
            <a:ext cx="576072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If an operative follows an outdated risk assessment or SSOW, controls may be missing or incorrect. This creates legal liability and puts people at risk. Only current documents should be at the point of use.</a:t>
            </a:r>
            <a:endParaRPr lang="en-US" sz="1000" dirty="0"/>
          </a:p>
        </p:txBody>
      </p:sp>
      <p:sp>
        <p:nvSpPr>
          <p:cNvPr id="16" name="Shape 13"/>
          <p:cNvSpPr/>
          <p:nvPr/>
        </p:nvSpPr>
        <p:spPr>
          <a:xfrm>
            <a:off x="274320" y="2980944"/>
            <a:ext cx="2560320" cy="804672"/>
          </a:xfrm>
          <a:prstGeom prst="rect">
            <a:avLst/>
          </a:prstGeom>
          <a:solidFill>
            <a:srgbClr val="009FE3"/>
          </a:solidFill>
          <a:ln/>
        </p:spPr>
      </p:sp>
      <p:sp>
        <p:nvSpPr>
          <p:cNvPr id="17" name="Text 14"/>
          <p:cNvSpPr/>
          <p:nvPr/>
        </p:nvSpPr>
        <p:spPr>
          <a:xfrm>
            <a:off x="320040" y="2980944"/>
            <a:ext cx="2468880" cy="8046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What records must be kept?</a:t>
            </a:r>
            <a:endParaRPr lang="en-US" sz="1000" dirty="0"/>
          </a:p>
        </p:txBody>
      </p:sp>
      <p:sp>
        <p:nvSpPr>
          <p:cNvPr id="18" name="Shape 15"/>
          <p:cNvSpPr/>
          <p:nvPr/>
        </p:nvSpPr>
        <p:spPr>
          <a:xfrm>
            <a:off x="2926080" y="2980944"/>
            <a:ext cx="5943600" cy="804672"/>
          </a:xfrm>
          <a:prstGeom prst="rect">
            <a:avLst/>
          </a:prstGeom>
          <a:solidFill>
            <a:srgbClr val="F5F5F5"/>
          </a:solidFill>
          <a:ln w="6350">
            <a:solidFill>
              <a:srgbClr val="DDDDDD"/>
            </a:solidFill>
            <a:prstDash val="solid"/>
          </a:ln>
        </p:spPr>
      </p:sp>
      <p:sp>
        <p:nvSpPr>
          <p:cNvPr id="19" name="Text 16"/>
          <p:cNvSpPr/>
          <p:nvPr/>
        </p:nvSpPr>
        <p:spPr>
          <a:xfrm>
            <a:off x="3017520" y="3072384"/>
            <a:ext cx="576072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Risk assessments, COSHH assessments, training records, inspection records, permits to work, near miss logs, audit reports. See the Records Retention Schedule for minimum retention periods.</a:t>
            </a:r>
            <a:endParaRPr lang="en-US" sz="1000" dirty="0"/>
          </a:p>
        </p:txBody>
      </p:sp>
      <p:sp>
        <p:nvSpPr>
          <p:cNvPr id="20" name="Shape 17"/>
          <p:cNvSpPr/>
          <p:nvPr/>
        </p:nvSpPr>
        <p:spPr>
          <a:xfrm>
            <a:off x="274320" y="3877056"/>
            <a:ext cx="2560320" cy="804672"/>
          </a:xfrm>
          <a:prstGeom prst="rect">
            <a:avLst/>
          </a:prstGeom>
          <a:solidFill>
            <a:srgbClr val="83348F"/>
          </a:solidFill>
          <a:ln/>
        </p:spPr>
      </p:sp>
      <p:sp>
        <p:nvSpPr>
          <p:cNvPr id="21" name="Text 18"/>
          <p:cNvSpPr/>
          <p:nvPr/>
        </p:nvSpPr>
        <p:spPr>
          <a:xfrm>
            <a:off x="320040" y="3877056"/>
            <a:ext cx="2468880" cy="8046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Records at the point of use</a:t>
            </a:r>
            <a:endParaRPr lang="en-US" sz="1000" dirty="0"/>
          </a:p>
        </p:txBody>
      </p:sp>
      <p:sp>
        <p:nvSpPr>
          <p:cNvPr id="22" name="Shape 19"/>
          <p:cNvSpPr/>
          <p:nvPr/>
        </p:nvSpPr>
        <p:spPr>
          <a:xfrm>
            <a:off x="2926080" y="3877056"/>
            <a:ext cx="5943600" cy="804672"/>
          </a:xfrm>
          <a:prstGeom prst="rect">
            <a:avLst/>
          </a:prstGeom>
          <a:solidFill>
            <a:srgbClr val="F5F5F5"/>
          </a:solidFill>
          <a:ln w="6350">
            <a:solidFill>
              <a:srgbClr val="DDDDDD"/>
            </a:solidFill>
            <a:prstDash val="solid"/>
          </a:ln>
        </p:spPr>
      </p:sp>
      <p:sp>
        <p:nvSpPr>
          <p:cNvPr id="23" name="Text 20"/>
          <p:cNvSpPr/>
          <p:nvPr/>
        </p:nvSpPr>
        <p:spPr>
          <a:xfrm>
            <a:off x="3017520" y="3968496"/>
            <a:ext cx="5760720" cy="621792"/>
          </a:xfrm>
          <a:prstGeom prst="rect">
            <a:avLst/>
          </a:prstGeom>
          <a:noFill/>
          <a:ln/>
        </p:spPr>
        <p:txBody>
          <a:bodyPr wrap="square" rtlCol="0" anchor="ctr"/>
          <a:lstStyle/>
          <a:p>
            <a:pPr indent="0" marL="0">
              <a:buNone/>
            </a:pPr>
            <a:r>
              <a:rPr lang="en-US" sz="1000" dirty="0">
                <a:solidFill>
                  <a:srgbClr val="5B595A"/>
                </a:solidFill>
                <a:latin typeface="Arial" pitchFamily="34" charset="0"/>
                <a:ea typeface="Arial" pitchFamily="34" charset="-122"/>
                <a:cs typeface="Arial" pitchFamily="34" charset="-120"/>
              </a:rPr>
              <a:t>MSDS must be at the point where chemicals are used. SSOW must be available in the work area. Risk assessments for tasks must be accessible to the people doing the work.</a:t>
            </a:r>
            <a:endParaRPr lang="en-US" sz="1000" dirty="0"/>
          </a:p>
        </p:txBody>
      </p:sp>
      <p:sp>
        <p:nvSpPr>
          <p:cNvPr id="24" name="Rectangle 2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7562088" y="100584"/>
            <a:ext cx="566928" cy="347472"/>
          </a:xfrm>
          <a:prstGeom prst="rect">
            <a:avLst/>
          </a:prstGeom>
        </p:spPr>
      </p:pic>
      <p:pic>
        <p:nvPicPr>
          <p:cNvPr id="26" name="Picture 25" descr="image.png"/>
          <p:cNvPicPr>
            <a:picLocks noChangeAspect="1"/>
          </p:cNvPicPr>
          <p:nvPr/>
        </p:nvPicPr>
        <p:blipFill>
          <a:blip r:embed="rId4"/>
          <a:stretch>
            <a:fillRect/>
          </a:stretch>
        </p:blipFill>
        <p:spPr>
          <a:xfrm>
            <a:off x="8174736" y="100584"/>
            <a:ext cx="658368" cy="347472"/>
          </a:xfrm>
          <a:prstGeom prst="rect">
            <a:avLst/>
          </a:prstGeom>
        </p:spPr>
      </p:pic>
      <p:sp>
        <p:nvSpPr>
          <p:cNvPr id="27" name="Rectangle 2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9FE3"/>
          </a:solidFill>
          <a:ln/>
        </p:spPr>
      </p:sp>
      <p:sp>
        <p:nvSpPr>
          <p:cNvPr id="3" name="Shape 1"/>
          <p:cNvSpPr/>
          <p:nvPr/>
        </p:nvSpPr>
        <p:spPr>
          <a:xfrm>
            <a:off x="0" y="3474720"/>
            <a:ext cx="9144000" cy="1668780"/>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457200" y="365760"/>
            <a:ext cx="2011680" cy="667512"/>
          </a:xfrm>
          <a:prstGeom prst="rect">
            <a:avLst/>
          </a:prstGeom>
        </p:spPr>
      </p:pic>
      <p:sp>
        <p:nvSpPr>
          <p:cNvPr id="5" name="Text 2"/>
          <p:cNvSpPr/>
          <p:nvPr/>
        </p:nvSpPr>
        <p:spPr>
          <a:xfrm>
            <a:off x="457200" y="1234440"/>
            <a:ext cx="822960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HSE Risk Management</a:t>
            </a:r>
            <a:endParaRPr lang="en-US" sz="2800" dirty="0"/>
          </a:p>
        </p:txBody>
      </p:sp>
      <p:sp>
        <p:nvSpPr>
          <p:cNvPr id="6" name="Text 3"/>
          <p:cNvSpPr/>
          <p:nvPr/>
        </p:nvSpPr>
        <p:spPr>
          <a:xfrm>
            <a:off x="457200" y="1938528"/>
            <a:ext cx="8229600" cy="457200"/>
          </a:xfrm>
          <a:prstGeom prst="rect">
            <a:avLst/>
          </a:prstGeom>
          <a:noFill/>
          <a:ln/>
        </p:spPr>
        <p:txBody>
          <a:bodyPr wrap="square" rtlCol="0" anchor="ctr"/>
          <a:lstStyle/>
          <a:p>
            <a:pPr indent="0" marL="0">
              <a:buNone/>
            </a:pPr>
            <a:r>
              <a:rPr lang="en-US" sz="1600" dirty="0">
                <a:solidFill>
                  <a:srgbClr val="DDDDDD"/>
                </a:solidFill>
                <a:latin typeface="Arial" pitchFamily="34" charset="0"/>
                <a:ea typeface="Arial" pitchFamily="34" charset="-122"/>
                <a:cs typeface="Arial" pitchFamily="34" charset="-120"/>
              </a:rPr>
              <a:t>Documents, Audits, and Safe Systems of Work</a:t>
            </a:r>
            <a:endParaRPr lang="en-US" sz="1600" dirty="0"/>
          </a:p>
        </p:txBody>
      </p:sp>
      <p:sp>
        <p:nvSpPr>
          <p:cNvPr id="7" name="Text 4"/>
          <p:cNvSpPr/>
          <p:nvPr/>
        </p:nvSpPr>
        <p:spPr>
          <a:xfrm>
            <a:off x="457200" y="2487168"/>
            <a:ext cx="822960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Your responsibilities: identify hazards, follow the SSOW, report near misses, follow LOTO, work within permit conditions.</a:t>
            </a:r>
            <a:endParaRPr lang="en-US" sz="1300" dirty="0"/>
          </a:p>
        </p:txBody>
      </p:sp>
      <p:sp>
        <p:nvSpPr>
          <p:cNvPr id="8" name="Text 5"/>
          <p:cNvSpPr/>
          <p:nvPr/>
        </p:nvSpPr>
        <p:spPr>
          <a:xfrm>
            <a:off x="457200" y="3657600"/>
            <a:ext cx="8229600" cy="36576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Questions? Speak to your H&amp;S Manager.</a:t>
            </a:r>
            <a:endParaRPr lang="en-US" sz="1300" dirty="0"/>
          </a:p>
        </p:txBody>
      </p:sp>
      <p:sp>
        <p:nvSpPr>
          <p:cNvPr id="9" name="Text 6"/>
          <p:cNvSpPr/>
          <p:nvPr/>
        </p:nvSpPr>
        <p:spPr>
          <a:xfrm>
            <a:off x="457200" y="4114800"/>
            <a:ext cx="8229600" cy="32004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Commercial in Confidence  |  [Company Name]  |  [Date]</a:t>
            </a:r>
            <a:endParaRPr lang="en-US" sz="1000" dirty="0"/>
          </a:p>
        </p:txBody>
      </p:sp>
      <p:sp>
        <p:nvSpPr>
          <p:cNvPr id="10" name="Rectangle 9"/>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7562088" y="100584"/>
            <a:ext cx="566928" cy="347472"/>
          </a:xfrm>
          <a:prstGeom prst="rect">
            <a:avLst/>
          </a:prstGeom>
        </p:spPr>
      </p:pic>
      <p:pic>
        <p:nvPicPr>
          <p:cNvPr id="12" name="Picture 11" descr="image.png"/>
          <p:cNvPicPr>
            <a:picLocks noChangeAspect="1"/>
          </p:cNvPicPr>
          <p:nvPr/>
        </p:nvPicPr>
        <p:blipFill>
          <a:blip r:embed="rId4"/>
          <a:stretch>
            <a:fillRect/>
          </a:stretch>
        </p:blipFill>
        <p:spPr>
          <a:xfrm>
            <a:off x="8174736" y="100584"/>
            <a:ext cx="658368" cy="347472"/>
          </a:xfrm>
          <a:prstGeom prst="rect">
            <a:avLst/>
          </a:prstGeom>
        </p:spPr>
      </p:pic>
      <p:sp>
        <p:nvSpPr>
          <p:cNvPr id="13" name="Rectangle 12"/>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AB7705C-7D21-4978-89E8-ADD0667F997C}"/>
</file>

<file path=customXml/itemProps2.xml><?xml version="1.0" encoding="utf-8"?>
<ds:datastoreItem xmlns:ds="http://schemas.openxmlformats.org/officeDocument/2006/customXml" ds:itemID="{DCDAB3F2-9EF0-4A75-9DDE-FB67EC8717CE}"/>
</file>

<file path=customXml/itemProps3.xml><?xml version="1.0" encoding="utf-8"?>
<ds:datastoreItem xmlns:ds="http://schemas.openxmlformats.org/officeDocument/2006/customXml" ds:itemID="{3C7EC4E6-75D8-4E3D-B7EB-2018503C2635}"/>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QHSE-HSE-06 HSE Risk Management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