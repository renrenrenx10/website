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91840"/>
            <a:ext cx="9144000" cy="1851660"/>
          </a:xfrm>
          <a:prstGeom prst="rect">
            <a:avLst/>
          </a:prstGeom>
          <a:solidFill>
            <a:srgbClr val="83348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2011680" cy="6675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guide to CI, lean thinking, and structured problem solving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34290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[Company Name]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in Confidence</a:t>
            </a:r>
            <a:endParaRPr lang="en-US" sz="1000" dirty="0"/>
          </a:p>
        </p:txBody>
      </p:sp>
      <p:sp>
        <p:nvSpPr>
          <p:cNvPr id="9" name="Rectangle 8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Continuous Improvement and Why Does It Matter?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 (CI) is the ongoing effort to improve products, services, and processes. Small improvements, made consistently over time, create major competitive advantage.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280160"/>
            <a:ext cx="4160520" cy="41148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28016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Business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1691640"/>
            <a:ext cx="4160520" cy="12527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1755648"/>
            <a:ext cx="39776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waste and cost. Improves quality and delivery. Makes the business more competitive and better placed to win nuclear work.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17720" y="1280160"/>
            <a:ext cx="4160520" cy="41148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3" name="Text 10"/>
          <p:cNvSpPr/>
          <p:nvPr/>
        </p:nvSpPr>
        <p:spPr>
          <a:xfrm>
            <a:off x="4709160" y="128016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Customer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17720" y="1691640"/>
            <a:ext cx="4160520" cy="12527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9160" y="1755648"/>
            <a:ext cx="39776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quality products, better delivery reliability, and a supplier that is actively improving — this is what nuclear customers demand.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74320" y="3063240"/>
            <a:ext cx="4160520" cy="41148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60" y="30632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Nuclear Readiness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74320" y="3474720"/>
            <a:ext cx="4160520" cy="12527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3538728"/>
            <a:ext cx="39776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F4N assessors look specifically for evidence of a formal CI programme (CSIP), lean tools in use, employee involvement, and measurable results.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617720" y="3063240"/>
            <a:ext cx="4160520" cy="411480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1" name="Text 18"/>
          <p:cNvSpPr/>
          <p:nvPr/>
        </p:nvSpPr>
        <p:spPr>
          <a:xfrm>
            <a:off x="4709160" y="30632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617720" y="3474720"/>
            <a:ext cx="4160520" cy="1252728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09160" y="3538728"/>
            <a:ext cx="397764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gives everyone the ability to improve their own working environment. Your ideas and knowledge of the process are the most valuable source of improvement.</a:t>
            </a:r>
            <a:endParaRPr lang="en-US" sz="1050" dirty="0"/>
          </a:p>
        </p:txBody>
      </p:sp>
      <p:sp>
        <p:nvSpPr>
          <p:cNvPr id="24" name="Rectangle 23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Continuous Sustainable Improvement Plan (CSIP)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CSIP is the master plan that links all CI activity to the company's strategic objectives. Every CI project must be on the CSIP.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CSIP contains: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150876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strategic objective the company is working towards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specific CI action or project linked to that objective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it (named individual, not a department)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date and target completion date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complete — updated monthly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measurable target: what success looks like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achieved once complete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6344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CSIP is used: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663440" y="1508760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at every monthly CI review meeting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to the SLT at the quarterly management review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with employees so everyone knows what is being improved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as evidence at the F4N verification visit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when new CI projects are added or completed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4370832"/>
            <a:ext cx="8412480" cy="438912"/>
          </a:xfrm>
          <a:prstGeom prst="rect">
            <a:avLst/>
          </a:prstGeom>
          <a:solidFill>
            <a:srgbClr val="E6F4FB"/>
          </a:solidFill>
          <a:ln w="19050">
            <a:solidFill>
              <a:srgbClr val="009F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" y="4443984"/>
            <a:ext cx="819302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CSIP is not just a document. It is a live, working management tool. An out-of-date or incomplete CSIP is treated as evidence of a weak CI culture at any F4N or customer assessment.</a:t>
            </a:r>
            <a:endParaRPr lang="en-US" sz="1000" dirty="0"/>
          </a:p>
        </p:txBody>
      </p:sp>
      <p:sp>
        <p:nvSpPr>
          <p:cNvPr id="14" name="Rectangle 13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Thinking: Eliminating Waste (TIMWOODS)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thinking is about maximising value for the customer by eliminating waste. The 8 wastes (TIMWOODS) are found in every organisation. Identifying and removing them improves speed, quality, and cost.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2880" y="1280160"/>
            <a:ext cx="384048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" y="1280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21792" y="130759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82880" y="1691640"/>
            <a:ext cx="2057400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032" y="1755648"/>
            <a:ext cx="19110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Unnecessary movement of materials, parts, or products between operations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377440" y="1280160"/>
            <a:ext cx="384048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4" name="Text 11"/>
          <p:cNvSpPr/>
          <p:nvPr/>
        </p:nvSpPr>
        <p:spPr>
          <a:xfrm>
            <a:off x="2377440" y="1280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816352" y="130759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377440" y="1691640"/>
            <a:ext cx="2057400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450592" y="1755648"/>
            <a:ext cx="19110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stock, WIP, or materials held beyond immediate need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72000" y="1280160"/>
            <a:ext cx="384048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0" y="1280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010912" y="130759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0" y="1691640"/>
            <a:ext cx="2057400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45152" y="1755648"/>
            <a:ext cx="19110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Unnecessary movement of people: searching, reaching, walking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766560" y="1280160"/>
            <a:ext cx="384048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4" name="Text 21"/>
          <p:cNvSpPr/>
          <p:nvPr/>
        </p:nvSpPr>
        <p:spPr>
          <a:xfrm>
            <a:off x="6766560" y="1280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205472" y="130759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766560" y="1691640"/>
            <a:ext cx="2057400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39712" y="1755648"/>
            <a:ext cx="19110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or machines waiting for work, materials, approvals, or information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182880" y="2971800"/>
            <a:ext cx="384048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9" name="Text 26"/>
          <p:cNvSpPr/>
          <p:nvPr/>
        </p:nvSpPr>
        <p:spPr>
          <a:xfrm>
            <a:off x="182880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621792" y="299923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Overproduction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82880" y="3383280"/>
            <a:ext cx="2057400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56032" y="3447288"/>
            <a:ext cx="19110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more than is needed, earlier than needed, or faster than needed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2377440" y="2971800"/>
            <a:ext cx="384048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34" name="Text 31"/>
          <p:cNvSpPr/>
          <p:nvPr/>
        </p:nvSpPr>
        <p:spPr>
          <a:xfrm>
            <a:off x="2377440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2816352" y="299923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Overprocessing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2377440" y="3383280"/>
            <a:ext cx="2057400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450592" y="3447288"/>
            <a:ext cx="19110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Doing more work than the customer requires or expects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572000" y="2971800"/>
            <a:ext cx="384048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9" name="Text 36"/>
          <p:cNvSpPr/>
          <p:nvPr/>
        </p:nvSpPr>
        <p:spPr>
          <a:xfrm>
            <a:off x="4572000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5010912" y="299923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Defects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572000" y="3383280"/>
            <a:ext cx="2057400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645152" y="3447288"/>
            <a:ext cx="19110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Errors, rework, scrap, and non-conformances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766560" y="2971800"/>
            <a:ext cx="384048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44" name="Text 41"/>
          <p:cNvSpPr/>
          <p:nvPr/>
        </p:nvSpPr>
        <p:spPr>
          <a:xfrm>
            <a:off x="6766560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7205472" y="299923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6766560" y="3383280"/>
            <a:ext cx="2057400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839712" y="3447288"/>
            <a:ext cx="191109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Underutilising the knowledge, skills, and ideas of people</a:t>
            </a:r>
            <a:endParaRPr lang="en-US" sz="950" dirty="0"/>
          </a:p>
        </p:txBody>
      </p:sp>
      <p:sp>
        <p:nvSpPr>
          <p:cNvPr id="48" name="Rectangle 4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PDCA: The Foundation of All CI Activity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CI project, however large or small, follows the Plan-Do-Check-Act cycle. Understanding PDCA gives you a structured way to approach any improvement.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280160" y="1261872"/>
            <a:ext cx="3291840" cy="173736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17320" y="13533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417320" y="1828800"/>
            <a:ext cx="30175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problem. Analyse the current situation. Set a measurable target. Plan the changes you will make.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1261872"/>
            <a:ext cx="3291840" cy="173736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83480" y="13533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983480" y="1828800"/>
            <a:ext cx="30175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the change on a small scale (pilot). Collect data. Train the people involved.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280160" y="3063240"/>
            <a:ext cx="3291840" cy="173736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17320" y="3154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417320" y="3630168"/>
            <a:ext cx="30175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the results. Did the change achieve the target? Compare before and after data.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46320" y="3063240"/>
            <a:ext cx="3291840" cy="173736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83480" y="3154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983480" y="3630168"/>
            <a:ext cx="301752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successful: standardise the change. Update SOPs. Roll out to other areas. If not: return to Plan.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931920" y="1691640"/>
            <a:ext cx="1280160" cy="1280160"/>
          </a:xfrm>
          <a:prstGeom prst="arc">
            <a:avLst/>
          </a:prstGeom>
          <a:solidFill>
            <a:srgbClr val="FFFFFF"/>
          </a:solidFill>
          <a:ln w="25400">
            <a:solidFill>
              <a:srgbClr val="009FE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931920" y="192024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PDCA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9F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</a:t>
            </a:r>
            <a:endParaRPr lang="en-US" sz="1000" dirty="0"/>
          </a:p>
        </p:txBody>
      </p:sp>
      <p:sp>
        <p:nvSpPr>
          <p:cNvPr id="22" name="Rectangle 2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Whys: Getting to the Root Cause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 Whys technique cuts through symptoms to find the real reason a problem occurred. Ask 'Why?' until you reach a cause you can actually fix permanently.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261872"/>
            <a:ext cx="1645920" cy="51206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1261872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11680" y="1261872"/>
            <a:ext cx="6858000" cy="512064"/>
          </a:xfrm>
          <a:prstGeom prst="rect">
            <a:avLst/>
          </a:prstGeom>
          <a:solidFill>
            <a:srgbClr val="E6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03120" y="1307592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weld was rejected at final inspection for porosity.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" y="1837944"/>
            <a:ext cx="1645920" cy="512064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" y="1837944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1?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011680" y="1837944"/>
            <a:ext cx="6858000" cy="51206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03120" y="1883664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welder did not carry out the pre-weld check.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2414016"/>
            <a:ext cx="1645920" cy="512064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7" name="Text 14"/>
          <p:cNvSpPr/>
          <p:nvPr/>
        </p:nvSpPr>
        <p:spPr>
          <a:xfrm>
            <a:off x="274320" y="2414016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2?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011680" y="2414016"/>
            <a:ext cx="6858000" cy="512064"/>
          </a:xfrm>
          <a:prstGeom prst="rect">
            <a:avLst/>
          </a:prstGeom>
          <a:solidFill>
            <a:srgbClr val="E6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103120" y="2459736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pre-weld check was not on the job card for this job type.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74320" y="2990088"/>
            <a:ext cx="1645920" cy="512064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1" name="Text 18"/>
          <p:cNvSpPr/>
          <p:nvPr/>
        </p:nvSpPr>
        <p:spPr>
          <a:xfrm>
            <a:off x="274320" y="2990088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3?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011680" y="2990088"/>
            <a:ext cx="6858000" cy="512064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03120" y="3035808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job card template had not been updated when the ITP was revised.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74320" y="3566160"/>
            <a:ext cx="1645920" cy="512064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5" name="Text 22"/>
          <p:cNvSpPr/>
          <p:nvPr/>
        </p:nvSpPr>
        <p:spPr>
          <a:xfrm>
            <a:off x="274320" y="3566160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4?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011680" y="3566160"/>
            <a:ext cx="6858000" cy="512064"/>
          </a:xfrm>
          <a:prstGeom prst="rect">
            <a:avLst/>
          </a:prstGeom>
          <a:solidFill>
            <a:srgbClr val="E6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103120" y="3611880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process to ensure job card templates are reviewed when ITPs change.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74320" y="4142232"/>
            <a:ext cx="1645920" cy="512064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9" name="Text 26"/>
          <p:cNvSpPr/>
          <p:nvPr/>
        </p:nvSpPr>
        <p:spPr>
          <a:xfrm>
            <a:off x="274320" y="4142232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011680" y="4142232"/>
            <a:ext cx="6858000" cy="512064"/>
          </a:xfrm>
          <a:prstGeom prst="rect">
            <a:avLst/>
          </a:prstGeom>
          <a:solidFill>
            <a:srgbClr val="E2EFD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103120" y="4187952"/>
            <a:ext cx="6675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controlled link between ITP revision and job card template update. Fix: add ITP-to-job-card review as a step in the document control procedure.</a:t>
            </a:r>
            <a:endParaRPr lang="en-US" sz="1000" dirty="0"/>
          </a:p>
        </p:txBody>
      </p:sp>
      <p:sp>
        <p:nvSpPr>
          <p:cNvPr id="32" name="Rectangle 31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Fishbone (Ishikawa) Diagram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Fishbone diagram organises all potential causes of a problem into categories. Use it for complex problems with multiple contributing factors.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2743200"/>
            <a:ext cx="5943600" cy="0"/>
          </a:xfrm>
          <a:prstGeom prst="line">
            <a:avLst/>
          </a:prstGeom>
          <a:noFill/>
          <a:ln w="38100">
            <a:solidFill>
              <a:srgbClr val="009F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66560" y="2395728"/>
            <a:ext cx="201168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0" y="239572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280160" y="1691640"/>
            <a:ext cx="0" cy="105156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1417320"/>
            <a:ext cx="1645920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14173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8680" y="183794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causes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880360" y="1691640"/>
            <a:ext cx="0" cy="105156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423160" y="1417320"/>
            <a:ext cx="1645920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7" name="Text 14"/>
          <p:cNvSpPr/>
          <p:nvPr/>
        </p:nvSpPr>
        <p:spPr>
          <a:xfrm>
            <a:off x="2423160" y="14173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468880" y="183794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causes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480560" y="1691640"/>
            <a:ext cx="0" cy="105156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23360" y="1417320"/>
            <a:ext cx="1645920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1" name="Text 18"/>
          <p:cNvSpPr/>
          <p:nvPr/>
        </p:nvSpPr>
        <p:spPr>
          <a:xfrm>
            <a:off x="4023360" y="14173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069080" y="1837944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causes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920240" y="4069080"/>
            <a:ext cx="0" cy="132588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63040" y="4069080"/>
            <a:ext cx="1645920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5" name="Text 22"/>
          <p:cNvSpPr/>
          <p:nvPr/>
        </p:nvSpPr>
        <p:spPr>
          <a:xfrm>
            <a:off x="1463040" y="40690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508760" y="3429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causes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520440" y="4069080"/>
            <a:ext cx="0" cy="132588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063240" y="4069080"/>
            <a:ext cx="1645920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9" name="Text 26"/>
          <p:cNvSpPr/>
          <p:nvPr/>
        </p:nvSpPr>
        <p:spPr>
          <a:xfrm>
            <a:off x="3063240" y="40690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108960" y="3429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causes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120640" y="4069080"/>
            <a:ext cx="0" cy="1325880"/>
          </a:xfrm>
          <a:prstGeom prst="line">
            <a:avLst/>
          </a:prstGeom>
          <a:noFill/>
          <a:ln w="19050">
            <a:solidFill>
              <a:srgbClr val="83348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663440" y="4069080"/>
            <a:ext cx="1645920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33" name="Text 30"/>
          <p:cNvSpPr/>
          <p:nvPr/>
        </p:nvSpPr>
        <p:spPr>
          <a:xfrm>
            <a:off x="4663440" y="40690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709160" y="3429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causes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</a:t>
            </a:r>
            <a:endParaRPr lang="en-US" sz="850" dirty="0"/>
          </a:p>
        </p:txBody>
      </p:sp>
      <p:sp>
        <p:nvSpPr>
          <p:cNvPr id="35" name="Rectangle 34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8D Problem Solving: The Formal Customer Format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8D is the standard format required by many nuclear and engineering customers for formal corrective action reporting. It covers the full cycle from containment to prevention.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8600" y="1234440"/>
            <a:ext cx="566928" cy="47548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228600" y="1234440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D0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0392" y="127101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8600" y="1746504"/>
            <a:ext cx="2788920" cy="58521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1752" y="1801368"/>
            <a:ext cx="26426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8D is appropriate. Assign champion.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154680" y="1234440"/>
            <a:ext cx="566928" cy="47548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4" name="Text 11"/>
          <p:cNvSpPr/>
          <p:nvPr/>
        </p:nvSpPr>
        <p:spPr>
          <a:xfrm>
            <a:off x="3154680" y="1234440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776472" y="127101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154680" y="1746504"/>
            <a:ext cx="2788920" cy="58521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27832" y="1801368"/>
            <a:ext cx="26426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 cross-functional team.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080760" y="1234440"/>
            <a:ext cx="566928" cy="47548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9" name="Text 16"/>
          <p:cNvSpPr/>
          <p:nvPr/>
        </p:nvSpPr>
        <p:spPr>
          <a:xfrm>
            <a:off x="6080760" y="1234440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702552" y="127101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Problem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080760" y="1746504"/>
            <a:ext cx="2788920" cy="58521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53912" y="1801368"/>
            <a:ext cx="26426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precisely using Is/Is Not and data.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28600" y="2423160"/>
            <a:ext cx="566928" cy="47548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4" name="Text 21"/>
          <p:cNvSpPr/>
          <p:nvPr/>
        </p:nvSpPr>
        <p:spPr>
          <a:xfrm>
            <a:off x="228600" y="2423160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50392" y="245973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28600" y="2935224"/>
            <a:ext cx="2788920" cy="58521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01752" y="2990088"/>
            <a:ext cx="26426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containment: protect the customer.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154680" y="2423160"/>
            <a:ext cx="566928" cy="47548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9" name="Text 26"/>
          <p:cNvSpPr/>
          <p:nvPr/>
        </p:nvSpPr>
        <p:spPr>
          <a:xfrm>
            <a:off x="3154680" y="2423160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776472" y="245973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154680" y="2935224"/>
            <a:ext cx="2788920" cy="58521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27832" y="2990088"/>
            <a:ext cx="26426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Whys / Fishbone. Verify the root cause.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080760" y="2423160"/>
            <a:ext cx="566928" cy="47548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4" name="Text 31"/>
          <p:cNvSpPr/>
          <p:nvPr/>
        </p:nvSpPr>
        <p:spPr>
          <a:xfrm>
            <a:off x="6080760" y="2423160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702552" y="245973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Fix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080760" y="2935224"/>
            <a:ext cx="2788920" cy="58521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53912" y="2990088"/>
            <a:ext cx="26426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and verify the permanent corrective action.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228600" y="3611880"/>
            <a:ext cx="566928" cy="47548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39" name="Text 36"/>
          <p:cNvSpPr/>
          <p:nvPr/>
        </p:nvSpPr>
        <p:spPr>
          <a:xfrm>
            <a:off x="228600" y="3611880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D6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850392" y="364845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228600" y="4123944"/>
            <a:ext cx="2788920" cy="58521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01752" y="4178808"/>
            <a:ext cx="26426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out the fix. Update SOPs. Train people.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154680" y="3611880"/>
            <a:ext cx="566928" cy="47548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4" name="Text 41"/>
          <p:cNvSpPr/>
          <p:nvPr/>
        </p:nvSpPr>
        <p:spPr>
          <a:xfrm>
            <a:off x="3154680" y="3611880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3776472" y="364845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3154680" y="4123944"/>
            <a:ext cx="2788920" cy="58521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227832" y="4178808"/>
            <a:ext cx="26426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to similar processes. Update management system.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6080760" y="3611880"/>
            <a:ext cx="566928" cy="4754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49" name="Text 46"/>
          <p:cNvSpPr/>
          <p:nvPr/>
        </p:nvSpPr>
        <p:spPr>
          <a:xfrm>
            <a:off x="6080760" y="3611880"/>
            <a:ext cx="5669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D8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6702552" y="3648456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Recognise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6080760" y="4123944"/>
            <a:ext cx="2788920" cy="58521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153912" y="4178808"/>
            <a:ext cx="26426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the team. File the 8D. Share lessons.</a:t>
            </a:r>
            <a:endParaRPr lang="en-US" sz="950" dirty="0"/>
          </a:p>
        </p:txBody>
      </p:sp>
      <p:sp>
        <p:nvSpPr>
          <p:cNvPr id="53" name="Rectangle 52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Ideas Matter: The Suggestions Scheme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person in this organisation has knowledge and experience that can make us better. The Ideas and Suggestions Scheme is how we capture and act on your ideas.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" y="1600200"/>
            <a:ext cx="1463040" cy="493776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1600200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828800" y="1600200"/>
            <a:ext cx="228600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20240" y="1636776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your idea on the Idea Submission Form (QHSE-CI-04 Sheet 2) or tell your supervisor.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4320" y="2167128"/>
            <a:ext cx="1463040" cy="493776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" y="2167128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828800" y="2167128"/>
            <a:ext cx="228600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920240" y="2203704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idea is reviewed by the Quality Manager within 5 working days.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4320" y="2734056"/>
            <a:ext cx="1463040" cy="493776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8" name="Text 15"/>
          <p:cNvSpPr/>
          <p:nvPr/>
        </p:nvSpPr>
        <p:spPr>
          <a:xfrm>
            <a:off x="274320" y="2734056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828800" y="2734056"/>
            <a:ext cx="228600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920240" y="277063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receive written feedback: Approved / Under Review / Not Proceeding (with reason).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74320" y="3300984"/>
            <a:ext cx="1463040" cy="493776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2" name="Text 19"/>
          <p:cNvSpPr/>
          <p:nvPr/>
        </p:nvSpPr>
        <p:spPr>
          <a:xfrm>
            <a:off x="274320" y="3300984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828800" y="3300984"/>
            <a:ext cx="228600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920240" y="333756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ideas are added to the CI Project Register and assigned an owner.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74320" y="3867912"/>
            <a:ext cx="1463040" cy="493776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6" name="Text 23"/>
          <p:cNvSpPr/>
          <p:nvPr/>
        </p:nvSpPr>
        <p:spPr>
          <a:xfrm>
            <a:off x="274320" y="3867912"/>
            <a:ext cx="1463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Recognise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1828800" y="3867912"/>
            <a:ext cx="228600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920240" y="390448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ideas are shared with the team and the person recognised.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663440" y="1234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 good idea?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663440" y="160020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that would make your job safer or easier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way to reduce waste, rework, or waiting time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way to improve quality or reduce errors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way to serve customers better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you notice every day that slows things down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better way to organise the workspace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65760" y="4370832"/>
            <a:ext cx="8412480" cy="438912"/>
          </a:xfrm>
          <a:prstGeom prst="rect">
            <a:avLst/>
          </a:prstGeom>
          <a:solidFill>
            <a:srgbClr val="E6F4FB"/>
          </a:solidFill>
          <a:ln w="19050">
            <a:solidFill>
              <a:srgbClr val="009FE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5488" y="4443984"/>
            <a:ext cx="8193024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idea — however small — is welcome. The best ideas often come from the people doing the job every day, not from management. There are no bad ideas.</a:t>
            </a:r>
            <a:endParaRPr lang="en-US" sz="1000" dirty="0"/>
          </a:p>
        </p:txBody>
      </p:sp>
      <p:sp>
        <p:nvSpPr>
          <p:cNvPr id="33" name="Rectangle 32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A3 Report: One Page, One Story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A3 report is a structured one-page format for documenting a CI project from start to finish. It fits on a single A3 sheet — large enough to tell the full story, small enough to be used on the shopfloor.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2880" y="1298448"/>
            <a:ext cx="2057400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237744" y="1298448"/>
            <a:ext cx="194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Background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2880" y="1682496"/>
            <a:ext cx="2057400" cy="124358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1755648"/>
            <a:ext cx="191109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was this project initiated? Which strategic objective does it link to?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377440" y="1298448"/>
            <a:ext cx="2057400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3" name="Text 10"/>
          <p:cNvSpPr/>
          <p:nvPr/>
        </p:nvSpPr>
        <p:spPr>
          <a:xfrm>
            <a:off x="2432304" y="1298448"/>
            <a:ext cx="194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Current Condition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377440" y="1682496"/>
            <a:ext cx="2057400" cy="124358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50592" y="1755648"/>
            <a:ext cx="191109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problem? Show with data.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0" y="1298448"/>
            <a:ext cx="2057400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7" name="Text 14"/>
          <p:cNvSpPr/>
          <p:nvPr/>
        </p:nvSpPr>
        <p:spPr>
          <a:xfrm>
            <a:off x="4626864" y="1298448"/>
            <a:ext cx="194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Root Cause Analysis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0" y="1682496"/>
            <a:ext cx="2057400" cy="124358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45152" y="1755648"/>
            <a:ext cx="191109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Whys or Fishbone. What is the proven root cause?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66560" y="1298448"/>
            <a:ext cx="2057400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1" name="Text 18"/>
          <p:cNvSpPr/>
          <p:nvPr/>
        </p:nvSpPr>
        <p:spPr>
          <a:xfrm>
            <a:off x="6821424" y="1298448"/>
            <a:ext cx="194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Target Condition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766560" y="1682496"/>
            <a:ext cx="2057400" cy="124358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39712" y="1755648"/>
            <a:ext cx="191109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success look like? Measurable target.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82880" y="3017520"/>
            <a:ext cx="2057400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5" name="Text 22"/>
          <p:cNvSpPr/>
          <p:nvPr/>
        </p:nvSpPr>
        <p:spPr>
          <a:xfrm>
            <a:off x="237744" y="3017520"/>
            <a:ext cx="194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Countermeasures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82880" y="3401568"/>
            <a:ext cx="2057400" cy="124358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56032" y="3474720"/>
            <a:ext cx="191109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actions to address the root cause.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377440" y="3017520"/>
            <a:ext cx="2057400" cy="38404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9" name="Text 26"/>
          <p:cNvSpPr/>
          <p:nvPr/>
        </p:nvSpPr>
        <p:spPr>
          <a:xfrm>
            <a:off x="2432304" y="3017520"/>
            <a:ext cx="194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Implementation Plan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377440" y="3401568"/>
            <a:ext cx="2057400" cy="124358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450592" y="3474720"/>
            <a:ext cx="191109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does what? Resources? Risks?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572000" y="3017520"/>
            <a:ext cx="2057400" cy="38404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3" name="Text 30"/>
          <p:cNvSpPr/>
          <p:nvPr/>
        </p:nvSpPr>
        <p:spPr>
          <a:xfrm>
            <a:off x="4626864" y="3017520"/>
            <a:ext cx="194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Results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572000" y="3401568"/>
            <a:ext cx="2057400" cy="124358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45152" y="3474720"/>
            <a:ext cx="191109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vs after. Data. Financial benefit.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6766560" y="3017520"/>
            <a:ext cx="2057400" cy="38404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7" name="Text 34"/>
          <p:cNvSpPr/>
          <p:nvPr/>
        </p:nvSpPr>
        <p:spPr>
          <a:xfrm>
            <a:off x="6821424" y="3017520"/>
            <a:ext cx="1947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Sustain and Standardise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766560" y="3401568"/>
            <a:ext cx="2057400" cy="1243584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39712" y="3474720"/>
            <a:ext cx="191109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SOPs updated? Training done? Lessons filed?</a:t>
            </a:r>
            <a:endParaRPr lang="en-US" sz="950" dirty="0"/>
          </a:p>
        </p:txBody>
      </p:sp>
      <p:sp>
        <p:nvSpPr>
          <p:cNvPr id="40" name="Rectangle 39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43" name="Rectangle 4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the Impact of CI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CI project must have a measurable target and a before/after comparison. 'We improved things' is not evidence. Numbers are evidence.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for CI programmes: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4320" y="1572768"/>
            <a:ext cx="1645920" cy="493776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1572768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011680" y="1572768"/>
            <a:ext cx="219456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03120" y="1609344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NCR rate (per month). Right First Time %. Rework hours. Scrap cost.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4320" y="2139696"/>
            <a:ext cx="1645920" cy="493776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" y="2139696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011680" y="2139696"/>
            <a:ext cx="219456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103120" y="2176272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OTIF %. On-time delivery trend. Lead time (quote to delivery).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4320" y="2706624"/>
            <a:ext cx="1645920" cy="493776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8" name="Text 15"/>
          <p:cNvSpPr/>
          <p:nvPr/>
        </p:nvSpPr>
        <p:spPr>
          <a:xfrm>
            <a:off x="274320" y="2706624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011680" y="2706624"/>
            <a:ext cx="219456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103120" y="274320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 and rework cost (£). Energy consumption. Labour efficiency (hours per unit).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74320" y="3273552"/>
            <a:ext cx="1645920" cy="493776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2" name="Text 19"/>
          <p:cNvSpPr/>
          <p:nvPr/>
        </p:nvSpPr>
        <p:spPr>
          <a:xfrm>
            <a:off x="274320" y="3273552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011680" y="3273552"/>
            <a:ext cx="219456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103120" y="331012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miss reports per month. Lost Time Incidents. 5S audit score.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74320" y="3840480"/>
            <a:ext cx="1645920" cy="493776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26" name="Text 23"/>
          <p:cNvSpPr/>
          <p:nvPr/>
        </p:nvSpPr>
        <p:spPr>
          <a:xfrm>
            <a:off x="274320" y="3840480"/>
            <a:ext cx="1645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Activity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011680" y="3840480"/>
            <a:ext cx="2194560" cy="493776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103120" y="387705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active CI projects. Ideas submitted per month. Benefits realised (£).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4663440" y="11887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F4N scoring for CI (0-10):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663440" y="1572768"/>
            <a:ext cx="502920" cy="65836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1" name="Text 28"/>
          <p:cNvSpPr/>
          <p:nvPr/>
        </p:nvSpPr>
        <p:spPr>
          <a:xfrm>
            <a:off x="4663440" y="157276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257800" y="1572768"/>
            <a:ext cx="356616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49240" y="162763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formal CI process in place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663440" y="2322576"/>
            <a:ext cx="502920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5" name="Text 32"/>
          <p:cNvSpPr/>
          <p:nvPr/>
        </p:nvSpPr>
        <p:spPr>
          <a:xfrm>
            <a:off x="4663440" y="2322576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5257800" y="2322576"/>
            <a:ext cx="356616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49240" y="23774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CI activities, but informal and reactive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663440" y="3072384"/>
            <a:ext cx="502920" cy="658368"/>
          </a:xfrm>
          <a:prstGeom prst="rect">
            <a:avLst/>
          </a:prstGeom>
          <a:solidFill>
            <a:srgbClr val="E6F4FB"/>
          </a:solidFill>
          <a:ln/>
        </p:spPr>
      </p:sp>
      <p:sp>
        <p:nvSpPr>
          <p:cNvPr id="39" name="Text 36"/>
          <p:cNvSpPr/>
          <p:nvPr/>
        </p:nvSpPr>
        <p:spPr>
          <a:xfrm>
            <a:off x="4663440" y="307238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5257800" y="3072384"/>
            <a:ext cx="356616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49240" y="312724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CI with clear processes, owners, and reviews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663440" y="3822192"/>
            <a:ext cx="502920" cy="658368"/>
          </a:xfrm>
          <a:prstGeom prst="rect">
            <a:avLst/>
          </a:prstGeom>
          <a:solidFill>
            <a:srgbClr val="E2EFDA"/>
          </a:solidFill>
          <a:ln/>
        </p:spPr>
      </p:sp>
      <p:sp>
        <p:nvSpPr>
          <p:cNvPr id="43" name="Text 40"/>
          <p:cNvSpPr/>
          <p:nvPr/>
        </p:nvSpPr>
        <p:spPr>
          <a:xfrm>
            <a:off x="4663440" y="382219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5257800" y="3822192"/>
            <a:ext cx="3566160" cy="658368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349240" y="387705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embedded, data-driven CI linked to strategy and leadership</a:t>
            </a:r>
            <a:endParaRPr lang="en-US" sz="1000" dirty="0"/>
          </a:p>
        </p:txBody>
      </p:sp>
      <p:sp>
        <p:nvSpPr>
          <p:cNvPr id="46" name="Rectangle 45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CI Toolkit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7498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documents work together as the complete CI system for [Company Name].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170432"/>
            <a:ext cx="1463040" cy="80467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1170432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QHSE-CI-01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828800" y="1170432"/>
            <a:ext cx="704088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20240" y="120700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Sustainable Improvement Plan (CSIP)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920240" y="1499616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master plan linking all CI to strategy. Live management tool. Review monthly.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2103120"/>
            <a:ext cx="1463040" cy="80467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" y="210312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QHSE-CI-02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1828800" y="2103120"/>
            <a:ext cx="704088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920240" y="213969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Project Report Template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920240" y="2432304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One-page project report for every CI project. Standard format for sharing and review.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4320" y="3035808"/>
            <a:ext cx="1463040" cy="804672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19" name="Text 16"/>
          <p:cNvSpPr/>
          <p:nvPr/>
        </p:nvSpPr>
        <p:spPr>
          <a:xfrm>
            <a:off x="274320" y="3035808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QHSE-CI-03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828800" y="3035808"/>
            <a:ext cx="704088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920240" y="307238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Solving Toolkit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920240" y="336499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for 5 Whys, Fishbone, and 8D. Use for every NCR, near miss, or CI project.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4320" y="3968496"/>
            <a:ext cx="1463040" cy="804672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4" name="Text 21"/>
          <p:cNvSpPr/>
          <p:nvPr/>
        </p:nvSpPr>
        <p:spPr>
          <a:xfrm>
            <a:off x="274320" y="3968496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QHSE-CI-04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828800" y="3968496"/>
            <a:ext cx="7040880" cy="804672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920240" y="40050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and Suggestions Log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920240" y="4297680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and track improvement ideas. Includes submission form and summary dashboard.</a:t>
            </a:r>
            <a:endParaRPr lang="en-US" sz="1000" dirty="0"/>
          </a:p>
        </p:txBody>
      </p:sp>
      <p:sp>
        <p:nvSpPr>
          <p:cNvPr id="28" name="Rectangle 27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83348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5760"/>
            <a:ext cx="2011680" cy="6675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344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Improvement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to do from today: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3317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one idea to the suggestions scheme.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time a problem occurs: use 5 Whys before accepting the first answer.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one waste in your area and tell your supervisor.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657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Speak to the Quality Manager.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in Confidence  |  [Company Name]  |  [Date]</a:t>
            </a:r>
            <a:endParaRPr lang="en-US" sz="1000" dirty="0"/>
          </a:p>
        </p:txBody>
      </p:sp>
      <p:sp>
        <p:nvSpPr>
          <p:cNvPr id="10" name="Rectangle 9"/>
          <p:cNvSpPr/>
          <p:nvPr/>
        </p:nvSpPr>
        <p:spPr>
          <a:xfrm>
            <a:off x="7516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100584"/>
            <a:ext cx="566928" cy="347472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100584"/>
            <a:ext cx="658368" cy="34747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18B01C1-0AC2-41D0-A72E-0A5D063993F3}"/>
</file>

<file path=customXml/itemProps2.xml><?xml version="1.0" encoding="utf-8"?>
<ds:datastoreItem xmlns:ds="http://schemas.openxmlformats.org/officeDocument/2006/customXml" ds:itemID="{A24F3259-6FFE-41C8-AB46-066B6EB0CE06}"/>
</file>

<file path=customXml/itemProps3.xml><?xml version="1.0" encoding="utf-8"?>
<ds:datastoreItem xmlns:ds="http://schemas.openxmlformats.org/officeDocument/2006/customXml" ds:itemID="{51E002B5-E8B8-4910-81E9-6D3E9792537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QHSE-CI-05 Continuous Improvement Training Guide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