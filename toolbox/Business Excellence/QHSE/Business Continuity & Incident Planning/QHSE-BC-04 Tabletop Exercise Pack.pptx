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theme/theme2.xml" ContentType="application/vnd.openxmlformats-officedocument.theme+xml"/>
  <Override PartName="/ppt/media/image1.jpg" ContentType="image/jpg"/>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ustomXml" Target="../customXml/item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ustomXml" Target="../customXml/item2.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ustomXml" Target="../customXml/item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901241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2.pn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jpg"/><Relationship Id="rId4" Type="http://schemas.openxmlformats.org/officeDocument/2006/relationships/image" Target="../media/image2.png"/><Relationship Id="rId5"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jpg"/><Relationship Id="rId4" Type="http://schemas.openxmlformats.org/officeDocument/2006/relationships/image" Target="../media/image2.png"/><Relationship Id="rId5"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jpg"/><Relationship Id="rId4" Type="http://schemas.openxmlformats.org/officeDocument/2006/relationships/image" Target="../media/image2.png"/><Relationship Id="rId5"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jpg"/><Relationship Id="rId4" Type="http://schemas.openxmlformats.org/officeDocument/2006/relationships/image" Target="../media/image2.png"/><Relationship Id="rId5"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jpg"/><Relationship Id="rId4" Type="http://schemas.openxmlformats.org/officeDocument/2006/relationships/image" Target="../media/image2.png"/><Relationship Id="rId5"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jpg"/><Relationship Id="rId4" Type="http://schemas.openxmlformats.org/officeDocument/2006/relationships/image" Target="../media/image2.png"/><Relationship Id="rId5"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jpg"/><Relationship Id="rId4" Type="http://schemas.openxmlformats.org/officeDocument/2006/relationships/image" Target="../media/image2.png"/><Relationship Id="rId5"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jpg"/><Relationship Id="rId4" Type="http://schemas.openxmlformats.org/officeDocument/2006/relationships/image" Target="../media/image2.png"/><Relationship Id="rId5"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jpg"/><Relationship Id="rId4" Type="http://schemas.openxmlformats.org/officeDocument/2006/relationships/image" Target="../media/image2.png"/><Relationship Id="rId5"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jpg"/><Relationship Id="rId4" Type="http://schemas.openxmlformats.org/officeDocument/2006/relationships/image" Target="../media/image2.png"/><Relationship Id="rId5"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jpg"/><Relationship Id="rId4" Type="http://schemas.openxmlformats.org/officeDocument/2006/relationships/image" Target="../media/image2.png"/><Relationship Id="rId5"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jpg"/><Relationship Id="rId4" Type="http://schemas.openxmlformats.org/officeDocument/2006/relationships/image" Target="../media/image2.png"/><Relationship Id="rId5"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jpg"/><Relationship Id="rId4" Type="http://schemas.openxmlformats.org/officeDocument/2006/relationships/image" Target="../media/image2.png"/><Relationship Id="rId5"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jpg"/><Relationship Id="rId4" Type="http://schemas.openxmlformats.org/officeDocument/2006/relationships/image" Target="../media/image2.png"/><Relationship Id="rId5"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645920"/>
          </a:xfrm>
          <a:prstGeom prst="rect">
            <a:avLst/>
          </a:prstGeom>
          <a:solidFill>
            <a:srgbClr val="009FE3"/>
          </a:solidFill>
          <a:ln w="12700">
            <a:solidFill>
              <a:srgbClr val="009FE3"/>
            </a:solidFill>
            <a:prstDash val="solid"/>
          </a:ln>
        </p:spPr>
        <p:txBody>
          <a:bodyPr/>
          <a:lstStyle/>
          <a:p>
            <a:endParaRPr lang="en-GB"/>
          </a:p>
        </p:txBody>
      </p:sp>
      <p:pic>
        <p:nvPicPr>
          <p:cNvPr id="3" name="Image 0" descr="/home/claude/nuccol_logo.jpg"/>
          <p:cNvPicPr>
            <a:picLocks noChangeAspect="1"/>
          </p:cNvPicPr>
          <p:nvPr/>
        </p:nvPicPr>
        <p:blipFill>
          <a:blip r:embed="rId3"/>
          <a:stretch>
            <a:fillRect/>
          </a:stretch>
        </p:blipFill>
        <p:spPr>
          <a:xfrm>
            <a:off x="365760" y="274320"/>
            <a:ext cx="1371600" cy="612648"/>
          </a:xfrm>
          <a:prstGeom prst="rect">
            <a:avLst/>
          </a:prstGeom>
        </p:spPr>
      </p:pic>
      <p:sp>
        <p:nvSpPr>
          <p:cNvPr id="4" name="Text 1"/>
          <p:cNvSpPr/>
          <p:nvPr/>
        </p:nvSpPr>
        <p:spPr>
          <a:xfrm>
            <a:off x="365760" y="1737360"/>
            <a:ext cx="8229600" cy="594360"/>
          </a:xfrm>
          <a:prstGeom prst="rect">
            <a:avLst/>
          </a:prstGeom>
          <a:noFill/>
          <a:ln/>
        </p:spPr>
        <p:txBody>
          <a:bodyPr wrap="square" rtlCol="0" anchor="ctr"/>
          <a:lstStyle/>
          <a:p>
            <a:pPr marL="0" indent="0">
              <a:buNone/>
            </a:pPr>
            <a:r>
              <a:rPr lang="en-US" sz="3200" b="1" dirty="0">
                <a:solidFill>
                  <a:srgbClr val="009FE3"/>
                </a:solidFill>
                <a:latin typeface="Arial" pitchFamily="34" charset="0"/>
                <a:ea typeface="Arial" pitchFamily="34" charset="-122"/>
                <a:cs typeface="Arial" pitchFamily="34" charset="-120"/>
              </a:rPr>
              <a:t>BUSINESS CONTINUITY</a:t>
            </a:r>
            <a:endParaRPr lang="en-US" sz="3200" dirty="0"/>
          </a:p>
        </p:txBody>
      </p:sp>
      <p:sp>
        <p:nvSpPr>
          <p:cNvPr id="5" name="Text 2"/>
          <p:cNvSpPr/>
          <p:nvPr/>
        </p:nvSpPr>
        <p:spPr>
          <a:xfrm>
            <a:off x="365760" y="2331720"/>
            <a:ext cx="8229600" cy="502920"/>
          </a:xfrm>
          <a:prstGeom prst="rect">
            <a:avLst/>
          </a:prstGeom>
          <a:noFill/>
          <a:ln/>
        </p:spPr>
        <p:txBody>
          <a:bodyPr wrap="square" rtlCol="0" anchor="ctr"/>
          <a:lstStyle/>
          <a:p>
            <a:pPr marL="0" indent="0">
              <a:buNone/>
            </a:pPr>
            <a:r>
              <a:rPr lang="en-US" sz="2600" b="1" dirty="0">
                <a:solidFill>
                  <a:srgbClr val="83348F"/>
                </a:solidFill>
                <a:latin typeface="Arial" pitchFamily="34" charset="0"/>
                <a:ea typeface="Arial" pitchFamily="34" charset="-122"/>
                <a:cs typeface="Arial" pitchFamily="34" charset="-120"/>
              </a:rPr>
              <a:t>TABLETOP EXERCISE PACK</a:t>
            </a:r>
            <a:endParaRPr lang="en-US" sz="2600" dirty="0"/>
          </a:p>
        </p:txBody>
      </p:sp>
      <p:sp>
        <p:nvSpPr>
          <p:cNvPr id="6" name="Text 3"/>
          <p:cNvSpPr/>
          <p:nvPr/>
        </p:nvSpPr>
        <p:spPr>
          <a:xfrm>
            <a:off x="365760" y="3017520"/>
            <a:ext cx="4572000" cy="365760"/>
          </a:xfrm>
          <a:prstGeom prst="rect">
            <a:avLst/>
          </a:prstGeom>
          <a:noFill/>
          <a:ln/>
        </p:spPr>
        <p:txBody>
          <a:bodyPr wrap="square" rtlCol="0" anchor="ctr"/>
          <a:lstStyle/>
          <a:p>
            <a:pPr marL="0" indent="0">
              <a:buNone/>
            </a:pPr>
            <a:r>
              <a:rPr lang="en-US" sz="1800" dirty="0">
                <a:solidFill>
                  <a:srgbClr val="5B595A"/>
                </a:solidFill>
                <a:latin typeface="Arial" pitchFamily="34" charset="0"/>
                <a:ea typeface="Arial" pitchFamily="34" charset="-122"/>
                <a:cs typeface="Arial" pitchFamily="34" charset="-120"/>
              </a:rPr>
              <a:t>[Company Name]</a:t>
            </a:r>
            <a:endParaRPr lang="en-US" sz="1800" dirty="0"/>
          </a:p>
        </p:txBody>
      </p:sp>
      <p:sp>
        <p:nvSpPr>
          <p:cNvPr id="7" name="Text 4"/>
          <p:cNvSpPr/>
          <p:nvPr/>
        </p:nvSpPr>
        <p:spPr>
          <a:xfrm>
            <a:off x="365760" y="3474720"/>
            <a:ext cx="8229600" cy="320040"/>
          </a:xfrm>
          <a:prstGeom prst="rect">
            <a:avLst/>
          </a:prstGeom>
          <a:noFill/>
          <a:ln/>
        </p:spPr>
        <p:txBody>
          <a:bodyPr wrap="square" rtlCol="0" anchor="ctr"/>
          <a:lstStyle/>
          <a:p>
            <a:pPr marL="0" indent="0">
              <a:buNone/>
            </a:pPr>
            <a:r>
              <a:rPr lang="en-US" sz="1200" dirty="0">
                <a:solidFill>
                  <a:srgbClr val="5B595A"/>
                </a:solidFill>
                <a:latin typeface="Arial" pitchFamily="34" charset="0"/>
                <a:ea typeface="Arial" pitchFamily="34" charset="-122"/>
                <a:cs typeface="Arial" pitchFamily="34" charset="-120"/>
              </a:rPr>
              <a:t>Exercise Facilitator: [Name] | Date: [DD/MM/YYYY] | Location: [Venue]</a:t>
            </a:r>
            <a:endParaRPr lang="en-US" sz="1200" dirty="0"/>
          </a:p>
        </p:txBody>
      </p:sp>
      <p:sp>
        <p:nvSpPr>
          <p:cNvPr id="8" name="Rectangle 7"/>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5"/>
          <a:stretch>
            <a:fillRect/>
          </a:stretch>
        </p:blipFill>
        <p:spPr>
          <a:xfrm>
            <a:off x="7562088" y="100584"/>
            <a:ext cx="566928" cy="347472"/>
          </a:xfrm>
          <a:prstGeom prst="rect">
            <a:avLst/>
          </a:prstGeom>
        </p:spPr>
      </p:pic>
      <p:pic>
        <p:nvPicPr>
          <p:cNvPr id="10" name="Picture 9" descr="image.png"/>
          <p:cNvPicPr>
            <a:picLocks noChangeAspect="1"/>
          </p:cNvPicPr>
          <p:nvPr/>
        </p:nvPicPr>
        <p:blipFill>
          <a:blip r:embed="rId4"/>
          <a:stretch>
            <a:fillRect/>
          </a:stretch>
        </p:blipFill>
        <p:spPr>
          <a:xfrm>
            <a:off x="8174736" y="100584"/>
            <a:ext cx="658368" cy="347472"/>
          </a:xfrm>
          <a:prstGeom prst="rect">
            <a:avLst/>
          </a:prstGeom>
        </p:spPr>
      </p:pic>
      <p:sp>
        <p:nvSpPr>
          <p:cNvPr id="11" name="Rectangle 10"/>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274320" y="137160"/>
            <a:ext cx="2011680" cy="320040"/>
          </a:xfrm>
          <a:prstGeom prst="roundRect">
            <a:avLst>
              <a:gd name="adj" fmla="val 14286"/>
            </a:avLst>
          </a:prstGeom>
          <a:solidFill>
            <a:srgbClr val="009FE3"/>
          </a:solidFill>
          <a:ln w="12700">
            <a:solidFill>
              <a:srgbClr val="009FE3"/>
            </a:solidFill>
            <a:prstDash val="solid"/>
          </a:ln>
        </p:spPr>
        <p:txBody>
          <a:bodyPr/>
          <a:lstStyle/>
          <a:p>
            <a:endParaRPr lang="en-GB"/>
          </a:p>
        </p:txBody>
      </p:sp>
      <p:sp>
        <p:nvSpPr>
          <p:cNvPr id="4" name="Text 1"/>
          <p:cNvSpPr/>
          <p:nvPr/>
        </p:nvSpPr>
        <p:spPr>
          <a:xfrm>
            <a:off x="274320" y="137160"/>
            <a:ext cx="201168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INTRODUCTION</a:t>
            </a:r>
            <a:endParaRPr lang="en-US" sz="1000" dirty="0"/>
          </a:p>
        </p:txBody>
      </p:sp>
      <p:sp>
        <p:nvSpPr>
          <p:cNvPr id="5" name="Text 2"/>
          <p:cNvSpPr/>
          <p:nvPr/>
        </p:nvSpPr>
        <p:spPr>
          <a:xfrm>
            <a:off x="274320" y="548640"/>
            <a:ext cx="8595360" cy="640080"/>
          </a:xfrm>
          <a:prstGeom prst="rect">
            <a:avLst/>
          </a:prstGeom>
          <a:noFill/>
          <a:ln/>
        </p:spPr>
        <p:txBody>
          <a:bodyPr wrap="square" rtlCol="0" anchor="ctr"/>
          <a:lstStyle/>
          <a:p>
            <a:pPr marL="0" indent="0">
              <a:buNone/>
            </a:pPr>
            <a:r>
              <a:rPr lang="en-US" sz="2800" b="1" dirty="0">
                <a:solidFill>
                  <a:srgbClr val="009FE3"/>
                </a:solidFill>
                <a:latin typeface="Arial" pitchFamily="34" charset="0"/>
                <a:ea typeface="Arial" pitchFamily="34" charset="-122"/>
                <a:cs typeface="Arial" pitchFamily="34" charset="-120"/>
              </a:rPr>
              <a:t>What Is a Tabletop Exercise?</a:t>
            </a:r>
            <a:endParaRPr lang="en-US" sz="2800" dirty="0"/>
          </a:p>
        </p:txBody>
      </p:sp>
      <p:sp>
        <p:nvSpPr>
          <p:cNvPr id="6" name="Shape 3"/>
          <p:cNvSpPr/>
          <p:nvPr/>
        </p:nvSpPr>
        <p:spPr>
          <a:xfrm>
            <a:off x="274320" y="1234440"/>
            <a:ext cx="8412480" cy="0"/>
          </a:xfrm>
          <a:prstGeom prst="line">
            <a:avLst/>
          </a:prstGeom>
          <a:noFill/>
          <a:ln w="25400">
            <a:solidFill>
              <a:srgbClr val="E6F4FB"/>
            </a:solidFill>
            <a:prstDash val="solid"/>
          </a:ln>
        </p:spPr>
        <p:txBody>
          <a:bodyPr/>
          <a:lstStyle/>
          <a:p>
            <a:endParaRPr lang="en-GB"/>
          </a:p>
        </p:txBody>
      </p:sp>
      <p:sp>
        <p:nvSpPr>
          <p:cNvPr id="7" name="Shape 4"/>
          <p:cNvSpPr/>
          <p:nvPr/>
        </p:nvSpPr>
        <p:spPr>
          <a:xfrm>
            <a:off x="274320" y="1371600"/>
            <a:ext cx="2743200" cy="3017520"/>
          </a:xfrm>
          <a:prstGeom prst="roundRect">
            <a:avLst>
              <a:gd name="adj" fmla="val 2667"/>
            </a:avLst>
          </a:prstGeom>
          <a:solidFill>
            <a:srgbClr val="009FE3"/>
          </a:solidFill>
          <a:ln/>
          <a:effectLst>
            <a:outerShdw blurRad="63500" dist="25400" dir="2700000" algn="bl" rotWithShape="0">
              <a:srgbClr val="000000">
                <a:alpha val="12000"/>
              </a:srgbClr>
            </a:outerShdw>
          </a:effectLst>
        </p:spPr>
        <p:txBody>
          <a:bodyPr/>
          <a:lstStyle/>
          <a:p>
            <a:endParaRPr lang="en-GB"/>
          </a:p>
        </p:txBody>
      </p:sp>
      <p:sp>
        <p:nvSpPr>
          <p:cNvPr id="8" name="Text 5"/>
          <p:cNvSpPr/>
          <p:nvPr/>
        </p:nvSpPr>
        <p:spPr>
          <a:xfrm>
            <a:off x="365760" y="1463040"/>
            <a:ext cx="2560320" cy="36576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What it IS</a:t>
            </a:r>
            <a:endParaRPr lang="en-US" sz="1300" dirty="0"/>
          </a:p>
        </p:txBody>
      </p:sp>
      <p:sp>
        <p:nvSpPr>
          <p:cNvPr id="9" name="Text 6"/>
          <p:cNvSpPr/>
          <p:nvPr/>
        </p:nvSpPr>
        <p:spPr>
          <a:xfrm>
            <a:off x="365760" y="1920240"/>
            <a:ext cx="2560320" cy="2286000"/>
          </a:xfrm>
          <a:prstGeom prst="rect">
            <a:avLst/>
          </a:prstGeom>
          <a:noFill/>
          <a:ln/>
        </p:spPr>
        <p:txBody>
          <a:bodyPr wrap="square" rtlCol="0" anchor="t"/>
          <a:lstStyle/>
          <a:p>
            <a:pPr marL="0" indent="0">
              <a:buNone/>
            </a:pPr>
            <a:r>
              <a:rPr lang="en-US" sz="1100" dirty="0">
                <a:solidFill>
                  <a:srgbClr val="FFFFFF"/>
                </a:solidFill>
                <a:latin typeface="Arial" pitchFamily="34" charset="0"/>
                <a:ea typeface="Arial" pitchFamily="34" charset="-122"/>
                <a:cs typeface="Arial" pitchFamily="34" charset="-120"/>
              </a:rPr>
              <a:t>A structured, discussion-based session where the Crisis Management Team (CMT) walks through a realistic incident scenario. No physical activation required.</a:t>
            </a:r>
            <a:endParaRPr lang="en-US" sz="1100" dirty="0"/>
          </a:p>
        </p:txBody>
      </p:sp>
      <p:sp>
        <p:nvSpPr>
          <p:cNvPr id="10" name="Shape 7"/>
          <p:cNvSpPr/>
          <p:nvPr/>
        </p:nvSpPr>
        <p:spPr>
          <a:xfrm>
            <a:off x="3246120" y="1371600"/>
            <a:ext cx="2743200" cy="3017520"/>
          </a:xfrm>
          <a:prstGeom prst="roundRect">
            <a:avLst>
              <a:gd name="adj" fmla="val 2667"/>
            </a:avLst>
          </a:prstGeom>
          <a:solidFill>
            <a:srgbClr val="83348F"/>
          </a:solidFill>
          <a:ln/>
          <a:effectLst>
            <a:outerShdw blurRad="63500" dist="25400" dir="2700000" algn="bl" rotWithShape="0">
              <a:srgbClr val="000000">
                <a:alpha val="12000"/>
              </a:srgbClr>
            </a:outerShdw>
          </a:effectLst>
        </p:spPr>
        <p:txBody>
          <a:bodyPr/>
          <a:lstStyle/>
          <a:p>
            <a:endParaRPr lang="en-GB"/>
          </a:p>
        </p:txBody>
      </p:sp>
      <p:sp>
        <p:nvSpPr>
          <p:cNvPr id="11" name="Text 8"/>
          <p:cNvSpPr/>
          <p:nvPr/>
        </p:nvSpPr>
        <p:spPr>
          <a:xfrm>
            <a:off x="3337560" y="1463040"/>
            <a:ext cx="2560320" cy="36576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What it is NOT</a:t>
            </a:r>
            <a:endParaRPr lang="en-US" sz="1300" dirty="0"/>
          </a:p>
        </p:txBody>
      </p:sp>
      <p:sp>
        <p:nvSpPr>
          <p:cNvPr id="12" name="Text 9"/>
          <p:cNvSpPr/>
          <p:nvPr/>
        </p:nvSpPr>
        <p:spPr>
          <a:xfrm>
            <a:off x="3337560" y="1920240"/>
            <a:ext cx="2560320" cy="2286000"/>
          </a:xfrm>
          <a:prstGeom prst="rect">
            <a:avLst/>
          </a:prstGeom>
          <a:noFill/>
          <a:ln/>
        </p:spPr>
        <p:txBody>
          <a:bodyPr wrap="square" rtlCol="0" anchor="t"/>
          <a:lstStyle/>
          <a:p>
            <a:pPr marL="0" indent="0">
              <a:buNone/>
            </a:pPr>
            <a:r>
              <a:rPr lang="en-US" sz="1100" dirty="0">
                <a:solidFill>
                  <a:srgbClr val="FFFFFF"/>
                </a:solidFill>
                <a:latin typeface="Arial" pitchFamily="34" charset="0"/>
                <a:ea typeface="Arial" pitchFamily="34" charset="-122"/>
                <a:cs typeface="Arial" pitchFamily="34" charset="-120"/>
              </a:rPr>
              <a:t>An exam. There are no right or wrong answers. The goal is to identify gaps, test thinking, and improve the plan - not to judge individuals.</a:t>
            </a:r>
            <a:endParaRPr lang="en-US" sz="1100" dirty="0"/>
          </a:p>
        </p:txBody>
      </p:sp>
      <p:sp>
        <p:nvSpPr>
          <p:cNvPr id="13" name="Shape 10"/>
          <p:cNvSpPr/>
          <p:nvPr/>
        </p:nvSpPr>
        <p:spPr>
          <a:xfrm>
            <a:off x="6217920" y="1371600"/>
            <a:ext cx="2743200" cy="3017520"/>
          </a:xfrm>
          <a:prstGeom prst="roundRect">
            <a:avLst>
              <a:gd name="adj" fmla="val 2667"/>
            </a:avLst>
          </a:prstGeom>
          <a:solidFill>
            <a:srgbClr val="5B595A"/>
          </a:solidFill>
          <a:ln/>
          <a:effectLst>
            <a:outerShdw blurRad="63500" dist="25400" dir="2700000" algn="bl" rotWithShape="0">
              <a:srgbClr val="000000">
                <a:alpha val="12000"/>
              </a:srgbClr>
            </a:outerShdw>
          </a:effectLst>
        </p:spPr>
        <p:txBody>
          <a:bodyPr/>
          <a:lstStyle/>
          <a:p>
            <a:endParaRPr lang="en-GB"/>
          </a:p>
        </p:txBody>
      </p:sp>
      <p:sp>
        <p:nvSpPr>
          <p:cNvPr id="14" name="Text 11"/>
          <p:cNvSpPr/>
          <p:nvPr/>
        </p:nvSpPr>
        <p:spPr>
          <a:xfrm>
            <a:off x="6309360" y="1463040"/>
            <a:ext cx="2560320" cy="36576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Why we do it</a:t>
            </a:r>
            <a:endParaRPr lang="en-US" sz="1300" dirty="0"/>
          </a:p>
        </p:txBody>
      </p:sp>
      <p:sp>
        <p:nvSpPr>
          <p:cNvPr id="15" name="Text 12"/>
          <p:cNvSpPr/>
          <p:nvPr/>
        </p:nvSpPr>
        <p:spPr>
          <a:xfrm>
            <a:off x="6309360" y="1920240"/>
            <a:ext cx="2560320" cy="2286000"/>
          </a:xfrm>
          <a:prstGeom prst="rect">
            <a:avLst/>
          </a:prstGeom>
          <a:noFill/>
          <a:ln/>
        </p:spPr>
        <p:txBody>
          <a:bodyPr wrap="square" rtlCol="0" anchor="t"/>
          <a:lstStyle/>
          <a:p>
            <a:pPr marL="0" indent="0">
              <a:buNone/>
            </a:pPr>
            <a:r>
              <a:rPr lang="en-US" sz="1100" dirty="0">
                <a:solidFill>
                  <a:srgbClr val="FFFFFF"/>
                </a:solidFill>
                <a:latin typeface="Arial" pitchFamily="34" charset="0"/>
                <a:ea typeface="Arial" pitchFamily="34" charset="-122"/>
                <a:cs typeface="Arial" pitchFamily="34" charset="-120"/>
              </a:rPr>
              <a:t>Because a plan untested is a plan untrusted. Tabletop exercises build confidence, muscle memory, and identify improvements before a real incident occurs.</a:t>
            </a:r>
            <a:endParaRPr lang="en-US" sz="1100" dirty="0"/>
          </a:p>
        </p:txBody>
      </p:sp>
      <p:sp>
        <p:nvSpPr>
          <p:cNvPr id="16" name="Rectangle 15"/>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image.png"/>
          <p:cNvPicPr>
            <a:picLocks noChangeAspect="1"/>
          </p:cNvPicPr>
          <p:nvPr/>
        </p:nvPicPr>
        <p:blipFill>
          <a:blip r:embed="rId5"/>
          <a:stretch>
            <a:fillRect/>
          </a:stretch>
        </p:blipFill>
        <p:spPr>
          <a:xfrm>
            <a:off x="7562088" y="100584"/>
            <a:ext cx="566928" cy="347472"/>
          </a:xfrm>
          <a:prstGeom prst="rect">
            <a:avLst/>
          </a:prstGeom>
        </p:spPr>
      </p:pic>
      <p:pic>
        <p:nvPicPr>
          <p:cNvPr id="18" name="Picture 17" descr="image.png"/>
          <p:cNvPicPr>
            <a:picLocks noChangeAspect="1"/>
          </p:cNvPicPr>
          <p:nvPr/>
        </p:nvPicPr>
        <p:blipFill>
          <a:blip r:embed="rId4"/>
          <a:stretch>
            <a:fillRect/>
          </a:stretch>
        </p:blipFill>
        <p:spPr>
          <a:xfrm>
            <a:off x="8174736" y="100584"/>
            <a:ext cx="658368" cy="347472"/>
          </a:xfrm>
          <a:prstGeom prst="rect">
            <a:avLst/>
          </a:prstGeom>
        </p:spPr>
      </p:pic>
      <p:sp>
        <p:nvSpPr>
          <p:cNvPr id="19" name="Rectangle 18"/>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274320" y="137160"/>
            <a:ext cx="2011680" cy="320040"/>
          </a:xfrm>
          <a:prstGeom prst="roundRect">
            <a:avLst>
              <a:gd name="adj" fmla="val 14286"/>
            </a:avLst>
          </a:prstGeom>
          <a:solidFill>
            <a:srgbClr val="009FE3"/>
          </a:solidFill>
          <a:ln w="12700">
            <a:solidFill>
              <a:srgbClr val="009FE3"/>
            </a:solidFill>
            <a:prstDash val="solid"/>
          </a:ln>
        </p:spPr>
        <p:txBody>
          <a:bodyPr/>
          <a:lstStyle/>
          <a:p>
            <a:endParaRPr lang="en-GB"/>
          </a:p>
        </p:txBody>
      </p:sp>
      <p:sp>
        <p:nvSpPr>
          <p:cNvPr id="4" name="Text 1"/>
          <p:cNvSpPr/>
          <p:nvPr/>
        </p:nvSpPr>
        <p:spPr>
          <a:xfrm>
            <a:off x="274320" y="137160"/>
            <a:ext cx="201168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INTRODUCTION</a:t>
            </a:r>
            <a:endParaRPr lang="en-US" sz="1000" dirty="0"/>
          </a:p>
        </p:txBody>
      </p:sp>
      <p:sp>
        <p:nvSpPr>
          <p:cNvPr id="5" name="Text 2"/>
          <p:cNvSpPr/>
          <p:nvPr/>
        </p:nvSpPr>
        <p:spPr>
          <a:xfrm>
            <a:off x="274320" y="548640"/>
            <a:ext cx="8595360" cy="640080"/>
          </a:xfrm>
          <a:prstGeom prst="rect">
            <a:avLst/>
          </a:prstGeom>
          <a:noFill/>
          <a:ln/>
        </p:spPr>
        <p:txBody>
          <a:bodyPr wrap="square" rtlCol="0" anchor="ctr"/>
          <a:lstStyle/>
          <a:p>
            <a:pPr marL="0" indent="0">
              <a:buNone/>
            </a:pPr>
            <a:r>
              <a:rPr lang="en-US" sz="2800" b="1" dirty="0">
                <a:solidFill>
                  <a:srgbClr val="009FE3"/>
                </a:solidFill>
                <a:latin typeface="Arial" pitchFamily="34" charset="0"/>
                <a:ea typeface="Arial" pitchFamily="34" charset="-122"/>
                <a:cs typeface="Arial" pitchFamily="34" charset="-120"/>
              </a:rPr>
              <a:t>Today's Objectives and Ground Rules</a:t>
            </a:r>
            <a:endParaRPr lang="en-US" sz="2800" dirty="0"/>
          </a:p>
        </p:txBody>
      </p:sp>
      <p:sp>
        <p:nvSpPr>
          <p:cNvPr id="6" name="Shape 3"/>
          <p:cNvSpPr/>
          <p:nvPr/>
        </p:nvSpPr>
        <p:spPr>
          <a:xfrm>
            <a:off x="274320" y="1234440"/>
            <a:ext cx="8412480" cy="0"/>
          </a:xfrm>
          <a:prstGeom prst="line">
            <a:avLst/>
          </a:prstGeom>
          <a:noFill/>
          <a:ln w="25400">
            <a:solidFill>
              <a:srgbClr val="E6F4FB"/>
            </a:solidFill>
            <a:prstDash val="solid"/>
          </a:ln>
        </p:spPr>
        <p:txBody>
          <a:bodyPr/>
          <a:lstStyle/>
          <a:p>
            <a:endParaRPr lang="en-GB"/>
          </a:p>
        </p:txBody>
      </p:sp>
      <p:sp>
        <p:nvSpPr>
          <p:cNvPr id="7" name="Shape 4"/>
          <p:cNvSpPr/>
          <p:nvPr/>
        </p:nvSpPr>
        <p:spPr>
          <a:xfrm>
            <a:off x="274320" y="1371600"/>
            <a:ext cx="4114800" cy="411480"/>
          </a:xfrm>
          <a:prstGeom prst="roundRect">
            <a:avLst>
              <a:gd name="adj" fmla="val 11111"/>
            </a:avLst>
          </a:prstGeom>
          <a:solidFill>
            <a:srgbClr val="009FE3"/>
          </a:solidFill>
          <a:ln w="12700">
            <a:solidFill>
              <a:srgbClr val="009FE3"/>
            </a:solidFill>
            <a:prstDash val="solid"/>
          </a:ln>
        </p:spPr>
        <p:txBody>
          <a:bodyPr/>
          <a:lstStyle/>
          <a:p>
            <a:endParaRPr lang="en-GB"/>
          </a:p>
        </p:txBody>
      </p:sp>
      <p:sp>
        <p:nvSpPr>
          <p:cNvPr id="8" name="Text 5"/>
          <p:cNvSpPr/>
          <p:nvPr/>
        </p:nvSpPr>
        <p:spPr>
          <a:xfrm>
            <a:off x="274320" y="1371600"/>
            <a:ext cx="411480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Exercise Objectives</a:t>
            </a:r>
            <a:endParaRPr lang="en-US" sz="1300" dirty="0"/>
          </a:p>
        </p:txBody>
      </p:sp>
      <p:sp>
        <p:nvSpPr>
          <p:cNvPr id="9" name="Text 6"/>
          <p:cNvSpPr/>
          <p:nvPr/>
        </p:nvSpPr>
        <p:spPr>
          <a:xfrm>
            <a:off x="365760" y="1874520"/>
            <a:ext cx="3931920" cy="457200"/>
          </a:xfrm>
          <a:prstGeom prst="rect">
            <a:avLst/>
          </a:prstGeom>
          <a:noFill/>
          <a:ln/>
        </p:spPr>
        <p:txBody>
          <a:bodyPr wrap="square" rtlCol="0" anchor="ctr"/>
          <a:lstStyle/>
          <a:p>
            <a:pPr marL="0" indent="0">
              <a:buNone/>
            </a:pPr>
            <a:r>
              <a:rPr lang="en-US" sz="1100" b="1" dirty="0">
                <a:solidFill>
                  <a:srgbClr val="009FE3"/>
                </a:solidFill>
                <a:latin typeface="Arial" pitchFamily="34" charset="0"/>
                <a:ea typeface="Arial" pitchFamily="34" charset="-122"/>
                <a:cs typeface="Arial" pitchFamily="34" charset="-120"/>
              </a:rPr>
              <a:t>• </a:t>
            </a:r>
            <a:r>
              <a:rPr lang="en-US" sz="1100" dirty="0">
                <a:solidFill>
                  <a:srgbClr val="5B595A"/>
                </a:solidFill>
                <a:latin typeface="Arial" pitchFamily="34" charset="0"/>
                <a:ea typeface="Arial" pitchFamily="34" charset="-122"/>
                <a:cs typeface="Arial" pitchFamily="34" charset="-120"/>
              </a:rPr>
              <a:t>Test activation of the Business Continuity Plan</a:t>
            </a:r>
            <a:endParaRPr lang="en-US" sz="1100" dirty="0"/>
          </a:p>
        </p:txBody>
      </p:sp>
      <p:sp>
        <p:nvSpPr>
          <p:cNvPr id="10" name="Text 7"/>
          <p:cNvSpPr/>
          <p:nvPr/>
        </p:nvSpPr>
        <p:spPr>
          <a:xfrm>
            <a:off x="365760" y="2377440"/>
            <a:ext cx="3931920" cy="457200"/>
          </a:xfrm>
          <a:prstGeom prst="rect">
            <a:avLst/>
          </a:prstGeom>
          <a:noFill/>
          <a:ln/>
        </p:spPr>
        <p:txBody>
          <a:bodyPr wrap="square" rtlCol="0" anchor="ctr"/>
          <a:lstStyle/>
          <a:p>
            <a:pPr marL="0" indent="0">
              <a:buNone/>
            </a:pPr>
            <a:r>
              <a:rPr lang="en-US" sz="1100" b="1" dirty="0">
                <a:solidFill>
                  <a:srgbClr val="009FE3"/>
                </a:solidFill>
                <a:latin typeface="Arial" pitchFamily="34" charset="0"/>
                <a:ea typeface="Arial" pitchFamily="34" charset="-122"/>
                <a:cs typeface="Arial" pitchFamily="34" charset="-120"/>
              </a:rPr>
              <a:t>• </a:t>
            </a:r>
            <a:r>
              <a:rPr lang="en-US" sz="1100" dirty="0">
                <a:solidFill>
                  <a:srgbClr val="5B595A"/>
                </a:solidFill>
                <a:latin typeface="Arial" pitchFamily="34" charset="0"/>
                <a:ea typeface="Arial" pitchFamily="34" charset="-122"/>
                <a:cs typeface="Arial" pitchFamily="34" charset="-120"/>
              </a:rPr>
              <a:t>Validate Crisis Management Team roles and decision-making</a:t>
            </a:r>
            <a:endParaRPr lang="en-US" sz="1100" dirty="0"/>
          </a:p>
        </p:txBody>
      </p:sp>
      <p:sp>
        <p:nvSpPr>
          <p:cNvPr id="11" name="Text 8"/>
          <p:cNvSpPr/>
          <p:nvPr/>
        </p:nvSpPr>
        <p:spPr>
          <a:xfrm>
            <a:off x="365760" y="2880360"/>
            <a:ext cx="3931920" cy="457200"/>
          </a:xfrm>
          <a:prstGeom prst="rect">
            <a:avLst/>
          </a:prstGeom>
          <a:noFill/>
          <a:ln/>
        </p:spPr>
        <p:txBody>
          <a:bodyPr wrap="square" rtlCol="0" anchor="ctr"/>
          <a:lstStyle/>
          <a:p>
            <a:pPr marL="0" indent="0">
              <a:buNone/>
            </a:pPr>
            <a:r>
              <a:rPr lang="en-US" sz="1100" b="1" dirty="0">
                <a:solidFill>
                  <a:srgbClr val="009FE3"/>
                </a:solidFill>
                <a:latin typeface="Arial" pitchFamily="34" charset="0"/>
                <a:ea typeface="Arial" pitchFamily="34" charset="-122"/>
                <a:cs typeface="Arial" pitchFamily="34" charset="-120"/>
              </a:rPr>
              <a:t>• </a:t>
            </a:r>
            <a:r>
              <a:rPr lang="en-US" sz="1100" dirty="0">
                <a:solidFill>
                  <a:srgbClr val="5B595A"/>
                </a:solidFill>
                <a:latin typeface="Arial" pitchFamily="34" charset="0"/>
                <a:ea typeface="Arial" pitchFamily="34" charset="-122"/>
                <a:cs typeface="Arial" pitchFamily="34" charset="-120"/>
              </a:rPr>
              <a:t>Identify gaps in current plans, contacts and resources</a:t>
            </a:r>
            <a:endParaRPr lang="en-US" sz="1100" dirty="0"/>
          </a:p>
        </p:txBody>
      </p:sp>
      <p:sp>
        <p:nvSpPr>
          <p:cNvPr id="12" name="Text 9"/>
          <p:cNvSpPr/>
          <p:nvPr/>
        </p:nvSpPr>
        <p:spPr>
          <a:xfrm>
            <a:off x="365760" y="3383280"/>
            <a:ext cx="3931920" cy="457200"/>
          </a:xfrm>
          <a:prstGeom prst="rect">
            <a:avLst/>
          </a:prstGeom>
          <a:noFill/>
          <a:ln/>
        </p:spPr>
        <p:txBody>
          <a:bodyPr wrap="square" rtlCol="0" anchor="ctr"/>
          <a:lstStyle/>
          <a:p>
            <a:pPr marL="0" indent="0">
              <a:buNone/>
            </a:pPr>
            <a:r>
              <a:rPr lang="en-US" sz="1100" b="1" dirty="0">
                <a:solidFill>
                  <a:srgbClr val="009FE3"/>
                </a:solidFill>
                <a:latin typeface="Arial" pitchFamily="34" charset="0"/>
                <a:ea typeface="Arial" pitchFamily="34" charset="-122"/>
                <a:cs typeface="Arial" pitchFamily="34" charset="-120"/>
              </a:rPr>
              <a:t>• </a:t>
            </a:r>
            <a:r>
              <a:rPr lang="en-US" sz="1100" dirty="0">
                <a:solidFill>
                  <a:srgbClr val="5B595A"/>
                </a:solidFill>
                <a:latin typeface="Arial" pitchFamily="34" charset="0"/>
                <a:ea typeface="Arial" pitchFamily="34" charset="-122"/>
                <a:cs typeface="Arial" pitchFamily="34" charset="-120"/>
              </a:rPr>
              <a:t>Build confidence through realistic scenario practice</a:t>
            </a:r>
            <a:endParaRPr lang="en-US" sz="1100" dirty="0"/>
          </a:p>
        </p:txBody>
      </p:sp>
      <p:sp>
        <p:nvSpPr>
          <p:cNvPr id="13" name="Text 10"/>
          <p:cNvSpPr/>
          <p:nvPr/>
        </p:nvSpPr>
        <p:spPr>
          <a:xfrm>
            <a:off x="365760" y="3886200"/>
            <a:ext cx="3931920" cy="457200"/>
          </a:xfrm>
          <a:prstGeom prst="rect">
            <a:avLst/>
          </a:prstGeom>
          <a:noFill/>
          <a:ln/>
        </p:spPr>
        <p:txBody>
          <a:bodyPr wrap="square" rtlCol="0" anchor="ctr"/>
          <a:lstStyle/>
          <a:p>
            <a:pPr marL="0" indent="0">
              <a:buNone/>
            </a:pPr>
            <a:r>
              <a:rPr lang="en-US" sz="1100" b="1" dirty="0">
                <a:solidFill>
                  <a:srgbClr val="009FE3"/>
                </a:solidFill>
                <a:latin typeface="Arial" pitchFamily="34" charset="0"/>
                <a:ea typeface="Arial" pitchFamily="34" charset="-122"/>
                <a:cs typeface="Arial" pitchFamily="34" charset="-120"/>
              </a:rPr>
              <a:t>• </a:t>
            </a:r>
            <a:r>
              <a:rPr lang="en-US" sz="1100" dirty="0">
                <a:solidFill>
                  <a:srgbClr val="5B595A"/>
                </a:solidFill>
                <a:latin typeface="Arial" pitchFamily="34" charset="0"/>
                <a:ea typeface="Arial" pitchFamily="34" charset="-122"/>
                <a:cs typeface="Arial" pitchFamily="34" charset="-120"/>
              </a:rPr>
              <a:t>Generate actions to improve plan effectiveness</a:t>
            </a:r>
            <a:endParaRPr lang="en-US" sz="1100" dirty="0"/>
          </a:p>
        </p:txBody>
      </p:sp>
      <p:sp>
        <p:nvSpPr>
          <p:cNvPr id="14" name="Shape 11"/>
          <p:cNvSpPr/>
          <p:nvPr/>
        </p:nvSpPr>
        <p:spPr>
          <a:xfrm>
            <a:off x="4663440" y="1371600"/>
            <a:ext cx="4114800" cy="411480"/>
          </a:xfrm>
          <a:prstGeom prst="roundRect">
            <a:avLst>
              <a:gd name="adj" fmla="val 11111"/>
            </a:avLst>
          </a:prstGeom>
          <a:solidFill>
            <a:srgbClr val="83348F"/>
          </a:solidFill>
          <a:ln w="12700">
            <a:solidFill>
              <a:srgbClr val="83348F"/>
            </a:solidFill>
            <a:prstDash val="solid"/>
          </a:ln>
        </p:spPr>
        <p:txBody>
          <a:bodyPr/>
          <a:lstStyle/>
          <a:p>
            <a:endParaRPr lang="en-GB"/>
          </a:p>
        </p:txBody>
      </p:sp>
      <p:sp>
        <p:nvSpPr>
          <p:cNvPr id="15" name="Text 12"/>
          <p:cNvSpPr/>
          <p:nvPr/>
        </p:nvSpPr>
        <p:spPr>
          <a:xfrm>
            <a:off x="4663440" y="1371600"/>
            <a:ext cx="411480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Ground Rules</a:t>
            </a:r>
            <a:endParaRPr lang="en-US" sz="1300" dirty="0"/>
          </a:p>
        </p:txBody>
      </p:sp>
      <p:sp>
        <p:nvSpPr>
          <p:cNvPr id="16" name="Text 13"/>
          <p:cNvSpPr/>
          <p:nvPr/>
        </p:nvSpPr>
        <p:spPr>
          <a:xfrm>
            <a:off x="4754880" y="1874520"/>
            <a:ext cx="3931920" cy="411480"/>
          </a:xfrm>
          <a:prstGeom prst="rect">
            <a:avLst/>
          </a:prstGeom>
          <a:noFill/>
          <a:ln/>
        </p:spPr>
        <p:txBody>
          <a:bodyPr wrap="square" rtlCol="0" anchor="ctr"/>
          <a:lstStyle/>
          <a:p>
            <a:pPr marL="0" indent="0">
              <a:buNone/>
            </a:pPr>
            <a:r>
              <a:rPr lang="en-US" sz="1100" b="1" dirty="0">
                <a:solidFill>
                  <a:srgbClr val="83348F"/>
                </a:solidFill>
                <a:latin typeface="Arial" pitchFamily="34" charset="0"/>
                <a:ea typeface="Arial" pitchFamily="34" charset="-122"/>
                <a:cs typeface="Arial" pitchFamily="34" charset="-120"/>
              </a:rPr>
              <a:t>• </a:t>
            </a:r>
            <a:r>
              <a:rPr lang="en-US" sz="1100" dirty="0">
                <a:solidFill>
                  <a:srgbClr val="5B595A"/>
                </a:solidFill>
                <a:latin typeface="Arial" pitchFamily="34" charset="0"/>
                <a:ea typeface="Arial" pitchFamily="34" charset="-122"/>
                <a:cs typeface="Arial" pitchFamily="34" charset="-120"/>
              </a:rPr>
              <a:t>This is a no-fault exercise. Speak freely.</a:t>
            </a:r>
            <a:endParaRPr lang="en-US" sz="1100" dirty="0"/>
          </a:p>
        </p:txBody>
      </p:sp>
      <p:sp>
        <p:nvSpPr>
          <p:cNvPr id="17" name="Text 14"/>
          <p:cNvSpPr/>
          <p:nvPr/>
        </p:nvSpPr>
        <p:spPr>
          <a:xfrm>
            <a:off x="4754880" y="2331720"/>
            <a:ext cx="3931920" cy="411480"/>
          </a:xfrm>
          <a:prstGeom prst="rect">
            <a:avLst/>
          </a:prstGeom>
          <a:noFill/>
          <a:ln/>
        </p:spPr>
        <p:txBody>
          <a:bodyPr wrap="square" rtlCol="0" anchor="ctr"/>
          <a:lstStyle/>
          <a:p>
            <a:pPr marL="0" indent="0">
              <a:buNone/>
            </a:pPr>
            <a:r>
              <a:rPr lang="en-US" sz="1100" b="1" dirty="0">
                <a:solidFill>
                  <a:srgbClr val="83348F"/>
                </a:solidFill>
                <a:latin typeface="Arial" pitchFamily="34" charset="0"/>
                <a:ea typeface="Arial" pitchFamily="34" charset="-122"/>
                <a:cs typeface="Arial" pitchFamily="34" charset="-120"/>
              </a:rPr>
              <a:t>• </a:t>
            </a:r>
            <a:r>
              <a:rPr lang="en-US" sz="1100" dirty="0">
                <a:solidFill>
                  <a:srgbClr val="5B595A"/>
                </a:solidFill>
                <a:latin typeface="Arial" pitchFamily="34" charset="0"/>
                <a:ea typeface="Arial" pitchFamily="34" charset="-122"/>
                <a:cs typeface="Arial" pitchFamily="34" charset="-120"/>
              </a:rPr>
              <a:t>All responses are based on what you would ACTUALLY do.</a:t>
            </a:r>
            <a:endParaRPr lang="en-US" sz="1100" dirty="0"/>
          </a:p>
        </p:txBody>
      </p:sp>
      <p:sp>
        <p:nvSpPr>
          <p:cNvPr id="18" name="Text 15"/>
          <p:cNvSpPr/>
          <p:nvPr/>
        </p:nvSpPr>
        <p:spPr>
          <a:xfrm>
            <a:off x="4754880" y="2788920"/>
            <a:ext cx="3931920" cy="411480"/>
          </a:xfrm>
          <a:prstGeom prst="rect">
            <a:avLst/>
          </a:prstGeom>
          <a:noFill/>
          <a:ln/>
        </p:spPr>
        <p:txBody>
          <a:bodyPr wrap="square" rtlCol="0" anchor="ctr"/>
          <a:lstStyle/>
          <a:p>
            <a:pPr marL="0" indent="0">
              <a:buNone/>
            </a:pPr>
            <a:r>
              <a:rPr lang="en-US" sz="1100" b="1" dirty="0">
                <a:solidFill>
                  <a:srgbClr val="83348F"/>
                </a:solidFill>
                <a:latin typeface="Arial" pitchFamily="34" charset="0"/>
                <a:ea typeface="Arial" pitchFamily="34" charset="-122"/>
                <a:cs typeface="Arial" pitchFamily="34" charset="-120"/>
              </a:rPr>
              <a:t>• </a:t>
            </a:r>
            <a:r>
              <a:rPr lang="en-US" sz="1100" dirty="0">
                <a:solidFill>
                  <a:srgbClr val="5B595A"/>
                </a:solidFill>
                <a:latin typeface="Arial" pitchFamily="34" charset="0"/>
                <a:ea typeface="Arial" pitchFamily="34" charset="-122"/>
                <a:cs typeface="Arial" pitchFamily="34" charset="-120"/>
              </a:rPr>
              <a:t>There is no scripted answer. We explore, we discuss.</a:t>
            </a:r>
            <a:endParaRPr lang="en-US" sz="1100" dirty="0"/>
          </a:p>
        </p:txBody>
      </p:sp>
      <p:sp>
        <p:nvSpPr>
          <p:cNvPr id="19" name="Text 16"/>
          <p:cNvSpPr/>
          <p:nvPr/>
        </p:nvSpPr>
        <p:spPr>
          <a:xfrm>
            <a:off x="4754880" y="3246120"/>
            <a:ext cx="3931920" cy="411480"/>
          </a:xfrm>
          <a:prstGeom prst="rect">
            <a:avLst/>
          </a:prstGeom>
          <a:noFill/>
          <a:ln/>
        </p:spPr>
        <p:txBody>
          <a:bodyPr wrap="square" rtlCol="0" anchor="ctr"/>
          <a:lstStyle/>
          <a:p>
            <a:pPr marL="0" indent="0">
              <a:buNone/>
            </a:pPr>
            <a:r>
              <a:rPr lang="en-US" sz="1100" b="1" dirty="0">
                <a:solidFill>
                  <a:srgbClr val="83348F"/>
                </a:solidFill>
                <a:latin typeface="Arial" pitchFamily="34" charset="0"/>
                <a:ea typeface="Arial" pitchFamily="34" charset="-122"/>
                <a:cs typeface="Arial" pitchFamily="34" charset="-120"/>
              </a:rPr>
              <a:t>• </a:t>
            </a:r>
            <a:r>
              <a:rPr lang="en-US" sz="1100" dirty="0">
                <a:solidFill>
                  <a:srgbClr val="5B595A"/>
                </a:solidFill>
                <a:latin typeface="Arial" pitchFamily="34" charset="0"/>
                <a:ea typeface="Arial" pitchFamily="34" charset="-122"/>
                <a:cs typeface="Arial" pitchFamily="34" charset="-120"/>
              </a:rPr>
              <a:t>Phones on silent unless you are simulating a call.</a:t>
            </a:r>
            <a:endParaRPr lang="en-US" sz="1100" dirty="0"/>
          </a:p>
        </p:txBody>
      </p:sp>
      <p:sp>
        <p:nvSpPr>
          <p:cNvPr id="20" name="Text 17"/>
          <p:cNvSpPr/>
          <p:nvPr/>
        </p:nvSpPr>
        <p:spPr>
          <a:xfrm>
            <a:off x="4754880" y="3703320"/>
            <a:ext cx="3931920" cy="411480"/>
          </a:xfrm>
          <a:prstGeom prst="rect">
            <a:avLst/>
          </a:prstGeom>
          <a:noFill/>
          <a:ln/>
        </p:spPr>
        <p:txBody>
          <a:bodyPr wrap="square" rtlCol="0" anchor="ctr"/>
          <a:lstStyle/>
          <a:p>
            <a:pPr marL="0" indent="0">
              <a:buNone/>
            </a:pPr>
            <a:r>
              <a:rPr lang="en-US" sz="1100" b="1" dirty="0">
                <a:solidFill>
                  <a:srgbClr val="83348F"/>
                </a:solidFill>
                <a:latin typeface="Arial" pitchFamily="34" charset="0"/>
                <a:ea typeface="Arial" pitchFamily="34" charset="-122"/>
                <a:cs typeface="Arial" pitchFamily="34" charset="-120"/>
              </a:rPr>
              <a:t>• </a:t>
            </a:r>
            <a:r>
              <a:rPr lang="en-US" sz="1100" dirty="0">
                <a:solidFill>
                  <a:srgbClr val="5B595A"/>
                </a:solidFill>
                <a:latin typeface="Arial" pitchFamily="34" charset="0"/>
                <a:ea typeface="Arial" pitchFamily="34" charset="-122"/>
                <a:cs typeface="Arial" pitchFamily="34" charset="-120"/>
              </a:rPr>
              <a:t>One conversation at a time. All views are valid.</a:t>
            </a:r>
            <a:endParaRPr lang="en-US" sz="1100" dirty="0"/>
          </a:p>
        </p:txBody>
      </p:sp>
      <p:sp>
        <p:nvSpPr>
          <p:cNvPr id="21" name="Text 18"/>
          <p:cNvSpPr/>
          <p:nvPr/>
        </p:nvSpPr>
        <p:spPr>
          <a:xfrm>
            <a:off x="4754880" y="4160520"/>
            <a:ext cx="3931920" cy="411480"/>
          </a:xfrm>
          <a:prstGeom prst="rect">
            <a:avLst/>
          </a:prstGeom>
          <a:noFill/>
          <a:ln/>
        </p:spPr>
        <p:txBody>
          <a:bodyPr wrap="square" rtlCol="0" anchor="ctr"/>
          <a:lstStyle/>
          <a:p>
            <a:pPr marL="0" indent="0">
              <a:buNone/>
            </a:pPr>
            <a:r>
              <a:rPr lang="en-US" sz="1100" b="1" dirty="0">
                <a:solidFill>
                  <a:srgbClr val="83348F"/>
                </a:solidFill>
                <a:latin typeface="Arial" pitchFamily="34" charset="0"/>
                <a:ea typeface="Arial" pitchFamily="34" charset="-122"/>
                <a:cs typeface="Arial" pitchFamily="34" charset="-120"/>
              </a:rPr>
              <a:t>• </a:t>
            </a:r>
            <a:r>
              <a:rPr lang="en-US" sz="1100" dirty="0">
                <a:solidFill>
                  <a:srgbClr val="5B595A"/>
                </a:solidFill>
                <a:latin typeface="Arial" pitchFamily="34" charset="0"/>
                <a:ea typeface="Arial" pitchFamily="34" charset="-122"/>
                <a:cs typeface="Arial" pitchFamily="34" charset="-120"/>
              </a:rPr>
              <a:t>An action log will be maintained throughout.</a:t>
            </a:r>
            <a:endParaRPr lang="en-US" sz="1100" dirty="0"/>
          </a:p>
        </p:txBody>
      </p:sp>
      <p:sp>
        <p:nvSpPr>
          <p:cNvPr id="22" name="Rectangle 21"/>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image.png"/>
          <p:cNvPicPr>
            <a:picLocks noChangeAspect="1"/>
          </p:cNvPicPr>
          <p:nvPr/>
        </p:nvPicPr>
        <p:blipFill>
          <a:blip r:embed="rId5"/>
          <a:stretch>
            <a:fillRect/>
          </a:stretch>
        </p:blipFill>
        <p:spPr>
          <a:xfrm>
            <a:off x="7562088" y="100584"/>
            <a:ext cx="566928" cy="347472"/>
          </a:xfrm>
          <a:prstGeom prst="rect">
            <a:avLst/>
          </a:prstGeom>
        </p:spPr>
      </p:pic>
      <p:pic>
        <p:nvPicPr>
          <p:cNvPr id="24" name="Picture 23" descr="image.png"/>
          <p:cNvPicPr>
            <a:picLocks noChangeAspect="1"/>
          </p:cNvPicPr>
          <p:nvPr/>
        </p:nvPicPr>
        <p:blipFill>
          <a:blip r:embed="rId4"/>
          <a:stretch>
            <a:fillRect/>
          </a:stretch>
        </p:blipFill>
        <p:spPr>
          <a:xfrm>
            <a:off x="8174736" y="100584"/>
            <a:ext cx="658368" cy="347472"/>
          </a:xfrm>
          <a:prstGeom prst="rect">
            <a:avLst/>
          </a:prstGeom>
        </p:spPr>
      </p:pic>
      <p:sp>
        <p:nvSpPr>
          <p:cNvPr id="25" name="Rectangle 24"/>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274320" y="137160"/>
            <a:ext cx="2011680" cy="320040"/>
          </a:xfrm>
          <a:prstGeom prst="roundRect">
            <a:avLst>
              <a:gd name="adj" fmla="val 14286"/>
            </a:avLst>
          </a:prstGeom>
          <a:solidFill>
            <a:srgbClr val="83348F"/>
          </a:solidFill>
          <a:ln w="12700">
            <a:solidFill>
              <a:srgbClr val="83348F"/>
            </a:solidFill>
            <a:prstDash val="solid"/>
          </a:ln>
        </p:spPr>
        <p:txBody>
          <a:bodyPr/>
          <a:lstStyle/>
          <a:p>
            <a:endParaRPr lang="en-GB"/>
          </a:p>
        </p:txBody>
      </p:sp>
      <p:sp>
        <p:nvSpPr>
          <p:cNvPr id="4" name="Text 1"/>
          <p:cNvSpPr/>
          <p:nvPr/>
        </p:nvSpPr>
        <p:spPr>
          <a:xfrm>
            <a:off x="274320" y="137160"/>
            <a:ext cx="201168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SETUP</a:t>
            </a:r>
            <a:endParaRPr lang="en-US" sz="1000" dirty="0"/>
          </a:p>
        </p:txBody>
      </p:sp>
      <p:sp>
        <p:nvSpPr>
          <p:cNvPr id="5" name="Text 2"/>
          <p:cNvSpPr/>
          <p:nvPr/>
        </p:nvSpPr>
        <p:spPr>
          <a:xfrm>
            <a:off x="274320" y="548640"/>
            <a:ext cx="8595360" cy="640080"/>
          </a:xfrm>
          <a:prstGeom prst="rect">
            <a:avLst/>
          </a:prstGeom>
          <a:noFill/>
          <a:ln/>
        </p:spPr>
        <p:txBody>
          <a:bodyPr wrap="square" rtlCol="0" anchor="ctr"/>
          <a:lstStyle/>
          <a:p>
            <a:pPr marL="0" indent="0">
              <a:buNone/>
            </a:pPr>
            <a:r>
              <a:rPr lang="en-US" sz="2800" b="1" dirty="0">
                <a:solidFill>
                  <a:srgbClr val="009FE3"/>
                </a:solidFill>
                <a:latin typeface="Arial" pitchFamily="34" charset="0"/>
                <a:ea typeface="Arial" pitchFamily="34" charset="-122"/>
                <a:cs typeface="Arial" pitchFamily="34" charset="-120"/>
              </a:rPr>
              <a:t>Exercise Participants and Roles</a:t>
            </a:r>
            <a:endParaRPr lang="en-US" sz="2800" dirty="0"/>
          </a:p>
        </p:txBody>
      </p:sp>
      <p:sp>
        <p:nvSpPr>
          <p:cNvPr id="6" name="Shape 3"/>
          <p:cNvSpPr/>
          <p:nvPr/>
        </p:nvSpPr>
        <p:spPr>
          <a:xfrm>
            <a:off x="274320" y="1234440"/>
            <a:ext cx="8412480" cy="0"/>
          </a:xfrm>
          <a:prstGeom prst="line">
            <a:avLst/>
          </a:prstGeom>
          <a:noFill/>
          <a:ln w="25400">
            <a:solidFill>
              <a:srgbClr val="E6F4FB"/>
            </a:solidFill>
            <a:prstDash val="solid"/>
          </a:ln>
        </p:spPr>
        <p:txBody>
          <a:bodyPr/>
          <a:lstStyle/>
          <a:p>
            <a:endParaRPr lang="en-GB"/>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274320" y="1371600"/>
          <a:ext cx="8595360" cy="2194560"/>
        </p:xfrm>
        <a:graphic>
          <a:graphicData uri="http://schemas.openxmlformats.org/drawingml/2006/table">
            <a:tbl>
              <a:tblPr/>
              <a:tblGrid>
                <a:gridCol w="256032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tblGrid>
              <a:tr h="0">
                <a:tc>
                  <a:txBody>
                    <a:bodyPr/>
                    <a:lstStyle/>
                    <a:p>
                      <a:pPr marL="0" indent="0" algn="ctr">
                        <a:buNone/>
                      </a:pPr>
                      <a:r>
                        <a:rPr lang="en-US" sz="1000" b="1" dirty="0">
                          <a:solidFill>
                            <a:srgbClr val="FFFFFF"/>
                          </a:solidFill>
                          <a:latin typeface="Arial" pitchFamily="34" charset="0"/>
                          <a:ea typeface="Arial" pitchFamily="34" charset="-122"/>
                          <a:cs typeface="Arial" pitchFamily="34" charset="-120"/>
                        </a:rPr>
                        <a:t>CMT Role</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009FE3"/>
                    </a:solidFill>
                  </a:tcPr>
                </a:tc>
                <a:tc>
                  <a:txBody>
                    <a:bodyPr/>
                    <a:lstStyle/>
                    <a:p>
                      <a:pPr marL="0" indent="0" algn="ctr">
                        <a:buNone/>
                      </a:pPr>
                      <a:r>
                        <a:rPr lang="en-US" sz="1000" b="1" dirty="0">
                          <a:solidFill>
                            <a:srgbClr val="FFFFFF"/>
                          </a:solidFill>
                          <a:latin typeface="Arial" pitchFamily="34" charset="0"/>
                          <a:ea typeface="Arial" pitchFamily="34" charset="-122"/>
                          <a:cs typeface="Arial" pitchFamily="34" charset="-120"/>
                        </a:rPr>
                        <a:t>Participant Name</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009FE3"/>
                    </a:solidFill>
                  </a:tcPr>
                </a:tc>
                <a:tc>
                  <a:txBody>
                    <a:bodyPr/>
                    <a:lstStyle/>
                    <a:p>
                      <a:pPr marL="0" indent="0" algn="ctr">
                        <a:buNone/>
                      </a:pPr>
                      <a:r>
                        <a:rPr lang="en-US" sz="1000" b="1" dirty="0">
                          <a:solidFill>
                            <a:srgbClr val="FFFFFF"/>
                          </a:solidFill>
                          <a:latin typeface="Arial" pitchFamily="34" charset="0"/>
                          <a:ea typeface="Arial" pitchFamily="34" charset="-122"/>
                          <a:cs typeface="Arial" pitchFamily="34" charset="-120"/>
                        </a:rPr>
                        <a:t>Department</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009FE3"/>
                    </a:solidFill>
                  </a:tcPr>
                </a:tc>
                <a:tc>
                  <a:txBody>
                    <a:bodyPr/>
                    <a:lstStyle/>
                    <a:p>
                      <a:pPr marL="0" indent="0" algn="ctr">
                        <a:buNone/>
                      </a:pPr>
                      <a:r>
                        <a:rPr lang="en-US" sz="1000" b="1" dirty="0">
                          <a:solidFill>
                            <a:srgbClr val="FFFFFF"/>
                          </a:solidFill>
                          <a:latin typeface="Arial" pitchFamily="34" charset="0"/>
                          <a:ea typeface="Arial" pitchFamily="34" charset="-122"/>
                          <a:cs typeface="Arial" pitchFamily="34" charset="-120"/>
                        </a:rPr>
                        <a:t>In Attendance Today?</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009FE3"/>
                    </a:solidFill>
                  </a:tcPr>
                </a:tc>
                <a:extLst>
                  <a:ext uri="{0D108BD9-81ED-4DB2-BD59-A6C34878D82A}">
                    <a16:rowId xmlns:a16="http://schemas.microsoft.com/office/drawing/2014/main" val="10000"/>
                  </a:ext>
                </a:extLst>
              </a:tr>
              <a:tr h="0">
                <a:tc>
                  <a:txBody>
                    <a:bodyPr/>
                    <a:lstStyle/>
                    <a:p>
                      <a:pPr marL="0" indent="0">
                        <a:buNone/>
                      </a:pPr>
                      <a:r>
                        <a:rPr lang="en-US" sz="1000" dirty="0">
                          <a:solidFill>
                            <a:srgbClr val="5B595A"/>
                          </a:solidFill>
                          <a:latin typeface="Arial" pitchFamily="34" charset="0"/>
                          <a:ea typeface="Arial" pitchFamily="34" charset="-122"/>
                          <a:cs typeface="Arial" pitchFamily="34" charset="-120"/>
                        </a:rPr>
                        <a:t>Incident Controller (Plan Owner)</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5B595A"/>
                          </a:solidFill>
                          <a:latin typeface="Arial" pitchFamily="34" charset="0"/>
                          <a:ea typeface="Arial" pitchFamily="34" charset="-122"/>
                          <a:cs typeface="Arial" pitchFamily="34" charset="-120"/>
                        </a:rPr>
                        <a:t>[Name]</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5B595A"/>
                          </a:solidFill>
                          <a:latin typeface="Arial" pitchFamily="34" charset="0"/>
                          <a:ea typeface="Arial" pitchFamily="34" charset="-122"/>
                          <a:cs typeface="Arial" pitchFamily="34" charset="-120"/>
                        </a:rPr>
                        <a:t>[Department]</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5B595A"/>
                          </a:solidFill>
                          <a:latin typeface="Arial" pitchFamily="34" charset="0"/>
                          <a:ea typeface="Arial" pitchFamily="34" charset="-122"/>
                          <a:cs typeface="Arial" pitchFamily="34" charset="-120"/>
                        </a:rPr>
                        <a:t>Yes / No</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000" dirty="0">
                          <a:solidFill>
                            <a:srgbClr val="5B595A"/>
                          </a:solidFill>
                          <a:latin typeface="Arial" pitchFamily="34" charset="0"/>
                          <a:ea typeface="Arial" pitchFamily="34" charset="-122"/>
                          <a:cs typeface="Arial" pitchFamily="34" charset="-120"/>
                        </a:rPr>
                        <a:t>Operations Lead</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lang="en-US" sz="1000" dirty="0">
                          <a:solidFill>
                            <a:srgbClr val="5B595A"/>
                          </a:solidFill>
                          <a:latin typeface="Arial" pitchFamily="34" charset="0"/>
                          <a:ea typeface="Arial" pitchFamily="34" charset="-122"/>
                          <a:cs typeface="Arial" pitchFamily="34" charset="-120"/>
                        </a:rPr>
                        <a:t>[Name]</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lang="en-US" sz="1000" dirty="0">
                          <a:solidFill>
                            <a:srgbClr val="5B595A"/>
                          </a:solidFill>
                          <a:latin typeface="Arial" pitchFamily="34" charset="0"/>
                          <a:ea typeface="Arial" pitchFamily="34" charset="-122"/>
                          <a:cs typeface="Arial" pitchFamily="34" charset="-120"/>
                        </a:rPr>
                        <a:t>[Department]</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lang="en-US" sz="1000" dirty="0">
                          <a:solidFill>
                            <a:srgbClr val="5B595A"/>
                          </a:solidFill>
                          <a:latin typeface="Arial" pitchFamily="34" charset="0"/>
                          <a:ea typeface="Arial" pitchFamily="34" charset="-122"/>
                          <a:cs typeface="Arial" pitchFamily="34" charset="-120"/>
                        </a:rPr>
                        <a:t>Yes / No</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0">
                <a:tc>
                  <a:txBody>
                    <a:bodyPr/>
                    <a:lstStyle/>
                    <a:p>
                      <a:pPr marL="0" indent="0">
                        <a:buNone/>
                      </a:pPr>
                      <a:r>
                        <a:rPr lang="en-US" sz="1000" dirty="0">
                          <a:solidFill>
                            <a:srgbClr val="5B595A"/>
                          </a:solidFill>
                          <a:latin typeface="Arial" pitchFamily="34" charset="0"/>
                          <a:ea typeface="Arial" pitchFamily="34" charset="-122"/>
                          <a:cs typeface="Arial" pitchFamily="34" charset="-120"/>
                        </a:rPr>
                        <a:t>HR / People Lead</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5B595A"/>
                          </a:solidFill>
                          <a:latin typeface="Arial" pitchFamily="34" charset="0"/>
                          <a:ea typeface="Arial" pitchFamily="34" charset="-122"/>
                          <a:cs typeface="Arial" pitchFamily="34" charset="-120"/>
                        </a:rPr>
                        <a:t>[Name]</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5B595A"/>
                          </a:solidFill>
                          <a:latin typeface="Arial" pitchFamily="34" charset="0"/>
                          <a:ea typeface="Arial" pitchFamily="34" charset="-122"/>
                          <a:cs typeface="Arial" pitchFamily="34" charset="-120"/>
                        </a:rPr>
                        <a:t>[Department]</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5B595A"/>
                          </a:solidFill>
                          <a:latin typeface="Arial" pitchFamily="34" charset="0"/>
                          <a:ea typeface="Arial" pitchFamily="34" charset="-122"/>
                          <a:cs typeface="Arial" pitchFamily="34" charset="-120"/>
                        </a:rPr>
                        <a:t>Yes / No</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000" dirty="0">
                          <a:solidFill>
                            <a:srgbClr val="5B595A"/>
                          </a:solidFill>
                          <a:latin typeface="Arial" pitchFamily="34" charset="0"/>
                          <a:ea typeface="Arial" pitchFamily="34" charset="-122"/>
                          <a:cs typeface="Arial" pitchFamily="34" charset="-120"/>
                        </a:rPr>
                        <a:t>Finance / Legal Lead</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lang="en-US" sz="1000" dirty="0">
                          <a:solidFill>
                            <a:srgbClr val="5B595A"/>
                          </a:solidFill>
                          <a:latin typeface="Arial" pitchFamily="34" charset="0"/>
                          <a:ea typeface="Arial" pitchFamily="34" charset="-122"/>
                          <a:cs typeface="Arial" pitchFamily="34" charset="-120"/>
                        </a:rPr>
                        <a:t>[Name]</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lang="en-US" sz="1000" dirty="0">
                          <a:solidFill>
                            <a:srgbClr val="5B595A"/>
                          </a:solidFill>
                          <a:latin typeface="Arial" pitchFamily="34" charset="0"/>
                          <a:ea typeface="Arial" pitchFamily="34" charset="-122"/>
                          <a:cs typeface="Arial" pitchFamily="34" charset="-120"/>
                        </a:rPr>
                        <a:t>[Department]</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lang="en-US" sz="1000" dirty="0">
                          <a:solidFill>
                            <a:srgbClr val="5B595A"/>
                          </a:solidFill>
                          <a:latin typeface="Arial" pitchFamily="34" charset="0"/>
                          <a:ea typeface="Arial" pitchFamily="34" charset="-122"/>
                          <a:cs typeface="Arial" pitchFamily="34" charset="-120"/>
                        </a:rPr>
                        <a:t>Yes / No</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r h="0">
                <a:tc>
                  <a:txBody>
                    <a:bodyPr/>
                    <a:lstStyle/>
                    <a:p>
                      <a:pPr marL="0" indent="0">
                        <a:buNone/>
                      </a:pPr>
                      <a:r>
                        <a:rPr lang="en-US" sz="1000" dirty="0">
                          <a:solidFill>
                            <a:srgbClr val="5B595A"/>
                          </a:solidFill>
                          <a:latin typeface="Arial" pitchFamily="34" charset="0"/>
                          <a:ea typeface="Arial" pitchFamily="34" charset="-122"/>
                          <a:cs typeface="Arial" pitchFamily="34" charset="-120"/>
                        </a:rPr>
                        <a:t>IT Lead</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5B595A"/>
                          </a:solidFill>
                          <a:latin typeface="Arial" pitchFamily="34" charset="0"/>
                          <a:ea typeface="Arial" pitchFamily="34" charset="-122"/>
                          <a:cs typeface="Arial" pitchFamily="34" charset="-120"/>
                        </a:rPr>
                        <a:t>[Name]</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5B595A"/>
                          </a:solidFill>
                          <a:latin typeface="Arial" pitchFamily="34" charset="0"/>
                          <a:ea typeface="Arial" pitchFamily="34" charset="-122"/>
                          <a:cs typeface="Arial" pitchFamily="34" charset="-120"/>
                        </a:rPr>
                        <a:t>[Department]</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5B595A"/>
                          </a:solidFill>
                          <a:latin typeface="Arial" pitchFamily="34" charset="0"/>
                          <a:ea typeface="Arial" pitchFamily="34" charset="-122"/>
                          <a:cs typeface="Arial" pitchFamily="34" charset="-120"/>
                        </a:rPr>
                        <a:t>Yes / No</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buNone/>
                      </a:pPr>
                      <a:r>
                        <a:rPr lang="en-US" sz="1000" dirty="0">
                          <a:solidFill>
                            <a:srgbClr val="5B595A"/>
                          </a:solidFill>
                          <a:latin typeface="Arial" pitchFamily="34" charset="0"/>
                          <a:ea typeface="Arial" pitchFamily="34" charset="-122"/>
                          <a:cs typeface="Arial" pitchFamily="34" charset="-120"/>
                        </a:rPr>
                        <a:t>Communications Lead</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lang="en-US" sz="1000" dirty="0">
                          <a:solidFill>
                            <a:srgbClr val="5B595A"/>
                          </a:solidFill>
                          <a:latin typeface="Arial" pitchFamily="34" charset="0"/>
                          <a:ea typeface="Arial" pitchFamily="34" charset="-122"/>
                          <a:cs typeface="Arial" pitchFamily="34" charset="-120"/>
                        </a:rPr>
                        <a:t>[Name]</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lang="en-US" sz="1000" dirty="0">
                          <a:solidFill>
                            <a:srgbClr val="5B595A"/>
                          </a:solidFill>
                          <a:latin typeface="Arial" pitchFamily="34" charset="0"/>
                          <a:ea typeface="Arial" pitchFamily="34" charset="-122"/>
                          <a:cs typeface="Arial" pitchFamily="34" charset="-120"/>
                        </a:rPr>
                        <a:t>[Department]</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lang="en-US" sz="1000" dirty="0">
                          <a:solidFill>
                            <a:srgbClr val="5B595A"/>
                          </a:solidFill>
                          <a:latin typeface="Arial" pitchFamily="34" charset="0"/>
                          <a:ea typeface="Arial" pitchFamily="34" charset="-122"/>
                          <a:cs typeface="Arial" pitchFamily="34" charset="-120"/>
                        </a:rPr>
                        <a:t>Yes / No</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6"/>
                  </a:ext>
                </a:extLst>
              </a:tr>
              <a:tr h="0">
                <a:tc>
                  <a:txBody>
                    <a:bodyPr/>
                    <a:lstStyle/>
                    <a:p>
                      <a:pPr marL="0" indent="0">
                        <a:buNone/>
                      </a:pPr>
                      <a:r>
                        <a:rPr lang="en-US" sz="1000" dirty="0">
                          <a:solidFill>
                            <a:srgbClr val="5B595A"/>
                          </a:solidFill>
                          <a:latin typeface="Arial" pitchFamily="34" charset="0"/>
                          <a:ea typeface="Arial" pitchFamily="34" charset="-122"/>
                          <a:cs typeface="Arial" pitchFamily="34" charset="-120"/>
                        </a:rPr>
                        <a:t>Health and Safety Lead</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5B595A"/>
                          </a:solidFill>
                          <a:latin typeface="Arial" pitchFamily="34" charset="0"/>
                          <a:ea typeface="Arial" pitchFamily="34" charset="-122"/>
                          <a:cs typeface="Arial" pitchFamily="34" charset="-120"/>
                        </a:rPr>
                        <a:t>[Name]</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5B595A"/>
                          </a:solidFill>
                          <a:latin typeface="Arial" pitchFamily="34" charset="0"/>
                          <a:ea typeface="Arial" pitchFamily="34" charset="-122"/>
                          <a:cs typeface="Arial" pitchFamily="34" charset="-120"/>
                        </a:rPr>
                        <a:t>[Department]</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5B595A"/>
                          </a:solidFill>
                          <a:latin typeface="Arial" pitchFamily="34" charset="0"/>
                          <a:ea typeface="Arial" pitchFamily="34" charset="-122"/>
                          <a:cs typeface="Arial" pitchFamily="34" charset="-120"/>
                        </a:rPr>
                        <a:t>Yes / No</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0">
                <a:tc>
                  <a:txBody>
                    <a:bodyPr/>
                    <a:lstStyle/>
                    <a:p>
                      <a:pPr marL="0" indent="0">
                        <a:buNone/>
                      </a:pPr>
                      <a:r>
                        <a:rPr lang="en-US" sz="1000" dirty="0">
                          <a:solidFill>
                            <a:srgbClr val="5B595A"/>
                          </a:solidFill>
                          <a:latin typeface="Arial" pitchFamily="34" charset="0"/>
                          <a:ea typeface="Arial" pitchFamily="34" charset="-122"/>
                          <a:cs typeface="Arial" pitchFamily="34" charset="-120"/>
                        </a:rPr>
                        <a:t>Observer (facilitator)</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lang="en-US" sz="1000" dirty="0">
                          <a:solidFill>
                            <a:srgbClr val="5B595A"/>
                          </a:solidFill>
                          <a:latin typeface="Arial" pitchFamily="34" charset="0"/>
                          <a:ea typeface="Arial" pitchFamily="34" charset="-122"/>
                          <a:cs typeface="Arial" pitchFamily="34" charset="-120"/>
                        </a:rPr>
                        <a:t>[Name]</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lang="en-US" sz="1000" dirty="0">
                          <a:solidFill>
                            <a:srgbClr val="5B595A"/>
                          </a:solidFill>
                          <a:latin typeface="Arial" pitchFamily="34" charset="0"/>
                          <a:ea typeface="Arial" pitchFamily="34" charset="-122"/>
                          <a:cs typeface="Arial" pitchFamily="34" charset="-120"/>
                        </a:rPr>
                        <a:t>NucCol / External</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lang="en-US" sz="1000" dirty="0">
                          <a:solidFill>
                            <a:srgbClr val="5B595A"/>
                          </a:solidFill>
                          <a:latin typeface="Arial" pitchFamily="34" charset="0"/>
                          <a:ea typeface="Arial" pitchFamily="34" charset="-122"/>
                          <a:cs typeface="Arial" pitchFamily="34" charset="-120"/>
                        </a:rPr>
                        <a:t>Yes</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8"/>
                  </a:ext>
                </a:extLst>
              </a:tr>
            </a:tbl>
          </a:graphicData>
        </a:graphic>
      </p:graphicFrame>
      <p:sp>
        <p:nvSpPr>
          <p:cNvPr id="8" name="Rectangle 7"/>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5"/>
          <a:stretch>
            <a:fillRect/>
          </a:stretch>
        </p:blipFill>
        <p:spPr>
          <a:xfrm>
            <a:off x="7562088" y="100584"/>
            <a:ext cx="566928" cy="347472"/>
          </a:xfrm>
          <a:prstGeom prst="rect">
            <a:avLst/>
          </a:prstGeom>
        </p:spPr>
      </p:pic>
      <p:pic>
        <p:nvPicPr>
          <p:cNvPr id="10" name="Picture 9" descr="image.png"/>
          <p:cNvPicPr>
            <a:picLocks noChangeAspect="1"/>
          </p:cNvPicPr>
          <p:nvPr/>
        </p:nvPicPr>
        <p:blipFill>
          <a:blip r:embed="rId4"/>
          <a:stretch>
            <a:fillRect/>
          </a:stretch>
        </p:blipFill>
        <p:spPr>
          <a:xfrm>
            <a:off x="8174736" y="100584"/>
            <a:ext cx="658368" cy="347472"/>
          </a:xfrm>
          <a:prstGeom prst="rect">
            <a:avLst/>
          </a:prstGeom>
        </p:spPr>
      </p:pic>
      <p:sp>
        <p:nvSpPr>
          <p:cNvPr id="11" name="Rectangle 10"/>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274320" y="137160"/>
            <a:ext cx="2011680" cy="320040"/>
          </a:xfrm>
          <a:prstGeom prst="roundRect">
            <a:avLst>
              <a:gd name="adj" fmla="val 14286"/>
            </a:avLst>
          </a:prstGeom>
          <a:solidFill>
            <a:srgbClr val="83348F"/>
          </a:solidFill>
          <a:ln w="12700">
            <a:solidFill>
              <a:srgbClr val="83348F"/>
            </a:solidFill>
            <a:prstDash val="solid"/>
          </a:ln>
        </p:spPr>
        <p:txBody>
          <a:bodyPr/>
          <a:lstStyle/>
          <a:p>
            <a:endParaRPr lang="en-GB"/>
          </a:p>
        </p:txBody>
      </p:sp>
      <p:sp>
        <p:nvSpPr>
          <p:cNvPr id="4" name="Text 1"/>
          <p:cNvSpPr/>
          <p:nvPr/>
        </p:nvSpPr>
        <p:spPr>
          <a:xfrm>
            <a:off x="274320" y="137160"/>
            <a:ext cx="201168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SETUP</a:t>
            </a:r>
            <a:endParaRPr lang="en-US" sz="1000" dirty="0"/>
          </a:p>
        </p:txBody>
      </p:sp>
      <p:sp>
        <p:nvSpPr>
          <p:cNvPr id="5" name="Text 2"/>
          <p:cNvSpPr/>
          <p:nvPr/>
        </p:nvSpPr>
        <p:spPr>
          <a:xfrm>
            <a:off x="274320" y="548640"/>
            <a:ext cx="8595360" cy="640080"/>
          </a:xfrm>
          <a:prstGeom prst="rect">
            <a:avLst/>
          </a:prstGeom>
          <a:noFill/>
          <a:ln/>
        </p:spPr>
        <p:txBody>
          <a:bodyPr wrap="square" rtlCol="0" anchor="ctr"/>
          <a:lstStyle/>
          <a:p>
            <a:pPr marL="0" indent="0">
              <a:buNone/>
            </a:pPr>
            <a:r>
              <a:rPr lang="en-US" sz="2800" b="1" dirty="0">
                <a:solidFill>
                  <a:srgbClr val="009FE3"/>
                </a:solidFill>
                <a:latin typeface="Arial" pitchFamily="34" charset="0"/>
                <a:ea typeface="Arial" pitchFamily="34" charset="-122"/>
                <a:cs typeface="Arial" pitchFamily="34" charset="-120"/>
              </a:rPr>
              <a:t>Exercise Schedule</a:t>
            </a:r>
            <a:endParaRPr lang="en-US" sz="2800" dirty="0"/>
          </a:p>
        </p:txBody>
      </p:sp>
      <p:sp>
        <p:nvSpPr>
          <p:cNvPr id="6" name="Shape 3"/>
          <p:cNvSpPr/>
          <p:nvPr/>
        </p:nvSpPr>
        <p:spPr>
          <a:xfrm>
            <a:off x="274320" y="1234440"/>
            <a:ext cx="8412480" cy="0"/>
          </a:xfrm>
          <a:prstGeom prst="line">
            <a:avLst/>
          </a:prstGeom>
          <a:noFill/>
          <a:ln w="25400">
            <a:solidFill>
              <a:srgbClr val="E6F4FB"/>
            </a:solidFill>
            <a:prstDash val="solid"/>
          </a:ln>
        </p:spPr>
        <p:txBody>
          <a:bodyPr/>
          <a:lstStyle/>
          <a:p>
            <a:endParaRPr lang="en-GB"/>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274320" y="1371600"/>
          <a:ext cx="8595360" cy="2682240"/>
        </p:xfrm>
        <a:graphic>
          <a:graphicData uri="http://schemas.openxmlformats.org/drawingml/2006/table">
            <a:tbl>
              <a:tblPr/>
              <a:tblGrid>
                <a:gridCol w="91440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0">
                <a:tc>
                  <a:txBody>
                    <a:bodyPr/>
                    <a:lstStyle/>
                    <a:p>
                      <a:pPr marL="0" indent="0" algn="ctr">
                        <a:buNone/>
                      </a:pPr>
                      <a:r>
                        <a:rPr lang="en-US" sz="1000" b="1" dirty="0">
                          <a:solidFill>
                            <a:srgbClr val="5B595A"/>
                          </a:solidFill>
                          <a:latin typeface="Arial" pitchFamily="34" charset="0"/>
                          <a:ea typeface="Arial" pitchFamily="34" charset="-122"/>
                          <a:cs typeface="Arial" pitchFamily="34" charset="-120"/>
                        </a:rPr>
                        <a:t>09:00</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2F2F2"/>
                    </a:solidFill>
                  </a:tcPr>
                </a:tc>
                <a:tc>
                  <a:txBody>
                    <a:bodyPr/>
                    <a:lstStyle/>
                    <a:p>
                      <a:pPr marL="0" indent="0" algn="l">
                        <a:buNone/>
                      </a:pPr>
                      <a:r>
                        <a:rPr lang="en-US" sz="1000" dirty="0">
                          <a:solidFill>
                            <a:srgbClr val="5B595A"/>
                          </a:solidFill>
                          <a:latin typeface="Arial" pitchFamily="34" charset="0"/>
                          <a:ea typeface="Arial" pitchFamily="34" charset="-122"/>
                          <a:cs typeface="Arial" pitchFamily="34" charset="-120"/>
                        </a:rPr>
                        <a:t>Welcome and introductions</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2F2F2"/>
                    </a:solidFill>
                  </a:tcPr>
                </a:tc>
                <a:tc>
                  <a:txBody>
                    <a:bodyPr/>
                    <a:lstStyle/>
                    <a:p>
                      <a:pPr marL="0" indent="0" algn="l">
                        <a:buNone/>
                      </a:pPr>
                      <a:r>
                        <a:rPr lang="en-US" sz="1000" dirty="0">
                          <a:solidFill>
                            <a:srgbClr val="5B595A"/>
                          </a:solidFill>
                          <a:latin typeface="Arial" pitchFamily="34" charset="0"/>
                          <a:ea typeface="Arial" pitchFamily="34" charset="-122"/>
                          <a:cs typeface="Arial" pitchFamily="34" charset="-120"/>
                        </a:rPr>
                        <a:t>Facilitator</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2F2F2"/>
                    </a:solidFill>
                  </a:tcPr>
                </a:tc>
                <a:tc>
                  <a:txBody>
                    <a:bodyPr/>
                    <a:lstStyle/>
                    <a:p>
                      <a:pPr marL="0" indent="0" algn="ctr">
                        <a:buNone/>
                      </a:pPr>
                      <a:r>
                        <a:rPr lang="en-US" sz="1000" dirty="0">
                          <a:solidFill>
                            <a:srgbClr val="5B595A"/>
                          </a:solidFill>
                          <a:latin typeface="Arial" pitchFamily="34" charset="0"/>
                          <a:ea typeface="Arial" pitchFamily="34" charset="-122"/>
                          <a:cs typeface="Arial" pitchFamily="34" charset="-120"/>
                        </a:rPr>
                        <a:t>15 mins</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0"/>
                  </a:ext>
                </a:extLst>
              </a:tr>
              <a:tr h="0">
                <a:tc>
                  <a:txBody>
                    <a:bodyPr/>
                    <a:lstStyle/>
                    <a:p>
                      <a:pPr marL="0" indent="0" algn="ctr">
                        <a:buNone/>
                      </a:pPr>
                      <a:r>
                        <a:rPr lang="en-US" sz="1000" b="1" dirty="0">
                          <a:solidFill>
                            <a:srgbClr val="5B595A"/>
                          </a:solidFill>
                          <a:latin typeface="Arial" pitchFamily="34" charset="0"/>
                          <a:ea typeface="Arial" pitchFamily="34" charset="-122"/>
                          <a:cs typeface="Arial" pitchFamily="34" charset="-120"/>
                        </a:rPr>
                        <a:t>09:15</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5B595A"/>
                          </a:solidFill>
                          <a:latin typeface="Arial" pitchFamily="34" charset="0"/>
                          <a:ea typeface="Arial" pitchFamily="34" charset="-122"/>
                          <a:cs typeface="Arial" pitchFamily="34" charset="-120"/>
                        </a:rPr>
                        <a:t>Exercise objectives and ground rules</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5B595A"/>
                          </a:solidFill>
                          <a:latin typeface="Arial" pitchFamily="34" charset="0"/>
                          <a:ea typeface="Arial" pitchFamily="34" charset="-122"/>
                          <a:cs typeface="Arial" pitchFamily="34" charset="-120"/>
                        </a:rPr>
                        <a:t>Facilitator</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5B595A"/>
                          </a:solidFill>
                          <a:latin typeface="Arial" pitchFamily="34" charset="0"/>
                          <a:ea typeface="Arial" pitchFamily="34" charset="-122"/>
                          <a:cs typeface="Arial" pitchFamily="34" charset="-120"/>
                        </a:rPr>
                        <a:t>10 mins</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ctr">
                        <a:buNone/>
                      </a:pPr>
                      <a:r>
                        <a:rPr lang="en-US" sz="1000" b="1" dirty="0">
                          <a:solidFill>
                            <a:srgbClr val="FFFFFF"/>
                          </a:solidFill>
                          <a:latin typeface="Arial" pitchFamily="34" charset="0"/>
                          <a:ea typeface="Arial" pitchFamily="34" charset="-122"/>
                          <a:cs typeface="Arial" pitchFamily="34" charset="-120"/>
                        </a:rPr>
                        <a:t>09:25</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009FE3"/>
                    </a:solidFill>
                  </a:tcPr>
                </a:tc>
                <a:tc>
                  <a:txBody>
                    <a:bodyPr/>
                    <a:lstStyle/>
                    <a:p>
                      <a:pPr marL="0" indent="0" algn="l">
                        <a:buNone/>
                      </a:pPr>
                      <a:r>
                        <a:rPr lang="en-US" sz="1000" b="1" dirty="0">
                          <a:solidFill>
                            <a:srgbClr val="FFFFFF"/>
                          </a:solidFill>
                          <a:latin typeface="Arial" pitchFamily="34" charset="0"/>
                          <a:ea typeface="Arial" pitchFamily="34" charset="-122"/>
                          <a:cs typeface="Arial" pitchFamily="34" charset="-120"/>
                        </a:rPr>
                        <a:t>SCENARIO: Inject 1 - Incident Discovery</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009FE3"/>
                    </a:solidFill>
                  </a:tcPr>
                </a:tc>
                <a:tc>
                  <a:txBody>
                    <a:bodyPr/>
                    <a:lstStyle/>
                    <a:p>
                      <a:pPr marL="0" indent="0" algn="l">
                        <a:buNone/>
                      </a:pPr>
                      <a:r>
                        <a:rPr lang="en-US" sz="1000" b="1" dirty="0">
                          <a:solidFill>
                            <a:srgbClr val="FFFFFF"/>
                          </a:solidFill>
                          <a:latin typeface="Arial" pitchFamily="34" charset="0"/>
                          <a:ea typeface="Arial" pitchFamily="34" charset="-122"/>
                          <a:cs typeface="Arial" pitchFamily="34" charset="-120"/>
                        </a:rPr>
                        <a:t>All CMT</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009FE3"/>
                    </a:solidFill>
                  </a:tcPr>
                </a:tc>
                <a:tc>
                  <a:txBody>
                    <a:bodyPr/>
                    <a:lstStyle/>
                    <a:p>
                      <a:pPr marL="0" indent="0" algn="ctr">
                        <a:buNone/>
                      </a:pPr>
                      <a:r>
                        <a:rPr lang="en-US" sz="1000" b="1" dirty="0">
                          <a:solidFill>
                            <a:srgbClr val="FFFFFF"/>
                          </a:solidFill>
                          <a:latin typeface="Arial" pitchFamily="34" charset="0"/>
                          <a:ea typeface="Arial" pitchFamily="34" charset="-122"/>
                          <a:cs typeface="Arial" pitchFamily="34" charset="-120"/>
                        </a:rPr>
                        <a:t>25 mins</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009FE3"/>
                    </a:solidFill>
                  </a:tcPr>
                </a:tc>
                <a:extLst>
                  <a:ext uri="{0D108BD9-81ED-4DB2-BD59-A6C34878D82A}">
                    <a16:rowId xmlns:a16="http://schemas.microsoft.com/office/drawing/2014/main" val="10002"/>
                  </a:ext>
                </a:extLst>
              </a:tr>
              <a:tr h="0">
                <a:tc>
                  <a:txBody>
                    <a:bodyPr/>
                    <a:lstStyle/>
                    <a:p>
                      <a:pPr marL="0" indent="0" algn="ctr">
                        <a:buNone/>
                      </a:pPr>
                      <a:r>
                        <a:rPr lang="en-US" sz="1000" b="1" dirty="0">
                          <a:solidFill>
                            <a:srgbClr val="FFFFFF"/>
                          </a:solidFill>
                          <a:latin typeface="Arial" pitchFamily="34" charset="0"/>
                          <a:ea typeface="Arial" pitchFamily="34" charset="-122"/>
                          <a:cs typeface="Arial" pitchFamily="34" charset="-120"/>
                        </a:rPr>
                        <a:t>09:50</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009FE3"/>
                    </a:solidFill>
                  </a:tcPr>
                </a:tc>
                <a:tc>
                  <a:txBody>
                    <a:bodyPr/>
                    <a:lstStyle/>
                    <a:p>
                      <a:pPr marL="0" indent="0" algn="l">
                        <a:buNone/>
                      </a:pPr>
                      <a:r>
                        <a:rPr lang="en-US" sz="1000" b="1" dirty="0">
                          <a:solidFill>
                            <a:srgbClr val="FFFFFF"/>
                          </a:solidFill>
                          <a:latin typeface="Arial" pitchFamily="34" charset="0"/>
                          <a:ea typeface="Arial" pitchFamily="34" charset="-122"/>
                          <a:cs typeface="Arial" pitchFamily="34" charset="-120"/>
                        </a:rPr>
                        <a:t>SCENARIO: Inject 2 - Escalation and CMT Activation</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009FE3"/>
                    </a:solidFill>
                  </a:tcPr>
                </a:tc>
                <a:tc>
                  <a:txBody>
                    <a:bodyPr/>
                    <a:lstStyle/>
                    <a:p>
                      <a:pPr marL="0" indent="0" algn="l">
                        <a:buNone/>
                      </a:pPr>
                      <a:r>
                        <a:rPr lang="en-US" sz="1000" b="1" dirty="0">
                          <a:solidFill>
                            <a:srgbClr val="FFFFFF"/>
                          </a:solidFill>
                          <a:latin typeface="Arial" pitchFamily="34" charset="0"/>
                          <a:ea typeface="Arial" pitchFamily="34" charset="-122"/>
                          <a:cs typeface="Arial" pitchFamily="34" charset="-120"/>
                        </a:rPr>
                        <a:t>All CMT</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009FE3"/>
                    </a:solidFill>
                  </a:tcPr>
                </a:tc>
                <a:tc>
                  <a:txBody>
                    <a:bodyPr/>
                    <a:lstStyle/>
                    <a:p>
                      <a:pPr marL="0" indent="0" algn="ctr">
                        <a:buNone/>
                      </a:pPr>
                      <a:r>
                        <a:rPr lang="en-US" sz="1000" b="1" dirty="0">
                          <a:solidFill>
                            <a:srgbClr val="FFFFFF"/>
                          </a:solidFill>
                          <a:latin typeface="Arial" pitchFamily="34" charset="0"/>
                          <a:ea typeface="Arial" pitchFamily="34" charset="-122"/>
                          <a:cs typeface="Arial" pitchFamily="34" charset="-120"/>
                        </a:rPr>
                        <a:t>20 mins</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009FE3"/>
                    </a:solidFill>
                  </a:tcPr>
                </a:tc>
                <a:extLst>
                  <a:ext uri="{0D108BD9-81ED-4DB2-BD59-A6C34878D82A}">
                    <a16:rowId xmlns:a16="http://schemas.microsoft.com/office/drawing/2014/main" val="10003"/>
                  </a:ext>
                </a:extLst>
              </a:tr>
              <a:tr h="0">
                <a:tc>
                  <a:txBody>
                    <a:bodyPr/>
                    <a:lstStyle/>
                    <a:p>
                      <a:pPr marL="0" indent="0" algn="ctr">
                        <a:buNone/>
                      </a:pPr>
                      <a:r>
                        <a:rPr lang="en-US" sz="1000" b="1" dirty="0">
                          <a:solidFill>
                            <a:srgbClr val="FFFFFF"/>
                          </a:solidFill>
                          <a:latin typeface="Arial" pitchFamily="34" charset="0"/>
                          <a:ea typeface="Arial" pitchFamily="34" charset="-122"/>
                          <a:cs typeface="Arial" pitchFamily="34" charset="-120"/>
                        </a:rPr>
                        <a:t>10:10</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009FE3"/>
                    </a:solidFill>
                  </a:tcPr>
                </a:tc>
                <a:tc>
                  <a:txBody>
                    <a:bodyPr/>
                    <a:lstStyle/>
                    <a:p>
                      <a:pPr marL="0" indent="0" algn="l">
                        <a:buNone/>
                      </a:pPr>
                      <a:r>
                        <a:rPr lang="en-US" sz="1000" b="1" dirty="0">
                          <a:solidFill>
                            <a:srgbClr val="FFFFFF"/>
                          </a:solidFill>
                          <a:latin typeface="Arial" pitchFamily="34" charset="0"/>
                          <a:ea typeface="Arial" pitchFamily="34" charset="-122"/>
                          <a:cs typeface="Arial" pitchFamily="34" charset="-120"/>
                        </a:rPr>
                        <a:t>SCENARIO: Inject 3 - Customer and Stakeholder Impact</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009FE3"/>
                    </a:solidFill>
                  </a:tcPr>
                </a:tc>
                <a:tc>
                  <a:txBody>
                    <a:bodyPr/>
                    <a:lstStyle/>
                    <a:p>
                      <a:pPr marL="0" indent="0" algn="l">
                        <a:buNone/>
                      </a:pPr>
                      <a:r>
                        <a:rPr lang="en-US" sz="1000" b="1" dirty="0">
                          <a:solidFill>
                            <a:srgbClr val="FFFFFF"/>
                          </a:solidFill>
                          <a:latin typeface="Arial" pitchFamily="34" charset="0"/>
                          <a:ea typeface="Arial" pitchFamily="34" charset="-122"/>
                          <a:cs typeface="Arial" pitchFamily="34" charset="-120"/>
                        </a:rPr>
                        <a:t>All CMT</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009FE3"/>
                    </a:solidFill>
                  </a:tcPr>
                </a:tc>
                <a:tc>
                  <a:txBody>
                    <a:bodyPr/>
                    <a:lstStyle/>
                    <a:p>
                      <a:pPr marL="0" indent="0" algn="ctr">
                        <a:buNone/>
                      </a:pPr>
                      <a:r>
                        <a:rPr lang="en-US" sz="1000" b="1" dirty="0">
                          <a:solidFill>
                            <a:srgbClr val="FFFFFF"/>
                          </a:solidFill>
                          <a:latin typeface="Arial" pitchFamily="34" charset="0"/>
                          <a:ea typeface="Arial" pitchFamily="34" charset="-122"/>
                          <a:cs typeface="Arial" pitchFamily="34" charset="-120"/>
                        </a:rPr>
                        <a:t>20 mins</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009FE3"/>
                    </a:solidFill>
                  </a:tcPr>
                </a:tc>
                <a:extLst>
                  <a:ext uri="{0D108BD9-81ED-4DB2-BD59-A6C34878D82A}">
                    <a16:rowId xmlns:a16="http://schemas.microsoft.com/office/drawing/2014/main" val="10004"/>
                  </a:ext>
                </a:extLst>
              </a:tr>
              <a:tr h="0">
                <a:tc>
                  <a:txBody>
                    <a:bodyPr/>
                    <a:lstStyle/>
                    <a:p>
                      <a:pPr marL="0" indent="0" algn="ctr">
                        <a:buNone/>
                      </a:pPr>
                      <a:r>
                        <a:rPr lang="en-US" sz="1000" b="1" dirty="0">
                          <a:solidFill>
                            <a:srgbClr val="FFC000"/>
                          </a:solidFill>
                          <a:latin typeface="Arial" pitchFamily="34" charset="0"/>
                          <a:ea typeface="Arial" pitchFamily="34" charset="-122"/>
                          <a:cs typeface="Arial" pitchFamily="34" charset="-120"/>
                        </a:rPr>
                        <a:t>10:30</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2CC"/>
                    </a:solidFill>
                  </a:tcPr>
                </a:tc>
                <a:tc>
                  <a:txBody>
                    <a:bodyPr/>
                    <a:lstStyle/>
                    <a:p>
                      <a:pPr marL="0" indent="0" algn="l">
                        <a:buNone/>
                      </a:pPr>
                      <a:r>
                        <a:rPr lang="en-US" sz="1000" dirty="0">
                          <a:solidFill>
                            <a:srgbClr val="FFC000"/>
                          </a:solidFill>
                          <a:latin typeface="Arial" pitchFamily="34" charset="0"/>
                          <a:ea typeface="Arial" pitchFamily="34" charset="-122"/>
                          <a:cs typeface="Arial" pitchFamily="34" charset="-120"/>
                        </a:rPr>
                        <a:t>COMFORT BREAK</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2CC"/>
                    </a:solidFill>
                  </a:tcPr>
                </a:tc>
                <a:tc>
                  <a:txBody>
                    <a:bodyPr/>
                    <a:lstStyle/>
                    <a:p>
                      <a:pPr marL="0" indent="0" algn="l">
                        <a:buNone/>
                      </a:pP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2CC"/>
                    </a:solidFill>
                  </a:tcPr>
                </a:tc>
                <a:tc>
                  <a:txBody>
                    <a:bodyPr/>
                    <a:lstStyle/>
                    <a:p>
                      <a:pPr marL="0" indent="0" algn="ctr">
                        <a:buNone/>
                      </a:pPr>
                      <a:r>
                        <a:rPr lang="en-US" sz="1000" dirty="0">
                          <a:solidFill>
                            <a:srgbClr val="FFC000"/>
                          </a:solidFill>
                          <a:latin typeface="Arial" pitchFamily="34" charset="0"/>
                          <a:ea typeface="Arial" pitchFamily="34" charset="-122"/>
                          <a:cs typeface="Arial" pitchFamily="34" charset="-120"/>
                        </a:rPr>
                        <a:t>10 mins</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2CC"/>
                    </a:solidFill>
                  </a:tcPr>
                </a:tc>
                <a:extLst>
                  <a:ext uri="{0D108BD9-81ED-4DB2-BD59-A6C34878D82A}">
                    <a16:rowId xmlns:a16="http://schemas.microsoft.com/office/drawing/2014/main" val="10005"/>
                  </a:ext>
                </a:extLst>
              </a:tr>
              <a:tr h="0">
                <a:tc>
                  <a:txBody>
                    <a:bodyPr/>
                    <a:lstStyle/>
                    <a:p>
                      <a:pPr marL="0" indent="0" algn="ctr">
                        <a:buNone/>
                      </a:pPr>
                      <a:r>
                        <a:rPr lang="en-US" sz="1000" b="1" dirty="0">
                          <a:solidFill>
                            <a:srgbClr val="FFFFFF"/>
                          </a:solidFill>
                          <a:latin typeface="Arial" pitchFamily="34" charset="0"/>
                          <a:ea typeface="Arial" pitchFamily="34" charset="-122"/>
                          <a:cs typeface="Arial" pitchFamily="34" charset="-120"/>
                        </a:rPr>
                        <a:t>10:40</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009FE3"/>
                    </a:solidFill>
                  </a:tcPr>
                </a:tc>
                <a:tc>
                  <a:txBody>
                    <a:bodyPr/>
                    <a:lstStyle/>
                    <a:p>
                      <a:pPr marL="0" indent="0" algn="l">
                        <a:buNone/>
                      </a:pPr>
                      <a:r>
                        <a:rPr lang="en-US" sz="1000" b="1" dirty="0">
                          <a:solidFill>
                            <a:srgbClr val="FFFFFF"/>
                          </a:solidFill>
                          <a:latin typeface="Arial" pitchFamily="34" charset="0"/>
                          <a:ea typeface="Arial" pitchFamily="34" charset="-122"/>
                          <a:cs typeface="Arial" pitchFamily="34" charset="-120"/>
                        </a:rPr>
                        <a:t>SCENARIO: Inject 4 - Media and Regulatory Pressure</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009FE3"/>
                    </a:solidFill>
                  </a:tcPr>
                </a:tc>
                <a:tc>
                  <a:txBody>
                    <a:bodyPr/>
                    <a:lstStyle/>
                    <a:p>
                      <a:pPr marL="0" indent="0" algn="l">
                        <a:buNone/>
                      </a:pPr>
                      <a:r>
                        <a:rPr lang="en-US" sz="1000" b="1" dirty="0">
                          <a:solidFill>
                            <a:srgbClr val="FFFFFF"/>
                          </a:solidFill>
                          <a:latin typeface="Arial" pitchFamily="34" charset="0"/>
                          <a:ea typeface="Arial" pitchFamily="34" charset="-122"/>
                          <a:cs typeface="Arial" pitchFamily="34" charset="-120"/>
                        </a:rPr>
                        <a:t>All CMT</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009FE3"/>
                    </a:solidFill>
                  </a:tcPr>
                </a:tc>
                <a:tc>
                  <a:txBody>
                    <a:bodyPr/>
                    <a:lstStyle/>
                    <a:p>
                      <a:pPr marL="0" indent="0" algn="ctr">
                        <a:buNone/>
                      </a:pPr>
                      <a:r>
                        <a:rPr lang="en-US" sz="1000" b="1" dirty="0">
                          <a:solidFill>
                            <a:srgbClr val="FFFFFF"/>
                          </a:solidFill>
                          <a:latin typeface="Arial" pitchFamily="34" charset="0"/>
                          <a:ea typeface="Arial" pitchFamily="34" charset="-122"/>
                          <a:cs typeface="Arial" pitchFamily="34" charset="-120"/>
                        </a:rPr>
                        <a:t>20 mins</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009FE3"/>
                    </a:solidFill>
                  </a:tcPr>
                </a:tc>
                <a:extLst>
                  <a:ext uri="{0D108BD9-81ED-4DB2-BD59-A6C34878D82A}">
                    <a16:rowId xmlns:a16="http://schemas.microsoft.com/office/drawing/2014/main" val="10006"/>
                  </a:ext>
                </a:extLst>
              </a:tr>
              <a:tr h="0">
                <a:tc>
                  <a:txBody>
                    <a:bodyPr/>
                    <a:lstStyle/>
                    <a:p>
                      <a:pPr marL="0" indent="0" algn="ctr">
                        <a:buNone/>
                      </a:pPr>
                      <a:r>
                        <a:rPr lang="en-US" sz="1000" b="1" dirty="0">
                          <a:solidFill>
                            <a:srgbClr val="FFFFFF"/>
                          </a:solidFill>
                          <a:latin typeface="Arial" pitchFamily="34" charset="0"/>
                          <a:ea typeface="Arial" pitchFamily="34" charset="-122"/>
                          <a:cs typeface="Arial" pitchFamily="34" charset="-120"/>
                        </a:rPr>
                        <a:t>11:00</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009FE3"/>
                    </a:solidFill>
                  </a:tcPr>
                </a:tc>
                <a:tc>
                  <a:txBody>
                    <a:bodyPr/>
                    <a:lstStyle/>
                    <a:p>
                      <a:pPr marL="0" indent="0" algn="l">
                        <a:buNone/>
                      </a:pPr>
                      <a:r>
                        <a:rPr lang="en-US" sz="1000" b="1" dirty="0">
                          <a:solidFill>
                            <a:srgbClr val="FFFFFF"/>
                          </a:solidFill>
                          <a:latin typeface="Arial" pitchFamily="34" charset="0"/>
                          <a:ea typeface="Arial" pitchFamily="34" charset="-122"/>
                          <a:cs typeface="Arial" pitchFamily="34" charset="-120"/>
                        </a:rPr>
                        <a:t>SCENARIO: Inject 5 - Recovery Planning</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009FE3"/>
                    </a:solidFill>
                  </a:tcPr>
                </a:tc>
                <a:tc>
                  <a:txBody>
                    <a:bodyPr/>
                    <a:lstStyle/>
                    <a:p>
                      <a:pPr marL="0" indent="0" algn="l">
                        <a:buNone/>
                      </a:pPr>
                      <a:r>
                        <a:rPr lang="en-US" sz="1000" b="1" dirty="0">
                          <a:solidFill>
                            <a:srgbClr val="FFFFFF"/>
                          </a:solidFill>
                          <a:latin typeface="Arial" pitchFamily="34" charset="0"/>
                          <a:ea typeface="Arial" pitchFamily="34" charset="-122"/>
                          <a:cs typeface="Arial" pitchFamily="34" charset="-120"/>
                        </a:rPr>
                        <a:t>All CMT</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009FE3"/>
                    </a:solidFill>
                  </a:tcPr>
                </a:tc>
                <a:tc>
                  <a:txBody>
                    <a:bodyPr/>
                    <a:lstStyle/>
                    <a:p>
                      <a:pPr marL="0" indent="0" algn="ctr">
                        <a:buNone/>
                      </a:pPr>
                      <a:r>
                        <a:rPr lang="en-US" sz="1000" b="1" dirty="0">
                          <a:solidFill>
                            <a:srgbClr val="FFFFFF"/>
                          </a:solidFill>
                          <a:latin typeface="Arial" pitchFamily="34" charset="0"/>
                          <a:ea typeface="Arial" pitchFamily="34" charset="-122"/>
                          <a:cs typeface="Arial" pitchFamily="34" charset="-120"/>
                        </a:rPr>
                        <a:t>20 mins</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009FE3"/>
                    </a:solidFill>
                  </a:tcPr>
                </a:tc>
                <a:extLst>
                  <a:ext uri="{0D108BD9-81ED-4DB2-BD59-A6C34878D82A}">
                    <a16:rowId xmlns:a16="http://schemas.microsoft.com/office/drawing/2014/main" val="10007"/>
                  </a:ext>
                </a:extLst>
              </a:tr>
              <a:tr h="0">
                <a:tc>
                  <a:txBody>
                    <a:bodyPr/>
                    <a:lstStyle/>
                    <a:p>
                      <a:pPr marL="0" indent="0" algn="ctr">
                        <a:buNone/>
                      </a:pPr>
                      <a:r>
                        <a:rPr lang="en-US" sz="1000" b="1" dirty="0">
                          <a:solidFill>
                            <a:srgbClr val="5B595A"/>
                          </a:solidFill>
                          <a:latin typeface="Arial" pitchFamily="34" charset="0"/>
                          <a:ea typeface="Arial" pitchFamily="34" charset="-122"/>
                          <a:cs typeface="Arial" pitchFamily="34" charset="-120"/>
                        </a:rPr>
                        <a:t>11:20</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2F2F2"/>
                    </a:solidFill>
                  </a:tcPr>
                </a:tc>
                <a:tc>
                  <a:txBody>
                    <a:bodyPr/>
                    <a:lstStyle/>
                    <a:p>
                      <a:pPr marL="0" indent="0" algn="l">
                        <a:buNone/>
                      </a:pPr>
                      <a:r>
                        <a:rPr lang="en-US" sz="1000" dirty="0">
                          <a:solidFill>
                            <a:srgbClr val="5B595A"/>
                          </a:solidFill>
                          <a:latin typeface="Arial" pitchFamily="34" charset="0"/>
                          <a:ea typeface="Arial" pitchFamily="34" charset="-122"/>
                          <a:cs typeface="Arial" pitchFamily="34" charset="-120"/>
                        </a:rPr>
                        <a:t>Hot debrief: What went well? What needs to improve?</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2F2F2"/>
                    </a:solidFill>
                  </a:tcPr>
                </a:tc>
                <a:tc>
                  <a:txBody>
                    <a:bodyPr/>
                    <a:lstStyle/>
                    <a:p>
                      <a:pPr marL="0" indent="0" algn="l">
                        <a:buNone/>
                      </a:pPr>
                      <a:r>
                        <a:rPr lang="en-US" sz="1000" dirty="0">
                          <a:solidFill>
                            <a:srgbClr val="5B595A"/>
                          </a:solidFill>
                          <a:latin typeface="Arial" pitchFamily="34" charset="0"/>
                          <a:ea typeface="Arial" pitchFamily="34" charset="-122"/>
                          <a:cs typeface="Arial" pitchFamily="34" charset="-120"/>
                        </a:rPr>
                        <a:t>All</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2F2F2"/>
                    </a:solidFill>
                  </a:tcPr>
                </a:tc>
                <a:tc>
                  <a:txBody>
                    <a:bodyPr/>
                    <a:lstStyle/>
                    <a:p>
                      <a:pPr marL="0" indent="0" algn="ctr">
                        <a:buNone/>
                      </a:pPr>
                      <a:r>
                        <a:rPr lang="en-US" sz="1000" dirty="0">
                          <a:solidFill>
                            <a:srgbClr val="5B595A"/>
                          </a:solidFill>
                          <a:latin typeface="Arial" pitchFamily="34" charset="0"/>
                          <a:ea typeface="Arial" pitchFamily="34" charset="-122"/>
                          <a:cs typeface="Arial" pitchFamily="34" charset="-120"/>
                        </a:rPr>
                        <a:t>20 mins</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8"/>
                  </a:ext>
                </a:extLst>
              </a:tr>
              <a:tr h="0">
                <a:tc>
                  <a:txBody>
                    <a:bodyPr/>
                    <a:lstStyle/>
                    <a:p>
                      <a:pPr marL="0" indent="0" algn="ctr">
                        <a:buNone/>
                      </a:pPr>
                      <a:r>
                        <a:rPr lang="en-US" sz="1000" b="1" dirty="0">
                          <a:solidFill>
                            <a:srgbClr val="5B595A"/>
                          </a:solidFill>
                          <a:latin typeface="Arial" pitchFamily="34" charset="0"/>
                          <a:ea typeface="Arial" pitchFamily="34" charset="-122"/>
                          <a:cs typeface="Arial" pitchFamily="34" charset="-120"/>
                        </a:rPr>
                        <a:t>11:40</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5B595A"/>
                          </a:solidFill>
                          <a:latin typeface="Arial" pitchFamily="34" charset="0"/>
                          <a:ea typeface="Arial" pitchFamily="34" charset="-122"/>
                          <a:cs typeface="Arial" pitchFamily="34" charset="-120"/>
                        </a:rPr>
                        <a:t>Action capture and close</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5B595A"/>
                          </a:solidFill>
                          <a:latin typeface="Arial" pitchFamily="34" charset="0"/>
                          <a:ea typeface="Arial" pitchFamily="34" charset="-122"/>
                          <a:cs typeface="Arial" pitchFamily="34" charset="-120"/>
                        </a:rPr>
                        <a:t>Facilitator</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5B595A"/>
                          </a:solidFill>
                          <a:latin typeface="Arial" pitchFamily="34" charset="0"/>
                          <a:ea typeface="Arial" pitchFamily="34" charset="-122"/>
                          <a:cs typeface="Arial" pitchFamily="34" charset="-120"/>
                        </a:rPr>
                        <a:t>20 mins</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0">
                <a:tc>
                  <a:txBody>
                    <a:bodyPr/>
                    <a:lstStyle/>
                    <a:p>
                      <a:pPr marL="0" indent="0" algn="ctr">
                        <a:buNone/>
                      </a:pPr>
                      <a:r>
                        <a:rPr lang="en-US" sz="1000" b="1" dirty="0">
                          <a:solidFill>
                            <a:srgbClr val="5B595A"/>
                          </a:solidFill>
                          <a:latin typeface="Arial" pitchFamily="34" charset="0"/>
                          <a:ea typeface="Arial" pitchFamily="34" charset="-122"/>
                          <a:cs typeface="Arial" pitchFamily="34" charset="-120"/>
                        </a:rPr>
                        <a:t>12:00</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2F2F2"/>
                    </a:solidFill>
                  </a:tcPr>
                </a:tc>
                <a:tc>
                  <a:txBody>
                    <a:bodyPr/>
                    <a:lstStyle/>
                    <a:p>
                      <a:pPr marL="0" indent="0" algn="l">
                        <a:buNone/>
                      </a:pPr>
                      <a:r>
                        <a:rPr lang="en-US" sz="1000" dirty="0">
                          <a:solidFill>
                            <a:srgbClr val="5B595A"/>
                          </a:solidFill>
                          <a:latin typeface="Arial" pitchFamily="34" charset="0"/>
                          <a:ea typeface="Arial" pitchFamily="34" charset="-122"/>
                          <a:cs typeface="Arial" pitchFamily="34" charset="-120"/>
                        </a:rPr>
                        <a:t>Close</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2F2F2"/>
                    </a:solidFill>
                  </a:tcPr>
                </a:tc>
                <a:tc>
                  <a:txBody>
                    <a:bodyPr/>
                    <a:lstStyle/>
                    <a:p>
                      <a:pPr marL="0" indent="0" algn="l">
                        <a:buNone/>
                      </a:pP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2F2F2"/>
                    </a:solidFill>
                  </a:tcPr>
                </a:tc>
                <a:tc>
                  <a:txBody>
                    <a:bodyPr/>
                    <a:lstStyle/>
                    <a:p>
                      <a:pPr marL="0" indent="0" algn="ctr">
                        <a:buNone/>
                      </a:pP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10"/>
                  </a:ext>
                </a:extLst>
              </a:tr>
            </a:tbl>
          </a:graphicData>
        </a:graphic>
      </p:graphicFrame>
      <p:sp>
        <p:nvSpPr>
          <p:cNvPr id="8" name="Rectangle 7"/>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5"/>
          <a:stretch>
            <a:fillRect/>
          </a:stretch>
        </p:blipFill>
        <p:spPr>
          <a:xfrm>
            <a:off x="7562088" y="100584"/>
            <a:ext cx="566928" cy="347472"/>
          </a:xfrm>
          <a:prstGeom prst="rect">
            <a:avLst/>
          </a:prstGeom>
        </p:spPr>
      </p:pic>
      <p:pic>
        <p:nvPicPr>
          <p:cNvPr id="10" name="Picture 9" descr="image.png"/>
          <p:cNvPicPr>
            <a:picLocks noChangeAspect="1"/>
          </p:cNvPicPr>
          <p:nvPr/>
        </p:nvPicPr>
        <p:blipFill>
          <a:blip r:embed="rId4"/>
          <a:stretch>
            <a:fillRect/>
          </a:stretch>
        </p:blipFill>
        <p:spPr>
          <a:xfrm>
            <a:off x="8174736" y="100584"/>
            <a:ext cx="658368" cy="347472"/>
          </a:xfrm>
          <a:prstGeom prst="rect">
            <a:avLst/>
          </a:prstGeom>
        </p:spPr>
      </p:pic>
      <p:sp>
        <p:nvSpPr>
          <p:cNvPr id="11" name="Rectangle 10"/>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274320" y="137160"/>
            <a:ext cx="2011680" cy="320040"/>
          </a:xfrm>
          <a:prstGeom prst="roundRect">
            <a:avLst>
              <a:gd name="adj" fmla="val 14286"/>
            </a:avLst>
          </a:prstGeom>
          <a:solidFill>
            <a:srgbClr val="009FE3"/>
          </a:solidFill>
          <a:ln w="12700">
            <a:solidFill>
              <a:srgbClr val="009FE3"/>
            </a:solidFill>
            <a:prstDash val="solid"/>
          </a:ln>
        </p:spPr>
        <p:txBody>
          <a:bodyPr/>
          <a:lstStyle/>
          <a:p>
            <a:endParaRPr lang="en-GB"/>
          </a:p>
        </p:txBody>
      </p:sp>
      <p:sp>
        <p:nvSpPr>
          <p:cNvPr id="4" name="Text 1"/>
          <p:cNvSpPr/>
          <p:nvPr/>
        </p:nvSpPr>
        <p:spPr>
          <a:xfrm>
            <a:off x="274320" y="137160"/>
            <a:ext cx="201168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SCENARIO BRIEF</a:t>
            </a:r>
            <a:endParaRPr lang="en-US" sz="1000" dirty="0"/>
          </a:p>
        </p:txBody>
      </p:sp>
      <p:sp>
        <p:nvSpPr>
          <p:cNvPr id="5" name="Text 2"/>
          <p:cNvSpPr/>
          <p:nvPr/>
        </p:nvSpPr>
        <p:spPr>
          <a:xfrm>
            <a:off x="274320" y="548640"/>
            <a:ext cx="8595360" cy="640080"/>
          </a:xfrm>
          <a:prstGeom prst="rect">
            <a:avLst/>
          </a:prstGeom>
          <a:noFill/>
          <a:ln/>
        </p:spPr>
        <p:txBody>
          <a:bodyPr wrap="square" rtlCol="0" anchor="ctr"/>
          <a:lstStyle/>
          <a:p>
            <a:pPr marL="0" indent="0">
              <a:buNone/>
            </a:pPr>
            <a:r>
              <a:rPr lang="en-US" sz="2800" b="1" dirty="0">
                <a:solidFill>
                  <a:srgbClr val="009FE3"/>
                </a:solidFill>
                <a:latin typeface="Arial" pitchFamily="34" charset="0"/>
                <a:ea typeface="Arial" pitchFamily="34" charset="-122"/>
                <a:cs typeface="Arial" pitchFamily="34" charset="-120"/>
              </a:rPr>
              <a:t>Scenario Background</a:t>
            </a:r>
            <a:endParaRPr lang="en-US" sz="2800" dirty="0"/>
          </a:p>
        </p:txBody>
      </p:sp>
      <p:sp>
        <p:nvSpPr>
          <p:cNvPr id="6" name="Shape 3"/>
          <p:cNvSpPr/>
          <p:nvPr/>
        </p:nvSpPr>
        <p:spPr>
          <a:xfrm>
            <a:off x="274320" y="1234440"/>
            <a:ext cx="8412480" cy="0"/>
          </a:xfrm>
          <a:prstGeom prst="line">
            <a:avLst/>
          </a:prstGeom>
          <a:noFill/>
          <a:ln w="25400">
            <a:solidFill>
              <a:srgbClr val="E6F4FB"/>
            </a:solidFill>
            <a:prstDash val="solid"/>
          </a:ln>
        </p:spPr>
        <p:txBody>
          <a:bodyPr/>
          <a:lstStyle/>
          <a:p>
            <a:endParaRPr lang="en-GB"/>
          </a:p>
        </p:txBody>
      </p:sp>
      <p:sp>
        <p:nvSpPr>
          <p:cNvPr id="7" name="Shape 4"/>
          <p:cNvSpPr/>
          <p:nvPr/>
        </p:nvSpPr>
        <p:spPr>
          <a:xfrm>
            <a:off x="274320" y="1371600"/>
            <a:ext cx="8595360" cy="914400"/>
          </a:xfrm>
          <a:prstGeom prst="roundRect">
            <a:avLst>
              <a:gd name="adj" fmla="val 8000"/>
            </a:avLst>
          </a:prstGeom>
          <a:solidFill>
            <a:srgbClr val="E6F4FB"/>
          </a:solidFill>
          <a:ln w="12700">
            <a:solidFill>
              <a:srgbClr val="009FE3"/>
            </a:solidFill>
            <a:prstDash val="solid"/>
          </a:ln>
        </p:spPr>
        <p:txBody>
          <a:bodyPr/>
          <a:lstStyle/>
          <a:p>
            <a:endParaRPr lang="en-GB"/>
          </a:p>
        </p:txBody>
      </p:sp>
      <p:sp>
        <p:nvSpPr>
          <p:cNvPr id="8" name="Text 5"/>
          <p:cNvSpPr/>
          <p:nvPr/>
        </p:nvSpPr>
        <p:spPr>
          <a:xfrm>
            <a:off x="457200" y="1417320"/>
            <a:ext cx="8229600" cy="822960"/>
          </a:xfrm>
          <a:prstGeom prst="rect">
            <a:avLst/>
          </a:prstGeom>
          <a:noFill/>
          <a:ln/>
        </p:spPr>
        <p:txBody>
          <a:bodyPr wrap="square" rtlCol="0" anchor="ctr"/>
          <a:lstStyle/>
          <a:p>
            <a:pPr marL="0" indent="0">
              <a:buNone/>
            </a:pPr>
            <a:r>
              <a:rPr lang="en-US" sz="1100" dirty="0">
                <a:solidFill>
                  <a:srgbClr val="5B595A"/>
                </a:solidFill>
                <a:latin typeface="Arial" pitchFamily="34" charset="0"/>
                <a:ea typeface="Arial" pitchFamily="34" charset="-122"/>
                <a:cs typeface="Arial" pitchFamily="34" charset="-120"/>
              </a:rPr>
              <a:t>Today's exercise is based on a scenario designed to represent a realistic and plausible event for a manufacturing business of your type and scale. The scenario is fictional. It is NOT based on any real event at your organisation.</a:t>
            </a:r>
            <a:endParaRPr lang="en-US" sz="1100" dirty="0"/>
          </a:p>
        </p:txBody>
      </p:sp>
      <p:sp>
        <p:nvSpPr>
          <p:cNvPr id="9" name="Text 6"/>
          <p:cNvSpPr/>
          <p:nvPr/>
        </p:nvSpPr>
        <p:spPr>
          <a:xfrm>
            <a:off x="274320" y="2377440"/>
            <a:ext cx="8595360" cy="731520"/>
          </a:xfrm>
          <a:prstGeom prst="rect">
            <a:avLst/>
          </a:prstGeom>
          <a:noFill/>
          <a:ln/>
        </p:spPr>
        <p:txBody>
          <a:bodyPr wrap="square" rtlCol="0" anchor="ctr"/>
          <a:lstStyle/>
          <a:p>
            <a:pPr marL="0" indent="0">
              <a:buNone/>
            </a:pPr>
            <a:r>
              <a:rPr lang="en-US" sz="1100" b="1" dirty="0">
                <a:solidFill>
                  <a:srgbClr val="009FE3"/>
                </a:solidFill>
                <a:latin typeface="Arial" pitchFamily="34" charset="0"/>
                <a:ea typeface="Arial" pitchFamily="34" charset="-122"/>
                <a:cs typeface="Arial" pitchFamily="34" charset="-120"/>
              </a:rPr>
              <a:t>The Company: </a:t>
            </a:r>
            <a:r>
              <a:rPr lang="en-US" sz="1100" dirty="0">
                <a:solidFill>
                  <a:srgbClr val="5B595A"/>
                </a:solidFill>
                <a:latin typeface="Arial" pitchFamily="34" charset="0"/>
                <a:ea typeface="Arial" pitchFamily="34" charset="-122"/>
                <a:cs typeface="Arial" pitchFamily="34" charset="-120"/>
              </a:rPr>
              <a:t>[Company Name] is a precision manufacturing business employing approximately [XX] people at its main site in [Location]. The company is a key supplier to the nuclear supply chain and holds F4N status. Key products include [brief description]. The company operates on a single site with office, manufacturing and despatch functions.</a:t>
            </a:r>
            <a:endParaRPr lang="en-US" sz="1100" dirty="0"/>
          </a:p>
        </p:txBody>
      </p:sp>
      <p:sp>
        <p:nvSpPr>
          <p:cNvPr id="10" name="Text 7"/>
          <p:cNvSpPr/>
          <p:nvPr/>
        </p:nvSpPr>
        <p:spPr>
          <a:xfrm>
            <a:off x="274320" y="3200400"/>
            <a:ext cx="8595360" cy="640080"/>
          </a:xfrm>
          <a:prstGeom prst="rect">
            <a:avLst/>
          </a:prstGeom>
          <a:noFill/>
          <a:ln/>
        </p:spPr>
        <p:txBody>
          <a:bodyPr wrap="square" rtlCol="0" anchor="ctr"/>
          <a:lstStyle/>
          <a:p>
            <a:pPr marL="0" indent="0">
              <a:buNone/>
            </a:pPr>
            <a:r>
              <a:rPr lang="en-US" sz="1100" b="1" dirty="0">
                <a:solidFill>
                  <a:srgbClr val="009FE3"/>
                </a:solidFill>
                <a:latin typeface="Arial" pitchFamily="34" charset="0"/>
                <a:ea typeface="Arial" pitchFamily="34" charset="-122"/>
                <a:cs typeface="Arial" pitchFamily="34" charset="-120"/>
              </a:rPr>
              <a:t>Today's Date (in the exercise): </a:t>
            </a:r>
            <a:r>
              <a:rPr lang="en-US" sz="1100" dirty="0">
                <a:solidFill>
                  <a:srgbClr val="5B595A"/>
                </a:solidFill>
                <a:latin typeface="Arial" pitchFamily="34" charset="0"/>
                <a:ea typeface="Arial" pitchFamily="34" charset="-122"/>
                <a:cs typeface="Arial" pitchFamily="34" charset="-120"/>
              </a:rPr>
              <a:t>Monday morning, 08:30. The company is at normal operational capacity. Production is running to schedule. Three significant customer orders are due for despatch this week.</a:t>
            </a:r>
            <a:endParaRPr lang="en-US" sz="1100" dirty="0"/>
          </a:p>
        </p:txBody>
      </p:sp>
      <p:sp>
        <p:nvSpPr>
          <p:cNvPr id="11" name="Shape 8"/>
          <p:cNvSpPr/>
          <p:nvPr/>
        </p:nvSpPr>
        <p:spPr>
          <a:xfrm>
            <a:off x="274320" y="3931920"/>
            <a:ext cx="8595360" cy="640080"/>
          </a:xfrm>
          <a:prstGeom prst="roundRect">
            <a:avLst>
              <a:gd name="adj" fmla="val 7143"/>
            </a:avLst>
          </a:prstGeom>
          <a:solidFill>
            <a:srgbClr val="83348F"/>
          </a:solidFill>
          <a:ln w="12700">
            <a:solidFill>
              <a:srgbClr val="83348F"/>
            </a:solidFill>
            <a:prstDash val="solid"/>
          </a:ln>
        </p:spPr>
        <p:txBody>
          <a:bodyPr/>
          <a:lstStyle/>
          <a:p>
            <a:endParaRPr lang="en-GB"/>
          </a:p>
        </p:txBody>
      </p:sp>
      <p:sp>
        <p:nvSpPr>
          <p:cNvPr id="12" name="Text 9"/>
          <p:cNvSpPr/>
          <p:nvPr/>
        </p:nvSpPr>
        <p:spPr>
          <a:xfrm>
            <a:off x="457200" y="3977640"/>
            <a:ext cx="8229600" cy="548640"/>
          </a:xfrm>
          <a:prstGeom prst="rect">
            <a:avLst/>
          </a:prstGeom>
          <a:noFill/>
          <a:ln/>
        </p:spPr>
        <p:txBody>
          <a:bodyPr wrap="square" rtlCol="0" anchor="ctr"/>
          <a:lstStyle/>
          <a:p>
            <a:pPr marL="0" indent="0">
              <a:buNone/>
            </a:pPr>
            <a:r>
              <a:rPr lang="en-US" sz="1100" b="1" dirty="0">
                <a:solidFill>
                  <a:srgbClr val="FFFFFF"/>
                </a:solidFill>
                <a:latin typeface="Arial" pitchFamily="34" charset="0"/>
                <a:ea typeface="Arial" pitchFamily="34" charset="-122"/>
                <a:cs typeface="Arial" pitchFamily="34" charset="-120"/>
              </a:rPr>
              <a:t>The exercise will unfold through 5 scenario injects. Each inject builds on the last. The facilitator will prompt discussion after each inject.</a:t>
            </a:r>
            <a:endParaRPr lang="en-US" sz="1100" dirty="0"/>
          </a:p>
        </p:txBody>
      </p:sp>
      <p:sp>
        <p:nvSpPr>
          <p:cNvPr id="13" name="Rectangle 12"/>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5"/>
          <a:stretch>
            <a:fillRect/>
          </a:stretch>
        </p:blipFill>
        <p:spPr>
          <a:xfrm>
            <a:off x="7562088" y="100584"/>
            <a:ext cx="566928" cy="347472"/>
          </a:xfrm>
          <a:prstGeom prst="rect">
            <a:avLst/>
          </a:prstGeom>
        </p:spPr>
      </p:pic>
      <p:pic>
        <p:nvPicPr>
          <p:cNvPr id="15" name="Picture 14" descr="image.png"/>
          <p:cNvPicPr>
            <a:picLocks noChangeAspect="1"/>
          </p:cNvPicPr>
          <p:nvPr/>
        </p:nvPicPr>
        <p:blipFill>
          <a:blip r:embed="rId4"/>
          <a:stretch>
            <a:fillRect/>
          </a:stretch>
        </p:blipFill>
        <p:spPr>
          <a:xfrm>
            <a:off x="8174736" y="100584"/>
            <a:ext cx="658368" cy="347472"/>
          </a:xfrm>
          <a:prstGeom prst="rect">
            <a:avLst/>
          </a:prstGeom>
        </p:spPr>
      </p:pic>
      <p:sp>
        <p:nvSpPr>
          <p:cNvPr id="16" name="Rectangle 15"/>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274320" y="137160"/>
            <a:ext cx="2011680" cy="320040"/>
          </a:xfrm>
          <a:prstGeom prst="roundRect">
            <a:avLst>
              <a:gd name="adj" fmla="val 14286"/>
            </a:avLst>
          </a:prstGeom>
          <a:solidFill>
            <a:srgbClr val="D32F2F"/>
          </a:solidFill>
          <a:ln w="12700">
            <a:solidFill>
              <a:srgbClr val="D32F2F"/>
            </a:solidFill>
            <a:prstDash val="solid"/>
          </a:ln>
        </p:spPr>
        <p:txBody>
          <a:bodyPr/>
          <a:lstStyle/>
          <a:p>
            <a:endParaRPr lang="en-GB"/>
          </a:p>
        </p:txBody>
      </p:sp>
      <p:sp>
        <p:nvSpPr>
          <p:cNvPr id="4" name="Text 1"/>
          <p:cNvSpPr/>
          <p:nvPr/>
        </p:nvSpPr>
        <p:spPr>
          <a:xfrm>
            <a:off x="274320" y="137160"/>
            <a:ext cx="201168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INJECT 1</a:t>
            </a:r>
            <a:endParaRPr lang="en-US" sz="1000" dirty="0"/>
          </a:p>
        </p:txBody>
      </p:sp>
      <p:sp>
        <p:nvSpPr>
          <p:cNvPr id="5" name="Text 2"/>
          <p:cNvSpPr/>
          <p:nvPr/>
        </p:nvSpPr>
        <p:spPr>
          <a:xfrm>
            <a:off x="274320" y="548640"/>
            <a:ext cx="8595360" cy="640080"/>
          </a:xfrm>
          <a:prstGeom prst="rect">
            <a:avLst/>
          </a:prstGeom>
          <a:noFill/>
          <a:ln/>
        </p:spPr>
        <p:txBody>
          <a:bodyPr wrap="square" rtlCol="0" anchor="ctr"/>
          <a:lstStyle/>
          <a:p>
            <a:pPr marL="0" indent="0">
              <a:buNone/>
            </a:pPr>
            <a:r>
              <a:rPr lang="en-US" sz="2800" b="1" dirty="0">
                <a:solidFill>
                  <a:srgbClr val="009FE3"/>
                </a:solidFill>
                <a:latin typeface="Arial" pitchFamily="34" charset="0"/>
                <a:ea typeface="Arial" pitchFamily="34" charset="-122"/>
                <a:cs typeface="Arial" pitchFamily="34" charset="-120"/>
              </a:rPr>
              <a:t>Inject 1: Incident Discovery</a:t>
            </a:r>
            <a:endParaRPr lang="en-US" sz="2800" dirty="0"/>
          </a:p>
        </p:txBody>
      </p:sp>
      <p:sp>
        <p:nvSpPr>
          <p:cNvPr id="6" name="Shape 3"/>
          <p:cNvSpPr/>
          <p:nvPr/>
        </p:nvSpPr>
        <p:spPr>
          <a:xfrm>
            <a:off x="274320" y="1234440"/>
            <a:ext cx="8412480" cy="0"/>
          </a:xfrm>
          <a:prstGeom prst="line">
            <a:avLst/>
          </a:prstGeom>
          <a:noFill/>
          <a:ln w="25400">
            <a:solidFill>
              <a:srgbClr val="E6F4FB"/>
            </a:solidFill>
            <a:prstDash val="solid"/>
          </a:ln>
        </p:spPr>
        <p:txBody>
          <a:bodyPr/>
          <a:lstStyle/>
          <a:p>
            <a:endParaRPr lang="en-GB"/>
          </a:p>
        </p:txBody>
      </p:sp>
      <p:sp>
        <p:nvSpPr>
          <p:cNvPr id="7" name="Shape 4"/>
          <p:cNvSpPr/>
          <p:nvPr/>
        </p:nvSpPr>
        <p:spPr>
          <a:xfrm>
            <a:off x="274320" y="1371600"/>
            <a:ext cx="8595360" cy="1463040"/>
          </a:xfrm>
          <a:prstGeom prst="roundRect">
            <a:avLst>
              <a:gd name="adj" fmla="val 5000"/>
            </a:avLst>
          </a:prstGeom>
          <a:solidFill>
            <a:srgbClr val="FFF8E1"/>
          </a:solidFill>
          <a:ln w="12700">
            <a:solidFill>
              <a:srgbClr val="FFC000"/>
            </a:solidFill>
            <a:prstDash val="solid"/>
          </a:ln>
        </p:spPr>
        <p:txBody>
          <a:bodyPr/>
          <a:lstStyle/>
          <a:p>
            <a:endParaRPr lang="en-GB"/>
          </a:p>
        </p:txBody>
      </p:sp>
      <p:sp>
        <p:nvSpPr>
          <p:cNvPr id="8" name="Text 5"/>
          <p:cNvSpPr/>
          <p:nvPr/>
        </p:nvSpPr>
        <p:spPr>
          <a:xfrm>
            <a:off x="457200" y="1463040"/>
            <a:ext cx="1828800" cy="274320"/>
          </a:xfrm>
          <a:prstGeom prst="rect">
            <a:avLst/>
          </a:prstGeom>
          <a:noFill/>
          <a:ln/>
        </p:spPr>
        <p:txBody>
          <a:bodyPr wrap="square" rtlCol="0" anchor="ctr"/>
          <a:lstStyle/>
          <a:p>
            <a:pPr marL="0" indent="0">
              <a:buNone/>
            </a:pPr>
            <a:r>
              <a:rPr lang="en-US" sz="1100" b="1" dirty="0">
                <a:solidFill>
                  <a:srgbClr val="FFC000"/>
                </a:solidFill>
                <a:latin typeface="Arial" pitchFamily="34" charset="0"/>
                <a:ea typeface="Arial" pitchFamily="34" charset="-122"/>
                <a:cs typeface="Arial" pitchFamily="34" charset="-120"/>
              </a:rPr>
              <a:t>THE SCENARIO:</a:t>
            </a:r>
            <a:endParaRPr lang="en-US" sz="1100" dirty="0"/>
          </a:p>
        </p:txBody>
      </p:sp>
      <p:sp>
        <p:nvSpPr>
          <p:cNvPr id="9" name="Text 6"/>
          <p:cNvSpPr/>
          <p:nvPr/>
        </p:nvSpPr>
        <p:spPr>
          <a:xfrm>
            <a:off x="457200" y="1783080"/>
            <a:ext cx="8229600" cy="1005840"/>
          </a:xfrm>
          <a:prstGeom prst="rect">
            <a:avLst/>
          </a:prstGeom>
          <a:noFill/>
          <a:ln/>
        </p:spPr>
        <p:txBody>
          <a:bodyPr wrap="square" rtlCol="0" anchor="ctr"/>
          <a:lstStyle/>
          <a:p>
            <a:pPr marL="0" indent="0">
              <a:buNone/>
            </a:pPr>
            <a:r>
              <a:rPr lang="en-US" sz="1100" dirty="0">
                <a:solidFill>
                  <a:srgbClr val="5B595A"/>
                </a:solidFill>
                <a:latin typeface="Arial" pitchFamily="34" charset="0"/>
                <a:ea typeface="Arial" pitchFamily="34" charset="-122"/>
                <a:cs typeface="Arial" pitchFamily="34" charset="-120"/>
              </a:rPr>
              <a:t>It is 08:30 on Monday. An operator on the shop floor reports a strong burning smell near Machining Centre 3. Before anyone can investigate, the fire suppression system activates in the machining bay. The area fills with smoke. The fire alarm sounds. Staff evacuate. When the alarm is reset 20 minutes later, it is clear that a fire has damaged three CNC machines and the surrounding electrical infrastructure. Two members of staff report minor smoke inhalation and have been taken to a local hospital. The police and fire brigade are on site.</a:t>
            </a:r>
            <a:endParaRPr lang="en-US" sz="1100" dirty="0"/>
          </a:p>
        </p:txBody>
      </p:sp>
      <p:sp>
        <p:nvSpPr>
          <p:cNvPr id="10" name="Text 7"/>
          <p:cNvSpPr/>
          <p:nvPr/>
        </p:nvSpPr>
        <p:spPr>
          <a:xfrm>
            <a:off x="274320" y="2971800"/>
            <a:ext cx="8595360" cy="274320"/>
          </a:xfrm>
          <a:prstGeom prst="rect">
            <a:avLst/>
          </a:prstGeom>
          <a:noFill/>
          <a:ln/>
        </p:spPr>
        <p:txBody>
          <a:bodyPr wrap="square" rtlCol="0" anchor="ctr"/>
          <a:lstStyle/>
          <a:p>
            <a:pPr marL="0" indent="0">
              <a:buNone/>
            </a:pPr>
            <a:r>
              <a:rPr lang="en-US" sz="1200" b="1" dirty="0">
                <a:solidFill>
                  <a:srgbClr val="83348F"/>
                </a:solidFill>
                <a:latin typeface="Arial" pitchFamily="34" charset="0"/>
                <a:ea typeface="Arial" pitchFamily="34" charset="-122"/>
                <a:cs typeface="Arial" pitchFamily="34" charset="-120"/>
              </a:rPr>
              <a:t>DISCUSSION QUESTIONS:</a:t>
            </a:r>
            <a:endParaRPr lang="en-US" sz="1200" dirty="0"/>
          </a:p>
        </p:txBody>
      </p:sp>
      <p:sp>
        <p:nvSpPr>
          <p:cNvPr id="11" name="Text 8"/>
          <p:cNvSpPr/>
          <p:nvPr/>
        </p:nvSpPr>
        <p:spPr>
          <a:xfrm>
            <a:off x="365760" y="3291840"/>
            <a:ext cx="8412480" cy="292608"/>
          </a:xfrm>
          <a:prstGeom prst="rect">
            <a:avLst/>
          </a:prstGeom>
          <a:noFill/>
          <a:ln/>
        </p:spPr>
        <p:txBody>
          <a:bodyPr wrap="square" rtlCol="0" anchor="ctr"/>
          <a:lstStyle/>
          <a:p>
            <a:pPr marL="0" indent="0">
              <a:buNone/>
            </a:pPr>
            <a:r>
              <a:rPr lang="en-US" sz="1100" dirty="0">
                <a:solidFill>
                  <a:srgbClr val="5B595A"/>
                </a:solidFill>
                <a:latin typeface="Arial" pitchFamily="34" charset="0"/>
                <a:ea typeface="Arial" pitchFamily="34" charset="-122"/>
                <a:cs typeface="Arial" pitchFamily="34" charset="-120"/>
              </a:rPr>
              <a:t>1.  Who are the first people to be notified? In what order and by what method?</a:t>
            </a:r>
            <a:endParaRPr lang="en-US" sz="1100" dirty="0"/>
          </a:p>
        </p:txBody>
      </p:sp>
      <p:sp>
        <p:nvSpPr>
          <p:cNvPr id="12" name="Text 9"/>
          <p:cNvSpPr/>
          <p:nvPr/>
        </p:nvSpPr>
        <p:spPr>
          <a:xfrm>
            <a:off x="365760" y="3611880"/>
            <a:ext cx="8412480" cy="292608"/>
          </a:xfrm>
          <a:prstGeom prst="rect">
            <a:avLst/>
          </a:prstGeom>
          <a:noFill/>
          <a:ln/>
        </p:spPr>
        <p:txBody>
          <a:bodyPr wrap="square" rtlCol="0" anchor="ctr"/>
          <a:lstStyle/>
          <a:p>
            <a:pPr marL="0" indent="0">
              <a:buNone/>
            </a:pPr>
            <a:r>
              <a:rPr lang="en-US" sz="1100" dirty="0">
                <a:solidFill>
                  <a:srgbClr val="5B595A"/>
                </a:solidFill>
                <a:latin typeface="Arial" pitchFamily="34" charset="0"/>
                <a:ea typeface="Arial" pitchFamily="34" charset="-122"/>
                <a:cs typeface="Arial" pitchFamily="34" charset="-120"/>
              </a:rPr>
              <a:t>2.  Has this incident met the threshold for major incident declaration? Who makes that decision?</a:t>
            </a:r>
            <a:endParaRPr lang="en-US" sz="1100" dirty="0"/>
          </a:p>
        </p:txBody>
      </p:sp>
      <p:sp>
        <p:nvSpPr>
          <p:cNvPr id="13" name="Text 10"/>
          <p:cNvSpPr/>
          <p:nvPr/>
        </p:nvSpPr>
        <p:spPr>
          <a:xfrm>
            <a:off x="365760" y="3931920"/>
            <a:ext cx="8412480" cy="292608"/>
          </a:xfrm>
          <a:prstGeom prst="rect">
            <a:avLst/>
          </a:prstGeom>
          <a:noFill/>
          <a:ln/>
        </p:spPr>
        <p:txBody>
          <a:bodyPr wrap="square" rtlCol="0" anchor="ctr"/>
          <a:lstStyle/>
          <a:p>
            <a:pPr marL="0" indent="0">
              <a:buNone/>
            </a:pPr>
            <a:r>
              <a:rPr lang="en-US" sz="1100" dirty="0">
                <a:solidFill>
                  <a:srgbClr val="5B595A"/>
                </a:solidFill>
                <a:latin typeface="Arial" pitchFamily="34" charset="0"/>
                <a:ea typeface="Arial" pitchFamily="34" charset="-122"/>
                <a:cs typeface="Arial" pitchFamily="34" charset="-120"/>
              </a:rPr>
              <a:t>3.  What are your immediate actions in the first 30 minutes? Who does what?</a:t>
            </a:r>
            <a:endParaRPr lang="en-US" sz="1100" dirty="0"/>
          </a:p>
        </p:txBody>
      </p:sp>
      <p:sp>
        <p:nvSpPr>
          <p:cNvPr id="14" name="Text 11"/>
          <p:cNvSpPr/>
          <p:nvPr/>
        </p:nvSpPr>
        <p:spPr>
          <a:xfrm>
            <a:off x="365760" y="4251960"/>
            <a:ext cx="8412480" cy="292608"/>
          </a:xfrm>
          <a:prstGeom prst="rect">
            <a:avLst/>
          </a:prstGeom>
          <a:noFill/>
          <a:ln/>
        </p:spPr>
        <p:txBody>
          <a:bodyPr wrap="square" rtlCol="0" anchor="ctr"/>
          <a:lstStyle/>
          <a:p>
            <a:pPr marL="0" indent="0">
              <a:buNone/>
            </a:pPr>
            <a:r>
              <a:rPr lang="en-US" sz="1100" dirty="0">
                <a:solidFill>
                  <a:srgbClr val="5B595A"/>
                </a:solidFill>
                <a:latin typeface="Arial" pitchFamily="34" charset="0"/>
                <a:ea typeface="Arial" pitchFamily="34" charset="-122"/>
                <a:cs typeface="Arial" pitchFamily="34" charset="-120"/>
              </a:rPr>
              <a:t>4.  How do you account for all personnel, including any contractors or visitors on site?</a:t>
            </a:r>
            <a:endParaRPr lang="en-US" sz="1100" dirty="0"/>
          </a:p>
        </p:txBody>
      </p:sp>
      <p:sp>
        <p:nvSpPr>
          <p:cNvPr id="15" name="Rectangle 14"/>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image.png"/>
          <p:cNvPicPr>
            <a:picLocks noChangeAspect="1"/>
          </p:cNvPicPr>
          <p:nvPr/>
        </p:nvPicPr>
        <p:blipFill>
          <a:blip r:embed="rId5"/>
          <a:stretch>
            <a:fillRect/>
          </a:stretch>
        </p:blipFill>
        <p:spPr>
          <a:xfrm>
            <a:off x="7562088" y="100584"/>
            <a:ext cx="566928" cy="347472"/>
          </a:xfrm>
          <a:prstGeom prst="rect">
            <a:avLst/>
          </a:prstGeom>
        </p:spPr>
      </p:pic>
      <p:pic>
        <p:nvPicPr>
          <p:cNvPr id="17" name="Picture 16" descr="image.png"/>
          <p:cNvPicPr>
            <a:picLocks noChangeAspect="1"/>
          </p:cNvPicPr>
          <p:nvPr/>
        </p:nvPicPr>
        <p:blipFill>
          <a:blip r:embed="rId4"/>
          <a:stretch>
            <a:fillRect/>
          </a:stretch>
        </p:blipFill>
        <p:spPr>
          <a:xfrm>
            <a:off x="8174736" y="100584"/>
            <a:ext cx="658368" cy="347472"/>
          </a:xfrm>
          <a:prstGeom prst="rect">
            <a:avLst/>
          </a:prstGeom>
        </p:spPr>
      </p:pic>
      <p:sp>
        <p:nvSpPr>
          <p:cNvPr id="18" name="Rectangle 17"/>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274320" y="137160"/>
            <a:ext cx="2011680" cy="320040"/>
          </a:xfrm>
          <a:prstGeom prst="roundRect">
            <a:avLst>
              <a:gd name="adj" fmla="val 14286"/>
            </a:avLst>
          </a:prstGeom>
          <a:solidFill>
            <a:srgbClr val="5B595A"/>
          </a:solidFill>
          <a:ln w="12700">
            <a:solidFill>
              <a:srgbClr val="5B595A"/>
            </a:solidFill>
            <a:prstDash val="solid"/>
          </a:ln>
        </p:spPr>
        <p:txBody>
          <a:bodyPr/>
          <a:lstStyle/>
          <a:p>
            <a:endParaRPr lang="en-GB"/>
          </a:p>
        </p:txBody>
      </p:sp>
      <p:sp>
        <p:nvSpPr>
          <p:cNvPr id="4" name="Text 1"/>
          <p:cNvSpPr/>
          <p:nvPr/>
        </p:nvSpPr>
        <p:spPr>
          <a:xfrm>
            <a:off x="274320" y="137160"/>
            <a:ext cx="201168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FACILITATOR NOTES</a:t>
            </a:r>
            <a:endParaRPr lang="en-US" sz="1000" dirty="0"/>
          </a:p>
        </p:txBody>
      </p:sp>
      <p:sp>
        <p:nvSpPr>
          <p:cNvPr id="5" name="Text 2"/>
          <p:cNvSpPr/>
          <p:nvPr/>
        </p:nvSpPr>
        <p:spPr>
          <a:xfrm>
            <a:off x="274320" y="548640"/>
            <a:ext cx="8595360" cy="640080"/>
          </a:xfrm>
          <a:prstGeom prst="rect">
            <a:avLst/>
          </a:prstGeom>
          <a:noFill/>
          <a:ln/>
        </p:spPr>
        <p:txBody>
          <a:bodyPr wrap="square" rtlCol="0" anchor="ctr"/>
          <a:lstStyle/>
          <a:p>
            <a:pPr marL="0" indent="0">
              <a:buNone/>
            </a:pPr>
            <a:r>
              <a:rPr lang="en-US" sz="2400" b="1" dirty="0">
                <a:solidFill>
                  <a:srgbClr val="5B595A"/>
                </a:solidFill>
                <a:latin typeface="Arial" pitchFamily="34" charset="0"/>
                <a:ea typeface="Arial" pitchFamily="34" charset="-122"/>
                <a:cs typeface="Arial" pitchFamily="34" charset="-120"/>
              </a:rPr>
              <a:t>Facilitator Notes: Inject 1</a:t>
            </a:r>
            <a:endParaRPr lang="en-US" sz="2400" dirty="0"/>
          </a:p>
        </p:txBody>
      </p:sp>
      <p:sp>
        <p:nvSpPr>
          <p:cNvPr id="6" name="Shape 3"/>
          <p:cNvSpPr/>
          <p:nvPr/>
        </p:nvSpPr>
        <p:spPr>
          <a:xfrm>
            <a:off x="274320" y="1234440"/>
            <a:ext cx="8412480" cy="0"/>
          </a:xfrm>
          <a:prstGeom prst="line">
            <a:avLst/>
          </a:prstGeom>
          <a:noFill/>
          <a:ln w="25400">
            <a:solidFill>
              <a:srgbClr val="CCCCCC"/>
            </a:solidFill>
            <a:prstDash val="solid"/>
          </a:ln>
        </p:spPr>
        <p:txBody>
          <a:bodyPr/>
          <a:lstStyle/>
          <a:p>
            <a:endParaRPr lang="en-GB"/>
          </a:p>
        </p:txBody>
      </p:sp>
      <p:sp>
        <p:nvSpPr>
          <p:cNvPr id="7" name="Shape 4"/>
          <p:cNvSpPr/>
          <p:nvPr/>
        </p:nvSpPr>
        <p:spPr>
          <a:xfrm>
            <a:off x="274320" y="1371600"/>
            <a:ext cx="8595360" cy="457200"/>
          </a:xfrm>
          <a:prstGeom prst="roundRect">
            <a:avLst>
              <a:gd name="adj" fmla="val 10000"/>
            </a:avLst>
          </a:prstGeom>
          <a:solidFill>
            <a:srgbClr val="5B595A"/>
          </a:solidFill>
          <a:ln w="12700">
            <a:solidFill>
              <a:srgbClr val="5B595A"/>
            </a:solidFill>
            <a:prstDash val="solid"/>
          </a:ln>
        </p:spPr>
        <p:txBody>
          <a:bodyPr/>
          <a:lstStyle/>
          <a:p>
            <a:endParaRPr lang="en-GB"/>
          </a:p>
        </p:txBody>
      </p:sp>
      <p:sp>
        <p:nvSpPr>
          <p:cNvPr id="8" name="Text 5"/>
          <p:cNvSpPr/>
          <p:nvPr/>
        </p:nvSpPr>
        <p:spPr>
          <a:xfrm>
            <a:off x="274320" y="1371600"/>
            <a:ext cx="859536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For Facilitator Use Only - Do Not Display to Participants</a:t>
            </a:r>
            <a:endParaRPr lang="en-US" sz="1200" dirty="0"/>
          </a:p>
        </p:txBody>
      </p:sp>
      <p:sp>
        <p:nvSpPr>
          <p:cNvPr id="9" name="Text 6"/>
          <p:cNvSpPr/>
          <p:nvPr/>
        </p:nvSpPr>
        <p:spPr>
          <a:xfrm>
            <a:off x="274320" y="2011680"/>
            <a:ext cx="8595360" cy="274320"/>
          </a:xfrm>
          <a:prstGeom prst="rect">
            <a:avLst/>
          </a:prstGeom>
          <a:noFill/>
          <a:ln/>
        </p:spPr>
        <p:txBody>
          <a:bodyPr wrap="square" rtlCol="0" anchor="ctr"/>
          <a:lstStyle/>
          <a:p>
            <a:pPr marL="0" indent="0">
              <a:buNone/>
            </a:pPr>
            <a:r>
              <a:rPr lang="en-US" sz="1100" b="1" dirty="0">
                <a:solidFill>
                  <a:srgbClr val="009FE3"/>
                </a:solidFill>
                <a:latin typeface="Arial" pitchFamily="34" charset="0"/>
                <a:ea typeface="Arial" pitchFamily="34" charset="-122"/>
                <a:cs typeface="Arial" pitchFamily="34" charset="-120"/>
              </a:rPr>
              <a:t>Key themes to probe:</a:t>
            </a:r>
            <a:endParaRPr lang="en-US" sz="1100" dirty="0"/>
          </a:p>
        </p:txBody>
      </p:sp>
      <p:sp>
        <p:nvSpPr>
          <p:cNvPr id="10" name="Text 7"/>
          <p:cNvSpPr/>
          <p:nvPr/>
        </p:nvSpPr>
        <p:spPr>
          <a:xfrm>
            <a:off x="457200" y="2286000"/>
            <a:ext cx="8321040" cy="219456"/>
          </a:xfrm>
          <a:prstGeom prst="rect">
            <a:avLst/>
          </a:prstGeom>
          <a:noFill/>
          <a:ln/>
        </p:spPr>
        <p:txBody>
          <a:bodyPr wrap="square" rtlCol="0" anchor="ctr"/>
          <a:lstStyle/>
          <a:p>
            <a:pPr marL="0" indent="0">
              <a:buNone/>
            </a:pPr>
            <a:r>
              <a:rPr lang="en-US" sz="1000" dirty="0">
                <a:solidFill>
                  <a:srgbClr val="5B595A"/>
                </a:solidFill>
                <a:latin typeface="Arial" pitchFamily="34" charset="0"/>
                <a:ea typeface="Arial" pitchFamily="34" charset="-122"/>
                <a:cs typeface="Arial" pitchFamily="34" charset="-120"/>
              </a:rPr>
              <a:t>•  Is the BCP actually accessible? Who has a copy / can they find it?</a:t>
            </a:r>
            <a:endParaRPr lang="en-US" sz="1000" dirty="0"/>
          </a:p>
        </p:txBody>
      </p:sp>
      <p:sp>
        <p:nvSpPr>
          <p:cNvPr id="11" name="Text 8"/>
          <p:cNvSpPr/>
          <p:nvPr/>
        </p:nvSpPr>
        <p:spPr>
          <a:xfrm>
            <a:off x="457200" y="2514600"/>
            <a:ext cx="8321040" cy="219456"/>
          </a:xfrm>
          <a:prstGeom prst="rect">
            <a:avLst/>
          </a:prstGeom>
          <a:noFill/>
          <a:ln/>
        </p:spPr>
        <p:txBody>
          <a:bodyPr wrap="square" rtlCol="0" anchor="ctr"/>
          <a:lstStyle/>
          <a:p>
            <a:pPr marL="0" indent="0">
              <a:buNone/>
            </a:pPr>
            <a:r>
              <a:rPr lang="en-US" sz="1000" dirty="0">
                <a:solidFill>
                  <a:srgbClr val="5B595A"/>
                </a:solidFill>
                <a:latin typeface="Arial" pitchFamily="34" charset="0"/>
                <a:ea typeface="Arial" pitchFamily="34" charset="-122"/>
                <a:cs typeface="Arial" pitchFamily="34" charset="-120"/>
              </a:rPr>
              <a:t>•  Does the CMT have up-to-date contact details for each other? Can they all be reached quickly?</a:t>
            </a:r>
            <a:endParaRPr lang="en-US" sz="1000" dirty="0"/>
          </a:p>
        </p:txBody>
      </p:sp>
      <p:sp>
        <p:nvSpPr>
          <p:cNvPr id="12" name="Text 9"/>
          <p:cNvSpPr/>
          <p:nvPr/>
        </p:nvSpPr>
        <p:spPr>
          <a:xfrm>
            <a:off x="457200" y="2743200"/>
            <a:ext cx="8321040" cy="219456"/>
          </a:xfrm>
          <a:prstGeom prst="rect">
            <a:avLst/>
          </a:prstGeom>
          <a:noFill/>
          <a:ln/>
        </p:spPr>
        <p:txBody>
          <a:bodyPr wrap="square" rtlCol="0" anchor="ctr"/>
          <a:lstStyle/>
          <a:p>
            <a:pPr marL="0" indent="0">
              <a:buNone/>
            </a:pPr>
            <a:r>
              <a:rPr lang="en-US" sz="1000" dirty="0">
                <a:solidFill>
                  <a:srgbClr val="5B595A"/>
                </a:solidFill>
                <a:latin typeface="Arial" pitchFamily="34" charset="0"/>
                <a:ea typeface="Arial" pitchFamily="34" charset="-122"/>
                <a:cs typeface="Arial" pitchFamily="34" charset="-120"/>
              </a:rPr>
              <a:t>•  Is there a clear chain of command? Who declares the incident? Is that person empowered to do so?</a:t>
            </a:r>
            <a:endParaRPr lang="en-US" sz="1000" dirty="0"/>
          </a:p>
        </p:txBody>
      </p:sp>
      <p:sp>
        <p:nvSpPr>
          <p:cNvPr id="13" name="Text 10"/>
          <p:cNvSpPr/>
          <p:nvPr/>
        </p:nvSpPr>
        <p:spPr>
          <a:xfrm>
            <a:off x="457200" y="2971800"/>
            <a:ext cx="8321040" cy="219456"/>
          </a:xfrm>
          <a:prstGeom prst="rect">
            <a:avLst/>
          </a:prstGeom>
          <a:noFill/>
          <a:ln/>
        </p:spPr>
        <p:txBody>
          <a:bodyPr wrap="square" rtlCol="0" anchor="ctr"/>
          <a:lstStyle/>
          <a:p>
            <a:pPr marL="0" indent="0">
              <a:buNone/>
            </a:pPr>
            <a:r>
              <a:rPr lang="en-US" sz="1000" dirty="0">
                <a:solidFill>
                  <a:srgbClr val="5B595A"/>
                </a:solidFill>
                <a:latin typeface="Arial" pitchFamily="34" charset="0"/>
                <a:ea typeface="Arial" pitchFamily="34" charset="-122"/>
                <a:cs typeface="Arial" pitchFamily="34" charset="-120"/>
              </a:rPr>
              <a:t>•  Has anyone thought about the two staff at the hospital? Who contacts their families?</a:t>
            </a:r>
            <a:endParaRPr lang="en-US" sz="1000" dirty="0"/>
          </a:p>
        </p:txBody>
      </p:sp>
      <p:sp>
        <p:nvSpPr>
          <p:cNvPr id="14" name="Text 11"/>
          <p:cNvSpPr/>
          <p:nvPr/>
        </p:nvSpPr>
        <p:spPr>
          <a:xfrm>
            <a:off x="274320" y="2926080"/>
            <a:ext cx="8595360" cy="274320"/>
          </a:xfrm>
          <a:prstGeom prst="rect">
            <a:avLst/>
          </a:prstGeom>
          <a:noFill/>
          <a:ln/>
        </p:spPr>
        <p:txBody>
          <a:bodyPr wrap="square" rtlCol="0" anchor="ctr"/>
          <a:lstStyle/>
          <a:p>
            <a:pPr marL="0" indent="0">
              <a:buNone/>
            </a:pPr>
            <a:r>
              <a:rPr lang="en-US" sz="1100" b="1" dirty="0">
                <a:solidFill>
                  <a:srgbClr val="009FE3"/>
                </a:solidFill>
                <a:latin typeface="Arial" pitchFamily="34" charset="0"/>
                <a:ea typeface="Arial" pitchFamily="34" charset="-122"/>
                <a:cs typeface="Arial" pitchFamily="34" charset="-120"/>
              </a:rPr>
              <a:t>Common gaps to watch for:</a:t>
            </a:r>
            <a:endParaRPr lang="en-US" sz="1100" dirty="0"/>
          </a:p>
        </p:txBody>
      </p:sp>
      <p:sp>
        <p:nvSpPr>
          <p:cNvPr id="15" name="Text 12"/>
          <p:cNvSpPr/>
          <p:nvPr/>
        </p:nvSpPr>
        <p:spPr>
          <a:xfrm>
            <a:off x="457200" y="3200400"/>
            <a:ext cx="8321040" cy="219456"/>
          </a:xfrm>
          <a:prstGeom prst="rect">
            <a:avLst/>
          </a:prstGeom>
          <a:noFill/>
          <a:ln/>
        </p:spPr>
        <p:txBody>
          <a:bodyPr wrap="square" rtlCol="0" anchor="ctr"/>
          <a:lstStyle/>
          <a:p>
            <a:pPr marL="0" indent="0">
              <a:buNone/>
            </a:pPr>
            <a:r>
              <a:rPr lang="en-US" sz="1000" dirty="0">
                <a:solidFill>
                  <a:srgbClr val="5B595A"/>
                </a:solidFill>
                <a:latin typeface="Arial" pitchFamily="34" charset="0"/>
                <a:ea typeface="Arial" pitchFamily="34" charset="-122"/>
                <a:cs typeface="Arial" pitchFamily="34" charset="-120"/>
              </a:rPr>
              <a:t>•  No single point of contact for emergency services</a:t>
            </a:r>
            <a:endParaRPr lang="en-US" sz="1000" dirty="0"/>
          </a:p>
        </p:txBody>
      </p:sp>
      <p:sp>
        <p:nvSpPr>
          <p:cNvPr id="16" name="Text 13"/>
          <p:cNvSpPr/>
          <p:nvPr/>
        </p:nvSpPr>
        <p:spPr>
          <a:xfrm>
            <a:off x="457200" y="3429000"/>
            <a:ext cx="8321040" cy="219456"/>
          </a:xfrm>
          <a:prstGeom prst="rect">
            <a:avLst/>
          </a:prstGeom>
          <a:noFill/>
          <a:ln/>
        </p:spPr>
        <p:txBody>
          <a:bodyPr wrap="square" rtlCol="0" anchor="ctr"/>
          <a:lstStyle/>
          <a:p>
            <a:pPr marL="0" indent="0">
              <a:buNone/>
            </a:pPr>
            <a:r>
              <a:rPr lang="en-US" sz="1000" dirty="0">
                <a:solidFill>
                  <a:srgbClr val="5B595A"/>
                </a:solidFill>
                <a:latin typeface="Arial" pitchFamily="34" charset="0"/>
                <a:ea typeface="Arial" pitchFamily="34" charset="-122"/>
                <a:cs typeface="Arial" pitchFamily="34" charset="-120"/>
              </a:rPr>
              <a:t>•  Uncertainty about who the 'Incident Controller' is in practice</a:t>
            </a:r>
            <a:endParaRPr lang="en-US" sz="1000" dirty="0"/>
          </a:p>
        </p:txBody>
      </p:sp>
      <p:sp>
        <p:nvSpPr>
          <p:cNvPr id="17" name="Text 14"/>
          <p:cNvSpPr/>
          <p:nvPr/>
        </p:nvSpPr>
        <p:spPr>
          <a:xfrm>
            <a:off x="457200" y="3657600"/>
            <a:ext cx="8321040" cy="219456"/>
          </a:xfrm>
          <a:prstGeom prst="rect">
            <a:avLst/>
          </a:prstGeom>
          <a:noFill/>
          <a:ln/>
        </p:spPr>
        <p:txBody>
          <a:bodyPr wrap="square" rtlCol="0" anchor="ctr"/>
          <a:lstStyle/>
          <a:p>
            <a:pPr marL="0" indent="0">
              <a:buNone/>
            </a:pPr>
            <a:r>
              <a:rPr lang="en-US" sz="1000" dirty="0">
                <a:solidFill>
                  <a:srgbClr val="5B595A"/>
                </a:solidFill>
                <a:latin typeface="Arial" pitchFamily="34" charset="0"/>
                <a:ea typeface="Arial" pitchFamily="34" charset="-122"/>
                <a:cs typeface="Arial" pitchFamily="34" charset="-120"/>
              </a:rPr>
              <a:t>•  No hard copies of BCP available on site</a:t>
            </a:r>
            <a:endParaRPr lang="en-US" sz="1000" dirty="0"/>
          </a:p>
        </p:txBody>
      </p:sp>
      <p:sp>
        <p:nvSpPr>
          <p:cNvPr id="18" name="Text 15"/>
          <p:cNvSpPr/>
          <p:nvPr/>
        </p:nvSpPr>
        <p:spPr>
          <a:xfrm>
            <a:off x="457200" y="3886200"/>
            <a:ext cx="8321040" cy="219456"/>
          </a:xfrm>
          <a:prstGeom prst="rect">
            <a:avLst/>
          </a:prstGeom>
          <a:noFill/>
          <a:ln/>
        </p:spPr>
        <p:txBody>
          <a:bodyPr wrap="square" rtlCol="0" anchor="ctr"/>
          <a:lstStyle/>
          <a:p>
            <a:pPr marL="0" indent="0">
              <a:buNone/>
            </a:pPr>
            <a:r>
              <a:rPr lang="en-US" sz="1000" dirty="0">
                <a:solidFill>
                  <a:srgbClr val="5B595A"/>
                </a:solidFill>
                <a:latin typeface="Arial" pitchFamily="34" charset="0"/>
                <a:ea typeface="Arial" pitchFamily="34" charset="-122"/>
                <a:cs typeface="Arial" pitchFamily="34" charset="-120"/>
              </a:rPr>
              <a:t>•  No personnel accountability process (register, roll call, etc.)</a:t>
            </a:r>
            <a:endParaRPr lang="en-US" sz="1000" dirty="0"/>
          </a:p>
        </p:txBody>
      </p:sp>
      <p:sp>
        <p:nvSpPr>
          <p:cNvPr id="19" name="Text 16"/>
          <p:cNvSpPr/>
          <p:nvPr/>
        </p:nvSpPr>
        <p:spPr>
          <a:xfrm>
            <a:off x="274320" y="3840480"/>
            <a:ext cx="8595360" cy="274320"/>
          </a:xfrm>
          <a:prstGeom prst="rect">
            <a:avLst/>
          </a:prstGeom>
          <a:noFill/>
          <a:ln/>
        </p:spPr>
        <p:txBody>
          <a:bodyPr wrap="square" rtlCol="0" anchor="ctr"/>
          <a:lstStyle/>
          <a:p>
            <a:pPr marL="0" indent="0">
              <a:buNone/>
            </a:pPr>
            <a:r>
              <a:rPr lang="en-US" sz="1100" b="1" dirty="0">
                <a:solidFill>
                  <a:srgbClr val="009FE3"/>
                </a:solidFill>
                <a:latin typeface="Arial" pitchFamily="34" charset="0"/>
                <a:ea typeface="Arial" pitchFamily="34" charset="-122"/>
                <a:cs typeface="Arial" pitchFamily="34" charset="-120"/>
              </a:rPr>
              <a:t>Probe further if:</a:t>
            </a:r>
            <a:endParaRPr lang="en-US" sz="1100" dirty="0"/>
          </a:p>
        </p:txBody>
      </p:sp>
      <p:sp>
        <p:nvSpPr>
          <p:cNvPr id="20" name="Text 17"/>
          <p:cNvSpPr/>
          <p:nvPr/>
        </p:nvSpPr>
        <p:spPr>
          <a:xfrm>
            <a:off x="457200" y="4114800"/>
            <a:ext cx="8321040" cy="219456"/>
          </a:xfrm>
          <a:prstGeom prst="rect">
            <a:avLst/>
          </a:prstGeom>
          <a:noFill/>
          <a:ln/>
        </p:spPr>
        <p:txBody>
          <a:bodyPr wrap="square" rtlCol="0" anchor="ctr"/>
          <a:lstStyle/>
          <a:p>
            <a:pPr marL="0" indent="0">
              <a:buNone/>
            </a:pPr>
            <a:r>
              <a:rPr lang="en-US" sz="1000" dirty="0">
                <a:solidFill>
                  <a:srgbClr val="5B595A"/>
                </a:solidFill>
                <a:latin typeface="Arial" pitchFamily="34" charset="0"/>
                <a:ea typeface="Arial" pitchFamily="34" charset="-122"/>
                <a:cs typeface="Arial" pitchFamily="34" charset="-120"/>
              </a:rPr>
              <a:t>•  Group moves too fast - slow them down, add complexity</a:t>
            </a:r>
            <a:endParaRPr lang="en-US" sz="1000" dirty="0"/>
          </a:p>
        </p:txBody>
      </p:sp>
      <p:sp>
        <p:nvSpPr>
          <p:cNvPr id="21" name="Text 18"/>
          <p:cNvSpPr/>
          <p:nvPr/>
        </p:nvSpPr>
        <p:spPr>
          <a:xfrm>
            <a:off x="457200" y="4343400"/>
            <a:ext cx="8321040" cy="219456"/>
          </a:xfrm>
          <a:prstGeom prst="rect">
            <a:avLst/>
          </a:prstGeom>
          <a:noFill/>
          <a:ln/>
        </p:spPr>
        <p:txBody>
          <a:bodyPr wrap="square" rtlCol="0" anchor="ctr"/>
          <a:lstStyle/>
          <a:p>
            <a:pPr marL="0" indent="0">
              <a:buNone/>
            </a:pPr>
            <a:r>
              <a:rPr lang="en-US" sz="1000" dirty="0">
                <a:solidFill>
                  <a:srgbClr val="5B595A"/>
                </a:solidFill>
                <a:latin typeface="Arial" pitchFamily="34" charset="0"/>
                <a:ea typeface="Arial" pitchFamily="34" charset="-122"/>
                <a:cs typeface="Arial" pitchFamily="34" charset="-120"/>
              </a:rPr>
              <a:t>•  No one mentions the two injured staff members</a:t>
            </a:r>
            <a:endParaRPr lang="en-US" sz="1000" dirty="0"/>
          </a:p>
        </p:txBody>
      </p:sp>
      <p:sp>
        <p:nvSpPr>
          <p:cNvPr id="22" name="Rectangle 21"/>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image.png"/>
          <p:cNvPicPr>
            <a:picLocks noChangeAspect="1"/>
          </p:cNvPicPr>
          <p:nvPr/>
        </p:nvPicPr>
        <p:blipFill>
          <a:blip r:embed="rId5"/>
          <a:stretch>
            <a:fillRect/>
          </a:stretch>
        </p:blipFill>
        <p:spPr>
          <a:xfrm>
            <a:off x="7562088" y="100584"/>
            <a:ext cx="566928" cy="347472"/>
          </a:xfrm>
          <a:prstGeom prst="rect">
            <a:avLst/>
          </a:prstGeom>
        </p:spPr>
      </p:pic>
      <p:pic>
        <p:nvPicPr>
          <p:cNvPr id="24" name="Picture 23" descr="image.png"/>
          <p:cNvPicPr>
            <a:picLocks noChangeAspect="1"/>
          </p:cNvPicPr>
          <p:nvPr/>
        </p:nvPicPr>
        <p:blipFill>
          <a:blip r:embed="rId4"/>
          <a:stretch>
            <a:fillRect/>
          </a:stretch>
        </p:blipFill>
        <p:spPr>
          <a:xfrm>
            <a:off x="8174736" y="100584"/>
            <a:ext cx="658368" cy="347472"/>
          </a:xfrm>
          <a:prstGeom prst="rect">
            <a:avLst/>
          </a:prstGeom>
        </p:spPr>
      </p:pic>
      <p:sp>
        <p:nvSpPr>
          <p:cNvPr id="25" name="Rectangle 24"/>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274320" y="137160"/>
            <a:ext cx="2011680" cy="320040"/>
          </a:xfrm>
          <a:prstGeom prst="roundRect">
            <a:avLst>
              <a:gd name="adj" fmla="val 14286"/>
            </a:avLst>
          </a:prstGeom>
          <a:solidFill>
            <a:srgbClr val="D32F2F"/>
          </a:solidFill>
          <a:ln w="12700">
            <a:solidFill>
              <a:srgbClr val="D32F2F"/>
            </a:solidFill>
            <a:prstDash val="solid"/>
          </a:ln>
        </p:spPr>
        <p:txBody>
          <a:bodyPr/>
          <a:lstStyle/>
          <a:p>
            <a:endParaRPr lang="en-GB"/>
          </a:p>
        </p:txBody>
      </p:sp>
      <p:sp>
        <p:nvSpPr>
          <p:cNvPr id="4" name="Text 1"/>
          <p:cNvSpPr/>
          <p:nvPr/>
        </p:nvSpPr>
        <p:spPr>
          <a:xfrm>
            <a:off x="274320" y="137160"/>
            <a:ext cx="201168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INJECT 2</a:t>
            </a:r>
            <a:endParaRPr lang="en-US" sz="1000" dirty="0"/>
          </a:p>
        </p:txBody>
      </p:sp>
      <p:sp>
        <p:nvSpPr>
          <p:cNvPr id="5" name="Text 2"/>
          <p:cNvSpPr/>
          <p:nvPr/>
        </p:nvSpPr>
        <p:spPr>
          <a:xfrm>
            <a:off x="274320" y="548640"/>
            <a:ext cx="8595360" cy="640080"/>
          </a:xfrm>
          <a:prstGeom prst="rect">
            <a:avLst/>
          </a:prstGeom>
          <a:noFill/>
          <a:ln/>
        </p:spPr>
        <p:txBody>
          <a:bodyPr wrap="square" rtlCol="0" anchor="ctr"/>
          <a:lstStyle/>
          <a:p>
            <a:pPr marL="0" indent="0">
              <a:buNone/>
            </a:pPr>
            <a:r>
              <a:rPr lang="en-US" sz="2800" b="1" dirty="0">
                <a:solidFill>
                  <a:srgbClr val="009FE3"/>
                </a:solidFill>
                <a:latin typeface="Arial" pitchFamily="34" charset="0"/>
                <a:ea typeface="Arial" pitchFamily="34" charset="-122"/>
                <a:cs typeface="Arial" pitchFamily="34" charset="-120"/>
              </a:rPr>
              <a:t>Inject 2: Escalation and CMT Activation</a:t>
            </a:r>
            <a:endParaRPr lang="en-US" sz="2800" dirty="0"/>
          </a:p>
        </p:txBody>
      </p:sp>
      <p:sp>
        <p:nvSpPr>
          <p:cNvPr id="6" name="Shape 3"/>
          <p:cNvSpPr/>
          <p:nvPr/>
        </p:nvSpPr>
        <p:spPr>
          <a:xfrm>
            <a:off x="274320" y="1234440"/>
            <a:ext cx="8412480" cy="0"/>
          </a:xfrm>
          <a:prstGeom prst="line">
            <a:avLst/>
          </a:prstGeom>
          <a:noFill/>
          <a:ln w="25400">
            <a:solidFill>
              <a:srgbClr val="E6F4FB"/>
            </a:solidFill>
            <a:prstDash val="solid"/>
          </a:ln>
        </p:spPr>
        <p:txBody>
          <a:bodyPr/>
          <a:lstStyle/>
          <a:p>
            <a:endParaRPr lang="en-GB"/>
          </a:p>
        </p:txBody>
      </p:sp>
      <p:sp>
        <p:nvSpPr>
          <p:cNvPr id="7" name="Shape 4"/>
          <p:cNvSpPr/>
          <p:nvPr/>
        </p:nvSpPr>
        <p:spPr>
          <a:xfrm>
            <a:off x="274320" y="1371600"/>
            <a:ext cx="8595360" cy="1554480"/>
          </a:xfrm>
          <a:prstGeom prst="roundRect">
            <a:avLst>
              <a:gd name="adj" fmla="val 4706"/>
            </a:avLst>
          </a:prstGeom>
          <a:solidFill>
            <a:srgbClr val="FFF8E1"/>
          </a:solidFill>
          <a:ln w="12700">
            <a:solidFill>
              <a:srgbClr val="FFC000"/>
            </a:solidFill>
            <a:prstDash val="solid"/>
          </a:ln>
        </p:spPr>
        <p:txBody>
          <a:bodyPr/>
          <a:lstStyle/>
          <a:p>
            <a:endParaRPr lang="en-GB"/>
          </a:p>
        </p:txBody>
      </p:sp>
      <p:sp>
        <p:nvSpPr>
          <p:cNvPr id="8" name="Text 5"/>
          <p:cNvSpPr/>
          <p:nvPr/>
        </p:nvSpPr>
        <p:spPr>
          <a:xfrm>
            <a:off x="457200" y="1463040"/>
            <a:ext cx="3200400" cy="274320"/>
          </a:xfrm>
          <a:prstGeom prst="rect">
            <a:avLst/>
          </a:prstGeom>
          <a:noFill/>
          <a:ln/>
        </p:spPr>
        <p:txBody>
          <a:bodyPr wrap="square" rtlCol="0" anchor="ctr"/>
          <a:lstStyle/>
          <a:p>
            <a:pPr marL="0" indent="0">
              <a:buNone/>
            </a:pPr>
            <a:r>
              <a:rPr lang="en-US" sz="1100" b="1" dirty="0">
                <a:solidFill>
                  <a:srgbClr val="FFC000"/>
                </a:solidFill>
                <a:latin typeface="Arial" pitchFamily="34" charset="0"/>
                <a:ea typeface="Arial" pitchFamily="34" charset="-122"/>
                <a:cs typeface="Arial" pitchFamily="34" charset="-120"/>
              </a:rPr>
              <a:t>SITUATION UPDATE - 10:00:</a:t>
            </a:r>
            <a:endParaRPr lang="en-US" sz="1100" dirty="0"/>
          </a:p>
        </p:txBody>
      </p:sp>
      <p:sp>
        <p:nvSpPr>
          <p:cNvPr id="9" name="Text 6"/>
          <p:cNvSpPr/>
          <p:nvPr/>
        </p:nvSpPr>
        <p:spPr>
          <a:xfrm>
            <a:off x="457200" y="1783080"/>
            <a:ext cx="8229600" cy="1097280"/>
          </a:xfrm>
          <a:prstGeom prst="rect">
            <a:avLst/>
          </a:prstGeom>
          <a:noFill/>
          <a:ln/>
        </p:spPr>
        <p:txBody>
          <a:bodyPr wrap="square" rtlCol="0" anchor="ctr"/>
          <a:lstStyle/>
          <a:p>
            <a:pPr marL="0" indent="0">
              <a:buNone/>
            </a:pPr>
            <a:r>
              <a:rPr lang="en-US" sz="1100" dirty="0">
                <a:solidFill>
                  <a:srgbClr val="5B595A"/>
                </a:solidFill>
                <a:latin typeface="Arial" pitchFamily="34" charset="0"/>
                <a:ea typeface="Arial" pitchFamily="34" charset="-122"/>
                <a:cs typeface="Arial" pitchFamily="34" charset="-120"/>
              </a:rPr>
              <a:t>Fire service has cleared the site. The machining bay cannot be re-entered until a structural survey is complete - likely 48 hours minimum. The two staff at hospital have been treated and discharged. All other personnel are accounted for. You have identified that three CNC machines are destroyed and the electrical infrastructure in the bay will need full replacement. Your insurance company has been notified. The MD has declared a Major Incident and the CMT has been convened. You have also received two calls from customers asking about their orders, which are due in the next 3-5 days.</a:t>
            </a:r>
            <a:endParaRPr lang="en-US" sz="1100" dirty="0"/>
          </a:p>
        </p:txBody>
      </p:sp>
      <p:sp>
        <p:nvSpPr>
          <p:cNvPr id="10" name="Text 7"/>
          <p:cNvSpPr/>
          <p:nvPr/>
        </p:nvSpPr>
        <p:spPr>
          <a:xfrm>
            <a:off x="274320" y="3017520"/>
            <a:ext cx="8595360" cy="274320"/>
          </a:xfrm>
          <a:prstGeom prst="rect">
            <a:avLst/>
          </a:prstGeom>
          <a:noFill/>
          <a:ln/>
        </p:spPr>
        <p:txBody>
          <a:bodyPr wrap="square" rtlCol="0" anchor="ctr"/>
          <a:lstStyle/>
          <a:p>
            <a:pPr marL="0" indent="0">
              <a:buNone/>
            </a:pPr>
            <a:r>
              <a:rPr lang="en-US" sz="1200" b="1" dirty="0">
                <a:solidFill>
                  <a:srgbClr val="83348F"/>
                </a:solidFill>
                <a:latin typeface="Arial" pitchFamily="34" charset="0"/>
                <a:ea typeface="Arial" pitchFamily="34" charset="-122"/>
                <a:cs typeface="Arial" pitchFamily="34" charset="-120"/>
              </a:rPr>
              <a:t>DISCUSSION QUESTIONS:</a:t>
            </a:r>
            <a:endParaRPr lang="en-US" sz="1200" dirty="0"/>
          </a:p>
        </p:txBody>
      </p:sp>
      <p:sp>
        <p:nvSpPr>
          <p:cNvPr id="11" name="Text 8"/>
          <p:cNvSpPr/>
          <p:nvPr/>
        </p:nvSpPr>
        <p:spPr>
          <a:xfrm>
            <a:off x="365760" y="3337560"/>
            <a:ext cx="8412480" cy="301752"/>
          </a:xfrm>
          <a:prstGeom prst="rect">
            <a:avLst/>
          </a:prstGeom>
          <a:noFill/>
          <a:ln/>
        </p:spPr>
        <p:txBody>
          <a:bodyPr wrap="square" rtlCol="0" anchor="ctr"/>
          <a:lstStyle/>
          <a:p>
            <a:pPr marL="0" indent="0">
              <a:buNone/>
            </a:pPr>
            <a:r>
              <a:rPr lang="en-US" sz="1100" dirty="0">
                <a:solidFill>
                  <a:srgbClr val="5B595A"/>
                </a:solidFill>
                <a:latin typeface="Arial" pitchFamily="34" charset="0"/>
                <a:ea typeface="Arial" pitchFamily="34" charset="-122"/>
                <a:cs typeface="Arial" pitchFamily="34" charset="-120"/>
              </a:rPr>
              <a:t>1.  How does the CMT organise itself? Who chairs? Where do you meet? What does the first meeting agenda look like?</a:t>
            </a:r>
            <a:endParaRPr lang="en-US" sz="1100" dirty="0"/>
          </a:p>
        </p:txBody>
      </p:sp>
      <p:sp>
        <p:nvSpPr>
          <p:cNvPr id="12" name="Text 9"/>
          <p:cNvSpPr/>
          <p:nvPr/>
        </p:nvSpPr>
        <p:spPr>
          <a:xfrm>
            <a:off x="365760" y="3666744"/>
            <a:ext cx="8412480" cy="301752"/>
          </a:xfrm>
          <a:prstGeom prst="rect">
            <a:avLst/>
          </a:prstGeom>
          <a:noFill/>
          <a:ln/>
        </p:spPr>
        <p:txBody>
          <a:bodyPr wrap="square" rtlCol="0" anchor="ctr"/>
          <a:lstStyle/>
          <a:p>
            <a:pPr marL="0" indent="0">
              <a:buNone/>
            </a:pPr>
            <a:r>
              <a:rPr lang="en-US" sz="1100" dirty="0">
                <a:solidFill>
                  <a:srgbClr val="5B595A"/>
                </a:solidFill>
                <a:latin typeface="Arial" pitchFamily="34" charset="0"/>
                <a:ea typeface="Arial" pitchFamily="34" charset="-122"/>
                <a:cs typeface="Arial" pitchFamily="34" charset="-120"/>
              </a:rPr>
              <a:t>2.  What are your three most critical operational decisions in the next 4 hours?</a:t>
            </a:r>
            <a:endParaRPr lang="en-US" sz="1100" dirty="0"/>
          </a:p>
        </p:txBody>
      </p:sp>
      <p:sp>
        <p:nvSpPr>
          <p:cNvPr id="13" name="Text 10"/>
          <p:cNvSpPr/>
          <p:nvPr/>
        </p:nvSpPr>
        <p:spPr>
          <a:xfrm>
            <a:off x="365760" y="3995928"/>
            <a:ext cx="8412480" cy="301752"/>
          </a:xfrm>
          <a:prstGeom prst="rect">
            <a:avLst/>
          </a:prstGeom>
          <a:noFill/>
          <a:ln/>
        </p:spPr>
        <p:txBody>
          <a:bodyPr wrap="square" rtlCol="0" anchor="ctr"/>
          <a:lstStyle/>
          <a:p>
            <a:pPr marL="0" indent="0">
              <a:buNone/>
            </a:pPr>
            <a:r>
              <a:rPr lang="en-US" sz="1100" dirty="0">
                <a:solidFill>
                  <a:srgbClr val="5B595A"/>
                </a:solidFill>
                <a:latin typeface="Arial" pitchFamily="34" charset="0"/>
                <a:ea typeface="Arial" pitchFamily="34" charset="-122"/>
                <a:cs typeface="Arial" pitchFamily="34" charset="-120"/>
              </a:rPr>
              <a:t>3.  Two customers have already called. What do you say? Who says it? Is it the same person for both?</a:t>
            </a:r>
            <a:endParaRPr lang="en-US" sz="1100" dirty="0"/>
          </a:p>
        </p:txBody>
      </p:sp>
      <p:sp>
        <p:nvSpPr>
          <p:cNvPr id="14" name="Text 11"/>
          <p:cNvSpPr/>
          <p:nvPr/>
        </p:nvSpPr>
        <p:spPr>
          <a:xfrm>
            <a:off x="365760" y="4325112"/>
            <a:ext cx="8412480" cy="301752"/>
          </a:xfrm>
          <a:prstGeom prst="rect">
            <a:avLst/>
          </a:prstGeom>
          <a:noFill/>
          <a:ln/>
        </p:spPr>
        <p:txBody>
          <a:bodyPr wrap="square" rtlCol="0" anchor="ctr"/>
          <a:lstStyle/>
          <a:p>
            <a:pPr marL="0" indent="0">
              <a:buNone/>
            </a:pPr>
            <a:r>
              <a:rPr lang="en-US" sz="1100" dirty="0">
                <a:solidFill>
                  <a:srgbClr val="5B595A"/>
                </a:solidFill>
                <a:latin typeface="Arial" pitchFamily="34" charset="0"/>
                <a:ea typeface="Arial" pitchFamily="34" charset="-122"/>
                <a:cs typeface="Arial" pitchFamily="34" charset="-120"/>
              </a:rPr>
              <a:t>4.  What information do you need before you can give customers a definitive answer?</a:t>
            </a:r>
            <a:endParaRPr lang="en-US" sz="1100" dirty="0"/>
          </a:p>
        </p:txBody>
      </p:sp>
      <p:sp>
        <p:nvSpPr>
          <p:cNvPr id="15" name="Rectangle 14"/>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image.png"/>
          <p:cNvPicPr>
            <a:picLocks noChangeAspect="1"/>
          </p:cNvPicPr>
          <p:nvPr/>
        </p:nvPicPr>
        <p:blipFill>
          <a:blip r:embed="rId5"/>
          <a:stretch>
            <a:fillRect/>
          </a:stretch>
        </p:blipFill>
        <p:spPr>
          <a:xfrm>
            <a:off x="7562088" y="100584"/>
            <a:ext cx="566928" cy="347472"/>
          </a:xfrm>
          <a:prstGeom prst="rect">
            <a:avLst/>
          </a:prstGeom>
        </p:spPr>
      </p:pic>
      <p:pic>
        <p:nvPicPr>
          <p:cNvPr id="17" name="Picture 16" descr="image.png"/>
          <p:cNvPicPr>
            <a:picLocks noChangeAspect="1"/>
          </p:cNvPicPr>
          <p:nvPr/>
        </p:nvPicPr>
        <p:blipFill>
          <a:blip r:embed="rId4"/>
          <a:stretch>
            <a:fillRect/>
          </a:stretch>
        </p:blipFill>
        <p:spPr>
          <a:xfrm>
            <a:off x="8174736" y="100584"/>
            <a:ext cx="658368" cy="347472"/>
          </a:xfrm>
          <a:prstGeom prst="rect">
            <a:avLst/>
          </a:prstGeom>
        </p:spPr>
      </p:pic>
      <p:sp>
        <p:nvSpPr>
          <p:cNvPr id="18" name="Rectangle 17"/>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274320" y="137160"/>
            <a:ext cx="2011680" cy="320040"/>
          </a:xfrm>
          <a:prstGeom prst="roundRect">
            <a:avLst>
              <a:gd name="adj" fmla="val 14286"/>
            </a:avLst>
          </a:prstGeom>
          <a:solidFill>
            <a:srgbClr val="D32F2F"/>
          </a:solidFill>
          <a:ln w="12700">
            <a:solidFill>
              <a:srgbClr val="D32F2F"/>
            </a:solidFill>
            <a:prstDash val="solid"/>
          </a:ln>
        </p:spPr>
        <p:txBody>
          <a:bodyPr/>
          <a:lstStyle/>
          <a:p>
            <a:endParaRPr lang="en-GB"/>
          </a:p>
        </p:txBody>
      </p:sp>
      <p:sp>
        <p:nvSpPr>
          <p:cNvPr id="4" name="Text 1"/>
          <p:cNvSpPr/>
          <p:nvPr/>
        </p:nvSpPr>
        <p:spPr>
          <a:xfrm>
            <a:off x="274320" y="137160"/>
            <a:ext cx="201168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INJECT 3</a:t>
            </a:r>
            <a:endParaRPr lang="en-US" sz="1000" dirty="0"/>
          </a:p>
        </p:txBody>
      </p:sp>
      <p:sp>
        <p:nvSpPr>
          <p:cNvPr id="5" name="Text 2"/>
          <p:cNvSpPr/>
          <p:nvPr/>
        </p:nvSpPr>
        <p:spPr>
          <a:xfrm>
            <a:off x="274320" y="548640"/>
            <a:ext cx="8595360" cy="640080"/>
          </a:xfrm>
          <a:prstGeom prst="rect">
            <a:avLst/>
          </a:prstGeom>
          <a:noFill/>
          <a:ln/>
        </p:spPr>
        <p:txBody>
          <a:bodyPr wrap="square" rtlCol="0" anchor="ctr"/>
          <a:lstStyle/>
          <a:p>
            <a:pPr marL="0" indent="0">
              <a:buNone/>
            </a:pPr>
            <a:r>
              <a:rPr lang="en-US" sz="2800" b="1" dirty="0">
                <a:solidFill>
                  <a:srgbClr val="009FE3"/>
                </a:solidFill>
                <a:latin typeface="Arial" pitchFamily="34" charset="0"/>
                <a:ea typeface="Arial" pitchFamily="34" charset="-122"/>
                <a:cs typeface="Arial" pitchFamily="34" charset="-120"/>
              </a:rPr>
              <a:t>Inject 3: Customer and Supply Chain Impact</a:t>
            </a:r>
            <a:endParaRPr lang="en-US" sz="2800" dirty="0"/>
          </a:p>
        </p:txBody>
      </p:sp>
      <p:sp>
        <p:nvSpPr>
          <p:cNvPr id="6" name="Shape 3"/>
          <p:cNvSpPr/>
          <p:nvPr/>
        </p:nvSpPr>
        <p:spPr>
          <a:xfrm>
            <a:off x="274320" y="1234440"/>
            <a:ext cx="8412480" cy="0"/>
          </a:xfrm>
          <a:prstGeom prst="line">
            <a:avLst/>
          </a:prstGeom>
          <a:noFill/>
          <a:ln w="25400">
            <a:solidFill>
              <a:srgbClr val="E6F4FB"/>
            </a:solidFill>
            <a:prstDash val="solid"/>
          </a:ln>
        </p:spPr>
        <p:txBody>
          <a:bodyPr/>
          <a:lstStyle/>
          <a:p>
            <a:endParaRPr lang="en-GB"/>
          </a:p>
        </p:txBody>
      </p:sp>
      <p:sp>
        <p:nvSpPr>
          <p:cNvPr id="7" name="Shape 4"/>
          <p:cNvSpPr/>
          <p:nvPr/>
        </p:nvSpPr>
        <p:spPr>
          <a:xfrm>
            <a:off x="274320" y="1371600"/>
            <a:ext cx="8595360" cy="1645920"/>
          </a:xfrm>
          <a:prstGeom prst="roundRect">
            <a:avLst>
              <a:gd name="adj" fmla="val 4444"/>
            </a:avLst>
          </a:prstGeom>
          <a:solidFill>
            <a:srgbClr val="FFF8E1"/>
          </a:solidFill>
          <a:ln w="12700">
            <a:solidFill>
              <a:srgbClr val="FFC000"/>
            </a:solidFill>
            <a:prstDash val="solid"/>
          </a:ln>
        </p:spPr>
        <p:txBody>
          <a:bodyPr/>
          <a:lstStyle/>
          <a:p>
            <a:endParaRPr lang="en-GB"/>
          </a:p>
        </p:txBody>
      </p:sp>
      <p:sp>
        <p:nvSpPr>
          <p:cNvPr id="8" name="Text 5"/>
          <p:cNvSpPr/>
          <p:nvPr/>
        </p:nvSpPr>
        <p:spPr>
          <a:xfrm>
            <a:off x="457200" y="1463040"/>
            <a:ext cx="3200400" cy="274320"/>
          </a:xfrm>
          <a:prstGeom prst="rect">
            <a:avLst/>
          </a:prstGeom>
          <a:noFill/>
          <a:ln/>
        </p:spPr>
        <p:txBody>
          <a:bodyPr wrap="square" rtlCol="0" anchor="ctr"/>
          <a:lstStyle/>
          <a:p>
            <a:pPr marL="0" indent="0">
              <a:buNone/>
            </a:pPr>
            <a:r>
              <a:rPr lang="en-US" sz="1100" b="1" dirty="0">
                <a:solidFill>
                  <a:srgbClr val="FFC000"/>
                </a:solidFill>
                <a:latin typeface="Arial" pitchFamily="34" charset="0"/>
                <a:ea typeface="Arial" pitchFamily="34" charset="-122"/>
                <a:cs typeface="Arial" pitchFamily="34" charset="-120"/>
              </a:rPr>
              <a:t>SITUATION UPDATE - 14:00:</a:t>
            </a:r>
            <a:endParaRPr lang="en-US" sz="1100" dirty="0"/>
          </a:p>
        </p:txBody>
      </p:sp>
      <p:sp>
        <p:nvSpPr>
          <p:cNvPr id="9" name="Text 6"/>
          <p:cNvSpPr/>
          <p:nvPr/>
        </p:nvSpPr>
        <p:spPr>
          <a:xfrm>
            <a:off x="457200" y="1783080"/>
            <a:ext cx="8229600" cy="1188720"/>
          </a:xfrm>
          <a:prstGeom prst="rect">
            <a:avLst/>
          </a:prstGeom>
          <a:noFill/>
          <a:ln/>
        </p:spPr>
        <p:txBody>
          <a:bodyPr wrap="square" rtlCol="0" anchor="ctr"/>
          <a:lstStyle/>
          <a:p>
            <a:pPr marL="0" indent="0">
              <a:buNone/>
            </a:pPr>
            <a:r>
              <a:rPr lang="en-US" sz="1100" dirty="0">
                <a:solidFill>
                  <a:srgbClr val="5B595A"/>
                </a:solidFill>
                <a:latin typeface="Arial" pitchFamily="34" charset="0"/>
                <a:ea typeface="Arial" pitchFamily="34" charset="-122"/>
                <a:cs typeface="Arial" pitchFamily="34" charset="-120"/>
              </a:rPr>
              <a:t>You have now completed an initial assessment. The machining bay will be unavailable for a minimum of 5 working days. Three of your most critical current orders cannot be completed without the affected machines. Customer A has emailed to say that if delivery is delayed by more than 5 days, they will invoke a penalty clause in the contract. Customer B has a nuclear outage window that cannot move and is asking for written confirmation of your ability to deliver by Friday. Your main material supplier has just called to say that they cannot supply the next delivery of billet material due to a logistics problem - estimated 7 days delay.</a:t>
            </a:r>
            <a:endParaRPr lang="en-US" sz="1100" dirty="0"/>
          </a:p>
        </p:txBody>
      </p:sp>
      <p:sp>
        <p:nvSpPr>
          <p:cNvPr id="10" name="Text 7"/>
          <p:cNvSpPr/>
          <p:nvPr/>
        </p:nvSpPr>
        <p:spPr>
          <a:xfrm>
            <a:off x="274320" y="3108960"/>
            <a:ext cx="8595360" cy="274320"/>
          </a:xfrm>
          <a:prstGeom prst="rect">
            <a:avLst/>
          </a:prstGeom>
          <a:noFill/>
          <a:ln/>
        </p:spPr>
        <p:txBody>
          <a:bodyPr wrap="square" rtlCol="0" anchor="ctr"/>
          <a:lstStyle/>
          <a:p>
            <a:pPr marL="0" indent="0">
              <a:buNone/>
            </a:pPr>
            <a:r>
              <a:rPr lang="en-US" sz="1200" b="1" dirty="0">
                <a:solidFill>
                  <a:srgbClr val="83348F"/>
                </a:solidFill>
                <a:latin typeface="Arial" pitchFamily="34" charset="0"/>
                <a:ea typeface="Arial" pitchFamily="34" charset="-122"/>
                <a:cs typeface="Arial" pitchFamily="34" charset="-120"/>
              </a:rPr>
              <a:t>DISCUSSION QUESTIONS:</a:t>
            </a:r>
            <a:endParaRPr lang="en-US" sz="1200" dirty="0"/>
          </a:p>
        </p:txBody>
      </p:sp>
      <p:sp>
        <p:nvSpPr>
          <p:cNvPr id="11" name="Text 8"/>
          <p:cNvSpPr/>
          <p:nvPr/>
        </p:nvSpPr>
        <p:spPr>
          <a:xfrm>
            <a:off x="365760" y="3429000"/>
            <a:ext cx="8412480" cy="301752"/>
          </a:xfrm>
          <a:prstGeom prst="rect">
            <a:avLst/>
          </a:prstGeom>
          <a:noFill/>
          <a:ln/>
        </p:spPr>
        <p:txBody>
          <a:bodyPr wrap="square" rtlCol="0" anchor="ctr"/>
          <a:lstStyle/>
          <a:p>
            <a:pPr marL="0" indent="0">
              <a:buNone/>
            </a:pPr>
            <a:r>
              <a:rPr lang="en-US" sz="1100" dirty="0">
                <a:solidFill>
                  <a:srgbClr val="5B595A"/>
                </a:solidFill>
                <a:latin typeface="Arial" pitchFamily="34" charset="0"/>
                <a:ea typeface="Arial" pitchFamily="34" charset="-122"/>
                <a:cs typeface="Arial" pitchFamily="34" charset="-120"/>
              </a:rPr>
              <a:t>1.  Do you have an approved alternative subcontractor for the machining work? How quickly can they be activated?</a:t>
            </a:r>
            <a:endParaRPr lang="en-US" sz="1100" dirty="0"/>
          </a:p>
        </p:txBody>
      </p:sp>
      <p:sp>
        <p:nvSpPr>
          <p:cNvPr id="12" name="Text 9"/>
          <p:cNvSpPr/>
          <p:nvPr/>
        </p:nvSpPr>
        <p:spPr>
          <a:xfrm>
            <a:off x="365760" y="3758184"/>
            <a:ext cx="8412480" cy="301752"/>
          </a:xfrm>
          <a:prstGeom prst="rect">
            <a:avLst/>
          </a:prstGeom>
          <a:noFill/>
          <a:ln/>
        </p:spPr>
        <p:txBody>
          <a:bodyPr wrap="square" rtlCol="0" anchor="ctr"/>
          <a:lstStyle/>
          <a:p>
            <a:pPr marL="0" indent="0">
              <a:buNone/>
            </a:pPr>
            <a:r>
              <a:rPr lang="en-US" sz="1100" dirty="0">
                <a:solidFill>
                  <a:srgbClr val="5B595A"/>
                </a:solidFill>
                <a:latin typeface="Arial" pitchFamily="34" charset="0"/>
                <a:ea typeface="Arial" pitchFamily="34" charset="-122"/>
                <a:cs typeface="Arial" pitchFamily="34" charset="-120"/>
              </a:rPr>
              <a:t>2.  How do you handle the penalty clause from Customer A? Who makes the decision? Who communicates it?</a:t>
            </a:r>
            <a:endParaRPr lang="en-US" sz="1100" dirty="0"/>
          </a:p>
        </p:txBody>
      </p:sp>
      <p:sp>
        <p:nvSpPr>
          <p:cNvPr id="13" name="Text 10"/>
          <p:cNvSpPr/>
          <p:nvPr/>
        </p:nvSpPr>
        <p:spPr>
          <a:xfrm>
            <a:off x="365760" y="4087368"/>
            <a:ext cx="8412480" cy="301752"/>
          </a:xfrm>
          <a:prstGeom prst="rect">
            <a:avLst/>
          </a:prstGeom>
          <a:noFill/>
          <a:ln/>
        </p:spPr>
        <p:txBody>
          <a:bodyPr wrap="square" rtlCol="0" anchor="ctr"/>
          <a:lstStyle/>
          <a:p>
            <a:pPr marL="0" indent="0">
              <a:buNone/>
            </a:pPr>
            <a:r>
              <a:rPr lang="en-US" sz="1100" dirty="0">
                <a:solidFill>
                  <a:srgbClr val="5B595A"/>
                </a:solidFill>
                <a:latin typeface="Arial" pitchFamily="34" charset="0"/>
                <a:ea typeface="Arial" pitchFamily="34" charset="-122"/>
                <a:cs typeface="Arial" pitchFamily="34" charset="-120"/>
              </a:rPr>
              <a:t>3.  Customer B has a nuclear outage window at risk. What are the implications and how do you escalate this?</a:t>
            </a:r>
            <a:endParaRPr lang="en-US" sz="1100" dirty="0"/>
          </a:p>
        </p:txBody>
      </p:sp>
      <p:sp>
        <p:nvSpPr>
          <p:cNvPr id="14" name="Text 11"/>
          <p:cNvSpPr/>
          <p:nvPr/>
        </p:nvSpPr>
        <p:spPr>
          <a:xfrm>
            <a:off x="365760" y="4416552"/>
            <a:ext cx="8412480" cy="301752"/>
          </a:xfrm>
          <a:prstGeom prst="rect">
            <a:avLst/>
          </a:prstGeom>
          <a:noFill/>
          <a:ln/>
        </p:spPr>
        <p:txBody>
          <a:bodyPr wrap="square" rtlCol="0" anchor="ctr"/>
          <a:lstStyle/>
          <a:p>
            <a:pPr marL="0" indent="0">
              <a:buNone/>
            </a:pPr>
            <a:r>
              <a:rPr lang="en-US" sz="1100" dirty="0">
                <a:solidFill>
                  <a:srgbClr val="5B595A"/>
                </a:solidFill>
                <a:latin typeface="Arial" pitchFamily="34" charset="0"/>
                <a:ea typeface="Arial" pitchFamily="34" charset="-122"/>
                <a:cs typeface="Arial" pitchFamily="34" charset="-120"/>
              </a:rPr>
              <a:t>4.  How does the supply chain failure compound your situation? Do you have a secondary supplier?</a:t>
            </a:r>
            <a:endParaRPr lang="en-US" sz="1100" dirty="0"/>
          </a:p>
        </p:txBody>
      </p:sp>
      <p:sp>
        <p:nvSpPr>
          <p:cNvPr id="15" name="Rectangle 14"/>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image.png"/>
          <p:cNvPicPr>
            <a:picLocks noChangeAspect="1"/>
          </p:cNvPicPr>
          <p:nvPr/>
        </p:nvPicPr>
        <p:blipFill>
          <a:blip r:embed="rId5"/>
          <a:stretch>
            <a:fillRect/>
          </a:stretch>
        </p:blipFill>
        <p:spPr>
          <a:xfrm>
            <a:off x="7562088" y="100584"/>
            <a:ext cx="566928" cy="347472"/>
          </a:xfrm>
          <a:prstGeom prst="rect">
            <a:avLst/>
          </a:prstGeom>
        </p:spPr>
      </p:pic>
      <p:pic>
        <p:nvPicPr>
          <p:cNvPr id="17" name="Picture 16" descr="image.png"/>
          <p:cNvPicPr>
            <a:picLocks noChangeAspect="1"/>
          </p:cNvPicPr>
          <p:nvPr/>
        </p:nvPicPr>
        <p:blipFill>
          <a:blip r:embed="rId4"/>
          <a:stretch>
            <a:fillRect/>
          </a:stretch>
        </p:blipFill>
        <p:spPr>
          <a:xfrm>
            <a:off x="8174736" y="100584"/>
            <a:ext cx="658368" cy="347472"/>
          </a:xfrm>
          <a:prstGeom prst="rect">
            <a:avLst/>
          </a:prstGeom>
        </p:spPr>
      </p:pic>
      <p:sp>
        <p:nvSpPr>
          <p:cNvPr id="18" name="Rectangle 17"/>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274320" y="137160"/>
            <a:ext cx="2011680" cy="320040"/>
          </a:xfrm>
          <a:prstGeom prst="roundRect">
            <a:avLst>
              <a:gd name="adj" fmla="val 14286"/>
            </a:avLst>
          </a:prstGeom>
          <a:solidFill>
            <a:srgbClr val="D32F2F"/>
          </a:solidFill>
          <a:ln w="12700">
            <a:solidFill>
              <a:srgbClr val="D32F2F"/>
            </a:solidFill>
            <a:prstDash val="solid"/>
          </a:ln>
        </p:spPr>
        <p:txBody>
          <a:bodyPr/>
          <a:lstStyle/>
          <a:p>
            <a:endParaRPr lang="en-GB"/>
          </a:p>
        </p:txBody>
      </p:sp>
      <p:sp>
        <p:nvSpPr>
          <p:cNvPr id="4" name="Text 1"/>
          <p:cNvSpPr/>
          <p:nvPr/>
        </p:nvSpPr>
        <p:spPr>
          <a:xfrm>
            <a:off x="274320" y="137160"/>
            <a:ext cx="201168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INJECT 4</a:t>
            </a:r>
            <a:endParaRPr lang="en-US" sz="1000" dirty="0"/>
          </a:p>
        </p:txBody>
      </p:sp>
      <p:sp>
        <p:nvSpPr>
          <p:cNvPr id="5" name="Text 2"/>
          <p:cNvSpPr/>
          <p:nvPr/>
        </p:nvSpPr>
        <p:spPr>
          <a:xfrm>
            <a:off x="274320" y="548640"/>
            <a:ext cx="8595360" cy="640080"/>
          </a:xfrm>
          <a:prstGeom prst="rect">
            <a:avLst/>
          </a:prstGeom>
          <a:noFill/>
          <a:ln/>
        </p:spPr>
        <p:txBody>
          <a:bodyPr wrap="square" rtlCol="0" anchor="ctr"/>
          <a:lstStyle/>
          <a:p>
            <a:pPr marL="0" indent="0">
              <a:buNone/>
            </a:pPr>
            <a:r>
              <a:rPr lang="en-US" sz="2800" b="1" dirty="0">
                <a:solidFill>
                  <a:srgbClr val="009FE3"/>
                </a:solidFill>
                <a:latin typeface="Arial" pitchFamily="34" charset="0"/>
                <a:ea typeface="Arial" pitchFamily="34" charset="-122"/>
                <a:cs typeface="Arial" pitchFamily="34" charset="-120"/>
              </a:rPr>
              <a:t>Inject 4: Media and Regulatory Pressure</a:t>
            </a:r>
            <a:endParaRPr lang="en-US" sz="2800" dirty="0"/>
          </a:p>
        </p:txBody>
      </p:sp>
      <p:sp>
        <p:nvSpPr>
          <p:cNvPr id="6" name="Shape 3"/>
          <p:cNvSpPr/>
          <p:nvPr/>
        </p:nvSpPr>
        <p:spPr>
          <a:xfrm>
            <a:off x="274320" y="1234440"/>
            <a:ext cx="8412480" cy="0"/>
          </a:xfrm>
          <a:prstGeom prst="line">
            <a:avLst/>
          </a:prstGeom>
          <a:noFill/>
          <a:ln w="25400">
            <a:solidFill>
              <a:srgbClr val="E6F4FB"/>
            </a:solidFill>
            <a:prstDash val="solid"/>
          </a:ln>
        </p:spPr>
        <p:txBody>
          <a:bodyPr/>
          <a:lstStyle/>
          <a:p>
            <a:endParaRPr lang="en-GB"/>
          </a:p>
        </p:txBody>
      </p:sp>
      <p:sp>
        <p:nvSpPr>
          <p:cNvPr id="7" name="Shape 4"/>
          <p:cNvSpPr/>
          <p:nvPr/>
        </p:nvSpPr>
        <p:spPr>
          <a:xfrm>
            <a:off x="274320" y="1371600"/>
            <a:ext cx="8595360" cy="1554480"/>
          </a:xfrm>
          <a:prstGeom prst="roundRect">
            <a:avLst>
              <a:gd name="adj" fmla="val 4706"/>
            </a:avLst>
          </a:prstGeom>
          <a:solidFill>
            <a:srgbClr val="FFF8E1"/>
          </a:solidFill>
          <a:ln w="12700">
            <a:solidFill>
              <a:srgbClr val="FFC000"/>
            </a:solidFill>
            <a:prstDash val="solid"/>
          </a:ln>
        </p:spPr>
        <p:txBody>
          <a:bodyPr/>
          <a:lstStyle/>
          <a:p>
            <a:endParaRPr lang="en-GB"/>
          </a:p>
        </p:txBody>
      </p:sp>
      <p:sp>
        <p:nvSpPr>
          <p:cNvPr id="8" name="Text 5"/>
          <p:cNvSpPr/>
          <p:nvPr/>
        </p:nvSpPr>
        <p:spPr>
          <a:xfrm>
            <a:off x="457200" y="1463040"/>
            <a:ext cx="4114800" cy="274320"/>
          </a:xfrm>
          <a:prstGeom prst="rect">
            <a:avLst/>
          </a:prstGeom>
          <a:noFill/>
          <a:ln/>
        </p:spPr>
        <p:txBody>
          <a:bodyPr wrap="square" rtlCol="0" anchor="ctr"/>
          <a:lstStyle/>
          <a:p>
            <a:pPr marL="0" indent="0">
              <a:buNone/>
            </a:pPr>
            <a:r>
              <a:rPr lang="en-US" sz="1100" b="1" dirty="0">
                <a:solidFill>
                  <a:srgbClr val="FFC000"/>
                </a:solidFill>
                <a:latin typeface="Arial" pitchFamily="34" charset="0"/>
                <a:ea typeface="Arial" pitchFamily="34" charset="-122"/>
                <a:cs typeface="Arial" pitchFamily="34" charset="-120"/>
              </a:rPr>
              <a:t>SITUATION UPDATE - TUESDAY MORNING:</a:t>
            </a:r>
            <a:endParaRPr lang="en-US" sz="1100" dirty="0"/>
          </a:p>
        </p:txBody>
      </p:sp>
      <p:sp>
        <p:nvSpPr>
          <p:cNvPr id="9" name="Text 6"/>
          <p:cNvSpPr/>
          <p:nvPr/>
        </p:nvSpPr>
        <p:spPr>
          <a:xfrm>
            <a:off x="457200" y="1783080"/>
            <a:ext cx="8229600" cy="1097280"/>
          </a:xfrm>
          <a:prstGeom prst="rect">
            <a:avLst/>
          </a:prstGeom>
          <a:noFill/>
          <a:ln/>
        </p:spPr>
        <p:txBody>
          <a:bodyPr wrap="square" rtlCol="0" anchor="ctr"/>
          <a:lstStyle/>
          <a:p>
            <a:pPr marL="0" indent="0">
              <a:buNone/>
            </a:pPr>
            <a:r>
              <a:rPr lang="en-US" sz="1100" dirty="0">
                <a:solidFill>
                  <a:srgbClr val="5B595A"/>
                </a:solidFill>
                <a:latin typeface="Arial" pitchFamily="34" charset="0"/>
                <a:ea typeface="Arial" pitchFamily="34" charset="-122"/>
                <a:cs typeface="Arial" pitchFamily="34" charset="-120"/>
              </a:rPr>
              <a:t>A local newspaper journalist has contacted your office asking for a statement about the fire. They have posted on X (formerly Twitter) that a fire at [company name] caused multiple casualties and significant damage. The post has been shared 47 times. One of your employees has also posted images from inside the damaged machining bay on Instagram. The HSE has contacted you to ask about the nature of the incident and whether RIDDOR obligations have been met. You are also aware that one of the two staff treated at hospital is considering legal action regarding the smoke inhalation.</a:t>
            </a:r>
            <a:endParaRPr lang="en-US" sz="1100" dirty="0"/>
          </a:p>
        </p:txBody>
      </p:sp>
      <p:sp>
        <p:nvSpPr>
          <p:cNvPr id="10" name="Text 7"/>
          <p:cNvSpPr/>
          <p:nvPr/>
        </p:nvSpPr>
        <p:spPr>
          <a:xfrm>
            <a:off x="274320" y="3017520"/>
            <a:ext cx="8595360" cy="274320"/>
          </a:xfrm>
          <a:prstGeom prst="rect">
            <a:avLst/>
          </a:prstGeom>
          <a:noFill/>
          <a:ln/>
        </p:spPr>
        <p:txBody>
          <a:bodyPr wrap="square" rtlCol="0" anchor="ctr"/>
          <a:lstStyle/>
          <a:p>
            <a:pPr marL="0" indent="0">
              <a:buNone/>
            </a:pPr>
            <a:r>
              <a:rPr lang="en-US" sz="1200" b="1" dirty="0">
                <a:solidFill>
                  <a:srgbClr val="83348F"/>
                </a:solidFill>
                <a:latin typeface="Arial" pitchFamily="34" charset="0"/>
                <a:ea typeface="Arial" pitchFamily="34" charset="-122"/>
                <a:cs typeface="Arial" pitchFamily="34" charset="-120"/>
              </a:rPr>
              <a:t>DISCUSSION QUESTIONS:</a:t>
            </a:r>
            <a:endParaRPr lang="en-US" sz="1200" dirty="0"/>
          </a:p>
        </p:txBody>
      </p:sp>
      <p:sp>
        <p:nvSpPr>
          <p:cNvPr id="11" name="Text 8"/>
          <p:cNvSpPr/>
          <p:nvPr/>
        </p:nvSpPr>
        <p:spPr>
          <a:xfrm>
            <a:off x="365760" y="3337560"/>
            <a:ext cx="8412480" cy="301752"/>
          </a:xfrm>
          <a:prstGeom prst="rect">
            <a:avLst/>
          </a:prstGeom>
          <a:noFill/>
          <a:ln/>
        </p:spPr>
        <p:txBody>
          <a:bodyPr wrap="square" rtlCol="0" anchor="ctr"/>
          <a:lstStyle/>
          <a:p>
            <a:pPr marL="0" indent="0">
              <a:buNone/>
            </a:pPr>
            <a:r>
              <a:rPr lang="en-US" sz="1100" dirty="0">
                <a:solidFill>
                  <a:srgbClr val="5B595A"/>
                </a:solidFill>
                <a:latin typeface="Arial" pitchFamily="34" charset="0"/>
                <a:ea typeface="Arial" pitchFamily="34" charset="-122"/>
                <a:cs typeface="Arial" pitchFamily="34" charset="-120"/>
              </a:rPr>
              <a:t>1.  The social media post is inaccurate (you have no serious casualties). What is your immediate response?</a:t>
            </a:r>
            <a:endParaRPr lang="en-US" sz="1100" dirty="0"/>
          </a:p>
        </p:txBody>
      </p:sp>
      <p:sp>
        <p:nvSpPr>
          <p:cNvPr id="12" name="Text 9"/>
          <p:cNvSpPr/>
          <p:nvPr/>
        </p:nvSpPr>
        <p:spPr>
          <a:xfrm>
            <a:off x="365760" y="3666744"/>
            <a:ext cx="8412480" cy="301752"/>
          </a:xfrm>
          <a:prstGeom prst="rect">
            <a:avLst/>
          </a:prstGeom>
          <a:noFill/>
          <a:ln/>
        </p:spPr>
        <p:txBody>
          <a:bodyPr wrap="square" rtlCol="0" anchor="ctr"/>
          <a:lstStyle/>
          <a:p>
            <a:pPr marL="0" indent="0">
              <a:buNone/>
            </a:pPr>
            <a:r>
              <a:rPr lang="en-US" sz="1100" dirty="0">
                <a:solidFill>
                  <a:srgbClr val="5B595A"/>
                </a:solidFill>
                <a:latin typeface="Arial" pitchFamily="34" charset="0"/>
                <a:ea typeface="Arial" pitchFamily="34" charset="-122"/>
                <a:cs typeface="Arial" pitchFamily="34" charset="-120"/>
              </a:rPr>
              <a:t>2.  Who deals with the journalist? What is your prepared statement?</a:t>
            </a:r>
            <a:endParaRPr lang="en-US" sz="1100" dirty="0"/>
          </a:p>
        </p:txBody>
      </p:sp>
      <p:sp>
        <p:nvSpPr>
          <p:cNvPr id="13" name="Text 10"/>
          <p:cNvSpPr/>
          <p:nvPr/>
        </p:nvSpPr>
        <p:spPr>
          <a:xfrm>
            <a:off x="365760" y="3995928"/>
            <a:ext cx="8412480" cy="301752"/>
          </a:xfrm>
          <a:prstGeom prst="rect">
            <a:avLst/>
          </a:prstGeom>
          <a:noFill/>
          <a:ln/>
        </p:spPr>
        <p:txBody>
          <a:bodyPr wrap="square" rtlCol="0" anchor="ctr"/>
          <a:lstStyle/>
          <a:p>
            <a:pPr marL="0" indent="0">
              <a:buNone/>
            </a:pPr>
            <a:r>
              <a:rPr lang="en-US" sz="1100" dirty="0">
                <a:solidFill>
                  <a:srgbClr val="5B595A"/>
                </a:solidFill>
                <a:latin typeface="Arial" pitchFamily="34" charset="0"/>
                <a:ea typeface="Arial" pitchFamily="34" charset="-122"/>
                <a:cs typeface="Arial" pitchFamily="34" charset="-120"/>
              </a:rPr>
              <a:t>3.  How do you manage the employee who has posted internal photographs? What are your obligations?</a:t>
            </a:r>
            <a:endParaRPr lang="en-US" sz="1100" dirty="0"/>
          </a:p>
        </p:txBody>
      </p:sp>
      <p:sp>
        <p:nvSpPr>
          <p:cNvPr id="14" name="Text 11"/>
          <p:cNvSpPr/>
          <p:nvPr/>
        </p:nvSpPr>
        <p:spPr>
          <a:xfrm>
            <a:off x="365760" y="4325112"/>
            <a:ext cx="8412480" cy="301752"/>
          </a:xfrm>
          <a:prstGeom prst="rect">
            <a:avLst/>
          </a:prstGeom>
          <a:noFill/>
          <a:ln/>
        </p:spPr>
        <p:txBody>
          <a:bodyPr wrap="square" rtlCol="0" anchor="ctr"/>
          <a:lstStyle/>
          <a:p>
            <a:pPr marL="0" indent="0">
              <a:buNone/>
            </a:pPr>
            <a:r>
              <a:rPr lang="en-US" sz="1100" dirty="0">
                <a:solidFill>
                  <a:srgbClr val="5B595A"/>
                </a:solidFill>
                <a:latin typeface="Arial" pitchFamily="34" charset="0"/>
                <a:ea typeface="Arial" pitchFamily="34" charset="-122"/>
                <a:cs typeface="Arial" pitchFamily="34" charset="-120"/>
              </a:rPr>
              <a:t>4.  Is this incident RIDDOR reportable? Who makes that assessment and what is the timescale?</a:t>
            </a:r>
            <a:endParaRPr lang="en-US" sz="1100" dirty="0"/>
          </a:p>
        </p:txBody>
      </p:sp>
      <p:sp>
        <p:nvSpPr>
          <p:cNvPr id="15" name="Rectangle 14"/>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image.png"/>
          <p:cNvPicPr>
            <a:picLocks noChangeAspect="1"/>
          </p:cNvPicPr>
          <p:nvPr/>
        </p:nvPicPr>
        <p:blipFill>
          <a:blip r:embed="rId5"/>
          <a:stretch>
            <a:fillRect/>
          </a:stretch>
        </p:blipFill>
        <p:spPr>
          <a:xfrm>
            <a:off x="7562088" y="100584"/>
            <a:ext cx="566928" cy="347472"/>
          </a:xfrm>
          <a:prstGeom prst="rect">
            <a:avLst/>
          </a:prstGeom>
        </p:spPr>
      </p:pic>
      <p:pic>
        <p:nvPicPr>
          <p:cNvPr id="17" name="Picture 16" descr="image.png"/>
          <p:cNvPicPr>
            <a:picLocks noChangeAspect="1"/>
          </p:cNvPicPr>
          <p:nvPr/>
        </p:nvPicPr>
        <p:blipFill>
          <a:blip r:embed="rId4"/>
          <a:stretch>
            <a:fillRect/>
          </a:stretch>
        </p:blipFill>
        <p:spPr>
          <a:xfrm>
            <a:off x="8174736" y="100584"/>
            <a:ext cx="658368" cy="347472"/>
          </a:xfrm>
          <a:prstGeom prst="rect">
            <a:avLst/>
          </a:prstGeom>
        </p:spPr>
      </p:pic>
      <p:sp>
        <p:nvSpPr>
          <p:cNvPr id="18" name="Rectangle 17"/>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274320" y="137160"/>
            <a:ext cx="2011680" cy="320040"/>
          </a:xfrm>
          <a:prstGeom prst="roundRect">
            <a:avLst>
              <a:gd name="adj" fmla="val 14286"/>
            </a:avLst>
          </a:prstGeom>
          <a:solidFill>
            <a:srgbClr val="388E3C"/>
          </a:solidFill>
          <a:ln w="12700">
            <a:solidFill>
              <a:srgbClr val="388E3C"/>
            </a:solidFill>
            <a:prstDash val="solid"/>
          </a:ln>
        </p:spPr>
        <p:txBody>
          <a:bodyPr/>
          <a:lstStyle/>
          <a:p>
            <a:endParaRPr lang="en-GB"/>
          </a:p>
        </p:txBody>
      </p:sp>
      <p:sp>
        <p:nvSpPr>
          <p:cNvPr id="4" name="Text 1"/>
          <p:cNvSpPr/>
          <p:nvPr/>
        </p:nvSpPr>
        <p:spPr>
          <a:xfrm>
            <a:off x="274320" y="137160"/>
            <a:ext cx="201168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INJECT 5</a:t>
            </a:r>
            <a:endParaRPr lang="en-US" sz="1000" dirty="0"/>
          </a:p>
        </p:txBody>
      </p:sp>
      <p:sp>
        <p:nvSpPr>
          <p:cNvPr id="5" name="Text 2"/>
          <p:cNvSpPr/>
          <p:nvPr/>
        </p:nvSpPr>
        <p:spPr>
          <a:xfrm>
            <a:off x="274320" y="548640"/>
            <a:ext cx="8595360" cy="640080"/>
          </a:xfrm>
          <a:prstGeom prst="rect">
            <a:avLst/>
          </a:prstGeom>
          <a:noFill/>
          <a:ln/>
        </p:spPr>
        <p:txBody>
          <a:bodyPr wrap="square" rtlCol="0" anchor="ctr"/>
          <a:lstStyle/>
          <a:p>
            <a:pPr marL="0" indent="0">
              <a:buNone/>
            </a:pPr>
            <a:r>
              <a:rPr lang="en-US" sz="2800" b="1" dirty="0">
                <a:solidFill>
                  <a:srgbClr val="009FE3"/>
                </a:solidFill>
                <a:latin typeface="Arial" pitchFamily="34" charset="0"/>
                <a:ea typeface="Arial" pitchFamily="34" charset="-122"/>
                <a:cs typeface="Arial" pitchFamily="34" charset="-120"/>
              </a:rPr>
              <a:t>Inject 5: Recovery Planning</a:t>
            </a:r>
            <a:endParaRPr lang="en-US" sz="2800" dirty="0"/>
          </a:p>
        </p:txBody>
      </p:sp>
      <p:sp>
        <p:nvSpPr>
          <p:cNvPr id="6" name="Shape 3"/>
          <p:cNvSpPr/>
          <p:nvPr/>
        </p:nvSpPr>
        <p:spPr>
          <a:xfrm>
            <a:off x="274320" y="1234440"/>
            <a:ext cx="8412480" cy="0"/>
          </a:xfrm>
          <a:prstGeom prst="line">
            <a:avLst/>
          </a:prstGeom>
          <a:noFill/>
          <a:ln w="25400">
            <a:solidFill>
              <a:srgbClr val="E6F4FB"/>
            </a:solidFill>
            <a:prstDash val="solid"/>
          </a:ln>
        </p:spPr>
        <p:txBody>
          <a:bodyPr/>
          <a:lstStyle/>
          <a:p>
            <a:endParaRPr lang="en-GB"/>
          </a:p>
        </p:txBody>
      </p:sp>
      <p:sp>
        <p:nvSpPr>
          <p:cNvPr id="7" name="Shape 4"/>
          <p:cNvSpPr/>
          <p:nvPr/>
        </p:nvSpPr>
        <p:spPr>
          <a:xfrm>
            <a:off x="274320" y="1371600"/>
            <a:ext cx="8595360" cy="1371600"/>
          </a:xfrm>
          <a:prstGeom prst="roundRect">
            <a:avLst>
              <a:gd name="adj" fmla="val 5333"/>
            </a:avLst>
          </a:prstGeom>
          <a:solidFill>
            <a:srgbClr val="E8F5E9"/>
          </a:solidFill>
          <a:ln w="12700">
            <a:solidFill>
              <a:srgbClr val="388E3C"/>
            </a:solidFill>
            <a:prstDash val="solid"/>
          </a:ln>
        </p:spPr>
        <p:txBody>
          <a:bodyPr/>
          <a:lstStyle/>
          <a:p>
            <a:endParaRPr lang="en-GB"/>
          </a:p>
        </p:txBody>
      </p:sp>
      <p:sp>
        <p:nvSpPr>
          <p:cNvPr id="8" name="Text 5"/>
          <p:cNvSpPr/>
          <p:nvPr/>
        </p:nvSpPr>
        <p:spPr>
          <a:xfrm>
            <a:off x="457200" y="1463040"/>
            <a:ext cx="3657600" cy="274320"/>
          </a:xfrm>
          <a:prstGeom prst="rect">
            <a:avLst/>
          </a:prstGeom>
          <a:noFill/>
          <a:ln/>
        </p:spPr>
        <p:txBody>
          <a:bodyPr wrap="square" rtlCol="0" anchor="ctr"/>
          <a:lstStyle/>
          <a:p>
            <a:pPr marL="0" indent="0">
              <a:buNone/>
            </a:pPr>
            <a:r>
              <a:rPr lang="en-US" sz="1100" b="1" dirty="0">
                <a:solidFill>
                  <a:srgbClr val="388E3C"/>
                </a:solidFill>
                <a:latin typeface="Arial" pitchFamily="34" charset="0"/>
                <a:ea typeface="Arial" pitchFamily="34" charset="-122"/>
                <a:cs typeface="Arial" pitchFamily="34" charset="-120"/>
              </a:rPr>
              <a:t>SITUATION UPDATE - END OF DAY 3:</a:t>
            </a:r>
            <a:endParaRPr lang="en-US" sz="1100" dirty="0"/>
          </a:p>
        </p:txBody>
      </p:sp>
      <p:sp>
        <p:nvSpPr>
          <p:cNvPr id="9" name="Text 6"/>
          <p:cNvSpPr/>
          <p:nvPr/>
        </p:nvSpPr>
        <p:spPr>
          <a:xfrm>
            <a:off x="457200" y="1783080"/>
            <a:ext cx="8229600" cy="914400"/>
          </a:xfrm>
          <a:prstGeom prst="rect">
            <a:avLst/>
          </a:prstGeom>
          <a:noFill/>
          <a:ln/>
        </p:spPr>
        <p:txBody>
          <a:bodyPr wrap="square" rtlCol="0" anchor="ctr"/>
          <a:lstStyle/>
          <a:p>
            <a:pPr marL="0" indent="0">
              <a:buNone/>
            </a:pPr>
            <a:r>
              <a:rPr lang="en-US" sz="1100" dirty="0">
                <a:solidFill>
                  <a:srgbClr val="5B595A"/>
                </a:solidFill>
                <a:latin typeface="Arial" pitchFamily="34" charset="0"/>
                <a:ea typeface="Arial" pitchFamily="34" charset="-122"/>
                <a:cs typeface="Arial" pitchFamily="34" charset="-120"/>
              </a:rPr>
              <a:t>The immediate crisis has stabilised. Emergency services have left site. The machining bay structural survey is complete: bay is safe to access but machines require replacement. You have activated a subcontractor for one of the three affected orders. The other two are still at risk. Your insurer has confirmed cover applies and has assigned a loss adjuster. The HSE enquiry is ongoing. The media interest has settled. You are now transitioning from crisis response to recovery mode.</a:t>
            </a:r>
            <a:endParaRPr lang="en-US" sz="1100" dirty="0"/>
          </a:p>
        </p:txBody>
      </p:sp>
      <p:sp>
        <p:nvSpPr>
          <p:cNvPr id="10" name="Text 7"/>
          <p:cNvSpPr/>
          <p:nvPr/>
        </p:nvSpPr>
        <p:spPr>
          <a:xfrm>
            <a:off x="274320" y="2834640"/>
            <a:ext cx="8595360" cy="274320"/>
          </a:xfrm>
          <a:prstGeom prst="rect">
            <a:avLst/>
          </a:prstGeom>
          <a:noFill/>
          <a:ln/>
        </p:spPr>
        <p:txBody>
          <a:bodyPr wrap="square" rtlCol="0" anchor="ctr"/>
          <a:lstStyle/>
          <a:p>
            <a:pPr marL="0" indent="0">
              <a:buNone/>
            </a:pPr>
            <a:r>
              <a:rPr lang="en-US" sz="1200" b="1" dirty="0">
                <a:solidFill>
                  <a:srgbClr val="83348F"/>
                </a:solidFill>
                <a:latin typeface="Arial" pitchFamily="34" charset="0"/>
                <a:ea typeface="Arial" pitchFamily="34" charset="-122"/>
                <a:cs typeface="Arial" pitchFamily="34" charset="-120"/>
              </a:rPr>
              <a:t>DISCUSSION QUESTIONS:</a:t>
            </a:r>
            <a:endParaRPr lang="en-US" sz="1200" dirty="0"/>
          </a:p>
        </p:txBody>
      </p:sp>
      <p:sp>
        <p:nvSpPr>
          <p:cNvPr id="11" name="Text 8"/>
          <p:cNvSpPr/>
          <p:nvPr/>
        </p:nvSpPr>
        <p:spPr>
          <a:xfrm>
            <a:off x="365760" y="3154680"/>
            <a:ext cx="8412480" cy="301752"/>
          </a:xfrm>
          <a:prstGeom prst="rect">
            <a:avLst/>
          </a:prstGeom>
          <a:noFill/>
          <a:ln/>
        </p:spPr>
        <p:txBody>
          <a:bodyPr wrap="square" rtlCol="0" anchor="ctr"/>
          <a:lstStyle/>
          <a:p>
            <a:pPr marL="0" indent="0">
              <a:buNone/>
            </a:pPr>
            <a:r>
              <a:rPr lang="en-US" sz="1100" dirty="0">
                <a:solidFill>
                  <a:srgbClr val="5B595A"/>
                </a:solidFill>
                <a:latin typeface="Arial" pitchFamily="34" charset="0"/>
                <a:ea typeface="Arial" pitchFamily="34" charset="-122"/>
                <a:cs typeface="Arial" pitchFamily="34" charset="-120"/>
              </a:rPr>
              <a:t>1.  How do you formally transition from 'crisis response' to 'recovery mode'? What does that look like in practice?</a:t>
            </a:r>
            <a:endParaRPr lang="en-US" sz="1100" dirty="0"/>
          </a:p>
        </p:txBody>
      </p:sp>
      <p:sp>
        <p:nvSpPr>
          <p:cNvPr id="12" name="Text 9"/>
          <p:cNvSpPr/>
          <p:nvPr/>
        </p:nvSpPr>
        <p:spPr>
          <a:xfrm>
            <a:off x="365760" y="3483864"/>
            <a:ext cx="8412480" cy="301752"/>
          </a:xfrm>
          <a:prstGeom prst="rect">
            <a:avLst/>
          </a:prstGeom>
          <a:noFill/>
          <a:ln/>
        </p:spPr>
        <p:txBody>
          <a:bodyPr wrap="square" rtlCol="0" anchor="ctr"/>
          <a:lstStyle/>
          <a:p>
            <a:pPr marL="0" indent="0">
              <a:buNone/>
            </a:pPr>
            <a:r>
              <a:rPr lang="en-US" sz="1100" dirty="0">
                <a:solidFill>
                  <a:srgbClr val="5B595A"/>
                </a:solidFill>
                <a:latin typeface="Arial" pitchFamily="34" charset="0"/>
                <a:ea typeface="Arial" pitchFamily="34" charset="-122"/>
                <a:cs typeface="Arial" pitchFamily="34" charset="-120"/>
              </a:rPr>
              <a:t>2.  What is your 2-week recovery plan? Who leads each work stream?</a:t>
            </a:r>
            <a:endParaRPr lang="en-US" sz="1100" dirty="0"/>
          </a:p>
        </p:txBody>
      </p:sp>
      <p:sp>
        <p:nvSpPr>
          <p:cNvPr id="13" name="Text 10"/>
          <p:cNvSpPr/>
          <p:nvPr/>
        </p:nvSpPr>
        <p:spPr>
          <a:xfrm>
            <a:off x="365760" y="3813048"/>
            <a:ext cx="8412480" cy="301752"/>
          </a:xfrm>
          <a:prstGeom prst="rect">
            <a:avLst/>
          </a:prstGeom>
          <a:noFill/>
          <a:ln/>
        </p:spPr>
        <p:txBody>
          <a:bodyPr wrap="square" rtlCol="0" anchor="ctr"/>
          <a:lstStyle/>
          <a:p>
            <a:pPr marL="0" indent="0">
              <a:buNone/>
            </a:pPr>
            <a:r>
              <a:rPr lang="en-US" sz="1100" dirty="0">
                <a:solidFill>
                  <a:srgbClr val="5B595A"/>
                </a:solidFill>
                <a:latin typeface="Arial" pitchFamily="34" charset="0"/>
                <a:ea typeface="Arial" pitchFamily="34" charset="-122"/>
                <a:cs typeface="Arial" pitchFamily="34" charset="-120"/>
              </a:rPr>
              <a:t>3.  How do you keep customers updated during the recovery phase without over-communicating or creating alarm?</a:t>
            </a:r>
            <a:endParaRPr lang="en-US" sz="1100" dirty="0"/>
          </a:p>
        </p:txBody>
      </p:sp>
      <p:sp>
        <p:nvSpPr>
          <p:cNvPr id="14" name="Text 11"/>
          <p:cNvSpPr/>
          <p:nvPr/>
        </p:nvSpPr>
        <p:spPr>
          <a:xfrm>
            <a:off x="365760" y="4142232"/>
            <a:ext cx="8412480" cy="301752"/>
          </a:xfrm>
          <a:prstGeom prst="rect">
            <a:avLst/>
          </a:prstGeom>
          <a:noFill/>
          <a:ln/>
        </p:spPr>
        <p:txBody>
          <a:bodyPr wrap="square" rtlCol="0" anchor="ctr"/>
          <a:lstStyle/>
          <a:p>
            <a:pPr marL="0" indent="0">
              <a:buNone/>
            </a:pPr>
            <a:r>
              <a:rPr lang="en-US" sz="1100" dirty="0">
                <a:solidFill>
                  <a:srgbClr val="5B595A"/>
                </a:solidFill>
                <a:latin typeface="Arial" pitchFamily="34" charset="0"/>
                <a:ea typeface="Arial" pitchFamily="34" charset="-122"/>
                <a:cs typeface="Arial" pitchFamily="34" charset="-120"/>
              </a:rPr>
              <a:t>4.  What does your return-to-normal-operations criteria look like? Who decides when you are back to 'normal'?</a:t>
            </a:r>
            <a:endParaRPr lang="en-US" sz="1100" dirty="0"/>
          </a:p>
        </p:txBody>
      </p:sp>
      <p:sp>
        <p:nvSpPr>
          <p:cNvPr id="15" name="Text 12"/>
          <p:cNvSpPr/>
          <p:nvPr/>
        </p:nvSpPr>
        <p:spPr>
          <a:xfrm>
            <a:off x="365760" y="4471416"/>
            <a:ext cx="8412480" cy="301752"/>
          </a:xfrm>
          <a:prstGeom prst="rect">
            <a:avLst/>
          </a:prstGeom>
          <a:noFill/>
          <a:ln/>
        </p:spPr>
        <p:txBody>
          <a:bodyPr wrap="square" rtlCol="0" anchor="ctr"/>
          <a:lstStyle/>
          <a:p>
            <a:pPr marL="0" indent="0">
              <a:buNone/>
            </a:pPr>
            <a:r>
              <a:rPr lang="en-US" sz="1100" dirty="0">
                <a:solidFill>
                  <a:srgbClr val="5B595A"/>
                </a:solidFill>
                <a:latin typeface="Arial" pitchFamily="34" charset="0"/>
                <a:ea typeface="Arial" pitchFamily="34" charset="-122"/>
                <a:cs typeface="Arial" pitchFamily="34" charset="-120"/>
              </a:rPr>
              <a:t>5.  What are the three most important things you have learned today that need to go into your BCP update?</a:t>
            </a:r>
            <a:endParaRPr lang="en-US" sz="1100" dirty="0"/>
          </a:p>
        </p:txBody>
      </p:sp>
      <p:sp>
        <p:nvSpPr>
          <p:cNvPr id="16" name="Rectangle 15"/>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image.png"/>
          <p:cNvPicPr>
            <a:picLocks noChangeAspect="1"/>
          </p:cNvPicPr>
          <p:nvPr/>
        </p:nvPicPr>
        <p:blipFill>
          <a:blip r:embed="rId5"/>
          <a:stretch>
            <a:fillRect/>
          </a:stretch>
        </p:blipFill>
        <p:spPr>
          <a:xfrm>
            <a:off x="7562088" y="100584"/>
            <a:ext cx="566928" cy="347472"/>
          </a:xfrm>
          <a:prstGeom prst="rect">
            <a:avLst/>
          </a:prstGeom>
        </p:spPr>
      </p:pic>
      <p:pic>
        <p:nvPicPr>
          <p:cNvPr id="18" name="Picture 17" descr="image.png"/>
          <p:cNvPicPr>
            <a:picLocks noChangeAspect="1"/>
          </p:cNvPicPr>
          <p:nvPr/>
        </p:nvPicPr>
        <p:blipFill>
          <a:blip r:embed="rId4"/>
          <a:stretch>
            <a:fillRect/>
          </a:stretch>
        </p:blipFill>
        <p:spPr>
          <a:xfrm>
            <a:off x="8174736" y="100584"/>
            <a:ext cx="658368" cy="347472"/>
          </a:xfrm>
          <a:prstGeom prst="rect">
            <a:avLst/>
          </a:prstGeom>
        </p:spPr>
      </p:pic>
      <p:sp>
        <p:nvSpPr>
          <p:cNvPr id="19" name="Rectangle 18"/>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274320" y="137160"/>
            <a:ext cx="2011680" cy="320040"/>
          </a:xfrm>
          <a:prstGeom prst="roundRect">
            <a:avLst>
              <a:gd name="adj" fmla="val 14286"/>
            </a:avLst>
          </a:prstGeom>
          <a:solidFill>
            <a:srgbClr val="009FE3"/>
          </a:solidFill>
          <a:ln w="12700">
            <a:solidFill>
              <a:srgbClr val="009FE3"/>
            </a:solidFill>
            <a:prstDash val="solid"/>
          </a:ln>
        </p:spPr>
        <p:txBody>
          <a:bodyPr/>
          <a:lstStyle/>
          <a:p>
            <a:endParaRPr lang="en-GB"/>
          </a:p>
        </p:txBody>
      </p:sp>
      <p:sp>
        <p:nvSpPr>
          <p:cNvPr id="4" name="Text 1"/>
          <p:cNvSpPr/>
          <p:nvPr/>
        </p:nvSpPr>
        <p:spPr>
          <a:xfrm>
            <a:off x="274320" y="137160"/>
            <a:ext cx="201168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DEBRIEF</a:t>
            </a:r>
            <a:endParaRPr lang="en-US" sz="1000" dirty="0"/>
          </a:p>
        </p:txBody>
      </p:sp>
      <p:sp>
        <p:nvSpPr>
          <p:cNvPr id="5" name="Text 2"/>
          <p:cNvSpPr/>
          <p:nvPr/>
        </p:nvSpPr>
        <p:spPr>
          <a:xfrm>
            <a:off x="274320" y="548640"/>
            <a:ext cx="8595360" cy="640080"/>
          </a:xfrm>
          <a:prstGeom prst="rect">
            <a:avLst/>
          </a:prstGeom>
          <a:noFill/>
          <a:ln/>
        </p:spPr>
        <p:txBody>
          <a:bodyPr wrap="square" rtlCol="0" anchor="ctr"/>
          <a:lstStyle/>
          <a:p>
            <a:pPr marL="0" indent="0">
              <a:buNone/>
            </a:pPr>
            <a:r>
              <a:rPr lang="en-US" sz="2800" b="1" dirty="0">
                <a:solidFill>
                  <a:srgbClr val="009FE3"/>
                </a:solidFill>
                <a:latin typeface="Arial" pitchFamily="34" charset="0"/>
                <a:ea typeface="Arial" pitchFamily="34" charset="-122"/>
                <a:cs typeface="Arial" pitchFamily="34" charset="-120"/>
              </a:rPr>
              <a:t>Hot Debrief</a:t>
            </a:r>
            <a:endParaRPr lang="en-US" sz="2800" dirty="0"/>
          </a:p>
        </p:txBody>
      </p:sp>
      <p:sp>
        <p:nvSpPr>
          <p:cNvPr id="6" name="Shape 3"/>
          <p:cNvSpPr/>
          <p:nvPr/>
        </p:nvSpPr>
        <p:spPr>
          <a:xfrm>
            <a:off x="274320" y="1234440"/>
            <a:ext cx="8412480" cy="0"/>
          </a:xfrm>
          <a:prstGeom prst="line">
            <a:avLst/>
          </a:prstGeom>
          <a:noFill/>
          <a:ln w="25400">
            <a:solidFill>
              <a:srgbClr val="E6F4FB"/>
            </a:solidFill>
            <a:prstDash val="solid"/>
          </a:ln>
        </p:spPr>
        <p:txBody>
          <a:bodyPr/>
          <a:lstStyle/>
          <a:p>
            <a:endParaRPr lang="en-GB"/>
          </a:p>
        </p:txBody>
      </p:sp>
      <p:sp>
        <p:nvSpPr>
          <p:cNvPr id="7" name="Shape 4"/>
          <p:cNvSpPr/>
          <p:nvPr/>
        </p:nvSpPr>
        <p:spPr>
          <a:xfrm>
            <a:off x="274320" y="1417320"/>
            <a:ext cx="4114800" cy="1554480"/>
          </a:xfrm>
          <a:prstGeom prst="roundRect">
            <a:avLst>
              <a:gd name="adj" fmla="val 4706"/>
            </a:avLst>
          </a:prstGeom>
          <a:solidFill>
            <a:srgbClr val="388E3C">
              <a:alpha val="90000"/>
            </a:srgbClr>
          </a:solidFill>
          <a:ln/>
          <a:effectLst>
            <a:outerShdw blurRad="50800" dist="25400" dir="2700000" algn="bl" rotWithShape="0">
              <a:srgbClr val="000000">
                <a:alpha val="10000"/>
              </a:srgbClr>
            </a:outerShdw>
          </a:effectLst>
        </p:spPr>
        <p:txBody>
          <a:bodyPr/>
          <a:lstStyle/>
          <a:p>
            <a:endParaRPr lang="en-GB"/>
          </a:p>
        </p:txBody>
      </p:sp>
      <p:sp>
        <p:nvSpPr>
          <p:cNvPr id="8" name="Text 5"/>
          <p:cNvSpPr/>
          <p:nvPr/>
        </p:nvSpPr>
        <p:spPr>
          <a:xfrm>
            <a:off x="365760" y="1508760"/>
            <a:ext cx="3931920" cy="32004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What WORKED WELL?</a:t>
            </a:r>
            <a:endParaRPr lang="en-US" sz="1200" dirty="0"/>
          </a:p>
        </p:txBody>
      </p:sp>
      <p:sp>
        <p:nvSpPr>
          <p:cNvPr id="9" name="Text 6"/>
          <p:cNvSpPr/>
          <p:nvPr/>
        </p:nvSpPr>
        <p:spPr>
          <a:xfrm>
            <a:off x="365760" y="1920240"/>
            <a:ext cx="3931920" cy="1005840"/>
          </a:xfrm>
          <a:prstGeom prst="rect">
            <a:avLst/>
          </a:prstGeom>
          <a:noFill/>
          <a:ln/>
        </p:spPr>
        <p:txBody>
          <a:bodyPr wrap="square" rtlCol="0" anchor="ctr"/>
          <a:lstStyle/>
          <a:p>
            <a:pPr marL="0" indent="0">
              <a:buNone/>
            </a:pPr>
            <a:r>
              <a:rPr lang="en-US" sz="1100" dirty="0">
                <a:solidFill>
                  <a:srgbClr val="FFFFFF"/>
                </a:solidFill>
                <a:latin typeface="Arial" pitchFamily="34" charset="0"/>
                <a:ea typeface="Arial" pitchFamily="34" charset="-122"/>
                <a:cs typeface="Arial" pitchFamily="34" charset="-120"/>
              </a:rPr>
              <a:t>What aspects of the plan, team, or response would you want to KEEP and build on?</a:t>
            </a:r>
            <a:endParaRPr lang="en-US" sz="1100" dirty="0"/>
          </a:p>
        </p:txBody>
      </p:sp>
      <p:sp>
        <p:nvSpPr>
          <p:cNvPr id="10" name="Shape 7"/>
          <p:cNvSpPr/>
          <p:nvPr/>
        </p:nvSpPr>
        <p:spPr>
          <a:xfrm>
            <a:off x="4663440" y="1417320"/>
            <a:ext cx="4114800" cy="1554480"/>
          </a:xfrm>
          <a:prstGeom prst="roundRect">
            <a:avLst>
              <a:gd name="adj" fmla="val 4706"/>
            </a:avLst>
          </a:prstGeom>
          <a:solidFill>
            <a:srgbClr val="FFC000">
              <a:alpha val="90000"/>
            </a:srgbClr>
          </a:solidFill>
          <a:ln/>
          <a:effectLst>
            <a:outerShdw blurRad="50800" dist="25400" dir="2700000" algn="bl" rotWithShape="0">
              <a:srgbClr val="000000">
                <a:alpha val="10000"/>
              </a:srgbClr>
            </a:outerShdw>
          </a:effectLst>
        </p:spPr>
        <p:txBody>
          <a:bodyPr/>
          <a:lstStyle/>
          <a:p>
            <a:endParaRPr lang="en-GB"/>
          </a:p>
        </p:txBody>
      </p:sp>
      <p:sp>
        <p:nvSpPr>
          <p:cNvPr id="11" name="Text 8"/>
          <p:cNvSpPr/>
          <p:nvPr/>
        </p:nvSpPr>
        <p:spPr>
          <a:xfrm>
            <a:off x="4754880" y="1508760"/>
            <a:ext cx="3931920" cy="32004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What COULD BE IMPROVED?</a:t>
            </a:r>
            <a:endParaRPr lang="en-US" sz="1200" dirty="0"/>
          </a:p>
        </p:txBody>
      </p:sp>
      <p:sp>
        <p:nvSpPr>
          <p:cNvPr id="12" name="Text 9"/>
          <p:cNvSpPr/>
          <p:nvPr/>
        </p:nvSpPr>
        <p:spPr>
          <a:xfrm>
            <a:off x="4754880" y="1920240"/>
            <a:ext cx="3931920" cy="1005840"/>
          </a:xfrm>
          <a:prstGeom prst="rect">
            <a:avLst/>
          </a:prstGeom>
          <a:noFill/>
          <a:ln/>
        </p:spPr>
        <p:txBody>
          <a:bodyPr wrap="square" rtlCol="0" anchor="ctr"/>
          <a:lstStyle/>
          <a:p>
            <a:pPr marL="0" indent="0">
              <a:buNone/>
            </a:pPr>
            <a:r>
              <a:rPr lang="en-US" sz="1100" dirty="0">
                <a:solidFill>
                  <a:srgbClr val="FFFFFF"/>
                </a:solidFill>
                <a:latin typeface="Arial" pitchFamily="34" charset="0"/>
                <a:ea typeface="Arial" pitchFamily="34" charset="-122"/>
                <a:cs typeface="Arial" pitchFamily="34" charset="-120"/>
              </a:rPr>
              <a:t>Where did you feel uncertain, slow, or underprepared? What changes would help?</a:t>
            </a:r>
            <a:endParaRPr lang="en-US" sz="1100" dirty="0"/>
          </a:p>
        </p:txBody>
      </p:sp>
      <p:sp>
        <p:nvSpPr>
          <p:cNvPr id="13" name="Shape 10"/>
          <p:cNvSpPr/>
          <p:nvPr/>
        </p:nvSpPr>
        <p:spPr>
          <a:xfrm>
            <a:off x="274320" y="3154680"/>
            <a:ext cx="4114800" cy="1554480"/>
          </a:xfrm>
          <a:prstGeom prst="roundRect">
            <a:avLst>
              <a:gd name="adj" fmla="val 4706"/>
            </a:avLst>
          </a:prstGeom>
          <a:solidFill>
            <a:srgbClr val="D32F2F">
              <a:alpha val="90000"/>
            </a:srgbClr>
          </a:solidFill>
          <a:ln/>
          <a:effectLst>
            <a:outerShdw blurRad="50800" dist="25400" dir="2700000" algn="bl" rotWithShape="0">
              <a:srgbClr val="000000">
                <a:alpha val="10000"/>
              </a:srgbClr>
            </a:outerShdw>
          </a:effectLst>
        </p:spPr>
        <p:txBody>
          <a:bodyPr/>
          <a:lstStyle/>
          <a:p>
            <a:endParaRPr lang="en-GB"/>
          </a:p>
        </p:txBody>
      </p:sp>
      <p:sp>
        <p:nvSpPr>
          <p:cNvPr id="14" name="Text 11"/>
          <p:cNvSpPr/>
          <p:nvPr/>
        </p:nvSpPr>
        <p:spPr>
          <a:xfrm>
            <a:off x="365760" y="3246120"/>
            <a:ext cx="3931920" cy="32004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What was MISSING?</a:t>
            </a:r>
            <a:endParaRPr lang="en-US" sz="1200" dirty="0"/>
          </a:p>
        </p:txBody>
      </p:sp>
      <p:sp>
        <p:nvSpPr>
          <p:cNvPr id="15" name="Text 12"/>
          <p:cNvSpPr/>
          <p:nvPr/>
        </p:nvSpPr>
        <p:spPr>
          <a:xfrm>
            <a:off x="365760" y="3657600"/>
            <a:ext cx="3931920" cy="1005840"/>
          </a:xfrm>
          <a:prstGeom prst="rect">
            <a:avLst/>
          </a:prstGeom>
          <a:noFill/>
          <a:ln/>
        </p:spPr>
        <p:txBody>
          <a:bodyPr wrap="square" rtlCol="0" anchor="ctr"/>
          <a:lstStyle/>
          <a:p>
            <a:pPr marL="0" indent="0">
              <a:buNone/>
            </a:pPr>
            <a:r>
              <a:rPr lang="en-US" sz="1100" dirty="0">
                <a:solidFill>
                  <a:srgbClr val="FFFFFF"/>
                </a:solidFill>
                <a:latin typeface="Arial" pitchFamily="34" charset="0"/>
                <a:ea typeface="Arial" pitchFamily="34" charset="-122"/>
                <a:cs typeface="Arial" pitchFamily="34" charset="-120"/>
              </a:rPr>
              <a:t>What information, resource, contact, or procedure did you need that wasn't there?</a:t>
            </a:r>
            <a:endParaRPr lang="en-US" sz="1100" dirty="0"/>
          </a:p>
        </p:txBody>
      </p:sp>
      <p:sp>
        <p:nvSpPr>
          <p:cNvPr id="16" name="Shape 13"/>
          <p:cNvSpPr/>
          <p:nvPr/>
        </p:nvSpPr>
        <p:spPr>
          <a:xfrm>
            <a:off x="4663440" y="3154680"/>
            <a:ext cx="4114800" cy="1554480"/>
          </a:xfrm>
          <a:prstGeom prst="roundRect">
            <a:avLst>
              <a:gd name="adj" fmla="val 4706"/>
            </a:avLst>
          </a:prstGeom>
          <a:solidFill>
            <a:srgbClr val="83348F">
              <a:alpha val="90000"/>
            </a:srgbClr>
          </a:solidFill>
          <a:ln/>
          <a:effectLst>
            <a:outerShdw blurRad="50800" dist="25400" dir="2700000" algn="bl" rotWithShape="0">
              <a:srgbClr val="000000">
                <a:alpha val="10000"/>
              </a:srgbClr>
            </a:outerShdw>
          </a:effectLst>
        </p:spPr>
        <p:txBody>
          <a:bodyPr/>
          <a:lstStyle/>
          <a:p>
            <a:endParaRPr lang="en-GB"/>
          </a:p>
        </p:txBody>
      </p:sp>
      <p:sp>
        <p:nvSpPr>
          <p:cNvPr id="17" name="Text 14"/>
          <p:cNvSpPr/>
          <p:nvPr/>
        </p:nvSpPr>
        <p:spPr>
          <a:xfrm>
            <a:off x="4754880" y="3246120"/>
            <a:ext cx="3931920" cy="32004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What SURPRISED YOU?</a:t>
            </a:r>
            <a:endParaRPr lang="en-US" sz="1200" dirty="0"/>
          </a:p>
        </p:txBody>
      </p:sp>
      <p:sp>
        <p:nvSpPr>
          <p:cNvPr id="18" name="Text 15"/>
          <p:cNvSpPr/>
          <p:nvPr/>
        </p:nvSpPr>
        <p:spPr>
          <a:xfrm>
            <a:off x="4754880" y="3657600"/>
            <a:ext cx="3931920" cy="1005840"/>
          </a:xfrm>
          <a:prstGeom prst="rect">
            <a:avLst/>
          </a:prstGeom>
          <a:noFill/>
          <a:ln/>
        </p:spPr>
        <p:txBody>
          <a:bodyPr wrap="square" rtlCol="0" anchor="ctr"/>
          <a:lstStyle/>
          <a:p>
            <a:pPr marL="0" indent="0">
              <a:buNone/>
            </a:pPr>
            <a:r>
              <a:rPr lang="en-US" sz="1100" dirty="0">
                <a:solidFill>
                  <a:srgbClr val="FFFFFF"/>
                </a:solidFill>
                <a:latin typeface="Arial" pitchFamily="34" charset="0"/>
                <a:ea typeface="Arial" pitchFamily="34" charset="-122"/>
                <a:cs typeface="Arial" pitchFamily="34" charset="-120"/>
              </a:rPr>
              <a:t>Was there anything in the scenario that you hadn't considered before today?</a:t>
            </a:r>
            <a:endParaRPr lang="en-US" sz="1100" dirty="0"/>
          </a:p>
        </p:txBody>
      </p:sp>
      <p:sp>
        <p:nvSpPr>
          <p:cNvPr id="19" name="Rectangle 18"/>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image.png"/>
          <p:cNvPicPr>
            <a:picLocks noChangeAspect="1"/>
          </p:cNvPicPr>
          <p:nvPr/>
        </p:nvPicPr>
        <p:blipFill>
          <a:blip r:embed="rId5"/>
          <a:stretch>
            <a:fillRect/>
          </a:stretch>
        </p:blipFill>
        <p:spPr>
          <a:xfrm>
            <a:off x="7562088" y="100584"/>
            <a:ext cx="566928" cy="347472"/>
          </a:xfrm>
          <a:prstGeom prst="rect">
            <a:avLst/>
          </a:prstGeom>
        </p:spPr>
      </p:pic>
      <p:pic>
        <p:nvPicPr>
          <p:cNvPr id="21" name="Picture 20" descr="image.png"/>
          <p:cNvPicPr>
            <a:picLocks noChangeAspect="1"/>
          </p:cNvPicPr>
          <p:nvPr/>
        </p:nvPicPr>
        <p:blipFill>
          <a:blip r:embed="rId4"/>
          <a:stretch>
            <a:fillRect/>
          </a:stretch>
        </p:blipFill>
        <p:spPr>
          <a:xfrm>
            <a:off x="8174736" y="100584"/>
            <a:ext cx="658368" cy="347472"/>
          </a:xfrm>
          <a:prstGeom prst="rect">
            <a:avLst/>
          </a:prstGeom>
        </p:spPr>
      </p:pic>
      <p:sp>
        <p:nvSpPr>
          <p:cNvPr id="22" name="Rectangle 21"/>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274320" y="137160"/>
            <a:ext cx="2011680" cy="320040"/>
          </a:xfrm>
          <a:prstGeom prst="roundRect">
            <a:avLst>
              <a:gd name="adj" fmla="val 14286"/>
            </a:avLst>
          </a:prstGeom>
          <a:solidFill>
            <a:srgbClr val="83348F"/>
          </a:solidFill>
          <a:ln w="12700">
            <a:solidFill>
              <a:srgbClr val="83348F"/>
            </a:solidFill>
            <a:prstDash val="solid"/>
          </a:ln>
        </p:spPr>
        <p:txBody>
          <a:bodyPr/>
          <a:lstStyle/>
          <a:p>
            <a:endParaRPr lang="en-GB"/>
          </a:p>
        </p:txBody>
      </p:sp>
      <p:sp>
        <p:nvSpPr>
          <p:cNvPr id="4" name="Text 1"/>
          <p:cNvSpPr/>
          <p:nvPr/>
        </p:nvSpPr>
        <p:spPr>
          <a:xfrm>
            <a:off x="274320" y="137160"/>
            <a:ext cx="201168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ACTION LOG</a:t>
            </a:r>
            <a:endParaRPr lang="en-US" sz="1000" dirty="0"/>
          </a:p>
        </p:txBody>
      </p:sp>
      <p:sp>
        <p:nvSpPr>
          <p:cNvPr id="5" name="Text 2"/>
          <p:cNvSpPr/>
          <p:nvPr/>
        </p:nvSpPr>
        <p:spPr>
          <a:xfrm>
            <a:off x="274320" y="548640"/>
            <a:ext cx="8595360" cy="640080"/>
          </a:xfrm>
          <a:prstGeom prst="rect">
            <a:avLst/>
          </a:prstGeom>
          <a:noFill/>
          <a:ln/>
        </p:spPr>
        <p:txBody>
          <a:bodyPr wrap="square" rtlCol="0" anchor="ctr"/>
          <a:lstStyle/>
          <a:p>
            <a:pPr marL="0" indent="0">
              <a:buNone/>
            </a:pPr>
            <a:r>
              <a:rPr lang="en-US" sz="2800" b="1" dirty="0">
                <a:solidFill>
                  <a:srgbClr val="009FE3"/>
                </a:solidFill>
                <a:latin typeface="Arial" pitchFamily="34" charset="0"/>
                <a:ea typeface="Arial" pitchFamily="34" charset="-122"/>
                <a:cs typeface="Arial" pitchFamily="34" charset="-120"/>
              </a:rPr>
              <a:t>Exercise Action Log</a:t>
            </a:r>
            <a:endParaRPr lang="en-US" sz="2800" dirty="0"/>
          </a:p>
        </p:txBody>
      </p:sp>
      <p:sp>
        <p:nvSpPr>
          <p:cNvPr id="6" name="Shape 3"/>
          <p:cNvSpPr/>
          <p:nvPr/>
        </p:nvSpPr>
        <p:spPr>
          <a:xfrm>
            <a:off x="274320" y="1234440"/>
            <a:ext cx="8412480" cy="0"/>
          </a:xfrm>
          <a:prstGeom prst="line">
            <a:avLst/>
          </a:prstGeom>
          <a:noFill/>
          <a:ln w="25400">
            <a:solidFill>
              <a:srgbClr val="E6F4FB"/>
            </a:solidFill>
            <a:prstDash val="solid"/>
          </a:ln>
        </p:spPr>
        <p:txBody>
          <a:bodyPr/>
          <a:lstStyle/>
          <a:p>
            <a:endParaRPr lang="en-GB"/>
          </a:p>
        </p:txBody>
      </p:sp>
      <p:sp>
        <p:nvSpPr>
          <p:cNvPr id="7" name="Text 4"/>
          <p:cNvSpPr/>
          <p:nvPr/>
        </p:nvSpPr>
        <p:spPr>
          <a:xfrm>
            <a:off x="274320" y="1325880"/>
            <a:ext cx="8595360" cy="320040"/>
          </a:xfrm>
          <a:prstGeom prst="rect">
            <a:avLst/>
          </a:prstGeom>
          <a:noFill/>
          <a:ln/>
        </p:spPr>
        <p:txBody>
          <a:bodyPr wrap="square" rtlCol="0" anchor="ctr"/>
          <a:lstStyle/>
          <a:p>
            <a:pPr marL="0" indent="0">
              <a:buNone/>
            </a:pPr>
            <a:r>
              <a:rPr lang="en-US" sz="1100" dirty="0">
                <a:solidFill>
                  <a:srgbClr val="5B595A"/>
                </a:solidFill>
                <a:latin typeface="Arial" pitchFamily="34" charset="0"/>
                <a:ea typeface="Arial" pitchFamily="34" charset="-122"/>
                <a:cs typeface="Arial" pitchFamily="34" charset="-120"/>
              </a:rPr>
              <a:t>Capture all actions arising from today's exercise. Actions will be tracked and reviewed at the BCP annual review.</a:t>
            </a:r>
            <a:endParaRPr lang="en-US" sz="11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274320" y="1737360"/>
          <a:ext cx="8595360" cy="2194560"/>
        </p:xfrm>
        <a:graphic>
          <a:graphicData uri="http://schemas.openxmlformats.org/drawingml/2006/table">
            <a:tbl>
              <a:tblPr/>
              <a:tblGrid>
                <a:gridCol w="45720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tblGrid>
              <a:tr h="0">
                <a:tc>
                  <a:txBody>
                    <a:bodyPr/>
                    <a:lstStyle/>
                    <a:p>
                      <a:pPr marL="0" indent="0" algn="ctr">
                        <a:buNone/>
                      </a:pPr>
                      <a:r>
                        <a:rPr lang="en-US" sz="1000" b="1" dirty="0">
                          <a:solidFill>
                            <a:srgbClr val="FFFFFF"/>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009FE3"/>
                    </a:solidFill>
                  </a:tcPr>
                </a:tc>
                <a:tc>
                  <a:txBody>
                    <a:bodyPr/>
                    <a:lstStyle/>
                    <a:p>
                      <a:pPr marL="0" indent="0" algn="l">
                        <a:buNone/>
                      </a:pPr>
                      <a:r>
                        <a:rPr lang="en-US" sz="1000" b="1" dirty="0">
                          <a:solidFill>
                            <a:srgbClr val="FFFFFF"/>
                          </a:solidFill>
                          <a:latin typeface="Arial" pitchFamily="34" charset="0"/>
                          <a:ea typeface="Arial" pitchFamily="34" charset="-122"/>
                          <a:cs typeface="Arial" pitchFamily="34" charset="-120"/>
                        </a:rPr>
                        <a:t>Action Description</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009FE3"/>
                    </a:solidFill>
                  </a:tcPr>
                </a:tc>
                <a:tc>
                  <a:txBody>
                    <a:bodyPr/>
                    <a:lstStyle/>
                    <a:p>
                      <a:pPr marL="0" indent="0" algn="l">
                        <a:buNone/>
                      </a:pPr>
                      <a:r>
                        <a:rPr lang="en-US" sz="1000" b="1" dirty="0">
                          <a:solidFill>
                            <a:srgbClr val="FFFFFF"/>
                          </a:solidFill>
                          <a:latin typeface="Arial" pitchFamily="34" charset="0"/>
                          <a:ea typeface="Arial" pitchFamily="34" charset="-122"/>
                          <a:cs typeface="Arial" pitchFamily="34" charset="-120"/>
                        </a:rPr>
                        <a:t>Owner</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009FE3"/>
                    </a:solidFill>
                  </a:tcPr>
                </a:tc>
                <a:tc>
                  <a:txBody>
                    <a:bodyPr/>
                    <a:lstStyle/>
                    <a:p>
                      <a:pPr marL="0" indent="0" algn="l">
                        <a:buNone/>
                      </a:pPr>
                      <a:r>
                        <a:rPr lang="en-US" sz="1000" b="1" dirty="0">
                          <a:solidFill>
                            <a:srgbClr val="FFFFFF"/>
                          </a:solidFill>
                          <a:latin typeface="Arial" pitchFamily="34" charset="0"/>
                          <a:ea typeface="Arial" pitchFamily="34" charset="-122"/>
                          <a:cs typeface="Arial" pitchFamily="34" charset="-120"/>
                        </a:rPr>
                        <a:t>Due Date</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009FE3"/>
                    </a:solidFill>
                  </a:tcPr>
                </a:tc>
                <a:tc>
                  <a:txBody>
                    <a:bodyPr/>
                    <a:lstStyle/>
                    <a:p>
                      <a:pPr marL="0" indent="0" algn="ctr">
                        <a:buNone/>
                      </a:pPr>
                      <a:r>
                        <a:rPr lang="en-US" sz="1000" b="1" dirty="0">
                          <a:solidFill>
                            <a:srgbClr val="FFFFFF"/>
                          </a:solidFill>
                          <a:latin typeface="Arial" pitchFamily="34" charset="0"/>
                          <a:ea typeface="Arial" pitchFamily="34" charset="-122"/>
                          <a:cs typeface="Arial" pitchFamily="34" charset="-120"/>
                        </a:rPr>
                        <a:t>Priority</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009FE3"/>
                    </a:solidFill>
                  </a:tcPr>
                </a:tc>
                <a:extLst>
                  <a:ext uri="{0D108BD9-81ED-4DB2-BD59-A6C34878D82A}">
                    <a16:rowId xmlns:a16="http://schemas.microsoft.com/office/drawing/2014/main" val="10000"/>
                  </a:ext>
                </a:extLst>
              </a:tr>
              <a:tr h="0">
                <a:tc>
                  <a:txBody>
                    <a:bodyPr/>
                    <a:lstStyle/>
                    <a:p>
                      <a:pPr marL="0" indent="0" algn="ctr">
                        <a:buNone/>
                      </a:pPr>
                      <a:r>
                        <a:rPr lang="en-US" sz="1000" dirty="0">
                          <a:solidFill>
                            <a:srgbClr val="5B595A"/>
                          </a:solidFill>
                          <a:latin typeface="Arial" pitchFamily="34" charset="0"/>
                          <a:ea typeface="Arial" pitchFamily="34" charset="-122"/>
                          <a:cs typeface="Arial" pitchFamily="34" charset="-120"/>
                        </a:rPr>
                        <a:t>1</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5B595A"/>
                          </a:solidFill>
                          <a:latin typeface="Arial" pitchFamily="34" charset="0"/>
                          <a:ea typeface="Arial" pitchFamily="34" charset="-122"/>
                          <a:cs typeface="Arial" pitchFamily="34" charset="-120"/>
                        </a:rPr>
                        <a:t>[Action from exercise]</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5B595A"/>
                          </a:solidFill>
                          <a:latin typeface="Arial" pitchFamily="34" charset="0"/>
                          <a:ea typeface="Arial" pitchFamily="34" charset="-122"/>
                          <a:cs typeface="Arial" pitchFamily="34" charset="-120"/>
                        </a:rPr>
                        <a:t>[Name]</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5B595A"/>
                          </a:solidFill>
                          <a:latin typeface="Arial" pitchFamily="34" charset="0"/>
                          <a:ea typeface="Arial" pitchFamily="34" charset="-122"/>
                          <a:cs typeface="Arial" pitchFamily="34" charset="-120"/>
                        </a:rPr>
                        <a:t>[Date]</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5B595A"/>
                          </a:solidFill>
                          <a:latin typeface="Arial" pitchFamily="34" charset="0"/>
                          <a:ea typeface="Arial" pitchFamily="34" charset="-122"/>
                          <a:cs typeface="Arial" pitchFamily="34" charset="-120"/>
                        </a:rPr>
                        <a:t>HIGH</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ctr">
                        <a:buNone/>
                      </a:pPr>
                      <a:r>
                        <a:rPr lang="en-US" sz="1000" dirty="0">
                          <a:solidFill>
                            <a:srgbClr val="5B595A"/>
                          </a:solidFill>
                          <a:latin typeface="Arial" pitchFamily="34" charset="0"/>
                          <a:ea typeface="Arial" pitchFamily="34" charset="-122"/>
                          <a:cs typeface="Arial" pitchFamily="34" charset="-120"/>
                        </a:rPr>
                        <a:t>2</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2F2F2"/>
                    </a:solidFill>
                  </a:tcPr>
                </a:tc>
                <a:tc>
                  <a:txBody>
                    <a:bodyPr/>
                    <a:lstStyle/>
                    <a:p>
                      <a:pPr marL="0" indent="0" algn="l">
                        <a:buNone/>
                      </a:pPr>
                      <a:r>
                        <a:rPr lang="en-US" sz="1000" dirty="0">
                          <a:solidFill>
                            <a:srgbClr val="5B595A"/>
                          </a:solidFill>
                          <a:latin typeface="Arial" pitchFamily="34" charset="0"/>
                          <a:ea typeface="Arial" pitchFamily="34" charset="-122"/>
                          <a:cs typeface="Arial" pitchFamily="34" charset="-120"/>
                        </a:rPr>
                        <a:t>[Action from exercise]</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2F2F2"/>
                    </a:solidFill>
                  </a:tcPr>
                </a:tc>
                <a:tc>
                  <a:txBody>
                    <a:bodyPr/>
                    <a:lstStyle/>
                    <a:p>
                      <a:pPr marL="0" indent="0" algn="l">
                        <a:buNone/>
                      </a:pPr>
                      <a:r>
                        <a:rPr lang="en-US" sz="1000" dirty="0">
                          <a:solidFill>
                            <a:srgbClr val="5B595A"/>
                          </a:solidFill>
                          <a:latin typeface="Arial" pitchFamily="34" charset="0"/>
                          <a:ea typeface="Arial" pitchFamily="34" charset="-122"/>
                          <a:cs typeface="Arial" pitchFamily="34" charset="-120"/>
                        </a:rPr>
                        <a:t>[Name]</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2F2F2"/>
                    </a:solidFill>
                  </a:tcPr>
                </a:tc>
                <a:tc>
                  <a:txBody>
                    <a:bodyPr/>
                    <a:lstStyle/>
                    <a:p>
                      <a:pPr marL="0" indent="0" algn="l">
                        <a:buNone/>
                      </a:pPr>
                      <a:r>
                        <a:rPr lang="en-US" sz="1000" dirty="0">
                          <a:solidFill>
                            <a:srgbClr val="5B595A"/>
                          </a:solidFill>
                          <a:latin typeface="Arial" pitchFamily="34" charset="0"/>
                          <a:ea typeface="Arial" pitchFamily="34" charset="-122"/>
                          <a:cs typeface="Arial" pitchFamily="34" charset="-120"/>
                        </a:rPr>
                        <a:t>[Date]</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2F2F2"/>
                    </a:solidFill>
                  </a:tcPr>
                </a:tc>
                <a:tc>
                  <a:txBody>
                    <a:bodyPr/>
                    <a:lstStyle/>
                    <a:p>
                      <a:pPr marL="0" indent="0" algn="ctr">
                        <a:buNone/>
                      </a:pPr>
                      <a:r>
                        <a:rPr lang="en-US" sz="1000" dirty="0">
                          <a:solidFill>
                            <a:srgbClr val="5B595A"/>
                          </a:solidFill>
                          <a:latin typeface="Arial" pitchFamily="34" charset="0"/>
                          <a:ea typeface="Arial" pitchFamily="34" charset="-122"/>
                          <a:cs typeface="Arial" pitchFamily="34" charset="-120"/>
                        </a:rPr>
                        <a:t>HIGH</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0">
                <a:tc>
                  <a:txBody>
                    <a:bodyPr/>
                    <a:lstStyle/>
                    <a:p>
                      <a:pPr marL="0" indent="0" algn="ctr">
                        <a:buNone/>
                      </a:pPr>
                      <a:r>
                        <a:rPr lang="en-US" sz="1000" dirty="0">
                          <a:solidFill>
                            <a:srgbClr val="5B595A"/>
                          </a:solidFill>
                          <a:latin typeface="Arial" pitchFamily="34" charset="0"/>
                          <a:ea typeface="Arial" pitchFamily="34" charset="-122"/>
                          <a:cs typeface="Arial" pitchFamily="34" charset="-120"/>
                        </a:rPr>
                        <a:t>3</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5B595A"/>
                          </a:solidFill>
                          <a:latin typeface="Arial" pitchFamily="34" charset="0"/>
                          <a:ea typeface="Arial" pitchFamily="34" charset="-122"/>
                          <a:cs typeface="Arial" pitchFamily="34" charset="-120"/>
                        </a:rPr>
                        <a:t>[Action from exercise]</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5B595A"/>
                          </a:solidFill>
                          <a:latin typeface="Arial" pitchFamily="34" charset="0"/>
                          <a:ea typeface="Arial" pitchFamily="34" charset="-122"/>
                          <a:cs typeface="Arial" pitchFamily="34" charset="-120"/>
                        </a:rPr>
                        <a:t>[Name]</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5B595A"/>
                          </a:solidFill>
                          <a:latin typeface="Arial" pitchFamily="34" charset="0"/>
                          <a:ea typeface="Arial" pitchFamily="34" charset="-122"/>
                          <a:cs typeface="Arial" pitchFamily="34" charset="-120"/>
                        </a:rPr>
                        <a:t>[Date]</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5B595A"/>
                          </a:solidFill>
                          <a:latin typeface="Arial" pitchFamily="34" charset="0"/>
                          <a:ea typeface="Arial" pitchFamily="34" charset="-122"/>
                          <a:cs typeface="Arial" pitchFamily="34" charset="-120"/>
                        </a:rPr>
                        <a:t>MEDIUM</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ctr">
                        <a:buNone/>
                      </a:pPr>
                      <a:r>
                        <a:rPr lang="en-US" sz="1000" dirty="0">
                          <a:solidFill>
                            <a:srgbClr val="5B595A"/>
                          </a:solidFill>
                          <a:latin typeface="Arial" pitchFamily="34" charset="0"/>
                          <a:ea typeface="Arial" pitchFamily="34" charset="-122"/>
                          <a:cs typeface="Arial" pitchFamily="34" charset="-120"/>
                        </a:rPr>
                        <a:t>4</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2F2F2"/>
                    </a:solidFill>
                  </a:tcPr>
                </a:tc>
                <a:tc>
                  <a:txBody>
                    <a:bodyPr/>
                    <a:lstStyle/>
                    <a:p>
                      <a:pPr marL="0" indent="0" algn="l">
                        <a:buNone/>
                      </a:pPr>
                      <a:r>
                        <a:rPr lang="en-US" sz="1000" dirty="0">
                          <a:solidFill>
                            <a:srgbClr val="5B595A"/>
                          </a:solidFill>
                          <a:latin typeface="Arial" pitchFamily="34" charset="0"/>
                          <a:ea typeface="Arial" pitchFamily="34" charset="-122"/>
                          <a:cs typeface="Arial" pitchFamily="34" charset="-120"/>
                        </a:rPr>
                        <a:t>[Action from exercise]</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2F2F2"/>
                    </a:solidFill>
                  </a:tcPr>
                </a:tc>
                <a:tc>
                  <a:txBody>
                    <a:bodyPr/>
                    <a:lstStyle/>
                    <a:p>
                      <a:pPr marL="0" indent="0" algn="l">
                        <a:buNone/>
                      </a:pPr>
                      <a:r>
                        <a:rPr lang="en-US" sz="1000" dirty="0">
                          <a:solidFill>
                            <a:srgbClr val="5B595A"/>
                          </a:solidFill>
                          <a:latin typeface="Arial" pitchFamily="34" charset="0"/>
                          <a:ea typeface="Arial" pitchFamily="34" charset="-122"/>
                          <a:cs typeface="Arial" pitchFamily="34" charset="-120"/>
                        </a:rPr>
                        <a:t>[Name]</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2F2F2"/>
                    </a:solidFill>
                  </a:tcPr>
                </a:tc>
                <a:tc>
                  <a:txBody>
                    <a:bodyPr/>
                    <a:lstStyle/>
                    <a:p>
                      <a:pPr marL="0" indent="0" algn="l">
                        <a:buNone/>
                      </a:pPr>
                      <a:r>
                        <a:rPr lang="en-US" sz="1000" dirty="0">
                          <a:solidFill>
                            <a:srgbClr val="5B595A"/>
                          </a:solidFill>
                          <a:latin typeface="Arial" pitchFamily="34" charset="0"/>
                          <a:ea typeface="Arial" pitchFamily="34" charset="-122"/>
                          <a:cs typeface="Arial" pitchFamily="34" charset="-120"/>
                        </a:rPr>
                        <a:t>[Date]</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2F2F2"/>
                    </a:solidFill>
                  </a:tcPr>
                </a:tc>
                <a:tc>
                  <a:txBody>
                    <a:bodyPr/>
                    <a:lstStyle/>
                    <a:p>
                      <a:pPr marL="0" indent="0" algn="ctr">
                        <a:buNone/>
                      </a:pPr>
                      <a:r>
                        <a:rPr lang="en-US" sz="1000" dirty="0">
                          <a:solidFill>
                            <a:srgbClr val="5B595A"/>
                          </a:solidFill>
                          <a:latin typeface="Arial" pitchFamily="34" charset="0"/>
                          <a:ea typeface="Arial" pitchFamily="34" charset="-122"/>
                          <a:cs typeface="Arial" pitchFamily="34" charset="-120"/>
                        </a:rPr>
                        <a:t>MEDIUM</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r h="0">
                <a:tc>
                  <a:txBody>
                    <a:bodyPr/>
                    <a:lstStyle/>
                    <a:p>
                      <a:pPr marL="0" indent="0" algn="ctr">
                        <a:buNone/>
                      </a:pPr>
                      <a:r>
                        <a:rPr lang="en-US" sz="1000" dirty="0">
                          <a:solidFill>
                            <a:srgbClr val="5B595A"/>
                          </a:solidFill>
                          <a:latin typeface="Arial" pitchFamily="34" charset="0"/>
                          <a:ea typeface="Arial" pitchFamily="34" charset="-122"/>
                          <a:cs typeface="Arial" pitchFamily="34" charset="-120"/>
                        </a:rPr>
                        <a:t>5</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5B595A"/>
                          </a:solidFill>
                          <a:latin typeface="Arial" pitchFamily="34" charset="0"/>
                          <a:ea typeface="Arial" pitchFamily="34" charset="-122"/>
                          <a:cs typeface="Arial" pitchFamily="34" charset="-120"/>
                        </a:rPr>
                        <a:t>[Action from exercise]</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5B595A"/>
                          </a:solidFill>
                          <a:latin typeface="Arial" pitchFamily="34" charset="0"/>
                          <a:ea typeface="Arial" pitchFamily="34" charset="-122"/>
                          <a:cs typeface="Arial" pitchFamily="34" charset="-120"/>
                        </a:rPr>
                        <a:t>[Name]</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5B595A"/>
                          </a:solidFill>
                          <a:latin typeface="Arial" pitchFamily="34" charset="0"/>
                          <a:ea typeface="Arial" pitchFamily="34" charset="-122"/>
                          <a:cs typeface="Arial" pitchFamily="34" charset="-120"/>
                        </a:rPr>
                        <a:t>[Date]</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5B595A"/>
                          </a:solidFill>
                          <a:latin typeface="Arial" pitchFamily="34" charset="0"/>
                          <a:ea typeface="Arial" pitchFamily="34" charset="-122"/>
                          <a:cs typeface="Arial" pitchFamily="34" charset="-120"/>
                        </a:rPr>
                        <a:t>LOW</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lgn="ctr">
                        <a:buNone/>
                      </a:pPr>
                      <a:r>
                        <a:rPr lang="en-US" sz="1000" dirty="0">
                          <a:solidFill>
                            <a:srgbClr val="5B595A"/>
                          </a:solidFill>
                          <a:latin typeface="Arial" pitchFamily="34" charset="0"/>
                          <a:ea typeface="Arial" pitchFamily="34" charset="-122"/>
                          <a:cs typeface="Arial" pitchFamily="34" charset="-120"/>
                        </a:rPr>
                        <a:t>6</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2F2F2"/>
                    </a:solidFill>
                  </a:tcPr>
                </a:tc>
                <a:tc>
                  <a:txBody>
                    <a:bodyPr/>
                    <a:lstStyle/>
                    <a:p>
                      <a:pPr marL="0" indent="0" algn="l">
                        <a:buNone/>
                      </a:pPr>
                      <a:r>
                        <a:rPr lang="en-US" sz="1000" dirty="0">
                          <a:solidFill>
                            <a:srgbClr val="5B595A"/>
                          </a:solidFill>
                          <a:latin typeface="Arial" pitchFamily="34" charset="0"/>
                          <a:ea typeface="Arial" pitchFamily="34" charset="-122"/>
                          <a:cs typeface="Arial" pitchFamily="34" charset="-120"/>
                        </a:rPr>
                        <a:t>[Action from exercise]</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2F2F2"/>
                    </a:solidFill>
                  </a:tcPr>
                </a:tc>
                <a:tc>
                  <a:txBody>
                    <a:bodyPr/>
                    <a:lstStyle/>
                    <a:p>
                      <a:pPr marL="0" indent="0" algn="l">
                        <a:buNone/>
                      </a:pPr>
                      <a:r>
                        <a:rPr lang="en-US" sz="1000" dirty="0">
                          <a:solidFill>
                            <a:srgbClr val="5B595A"/>
                          </a:solidFill>
                          <a:latin typeface="Arial" pitchFamily="34" charset="0"/>
                          <a:ea typeface="Arial" pitchFamily="34" charset="-122"/>
                          <a:cs typeface="Arial" pitchFamily="34" charset="-120"/>
                        </a:rPr>
                        <a:t>[Name]</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2F2F2"/>
                    </a:solidFill>
                  </a:tcPr>
                </a:tc>
                <a:tc>
                  <a:txBody>
                    <a:bodyPr/>
                    <a:lstStyle/>
                    <a:p>
                      <a:pPr marL="0" indent="0" algn="l">
                        <a:buNone/>
                      </a:pPr>
                      <a:r>
                        <a:rPr lang="en-US" sz="1000" dirty="0">
                          <a:solidFill>
                            <a:srgbClr val="5B595A"/>
                          </a:solidFill>
                          <a:latin typeface="Arial" pitchFamily="34" charset="0"/>
                          <a:ea typeface="Arial" pitchFamily="34" charset="-122"/>
                          <a:cs typeface="Arial" pitchFamily="34" charset="-120"/>
                        </a:rPr>
                        <a:t>[Date]</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2F2F2"/>
                    </a:solidFill>
                  </a:tcPr>
                </a:tc>
                <a:tc>
                  <a:txBody>
                    <a:bodyPr/>
                    <a:lstStyle/>
                    <a:p>
                      <a:pPr marL="0" indent="0" algn="ctr">
                        <a:buNone/>
                      </a:pPr>
                      <a:r>
                        <a:rPr lang="en-US" sz="1000" dirty="0">
                          <a:solidFill>
                            <a:srgbClr val="5B595A"/>
                          </a:solidFill>
                          <a:latin typeface="Arial" pitchFamily="34" charset="0"/>
                          <a:ea typeface="Arial" pitchFamily="34" charset="-122"/>
                          <a:cs typeface="Arial" pitchFamily="34" charset="-120"/>
                        </a:rPr>
                        <a:t>LOW</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6"/>
                  </a:ext>
                </a:extLst>
              </a:tr>
              <a:tr h="0">
                <a:tc>
                  <a:txBody>
                    <a:bodyPr/>
                    <a:lstStyle/>
                    <a:p>
                      <a:pPr marL="0" indent="0" algn="ctr">
                        <a:buNone/>
                      </a:pPr>
                      <a:r>
                        <a:rPr lang="en-US" sz="1000" dirty="0">
                          <a:solidFill>
                            <a:srgbClr val="5B595A"/>
                          </a:solidFill>
                          <a:latin typeface="Arial" pitchFamily="34" charset="0"/>
                          <a:ea typeface="Arial" pitchFamily="34" charset="-122"/>
                          <a:cs typeface="Arial" pitchFamily="34" charset="-120"/>
                        </a:rPr>
                        <a:t>7</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5B595A"/>
                          </a:solidFill>
                          <a:latin typeface="Arial" pitchFamily="34" charset="0"/>
                          <a:ea typeface="Arial" pitchFamily="34" charset="-122"/>
                          <a:cs typeface="Arial" pitchFamily="34" charset="-120"/>
                        </a:rPr>
                        <a:t>[Action from exercise]</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5B595A"/>
                          </a:solidFill>
                          <a:latin typeface="Arial" pitchFamily="34" charset="0"/>
                          <a:ea typeface="Arial" pitchFamily="34" charset="-122"/>
                          <a:cs typeface="Arial" pitchFamily="34" charset="-120"/>
                        </a:rPr>
                        <a:t>[Name]</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5B595A"/>
                          </a:solidFill>
                          <a:latin typeface="Arial" pitchFamily="34" charset="0"/>
                          <a:ea typeface="Arial" pitchFamily="34" charset="-122"/>
                          <a:cs typeface="Arial" pitchFamily="34" charset="-120"/>
                        </a:rPr>
                        <a:t>[Date]</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0">
                <a:tc>
                  <a:txBody>
                    <a:bodyPr/>
                    <a:lstStyle/>
                    <a:p>
                      <a:pPr marL="0" indent="0" algn="ctr">
                        <a:buNone/>
                      </a:pPr>
                      <a:r>
                        <a:rPr lang="en-US" sz="1000" dirty="0">
                          <a:solidFill>
                            <a:srgbClr val="5B595A"/>
                          </a:solidFill>
                          <a:latin typeface="Arial" pitchFamily="34" charset="0"/>
                          <a:ea typeface="Arial" pitchFamily="34" charset="-122"/>
                          <a:cs typeface="Arial" pitchFamily="34" charset="-120"/>
                        </a:rPr>
                        <a:t>8</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2F2F2"/>
                    </a:solidFill>
                  </a:tcPr>
                </a:tc>
                <a:tc>
                  <a:txBody>
                    <a:bodyPr/>
                    <a:lstStyle/>
                    <a:p>
                      <a:pPr marL="0" indent="0" algn="l">
                        <a:buNone/>
                      </a:pPr>
                      <a:r>
                        <a:rPr lang="en-US" sz="1000" dirty="0">
                          <a:solidFill>
                            <a:srgbClr val="5B595A"/>
                          </a:solidFill>
                          <a:latin typeface="Arial" pitchFamily="34" charset="0"/>
                          <a:ea typeface="Arial" pitchFamily="34" charset="-122"/>
                          <a:cs typeface="Arial" pitchFamily="34" charset="-120"/>
                        </a:rPr>
                        <a:t>[Action from exercise]</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2F2F2"/>
                    </a:solidFill>
                  </a:tcPr>
                </a:tc>
                <a:tc>
                  <a:txBody>
                    <a:bodyPr/>
                    <a:lstStyle/>
                    <a:p>
                      <a:pPr marL="0" indent="0" algn="l">
                        <a:buNone/>
                      </a:pPr>
                      <a:r>
                        <a:rPr lang="en-US" sz="1000" dirty="0">
                          <a:solidFill>
                            <a:srgbClr val="5B595A"/>
                          </a:solidFill>
                          <a:latin typeface="Arial" pitchFamily="34" charset="0"/>
                          <a:ea typeface="Arial" pitchFamily="34" charset="-122"/>
                          <a:cs typeface="Arial" pitchFamily="34" charset="-120"/>
                        </a:rPr>
                        <a:t>[Name]</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2F2F2"/>
                    </a:solidFill>
                  </a:tcPr>
                </a:tc>
                <a:tc>
                  <a:txBody>
                    <a:bodyPr/>
                    <a:lstStyle/>
                    <a:p>
                      <a:pPr marL="0" indent="0" algn="l">
                        <a:buNone/>
                      </a:pPr>
                      <a:r>
                        <a:rPr lang="en-US" sz="1000" dirty="0">
                          <a:solidFill>
                            <a:srgbClr val="5B595A"/>
                          </a:solidFill>
                          <a:latin typeface="Arial" pitchFamily="34" charset="0"/>
                          <a:ea typeface="Arial" pitchFamily="34" charset="-122"/>
                          <a:cs typeface="Arial" pitchFamily="34" charset="-120"/>
                        </a:rPr>
                        <a:t>[Date]</a:t>
                      </a: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2F2F2"/>
                    </a:solidFill>
                  </a:tcPr>
                </a:tc>
                <a:tc>
                  <a:txBody>
                    <a:bodyPr/>
                    <a:lstStyle/>
                    <a:p>
                      <a:pPr marL="0" indent="0" algn="ctr">
                        <a:buNone/>
                      </a:pPr>
                      <a:endParaRPr lang="en-US" sz="1000" dirty="0">
                        <a:latin typeface="Arial" charset="0"/>
                        <a:ea typeface="Arial" charset="0"/>
                        <a:cs typeface="Arial"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8"/>
                  </a:ext>
                </a:extLst>
              </a:tr>
            </a:tbl>
          </a:graphicData>
        </a:graphic>
      </p:graphicFrame>
      <p:sp>
        <p:nvSpPr>
          <p:cNvPr id="16" name="Rectangle 15"/>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image.png"/>
          <p:cNvPicPr>
            <a:picLocks noChangeAspect="1"/>
          </p:cNvPicPr>
          <p:nvPr/>
        </p:nvPicPr>
        <p:blipFill>
          <a:blip r:embed="rId5"/>
          <a:stretch>
            <a:fillRect/>
          </a:stretch>
        </p:blipFill>
        <p:spPr>
          <a:xfrm>
            <a:off x="7562088" y="100584"/>
            <a:ext cx="566928" cy="347472"/>
          </a:xfrm>
          <a:prstGeom prst="rect">
            <a:avLst/>
          </a:prstGeom>
        </p:spPr>
      </p:pic>
      <p:pic>
        <p:nvPicPr>
          <p:cNvPr id="18" name="Picture 17" descr="image.png"/>
          <p:cNvPicPr>
            <a:picLocks noChangeAspect="1"/>
          </p:cNvPicPr>
          <p:nvPr/>
        </p:nvPicPr>
        <p:blipFill>
          <a:blip r:embed="rId4"/>
          <a:stretch>
            <a:fillRect/>
          </a:stretch>
        </p:blipFill>
        <p:spPr>
          <a:xfrm>
            <a:off x="8174736" y="100584"/>
            <a:ext cx="658368" cy="347472"/>
          </a:xfrm>
          <a:prstGeom prst="rect">
            <a:avLst/>
          </a:prstGeom>
        </p:spPr>
      </p:pic>
      <p:sp>
        <p:nvSpPr>
          <p:cNvPr id="19" name="Rectangle 18"/>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09FE3"/>
        </a:solidFill>
        <a:effectLst/>
      </p:bgPr>
    </p:bg>
    <p:spTree>
      <p:nvGrpSpPr>
        <p:cNvPr id="1" name=""/>
        <p:cNvGrpSpPr/>
        <p:nvPr/>
      </p:nvGrpSpPr>
      <p:grpSpPr>
        <a:xfrm>
          <a:off x="0" y="0"/>
          <a:ext cx="0" cy="0"/>
          <a:chOff x="0" y="0"/>
          <a:chExt cx="0" cy="0"/>
        </a:xfrm>
      </p:grpSpPr>
      <p:pic>
        <p:nvPicPr>
          <p:cNvPr id="2" name="Image 0" descr="/home/claude/nuccol_logo.jpg"/>
          <p:cNvPicPr>
            <a:picLocks noChangeAspect="1"/>
          </p:cNvPicPr>
          <p:nvPr/>
        </p:nvPicPr>
        <p:blipFill>
          <a:blip r:embed="rId3"/>
          <a:stretch>
            <a:fillRect/>
          </a:stretch>
        </p:blipFill>
        <p:spPr>
          <a:xfrm>
            <a:off x="3840480" y="731520"/>
            <a:ext cx="1463040" cy="658368"/>
          </a:xfrm>
          <a:prstGeom prst="rect">
            <a:avLst/>
          </a:prstGeom>
        </p:spPr>
      </p:pic>
      <p:sp>
        <p:nvSpPr>
          <p:cNvPr id="3" name="Text 0"/>
          <p:cNvSpPr/>
          <p:nvPr/>
        </p:nvSpPr>
        <p:spPr>
          <a:xfrm>
            <a:off x="457200" y="1645920"/>
            <a:ext cx="8229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Thank You for Participating</a:t>
            </a:r>
            <a:endParaRPr lang="en-US" sz="3000" dirty="0"/>
          </a:p>
        </p:txBody>
      </p:sp>
      <p:sp>
        <p:nvSpPr>
          <p:cNvPr id="4" name="Text 1"/>
          <p:cNvSpPr/>
          <p:nvPr/>
        </p:nvSpPr>
        <p:spPr>
          <a:xfrm>
            <a:off x="731520" y="2560320"/>
            <a:ext cx="7680960" cy="502920"/>
          </a:xfrm>
          <a:prstGeom prst="rect">
            <a:avLst/>
          </a:prstGeom>
          <a:noFill/>
          <a:ln/>
        </p:spPr>
        <p:txBody>
          <a:bodyPr wrap="square" rtlCol="0" anchor="ctr"/>
          <a:lstStyle/>
          <a:p>
            <a:pPr marL="0" indent="0" algn="ctr">
              <a:buNone/>
            </a:pPr>
            <a:r>
              <a:rPr lang="en-US" sz="1600" dirty="0">
                <a:solidFill>
                  <a:srgbClr val="E6F4FB"/>
                </a:solidFill>
                <a:latin typeface="Arial" pitchFamily="34" charset="0"/>
                <a:ea typeface="Arial" pitchFamily="34" charset="-122"/>
                <a:cs typeface="Arial" pitchFamily="34" charset="-120"/>
              </a:rPr>
              <a:t>Your engagement in this exercise directly strengthens your organisation's resilience.</a:t>
            </a:r>
            <a:endParaRPr lang="en-US" sz="1600" dirty="0"/>
          </a:p>
        </p:txBody>
      </p:sp>
      <p:sp>
        <p:nvSpPr>
          <p:cNvPr id="5" name="Text 2"/>
          <p:cNvSpPr/>
          <p:nvPr/>
        </p:nvSpPr>
        <p:spPr>
          <a:xfrm>
            <a:off x="2286000" y="3200400"/>
            <a:ext cx="4572000" cy="36576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Next Steps:</a:t>
            </a:r>
            <a:endParaRPr lang="en-US" sz="1400" dirty="0"/>
          </a:p>
        </p:txBody>
      </p:sp>
      <p:sp>
        <p:nvSpPr>
          <p:cNvPr id="6" name="Text 3"/>
          <p:cNvSpPr/>
          <p:nvPr/>
        </p:nvSpPr>
        <p:spPr>
          <a:xfrm>
            <a:off x="1371600" y="3657600"/>
            <a:ext cx="6400800" cy="256032"/>
          </a:xfrm>
          <a:prstGeom prst="rect">
            <a:avLst/>
          </a:prstGeom>
          <a:noFill/>
          <a:ln/>
        </p:spPr>
        <p:txBody>
          <a:bodyPr wrap="square" rtlCol="0" anchor="ctr"/>
          <a:lstStyle/>
          <a:p>
            <a:pPr marL="0" indent="0" algn="ctr">
              <a:buNone/>
            </a:pPr>
            <a:r>
              <a:rPr lang="en-US" sz="1200" dirty="0">
                <a:solidFill>
                  <a:srgbClr val="FFFFFF"/>
                </a:solidFill>
                <a:latin typeface="Arial" pitchFamily="34" charset="0"/>
                <a:ea typeface="Arial" pitchFamily="34" charset="-122"/>
                <a:cs typeface="Arial" pitchFamily="34" charset="-120"/>
              </a:rPr>
              <a:t>•  Action log to be distributed within 48 hours</a:t>
            </a:r>
            <a:endParaRPr lang="en-US" sz="1200" dirty="0"/>
          </a:p>
        </p:txBody>
      </p:sp>
      <p:sp>
        <p:nvSpPr>
          <p:cNvPr id="7" name="Text 4"/>
          <p:cNvSpPr/>
          <p:nvPr/>
        </p:nvSpPr>
        <p:spPr>
          <a:xfrm>
            <a:off x="1371600" y="3931920"/>
            <a:ext cx="6400800" cy="256032"/>
          </a:xfrm>
          <a:prstGeom prst="rect">
            <a:avLst/>
          </a:prstGeom>
          <a:noFill/>
          <a:ln/>
        </p:spPr>
        <p:txBody>
          <a:bodyPr wrap="square" rtlCol="0" anchor="ctr"/>
          <a:lstStyle/>
          <a:p>
            <a:pPr marL="0" indent="0" algn="ctr">
              <a:buNone/>
            </a:pPr>
            <a:r>
              <a:rPr lang="en-US" sz="1200" dirty="0">
                <a:solidFill>
                  <a:srgbClr val="FFFFFF"/>
                </a:solidFill>
                <a:latin typeface="Arial" pitchFamily="34" charset="0"/>
                <a:ea typeface="Arial" pitchFamily="34" charset="-122"/>
                <a:cs typeface="Arial" pitchFamily="34" charset="-120"/>
              </a:rPr>
              <a:t>•  BCP to be updated within 30 days of exercise date</a:t>
            </a:r>
            <a:endParaRPr lang="en-US" sz="1200" dirty="0"/>
          </a:p>
        </p:txBody>
      </p:sp>
      <p:sp>
        <p:nvSpPr>
          <p:cNvPr id="8" name="Text 5"/>
          <p:cNvSpPr/>
          <p:nvPr/>
        </p:nvSpPr>
        <p:spPr>
          <a:xfrm>
            <a:off x="1371600" y="4206240"/>
            <a:ext cx="6400800" cy="256032"/>
          </a:xfrm>
          <a:prstGeom prst="rect">
            <a:avLst/>
          </a:prstGeom>
          <a:noFill/>
          <a:ln/>
        </p:spPr>
        <p:txBody>
          <a:bodyPr wrap="square" rtlCol="0" anchor="ctr"/>
          <a:lstStyle/>
          <a:p>
            <a:pPr marL="0" indent="0" algn="ctr">
              <a:buNone/>
            </a:pPr>
            <a:r>
              <a:rPr lang="en-US" sz="1200" dirty="0">
                <a:solidFill>
                  <a:srgbClr val="FFFFFF"/>
                </a:solidFill>
                <a:latin typeface="Arial" pitchFamily="34" charset="0"/>
                <a:ea typeface="Arial" pitchFamily="34" charset="-122"/>
                <a:cs typeface="Arial" pitchFamily="34" charset="-120"/>
              </a:rPr>
              <a:t>•  Actions reviewed at next management meeting</a:t>
            </a:r>
            <a:endParaRPr lang="en-US" sz="1200" dirty="0"/>
          </a:p>
        </p:txBody>
      </p:sp>
      <p:sp>
        <p:nvSpPr>
          <p:cNvPr id="9" name="Text 6"/>
          <p:cNvSpPr/>
          <p:nvPr/>
        </p:nvSpPr>
        <p:spPr>
          <a:xfrm>
            <a:off x="1371600" y="4480560"/>
            <a:ext cx="6400800" cy="256032"/>
          </a:xfrm>
          <a:prstGeom prst="rect">
            <a:avLst/>
          </a:prstGeom>
          <a:noFill/>
          <a:ln/>
        </p:spPr>
        <p:txBody>
          <a:bodyPr wrap="square" rtlCol="0" anchor="ctr"/>
          <a:lstStyle/>
          <a:p>
            <a:pPr marL="0" indent="0" algn="ctr">
              <a:buNone/>
            </a:pPr>
            <a:r>
              <a:rPr lang="en-US" sz="1200" dirty="0">
                <a:solidFill>
                  <a:srgbClr val="FFFFFF"/>
                </a:solidFill>
                <a:latin typeface="Arial" pitchFamily="34" charset="0"/>
                <a:ea typeface="Arial" pitchFamily="34" charset="-122"/>
                <a:cs typeface="Arial" pitchFamily="34" charset="-120"/>
              </a:rPr>
              <a:t>•  Next tabletop exercise: [Date]</a:t>
            </a:r>
            <a:endParaRPr lang="en-US" sz="1200" dirty="0"/>
          </a:p>
        </p:txBody>
      </p:sp>
      <p:sp>
        <p:nvSpPr>
          <p:cNvPr id="10" name="Rectangle 9"/>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5"/>
          <a:stretch>
            <a:fillRect/>
          </a:stretch>
        </p:blipFill>
        <p:spPr>
          <a:xfrm>
            <a:off x="7562088" y="100584"/>
            <a:ext cx="566928" cy="347472"/>
          </a:xfrm>
          <a:prstGeom prst="rect">
            <a:avLst/>
          </a:prstGeom>
        </p:spPr>
      </p:pic>
      <p:pic>
        <p:nvPicPr>
          <p:cNvPr id="12" name="Picture 11" descr="image.png"/>
          <p:cNvPicPr>
            <a:picLocks noChangeAspect="1"/>
          </p:cNvPicPr>
          <p:nvPr/>
        </p:nvPicPr>
        <p:blipFill>
          <a:blip r:embed="rId4"/>
          <a:stretch>
            <a:fillRect/>
          </a:stretch>
        </p:blipFill>
        <p:spPr>
          <a:xfrm>
            <a:off x="8174736" y="100584"/>
            <a:ext cx="658368" cy="347472"/>
          </a:xfrm>
          <a:prstGeom prst="rect">
            <a:avLst/>
          </a:prstGeom>
        </p:spPr>
      </p:pic>
      <p:sp>
        <p:nvSpPr>
          <p:cNvPr id="13" name="Rectangle 12"/>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453F6056AA6464A99729F79B34ECED9" ma:contentTypeVersion="15" ma:contentTypeDescription="Create a new document." ma:contentTypeScope="" ma:versionID="5f61f7f6e9ac7af992ae58f204f4a905">
  <xsd:schema xmlns:xsd="http://www.w3.org/2001/XMLSchema" xmlns:xs="http://www.w3.org/2001/XMLSchema" xmlns:p="http://schemas.microsoft.com/office/2006/metadata/properties" xmlns:ns2="ecb9c8fd-b149-4da5-ae47-4cb2a6f921f7" xmlns:ns3="a57c75ee-0d51-4c06-b83a-21883992ef88" targetNamespace="http://schemas.microsoft.com/office/2006/metadata/properties" ma:root="true" ma:fieldsID="5bd49160a10d99efc7c2a57519ff9fe8" ns2:_="" ns3:_="">
    <xsd:import namespace="ecb9c8fd-b149-4da5-ae47-4cb2a6f921f7"/>
    <xsd:import namespace="a57c75ee-0d51-4c06-b83a-21883992ef88"/>
    <xsd:element name="properties">
      <xsd:complexType>
        <xsd:sequence>
          <xsd:element name="documentManagement">
            <xsd:complexType>
              <xsd:all>
                <xsd:element ref="ns2:MigrationSourceID" minOccurs="0"/>
                <xsd:element ref="ns3:MediaServiceMetadata" minOccurs="0"/>
                <xsd:element ref="ns3:MediaServiceFastMetadata" minOccurs="0"/>
                <xsd:element ref="ns3:MediaServiceSearchProperties" minOccurs="0"/>
                <xsd:element ref="ns3:MediaServiceObjectDetectorVersions" minOccurs="0"/>
                <xsd:element ref="ns3:MediaServiceDateTaken" minOccurs="0"/>
                <xsd:element ref="ns3:MediaServiceGenerationTime" minOccurs="0"/>
                <xsd:element ref="ns3:MediaServiceEventHashCode" minOccurs="0"/>
                <xsd:element ref="ns3:MediaLengthInSeconds" minOccurs="0"/>
                <xsd:element ref="ns3:MediaServiceBillingMetadata" minOccurs="0"/>
                <xsd:element ref="ns3:lcf76f155ced4ddcb4097134ff3c332f" minOccurs="0"/>
                <xsd:element ref="ns2:TaxCatchAll" minOccurs="0"/>
                <xsd:element ref="ns3:MediaServiceOCR"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cb9c8fd-b149-4da5-ae47-4cb2a6f921f7" elementFormDefault="qualified">
    <xsd:import namespace="http://schemas.microsoft.com/office/2006/documentManagement/types"/>
    <xsd:import namespace="http://schemas.microsoft.com/office/infopath/2007/PartnerControls"/>
    <xsd:element name="MigrationSourceID" ma:index="8" nillable="true" ma:displayName="MigrationSourceID" ma:internalName="MigrationSourceID" ma:readOnly="true">
      <xsd:simpleType>
        <xsd:restriction base="dms:Text"/>
      </xsd:simpleType>
    </xsd:element>
    <xsd:element name="TaxCatchAll" ma:index="20" nillable="true" ma:displayName="Taxonomy Catch All Column" ma:hidden="true" ma:list="{3bbffa37-1fb4-4f8b-a66f-2651692f13f0}" ma:internalName="TaxCatchAll" ma:showField="CatchAllData" ma:web="ecb9c8fd-b149-4da5-ae47-4cb2a6f921f7">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a57c75ee-0d51-4c06-b83a-21883992ef88" elementFormDefault="qualified">
    <xsd:import namespace="http://schemas.microsoft.com/office/2006/documentManagement/types"/>
    <xsd:import namespace="http://schemas.microsoft.com/office/infopath/2007/PartnerControls"/>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MediaServiceBillingMetadata" ma:index="17" nillable="true" ma:displayName="MediaServiceBillingMetadata" ma:hidden="true" ma:internalName="MediaServiceBillingMetadata" ma:readOnly="true">
      <xsd:simpleType>
        <xsd:restriction base="dms:Note"/>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c323488a-041b-479c-b98c-53326eeb9fc5"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Location" ma:index="22" nillable="true" ma:displayName="Location" ma:indexed="true"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ecb9c8fd-b149-4da5-ae47-4cb2a6f921f7" xsi:nil="true"/>
    <lcf76f155ced4ddcb4097134ff3c332f xmlns="a57c75ee-0d51-4c06-b83a-21883992ef88">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A93B37B9-DD69-46C0-AB93-9F450745DEC6}"/>
</file>

<file path=customXml/itemProps2.xml><?xml version="1.0" encoding="utf-8"?>
<ds:datastoreItem xmlns:ds="http://schemas.openxmlformats.org/officeDocument/2006/customXml" ds:itemID="{15AFE523-17CA-44F3-A803-89C49F372C11}"/>
</file>

<file path=customXml/itemProps3.xml><?xml version="1.0" encoding="utf-8"?>
<ds:datastoreItem xmlns:ds="http://schemas.openxmlformats.org/officeDocument/2006/customXml" ds:itemID="{B2991994-04C0-425E-99B0-B1FCDD0DB1EE}"/>
</file>

<file path=docProps/app.xml><?xml version="1.0" encoding="utf-8"?>
<Properties xmlns="http://schemas.openxmlformats.org/officeDocument/2006/extended-properties" xmlns:vt="http://schemas.openxmlformats.org/officeDocument/2006/docPropsVTypes">
  <TotalTime>0</TotalTime>
  <Words>2283</Words>
  <Application>Microsoft Office PowerPoint</Application>
  <PresentationFormat>On-screen Show (16:9)</PresentationFormat>
  <Paragraphs>287</Paragraphs>
  <Slides>15</Slides>
  <Notes>15</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15</vt:i4>
      </vt:variant>
    </vt:vector>
  </HeadingPairs>
  <TitlesOfParts>
    <vt:vector size="17"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QHSE-BC-04 Tabletop Exercise Pack</dc:title>
  <dc:creator>John Hilton-Brammer</dc:creator>
  <cp:lastModifiedBy>John Hilton-Brammer</cp:lastModifiedBy>
  <dcterms:created xsi:type="dcterms:W3CDTF">2026-07-01T07:45:32Z</dcterms:created>
  <dcterms:modified xsi:type="dcterms:W3CDTF">2026-07-01T07:45:32Z</dcterms:modified>
  <cp:category>Fit For Nuclear</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0x0101002453F6056AA6464A99729F79B34ECED9</vt:lpwstr>
  </property>
</Properties>
</file>