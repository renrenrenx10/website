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09FE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01168"/>
            <a:ext cx="13716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20240" y="7315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SOCIAL VALUE COMMITMENTS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920240" y="640080"/>
            <a:ext cx="8321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[Company Name] is committed to creating positive value for our community, environment, and supply chain — not just our customers.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82880" y="1143000"/>
            <a:ext cx="2834640" cy="56692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1197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🏘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1216152"/>
            <a:ext cx="21214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COMMUNITY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82880" y="1709928"/>
            <a:ext cx="2834640" cy="484632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0896" y="1856232"/>
            <a:ext cx="237744" cy="237744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2" name="Text 9"/>
          <p:cNvSpPr/>
          <p:nvPr/>
        </p:nvSpPr>
        <p:spPr>
          <a:xfrm>
            <a:off x="603504" y="1801368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support local schools, colleges and STEM outreach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10896" y="2971800"/>
            <a:ext cx="237744" cy="237744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4" name="Text 11"/>
          <p:cNvSpPr/>
          <p:nvPr/>
        </p:nvSpPr>
        <p:spPr>
          <a:xfrm>
            <a:off x="603504" y="2916936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recruit locally and offer apprenticeship opportunities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10896" y="4087368"/>
            <a:ext cx="237744" cy="237744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6" name="Text 13"/>
          <p:cNvSpPr/>
          <p:nvPr/>
        </p:nvSpPr>
        <p:spPr>
          <a:xfrm>
            <a:off x="603504" y="4032504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employees give back through paid volunteering days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10896" y="5202936"/>
            <a:ext cx="237744" cy="237744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8" name="Text 15"/>
          <p:cNvSpPr/>
          <p:nvPr/>
        </p:nvSpPr>
        <p:spPr>
          <a:xfrm>
            <a:off x="603504" y="5148072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sponsor local community groups and charities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154680" y="1143000"/>
            <a:ext cx="2834640" cy="56692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0" name="Text 17"/>
          <p:cNvSpPr/>
          <p:nvPr/>
        </p:nvSpPr>
        <p:spPr>
          <a:xfrm>
            <a:off x="3246120" y="1197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3749040" y="1216152"/>
            <a:ext cx="21214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SOURCING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3154680" y="1709928"/>
            <a:ext cx="2834640" cy="484632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282696" y="1856232"/>
            <a:ext cx="237744" cy="237744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4" name="Text 21"/>
          <p:cNvSpPr/>
          <p:nvPr/>
        </p:nvSpPr>
        <p:spPr>
          <a:xfrm>
            <a:off x="3575304" y="1801368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suppliers sign our Supplier Code of Conduct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282696" y="2971800"/>
            <a:ext cx="237744" cy="237744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6" name="Text 23"/>
          <p:cNvSpPr/>
          <p:nvPr/>
        </p:nvSpPr>
        <p:spPr>
          <a:xfrm>
            <a:off x="3575304" y="2916936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carry out due diligence on new and existing suppliers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282696" y="4087368"/>
            <a:ext cx="237744" cy="237744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8" name="Text 25"/>
          <p:cNvSpPr/>
          <p:nvPr/>
        </p:nvSpPr>
        <p:spPr>
          <a:xfrm>
            <a:off x="3575304" y="4032504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have zero tolerance for modern slavery in our supply chain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282696" y="5202936"/>
            <a:ext cx="237744" cy="237744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30" name="Text 27"/>
          <p:cNvSpPr/>
          <p:nvPr/>
        </p:nvSpPr>
        <p:spPr>
          <a:xfrm>
            <a:off x="3575304" y="5148072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maintain full traceability for nuclear-classified materials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126480" y="1143000"/>
            <a:ext cx="2834640" cy="566928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32" name="Text 29"/>
          <p:cNvSpPr/>
          <p:nvPr/>
        </p:nvSpPr>
        <p:spPr>
          <a:xfrm>
            <a:off x="6217920" y="1197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🌱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6720840" y="1216152"/>
            <a:ext cx="21214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6126480" y="1709928"/>
            <a:ext cx="2834640" cy="484632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254496" y="1856232"/>
            <a:ext cx="237744" cy="237744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36" name="Text 33"/>
          <p:cNvSpPr/>
          <p:nvPr/>
        </p:nvSpPr>
        <p:spPr>
          <a:xfrm>
            <a:off x="6547104" y="1801368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measure and reduce our carbon emissions annually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254496" y="2971800"/>
            <a:ext cx="237744" cy="237744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38" name="Text 35"/>
          <p:cNvSpPr/>
          <p:nvPr/>
        </p:nvSpPr>
        <p:spPr>
          <a:xfrm>
            <a:off x="6547104" y="2916936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minimise waste and maximise recycling on site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254496" y="4087368"/>
            <a:ext cx="237744" cy="237744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40" name="Text 37"/>
          <p:cNvSpPr/>
          <p:nvPr/>
        </p:nvSpPr>
        <p:spPr>
          <a:xfrm>
            <a:off x="6547104" y="4032504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require environmental standards from our key suppliers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6254496" y="5202936"/>
            <a:ext cx="237744" cy="237744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42" name="Text 39"/>
          <p:cNvSpPr/>
          <p:nvPr/>
        </p:nvSpPr>
        <p:spPr>
          <a:xfrm>
            <a:off x="6547104" y="5148072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working towards ISO 14001 environmental management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9098280" y="1143000"/>
            <a:ext cx="2834640" cy="56692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4" name="Text 41"/>
          <p:cNvSpPr/>
          <p:nvPr/>
        </p:nvSpPr>
        <p:spPr>
          <a:xfrm>
            <a:off x="9189720" y="1197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♦</a:t>
            </a:r>
            <a:endParaRPr lang="en-US" sz="2200" dirty="0"/>
          </a:p>
        </p:txBody>
      </p:sp>
      <p:sp>
        <p:nvSpPr>
          <p:cNvPr id="45" name="Text 42"/>
          <p:cNvSpPr/>
          <p:nvPr/>
        </p:nvSpPr>
        <p:spPr>
          <a:xfrm>
            <a:off x="9692640" y="1216152"/>
            <a:ext cx="21214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AND INCLUSION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9098280" y="1709928"/>
            <a:ext cx="2834640" cy="484632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9226296" y="1856232"/>
            <a:ext cx="237744" cy="237744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8" name="Text 45"/>
          <p:cNvSpPr/>
          <p:nvPr/>
        </p:nvSpPr>
        <p:spPr>
          <a:xfrm>
            <a:off x="9518904" y="1801368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pay at least the National Living Wage to all employees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9226296" y="2971800"/>
            <a:ext cx="237744" cy="237744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50" name="Text 47"/>
          <p:cNvSpPr/>
          <p:nvPr/>
        </p:nvSpPr>
        <p:spPr>
          <a:xfrm>
            <a:off x="9518904" y="2916936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committed to equal opportunity for everyone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9226296" y="4087368"/>
            <a:ext cx="237744" cy="237744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52" name="Text 49"/>
          <p:cNvSpPr/>
          <p:nvPr/>
        </p:nvSpPr>
        <p:spPr>
          <a:xfrm>
            <a:off x="9518904" y="4032504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monitor diversity data and set improvement targets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9226296" y="5202936"/>
            <a:ext cx="237744" cy="237744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54" name="Text 51"/>
          <p:cNvSpPr/>
          <p:nvPr/>
        </p:nvSpPr>
        <p:spPr>
          <a:xfrm>
            <a:off x="9518904" y="5148072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tolerance for discrimination, harassment, or bullying</a:t>
            </a:r>
            <a:endParaRPr lang="en-US" sz="1100" dirty="0"/>
          </a:p>
        </p:txBody>
      </p:sp>
      <p:sp>
        <p:nvSpPr>
          <p:cNvPr id="55" name="Rectangle 54"/>
          <p:cNvSpPr/>
          <p:nvPr/>
        </p:nvSpPr>
        <p:spPr>
          <a:xfrm>
            <a:off x="10564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0088" y="100584"/>
            <a:ext cx="566928" cy="347472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2736" y="100584"/>
            <a:ext cx="658368" cy="347472"/>
          </a:xfrm>
          <a:prstGeom prst="rect">
            <a:avLst/>
          </a:prstGeom>
        </p:spPr>
      </p:pic>
      <p:sp>
        <p:nvSpPr>
          <p:cNvPr id="58" name="Rectangle 5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24128"/>
          </a:xfrm>
          <a:prstGeom prst="rect">
            <a:avLst/>
          </a:prstGeom>
          <a:solidFill>
            <a:srgbClr val="83348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1280160" cy="4297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54864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SOURCING: WHAT WE EXPECT FROM OUR SUPPLIERS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828800" y="621792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B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supplier in our approved list has signed our Supplier Code of Conduct. Here is what it requires.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82880" y="1115568"/>
            <a:ext cx="3749040" cy="47548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111556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82880" y="1591056"/>
            <a:ext cx="3749040" cy="203911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0896" y="1682496"/>
            <a:ext cx="3493008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an appropriate quality management system. ISO 9001 required for nuclear-classified supply. Certificate quality and CFSI controls mandatory.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114800" y="1115568"/>
            <a:ext cx="3749040" cy="47548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12" name="Text 9"/>
          <p:cNvSpPr/>
          <p:nvPr/>
        </p:nvSpPr>
        <p:spPr>
          <a:xfrm>
            <a:off x="4206240" y="111556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LABOUR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114800" y="1591056"/>
            <a:ext cx="3749040" cy="203911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42816" y="1682496"/>
            <a:ext cx="3493008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at least the legal minimum wage. Comply with working time legislation. Provide safe working conditions. No forced, compulsory, or child labour.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046720" y="1115568"/>
            <a:ext cx="3749040" cy="47548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6" name="Text 13"/>
          <p:cNvSpPr/>
          <p:nvPr/>
        </p:nvSpPr>
        <p:spPr>
          <a:xfrm>
            <a:off x="8138160" y="111556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MODERN SLAVERY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046720" y="1591056"/>
            <a:ext cx="3749040" cy="203911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74736" y="1682496"/>
            <a:ext cx="3493008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tolerance for modern slavery, human trafficking, and forced labour at any tier of the supply chain. Report any concerns immediately.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82880" y="3785616"/>
            <a:ext cx="3749040" cy="475488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20" name="Text 17"/>
          <p:cNvSpPr/>
          <p:nvPr/>
        </p:nvSpPr>
        <p:spPr>
          <a:xfrm>
            <a:off x="274320" y="3785616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182880" y="4261104"/>
            <a:ext cx="3749040" cy="203911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10896" y="4352544"/>
            <a:ext cx="3493008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Comply with all applicable environmental legislation. Work towards ISO 14001 or equivalent. Provide environmental data when requested.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114800" y="3785616"/>
            <a:ext cx="3749040" cy="47548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4" name="Text 21"/>
          <p:cNvSpPr/>
          <p:nvPr/>
        </p:nvSpPr>
        <p:spPr>
          <a:xfrm>
            <a:off x="4206240" y="3785616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ANTI-CORRUPTION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114800" y="4261104"/>
            <a:ext cx="3749040" cy="203911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242816" y="4352544"/>
            <a:ext cx="3493008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bribery, corruption, or facilitation of tax evasion. Comply with the Bribery Act 2010. No facilitation payments in any jurisdiction.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046720" y="3785616"/>
            <a:ext cx="3749040" cy="47548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8" name="Text 25"/>
          <p:cNvSpPr/>
          <p:nvPr/>
        </p:nvSpPr>
        <p:spPr>
          <a:xfrm>
            <a:off x="8138160" y="3785616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SUB-CONTRACTING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8046720" y="4261104"/>
            <a:ext cx="3749040" cy="203911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174736" y="4352544"/>
            <a:ext cx="3493008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sub-contract any element of a nuclear order without our prior written consent. All sub-contractors must meet equivalent standards.</a:t>
            </a:r>
            <a:endParaRPr lang="en-US" sz="1100" dirty="0"/>
          </a:p>
        </p:txBody>
      </p:sp>
      <p:sp>
        <p:nvSpPr>
          <p:cNvPr id="31" name="Rectangle 30"/>
          <p:cNvSpPr/>
          <p:nvPr/>
        </p:nvSpPr>
        <p:spPr>
          <a:xfrm>
            <a:off x="10564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0088" y="100584"/>
            <a:ext cx="566928" cy="347472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2736" y="100584"/>
            <a:ext cx="658368" cy="347472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24128"/>
          </a:xfrm>
          <a:prstGeom prst="rect">
            <a:avLst/>
          </a:prstGeom>
          <a:solidFill>
            <a:srgbClr val="00796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1280160" cy="4297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54864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ENVIRONMENTAL TARGETS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828800" y="621792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[Company Name] is committed to reducing its environmental impact year on year. Here is how we are doing.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82880" y="1115568"/>
            <a:ext cx="2240280" cy="658368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1170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04672" y="11887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 EMISSIONS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4320" y="1810512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1+2 CO2e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74320" y="2167128"/>
            <a:ext cx="2057400" cy="347472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12" name="Text 9"/>
          <p:cNvSpPr/>
          <p:nvPr/>
        </p:nvSpPr>
        <p:spPr>
          <a:xfrm>
            <a:off x="274320" y="216712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74320" y="2514600"/>
            <a:ext cx="2057400" cy="95097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" y="2551176"/>
            <a:ext cx="20574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[X] tCO2e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(Baseline [Year])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74320" y="3538728"/>
            <a:ext cx="2057400" cy="347472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16" name="Text 13"/>
          <p:cNvSpPr/>
          <p:nvPr/>
        </p:nvSpPr>
        <p:spPr>
          <a:xfrm>
            <a:off x="274320" y="353872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74320" y="3886200"/>
            <a:ext cx="2057400" cy="950976"/>
          </a:xfrm>
          <a:prstGeom prst="rect">
            <a:avLst/>
          </a:prstGeom>
          <a:solidFill>
            <a:srgbClr val="E6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3922776"/>
            <a:ext cx="20574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[X] tCO2e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([Year])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274320" y="4910328"/>
            <a:ext cx="2057400" cy="347472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20" name="Text 17"/>
          <p:cNvSpPr/>
          <p:nvPr/>
        </p:nvSpPr>
        <p:spPr>
          <a:xfrm>
            <a:off x="274320" y="491032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74320" y="5257800"/>
            <a:ext cx="2057400" cy="950976"/>
          </a:xfrm>
          <a:prstGeom prst="rect">
            <a:avLst/>
          </a:prstGeom>
          <a:solidFill>
            <a:srgbClr val="E2EFD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" y="5294376"/>
            <a:ext cx="20574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-25%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[Year]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2542032" y="1115568"/>
            <a:ext cx="2240280" cy="65836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24" name="Text 21"/>
          <p:cNvSpPr/>
          <p:nvPr/>
        </p:nvSpPr>
        <p:spPr>
          <a:xfrm>
            <a:off x="2633472" y="1170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3163824" y="11887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USE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2633472" y="1810512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electricity (kWh)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2633472" y="2167128"/>
            <a:ext cx="2057400" cy="347472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28" name="Text 25"/>
          <p:cNvSpPr/>
          <p:nvPr/>
        </p:nvSpPr>
        <p:spPr>
          <a:xfrm>
            <a:off x="2633472" y="216712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2633472" y="2514600"/>
            <a:ext cx="2057400" cy="95097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633472" y="2551176"/>
            <a:ext cx="20574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[X] kWh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(Baseline)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2633472" y="3538728"/>
            <a:ext cx="2057400" cy="347472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32" name="Text 29"/>
          <p:cNvSpPr/>
          <p:nvPr/>
        </p:nvSpPr>
        <p:spPr>
          <a:xfrm>
            <a:off x="2633472" y="353872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2633472" y="3886200"/>
            <a:ext cx="2057400" cy="950976"/>
          </a:xfrm>
          <a:prstGeom prst="rect">
            <a:avLst/>
          </a:prstGeom>
          <a:solidFill>
            <a:srgbClr val="E6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633472" y="3922776"/>
            <a:ext cx="20574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[X] kWh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([Year])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2633472" y="4910328"/>
            <a:ext cx="2057400" cy="347472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36" name="Text 33"/>
          <p:cNvSpPr/>
          <p:nvPr/>
        </p:nvSpPr>
        <p:spPr>
          <a:xfrm>
            <a:off x="2633472" y="491032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2633472" y="5257800"/>
            <a:ext cx="2057400" cy="950976"/>
          </a:xfrm>
          <a:prstGeom prst="rect">
            <a:avLst/>
          </a:prstGeom>
          <a:solidFill>
            <a:srgbClr val="E2EFD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633472" y="5294376"/>
            <a:ext cx="20574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-20%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[Year]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4901184" y="1115568"/>
            <a:ext cx="2240280" cy="65836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0" name="Text 37"/>
          <p:cNvSpPr/>
          <p:nvPr/>
        </p:nvSpPr>
        <p:spPr>
          <a:xfrm>
            <a:off x="4992624" y="1170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♻</a:t>
            </a:r>
            <a:endParaRPr lang="en-US" sz="2600" dirty="0"/>
          </a:p>
        </p:txBody>
      </p:sp>
      <p:sp>
        <p:nvSpPr>
          <p:cNvPr id="41" name="Text 38"/>
          <p:cNvSpPr/>
          <p:nvPr/>
        </p:nvSpPr>
        <p:spPr>
          <a:xfrm>
            <a:off x="5522976" y="11887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TO LANDFILL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4992624" y="1810512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Tonnes to landfill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992624" y="2167128"/>
            <a:ext cx="2057400" cy="34747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4" name="Text 41"/>
          <p:cNvSpPr/>
          <p:nvPr/>
        </p:nvSpPr>
        <p:spPr>
          <a:xfrm>
            <a:off x="4992624" y="216712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4992624" y="2514600"/>
            <a:ext cx="2057400" cy="95097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992624" y="2551176"/>
            <a:ext cx="20574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[X] tonnes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(Baseline)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4992624" y="3538728"/>
            <a:ext cx="2057400" cy="34747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8" name="Text 45"/>
          <p:cNvSpPr/>
          <p:nvPr/>
        </p:nvSpPr>
        <p:spPr>
          <a:xfrm>
            <a:off x="4992624" y="353872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4992624" y="3886200"/>
            <a:ext cx="2057400" cy="950976"/>
          </a:xfrm>
          <a:prstGeom prst="rect">
            <a:avLst/>
          </a:prstGeom>
          <a:solidFill>
            <a:srgbClr val="E6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4992624" y="3922776"/>
            <a:ext cx="20574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[X] tonnes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([Year])</a:t>
            </a:r>
            <a:endParaRPr lang="en-US" sz="1300" dirty="0"/>
          </a:p>
        </p:txBody>
      </p:sp>
      <p:sp>
        <p:nvSpPr>
          <p:cNvPr id="51" name="Shape 48"/>
          <p:cNvSpPr/>
          <p:nvPr/>
        </p:nvSpPr>
        <p:spPr>
          <a:xfrm>
            <a:off x="4992624" y="4910328"/>
            <a:ext cx="2057400" cy="34747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2" name="Text 49"/>
          <p:cNvSpPr/>
          <p:nvPr/>
        </p:nvSpPr>
        <p:spPr>
          <a:xfrm>
            <a:off x="4992624" y="491032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4992624" y="5257800"/>
            <a:ext cx="2057400" cy="950976"/>
          </a:xfrm>
          <a:prstGeom prst="rect">
            <a:avLst/>
          </a:prstGeom>
          <a:solidFill>
            <a:srgbClr val="E2EFD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992624" y="5294376"/>
            <a:ext cx="20574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landfill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[Year]</a:t>
            </a:r>
            <a:endParaRPr lang="en-US" sz="1300" dirty="0"/>
          </a:p>
        </p:txBody>
      </p:sp>
      <p:sp>
        <p:nvSpPr>
          <p:cNvPr id="55" name="Shape 52"/>
          <p:cNvSpPr/>
          <p:nvPr/>
        </p:nvSpPr>
        <p:spPr>
          <a:xfrm>
            <a:off x="7260336" y="1115568"/>
            <a:ext cx="2240280" cy="658368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56" name="Text 53"/>
          <p:cNvSpPr/>
          <p:nvPr/>
        </p:nvSpPr>
        <p:spPr>
          <a:xfrm>
            <a:off x="7351776" y="1170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2600" dirty="0"/>
          </a:p>
        </p:txBody>
      </p:sp>
      <p:sp>
        <p:nvSpPr>
          <p:cNvPr id="57" name="Text 54"/>
          <p:cNvSpPr/>
          <p:nvPr/>
        </p:nvSpPr>
        <p:spPr>
          <a:xfrm>
            <a:off x="7882128" y="11887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RECYCLING RATE</a:t>
            </a:r>
            <a:endParaRPr lang="en-US" sz="1100" dirty="0"/>
          </a:p>
        </p:txBody>
      </p:sp>
      <p:sp>
        <p:nvSpPr>
          <p:cNvPr id="58" name="Text 55"/>
          <p:cNvSpPr/>
          <p:nvPr/>
        </p:nvSpPr>
        <p:spPr>
          <a:xfrm>
            <a:off x="7351776" y="1810512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of waste recycled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7351776" y="2167128"/>
            <a:ext cx="2057400" cy="347472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60" name="Text 57"/>
          <p:cNvSpPr/>
          <p:nvPr/>
        </p:nvSpPr>
        <p:spPr>
          <a:xfrm>
            <a:off x="7351776" y="216712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7351776" y="2514600"/>
            <a:ext cx="2057400" cy="95097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351776" y="2551176"/>
            <a:ext cx="20574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[X%]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(Baseline)</a:t>
            </a:r>
            <a:endParaRPr lang="en-US" sz="1300" dirty="0"/>
          </a:p>
        </p:txBody>
      </p:sp>
      <p:sp>
        <p:nvSpPr>
          <p:cNvPr id="63" name="Shape 60"/>
          <p:cNvSpPr/>
          <p:nvPr/>
        </p:nvSpPr>
        <p:spPr>
          <a:xfrm>
            <a:off x="7351776" y="3538728"/>
            <a:ext cx="2057400" cy="347472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64" name="Text 61"/>
          <p:cNvSpPr/>
          <p:nvPr/>
        </p:nvSpPr>
        <p:spPr>
          <a:xfrm>
            <a:off x="7351776" y="353872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</a:t>
            </a:r>
            <a:endParaRPr lang="en-US" sz="900" dirty="0"/>
          </a:p>
        </p:txBody>
      </p:sp>
      <p:sp>
        <p:nvSpPr>
          <p:cNvPr id="65" name="Shape 62"/>
          <p:cNvSpPr/>
          <p:nvPr/>
        </p:nvSpPr>
        <p:spPr>
          <a:xfrm>
            <a:off x="7351776" y="3886200"/>
            <a:ext cx="2057400" cy="950976"/>
          </a:xfrm>
          <a:prstGeom prst="rect">
            <a:avLst/>
          </a:prstGeom>
          <a:solidFill>
            <a:srgbClr val="E6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7351776" y="3922776"/>
            <a:ext cx="20574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[X%]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([Year])</a:t>
            </a:r>
            <a:endParaRPr lang="en-US" sz="1300" dirty="0"/>
          </a:p>
        </p:txBody>
      </p:sp>
      <p:sp>
        <p:nvSpPr>
          <p:cNvPr id="67" name="Shape 64"/>
          <p:cNvSpPr/>
          <p:nvPr/>
        </p:nvSpPr>
        <p:spPr>
          <a:xfrm>
            <a:off x="7351776" y="4910328"/>
            <a:ext cx="2057400" cy="347472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68" name="Text 65"/>
          <p:cNvSpPr/>
          <p:nvPr/>
        </p:nvSpPr>
        <p:spPr>
          <a:xfrm>
            <a:off x="7351776" y="491032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900" dirty="0"/>
          </a:p>
        </p:txBody>
      </p:sp>
      <p:sp>
        <p:nvSpPr>
          <p:cNvPr id="69" name="Shape 66"/>
          <p:cNvSpPr/>
          <p:nvPr/>
        </p:nvSpPr>
        <p:spPr>
          <a:xfrm>
            <a:off x="7351776" y="5257800"/>
            <a:ext cx="2057400" cy="950976"/>
          </a:xfrm>
          <a:prstGeom prst="rect">
            <a:avLst/>
          </a:prstGeom>
          <a:solidFill>
            <a:srgbClr val="E2EFD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7351776" y="5294376"/>
            <a:ext cx="20574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&gt;80%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[Year]</a:t>
            </a:r>
            <a:endParaRPr lang="en-US" sz="1300" dirty="0"/>
          </a:p>
        </p:txBody>
      </p:sp>
      <p:sp>
        <p:nvSpPr>
          <p:cNvPr id="71" name="Shape 68"/>
          <p:cNvSpPr/>
          <p:nvPr/>
        </p:nvSpPr>
        <p:spPr>
          <a:xfrm>
            <a:off x="9619488" y="1115568"/>
            <a:ext cx="2240280" cy="65836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72" name="Text 69"/>
          <p:cNvSpPr/>
          <p:nvPr/>
        </p:nvSpPr>
        <p:spPr>
          <a:xfrm>
            <a:off x="9710928" y="1170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</a:t>
            </a:r>
            <a:endParaRPr lang="en-US" sz="2600" dirty="0"/>
          </a:p>
        </p:txBody>
      </p:sp>
      <p:sp>
        <p:nvSpPr>
          <p:cNvPr id="73" name="Text 70"/>
          <p:cNvSpPr/>
          <p:nvPr/>
        </p:nvSpPr>
        <p:spPr>
          <a:xfrm>
            <a:off x="10241280" y="11887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SUPPLY CHAIN</a:t>
            </a:r>
            <a:endParaRPr lang="en-US" sz="1100" dirty="0"/>
          </a:p>
        </p:txBody>
      </p:sp>
      <p:sp>
        <p:nvSpPr>
          <p:cNvPr id="74" name="Text 71"/>
          <p:cNvSpPr/>
          <p:nvPr/>
        </p:nvSpPr>
        <p:spPr>
          <a:xfrm>
            <a:off x="9710928" y="1810512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spend within 50 miles</a:t>
            </a:r>
            <a:endParaRPr lang="en-US" sz="950" dirty="0"/>
          </a:p>
        </p:txBody>
      </p:sp>
      <p:sp>
        <p:nvSpPr>
          <p:cNvPr id="75" name="Shape 72"/>
          <p:cNvSpPr/>
          <p:nvPr/>
        </p:nvSpPr>
        <p:spPr>
          <a:xfrm>
            <a:off x="9710928" y="2167128"/>
            <a:ext cx="2057400" cy="347472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76" name="Text 73"/>
          <p:cNvSpPr/>
          <p:nvPr/>
        </p:nvSpPr>
        <p:spPr>
          <a:xfrm>
            <a:off x="9710928" y="216712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900" dirty="0"/>
          </a:p>
        </p:txBody>
      </p:sp>
      <p:sp>
        <p:nvSpPr>
          <p:cNvPr id="77" name="Shape 74"/>
          <p:cNvSpPr/>
          <p:nvPr/>
        </p:nvSpPr>
        <p:spPr>
          <a:xfrm>
            <a:off x="9710928" y="2514600"/>
            <a:ext cx="2057400" cy="95097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9710928" y="2551176"/>
            <a:ext cx="20574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[X%]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(Baseline)</a:t>
            </a:r>
            <a:endParaRPr lang="en-US" sz="1300" dirty="0"/>
          </a:p>
        </p:txBody>
      </p:sp>
      <p:sp>
        <p:nvSpPr>
          <p:cNvPr id="79" name="Shape 76"/>
          <p:cNvSpPr/>
          <p:nvPr/>
        </p:nvSpPr>
        <p:spPr>
          <a:xfrm>
            <a:off x="9710928" y="3538728"/>
            <a:ext cx="2057400" cy="347472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80" name="Text 77"/>
          <p:cNvSpPr/>
          <p:nvPr/>
        </p:nvSpPr>
        <p:spPr>
          <a:xfrm>
            <a:off x="9710928" y="353872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</a:t>
            </a:r>
            <a:endParaRPr lang="en-US" sz="900" dirty="0"/>
          </a:p>
        </p:txBody>
      </p:sp>
      <p:sp>
        <p:nvSpPr>
          <p:cNvPr id="81" name="Shape 78"/>
          <p:cNvSpPr/>
          <p:nvPr/>
        </p:nvSpPr>
        <p:spPr>
          <a:xfrm>
            <a:off x="9710928" y="3886200"/>
            <a:ext cx="2057400" cy="950976"/>
          </a:xfrm>
          <a:prstGeom prst="rect">
            <a:avLst/>
          </a:prstGeom>
          <a:solidFill>
            <a:srgbClr val="E6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9710928" y="3922776"/>
            <a:ext cx="20574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[X%]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([Year])</a:t>
            </a:r>
            <a:endParaRPr lang="en-US" sz="1300" dirty="0"/>
          </a:p>
        </p:txBody>
      </p:sp>
      <p:sp>
        <p:nvSpPr>
          <p:cNvPr id="83" name="Shape 80"/>
          <p:cNvSpPr/>
          <p:nvPr/>
        </p:nvSpPr>
        <p:spPr>
          <a:xfrm>
            <a:off x="9710928" y="4910328"/>
            <a:ext cx="2057400" cy="347472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84" name="Text 81"/>
          <p:cNvSpPr/>
          <p:nvPr/>
        </p:nvSpPr>
        <p:spPr>
          <a:xfrm>
            <a:off x="9710928" y="491032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900" dirty="0"/>
          </a:p>
        </p:txBody>
      </p:sp>
      <p:sp>
        <p:nvSpPr>
          <p:cNvPr id="85" name="Shape 82"/>
          <p:cNvSpPr/>
          <p:nvPr/>
        </p:nvSpPr>
        <p:spPr>
          <a:xfrm>
            <a:off x="9710928" y="5257800"/>
            <a:ext cx="2057400" cy="950976"/>
          </a:xfrm>
          <a:prstGeom prst="rect">
            <a:avLst/>
          </a:prstGeom>
          <a:solidFill>
            <a:srgbClr val="E2EFD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9710928" y="5294376"/>
            <a:ext cx="20574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&gt;55%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[Year]</a:t>
            </a:r>
            <a:endParaRPr lang="en-US" sz="1300" dirty="0"/>
          </a:p>
        </p:txBody>
      </p:sp>
      <p:sp>
        <p:nvSpPr>
          <p:cNvPr id="87" name="Rectangle 86"/>
          <p:cNvSpPr/>
          <p:nvPr/>
        </p:nvSpPr>
        <p:spPr>
          <a:xfrm>
            <a:off x="10564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0088" y="100584"/>
            <a:ext cx="566928" cy="347472"/>
          </a:xfrm>
          <a:prstGeom prst="rect">
            <a:avLst/>
          </a:prstGeom>
        </p:spPr>
      </p:pic>
      <p:pic>
        <p:nvPicPr>
          <p:cNvPr id="89" name="Picture 8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2736" y="100584"/>
            <a:ext cx="658368" cy="347472"/>
          </a:xfrm>
          <a:prstGeom prst="rect">
            <a:avLst/>
          </a:prstGeom>
        </p:spPr>
      </p:pic>
      <p:sp>
        <p:nvSpPr>
          <p:cNvPr id="90" name="Rectangle 89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24128"/>
          </a:xfrm>
          <a:prstGeom prst="rect">
            <a:avLst/>
          </a:prstGeom>
          <a:solidFill>
            <a:srgbClr val="009FE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1280160" cy="4297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54864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PERFORMANCE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828800" y="621792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[Quarter / Month]  |  How we and our key suppliers are performing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82880" y="1097280"/>
            <a:ext cx="3749040" cy="47548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109728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82880" y="1572768"/>
            <a:ext cx="3749040" cy="210312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160934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First Time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4320" y="1874520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[X%]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274320" y="272491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&gt;97%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" y="298094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last quarter  [↑↓→]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114800" y="1097280"/>
            <a:ext cx="3749040" cy="47548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5" name="Text 12"/>
          <p:cNvSpPr/>
          <p:nvPr/>
        </p:nvSpPr>
        <p:spPr>
          <a:xfrm>
            <a:off x="4206240" y="109728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114800" y="1572768"/>
            <a:ext cx="3749040" cy="210312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06240" y="160934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OTIF %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206240" y="1874520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[X%]</a:t>
            </a: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4206240" y="272491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95%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206240" y="298094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last quarter  [↑↓→]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046720" y="1097280"/>
            <a:ext cx="3749040" cy="47548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2" name="Text 19"/>
          <p:cNvSpPr/>
          <p:nvPr/>
        </p:nvSpPr>
        <p:spPr>
          <a:xfrm>
            <a:off x="8138160" y="109728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8046720" y="1572768"/>
            <a:ext cx="3749040" cy="210312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38160" y="160934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risks open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138160" y="1874520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[X]</a:t>
            </a:r>
            <a:endParaRPr lang="en-US" sz="3600" dirty="0"/>
          </a:p>
        </p:txBody>
      </p:sp>
      <p:sp>
        <p:nvSpPr>
          <p:cNvPr id="26" name="Text 23"/>
          <p:cNvSpPr/>
          <p:nvPr/>
        </p:nvSpPr>
        <p:spPr>
          <a:xfrm>
            <a:off x="8138160" y="272491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0 unmitigated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8138160" y="298094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Mitigations in progress  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182880" y="3822192"/>
            <a:ext cx="3749040" cy="47548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9" name="Text 26"/>
          <p:cNvSpPr/>
          <p:nvPr/>
        </p:nvSpPr>
        <p:spPr>
          <a:xfrm>
            <a:off x="274320" y="3822192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182880" y="4297680"/>
            <a:ext cx="3749040" cy="210312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74320" y="433425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Corrective actions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274320" y="4599432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[X]</a:t>
            </a:r>
            <a:endParaRPr lang="en-US" sz="3600" dirty="0"/>
          </a:p>
        </p:txBody>
      </p:sp>
      <p:sp>
        <p:nvSpPr>
          <p:cNvPr id="33" name="Text 30"/>
          <p:cNvSpPr/>
          <p:nvPr/>
        </p:nvSpPr>
        <p:spPr>
          <a:xfrm>
            <a:off x="274320" y="544982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All closed &lt;30 days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274320" y="570585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[X] overdue  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4114800" y="3822192"/>
            <a:ext cx="3749040" cy="475488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36" name="Text 33"/>
          <p:cNvSpPr/>
          <p:nvPr/>
        </p:nvSpPr>
        <p:spPr>
          <a:xfrm>
            <a:off x="4206240" y="3822192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4114800" y="4297680"/>
            <a:ext cx="3749040" cy="210312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206240" y="433425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within 50 miles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4206240" y="4599432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[X%]</a:t>
            </a:r>
            <a:endParaRPr lang="en-US" sz="3600" dirty="0"/>
          </a:p>
        </p:txBody>
      </p:sp>
      <p:sp>
        <p:nvSpPr>
          <p:cNvPr id="40" name="Text 37"/>
          <p:cNvSpPr/>
          <p:nvPr/>
        </p:nvSpPr>
        <p:spPr>
          <a:xfrm>
            <a:off x="4206240" y="544982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&gt;50%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4206240" y="570585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baseline  [↑↓→]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8046720" y="3822192"/>
            <a:ext cx="3749040" cy="47548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3" name="Text 40"/>
          <p:cNvSpPr/>
          <p:nvPr/>
        </p:nvSpPr>
        <p:spPr>
          <a:xfrm>
            <a:off x="8138160" y="3822192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SUPPLIERS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8046720" y="4297680"/>
            <a:ext cx="3749040" cy="210312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138160" y="433425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ASL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8138160" y="4599432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[X]</a:t>
            </a:r>
            <a:endParaRPr lang="en-US" sz="3600" dirty="0"/>
          </a:p>
        </p:txBody>
      </p:sp>
      <p:sp>
        <p:nvSpPr>
          <p:cNvPr id="47" name="Text 44"/>
          <p:cNvSpPr/>
          <p:nvPr/>
        </p:nvSpPr>
        <p:spPr>
          <a:xfrm>
            <a:off x="8138160" y="544982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nuclear purchases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8138160" y="570585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[X] up for review  </a:t>
            </a:r>
            <a:endParaRPr lang="en-US" sz="950" dirty="0"/>
          </a:p>
        </p:txBody>
      </p:sp>
      <p:sp>
        <p:nvSpPr>
          <p:cNvPr id="49" name="Rectangle 48"/>
          <p:cNvSpPr/>
          <p:nvPr/>
        </p:nvSpPr>
        <p:spPr>
          <a:xfrm>
            <a:off x="10564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0088" y="100584"/>
            <a:ext cx="566928" cy="347472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2736" y="100584"/>
            <a:ext cx="658368" cy="347472"/>
          </a:xfrm>
          <a:prstGeom prst="rect">
            <a:avLst/>
          </a:prstGeom>
        </p:spPr>
      </p:pic>
      <p:sp>
        <p:nvSpPr>
          <p:cNvPr id="52" name="Rectangle 5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53F6056AA6464A99729F79B34ECED9" ma:contentTypeVersion="15" ma:contentTypeDescription="Create a new document." ma:contentTypeScope="" ma:versionID="5f61f7f6e9ac7af992ae58f204f4a905">
  <xsd:schema xmlns:xsd="http://www.w3.org/2001/XMLSchema" xmlns:xs="http://www.w3.org/2001/XMLSchema" xmlns:p="http://schemas.microsoft.com/office/2006/metadata/properties" xmlns:ns2="ecb9c8fd-b149-4da5-ae47-4cb2a6f921f7" xmlns:ns3="a57c75ee-0d51-4c06-b83a-21883992ef88" targetNamespace="http://schemas.microsoft.com/office/2006/metadata/properties" ma:root="true" ma:fieldsID="5bd49160a10d99efc7c2a57519ff9fe8" ns2:_="" ns3:_="">
    <xsd:import namespace="ecb9c8fd-b149-4da5-ae47-4cb2a6f921f7"/>
    <xsd:import namespace="a57c75ee-0d51-4c06-b83a-21883992ef88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9c8fd-b149-4da5-ae47-4cb2a6f921f7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20" nillable="true" ma:displayName="Taxonomy Catch All Column" ma:hidden="true" ma:list="{3bbffa37-1fb4-4f8b-a66f-2651692f13f0}" ma:internalName="TaxCatchAll" ma:showField="CatchAllData" ma:web="ecb9c8fd-b149-4da5-ae47-4cb2a6f921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7c75ee-0d51-4c06-b83a-21883992ef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323488a-041b-479c-b98c-53326eeb9f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b9c8fd-b149-4da5-ae47-4cb2a6f921f7" xsi:nil="true"/>
    <lcf76f155ced4ddcb4097134ff3c332f xmlns="a57c75ee-0d51-4c06-b83a-21883992ef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967295C-59CE-411C-993C-24F4D446A2CD}"/>
</file>

<file path=customXml/itemProps2.xml><?xml version="1.0" encoding="utf-8"?>
<ds:datastoreItem xmlns:ds="http://schemas.openxmlformats.org/officeDocument/2006/customXml" ds:itemID="{8C204BDB-8C1A-48B3-B216-D096AC52E6E6}"/>
</file>

<file path=customXml/itemProps3.xml><?xml version="1.0" encoding="utf-8"?>
<ds:datastoreItem xmlns:ds="http://schemas.openxmlformats.org/officeDocument/2006/customXml" ds:itemID="{7BD84E3B-33F1-47DB-B41D-2593B666A5C6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SC-SV-12 Display Board Posters</dc:title>
  <dc:creator>John Hilton-Brammer</dc:creator>
  <cp:lastModifiedBy>John Hilton-Brammer</cp:lastModifiedBy>
  <dcterms:created xsi:type="dcterms:W3CDTF">2026-07-01T07:45:32Z</dcterms:created>
  <dcterms:modified xsi:type="dcterms:W3CDTF">2026-07-01T07:45:32Z</dcterms:modified>
  <cp:category>Fit For Nuclear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0x0101002453F6056AA6464A99729F79B34ECED9</vt:lpwstr>
  </property>
</Properties>
</file>