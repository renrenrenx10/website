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and Social Values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manage our supply chain, create social value, and meet our ethical responsibilities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and Social Values: The 10 Assessment Areas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F4N assessment covers 10 questions across supply chain management and social values. This guide explains each area and what good looks like.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07008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" y="1207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Supply Chain Performance Metrics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82880" y="1591056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" y="1664208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metrics for benchmarking and improvement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947672" y="1207008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2002536" y="1207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Supplier Relationship Management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947672" y="1591056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02536" y="1664208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not transactional. Joint improvement plans.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12464" y="1207008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3767328" y="1207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Cost Analysis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712464" y="1591056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664208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not just unit price. Best value assessment.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77256" y="1207008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5532120" y="1207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Supply Chain Risk Management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77256" y="1591056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32120" y="1664208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Proactive. Documented. Mitigation plans in place.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242048" y="1207008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7296912" y="1207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Digital Transformation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242048" y="1591056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96912" y="1664208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in supply chain decision-making.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82880" y="2962656"/>
            <a:ext cx="1664208" cy="38404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9" name="Text 26"/>
          <p:cNvSpPr/>
          <p:nvPr/>
        </p:nvSpPr>
        <p:spPr>
          <a:xfrm>
            <a:off x="237744" y="29626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Community Engagement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82880" y="3346704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7744" y="3419856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contribution to local community.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947672" y="2962656"/>
            <a:ext cx="1664208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3" name="Text 30"/>
          <p:cNvSpPr/>
          <p:nvPr/>
        </p:nvSpPr>
        <p:spPr>
          <a:xfrm>
            <a:off x="2002536" y="29626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Ethical Sourcing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947672" y="3346704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02536" y="3419856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Code of Conduct. Due diligence. Transparency.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712464" y="2962656"/>
            <a:ext cx="1664208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Text 34"/>
          <p:cNvSpPr/>
          <p:nvPr/>
        </p:nvSpPr>
        <p:spPr>
          <a:xfrm>
            <a:off x="3767328" y="29626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Environmental Sustainability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712464" y="3346704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67328" y="3419856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Targets, reporting, and continuous improvement.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77256" y="2962656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1" name="Text 38"/>
          <p:cNvSpPr/>
          <p:nvPr/>
        </p:nvSpPr>
        <p:spPr>
          <a:xfrm>
            <a:off x="5532120" y="29626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Diversity and Inclusion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477256" y="3346704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3419856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opportunity. Data-driven. Culture of respect.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242048" y="2962656"/>
            <a:ext cx="1664208" cy="38404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29626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Labour Standards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242048" y="3346704"/>
            <a:ext cx="1664208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96912" y="3419856"/>
            <a:ext cx="1554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wages, safe conditions, no forced labour, modern slavery.</a:t>
            </a:r>
            <a:endParaRPr lang="en-US" sz="900" dirty="0"/>
          </a:p>
        </p:txBody>
      </p:sp>
      <p:sp>
        <p:nvSpPr>
          <p:cNvPr id="48" name="Rectangle 4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Performance Metrics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assessor wants to see a robust set of supply chain metrics used for benchmarking, improvement, and communication with suppliers. Not just internal data.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61872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" y="12618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1645920"/>
            <a:ext cx="1664208" cy="30449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719072"/>
            <a:ext cx="151790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First Time % (RFT)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 rate (internal vs supplier)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Poor Quality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non-conformance rate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47672" y="1261872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2002536" y="12618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947672" y="1645920"/>
            <a:ext cx="1664208" cy="30449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20824" y="1719072"/>
            <a:ext cx="151790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 In Full % (OTIF)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adherence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delivery reliability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12464" y="1261872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7" name="Text 14"/>
          <p:cNvSpPr/>
          <p:nvPr/>
        </p:nvSpPr>
        <p:spPr>
          <a:xfrm>
            <a:off x="3767328" y="12618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712464" y="1645920"/>
            <a:ext cx="1664208" cy="30449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85616" y="1719072"/>
            <a:ext cx="151790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of Ownership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vs target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stability 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achieved (£)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77256" y="1261872"/>
            <a:ext cx="1664208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8"/>
          <p:cNvSpPr/>
          <p:nvPr/>
        </p:nvSpPr>
        <p:spPr>
          <a:xfrm>
            <a:off x="5532120" y="12618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77256" y="1645920"/>
            <a:ext cx="1664208" cy="30449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0408" y="1719072"/>
            <a:ext cx="151790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scores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 raised and closed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development actions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42048" y="1261872"/>
            <a:ext cx="1664208" cy="38404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5" name="Text 22"/>
          <p:cNvSpPr/>
          <p:nvPr/>
        </p:nvSpPr>
        <p:spPr>
          <a:xfrm>
            <a:off x="7296912" y="12618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Value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42048" y="1645920"/>
            <a:ext cx="1664208" cy="30449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0" y="1719072"/>
            <a:ext cx="151790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hours volunteered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supply chain 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Apprentices employed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reduction %</a:t>
            </a:r>
            <a:endParaRPr lang="en-US" sz="950" dirty="0"/>
          </a:p>
        </p:txBody>
      </p:sp>
      <p:sp>
        <p:nvSpPr>
          <p:cNvPr id="28" name="Rectangle 2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Relationships and Risk Management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questions are linked. Strategic relationships reduce risk. Transactional relationships increase it.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07008"/>
            <a:ext cx="210312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" y="12070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0-2)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1682496"/>
            <a:ext cx="2103120" cy="2953512"/>
          </a:xfrm>
          <a:prstGeom prst="rect">
            <a:avLst/>
          </a:prstGeom>
          <a:solidFill>
            <a:srgbClr val="FCE4D6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755648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placed. Invoice paid. No further contact.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supplier failure is a surprise. No joint improvement. No forward visibility.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77440" y="1207008"/>
            <a:ext cx="2103120" cy="47548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432304" y="12070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3-5)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77440" y="1682496"/>
            <a:ext cx="2103120" cy="2953512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1755648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contact on live orders. Performance issues discussed reactively.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relationship is reactive, not proactive. Little strategic alignment.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1207008"/>
            <a:ext cx="210312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4626864" y="12070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6-8)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0" y="1682496"/>
            <a:ext cx="2103120" cy="2953512"/>
          </a:xfrm>
          <a:prstGeom prst="rect">
            <a:avLst/>
          </a:prstGeom>
          <a:solidFill>
            <a:srgbClr val="E6F4FB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1755648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performance reviews. Scorecard shared. Some joint improvement activity.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but still primarily focused on current contracts.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66560" y="1207008"/>
            <a:ext cx="2103120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8"/>
          <p:cNvSpPr/>
          <p:nvPr/>
        </p:nvSpPr>
        <p:spPr>
          <a:xfrm>
            <a:off x="6821424" y="12070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9-10)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6560" y="1682496"/>
            <a:ext cx="2103120" cy="2953512"/>
          </a:xfrm>
          <a:prstGeom prst="rect">
            <a:avLst/>
          </a:prstGeom>
          <a:solidFill>
            <a:srgbClr val="E2EFD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1755648"/>
            <a:ext cx="19202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Senior-to-senior relationships. Joint improvement plans. Forward pipeline shared. Risk managed collaboratively. Innovation discussed.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F4N wants to see your Tier 1 suppliers.</a:t>
            </a:r>
            <a:endParaRPr lang="en-US" sz="950" dirty="0"/>
          </a:p>
        </p:txBody>
      </p:sp>
      <p:sp>
        <p:nvSpPr>
          <p:cNvPr id="24" name="Rectangle 2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Analysis: Total Cost of Ownership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assessor asks whether you can differentiate between unit cost, total cost, and value for money. A decision based only on unit price is not best value.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61872"/>
            <a:ext cx="2743200" cy="4389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" y="126187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PRICE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" y="1700784"/>
            <a:ext cx="2743200" cy="2944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773936"/>
            <a:ext cx="256032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on the invoice.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starting point, not the end point.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2880" y="4645152"/>
            <a:ext cx="2743200" cy="2743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37744" y="4663440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price does not mean lowest cost.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08960" y="1261872"/>
            <a:ext cx="2743200" cy="43891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3182112" y="126187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OF OWNERSHIP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08960" y="1700784"/>
            <a:ext cx="2743200" cy="2944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0" y="1773936"/>
            <a:ext cx="256032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price PLUS: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Freight and packaging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Goods receipt / inspection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Certificate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NCR and rework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Buffer stock holding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Supplier management time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08960" y="4645152"/>
            <a:ext cx="2743200" cy="2743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3163824" y="4663440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is the real cost of buying from a supplier.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35040" y="1261872"/>
            <a:ext cx="2743200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6108192" y="126187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35040" y="1700784"/>
            <a:ext cx="2743200" cy="2944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1773936"/>
            <a:ext cx="256032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PLUS qualitative factors: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Quality system maturity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Nuclear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Delivery reliability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Financial stability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Environmental / social value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4645152"/>
            <a:ext cx="274320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5" name="Text 22"/>
          <p:cNvSpPr/>
          <p:nvPr/>
        </p:nvSpPr>
        <p:spPr>
          <a:xfrm>
            <a:off x="6089904" y="4663440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 = right outcome at right total cost. Not cheapest.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in the Supply Chain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assessor assesses how digital technology is used to inform supply chain decisions. From manual spreadsheets to AI-driven automation.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07008"/>
            <a:ext cx="228600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20700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0-2)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Manual/Paper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51760" y="1207008"/>
            <a:ext cx="62179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126187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and email. No integrated systems.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1956816"/>
            <a:ext cx="228600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95681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3-4)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Digital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51760" y="1956816"/>
            <a:ext cx="62179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0" y="20116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or MRP in use but not integrated. Processes still largely manual.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706624"/>
            <a:ext cx="2286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270662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5-6)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Integrated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651760" y="2706624"/>
            <a:ext cx="62179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276148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linked to accounts. QMS in place. Some automation.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456432"/>
            <a:ext cx="2286000" cy="65836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345643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7-8)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Integrated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651760" y="3456432"/>
            <a:ext cx="62179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0" y="351129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QMS, supplier portal integrated. Real-time data visibility.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4206240"/>
            <a:ext cx="228600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2062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9-10)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651760" y="4206240"/>
            <a:ext cx="62179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0" y="426110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analytics. AI demand planning. Automated alerts. Digital twin.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 and Social Responsibility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 is assessed on whether it is systematic, leadership-supported, and generating measurable social value — not ad hoc or accidental.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1207008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" y="12070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591056"/>
            <a:ext cx="2743200" cy="133502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" y="166420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visits, college partnerships, STEM ambassador activities, nuclear career outreach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1207008"/>
            <a:ext cx="27432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3227832" y="12070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Apprenticeships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1591056"/>
            <a:ext cx="2743200" cy="133502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66420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apprentice recruitment, T-level placements, work experience programmes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1207008"/>
            <a:ext cx="2743200" cy="38404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7" name="Text 14"/>
          <p:cNvSpPr/>
          <p:nvPr/>
        </p:nvSpPr>
        <p:spPr>
          <a:xfrm>
            <a:off x="6153912" y="12070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1591056"/>
            <a:ext cx="2743200" cy="133502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166420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volunteering days, charity fundraising, community clean-up activities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3035808"/>
            <a:ext cx="27432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" y="30358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Procurement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3419856"/>
            <a:ext cx="2743200" cy="133502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" y="349300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Preferencing local suppliers. Local employment. Keeping spend in the community.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54680" y="3035808"/>
            <a:ext cx="274320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2"/>
          <p:cNvSpPr/>
          <p:nvPr/>
        </p:nvSpPr>
        <p:spPr>
          <a:xfrm>
            <a:off x="3227832" y="30358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Charitable Support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154680" y="3419856"/>
            <a:ext cx="2743200" cy="133502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349300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Sponsorship, donations, fundraising for local charities and community organisations.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3035808"/>
            <a:ext cx="2743200" cy="38404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9" name="Text 26"/>
          <p:cNvSpPr/>
          <p:nvPr/>
        </p:nvSpPr>
        <p:spPr>
          <a:xfrm>
            <a:off x="6153912" y="30358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Engagement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80760" y="3419856"/>
            <a:ext cx="2743200" cy="133502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53912" y="349300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supply chain events, F4N engagement, industry body participation.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Sourcing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sourcing means ensuring that the goods and services we buy are produced under fair and legal conditions, with full transparency about where they come from.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416052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2344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Code of Conduct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618488"/>
            <a:ext cx="4160520" cy="7589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691640"/>
            <a:ext cx="3977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strategic suppliers sign our Code of Conduct covering quality, labour, environment, and anti-corruption.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7720" y="1234440"/>
            <a:ext cx="416052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Due Diligence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1618488"/>
            <a:ext cx="4160520" cy="7589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1691640"/>
            <a:ext cx="3977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approving a new supplier: quality system check, ethical trading, financial stability, labour standards.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468880"/>
            <a:ext cx="416052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24688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Slavery Prevention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852928"/>
            <a:ext cx="4160520" cy="7589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2926080"/>
            <a:ext cx="3977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forced, trafficked, or child labour in our supply chain. Annual supply chain risk assessment published.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17720" y="2468880"/>
            <a:ext cx="416052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1" name="Text 18"/>
          <p:cNvSpPr/>
          <p:nvPr/>
        </p:nvSpPr>
        <p:spPr>
          <a:xfrm>
            <a:off x="4709160" y="24688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 Prevention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2852928"/>
            <a:ext cx="4160520" cy="7589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2926080"/>
            <a:ext cx="3977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Counterfeit, Fraudulent, and Suspect Items are an ethical as well as quality issue. Zero tolerance.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3703320"/>
            <a:ext cx="416052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37033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4087368"/>
            <a:ext cx="4160520" cy="7589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160520"/>
            <a:ext cx="3977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mapping available for nuclear customers. Traceability to material source for safety-classified items.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17720" y="3703320"/>
            <a:ext cx="416052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9" name="Text 26"/>
          <p:cNvSpPr/>
          <p:nvPr/>
        </p:nvSpPr>
        <p:spPr>
          <a:xfrm>
            <a:off x="4709160" y="37033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Anti-Corruption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17720" y="4087368"/>
            <a:ext cx="4160520" cy="7589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9160" y="4160520"/>
            <a:ext cx="3977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comply with the Bribery Act 2010. No facilitation payments. No gifts beyond policy limits.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Sustainability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sustainability is assessed on whether it is integrated into operations with measurable targets and regular reporting — not just a policy on a shelf.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1207008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" y="12070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and Carbon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591056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" y="1664208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energy use and Scope 1/2 carbon. Set annual reduction targets. Report in management review.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1207008"/>
            <a:ext cx="27432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3227832" y="12070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1591056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664208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Minimise waste to landfill. Segregated recycling. Metal swarf recycled. Hazardous waste via licensed contractor.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1207008"/>
            <a:ext cx="2743200" cy="38404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7" name="Text 14"/>
          <p:cNvSpPr/>
          <p:nvPr/>
        </p:nvSpPr>
        <p:spPr>
          <a:xfrm>
            <a:off x="6153912" y="120700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1591056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1664208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water consumption. Set reduction targets. Report annually.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3017520"/>
            <a:ext cx="274320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" y="301752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3401568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" y="3474720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business travel. Fleet decarbonisation plan. Encourage active travel.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54680" y="3017520"/>
            <a:ext cx="2743200" cy="38404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5" name="Text 22"/>
          <p:cNvSpPr/>
          <p:nvPr/>
        </p:nvSpPr>
        <p:spPr>
          <a:xfrm>
            <a:off x="3227832" y="301752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154680" y="3401568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3474720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Tier 1 suppliers to provide environmental data. ISO 14001 as qualification criterion.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3017520"/>
            <a:ext cx="27432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/>
          <p:nvPr/>
        </p:nvSpPr>
        <p:spPr>
          <a:xfrm>
            <a:off x="6153912" y="301752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14001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80760" y="3401568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53912" y="3474720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towards or holding ISO 14001:2015 certification. Use our readiness assessment (SC-SV-08) as a roadmap.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Diversity, Inclusion, and Labour Standards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questions assess whether the company treats people fairly — its own employees and those in its supply chain.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1170432"/>
            <a:ext cx="2743200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" y="117043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and Inclusion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" y="1609344"/>
            <a:ext cx="274320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700784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" y="166420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 Act 2010 compliance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203704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" y="216712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recruitment practices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706624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" y="267004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data monitored annually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209544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" y="31729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D&amp;I training for all managers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712464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" y="367588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pay gap monitored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4215384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" y="417880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for discrimination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54680" y="1170432"/>
            <a:ext cx="2743200" cy="4389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Text 21"/>
          <p:cNvSpPr/>
          <p:nvPr/>
        </p:nvSpPr>
        <p:spPr>
          <a:xfrm>
            <a:off x="3227832" y="117043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 Standards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154680" y="1609344"/>
            <a:ext cx="274320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1700784"/>
            <a:ext cx="256032" cy="2560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7" name="Text 24"/>
          <p:cNvSpPr/>
          <p:nvPr/>
        </p:nvSpPr>
        <p:spPr>
          <a:xfrm>
            <a:off x="3557016" y="166420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Living Wage as minimum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46120" y="2203704"/>
            <a:ext cx="256032" cy="2560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9" name="Text 26"/>
          <p:cNvSpPr/>
          <p:nvPr/>
        </p:nvSpPr>
        <p:spPr>
          <a:xfrm>
            <a:off x="3557016" y="216712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Time Regulations compliance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46120" y="2706624"/>
            <a:ext cx="256032" cy="2560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Text 28"/>
          <p:cNvSpPr/>
          <p:nvPr/>
        </p:nvSpPr>
        <p:spPr>
          <a:xfrm>
            <a:off x="3557016" y="267004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and lawful working conditions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46120" y="3209544"/>
            <a:ext cx="256032" cy="2560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3" name="Text 30"/>
          <p:cNvSpPr/>
          <p:nvPr/>
        </p:nvSpPr>
        <p:spPr>
          <a:xfrm>
            <a:off x="3557016" y="31729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of association respected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46120" y="3712464"/>
            <a:ext cx="256032" cy="2560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32"/>
          <p:cNvSpPr/>
          <p:nvPr/>
        </p:nvSpPr>
        <p:spPr>
          <a:xfrm>
            <a:off x="3557016" y="367588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forced or child labour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46120" y="4215384"/>
            <a:ext cx="256032" cy="2560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7" name="Text 34"/>
          <p:cNvSpPr/>
          <p:nvPr/>
        </p:nvSpPr>
        <p:spPr>
          <a:xfrm>
            <a:off x="3557016" y="417880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and transparent pay statements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80760" y="1170432"/>
            <a:ext cx="2743200" cy="4389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" name="Text 36"/>
          <p:cNvSpPr/>
          <p:nvPr/>
        </p:nvSpPr>
        <p:spPr>
          <a:xfrm>
            <a:off x="6153912" y="117043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Slavery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080760" y="1609344"/>
            <a:ext cx="274320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72200" y="1700784"/>
            <a:ext cx="256032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2" name="Text 39"/>
          <p:cNvSpPr/>
          <p:nvPr/>
        </p:nvSpPr>
        <p:spPr>
          <a:xfrm>
            <a:off x="6483096" y="166420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Slavery Act 2015 compliance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172200" y="2203704"/>
            <a:ext cx="256032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4" name="Text 41"/>
          <p:cNvSpPr/>
          <p:nvPr/>
        </p:nvSpPr>
        <p:spPr>
          <a:xfrm>
            <a:off x="6483096" y="216712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statement published (&gt;£36m)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172200" y="2706624"/>
            <a:ext cx="256032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6" name="Text 43"/>
          <p:cNvSpPr/>
          <p:nvPr/>
        </p:nvSpPr>
        <p:spPr>
          <a:xfrm>
            <a:off x="6483096" y="267004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assessment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172200" y="3209544"/>
            <a:ext cx="256032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8" name="Text 45"/>
          <p:cNvSpPr/>
          <p:nvPr/>
        </p:nvSpPr>
        <p:spPr>
          <a:xfrm>
            <a:off x="6483096" y="317296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Code of Conduct requirement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172200" y="3712464"/>
            <a:ext cx="256032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0" name="Text 47"/>
          <p:cNvSpPr/>
          <p:nvPr/>
        </p:nvSpPr>
        <p:spPr>
          <a:xfrm>
            <a:off x="6483096" y="367588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training on indicators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172200" y="4215384"/>
            <a:ext cx="256032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2" name="Text 49"/>
          <p:cNvSpPr/>
          <p:nvPr/>
        </p:nvSpPr>
        <p:spPr>
          <a:xfrm>
            <a:off x="6483096" y="4178808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reporting mechanism</a:t>
            </a:r>
            <a:endParaRPr lang="en-US" sz="1000" dirty="0"/>
          </a:p>
        </p:txBody>
      </p:sp>
      <p:sp>
        <p:nvSpPr>
          <p:cNvPr id="53" name="Rectangle 5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Supply Chain and Social Values Toolkit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documents cover all 10 F4N assessment questions. Use them as live operational tools.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097280"/>
            <a:ext cx="1188720" cy="74980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19456" y="1097280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371600" y="1097280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1133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Supplier List and Scorecard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63040" y="14081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ASL, quarterly scorecard, SCAR log. Core supply chain evidence.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1188720" cy="74980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1097280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52160" y="1097280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1133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Register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0" y="14081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matrix, mitigation tracker, review schedule.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82880" y="1901952"/>
            <a:ext cx="1188720" cy="74980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219456" y="1901952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SC-SV-03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71600" y="1901952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63040" y="1938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and Cost Analysis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463040" y="22128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model, best value assessment, cost reduction tracker.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1901952"/>
            <a:ext cx="1188720" cy="74980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4700016" y="1901952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SC-SV-04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852160" y="1901952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1938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Relationship Management Plan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43600" y="22128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cadence, joint improvement, communication log.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82880" y="2706624"/>
            <a:ext cx="1188720" cy="74980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9" name="Text 26"/>
          <p:cNvSpPr/>
          <p:nvPr/>
        </p:nvSpPr>
        <p:spPr>
          <a:xfrm>
            <a:off x="219456" y="2706624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SC-SV-05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371600" y="2706624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63040" y="27432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Register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463040" y="3017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inventory, roadmap, maturity assessment.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2706624"/>
            <a:ext cx="1188720" cy="74980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4" name="Text 31"/>
          <p:cNvSpPr/>
          <p:nvPr/>
        </p:nvSpPr>
        <p:spPr>
          <a:xfrm>
            <a:off x="4700016" y="2706624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SC-SV-06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852160" y="2706624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27432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Value and Ethical Sourcing Policy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43600" y="3017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social value commitments. Supplier Code of Conduct.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82880" y="3511296"/>
            <a:ext cx="1188720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6"/>
          <p:cNvSpPr/>
          <p:nvPr/>
        </p:nvSpPr>
        <p:spPr>
          <a:xfrm>
            <a:off x="219456" y="3511296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SC-SV-07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371600" y="3511296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463040" y="3547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Value Action Plan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463040" y="3822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log, metrics, D&amp;I data, action plan.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663440" y="3511296"/>
            <a:ext cx="1188720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Text 41"/>
          <p:cNvSpPr/>
          <p:nvPr/>
        </p:nvSpPr>
        <p:spPr>
          <a:xfrm>
            <a:off x="4700016" y="3511296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SC-SV-08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852160" y="3511296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43600" y="3547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Sustainability Plan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943600" y="3822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Targets, action plan, monthly log, ISO 14001 readiness.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82880" y="4315968"/>
            <a:ext cx="1188720" cy="74980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9" name="Text 46"/>
          <p:cNvSpPr/>
          <p:nvPr/>
        </p:nvSpPr>
        <p:spPr>
          <a:xfrm>
            <a:off x="219456" y="4315968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SC-SV-09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1371600" y="4315968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463040" y="4352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and Inclusion Framework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663440" y="4315968"/>
            <a:ext cx="1188720" cy="74980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4" name="Text 51"/>
          <p:cNvSpPr/>
          <p:nvPr/>
        </p:nvSpPr>
        <p:spPr>
          <a:xfrm>
            <a:off x="4700016" y="4315968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SC-SV-10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5852160" y="4315968"/>
            <a:ext cx="31089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943600" y="4352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 Standards and Modern Slavery Statement</a:t>
            </a:r>
            <a:endParaRPr lang="en-US" sz="950" dirty="0"/>
          </a:p>
        </p:txBody>
      </p:sp>
      <p:sp>
        <p:nvSpPr>
          <p:cNvPr id="57" name="Rectangle 5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and Social Values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993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remember: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39572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great supply chain is strategic, not transactional.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 is not the same as lowest price.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value is measured, not assumed.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Speak to the Procurement or Operations Manager.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  |  [Company Name]  |  [Date]</a:t>
            </a:r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9C049C-ED0C-4455-AE95-37E4B57BBD77}"/>
</file>

<file path=customXml/itemProps2.xml><?xml version="1.0" encoding="utf-8"?>
<ds:datastoreItem xmlns:ds="http://schemas.openxmlformats.org/officeDocument/2006/customXml" ds:itemID="{BA14CCFC-59F2-454D-8024-8F6612E36372}"/>
</file>

<file path=customXml/itemProps3.xml><?xml version="1.0" encoding="utf-8"?>
<ds:datastoreItem xmlns:ds="http://schemas.openxmlformats.org/officeDocument/2006/customXml" ds:itemID="{2ACAD4F2-4D2B-4283-A4EC-992860C1321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SC-SV-11 Supply Chain Social Values Training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