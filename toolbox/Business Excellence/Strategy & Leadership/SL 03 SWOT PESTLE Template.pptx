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media/image1.jpg" ContentType="image/jpg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459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182880" y="0"/>
            <a:ext cx="73152" cy="514350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 &amp; PESTLE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TEMPLATE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F4N Strategy &amp; Leadership  |  SL-03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[Company Name]  |  [Year]</a:t>
            </a:r>
            <a:endParaRPr lang="en-US" sz="1200" dirty="0"/>
          </a:p>
        </p:txBody>
      </p:sp>
      <p:sp>
        <p:nvSpPr>
          <p:cNvPr id="8" name="Rectangle 7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228600" y="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 Analysis  —  [Company Name]  |  [Year]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37160" y="749808"/>
            <a:ext cx="4297680" cy="32918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37160" y="749808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 ✚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37160" y="1078992"/>
            <a:ext cx="4297680" cy="1664208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228600" y="11155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Experienced manufacturing team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28600" y="14447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ISO 9001 certified processes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28600" y="177393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Strong existing customer relationships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28600" y="2103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Modern CNC machining capability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28600" y="243230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Track record in defence/aerospace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63440" y="749808"/>
            <a:ext cx="429768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4663440" y="749808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 ✖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63440" y="1078992"/>
            <a:ext cx="4297680" cy="1664208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4754880" y="11155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nuclear sector track record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754880" y="14447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Limited awareness of nuclear requirements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754880" y="177393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Gap in nuclear quality procedures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754880" y="2103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CFSI process in place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754880" y="243230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Leadership succession not planned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137160" y="2880360"/>
            <a:ext cx="4297680" cy="329184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137160" y="2880360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 ▲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37160" y="3209544"/>
            <a:ext cx="4297680" cy="1664208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228600" y="3246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UK nuclear new build pipeline (HPC, SZC, SMR)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228600" y="357530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F4N programme support and certification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28600" y="39044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NucCol supply chain connections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228600" y="42336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Nuclear premium pricing vs other sectors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663440" y="2880360"/>
            <a:ext cx="4297680" cy="329184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29"/>
          <p:cNvSpPr/>
          <p:nvPr/>
        </p:nvSpPr>
        <p:spPr>
          <a:xfrm>
            <a:off x="4663440" y="2880360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 ▼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663440" y="3209544"/>
            <a:ext cx="4297680" cy="1664208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4754880" y="3246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Long nuclear qualification timescales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754880" y="357530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Competing manufacturers already qualified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754880" y="39044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Rising material and energy costs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754880" y="42336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Customer concentration risk</a:t>
            </a:r>
            <a:endParaRPr lang="en-US" sz="900" dirty="0"/>
          </a:p>
        </p:txBody>
      </p:sp>
      <p:sp>
        <p:nvSpPr>
          <p:cNvPr id="38" name="Rectangle 37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228600" y="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PESTLE Analysis  —  [Company Name]  |  [Year]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37160" y="749808"/>
            <a:ext cx="2834640" cy="329184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37160" y="74980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— Political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37160" y="1078992"/>
            <a:ext cx="2834640" cy="164592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228600" y="1115568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Government nuclear energy policy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Industrial strategy &amp; levelling up agenda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Export controls and trade policy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Nuclear new build programme support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127248" y="749808"/>
            <a:ext cx="2834640" cy="32918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3127248" y="74980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— Economic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127248" y="1078992"/>
            <a:ext cx="2834640" cy="164592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3218688" y="1115568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Interest rates &amp; capital availability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Energy &amp; material cost inflation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Nuclear programme investment levels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Supply chain cost pressures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144768" y="749808"/>
            <a:ext cx="2852928" cy="32918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6144768" y="749808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— Social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44768" y="1078992"/>
            <a:ext cx="2852928" cy="164592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6236208" y="1115568"/>
            <a:ext cx="267004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Nuclear public perception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STEM skills pipeline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Workforce demographics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Safety culture expectations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37160" y="2880360"/>
            <a:ext cx="283464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137160" y="288036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— Technological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37160" y="3209544"/>
            <a:ext cx="2834640" cy="164592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228600" y="324612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Automation &amp; Industry 4.0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Advanced manufacturing technologies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Digital quality management systems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Nuclear SMR technology development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127248" y="2880360"/>
            <a:ext cx="2834640" cy="329184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3127248" y="288036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— Legal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127248" y="3209544"/>
            <a:ext cx="2834640" cy="164592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3218688" y="324612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Nuclear site licence regulations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Health &amp; Safety legislation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ISO/ASME quality standards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GDPR and data protection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144768" y="2880360"/>
            <a:ext cx="2852928" cy="329184"/>
          </a:xfrm>
          <a:prstGeom prst="rect">
            <a:avLst/>
          </a:prstGeom>
          <a:solidFill>
            <a:srgbClr val="5B595A"/>
          </a:solidFill>
          <a:ln w="12700">
            <a:solidFill>
              <a:srgbClr val="5B59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6144768" y="2880360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— Environmental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144768" y="3209544"/>
            <a:ext cx="2852928" cy="164592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6236208" y="3246120"/>
            <a:ext cx="267004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Net zero commitments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Carbon reporting requirements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Waste and environmental compliance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Nuclear as low-carbon energy source</a:t>
            </a:r>
            <a:endParaRPr lang="en-US" sz="900" dirty="0"/>
          </a:p>
        </p:txBody>
      </p:sp>
      <p:sp>
        <p:nvSpPr>
          <p:cNvPr id="31" name="Rectangle 30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228600" y="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TOWS Strategic Response  —  Turning Analysis into Action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37160" y="749808"/>
            <a:ext cx="2011680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37160" y="7498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TOWS Strategy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148840" y="749808"/>
            <a:ext cx="2011680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2148840" y="7498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160520" y="749808"/>
            <a:ext cx="3840480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4160520" y="7498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Actions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001000" y="749808"/>
            <a:ext cx="1097280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8001000" y="74980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37160" y="1097280"/>
            <a:ext cx="201168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192024" y="1115568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— Strengths + Opportunities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148840" y="1097280"/>
            <a:ext cx="201168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2203704" y="1115568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strengths to exploit opportunities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160520" y="1097280"/>
            <a:ext cx="384048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4215384" y="1115568"/>
            <a:ext cx="3730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AS9100/ISO certification to target nuclear Tier 1 customers via NucCol F4N programme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8001000" y="1097280"/>
            <a:ext cx="109728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8055864" y="1115568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37160" y="1481328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192024" y="1499616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— Strengths + Threats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148840" y="1481328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2203704" y="1499616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strengths to counter threats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160520" y="1481328"/>
            <a:ext cx="3840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4215384" y="1499616"/>
            <a:ext cx="3730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strong quality processes to achieve nuclear qualification faster than competitors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8001000" y="1481328"/>
            <a:ext cx="1097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8055864" y="1499616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37160" y="1865376"/>
            <a:ext cx="201168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29"/>
          <p:cNvSpPr/>
          <p:nvPr/>
        </p:nvSpPr>
        <p:spPr>
          <a:xfrm>
            <a:off x="192024" y="1883664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— Weaknesses + Opportunities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2148840" y="1865376"/>
            <a:ext cx="201168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2203704" y="1883664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Overcome weaknesses to seize opportunities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160520" y="1865376"/>
            <a:ext cx="384048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3"/>
          <p:cNvSpPr/>
          <p:nvPr/>
        </p:nvSpPr>
        <p:spPr>
          <a:xfrm>
            <a:off x="4215384" y="1883664"/>
            <a:ext cx="3730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F4N programme to address nuclear knowledge gap and establish nuclear procedures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8001000" y="1865376"/>
            <a:ext cx="109728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5"/>
          <p:cNvSpPr/>
          <p:nvPr/>
        </p:nvSpPr>
        <p:spPr>
          <a:xfrm>
            <a:off x="8055864" y="1883664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137160" y="2249424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7"/>
          <p:cNvSpPr/>
          <p:nvPr/>
        </p:nvSpPr>
        <p:spPr>
          <a:xfrm>
            <a:off x="192024" y="2267712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 — Weaknesses + Threats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2148840" y="2249424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39"/>
          <p:cNvSpPr/>
          <p:nvPr/>
        </p:nvSpPr>
        <p:spPr>
          <a:xfrm>
            <a:off x="2203704" y="2267712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Minimise exposure where vulnerable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160520" y="2249424"/>
            <a:ext cx="3840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1"/>
          <p:cNvSpPr/>
          <p:nvPr/>
        </p:nvSpPr>
        <p:spPr>
          <a:xfrm>
            <a:off x="4215384" y="2267712"/>
            <a:ext cx="3730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Prioritise quality cert and nuclear awareness training to reduce qualification risk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8001000" y="2249424"/>
            <a:ext cx="1097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3"/>
          <p:cNvSpPr/>
          <p:nvPr/>
        </p:nvSpPr>
        <p:spPr>
          <a:xfrm>
            <a:off x="8055864" y="2267712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50" dirty="0"/>
          </a:p>
        </p:txBody>
      </p:sp>
      <p:sp>
        <p:nvSpPr>
          <p:cNvPr id="47" name="Rectangle 46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50" name="Rectangle 4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66EE268-C8E9-4002-AD7F-B1C0FED097A8}"/>
</file>

<file path=customXml/itemProps2.xml><?xml version="1.0" encoding="utf-8"?>
<ds:datastoreItem xmlns:ds="http://schemas.openxmlformats.org/officeDocument/2006/customXml" ds:itemID="{653EB343-11C1-48C0-9695-66AEF43D0031}"/>
</file>

<file path=customXml/itemProps3.xml><?xml version="1.0" encoding="utf-8"?>
<ds:datastoreItem xmlns:ds="http://schemas.openxmlformats.org/officeDocument/2006/customXml" ds:itemID="{8FA800BE-8396-4F13-8657-0E4ECB1A88F4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495</Words>
  <Application>Microsoft Office PowerPoint</Application>
  <PresentationFormat>On-screen Show (16:9)</PresentationFormat>
  <Paragraphs>92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 03 SWOT PESTLE Template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