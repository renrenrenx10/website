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42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182880" y="0"/>
            <a:ext cx="73152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 TEMPLATE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Strategy &amp; Leadership  |  SL-01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[Financial Year]  |  Prepared by: [Name]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822960"/>
            <a:ext cx="41605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8229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7160" y="1170432"/>
            <a:ext cx="4160520" cy="1024128"/>
          </a:xfrm>
          <a:prstGeom prst="rect">
            <a:avLst/>
          </a:prstGeom>
          <a:solidFill>
            <a:srgbClr val="F4F8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10312" y="1188720"/>
            <a:ext cx="401421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the company — what you make, who you serve, your scale and key markets. 2-3 sentences.]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0" y="822960"/>
            <a:ext cx="4160520" cy="34747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846320" y="8229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Intent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170432"/>
            <a:ext cx="4160520" cy="1024128"/>
          </a:xfrm>
          <a:prstGeom prst="rect">
            <a:avLst/>
          </a:prstGeom>
          <a:solidFill>
            <a:srgbClr val="F4F8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919472" y="1188720"/>
            <a:ext cx="401421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are trying to achieve strategically in the next 3-5 years. Include your nuclear sector ambition.]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7160" y="2423160"/>
            <a:ext cx="2651760" cy="347472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3716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37160" y="2770632"/>
            <a:ext cx="2651760" cy="1481328"/>
          </a:xfrm>
          <a:prstGeom prst="rect">
            <a:avLst/>
          </a:prstGeom>
          <a:solidFill>
            <a:srgbClr val="F4F8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10312" y="2788920"/>
            <a:ext cx="250545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[Challenge 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[Challenge 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[Challenge 3]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[Challenge 4]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971800" y="2423160"/>
            <a:ext cx="26517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7180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Opportunities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71800" y="2770632"/>
            <a:ext cx="2651760" cy="1481328"/>
          </a:xfrm>
          <a:prstGeom prst="rect">
            <a:avLst/>
          </a:prstGeom>
          <a:solidFill>
            <a:srgbClr val="F4F8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044952" y="2788920"/>
            <a:ext cx="250545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— e.g. nuclear sector growth]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4]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06440" y="2423160"/>
            <a:ext cx="3200400" cy="347472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80644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Success Factors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06440" y="2770632"/>
            <a:ext cx="3200400" cy="1481328"/>
          </a:xfrm>
          <a:prstGeom prst="rect">
            <a:avLst/>
          </a:prstGeom>
          <a:solidFill>
            <a:srgbClr val="F4F8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879592" y="2788920"/>
            <a:ext cx="305409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[CSF 1 — e.g. F4N certification]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[CSF 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[CSF 3]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[CSF 4]</a:t>
            </a:r>
            <a:endParaRPr lang="en-US" sz="900" dirty="0"/>
          </a:p>
        </p:txBody>
      </p:sp>
      <p:sp>
        <p:nvSpPr>
          <p:cNvPr id="27" name="Rectangle 2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Objectives — 3-Year Plan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25603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749808"/>
            <a:ext cx="10972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697480" y="749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94760" y="749808"/>
            <a:ext cx="10972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794760" y="749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Target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92040" y="749808"/>
            <a:ext cx="109728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892040" y="7498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Target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749808"/>
            <a:ext cx="137160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989320" y="749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/ Measure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60920" y="749808"/>
            <a:ext cx="100584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360920" y="749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37160" y="1097280"/>
            <a:ext cx="25603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92024" y="1115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F4N certification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697480" y="1097280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752344" y="111556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F4N gap analysis &amp; action plan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94760" y="1097280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849624" y="111556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65% across all categories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892040" y="1097280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946904" y="111556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75% — certified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1097280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044184" y="1115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assessment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360920" y="1097280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415784" y="1115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37160" y="1481328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192024" y="149961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nuclear supply chain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697480" y="148132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2752344" y="149961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 10 nuclear Tier 1 targets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794760" y="148132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849624" y="149961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with 2 nuclear customers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92040" y="148132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4946904" y="149961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 nuclear revenue achieved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989320" y="148132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6044184" y="149961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revenue £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360920" y="14813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7415784" y="149961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37160" y="1865376"/>
            <a:ext cx="25603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192024" y="188366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revenue to £[X]M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697480" y="1865376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2752344" y="188366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794760" y="1865376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3849624" y="188366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892040" y="1865376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4946904" y="188366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89320" y="1865376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6044184" y="18836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£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360920" y="1865376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7415784" y="1883664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137160" y="2249424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192024" y="226771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ISO 9001 / quality cert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2697480" y="224942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2752344" y="226771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complete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794760" y="224942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3849624" y="226771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achieved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892040" y="224942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4946904" y="226771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audit passed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5989320" y="224942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6044184" y="22677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status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360920" y="22494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7415784" y="2267712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37160" y="2633472"/>
            <a:ext cx="25603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192024" y="265176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people &amp; leadership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697480" y="2633472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2752344" y="265176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matrix in place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794760" y="2633472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3849624" y="265176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programme launched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4892040" y="2633472"/>
            <a:ext cx="109728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4946904" y="265176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 plan complete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989320" y="2633472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6044184" y="26517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%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7360920" y="2633472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7415784" y="2651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137160" y="3017520"/>
            <a:ext cx="2560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192024" y="303580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CSIP / CI programme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2697480" y="301752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/>
          <p:nvPr/>
        </p:nvSpPr>
        <p:spPr>
          <a:xfrm>
            <a:off x="2752344" y="303580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SQDCP boards live in all areas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3794760" y="301752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3849624" y="303580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major CI projects complete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4892040" y="301752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4946904" y="303580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productivity improvement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5989320" y="30175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6044184" y="30358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% / CoNQ £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360920" y="30175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/>
          <p:nvPr/>
        </p:nvSpPr>
        <p:spPr>
          <a:xfrm>
            <a:off x="7415784" y="303580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850" dirty="0"/>
          </a:p>
        </p:txBody>
      </p:sp>
      <p:sp>
        <p:nvSpPr>
          <p:cNvPr id="91" name="Rectangle 9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Sector Entry Strategy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41605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NUCLEAR?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37160" y="1133856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37160" y="1133856"/>
            <a:ext cx="54864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28600" y="1152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Long-term, high-value contracts with major programme customers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37160" y="153619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37160" y="1536192"/>
            <a:ext cx="54864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28600" y="1554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 to entry reward quality-certified suppliers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37160" y="1938528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137160" y="1938528"/>
            <a:ext cx="54864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28600" y="19568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certification provides competitive differentiation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37160" y="234086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137160" y="2340864"/>
            <a:ext cx="54864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28600" y="23591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UK pipeline: Hinkley C, Sizewell C, SMR programmes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37160" y="2743200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37160" y="2743200"/>
            <a:ext cx="54864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28600" y="27614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margins for nuclear-qualified components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480560" y="749808"/>
            <a:ext cx="4160520" cy="34747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48056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NUCLEAR OPPORTUNITY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80560" y="1133856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4480560" y="1133856"/>
            <a:ext cx="54864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572000" y="1152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Capability: [List relevant manufacturing processes]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480560" y="153619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4480560" y="1536192"/>
            <a:ext cx="54864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572000" y="15544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customers: [EDF / Rolls-Royce / NuScale / Tier 1s]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80560" y="1938528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4480560" y="1938528"/>
            <a:ext cx="54864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4572000" y="19568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components: [e.g. precision machined parts, fabrications]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480560" y="2340864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3"/>
          <p:cNvSpPr/>
          <p:nvPr/>
        </p:nvSpPr>
        <p:spPr>
          <a:xfrm>
            <a:off x="4480560" y="2340864"/>
            <a:ext cx="54864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4572000" y="23591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market: NucCol F4N programme and SCC support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480560" y="2743200"/>
            <a:ext cx="4160520" cy="384048"/>
          </a:xfrm>
          <a:prstGeom prst="rect">
            <a:avLst/>
          </a:prstGeom>
          <a:solidFill>
            <a:srgbClr val="EEF6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4480560" y="2743200"/>
            <a:ext cx="54864" cy="38404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4572000" y="27614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First nuclear revenue by [Year]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37160" y="3749040"/>
            <a:ext cx="8869680" cy="38404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182880" y="374904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ENTRY ACTION PLAN — Top 5 priorities this year:</a:t>
            </a:r>
            <a:endParaRPr lang="en-US" sz="1000" dirty="0"/>
          </a:p>
        </p:txBody>
      </p:sp>
      <p:sp>
        <p:nvSpPr>
          <p:cNvPr id="43" name="Rectangle 4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 Summary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429768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7160" y="1078992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[Strength 1 — e.g. AS9100 certified]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1499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[Strength 2]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" y="18836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[Strength 3]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[Strength 4]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749808"/>
            <a:ext cx="42976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663440" y="7498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1078992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5488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[Weakness 1 — e.g. no nuclear track record]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14996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[Weakness 2]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0" y="18836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[Weakness 3]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[Weakness 4]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" y="2880360"/>
            <a:ext cx="429768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37160" y="2880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37160" y="3209544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2860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1 — e.g. UK nuclear pipeline]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28600" y="3630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2]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28600" y="4014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3]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" y="43982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[Opportunity 4]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2880360"/>
            <a:ext cx="4297680" cy="32918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663440" y="2880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3209544"/>
            <a:ext cx="4297680" cy="1664208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[Threat 1 — e.g. qualification lead times]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0" y="3630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[Threat 2]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0" y="4014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[Threat 3]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54880" y="43982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[Threat 4]</a:t>
            </a:r>
            <a:endParaRPr lang="en-US" sz="90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KPI Targets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137160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08760" y="749808"/>
            <a:ext cx="16459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50876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Metric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749808"/>
            <a:ext cx="11887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154680" y="749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Baseline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43400" y="749808"/>
            <a:ext cx="100584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343400" y="749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49240" y="749808"/>
            <a:ext cx="100584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349240" y="749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Target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749808"/>
            <a:ext cx="100584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355080" y="749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Target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60920" y="749808"/>
            <a:ext cx="731520" cy="34747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360920" y="749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" y="1097280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92024" y="1115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508760" y="1097280"/>
            <a:ext cx="16459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1563624" y="11155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RIDDOR incidents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154680" y="1097280"/>
            <a:ext cx="11887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3209544" y="1115568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43400" y="1097280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398264" y="1115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349240" y="1097280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5404104" y="1115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355080" y="1097280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409944" y="1115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360920" y="1097280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15784" y="111556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37160" y="148132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192024" y="149961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508760" y="148132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1563624" y="149961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Pass Yield 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154680" y="148132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3209544" y="149961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343400" y="14813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4398264" y="149961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349240" y="14813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5404104" y="149961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96%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55080" y="14813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409944" y="149961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97%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7360920" y="148132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7415784" y="149961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137160" y="1865376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192024" y="188366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1508760" y="1865376"/>
            <a:ext cx="16459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1563624" y="1883664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 %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154680" y="1865376"/>
            <a:ext cx="11887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3209544" y="1883664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343400" y="1865376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3"/>
          <p:cNvSpPr/>
          <p:nvPr/>
        </p:nvSpPr>
        <p:spPr>
          <a:xfrm>
            <a:off x="4398264" y="1883664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349240" y="1865376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5404104" y="1883664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93%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55080" y="1865376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/>
          <p:nvPr/>
        </p:nvSpPr>
        <p:spPr>
          <a:xfrm>
            <a:off x="6409944" y="1883664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360920" y="1865376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/>
          <p:nvPr/>
        </p:nvSpPr>
        <p:spPr>
          <a:xfrm>
            <a:off x="7415784" y="188366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137160" y="224942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/>
          <p:nvPr/>
        </p:nvSpPr>
        <p:spPr>
          <a:xfrm>
            <a:off x="192024" y="22677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1508760" y="224942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1563624" y="226771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%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154680" y="2249424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/>
          <p:nvPr/>
        </p:nvSpPr>
        <p:spPr>
          <a:xfrm>
            <a:off x="3209544" y="226771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343400" y="22494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/>
          <p:nvPr/>
        </p:nvSpPr>
        <p:spPr>
          <a:xfrm>
            <a:off x="4398264" y="2267712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5349240" y="22494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/>
          <p:nvPr/>
        </p:nvSpPr>
        <p:spPr>
          <a:xfrm>
            <a:off x="5404104" y="2267712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6355080" y="22494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/>
          <p:nvPr/>
        </p:nvSpPr>
        <p:spPr>
          <a:xfrm>
            <a:off x="6409944" y="2267712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7360920" y="2249424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/>
          <p:nvPr/>
        </p:nvSpPr>
        <p:spPr>
          <a:xfrm>
            <a:off x="7415784" y="226771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137160" y="2633472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/>
          <p:nvPr/>
        </p:nvSpPr>
        <p:spPr>
          <a:xfrm>
            <a:off x="192024" y="26517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1508760" y="2633472"/>
            <a:ext cx="16459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/>
          <p:nvPr/>
        </p:nvSpPr>
        <p:spPr>
          <a:xfrm>
            <a:off x="1563624" y="265176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%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3154680" y="2633472"/>
            <a:ext cx="11887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/>
          <p:nvPr/>
        </p:nvSpPr>
        <p:spPr>
          <a:xfrm>
            <a:off x="3209544" y="26517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4343400" y="2633472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/>
          <p:nvPr/>
        </p:nvSpPr>
        <p:spPr>
          <a:xfrm>
            <a:off x="4398264" y="2651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15%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5349240" y="2633472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/>
          <p:nvPr/>
        </p:nvSpPr>
        <p:spPr>
          <a:xfrm>
            <a:off x="5404104" y="2651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12%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6355080" y="2633472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/>
          <p:nvPr/>
        </p:nvSpPr>
        <p:spPr>
          <a:xfrm>
            <a:off x="6409944" y="2651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10%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360920" y="2633472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/>
          <p:nvPr/>
        </p:nvSpPr>
        <p:spPr>
          <a:xfrm>
            <a:off x="7415784" y="2651760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137160" y="30175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9"/>
          <p:cNvSpPr/>
          <p:nvPr/>
        </p:nvSpPr>
        <p:spPr>
          <a:xfrm>
            <a:off x="192024" y="303580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1508760" y="301752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/>
          <p:nvPr/>
        </p:nvSpPr>
        <p:spPr>
          <a:xfrm>
            <a:off x="1563624" y="3035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assessment score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3154680" y="301752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3"/>
          <p:cNvSpPr/>
          <p:nvPr/>
        </p:nvSpPr>
        <p:spPr>
          <a:xfrm>
            <a:off x="3209544" y="3035808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4343400" y="30175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/>
          <p:nvPr/>
        </p:nvSpPr>
        <p:spPr>
          <a:xfrm>
            <a:off x="4398264" y="303580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55%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5349240" y="30175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/>
          <p:nvPr/>
        </p:nvSpPr>
        <p:spPr>
          <a:xfrm>
            <a:off x="5404104" y="303580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65%</a:t>
            </a: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6355080" y="301752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6409944" y="303580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75%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7360920" y="3017520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/>
          <p:nvPr/>
        </p:nvSpPr>
        <p:spPr>
          <a:xfrm>
            <a:off x="7415784" y="303580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137160" y="3401568"/>
            <a:ext cx="137160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/>
          <p:nvPr/>
        </p:nvSpPr>
        <p:spPr>
          <a:xfrm>
            <a:off x="192024" y="341985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508760" y="3401568"/>
            <a:ext cx="16459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/>
          <p:nvPr/>
        </p:nvSpPr>
        <p:spPr>
          <a:xfrm>
            <a:off x="1563624" y="3419856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revenue £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154680" y="3401568"/>
            <a:ext cx="11887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Text 107"/>
          <p:cNvSpPr/>
          <p:nvPr/>
        </p:nvSpPr>
        <p:spPr>
          <a:xfrm>
            <a:off x="3209544" y="3419856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£0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343400" y="3401568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/>
          <p:nvPr/>
        </p:nvSpPr>
        <p:spPr>
          <a:xfrm>
            <a:off x="4398264" y="341985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£[X]k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5349240" y="3401568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1"/>
          <p:cNvSpPr/>
          <p:nvPr/>
        </p:nvSpPr>
        <p:spPr>
          <a:xfrm>
            <a:off x="5404104" y="341985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6355080" y="3401568"/>
            <a:ext cx="100584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113"/>
          <p:cNvSpPr/>
          <p:nvPr/>
        </p:nvSpPr>
        <p:spPr>
          <a:xfrm>
            <a:off x="6409944" y="3419856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£[X]M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7360920" y="3401568"/>
            <a:ext cx="731520" cy="38404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5"/>
          <p:cNvSpPr/>
          <p:nvPr/>
        </p:nvSpPr>
        <p:spPr>
          <a:xfrm>
            <a:off x="7415784" y="341985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9" name="Rectangle 11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A47D62-A98E-40BC-BA37-442626A4D2B7}"/>
</file>

<file path=customXml/itemProps2.xml><?xml version="1.0" encoding="utf-8"?>
<ds:datastoreItem xmlns:ds="http://schemas.openxmlformats.org/officeDocument/2006/customXml" ds:itemID="{9A629EA8-F7C7-46B3-A48F-EC0ABC69D742}"/>
</file>

<file path=customXml/itemProps3.xml><?xml version="1.0" encoding="utf-8"?>
<ds:datastoreItem xmlns:ds="http://schemas.openxmlformats.org/officeDocument/2006/customXml" ds:itemID="{070FAEFD-A6F0-42CC-9E09-1376E483C10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</Words>
  <Application>Microsoft Office PowerPoint</Application>
  <PresentationFormat>On-screen Show (16:9)</PresentationFormat>
  <Paragraphs>168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 01 Business Strategy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