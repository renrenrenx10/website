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133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9FE3"/>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83348F"/>
          </a:solidFill>
          <a:ln w="12700">
            <a:solidFill>
              <a:srgbClr val="83348F"/>
            </a:solidFill>
            <a:prstDash val="solid"/>
          </a:ln>
        </p:spPr>
        <p:txBody>
          <a:bodyPr/>
          <a:lstStyle/>
          <a:p>
            <a:endParaRPr lang="en-GB"/>
          </a:p>
        </p:txBody>
      </p:sp>
      <p:sp>
        <p:nvSpPr>
          <p:cNvPr id="3" name="Shape 1"/>
          <p:cNvSpPr/>
          <p:nvPr/>
        </p:nvSpPr>
        <p:spPr>
          <a:xfrm>
            <a:off x="502920" y="1097280"/>
            <a:ext cx="8138160" cy="2834640"/>
          </a:xfrm>
          <a:prstGeom prst="rect">
            <a:avLst/>
          </a:prstGeom>
          <a:solidFill>
            <a:srgbClr val="FFFFFF"/>
          </a:solidFill>
          <a:ln w="12700">
            <a:solidFill>
              <a:srgbClr val="FFFFFF"/>
            </a:solidFill>
            <a:prstDash val="solid"/>
          </a:ln>
          <a:effectLst>
            <a:outerShdw blurRad="228600" dist="50800" dir="8100000" algn="bl" rotWithShape="0">
              <a:srgbClr val="000000">
                <a:alpha val="18000"/>
              </a:srgbClr>
            </a:outerShdw>
          </a:effectLst>
        </p:spPr>
        <p:txBody>
          <a:bodyPr/>
          <a:lstStyle/>
          <a:p>
            <a:endParaRPr lang="en-GB"/>
          </a:p>
        </p:txBody>
      </p:sp>
      <p:sp>
        <p:nvSpPr>
          <p:cNvPr id="4" name="Text 2"/>
          <p:cNvSpPr/>
          <p:nvPr/>
        </p:nvSpPr>
        <p:spPr>
          <a:xfrm>
            <a:off x="685800" y="1234440"/>
            <a:ext cx="7772400" cy="365760"/>
          </a:xfrm>
          <a:prstGeom prst="rect">
            <a:avLst/>
          </a:prstGeom>
          <a:noFill/>
          <a:ln/>
        </p:spPr>
        <p:txBody>
          <a:bodyPr wrap="square" lIns="0" tIns="0" rIns="0" bIns="0" rtlCol="0" anchor="ctr"/>
          <a:lstStyle/>
          <a:p>
            <a:pPr marL="0" indent="0">
              <a:buNone/>
            </a:pPr>
            <a:r>
              <a:rPr lang="en-US" sz="1100" b="1" kern="0" spc="400" dirty="0">
                <a:solidFill>
                  <a:srgbClr val="83348F"/>
                </a:solidFill>
                <a:latin typeface="Arial" pitchFamily="34" charset="0"/>
                <a:ea typeface="Arial" pitchFamily="34" charset="-122"/>
                <a:cs typeface="Arial" pitchFamily="34" charset="-120"/>
              </a:rPr>
              <a:t>FIT FOR NUCLEAR</a:t>
            </a:r>
            <a:endParaRPr lang="en-US" sz="1100" dirty="0"/>
          </a:p>
        </p:txBody>
      </p:sp>
      <p:sp>
        <p:nvSpPr>
          <p:cNvPr id="5" name="Text 3"/>
          <p:cNvSpPr/>
          <p:nvPr/>
        </p:nvSpPr>
        <p:spPr>
          <a:xfrm>
            <a:off x="685800" y="1572768"/>
            <a:ext cx="7772400" cy="1097280"/>
          </a:xfrm>
          <a:prstGeom prst="rect">
            <a:avLst/>
          </a:prstGeom>
          <a:noFill/>
          <a:ln/>
        </p:spPr>
        <p:txBody>
          <a:bodyPr wrap="square" lIns="0" tIns="0" rIns="0" bIns="0" rtlCol="0" anchor="ctr"/>
          <a:lstStyle/>
          <a:p>
            <a:pPr marL="0" indent="0">
              <a:buNone/>
            </a:pPr>
            <a:r>
              <a:rPr lang="en-US" sz="3200" b="1" dirty="0">
                <a:solidFill>
                  <a:srgbClr val="2B2B2B"/>
                </a:solidFill>
                <a:latin typeface="Arial" pitchFamily="34" charset="0"/>
                <a:ea typeface="Arial" pitchFamily="34" charset="-122"/>
                <a:cs typeface="Arial" pitchFamily="34" charset="-120"/>
              </a:rPr>
              <a:t>Leadership Behaviour Framework</a:t>
            </a:r>
            <a:endParaRPr lang="en-US" sz="3200" dirty="0"/>
          </a:p>
        </p:txBody>
      </p:sp>
      <p:sp>
        <p:nvSpPr>
          <p:cNvPr id="6" name="Shape 4"/>
          <p:cNvSpPr/>
          <p:nvPr/>
        </p:nvSpPr>
        <p:spPr>
          <a:xfrm>
            <a:off x="685800" y="2651760"/>
            <a:ext cx="1097280" cy="54864"/>
          </a:xfrm>
          <a:prstGeom prst="rect">
            <a:avLst/>
          </a:prstGeom>
          <a:solidFill>
            <a:srgbClr val="009FE3"/>
          </a:solidFill>
          <a:ln w="12700">
            <a:solidFill>
              <a:srgbClr val="009FE3"/>
            </a:solidFill>
            <a:prstDash val="solid"/>
          </a:ln>
        </p:spPr>
        <p:txBody>
          <a:bodyPr/>
          <a:lstStyle/>
          <a:p>
            <a:endParaRPr lang="en-GB"/>
          </a:p>
        </p:txBody>
      </p:sp>
      <p:sp>
        <p:nvSpPr>
          <p:cNvPr id="7" name="Text 5"/>
          <p:cNvSpPr/>
          <p:nvPr/>
        </p:nvSpPr>
        <p:spPr>
          <a:xfrm>
            <a:off x="685800" y="2743200"/>
            <a:ext cx="7772400" cy="548640"/>
          </a:xfrm>
          <a:prstGeom prst="rect">
            <a:avLst/>
          </a:prstGeom>
          <a:noFill/>
          <a:ln/>
        </p:spPr>
        <p:txBody>
          <a:bodyPr wrap="square" lIns="0" tIns="0" rIns="0" bIns="0" rtlCol="0" anchor="ctr"/>
          <a:lstStyle/>
          <a:p>
            <a:pPr marL="0" indent="0">
              <a:buNone/>
            </a:pPr>
            <a:r>
              <a:rPr lang="en-US" sz="1300" dirty="0">
                <a:solidFill>
                  <a:srgbClr val="5B595A"/>
                </a:solidFill>
                <a:latin typeface="Arial" pitchFamily="34" charset="0"/>
                <a:ea typeface="Arial" pitchFamily="34" charset="-122"/>
                <a:cs typeface="Arial" pitchFamily="34" charset="-120"/>
              </a:rPr>
              <a:t>Defining what great leadership looks like in your organisation</a:t>
            </a:r>
            <a:endParaRPr lang="en-US" sz="1300" dirty="0"/>
          </a:p>
        </p:txBody>
      </p:sp>
      <p:sp>
        <p:nvSpPr>
          <p:cNvPr id="8" name="Text 6"/>
          <p:cNvSpPr/>
          <p:nvPr/>
        </p:nvSpPr>
        <p:spPr>
          <a:xfrm>
            <a:off x="685800" y="3291840"/>
            <a:ext cx="7772400" cy="274320"/>
          </a:xfrm>
          <a:prstGeom prst="rect">
            <a:avLst/>
          </a:prstGeom>
          <a:noFill/>
          <a:ln/>
        </p:spPr>
        <p:txBody>
          <a:bodyPr wrap="square" lIns="0" tIns="0" rIns="0" bIns="0" rtlCol="0" anchor="ctr"/>
          <a:lstStyle/>
          <a:p>
            <a:pPr marL="0" indent="0">
              <a:buNone/>
            </a:pPr>
            <a:r>
              <a:rPr lang="en-US" sz="900" i="1" dirty="0">
                <a:solidFill>
                  <a:srgbClr val="CCCCCC"/>
                </a:solidFill>
                <a:latin typeface="Arial" pitchFamily="34" charset="0"/>
                <a:ea typeface="Arial" pitchFamily="34" charset="-122"/>
                <a:cs typeface="Arial" pitchFamily="34" charset="-120"/>
              </a:rPr>
              <a:t>Strategy &amp; Leadership Toolkit  |  SL-08</a:t>
            </a:r>
            <a:endParaRPr lang="en-US" sz="900" dirty="0"/>
          </a:p>
        </p:txBody>
      </p:sp>
      <p:pic>
        <p:nvPicPr>
          <p:cNvPr id="9" name="Image 0" descr="/home/claude/logo_cropped.png"/>
          <p:cNvPicPr>
            <a:picLocks noChangeAspect="1"/>
          </p:cNvPicPr>
          <p:nvPr/>
        </p:nvPicPr>
        <p:blipFill>
          <a:blip r:embed="rId3"/>
          <a:stretch>
            <a:fillRect/>
          </a:stretch>
        </p:blipFill>
        <p:spPr>
          <a:xfrm>
            <a:off x="7452360" y="4526280"/>
            <a:ext cx="1417320" cy="832692"/>
          </a:xfrm>
          <a:prstGeom prst="rect">
            <a:avLst/>
          </a:prstGeom>
        </p:spPr>
      </p:pic>
      <p:sp>
        <p:nvSpPr>
          <p:cNvPr id="10" name="Rectangle 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7562088" y="100584"/>
            <a:ext cx="566928" cy="347472"/>
          </a:xfrm>
          <a:prstGeom prst="rect">
            <a:avLst/>
          </a:prstGeom>
        </p:spPr>
      </p:pic>
      <p:pic>
        <p:nvPicPr>
          <p:cNvPr id="12" name="Picture 11" descr="image.png"/>
          <p:cNvPicPr>
            <a:picLocks noChangeAspect="1"/>
          </p:cNvPicPr>
          <p:nvPr/>
        </p:nvPicPr>
        <p:blipFill>
          <a:blip r:embed="rId4"/>
          <a:stretch>
            <a:fillRect/>
          </a:stretch>
        </p:blipFill>
        <p:spPr>
          <a:xfrm>
            <a:off x="8174736" y="100584"/>
            <a:ext cx="658368" cy="347472"/>
          </a:xfrm>
          <a:prstGeom prst="rect">
            <a:avLst/>
          </a:prstGeom>
        </p:spPr>
      </p:pic>
      <p:sp>
        <p:nvSpPr>
          <p:cNvPr id="13" name="Rectangle 1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txBody>
          <a:bodyPr/>
          <a:lstStyle/>
          <a:p>
            <a:endParaRPr lang="en-GB"/>
          </a:p>
        </p:txBody>
      </p:sp>
      <p:sp>
        <p:nvSpPr>
          <p:cNvPr id="3" name="Shape 1"/>
          <p:cNvSpPr/>
          <p:nvPr/>
        </p:nvSpPr>
        <p:spPr>
          <a:xfrm>
            <a:off x="0" y="777240"/>
            <a:ext cx="9144000" cy="64008"/>
          </a:xfrm>
          <a:prstGeom prst="rect">
            <a:avLst/>
          </a:prstGeom>
          <a:solidFill>
            <a:srgbClr val="83348F"/>
          </a:solidFill>
          <a:ln w="12700">
            <a:solidFill>
              <a:srgbClr val="83348F"/>
            </a:solidFill>
            <a:prstDash val="solid"/>
          </a:ln>
        </p:spPr>
        <p:txBody>
          <a:bodyPr/>
          <a:lstStyle/>
          <a:p>
            <a:endParaRPr lang="en-GB"/>
          </a:p>
        </p:txBody>
      </p:sp>
      <p:sp>
        <p:nvSpPr>
          <p:cNvPr id="4" name="Text 2"/>
          <p:cNvSpPr/>
          <p:nvPr/>
        </p:nvSpPr>
        <p:spPr>
          <a:xfrm>
            <a:off x="320040" y="73152"/>
            <a:ext cx="6858000" cy="5943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Why Leadership Behaviours Matter for F4N</a:t>
            </a:r>
            <a:endParaRPr lang="en-US" sz="2200" dirty="0"/>
          </a:p>
        </p:txBody>
      </p:sp>
      <p:sp>
        <p:nvSpPr>
          <p:cNvPr id="5" name="Text 3"/>
          <p:cNvSpPr/>
          <p:nvPr/>
        </p:nvSpPr>
        <p:spPr>
          <a:xfrm>
            <a:off x="320040" y="73152"/>
            <a:ext cx="8229600" cy="594360"/>
          </a:xfrm>
          <a:prstGeom prst="rect">
            <a:avLst/>
          </a:prstGeom>
          <a:noFill/>
          <a:ln/>
        </p:spPr>
        <p:txBody>
          <a:bodyPr wrap="square" lIns="0" tIns="0" rIns="0" bIns="0" rtlCol="0" anchor="b"/>
          <a:lstStyle/>
          <a:p>
            <a:pPr marL="0" indent="0">
              <a:buNone/>
            </a:pPr>
            <a:r>
              <a:rPr lang="en-US" sz="1100" dirty="0">
                <a:solidFill>
                  <a:srgbClr val="C0DFEF"/>
                </a:solidFill>
                <a:latin typeface="Arial" pitchFamily="34" charset="0"/>
                <a:ea typeface="Arial" pitchFamily="34" charset="-122"/>
                <a:cs typeface="Arial" pitchFamily="34" charset="-120"/>
              </a:rPr>
              <a:t>It's not just what leaders do — it's how they do it</a:t>
            </a:r>
            <a:endParaRPr lang="en-US" sz="1100" dirty="0"/>
          </a:p>
        </p:txBody>
      </p:sp>
      <p:sp>
        <p:nvSpPr>
          <p:cNvPr id="9" name="Text 6"/>
          <p:cNvSpPr/>
          <p:nvPr/>
        </p:nvSpPr>
        <p:spPr>
          <a:xfrm>
            <a:off x="8229600" y="4892040"/>
            <a:ext cx="640080" cy="24688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2</a:t>
            </a:r>
            <a:endParaRPr lang="en-US" sz="800" dirty="0"/>
          </a:p>
        </p:txBody>
      </p:sp>
      <p:sp>
        <p:nvSpPr>
          <p:cNvPr id="10" name="Text 7"/>
          <p:cNvSpPr/>
          <p:nvPr/>
        </p:nvSpPr>
        <p:spPr>
          <a:xfrm>
            <a:off x="274320" y="914400"/>
            <a:ext cx="8595360" cy="685800"/>
          </a:xfrm>
          <a:prstGeom prst="rect">
            <a:avLst/>
          </a:prstGeom>
          <a:noFill/>
          <a:ln/>
        </p:spPr>
        <p:txBody>
          <a:bodyPr wrap="square" lIns="0" tIns="0" rIns="0" bIns="0" rtlCol="0" anchor="ctr"/>
          <a:lstStyle/>
          <a:p>
            <a:pPr marL="0" indent="0">
              <a:buNone/>
            </a:pPr>
            <a:r>
              <a:rPr lang="en-US" sz="1200" dirty="0">
                <a:solidFill>
                  <a:srgbClr val="2B2B2B"/>
                </a:solidFill>
                <a:latin typeface="Arial" pitchFamily="34" charset="0"/>
                <a:ea typeface="Arial" pitchFamily="34" charset="-122"/>
                <a:cs typeface="Arial" pitchFamily="34" charset="-120"/>
              </a:rPr>
              <a:t>F4N assessors specifically evaluate visible leadership — not just whether a leadership team exists, but whether leaders behave in ways that embed safety culture, drive improvement, and create accountability. This framework helps you define, communicate, and assess leadership behaviours across your organisation.</a:t>
            </a:r>
            <a:endParaRPr lang="en-US" sz="1200" dirty="0"/>
          </a:p>
        </p:txBody>
      </p:sp>
      <p:sp>
        <p:nvSpPr>
          <p:cNvPr id="11" name="Shape 8"/>
          <p:cNvSpPr/>
          <p:nvPr/>
        </p:nvSpPr>
        <p:spPr>
          <a:xfrm>
            <a:off x="274320" y="1691640"/>
            <a:ext cx="2286000" cy="640080"/>
          </a:xfrm>
          <a:prstGeom prst="rect">
            <a:avLst/>
          </a:prstGeom>
          <a:solidFill>
            <a:srgbClr val="009FE3"/>
          </a:solidFill>
          <a:ln w="12700">
            <a:solidFill>
              <a:srgbClr val="009FE3"/>
            </a:solidFill>
            <a:prstDash val="solid"/>
          </a:ln>
        </p:spPr>
        <p:txBody>
          <a:bodyPr/>
          <a:lstStyle/>
          <a:p>
            <a:endParaRPr lang="en-GB"/>
          </a:p>
        </p:txBody>
      </p:sp>
      <p:sp>
        <p:nvSpPr>
          <p:cNvPr id="12" name="Text 9"/>
          <p:cNvSpPr/>
          <p:nvPr/>
        </p:nvSpPr>
        <p:spPr>
          <a:xfrm>
            <a:off x="274320" y="1691640"/>
            <a:ext cx="228600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Visible Safety Leadership</a:t>
            </a:r>
            <a:endParaRPr lang="en-US" sz="1000" dirty="0"/>
          </a:p>
        </p:txBody>
      </p:sp>
      <p:sp>
        <p:nvSpPr>
          <p:cNvPr id="13" name="Shape 10"/>
          <p:cNvSpPr/>
          <p:nvPr/>
        </p:nvSpPr>
        <p:spPr>
          <a:xfrm>
            <a:off x="2560320" y="1691640"/>
            <a:ext cx="6400800" cy="640080"/>
          </a:xfrm>
          <a:prstGeom prst="rect">
            <a:avLst/>
          </a:prstGeom>
          <a:solidFill>
            <a:srgbClr val="F5F7FA"/>
          </a:solidFill>
          <a:ln w="6350">
            <a:solidFill>
              <a:srgbClr val="CCCCCC"/>
            </a:solidFill>
            <a:prstDash val="solid"/>
          </a:ln>
        </p:spPr>
        <p:txBody>
          <a:bodyPr/>
          <a:lstStyle/>
          <a:p>
            <a:endParaRPr lang="en-GB"/>
          </a:p>
        </p:txBody>
      </p:sp>
      <p:sp>
        <p:nvSpPr>
          <p:cNvPr id="14" name="Text 11"/>
          <p:cNvSpPr/>
          <p:nvPr/>
        </p:nvSpPr>
        <p:spPr>
          <a:xfrm>
            <a:off x="2697480" y="1737360"/>
            <a:ext cx="6126480" cy="548640"/>
          </a:xfrm>
          <a:prstGeom prst="rect">
            <a:avLst/>
          </a:prstGeom>
          <a:noFill/>
          <a:ln/>
        </p:spPr>
        <p:txBody>
          <a:bodyPr wrap="square" lIns="0" tIns="0" rIns="0" bIns="0" rtlCol="0" anchor="ctr"/>
          <a:lstStyle/>
          <a:p>
            <a:pPr marL="0" indent="0">
              <a:buNone/>
            </a:pPr>
            <a:r>
              <a:rPr lang="en-US" sz="1100" dirty="0">
                <a:solidFill>
                  <a:srgbClr val="2B2B2B"/>
                </a:solidFill>
                <a:latin typeface="Arial" pitchFamily="34" charset="0"/>
                <a:ea typeface="Arial" pitchFamily="34" charset="-122"/>
                <a:cs typeface="Arial" pitchFamily="34" charset="-120"/>
              </a:rPr>
              <a:t>Leaders are regularly seen on the shopfloor actively engaging on safety — not just receiving reports. They demonstrate ALARP thinking and stop-work authority in their own decisions.</a:t>
            </a:r>
            <a:endParaRPr lang="en-US" sz="1100" dirty="0"/>
          </a:p>
        </p:txBody>
      </p:sp>
      <p:sp>
        <p:nvSpPr>
          <p:cNvPr id="15" name="Shape 12"/>
          <p:cNvSpPr/>
          <p:nvPr/>
        </p:nvSpPr>
        <p:spPr>
          <a:xfrm>
            <a:off x="274320" y="2459736"/>
            <a:ext cx="2286000" cy="640080"/>
          </a:xfrm>
          <a:prstGeom prst="rect">
            <a:avLst/>
          </a:prstGeom>
          <a:solidFill>
            <a:srgbClr val="83348F"/>
          </a:solidFill>
          <a:ln w="12700">
            <a:solidFill>
              <a:srgbClr val="83348F"/>
            </a:solidFill>
            <a:prstDash val="solid"/>
          </a:ln>
        </p:spPr>
        <p:txBody>
          <a:bodyPr/>
          <a:lstStyle/>
          <a:p>
            <a:endParaRPr lang="en-GB"/>
          </a:p>
        </p:txBody>
      </p:sp>
      <p:sp>
        <p:nvSpPr>
          <p:cNvPr id="16" name="Text 13"/>
          <p:cNvSpPr/>
          <p:nvPr/>
        </p:nvSpPr>
        <p:spPr>
          <a:xfrm>
            <a:off x="274320" y="2459736"/>
            <a:ext cx="228600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Questioning Attitude</a:t>
            </a:r>
            <a:endParaRPr lang="en-US" sz="1000" dirty="0"/>
          </a:p>
        </p:txBody>
      </p:sp>
      <p:sp>
        <p:nvSpPr>
          <p:cNvPr id="17" name="Shape 14"/>
          <p:cNvSpPr/>
          <p:nvPr/>
        </p:nvSpPr>
        <p:spPr>
          <a:xfrm>
            <a:off x="2560320" y="2459736"/>
            <a:ext cx="6400800" cy="640080"/>
          </a:xfrm>
          <a:prstGeom prst="rect">
            <a:avLst/>
          </a:prstGeom>
          <a:solidFill>
            <a:srgbClr val="F5F7FA"/>
          </a:solidFill>
          <a:ln w="6350">
            <a:solidFill>
              <a:srgbClr val="CCCCCC"/>
            </a:solidFill>
            <a:prstDash val="solid"/>
          </a:ln>
        </p:spPr>
        <p:txBody>
          <a:bodyPr/>
          <a:lstStyle/>
          <a:p>
            <a:endParaRPr lang="en-GB"/>
          </a:p>
        </p:txBody>
      </p:sp>
      <p:sp>
        <p:nvSpPr>
          <p:cNvPr id="18" name="Text 15"/>
          <p:cNvSpPr/>
          <p:nvPr/>
        </p:nvSpPr>
        <p:spPr>
          <a:xfrm>
            <a:off x="2697480" y="2505456"/>
            <a:ext cx="6126480" cy="548640"/>
          </a:xfrm>
          <a:prstGeom prst="rect">
            <a:avLst/>
          </a:prstGeom>
          <a:noFill/>
          <a:ln/>
        </p:spPr>
        <p:txBody>
          <a:bodyPr wrap="square" lIns="0" tIns="0" rIns="0" bIns="0" rtlCol="0" anchor="ctr"/>
          <a:lstStyle/>
          <a:p>
            <a:pPr marL="0" indent="0">
              <a:buNone/>
            </a:pPr>
            <a:r>
              <a:rPr lang="en-US" sz="1100" dirty="0">
                <a:solidFill>
                  <a:srgbClr val="2B2B2B"/>
                </a:solidFill>
                <a:latin typeface="Arial" pitchFamily="34" charset="0"/>
                <a:ea typeface="Arial" pitchFamily="34" charset="-122"/>
                <a:cs typeface="Arial" pitchFamily="34" charset="-120"/>
              </a:rPr>
              <a:t>Leaders model the questioning attitude expected of all staff. They ask 'why?' and 'what could go wrong?' They celebrate people who raise concerns rather than shooting the messenger.</a:t>
            </a:r>
            <a:endParaRPr lang="en-US" sz="1100" dirty="0"/>
          </a:p>
        </p:txBody>
      </p:sp>
      <p:sp>
        <p:nvSpPr>
          <p:cNvPr id="19" name="Shape 16"/>
          <p:cNvSpPr/>
          <p:nvPr/>
        </p:nvSpPr>
        <p:spPr>
          <a:xfrm>
            <a:off x="274320" y="3227832"/>
            <a:ext cx="2286000" cy="640080"/>
          </a:xfrm>
          <a:prstGeom prst="rect">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274320" y="3227832"/>
            <a:ext cx="228600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Conservative Decision-Making</a:t>
            </a:r>
            <a:endParaRPr lang="en-US" sz="1000" dirty="0"/>
          </a:p>
        </p:txBody>
      </p:sp>
      <p:sp>
        <p:nvSpPr>
          <p:cNvPr id="21" name="Shape 18"/>
          <p:cNvSpPr/>
          <p:nvPr/>
        </p:nvSpPr>
        <p:spPr>
          <a:xfrm>
            <a:off x="2560320" y="3227832"/>
            <a:ext cx="6400800" cy="640080"/>
          </a:xfrm>
          <a:prstGeom prst="rect">
            <a:avLst/>
          </a:prstGeom>
          <a:solidFill>
            <a:srgbClr val="F5F7FA"/>
          </a:solidFill>
          <a:ln w="6350">
            <a:solidFill>
              <a:srgbClr val="CCCCCC"/>
            </a:solidFill>
            <a:prstDash val="solid"/>
          </a:ln>
        </p:spPr>
        <p:txBody>
          <a:bodyPr/>
          <a:lstStyle/>
          <a:p>
            <a:endParaRPr lang="en-GB"/>
          </a:p>
        </p:txBody>
      </p:sp>
      <p:sp>
        <p:nvSpPr>
          <p:cNvPr id="22" name="Text 19"/>
          <p:cNvSpPr/>
          <p:nvPr/>
        </p:nvSpPr>
        <p:spPr>
          <a:xfrm>
            <a:off x="2697480" y="3273552"/>
            <a:ext cx="6126480" cy="548640"/>
          </a:xfrm>
          <a:prstGeom prst="rect">
            <a:avLst/>
          </a:prstGeom>
          <a:noFill/>
          <a:ln/>
        </p:spPr>
        <p:txBody>
          <a:bodyPr wrap="square" lIns="0" tIns="0" rIns="0" bIns="0" rtlCol="0" anchor="ctr"/>
          <a:lstStyle/>
          <a:p>
            <a:pPr marL="0" indent="0">
              <a:buNone/>
            </a:pPr>
            <a:r>
              <a:rPr lang="en-US" sz="1100" dirty="0">
                <a:solidFill>
                  <a:srgbClr val="2B2B2B"/>
                </a:solidFill>
                <a:latin typeface="Arial" pitchFamily="34" charset="0"/>
                <a:ea typeface="Arial" pitchFamily="34" charset="-122"/>
                <a:cs typeface="Arial" pitchFamily="34" charset="-120"/>
              </a:rPr>
              <a:t>When trade-offs arise between safety/quality and schedule/cost, leaders consistently demonstrate that safety wins. This must be visible — words alone are not enough.</a:t>
            </a:r>
            <a:endParaRPr lang="en-US" sz="1100" dirty="0"/>
          </a:p>
        </p:txBody>
      </p:sp>
      <p:sp>
        <p:nvSpPr>
          <p:cNvPr id="23" name="Shape 20"/>
          <p:cNvSpPr/>
          <p:nvPr/>
        </p:nvSpPr>
        <p:spPr>
          <a:xfrm>
            <a:off x="274320" y="3995928"/>
            <a:ext cx="2286000" cy="640080"/>
          </a:xfrm>
          <a:prstGeom prst="rect">
            <a:avLst/>
          </a:prstGeom>
          <a:solidFill>
            <a:srgbClr val="83348F"/>
          </a:solidFill>
          <a:ln w="12700">
            <a:solidFill>
              <a:srgbClr val="83348F"/>
            </a:solidFill>
            <a:prstDash val="solid"/>
          </a:ln>
        </p:spPr>
        <p:txBody>
          <a:bodyPr/>
          <a:lstStyle/>
          <a:p>
            <a:endParaRPr lang="en-GB"/>
          </a:p>
        </p:txBody>
      </p:sp>
      <p:sp>
        <p:nvSpPr>
          <p:cNvPr id="24" name="Text 21"/>
          <p:cNvSpPr/>
          <p:nvPr/>
        </p:nvSpPr>
        <p:spPr>
          <a:xfrm>
            <a:off x="274320" y="3995928"/>
            <a:ext cx="228600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Coaching &amp; Development</a:t>
            </a:r>
            <a:endParaRPr lang="en-US" sz="1000" dirty="0"/>
          </a:p>
        </p:txBody>
      </p:sp>
      <p:sp>
        <p:nvSpPr>
          <p:cNvPr id="25" name="Shape 22"/>
          <p:cNvSpPr/>
          <p:nvPr/>
        </p:nvSpPr>
        <p:spPr>
          <a:xfrm>
            <a:off x="2560320" y="3995928"/>
            <a:ext cx="6400800" cy="640080"/>
          </a:xfrm>
          <a:prstGeom prst="rect">
            <a:avLst/>
          </a:prstGeom>
          <a:solidFill>
            <a:srgbClr val="F5F7FA"/>
          </a:solidFill>
          <a:ln w="6350">
            <a:solidFill>
              <a:srgbClr val="CCCCCC"/>
            </a:solidFill>
            <a:prstDash val="solid"/>
          </a:ln>
        </p:spPr>
        <p:txBody>
          <a:bodyPr/>
          <a:lstStyle/>
          <a:p>
            <a:endParaRPr lang="en-GB"/>
          </a:p>
        </p:txBody>
      </p:sp>
      <p:sp>
        <p:nvSpPr>
          <p:cNvPr id="26" name="Text 23"/>
          <p:cNvSpPr/>
          <p:nvPr/>
        </p:nvSpPr>
        <p:spPr>
          <a:xfrm>
            <a:off x="2697480" y="4041648"/>
            <a:ext cx="6126480" cy="548640"/>
          </a:xfrm>
          <a:prstGeom prst="rect">
            <a:avLst/>
          </a:prstGeom>
          <a:noFill/>
          <a:ln/>
        </p:spPr>
        <p:txBody>
          <a:bodyPr wrap="square" lIns="0" tIns="0" rIns="0" bIns="0" rtlCol="0" anchor="ctr"/>
          <a:lstStyle/>
          <a:p>
            <a:pPr marL="0" indent="0">
              <a:buNone/>
            </a:pPr>
            <a:r>
              <a:rPr lang="en-US" sz="1100" dirty="0">
                <a:solidFill>
                  <a:srgbClr val="2B2B2B"/>
                </a:solidFill>
                <a:latin typeface="Arial" pitchFamily="34" charset="0"/>
                <a:ea typeface="Arial" pitchFamily="34" charset="-122"/>
                <a:cs typeface="Arial" pitchFamily="34" charset="-120"/>
              </a:rPr>
              <a:t>Leaders invest time in developing people. They are mentors and coaches, not just managers. They understand that nuclear readiness requires continuous competence development.</a:t>
            </a:r>
            <a:endParaRPr lang="en-US" sz="110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5"/>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4"/>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txBody>
          <a:bodyPr/>
          <a:lstStyle/>
          <a:p>
            <a:endParaRPr lang="en-GB"/>
          </a:p>
        </p:txBody>
      </p:sp>
      <p:sp>
        <p:nvSpPr>
          <p:cNvPr id="3" name="Shape 1"/>
          <p:cNvSpPr/>
          <p:nvPr/>
        </p:nvSpPr>
        <p:spPr>
          <a:xfrm>
            <a:off x="0" y="777240"/>
            <a:ext cx="9144000" cy="64008"/>
          </a:xfrm>
          <a:prstGeom prst="rect">
            <a:avLst/>
          </a:prstGeom>
          <a:solidFill>
            <a:srgbClr val="83348F"/>
          </a:solidFill>
          <a:ln w="12700">
            <a:solidFill>
              <a:srgbClr val="83348F"/>
            </a:solidFill>
            <a:prstDash val="solid"/>
          </a:ln>
        </p:spPr>
        <p:txBody>
          <a:bodyPr/>
          <a:lstStyle/>
          <a:p>
            <a:endParaRPr lang="en-GB"/>
          </a:p>
        </p:txBody>
      </p:sp>
      <p:sp>
        <p:nvSpPr>
          <p:cNvPr id="4" name="Text 2"/>
          <p:cNvSpPr/>
          <p:nvPr/>
        </p:nvSpPr>
        <p:spPr>
          <a:xfrm>
            <a:off x="320040" y="73152"/>
            <a:ext cx="6858000" cy="5943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Leadership Behaviour Framework</a:t>
            </a:r>
            <a:endParaRPr lang="en-US" sz="2200" dirty="0"/>
          </a:p>
        </p:txBody>
      </p:sp>
      <p:sp>
        <p:nvSpPr>
          <p:cNvPr id="5" name="Text 3"/>
          <p:cNvSpPr/>
          <p:nvPr/>
        </p:nvSpPr>
        <p:spPr>
          <a:xfrm>
            <a:off x="320040" y="73152"/>
            <a:ext cx="8229600" cy="594360"/>
          </a:xfrm>
          <a:prstGeom prst="rect">
            <a:avLst/>
          </a:prstGeom>
          <a:noFill/>
          <a:ln/>
        </p:spPr>
        <p:txBody>
          <a:bodyPr wrap="square" lIns="0" tIns="0" rIns="0" bIns="0" rtlCol="0" anchor="b"/>
          <a:lstStyle/>
          <a:p>
            <a:pPr marL="0" indent="0">
              <a:buNone/>
            </a:pPr>
            <a:r>
              <a:rPr lang="en-US" sz="1100" dirty="0">
                <a:solidFill>
                  <a:srgbClr val="C0DFEF"/>
                </a:solidFill>
                <a:latin typeface="Arial" pitchFamily="34" charset="0"/>
                <a:ea typeface="Arial" pitchFamily="34" charset="-122"/>
                <a:cs typeface="Arial" pitchFamily="34" charset="-120"/>
              </a:rPr>
              <a:t>Six leadership dimensions — define what 'good' looks like at each level</a:t>
            </a:r>
            <a:endParaRPr lang="en-US" sz="1100" dirty="0"/>
          </a:p>
        </p:txBody>
      </p:sp>
      <p:sp>
        <p:nvSpPr>
          <p:cNvPr id="9" name="Text 6"/>
          <p:cNvSpPr/>
          <p:nvPr/>
        </p:nvSpPr>
        <p:spPr>
          <a:xfrm>
            <a:off x="8229600" y="4892040"/>
            <a:ext cx="640080" cy="24688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3</a:t>
            </a:r>
            <a:endParaRPr lang="en-US" sz="800" dirty="0"/>
          </a:p>
        </p:txBody>
      </p:sp>
      <p:sp>
        <p:nvSpPr>
          <p:cNvPr id="10" name="Shape 7"/>
          <p:cNvSpPr/>
          <p:nvPr/>
        </p:nvSpPr>
        <p:spPr>
          <a:xfrm>
            <a:off x="228600" y="960120"/>
            <a:ext cx="4251960" cy="1188720"/>
          </a:xfrm>
          <a:prstGeom prst="rect">
            <a:avLst/>
          </a:prstGeom>
          <a:solidFill>
            <a:srgbClr val="FFFFFF"/>
          </a:solidFill>
          <a:ln w="19050">
            <a:solidFill>
              <a:srgbClr val="009FE3"/>
            </a:solidFill>
            <a:prstDash val="solid"/>
          </a:ln>
          <a:effectLst>
            <a:outerShdw blurRad="38100" dist="25400" dir="8100000" algn="bl" rotWithShape="0">
              <a:srgbClr val="000000">
                <a:alpha val="7000"/>
              </a:srgbClr>
            </a:outerShdw>
          </a:effectLst>
        </p:spPr>
        <p:txBody>
          <a:bodyPr/>
          <a:lstStyle/>
          <a:p>
            <a:endParaRPr lang="en-GB"/>
          </a:p>
        </p:txBody>
      </p:sp>
      <p:sp>
        <p:nvSpPr>
          <p:cNvPr id="11" name="Shape 8"/>
          <p:cNvSpPr/>
          <p:nvPr/>
        </p:nvSpPr>
        <p:spPr>
          <a:xfrm>
            <a:off x="228600" y="960120"/>
            <a:ext cx="201168" cy="1188720"/>
          </a:xfrm>
          <a:prstGeom prst="rect">
            <a:avLst/>
          </a:prstGeom>
          <a:solidFill>
            <a:srgbClr val="009FE3"/>
          </a:solidFill>
          <a:ln w="12700">
            <a:solidFill>
              <a:srgbClr val="009FE3"/>
            </a:solidFill>
            <a:prstDash val="solid"/>
          </a:ln>
        </p:spPr>
        <p:txBody>
          <a:bodyPr/>
          <a:lstStyle/>
          <a:p>
            <a:endParaRPr lang="en-GB"/>
          </a:p>
        </p:txBody>
      </p:sp>
      <p:sp>
        <p:nvSpPr>
          <p:cNvPr id="12" name="Text 9"/>
          <p:cNvSpPr/>
          <p:nvPr/>
        </p:nvSpPr>
        <p:spPr>
          <a:xfrm>
            <a:off x="502920" y="1033272"/>
            <a:ext cx="3840480" cy="347472"/>
          </a:xfrm>
          <a:prstGeom prst="rect">
            <a:avLst/>
          </a:prstGeom>
          <a:noFill/>
          <a:ln/>
        </p:spPr>
        <p:txBody>
          <a:bodyPr wrap="square" lIns="0" tIns="0" rIns="0" bIns="0" rtlCol="0" anchor="ctr"/>
          <a:lstStyle/>
          <a:p>
            <a:pPr marL="0" indent="0">
              <a:buNone/>
            </a:pPr>
            <a:r>
              <a:rPr lang="en-US" sz="1100" b="1" dirty="0">
                <a:solidFill>
                  <a:srgbClr val="009FE3"/>
                </a:solidFill>
                <a:latin typeface="Arial" pitchFamily="34" charset="0"/>
                <a:ea typeface="Arial" pitchFamily="34" charset="-122"/>
                <a:cs typeface="Arial" pitchFamily="34" charset="-120"/>
              </a:rPr>
              <a:t>1. Safety &amp; Culture Leadership</a:t>
            </a:r>
            <a:endParaRPr lang="en-US" sz="1100" dirty="0"/>
          </a:p>
        </p:txBody>
      </p:sp>
      <p:sp>
        <p:nvSpPr>
          <p:cNvPr id="13" name="Text 10"/>
          <p:cNvSpPr/>
          <p:nvPr/>
        </p:nvSpPr>
        <p:spPr>
          <a:xfrm>
            <a:off x="502920" y="1417320"/>
            <a:ext cx="3840480" cy="640080"/>
          </a:xfrm>
          <a:prstGeom prst="rect">
            <a:avLst/>
          </a:prstGeom>
          <a:noFill/>
          <a:ln/>
        </p:spPr>
        <p:txBody>
          <a:bodyPr wrap="square" lIns="0" tIns="0" rIns="0" bIns="0" rtlCol="0" anchor="ctr"/>
          <a:lstStyle/>
          <a:p>
            <a:pPr marL="0" indent="0">
              <a:buNone/>
            </a:pPr>
            <a:r>
              <a:rPr lang="en-US" sz="1000" dirty="0">
                <a:solidFill>
                  <a:srgbClr val="2B2B2B"/>
                </a:solidFill>
                <a:latin typeface="Arial" pitchFamily="34" charset="0"/>
                <a:ea typeface="Arial" pitchFamily="34" charset="-122"/>
                <a:cs typeface="Arial" pitchFamily="34" charset="-120"/>
              </a:rPr>
              <a:t>Actively champions safety. Models nuclear safety behaviours. Creates an environment where concerns are raised freely.</a:t>
            </a:r>
            <a:endParaRPr lang="en-US" sz="1000" dirty="0"/>
          </a:p>
        </p:txBody>
      </p:sp>
      <p:sp>
        <p:nvSpPr>
          <p:cNvPr id="14" name="Shape 11"/>
          <p:cNvSpPr/>
          <p:nvPr/>
        </p:nvSpPr>
        <p:spPr>
          <a:xfrm>
            <a:off x="4709160" y="960120"/>
            <a:ext cx="4251960" cy="1188720"/>
          </a:xfrm>
          <a:prstGeom prst="rect">
            <a:avLst/>
          </a:prstGeom>
          <a:solidFill>
            <a:srgbClr val="FFFFFF"/>
          </a:solidFill>
          <a:ln w="19050">
            <a:solidFill>
              <a:srgbClr val="83348F"/>
            </a:solidFill>
            <a:prstDash val="solid"/>
          </a:ln>
          <a:effectLst>
            <a:outerShdw blurRad="38100" dist="25400" dir="8100000" algn="bl" rotWithShape="0">
              <a:srgbClr val="000000">
                <a:alpha val="7000"/>
              </a:srgbClr>
            </a:outerShdw>
          </a:effectLst>
        </p:spPr>
        <p:txBody>
          <a:bodyPr/>
          <a:lstStyle/>
          <a:p>
            <a:endParaRPr lang="en-GB"/>
          </a:p>
        </p:txBody>
      </p:sp>
      <p:sp>
        <p:nvSpPr>
          <p:cNvPr id="15" name="Shape 12"/>
          <p:cNvSpPr/>
          <p:nvPr/>
        </p:nvSpPr>
        <p:spPr>
          <a:xfrm>
            <a:off x="4709160" y="960120"/>
            <a:ext cx="201168" cy="1188720"/>
          </a:xfrm>
          <a:prstGeom prst="rect">
            <a:avLst/>
          </a:prstGeom>
          <a:solidFill>
            <a:srgbClr val="83348F"/>
          </a:solidFill>
          <a:ln w="12700">
            <a:solidFill>
              <a:srgbClr val="83348F"/>
            </a:solidFill>
            <a:prstDash val="solid"/>
          </a:ln>
        </p:spPr>
        <p:txBody>
          <a:bodyPr/>
          <a:lstStyle/>
          <a:p>
            <a:endParaRPr lang="en-GB"/>
          </a:p>
        </p:txBody>
      </p:sp>
      <p:sp>
        <p:nvSpPr>
          <p:cNvPr id="16" name="Text 13"/>
          <p:cNvSpPr/>
          <p:nvPr/>
        </p:nvSpPr>
        <p:spPr>
          <a:xfrm>
            <a:off x="4983480" y="1033272"/>
            <a:ext cx="3840480" cy="347472"/>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2. Strategic Direction</a:t>
            </a:r>
            <a:endParaRPr lang="en-US" sz="1100" dirty="0"/>
          </a:p>
        </p:txBody>
      </p:sp>
      <p:sp>
        <p:nvSpPr>
          <p:cNvPr id="17" name="Text 14"/>
          <p:cNvSpPr/>
          <p:nvPr/>
        </p:nvSpPr>
        <p:spPr>
          <a:xfrm>
            <a:off x="4983480" y="1417320"/>
            <a:ext cx="3840480" cy="640080"/>
          </a:xfrm>
          <a:prstGeom prst="rect">
            <a:avLst/>
          </a:prstGeom>
          <a:noFill/>
          <a:ln/>
        </p:spPr>
        <p:txBody>
          <a:bodyPr wrap="square" lIns="0" tIns="0" rIns="0" bIns="0" rtlCol="0" anchor="ctr"/>
          <a:lstStyle/>
          <a:p>
            <a:pPr marL="0" indent="0">
              <a:buNone/>
            </a:pPr>
            <a:r>
              <a:rPr lang="en-US" sz="1000" dirty="0">
                <a:solidFill>
                  <a:srgbClr val="2B2B2B"/>
                </a:solidFill>
                <a:latin typeface="Arial" pitchFamily="34" charset="0"/>
                <a:ea typeface="Arial" pitchFamily="34" charset="-122"/>
                <a:cs typeface="Arial" pitchFamily="34" charset="-120"/>
              </a:rPr>
              <a:t>Communicates vision clearly. Translates strategy into team objectives. Reviews progress and adjusts plans accordingly.</a:t>
            </a:r>
            <a:endParaRPr lang="en-US" sz="1000" dirty="0"/>
          </a:p>
        </p:txBody>
      </p:sp>
      <p:sp>
        <p:nvSpPr>
          <p:cNvPr id="18" name="Shape 15"/>
          <p:cNvSpPr/>
          <p:nvPr/>
        </p:nvSpPr>
        <p:spPr>
          <a:xfrm>
            <a:off x="228600" y="2286000"/>
            <a:ext cx="4251960" cy="1188720"/>
          </a:xfrm>
          <a:prstGeom prst="rect">
            <a:avLst/>
          </a:prstGeom>
          <a:solidFill>
            <a:srgbClr val="FFFFFF"/>
          </a:solidFill>
          <a:ln w="19050">
            <a:solidFill>
              <a:srgbClr val="1B7A3E"/>
            </a:solidFill>
            <a:prstDash val="solid"/>
          </a:ln>
          <a:effectLst>
            <a:outerShdw blurRad="38100" dist="25400" dir="8100000" algn="bl" rotWithShape="0">
              <a:srgbClr val="000000">
                <a:alpha val="7000"/>
              </a:srgbClr>
            </a:outerShdw>
          </a:effectLst>
        </p:spPr>
        <p:txBody>
          <a:bodyPr/>
          <a:lstStyle/>
          <a:p>
            <a:endParaRPr lang="en-GB"/>
          </a:p>
        </p:txBody>
      </p:sp>
      <p:sp>
        <p:nvSpPr>
          <p:cNvPr id="19" name="Shape 16"/>
          <p:cNvSpPr/>
          <p:nvPr/>
        </p:nvSpPr>
        <p:spPr>
          <a:xfrm>
            <a:off x="228600" y="2286000"/>
            <a:ext cx="201168" cy="1188720"/>
          </a:xfrm>
          <a:prstGeom prst="rect">
            <a:avLst/>
          </a:prstGeom>
          <a:solidFill>
            <a:srgbClr val="1B7A3E"/>
          </a:solidFill>
          <a:ln w="12700">
            <a:solidFill>
              <a:srgbClr val="1B7A3E"/>
            </a:solidFill>
            <a:prstDash val="solid"/>
          </a:ln>
        </p:spPr>
        <p:txBody>
          <a:bodyPr/>
          <a:lstStyle/>
          <a:p>
            <a:endParaRPr lang="en-GB"/>
          </a:p>
        </p:txBody>
      </p:sp>
      <p:sp>
        <p:nvSpPr>
          <p:cNvPr id="20" name="Text 17"/>
          <p:cNvSpPr/>
          <p:nvPr/>
        </p:nvSpPr>
        <p:spPr>
          <a:xfrm>
            <a:off x="502920" y="2359152"/>
            <a:ext cx="3840480" cy="347472"/>
          </a:xfrm>
          <a:prstGeom prst="rect">
            <a:avLst/>
          </a:prstGeom>
          <a:noFill/>
          <a:ln/>
        </p:spPr>
        <p:txBody>
          <a:bodyPr wrap="square" lIns="0" tIns="0" rIns="0" bIns="0" rtlCol="0" anchor="ctr"/>
          <a:lstStyle/>
          <a:p>
            <a:pPr marL="0" indent="0">
              <a:buNone/>
            </a:pPr>
            <a:r>
              <a:rPr lang="en-US" sz="1100" b="1" dirty="0">
                <a:solidFill>
                  <a:srgbClr val="1B7A3E"/>
                </a:solidFill>
                <a:latin typeface="Arial" pitchFamily="34" charset="0"/>
                <a:ea typeface="Arial" pitchFamily="34" charset="-122"/>
                <a:cs typeface="Arial" pitchFamily="34" charset="-120"/>
              </a:rPr>
              <a:t>3. People Development</a:t>
            </a:r>
            <a:endParaRPr lang="en-US" sz="1100" dirty="0"/>
          </a:p>
        </p:txBody>
      </p:sp>
      <p:sp>
        <p:nvSpPr>
          <p:cNvPr id="21" name="Text 18"/>
          <p:cNvSpPr/>
          <p:nvPr/>
        </p:nvSpPr>
        <p:spPr>
          <a:xfrm>
            <a:off x="502920" y="2743200"/>
            <a:ext cx="3840480" cy="640080"/>
          </a:xfrm>
          <a:prstGeom prst="rect">
            <a:avLst/>
          </a:prstGeom>
          <a:noFill/>
          <a:ln/>
        </p:spPr>
        <p:txBody>
          <a:bodyPr wrap="square" lIns="0" tIns="0" rIns="0" bIns="0" rtlCol="0" anchor="ctr"/>
          <a:lstStyle/>
          <a:p>
            <a:pPr marL="0" indent="0">
              <a:buNone/>
            </a:pPr>
            <a:r>
              <a:rPr lang="en-US" sz="1000" dirty="0">
                <a:solidFill>
                  <a:srgbClr val="2B2B2B"/>
                </a:solidFill>
                <a:latin typeface="Arial" pitchFamily="34" charset="0"/>
                <a:ea typeface="Arial" pitchFamily="34" charset="-122"/>
                <a:cs typeface="Arial" pitchFamily="34" charset="-120"/>
              </a:rPr>
              <a:t>Develops people's potential. Gives constructive feedback. Creates PDPs and follows through. Builds succession capability.</a:t>
            </a:r>
            <a:endParaRPr lang="en-US" sz="1000" dirty="0"/>
          </a:p>
        </p:txBody>
      </p:sp>
      <p:sp>
        <p:nvSpPr>
          <p:cNvPr id="22" name="Shape 19"/>
          <p:cNvSpPr/>
          <p:nvPr/>
        </p:nvSpPr>
        <p:spPr>
          <a:xfrm>
            <a:off x="4709160" y="2286000"/>
            <a:ext cx="4251960" cy="1188720"/>
          </a:xfrm>
          <a:prstGeom prst="rect">
            <a:avLst/>
          </a:prstGeom>
          <a:solidFill>
            <a:srgbClr val="FFFFFF"/>
          </a:solidFill>
          <a:ln w="19050">
            <a:solidFill>
              <a:srgbClr val="B45309"/>
            </a:solidFill>
            <a:prstDash val="solid"/>
          </a:ln>
          <a:effectLst>
            <a:outerShdw blurRad="38100" dist="25400" dir="8100000" algn="bl" rotWithShape="0">
              <a:srgbClr val="000000">
                <a:alpha val="7000"/>
              </a:srgbClr>
            </a:outerShdw>
          </a:effectLst>
        </p:spPr>
        <p:txBody>
          <a:bodyPr/>
          <a:lstStyle/>
          <a:p>
            <a:endParaRPr lang="en-GB"/>
          </a:p>
        </p:txBody>
      </p:sp>
      <p:sp>
        <p:nvSpPr>
          <p:cNvPr id="23" name="Shape 20"/>
          <p:cNvSpPr/>
          <p:nvPr/>
        </p:nvSpPr>
        <p:spPr>
          <a:xfrm>
            <a:off x="4709160" y="2286000"/>
            <a:ext cx="201168" cy="1188720"/>
          </a:xfrm>
          <a:prstGeom prst="rect">
            <a:avLst/>
          </a:prstGeom>
          <a:solidFill>
            <a:srgbClr val="B45309"/>
          </a:solidFill>
          <a:ln w="12700">
            <a:solidFill>
              <a:srgbClr val="B45309"/>
            </a:solidFill>
            <a:prstDash val="solid"/>
          </a:ln>
        </p:spPr>
        <p:txBody>
          <a:bodyPr/>
          <a:lstStyle/>
          <a:p>
            <a:endParaRPr lang="en-GB"/>
          </a:p>
        </p:txBody>
      </p:sp>
      <p:sp>
        <p:nvSpPr>
          <p:cNvPr id="24" name="Text 21"/>
          <p:cNvSpPr/>
          <p:nvPr/>
        </p:nvSpPr>
        <p:spPr>
          <a:xfrm>
            <a:off x="4983480" y="2359152"/>
            <a:ext cx="3840480" cy="347472"/>
          </a:xfrm>
          <a:prstGeom prst="rect">
            <a:avLst/>
          </a:prstGeom>
          <a:noFill/>
          <a:ln/>
        </p:spPr>
        <p:txBody>
          <a:bodyPr wrap="square" lIns="0" tIns="0" rIns="0" bIns="0" rtlCol="0" anchor="ctr"/>
          <a:lstStyle/>
          <a:p>
            <a:pPr marL="0" indent="0">
              <a:buNone/>
            </a:pPr>
            <a:r>
              <a:rPr lang="en-US" sz="1100" b="1" dirty="0">
                <a:solidFill>
                  <a:srgbClr val="B45309"/>
                </a:solidFill>
                <a:latin typeface="Arial" pitchFamily="34" charset="0"/>
                <a:ea typeface="Arial" pitchFamily="34" charset="-122"/>
                <a:cs typeface="Arial" pitchFamily="34" charset="-120"/>
              </a:rPr>
              <a:t>4. Driving Performance</a:t>
            </a:r>
            <a:endParaRPr lang="en-US" sz="1100" dirty="0"/>
          </a:p>
        </p:txBody>
      </p:sp>
      <p:sp>
        <p:nvSpPr>
          <p:cNvPr id="25" name="Text 22"/>
          <p:cNvSpPr/>
          <p:nvPr/>
        </p:nvSpPr>
        <p:spPr>
          <a:xfrm>
            <a:off x="4983480" y="2743200"/>
            <a:ext cx="3840480" cy="640080"/>
          </a:xfrm>
          <a:prstGeom prst="rect">
            <a:avLst/>
          </a:prstGeom>
          <a:noFill/>
          <a:ln/>
        </p:spPr>
        <p:txBody>
          <a:bodyPr wrap="square" lIns="0" tIns="0" rIns="0" bIns="0" rtlCol="0" anchor="ctr"/>
          <a:lstStyle/>
          <a:p>
            <a:pPr marL="0" indent="0">
              <a:buNone/>
            </a:pPr>
            <a:r>
              <a:rPr lang="en-US" sz="1000" dirty="0">
                <a:solidFill>
                  <a:srgbClr val="2B2B2B"/>
                </a:solidFill>
                <a:latin typeface="Arial" pitchFamily="34" charset="0"/>
                <a:ea typeface="Arial" pitchFamily="34" charset="-122"/>
                <a:cs typeface="Arial" pitchFamily="34" charset="-120"/>
              </a:rPr>
              <a:t>Sets clear expectations. Holds self and others accountable. Uses data to make decisions. Drives CI with urgency.</a:t>
            </a:r>
            <a:endParaRPr lang="en-US" sz="1000" dirty="0"/>
          </a:p>
        </p:txBody>
      </p:sp>
      <p:sp>
        <p:nvSpPr>
          <p:cNvPr id="26" name="Shape 23"/>
          <p:cNvSpPr/>
          <p:nvPr/>
        </p:nvSpPr>
        <p:spPr>
          <a:xfrm>
            <a:off x="228600" y="3611880"/>
            <a:ext cx="4251960" cy="1188720"/>
          </a:xfrm>
          <a:prstGeom prst="rect">
            <a:avLst/>
          </a:prstGeom>
          <a:solidFill>
            <a:srgbClr val="FFFFFF"/>
          </a:solidFill>
          <a:ln w="19050">
            <a:solidFill>
              <a:srgbClr val="0D7377"/>
            </a:solidFill>
            <a:prstDash val="solid"/>
          </a:ln>
          <a:effectLst>
            <a:outerShdw blurRad="38100" dist="25400" dir="8100000" algn="bl" rotWithShape="0">
              <a:srgbClr val="000000">
                <a:alpha val="7000"/>
              </a:srgbClr>
            </a:outerShdw>
          </a:effectLst>
        </p:spPr>
        <p:txBody>
          <a:bodyPr/>
          <a:lstStyle/>
          <a:p>
            <a:endParaRPr lang="en-GB"/>
          </a:p>
        </p:txBody>
      </p:sp>
      <p:sp>
        <p:nvSpPr>
          <p:cNvPr id="27" name="Shape 24"/>
          <p:cNvSpPr/>
          <p:nvPr/>
        </p:nvSpPr>
        <p:spPr>
          <a:xfrm>
            <a:off x="228600" y="3611880"/>
            <a:ext cx="201168" cy="1188720"/>
          </a:xfrm>
          <a:prstGeom prst="rect">
            <a:avLst/>
          </a:prstGeom>
          <a:solidFill>
            <a:srgbClr val="0D7377"/>
          </a:solidFill>
          <a:ln w="12700">
            <a:solidFill>
              <a:srgbClr val="0D7377"/>
            </a:solidFill>
            <a:prstDash val="solid"/>
          </a:ln>
        </p:spPr>
        <p:txBody>
          <a:bodyPr/>
          <a:lstStyle/>
          <a:p>
            <a:endParaRPr lang="en-GB"/>
          </a:p>
        </p:txBody>
      </p:sp>
      <p:sp>
        <p:nvSpPr>
          <p:cNvPr id="28" name="Text 25"/>
          <p:cNvSpPr/>
          <p:nvPr/>
        </p:nvSpPr>
        <p:spPr>
          <a:xfrm>
            <a:off x="502920" y="3685032"/>
            <a:ext cx="3840480" cy="347472"/>
          </a:xfrm>
          <a:prstGeom prst="rect">
            <a:avLst/>
          </a:prstGeom>
          <a:noFill/>
          <a:ln/>
        </p:spPr>
        <p:txBody>
          <a:bodyPr wrap="square" lIns="0" tIns="0" rIns="0" bIns="0" rtlCol="0" anchor="ctr"/>
          <a:lstStyle/>
          <a:p>
            <a:pPr marL="0" indent="0">
              <a:buNone/>
            </a:pPr>
            <a:r>
              <a:rPr lang="en-US" sz="1100" b="1" dirty="0">
                <a:solidFill>
                  <a:srgbClr val="0D7377"/>
                </a:solidFill>
                <a:latin typeface="Arial" pitchFamily="34" charset="0"/>
                <a:ea typeface="Arial" pitchFamily="34" charset="-122"/>
                <a:cs typeface="Arial" pitchFamily="34" charset="-120"/>
              </a:rPr>
              <a:t>5. Customer &amp; Quality Focus</a:t>
            </a:r>
            <a:endParaRPr lang="en-US" sz="1100" dirty="0"/>
          </a:p>
        </p:txBody>
      </p:sp>
      <p:sp>
        <p:nvSpPr>
          <p:cNvPr id="29" name="Text 26"/>
          <p:cNvSpPr/>
          <p:nvPr/>
        </p:nvSpPr>
        <p:spPr>
          <a:xfrm>
            <a:off x="502920" y="4069080"/>
            <a:ext cx="3840480" cy="640080"/>
          </a:xfrm>
          <a:prstGeom prst="rect">
            <a:avLst/>
          </a:prstGeom>
          <a:noFill/>
          <a:ln/>
        </p:spPr>
        <p:txBody>
          <a:bodyPr wrap="square" lIns="0" tIns="0" rIns="0" bIns="0" rtlCol="0" anchor="ctr"/>
          <a:lstStyle/>
          <a:p>
            <a:pPr marL="0" indent="0">
              <a:buNone/>
            </a:pPr>
            <a:r>
              <a:rPr lang="en-US" sz="1000" dirty="0">
                <a:solidFill>
                  <a:srgbClr val="2B2B2B"/>
                </a:solidFill>
                <a:latin typeface="Arial" pitchFamily="34" charset="0"/>
                <a:ea typeface="Arial" pitchFamily="34" charset="-122"/>
                <a:cs typeface="Arial" pitchFamily="34" charset="-120"/>
              </a:rPr>
              <a:t>Keeps customer requirements at the forefront. Ensures quality standards are understood and met. Never compromises on quality.</a:t>
            </a:r>
            <a:endParaRPr lang="en-US" sz="1000" dirty="0"/>
          </a:p>
        </p:txBody>
      </p:sp>
      <p:sp>
        <p:nvSpPr>
          <p:cNvPr id="30" name="Shape 27"/>
          <p:cNvSpPr/>
          <p:nvPr/>
        </p:nvSpPr>
        <p:spPr>
          <a:xfrm>
            <a:off x="4709160" y="3611880"/>
            <a:ext cx="4251960" cy="1188720"/>
          </a:xfrm>
          <a:prstGeom prst="rect">
            <a:avLst/>
          </a:prstGeom>
          <a:solidFill>
            <a:srgbClr val="FFFFFF"/>
          </a:solidFill>
          <a:ln w="19050">
            <a:solidFill>
              <a:srgbClr val="7C3AED"/>
            </a:solidFill>
            <a:prstDash val="solid"/>
          </a:ln>
          <a:effectLst>
            <a:outerShdw blurRad="38100" dist="25400" dir="8100000" algn="bl" rotWithShape="0">
              <a:srgbClr val="000000">
                <a:alpha val="7000"/>
              </a:srgbClr>
            </a:outerShdw>
          </a:effectLst>
        </p:spPr>
        <p:txBody>
          <a:bodyPr/>
          <a:lstStyle/>
          <a:p>
            <a:endParaRPr lang="en-GB"/>
          </a:p>
        </p:txBody>
      </p:sp>
      <p:sp>
        <p:nvSpPr>
          <p:cNvPr id="31" name="Shape 28"/>
          <p:cNvSpPr/>
          <p:nvPr/>
        </p:nvSpPr>
        <p:spPr>
          <a:xfrm>
            <a:off x="4709160" y="3611880"/>
            <a:ext cx="201168" cy="1188720"/>
          </a:xfrm>
          <a:prstGeom prst="rect">
            <a:avLst/>
          </a:prstGeom>
          <a:solidFill>
            <a:srgbClr val="7C3AED"/>
          </a:solidFill>
          <a:ln w="12700">
            <a:solidFill>
              <a:srgbClr val="7C3AED"/>
            </a:solidFill>
            <a:prstDash val="solid"/>
          </a:ln>
        </p:spPr>
        <p:txBody>
          <a:bodyPr/>
          <a:lstStyle/>
          <a:p>
            <a:endParaRPr lang="en-GB"/>
          </a:p>
        </p:txBody>
      </p:sp>
      <p:sp>
        <p:nvSpPr>
          <p:cNvPr id="32" name="Text 29"/>
          <p:cNvSpPr/>
          <p:nvPr/>
        </p:nvSpPr>
        <p:spPr>
          <a:xfrm>
            <a:off x="4983480" y="3685032"/>
            <a:ext cx="3840480" cy="347472"/>
          </a:xfrm>
          <a:prstGeom prst="rect">
            <a:avLst/>
          </a:prstGeom>
          <a:noFill/>
          <a:ln/>
        </p:spPr>
        <p:txBody>
          <a:bodyPr wrap="square" lIns="0" tIns="0" rIns="0" bIns="0" rtlCol="0" anchor="ctr"/>
          <a:lstStyle/>
          <a:p>
            <a:pPr marL="0" indent="0">
              <a:buNone/>
            </a:pPr>
            <a:r>
              <a:rPr lang="en-US" sz="1100" b="1" dirty="0">
                <a:solidFill>
                  <a:srgbClr val="7C3AED"/>
                </a:solidFill>
                <a:latin typeface="Arial" pitchFamily="34" charset="0"/>
                <a:ea typeface="Arial" pitchFamily="34" charset="-122"/>
                <a:cs typeface="Arial" pitchFamily="34" charset="-120"/>
              </a:rPr>
              <a:t>6. Collaboration &amp; Communication</a:t>
            </a:r>
            <a:endParaRPr lang="en-US" sz="1100" dirty="0"/>
          </a:p>
        </p:txBody>
      </p:sp>
      <p:sp>
        <p:nvSpPr>
          <p:cNvPr id="33" name="Text 30"/>
          <p:cNvSpPr/>
          <p:nvPr/>
        </p:nvSpPr>
        <p:spPr>
          <a:xfrm>
            <a:off x="4983480" y="4069080"/>
            <a:ext cx="3840480" cy="640080"/>
          </a:xfrm>
          <a:prstGeom prst="rect">
            <a:avLst/>
          </a:prstGeom>
          <a:noFill/>
          <a:ln/>
        </p:spPr>
        <p:txBody>
          <a:bodyPr wrap="square" lIns="0" tIns="0" rIns="0" bIns="0" rtlCol="0" anchor="ctr"/>
          <a:lstStyle/>
          <a:p>
            <a:pPr marL="0" indent="0">
              <a:buNone/>
            </a:pPr>
            <a:r>
              <a:rPr lang="en-US" sz="1000" dirty="0">
                <a:solidFill>
                  <a:srgbClr val="2B2B2B"/>
                </a:solidFill>
                <a:latin typeface="Arial" pitchFamily="34" charset="0"/>
                <a:ea typeface="Arial" pitchFamily="34" charset="-122"/>
                <a:cs typeface="Arial" pitchFamily="34" charset="-120"/>
              </a:rPr>
              <a:t>Communicates openly and honestly. Listens actively. Builds trust across teams. Shares information proactively.</a:t>
            </a:r>
            <a:endParaRPr lang="en-US" sz="1000" dirty="0"/>
          </a:p>
        </p:txBody>
      </p:sp>
      <p:sp>
        <p:nvSpPr>
          <p:cNvPr id="34" name="Rectangle 3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5"/>
          <a:stretch>
            <a:fillRect/>
          </a:stretch>
        </p:blipFill>
        <p:spPr>
          <a:xfrm>
            <a:off x="7562088" y="100584"/>
            <a:ext cx="566928" cy="347472"/>
          </a:xfrm>
          <a:prstGeom prst="rect">
            <a:avLst/>
          </a:prstGeom>
        </p:spPr>
      </p:pic>
      <p:pic>
        <p:nvPicPr>
          <p:cNvPr id="36" name="Picture 35" descr="image.png"/>
          <p:cNvPicPr>
            <a:picLocks noChangeAspect="1"/>
          </p:cNvPicPr>
          <p:nvPr/>
        </p:nvPicPr>
        <p:blipFill>
          <a:blip r:embed="rId4"/>
          <a:stretch>
            <a:fillRect/>
          </a:stretch>
        </p:blipFill>
        <p:spPr>
          <a:xfrm>
            <a:off x="8174736" y="100584"/>
            <a:ext cx="658368" cy="347472"/>
          </a:xfrm>
          <a:prstGeom prst="rect">
            <a:avLst/>
          </a:prstGeom>
        </p:spPr>
      </p:pic>
      <p:sp>
        <p:nvSpPr>
          <p:cNvPr id="37" name="Rectangle 3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9FE3"/>
          </a:solidFill>
          <a:ln w="12700">
            <a:solidFill>
              <a:srgbClr val="009FE3"/>
            </a:solidFill>
            <a:prstDash val="solid"/>
          </a:ln>
        </p:spPr>
        <p:txBody>
          <a:bodyPr/>
          <a:lstStyle/>
          <a:p>
            <a:endParaRPr lang="en-GB"/>
          </a:p>
        </p:txBody>
      </p:sp>
      <p:sp>
        <p:nvSpPr>
          <p:cNvPr id="3" name="Shape 1"/>
          <p:cNvSpPr/>
          <p:nvPr/>
        </p:nvSpPr>
        <p:spPr>
          <a:xfrm>
            <a:off x="0" y="777240"/>
            <a:ext cx="9144000" cy="64008"/>
          </a:xfrm>
          <a:prstGeom prst="rect">
            <a:avLst/>
          </a:prstGeom>
          <a:solidFill>
            <a:srgbClr val="83348F"/>
          </a:solidFill>
          <a:ln w="12700">
            <a:solidFill>
              <a:srgbClr val="83348F"/>
            </a:solidFill>
            <a:prstDash val="solid"/>
          </a:ln>
        </p:spPr>
        <p:txBody>
          <a:bodyPr/>
          <a:lstStyle/>
          <a:p>
            <a:endParaRPr lang="en-GB"/>
          </a:p>
        </p:txBody>
      </p:sp>
      <p:sp>
        <p:nvSpPr>
          <p:cNvPr id="4" name="Text 2"/>
          <p:cNvSpPr/>
          <p:nvPr/>
        </p:nvSpPr>
        <p:spPr>
          <a:xfrm>
            <a:off x="320040" y="73152"/>
            <a:ext cx="6858000" cy="5943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Leadership Self-Assessment Matrix</a:t>
            </a:r>
            <a:endParaRPr lang="en-US" sz="2200" dirty="0"/>
          </a:p>
        </p:txBody>
      </p:sp>
      <p:sp>
        <p:nvSpPr>
          <p:cNvPr id="5" name="Text 3"/>
          <p:cNvSpPr/>
          <p:nvPr/>
        </p:nvSpPr>
        <p:spPr>
          <a:xfrm>
            <a:off x="320040" y="73152"/>
            <a:ext cx="8229600" cy="594360"/>
          </a:xfrm>
          <a:prstGeom prst="rect">
            <a:avLst/>
          </a:prstGeom>
          <a:noFill/>
          <a:ln/>
        </p:spPr>
        <p:txBody>
          <a:bodyPr wrap="square" lIns="0" tIns="0" rIns="0" bIns="0" rtlCol="0" anchor="b"/>
          <a:lstStyle/>
          <a:p>
            <a:pPr marL="0" indent="0">
              <a:buNone/>
            </a:pPr>
            <a:r>
              <a:rPr lang="en-US" sz="1100" dirty="0">
                <a:solidFill>
                  <a:srgbClr val="C0DFEF"/>
                </a:solidFill>
                <a:latin typeface="Arial" pitchFamily="34" charset="0"/>
                <a:ea typeface="Arial" pitchFamily="34" charset="-122"/>
                <a:cs typeface="Arial" pitchFamily="34" charset="-120"/>
              </a:rPr>
              <a:t>Assess leadership behaviours against four maturity levels</a:t>
            </a:r>
            <a:endParaRPr lang="en-US" sz="1100" dirty="0"/>
          </a:p>
        </p:txBody>
      </p:sp>
      <p:sp>
        <p:nvSpPr>
          <p:cNvPr id="9" name="Text 6"/>
          <p:cNvSpPr/>
          <p:nvPr/>
        </p:nvSpPr>
        <p:spPr>
          <a:xfrm>
            <a:off x="8229600" y="4892040"/>
            <a:ext cx="640080" cy="24688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4</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28600" y="960120"/>
          <a:ext cx="8686800" cy="3931920"/>
        </p:xfrm>
        <a:graphic>
          <a:graphicData uri="http://schemas.openxmlformats.org/drawingml/2006/table">
            <a:tbl>
              <a:tblPr/>
              <a:tblGrid>
                <a:gridCol w="1463040">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1810512">
                  <a:extLst>
                    <a:ext uri="{9D8B030D-6E8A-4147-A177-3AD203B41FA5}">
                      <a16:colId xmlns:a16="http://schemas.microsoft.com/office/drawing/2014/main" val="20002"/>
                    </a:ext>
                  </a:extLst>
                </a:gridCol>
                <a:gridCol w="1810512">
                  <a:extLst>
                    <a:ext uri="{9D8B030D-6E8A-4147-A177-3AD203B41FA5}">
                      <a16:colId xmlns:a16="http://schemas.microsoft.com/office/drawing/2014/main" val="20003"/>
                    </a:ext>
                  </a:extLst>
                </a:gridCol>
                <a:gridCol w="1792224">
                  <a:extLst>
                    <a:ext uri="{9D8B030D-6E8A-4147-A177-3AD203B41FA5}">
                      <a16:colId xmlns:a16="http://schemas.microsoft.com/office/drawing/2014/main" val="20004"/>
                    </a:ext>
                  </a:extLst>
                </a:gridCol>
              </a:tblGrid>
              <a:tr h="655320">
                <a:tc>
                  <a:txBody>
                    <a:bodyPr/>
                    <a:lstStyle/>
                    <a:p>
                      <a:pPr marL="0" indent="0">
                        <a:buNone/>
                      </a:pPr>
                      <a:r>
                        <a:rPr lang="en-US" sz="900" b="1" dirty="0">
                          <a:solidFill>
                            <a:srgbClr val="FFFFFF"/>
                          </a:solidFill>
                          <a:latin typeface="Arial" pitchFamily="34" charset="0"/>
                          <a:ea typeface="Arial" pitchFamily="34" charset="-122"/>
                          <a:cs typeface="Arial" pitchFamily="34" charset="-120"/>
                        </a:rPr>
                        <a:t>Behaviour</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9FE3"/>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Not Yet Demonstrated (0)</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Developing (2)</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45309"/>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Practised (7)</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7A3E"/>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Exemplary (10)</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655320">
                <a:tc>
                  <a:txBody>
                    <a:bodyPr/>
                    <a:lstStyle/>
                    <a:p>
                      <a:pPr marL="0" indent="0">
                        <a:buNone/>
                      </a:pPr>
                      <a:r>
                        <a:rPr lang="en-US" sz="900" dirty="0">
                          <a:solidFill>
                            <a:srgbClr val="2B2B2B"/>
                          </a:solidFill>
                          <a:latin typeface="Arial" pitchFamily="34" charset="0"/>
                          <a:ea typeface="Arial" pitchFamily="34" charset="-122"/>
                          <a:cs typeface="Arial" pitchFamily="34" charset="-120"/>
                        </a:rPr>
                        <a:t>Safety Leadership</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Safety is delegated. Leader rarely visible on shopfloor.</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Leader attends safety meetings but engagement is passive.</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Leader conducts regular safety walks and acts on findings.</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Leader coaches others on safety culture. Near-miss reporting is celebrated.</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5320">
                <a:tc>
                  <a:txBody>
                    <a:bodyPr/>
                    <a:lstStyle/>
                    <a:p>
                      <a:pPr marL="0" indent="0">
                        <a:buNone/>
                      </a:pPr>
                      <a:r>
                        <a:rPr lang="en-US" sz="900" dirty="0">
                          <a:solidFill>
                            <a:srgbClr val="2B2B2B"/>
                          </a:solidFill>
                          <a:latin typeface="Arial" pitchFamily="34" charset="0"/>
                          <a:ea typeface="Arial" pitchFamily="34" charset="-122"/>
                          <a:cs typeface="Arial" pitchFamily="34" charset="-120"/>
                        </a:rPr>
                        <a:t>Strategic Direction</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Team unaware of company strategy or objectives.</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Team have been told the strategy but cannot articulate it.</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Team understand objectives and their individual contribution.</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Team co-own strategy. Cascade is two-way. Everyone can explain their impact.</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5320">
                <a:tc>
                  <a:txBody>
                    <a:bodyPr/>
                    <a:lstStyle/>
                    <a:p>
                      <a:pPr marL="0" indent="0">
                        <a:buNone/>
                      </a:pPr>
                      <a:r>
                        <a:rPr lang="en-US" sz="900" dirty="0">
                          <a:solidFill>
                            <a:srgbClr val="2B2B2B"/>
                          </a:solidFill>
                          <a:latin typeface="Arial" pitchFamily="34" charset="0"/>
                          <a:ea typeface="Arial" pitchFamily="34" charset="-122"/>
                          <a:cs typeface="Arial" pitchFamily="34" charset="-120"/>
                        </a:rPr>
                        <a:t>People Development</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No PDPs in place. Training is reactive.</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PDPs exist but are rarely reviewed or acted upon.</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PDPs are live, reviewed annually, linked to strategy.</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Leader coaches team members. Succession is planned. Talent is developed proactively.</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5320">
                <a:tc>
                  <a:txBody>
                    <a:bodyPr/>
                    <a:lstStyle/>
                    <a:p>
                      <a:pPr marL="0" indent="0">
                        <a:buNone/>
                      </a:pPr>
                      <a:r>
                        <a:rPr lang="en-US" sz="900" dirty="0">
                          <a:solidFill>
                            <a:srgbClr val="2B2B2B"/>
                          </a:solidFill>
                          <a:latin typeface="Arial" pitchFamily="34" charset="0"/>
                          <a:ea typeface="Arial" pitchFamily="34" charset="-122"/>
                          <a:cs typeface="Arial" pitchFamily="34" charset="-120"/>
                        </a:rPr>
                        <a:t>Driving Performance</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KPIs not visible or discussed with team.</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KPIs displayed but team engagement is limited.</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KPIs reviewed in regular team meetings with clear actions.</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Team own their KPIs. CI is led from within the team. Accountability is mutual.</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5320">
                <a:tc>
                  <a:txBody>
                    <a:bodyPr/>
                    <a:lstStyle/>
                    <a:p>
                      <a:pPr marL="0" indent="0">
                        <a:buNone/>
                      </a:pPr>
                      <a:r>
                        <a:rPr lang="en-US" sz="900" dirty="0">
                          <a:solidFill>
                            <a:srgbClr val="2B2B2B"/>
                          </a:solidFill>
                          <a:latin typeface="Arial" pitchFamily="34" charset="0"/>
                          <a:ea typeface="Arial" pitchFamily="34" charset="-122"/>
                          <a:cs typeface="Arial" pitchFamily="34" charset="-120"/>
                        </a:rPr>
                        <a:t>Quality Focus</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Quality issues are escalated upward — no ownership at team level.</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Some quality awareness but inconsistent standards.</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Team understand quality requirements and own first-line quality checks.</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900" dirty="0">
                          <a:solidFill>
                            <a:srgbClr val="2B2B2B"/>
                          </a:solidFill>
                          <a:latin typeface="Arial" pitchFamily="34" charset="0"/>
                          <a:ea typeface="Arial" pitchFamily="34" charset="-122"/>
                          <a:cs typeface="Arial" pitchFamily="34" charset="-120"/>
                        </a:rPr>
                        <a:t>Quality is a team value. Non-conformances are actively reported and analysed.</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Rectangle 1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tretch>
            <a:fillRect/>
          </a:stretch>
        </p:blipFill>
        <p:spPr>
          <a:xfrm>
            <a:off x="7562088" y="100584"/>
            <a:ext cx="566928" cy="347472"/>
          </a:xfrm>
          <a:prstGeom prst="rect">
            <a:avLst/>
          </a:prstGeom>
        </p:spPr>
      </p:pic>
      <p:pic>
        <p:nvPicPr>
          <p:cNvPr id="13" name="Picture 12" descr="image.png"/>
          <p:cNvPicPr>
            <a:picLocks noChangeAspect="1"/>
          </p:cNvPicPr>
          <p:nvPr/>
        </p:nvPicPr>
        <p:blipFill>
          <a:blip r:embed="rId4"/>
          <a:stretch>
            <a:fillRect/>
          </a:stretch>
        </p:blipFill>
        <p:spPr>
          <a:xfrm>
            <a:off x="8174736" y="100584"/>
            <a:ext cx="658368" cy="347472"/>
          </a:xfrm>
          <a:prstGeom prst="rect">
            <a:avLst/>
          </a:prstGeom>
        </p:spPr>
      </p:pic>
      <p:sp>
        <p:nvSpPr>
          <p:cNvPr id="14" name="Rectangle 1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C3D"/>
        </a:solidFill>
        <a:effectLst/>
      </p:bgPr>
    </p:bg>
    <p:spTree>
      <p:nvGrpSpPr>
        <p:cNvPr id="1" name=""/>
        <p:cNvGrpSpPr/>
        <p:nvPr/>
      </p:nvGrpSpPr>
      <p:grpSpPr>
        <a:xfrm>
          <a:off x="0" y="0"/>
          <a:ext cx="0" cy="0"/>
          <a:chOff x="0" y="0"/>
          <a:chExt cx="0" cy="0"/>
        </a:xfrm>
      </p:grpSpPr>
      <p:sp>
        <p:nvSpPr>
          <p:cNvPr id="3" name="Text 0"/>
          <p:cNvSpPr/>
          <p:nvPr/>
        </p:nvSpPr>
        <p:spPr>
          <a:xfrm>
            <a:off x="274320" y="182880"/>
            <a:ext cx="7132320" cy="64008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Nuclear Safety Leadership Behaviours</a:t>
            </a:r>
            <a:endParaRPr lang="en-US" sz="2800" dirty="0"/>
          </a:p>
        </p:txBody>
      </p:sp>
      <p:sp>
        <p:nvSpPr>
          <p:cNvPr id="4" name="Text 1"/>
          <p:cNvSpPr/>
          <p:nvPr/>
        </p:nvSpPr>
        <p:spPr>
          <a:xfrm>
            <a:off x="274320" y="777240"/>
            <a:ext cx="8595360" cy="274320"/>
          </a:xfrm>
          <a:prstGeom prst="rect">
            <a:avLst/>
          </a:prstGeom>
          <a:noFill/>
          <a:ln/>
        </p:spPr>
        <p:txBody>
          <a:bodyPr wrap="square" lIns="0" tIns="0" rIns="0" bIns="0" rtlCol="0" anchor="ctr"/>
          <a:lstStyle/>
          <a:p>
            <a:pPr marL="0" indent="0">
              <a:buNone/>
            </a:pPr>
            <a:r>
              <a:rPr lang="en-US" sz="1300" i="1" dirty="0">
                <a:solidFill>
                  <a:srgbClr val="A8D4EC"/>
                </a:solidFill>
                <a:latin typeface="Arial" pitchFamily="34" charset="0"/>
                <a:ea typeface="Arial" pitchFamily="34" charset="-122"/>
                <a:cs typeface="Arial" pitchFamily="34" charset="-120"/>
              </a:rPr>
              <a:t>What the F4N assessment and nuclear clients expect to see</a:t>
            </a:r>
            <a:endParaRPr lang="en-US" sz="1300" dirty="0"/>
          </a:p>
        </p:txBody>
      </p:sp>
      <p:sp>
        <p:nvSpPr>
          <p:cNvPr id="5" name="Shape 2"/>
          <p:cNvSpPr/>
          <p:nvPr/>
        </p:nvSpPr>
        <p:spPr>
          <a:xfrm>
            <a:off x="0" y="1097280"/>
            <a:ext cx="9144000" cy="36576"/>
          </a:xfrm>
          <a:prstGeom prst="rect">
            <a:avLst/>
          </a:prstGeom>
          <a:solidFill>
            <a:srgbClr val="009FE3"/>
          </a:solidFill>
          <a:ln w="12700">
            <a:solidFill>
              <a:srgbClr val="009FE3"/>
            </a:solidFill>
            <a:prstDash val="solid"/>
          </a:ln>
        </p:spPr>
        <p:txBody>
          <a:bodyPr/>
          <a:lstStyle/>
          <a:p>
            <a:endParaRPr lang="en-GB"/>
          </a:p>
        </p:txBody>
      </p:sp>
      <p:sp>
        <p:nvSpPr>
          <p:cNvPr id="6" name="Shape 3"/>
          <p:cNvSpPr/>
          <p:nvPr/>
        </p:nvSpPr>
        <p:spPr>
          <a:xfrm>
            <a:off x="228600" y="1234440"/>
            <a:ext cx="2788920" cy="1600200"/>
          </a:xfrm>
          <a:prstGeom prst="rect">
            <a:avLst/>
          </a:prstGeom>
          <a:solidFill>
            <a:srgbClr val="009FE3">
              <a:alpha val="20000"/>
            </a:srgbClr>
          </a:solidFill>
          <a:ln w="12700">
            <a:solidFill>
              <a:srgbClr val="009FE3"/>
            </a:solidFill>
            <a:prstDash val="solid"/>
          </a:ln>
        </p:spPr>
        <p:txBody>
          <a:bodyPr/>
          <a:lstStyle/>
          <a:p>
            <a:endParaRPr lang="en-GB"/>
          </a:p>
        </p:txBody>
      </p:sp>
      <p:sp>
        <p:nvSpPr>
          <p:cNvPr id="7" name="Text 4"/>
          <p:cNvSpPr/>
          <p:nvPr/>
        </p:nvSpPr>
        <p:spPr>
          <a:xfrm>
            <a:off x="320040" y="1325880"/>
            <a:ext cx="457200" cy="4114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8" name="Text 5"/>
          <p:cNvSpPr/>
          <p:nvPr/>
        </p:nvSpPr>
        <p:spPr>
          <a:xfrm>
            <a:off x="795528" y="1344168"/>
            <a:ext cx="210312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ALARP Decision-Making</a:t>
            </a:r>
            <a:endParaRPr lang="en-US" sz="1100" dirty="0"/>
          </a:p>
        </p:txBody>
      </p:sp>
      <p:sp>
        <p:nvSpPr>
          <p:cNvPr id="9" name="Text 6"/>
          <p:cNvSpPr/>
          <p:nvPr/>
        </p:nvSpPr>
        <p:spPr>
          <a:xfrm>
            <a:off x="338328" y="1801368"/>
            <a:ext cx="2578608" cy="896112"/>
          </a:xfrm>
          <a:prstGeom prst="rect">
            <a:avLst/>
          </a:prstGeom>
          <a:noFill/>
          <a:ln/>
        </p:spPr>
        <p:txBody>
          <a:bodyPr wrap="square" lIns="0" tIns="0" rIns="0" bIns="0" rtlCol="0" anchor="ctr"/>
          <a:lstStyle/>
          <a:p>
            <a:pPr marL="0" indent="0">
              <a:buNone/>
            </a:pPr>
            <a:r>
              <a:rPr lang="en-US" sz="1000" dirty="0">
                <a:solidFill>
                  <a:srgbClr val="C0DFEF"/>
                </a:solidFill>
                <a:latin typeface="Arial" pitchFamily="34" charset="0"/>
                <a:ea typeface="Arial" pitchFamily="34" charset="-122"/>
                <a:cs typeface="Arial" pitchFamily="34" charset="-120"/>
              </a:rPr>
              <a:t>Every decision with safety implications is demonstrably ALARP. Leaders can explain their reasoning.</a:t>
            </a:r>
            <a:endParaRPr lang="en-US" sz="1000" dirty="0"/>
          </a:p>
        </p:txBody>
      </p:sp>
      <p:sp>
        <p:nvSpPr>
          <p:cNvPr id="10" name="Shape 7"/>
          <p:cNvSpPr/>
          <p:nvPr/>
        </p:nvSpPr>
        <p:spPr>
          <a:xfrm>
            <a:off x="3200400" y="1234440"/>
            <a:ext cx="2788920" cy="1600200"/>
          </a:xfrm>
          <a:prstGeom prst="rect">
            <a:avLst/>
          </a:prstGeom>
          <a:solidFill>
            <a:srgbClr val="009FE3">
              <a:alpha val="20000"/>
            </a:srgbClr>
          </a:solidFill>
          <a:ln w="12700">
            <a:solidFill>
              <a:srgbClr val="009FE3"/>
            </a:solidFill>
            <a:prstDash val="solid"/>
          </a:ln>
        </p:spPr>
        <p:txBody>
          <a:bodyPr/>
          <a:lstStyle/>
          <a:p>
            <a:endParaRPr lang="en-GB"/>
          </a:p>
        </p:txBody>
      </p:sp>
      <p:sp>
        <p:nvSpPr>
          <p:cNvPr id="11" name="Text 8"/>
          <p:cNvSpPr/>
          <p:nvPr/>
        </p:nvSpPr>
        <p:spPr>
          <a:xfrm>
            <a:off x="3291840" y="1325880"/>
            <a:ext cx="457200" cy="4114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2" name="Text 9"/>
          <p:cNvSpPr/>
          <p:nvPr/>
        </p:nvSpPr>
        <p:spPr>
          <a:xfrm>
            <a:off x="3767328" y="1344168"/>
            <a:ext cx="210312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Stop-Work Authority</a:t>
            </a:r>
            <a:endParaRPr lang="en-US" sz="1100" dirty="0"/>
          </a:p>
        </p:txBody>
      </p:sp>
      <p:sp>
        <p:nvSpPr>
          <p:cNvPr id="13" name="Text 10"/>
          <p:cNvSpPr/>
          <p:nvPr/>
        </p:nvSpPr>
        <p:spPr>
          <a:xfrm>
            <a:off x="3310128" y="1801368"/>
            <a:ext cx="2578608" cy="896112"/>
          </a:xfrm>
          <a:prstGeom prst="rect">
            <a:avLst/>
          </a:prstGeom>
          <a:noFill/>
          <a:ln/>
        </p:spPr>
        <p:txBody>
          <a:bodyPr wrap="square" lIns="0" tIns="0" rIns="0" bIns="0" rtlCol="0" anchor="ctr"/>
          <a:lstStyle/>
          <a:p>
            <a:pPr marL="0" indent="0">
              <a:buNone/>
            </a:pPr>
            <a:r>
              <a:rPr lang="en-US" sz="1000" dirty="0">
                <a:solidFill>
                  <a:srgbClr val="C0DFEF"/>
                </a:solidFill>
                <a:latin typeface="Arial" pitchFamily="34" charset="0"/>
                <a:ea typeface="Arial" pitchFamily="34" charset="-122"/>
                <a:cs typeface="Arial" pitchFamily="34" charset="-120"/>
              </a:rPr>
              <a:t>Leaders actively encourage and celebrate staff who stop work for safety concerns. Never penalise.</a:t>
            </a:r>
            <a:endParaRPr lang="en-US" sz="1000" dirty="0"/>
          </a:p>
        </p:txBody>
      </p:sp>
      <p:sp>
        <p:nvSpPr>
          <p:cNvPr id="14" name="Shape 11"/>
          <p:cNvSpPr/>
          <p:nvPr/>
        </p:nvSpPr>
        <p:spPr>
          <a:xfrm>
            <a:off x="6172200" y="1234440"/>
            <a:ext cx="2788920" cy="1600200"/>
          </a:xfrm>
          <a:prstGeom prst="rect">
            <a:avLst/>
          </a:prstGeom>
          <a:solidFill>
            <a:srgbClr val="009FE3">
              <a:alpha val="20000"/>
            </a:srgbClr>
          </a:solidFill>
          <a:ln w="12700">
            <a:solidFill>
              <a:srgbClr val="009FE3"/>
            </a:solidFill>
            <a:prstDash val="solid"/>
          </a:ln>
        </p:spPr>
        <p:txBody>
          <a:bodyPr/>
          <a:lstStyle/>
          <a:p>
            <a:endParaRPr lang="en-GB"/>
          </a:p>
        </p:txBody>
      </p:sp>
      <p:sp>
        <p:nvSpPr>
          <p:cNvPr id="15" name="Text 12"/>
          <p:cNvSpPr/>
          <p:nvPr/>
        </p:nvSpPr>
        <p:spPr>
          <a:xfrm>
            <a:off x="6263640" y="1325880"/>
            <a:ext cx="457200" cy="4114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6" name="Text 13"/>
          <p:cNvSpPr/>
          <p:nvPr/>
        </p:nvSpPr>
        <p:spPr>
          <a:xfrm>
            <a:off x="6739128" y="1344168"/>
            <a:ext cx="210312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Questioning Attitude</a:t>
            </a:r>
            <a:endParaRPr lang="en-US" sz="1100" dirty="0"/>
          </a:p>
        </p:txBody>
      </p:sp>
      <p:sp>
        <p:nvSpPr>
          <p:cNvPr id="17" name="Text 14"/>
          <p:cNvSpPr/>
          <p:nvPr/>
        </p:nvSpPr>
        <p:spPr>
          <a:xfrm>
            <a:off x="6281928" y="1801368"/>
            <a:ext cx="2578608" cy="896112"/>
          </a:xfrm>
          <a:prstGeom prst="rect">
            <a:avLst/>
          </a:prstGeom>
          <a:noFill/>
          <a:ln/>
        </p:spPr>
        <p:txBody>
          <a:bodyPr wrap="square" lIns="0" tIns="0" rIns="0" bIns="0" rtlCol="0" anchor="ctr"/>
          <a:lstStyle/>
          <a:p>
            <a:pPr marL="0" indent="0">
              <a:buNone/>
            </a:pPr>
            <a:r>
              <a:rPr lang="en-US" sz="1000" dirty="0">
                <a:solidFill>
                  <a:srgbClr val="C0DFEF"/>
                </a:solidFill>
                <a:latin typeface="Arial" pitchFamily="34" charset="0"/>
                <a:ea typeface="Arial" pitchFamily="34" charset="-122"/>
                <a:cs typeface="Arial" pitchFamily="34" charset="-120"/>
              </a:rPr>
              <a:t>Leaders ask challenging questions. They don't accept 'we've always done it this way' as an answer.</a:t>
            </a:r>
            <a:endParaRPr lang="en-US" sz="1000" dirty="0"/>
          </a:p>
        </p:txBody>
      </p:sp>
      <p:sp>
        <p:nvSpPr>
          <p:cNvPr id="18" name="Shape 15"/>
          <p:cNvSpPr/>
          <p:nvPr/>
        </p:nvSpPr>
        <p:spPr>
          <a:xfrm>
            <a:off x="228600" y="3017520"/>
            <a:ext cx="2788920" cy="1600200"/>
          </a:xfrm>
          <a:prstGeom prst="rect">
            <a:avLst/>
          </a:prstGeom>
          <a:solidFill>
            <a:srgbClr val="009FE3">
              <a:alpha val="20000"/>
            </a:srgbClr>
          </a:solidFill>
          <a:ln w="12700">
            <a:solidFill>
              <a:srgbClr val="009FE3"/>
            </a:solidFill>
            <a:prstDash val="solid"/>
          </a:ln>
        </p:spPr>
        <p:txBody>
          <a:bodyPr/>
          <a:lstStyle/>
          <a:p>
            <a:endParaRPr lang="en-GB"/>
          </a:p>
        </p:txBody>
      </p:sp>
      <p:sp>
        <p:nvSpPr>
          <p:cNvPr id="19" name="Text 16"/>
          <p:cNvSpPr/>
          <p:nvPr/>
        </p:nvSpPr>
        <p:spPr>
          <a:xfrm>
            <a:off x="320040" y="3108960"/>
            <a:ext cx="457200" cy="4114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20" name="Text 17"/>
          <p:cNvSpPr/>
          <p:nvPr/>
        </p:nvSpPr>
        <p:spPr>
          <a:xfrm>
            <a:off x="795528" y="3127248"/>
            <a:ext cx="210312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Visible Presence</a:t>
            </a:r>
            <a:endParaRPr lang="en-US" sz="1100" dirty="0"/>
          </a:p>
        </p:txBody>
      </p:sp>
      <p:sp>
        <p:nvSpPr>
          <p:cNvPr id="21" name="Text 18"/>
          <p:cNvSpPr/>
          <p:nvPr/>
        </p:nvSpPr>
        <p:spPr>
          <a:xfrm>
            <a:off x="338328" y="3584448"/>
            <a:ext cx="2578608" cy="896112"/>
          </a:xfrm>
          <a:prstGeom prst="rect">
            <a:avLst/>
          </a:prstGeom>
          <a:noFill/>
          <a:ln/>
        </p:spPr>
        <p:txBody>
          <a:bodyPr wrap="square" lIns="0" tIns="0" rIns="0" bIns="0" rtlCol="0" anchor="ctr"/>
          <a:lstStyle/>
          <a:p>
            <a:pPr marL="0" indent="0">
              <a:buNone/>
            </a:pPr>
            <a:r>
              <a:rPr lang="en-US" sz="1000" dirty="0">
                <a:solidFill>
                  <a:srgbClr val="C0DFEF"/>
                </a:solidFill>
                <a:latin typeface="Arial" pitchFamily="34" charset="0"/>
                <a:ea typeface="Arial" pitchFamily="34" charset="-122"/>
                <a:cs typeface="Arial" pitchFamily="34" charset="-120"/>
              </a:rPr>
              <a:t>Regular, meaningful shopfloor engagement — not walkabouts. Talk about safety, quality, and culture.</a:t>
            </a:r>
            <a:endParaRPr lang="en-US" sz="1000" dirty="0"/>
          </a:p>
        </p:txBody>
      </p:sp>
      <p:sp>
        <p:nvSpPr>
          <p:cNvPr id="22" name="Shape 19"/>
          <p:cNvSpPr/>
          <p:nvPr/>
        </p:nvSpPr>
        <p:spPr>
          <a:xfrm>
            <a:off x="3200400" y="3017520"/>
            <a:ext cx="2788920" cy="1600200"/>
          </a:xfrm>
          <a:prstGeom prst="rect">
            <a:avLst/>
          </a:prstGeom>
          <a:solidFill>
            <a:srgbClr val="009FE3">
              <a:alpha val="20000"/>
            </a:srgbClr>
          </a:solidFill>
          <a:ln w="12700">
            <a:solidFill>
              <a:srgbClr val="009FE3"/>
            </a:solidFill>
            <a:prstDash val="solid"/>
          </a:ln>
        </p:spPr>
        <p:txBody>
          <a:bodyPr/>
          <a:lstStyle/>
          <a:p>
            <a:endParaRPr lang="en-GB"/>
          </a:p>
        </p:txBody>
      </p:sp>
      <p:sp>
        <p:nvSpPr>
          <p:cNvPr id="23" name="Text 20"/>
          <p:cNvSpPr/>
          <p:nvPr/>
        </p:nvSpPr>
        <p:spPr>
          <a:xfrm>
            <a:off x="3291840" y="3108960"/>
            <a:ext cx="457200" cy="4114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24" name="Text 21"/>
          <p:cNvSpPr/>
          <p:nvPr/>
        </p:nvSpPr>
        <p:spPr>
          <a:xfrm>
            <a:off x="3767328" y="3127248"/>
            <a:ext cx="210312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Learning from Events</a:t>
            </a:r>
            <a:endParaRPr lang="en-US" sz="1100" dirty="0"/>
          </a:p>
        </p:txBody>
      </p:sp>
      <p:sp>
        <p:nvSpPr>
          <p:cNvPr id="25" name="Text 22"/>
          <p:cNvSpPr/>
          <p:nvPr/>
        </p:nvSpPr>
        <p:spPr>
          <a:xfrm>
            <a:off x="3310128" y="3584448"/>
            <a:ext cx="2578608" cy="896112"/>
          </a:xfrm>
          <a:prstGeom prst="rect">
            <a:avLst/>
          </a:prstGeom>
          <a:noFill/>
          <a:ln/>
        </p:spPr>
        <p:txBody>
          <a:bodyPr wrap="square" lIns="0" tIns="0" rIns="0" bIns="0" rtlCol="0" anchor="ctr"/>
          <a:lstStyle/>
          <a:p>
            <a:pPr marL="0" indent="0">
              <a:buNone/>
            </a:pPr>
            <a:r>
              <a:rPr lang="en-US" sz="1000" dirty="0">
                <a:solidFill>
                  <a:srgbClr val="C0DFEF"/>
                </a:solidFill>
                <a:latin typeface="Arial" pitchFamily="34" charset="0"/>
                <a:ea typeface="Arial" pitchFamily="34" charset="-122"/>
                <a:cs typeface="Arial" pitchFamily="34" charset="-120"/>
              </a:rPr>
              <a:t>OPEX (Operational Experience) is reviewed and shared. Lessons from incidents are embedded in processes.</a:t>
            </a:r>
            <a:endParaRPr lang="en-US" sz="1000" dirty="0"/>
          </a:p>
        </p:txBody>
      </p:sp>
      <p:sp>
        <p:nvSpPr>
          <p:cNvPr id="26" name="Shape 23"/>
          <p:cNvSpPr/>
          <p:nvPr/>
        </p:nvSpPr>
        <p:spPr>
          <a:xfrm>
            <a:off x="6172200" y="3017520"/>
            <a:ext cx="2788920" cy="1600200"/>
          </a:xfrm>
          <a:prstGeom prst="rect">
            <a:avLst/>
          </a:prstGeom>
          <a:solidFill>
            <a:srgbClr val="009FE3">
              <a:alpha val="20000"/>
            </a:srgbClr>
          </a:solidFill>
          <a:ln w="12700">
            <a:solidFill>
              <a:srgbClr val="009FE3"/>
            </a:solidFill>
            <a:prstDash val="solid"/>
          </a:ln>
        </p:spPr>
        <p:txBody>
          <a:bodyPr/>
          <a:lstStyle/>
          <a:p>
            <a:endParaRPr lang="en-GB"/>
          </a:p>
        </p:txBody>
      </p:sp>
      <p:sp>
        <p:nvSpPr>
          <p:cNvPr id="27" name="Text 24"/>
          <p:cNvSpPr/>
          <p:nvPr/>
        </p:nvSpPr>
        <p:spPr>
          <a:xfrm>
            <a:off x="6263640" y="3108960"/>
            <a:ext cx="457200" cy="4114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28" name="Text 25"/>
          <p:cNvSpPr/>
          <p:nvPr/>
        </p:nvSpPr>
        <p:spPr>
          <a:xfrm>
            <a:off x="6739128" y="3127248"/>
            <a:ext cx="210312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Conservative Culture</a:t>
            </a:r>
            <a:endParaRPr lang="en-US" sz="1100" dirty="0"/>
          </a:p>
        </p:txBody>
      </p:sp>
      <p:sp>
        <p:nvSpPr>
          <p:cNvPr id="29" name="Text 26"/>
          <p:cNvSpPr/>
          <p:nvPr/>
        </p:nvSpPr>
        <p:spPr>
          <a:xfrm>
            <a:off x="6281928" y="3584448"/>
            <a:ext cx="2578608" cy="896112"/>
          </a:xfrm>
          <a:prstGeom prst="rect">
            <a:avLst/>
          </a:prstGeom>
          <a:noFill/>
          <a:ln/>
        </p:spPr>
        <p:txBody>
          <a:bodyPr wrap="square" lIns="0" tIns="0" rIns="0" bIns="0" rtlCol="0" anchor="ctr"/>
          <a:lstStyle/>
          <a:p>
            <a:pPr marL="0" indent="0">
              <a:buNone/>
            </a:pPr>
            <a:r>
              <a:rPr lang="en-US" sz="1000" dirty="0">
                <a:solidFill>
                  <a:srgbClr val="C0DFEF"/>
                </a:solidFill>
                <a:latin typeface="Arial" pitchFamily="34" charset="0"/>
                <a:ea typeface="Arial" pitchFamily="34" charset="-122"/>
                <a:cs typeface="Arial" pitchFamily="34" charset="-120"/>
              </a:rPr>
              <a:t>Schedule and cost are always secondary to safety and quality. This culture starts at the top.</a:t>
            </a:r>
            <a:endParaRPr lang="en-US" sz="1000" dirty="0"/>
          </a:p>
        </p:txBody>
      </p:sp>
      <p:sp>
        <p:nvSpPr>
          <p:cNvPr id="32" name="Text 29"/>
          <p:cNvSpPr/>
          <p:nvPr/>
        </p:nvSpPr>
        <p:spPr>
          <a:xfrm>
            <a:off x="8229600" y="4892040"/>
            <a:ext cx="640080" cy="246888"/>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5</a:t>
            </a:r>
            <a:endParaRPr lang="en-US" sz="800" dirty="0"/>
          </a:p>
        </p:txBody>
      </p:sp>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5"/>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4"/>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457848-3216-4CCE-AB50-C33306DB6D33}"/>
</file>

<file path=customXml/itemProps2.xml><?xml version="1.0" encoding="utf-8"?>
<ds:datastoreItem xmlns:ds="http://schemas.openxmlformats.org/officeDocument/2006/customXml" ds:itemID="{64C33941-5337-4FA2-8424-D691729AA69D}"/>
</file>

<file path=customXml/itemProps3.xml><?xml version="1.0" encoding="utf-8"?>
<ds:datastoreItem xmlns:ds="http://schemas.openxmlformats.org/officeDocument/2006/customXml" ds:itemID="{419BD84A-7725-4310-9B5B-293908447E48}"/>
</file>

<file path=docProps/app.xml><?xml version="1.0" encoding="utf-8"?>
<Properties xmlns="http://schemas.openxmlformats.org/officeDocument/2006/extended-properties" xmlns:vt="http://schemas.openxmlformats.org/officeDocument/2006/docPropsVTypes">
  <TotalTime>0</TotalTime>
  <Words>808</Words>
  <Application>Microsoft Office PowerPoint</Application>
  <PresentationFormat>On-screen Show (16:9)</PresentationFormat>
  <Paragraphs>94</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 08 Leadership Behaviour Framework</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