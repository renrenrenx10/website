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media/image1.jpg" ContentType="image/jpg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543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182880" y="0"/>
            <a:ext cx="73152" cy="51435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KPI DASHBOARD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Strategy &amp; Leadership  |  SL-06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  |  Monthly SLT Review  |  [Month / Year]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182880" y="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  |  Strategic KPI Dashboard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83680" y="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Month: [Month / Year]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37160" y="658368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137160" y="658368"/>
            <a:ext cx="210312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" y="65836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892808" y="73152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10312" y="100584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Without Incident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0312" y="1298448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210312" y="2103120"/>
            <a:ext cx="1956816" cy="219456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28600" y="210312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0 incidents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10312" y="2359152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[← Trend]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377440" y="658368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2377440" y="658368"/>
            <a:ext cx="210312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377440" y="65836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33088" y="73152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2450592" y="100584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Pass Yield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450592" y="1298448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3000" dirty="0"/>
          </a:p>
        </p:txBody>
      </p:sp>
      <p:sp>
        <p:nvSpPr>
          <p:cNvPr id="21" name="Shape 18"/>
          <p:cNvSpPr/>
          <p:nvPr/>
        </p:nvSpPr>
        <p:spPr>
          <a:xfrm>
            <a:off x="2450592" y="2103120"/>
            <a:ext cx="1956816" cy="219456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2468880" y="210312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 95%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450592" y="2359152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[← Trend]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617720" y="658368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4617720" y="658368"/>
            <a:ext cx="210312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4617720" y="65836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373368" y="731520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4690872" y="100584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Delivery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90872" y="1298448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3000" dirty="0"/>
          </a:p>
        </p:txBody>
      </p:sp>
      <p:sp>
        <p:nvSpPr>
          <p:cNvPr id="30" name="Shape 27"/>
          <p:cNvSpPr/>
          <p:nvPr/>
        </p:nvSpPr>
        <p:spPr>
          <a:xfrm>
            <a:off x="4690872" y="2103120"/>
            <a:ext cx="1956816" cy="219456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4709160" y="210312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 90%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690872" y="2359152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[← Trend]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858000" y="658368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6858000" y="658368"/>
            <a:ext cx="210312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6858000" y="65836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613648" y="73152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6931152" y="100584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Variance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931152" y="1298448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3000" dirty="0"/>
          </a:p>
        </p:txBody>
      </p:sp>
      <p:sp>
        <p:nvSpPr>
          <p:cNvPr id="39" name="Shape 36"/>
          <p:cNvSpPr/>
          <p:nvPr/>
        </p:nvSpPr>
        <p:spPr>
          <a:xfrm>
            <a:off x="6931152" y="2103120"/>
            <a:ext cx="1956816" cy="219456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6949440" y="210312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≤ ±5%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931152" y="2359152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[← Trend]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137160" y="2807208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137160" y="2807208"/>
            <a:ext cx="210312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137160" y="28072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892808" y="288036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210312" y="315468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Rate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210312" y="3447288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3000" dirty="0"/>
          </a:p>
        </p:txBody>
      </p:sp>
      <p:sp>
        <p:nvSpPr>
          <p:cNvPr id="48" name="Shape 45"/>
          <p:cNvSpPr/>
          <p:nvPr/>
        </p:nvSpPr>
        <p:spPr>
          <a:xfrm>
            <a:off x="210312" y="4251960"/>
            <a:ext cx="1956816" cy="219456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228600" y="42519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 95%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210312" y="4507992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[← Trend]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2377440" y="2807208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49"/>
          <p:cNvSpPr/>
          <p:nvPr/>
        </p:nvSpPr>
        <p:spPr>
          <a:xfrm>
            <a:off x="2377440" y="2807208"/>
            <a:ext cx="210312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2377440" y="28072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SCORE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4133088" y="2880360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2"/>
          <p:cNvSpPr/>
          <p:nvPr/>
        </p:nvSpPr>
        <p:spPr>
          <a:xfrm>
            <a:off x="2450592" y="315468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Assessment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2450592" y="3447288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3000" dirty="0"/>
          </a:p>
        </p:txBody>
      </p:sp>
      <p:sp>
        <p:nvSpPr>
          <p:cNvPr id="57" name="Shape 54"/>
          <p:cNvSpPr/>
          <p:nvPr/>
        </p:nvSpPr>
        <p:spPr>
          <a:xfrm>
            <a:off x="2450592" y="4251960"/>
            <a:ext cx="1956816" cy="219456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/>
          <p:nvPr/>
        </p:nvSpPr>
        <p:spPr>
          <a:xfrm>
            <a:off x="2468880" y="42519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 65%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2450592" y="4507992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[← Trend]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617720" y="2807208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4617720" y="2807208"/>
            <a:ext cx="210312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/>
          <p:nvPr/>
        </p:nvSpPr>
        <p:spPr>
          <a:xfrm>
            <a:off x="4617720" y="28072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REVENUE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6373368" y="2880360"/>
            <a:ext cx="182880" cy="1828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/>
          <p:nvPr/>
        </p:nvSpPr>
        <p:spPr>
          <a:xfrm>
            <a:off x="4690872" y="315468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Orders £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4690872" y="3447288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£[X]k</a:t>
            </a:r>
            <a:endParaRPr lang="en-US" sz="3000" dirty="0"/>
          </a:p>
        </p:txBody>
      </p:sp>
      <p:sp>
        <p:nvSpPr>
          <p:cNvPr id="66" name="Shape 63"/>
          <p:cNvSpPr/>
          <p:nvPr/>
        </p:nvSpPr>
        <p:spPr>
          <a:xfrm>
            <a:off x="4690872" y="4251960"/>
            <a:ext cx="1956816" cy="219456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4"/>
          <p:cNvSpPr/>
          <p:nvPr/>
        </p:nvSpPr>
        <p:spPr>
          <a:xfrm>
            <a:off x="4709160" y="42519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£[X]k target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4690872" y="4507992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[← Trend]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6858000" y="2807208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7"/>
          <p:cNvSpPr/>
          <p:nvPr/>
        </p:nvSpPr>
        <p:spPr>
          <a:xfrm>
            <a:off x="6858000" y="2807208"/>
            <a:ext cx="210312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8"/>
          <p:cNvSpPr/>
          <p:nvPr/>
        </p:nvSpPr>
        <p:spPr>
          <a:xfrm>
            <a:off x="6858000" y="28072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BOOK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8613648" y="288036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0"/>
          <p:cNvSpPr/>
          <p:nvPr/>
        </p:nvSpPr>
        <p:spPr>
          <a:xfrm>
            <a:off x="6931152" y="3154680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Orders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6931152" y="3447288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£[X]M</a:t>
            </a:r>
            <a:endParaRPr lang="en-US" sz="3000" dirty="0"/>
          </a:p>
        </p:txBody>
      </p:sp>
      <p:sp>
        <p:nvSpPr>
          <p:cNvPr id="75" name="Shape 72"/>
          <p:cNvSpPr/>
          <p:nvPr/>
        </p:nvSpPr>
        <p:spPr>
          <a:xfrm>
            <a:off x="6931152" y="4251960"/>
            <a:ext cx="1956816" cy="219456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/>
          <p:nvPr/>
        </p:nvSpPr>
        <p:spPr>
          <a:xfrm>
            <a:off x="6949440" y="42519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£[X]M minimum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6931152" y="4507992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[← Trend]</a:t>
            </a:r>
            <a:endParaRPr lang="en-US" sz="800" dirty="0"/>
          </a:p>
        </p:txBody>
      </p:sp>
      <p:sp>
        <p:nvSpPr>
          <p:cNvPr id="78" name="Rectangle 7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81" name="Rectangle 8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22860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&amp; Commentary  —  [Month / Year]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" y="749808"/>
            <a:ext cx="91440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" y="7498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1560" y="749808"/>
            <a:ext cx="228600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051560" y="749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/ Highlight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37560" y="749808"/>
            <a:ext cx="228600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337560" y="749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Required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23560" y="749808"/>
            <a:ext cx="82296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623560" y="74980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46520" y="749808"/>
            <a:ext cx="82296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446520" y="74980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Date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269480" y="749808"/>
            <a:ext cx="82296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7269480" y="74980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37160" y="1097280"/>
            <a:ext cx="9144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192024" y="111556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051560" y="1097280"/>
            <a:ext cx="22860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1106424" y="111556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Near miss event reported in Zone A]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337560" y="1097280"/>
            <a:ext cx="22860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3392424" y="111556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Review and update risk assessment for Zone A]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623560" y="1097280"/>
            <a:ext cx="82296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5678424" y="1115568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446520" y="1097280"/>
            <a:ext cx="82296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6501384" y="1115568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269480" y="1097280"/>
            <a:ext cx="82296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7324344" y="1115568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37160" y="1481328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192024" y="149961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51560" y="148132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1106424" y="149961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NCR raised on Batch 247]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337560" y="148132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3392424" y="149961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Root cause analysis and 8D report]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623560" y="1481328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5678424" y="1499616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446520" y="1481328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6501384" y="1499616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269480" y="1481328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7324344" y="1499616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137160" y="1865376"/>
            <a:ext cx="9144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192024" y="188366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1051560" y="1865376"/>
            <a:ext cx="22860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1106424" y="1883664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OTD at 87% — below target]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3337560" y="1865376"/>
            <a:ext cx="22860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3392424" y="1883664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Review scheduling and customer commitments]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5623560" y="1865376"/>
            <a:ext cx="82296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/>
          <p:nvPr/>
        </p:nvSpPr>
        <p:spPr>
          <a:xfrm>
            <a:off x="5678424" y="1883664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6446520" y="1865376"/>
            <a:ext cx="82296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/>
          <p:nvPr/>
        </p:nvSpPr>
        <p:spPr>
          <a:xfrm>
            <a:off x="6501384" y="1883664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269480" y="1865376"/>
            <a:ext cx="82296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/>
          <p:nvPr/>
        </p:nvSpPr>
        <p:spPr>
          <a:xfrm>
            <a:off x="7324344" y="1883664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137160" y="224942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3"/>
          <p:cNvSpPr/>
          <p:nvPr/>
        </p:nvSpPr>
        <p:spPr>
          <a:xfrm>
            <a:off x="192024" y="2267712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1051560" y="2249424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/>
          <p:nvPr/>
        </p:nvSpPr>
        <p:spPr>
          <a:xfrm>
            <a:off x="1106424" y="226771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Material costs up 8%]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3337560" y="2249424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7"/>
          <p:cNvSpPr/>
          <p:nvPr/>
        </p:nvSpPr>
        <p:spPr>
          <a:xfrm>
            <a:off x="3392424" y="226771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Supplier negotiation and alternative sourcing]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5623560" y="2249424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/>
          <p:nvPr/>
        </p:nvSpPr>
        <p:spPr>
          <a:xfrm>
            <a:off x="5678424" y="226771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6446520" y="2249424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/>
          <p:nvPr/>
        </p:nvSpPr>
        <p:spPr>
          <a:xfrm>
            <a:off x="6501384" y="226771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7269480" y="2249424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/>
          <p:nvPr/>
        </p:nvSpPr>
        <p:spPr>
          <a:xfrm>
            <a:off x="7324344" y="226771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137160" y="2633472"/>
            <a:ext cx="9144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5"/>
          <p:cNvSpPr/>
          <p:nvPr/>
        </p:nvSpPr>
        <p:spPr>
          <a:xfrm>
            <a:off x="192024" y="2651760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1051560" y="2633472"/>
            <a:ext cx="22860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7"/>
          <p:cNvSpPr/>
          <p:nvPr/>
        </p:nvSpPr>
        <p:spPr>
          <a:xfrm>
            <a:off x="1106424" y="265176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2 vacancies unfilled &gt;60 days]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3337560" y="2633472"/>
            <a:ext cx="22860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/>
          <p:nvPr/>
        </p:nvSpPr>
        <p:spPr>
          <a:xfrm>
            <a:off x="3392424" y="265176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Escalate recruitment to agency]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5623560" y="2633472"/>
            <a:ext cx="82296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71"/>
          <p:cNvSpPr/>
          <p:nvPr/>
        </p:nvSpPr>
        <p:spPr>
          <a:xfrm>
            <a:off x="5678424" y="265176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6446520" y="2633472"/>
            <a:ext cx="82296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/>
          <p:nvPr/>
        </p:nvSpPr>
        <p:spPr>
          <a:xfrm>
            <a:off x="6501384" y="265176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7269480" y="2633472"/>
            <a:ext cx="82296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5"/>
          <p:cNvSpPr/>
          <p:nvPr/>
        </p:nvSpPr>
        <p:spPr>
          <a:xfrm>
            <a:off x="7324344" y="265176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137160" y="3017520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7"/>
          <p:cNvSpPr/>
          <p:nvPr/>
        </p:nvSpPr>
        <p:spPr>
          <a:xfrm>
            <a:off x="192024" y="303580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/ Nuclear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1051560" y="3017520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79"/>
          <p:cNvSpPr/>
          <p:nvPr/>
        </p:nvSpPr>
        <p:spPr>
          <a:xfrm>
            <a:off x="1106424" y="303580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F4N assessment in 6 weeks]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3337560" y="3017520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81"/>
          <p:cNvSpPr/>
          <p:nvPr/>
        </p:nvSpPr>
        <p:spPr>
          <a:xfrm>
            <a:off x="3392424" y="303580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 Complete evidence pack for assessor visit]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5623560" y="3017520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3"/>
          <p:cNvSpPr/>
          <p:nvPr/>
        </p:nvSpPr>
        <p:spPr>
          <a:xfrm>
            <a:off x="5678424" y="3035808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6446520" y="3017520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5"/>
          <p:cNvSpPr/>
          <p:nvPr/>
        </p:nvSpPr>
        <p:spPr>
          <a:xfrm>
            <a:off x="6501384" y="3035808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7269480" y="3017520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7"/>
          <p:cNvSpPr/>
          <p:nvPr/>
        </p:nvSpPr>
        <p:spPr>
          <a:xfrm>
            <a:off x="7324344" y="3035808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91" name="Rectangle 9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22860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Trend — Key Metrics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" y="749808"/>
            <a:ext cx="146304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" y="7498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600200" y="749808"/>
            <a:ext cx="530352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600200" y="749808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30552" y="749808"/>
            <a:ext cx="530352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2130552" y="749808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60904" y="749808"/>
            <a:ext cx="530352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660904" y="749808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91256" y="749808"/>
            <a:ext cx="530352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3191256" y="749808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721608" y="749808"/>
            <a:ext cx="530352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3721608" y="749808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51960" y="749808"/>
            <a:ext cx="530352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251960" y="749808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82312" y="749808"/>
            <a:ext cx="530352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782312" y="749808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12664" y="749808"/>
            <a:ext cx="530352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5312664" y="749808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843016" y="749808"/>
            <a:ext cx="530352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5843016" y="749808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373368" y="749808"/>
            <a:ext cx="530352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6373368" y="749808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903720" y="749808"/>
            <a:ext cx="530352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6903720" y="749808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434072" y="749808"/>
            <a:ext cx="530352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7434072" y="749808"/>
            <a:ext cx="530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964424" y="749808"/>
            <a:ext cx="73152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7964424" y="7498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137160" y="1097280"/>
            <a:ext cx="14630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192024" y="1115568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OTD %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600200" y="1097280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1655064" y="111556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130552" y="1097280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2185416" y="111556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2660904" y="1097280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2715768" y="111556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191256" y="1097280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3246120" y="111556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3721608" y="1097280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3776472" y="111556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251960" y="1097280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4306824" y="111556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782312" y="1097280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/>
          <p:nvPr/>
        </p:nvSpPr>
        <p:spPr>
          <a:xfrm>
            <a:off x="4837176" y="111556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312664" y="1097280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/>
          <p:nvPr/>
        </p:nvSpPr>
        <p:spPr>
          <a:xfrm>
            <a:off x="5367528" y="111556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5843016" y="1097280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/>
          <p:nvPr/>
        </p:nvSpPr>
        <p:spPr>
          <a:xfrm>
            <a:off x="5897880" y="111556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373368" y="1097280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3"/>
          <p:cNvSpPr/>
          <p:nvPr/>
        </p:nvSpPr>
        <p:spPr>
          <a:xfrm>
            <a:off x="6428232" y="111556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6903720" y="1097280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/>
          <p:nvPr/>
        </p:nvSpPr>
        <p:spPr>
          <a:xfrm>
            <a:off x="6958584" y="111556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7434072" y="1097280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7"/>
          <p:cNvSpPr/>
          <p:nvPr/>
        </p:nvSpPr>
        <p:spPr>
          <a:xfrm>
            <a:off x="7488936" y="111556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964424" y="1097280"/>
            <a:ext cx="7315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/>
          <p:nvPr/>
        </p:nvSpPr>
        <p:spPr>
          <a:xfrm>
            <a:off x="8019288" y="1115568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≥90%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137160" y="1481328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/>
          <p:nvPr/>
        </p:nvSpPr>
        <p:spPr>
          <a:xfrm>
            <a:off x="192024" y="1499616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FPY %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1600200" y="1481328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/>
          <p:nvPr/>
        </p:nvSpPr>
        <p:spPr>
          <a:xfrm>
            <a:off x="1655064" y="149961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2130552" y="1481328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5"/>
          <p:cNvSpPr/>
          <p:nvPr/>
        </p:nvSpPr>
        <p:spPr>
          <a:xfrm>
            <a:off x="2185416" y="149961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2660904" y="1481328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7"/>
          <p:cNvSpPr/>
          <p:nvPr/>
        </p:nvSpPr>
        <p:spPr>
          <a:xfrm>
            <a:off x="2715768" y="149961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3191256" y="1481328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/>
          <p:nvPr/>
        </p:nvSpPr>
        <p:spPr>
          <a:xfrm>
            <a:off x="3246120" y="149961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3721608" y="1481328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71"/>
          <p:cNvSpPr/>
          <p:nvPr/>
        </p:nvSpPr>
        <p:spPr>
          <a:xfrm>
            <a:off x="3776472" y="149961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4251960" y="1481328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/>
          <p:nvPr/>
        </p:nvSpPr>
        <p:spPr>
          <a:xfrm>
            <a:off x="4306824" y="149961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4782312" y="1481328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5"/>
          <p:cNvSpPr/>
          <p:nvPr/>
        </p:nvSpPr>
        <p:spPr>
          <a:xfrm>
            <a:off x="4837176" y="149961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5312664" y="1481328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7"/>
          <p:cNvSpPr/>
          <p:nvPr/>
        </p:nvSpPr>
        <p:spPr>
          <a:xfrm>
            <a:off x="5367528" y="149961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5843016" y="1481328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79"/>
          <p:cNvSpPr/>
          <p:nvPr/>
        </p:nvSpPr>
        <p:spPr>
          <a:xfrm>
            <a:off x="5897880" y="149961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6373368" y="1481328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81"/>
          <p:cNvSpPr/>
          <p:nvPr/>
        </p:nvSpPr>
        <p:spPr>
          <a:xfrm>
            <a:off x="6428232" y="149961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6903720" y="1481328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3"/>
          <p:cNvSpPr/>
          <p:nvPr/>
        </p:nvSpPr>
        <p:spPr>
          <a:xfrm>
            <a:off x="6958584" y="149961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7434072" y="1481328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5"/>
          <p:cNvSpPr/>
          <p:nvPr/>
        </p:nvSpPr>
        <p:spPr>
          <a:xfrm>
            <a:off x="7488936" y="149961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7964424" y="1481328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7"/>
          <p:cNvSpPr/>
          <p:nvPr/>
        </p:nvSpPr>
        <p:spPr>
          <a:xfrm>
            <a:off x="8019288" y="1499616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≥95%</a:t>
            </a:r>
            <a:endParaRPr lang="en-US" sz="850" dirty="0"/>
          </a:p>
        </p:txBody>
      </p:sp>
      <p:sp>
        <p:nvSpPr>
          <p:cNvPr id="91" name="Shape 88"/>
          <p:cNvSpPr/>
          <p:nvPr/>
        </p:nvSpPr>
        <p:spPr>
          <a:xfrm>
            <a:off x="137160" y="1865376"/>
            <a:ext cx="14630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Text 89"/>
          <p:cNvSpPr/>
          <p:nvPr/>
        </p:nvSpPr>
        <p:spPr>
          <a:xfrm>
            <a:off x="192024" y="1883664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%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1600200" y="1865376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91"/>
          <p:cNvSpPr/>
          <p:nvPr/>
        </p:nvSpPr>
        <p:spPr>
          <a:xfrm>
            <a:off x="1655064" y="188366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5" name="Shape 92"/>
          <p:cNvSpPr/>
          <p:nvPr/>
        </p:nvSpPr>
        <p:spPr>
          <a:xfrm>
            <a:off x="2130552" y="1865376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Text 93"/>
          <p:cNvSpPr/>
          <p:nvPr/>
        </p:nvSpPr>
        <p:spPr>
          <a:xfrm>
            <a:off x="2185416" y="188366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7" name="Shape 94"/>
          <p:cNvSpPr/>
          <p:nvPr/>
        </p:nvSpPr>
        <p:spPr>
          <a:xfrm>
            <a:off x="2660904" y="1865376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95"/>
          <p:cNvSpPr/>
          <p:nvPr/>
        </p:nvSpPr>
        <p:spPr>
          <a:xfrm>
            <a:off x="2715768" y="188366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9" name="Shape 96"/>
          <p:cNvSpPr/>
          <p:nvPr/>
        </p:nvSpPr>
        <p:spPr>
          <a:xfrm>
            <a:off x="3191256" y="1865376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Text 97"/>
          <p:cNvSpPr/>
          <p:nvPr/>
        </p:nvSpPr>
        <p:spPr>
          <a:xfrm>
            <a:off x="3246120" y="188366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1" name="Shape 98"/>
          <p:cNvSpPr/>
          <p:nvPr/>
        </p:nvSpPr>
        <p:spPr>
          <a:xfrm>
            <a:off x="3721608" y="1865376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99"/>
          <p:cNvSpPr/>
          <p:nvPr/>
        </p:nvSpPr>
        <p:spPr>
          <a:xfrm>
            <a:off x="3776472" y="188366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4251960" y="1865376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Text 101"/>
          <p:cNvSpPr/>
          <p:nvPr/>
        </p:nvSpPr>
        <p:spPr>
          <a:xfrm>
            <a:off x="4306824" y="188366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5" name="Shape 102"/>
          <p:cNvSpPr/>
          <p:nvPr/>
        </p:nvSpPr>
        <p:spPr>
          <a:xfrm>
            <a:off x="4782312" y="1865376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Text 103"/>
          <p:cNvSpPr/>
          <p:nvPr/>
        </p:nvSpPr>
        <p:spPr>
          <a:xfrm>
            <a:off x="4837176" y="188366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5312664" y="1865376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Text 105"/>
          <p:cNvSpPr/>
          <p:nvPr/>
        </p:nvSpPr>
        <p:spPr>
          <a:xfrm>
            <a:off x="5367528" y="188366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5843016" y="1865376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Text 107"/>
          <p:cNvSpPr/>
          <p:nvPr/>
        </p:nvSpPr>
        <p:spPr>
          <a:xfrm>
            <a:off x="5897880" y="188366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6373368" y="1865376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Text 109"/>
          <p:cNvSpPr/>
          <p:nvPr/>
        </p:nvSpPr>
        <p:spPr>
          <a:xfrm>
            <a:off x="6428232" y="188366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6903720" y="1865376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Text 111"/>
          <p:cNvSpPr/>
          <p:nvPr/>
        </p:nvSpPr>
        <p:spPr>
          <a:xfrm>
            <a:off x="6958584" y="188366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7434072" y="1865376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Text 113"/>
          <p:cNvSpPr/>
          <p:nvPr/>
        </p:nvSpPr>
        <p:spPr>
          <a:xfrm>
            <a:off x="7488936" y="1883664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17" name="Shape 114"/>
          <p:cNvSpPr/>
          <p:nvPr/>
        </p:nvSpPr>
        <p:spPr>
          <a:xfrm>
            <a:off x="7964424" y="1865376"/>
            <a:ext cx="7315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Text 115"/>
          <p:cNvSpPr/>
          <p:nvPr/>
        </p:nvSpPr>
        <p:spPr>
          <a:xfrm>
            <a:off x="8019288" y="1883664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850" dirty="0"/>
          </a:p>
        </p:txBody>
      </p:sp>
      <p:sp>
        <p:nvSpPr>
          <p:cNvPr id="119" name="Shape 116"/>
          <p:cNvSpPr/>
          <p:nvPr/>
        </p:nvSpPr>
        <p:spPr>
          <a:xfrm>
            <a:off x="137160" y="2249424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Text 117"/>
          <p:cNvSpPr/>
          <p:nvPr/>
        </p:nvSpPr>
        <p:spPr>
          <a:xfrm>
            <a:off x="192024" y="2267712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Score</a:t>
            </a:r>
            <a:endParaRPr lang="en-US" sz="850" dirty="0"/>
          </a:p>
        </p:txBody>
      </p:sp>
      <p:sp>
        <p:nvSpPr>
          <p:cNvPr id="121" name="Shape 118"/>
          <p:cNvSpPr/>
          <p:nvPr/>
        </p:nvSpPr>
        <p:spPr>
          <a:xfrm>
            <a:off x="1600200" y="2249424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Text 119"/>
          <p:cNvSpPr/>
          <p:nvPr/>
        </p:nvSpPr>
        <p:spPr>
          <a:xfrm>
            <a:off x="1655064" y="22677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23" name="Shape 120"/>
          <p:cNvSpPr/>
          <p:nvPr/>
        </p:nvSpPr>
        <p:spPr>
          <a:xfrm>
            <a:off x="2130552" y="2249424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4" name="Text 121"/>
          <p:cNvSpPr/>
          <p:nvPr/>
        </p:nvSpPr>
        <p:spPr>
          <a:xfrm>
            <a:off x="2185416" y="22677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25" name="Shape 122"/>
          <p:cNvSpPr/>
          <p:nvPr/>
        </p:nvSpPr>
        <p:spPr>
          <a:xfrm>
            <a:off x="2660904" y="2249424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6" name="Text 123"/>
          <p:cNvSpPr/>
          <p:nvPr/>
        </p:nvSpPr>
        <p:spPr>
          <a:xfrm>
            <a:off x="2715768" y="22677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3191256" y="2249424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8" name="Text 125"/>
          <p:cNvSpPr/>
          <p:nvPr/>
        </p:nvSpPr>
        <p:spPr>
          <a:xfrm>
            <a:off x="3246120" y="22677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29" name="Shape 126"/>
          <p:cNvSpPr/>
          <p:nvPr/>
        </p:nvSpPr>
        <p:spPr>
          <a:xfrm>
            <a:off x="3721608" y="2249424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0" name="Text 127"/>
          <p:cNvSpPr/>
          <p:nvPr/>
        </p:nvSpPr>
        <p:spPr>
          <a:xfrm>
            <a:off x="3776472" y="22677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31" name="Shape 128"/>
          <p:cNvSpPr/>
          <p:nvPr/>
        </p:nvSpPr>
        <p:spPr>
          <a:xfrm>
            <a:off x="4251960" y="2249424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2" name="Text 129"/>
          <p:cNvSpPr/>
          <p:nvPr/>
        </p:nvSpPr>
        <p:spPr>
          <a:xfrm>
            <a:off x="4306824" y="22677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33" name="Shape 130"/>
          <p:cNvSpPr/>
          <p:nvPr/>
        </p:nvSpPr>
        <p:spPr>
          <a:xfrm>
            <a:off x="4782312" y="2249424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4" name="Text 131"/>
          <p:cNvSpPr/>
          <p:nvPr/>
        </p:nvSpPr>
        <p:spPr>
          <a:xfrm>
            <a:off x="4837176" y="22677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35" name="Shape 132"/>
          <p:cNvSpPr/>
          <p:nvPr/>
        </p:nvSpPr>
        <p:spPr>
          <a:xfrm>
            <a:off x="5312664" y="2249424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6" name="Text 133"/>
          <p:cNvSpPr/>
          <p:nvPr/>
        </p:nvSpPr>
        <p:spPr>
          <a:xfrm>
            <a:off x="5367528" y="22677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37" name="Shape 134"/>
          <p:cNvSpPr/>
          <p:nvPr/>
        </p:nvSpPr>
        <p:spPr>
          <a:xfrm>
            <a:off x="5843016" y="2249424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8" name="Text 135"/>
          <p:cNvSpPr/>
          <p:nvPr/>
        </p:nvSpPr>
        <p:spPr>
          <a:xfrm>
            <a:off x="5897880" y="22677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39" name="Shape 136"/>
          <p:cNvSpPr/>
          <p:nvPr/>
        </p:nvSpPr>
        <p:spPr>
          <a:xfrm>
            <a:off x="6373368" y="2249424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0" name="Text 137"/>
          <p:cNvSpPr/>
          <p:nvPr/>
        </p:nvSpPr>
        <p:spPr>
          <a:xfrm>
            <a:off x="6428232" y="22677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41" name="Shape 138"/>
          <p:cNvSpPr/>
          <p:nvPr/>
        </p:nvSpPr>
        <p:spPr>
          <a:xfrm>
            <a:off x="6903720" y="2249424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2" name="Text 139"/>
          <p:cNvSpPr/>
          <p:nvPr/>
        </p:nvSpPr>
        <p:spPr>
          <a:xfrm>
            <a:off x="6958584" y="22677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43" name="Shape 140"/>
          <p:cNvSpPr/>
          <p:nvPr/>
        </p:nvSpPr>
        <p:spPr>
          <a:xfrm>
            <a:off x="7434072" y="2249424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4" name="Text 141"/>
          <p:cNvSpPr/>
          <p:nvPr/>
        </p:nvSpPr>
        <p:spPr>
          <a:xfrm>
            <a:off x="7488936" y="22677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45" name="Shape 142"/>
          <p:cNvSpPr/>
          <p:nvPr/>
        </p:nvSpPr>
        <p:spPr>
          <a:xfrm>
            <a:off x="7964424" y="2249424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6" name="Text 143"/>
          <p:cNvSpPr/>
          <p:nvPr/>
        </p:nvSpPr>
        <p:spPr>
          <a:xfrm>
            <a:off x="8019288" y="2267712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≥65%</a:t>
            </a:r>
            <a:endParaRPr lang="en-US" sz="850" dirty="0"/>
          </a:p>
        </p:txBody>
      </p:sp>
      <p:sp>
        <p:nvSpPr>
          <p:cNvPr id="147" name="Shape 144"/>
          <p:cNvSpPr/>
          <p:nvPr/>
        </p:nvSpPr>
        <p:spPr>
          <a:xfrm>
            <a:off x="137160" y="2633472"/>
            <a:ext cx="14630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8" name="Text 145"/>
          <p:cNvSpPr/>
          <p:nvPr/>
        </p:nvSpPr>
        <p:spPr>
          <a:xfrm>
            <a:off x="192024" y="265176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turnover %</a:t>
            </a:r>
            <a:endParaRPr lang="en-US" sz="850" dirty="0"/>
          </a:p>
        </p:txBody>
      </p:sp>
      <p:sp>
        <p:nvSpPr>
          <p:cNvPr id="149" name="Shape 146"/>
          <p:cNvSpPr/>
          <p:nvPr/>
        </p:nvSpPr>
        <p:spPr>
          <a:xfrm>
            <a:off x="1600200" y="2633472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0" name="Text 147"/>
          <p:cNvSpPr/>
          <p:nvPr/>
        </p:nvSpPr>
        <p:spPr>
          <a:xfrm>
            <a:off x="1655064" y="26517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1" name="Shape 148"/>
          <p:cNvSpPr/>
          <p:nvPr/>
        </p:nvSpPr>
        <p:spPr>
          <a:xfrm>
            <a:off x="2130552" y="2633472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Text 149"/>
          <p:cNvSpPr/>
          <p:nvPr/>
        </p:nvSpPr>
        <p:spPr>
          <a:xfrm>
            <a:off x="2185416" y="26517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3" name="Shape 150"/>
          <p:cNvSpPr/>
          <p:nvPr/>
        </p:nvSpPr>
        <p:spPr>
          <a:xfrm>
            <a:off x="2660904" y="2633472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4" name="Text 151"/>
          <p:cNvSpPr/>
          <p:nvPr/>
        </p:nvSpPr>
        <p:spPr>
          <a:xfrm>
            <a:off x="2715768" y="26517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5" name="Shape 152"/>
          <p:cNvSpPr/>
          <p:nvPr/>
        </p:nvSpPr>
        <p:spPr>
          <a:xfrm>
            <a:off x="3191256" y="2633472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6" name="Text 153"/>
          <p:cNvSpPr/>
          <p:nvPr/>
        </p:nvSpPr>
        <p:spPr>
          <a:xfrm>
            <a:off x="3246120" y="26517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7" name="Shape 154"/>
          <p:cNvSpPr/>
          <p:nvPr/>
        </p:nvSpPr>
        <p:spPr>
          <a:xfrm>
            <a:off x="3721608" y="2633472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8" name="Text 155"/>
          <p:cNvSpPr/>
          <p:nvPr/>
        </p:nvSpPr>
        <p:spPr>
          <a:xfrm>
            <a:off x="3776472" y="26517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9" name="Shape 156"/>
          <p:cNvSpPr/>
          <p:nvPr/>
        </p:nvSpPr>
        <p:spPr>
          <a:xfrm>
            <a:off x="4251960" y="2633472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0" name="Text 157"/>
          <p:cNvSpPr/>
          <p:nvPr/>
        </p:nvSpPr>
        <p:spPr>
          <a:xfrm>
            <a:off x="4306824" y="26517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61" name="Shape 158"/>
          <p:cNvSpPr/>
          <p:nvPr/>
        </p:nvSpPr>
        <p:spPr>
          <a:xfrm>
            <a:off x="4782312" y="2633472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2" name="Text 159"/>
          <p:cNvSpPr/>
          <p:nvPr/>
        </p:nvSpPr>
        <p:spPr>
          <a:xfrm>
            <a:off x="4837176" y="26517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63" name="Shape 160"/>
          <p:cNvSpPr/>
          <p:nvPr/>
        </p:nvSpPr>
        <p:spPr>
          <a:xfrm>
            <a:off x="5312664" y="2633472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4" name="Text 161"/>
          <p:cNvSpPr/>
          <p:nvPr/>
        </p:nvSpPr>
        <p:spPr>
          <a:xfrm>
            <a:off x="5367528" y="26517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65" name="Shape 162"/>
          <p:cNvSpPr/>
          <p:nvPr/>
        </p:nvSpPr>
        <p:spPr>
          <a:xfrm>
            <a:off x="5843016" y="2633472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6" name="Text 163"/>
          <p:cNvSpPr/>
          <p:nvPr/>
        </p:nvSpPr>
        <p:spPr>
          <a:xfrm>
            <a:off x="5897880" y="26517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67" name="Shape 164"/>
          <p:cNvSpPr/>
          <p:nvPr/>
        </p:nvSpPr>
        <p:spPr>
          <a:xfrm>
            <a:off x="6373368" y="2633472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8" name="Text 165"/>
          <p:cNvSpPr/>
          <p:nvPr/>
        </p:nvSpPr>
        <p:spPr>
          <a:xfrm>
            <a:off x="6428232" y="26517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69" name="Shape 166"/>
          <p:cNvSpPr/>
          <p:nvPr/>
        </p:nvSpPr>
        <p:spPr>
          <a:xfrm>
            <a:off x="6903720" y="2633472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0" name="Text 167"/>
          <p:cNvSpPr/>
          <p:nvPr/>
        </p:nvSpPr>
        <p:spPr>
          <a:xfrm>
            <a:off x="6958584" y="26517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71" name="Shape 168"/>
          <p:cNvSpPr/>
          <p:nvPr/>
        </p:nvSpPr>
        <p:spPr>
          <a:xfrm>
            <a:off x="7434072" y="2633472"/>
            <a:ext cx="530352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2" name="Text 169"/>
          <p:cNvSpPr/>
          <p:nvPr/>
        </p:nvSpPr>
        <p:spPr>
          <a:xfrm>
            <a:off x="7488936" y="26517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73" name="Shape 170"/>
          <p:cNvSpPr/>
          <p:nvPr/>
        </p:nvSpPr>
        <p:spPr>
          <a:xfrm>
            <a:off x="7964424" y="2633472"/>
            <a:ext cx="7315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4" name="Text 171"/>
          <p:cNvSpPr/>
          <p:nvPr/>
        </p:nvSpPr>
        <p:spPr>
          <a:xfrm>
            <a:off x="8019288" y="2651760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&lt;15%</a:t>
            </a:r>
            <a:endParaRPr lang="en-US" sz="850" dirty="0"/>
          </a:p>
        </p:txBody>
      </p:sp>
      <p:sp>
        <p:nvSpPr>
          <p:cNvPr id="175" name="Shape 172"/>
          <p:cNvSpPr/>
          <p:nvPr/>
        </p:nvSpPr>
        <p:spPr>
          <a:xfrm>
            <a:off x="137160" y="301752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6" name="Text 173"/>
          <p:cNvSpPr/>
          <p:nvPr/>
        </p:nvSpPr>
        <p:spPr>
          <a:xfrm>
            <a:off x="192024" y="3035808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revenue £</a:t>
            </a:r>
            <a:endParaRPr lang="en-US" sz="850" dirty="0"/>
          </a:p>
        </p:txBody>
      </p:sp>
      <p:sp>
        <p:nvSpPr>
          <p:cNvPr id="177" name="Shape 174"/>
          <p:cNvSpPr/>
          <p:nvPr/>
        </p:nvSpPr>
        <p:spPr>
          <a:xfrm>
            <a:off x="1600200" y="3017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8" name="Text 175"/>
          <p:cNvSpPr/>
          <p:nvPr/>
        </p:nvSpPr>
        <p:spPr>
          <a:xfrm>
            <a:off x="1655064" y="303580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79" name="Shape 176"/>
          <p:cNvSpPr/>
          <p:nvPr/>
        </p:nvSpPr>
        <p:spPr>
          <a:xfrm>
            <a:off x="2130552" y="3017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0" name="Text 177"/>
          <p:cNvSpPr/>
          <p:nvPr/>
        </p:nvSpPr>
        <p:spPr>
          <a:xfrm>
            <a:off x="2185416" y="303580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1" name="Shape 178"/>
          <p:cNvSpPr/>
          <p:nvPr/>
        </p:nvSpPr>
        <p:spPr>
          <a:xfrm>
            <a:off x="2660904" y="3017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2" name="Text 179"/>
          <p:cNvSpPr/>
          <p:nvPr/>
        </p:nvSpPr>
        <p:spPr>
          <a:xfrm>
            <a:off x="2715768" y="303580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3" name="Shape 180"/>
          <p:cNvSpPr/>
          <p:nvPr/>
        </p:nvSpPr>
        <p:spPr>
          <a:xfrm>
            <a:off x="3191256" y="3017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4" name="Text 181"/>
          <p:cNvSpPr/>
          <p:nvPr/>
        </p:nvSpPr>
        <p:spPr>
          <a:xfrm>
            <a:off x="3246120" y="303580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5" name="Shape 182"/>
          <p:cNvSpPr/>
          <p:nvPr/>
        </p:nvSpPr>
        <p:spPr>
          <a:xfrm>
            <a:off x="3721608" y="3017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6" name="Text 183"/>
          <p:cNvSpPr/>
          <p:nvPr/>
        </p:nvSpPr>
        <p:spPr>
          <a:xfrm>
            <a:off x="3776472" y="303580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7" name="Shape 184"/>
          <p:cNvSpPr/>
          <p:nvPr/>
        </p:nvSpPr>
        <p:spPr>
          <a:xfrm>
            <a:off x="4251960" y="3017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8" name="Text 185"/>
          <p:cNvSpPr/>
          <p:nvPr/>
        </p:nvSpPr>
        <p:spPr>
          <a:xfrm>
            <a:off x="4306824" y="303580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9" name="Shape 186"/>
          <p:cNvSpPr/>
          <p:nvPr/>
        </p:nvSpPr>
        <p:spPr>
          <a:xfrm>
            <a:off x="4782312" y="3017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0" name="Text 187"/>
          <p:cNvSpPr/>
          <p:nvPr/>
        </p:nvSpPr>
        <p:spPr>
          <a:xfrm>
            <a:off x="4837176" y="303580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1" name="Shape 188"/>
          <p:cNvSpPr/>
          <p:nvPr/>
        </p:nvSpPr>
        <p:spPr>
          <a:xfrm>
            <a:off x="5312664" y="3017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2" name="Text 189"/>
          <p:cNvSpPr/>
          <p:nvPr/>
        </p:nvSpPr>
        <p:spPr>
          <a:xfrm>
            <a:off x="5367528" y="303580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3" name="Shape 190"/>
          <p:cNvSpPr/>
          <p:nvPr/>
        </p:nvSpPr>
        <p:spPr>
          <a:xfrm>
            <a:off x="5843016" y="3017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4" name="Text 191"/>
          <p:cNvSpPr/>
          <p:nvPr/>
        </p:nvSpPr>
        <p:spPr>
          <a:xfrm>
            <a:off x="5897880" y="303580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5" name="Shape 192"/>
          <p:cNvSpPr/>
          <p:nvPr/>
        </p:nvSpPr>
        <p:spPr>
          <a:xfrm>
            <a:off x="6373368" y="3017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6" name="Text 193"/>
          <p:cNvSpPr/>
          <p:nvPr/>
        </p:nvSpPr>
        <p:spPr>
          <a:xfrm>
            <a:off x="6428232" y="303580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7" name="Shape 194"/>
          <p:cNvSpPr/>
          <p:nvPr/>
        </p:nvSpPr>
        <p:spPr>
          <a:xfrm>
            <a:off x="6903720" y="3017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8" name="Text 195"/>
          <p:cNvSpPr/>
          <p:nvPr/>
        </p:nvSpPr>
        <p:spPr>
          <a:xfrm>
            <a:off x="6958584" y="303580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9" name="Shape 196"/>
          <p:cNvSpPr/>
          <p:nvPr/>
        </p:nvSpPr>
        <p:spPr>
          <a:xfrm>
            <a:off x="7434072" y="3017520"/>
            <a:ext cx="5303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0" name="Text 197"/>
          <p:cNvSpPr/>
          <p:nvPr/>
        </p:nvSpPr>
        <p:spPr>
          <a:xfrm>
            <a:off x="7488936" y="303580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1" name="Shape 198"/>
          <p:cNvSpPr/>
          <p:nvPr/>
        </p:nvSpPr>
        <p:spPr>
          <a:xfrm>
            <a:off x="7964424" y="3017520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2" name="Text 199"/>
          <p:cNvSpPr/>
          <p:nvPr/>
        </p:nvSpPr>
        <p:spPr>
          <a:xfrm>
            <a:off x="8019288" y="3035808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£[X]M</a:t>
            </a:r>
            <a:endParaRPr lang="en-US" sz="850" dirty="0"/>
          </a:p>
        </p:txBody>
      </p:sp>
      <p:sp>
        <p:nvSpPr>
          <p:cNvPr id="203" name="Rectangle 20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4" name="Picture 20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05" name="Picture 20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06" name="Rectangle 20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5EE4223-E8A4-4D93-9EA6-D6C497E7C71C}"/>
</file>

<file path=customXml/itemProps2.xml><?xml version="1.0" encoding="utf-8"?>
<ds:datastoreItem xmlns:ds="http://schemas.openxmlformats.org/officeDocument/2006/customXml" ds:itemID="{CE85DFC2-68C2-4BD0-9CA6-BE2835758804}"/>
</file>

<file path=customXml/itemProps3.xml><?xml version="1.0" encoding="utf-8"?>
<ds:datastoreItem xmlns:ds="http://schemas.openxmlformats.org/officeDocument/2006/customXml" ds:itemID="{770832E3-FBDA-4437-A6BC-1EF79A6167B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Office PowerPoint</Application>
  <PresentationFormat>On-screen Show (16:9)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 06 Strategic KPI Dashboard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