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87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8138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FOR NUCLEAR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Mission, Vision &amp; Values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1097280" cy="5486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who you are, why you exist, and how you operate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Leadership Toolkit  |  SL-02</a:t>
            </a:r>
            <a:endParaRPr lang="en-US" sz="900" dirty="0"/>
          </a:p>
        </p:txBody>
      </p:sp>
      <p:pic>
        <p:nvPicPr>
          <p:cNvPr id="9" name="Image 0" descr="/home/claude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526280"/>
            <a:ext cx="1417320" cy="8326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Mission, Vision &amp; Values Matter for F4N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Leadership — Category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1005840"/>
            <a:ext cx="2743200" cy="33832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38912" y="1234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Strategy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169164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38912" y="1783080"/>
            <a:ext cx="2414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MVV is the bedrock of your entire strategic plan. Without clear direction, objectives lack meaning and staff lack alignment.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005840"/>
            <a:ext cx="2743200" cy="33832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410712" y="1234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Alignment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46120" y="169164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410712" y="1783080"/>
            <a:ext cx="2414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who understand and connect with mission and values are more engaged, more productive, and more likely to stay.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1005840"/>
            <a:ext cx="2743200" cy="338328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382512" y="12344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Readiness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169164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382512" y="1783080"/>
            <a:ext cx="24140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assessors look for embedded culture. MVV statements that are lived — not just displayed — are a strong signal of nuclear-ready leadership.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and why we exist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960120"/>
            <a:ext cx="8595360" cy="3657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mission statement answers: What do we do? Who do we do it for? What value do we deliver?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1508760"/>
            <a:ext cx="8595360" cy="1828800"/>
          </a:xfrm>
          <a:prstGeom prst="rect">
            <a:avLst/>
          </a:prstGeom>
          <a:solidFill>
            <a:srgbClr val="D6EEF9"/>
          </a:solidFill>
          <a:ln w="1905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" y="1600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enter your mission statement here]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'We manufacture precision-engineered components for safety-critical industries, delivering quality, reliability and value to our customers and enabling the safe operation of critical national infrastructure.'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GUIDE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675888"/>
            <a:ext cx="201168" cy="20116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4864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to 1–2 sentences: Short enough to memorise and display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224528"/>
            <a:ext cx="201168" cy="20116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48640" y="4242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jargon and buzzwords: It should mean something to a new employee on day one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675888"/>
            <a:ext cx="201168" cy="20116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93776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your 'why': Not just what you do, but the purpose behind it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4224528"/>
            <a:ext cx="201168" cy="201168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937760" y="4242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with all leadership: It must be genuinely agreed, not drafted by one person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going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0" y="841248"/>
            <a:ext cx="164592" cy="405079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65760" y="960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vision statement answers: Where will we be in 3–5 years? What will we have achieved? What kind of organisation will we be?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417320"/>
            <a:ext cx="84124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48640" y="15087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enter your vision statement here]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'By 2028, to be a recognised Fit For Nuclear supplier with three major nuclear contracts, a workforce of 80 skilled engineers, and a reputation for quality and safety that enables our growth into international markets.'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vision should be: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749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Aspirational but achievable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and time-bound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 nuclear ambition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434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by the leadership team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Core Values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behave — every day, in every decision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8600" y="960120"/>
            <a:ext cx="2788920" cy="15087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38328" y="1069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" y="1572768"/>
            <a:ext cx="2788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38328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describe what this value means in practice at your organisation]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960120"/>
            <a:ext cx="2788920" cy="15087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310128" y="1069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0" y="1572768"/>
            <a:ext cx="2788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310128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describe what this value means in practice at your organisation]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960120"/>
            <a:ext cx="2788920" cy="150876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281928" y="1069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1572768"/>
            <a:ext cx="2788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281928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describe what this value means in practice at your organisation]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8600" y="2651760"/>
            <a:ext cx="2788920" cy="1508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38328" y="2761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28600" y="3264408"/>
            <a:ext cx="2788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338328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describe what this value means in practice at your organisation]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0" y="2651760"/>
            <a:ext cx="2788920" cy="1508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310128" y="2761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00400" y="3264408"/>
            <a:ext cx="2788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3310128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describe what this value means in practice]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72200" y="2651760"/>
            <a:ext cx="278892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6281928" y="2761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172200" y="3264408"/>
            <a:ext cx="278892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6281928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describe what this value means in practice]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MVV to Your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make it real — not just a poster on the wall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8600" y="1005840"/>
            <a:ext cx="2697480" cy="1645920"/>
          </a:xfrm>
          <a:prstGeom prst="rect">
            <a:avLst/>
          </a:prstGeom>
          <a:solidFill>
            <a:srgbClr val="D6EEF9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6576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Boarding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14813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MVV in every new starter induction. Make it the first thing new employees learn about the company.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005840"/>
            <a:ext cx="2697480" cy="1645920"/>
          </a:xfrm>
          <a:prstGeom prst="rect">
            <a:avLst/>
          </a:prstGeom>
          <a:solidFill>
            <a:srgbClr val="D6EEF9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38328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Briefings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14813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mission and values in regular all-staff briefings. Connect company news to your values.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63640" y="1005840"/>
            <a:ext cx="2697480" cy="1645920"/>
          </a:xfrm>
          <a:prstGeom prst="rect">
            <a:avLst/>
          </a:prstGeom>
          <a:solidFill>
            <a:srgbClr val="D6EEF9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0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14813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individual objectives and behaviours to company values. Reward those who embody them.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28600" y="2880360"/>
            <a:ext cx="2697480" cy="1645920"/>
          </a:xfrm>
          <a:prstGeom prst="rect">
            <a:avLst/>
          </a:prstGeom>
          <a:solidFill>
            <a:srgbClr val="EFD9F2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Displays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33558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MVV prominently on site — entrance, shopfloor, meeting rooms. Not just corporate wallpaper — make them meaningful.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46120" y="2880360"/>
            <a:ext cx="2697480" cy="1645920"/>
          </a:xfrm>
          <a:prstGeom prst="rect">
            <a:avLst/>
          </a:prstGeom>
          <a:solidFill>
            <a:srgbClr val="EFD9F2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38328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83280" y="33558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and celebrate employees who exemplify company values. Name the value when recognising.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2880360"/>
            <a:ext cx="2697480" cy="1645920"/>
          </a:xfrm>
          <a:prstGeom prst="rect">
            <a:avLst/>
          </a:prstGeom>
          <a:solidFill>
            <a:srgbClr val="EFD9F2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640080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Walk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0" y="33558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reinforce values through their own visible behaviour on the shopfloor every day.</a:t>
            </a:r>
            <a:endParaRPr lang="en-US" sz="110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CCF5EC6-55B4-43EE-96BD-959B407B51E6}"/>
</file>

<file path=customXml/itemProps2.xml><?xml version="1.0" encoding="utf-8"?>
<ds:datastoreItem xmlns:ds="http://schemas.openxmlformats.org/officeDocument/2006/customXml" ds:itemID="{E397653E-AFBD-4641-B573-BBA46393E2C5}"/>
</file>

<file path=customXml/itemProps3.xml><?xml version="1.0" encoding="utf-8"?>
<ds:datastoreItem xmlns:ds="http://schemas.openxmlformats.org/officeDocument/2006/customXml" ds:itemID="{96691BC3-66BF-4658-BC47-89254D0BC5C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PresentationFormat>On-screen Show (16:9)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F4N SL 02 Mission Vision Values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