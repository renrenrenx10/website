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0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182880" y="0"/>
            <a:ext cx="73152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MISSION, VISION &amp; VALUES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Strategy &amp; Leadership  |  SL-02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|  [Year]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—  Mission · Vision · Values · Objectives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4297680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" y="1097280"/>
            <a:ext cx="4297680" cy="1572768"/>
          </a:xfrm>
          <a:prstGeom prst="rect">
            <a:avLst/>
          </a:prstGeom>
          <a:solidFill>
            <a:srgbClr val="F8F9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28600" y="1133856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does success look like in 5 years?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compelling, ambitious statement of where the business is headed.]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'To be the supplier of choice for precision-engineered nuclear components in the UK, recognised for quality, reliability and safety culture.'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0" y="749808"/>
            <a:ext cx="443484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572000" y="74980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1097280"/>
            <a:ext cx="4434840" cy="1572768"/>
          </a:xfrm>
          <a:prstGeom prst="rect">
            <a:avLst/>
          </a:prstGeom>
          <a:solidFill>
            <a:srgbClr val="F8F9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663440" y="1133856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does the company exist? What do you do, for whom, and why?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concise — one or two sentences.]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'To manufacture precision components and sub-assemblies that our customers can rely on to meet the exacting standards of the nuclear and defence industries.'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37160" y="2852928"/>
            <a:ext cx="429768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37160" y="285292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37160" y="3200400"/>
            <a:ext cx="4297680" cy="1572768"/>
          </a:xfrm>
          <a:prstGeom prst="rect">
            <a:avLst/>
          </a:prstGeom>
          <a:solidFill>
            <a:srgbClr val="F8F9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28600" y="3236976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 4-6 core values that define how you work and who you are.]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 — We never compromise on safety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— Right first time, every 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INTEGRITY — Honest and transparent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PEOPLE — Our team is our greatest asset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INNOVATION — Continuously improving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0" y="2852928"/>
            <a:ext cx="44348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572000" y="285292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0" y="3200400"/>
            <a:ext cx="4434840" cy="1572768"/>
          </a:xfrm>
          <a:prstGeom prst="rect">
            <a:avLst/>
          </a:prstGeom>
          <a:solidFill>
            <a:srgbClr val="F8F9F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663440" y="3236976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[3-5 measurable objectives for the current year aligned to your vision.]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 F4N assessment score ≥ [X]%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 revenue to £[X]M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On-Time Delivery ≥ [X]%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RIDDOR incidents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first nuclear customer contract</a:t>
            </a:r>
            <a:endParaRPr lang="en-US" sz="850" dirty="0"/>
          </a:p>
        </p:txBody>
      </p:sp>
      <p:sp>
        <p:nvSpPr>
          <p:cNvPr id="23" name="Rectangle 2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Values — What They Mean in Practice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77240"/>
            <a:ext cx="1371600" cy="71323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7724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508760" y="777240"/>
            <a:ext cx="7498080" cy="713232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508760" y="777240"/>
            <a:ext cx="54864" cy="71323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627632" y="86868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put safety first in everything we do. We speak up, follow process and never take shortcuts.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7160" y="1563624"/>
            <a:ext cx="1371600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137160" y="1563624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508760" y="1563624"/>
            <a:ext cx="749808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508760" y="1563624"/>
            <a:ext cx="54864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627632" y="1655064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first time. We take ownership of quality at every stage and are proud of what we produce.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37160" y="2350008"/>
            <a:ext cx="1371600" cy="7132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37160" y="2350008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508760" y="2350008"/>
            <a:ext cx="7498080" cy="713232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1508760" y="2350008"/>
            <a:ext cx="54864" cy="713232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1627632" y="244144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honest, transparent and do what we say. We build trust with customers, suppliers and each other.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37160" y="3136392"/>
            <a:ext cx="137160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37160" y="313639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508760" y="3136392"/>
            <a:ext cx="749808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1508760" y="3136392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627632" y="322783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people are our greatest strength. We invest in development, wellbeing and creating a great place to work.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37160" y="3922776"/>
            <a:ext cx="1371600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137160" y="3922776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508760" y="3922776"/>
            <a:ext cx="7498080" cy="713232"/>
          </a:xfrm>
          <a:prstGeom prst="rect">
            <a:avLst/>
          </a:prstGeom>
          <a:solidFill>
            <a:srgbClr val="F0F7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7"/>
          <p:cNvSpPr/>
          <p:nvPr/>
        </p:nvSpPr>
        <p:spPr>
          <a:xfrm>
            <a:off x="1508760" y="3922776"/>
            <a:ext cx="54864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1627632" y="4014216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look for better ways every day — through CSIP, lean methods and a culture of continuous improvement.</a:t>
            </a:r>
            <a:endParaRPr lang="en-US" sz="110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228600" y="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  —  Complete Your MVV Statement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" y="749808"/>
            <a:ext cx="4297680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37160" y="74980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" y="1097280"/>
            <a:ext cx="4297680" cy="1572768"/>
          </a:xfrm>
          <a:prstGeom prst="rect">
            <a:avLst/>
          </a:prstGeom>
          <a:solidFill>
            <a:srgbClr val="FFFEF0"/>
          </a:solidFill>
          <a:ln w="12700">
            <a:solidFill>
              <a:srgbClr val="2471A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28600" y="120700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vision here — where do you want to be in 5 years?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" y="2852928"/>
            <a:ext cx="429768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37160" y="285292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37160" y="3200400"/>
            <a:ext cx="4297680" cy="1572768"/>
          </a:xfrm>
          <a:prstGeom prst="rect">
            <a:avLst/>
          </a:prstGeom>
          <a:solidFill>
            <a:srgbClr val="FFFEF0"/>
          </a:solidFill>
          <a:ln w="12700">
            <a:solidFill>
              <a:srgbClr val="1E8449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28600" y="331012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mission here — why do you exist and what do you do?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749808"/>
            <a:ext cx="443484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0" y="74980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0" y="1097280"/>
            <a:ext cx="4434840" cy="1572768"/>
          </a:xfrm>
          <a:prstGeom prst="rect">
            <a:avLst/>
          </a:prstGeom>
          <a:solidFill>
            <a:srgbClr val="FFFEF0"/>
          </a:solidFill>
          <a:ln w="12700">
            <a:solidFill>
              <a:srgbClr val="6C3483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663440" y="1207008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your 4-6 core values here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2852928"/>
            <a:ext cx="44348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572000" y="285292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0" y="3200400"/>
            <a:ext cx="4434840" cy="1572768"/>
          </a:xfrm>
          <a:prstGeom prst="rect">
            <a:avLst/>
          </a:prstGeom>
          <a:solidFill>
            <a:srgbClr val="FFFEF0"/>
          </a:solidFill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663440" y="3310128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your top 4-5 measurable objectives for this year</a:t>
            </a:r>
            <a:endParaRPr lang="en-US" sz="900" dirty="0"/>
          </a:p>
        </p:txBody>
      </p:sp>
      <p:sp>
        <p:nvSpPr>
          <p:cNvPr id="23" name="Rectangle 2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8AC7C19-3DDD-4FBC-A5EC-BAE79FC841D7}"/>
</file>

<file path=customXml/itemProps2.xml><?xml version="1.0" encoding="utf-8"?>
<ds:datastoreItem xmlns:ds="http://schemas.openxmlformats.org/officeDocument/2006/customXml" ds:itemID="{C5EF0121-8490-410D-85FB-ED79326E26FA}"/>
</file>

<file path=customXml/itemProps3.xml><?xml version="1.0" encoding="utf-8"?>
<ds:datastoreItem xmlns:ds="http://schemas.openxmlformats.org/officeDocument/2006/customXml" ds:itemID="{1D8D2ABE-21D0-4894-8BBE-348316C2E1E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On-screen Show (16:9)</PresentationFormat>
  <Paragraphs>61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 02 Mission Vision Values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