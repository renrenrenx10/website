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media/image1.jpg" ContentType="image/jpg"/>
  <Override PartName="/ppt/slides/slide2.xml" ContentType="application/vnd.openxmlformats-officedocument.presentationml.slide+xml"/>
  <Override PartName="/ppt/notesSlides/notesSlide2.xml" ContentType="application/vnd.openxmlformats-officedocument.presentationml.notesSlide+xml"/>
  <Override PartName="/ppt/media/image2.jpg" ContentType="image/jpg"/>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096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5B595A"/>
          </a:solidFill>
          <a:ln/>
        </p:spPr>
        <p:txBody>
          <a:bodyPr/>
          <a:lstStyle/>
          <a:p>
            <a:endParaRPr lang="en-GB"/>
          </a:p>
        </p:txBody>
      </p:sp>
      <p:sp>
        <p:nvSpPr>
          <p:cNvPr id="3" name="Shape 1"/>
          <p:cNvSpPr/>
          <p:nvPr/>
        </p:nvSpPr>
        <p:spPr>
          <a:xfrm>
            <a:off x="4754880" y="0"/>
            <a:ext cx="7434072" cy="6858000"/>
          </a:xfrm>
          <a:prstGeom prst="rect">
            <a:avLst/>
          </a:prstGeom>
          <a:solidFill>
            <a:srgbClr val="009FE3"/>
          </a:solidFill>
          <a:ln/>
        </p:spPr>
        <p:txBody>
          <a:bodyPr/>
          <a:lstStyle/>
          <a:p>
            <a:endParaRPr lang="en-GB"/>
          </a:p>
        </p:txBody>
      </p:sp>
      <p:sp>
        <p:nvSpPr>
          <p:cNvPr id="4" name="Shape 2"/>
          <p:cNvSpPr/>
          <p:nvPr/>
        </p:nvSpPr>
        <p:spPr>
          <a:xfrm>
            <a:off x="4572000" y="0"/>
            <a:ext cx="201168" cy="6858000"/>
          </a:xfrm>
          <a:prstGeom prst="rect">
            <a:avLst/>
          </a:prstGeom>
          <a:solidFill>
            <a:srgbClr val="83348F"/>
          </a:solidFill>
          <a:ln/>
        </p:spPr>
        <p:txBody>
          <a:bodyPr/>
          <a:lstStyle/>
          <a:p>
            <a:endParaRPr lang="en-GB"/>
          </a:p>
        </p:txBody>
      </p:sp>
      <p:pic>
        <p:nvPicPr>
          <p:cNvPr id="5" name="Image 0" descr="/home/claude/nuccol_logo_cover.jpg"/>
          <p:cNvPicPr>
            <a:picLocks noChangeAspect="1"/>
          </p:cNvPicPr>
          <p:nvPr/>
        </p:nvPicPr>
        <p:blipFill>
          <a:blip r:embed="rId3"/>
          <a:stretch>
            <a:fillRect/>
          </a:stretch>
        </p:blipFill>
        <p:spPr>
          <a:xfrm>
            <a:off x="411480" y="457200"/>
            <a:ext cx="2011680" cy="1005840"/>
          </a:xfrm>
          <a:prstGeom prst="rect">
            <a:avLst/>
          </a:prstGeom>
        </p:spPr>
      </p:pic>
      <p:sp>
        <p:nvSpPr>
          <p:cNvPr id="6" name="Shape 3"/>
          <p:cNvSpPr/>
          <p:nvPr/>
        </p:nvSpPr>
        <p:spPr>
          <a:xfrm>
            <a:off x="411480" y="1691640"/>
            <a:ext cx="2011680" cy="329184"/>
          </a:xfrm>
          <a:prstGeom prst="rect">
            <a:avLst/>
          </a:prstGeom>
          <a:solidFill>
            <a:srgbClr val="83348F"/>
          </a:solidFill>
          <a:ln/>
        </p:spPr>
        <p:txBody>
          <a:bodyPr/>
          <a:lstStyle/>
          <a:p>
            <a:endParaRPr lang="en-GB"/>
          </a:p>
        </p:txBody>
      </p:sp>
      <p:sp>
        <p:nvSpPr>
          <p:cNvPr id="7" name="Text 4"/>
          <p:cNvSpPr/>
          <p:nvPr/>
        </p:nvSpPr>
        <p:spPr>
          <a:xfrm>
            <a:off x="411480" y="1709928"/>
            <a:ext cx="2011680" cy="292608"/>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PE-02d</a:t>
            </a:r>
            <a:endParaRPr lang="en-US" sz="1200" dirty="0"/>
          </a:p>
        </p:txBody>
      </p:sp>
      <p:sp>
        <p:nvSpPr>
          <p:cNvPr id="8" name="Text 5"/>
          <p:cNvSpPr/>
          <p:nvPr/>
        </p:nvSpPr>
        <p:spPr>
          <a:xfrm>
            <a:off x="274320" y="2286000"/>
            <a:ext cx="4206240" cy="1280160"/>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PROCESS</a:t>
            </a:r>
            <a:endParaRPr lang="en-US" sz="1800" dirty="0"/>
          </a:p>
          <a:p>
            <a:pPr marL="0" indent="0" algn="ctr">
              <a:buNone/>
            </a:pPr>
            <a:r>
              <a:rPr lang="en-US" sz="1800" b="1" dirty="0">
                <a:solidFill>
                  <a:srgbClr val="FFFFFF"/>
                </a:solidFill>
                <a:latin typeface="Arial" pitchFamily="34" charset="0"/>
                <a:ea typeface="Arial" pitchFamily="34" charset="-122"/>
                <a:cs typeface="Arial" pitchFamily="34" charset="-120"/>
              </a:rPr>
              <a:t>EXCELLENCE</a:t>
            </a:r>
            <a:endParaRPr lang="en-US" sz="1800" dirty="0"/>
          </a:p>
        </p:txBody>
      </p:sp>
      <p:sp>
        <p:nvSpPr>
          <p:cNvPr id="9" name="Text 6"/>
          <p:cNvSpPr/>
          <p:nvPr/>
        </p:nvSpPr>
        <p:spPr>
          <a:xfrm>
            <a:off x="274320" y="3749040"/>
            <a:ext cx="4206240" cy="822960"/>
          </a:xfrm>
          <a:prstGeom prst="rect">
            <a:avLst/>
          </a:prstGeom>
          <a:noFill/>
          <a:ln/>
        </p:spPr>
        <p:txBody>
          <a:bodyPr wrap="square" rtlCol="0" anchor="ctr"/>
          <a:lstStyle/>
          <a:p>
            <a:pPr marL="0" indent="0" algn="ctr">
              <a:buNone/>
            </a:pPr>
            <a:r>
              <a:rPr lang="en-US" sz="1400" i="1" dirty="0">
                <a:solidFill>
                  <a:srgbClr val="BBBBBB"/>
                </a:solidFill>
                <a:latin typeface="Arial" pitchFamily="34" charset="0"/>
                <a:ea typeface="Arial" pitchFamily="34" charset="-122"/>
                <a:cs typeface="Arial" pitchFamily="34" charset="-120"/>
              </a:rPr>
              <a:t>Managing Value</a:t>
            </a:r>
            <a:endParaRPr lang="en-US" sz="1400" dirty="0"/>
          </a:p>
          <a:p>
            <a:pPr marL="0" indent="0" algn="ctr">
              <a:buNone/>
            </a:pPr>
            <a:r>
              <a:rPr lang="en-US" sz="1400" i="1" dirty="0">
                <a:solidFill>
                  <a:srgbClr val="BBBBBB"/>
                </a:solidFill>
                <a:latin typeface="Arial" pitchFamily="34" charset="0"/>
                <a:ea typeface="Arial" pitchFamily="34" charset="-122"/>
                <a:cs typeface="Arial" pitchFamily="34" charset="-120"/>
              </a:rPr>
              <a:t>and Waste</a:t>
            </a:r>
            <a:endParaRPr lang="en-US" sz="1400" dirty="0"/>
          </a:p>
        </p:txBody>
      </p:sp>
      <p:sp>
        <p:nvSpPr>
          <p:cNvPr id="10" name="Text 7"/>
          <p:cNvSpPr/>
          <p:nvPr/>
        </p:nvSpPr>
        <p:spPr>
          <a:xfrm>
            <a:off x="5029200" y="1097280"/>
            <a:ext cx="6858000" cy="2377440"/>
          </a:xfrm>
          <a:prstGeom prst="rect">
            <a:avLst/>
          </a:prstGeom>
          <a:noFill/>
          <a:ln/>
        </p:spPr>
        <p:txBody>
          <a:bodyPr wrap="square" rtlCol="0" anchor="ctr"/>
          <a:lstStyle/>
          <a:p>
            <a:pPr marL="0" indent="0" algn="l">
              <a:buNone/>
            </a:pPr>
            <a:r>
              <a:rPr lang="en-US" sz="4600" b="1" dirty="0">
                <a:solidFill>
                  <a:srgbClr val="FFFFFF"/>
                </a:solidFill>
                <a:latin typeface="Arial" pitchFamily="34" charset="0"/>
                <a:ea typeface="Arial" pitchFamily="34" charset="-122"/>
                <a:cs typeface="Arial" pitchFamily="34" charset="-120"/>
              </a:rPr>
              <a:t>VALUE STREAM</a:t>
            </a:r>
            <a:endParaRPr lang="en-US" sz="4600" dirty="0"/>
          </a:p>
          <a:p>
            <a:pPr marL="0" indent="0" algn="l">
              <a:buNone/>
            </a:pPr>
            <a:r>
              <a:rPr lang="en-US" sz="4600" b="1" dirty="0">
                <a:solidFill>
                  <a:srgbClr val="FFFFFF"/>
                </a:solidFill>
                <a:latin typeface="Arial" pitchFamily="34" charset="0"/>
                <a:ea typeface="Arial" pitchFamily="34" charset="-122"/>
                <a:cs typeface="Arial" pitchFamily="34" charset="-120"/>
              </a:rPr>
              <a:t>MAPPING</a:t>
            </a:r>
            <a:endParaRPr lang="en-US" sz="4600" dirty="0"/>
          </a:p>
        </p:txBody>
      </p:sp>
      <p:sp>
        <p:nvSpPr>
          <p:cNvPr id="11" name="Text 8"/>
          <p:cNvSpPr/>
          <p:nvPr/>
        </p:nvSpPr>
        <p:spPr>
          <a:xfrm>
            <a:off x="5029200" y="3566160"/>
            <a:ext cx="6858000" cy="594360"/>
          </a:xfrm>
          <a:prstGeom prst="rect">
            <a:avLst/>
          </a:prstGeom>
          <a:noFill/>
          <a:ln/>
        </p:spPr>
        <p:txBody>
          <a:bodyPr wrap="square" rtlCol="0" anchor="ctr"/>
          <a:lstStyle/>
          <a:p>
            <a:pPr marL="0" indent="0" algn="l">
              <a:buNone/>
            </a:pPr>
            <a:r>
              <a:rPr lang="en-US" sz="2400" dirty="0">
                <a:solidFill>
                  <a:srgbClr val="E0F4FC"/>
                </a:solidFill>
                <a:latin typeface="Arial" pitchFamily="34" charset="0"/>
                <a:ea typeface="Arial" pitchFamily="34" charset="-122"/>
                <a:cs typeface="Arial" pitchFamily="34" charset="-120"/>
              </a:rPr>
              <a:t>Worked Example</a:t>
            </a:r>
            <a:endParaRPr lang="en-US" sz="2400" dirty="0"/>
          </a:p>
        </p:txBody>
      </p:sp>
      <p:sp>
        <p:nvSpPr>
          <p:cNvPr id="12" name="Text 9"/>
          <p:cNvSpPr/>
          <p:nvPr/>
        </p:nvSpPr>
        <p:spPr>
          <a:xfrm>
            <a:off x="5029200" y="4160520"/>
            <a:ext cx="6858000" cy="502920"/>
          </a:xfrm>
          <a:prstGeom prst="rect">
            <a:avLst/>
          </a:prstGeom>
          <a:noFill/>
          <a:ln/>
        </p:spPr>
        <p:txBody>
          <a:bodyPr wrap="square" rtlCol="0" anchor="ctr"/>
          <a:lstStyle/>
          <a:p>
            <a:pPr marL="0" indent="0" algn="l">
              <a:buNone/>
            </a:pPr>
            <a:r>
              <a:rPr lang="en-US" sz="2000" b="1" dirty="0">
                <a:solidFill>
                  <a:srgbClr val="FFFFFF"/>
                </a:solidFill>
                <a:latin typeface="Arial" pitchFamily="34" charset="0"/>
                <a:ea typeface="Arial" pitchFamily="34" charset="-122"/>
                <a:cs typeface="Arial" pitchFamily="34" charset="-120"/>
              </a:rPr>
              <a:t>Before and After</a:t>
            </a:r>
            <a:endParaRPr lang="en-US" sz="2000" dirty="0"/>
          </a:p>
        </p:txBody>
      </p:sp>
      <p:sp>
        <p:nvSpPr>
          <p:cNvPr id="13" name="Shape 10"/>
          <p:cNvSpPr/>
          <p:nvPr/>
        </p:nvSpPr>
        <p:spPr>
          <a:xfrm>
            <a:off x="5029200" y="4754880"/>
            <a:ext cx="6400800" cy="36576"/>
          </a:xfrm>
          <a:prstGeom prst="rect">
            <a:avLst/>
          </a:prstGeom>
          <a:solidFill>
            <a:srgbClr val="FFFFFF"/>
          </a:solidFill>
          <a:ln/>
        </p:spPr>
        <p:txBody>
          <a:bodyPr/>
          <a:lstStyle/>
          <a:p>
            <a:endParaRPr lang="en-GB"/>
          </a:p>
        </p:txBody>
      </p:sp>
      <p:sp>
        <p:nvSpPr>
          <p:cNvPr id="14" name="Text 11"/>
          <p:cNvSpPr/>
          <p:nvPr/>
        </p:nvSpPr>
        <p:spPr>
          <a:xfrm>
            <a:off x="5029200" y="4864608"/>
            <a:ext cx="6858000" cy="292608"/>
          </a:xfrm>
          <a:prstGeom prst="rect">
            <a:avLst/>
          </a:prstGeom>
          <a:noFill/>
          <a:ln/>
        </p:spPr>
        <p:txBody>
          <a:bodyPr wrap="square" rtlCol="0" anchor="ctr"/>
          <a:lstStyle/>
          <a:p>
            <a:pPr marL="0" indent="0">
              <a:buNone/>
            </a:pPr>
            <a:r>
              <a:rPr lang="en-US" sz="1100" i="1" dirty="0">
                <a:solidFill>
                  <a:srgbClr val="E0F4FC"/>
                </a:solidFill>
                <a:latin typeface="Arial" pitchFamily="34" charset="0"/>
                <a:ea typeface="Arial" pitchFamily="34" charset="-122"/>
                <a:cs typeface="Arial" pitchFamily="34" charset="-120"/>
              </a:rPr>
              <a:t>Precision Machining Company  |  Stainless Steel Housings</a:t>
            </a:r>
            <a:endParaRPr lang="en-US" sz="1100" dirty="0"/>
          </a:p>
        </p:txBody>
      </p:sp>
      <p:sp>
        <p:nvSpPr>
          <p:cNvPr id="15" name="Text 12"/>
          <p:cNvSpPr/>
          <p:nvPr/>
        </p:nvSpPr>
        <p:spPr>
          <a:xfrm>
            <a:off x="5029200" y="5193792"/>
            <a:ext cx="6858000" cy="256032"/>
          </a:xfrm>
          <a:prstGeom prst="rect">
            <a:avLst/>
          </a:prstGeom>
          <a:noFill/>
          <a:ln/>
        </p:spPr>
        <p:txBody>
          <a:bodyPr wrap="square" rtlCol="0" anchor="ctr"/>
          <a:lstStyle/>
          <a:p>
            <a:pPr marL="0" indent="0">
              <a:buNone/>
            </a:pPr>
            <a:r>
              <a:rPr lang="en-US" sz="1000" i="1" dirty="0">
                <a:solidFill>
                  <a:srgbClr val="CCE9F6"/>
                </a:solidFill>
                <a:latin typeface="Arial" pitchFamily="34" charset="0"/>
                <a:ea typeface="Arial" pitchFamily="34" charset="-122"/>
                <a:cs typeface="Arial" pitchFamily="34" charset="-120"/>
              </a:rPr>
              <a:t>All figures are representative of a typical UK SME manufacturer</a:t>
            </a:r>
            <a:endParaRPr lang="en-US" sz="1000" dirty="0"/>
          </a:p>
        </p:txBody>
      </p:sp>
      <p:sp>
        <p:nvSpPr>
          <p:cNvPr id="16" name="Text 13"/>
          <p:cNvSpPr/>
          <p:nvPr/>
        </p:nvSpPr>
        <p:spPr>
          <a:xfrm>
            <a:off x="5029200" y="6035040"/>
            <a:ext cx="6858000" cy="256032"/>
          </a:xfrm>
          <a:prstGeom prst="rect">
            <a:avLst/>
          </a:prstGeom>
          <a:noFill/>
          <a:ln/>
        </p:spPr>
        <p:txBody>
          <a:bodyPr wrap="square" rtlCol="0" anchor="ctr"/>
          <a:lstStyle/>
          <a:p>
            <a:pPr marL="0" indent="0">
              <a:buNone/>
            </a:pPr>
            <a:r>
              <a:rPr lang="en-US" sz="900" dirty="0">
                <a:solidFill>
                  <a:srgbClr val="AADDEE"/>
                </a:solidFill>
                <a:latin typeface="Arial" pitchFamily="34" charset="0"/>
                <a:ea typeface="Arial" pitchFamily="34" charset="-122"/>
                <a:cs typeface="Arial" pitchFamily="34" charset="-120"/>
              </a:rPr>
              <a:t>NucCol Ltd  |  nuccolltd.com</a:t>
            </a:r>
            <a:endParaRPr lang="en-US" sz="900" dirty="0"/>
          </a:p>
        </p:txBody>
      </p:sp>
      <p:sp>
        <p:nvSpPr>
          <p:cNvPr id="17" name="Rectangle 16"/>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5"/>
          <a:stretch>
            <a:fillRect/>
          </a:stretch>
        </p:blipFill>
        <p:spPr>
          <a:xfrm>
            <a:off x="10610088" y="100584"/>
            <a:ext cx="566928" cy="347472"/>
          </a:xfrm>
          <a:prstGeom prst="rect">
            <a:avLst/>
          </a:prstGeom>
        </p:spPr>
      </p:pic>
      <p:pic>
        <p:nvPicPr>
          <p:cNvPr id="19" name="Picture 18" descr="image.png"/>
          <p:cNvPicPr>
            <a:picLocks noChangeAspect="1"/>
          </p:cNvPicPr>
          <p:nvPr/>
        </p:nvPicPr>
        <p:blipFill>
          <a:blip r:embed="rId4"/>
          <a:stretch>
            <a:fillRect/>
          </a:stretch>
        </p:blipFill>
        <p:spPr>
          <a:xfrm>
            <a:off x="11222736" y="100584"/>
            <a:ext cx="658368" cy="347472"/>
          </a:xfrm>
          <a:prstGeom prst="rect">
            <a:avLst/>
          </a:prstGeom>
        </p:spPr>
      </p:pic>
      <p:sp>
        <p:nvSpPr>
          <p:cNvPr id="20" name="Rectangle 19"/>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009FE3"/>
          </a:solidFill>
          <a:ln/>
        </p:spPr>
        <p:txBody>
          <a:bodyPr/>
          <a:lstStyle/>
          <a:p>
            <a:endParaRPr lang="en-GB"/>
          </a:p>
        </p:txBody>
      </p:sp>
      <p:sp>
        <p:nvSpPr>
          <p:cNvPr id="3" name="Text 1"/>
          <p:cNvSpPr/>
          <p:nvPr/>
        </p:nvSpPr>
        <p:spPr>
          <a:xfrm>
            <a:off x="228600" y="73152"/>
            <a:ext cx="10058400" cy="420624"/>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THE SCENARIO: PRECISION ENGINEERING LTD</a:t>
            </a:r>
            <a:endParaRPr lang="en-US" sz="1700" dirty="0"/>
          </a:p>
        </p:txBody>
      </p:sp>
      <p:sp>
        <p:nvSpPr>
          <p:cNvPr id="5" name="Shape 2"/>
          <p:cNvSpPr/>
          <p:nvPr/>
        </p:nvSpPr>
        <p:spPr>
          <a:xfrm>
            <a:off x="182880" y="658368"/>
            <a:ext cx="4937760" cy="5806440"/>
          </a:xfrm>
          <a:prstGeom prst="rect">
            <a:avLst/>
          </a:prstGeom>
          <a:solidFill>
            <a:srgbClr val="E0F4FD"/>
          </a:solidFill>
          <a:ln w="10160">
            <a:solidFill>
              <a:srgbClr val="009FE3"/>
            </a:solidFill>
            <a:prstDash val="solid"/>
          </a:ln>
        </p:spPr>
        <p:txBody>
          <a:bodyPr/>
          <a:lstStyle/>
          <a:p>
            <a:endParaRPr lang="en-GB"/>
          </a:p>
        </p:txBody>
      </p:sp>
      <p:sp>
        <p:nvSpPr>
          <p:cNvPr id="6" name="Shape 3"/>
          <p:cNvSpPr/>
          <p:nvPr/>
        </p:nvSpPr>
        <p:spPr>
          <a:xfrm>
            <a:off x="182880" y="658368"/>
            <a:ext cx="4937760" cy="329184"/>
          </a:xfrm>
          <a:prstGeom prst="rect">
            <a:avLst/>
          </a:prstGeom>
          <a:solidFill>
            <a:srgbClr val="009FE3"/>
          </a:solidFill>
          <a:ln/>
        </p:spPr>
        <p:txBody>
          <a:bodyPr/>
          <a:lstStyle/>
          <a:p>
            <a:endParaRPr lang="en-GB"/>
          </a:p>
        </p:txBody>
      </p:sp>
      <p:sp>
        <p:nvSpPr>
          <p:cNvPr id="7" name="Text 4"/>
          <p:cNvSpPr/>
          <p:nvPr/>
        </p:nvSpPr>
        <p:spPr>
          <a:xfrm>
            <a:off x="274320" y="676656"/>
            <a:ext cx="4754880" cy="2743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COMPANY PROFILE</a:t>
            </a:r>
            <a:endParaRPr lang="en-US" sz="1000" dirty="0"/>
          </a:p>
        </p:txBody>
      </p:sp>
      <p:sp>
        <p:nvSpPr>
          <p:cNvPr id="8" name="Shape 5"/>
          <p:cNvSpPr/>
          <p:nvPr/>
        </p:nvSpPr>
        <p:spPr>
          <a:xfrm>
            <a:off x="228600" y="1078992"/>
            <a:ext cx="4846320" cy="475488"/>
          </a:xfrm>
          <a:prstGeom prst="rect">
            <a:avLst/>
          </a:prstGeom>
          <a:solidFill>
            <a:srgbClr val="FFFFFF"/>
          </a:solidFill>
          <a:ln w="3810">
            <a:solidFill>
              <a:srgbClr val="DDDDDD"/>
            </a:solidFill>
            <a:prstDash val="solid"/>
          </a:ln>
        </p:spPr>
        <p:txBody>
          <a:bodyPr/>
          <a:lstStyle/>
          <a:p>
            <a:endParaRPr lang="en-GB"/>
          </a:p>
        </p:txBody>
      </p:sp>
      <p:sp>
        <p:nvSpPr>
          <p:cNvPr id="9" name="Text 6"/>
          <p:cNvSpPr/>
          <p:nvPr/>
        </p:nvSpPr>
        <p:spPr>
          <a:xfrm>
            <a:off x="320040" y="1115568"/>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Company</a:t>
            </a:r>
            <a:endParaRPr lang="en-US" sz="900" dirty="0"/>
          </a:p>
        </p:txBody>
      </p:sp>
      <p:sp>
        <p:nvSpPr>
          <p:cNvPr id="10" name="Text 7"/>
          <p:cNvSpPr/>
          <p:nvPr/>
        </p:nvSpPr>
        <p:spPr>
          <a:xfrm>
            <a:off x="2011680" y="1115568"/>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Precision Engineering Ltd (example)</a:t>
            </a:r>
            <a:endParaRPr lang="en-US" sz="900" dirty="0"/>
          </a:p>
        </p:txBody>
      </p:sp>
      <p:sp>
        <p:nvSpPr>
          <p:cNvPr id="11" name="Shape 8"/>
          <p:cNvSpPr/>
          <p:nvPr/>
        </p:nvSpPr>
        <p:spPr>
          <a:xfrm>
            <a:off x="228600" y="1591056"/>
            <a:ext cx="4846320" cy="475488"/>
          </a:xfrm>
          <a:prstGeom prst="rect">
            <a:avLst/>
          </a:prstGeom>
          <a:solidFill>
            <a:srgbClr val="F0F8FD"/>
          </a:solidFill>
          <a:ln w="3810">
            <a:solidFill>
              <a:srgbClr val="DDDDDD"/>
            </a:solidFill>
            <a:prstDash val="solid"/>
          </a:ln>
        </p:spPr>
        <p:txBody>
          <a:bodyPr/>
          <a:lstStyle/>
          <a:p>
            <a:endParaRPr lang="en-GB"/>
          </a:p>
        </p:txBody>
      </p:sp>
      <p:sp>
        <p:nvSpPr>
          <p:cNvPr id="12" name="Text 9"/>
          <p:cNvSpPr/>
          <p:nvPr/>
        </p:nvSpPr>
        <p:spPr>
          <a:xfrm>
            <a:off x="320040" y="1627632"/>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Size</a:t>
            </a:r>
            <a:endParaRPr lang="en-US" sz="900" dirty="0"/>
          </a:p>
        </p:txBody>
      </p:sp>
      <p:sp>
        <p:nvSpPr>
          <p:cNvPr id="13" name="Text 10"/>
          <p:cNvSpPr/>
          <p:nvPr/>
        </p:nvSpPr>
        <p:spPr>
          <a:xfrm>
            <a:off x="2011680" y="1627632"/>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38 employees  |  £3.2m annual turnover</a:t>
            </a:r>
            <a:endParaRPr lang="en-US" sz="900" dirty="0"/>
          </a:p>
        </p:txBody>
      </p:sp>
      <p:sp>
        <p:nvSpPr>
          <p:cNvPr id="14" name="Shape 11"/>
          <p:cNvSpPr/>
          <p:nvPr/>
        </p:nvSpPr>
        <p:spPr>
          <a:xfrm>
            <a:off x="228600" y="2103120"/>
            <a:ext cx="4846320" cy="475488"/>
          </a:xfrm>
          <a:prstGeom prst="rect">
            <a:avLst/>
          </a:prstGeom>
          <a:solidFill>
            <a:srgbClr val="FFFFFF"/>
          </a:solidFill>
          <a:ln w="3810">
            <a:solidFill>
              <a:srgbClr val="DDDDDD"/>
            </a:solidFill>
            <a:prstDash val="solid"/>
          </a:ln>
        </p:spPr>
        <p:txBody>
          <a:bodyPr/>
          <a:lstStyle/>
          <a:p>
            <a:endParaRPr lang="en-GB"/>
          </a:p>
        </p:txBody>
      </p:sp>
      <p:sp>
        <p:nvSpPr>
          <p:cNvPr id="15" name="Text 12"/>
          <p:cNvSpPr/>
          <p:nvPr/>
        </p:nvSpPr>
        <p:spPr>
          <a:xfrm>
            <a:off x="320040" y="2139696"/>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Product</a:t>
            </a:r>
            <a:endParaRPr lang="en-US" sz="900" dirty="0"/>
          </a:p>
        </p:txBody>
      </p:sp>
      <p:sp>
        <p:nvSpPr>
          <p:cNvPr id="16" name="Text 13"/>
          <p:cNvSpPr/>
          <p:nvPr/>
        </p:nvSpPr>
        <p:spPr>
          <a:xfrm>
            <a:off x="2011680" y="2139696"/>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Stainless steel housings for nuclear instrumentation</a:t>
            </a:r>
            <a:endParaRPr lang="en-US" sz="900" dirty="0"/>
          </a:p>
        </p:txBody>
      </p:sp>
      <p:sp>
        <p:nvSpPr>
          <p:cNvPr id="17" name="Shape 14"/>
          <p:cNvSpPr/>
          <p:nvPr/>
        </p:nvSpPr>
        <p:spPr>
          <a:xfrm>
            <a:off x="228600" y="2615184"/>
            <a:ext cx="4846320" cy="475488"/>
          </a:xfrm>
          <a:prstGeom prst="rect">
            <a:avLst/>
          </a:prstGeom>
          <a:solidFill>
            <a:srgbClr val="F0F8FD"/>
          </a:solidFill>
          <a:ln w="3810">
            <a:solidFill>
              <a:srgbClr val="DDDDDD"/>
            </a:solidFill>
            <a:prstDash val="solid"/>
          </a:ln>
        </p:spPr>
        <p:txBody>
          <a:bodyPr/>
          <a:lstStyle/>
          <a:p>
            <a:endParaRPr lang="en-GB"/>
          </a:p>
        </p:txBody>
      </p:sp>
      <p:sp>
        <p:nvSpPr>
          <p:cNvPr id="18" name="Text 15"/>
          <p:cNvSpPr/>
          <p:nvPr/>
        </p:nvSpPr>
        <p:spPr>
          <a:xfrm>
            <a:off x="320040" y="2651760"/>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Customer demand</a:t>
            </a:r>
            <a:endParaRPr lang="en-US" sz="900" dirty="0"/>
          </a:p>
        </p:txBody>
      </p:sp>
      <p:sp>
        <p:nvSpPr>
          <p:cNvPr id="19" name="Text 16"/>
          <p:cNvSpPr/>
          <p:nvPr/>
        </p:nvSpPr>
        <p:spPr>
          <a:xfrm>
            <a:off x="2011680" y="2651760"/>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60 housings per week</a:t>
            </a:r>
            <a:endParaRPr lang="en-US" sz="900" dirty="0"/>
          </a:p>
        </p:txBody>
      </p:sp>
      <p:sp>
        <p:nvSpPr>
          <p:cNvPr id="20" name="Shape 17"/>
          <p:cNvSpPr/>
          <p:nvPr/>
        </p:nvSpPr>
        <p:spPr>
          <a:xfrm>
            <a:off x="228600" y="3127248"/>
            <a:ext cx="4846320" cy="475488"/>
          </a:xfrm>
          <a:prstGeom prst="rect">
            <a:avLst/>
          </a:prstGeom>
          <a:solidFill>
            <a:srgbClr val="FFFFFF"/>
          </a:solidFill>
          <a:ln w="3810">
            <a:solidFill>
              <a:srgbClr val="DDDDDD"/>
            </a:solidFill>
            <a:prstDash val="solid"/>
          </a:ln>
        </p:spPr>
        <p:txBody>
          <a:bodyPr/>
          <a:lstStyle/>
          <a:p>
            <a:endParaRPr lang="en-GB"/>
          </a:p>
        </p:txBody>
      </p:sp>
      <p:sp>
        <p:nvSpPr>
          <p:cNvPr id="21" name="Text 18"/>
          <p:cNvSpPr/>
          <p:nvPr/>
        </p:nvSpPr>
        <p:spPr>
          <a:xfrm>
            <a:off x="320040" y="3163824"/>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Customer takt time</a:t>
            </a:r>
            <a:endParaRPr lang="en-US" sz="900" dirty="0"/>
          </a:p>
        </p:txBody>
      </p:sp>
      <p:sp>
        <p:nvSpPr>
          <p:cNvPr id="22" name="Text 19"/>
          <p:cNvSpPr/>
          <p:nvPr/>
        </p:nvSpPr>
        <p:spPr>
          <a:xfrm>
            <a:off x="2011680" y="3163824"/>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6 hours per housing (37.5 hr working week)</a:t>
            </a:r>
            <a:endParaRPr lang="en-US" sz="900" dirty="0"/>
          </a:p>
        </p:txBody>
      </p:sp>
      <p:sp>
        <p:nvSpPr>
          <p:cNvPr id="23" name="Shape 20"/>
          <p:cNvSpPr/>
          <p:nvPr/>
        </p:nvSpPr>
        <p:spPr>
          <a:xfrm>
            <a:off x="228600" y="3639312"/>
            <a:ext cx="4846320" cy="475488"/>
          </a:xfrm>
          <a:prstGeom prst="rect">
            <a:avLst/>
          </a:prstGeom>
          <a:solidFill>
            <a:srgbClr val="F0F8FD"/>
          </a:solidFill>
          <a:ln w="3810">
            <a:solidFill>
              <a:srgbClr val="DDDDDD"/>
            </a:solidFill>
            <a:prstDash val="solid"/>
          </a:ln>
        </p:spPr>
        <p:txBody>
          <a:bodyPr/>
          <a:lstStyle/>
          <a:p>
            <a:endParaRPr lang="en-GB"/>
          </a:p>
        </p:txBody>
      </p:sp>
      <p:sp>
        <p:nvSpPr>
          <p:cNvPr id="24" name="Text 21"/>
          <p:cNvSpPr/>
          <p:nvPr/>
        </p:nvSpPr>
        <p:spPr>
          <a:xfrm>
            <a:off x="320040" y="3675888"/>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Order type</a:t>
            </a:r>
            <a:endParaRPr lang="en-US" sz="900" dirty="0"/>
          </a:p>
        </p:txBody>
      </p:sp>
      <p:sp>
        <p:nvSpPr>
          <p:cNvPr id="25" name="Text 22"/>
          <p:cNvSpPr/>
          <p:nvPr/>
        </p:nvSpPr>
        <p:spPr>
          <a:xfrm>
            <a:off x="2011680" y="3675888"/>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Mix of call-off and short-run orders</a:t>
            </a:r>
            <a:endParaRPr lang="en-US" sz="900" dirty="0"/>
          </a:p>
        </p:txBody>
      </p:sp>
      <p:sp>
        <p:nvSpPr>
          <p:cNvPr id="26" name="Shape 23"/>
          <p:cNvSpPr/>
          <p:nvPr/>
        </p:nvSpPr>
        <p:spPr>
          <a:xfrm>
            <a:off x="228600" y="4151376"/>
            <a:ext cx="4846320" cy="475488"/>
          </a:xfrm>
          <a:prstGeom prst="rect">
            <a:avLst/>
          </a:prstGeom>
          <a:solidFill>
            <a:srgbClr val="FFFFFF"/>
          </a:solidFill>
          <a:ln w="3810">
            <a:solidFill>
              <a:srgbClr val="DDDDDD"/>
            </a:solidFill>
            <a:prstDash val="solid"/>
          </a:ln>
        </p:spPr>
        <p:txBody>
          <a:bodyPr/>
          <a:lstStyle/>
          <a:p>
            <a:endParaRPr lang="en-GB"/>
          </a:p>
        </p:txBody>
      </p:sp>
      <p:sp>
        <p:nvSpPr>
          <p:cNvPr id="27" name="Text 24"/>
          <p:cNvSpPr/>
          <p:nvPr/>
        </p:nvSpPr>
        <p:spPr>
          <a:xfrm>
            <a:off x="320040" y="4187952"/>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Current OTIF</a:t>
            </a:r>
            <a:endParaRPr lang="en-US" sz="900" dirty="0"/>
          </a:p>
        </p:txBody>
      </p:sp>
      <p:sp>
        <p:nvSpPr>
          <p:cNvPr id="28" name="Text 25"/>
          <p:cNvSpPr/>
          <p:nvPr/>
        </p:nvSpPr>
        <p:spPr>
          <a:xfrm>
            <a:off x="2011680" y="4187952"/>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74%</a:t>
            </a:r>
            <a:endParaRPr lang="en-US" sz="900" dirty="0"/>
          </a:p>
        </p:txBody>
      </p:sp>
      <p:sp>
        <p:nvSpPr>
          <p:cNvPr id="29" name="Shape 26"/>
          <p:cNvSpPr/>
          <p:nvPr/>
        </p:nvSpPr>
        <p:spPr>
          <a:xfrm>
            <a:off x="228600" y="4663440"/>
            <a:ext cx="4846320" cy="475488"/>
          </a:xfrm>
          <a:prstGeom prst="rect">
            <a:avLst/>
          </a:prstGeom>
          <a:solidFill>
            <a:srgbClr val="F0F8FD"/>
          </a:solidFill>
          <a:ln w="3810">
            <a:solidFill>
              <a:srgbClr val="DDDDDD"/>
            </a:solidFill>
            <a:prstDash val="solid"/>
          </a:ln>
        </p:spPr>
        <p:txBody>
          <a:bodyPr/>
          <a:lstStyle/>
          <a:p>
            <a:endParaRPr lang="en-GB"/>
          </a:p>
        </p:txBody>
      </p:sp>
      <p:sp>
        <p:nvSpPr>
          <p:cNvPr id="30" name="Text 27"/>
          <p:cNvSpPr/>
          <p:nvPr/>
        </p:nvSpPr>
        <p:spPr>
          <a:xfrm>
            <a:off x="320040" y="4700016"/>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Current lead time</a:t>
            </a:r>
            <a:endParaRPr lang="en-US" sz="900" dirty="0"/>
          </a:p>
        </p:txBody>
      </p:sp>
      <p:sp>
        <p:nvSpPr>
          <p:cNvPr id="31" name="Text 28"/>
          <p:cNvSpPr/>
          <p:nvPr/>
        </p:nvSpPr>
        <p:spPr>
          <a:xfrm>
            <a:off x="2011680" y="4700016"/>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22 working days (customer expects 10)</a:t>
            </a:r>
            <a:endParaRPr lang="en-US" sz="900" dirty="0"/>
          </a:p>
        </p:txBody>
      </p:sp>
      <p:sp>
        <p:nvSpPr>
          <p:cNvPr id="32" name="Shape 29"/>
          <p:cNvSpPr/>
          <p:nvPr/>
        </p:nvSpPr>
        <p:spPr>
          <a:xfrm>
            <a:off x="228600" y="5175504"/>
            <a:ext cx="4846320" cy="475488"/>
          </a:xfrm>
          <a:prstGeom prst="rect">
            <a:avLst/>
          </a:prstGeom>
          <a:solidFill>
            <a:srgbClr val="FFFFFF"/>
          </a:solidFill>
          <a:ln w="3810">
            <a:solidFill>
              <a:srgbClr val="DDDDDD"/>
            </a:solidFill>
            <a:prstDash val="solid"/>
          </a:ln>
        </p:spPr>
        <p:txBody>
          <a:bodyPr/>
          <a:lstStyle/>
          <a:p>
            <a:endParaRPr lang="en-GB"/>
          </a:p>
        </p:txBody>
      </p:sp>
      <p:sp>
        <p:nvSpPr>
          <p:cNvPr id="33" name="Text 30"/>
          <p:cNvSpPr/>
          <p:nvPr/>
        </p:nvSpPr>
        <p:spPr>
          <a:xfrm>
            <a:off x="320040" y="5212080"/>
            <a:ext cx="1645920" cy="402336"/>
          </a:xfrm>
          <a:prstGeom prst="rect">
            <a:avLst/>
          </a:prstGeom>
          <a:noFill/>
          <a:ln/>
        </p:spPr>
        <p:txBody>
          <a:bodyPr wrap="square" rtlCol="0" anchor="ctr"/>
          <a:lstStyle/>
          <a:p>
            <a:pPr marL="0" indent="0">
              <a:buNone/>
            </a:pPr>
            <a:r>
              <a:rPr lang="en-US" sz="900" b="1" dirty="0">
                <a:solidFill>
                  <a:srgbClr val="009FE3"/>
                </a:solidFill>
                <a:latin typeface="Arial" pitchFamily="34" charset="0"/>
                <a:ea typeface="Arial" pitchFamily="34" charset="-122"/>
                <a:cs typeface="Arial" pitchFamily="34" charset="-120"/>
              </a:rPr>
              <a:t>Current scrap rate</a:t>
            </a:r>
            <a:endParaRPr lang="en-US" sz="900" dirty="0"/>
          </a:p>
        </p:txBody>
      </p:sp>
      <p:sp>
        <p:nvSpPr>
          <p:cNvPr id="34" name="Text 31"/>
          <p:cNvSpPr/>
          <p:nvPr/>
        </p:nvSpPr>
        <p:spPr>
          <a:xfrm>
            <a:off x="2011680" y="5212080"/>
            <a:ext cx="2926080" cy="40233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5.8% on turning operations</a:t>
            </a:r>
            <a:endParaRPr lang="en-US" sz="900" dirty="0"/>
          </a:p>
        </p:txBody>
      </p:sp>
      <p:sp>
        <p:nvSpPr>
          <p:cNvPr id="35" name="Shape 32"/>
          <p:cNvSpPr/>
          <p:nvPr/>
        </p:nvSpPr>
        <p:spPr>
          <a:xfrm>
            <a:off x="5349240" y="658368"/>
            <a:ext cx="6629400" cy="3017520"/>
          </a:xfrm>
          <a:prstGeom prst="rect">
            <a:avLst/>
          </a:prstGeom>
          <a:solidFill>
            <a:srgbClr val="F3EAF4"/>
          </a:solidFill>
          <a:ln w="10160">
            <a:solidFill>
              <a:srgbClr val="83348F"/>
            </a:solidFill>
            <a:prstDash val="solid"/>
          </a:ln>
        </p:spPr>
        <p:txBody>
          <a:bodyPr/>
          <a:lstStyle/>
          <a:p>
            <a:endParaRPr lang="en-GB"/>
          </a:p>
        </p:txBody>
      </p:sp>
      <p:sp>
        <p:nvSpPr>
          <p:cNvPr id="36" name="Shape 33"/>
          <p:cNvSpPr/>
          <p:nvPr/>
        </p:nvSpPr>
        <p:spPr>
          <a:xfrm>
            <a:off x="5349240" y="658368"/>
            <a:ext cx="6629400" cy="329184"/>
          </a:xfrm>
          <a:prstGeom prst="rect">
            <a:avLst/>
          </a:prstGeom>
          <a:solidFill>
            <a:srgbClr val="83348F"/>
          </a:solidFill>
          <a:ln/>
        </p:spPr>
        <p:txBody>
          <a:bodyPr/>
          <a:lstStyle/>
          <a:p>
            <a:endParaRPr lang="en-GB"/>
          </a:p>
        </p:txBody>
      </p:sp>
      <p:sp>
        <p:nvSpPr>
          <p:cNvPr id="37" name="Text 34"/>
          <p:cNvSpPr/>
          <p:nvPr/>
        </p:nvSpPr>
        <p:spPr>
          <a:xfrm>
            <a:off x="5440680" y="676656"/>
            <a:ext cx="6446520" cy="2743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CURRENT PROCESS STEPS</a:t>
            </a:r>
            <a:endParaRPr lang="en-US" sz="1000" dirty="0"/>
          </a:p>
        </p:txBody>
      </p:sp>
      <p:sp>
        <p:nvSpPr>
          <p:cNvPr id="38" name="Shape 35"/>
          <p:cNvSpPr/>
          <p:nvPr/>
        </p:nvSpPr>
        <p:spPr>
          <a:xfrm>
            <a:off x="5394960" y="1060704"/>
            <a:ext cx="6537960" cy="374904"/>
          </a:xfrm>
          <a:prstGeom prst="rect">
            <a:avLst/>
          </a:prstGeom>
          <a:solidFill>
            <a:srgbClr val="FFFFFF"/>
          </a:solidFill>
          <a:ln w="3810">
            <a:solidFill>
              <a:srgbClr val="DDDDDD"/>
            </a:solidFill>
            <a:prstDash val="solid"/>
          </a:ln>
        </p:spPr>
        <p:txBody>
          <a:bodyPr/>
          <a:lstStyle/>
          <a:p>
            <a:endParaRPr lang="en-GB"/>
          </a:p>
        </p:txBody>
      </p:sp>
      <p:sp>
        <p:nvSpPr>
          <p:cNvPr id="39" name="Shape 36"/>
          <p:cNvSpPr/>
          <p:nvPr/>
        </p:nvSpPr>
        <p:spPr>
          <a:xfrm>
            <a:off x="5394960" y="1060704"/>
            <a:ext cx="329184" cy="374904"/>
          </a:xfrm>
          <a:prstGeom prst="rect">
            <a:avLst/>
          </a:prstGeom>
          <a:solidFill>
            <a:srgbClr val="83348F"/>
          </a:solidFill>
          <a:ln/>
        </p:spPr>
        <p:txBody>
          <a:bodyPr/>
          <a:lstStyle/>
          <a:p>
            <a:endParaRPr lang="en-GB"/>
          </a:p>
        </p:txBody>
      </p:sp>
      <p:sp>
        <p:nvSpPr>
          <p:cNvPr id="40" name="Text 37"/>
          <p:cNvSpPr/>
          <p:nvPr/>
        </p:nvSpPr>
        <p:spPr>
          <a:xfrm>
            <a:off x="5394960" y="1060704"/>
            <a:ext cx="329184" cy="374904"/>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1" name="Text 38"/>
          <p:cNvSpPr/>
          <p:nvPr/>
        </p:nvSpPr>
        <p:spPr>
          <a:xfrm>
            <a:off x="5760720" y="1088136"/>
            <a:ext cx="1828800" cy="310896"/>
          </a:xfrm>
          <a:prstGeom prst="rect">
            <a:avLst/>
          </a:prstGeom>
          <a:noFill/>
          <a:ln/>
        </p:spPr>
        <p:txBody>
          <a:bodyPr wrap="square" rtlCol="0" anchor="ctr"/>
          <a:lstStyle/>
          <a:p>
            <a:pPr marL="0" indent="0">
              <a:buNone/>
            </a:pPr>
            <a:r>
              <a:rPr lang="en-US" sz="900" b="1" dirty="0">
                <a:solidFill>
                  <a:srgbClr val="83348F"/>
                </a:solidFill>
                <a:latin typeface="Arial" pitchFamily="34" charset="0"/>
                <a:ea typeface="Arial" pitchFamily="34" charset="-122"/>
                <a:cs typeface="Arial" pitchFamily="34" charset="-120"/>
              </a:rPr>
              <a:t>Goods In &amp; Stores</a:t>
            </a:r>
            <a:endParaRPr lang="en-US" sz="900" dirty="0"/>
          </a:p>
        </p:txBody>
      </p:sp>
      <p:sp>
        <p:nvSpPr>
          <p:cNvPr id="42" name="Text 39"/>
          <p:cNvSpPr/>
          <p:nvPr/>
        </p:nvSpPr>
        <p:spPr>
          <a:xfrm>
            <a:off x="7635240" y="1088136"/>
            <a:ext cx="425196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Raw bar stock received, stored, and issued to machining on request.</a:t>
            </a:r>
            <a:endParaRPr lang="en-US" sz="900" dirty="0"/>
          </a:p>
        </p:txBody>
      </p:sp>
      <p:sp>
        <p:nvSpPr>
          <p:cNvPr id="43" name="Shape 40"/>
          <p:cNvSpPr/>
          <p:nvPr/>
        </p:nvSpPr>
        <p:spPr>
          <a:xfrm>
            <a:off x="5394960" y="1472184"/>
            <a:ext cx="6537960" cy="374904"/>
          </a:xfrm>
          <a:prstGeom prst="rect">
            <a:avLst/>
          </a:prstGeom>
          <a:solidFill>
            <a:srgbClr val="F5F0FA"/>
          </a:solidFill>
          <a:ln w="3810">
            <a:solidFill>
              <a:srgbClr val="DDDDDD"/>
            </a:solidFill>
            <a:prstDash val="solid"/>
          </a:ln>
        </p:spPr>
        <p:txBody>
          <a:bodyPr/>
          <a:lstStyle/>
          <a:p>
            <a:endParaRPr lang="en-GB"/>
          </a:p>
        </p:txBody>
      </p:sp>
      <p:sp>
        <p:nvSpPr>
          <p:cNvPr id="44" name="Shape 41"/>
          <p:cNvSpPr/>
          <p:nvPr/>
        </p:nvSpPr>
        <p:spPr>
          <a:xfrm>
            <a:off x="5394960" y="1472184"/>
            <a:ext cx="329184" cy="374904"/>
          </a:xfrm>
          <a:prstGeom prst="rect">
            <a:avLst/>
          </a:prstGeom>
          <a:solidFill>
            <a:srgbClr val="83348F"/>
          </a:solidFill>
          <a:ln/>
        </p:spPr>
        <p:txBody>
          <a:bodyPr/>
          <a:lstStyle/>
          <a:p>
            <a:endParaRPr lang="en-GB"/>
          </a:p>
        </p:txBody>
      </p:sp>
      <p:sp>
        <p:nvSpPr>
          <p:cNvPr id="45" name="Text 42"/>
          <p:cNvSpPr/>
          <p:nvPr/>
        </p:nvSpPr>
        <p:spPr>
          <a:xfrm>
            <a:off x="5394960" y="1472184"/>
            <a:ext cx="329184" cy="374904"/>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6" name="Text 43"/>
          <p:cNvSpPr/>
          <p:nvPr/>
        </p:nvSpPr>
        <p:spPr>
          <a:xfrm>
            <a:off x="5760720" y="1499616"/>
            <a:ext cx="1828800" cy="310896"/>
          </a:xfrm>
          <a:prstGeom prst="rect">
            <a:avLst/>
          </a:prstGeom>
          <a:noFill/>
          <a:ln/>
        </p:spPr>
        <p:txBody>
          <a:bodyPr wrap="square" rtlCol="0" anchor="ctr"/>
          <a:lstStyle/>
          <a:p>
            <a:pPr marL="0" indent="0">
              <a:buNone/>
            </a:pPr>
            <a:r>
              <a:rPr lang="en-US" sz="900" b="1" dirty="0">
                <a:solidFill>
                  <a:srgbClr val="83348F"/>
                </a:solidFill>
                <a:latin typeface="Arial" pitchFamily="34" charset="0"/>
                <a:ea typeface="Arial" pitchFamily="34" charset="-122"/>
                <a:cs typeface="Arial" pitchFamily="34" charset="-120"/>
              </a:rPr>
              <a:t>CNC Turning  (Cell 1)</a:t>
            </a:r>
            <a:endParaRPr lang="en-US" sz="900" dirty="0"/>
          </a:p>
        </p:txBody>
      </p:sp>
      <p:sp>
        <p:nvSpPr>
          <p:cNvPr id="47" name="Text 44"/>
          <p:cNvSpPr/>
          <p:nvPr/>
        </p:nvSpPr>
        <p:spPr>
          <a:xfrm>
            <a:off x="7635240" y="1499616"/>
            <a:ext cx="425196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First operation: OD turning, facing, and boring.</a:t>
            </a:r>
            <a:endParaRPr lang="en-US" sz="900" dirty="0"/>
          </a:p>
        </p:txBody>
      </p:sp>
      <p:sp>
        <p:nvSpPr>
          <p:cNvPr id="48" name="Shape 45"/>
          <p:cNvSpPr/>
          <p:nvPr/>
        </p:nvSpPr>
        <p:spPr>
          <a:xfrm>
            <a:off x="5394960" y="1883664"/>
            <a:ext cx="6537960" cy="374904"/>
          </a:xfrm>
          <a:prstGeom prst="rect">
            <a:avLst/>
          </a:prstGeom>
          <a:solidFill>
            <a:srgbClr val="FFFFFF"/>
          </a:solidFill>
          <a:ln w="3810">
            <a:solidFill>
              <a:srgbClr val="DDDDDD"/>
            </a:solidFill>
            <a:prstDash val="solid"/>
          </a:ln>
        </p:spPr>
        <p:txBody>
          <a:bodyPr/>
          <a:lstStyle/>
          <a:p>
            <a:endParaRPr lang="en-GB"/>
          </a:p>
        </p:txBody>
      </p:sp>
      <p:sp>
        <p:nvSpPr>
          <p:cNvPr id="49" name="Shape 46"/>
          <p:cNvSpPr/>
          <p:nvPr/>
        </p:nvSpPr>
        <p:spPr>
          <a:xfrm>
            <a:off x="5394960" y="1883664"/>
            <a:ext cx="329184" cy="374904"/>
          </a:xfrm>
          <a:prstGeom prst="rect">
            <a:avLst/>
          </a:prstGeom>
          <a:solidFill>
            <a:srgbClr val="83348F"/>
          </a:solidFill>
          <a:ln/>
        </p:spPr>
        <p:txBody>
          <a:bodyPr/>
          <a:lstStyle/>
          <a:p>
            <a:endParaRPr lang="en-GB"/>
          </a:p>
        </p:txBody>
      </p:sp>
      <p:sp>
        <p:nvSpPr>
          <p:cNvPr id="50" name="Text 47"/>
          <p:cNvSpPr/>
          <p:nvPr/>
        </p:nvSpPr>
        <p:spPr>
          <a:xfrm>
            <a:off x="5394960" y="1883664"/>
            <a:ext cx="329184" cy="374904"/>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1" name="Text 48"/>
          <p:cNvSpPr/>
          <p:nvPr/>
        </p:nvSpPr>
        <p:spPr>
          <a:xfrm>
            <a:off x="5760720" y="1911096"/>
            <a:ext cx="1828800" cy="310896"/>
          </a:xfrm>
          <a:prstGeom prst="rect">
            <a:avLst/>
          </a:prstGeom>
          <a:noFill/>
          <a:ln/>
        </p:spPr>
        <p:txBody>
          <a:bodyPr wrap="square" rtlCol="0" anchor="ctr"/>
          <a:lstStyle/>
          <a:p>
            <a:pPr marL="0" indent="0">
              <a:buNone/>
            </a:pPr>
            <a:r>
              <a:rPr lang="en-US" sz="900" b="1" dirty="0">
                <a:solidFill>
                  <a:srgbClr val="83348F"/>
                </a:solidFill>
                <a:latin typeface="Arial" pitchFamily="34" charset="0"/>
                <a:ea typeface="Arial" pitchFamily="34" charset="-122"/>
                <a:cs typeface="Arial" pitchFamily="34" charset="-120"/>
              </a:rPr>
              <a:t>CNC Milling  (Cell 2)</a:t>
            </a:r>
            <a:endParaRPr lang="en-US" sz="900" dirty="0"/>
          </a:p>
        </p:txBody>
      </p:sp>
      <p:sp>
        <p:nvSpPr>
          <p:cNvPr id="52" name="Text 49"/>
          <p:cNvSpPr/>
          <p:nvPr/>
        </p:nvSpPr>
        <p:spPr>
          <a:xfrm>
            <a:off x="7635240" y="1911096"/>
            <a:ext cx="425196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Second operation: pockets, slots, and bolt holes.</a:t>
            </a:r>
            <a:endParaRPr lang="en-US" sz="900" dirty="0"/>
          </a:p>
        </p:txBody>
      </p:sp>
      <p:sp>
        <p:nvSpPr>
          <p:cNvPr id="53" name="Shape 50"/>
          <p:cNvSpPr/>
          <p:nvPr/>
        </p:nvSpPr>
        <p:spPr>
          <a:xfrm>
            <a:off x="5394960" y="2295144"/>
            <a:ext cx="6537960" cy="374904"/>
          </a:xfrm>
          <a:prstGeom prst="rect">
            <a:avLst/>
          </a:prstGeom>
          <a:solidFill>
            <a:srgbClr val="F5F0FA"/>
          </a:solidFill>
          <a:ln w="3810">
            <a:solidFill>
              <a:srgbClr val="DDDDDD"/>
            </a:solidFill>
            <a:prstDash val="solid"/>
          </a:ln>
        </p:spPr>
        <p:txBody>
          <a:bodyPr/>
          <a:lstStyle/>
          <a:p>
            <a:endParaRPr lang="en-GB"/>
          </a:p>
        </p:txBody>
      </p:sp>
      <p:sp>
        <p:nvSpPr>
          <p:cNvPr id="54" name="Shape 51"/>
          <p:cNvSpPr/>
          <p:nvPr/>
        </p:nvSpPr>
        <p:spPr>
          <a:xfrm>
            <a:off x="5394960" y="2295144"/>
            <a:ext cx="329184" cy="374904"/>
          </a:xfrm>
          <a:prstGeom prst="rect">
            <a:avLst/>
          </a:prstGeom>
          <a:solidFill>
            <a:srgbClr val="83348F"/>
          </a:solidFill>
          <a:ln/>
        </p:spPr>
        <p:txBody>
          <a:bodyPr/>
          <a:lstStyle/>
          <a:p>
            <a:endParaRPr lang="en-GB"/>
          </a:p>
        </p:txBody>
      </p:sp>
      <p:sp>
        <p:nvSpPr>
          <p:cNvPr id="55" name="Text 52"/>
          <p:cNvSpPr/>
          <p:nvPr/>
        </p:nvSpPr>
        <p:spPr>
          <a:xfrm>
            <a:off x="5394960" y="2295144"/>
            <a:ext cx="329184" cy="374904"/>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56" name="Text 53"/>
          <p:cNvSpPr/>
          <p:nvPr/>
        </p:nvSpPr>
        <p:spPr>
          <a:xfrm>
            <a:off x="5760720" y="2322576"/>
            <a:ext cx="1828800" cy="310896"/>
          </a:xfrm>
          <a:prstGeom prst="rect">
            <a:avLst/>
          </a:prstGeom>
          <a:noFill/>
          <a:ln/>
        </p:spPr>
        <p:txBody>
          <a:bodyPr wrap="square" rtlCol="0" anchor="ctr"/>
          <a:lstStyle/>
          <a:p>
            <a:pPr marL="0" indent="0">
              <a:buNone/>
            </a:pPr>
            <a:r>
              <a:rPr lang="en-US" sz="900" b="1" dirty="0">
                <a:solidFill>
                  <a:srgbClr val="83348F"/>
                </a:solidFill>
                <a:latin typeface="Arial" pitchFamily="34" charset="0"/>
                <a:ea typeface="Arial" pitchFamily="34" charset="-122"/>
                <a:cs typeface="Arial" pitchFamily="34" charset="-120"/>
              </a:rPr>
              <a:t>Deburr &amp; Clean</a:t>
            </a:r>
            <a:endParaRPr lang="en-US" sz="900" dirty="0"/>
          </a:p>
        </p:txBody>
      </p:sp>
      <p:sp>
        <p:nvSpPr>
          <p:cNvPr id="57" name="Text 54"/>
          <p:cNvSpPr/>
          <p:nvPr/>
        </p:nvSpPr>
        <p:spPr>
          <a:xfrm>
            <a:off x="7635240" y="2322576"/>
            <a:ext cx="425196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Manual deburring and ultrasonic clean.</a:t>
            </a:r>
            <a:endParaRPr lang="en-US" sz="900" dirty="0"/>
          </a:p>
        </p:txBody>
      </p:sp>
      <p:sp>
        <p:nvSpPr>
          <p:cNvPr id="58" name="Shape 55"/>
          <p:cNvSpPr/>
          <p:nvPr/>
        </p:nvSpPr>
        <p:spPr>
          <a:xfrm>
            <a:off x="5394960" y="2706624"/>
            <a:ext cx="6537960" cy="374904"/>
          </a:xfrm>
          <a:prstGeom prst="rect">
            <a:avLst/>
          </a:prstGeom>
          <a:solidFill>
            <a:srgbClr val="FFFFFF"/>
          </a:solidFill>
          <a:ln w="3810">
            <a:solidFill>
              <a:srgbClr val="DDDDDD"/>
            </a:solidFill>
            <a:prstDash val="solid"/>
          </a:ln>
        </p:spPr>
        <p:txBody>
          <a:bodyPr/>
          <a:lstStyle/>
          <a:p>
            <a:endParaRPr lang="en-GB"/>
          </a:p>
        </p:txBody>
      </p:sp>
      <p:sp>
        <p:nvSpPr>
          <p:cNvPr id="59" name="Shape 56"/>
          <p:cNvSpPr/>
          <p:nvPr/>
        </p:nvSpPr>
        <p:spPr>
          <a:xfrm>
            <a:off x="5394960" y="2706624"/>
            <a:ext cx="329184" cy="374904"/>
          </a:xfrm>
          <a:prstGeom prst="rect">
            <a:avLst/>
          </a:prstGeom>
          <a:solidFill>
            <a:srgbClr val="83348F"/>
          </a:solidFill>
          <a:ln/>
        </p:spPr>
        <p:txBody>
          <a:bodyPr/>
          <a:lstStyle/>
          <a:p>
            <a:endParaRPr lang="en-GB"/>
          </a:p>
        </p:txBody>
      </p:sp>
      <p:sp>
        <p:nvSpPr>
          <p:cNvPr id="60" name="Text 57"/>
          <p:cNvSpPr/>
          <p:nvPr/>
        </p:nvSpPr>
        <p:spPr>
          <a:xfrm>
            <a:off x="5394960" y="2706624"/>
            <a:ext cx="329184" cy="374904"/>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61" name="Text 58"/>
          <p:cNvSpPr/>
          <p:nvPr/>
        </p:nvSpPr>
        <p:spPr>
          <a:xfrm>
            <a:off x="5760720" y="2734056"/>
            <a:ext cx="1828800" cy="310896"/>
          </a:xfrm>
          <a:prstGeom prst="rect">
            <a:avLst/>
          </a:prstGeom>
          <a:noFill/>
          <a:ln/>
        </p:spPr>
        <p:txBody>
          <a:bodyPr wrap="square" rtlCol="0" anchor="ctr"/>
          <a:lstStyle/>
          <a:p>
            <a:pPr marL="0" indent="0">
              <a:buNone/>
            </a:pPr>
            <a:r>
              <a:rPr lang="en-US" sz="900" b="1" dirty="0">
                <a:solidFill>
                  <a:srgbClr val="83348F"/>
                </a:solidFill>
                <a:latin typeface="Arial" pitchFamily="34" charset="0"/>
                <a:ea typeface="Arial" pitchFamily="34" charset="-122"/>
                <a:cs typeface="Arial" pitchFamily="34" charset="-120"/>
              </a:rPr>
              <a:t>Inspection  (CMM)</a:t>
            </a:r>
            <a:endParaRPr lang="en-US" sz="900" dirty="0"/>
          </a:p>
        </p:txBody>
      </p:sp>
      <p:sp>
        <p:nvSpPr>
          <p:cNvPr id="62" name="Text 59"/>
          <p:cNvSpPr/>
          <p:nvPr/>
        </p:nvSpPr>
        <p:spPr>
          <a:xfrm>
            <a:off x="7635240" y="2734056"/>
            <a:ext cx="425196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CMM and visual inspection in a separate inspection room.</a:t>
            </a:r>
            <a:endParaRPr lang="en-US" sz="900" dirty="0"/>
          </a:p>
        </p:txBody>
      </p:sp>
      <p:sp>
        <p:nvSpPr>
          <p:cNvPr id="63" name="Shape 60"/>
          <p:cNvSpPr/>
          <p:nvPr/>
        </p:nvSpPr>
        <p:spPr>
          <a:xfrm>
            <a:off x="5394960" y="3118104"/>
            <a:ext cx="6537960" cy="374904"/>
          </a:xfrm>
          <a:prstGeom prst="rect">
            <a:avLst/>
          </a:prstGeom>
          <a:solidFill>
            <a:srgbClr val="F5F0FA"/>
          </a:solidFill>
          <a:ln w="3810">
            <a:solidFill>
              <a:srgbClr val="DDDDDD"/>
            </a:solidFill>
            <a:prstDash val="solid"/>
          </a:ln>
        </p:spPr>
        <p:txBody>
          <a:bodyPr/>
          <a:lstStyle/>
          <a:p>
            <a:endParaRPr lang="en-GB"/>
          </a:p>
        </p:txBody>
      </p:sp>
      <p:sp>
        <p:nvSpPr>
          <p:cNvPr id="64" name="Shape 61"/>
          <p:cNvSpPr/>
          <p:nvPr/>
        </p:nvSpPr>
        <p:spPr>
          <a:xfrm>
            <a:off x="5394960" y="3118104"/>
            <a:ext cx="329184" cy="374904"/>
          </a:xfrm>
          <a:prstGeom prst="rect">
            <a:avLst/>
          </a:prstGeom>
          <a:solidFill>
            <a:srgbClr val="83348F"/>
          </a:solidFill>
          <a:ln/>
        </p:spPr>
        <p:txBody>
          <a:bodyPr/>
          <a:lstStyle/>
          <a:p>
            <a:endParaRPr lang="en-GB"/>
          </a:p>
        </p:txBody>
      </p:sp>
      <p:sp>
        <p:nvSpPr>
          <p:cNvPr id="65" name="Text 62"/>
          <p:cNvSpPr/>
          <p:nvPr/>
        </p:nvSpPr>
        <p:spPr>
          <a:xfrm>
            <a:off x="5394960" y="3118104"/>
            <a:ext cx="329184" cy="374904"/>
          </a:xfrm>
          <a:prstGeom prst="rect">
            <a:avLst/>
          </a:prstGeom>
          <a:noFill/>
          <a:ln/>
        </p:spPr>
        <p:txBody>
          <a:bodyPr wrap="square"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66" name="Text 63"/>
          <p:cNvSpPr/>
          <p:nvPr/>
        </p:nvSpPr>
        <p:spPr>
          <a:xfrm>
            <a:off x="5760720" y="3145536"/>
            <a:ext cx="1828800" cy="310896"/>
          </a:xfrm>
          <a:prstGeom prst="rect">
            <a:avLst/>
          </a:prstGeom>
          <a:noFill/>
          <a:ln/>
        </p:spPr>
        <p:txBody>
          <a:bodyPr wrap="square" rtlCol="0" anchor="ctr"/>
          <a:lstStyle/>
          <a:p>
            <a:pPr marL="0" indent="0">
              <a:buNone/>
            </a:pPr>
            <a:r>
              <a:rPr lang="en-US" sz="900" b="1" dirty="0">
                <a:solidFill>
                  <a:srgbClr val="83348F"/>
                </a:solidFill>
                <a:latin typeface="Arial" pitchFamily="34" charset="0"/>
                <a:ea typeface="Arial" pitchFamily="34" charset="-122"/>
                <a:cs typeface="Arial" pitchFamily="34" charset="-120"/>
              </a:rPr>
              <a:t>Despatch</a:t>
            </a:r>
            <a:endParaRPr lang="en-US" sz="900" dirty="0"/>
          </a:p>
        </p:txBody>
      </p:sp>
      <p:sp>
        <p:nvSpPr>
          <p:cNvPr id="67" name="Text 64"/>
          <p:cNvSpPr/>
          <p:nvPr/>
        </p:nvSpPr>
        <p:spPr>
          <a:xfrm>
            <a:off x="7635240" y="3145536"/>
            <a:ext cx="425196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Packing, labelling, and customer delivery.</a:t>
            </a:r>
            <a:endParaRPr lang="en-US" sz="900" dirty="0"/>
          </a:p>
        </p:txBody>
      </p:sp>
      <p:sp>
        <p:nvSpPr>
          <p:cNvPr id="68" name="Shape 65"/>
          <p:cNvSpPr/>
          <p:nvPr/>
        </p:nvSpPr>
        <p:spPr>
          <a:xfrm>
            <a:off x="5349240" y="3794760"/>
            <a:ext cx="6629400" cy="2670048"/>
          </a:xfrm>
          <a:prstGeom prst="rect">
            <a:avLst/>
          </a:prstGeom>
          <a:solidFill>
            <a:srgbClr val="FEE2E2"/>
          </a:solidFill>
          <a:ln w="10160">
            <a:solidFill>
              <a:srgbClr val="B91C1C"/>
            </a:solidFill>
            <a:prstDash val="solid"/>
          </a:ln>
        </p:spPr>
        <p:txBody>
          <a:bodyPr/>
          <a:lstStyle/>
          <a:p>
            <a:endParaRPr lang="en-GB"/>
          </a:p>
        </p:txBody>
      </p:sp>
      <p:sp>
        <p:nvSpPr>
          <p:cNvPr id="69" name="Shape 66"/>
          <p:cNvSpPr/>
          <p:nvPr/>
        </p:nvSpPr>
        <p:spPr>
          <a:xfrm>
            <a:off x="5349240" y="3794760"/>
            <a:ext cx="6629400" cy="329184"/>
          </a:xfrm>
          <a:prstGeom prst="rect">
            <a:avLst/>
          </a:prstGeom>
          <a:solidFill>
            <a:srgbClr val="B91C1C"/>
          </a:solidFill>
          <a:ln/>
        </p:spPr>
        <p:txBody>
          <a:bodyPr/>
          <a:lstStyle/>
          <a:p>
            <a:endParaRPr lang="en-GB"/>
          </a:p>
        </p:txBody>
      </p:sp>
      <p:sp>
        <p:nvSpPr>
          <p:cNvPr id="70" name="Text 67"/>
          <p:cNvSpPr/>
          <p:nvPr/>
        </p:nvSpPr>
        <p:spPr>
          <a:xfrm>
            <a:off x="5440680" y="3813048"/>
            <a:ext cx="6446520" cy="274320"/>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KEY PROBLEMS IDENTIFIED BEFORE THE VSM EXERCISE</a:t>
            </a:r>
            <a:endParaRPr lang="en-US" sz="1000" dirty="0"/>
          </a:p>
        </p:txBody>
      </p:sp>
      <p:sp>
        <p:nvSpPr>
          <p:cNvPr id="71" name="Shape 68"/>
          <p:cNvSpPr/>
          <p:nvPr/>
        </p:nvSpPr>
        <p:spPr>
          <a:xfrm>
            <a:off x="5394960" y="4160520"/>
            <a:ext cx="6492240" cy="292608"/>
          </a:xfrm>
          <a:prstGeom prst="rect">
            <a:avLst/>
          </a:prstGeom>
          <a:solidFill>
            <a:srgbClr val="FFFFFF"/>
          </a:solidFill>
          <a:ln w="3810">
            <a:solidFill>
              <a:srgbClr val="DDDDDD"/>
            </a:solidFill>
            <a:prstDash val="solid"/>
          </a:ln>
        </p:spPr>
        <p:txBody>
          <a:bodyPr/>
          <a:lstStyle/>
          <a:p>
            <a:endParaRPr lang="en-GB"/>
          </a:p>
        </p:txBody>
      </p:sp>
      <p:sp>
        <p:nvSpPr>
          <p:cNvPr id="72" name="Shape 69"/>
          <p:cNvSpPr/>
          <p:nvPr/>
        </p:nvSpPr>
        <p:spPr>
          <a:xfrm>
            <a:off x="5394960" y="4160520"/>
            <a:ext cx="164592" cy="292608"/>
          </a:xfrm>
          <a:prstGeom prst="rect">
            <a:avLst/>
          </a:prstGeom>
          <a:solidFill>
            <a:srgbClr val="B91C1C"/>
          </a:solidFill>
          <a:ln/>
        </p:spPr>
        <p:txBody>
          <a:bodyPr/>
          <a:lstStyle/>
          <a:p>
            <a:endParaRPr lang="en-GB"/>
          </a:p>
        </p:txBody>
      </p:sp>
      <p:sp>
        <p:nvSpPr>
          <p:cNvPr id="73" name="Text 70"/>
          <p:cNvSpPr/>
          <p:nvPr/>
        </p:nvSpPr>
        <p:spPr>
          <a:xfrm>
            <a:off x="5596128" y="4160520"/>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OTIF at 74%. Customer is raising concerns about late deliveries.</a:t>
            </a:r>
            <a:endParaRPr lang="en-US" sz="850" dirty="0"/>
          </a:p>
        </p:txBody>
      </p:sp>
      <p:sp>
        <p:nvSpPr>
          <p:cNvPr id="74" name="Shape 71"/>
          <p:cNvSpPr/>
          <p:nvPr/>
        </p:nvSpPr>
        <p:spPr>
          <a:xfrm>
            <a:off x="5394960" y="4471416"/>
            <a:ext cx="6492240" cy="292608"/>
          </a:xfrm>
          <a:prstGeom prst="rect">
            <a:avLst/>
          </a:prstGeom>
          <a:solidFill>
            <a:srgbClr val="FEE2E2"/>
          </a:solidFill>
          <a:ln w="3810">
            <a:solidFill>
              <a:srgbClr val="DDDDDD"/>
            </a:solidFill>
            <a:prstDash val="solid"/>
          </a:ln>
        </p:spPr>
        <p:txBody>
          <a:bodyPr/>
          <a:lstStyle/>
          <a:p>
            <a:endParaRPr lang="en-GB"/>
          </a:p>
        </p:txBody>
      </p:sp>
      <p:sp>
        <p:nvSpPr>
          <p:cNvPr id="75" name="Shape 72"/>
          <p:cNvSpPr/>
          <p:nvPr/>
        </p:nvSpPr>
        <p:spPr>
          <a:xfrm>
            <a:off x="5394960" y="4471416"/>
            <a:ext cx="164592" cy="292608"/>
          </a:xfrm>
          <a:prstGeom prst="rect">
            <a:avLst/>
          </a:prstGeom>
          <a:solidFill>
            <a:srgbClr val="B91C1C"/>
          </a:solidFill>
          <a:ln/>
        </p:spPr>
        <p:txBody>
          <a:bodyPr/>
          <a:lstStyle/>
          <a:p>
            <a:endParaRPr lang="en-GB"/>
          </a:p>
        </p:txBody>
      </p:sp>
      <p:sp>
        <p:nvSpPr>
          <p:cNvPr id="76" name="Text 73"/>
          <p:cNvSpPr/>
          <p:nvPr/>
        </p:nvSpPr>
        <p:spPr>
          <a:xfrm>
            <a:off x="5596128" y="4471416"/>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Lead time of 22 days quoted but the customer expects 10 days.</a:t>
            </a:r>
            <a:endParaRPr lang="en-US" sz="850" dirty="0"/>
          </a:p>
        </p:txBody>
      </p:sp>
      <p:sp>
        <p:nvSpPr>
          <p:cNvPr id="77" name="Shape 74"/>
          <p:cNvSpPr/>
          <p:nvPr/>
        </p:nvSpPr>
        <p:spPr>
          <a:xfrm>
            <a:off x="5394960" y="4782312"/>
            <a:ext cx="6492240" cy="292608"/>
          </a:xfrm>
          <a:prstGeom prst="rect">
            <a:avLst/>
          </a:prstGeom>
          <a:solidFill>
            <a:srgbClr val="FFFFFF"/>
          </a:solidFill>
          <a:ln w="3810">
            <a:solidFill>
              <a:srgbClr val="DDDDDD"/>
            </a:solidFill>
            <a:prstDash val="solid"/>
          </a:ln>
        </p:spPr>
        <p:txBody>
          <a:bodyPr/>
          <a:lstStyle/>
          <a:p>
            <a:endParaRPr lang="en-GB"/>
          </a:p>
        </p:txBody>
      </p:sp>
      <p:sp>
        <p:nvSpPr>
          <p:cNvPr id="78" name="Shape 75"/>
          <p:cNvSpPr/>
          <p:nvPr/>
        </p:nvSpPr>
        <p:spPr>
          <a:xfrm>
            <a:off x="5394960" y="4782312"/>
            <a:ext cx="164592" cy="292608"/>
          </a:xfrm>
          <a:prstGeom prst="rect">
            <a:avLst/>
          </a:prstGeom>
          <a:solidFill>
            <a:srgbClr val="B91C1C"/>
          </a:solidFill>
          <a:ln/>
        </p:spPr>
        <p:txBody>
          <a:bodyPr/>
          <a:lstStyle/>
          <a:p>
            <a:endParaRPr lang="en-GB"/>
          </a:p>
        </p:txBody>
      </p:sp>
      <p:sp>
        <p:nvSpPr>
          <p:cNvPr id="79" name="Text 76"/>
          <p:cNvSpPr/>
          <p:nvPr/>
        </p:nvSpPr>
        <p:spPr>
          <a:xfrm>
            <a:off x="5596128" y="4782312"/>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Inspection is a bottleneck: components queue for up to 5 days waiting for CMM.</a:t>
            </a:r>
            <a:endParaRPr lang="en-US" sz="850" dirty="0"/>
          </a:p>
        </p:txBody>
      </p:sp>
      <p:sp>
        <p:nvSpPr>
          <p:cNvPr id="80" name="Shape 77"/>
          <p:cNvSpPr/>
          <p:nvPr/>
        </p:nvSpPr>
        <p:spPr>
          <a:xfrm>
            <a:off x="5394960" y="5093208"/>
            <a:ext cx="6492240" cy="292608"/>
          </a:xfrm>
          <a:prstGeom prst="rect">
            <a:avLst/>
          </a:prstGeom>
          <a:solidFill>
            <a:srgbClr val="FEE2E2"/>
          </a:solidFill>
          <a:ln w="3810">
            <a:solidFill>
              <a:srgbClr val="DDDDDD"/>
            </a:solidFill>
            <a:prstDash val="solid"/>
          </a:ln>
        </p:spPr>
        <p:txBody>
          <a:bodyPr/>
          <a:lstStyle/>
          <a:p>
            <a:endParaRPr lang="en-GB"/>
          </a:p>
        </p:txBody>
      </p:sp>
      <p:sp>
        <p:nvSpPr>
          <p:cNvPr id="81" name="Shape 78"/>
          <p:cNvSpPr/>
          <p:nvPr/>
        </p:nvSpPr>
        <p:spPr>
          <a:xfrm>
            <a:off x="5394960" y="5093208"/>
            <a:ext cx="164592" cy="292608"/>
          </a:xfrm>
          <a:prstGeom prst="rect">
            <a:avLst/>
          </a:prstGeom>
          <a:solidFill>
            <a:srgbClr val="B91C1C"/>
          </a:solidFill>
          <a:ln/>
        </p:spPr>
        <p:txBody>
          <a:bodyPr/>
          <a:lstStyle/>
          <a:p>
            <a:endParaRPr lang="en-GB"/>
          </a:p>
        </p:txBody>
      </p:sp>
      <p:sp>
        <p:nvSpPr>
          <p:cNvPr id="82" name="Text 79"/>
          <p:cNvSpPr/>
          <p:nvPr/>
        </p:nvSpPr>
        <p:spPr>
          <a:xfrm>
            <a:off x="5596128" y="5093208"/>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192 units of WIP spread across 6 buffer points with no visibility of job status.</a:t>
            </a:r>
            <a:endParaRPr lang="en-US" sz="850" dirty="0"/>
          </a:p>
        </p:txBody>
      </p:sp>
      <p:sp>
        <p:nvSpPr>
          <p:cNvPr id="83" name="Shape 80"/>
          <p:cNvSpPr/>
          <p:nvPr/>
        </p:nvSpPr>
        <p:spPr>
          <a:xfrm>
            <a:off x="5394960" y="5404104"/>
            <a:ext cx="6492240" cy="292608"/>
          </a:xfrm>
          <a:prstGeom prst="rect">
            <a:avLst/>
          </a:prstGeom>
          <a:solidFill>
            <a:srgbClr val="FFFFFF"/>
          </a:solidFill>
          <a:ln w="3810">
            <a:solidFill>
              <a:srgbClr val="DDDDDD"/>
            </a:solidFill>
            <a:prstDash val="solid"/>
          </a:ln>
        </p:spPr>
        <p:txBody>
          <a:bodyPr/>
          <a:lstStyle/>
          <a:p>
            <a:endParaRPr lang="en-GB"/>
          </a:p>
        </p:txBody>
      </p:sp>
      <p:sp>
        <p:nvSpPr>
          <p:cNvPr id="84" name="Shape 81"/>
          <p:cNvSpPr/>
          <p:nvPr/>
        </p:nvSpPr>
        <p:spPr>
          <a:xfrm>
            <a:off x="5394960" y="5404104"/>
            <a:ext cx="164592" cy="292608"/>
          </a:xfrm>
          <a:prstGeom prst="rect">
            <a:avLst/>
          </a:prstGeom>
          <a:solidFill>
            <a:srgbClr val="B91C1C"/>
          </a:solidFill>
          <a:ln/>
        </p:spPr>
        <p:txBody>
          <a:bodyPr/>
          <a:lstStyle/>
          <a:p>
            <a:endParaRPr lang="en-GB"/>
          </a:p>
        </p:txBody>
      </p:sp>
      <p:sp>
        <p:nvSpPr>
          <p:cNvPr id="85" name="Text 82"/>
          <p:cNvSpPr/>
          <p:nvPr/>
        </p:nvSpPr>
        <p:spPr>
          <a:xfrm>
            <a:off x="5596128" y="5404104"/>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All cells push to the next step regardless of downstream capacity.</a:t>
            </a:r>
            <a:endParaRPr lang="en-US" sz="850" dirty="0"/>
          </a:p>
        </p:txBody>
      </p:sp>
      <p:sp>
        <p:nvSpPr>
          <p:cNvPr id="86" name="Shape 83"/>
          <p:cNvSpPr/>
          <p:nvPr/>
        </p:nvSpPr>
        <p:spPr>
          <a:xfrm>
            <a:off x="5394960" y="5715000"/>
            <a:ext cx="6492240" cy="292608"/>
          </a:xfrm>
          <a:prstGeom prst="rect">
            <a:avLst/>
          </a:prstGeom>
          <a:solidFill>
            <a:srgbClr val="FEE2E2"/>
          </a:solidFill>
          <a:ln w="3810">
            <a:solidFill>
              <a:srgbClr val="DDDDDD"/>
            </a:solidFill>
            <a:prstDash val="solid"/>
          </a:ln>
        </p:spPr>
        <p:txBody>
          <a:bodyPr/>
          <a:lstStyle/>
          <a:p>
            <a:endParaRPr lang="en-GB"/>
          </a:p>
        </p:txBody>
      </p:sp>
      <p:sp>
        <p:nvSpPr>
          <p:cNvPr id="87" name="Shape 84"/>
          <p:cNvSpPr/>
          <p:nvPr/>
        </p:nvSpPr>
        <p:spPr>
          <a:xfrm>
            <a:off x="5394960" y="5715000"/>
            <a:ext cx="164592" cy="292608"/>
          </a:xfrm>
          <a:prstGeom prst="rect">
            <a:avLst/>
          </a:prstGeom>
          <a:solidFill>
            <a:srgbClr val="B91C1C"/>
          </a:solidFill>
          <a:ln/>
        </p:spPr>
        <p:txBody>
          <a:bodyPr/>
          <a:lstStyle/>
          <a:p>
            <a:endParaRPr lang="en-GB"/>
          </a:p>
        </p:txBody>
      </p:sp>
      <p:sp>
        <p:nvSpPr>
          <p:cNvPr id="88" name="Text 85"/>
          <p:cNvSpPr/>
          <p:nvPr/>
        </p:nvSpPr>
        <p:spPr>
          <a:xfrm>
            <a:off x="5596128" y="5715000"/>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Deburr operator walks 40 minutes per shift to collect work from Cell 2.</a:t>
            </a:r>
            <a:endParaRPr lang="en-US" sz="850" dirty="0"/>
          </a:p>
        </p:txBody>
      </p:sp>
      <p:sp>
        <p:nvSpPr>
          <p:cNvPr id="89" name="Shape 86"/>
          <p:cNvSpPr/>
          <p:nvPr/>
        </p:nvSpPr>
        <p:spPr>
          <a:xfrm>
            <a:off x="5394960" y="6025896"/>
            <a:ext cx="6492240" cy="292608"/>
          </a:xfrm>
          <a:prstGeom prst="rect">
            <a:avLst/>
          </a:prstGeom>
          <a:solidFill>
            <a:srgbClr val="FFFFFF"/>
          </a:solidFill>
          <a:ln w="3810">
            <a:solidFill>
              <a:srgbClr val="DDDDDD"/>
            </a:solidFill>
            <a:prstDash val="solid"/>
          </a:ln>
        </p:spPr>
        <p:txBody>
          <a:bodyPr/>
          <a:lstStyle/>
          <a:p>
            <a:endParaRPr lang="en-GB"/>
          </a:p>
        </p:txBody>
      </p:sp>
      <p:sp>
        <p:nvSpPr>
          <p:cNvPr id="90" name="Shape 87"/>
          <p:cNvSpPr/>
          <p:nvPr/>
        </p:nvSpPr>
        <p:spPr>
          <a:xfrm>
            <a:off x="5394960" y="6025896"/>
            <a:ext cx="164592" cy="292608"/>
          </a:xfrm>
          <a:prstGeom prst="rect">
            <a:avLst/>
          </a:prstGeom>
          <a:solidFill>
            <a:srgbClr val="B91C1C"/>
          </a:solidFill>
          <a:ln/>
        </p:spPr>
        <p:txBody>
          <a:bodyPr/>
          <a:lstStyle/>
          <a:p>
            <a:endParaRPr lang="en-GB"/>
          </a:p>
        </p:txBody>
      </p:sp>
      <p:sp>
        <p:nvSpPr>
          <p:cNvPr id="91" name="Text 88"/>
          <p:cNvSpPr/>
          <p:nvPr/>
        </p:nvSpPr>
        <p:spPr>
          <a:xfrm>
            <a:off x="5596128" y="6025896"/>
            <a:ext cx="6263640" cy="292608"/>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Scrap rate of 5.8% on turning. Same root cause recurring every month with no RCA.</a:t>
            </a:r>
            <a:endParaRPr lang="en-US" sz="850" dirty="0"/>
          </a:p>
        </p:txBody>
      </p:sp>
      <p:sp>
        <p:nvSpPr>
          <p:cNvPr id="92" name="Rectangle 91"/>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Picture 92" descr="image.png"/>
          <p:cNvPicPr>
            <a:picLocks noChangeAspect="1"/>
          </p:cNvPicPr>
          <p:nvPr/>
        </p:nvPicPr>
        <p:blipFill>
          <a:blip r:embed="rId5"/>
          <a:stretch>
            <a:fillRect/>
          </a:stretch>
        </p:blipFill>
        <p:spPr>
          <a:xfrm>
            <a:off x="10610088" y="100584"/>
            <a:ext cx="566928" cy="347472"/>
          </a:xfrm>
          <a:prstGeom prst="rect">
            <a:avLst/>
          </a:prstGeom>
        </p:spPr>
      </p:pic>
      <p:pic>
        <p:nvPicPr>
          <p:cNvPr id="94" name="Picture 93" descr="image.png"/>
          <p:cNvPicPr>
            <a:picLocks noChangeAspect="1"/>
          </p:cNvPicPr>
          <p:nvPr/>
        </p:nvPicPr>
        <p:blipFill>
          <a:blip r:embed="rId4"/>
          <a:stretch>
            <a:fillRect/>
          </a:stretch>
        </p:blipFill>
        <p:spPr>
          <a:xfrm>
            <a:off x="11222736" y="100584"/>
            <a:ext cx="658368" cy="347472"/>
          </a:xfrm>
          <a:prstGeom prst="rect">
            <a:avLst/>
          </a:prstGeom>
        </p:spPr>
      </p:pic>
      <p:sp>
        <p:nvSpPr>
          <p:cNvPr id="95" name="Rectangle 94"/>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B91C1C"/>
          </a:solidFill>
          <a:ln/>
        </p:spPr>
        <p:txBody>
          <a:bodyPr/>
          <a:lstStyle/>
          <a:p>
            <a:endParaRPr lang="en-GB"/>
          </a:p>
        </p:txBody>
      </p:sp>
      <p:sp>
        <p:nvSpPr>
          <p:cNvPr id="3" name="Text 1"/>
          <p:cNvSpPr/>
          <p:nvPr/>
        </p:nvSpPr>
        <p:spPr>
          <a:xfrm>
            <a:off x="228600" y="73152"/>
            <a:ext cx="6858000" cy="420624"/>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CURRENT STATE MAP  (BEFORE)</a:t>
            </a:r>
            <a:endParaRPr lang="en-US" sz="1700" dirty="0"/>
          </a:p>
        </p:txBody>
      </p:sp>
      <p:sp>
        <p:nvSpPr>
          <p:cNvPr id="4" name="Text 2"/>
          <p:cNvSpPr/>
          <p:nvPr/>
        </p:nvSpPr>
        <p:spPr>
          <a:xfrm>
            <a:off x="6766560" y="128016"/>
            <a:ext cx="5212080" cy="329184"/>
          </a:xfrm>
          <a:prstGeom prst="rect">
            <a:avLst/>
          </a:prstGeom>
          <a:noFill/>
          <a:ln/>
        </p:spPr>
        <p:txBody>
          <a:bodyPr wrap="square" rtlCol="0" anchor="ctr"/>
          <a:lstStyle/>
          <a:p>
            <a:pPr marL="0" indent="0" algn="r">
              <a:buNone/>
            </a:pPr>
            <a:r>
              <a:rPr lang="en-US" sz="850" b="1" dirty="0">
                <a:solidFill>
                  <a:srgbClr val="FFFFFF"/>
                </a:solidFill>
                <a:latin typeface="Arial" pitchFamily="34" charset="0"/>
                <a:ea typeface="Arial" pitchFamily="34" charset="-122"/>
                <a:cs typeface="Arial" pitchFamily="34" charset="-120"/>
              </a:rPr>
              <a:t>Lead Time: 22 days   |   VA Time: 4.6 hrs   |   Process Efficiency: 2.6%</a:t>
            </a:r>
            <a:endParaRPr lang="en-US" sz="850" dirty="0"/>
          </a:p>
        </p:txBody>
      </p:sp>
      <p:sp>
        <p:nvSpPr>
          <p:cNvPr id="5" name="Shape 3"/>
          <p:cNvSpPr/>
          <p:nvPr/>
        </p:nvSpPr>
        <p:spPr>
          <a:xfrm>
            <a:off x="1170432" y="640080"/>
            <a:ext cx="1298448" cy="347472"/>
          </a:xfrm>
          <a:prstGeom prst="rect">
            <a:avLst/>
          </a:prstGeom>
          <a:solidFill>
            <a:srgbClr val="009FE3"/>
          </a:solidFill>
          <a:ln/>
        </p:spPr>
        <p:txBody>
          <a:bodyPr/>
          <a:lstStyle/>
          <a:p>
            <a:endParaRPr lang="en-GB"/>
          </a:p>
        </p:txBody>
      </p:sp>
      <p:sp>
        <p:nvSpPr>
          <p:cNvPr id="6" name="Text 4"/>
          <p:cNvSpPr/>
          <p:nvPr/>
        </p:nvSpPr>
        <p:spPr>
          <a:xfrm>
            <a:off x="1207008" y="658368"/>
            <a:ext cx="1225296"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GOODS IN</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 STORES</a:t>
            </a:r>
            <a:endParaRPr lang="en-US" sz="850" dirty="0"/>
          </a:p>
        </p:txBody>
      </p:sp>
      <p:sp>
        <p:nvSpPr>
          <p:cNvPr id="7" name="Shape 5"/>
          <p:cNvSpPr/>
          <p:nvPr/>
        </p:nvSpPr>
        <p:spPr>
          <a:xfrm>
            <a:off x="1170432" y="987552"/>
            <a:ext cx="1298448" cy="868680"/>
          </a:xfrm>
          <a:prstGeom prst="rect">
            <a:avLst/>
          </a:prstGeom>
          <a:solidFill>
            <a:srgbClr val="E0F4FD"/>
          </a:solidFill>
          <a:ln w="6350">
            <a:solidFill>
              <a:srgbClr val="CCCCCC"/>
            </a:solidFill>
            <a:prstDash val="solid"/>
          </a:ln>
        </p:spPr>
        <p:txBody>
          <a:bodyPr/>
          <a:lstStyle/>
          <a:p>
            <a:endParaRPr lang="en-GB"/>
          </a:p>
        </p:txBody>
      </p:sp>
      <p:sp>
        <p:nvSpPr>
          <p:cNvPr id="8" name="Text 6"/>
          <p:cNvSpPr/>
          <p:nvPr/>
        </p:nvSpPr>
        <p:spPr>
          <a:xfrm>
            <a:off x="1234440" y="1033272"/>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15 min</a:t>
            </a:r>
            <a:endParaRPr lang="en-US" sz="800" dirty="0"/>
          </a:p>
        </p:txBody>
      </p:sp>
      <p:sp>
        <p:nvSpPr>
          <p:cNvPr id="9" name="Text 7"/>
          <p:cNvSpPr/>
          <p:nvPr/>
        </p:nvSpPr>
        <p:spPr>
          <a:xfrm>
            <a:off x="1234440" y="1188720"/>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0</a:t>
            </a:r>
            <a:endParaRPr lang="en-US" sz="800" dirty="0"/>
          </a:p>
        </p:txBody>
      </p:sp>
      <p:sp>
        <p:nvSpPr>
          <p:cNvPr id="10" name="Text 8"/>
          <p:cNvSpPr/>
          <p:nvPr/>
        </p:nvSpPr>
        <p:spPr>
          <a:xfrm>
            <a:off x="1234440" y="1344168"/>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100%</a:t>
            </a:r>
            <a:endParaRPr lang="en-US" sz="800" dirty="0"/>
          </a:p>
        </p:txBody>
      </p:sp>
      <p:sp>
        <p:nvSpPr>
          <p:cNvPr id="11" name="Text 9"/>
          <p:cNvSpPr/>
          <p:nvPr/>
        </p:nvSpPr>
        <p:spPr>
          <a:xfrm>
            <a:off x="1234440" y="1499616"/>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12" name="Text 10"/>
          <p:cNvSpPr/>
          <p:nvPr/>
        </p:nvSpPr>
        <p:spPr>
          <a:xfrm>
            <a:off x="1234440" y="1655064"/>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20</a:t>
            </a:r>
            <a:endParaRPr lang="en-US" sz="800" dirty="0"/>
          </a:p>
        </p:txBody>
      </p:sp>
      <p:sp>
        <p:nvSpPr>
          <p:cNvPr id="13" name="Shape 11"/>
          <p:cNvSpPr/>
          <p:nvPr/>
        </p:nvSpPr>
        <p:spPr>
          <a:xfrm>
            <a:off x="2724912" y="640080"/>
            <a:ext cx="1298448" cy="347472"/>
          </a:xfrm>
          <a:prstGeom prst="rect">
            <a:avLst/>
          </a:prstGeom>
          <a:solidFill>
            <a:srgbClr val="B91C1C"/>
          </a:solidFill>
          <a:ln/>
        </p:spPr>
        <p:txBody>
          <a:bodyPr/>
          <a:lstStyle/>
          <a:p>
            <a:endParaRPr lang="en-GB"/>
          </a:p>
        </p:txBody>
      </p:sp>
      <p:sp>
        <p:nvSpPr>
          <p:cNvPr id="14" name="Text 12"/>
          <p:cNvSpPr/>
          <p:nvPr/>
        </p:nvSpPr>
        <p:spPr>
          <a:xfrm>
            <a:off x="2761488" y="658368"/>
            <a:ext cx="1225296"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CNC TURNING</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Cell 1</a:t>
            </a:r>
            <a:endParaRPr lang="en-US" sz="850" dirty="0"/>
          </a:p>
        </p:txBody>
      </p:sp>
      <p:sp>
        <p:nvSpPr>
          <p:cNvPr id="15" name="Shape 13"/>
          <p:cNvSpPr/>
          <p:nvPr/>
        </p:nvSpPr>
        <p:spPr>
          <a:xfrm>
            <a:off x="2724912" y="987552"/>
            <a:ext cx="1298448" cy="868680"/>
          </a:xfrm>
          <a:prstGeom prst="rect">
            <a:avLst/>
          </a:prstGeom>
          <a:solidFill>
            <a:srgbClr val="FEE2E2"/>
          </a:solidFill>
          <a:ln w="6350">
            <a:solidFill>
              <a:srgbClr val="CCCCCC"/>
            </a:solidFill>
            <a:prstDash val="solid"/>
          </a:ln>
        </p:spPr>
        <p:txBody>
          <a:bodyPr/>
          <a:lstStyle/>
          <a:p>
            <a:endParaRPr lang="en-GB"/>
          </a:p>
        </p:txBody>
      </p:sp>
      <p:sp>
        <p:nvSpPr>
          <p:cNvPr id="16" name="Text 14"/>
          <p:cNvSpPr/>
          <p:nvPr/>
        </p:nvSpPr>
        <p:spPr>
          <a:xfrm>
            <a:off x="2788920" y="1033272"/>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42 min</a:t>
            </a:r>
            <a:endParaRPr lang="en-US" sz="800" dirty="0"/>
          </a:p>
        </p:txBody>
      </p:sp>
      <p:sp>
        <p:nvSpPr>
          <p:cNvPr id="17" name="Text 15"/>
          <p:cNvSpPr/>
          <p:nvPr/>
        </p:nvSpPr>
        <p:spPr>
          <a:xfrm>
            <a:off x="2788920" y="1188720"/>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35 min</a:t>
            </a:r>
            <a:endParaRPr lang="en-US" sz="800" dirty="0"/>
          </a:p>
        </p:txBody>
      </p:sp>
      <p:sp>
        <p:nvSpPr>
          <p:cNvPr id="18" name="Text 16"/>
          <p:cNvSpPr/>
          <p:nvPr/>
        </p:nvSpPr>
        <p:spPr>
          <a:xfrm>
            <a:off x="2788920" y="1344168"/>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81%</a:t>
            </a:r>
            <a:endParaRPr lang="en-US" sz="800" dirty="0"/>
          </a:p>
        </p:txBody>
      </p:sp>
      <p:sp>
        <p:nvSpPr>
          <p:cNvPr id="19" name="Text 17"/>
          <p:cNvSpPr/>
          <p:nvPr/>
        </p:nvSpPr>
        <p:spPr>
          <a:xfrm>
            <a:off x="2788920" y="1499616"/>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2</a:t>
            </a:r>
            <a:endParaRPr lang="en-US" sz="800" dirty="0"/>
          </a:p>
        </p:txBody>
      </p:sp>
      <p:sp>
        <p:nvSpPr>
          <p:cNvPr id="20" name="Text 18"/>
          <p:cNvSpPr/>
          <p:nvPr/>
        </p:nvSpPr>
        <p:spPr>
          <a:xfrm>
            <a:off x="2788920" y="1655064"/>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10</a:t>
            </a:r>
            <a:endParaRPr lang="en-US" sz="800" dirty="0"/>
          </a:p>
        </p:txBody>
      </p:sp>
      <p:sp>
        <p:nvSpPr>
          <p:cNvPr id="21" name="Shape 19"/>
          <p:cNvSpPr/>
          <p:nvPr/>
        </p:nvSpPr>
        <p:spPr>
          <a:xfrm>
            <a:off x="3520440" y="658368"/>
            <a:ext cx="475488" cy="201168"/>
          </a:xfrm>
          <a:prstGeom prst="rect">
            <a:avLst/>
          </a:prstGeom>
          <a:solidFill>
            <a:srgbClr val="B91C1C"/>
          </a:solidFill>
          <a:ln/>
        </p:spPr>
        <p:txBody>
          <a:bodyPr/>
          <a:lstStyle/>
          <a:p>
            <a:endParaRPr lang="en-GB"/>
          </a:p>
        </p:txBody>
      </p:sp>
      <p:sp>
        <p:nvSpPr>
          <p:cNvPr id="22" name="Text 20"/>
          <p:cNvSpPr/>
          <p:nvPr/>
        </p:nvSpPr>
        <p:spPr>
          <a:xfrm>
            <a:off x="3520440" y="658368"/>
            <a:ext cx="475488" cy="201168"/>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HIGH C/O</a:t>
            </a:r>
            <a:endParaRPr lang="en-US" sz="650" dirty="0"/>
          </a:p>
        </p:txBody>
      </p:sp>
      <p:sp>
        <p:nvSpPr>
          <p:cNvPr id="23" name="Shape 21"/>
          <p:cNvSpPr/>
          <p:nvPr/>
        </p:nvSpPr>
        <p:spPr>
          <a:xfrm>
            <a:off x="4279392" y="640080"/>
            <a:ext cx="1298448" cy="347472"/>
          </a:xfrm>
          <a:prstGeom prst="rect">
            <a:avLst/>
          </a:prstGeom>
          <a:solidFill>
            <a:srgbClr val="009FE3"/>
          </a:solidFill>
          <a:ln/>
        </p:spPr>
        <p:txBody>
          <a:bodyPr/>
          <a:lstStyle/>
          <a:p>
            <a:endParaRPr lang="en-GB"/>
          </a:p>
        </p:txBody>
      </p:sp>
      <p:sp>
        <p:nvSpPr>
          <p:cNvPr id="24" name="Text 22"/>
          <p:cNvSpPr/>
          <p:nvPr/>
        </p:nvSpPr>
        <p:spPr>
          <a:xfrm>
            <a:off x="4315968" y="658368"/>
            <a:ext cx="1225296"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CNC MILLING</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Cell 2</a:t>
            </a:r>
            <a:endParaRPr lang="en-US" sz="850" dirty="0"/>
          </a:p>
        </p:txBody>
      </p:sp>
      <p:sp>
        <p:nvSpPr>
          <p:cNvPr id="25" name="Shape 23"/>
          <p:cNvSpPr/>
          <p:nvPr/>
        </p:nvSpPr>
        <p:spPr>
          <a:xfrm>
            <a:off x="4279392" y="987552"/>
            <a:ext cx="1298448" cy="868680"/>
          </a:xfrm>
          <a:prstGeom prst="rect">
            <a:avLst/>
          </a:prstGeom>
          <a:solidFill>
            <a:srgbClr val="E0F4FD"/>
          </a:solidFill>
          <a:ln w="6350">
            <a:solidFill>
              <a:srgbClr val="CCCCCC"/>
            </a:solidFill>
            <a:prstDash val="solid"/>
          </a:ln>
        </p:spPr>
        <p:txBody>
          <a:bodyPr/>
          <a:lstStyle/>
          <a:p>
            <a:endParaRPr lang="en-GB"/>
          </a:p>
        </p:txBody>
      </p:sp>
      <p:sp>
        <p:nvSpPr>
          <p:cNvPr id="26" name="Text 24"/>
          <p:cNvSpPr/>
          <p:nvPr/>
        </p:nvSpPr>
        <p:spPr>
          <a:xfrm>
            <a:off x="4343400" y="1033272"/>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38 min</a:t>
            </a:r>
            <a:endParaRPr lang="en-US" sz="800" dirty="0"/>
          </a:p>
        </p:txBody>
      </p:sp>
      <p:sp>
        <p:nvSpPr>
          <p:cNvPr id="27" name="Text 25"/>
          <p:cNvSpPr/>
          <p:nvPr/>
        </p:nvSpPr>
        <p:spPr>
          <a:xfrm>
            <a:off x="4343400" y="1188720"/>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28 min</a:t>
            </a:r>
            <a:endParaRPr lang="en-US" sz="800" dirty="0"/>
          </a:p>
        </p:txBody>
      </p:sp>
      <p:sp>
        <p:nvSpPr>
          <p:cNvPr id="28" name="Text 26"/>
          <p:cNvSpPr/>
          <p:nvPr/>
        </p:nvSpPr>
        <p:spPr>
          <a:xfrm>
            <a:off x="4343400" y="1344168"/>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79%</a:t>
            </a:r>
            <a:endParaRPr lang="en-US" sz="800" dirty="0"/>
          </a:p>
        </p:txBody>
      </p:sp>
      <p:sp>
        <p:nvSpPr>
          <p:cNvPr id="29" name="Text 27"/>
          <p:cNvSpPr/>
          <p:nvPr/>
        </p:nvSpPr>
        <p:spPr>
          <a:xfrm>
            <a:off x="4343400" y="1499616"/>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30" name="Text 28"/>
          <p:cNvSpPr/>
          <p:nvPr/>
        </p:nvSpPr>
        <p:spPr>
          <a:xfrm>
            <a:off x="4343400" y="1655064"/>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10</a:t>
            </a:r>
            <a:endParaRPr lang="en-US" sz="800" dirty="0"/>
          </a:p>
        </p:txBody>
      </p:sp>
      <p:sp>
        <p:nvSpPr>
          <p:cNvPr id="31" name="Shape 29"/>
          <p:cNvSpPr/>
          <p:nvPr/>
        </p:nvSpPr>
        <p:spPr>
          <a:xfrm>
            <a:off x="5833872" y="640080"/>
            <a:ext cx="1298448" cy="347472"/>
          </a:xfrm>
          <a:prstGeom prst="rect">
            <a:avLst/>
          </a:prstGeom>
          <a:solidFill>
            <a:srgbClr val="009FE3"/>
          </a:solidFill>
          <a:ln/>
        </p:spPr>
        <p:txBody>
          <a:bodyPr/>
          <a:lstStyle/>
          <a:p>
            <a:endParaRPr lang="en-GB"/>
          </a:p>
        </p:txBody>
      </p:sp>
      <p:sp>
        <p:nvSpPr>
          <p:cNvPr id="32" name="Text 30"/>
          <p:cNvSpPr/>
          <p:nvPr/>
        </p:nvSpPr>
        <p:spPr>
          <a:xfrm>
            <a:off x="5870448" y="658368"/>
            <a:ext cx="1225296"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DEBURR</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&amp; CLEAN</a:t>
            </a:r>
            <a:endParaRPr lang="en-US" sz="850" dirty="0"/>
          </a:p>
        </p:txBody>
      </p:sp>
      <p:sp>
        <p:nvSpPr>
          <p:cNvPr id="33" name="Shape 31"/>
          <p:cNvSpPr/>
          <p:nvPr/>
        </p:nvSpPr>
        <p:spPr>
          <a:xfrm>
            <a:off x="5833872" y="987552"/>
            <a:ext cx="1298448" cy="868680"/>
          </a:xfrm>
          <a:prstGeom prst="rect">
            <a:avLst/>
          </a:prstGeom>
          <a:solidFill>
            <a:srgbClr val="E0F4FD"/>
          </a:solidFill>
          <a:ln w="6350">
            <a:solidFill>
              <a:srgbClr val="CCCCCC"/>
            </a:solidFill>
            <a:prstDash val="solid"/>
          </a:ln>
        </p:spPr>
        <p:txBody>
          <a:bodyPr/>
          <a:lstStyle/>
          <a:p>
            <a:endParaRPr lang="en-GB"/>
          </a:p>
        </p:txBody>
      </p:sp>
      <p:sp>
        <p:nvSpPr>
          <p:cNvPr id="34" name="Text 32"/>
          <p:cNvSpPr/>
          <p:nvPr/>
        </p:nvSpPr>
        <p:spPr>
          <a:xfrm>
            <a:off x="5897880" y="1033272"/>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22 min</a:t>
            </a:r>
            <a:endParaRPr lang="en-US" sz="800" dirty="0"/>
          </a:p>
        </p:txBody>
      </p:sp>
      <p:sp>
        <p:nvSpPr>
          <p:cNvPr id="35" name="Text 33"/>
          <p:cNvSpPr/>
          <p:nvPr/>
        </p:nvSpPr>
        <p:spPr>
          <a:xfrm>
            <a:off x="5897880" y="1188720"/>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5 min</a:t>
            </a:r>
            <a:endParaRPr lang="en-US" sz="800" dirty="0"/>
          </a:p>
        </p:txBody>
      </p:sp>
      <p:sp>
        <p:nvSpPr>
          <p:cNvPr id="36" name="Text 34"/>
          <p:cNvSpPr/>
          <p:nvPr/>
        </p:nvSpPr>
        <p:spPr>
          <a:xfrm>
            <a:off x="5897880" y="1344168"/>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95%</a:t>
            </a:r>
            <a:endParaRPr lang="en-US" sz="800" dirty="0"/>
          </a:p>
        </p:txBody>
      </p:sp>
      <p:sp>
        <p:nvSpPr>
          <p:cNvPr id="37" name="Text 35"/>
          <p:cNvSpPr/>
          <p:nvPr/>
        </p:nvSpPr>
        <p:spPr>
          <a:xfrm>
            <a:off x="5897880" y="1499616"/>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38" name="Text 36"/>
          <p:cNvSpPr/>
          <p:nvPr/>
        </p:nvSpPr>
        <p:spPr>
          <a:xfrm>
            <a:off x="5897880" y="1655064"/>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5</a:t>
            </a:r>
            <a:endParaRPr lang="en-US" sz="800" dirty="0"/>
          </a:p>
        </p:txBody>
      </p:sp>
      <p:sp>
        <p:nvSpPr>
          <p:cNvPr id="39" name="Shape 37"/>
          <p:cNvSpPr/>
          <p:nvPr/>
        </p:nvSpPr>
        <p:spPr>
          <a:xfrm>
            <a:off x="7388352" y="640080"/>
            <a:ext cx="1298448" cy="347472"/>
          </a:xfrm>
          <a:prstGeom prst="rect">
            <a:avLst/>
          </a:prstGeom>
          <a:solidFill>
            <a:srgbClr val="B91C1C"/>
          </a:solidFill>
          <a:ln/>
        </p:spPr>
        <p:txBody>
          <a:bodyPr/>
          <a:lstStyle/>
          <a:p>
            <a:endParaRPr lang="en-GB"/>
          </a:p>
        </p:txBody>
      </p:sp>
      <p:sp>
        <p:nvSpPr>
          <p:cNvPr id="40" name="Text 38"/>
          <p:cNvSpPr/>
          <p:nvPr/>
        </p:nvSpPr>
        <p:spPr>
          <a:xfrm>
            <a:off x="7424928" y="658368"/>
            <a:ext cx="1225296"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INSPECTION</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(CMM)</a:t>
            </a:r>
            <a:endParaRPr lang="en-US" sz="850" dirty="0"/>
          </a:p>
        </p:txBody>
      </p:sp>
      <p:sp>
        <p:nvSpPr>
          <p:cNvPr id="41" name="Shape 39"/>
          <p:cNvSpPr/>
          <p:nvPr/>
        </p:nvSpPr>
        <p:spPr>
          <a:xfrm>
            <a:off x="7388352" y="987552"/>
            <a:ext cx="1298448" cy="868680"/>
          </a:xfrm>
          <a:prstGeom prst="rect">
            <a:avLst/>
          </a:prstGeom>
          <a:solidFill>
            <a:srgbClr val="FEE2E2"/>
          </a:solidFill>
          <a:ln w="6350">
            <a:solidFill>
              <a:srgbClr val="CCCCCC"/>
            </a:solidFill>
            <a:prstDash val="solid"/>
          </a:ln>
        </p:spPr>
        <p:txBody>
          <a:bodyPr/>
          <a:lstStyle/>
          <a:p>
            <a:endParaRPr lang="en-GB"/>
          </a:p>
        </p:txBody>
      </p:sp>
      <p:sp>
        <p:nvSpPr>
          <p:cNvPr id="42" name="Text 40"/>
          <p:cNvSpPr/>
          <p:nvPr/>
        </p:nvSpPr>
        <p:spPr>
          <a:xfrm>
            <a:off x="7452360" y="1033272"/>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55 min</a:t>
            </a:r>
            <a:endParaRPr lang="en-US" sz="800" dirty="0"/>
          </a:p>
        </p:txBody>
      </p:sp>
      <p:sp>
        <p:nvSpPr>
          <p:cNvPr id="43" name="Text 41"/>
          <p:cNvSpPr/>
          <p:nvPr/>
        </p:nvSpPr>
        <p:spPr>
          <a:xfrm>
            <a:off x="7452360" y="1188720"/>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15 min</a:t>
            </a:r>
            <a:endParaRPr lang="en-US" sz="800" dirty="0"/>
          </a:p>
        </p:txBody>
      </p:sp>
      <p:sp>
        <p:nvSpPr>
          <p:cNvPr id="44" name="Text 42"/>
          <p:cNvSpPr/>
          <p:nvPr/>
        </p:nvSpPr>
        <p:spPr>
          <a:xfrm>
            <a:off x="7452360" y="1344168"/>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72%</a:t>
            </a:r>
            <a:endParaRPr lang="en-US" sz="800" dirty="0"/>
          </a:p>
        </p:txBody>
      </p:sp>
      <p:sp>
        <p:nvSpPr>
          <p:cNvPr id="45" name="Text 43"/>
          <p:cNvSpPr/>
          <p:nvPr/>
        </p:nvSpPr>
        <p:spPr>
          <a:xfrm>
            <a:off x="7452360" y="1499616"/>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46" name="Text 44"/>
          <p:cNvSpPr/>
          <p:nvPr/>
        </p:nvSpPr>
        <p:spPr>
          <a:xfrm>
            <a:off x="7452360" y="1655064"/>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5</a:t>
            </a:r>
            <a:endParaRPr lang="en-US" sz="800" dirty="0"/>
          </a:p>
        </p:txBody>
      </p:sp>
      <p:sp>
        <p:nvSpPr>
          <p:cNvPr id="47" name="Shape 45"/>
          <p:cNvSpPr/>
          <p:nvPr/>
        </p:nvSpPr>
        <p:spPr>
          <a:xfrm>
            <a:off x="8183880" y="658368"/>
            <a:ext cx="475488" cy="201168"/>
          </a:xfrm>
          <a:prstGeom prst="rect">
            <a:avLst/>
          </a:prstGeom>
          <a:solidFill>
            <a:srgbClr val="B91C1C"/>
          </a:solidFill>
          <a:ln/>
        </p:spPr>
        <p:txBody>
          <a:bodyPr/>
          <a:lstStyle/>
          <a:p>
            <a:endParaRPr lang="en-GB"/>
          </a:p>
        </p:txBody>
      </p:sp>
      <p:sp>
        <p:nvSpPr>
          <p:cNvPr id="48" name="Text 46"/>
          <p:cNvSpPr/>
          <p:nvPr/>
        </p:nvSpPr>
        <p:spPr>
          <a:xfrm>
            <a:off x="8183880" y="658368"/>
            <a:ext cx="475488" cy="201168"/>
          </a:xfrm>
          <a:prstGeom prst="rect">
            <a:avLst/>
          </a:prstGeom>
          <a:noFill/>
          <a:ln/>
        </p:spPr>
        <p:txBody>
          <a:bodyPr wrap="square" rtlCol="0" anchor="ctr"/>
          <a:lstStyle/>
          <a:p>
            <a:pPr marL="0" indent="0" algn="ctr">
              <a:buNone/>
            </a:pPr>
            <a:r>
              <a:rPr lang="en-US" sz="650" b="1" dirty="0">
                <a:solidFill>
                  <a:srgbClr val="FFFFFF"/>
                </a:solidFill>
                <a:latin typeface="Arial" pitchFamily="34" charset="0"/>
                <a:ea typeface="Arial" pitchFamily="34" charset="-122"/>
                <a:cs typeface="Arial" pitchFamily="34" charset="-120"/>
              </a:rPr>
              <a:t>BOTTLENECK</a:t>
            </a:r>
            <a:endParaRPr lang="en-US" sz="650" dirty="0"/>
          </a:p>
        </p:txBody>
      </p:sp>
      <p:sp>
        <p:nvSpPr>
          <p:cNvPr id="49" name="Shape 47"/>
          <p:cNvSpPr/>
          <p:nvPr/>
        </p:nvSpPr>
        <p:spPr>
          <a:xfrm>
            <a:off x="8942832" y="640080"/>
            <a:ext cx="1298448" cy="347472"/>
          </a:xfrm>
          <a:prstGeom prst="rect">
            <a:avLst/>
          </a:prstGeom>
          <a:solidFill>
            <a:srgbClr val="009FE3"/>
          </a:solidFill>
          <a:ln/>
        </p:spPr>
        <p:txBody>
          <a:bodyPr/>
          <a:lstStyle/>
          <a:p>
            <a:endParaRPr lang="en-GB"/>
          </a:p>
        </p:txBody>
      </p:sp>
      <p:sp>
        <p:nvSpPr>
          <p:cNvPr id="50" name="Text 48"/>
          <p:cNvSpPr/>
          <p:nvPr/>
        </p:nvSpPr>
        <p:spPr>
          <a:xfrm>
            <a:off x="8979408" y="658368"/>
            <a:ext cx="1225296"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DESPATCH</a:t>
            </a:r>
            <a:endParaRPr lang="en-US" sz="850" dirty="0"/>
          </a:p>
        </p:txBody>
      </p:sp>
      <p:sp>
        <p:nvSpPr>
          <p:cNvPr id="51" name="Shape 49"/>
          <p:cNvSpPr/>
          <p:nvPr/>
        </p:nvSpPr>
        <p:spPr>
          <a:xfrm>
            <a:off x="8942832" y="987552"/>
            <a:ext cx="1298448" cy="868680"/>
          </a:xfrm>
          <a:prstGeom prst="rect">
            <a:avLst/>
          </a:prstGeom>
          <a:solidFill>
            <a:srgbClr val="E0F4FD"/>
          </a:solidFill>
          <a:ln w="6350">
            <a:solidFill>
              <a:srgbClr val="CCCCCC"/>
            </a:solidFill>
            <a:prstDash val="solid"/>
          </a:ln>
        </p:spPr>
        <p:txBody>
          <a:bodyPr/>
          <a:lstStyle/>
          <a:p>
            <a:endParaRPr lang="en-GB"/>
          </a:p>
        </p:txBody>
      </p:sp>
      <p:sp>
        <p:nvSpPr>
          <p:cNvPr id="52" name="Text 50"/>
          <p:cNvSpPr/>
          <p:nvPr/>
        </p:nvSpPr>
        <p:spPr>
          <a:xfrm>
            <a:off x="9006840" y="1033272"/>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20 min</a:t>
            </a:r>
            <a:endParaRPr lang="en-US" sz="800" dirty="0"/>
          </a:p>
        </p:txBody>
      </p:sp>
      <p:sp>
        <p:nvSpPr>
          <p:cNvPr id="53" name="Text 51"/>
          <p:cNvSpPr/>
          <p:nvPr/>
        </p:nvSpPr>
        <p:spPr>
          <a:xfrm>
            <a:off x="9006840" y="1188720"/>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0</a:t>
            </a:r>
            <a:endParaRPr lang="en-US" sz="800" dirty="0"/>
          </a:p>
        </p:txBody>
      </p:sp>
      <p:sp>
        <p:nvSpPr>
          <p:cNvPr id="54" name="Text 52"/>
          <p:cNvSpPr/>
          <p:nvPr/>
        </p:nvSpPr>
        <p:spPr>
          <a:xfrm>
            <a:off x="9006840" y="1344168"/>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100%</a:t>
            </a:r>
            <a:endParaRPr lang="en-US" sz="800" dirty="0"/>
          </a:p>
        </p:txBody>
      </p:sp>
      <p:sp>
        <p:nvSpPr>
          <p:cNvPr id="55" name="Text 53"/>
          <p:cNvSpPr/>
          <p:nvPr/>
        </p:nvSpPr>
        <p:spPr>
          <a:xfrm>
            <a:off x="9006840" y="1499616"/>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56" name="Text 54"/>
          <p:cNvSpPr/>
          <p:nvPr/>
        </p:nvSpPr>
        <p:spPr>
          <a:xfrm>
            <a:off x="9006840" y="1655064"/>
            <a:ext cx="1170432" cy="146304"/>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10</a:t>
            </a:r>
            <a:endParaRPr lang="en-US" sz="800" dirty="0"/>
          </a:p>
        </p:txBody>
      </p:sp>
      <p:sp>
        <p:nvSpPr>
          <p:cNvPr id="57" name="Shape 55"/>
          <p:cNvSpPr/>
          <p:nvPr/>
        </p:nvSpPr>
        <p:spPr>
          <a:xfrm>
            <a:off x="137160" y="640080"/>
            <a:ext cx="914400" cy="1216152"/>
          </a:xfrm>
          <a:prstGeom prst="rect">
            <a:avLst/>
          </a:prstGeom>
          <a:solidFill>
            <a:srgbClr val="F2F2F2"/>
          </a:solidFill>
          <a:ln w="10160">
            <a:solidFill>
              <a:srgbClr val="5B595A"/>
            </a:solidFill>
            <a:prstDash val="solid"/>
          </a:ln>
        </p:spPr>
        <p:txBody>
          <a:bodyPr/>
          <a:lstStyle/>
          <a:p>
            <a:endParaRPr lang="en-GB"/>
          </a:p>
        </p:txBody>
      </p:sp>
      <p:sp>
        <p:nvSpPr>
          <p:cNvPr id="58" name="Shape 56"/>
          <p:cNvSpPr/>
          <p:nvPr/>
        </p:nvSpPr>
        <p:spPr>
          <a:xfrm>
            <a:off x="137160" y="640080"/>
            <a:ext cx="914400" cy="347472"/>
          </a:xfrm>
          <a:prstGeom prst="rect">
            <a:avLst/>
          </a:prstGeom>
          <a:solidFill>
            <a:srgbClr val="5B595A"/>
          </a:solidFill>
          <a:ln/>
        </p:spPr>
        <p:txBody>
          <a:bodyPr/>
          <a:lstStyle/>
          <a:p>
            <a:endParaRPr lang="en-GB"/>
          </a:p>
        </p:txBody>
      </p:sp>
      <p:sp>
        <p:nvSpPr>
          <p:cNvPr id="59" name="Text 57"/>
          <p:cNvSpPr/>
          <p:nvPr/>
        </p:nvSpPr>
        <p:spPr>
          <a:xfrm>
            <a:off x="137160" y="658368"/>
            <a:ext cx="914400" cy="310896"/>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SUPPLIER</a:t>
            </a:r>
            <a:endParaRPr lang="en-US" sz="900" dirty="0"/>
          </a:p>
        </p:txBody>
      </p:sp>
      <p:sp>
        <p:nvSpPr>
          <p:cNvPr id="60" name="Text 58"/>
          <p:cNvSpPr/>
          <p:nvPr/>
        </p:nvSpPr>
        <p:spPr>
          <a:xfrm>
            <a:off x="182880" y="1078992"/>
            <a:ext cx="822960" cy="5943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Steel stockholder</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Weekly delivery</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2-week LT</a:t>
            </a:r>
            <a:endParaRPr lang="en-US" sz="800" dirty="0"/>
          </a:p>
        </p:txBody>
      </p:sp>
      <p:sp>
        <p:nvSpPr>
          <p:cNvPr id="61" name="Shape 59"/>
          <p:cNvSpPr/>
          <p:nvPr/>
        </p:nvSpPr>
        <p:spPr>
          <a:xfrm>
            <a:off x="10497312" y="640080"/>
            <a:ext cx="914400" cy="1216152"/>
          </a:xfrm>
          <a:prstGeom prst="rect">
            <a:avLst/>
          </a:prstGeom>
          <a:solidFill>
            <a:srgbClr val="F2F2F2"/>
          </a:solidFill>
          <a:ln w="10160">
            <a:solidFill>
              <a:srgbClr val="5B595A"/>
            </a:solidFill>
            <a:prstDash val="solid"/>
          </a:ln>
        </p:spPr>
        <p:txBody>
          <a:bodyPr/>
          <a:lstStyle/>
          <a:p>
            <a:endParaRPr lang="en-GB"/>
          </a:p>
        </p:txBody>
      </p:sp>
      <p:sp>
        <p:nvSpPr>
          <p:cNvPr id="62" name="Shape 60"/>
          <p:cNvSpPr/>
          <p:nvPr/>
        </p:nvSpPr>
        <p:spPr>
          <a:xfrm>
            <a:off x="10497312" y="640080"/>
            <a:ext cx="914400" cy="347472"/>
          </a:xfrm>
          <a:prstGeom prst="rect">
            <a:avLst/>
          </a:prstGeom>
          <a:solidFill>
            <a:srgbClr val="5B595A"/>
          </a:solidFill>
          <a:ln/>
        </p:spPr>
        <p:txBody>
          <a:bodyPr/>
          <a:lstStyle/>
          <a:p>
            <a:endParaRPr lang="en-GB"/>
          </a:p>
        </p:txBody>
      </p:sp>
      <p:sp>
        <p:nvSpPr>
          <p:cNvPr id="63" name="Text 61"/>
          <p:cNvSpPr/>
          <p:nvPr/>
        </p:nvSpPr>
        <p:spPr>
          <a:xfrm>
            <a:off x="10497312" y="658368"/>
            <a:ext cx="914400" cy="310896"/>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CUSTOMER</a:t>
            </a:r>
            <a:endParaRPr lang="en-US" sz="900" dirty="0"/>
          </a:p>
        </p:txBody>
      </p:sp>
      <p:sp>
        <p:nvSpPr>
          <p:cNvPr id="64" name="Text 62"/>
          <p:cNvSpPr/>
          <p:nvPr/>
        </p:nvSpPr>
        <p:spPr>
          <a:xfrm>
            <a:off x="10543032" y="1078992"/>
            <a:ext cx="822960" cy="5943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Nuclear OEM</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60/week</a:t>
            </a:r>
            <a:endParaRPr lang="en-US" sz="800" dirty="0"/>
          </a:p>
          <a:p>
            <a:pPr marL="0" indent="0">
              <a:buNone/>
            </a:pPr>
            <a:r>
              <a:rPr lang="en-US" sz="800" dirty="0">
                <a:solidFill>
                  <a:srgbClr val="5B595A"/>
                </a:solidFill>
                <a:latin typeface="Arial" pitchFamily="34" charset="0"/>
                <a:ea typeface="Arial" pitchFamily="34" charset="-122"/>
                <a:cs typeface="Arial" pitchFamily="34" charset="-120"/>
              </a:rPr>
              <a:t>Expects 10d LT</a:t>
            </a:r>
            <a:endParaRPr lang="en-US" sz="800" dirty="0"/>
          </a:p>
        </p:txBody>
      </p:sp>
      <p:sp>
        <p:nvSpPr>
          <p:cNvPr id="65" name="Shape 63"/>
          <p:cNvSpPr/>
          <p:nvPr/>
        </p:nvSpPr>
        <p:spPr>
          <a:xfrm>
            <a:off x="1170432" y="576072"/>
            <a:ext cx="9290304" cy="91440"/>
          </a:xfrm>
          <a:prstGeom prst="rect">
            <a:avLst/>
          </a:prstGeom>
          <a:solidFill>
            <a:srgbClr val="AACCEE"/>
          </a:solidFill>
          <a:ln w="3810">
            <a:solidFill>
              <a:srgbClr val="009FE3"/>
            </a:solidFill>
            <a:prstDash val="solid"/>
          </a:ln>
        </p:spPr>
        <p:txBody>
          <a:bodyPr/>
          <a:lstStyle/>
          <a:p>
            <a:endParaRPr lang="en-GB"/>
          </a:p>
        </p:txBody>
      </p:sp>
      <p:sp>
        <p:nvSpPr>
          <p:cNvPr id="66" name="Text 64"/>
          <p:cNvSpPr/>
          <p:nvPr/>
        </p:nvSpPr>
        <p:spPr>
          <a:xfrm>
            <a:off x="3200400" y="448056"/>
            <a:ext cx="4572000" cy="201168"/>
          </a:xfrm>
          <a:prstGeom prst="rect">
            <a:avLst/>
          </a:prstGeom>
          <a:noFill/>
          <a:ln/>
        </p:spPr>
        <p:txBody>
          <a:bodyPr wrap="square" rtlCol="0" anchor="ctr"/>
          <a:lstStyle/>
          <a:p>
            <a:pPr marL="0" indent="0" algn="ctr">
              <a:buNone/>
            </a:pPr>
            <a:r>
              <a:rPr lang="en-US" sz="750" i="1" dirty="0">
                <a:solidFill>
                  <a:srgbClr val="009FE3"/>
                </a:solidFill>
                <a:latin typeface="Arial" pitchFamily="34" charset="0"/>
                <a:ea typeface="Arial" pitchFamily="34" charset="-122"/>
                <a:cs typeface="Arial" pitchFamily="34" charset="-120"/>
              </a:rPr>
              <a:t>Weekly paper schedule: pushed to all cells regardless of capacity</a:t>
            </a:r>
            <a:endParaRPr lang="en-US" sz="750" dirty="0"/>
          </a:p>
        </p:txBody>
      </p:sp>
      <p:sp>
        <p:nvSpPr>
          <p:cNvPr id="67" name="Shape 65"/>
          <p:cNvSpPr/>
          <p:nvPr/>
        </p:nvSpPr>
        <p:spPr>
          <a:xfrm>
            <a:off x="2496312" y="713232"/>
            <a:ext cx="182880" cy="201168"/>
          </a:xfrm>
          <a:prstGeom prst="rect">
            <a:avLst/>
          </a:prstGeom>
          <a:solidFill>
            <a:srgbClr val="B91C1C"/>
          </a:solidFill>
          <a:ln/>
        </p:spPr>
        <p:txBody>
          <a:bodyPr/>
          <a:lstStyle/>
          <a:p>
            <a:endParaRPr lang="en-GB"/>
          </a:p>
        </p:txBody>
      </p:sp>
      <p:sp>
        <p:nvSpPr>
          <p:cNvPr id="68" name="Text 66"/>
          <p:cNvSpPr/>
          <p:nvPr/>
        </p:nvSpPr>
        <p:spPr>
          <a:xfrm>
            <a:off x="2496312"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69" name="Shape 67"/>
          <p:cNvSpPr/>
          <p:nvPr/>
        </p:nvSpPr>
        <p:spPr>
          <a:xfrm>
            <a:off x="4050792" y="713232"/>
            <a:ext cx="182880" cy="201168"/>
          </a:xfrm>
          <a:prstGeom prst="rect">
            <a:avLst/>
          </a:prstGeom>
          <a:solidFill>
            <a:srgbClr val="B91C1C"/>
          </a:solidFill>
          <a:ln/>
        </p:spPr>
        <p:txBody>
          <a:bodyPr/>
          <a:lstStyle/>
          <a:p>
            <a:endParaRPr lang="en-GB"/>
          </a:p>
        </p:txBody>
      </p:sp>
      <p:sp>
        <p:nvSpPr>
          <p:cNvPr id="70" name="Text 68"/>
          <p:cNvSpPr/>
          <p:nvPr/>
        </p:nvSpPr>
        <p:spPr>
          <a:xfrm>
            <a:off x="4050792"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71" name="Shape 69"/>
          <p:cNvSpPr/>
          <p:nvPr/>
        </p:nvSpPr>
        <p:spPr>
          <a:xfrm>
            <a:off x="5605272" y="713232"/>
            <a:ext cx="182880" cy="201168"/>
          </a:xfrm>
          <a:prstGeom prst="rect">
            <a:avLst/>
          </a:prstGeom>
          <a:solidFill>
            <a:srgbClr val="B91C1C"/>
          </a:solidFill>
          <a:ln/>
        </p:spPr>
        <p:txBody>
          <a:bodyPr/>
          <a:lstStyle/>
          <a:p>
            <a:endParaRPr lang="en-GB"/>
          </a:p>
        </p:txBody>
      </p:sp>
      <p:sp>
        <p:nvSpPr>
          <p:cNvPr id="72" name="Text 70"/>
          <p:cNvSpPr/>
          <p:nvPr/>
        </p:nvSpPr>
        <p:spPr>
          <a:xfrm>
            <a:off x="5605272"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73" name="Shape 71"/>
          <p:cNvSpPr/>
          <p:nvPr/>
        </p:nvSpPr>
        <p:spPr>
          <a:xfrm>
            <a:off x="7159752" y="713232"/>
            <a:ext cx="182880" cy="201168"/>
          </a:xfrm>
          <a:prstGeom prst="rect">
            <a:avLst/>
          </a:prstGeom>
          <a:solidFill>
            <a:srgbClr val="B91C1C"/>
          </a:solidFill>
          <a:ln/>
        </p:spPr>
        <p:txBody>
          <a:bodyPr/>
          <a:lstStyle/>
          <a:p>
            <a:endParaRPr lang="en-GB"/>
          </a:p>
        </p:txBody>
      </p:sp>
      <p:sp>
        <p:nvSpPr>
          <p:cNvPr id="74" name="Text 72"/>
          <p:cNvSpPr/>
          <p:nvPr/>
        </p:nvSpPr>
        <p:spPr>
          <a:xfrm>
            <a:off x="7159752"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75" name="Shape 73"/>
          <p:cNvSpPr/>
          <p:nvPr/>
        </p:nvSpPr>
        <p:spPr>
          <a:xfrm>
            <a:off x="8714232" y="713232"/>
            <a:ext cx="182880" cy="201168"/>
          </a:xfrm>
          <a:prstGeom prst="rect">
            <a:avLst/>
          </a:prstGeom>
          <a:solidFill>
            <a:srgbClr val="B91C1C"/>
          </a:solidFill>
          <a:ln/>
        </p:spPr>
        <p:txBody>
          <a:bodyPr/>
          <a:lstStyle/>
          <a:p>
            <a:endParaRPr lang="en-GB"/>
          </a:p>
        </p:txBody>
      </p:sp>
      <p:sp>
        <p:nvSpPr>
          <p:cNvPr id="76" name="Text 74"/>
          <p:cNvSpPr/>
          <p:nvPr/>
        </p:nvSpPr>
        <p:spPr>
          <a:xfrm>
            <a:off x="8714232"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PUSH</a:t>
            </a:r>
            <a:endParaRPr lang="en-US" sz="550" dirty="0"/>
          </a:p>
        </p:txBody>
      </p:sp>
      <p:sp>
        <p:nvSpPr>
          <p:cNvPr id="77" name="Shape 75"/>
          <p:cNvSpPr/>
          <p:nvPr/>
        </p:nvSpPr>
        <p:spPr>
          <a:xfrm>
            <a:off x="1005840" y="1947672"/>
            <a:ext cx="384048" cy="292608"/>
          </a:xfrm>
          <a:prstGeom prst="rect">
            <a:avLst/>
          </a:prstGeom>
          <a:solidFill>
            <a:srgbClr val="D4770A"/>
          </a:solidFill>
          <a:ln w="6350">
            <a:solidFill>
              <a:srgbClr val="D4770A"/>
            </a:solidFill>
            <a:prstDash val="solid"/>
          </a:ln>
        </p:spPr>
        <p:txBody>
          <a:bodyPr/>
          <a:lstStyle/>
          <a:p>
            <a:endParaRPr lang="en-GB"/>
          </a:p>
        </p:txBody>
      </p:sp>
      <p:sp>
        <p:nvSpPr>
          <p:cNvPr id="78" name="Text 76"/>
          <p:cNvSpPr/>
          <p:nvPr/>
        </p:nvSpPr>
        <p:spPr>
          <a:xfrm>
            <a:off x="1005840" y="1947672"/>
            <a:ext cx="384048"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79" name="Text 77"/>
          <p:cNvSpPr/>
          <p:nvPr/>
        </p:nvSpPr>
        <p:spPr>
          <a:xfrm>
            <a:off x="950976" y="2267712"/>
            <a:ext cx="493776" cy="128016"/>
          </a:xfrm>
          <a:prstGeom prst="rect">
            <a:avLst/>
          </a:prstGeom>
          <a:noFill/>
          <a:ln/>
        </p:spPr>
        <p:txBody>
          <a:bodyPr wrap="square" rtlCol="0" anchor="ctr"/>
          <a:lstStyle/>
          <a:p>
            <a:pPr marL="0" indent="0" algn="ctr">
              <a:buNone/>
            </a:pPr>
            <a:r>
              <a:rPr lang="en-US" sz="700" b="1" dirty="0">
                <a:solidFill>
                  <a:srgbClr val="D4770A"/>
                </a:solidFill>
                <a:latin typeface="Arial" pitchFamily="34" charset="0"/>
                <a:ea typeface="Arial" pitchFamily="34" charset="-122"/>
                <a:cs typeface="Arial" pitchFamily="34" charset="-120"/>
              </a:rPr>
              <a:t>20 units</a:t>
            </a:r>
            <a:endParaRPr lang="en-US" sz="700" dirty="0"/>
          </a:p>
        </p:txBody>
      </p:sp>
      <p:sp>
        <p:nvSpPr>
          <p:cNvPr id="80" name="Text 78"/>
          <p:cNvSpPr/>
          <p:nvPr/>
        </p:nvSpPr>
        <p:spPr>
          <a:xfrm>
            <a:off x="950976" y="2404872"/>
            <a:ext cx="493776" cy="118872"/>
          </a:xfrm>
          <a:prstGeom prst="rect">
            <a:avLst/>
          </a:prstGeom>
          <a:noFill/>
          <a:ln/>
        </p:spPr>
        <p:txBody>
          <a:bodyPr wrap="square" rtlCol="0" anchor="ctr"/>
          <a:lstStyle/>
          <a:p>
            <a:pPr marL="0" indent="0" algn="ctr">
              <a:buNone/>
            </a:pPr>
            <a:r>
              <a:rPr lang="en-US" sz="700" i="1" dirty="0">
                <a:solidFill>
                  <a:srgbClr val="D4770A"/>
                </a:solidFill>
                <a:latin typeface="Arial" pitchFamily="34" charset="0"/>
                <a:ea typeface="Arial" pitchFamily="34" charset="-122"/>
                <a:cs typeface="Arial" pitchFamily="34" charset="-120"/>
              </a:rPr>
              <a:t>2.0d</a:t>
            </a:r>
            <a:endParaRPr lang="en-US" sz="700" dirty="0"/>
          </a:p>
        </p:txBody>
      </p:sp>
      <p:sp>
        <p:nvSpPr>
          <p:cNvPr id="81" name="Shape 79"/>
          <p:cNvSpPr/>
          <p:nvPr/>
        </p:nvSpPr>
        <p:spPr>
          <a:xfrm>
            <a:off x="2496312" y="1947672"/>
            <a:ext cx="384048" cy="292608"/>
          </a:xfrm>
          <a:prstGeom prst="rect">
            <a:avLst/>
          </a:prstGeom>
          <a:solidFill>
            <a:srgbClr val="B91C1C"/>
          </a:solidFill>
          <a:ln w="6350">
            <a:solidFill>
              <a:srgbClr val="B91C1C"/>
            </a:solidFill>
            <a:prstDash val="solid"/>
          </a:ln>
        </p:spPr>
        <p:txBody>
          <a:bodyPr/>
          <a:lstStyle/>
          <a:p>
            <a:endParaRPr lang="en-GB"/>
          </a:p>
        </p:txBody>
      </p:sp>
      <p:sp>
        <p:nvSpPr>
          <p:cNvPr id="82" name="Text 80"/>
          <p:cNvSpPr/>
          <p:nvPr/>
        </p:nvSpPr>
        <p:spPr>
          <a:xfrm>
            <a:off x="2496312" y="1947672"/>
            <a:ext cx="384048"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83" name="Text 81"/>
          <p:cNvSpPr/>
          <p:nvPr/>
        </p:nvSpPr>
        <p:spPr>
          <a:xfrm>
            <a:off x="2441448" y="2267712"/>
            <a:ext cx="493776" cy="128016"/>
          </a:xfrm>
          <a:prstGeom prst="rect">
            <a:avLst/>
          </a:prstGeom>
          <a:noFill/>
          <a:ln/>
        </p:spPr>
        <p:txBody>
          <a:bodyPr wrap="square" rtlCol="0" anchor="ctr"/>
          <a:lstStyle/>
          <a:p>
            <a:pPr marL="0" indent="0" algn="ctr">
              <a:buNone/>
            </a:pPr>
            <a:r>
              <a:rPr lang="en-US" sz="700" b="1" dirty="0">
                <a:solidFill>
                  <a:srgbClr val="B91C1C"/>
                </a:solidFill>
                <a:latin typeface="Arial" pitchFamily="34" charset="0"/>
                <a:ea typeface="Arial" pitchFamily="34" charset="-122"/>
                <a:cs typeface="Arial" pitchFamily="34" charset="-120"/>
              </a:rPr>
              <a:t>45 units</a:t>
            </a:r>
            <a:endParaRPr lang="en-US" sz="700" dirty="0"/>
          </a:p>
        </p:txBody>
      </p:sp>
      <p:sp>
        <p:nvSpPr>
          <p:cNvPr id="84" name="Text 82"/>
          <p:cNvSpPr/>
          <p:nvPr/>
        </p:nvSpPr>
        <p:spPr>
          <a:xfrm>
            <a:off x="2441448" y="2404872"/>
            <a:ext cx="493776" cy="118872"/>
          </a:xfrm>
          <a:prstGeom prst="rect">
            <a:avLst/>
          </a:prstGeom>
          <a:noFill/>
          <a:ln/>
        </p:spPr>
        <p:txBody>
          <a:bodyPr wrap="square" rtlCol="0" anchor="ctr"/>
          <a:lstStyle/>
          <a:p>
            <a:pPr marL="0" indent="0" algn="ctr">
              <a:buNone/>
            </a:pPr>
            <a:r>
              <a:rPr lang="en-US" sz="700" i="1" dirty="0">
                <a:solidFill>
                  <a:srgbClr val="B91C1C"/>
                </a:solidFill>
                <a:latin typeface="Arial" pitchFamily="34" charset="0"/>
                <a:ea typeface="Arial" pitchFamily="34" charset="-122"/>
                <a:cs typeface="Arial" pitchFamily="34" charset="-120"/>
              </a:rPr>
              <a:t>4.5d</a:t>
            </a:r>
            <a:endParaRPr lang="en-US" sz="700" dirty="0"/>
          </a:p>
        </p:txBody>
      </p:sp>
      <p:sp>
        <p:nvSpPr>
          <p:cNvPr id="85" name="Shape 83"/>
          <p:cNvSpPr/>
          <p:nvPr/>
        </p:nvSpPr>
        <p:spPr>
          <a:xfrm>
            <a:off x="4050792" y="1947672"/>
            <a:ext cx="384048" cy="292608"/>
          </a:xfrm>
          <a:prstGeom prst="rect">
            <a:avLst/>
          </a:prstGeom>
          <a:solidFill>
            <a:srgbClr val="B91C1C"/>
          </a:solidFill>
          <a:ln w="6350">
            <a:solidFill>
              <a:srgbClr val="B91C1C"/>
            </a:solidFill>
            <a:prstDash val="solid"/>
          </a:ln>
        </p:spPr>
        <p:txBody>
          <a:bodyPr/>
          <a:lstStyle/>
          <a:p>
            <a:endParaRPr lang="en-GB"/>
          </a:p>
        </p:txBody>
      </p:sp>
      <p:sp>
        <p:nvSpPr>
          <p:cNvPr id="86" name="Text 84"/>
          <p:cNvSpPr/>
          <p:nvPr/>
        </p:nvSpPr>
        <p:spPr>
          <a:xfrm>
            <a:off x="4050792" y="1947672"/>
            <a:ext cx="384048"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87" name="Text 85"/>
          <p:cNvSpPr/>
          <p:nvPr/>
        </p:nvSpPr>
        <p:spPr>
          <a:xfrm>
            <a:off x="3995928" y="2267712"/>
            <a:ext cx="493776" cy="128016"/>
          </a:xfrm>
          <a:prstGeom prst="rect">
            <a:avLst/>
          </a:prstGeom>
          <a:noFill/>
          <a:ln/>
        </p:spPr>
        <p:txBody>
          <a:bodyPr wrap="square" rtlCol="0" anchor="ctr"/>
          <a:lstStyle/>
          <a:p>
            <a:pPr marL="0" indent="0" algn="ctr">
              <a:buNone/>
            </a:pPr>
            <a:r>
              <a:rPr lang="en-US" sz="700" b="1" dirty="0">
                <a:solidFill>
                  <a:srgbClr val="B91C1C"/>
                </a:solidFill>
                <a:latin typeface="Arial" pitchFamily="34" charset="0"/>
                <a:ea typeface="Arial" pitchFamily="34" charset="-122"/>
                <a:cs typeface="Arial" pitchFamily="34" charset="-120"/>
              </a:rPr>
              <a:t>38 units</a:t>
            </a:r>
            <a:endParaRPr lang="en-US" sz="700" dirty="0"/>
          </a:p>
        </p:txBody>
      </p:sp>
      <p:sp>
        <p:nvSpPr>
          <p:cNvPr id="88" name="Text 86"/>
          <p:cNvSpPr/>
          <p:nvPr/>
        </p:nvSpPr>
        <p:spPr>
          <a:xfrm>
            <a:off x="3995928" y="2404872"/>
            <a:ext cx="493776" cy="118872"/>
          </a:xfrm>
          <a:prstGeom prst="rect">
            <a:avLst/>
          </a:prstGeom>
          <a:noFill/>
          <a:ln/>
        </p:spPr>
        <p:txBody>
          <a:bodyPr wrap="square" rtlCol="0" anchor="ctr"/>
          <a:lstStyle/>
          <a:p>
            <a:pPr marL="0" indent="0" algn="ctr">
              <a:buNone/>
            </a:pPr>
            <a:r>
              <a:rPr lang="en-US" sz="700" i="1" dirty="0">
                <a:solidFill>
                  <a:srgbClr val="B91C1C"/>
                </a:solidFill>
                <a:latin typeface="Arial" pitchFamily="34" charset="0"/>
                <a:ea typeface="Arial" pitchFamily="34" charset="-122"/>
                <a:cs typeface="Arial" pitchFamily="34" charset="-120"/>
              </a:rPr>
              <a:t>3.8d</a:t>
            </a:r>
            <a:endParaRPr lang="en-US" sz="700" dirty="0"/>
          </a:p>
        </p:txBody>
      </p:sp>
      <p:sp>
        <p:nvSpPr>
          <p:cNvPr id="89" name="Shape 87"/>
          <p:cNvSpPr/>
          <p:nvPr/>
        </p:nvSpPr>
        <p:spPr>
          <a:xfrm>
            <a:off x="5605272" y="1947672"/>
            <a:ext cx="384048" cy="292608"/>
          </a:xfrm>
          <a:prstGeom prst="rect">
            <a:avLst/>
          </a:prstGeom>
          <a:solidFill>
            <a:srgbClr val="D4770A"/>
          </a:solidFill>
          <a:ln w="6350">
            <a:solidFill>
              <a:srgbClr val="D4770A"/>
            </a:solidFill>
            <a:prstDash val="solid"/>
          </a:ln>
        </p:spPr>
        <p:txBody>
          <a:bodyPr/>
          <a:lstStyle/>
          <a:p>
            <a:endParaRPr lang="en-GB"/>
          </a:p>
        </p:txBody>
      </p:sp>
      <p:sp>
        <p:nvSpPr>
          <p:cNvPr id="90" name="Text 88"/>
          <p:cNvSpPr/>
          <p:nvPr/>
        </p:nvSpPr>
        <p:spPr>
          <a:xfrm>
            <a:off x="5605272" y="1947672"/>
            <a:ext cx="384048"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91" name="Text 89"/>
          <p:cNvSpPr/>
          <p:nvPr/>
        </p:nvSpPr>
        <p:spPr>
          <a:xfrm>
            <a:off x="5550408" y="2267712"/>
            <a:ext cx="493776" cy="128016"/>
          </a:xfrm>
          <a:prstGeom prst="rect">
            <a:avLst/>
          </a:prstGeom>
          <a:noFill/>
          <a:ln/>
        </p:spPr>
        <p:txBody>
          <a:bodyPr wrap="square" rtlCol="0" anchor="ctr"/>
          <a:lstStyle/>
          <a:p>
            <a:pPr marL="0" indent="0" algn="ctr">
              <a:buNone/>
            </a:pPr>
            <a:r>
              <a:rPr lang="en-US" sz="700" b="1" dirty="0">
                <a:solidFill>
                  <a:srgbClr val="D4770A"/>
                </a:solidFill>
                <a:latin typeface="Arial" pitchFamily="34" charset="0"/>
                <a:ea typeface="Arial" pitchFamily="34" charset="-122"/>
                <a:cs typeface="Arial" pitchFamily="34" charset="-120"/>
              </a:rPr>
              <a:t>22 units</a:t>
            </a:r>
            <a:endParaRPr lang="en-US" sz="700" dirty="0"/>
          </a:p>
        </p:txBody>
      </p:sp>
      <p:sp>
        <p:nvSpPr>
          <p:cNvPr id="92" name="Text 90"/>
          <p:cNvSpPr/>
          <p:nvPr/>
        </p:nvSpPr>
        <p:spPr>
          <a:xfrm>
            <a:off x="5550408" y="2404872"/>
            <a:ext cx="493776" cy="118872"/>
          </a:xfrm>
          <a:prstGeom prst="rect">
            <a:avLst/>
          </a:prstGeom>
          <a:noFill/>
          <a:ln/>
        </p:spPr>
        <p:txBody>
          <a:bodyPr wrap="square" rtlCol="0" anchor="ctr"/>
          <a:lstStyle/>
          <a:p>
            <a:pPr marL="0" indent="0" algn="ctr">
              <a:buNone/>
            </a:pPr>
            <a:r>
              <a:rPr lang="en-US" sz="700" i="1" dirty="0">
                <a:solidFill>
                  <a:srgbClr val="D4770A"/>
                </a:solidFill>
                <a:latin typeface="Arial" pitchFamily="34" charset="0"/>
                <a:ea typeface="Arial" pitchFamily="34" charset="-122"/>
                <a:cs typeface="Arial" pitchFamily="34" charset="-120"/>
              </a:rPr>
              <a:t>2.2d</a:t>
            </a:r>
            <a:endParaRPr lang="en-US" sz="700" dirty="0"/>
          </a:p>
        </p:txBody>
      </p:sp>
      <p:sp>
        <p:nvSpPr>
          <p:cNvPr id="93" name="Shape 91"/>
          <p:cNvSpPr/>
          <p:nvPr/>
        </p:nvSpPr>
        <p:spPr>
          <a:xfrm>
            <a:off x="7159752" y="1947672"/>
            <a:ext cx="384048" cy="292608"/>
          </a:xfrm>
          <a:prstGeom prst="rect">
            <a:avLst/>
          </a:prstGeom>
          <a:solidFill>
            <a:srgbClr val="B91C1C"/>
          </a:solidFill>
          <a:ln w="6350">
            <a:solidFill>
              <a:srgbClr val="B91C1C"/>
            </a:solidFill>
            <a:prstDash val="solid"/>
          </a:ln>
        </p:spPr>
        <p:txBody>
          <a:bodyPr/>
          <a:lstStyle/>
          <a:p>
            <a:endParaRPr lang="en-GB"/>
          </a:p>
        </p:txBody>
      </p:sp>
      <p:sp>
        <p:nvSpPr>
          <p:cNvPr id="94" name="Text 92"/>
          <p:cNvSpPr/>
          <p:nvPr/>
        </p:nvSpPr>
        <p:spPr>
          <a:xfrm>
            <a:off x="7159752" y="1947672"/>
            <a:ext cx="384048"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95" name="Text 93"/>
          <p:cNvSpPr/>
          <p:nvPr/>
        </p:nvSpPr>
        <p:spPr>
          <a:xfrm>
            <a:off x="7104888" y="2267712"/>
            <a:ext cx="493776" cy="128016"/>
          </a:xfrm>
          <a:prstGeom prst="rect">
            <a:avLst/>
          </a:prstGeom>
          <a:noFill/>
          <a:ln/>
        </p:spPr>
        <p:txBody>
          <a:bodyPr wrap="square" rtlCol="0" anchor="ctr"/>
          <a:lstStyle/>
          <a:p>
            <a:pPr marL="0" indent="0" algn="ctr">
              <a:buNone/>
            </a:pPr>
            <a:r>
              <a:rPr lang="en-US" sz="700" b="1" dirty="0">
                <a:solidFill>
                  <a:srgbClr val="B91C1C"/>
                </a:solidFill>
                <a:latin typeface="Arial" pitchFamily="34" charset="0"/>
                <a:ea typeface="Arial" pitchFamily="34" charset="-122"/>
                <a:cs typeface="Arial" pitchFamily="34" charset="-120"/>
              </a:rPr>
              <a:t>52 units</a:t>
            </a:r>
            <a:endParaRPr lang="en-US" sz="700" dirty="0"/>
          </a:p>
        </p:txBody>
      </p:sp>
      <p:sp>
        <p:nvSpPr>
          <p:cNvPr id="96" name="Text 94"/>
          <p:cNvSpPr/>
          <p:nvPr/>
        </p:nvSpPr>
        <p:spPr>
          <a:xfrm>
            <a:off x="7104888" y="2404872"/>
            <a:ext cx="493776" cy="118872"/>
          </a:xfrm>
          <a:prstGeom prst="rect">
            <a:avLst/>
          </a:prstGeom>
          <a:noFill/>
          <a:ln/>
        </p:spPr>
        <p:txBody>
          <a:bodyPr wrap="square" rtlCol="0" anchor="ctr"/>
          <a:lstStyle/>
          <a:p>
            <a:pPr marL="0" indent="0" algn="ctr">
              <a:buNone/>
            </a:pPr>
            <a:r>
              <a:rPr lang="en-US" sz="700" i="1" dirty="0">
                <a:solidFill>
                  <a:srgbClr val="B91C1C"/>
                </a:solidFill>
                <a:latin typeface="Arial" pitchFamily="34" charset="0"/>
                <a:ea typeface="Arial" pitchFamily="34" charset="-122"/>
                <a:cs typeface="Arial" pitchFamily="34" charset="-120"/>
              </a:rPr>
              <a:t>5.2d</a:t>
            </a:r>
            <a:endParaRPr lang="en-US" sz="700" dirty="0"/>
          </a:p>
        </p:txBody>
      </p:sp>
      <p:sp>
        <p:nvSpPr>
          <p:cNvPr id="97" name="Shape 95"/>
          <p:cNvSpPr/>
          <p:nvPr/>
        </p:nvSpPr>
        <p:spPr>
          <a:xfrm>
            <a:off x="8714232" y="1947672"/>
            <a:ext cx="384048" cy="292608"/>
          </a:xfrm>
          <a:prstGeom prst="rect">
            <a:avLst/>
          </a:prstGeom>
          <a:solidFill>
            <a:srgbClr val="D4770A"/>
          </a:solidFill>
          <a:ln w="6350">
            <a:solidFill>
              <a:srgbClr val="D4770A"/>
            </a:solidFill>
            <a:prstDash val="solid"/>
          </a:ln>
        </p:spPr>
        <p:txBody>
          <a:bodyPr/>
          <a:lstStyle/>
          <a:p>
            <a:endParaRPr lang="en-GB"/>
          </a:p>
        </p:txBody>
      </p:sp>
      <p:sp>
        <p:nvSpPr>
          <p:cNvPr id="98" name="Text 96"/>
          <p:cNvSpPr/>
          <p:nvPr/>
        </p:nvSpPr>
        <p:spPr>
          <a:xfrm>
            <a:off x="8714232" y="1947672"/>
            <a:ext cx="384048" cy="146304"/>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99" name="Text 97"/>
          <p:cNvSpPr/>
          <p:nvPr/>
        </p:nvSpPr>
        <p:spPr>
          <a:xfrm>
            <a:off x="8659368" y="2267712"/>
            <a:ext cx="493776" cy="128016"/>
          </a:xfrm>
          <a:prstGeom prst="rect">
            <a:avLst/>
          </a:prstGeom>
          <a:noFill/>
          <a:ln/>
        </p:spPr>
        <p:txBody>
          <a:bodyPr wrap="square" rtlCol="0" anchor="ctr"/>
          <a:lstStyle/>
          <a:p>
            <a:pPr marL="0" indent="0" algn="ctr">
              <a:buNone/>
            </a:pPr>
            <a:r>
              <a:rPr lang="en-US" sz="700" b="1" dirty="0">
                <a:solidFill>
                  <a:srgbClr val="D4770A"/>
                </a:solidFill>
                <a:latin typeface="Arial" pitchFamily="34" charset="0"/>
                <a:ea typeface="Arial" pitchFamily="34" charset="-122"/>
                <a:cs typeface="Arial" pitchFamily="34" charset="-120"/>
              </a:rPr>
              <a:t>15 units</a:t>
            </a:r>
            <a:endParaRPr lang="en-US" sz="700" dirty="0"/>
          </a:p>
        </p:txBody>
      </p:sp>
      <p:sp>
        <p:nvSpPr>
          <p:cNvPr id="100" name="Text 98"/>
          <p:cNvSpPr/>
          <p:nvPr/>
        </p:nvSpPr>
        <p:spPr>
          <a:xfrm>
            <a:off x="8659368" y="2404872"/>
            <a:ext cx="493776" cy="118872"/>
          </a:xfrm>
          <a:prstGeom prst="rect">
            <a:avLst/>
          </a:prstGeom>
          <a:noFill/>
          <a:ln/>
        </p:spPr>
        <p:txBody>
          <a:bodyPr wrap="square" rtlCol="0" anchor="ctr"/>
          <a:lstStyle/>
          <a:p>
            <a:pPr marL="0" indent="0" algn="ctr">
              <a:buNone/>
            </a:pPr>
            <a:r>
              <a:rPr lang="en-US" sz="700" i="1" dirty="0">
                <a:solidFill>
                  <a:srgbClr val="D4770A"/>
                </a:solidFill>
                <a:latin typeface="Arial" pitchFamily="34" charset="0"/>
                <a:ea typeface="Arial" pitchFamily="34" charset="-122"/>
                <a:cs typeface="Arial" pitchFamily="34" charset="-120"/>
              </a:rPr>
              <a:t>1.5d</a:t>
            </a:r>
            <a:endParaRPr lang="en-US" sz="700" dirty="0"/>
          </a:p>
        </p:txBody>
      </p:sp>
      <p:sp>
        <p:nvSpPr>
          <p:cNvPr id="101" name="Shape 99"/>
          <p:cNvSpPr/>
          <p:nvPr/>
        </p:nvSpPr>
        <p:spPr>
          <a:xfrm>
            <a:off x="2798064" y="2606040"/>
            <a:ext cx="1143000" cy="420624"/>
          </a:xfrm>
          <a:prstGeom prst="rect">
            <a:avLst/>
          </a:prstGeom>
          <a:solidFill>
            <a:srgbClr val="FEE2E2"/>
          </a:solidFill>
          <a:ln w="12700">
            <a:solidFill>
              <a:srgbClr val="B91C1C"/>
            </a:solidFill>
            <a:prstDash val="solid"/>
          </a:ln>
        </p:spPr>
        <p:txBody>
          <a:bodyPr/>
          <a:lstStyle/>
          <a:p>
            <a:endParaRPr lang="en-GB"/>
          </a:p>
        </p:txBody>
      </p:sp>
      <p:sp>
        <p:nvSpPr>
          <p:cNvPr id="102" name="Text 100"/>
          <p:cNvSpPr/>
          <p:nvPr/>
        </p:nvSpPr>
        <p:spPr>
          <a:xfrm>
            <a:off x="2843784" y="2624328"/>
            <a:ext cx="1051560" cy="384048"/>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C/O: 35 min</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SMED needed</a:t>
            </a:r>
            <a:endParaRPr lang="en-US" sz="750" dirty="0"/>
          </a:p>
        </p:txBody>
      </p:sp>
      <p:sp>
        <p:nvSpPr>
          <p:cNvPr id="103" name="Shape 101"/>
          <p:cNvSpPr/>
          <p:nvPr/>
        </p:nvSpPr>
        <p:spPr>
          <a:xfrm>
            <a:off x="5907024" y="2606040"/>
            <a:ext cx="1143000" cy="420624"/>
          </a:xfrm>
          <a:prstGeom prst="rect">
            <a:avLst/>
          </a:prstGeom>
          <a:solidFill>
            <a:srgbClr val="FEE2E2"/>
          </a:solidFill>
          <a:ln w="12700">
            <a:solidFill>
              <a:srgbClr val="B91C1C"/>
            </a:solidFill>
            <a:prstDash val="solid"/>
          </a:ln>
        </p:spPr>
        <p:txBody>
          <a:bodyPr/>
          <a:lstStyle/>
          <a:p>
            <a:endParaRPr lang="en-GB"/>
          </a:p>
        </p:txBody>
      </p:sp>
      <p:sp>
        <p:nvSpPr>
          <p:cNvPr id="104" name="Text 102"/>
          <p:cNvSpPr/>
          <p:nvPr/>
        </p:nvSpPr>
        <p:spPr>
          <a:xfrm>
            <a:off x="5952744" y="2624328"/>
            <a:ext cx="1051560" cy="384048"/>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Motion waste</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40 min/shift</a:t>
            </a:r>
            <a:endParaRPr lang="en-US" sz="750" dirty="0"/>
          </a:p>
        </p:txBody>
      </p:sp>
      <p:sp>
        <p:nvSpPr>
          <p:cNvPr id="105" name="Shape 103"/>
          <p:cNvSpPr/>
          <p:nvPr/>
        </p:nvSpPr>
        <p:spPr>
          <a:xfrm>
            <a:off x="7434072" y="2606040"/>
            <a:ext cx="1143000" cy="420624"/>
          </a:xfrm>
          <a:prstGeom prst="rect">
            <a:avLst/>
          </a:prstGeom>
          <a:solidFill>
            <a:srgbClr val="FEE2E2"/>
          </a:solidFill>
          <a:ln w="12700">
            <a:solidFill>
              <a:srgbClr val="B91C1C"/>
            </a:solidFill>
            <a:prstDash val="solid"/>
          </a:ln>
        </p:spPr>
        <p:txBody>
          <a:bodyPr/>
          <a:lstStyle/>
          <a:p>
            <a:endParaRPr lang="en-GB"/>
          </a:p>
        </p:txBody>
      </p:sp>
      <p:sp>
        <p:nvSpPr>
          <p:cNvPr id="106" name="Text 104"/>
          <p:cNvSpPr/>
          <p:nvPr/>
        </p:nvSpPr>
        <p:spPr>
          <a:xfrm>
            <a:off x="7479792" y="2624328"/>
            <a:ext cx="1051560" cy="384048"/>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5.2-day queue</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Bottleneck</a:t>
            </a:r>
            <a:endParaRPr lang="en-US" sz="750" dirty="0"/>
          </a:p>
        </p:txBody>
      </p:sp>
      <p:sp>
        <p:nvSpPr>
          <p:cNvPr id="107" name="Shape 105"/>
          <p:cNvSpPr/>
          <p:nvPr/>
        </p:nvSpPr>
        <p:spPr>
          <a:xfrm>
            <a:off x="1124712" y="2606040"/>
            <a:ext cx="1143000" cy="420624"/>
          </a:xfrm>
          <a:prstGeom prst="rect">
            <a:avLst/>
          </a:prstGeom>
          <a:solidFill>
            <a:srgbClr val="FEE2E2"/>
          </a:solidFill>
          <a:ln w="12700">
            <a:solidFill>
              <a:srgbClr val="B91C1C"/>
            </a:solidFill>
            <a:prstDash val="solid"/>
          </a:ln>
        </p:spPr>
        <p:txBody>
          <a:bodyPr/>
          <a:lstStyle/>
          <a:p>
            <a:endParaRPr lang="en-GB"/>
          </a:p>
        </p:txBody>
      </p:sp>
      <p:sp>
        <p:nvSpPr>
          <p:cNvPr id="108" name="Text 106"/>
          <p:cNvSpPr/>
          <p:nvPr/>
        </p:nvSpPr>
        <p:spPr>
          <a:xfrm>
            <a:off x="1170432" y="2624328"/>
            <a:ext cx="1051560" cy="384048"/>
          </a:xfrm>
          <a:prstGeom prst="rect">
            <a:avLst/>
          </a:prstGeom>
          <a:noFill/>
          <a:ln/>
        </p:spPr>
        <p:txBody>
          <a:bodyPr wrap="square" rtlCol="0" anchor="ctr"/>
          <a:lstStyle/>
          <a:p>
            <a:pPr marL="0" indent="0" algn="ctr">
              <a:buNone/>
            </a:pPr>
            <a:r>
              <a:rPr lang="en-US" sz="750" b="1" dirty="0">
                <a:solidFill>
                  <a:srgbClr val="B91C1C"/>
                </a:solidFill>
                <a:latin typeface="Arial" pitchFamily="34" charset="0"/>
                <a:ea typeface="Arial" pitchFamily="34" charset="-122"/>
                <a:cs typeface="Arial" pitchFamily="34" charset="-120"/>
              </a:rPr>
              <a:t>5.8% scrap</a:t>
            </a:r>
            <a:endParaRPr lang="en-US" sz="750" dirty="0"/>
          </a:p>
          <a:p>
            <a:pPr marL="0" indent="0" algn="ctr">
              <a:buNone/>
            </a:pPr>
            <a:r>
              <a:rPr lang="en-US" sz="750" b="1" dirty="0">
                <a:solidFill>
                  <a:srgbClr val="B91C1C"/>
                </a:solidFill>
                <a:latin typeface="Arial" pitchFamily="34" charset="0"/>
                <a:ea typeface="Arial" pitchFamily="34" charset="-122"/>
                <a:cs typeface="Arial" pitchFamily="34" charset="-120"/>
              </a:rPr>
              <a:t>Tool wear RCA</a:t>
            </a:r>
            <a:endParaRPr lang="en-US" sz="750" dirty="0"/>
          </a:p>
        </p:txBody>
      </p:sp>
      <p:sp>
        <p:nvSpPr>
          <p:cNvPr id="109" name="Shape 107"/>
          <p:cNvSpPr/>
          <p:nvPr/>
        </p:nvSpPr>
        <p:spPr>
          <a:xfrm>
            <a:off x="137160" y="3118104"/>
            <a:ext cx="11887200" cy="36576"/>
          </a:xfrm>
          <a:prstGeom prst="rect">
            <a:avLst/>
          </a:prstGeom>
          <a:solidFill>
            <a:srgbClr val="5B595A"/>
          </a:solidFill>
          <a:ln/>
        </p:spPr>
        <p:txBody>
          <a:bodyPr/>
          <a:lstStyle/>
          <a:p>
            <a:endParaRPr lang="en-GB"/>
          </a:p>
        </p:txBody>
      </p:sp>
      <p:sp>
        <p:nvSpPr>
          <p:cNvPr id="110" name="Shape 108"/>
          <p:cNvSpPr/>
          <p:nvPr/>
        </p:nvSpPr>
        <p:spPr>
          <a:xfrm>
            <a:off x="1170432" y="3172968"/>
            <a:ext cx="1298448" cy="182880"/>
          </a:xfrm>
          <a:prstGeom prst="rect">
            <a:avLst/>
          </a:prstGeom>
          <a:solidFill>
            <a:srgbClr val="217346"/>
          </a:solidFill>
          <a:ln w="3810">
            <a:solidFill>
              <a:srgbClr val="AAAAAA"/>
            </a:solidFill>
            <a:prstDash val="solid"/>
          </a:ln>
        </p:spPr>
        <p:txBody>
          <a:bodyPr/>
          <a:lstStyle/>
          <a:p>
            <a:endParaRPr lang="en-GB"/>
          </a:p>
        </p:txBody>
      </p:sp>
      <p:sp>
        <p:nvSpPr>
          <p:cNvPr id="111" name="Text 109"/>
          <p:cNvSpPr/>
          <p:nvPr/>
        </p:nvSpPr>
        <p:spPr>
          <a:xfrm>
            <a:off x="1170432" y="3182112"/>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15m VA</a:t>
            </a:r>
            <a:endParaRPr lang="en-US" sz="700" dirty="0"/>
          </a:p>
        </p:txBody>
      </p:sp>
      <p:sp>
        <p:nvSpPr>
          <p:cNvPr id="112" name="Shape 110"/>
          <p:cNvSpPr/>
          <p:nvPr/>
        </p:nvSpPr>
        <p:spPr>
          <a:xfrm>
            <a:off x="1170432" y="3374136"/>
            <a:ext cx="1298448" cy="182880"/>
          </a:xfrm>
          <a:prstGeom prst="rect">
            <a:avLst/>
          </a:prstGeom>
          <a:solidFill>
            <a:srgbClr val="B91C1C"/>
          </a:solidFill>
          <a:ln w="3810">
            <a:solidFill>
              <a:srgbClr val="AAAAAA"/>
            </a:solidFill>
            <a:prstDash val="solid"/>
          </a:ln>
        </p:spPr>
        <p:txBody>
          <a:bodyPr/>
          <a:lstStyle/>
          <a:p>
            <a:endParaRPr lang="en-GB"/>
          </a:p>
        </p:txBody>
      </p:sp>
      <p:sp>
        <p:nvSpPr>
          <p:cNvPr id="113" name="Text 111"/>
          <p:cNvSpPr/>
          <p:nvPr/>
        </p:nvSpPr>
        <p:spPr>
          <a:xfrm>
            <a:off x="1170432" y="3383280"/>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2.0d wait</a:t>
            </a:r>
            <a:endParaRPr lang="en-US" sz="700" dirty="0"/>
          </a:p>
        </p:txBody>
      </p:sp>
      <p:sp>
        <p:nvSpPr>
          <p:cNvPr id="114" name="Shape 112"/>
          <p:cNvSpPr/>
          <p:nvPr/>
        </p:nvSpPr>
        <p:spPr>
          <a:xfrm>
            <a:off x="2724912" y="3172968"/>
            <a:ext cx="1298448" cy="182880"/>
          </a:xfrm>
          <a:prstGeom prst="rect">
            <a:avLst/>
          </a:prstGeom>
          <a:solidFill>
            <a:srgbClr val="217346"/>
          </a:solidFill>
          <a:ln w="3810">
            <a:solidFill>
              <a:srgbClr val="AAAAAA"/>
            </a:solidFill>
            <a:prstDash val="solid"/>
          </a:ln>
        </p:spPr>
        <p:txBody>
          <a:bodyPr/>
          <a:lstStyle/>
          <a:p>
            <a:endParaRPr lang="en-GB"/>
          </a:p>
        </p:txBody>
      </p:sp>
      <p:sp>
        <p:nvSpPr>
          <p:cNvPr id="115" name="Text 113"/>
          <p:cNvSpPr/>
          <p:nvPr/>
        </p:nvSpPr>
        <p:spPr>
          <a:xfrm>
            <a:off x="2724912" y="3182112"/>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42m VA</a:t>
            </a:r>
            <a:endParaRPr lang="en-US" sz="700" dirty="0"/>
          </a:p>
        </p:txBody>
      </p:sp>
      <p:sp>
        <p:nvSpPr>
          <p:cNvPr id="116" name="Shape 114"/>
          <p:cNvSpPr/>
          <p:nvPr/>
        </p:nvSpPr>
        <p:spPr>
          <a:xfrm>
            <a:off x="2724912" y="3374136"/>
            <a:ext cx="1298448" cy="182880"/>
          </a:xfrm>
          <a:prstGeom prst="rect">
            <a:avLst/>
          </a:prstGeom>
          <a:solidFill>
            <a:srgbClr val="B91C1C"/>
          </a:solidFill>
          <a:ln w="3810">
            <a:solidFill>
              <a:srgbClr val="AAAAAA"/>
            </a:solidFill>
            <a:prstDash val="solid"/>
          </a:ln>
        </p:spPr>
        <p:txBody>
          <a:bodyPr/>
          <a:lstStyle/>
          <a:p>
            <a:endParaRPr lang="en-GB"/>
          </a:p>
        </p:txBody>
      </p:sp>
      <p:sp>
        <p:nvSpPr>
          <p:cNvPr id="117" name="Text 115"/>
          <p:cNvSpPr/>
          <p:nvPr/>
        </p:nvSpPr>
        <p:spPr>
          <a:xfrm>
            <a:off x="2724912" y="3383280"/>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4.5d wait</a:t>
            </a:r>
            <a:endParaRPr lang="en-US" sz="700" dirty="0"/>
          </a:p>
        </p:txBody>
      </p:sp>
      <p:sp>
        <p:nvSpPr>
          <p:cNvPr id="118" name="Shape 116"/>
          <p:cNvSpPr/>
          <p:nvPr/>
        </p:nvSpPr>
        <p:spPr>
          <a:xfrm>
            <a:off x="4279392" y="3172968"/>
            <a:ext cx="1298448" cy="182880"/>
          </a:xfrm>
          <a:prstGeom prst="rect">
            <a:avLst/>
          </a:prstGeom>
          <a:solidFill>
            <a:srgbClr val="217346"/>
          </a:solidFill>
          <a:ln w="3810">
            <a:solidFill>
              <a:srgbClr val="AAAAAA"/>
            </a:solidFill>
            <a:prstDash val="solid"/>
          </a:ln>
        </p:spPr>
        <p:txBody>
          <a:bodyPr/>
          <a:lstStyle/>
          <a:p>
            <a:endParaRPr lang="en-GB"/>
          </a:p>
        </p:txBody>
      </p:sp>
      <p:sp>
        <p:nvSpPr>
          <p:cNvPr id="119" name="Text 117"/>
          <p:cNvSpPr/>
          <p:nvPr/>
        </p:nvSpPr>
        <p:spPr>
          <a:xfrm>
            <a:off x="4279392" y="3182112"/>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38m VA</a:t>
            </a:r>
            <a:endParaRPr lang="en-US" sz="700" dirty="0"/>
          </a:p>
        </p:txBody>
      </p:sp>
      <p:sp>
        <p:nvSpPr>
          <p:cNvPr id="120" name="Shape 118"/>
          <p:cNvSpPr/>
          <p:nvPr/>
        </p:nvSpPr>
        <p:spPr>
          <a:xfrm>
            <a:off x="4279392" y="3374136"/>
            <a:ext cx="1298448" cy="182880"/>
          </a:xfrm>
          <a:prstGeom prst="rect">
            <a:avLst/>
          </a:prstGeom>
          <a:solidFill>
            <a:srgbClr val="B91C1C"/>
          </a:solidFill>
          <a:ln w="3810">
            <a:solidFill>
              <a:srgbClr val="AAAAAA"/>
            </a:solidFill>
            <a:prstDash val="solid"/>
          </a:ln>
        </p:spPr>
        <p:txBody>
          <a:bodyPr/>
          <a:lstStyle/>
          <a:p>
            <a:endParaRPr lang="en-GB"/>
          </a:p>
        </p:txBody>
      </p:sp>
      <p:sp>
        <p:nvSpPr>
          <p:cNvPr id="121" name="Text 119"/>
          <p:cNvSpPr/>
          <p:nvPr/>
        </p:nvSpPr>
        <p:spPr>
          <a:xfrm>
            <a:off x="4279392" y="3383280"/>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3.8d wait</a:t>
            </a:r>
            <a:endParaRPr lang="en-US" sz="700" dirty="0"/>
          </a:p>
        </p:txBody>
      </p:sp>
      <p:sp>
        <p:nvSpPr>
          <p:cNvPr id="122" name="Shape 120"/>
          <p:cNvSpPr/>
          <p:nvPr/>
        </p:nvSpPr>
        <p:spPr>
          <a:xfrm>
            <a:off x="5833872" y="3172968"/>
            <a:ext cx="1298448" cy="182880"/>
          </a:xfrm>
          <a:prstGeom prst="rect">
            <a:avLst/>
          </a:prstGeom>
          <a:solidFill>
            <a:srgbClr val="217346"/>
          </a:solidFill>
          <a:ln w="3810">
            <a:solidFill>
              <a:srgbClr val="AAAAAA"/>
            </a:solidFill>
            <a:prstDash val="solid"/>
          </a:ln>
        </p:spPr>
        <p:txBody>
          <a:bodyPr/>
          <a:lstStyle/>
          <a:p>
            <a:endParaRPr lang="en-GB"/>
          </a:p>
        </p:txBody>
      </p:sp>
      <p:sp>
        <p:nvSpPr>
          <p:cNvPr id="123" name="Text 121"/>
          <p:cNvSpPr/>
          <p:nvPr/>
        </p:nvSpPr>
        <p:spPr>
          <a:xfrm>
            <a:off x="5833872" y="3182112"/>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22m VA</a:t>
            </a:r>
            <a:endParaRPr lang="en-US" sz="700" dirty="0"/>
          </a:p>
        </p:txBody>
      </p:sp>
      <p:sp>
        <p:nvSpPr>
          <p:cNvPr id="124" name="Shape 122"/>
          <p:cNvSpPr/>
          <p:nvPr/>
        </p:nvSpPr>
        <p:spPr>
          <a:xfrm>
            <a:off x="5833872" y="3374136"/>
            <a:ext cx="1298448" cy="182880"/>
          </a:xfrm>
          <a:prstGeom prst="rect">
            <a:avLst/>
          </a:prstGeom>
          <a:solidFill>
            <a:srgbClr val="B91C1C"/>
          </a:solidFill>
          <a:ln w="3810">
            <a:solidFill>
              <a:srgbClr val="AAAAAA"/>
            </a:solidFill>
            <a:prstDash val="solid"/>
          </a:ln>
        </p:spPr>
        <p:txBody>
          <a:bodyPr/>
          <a:lstStyle/>
          <a:p>
            <a:endParaRPr lang="en-GB"/>
          </a:p>
        </p:txBody>
      </p:sp>
      <p:sp>
        <p:nvSpPr>
          <p:cNvPr id="125" name="Text 123"/>
          <p:cNvSpPr/>
          <p:nvPr/>
        </p:nvSpPr>
        <p:spPr>
          <a:xfrm>
            <a:off x="5833872" y="3383280"/>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2.2d wait</a:t>
            </a:r>
            <a:endParaRPr lang="en-US" sz="700" dirty="0"/>
          </a:p>
        </p:txBody>
      </p:sp>
      <p:sp>
        <p:nvSpPr>
          <p:cNvPr id="126" name="Shape 124"/>
          <p:cNvSpPr/>
          <p:nvPr/>
        </p:nvSpPr>
        <p:spPr>
          <a:xfrm>
            <a:off x="7388352" y="3172968"/>
            <a:ext cx="1298448" cy="182880"/>
          </a:xfrm>
          <a:prstGeom prst="rect">
            <a:avLst/>
          </a:prstGeom>
          <a:solidFill>
            <a:srgbClr val="217346"/>
          </a:solidFill>
          <a:ln w="3810">
            <a:solidFill>
              <a:srgbClr val="AAAAAA"/>
            </a:solidFill>
            <a:prstDash val="solid"/>
          </a:ln>
        </p:spPr>
        <p:txBody>
          <a:bodyPr/>
          <a:lstStyle/>
          <a:p>
            <a:endParaRPr lang="en-GB"/>
          </a:p>
        </p:txBody>
      </p:sp>
      <p:sp>
        <p:nvSpPr>
          <p:cNvPr id="127" name="Text 125"/>
          <p:cNvSpPr/>
          <p:nvPr/>
        </p:nvSpPr>
        <p:spPr>
          <a:xfrm>
            <a:off x="7388352" y="3182112"/>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55m VA</a:t>
            </a:r>
            <a:endParaRPr lang="en-US" sz="700" dirty="0"/>
          </a:p>
        </p:txBody>
      </p:sp>
      <p:sp>
        <p:nvSpPr>
          <p:cNvPr id="128" name="Shape 126"/>
          <p:cNvSpPr/>
          <p:nvPr/>
        </p:nvSpPr>
        <p:spPr>
          <a:xfrm>
            <a:off x="7388352" y="3374136"/>
            <a:ext cx="1298448" cy="182880"/>
          </a:xfrm>
          <a:prstGeom prst="rect">
            <a:avLst/>
          </a:prstGeom>
          <a:solidFill>
            <a:srgbClr val="B91C1C"/>
          </a:solidFill>
          <a:ln w="3810">
            <a:solidFill>
              <a:srgbClr val="AAAAAA"/>
            </a:solidFill>
            <a:prstDash val="solid"/>
          </a:ln>
        </p:spPr>
        <p:txBody>
          <a:bodyPr/>
          <a:lstStyle/>
          <a:p>
            <a:endParaRPr lang="en-GB"/>
          </a:p>
        </p:txBody>
      </p:sp>
      <p:sp>
        <p:nvSpPr>
          <p:cNvPr id="129" name="Text 127"/>
          <p:cNvSpPr/>
          <p:nvPr/>
        </p:nvSpPr>
        <p:spPr>
          <a:xfrm>
            <a:off x="7388352" y="3383280"/>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5.2d wait</a:t>
            </a:r>
            <a:endParaRPr lang="en-US" sz="700" dirty="0"/>
          </a:p>
        </p:txBody>
      </p:sp>
      <p:sp>
        <p:nvSpPr>
          <p:cNvPr id="130" name="Shape 128"/>
          <p:cNvSpPr/>
          <p:nvPr/>
        </p:nvSpPr>
        <p:spPr>
          <a:xfrm>
            <a:off x="8942832" y="3172968"/>
            <a:ext cx="1298448" cy="182880"/>
          </a:xfrm>
          <a:prstGeom prst="rect">
            <a:avLst/>
          </a:prstGeom>
          <a:solidFill>
            <a:srgbClr val="217346"/>
          </a:solidFill>
          <a:ln w="3810">
            <a:solidFill>
              <a:srgbClr val="AAAAAA"/>
            </a:solidFill>
            <a:prstDash val="solid"/>
          </a:ln>
        </p:spPr>
        <p:txBody>
          <a:bodyPr/>
          <a:lstStyle/>
          <a:p>
            <a:endParaRPr lang="en-GB"/>
          </a:p>
        </p:txBody>
      </p:sp>
      <p:sp>
        <p:nvSpPr>
          <p:cNvPr id="131" name="Text 129"/>
          <p:cNvSpPr/>
          <p:nvPr/>
        </p:nvSpPr>
        <p:spPr>
          <a:xfrm>
            <a:off x="8942832" y="3182112"/>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20m VA</a:t>
            </a:r>
            <a:endParaRPr lang="en-US" sz="700" dirty="0"/>
          </a:p>
        </p:txBody>
      </p:sp>
      <p:sp>
        <p:nvSpPr>
          <p:cNvPr id="132" name="Shape 130"/>
          <p:cNvSpPr/>
          <p:nvPr/>
        </p:nvSpPr>
        <p:spPr>
          <a:xfrm>
            <a:off x="8942832" y="3374136"/>
            <a:ext cx="1298448" cy="182880"/>
          </a:xfrm>
          <a:prstGeom prst="rect">
            <a:avLst/>
          </a:prstGeom>
          <a:solidFill>
            <a:srgbClr val="B91C1C"/>
          </a:solidFill>
          <a:ln w="3810">
            <a:solidFill>
              <a:srgbClr val="AAAAAA"/>
            </a:solidFill>
            <a:prstDash val="solid"/>
          </a:ln>
        </p:spPr>
        <p:txBody>
          <a:bodyPr/>
          <a:lstStyle/>
          <a:p>
            <a:endParaRPr lang="en-GB"/>
          </a:p>
        </p:txBody>
      </p:sp>
      <p:sp>
        <p:nvSpPr>
          <p:cNvPr id="133" name="Text 131"/>
          <p:cNvSpPr/>
          <p:nvPr/>
        </p:nvSpPr>
        <p:spPr>
          <a:xfrm>
            <a:off x="8942832" y="3383280"/>
            <a:ext cx="1298448"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1.5d wait</a:t>
            </a:r>
            <a:endParaRPr lang="en-US" sz="700" dirty="0"/>
          </a:p>
        </p:txBody>
      </p:sp>
      <p:sp>
        <p:nvSpPr>
          <p:cNvPr id="134" name="Shape 132"/>
          <p:cNvSpPr/>
          <p:nvPr/>
        </p:nvSpPr>
        <p:spPr>
          <a:xfrm>
            <a:off x="137160" y="3630168"/>
            <a:ext cx="11868912" cy="347472"/>
          </a:xfrm>
          <a:prstGeom prst="rect">
            <a:avLst/>
          </a:prstGeom>
          <a:solidFill>
            <a:srgbClr val="FEE2E2"/>
          </a:solidFill>
          <a:ln w="12700">
            <a:solidFill>
              <a:srgbClr val="B91C1C"/>
            </a:solidFill>
            <a:prstDash val="solid"/>
          </a:ln>
        </p:spPr>
        <p:txBody>
          <a:bodyPr/>
          <a:lstStyle/>
          <a:p>
            <a:endParaRPr lang="en-GB"/>
          </a:p>
        </p:txBody>
      </p:sp>
      <p:sp>
        <p:nvSpPr>
          <p:cNvPr id="135" name="Text 133"/>
          <p:cNvSpPr/>
          <p:nvPr/>
        </p:nvSpPr>
        <p:spPr>
          <a:xfrm>
            <a:off x="228600" y="3657600"/>
            <a:ext cx="11686032" cy="274320"/>
          </a:xfrm>
          <a:prstGeom prst="rect">
            <a:avLst/>
          </a:prstGeom>
          <a:noFill/>
          <a:ln/>
        </p:spPr>
        <p:txBody>
          <a:bodyPr wrap="square" rtlCol="0" anchor="ctr"/>
          <a:lstStyle/>
          <a:p>
            <a:pPr marL="0" indent="0" algn="ctr">
              <a:buNone/>
            </a:pPr>
            <a:r>
              <a:rPr lang="en-US" sz="900" b="1" dirty="0">
                <a:solidFill>
                  <a:srgbClr val="B91C1C"/>
                </a:solidFill>
                <a:latin typeface="Arial" pitchFamily="34" charset="0"/>
                <a:ea typeface="Arial" pitchFamily="34" charset="-122"/>
                <a:cs typeface="Arial" pitchFamily="34" charset="-120"/>
              </a:rPr>
              <a:t>TOTAL LEAD TIME: 22 days   |   VALUE-ADDING TIME: 4.6 hours   |   PROCESS EFFICIENCY: 2.6%   |   WIP: 192 units   |   SCRAP: 5.8%</a:t>
            </a:r>
            <a:endParaRPr lang="en-US" sz="900" dirty="0"/>
          </a:p>
        </p:txBody>
      </p:sp>
      <p:sp>
        <p:nvSpPr>
          <p:cNvPr id="136" name="Rectangle 135"/>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7" name="Picture 136" descr="image.png"/>
          <p:cNvPicPr>
            <a:picLocks noChangeAspect="1"/>
          </p:cNvPicPr>
          <p:nvPr/>
        </p:nvPicPr>
        <p:blipFill>
          <a:blip r:embed="rId4"/>
          <a:stretch>
            <a:fillRect/>
          </a:stretch>
        </p:blipFill>
        <p:spPr>
          <a:xfrm>
            <a:off x="10610088" y="100584"/>
            <a:ext cx="566928" cy="347472"/>
          </a:xfrm>
          <a:prstGeom prst="rect">
            <a:avLst/>
          </a:prstGeom>
        </p:spPr>
      </p:pic>
      <p:pic>
        <p:nvPicPr>
          <p:cNvPr id="138" name="Picture 137" descr="image.png"/>
          <p:cNvPicPr>
            <a:picLocks noChangeAspect="1"/>
          </p:cNvPicPr>
          <p:nvPr/>
        </p:nvPicPr>
        <p:blipFill>
          <a:blip r:embed="rId3"/>
          <a:stretch>
            <a:fillRect/>
          </a:stretch>
        </p:blipFill>
        <p:spPr>
          <a:xfrm>
            <a:off x="11222736" y="100584"/>
            <a:ext cx="658368" cy="347472"/>
          </a:xfrm>
          <a:prstGeom prst="rect">
            <a:avLst/>
          </a:prstGeom>
        </p:spPr>
      </p:pic>
      <p:sp>
        <p:nvSpPr>
          <p:cNvPr id="139" name="Rectangle 138"/>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B91C1C"/>
          </a:solidFill>
          <a:ln/>
        </p:spPr>
        <p:txBody>
          <a:bodyPr/>
          <a:lstStyle/>
          <a:p>
            <a:endParaRPr lang="en-GB"/>
          </a:p>
        </p:txBody>
      </p:sp>
      <p:sp>
        <p:nvSpPr>
          <p:cNvPr id="3" name="Text 1"/>
          <p:cNvSpPr/>
          <p:nvPr/>
        </p:nvSpPr>
        <p:spPr>
          <a:xfrm>
            <a:off x="228600" y="73152"/>
            <a:ext cx="10058400" cy="420624"/>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WASTE IDENTIFIED FROM THE CURRENT STATE MAP</a:t>
            </a:r>
            <a:endParaRPr lang="en-US" sz="1700" dirty="0"/>
          </a:p>
        </p:txBody>
      </p:sp>
      <p:sp>
        <p:nvSpPr>
          <p:cNvPr id="5" name="Shape 2"/>
          <p:cNvSpPr/>
          <p:nvPr/>
        </p:nvSpPr>
        <p:spPr>
          <a:xfrm>
            <a:off x="182880" y="658368"/>
            <a:ext cx="11795760" cy="347472"/>
          </a:xfrm>
          <a:prstGeom prst="rect">
            <a:avLst/>
          </a:prstGeom>
          <a:solidFill>
            <a:srgbClr val="FEE2E2"/>
          </a:solidFill>
          <a:ln w="6350">
            <a:solidFill>
              <a:srgbClr val="B91C1C"/>
            </a:solidFill>
            <a:prstDash val="solid"/>
          </a:ln>
        </p:spPr>
        <p:txBody>
          <a:bodyPr/>
          <a:lstStyle/>
          <a:p>
            <a:endParaRPr lang="en-GB"/>
          </a:p>
        </p:txBody>
      </p:sp>
      <p:sp>
        <p:nvSpPr>
          <p:cNvPr id="6" name="Text 3"/>
          <p:cNvSpPr/>
          <p:nvPr/>
        </p:nvSpPr>
        <p:spPr>
          <a:xfrm>
            <a:off x="274320" y="676656"/>
            <a:ext cx="11612880" cy="310896"/>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Six categories of waste were identified during the mapping exercise. Each is costed and linked to a recommended improvement action. All six actions appear in the CSIP as formal projects.</a:t>
            </a:r>
            <a:endParaRPr lang="en-US" sz="900" dirty="0"/>
          </a:p>
        </p:txBody>
      </p:sp>
      <p:sp>
        <p:nvSpPr>
          <p:cNvPr id="7" name="Shape 4"/>
          <p:cNvSpPr/>
          <p:nvPr/>
        </p:nvSpPr>
        <p:spPr>
          <a:xfrm>
            <a:off x="182880" y="1078992"/>
            <a:ext cx="1371600" cy="292608"/>
          </a:xfrm>
          <a:prstGeom prst="rect">
            <a:avLst/>
          </a:prstGeom>
          <a:solidFill>
            <a:srgbClr val="5B595A"/>
          </a:solidFill>
          <a:ln w="3810">
            <a:solidFill>
              <a:srgbClr val="CCCCCC"/>
            </a:solidFill>
            <a:prstDash val="solid"/>
          </a:ln>
        </p:spPr>
        <p:txBody>
          <a:bodyPr/>
          <a:lstStyle/>
          <a:p>
            <a:endParaRPr lang="en-GB"/>
          </a:p>
        </p:txBody>
      </p:sp>
      <p:sp>
        <p:nvSpPr>
          <p:cNvPr id="8" name="Text 5"/>
          <p:cNvSpPr/>
          <p:nvPr/>
        </p:nvSpPr>
        <p:spPr>
          <a:xfrm>
            <a:off x="237744" y="1078992"/>
            <a:ext cx="1261872" cy="292608"/>
          </a:xfrm>
          <a:prstGeom prst="rect">
            <a:avLst/>
          </a:prstGeom>
          <a:noFill/>
          <a:ln/>
        </p:spPr>
        <p:txBody>
          <a:bodyPr wrap="square"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Waste Type</a:t>
            </a:r>
            <a:endParaRPr lang="en-US" sz="900" dirty="0"/>
          </a:p>
        </p:txBody>
      </p:sp>
      <p:sp>
        <p:nvSpPr>
          <p:cNvPr id="9" name="Shape 6"/>
          <p:cNvSpPr/>
          <p:nvPr/>
        </p:nvSpPr>
        <p:spPr>
          <a:xfrm>
            <a:off x="1572768" y="1078992"/>
            <a:ext cx="3291840" cy="292608"/>
          </a:xfrm>
          <a:prstGeom prst="rect">
            <a:avLst/>
          </a:prstGeom>
          <a:solidFill>
            <a:srgbClr val="5B595A"/>
          </a:solidFill>
          <a:ln w="3810">
            <a:solidFill>
              <a:srgbClr val="CCCCCC"/>
            </a:solidFill>
            <a:prstDash val="solid"/>
          </a:ln>
        </p:spPr>
        <p:txBody>
          <a:bodyPr/>
          <a:lstStyle/>
          <a:p>
            <a:endParaRPr lang="en-GB"/>
          </a:p>
        </p:txBody>
      </p:sp>
      <p:sp>
        <p:nvSpPr>
          <p:cNvPr id="10" name="Text 7"/>
          <p:cNvSpPr/>
          <p:nvPr/>
        </p:nvSpPr>
        <p:spPr>
          <a:xfrm>
            <a:off x="1627632" y="1078992"/>
            <a:ext cx="3182112" cy="29260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Observation</a:t>
            </a:r>
            <a:endParaRPr lang="en-US" sz="900" dirty="0"/>
          </a:p>
        </p:txBody>
      </p:sp>
      <p:sp>
        <p:nvSpPr>
          <p:cNvPr id="11" name="Shape 8"/>
          <p:cNvSpPr/>
          <p:nvPr/>
        </p:nvSpPr>
        <p:spPr>
          <a:xfrm>
            <a:off x="4882896" y="1078992"/>
            <a:ext cx="914400" cy="292608"/>
          </a:xfrm>
          <a:prstGeom prst="rect">
            <a:avLst/>
          </a:prstGeom>
          <a:solidFill>
            <a:srgbClr val="5B595A"/>
          </a:solidFill>
          <a:ln w="3810">
            <a:solidFill>
              <a:srgbClr val="CCCCCC"/>
            </a:solidFill>
            <a:prstDash val="solid"/>
          </a:ln>
        </p:spPr>
        <p:txBody>
          <a:bodyPr/>
          <a:lstStyle/>
          <a:p>
            <a:endParaRPr lang="en-GB"/>
          </a:p>
        </p:txBody>
      </p:sp>
      <p:sp>
        <p:nvSpPr>
          <p:cNvPr id="12" name="Text 9"/>
          <p:cNvSpPr/>
          <p:nvPr/>
        </p:nvSpPr>
        <p:spPr>
          <a:xfrm>
            <a:off x="4937760" y="1078992"/>
            <a:ext cx="804672" cy="29260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Priority</a:t>
            </a:r>
            <a:endParaRPr lang="en-US" sz="900" dirty="0"/>
          </a:p>
        </p:txBody>
      </p:sp>
      <p:sp>
        <p:nvSpPr>
          <p:cNvPr id="13" name="Shape 10"/>
          <p:cNvSpPr/>
          <p:nvPr/>
        </p:nvSpPr>
        <p:spPr>
          <a:xfrm>
            <a:off x="5815584" y="1078992"/>
            <a:ext cx="2560320" cy="292608"/>
          </a:xfrm>
          <a:prstGeom prst="rect">
            <a:avLst/>
          </a:prstGeom>
          <a:solidFill>
            <a:srgbClr val="5B595A"/>
          </a:solidFill>
          <a:ln w="3810">
            <a:solidFill>
              <a:srgbClr val="CCCCCC"/>
            </a:solidFill>
            <a:prstDash val="solid"/>
          </a:ln>
        </p:spPr>
        <p:txBody>
          <a:bodyPr/>
          <a:lstStyle/>
          <a:p>
            <a:endParaRPr lang="en-GB"/>
          </a:p>
        </p:txBody>
      </p:sp>
      <p:sp>
        <p:nvSpPr>
          <p:cNvPr id="14" name="Text 11"/>
          <p:cNvSpPr/>
          <p:nvPr/>
        </p:nvSpPr>
        <p:spPr>
          <a:xfrm>
            <a:off x="5870448" y="1078992"/>
            <a:ext cx="2450592" cy="292608"/>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Estimated Impact</a:t>
            </a:r>
            <a:endParaRPr lang="en-US" sz="900" dirty="0"/>
          </a:p>
        </p:txBody>
      </p:sp>
      <p:sp>
        <p:nvSpPr>
          <p:cNvPr id="15" name="Shape 12"/>
          <p:cNvSpPr/>
          <p:nvPr/>
        </p:nvSpPr>
        <p:spPr>
          <a:xfrm>
            <a:off x="8394192" y="1078992"/>
            <a:ext cx="3657600" cy="292608"/>
          </a:xfrm>
          <a:prstGeom prst="rect">
            <a:avLst/>
          </a:prstGeom>
          <a:solidFill>
            <a:srgbClr val="5B595A"/>
          </a:solidFill>
          <a:ln w="3810">
            <a:solidFill>
              <a:srgbClr val="CCCCCC"/>
            </a:solidFill>
            <a:prstDash val="solid"/>
          </a:ln>
        </p:spPr>
        <p:txBody>
          <a:bodyPr/>
          <a:lstStyle/>
          <a:p>
            <a:endParaRPr lang="en-GB"/>
          </a:p>
        </p:txBody>
      </p:sp>
      <p:sp>
        <p:nvSpPr>
          <p:cNvPr id="16" name="Text 13"/>
          <p:cNvSpPr/>
          <p:nvPr/>
        </p:nvSpPr>
        <p:spPr>
          <a:xfrm>
            <a:off x="8449056" y="1078992"/>
            <a:ext cx="3547872" cy="292608"/>
          </a:xfrm>
          <a:prstGeom prst="rect">
            <a:avLst/>
          </a:prstGeom>
          <a:noFill/>
          <a:ln/>
        </p:spPr>
        <p:txBody>
          <a:bodyPr wrap="square"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Recommended Action</a:t>
            </a:r>
            <a:endParaRPr lang="en-US" sz="900" dirty="0"/>
          </a:p>
        </p:txBody>
      </p:sp>
      <p:sp>
        <p:nvSpPr>
          <p:cNvPr id="17" name="Shape 14"/>
          <p:cNvSpPr/>
          <p:nvPr/>
        </p:nvSpPr>
        <p:spPr>
          <a:xfrm>
            <a:off x="182880" y="1389888"/>
            <a:ext cx="1371600" cy="768096"/>
          </a:xfrm>
          <a:prstGeom prst="rect">
            <a:avLst/>
          </a:prstGeom>
          <a:solidFill>
            <a:srgbClr val="FFFFFF"/>
          </a:solidFill>
          <a:ln w="3810">
            <a:solidFill>
              <a:srgbClr val="CCCCCC"/>
            </a:solidFill>
            <a:prstDash val="solid"/>
          </a:ln>
        </p:spPr>
        <p:txBody>
          <a:bodyPr/>
          <a:lstStyle/>
          <a:p>
            <a:endParaRPr lang="en-GB"/>
          </a:p>
        </p:txBody>
      </p:sp>
      <p:sp>
        <p:nvSpPr>
          <p:cNvPr id="18" name="Shape 15"/>
          <p:cNvSpPr/>
          <p:nvPr/>
        </p:nvSpPr>
        <p:spPr>
          <a:xfrm>
            <a:off x="1572768" y="1389888"/>
            <a:ext cx="3291840" cy="768096"/>
          </a:xfrm>
          <a:prstGeom prst="rect">
            <a:avLst/>
          </a:prstGeom>
          <a:solidFill>
            <a:srgbClr val="FFFFFF"/>
          </a:solidFill>
          <a:ln w="3810">
            <a:solidFill>
              <a:srgbClr val="CCCCCC"/>
            </a:solidFill>
            <a:prstDash val="solid"/>
          </a:ln>
        </p:spPr>
        <p:txBody>
          <a:bodyPr/>
          <a:lstStyle/>
          <a:p>
            <a:endParaRPr lang="en-GB"/>
          </a:p>
        </p:txBody>
      </p:sp>
      <p:sp>
        <p:nvSpPr>
          <p:cNvPr id="19" name="Shape 16"/>
          <p:cNvSpPr/>
          <p:nvPr/>
        </p:nvSpPr>
        <p:spPr>
          <a:xfrm>
            <a:off x="4882896" y="1389888"/>
            <a:ext cx="914400" cy="768096"/>
          </a:xfrm>
          <a:prstGeom prst="rect">
            <a:avLst/>
          </a:prstGeom>
          <a:solidFill>
            <a:srgbClr val="FEE2E2"/>
          </a:solidFill>
          <a:ln w="3810">
            <a:solidFill>
              <a:srgbClr val="CCCCCC"/>
            </a:solidFill>
            <a:prstDash val="solid"/>
          </a:ln>
        </p:spPr>
        <p:txBody>
          <a:bodyPr/>
          <a:lstStyle/>
          <a:p>
            <a:endParaRPr lang="en-GB"/>
          </a:p>
        </p:txBody>
      </p:sp>
      <p:sp>
        <p:nvSpPr>
          <p:cNvPr id="20" name="Shape 17"/>
          <p:cNvSpPr/>
          <p:nvPr/>
        </p:nvSpPr>
        <p:spPr>
          <a:xfrm>
            <a:off x="5815584" y="1389888"/>
            <a:ext cx="2560320" cy="768096"/>
          </a:xfrm>
          <a:prstGeom prst="rect">
            <a:avLst/>
          </a:prstGeom>
          <a:solidFill>
            <a:srgbClr val="FFFFFF"/>
          </a:solidFill>
          <a:ln w="3810">
            <a:solidFill>
              <a:srgbClr val="CCCCCC"/>
            </a:solidFill>
            <a:prstDash val="solid"/>
          </a:ln>
        </p:spPr>
        <p:txBody>
          <a:bodyPr/>
          <a:lstStyle/>
          <a:p>
            <a:endParaRPr lang="en-GB"/>
          </a:p>
        </p:txBody>
      </p:sp>
      <p:sp>
        <p:nvSpPr>
          <p:cNvPr id="21" name="Shape 18"/>
          <p:cNvSpPr/>
          <p:nvPr/>
        </p:nvSpPr>
        <p:spPr>
          <a:xfrm>
            <a:off x="8394192" y="1389888"/>
            <a:ext cx="3657600" cy="768096"/>
          </a:xfrm>
          <a:prstGeom prst="rect">
            <a:avLst/>
          </a:prstGeom>
          <a:solidFill>
            <a:srgbClr val="FFFFFF"/>
          </a:solidFill>
          <a:ln w="3810">
            <a:solidFill>
              <a:srgbClr val="CCCCCC"/>
            </a:solidFill>
            <a:prstDash val="solid"/>
          </a:ln>
        </p:spPr>
        <p:txBody>
          <a:bodyPr/>
          <a:lstStyle/>
          <a:p>
            <a:endParaRPr lang="en-GB"/>
          </a:p>
        </p:txBody>
      </p:sp>
      <p:sp>
        <p:nvSpPr>
          <p:cNvPr id="22" name="Text 19"/>
          <p:cNvSpPr/>
          <p:nvPr/>
        </p:nvSpPr>
        <p:spPr>
          <a:xfrm>
            <a:off x="237744" y="1426464"/>
            <a:ext cx="1261872" cy="694944"/>
          </a:xfrm>
          <a:prstGeom prst="rect">
            <a:avLst/>
          </a:prstGeom>
          <a:noFill/>
          <a:ln/>
        </p:spPr>
        <p:txBody>
          <a:bodyPr wrap="square" rtlCol="0" anchor="ctr"/>
          <a:lstStyle/>
          <a:p>
            <a:pPr marL="0" indent="0">
              <a:buNone/>
            </a:pPr>
            <a:r>
              <a:rPr lang="en-US" sz="900" b="1" dirty="0">
                <a:solidFill>
                  <a:srgbClr val="5B595A"/>
                </a:solidFill>
                <a:latin typeface="Arial" pitchFamily="34" charset="0"/>
                <a:ea typeface="Arial" pitchFamily="34" charset="-122"/>
                <a:cs typeface="Arial" pitchFamily="34" charset="-120"/>
              </a:rPr>
              <a:t>Waiting</a:t>
            </a:r>
            <a:endParaRPr lang="en-US" sz="900" dirty="0"/>
          </a:p>
        </p:txBody>
      </p:sp>
      <p:sp>
        <p:nvSpPr>
          <p:cNvPr id="23" name="Text 20"/>
          <p:cNvSpPr/>
          <p:nvPr/>
        </p:nvSpPr>
        <p:spPr>
          <a:xfrm>
            <a:off x="1627632" y="1426464"/>
            <a:ext cx="318211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Inspection queue averages 5.2 days. Components sit waiting for the CMM 72% of the total lead time.</a:t>
            </a:r>
            <a:endParaRPr lang="en-US" sz="850" dirty="0"/>
          </a:p>
        </p:txBody>
      </p:sp>
      <p:sp>
        <p:nvSpPr>
          <p:cNvPr id="24" name="Text 21"/>
          <p:cNvSpPr/>
          <p:nvPr/>
        </p:nvSpPr>
        <p:spPr>
          <a:xfrm>
            <a:off x="4937760" y="1426464"/>
            <a:ext cx="804672" cy="694944"/>
          </a:xfrm>
          <a:prstGeom prst="rect">
            <a:avLst/>
          </a:prstGeom>
          <a:noFill/>
          <a:ln/>
        </p:spPr>
        <p:txBody>
          <a:bodyPr wrap="square" rtlCol="0" anchor="ctr"/>
          <a:lstStyle/>
          <a:p>
            <a:pPr marL="0" indent="0" algn="ctr">
              <a:buNone/>
            </a:pPr>
            <a:r>
              <a:rPr lang="en-US" sz="900" b="1" dirty="0">
                <a:solidFill>
                  <a:srgbClr val="B91C1C"/>
                </a:solidFill>
                <a:latin typeface="Arial" pitchFamily="34" charset="0"/>
                <a:ea typeface="Arial" pitchFamily="34" charset="-122"/>
                <a:cs typeface="Arial" pitchFamily="34" charset="-120"/>
              </a:rPr>
              <a:t>HIGH</a:t>
            </a:r>
            <a:endParaRPr lang="en-US" sz="900" dirty="0"/>
          </a:p>
        </p:txBody>
      </p:sp>
      <p:sp>
        <p:nvSpPr>
          <p:cNvPr id="25" name="Text 22"/>
          <p:cNvSpPr/>
          <p:nvPr/>
        </p:nvSpPr>
        <p:spPr>
          <a:xfrm>
            <a:off x="5870448" y="1426464"/>
            <a:ext cx="245059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£4,200/month in late delivery costs and schedule disruption</a:t>
            </a:r>
            <a:endParaRPr lang="en-US" sz="850" dirty="0"/>
          </a:p>
        </p:txBody>
      </p:sp>
      <p:sp>
        <p:nvSpPr>
          <p:cNvPr id="26" name="Text 23"/>
          <p:cNvSpPr/>
          <p:nvPr/>
        </p:nvSpPr>
        <p:spPr>
          <a:xfrm>
            <a:off x="8449056" y="1426464"/>
            <a:ext cx="354787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Introduce inline first-off inspection at Cell 2. Eliminate the standalone CMM queue for batch production.</a:t>
            </a:r>
            <a:endParaRPr lang="en-US" sz="850" dirty="0"/>
          </a:p>
        </p:txBody>
      </p:sp>
      <p:sp>
        <p:nvSpPr>
          <p:cNvPr id="27" name="Shape 24"/>
          <p:cNvSpPr/>
          <p:nvPr/>
        </p:nvSpPr>
        <p:spPr>
          <a:xfrm>
            <a:off x="182880" y="2194560"/>
            <a:ext cx="1371600" cy="768096"/>
          </a:xfrm>
          <a:prstGeom prst="rect">
            <a:avLst/>
          </a:prstGeom>
          <a:solidFill>
            <a:srgbClr val="F2F2F2"/>
          </a:solidFill>
          <a:ln w="3810">
            <a:solidFill>
              <a:srgbClr val="CCCCCC"/>
            </a:solidFill>
            <a:prstDash val="solid"/>
          </a:ln>
        </p:spPr>
        <p:txBody>
          <a:bodyPr/>
          <a:lstStyle/>
          <a:p>
            <a:endParaRPr lang="en-GB"/>
          </a:p>
        </p:txBody>
      </p:sp>
      <p:sp>
        <p:nvSpPr>
          <p:cNvPr id="28" name="Shape 25"/>
          <p:cNvSpPr/>
          <p:nvPr/>
        </p:nvSpPr>
        <p:spPr>
          <a:xfrm>
            <a:off x="1572768" y="2194560"/>
            <a:ext cx="3291840" cy="768096"/>
          </a:xfrm>
          <a:prstGeom prst="rect">
            <a:avLst/>
          </a:prstGeom>
          <a:solidFill>
            <a:srgbClr val="F2F2F2"/>
          </a:solidFill>
          <a:ln w="3810">
            <a:solidFill>
              <a:srgbClr val="CCCCCC"/>
            </a:solidFill>
            <a:prstDash val="solid"/>
          </a:ln>
        </p:spPr>
        <p:txBody>
          <a:bodyPr/>
          <a:lstStyle/>
          <a:p>
            <a:endParaRPr lang="en-GB"/>
          </a:p>
        </p:txBody>
      </p:sp>
      <p:sp>
        <p:nvSpPr>
          <p:cNvPr id="29" name="Shape 26"/>
          <p:cNvSpPr/>
          <p:nvPr/>
        </p:nvSpPr>
        <p:spPr>
          <a:xfrm>
            <a:off x="4882896" y="2194560"/>
            <a:ext cx="914400" cy="768096"/>
          </a:xfrm>
          <a:prstGeom prst="rect">
            <a:avLst/>
          </a:prstGeom>
          <a:solidFill>
            <a:srgbClr val="FEE2E2"/>
          </a:solidFill>
          <a:ln w="3810">
            <a:solidFill>
              <a:srgbClr val="CCCCCC"/>
            </a:solidFill>
            <a:prstDash val="solid"/>
          </a:ln>
        </p:spPr>
        <p:txBody>
          <a:bodyPr/>
          <a:lstStyle/>
          <a:p>
            <a:endParaRPr lang="en-GB"/>
          </a:p>
        </p:txBody>
      </p:sp>
      <p:sp>
        <p:nvSpPr>
          <p:cNvPr id="30" name="Shape 27"/>
          <p:cNvSpPr/>
          <p:nvPr/>
        </p:nvSpPr>
        <p:spPr>
          <a:xfrm>
            <a:off x="5815584" y="2194560"/>
            <a:ext cx="2560320" cy="768096"/>
          </a:xfrm>
          <a:prstGeom prst="rect">
            <a:avLst/>
          </a:prstGeom>
          <a:solidFill>
            <a:srgbClr val="F2F2F2"/>
          </a:solidFill>
          <a:ln w="3810">
            <a:solidFill>
              <a:srgbClr val="CCCCCC"/>
            </a:solidFill>
            <a:prstDash val="solid"/>
          </a:ln>
        </p:spPr>
        <p:txBody>
          <a:bodyPr/>
          <a:lstStyle/>
          <a:p>
            <a:endParaRPr lang="en-GB"/>
          </a:p>
        </p:txBody>
      </p:sp>
      <p:sp>
        <p:nvSpPr>
          <p:cNvPr id="31" name="Shape 28"/>
          <p:cNvSpPr/>
          <p:nvPr/>
        </p:nvSpPr>
        <p:spPr>
          <a:xfrm>
            <a:off x="8394192" y="2194560"/>
            <a:ext cx="3657600" cy="768096"/>
          </a:xfrm>
          <a:prstGeom prst="rect">
            <a:avLst/>
          </a:prstGeom>
          <a:solidFill>
            <a:srgbClr val="F2F2F2"/>
          </a:solidFill>
          <a:ln w="3810">
            <a:solidFill>
              <a:srgbClr val="CCCCCC"/>
            </a:solidFill>
            <a:prstDash val="solid"/>
          </a:ln>
        </p:spPr>
        <p:txBody>
          <a:bodyPr/>
          <a:lstStyle/>
          <a:p>
            <a:endParaRPr lang="en-GB"/>
          </a:p>
        </p:txBody>
      </p:sp>
      <p:sp>
        <p:nvSpPr>
          <p:cNvPr id="32" name="Text 29"/>
          <p:cNvSpPr/>
          <p:nvPr/>
        </p:nvSpPr>
        <p:spPr>
          <a:xfrm>
            <a:off x="237744" y="2231136"/>
            <a:ext cx="1261872" cy="694944"/>
          </a:xfrm>
          <a:prstGeom prst="rect">
            <a:avLst/>
          </a:prstGeom>
          <a:noFill/>
          <a:ln/>
        </p:spPr>
        <p:txBody>
          <a:bodyPr wrap="square" rtlCol="0" anchor="ctr"/>
          <a:lstStyle/>
          <a:p>
            <a:pPr marL="0" indent="0">
              <a:buNone/>
            </a:pPr>
            <a:r>
              <a:rPr lang="en-US" sz="900" b="1" dirty="0">
                <a:solidFill>
                  <a:srgbClr val="5B595A"/>
                </a:solidFill>
                <a:latin typeface="Arial" pitchFamily="34" charset="0"/>
                <a:ea typeface="Arial" pitchFamily="34" charset="-122"/>
                <a:cs typeface="Arial" pitchFamily="34" charset="-120"/>
              </a:rPr>
              <a:t>Inventory</a:t>
            </a:r>
            <a:endParaRPr lang="en-US" sz="900" dirty="0"/>
          </a:p>
        </p:txBody>
      </p:sp>
      <p:sp>
        <p:nvSpPr>
          <p:cNvPr id="33" name="Text 30"/>
          <p:cNvSpPr/>
          <p:nvPr/>
        </p:nvSpPr>
        <p:spPr>
          <a:xfrm>
            <a:off x="1627632" y="2231136"/>
            <a:ext cx="318211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192 units of WIP across 6 buffer points. Capital locked up and quality risk from extended storage.</a:t>
            </a:r>
            <a:endParaRPr lang="en-US" sz="850" dirty="0"/>
          </a:p>
        </p:txBody>
      </p:sp>
      <p:sp>
        <p:nvSpPr>
          <p:cNvPr id="34" name="Text 31"/>
          <p:cNvSpPr/>
          <p:nvPr/>
        </p:nvSpPr>
        <p:spPr>
          <a:xfrm>
            <a:off x="4937760" y="2231136"/>
            <a:ext cx="804672" cy="694944"/>
          </a:xfrm>
          <a:prstGeom prst="rect">
            <a:avLst/>
          </a:prstGeom>
          <a:noFill/>
          <a:ln/>
        </p:spPr>
        <p:txBody>
          <a:bodyPr wrap="square" rtlCol="0" anchor="ctr"/>
          <a:lstStyle/>
          <a:p>
            <a:pPr marL="0" indent="0" algn="ctr">
              <a:buNone/>
            </a:pPr>
            <a:r>
              <a:rPr lang="en-US" sz="900" b="1" dirty="0">
                <a:solidFill>
                  <a:srgbClr val="B91C1C"/>
                </a:solidFill>
                <a:latin typeface="Arial" pitchFamily="34" charset="0"/>
                <a:ea typeface="Arial" pitchFamily="34" charset="-122"/>
                <a:cs typeface="Arial" pitchFamily="34" charset="-120"/>
              </a:rPr>
              <a:t>HIGH</a:t>
            </a:r>
            <a:endParaRPr lang="en-US" sz="900" dirty="0"/>
          </a:p>
        </p:txBody>
      </p:sp>
      <p:sp>
        <p:nvSpPr>
          <p:cNvPr id="35" name="Text 32"/>
          <p:cNvSpPr/>
          <p:nvPr/>
        </p:nvSpPr>
        <p:spPr>
          <a:xfrm>
            <a:off x="5870448" y="2231136"/>
            <a:ext cx="245059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£28,000 working capital tied up in WIP</a:t>
            </a:r>
            <a:endParaRPr lang="en-US" sz="850" dirty="0"/>
          </a:p>
        </p:txBody>
      </p:sp>
      <p:sp>
        <p:nvSpPr>
          <p:cNvPr id="36" name="Text 33"/>
          <p:cNvSpPr/>
          <p:nvPr/>
        </p:nvSpPr>
        <p:spPr>
          <a:xfrm>
            <a:off x="8449056" y="2231136"/>
            <a:ext cx="354787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Introduce pull scheduling with WIP limits between each step. Target WIP below 40 units.</a:t>
            </a:r>
            <a:endParaRPr lang="en-US" sz="850" dirty="0"/>
          </a:p>
        </p:txBody>
      </p:sp>
      <p:sp>
        <p:nvSpPr>
          <p:cNvPr id="37" name="Shape 34"/>
          <p:cNvSpPr/>
          <p:nvPr/>
        </p:nvSpPr>
        <p:spPr>
          <a:xfrm>
            <a:off x="182880" y="2999232"/>
            <a:ext cx="1371600" cy="768096"/>
          </a:xfrm>
          <a:prstGeom prst="rect">
            <a:avLst/>
          </a:prstGeom>
          <a:solidFill>
            <a:srgbClr val="FFFFFF"/>
          </a:solidFill>
          <a:ln w="3810">
            <a:solidFill>
              <a:srgbClr val="CCCCCC"/>
            </a:solidFill>
            <a:prstDash val="solid"/>
          </a:ln>
        </p:spPr>
        <p:txBody>
          <a:bodyPr/>
          <a:lstStyle/>
          <a:p>
            <a:endParaRPr lang="en-GB"/>
          </a:p>
        </p:txBody>
      </p:sp>
      <p:sp>
        <p:nvSpPr>
          <p:cNvPr id="38" name="Shape 35"/>
          <p:cNvSpPr/>
          <p:nvPr/>
        </p:nvSpPr>
        <p:spPr>
          <a:xfrm>
            <a:off x="1572768" y="2999232"/>
            <a:ext cx="3291840" cy="768096"/>
          </a:xfrm>
          <a:prstGeom prst="rect">
            <a:avLst/>
          </a:prstGeom>
          <a:solidFill>
            <a:srgbClr val="FFFFFF"/>
          </a:solidFill>
          <a:ln w="3810">
            <a:solidFill>
              <a:srgbClr val="CCCCCC"/>
            </a:solidFill>
            <a:prstDash val="solid"/>
          </a:ln>
        </p:spPr>
        <p:txBody>
          <a:bodyPr/>
          <a:lstStyle/>
          <a:p>
            <a:endParaRPr lang="en-GB"/>
          </a:p>
        </p:txBody>
      </p:sp>
      <p:sp>
        <p:nvSpPr>
          <p:cNvPr id="39" name="Shape 36"/>
          <p:cNvSpPr/>
          <p:nvPr/>
        </p:nvSpPr>
        <p:spPr>
          <a:xfrm>
            <a:off x="4882896" y="2999232"/>
            <a:ext cx="914400" cy="768096"/>
          </a:xfrm>
          <a:prstGeom prst="rect">
            <a:avLst/>
          </a:prstGeom>
          <a:solidFill>
            <a:srgbClr val="FEF3C7"/>
          </a:solidFill>
          <a:ln w="3810">
            <a:solidFill>
              <a:srgbClr val="CCCCCC"/>
            </a:solidFill>
            <a:prstDash val="solid"/>
          </a:ln>
        </p:spPr>
        <p:txBody>
          <a:bodyPr/>
          <a:lstStyle/>
          <a:p>
            <a:endParaRPr lang="en-GB"/>
          </a:p>
        </p:txBody>
      </p:sp>
      <p:sp>
        <p:nvSpPr>
          <p:cNvPr id="40" name="Shape 37"/>
          <p:cNvSpPr/>
          <p:nvPr/>
        </p:nvSpPr>
        <p:spPr>
          <a:xfrm>
            <a:off x="5815584" y="2999232"/>
            <a:ext cx="2560320" cy="768096"/>
          </a:xfrm>
          <a:prstGeom prst="rect">
            <a:avLst/>
          </a:prstGeom>
          <a:solidFill>
            <a:srgbClr val="FFFFFF"/>
          </a:solidFill>
          <a:ln w="3810">
            <a:solidFill>
              <a:srgbClr val="CCCCCC"/>
            </a:solidFill>
            <a:prstDash val="solid"/>
          </a:ln>
        </p:spPr>
        <p:txBody>
          <a:bodyPr/>
          <a:lstStyle/>
          <a:p>
            <a:endParaRPr lang="en-GB"/>
          </a:p>
        </p:txBody>
      </p:sp>
      <p:sp>
        <p:nvSpPr>
          <p:cNvPr id="41" name="Shape 38"/>
          <p:cNvSpPr/>
          <p:nvPr/>
        </p:nvSpPr>
        <p:spPr>
          <a:xfrm>
            <a:off x="8394192" y="2999232"/>
            <a:ext cx="3657600" cy="768096"/>
          </a:xfrm>
          <a:prstGeom prst="rect">
            <a:avLst/>
          </a:prstGeom>
          <a:solidFill>
            <a:srgbClr val="FFFFFF"/>
          </a:solidFill>
          <a:ln w="3810">
            <a:solidFill>
              <a:srgbClr val="CCCCCC"/>
            </a:solidFill>
            <a:prstDash val="solid"/>
          </a:ln>
        </p:spPr>
        <p:txBody>
          <a:bodyPr/>
          <a:lstStyle/>
          <a:p>
            <a:endParaRPr lang="en-GB"/>
          </a:p>
        </p:txBody>
      </p:sp>
      <p:sp>
        <p:nvSpPr>
          <p:cNvPr id="42" name="Text 39"/>
          <p:cNvSpPr/>
          <p:nvPr/>
        </p:nvSpPr>
        <p:spPr>
          <a:xfrm>
            <a:off x="237744" y="3035808"/>
            <a:ext cx="1261872" cy="694944"/>
          </a:xfrm>
          <a:prstGeom prst="rect">
            <a:avLst/>
          </a:prstGeom>
          <a:noFill/>
          <a:ln/>
        </p:spPr>
        <p:txBody>
          <a:bodyPr wrap="square" rtlCol="0" anchor="ctr"/>
          <a:lstStyle/>
          <a:p>
            <a:pPr marL="0" indent="0">
              <a:buNone/>
            </a:pPr>
            <a:r>
              <a:rPr lang="en-US" sz="900" b="1" dirty="0">
                <a:solidFill>
                  <a:srgbClr val="5B595A"/>
                </a:solidFill>
                <a:latin typeface="Arial" pitchFamily="34" charset="0"/>
                <a:ea typeface="Arial" pitchFamily="34" charset="-122"/>
                <a:cs typeface="Arial" pitchFamily="34" charset="-120"/>
              </a:rPr>
              <a:t>Transportation</a:t>
            </a:r>
            <a:endParaRPr lang="en-US" sz="900" dirty="0"/>
          </a:p>
        </p:txBody>
      </p:sp>
      <p:sp>
        <p:nvSpPr>
          <p:cNvPr id="43" name="Text 40"/>
          <p:cNvSpPr/>
          <p:nvPr/>
        </p:nvSpPr>
        <p:spPr>
          <a:xfrm>
            <a:off x="1627632" y="3035808"/>
            <a:ext cx="318211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Deburr operator walks from the far end of the building to Cell 2 to collect work (40 mins per shift).</a:t>
            </a:r>
            <a:endParaRPr lang="en-US" sz="850" dirty="0"/>
          </a:p>
        </p:txBody>
      </p:sp>
      <p:sp>
        <p:nvSpPr>
          <p:cNvPr id="44" name="Text 41"/>
          <p:cNvSpPr/>
          <p:nvPr/>
        </p:nvSpPr>
        <p:spPr>
          <a:xfrm>
            <a:off x="4937760" y="3035808"/>
            <a:ext cx="804672" cy="694944"/>
          </a:xfrm>
          <a:prstGeom prst="rect">
            <a:avLst/>
          </a:prstGeom>
          <a:noFill/>
          <a:ln/>
        </p:spPr>
        <p:txBody>
          <a:bodyPr wrap="square" rtlCol="0" anchor="ctr"/>
          <a:lstStyle/>
          <a:p>
            <a:pPr marL="0" indent="0" algn="ctr">
              <a:buNone/>
            </a:pPr>
            <a:r>
              <a:rPr lang="en-US" sz="900" b="1" dirty="0">
                <a:solidFill>
                  <a:srgbClr val="D4770A"/>
                </a:solidFill>
                <a:latin typeface="Arial" pitchFamily="34" charset="0"/>
                <a:ea typeface="Arial" pitchFamily="34" charset="-122"/>
                <a:cs typeface="Arial" pitchFamily="34" charset="-120"/>
              </a:rPr>
              <a:t>MEDIUM</a:t>
            </a:r>
            <a:endParaRPr lang="en-US" sz="900" dirty="0"/>
          </a:p>
        </p:txBody>
      </p:sp>
      <p:sp>
        <p:nvSpPr>
          <p:cNvPr id="45" name="Text 42"/>
          <p:cNvSpPr/>
          <p:nvPr/>
        </p:nvSpPr>
        <p:spPr>
          <a:xfrm>
            <a:off x="5870448" y="3035808"/>
            <a:ext cx="245059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Est. 3.3 hrs/week of direct labour waste</a:t>
            </a:r>
            <a:endParaRPr lang="en-US" sz="850" dirty="0"/>
          </a:p>
        </p:txBody>
      </p:sp>
      <p:sp>
        <p:nvSpPr>
          <p:cNvPr id="46" name="Text 43"/>
          <p:cNvSpPr/>
          <p:nvPr/>
        </p:nvSpPr>
        <p:spPr>
          <a:xfrm>
            <a:off x="8449056" y="3035808"/>
            <a:ext cx="354787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Relocate the deburr station adjacent to Cell 2. Point-of-use material collection.</a:t>
            </a:r>
            <a:endParaRPr lang="en-US" sz="850" dirty="0"/>
          </a:p>
        </p:txBody>
      </p:sp>
      <p:sp>
        <p:nvSpPr>
          <p:cNvPr id="47" name="Shape 44"/>
          <p:cNvSpPr/>
          <p:nvPr/>
        </p:nvSpPr>
        <p:spPr>
          <a:xfrm>
            <a:off x="182880" y="3803904"/>
            <a:ext cx="1371600" cy="768096"/>
          </a:xfrm>
          <a:prstGeom prst="rect">
            <a:avLst/>
          </a:prstGeom>
          <a:solidFill>
            <a:srgbClr val="F2F2F2"/>
          </a:solidFill>
          <a:ln w="3810">
            <a:solidFill>
              <a:srgbClr val="CCCCCC"/>
            </a:solidFill>
            <a:prstDash val="solid"/>
          </a:ln>
        </p:spPr>
        <p:txBody>
          <a:bodyPr/>
          <a:lstStyle/>
          <a:p>
            <a:endParaRPr lang="en-GB"/>
          </a:p>
        </p:txBody>
      </p:sp>
      <p:sp>
        <p:nvSpPr>
          <p:cNvPr id="48" name="Shape 45"/>
          <p:cNvSpPr/>
          <p:nvPr/>
        </p:nvSpPr>
        <p:spPr>
          <a:xfrm>
            <a:off x="1572768" y="3803904"/>
            <a:ext cx="3291840" cy="768096"/>
          </a:xfrm>
          <a:prstGeom prst="rect">
            <a:avLst/>
          </a:prstGeom>
          <a:solidFill>
            <a:srgbClr val="F2F2F2"/>
          </a:solidFill>
          <a:ln w="3810">
            <a:solidFill>
              <a:srgbClr val="CCCCCC"/>
            </a:solidFill>
            <a:prstDash val="solid"/>
          </a:ln>
        </p:spPr>
        <p:txBody>
          <a:bodyPr/>
          <a:lstStyle/>
          <a:p>
            <a:endParaRPr lang="en-GB"/>
          </a:p>
        </p:txBody>
      </p:sp>
      <p:sp>
        <p:nvSpPr>
          <p:cNvPr id="49" name="Shape 46"/>
          <p:cNvSpPr/>
          <p:nvPr/>
        </p:nvSpPr>
        <p:spPr>
          <a:xfrm>
            <a:off x="4882896" y="3803904"/>
            <a:ext cx="914400" cy="768096"/>
          </a:xfrm>
          <a:prstGeom prst="rect">
            <a:avLst/>
          </a:prstGeom>
          <a:solidFill>
            <a:srgbClr val="FEE2E2"/>
          </a:solidFill>
          <a:ln w="3810">
            <a:solidFill>
              <a:srgbClr val="CCCCCC"/>
            </a:solidFill>
            <a:prstDash val="solid"/>
          </a:ln>
        </p:spPr>
        <p:txBody>
          <a:bodyPr/>
          <a:lstStyle/>
          <a:p>
            <a:endParaRPr lang="en-GB"/>
          </a:p>
        </p:txBody>
      </p:sp>
      <p:sp>
        <p:nvSpPr>
          <p:cNvPr id="50" name="Shape 47"/>
          <p:cNvSpPr/>
          <p:nvPr/>
        </p:nvSpPr>
        <p:spPr>
          <a:xfrm>
            <a:off x="5815584" y="3803904"/>
            <a:ext cx="2560320" cy="768096"/>
          </a:xfrm>
          <a:prstGeom prst="rect">
            <a:avLst/>
          </a:prstGeom>
          <a:solidFill>
            <a:srgbClr val="F2F2F2"/>
          </a:solidFill>
          <a:ln w="3810">
            <a:solidFill>
              <a:srgbClr val="CCCCCC"/>
            </a:solidFill>
            <a:prstDash val="solid"/>
          </a:ln>
        </p:spPr>
        <p:txBody>
          <a:bodyPr/>
          <a:lstStyle/>
          <a:p>
            <a:endParaRPr lang="en-GB"/>
          </a:p>
        </p:txBody>
      </p:sp>
      <p:sp>
        <p:nvSpPr>
          <p:cNvPr id="51" name="Shape 48"/>
          <p:cNvSpPr/>
          <p:nvPr/>
        </p:nvSpPr>
        <p:spPr>
          <a:xfrm>
            <a:off x="8394192" y="3803904"/>
            <a:ext cx="3657600" cy="768096"/>
          </a:xfrm>
          <a:prstGeom prst="rect">
            <a:avLst/>
          </a:prstGeom>
          <a:solidFill>
            <a:srgbClr val="F2F2F2"/>
          </a:solidFill>
          <a:ln w="3810">
            <a:solidFill>
              <a:srgbClr val="CCCCCC"/>
            </a:solidFill>
            <a:prstDash val="solid"/>
          </a:ln>
        </p:spPr>
        <p:txBody>
          <a:bodyPr/>
          <a:lstStyle/>
          <a:p>
            <a:endParaRPr lang="en-GB"/>
          </a:p>
        </p:txBody>
      </p:sp>
      <p:sp>
        <p:nvSpPr>
          <p:cNvPr id="52" name="Text 49"/>
          <p:cNvSpPr/>
          <p:nvPr/>
        </p:nvSpPr>
        <p:spPr>
          <a:xfrm>
            <a:off x="237744" y="3840480"/>
            <a:ext cx="1261872" cy="694944"/>
          </a:xfrm>
          <a:prstGeom prst="rect">
            <a:avLst/>
          </a:prstGeom>
          <a:noFill/>
          <a:ln/>
        </p:spPr>
        <p:txBody>
          <a:bodyPr wrap="square" rtlCol="0" anchor="ctr"/>
          <a:lstStyle/>
          <a:p>
            <a:pPr marL="0" indent="0">
              <a:buNone/>
            </a:pPr>
            <a:r>
              <a:rPr lang="en-US" sz="900" b="1" dirty="0">
                <a:solidFill>
                  <a:srgbClr val="5B595A"/>
                </a:solidFill>
                <a:latin typeface="Arial" pitchFamily="34" charset="0"/>
                <a:ea typeface="Arial" pitchFamily="34" charset="-122"/>
                <a:cs typeface="Arial" pitchFamily="34" charset="-120"/>
              </a:rPr>
              <a:t>Defects</a:t>
            </a:r>
            <a:endParaRPr lang="en-US" sz="900" dirty="0"/>
          </a:p>
        </p:txBody>
      </p:sp>
      <p:sp>
        <p:nvSpPr>
          <p:cNvPr id="53" name="Text 50"/>
          <p:cNvSpPr/>
          <p:nvPr/>
        </p:nvSpPr>
        <p:spPr>
          <a:xfrm>
            <a:off x="1627632" y="3840480"/>
            <a:ext cx="318211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5.8% scrap rate on turning. Same root cause (tool wear) recurring monthly. No structured investigation.</a:t>
            </a:r>
            <a:endParaRPr lang="en-US" sz="850" dirty="0"/>
          </a:p>
        </p:txBody>
      </p:sp>
      <p:sp>
        <p:nvSpPr>
          <p:cNvPr id="54" name="Text 51"/>
          <p:cNvSpPr/>
          <p:nvPr/>
        </p:nvSpPr>
        <p:spPr>
          <a:xfrm>
            <a:off x="4937760" y="3840480"/>
            <a:ext cx="804672" cy="694944"/>
          </a:xfrm>
          <a:prstGeom prst="rect">
            <a:avLst/>
          </a:prstGeom>
          <a:noFill/>
          <a:ln/>
        </p:spPr>
        <p:txBody>
          <a:bodyPr wrap="square" rtlCol="0" anchor="ctr"/>
          <a:lstStyle/>
          <a:p>
            <a:pPr marL="0" indent="0" algn="ctr">
              <a:buNone/>
            </a:pPr>
            <a:r>
              <a:rPr lang="en-US" sz="900" b="1" dirty="0">
                <a:solidFill>
                  <a:srgbClr val="B91C1C"/>
                </a:solidFill>
                <a:latin typeface="Arial" pitchFamily="34" charset="0"/>
                <a:ea typeface="Arial" pitchFamily="34" charset="-122"/>
                <a:cs typeface="Arial" pitchFamily="34" charset="-120"/>
              </a:rPr>
              <a:t>HIGH</a:t>
            </a:r>
            <a:endParaRPr lang="en-US" sz="900" dirty="0"/>
          </a:p>
        </p:txBody>
      </p:sp>
      <p:sp>
        <p:nvSpPr>
          <p:cNvPr id="55" name="Text 52"/>
          <p:cNvSpPr/>
          <p:nvPr/>
        </p:nvSpPr>
        <p:spPr>
          <a:xfrm>
            <a:off x="5870448" y="3840480"/>
            <a:ext cx="245059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£3,200/month in scrapped material and rework time</a:t>
            </a:r>
            <a:endParaRPr lang="en-US" sz="850" dirty="0"/>
          </a:p>
        </p:txBody>
      </p:sp>
      <p:sp>
        <p:nvSpPr>
          <p:cNvPr id="56" name="Text 53"/>
          <p:cNvSpPr/>
          <p:nvPr/>
        </p:nvSpPr>
        <p:spPr>
          <a:xfrm>
            <a:off x="8449056" y="3840480"/>
            <a:ext cx="354787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Run 8D root cause analysis on Cell 1 scrap. Introduce mandatory tool life management on the job traveller.</a:t>
            </a:r>
            <a:endParaRPr lang="en-US" sz="850" dirty="0"/>
          </a:p>
        </p:txBody>
      </p:sp>
      <p:sp>
        <p:nvSpPr>
          <p:cNvPr id="57" name="Shape 54"/>
          <p:cNvSpPr/>
          <p:nvPr/>
        </p:nvSpPr>
        <p:spPr>
          <a:xfrm>
            <a:off x="182880" y="4608576"/>
            <a:ext cx="1371600" cy="768096"/>
          </a:xfrm>
          <a:prstGeom prst="rect">
            <a:avLst/>
          </a:prstGeom>
          <a:solidFill>
            <a:srgbClr val="FFFFFF"/>
          </a:solidFill>
          <a:ln w="3810">
            <a:solidFill>
              <a:srgbClr val="CCCCCC"/>
            </a:solidFill>
            <a:prstDash val="solid"/>
          </a:ln>
        </p:spPr>
        <p:txBody>
          <a:bodyPr/>
          <a:lstStyle/>
          <a:p>
            <a:endParaRPr lang="en-GB"/>
          </a:p>
        </p:txBody>
      </p:sp>
      <p:sp>
        <p:nvSpPr>
          <p:cNvPr id="58" name="Shape 55"/>
          <p:cNvSpPr/>
          <p:nvPr/>
        </p:nvSpPr>
        <p:spPr>
          <a:xfrm>
            <a:off x="1572768" y="4608576"/>
            <a:ext cx="3291840" cy="768096"/>
          </a:xfrm>
          <a:prstGeom prst="rect">
            <a:avLst/>
          </a:prstGeom>
          <a:solidFill>
            <a:srgbClr val="FFFFFF"/>
          </a:solidFill>
          <a:ln w="3810">
            <a:solidFill>
              <a:srgbClr val="CCCCCC"/>
            </a:solidFill>
            <a:prstDash val="solid"/>
          </a:ln>
        </p:spPr>
        <p:txBody>
          <a:bodyPr/>
          <a:lstStyle/>
          <a:p>
            <a:endParaRPr lang="en-GB"/>
          </a:p>
        </p:txBody>
      </p:sp>
      <p:sp>
        <p:nvSpPr>
          <p:cNvPr id="59" name="Shape 56"/>
          <p:cNvSpPr/>
          <p:nvPr/>
        </p:nvSpPr>
        <p:spPr>
          <a:xfrm>
            <a:off x="4882896" y="4608576"/>
            <a:ext cx="914400" cy="768096"/>
          </a:xfrm>
          <a:prstGeom prst="rect">
            <a:avLst/>
          </a:prstGeom>
          <a:solidFill>
            <a:srgbClr val="FEE2E2"/>
          </a:solidFill>
          <a:ln w="3810">
            <a:solidFill>
              <a:srgbClr val="CCCCCC"/>
            </a:solidFill>
            <a:prstDash val="solid"/>
          </a:ln>
        </p:spPr>
        <p:txBody>
          <a:bodyPr/>
          <a:lstStyle/>
          <a:p>
            <a:endParaRPr lang="en-GB"/>
          </a:p>
        </p:txBody>
      </p:sp>
      <p:sp>
        <p:nvSpPr>
          <p:cNvPr id="60" name="Shape 57"/>
          <p:cNvSpPr/>
          <p:nvPr/>
        </p:nvSpPr>
        <p:spPr>
          <a:xfrm>
            <a:off x="5815584" y="4608576"/>
            <a:ext cx="2560320" cy="768096"/>
          </a:xfrm>
          <a:prstGeom prst="rect">
            <a:avLst/>
          </a:prstGeom>
          <a:solidFill>
            <a:srgbClr val="FFFFFF"/>
          </a:solidFill>
          <a:ln w="3810">
            <a:solidFill>
              <a:srgbClr val="CCCCCC"/>
            </a:solidFill>
            <a:prstDash val="solid"/>
          </a:ln>
        </p:spPr>
        <p:txBody>
          <a:bodyPr/>
          <a:lstStyle/>
          <a:p>
            <a:endParaRPr lang="en-GB"/>
          </a:p>
        </p:txBody>
      </p:sp>
      <p:sp>
        <p:nvSpPr>
          <p:cNvPr id="61" name="Shape 58"/>
          <p:cNvSpPr/>
          <p:nvPr/>
        </p:nvSpPr>
        <p:spPr>
          <a:xfrm>
            <a:off x="8394192" y="4608576"/>
            <a:ext cx="3657600" cy="768096"/>
          </a:xfrm>
          <a:prstGeom prst="rect">
            <a:avLst/>
          </a:prstGeom>
          <a:solidFill>
            <a:srgbClr val="FFFFFF"/>
          </a:solidFill>
          <a:ln w="3810">
            <a:solidFill>
              <a:srgbClr val="CCCCCC"/>
            </a:solidFill>
            <a:prstDash val="solid"/>
          </a:ln>
        </p:spPr>
        <p:txBody>
          <a:bodyPr/>
          <a:lstStyle/>
          <a:p>
            <a:endParaRPr lang="en-GB"/>
          </a:p>
        </p:txBody>
      </p:sp>
      <p:sp>
        <p:nvSpPr>
          <p:cNvPr id="62" name="Text 59"/>
          <p:cNvSpPr/>
          <p:nvPr/>
        </p:nvSpPr>
        <p:spPr>
          <a:xfrm>
            <a:off x="237744" y="4645152"/>
            <a:ext cx="1261872" cy="694944"/>
          </a:xfrm>
          <a:prstGeom prst="rect">
            <a:avLst/>
          </a:prstGeom>
          <a:noFill/>
          <a:ln/>
        </p:spPr>
        <p:txBody>
          <a:bodyPr wrap="square" rtlCol="0" anchor="ctr"/>
          <a:lstStyle/>
          <a:p>
            <a:pPr marL="0" indent="0">
              <a:buNone/>
            </a:pPr>
            <a:r>
              <a:rPr lang="en-US" sz="900" b="1" dirty="0">
                <a:solidFill>
                  <a:srgbClr val="5B595A"/>
                </a:solidFill>
                <a:latin typeface="Arial" pitchFamily="34" charset="0"/>
                <a:ea typeface="Arial" pitchFamily="34" charset="-122"/>
                <a:cs typeface="Arial" pitchFamily="34" charset="-120"/>
              </a:rPr>
              <a:t>Overproduction</a:t>
            </a:r>
            <a:endParaRPr lang="en-US" sz="900" dirty="0"/>
          </a:p>
        </p:txBody>
      </p:sp>
      <p:sp>
        <p:nvSpPr>
          <p:cNvPr id="63" name="Text 60"/>
          <p:cNvSpPr/>
          <p:nvPr/>
        </p:nvSpPr>
        <p:spPr>
          <a:xfrm>
            <a:off x="1627632" y="4645152"/>
            <a:ext cx="318211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Push scheduling causes all cells to produce to batch size regardless of downstream capacity.</a:t>
            </a:r>
            <a:endParaRPr lang="en-US" sz="850" dirty="0"/>
          </a:p>
        </p:txBody>
      </p:sp>
      <p:sp>
        <p:nvSpPr>
          <p:cNvPr id="64" name="Text 61"/>
          <p:cNvSpPr/>
          <p:nvPr/>
        </p:nvSpPr>
        <p:spPr>
          <a:xfrm>
            <a:off x="4937760" y="4645152"/>
            <a:ext cx="804672" cy="694944"/>
          </a:xfrm>
          <a:prstGeom prst="rect">
            <a:avLst/>
          </a:prstGeom>
          <a:noFill/>
          <a:ln/>
        </p:spPr>
        <p:txBody>
          <a:bodyPr wrap="square" rtlCol="0" anchor="ctr"/>
          <a:lstStyle/>
          <a:p>
            <a:pPr marL="0" indent="0" algn="ctr">
              <a:buNone/>
            </a:pPr>
            <a:r>
              <a:rPr lang="en-US" sz="900" b="1" dirty="0">
                <a:solidFill>
                  <a:srgbClr val="B91C1C"/>
                </a:solidFill>
                <a:latin typeface="Arial" pitchFamily="34" charset="0"/>
                <a:ea typeface="Arial" pitchFamily="34" charset="-122"/>
                <a:cs typeface="Arial" pitchFamily="34" charset="-120"/>
              </a:rPr>
              <a:t>HIGH</a:t>
            </a:r>
            <a:endParaRPr lang="en-US" sz="900" dirty="0"/>
          </a:p>
        </p:txBody>
      </p:sp>
      <p:sp>
        <p:nvSpPr>
          <p:cNvPr id="65" name="Text 62"/>
          <p:cNvSpPr/>
          <p:nvPr/>
        </p:nvSpPr>
        <p:spPr>
          <a:xfrm>
            <a:off x="5870448" y="4645152"/>
            <a:ext cx="245059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Root cause of all inventory and waiting waste above</a:t>
            </a:r>
            <a:endParaRPr lang="en-US" sz="850" dirty="0"/>
          </a:p>
        </p:txBody>
      </p:sp>
      <p:sp>
        <p:nvSpPr>
          <p:cNvPr id="66" name="Text 63"/>
          <p:cNvSpPr/>
          <p:nvPr/>
        </p:nvSpPr>
        <p:spPr>
          <a:xfrm>
            <a:off x="8449056" y="4645152"/>
            <a:ext cx="354787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Replace push schedule with pull system. Each step starts only when downstream has consumed a kanban quantity.</a:t>
            </a:r>
            <a:endParaRPr lang="en-US" sz="850" dirty="0"/>
          </a:p>
        </p:txBody>
      </p:sp>
      <p:sp>
        <p:nvSpPr>
          <p:cNvPr id="67" name="Shape 64"/>
          <p:cNvSpPr/>
          <p:nvPr/>
        </p:nvSpPr>
        <p:spPr>
          <a:xfrm>
            <a:off x="182880" y="5413248"/>
            <a:ext cx="1371600" cy="768096"/>
          </a:xfrm>
          <a:prstGeom prst="rect">
            <a:avLst/>
          </a:prstGeom>
          <a:solidFill>
            <a:srgbClr val="F2F2F2"/>
          </a:solidFill>
          <a:ln w="3810">
            <a:solidFill>
              <a:srgbClr val="CCCCCC"/>
            </a:solidFill>
            <a:prstDash val="solid"/>
          </a:ln>
        </p:spPr>
        <p:txBody>
          <a:bodyPr/>
          <a:lstStyle/>
          <a:p>
            <a:endParaRPr lang="en-GB"/>
          </a:p>
        </p:txBody>
      </p:sp>
      <p:sp>
        <p:nvSpPr>
          <p:cNvPr id="68" name="Shape 65"/>
          <p:cNvSpPr/>
          <p:nvPr/>
        </p:nvSpPr>
        <p:spPr>
          <a:xfrm>
            <a:off x="1572768" y="5413248"/>
            <a:ext cx="3291840" cy="768096"/>
          </a:xfrm>
          <a:prstGeom prst="rect">
            <a:avLst/>
          </a:prstGeom>
          <a:solidFill>
            <a:srgbClr val="F2F2F2"/>
          </a:solidFill>
          <a:ln w="3810">
            <a:solidFill>
              <a:srgbClr val="CCCCCC"/>
            </a:solidFill>
            <a:prstDash val="solid"/>
          </a:ln>
        </p:spPr>
        <p:txBody>
          <a:bodyPr/>
          <a:lstStyle/>
          <a:p>
            <a:endParaRPr lang="en-GB"/>
          </a:p>
        </p:txBody>
      </p:sp>
      <p:sp>
        <p:nvSpPr>
          <p:cNvPr id="69" name="Shape 66"/>
          <p:cNvSpPr/>
          <p:nvPr/>
        </p:nvSpPr>
        <p:spPr>
          <a:xfrm>
            <a:off x="4882896" y="5413248"/>
            <a:ext cx="914400" cy="768096"/>
          </a:xfrm>
          <a:prstGeom prst="rect">
            <a:avLst/>
          </a:prstGeom>
          <a:solidFill>
            <a:srgbClr val="FEF3C7"/>
          </a:solidFill>
          <a:ln w="3810">
            <a:solidFill>
              <a:srgbClr val="CCCCCC"/>
            </a:solidFill>
            <a:prstDash val="solid"/>
          </a:ln>
        </p:spPr>
        <p:txBody>
          <a:bodyPr/>
          <a:lstStyle/>
          <a:p>
            <a:endParaRPr lang="en-GB"/>
          </a:p>
        </p:txBody>
      </p:sp>
      <p:sp>
        <p:nvSpPr>
          <p:cNvPr id="70" name="Shape 67"/>
          <p:cNvSpPr/>
          <p:nvPr/>
        </p:nvSpPr>
        <p:spPr>
          <a:xfrm>
            <a:off x="5815584" y="5413248"/>
            <a:ext cx="2560320" cy="768096"/>
          </a:xfrm>
          <a:prstGeom prst="rect">
            <a:avLst/>
          </a:prstGeom>
          <a:solidFill>
            <a:srgbClr val="F2F2F2"/>
          </a:solidFill>
          <a:ln w="3810">
            <a:solidFill>
              <a:srgbClr val="CCCCCC"/>
            </a:solidFill>
            <a:prstDash val="solid"/>
          </a:ln>
        </p:spPr>
        <p:txBody>
          <a:bodyPr/>
          <a:lstStyle/>
          <a:p>
            <a:endParaRPr lang="en-GB"/>
          </a:p>
        </p:txBody>
      </p:sp>
      <p:sp>
        <p:nvSpPr>
          <p:cNvPr id="71" name="Shape 68"/>
          <p:cNvSpPr/>
          <p:nvPr/>
        </p:nvSpPr>
        <p:spPr>
          <a:xfrm>
            <a:off x="8394192" y="5413248"/>
            <a:ext cx="3657600" cy="768096"/>
          </a:xfrm>
          <a:prstGeom prst="rect">
            <a:avLst/>
          </a:prstGeom>
          <a:solidFill>
            <a:srgbClr val="F2F2F2"/>
          </a:solidFill>
          <a:ln w="3810">
            <a:solidFill>
              <a:srgbClr val="CCCCCC"/>
            </a:solidFill>
            <a:prstDash val="solid"/>
          </a:ln>
        </p:spPr>
        <p:txBody>
          <a:bodyPr/>
          <a:lstStyle/>
          <a:p>
            <a:endParaRPr lang="en-GB"/>
          </a:p>
        </p:txBody>
      </p:sp>
      <p:sp>
        <p:nvSpPr>
          <p:cNvPr id="72" name="Text 69"/>
          <p:cNvSpPr/>
          <p:nvPr/>
        </p:nvSpPr>
        <p:spPr>
          <a:xfrm>
            <a:off x="237744" y="5449824"/>
            <a:ext cx="1261872" cy="694944"/>
          </a:xfrm>
          <a:prstGeom prst="rect">
            <a:avLst/>
          </a:prstGeom>
          <a:noFill/>
          <a:ln/>
        </p:spPr>
        <p:txBody>
          <a:bodyPr wrap="square" rtlCol="0" anchor="ctr"/>
          <a:lstStyle/>
          <a:p>
            <a:pPr marL="0" indent="0">
              <a:buNone/>
            </a:pPr>
            <a:r>
              <a:rPr lang="en-US" sz="900" b="1" dirty="0">
                <a:solidFill>
                  <a:srgbClr val="5B595A"/>
                </a:solidFill>
                <a:latin typeface="Arial" pitchFamily="34" charset="0"/>
                <a:ea typeface="Arial" pitchFamily="34" charset="-122"/>
                <a:cs typeface="Arial" pitchFamily="34" charset="-120"/>
              </a:rPr>
              <a:t>Skills</a:t>
            </a:r>
            <a:endParaRPr lang="en-US" sz="900" dirty="0"/>
          </a:p>
        </p:txBody>
      </p:sp>
      <p:sp>
        <p:nvSpPr>
          <p:cNvPr id="73" name="Text 70"/>
          <p:cNvSpPr/>
          <p:nvPr/>
        </p:nvSpPr>
        <p:spPr>
          <a:xfrm>
            <a:off x="1627632" y="5449824"/>
            <a:ext cx="318211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No operator involvement in problem solving. Quality issues escalated to management rather than investigated locally.</a:t>
            </a:r>
            <a:endParaRPr lang="en-US" sz="850" dirty="0"/>
          </a:p>
        </p:txBody>
      </p:sp>
      <p:sp>
        <p:nvSpPr>
          <p:cNvPr id="74" name="Text 71"/>
          <p:cNvSpPr/>
          <p:nvPr/>
        </p:nvSpPr>
        <p:spPr>
          <a:xfrm>
            <a:off x="4937760" y="5449824"/>
            <a:ext cx="804672" cy="694944"/>
          </a:xfrm>
          <a:prstGeom prst="rect">
            <a:avLst/>
          </a:prstGeom>
          <a:noFill/>
          <a:ln/>
        </p:spPr>
        <p:txBody>
          <a:bodyPr wrap="square" rtlCol="0" anchor="ctr"/>
          <a:lstStyle/>
          <a:p>
            <a:pPr marL="0" indent="0" algn="ctr">
              <a:buNone/>
            </a:pPr>
            <a:r>
              <a:rPr lang="en-US" sz="900" b="1" dirty="0">
                <a:solidFill>
                  <a:srgbClr val="D4770A"/>
                </a:solidFill>
                <a:latin typeface="Arial" pitchFamily="34" charset="0"/>
                <a:ea typeface="Arial" pitchFamily="34" charset="-122"/>
                <a:cs typeface="Arial" pitchFamily="34" charset="-120"/>
              </a:rPr>
              <a:t>MEDIUM</a:t>
            </a:r>
            <a:endParaRPr lang="en-US" sz="900" dirty="0"/>
          </a:p>
        </p:txBody>
      </p:sp>
      <p:sp>
        <p:nvSpPr>
          <p:cNvPr id="75" name="Text 72"/>
          <p:cNvSpPr/>
          <p:nvPr/>
        </p:nvSpPr>
        <p:spPr>
          <a:xfrm>
            <a:off x="5870448" y="5449824"/>
            <a:ext cx="245059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Recurring defects remain unresolved. No improvement ideas from the shopfloor.</a:t>
            </a:r>
            <a:endParaRPr lang="en-US" sz="850" dirty="0"/>
          </a:p>
        </p:txBody>
      </p:sp>
      <p:sp>
        <p:nvSpPr>
          <p:cNvPr id="76" name="Text 73"/>
          <p:cNvSpPr/>
          <p:nvPr/>
        </p:nvSpPr>
        <p:spPr>
          <a:xfrm>
            <a:off x="8449056" y="5449824"/>
            <a:ext cx="3547872" cy="694944"/>
          </a:xfrm>
          <a:prstGeom prst="rect">
            <a:avLst/>
          </a:prstGeom>
          <a:noFill/>
          <a:ln/>
        </p:spPr>
        <p:txBody>
          <a:bodyPr wrap="square" rtlCol="0" anchor="ctr"/>
          <a:lstStyle/>
          <a:p>
            <a:pPr marL="0" indent="0">
              <a:buNone/>
            </a:pPr>
            <a:r>
              <a:rPr lang="en-US" sz="850" dirty="0">
                <a:solidFill>
                  <a:srgbClr val="5B595A"/>
                </a:solidFill>
                <a:latin typeface="Arial" pitchFamily="34" charset="0"/>
                <a:ea typeface="Arial" pitchFamily="34" charset="-122"/>
                <a:cs typeface="Arial" pitchFamily="34" charset="-120"/>
              </a:rPr>
              <a:t>Launch operator-led problem solving programme. Train teams in 5 Whys. Weekly cell-level review.</a:t>
            </a:r>
            <a:endParaRPr lang="en-US" sz="850" dirty="0"/>
          </a:p>
        </p:txBody>
      </p:sp>
      <p:sp>
        <p:nvSpPr>
          <p:cNvPr id="77" name="Rectangle 76"/>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8" name="Picture 77" descr="image.png"/>
          <p:cNvPicPr>
            <a:picLocks noChangeAspect="1"/>
          </p:cNvPicPr>
          <p:nvPr/>
        </p:nvPicPr>
        <p:blipFill>
          <a:blip r:embed="rId5"/>
          <a:stretch>
            <a:fillRect/>
          </a:stretch>
        </p:blipFill>
        <p:spPr>
          <a:xfrm>
            <a:off x="10610088" y="100584"/>
            <a:ext cx="566928" cy="347472"/>
          </a:xfrm>
          <a:prstGeom prst="rect">
            <a:avLst/>
          </a:prstGeom>
        </p:spPr>
      </p:pic>
      <p:pic>
        <p:nvPicPr>
          <p:cNvPr id="79" name="Picture 78" descr="image.png"/>
          <p:cNvPicPr>
            <a:picLocks noChangeAspect="1"/>
          </p:cNvPicPr>
          <p:nvPr/>
        </p:nvPicPr>
        <p:blipFill>
          <a:blip r:embed="rId4"/>
          <a:stretch>
            <a:fillRect/>
          </a:stretch>
        </p:blipFill>
        <p:spPr>
          <a:xfrm>
            <a:off x="11222736" y="100584"/>
            <a:ext cx="658368" cy="347472"/>
          </a:xfrm>
          <a:prstGeom prst="rect">
            <a:avLst/>
          </a:prstGeom>
        </p:spPr>
      </p:pic>
      <p:sp>
        <p:nvSpPr>
          <p:cNvPr id="80" name="Rectangle 79"/>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83348F"/>
          </a:solidFill>
          <a:ln/>
        </p:spPr>
        <p:txBody>
          <a:bodyPr/>
          <a:lstStyle/>
          <a:p>
            <a:endParaRPr lang="en-GB"/>
          </a:p>
        </p:txBody>
      </p:sp>
      <p:sp>
        <p:nvSpPr>
          <p:cNvPr id="3" name="Text 1"/>
          <p:cNvSpPr/>
          <p:nvPr/>
        </p:nvSpPr>
        <p:spPr>
          <a:xfrm>
            <a:off x="228600" y="73152"/>
            <a:ext cx="10058400" cy="420624"/>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IMPROVEMENT ACTIONS: CURRENT STATE TO FUTURE STATE</a:t>
            </a:r>
            <a:endParaRPr lang="en-US" sz="1700" dirty="0"/>
          </a:p>
        </p:txBody>
      </p:sp>
      <p:sp>
        <p:nvSpPr>
          <p:cNvPr id="5" name="Shape 2"/>
          <p:cNvSpPr/>
          <p:nvPr/>
        </p:nvSpPr>
        <p:spPr>
          <a:xfrm>
            <a:off x="182880" y="658368"/>
            <a:ext cx="11795760" cy="329184"/>
          </a:xfrm>
          <a:prstGeom prst="rect">
            <a:avLst/>
          </a:prstGeom>
          <a:solidFill>
            <a:srgbClr val="F3EAF4"/>
          </a:solidFill>
          <a:ln w="6350">
            <a:solidFill>
              <a:srgbClr val="83348F"/>
            </a:solidFill>
            <a:prstDash val="solid"/>
          </a:ln>
        </p:spPr>
        <p:txBody>
          <a:bodyPr/>
          <a:lstStyle/>
          <a:p>
            <a:endParaRPr lang="en-GB"/>
          </a:p>
        </p:txBody>
      </p:sp>
      <p:sp>
        <p:nvSpPr>
          <p:cNvPr id="6" name="Text 3"/>
          <p:cNvSpPr/>
          <p:nvPr/>
        </p:nvSpPr>
        <p:spPr>
          <a:xfrm>
            <a:off x="274320" y="676656"/>
            <a:ext cx="11612880" cy="292608"/>
          </a:xfrm>
          <a:prstGeom prst="rect">
            <a:avLst/>
          </a:prstGeom>
          <a:noFill/>
          <a:ln/>
        </p:spPr>
        <p:txBody>
          <a:bodyPr wrap="square" rtlCol="0" anchor="ctr"/>
          <a:lstStyle/>
          <a:p>
            <a:pPr marL="0" indent="0">
              <a:buNone/>
            </a:pPr>
            <a:r>
              <a:rPr lang="en-US" sz="900" dirty="0">
                <a:solidFill>
                  <a:srgbClr val="5B595A"/>
                </a:solidFill>
                <a:latin typeface="Arial" pitchFamily="34" charset="0"/>
                <a:ea typeface="Arial" pitchFamily="34" charset="-122"/>
                <a:cs typeface="Arial" pitchFamily="34" charset="-120"/>
              </a:rPr>
              <a:t>Six actions bridge the gap between current and future state. Each is sequenced logically: foundational changes first, then flow improvement, then control. Each action becomes a CSIP project entry with a named owner and measurable target.</a:t>
            </a:r>
            <a:endParaRPr lang="en-US" sz="900" dirty="0"/>
          </a:p>
        </p:txBody>
      </p:sp>
      <p:sp>
        <p:nvSpPr>
          <p:cNvPr id="7" name="Shape 4"/>
          <p:cNvSpPr/>
          <p:nvPr/>
        </p:nvSpPr>
        <p:spPr>
          <a:xfrm>
            <a:off x="182880" y="1078992"/>
            <a:ext cx="5833872" cy="1719072"/>
          </a:xfrm>
          <a:prstGeom prst="rect">
            <a:avLst/>
          </a:prstGeom>
          <a:solidFill>
            <a:srgbClr val="EAF4EE"/>
          </a:solidFill>
          <a:ln w="15240">
            <a:solidFill>
              <a:srgbClr val="217346"/>
            </a:solidFill>
            <a:prstDash val="solid"/>
          </a:ln>
        </p:spPr>
        <p:txBody>
          <a:bodyPr/>
          <a:lstStyle/>
          <a:p>
            <a:endParaRPr lang="en-GB"/>
          </a:p>
        </p:txBody>
      </p:sp>
      <p:sp>
        <p:nvSpPr>
          <p:cNvPr id="8" name="Shape 5"/>
          <p:cNvSpPr/>
          <p:nvPr/>
        </p:nvSpPr>
        <p:spPr>
          <a:xfrm>
            <a:off x="182880" y="1078992"/>
            <a:ext cx="5833872" cy="310896"/>
          </a:xfrm>
          <a:prstGeom prst="rect">
            <a:avLst/>
          </a:prstGeom>
          <a:solidFill>
            <a:srgbClr val="217346"/>
          </a:solidFill>
          <a:ln/>
        </p:spPr>
        <p:txBody>
          <a:bodyPr/>
          <a:lstStyle/>
          <a:p>
            <a:endParaRPr lang="en-GB"/>
          </a:p>
        </p:txBody>
      </p:sp>
      <p:sp>
        <p:nvSpPr>
          <p:cNvPr id="9" name="Text 6"/>
          <p:cNvSpPr/>
          <p:nvPr/>
        </p:nvSpPr>
        <p:spPr>
          <a:xfrm>
            <a:off x="256032" y="1106424"/>
            <a:ext cx="5687568" cy="256032"/>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ACTION 1: SMED on Cell 1 (CNC Turning)</a:t>
            </a:r>
            <a:endParaRPr lang="en-US" sz="950" dirty="0"/>
          </a:p>
        </p:txBody>
      </p:sp>
      <p:sp>
        <p:nvSpPr>
          <p:cNvPr id="10" name="Text 7"/>
          <p:cNvSpPr/>
          <p:nvPr/>
        </p:nvSpPr>
        <p:spPr>
          <a:xfrm>
            <a:off x="256032" y="1426464"/>
            <a:ext cx="5687568" cy="182880"/>
          </a:xfrm>
          <a:prstGeom prst="rect">
            <a:avLst/>
          </a:prstGeom>
          <a:noFill/>
          <a:ln/>
        </p:spPr>
        <p:txBody>
          <a:bodyPr wrap="square" rtlCol="0" anchor="ctr"/>
          <a:lstStyle/>
          <a:p>
            <a:pPr marL="0" indent="0">
              <a:buNone/>
            </a:pPr>
            <a:r>
              <a:rPr lang="en-US" sz="850" b="1" i="1" dirty="0">
                <a:solidFill>
                  <a:srgbClr val="217346"/>
                </a:solidFill>
                <a:latin typeface="Arial" pitchFamily="34" charset="0"/>
                <a:ea typeface="Arial" pitchFamily="34" charset="-122"/>
                <a:cs typeface="Arial" pitchFamily="34" charset="-120"/>
              </a:rPr>
              <a:t>Waste: Waiting, Overproduction</a:t>
            </a:r>
            <a:endParaRPr lang="en-US" sz="850" dirty="0"/>
          </a:p>
        </p:txBody>
      </p:sp>
      <p:sp>
        <p:nvSpPr>
          <p:cNvPr id="11" name="Text 8"/>
          <p:cNvSpPr/>
          <p:nvPr/>
        </p:nvSpPr>
        <p:spPr>
          <a:xfrm>
            <a:off x="256032" y="1627632"/>
            <a:ext cx="5687568" cy="713232"/>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Setup time on Cell 1 averages 35 minutes, forcing batch sizes of 10 units and building excessive WIP. A SMED exercise targets setup reduction to under 15 minutes, enabling smaller batches of 3 to 5 units and reducing WIP downstream by 60%.</a:t>
            </a:r>
            <a:endParaRPr lang="en-US" sz="850" dirty="0"/>
          </a:p>
        </p:txBody>
      </p:sp>
      <p:sp>
        <p:nvSpPr>
          <p:cNvPr id="12" name="Text 9"/>
          <p:cNvSpPr/>
          <p:nvPr/>
        </p:nvSpPr>
        <p:spPr>
          <a:xfrm>
            <a:off x="256032" y="2359152"/>
            <a:ext cx="5687568" cy="182880"/>
          </a:xfrm>
          <a:prstGeom prst="rect">
            <a:avLst/>
          </a:prstGeom>
          <a:noFill/>
          <a:ln/>
        </p:spPr>
        <p:txBody>
          <a:bodyPr wrap="square" rtlCol="0" anchor="ctr"/>
          <a:lstStyle/>
          <a:p>
            <a:pPr marL="0" indent="0">
              <a:buNone/>
            </a:pPr>
            <a:r>
              <a:rPr lang="en-US" sz="800" b="1" dirty="0">
                <a:solidFill>
                  <a:srgbClr val="5B595A"/>
                </a:solidFill>
                <a:latin typeface="Arial" pitchFamily="34" charset="0"/>
                <a:ea typeface="Arial" pitchFamily="34" charset="-122"/>
                <a:cs typeface="Arial" pitchFamily="34" charset="-120"/>
              </a:rPr>
              <a:t>Owner: Operations Manager  |  Target: 8 weeks</a:t>
            </a:r>
            <a:endParaRPr lang="en-US" sz="800" dirty="0"/>
          </a:p>
        </p:txBody>
      </p:sp>
      <p:sp>
        <p:nvSpPr>
          <p:cNvPr id="13" name="Text 10"/>
          <p:cNvSpPr/>
          <p:nvPr/>
        </p:nvSpPr>
        <p:spPr>
          <a:xfrm>
            <a:off x="256032" y="2560320"/>
            <a:ext cx="5687568" cy="201168"/>
          </a:xfrm>
          <a:prstGeom prst="rect">
            <a:avLst/>
          </a:prstGeom>
          <a:noFill/>
          <a:ln/>
        </p:spPr>
        <p:txBody>
          <a:bodyPr wrap="square" rtlCol="0" anchor="ctr"/>
          <a:lstStyle/>
          <a:p>
            <a:pPr marL="0" indent="0">
              <a:buNone/>
            </a:pPr>
            <a:r>
              <a:rPr lang="en-US" sz="850" b="1" dirty="0">
                <a:solidFill>
                  <a:srgbClr val="217346"/>
                </a:solidFill>
                <a:latin typeface="Arial" pitchFamily="34" charset="0"/>
                <a:ea typeface="Arial" pitchFamily="34" charset="-122"/>
                <a:cs typeface="Arial" pitchFamily="34" charset="-120"/>
              </a:rPr>
              <a:t>Target: setup below 15 min. WIP on Cell 1 reduced by 60%.</a:t>
            </a:r>
            <a:endParaRPr lang="en-US" sz="850" dirty="0"/>
          </a:p>
        </p:txBody>
      </p:sp>
      <p:sp>
        <p:nvSpPr>
          <p:cNvPr id="14" name="Shape 11"/>
          <p:cNvSpPr/>
          <p:nvPr/>
        </p:nvSpPr>
        <p:spPr>
          <a:xfrm>
            <a:off x="6199632" y="1078992"/>
            <a:ext cx="5833872" cy="1719072"/>
          </a:xfrm>
          <a:prstGeom prst="rect">
            <a:avLst/>
          </a:prstGeom>
          <a:solidFill>
            <a:srgbClr val="FEE2E2"/>
          </a:solidFill>
          <a:ln w="15240">
            <a:solidFill>
              <a:srgbClr val="B91C1C"/>
            </a:solidFill>
            <a:prstDash val="solid"/>
          </a:ln>
        </p:spPr>
        <p:txBody>
          <a:bodyPr/>
          <a:lstStyle/>
          <a:p>
            <a:endParaRPr lang="en-GB"/>
          </a:p>
        </p:txBody>
      </p:sp>
      <p:sp>
        <p:nvSpPr>
          <p:cNvPr id="15" name="Shape 12"/>
          <p:cNvSpPr/>
          <p:nvPr/>
        </p:nvSpPr>
        <p:spPr>
          <a:xfrm>
            <a:off x="6199632" y="1078992"/>
            <a:ext cx="5833872" cy="310896"/>
          </a:xfrm>
          <a:prstGeom prst="rect">
            <a:avLst/>
          </a:prstGeom>
          <a:solidFill>
            <a:srgbClr val="B91C1C"/>
          </a:solidFill>
          <a:ln/>
        </p:spPr>
        <p:txBody>
          <a:bodyPr/>
          <a:lstStyle/>
          <a:p>
            <a:endParaRPr lang="en-GB"/>
          </a:p>
        </p:txBody>
      </p:sp>
      <p:sp>
        <p:nvSpPr>
          <p:cNvPr id="16" name="Text 13"/>
          <p:cNvSpPr/>
          <p:nvPr/>
        </p:nvSpPr>
        <p:spPr>
          <a:xfrm>
            <a:off x="6272784" y="1106424"/>
            <a:ext cx="5687568" cy="256032"/>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ACTION 2: 8D Root Cause Analysis on Cell 1 scrap</a:t>
            </a:r>
            <a:endParaRPr lang="en-US" sz="950" dirty="0"/>
          </a:p>
        </p:txBody>
      </p:sp>
      <p:sp>
        <p:nvSpPr>
          <p:cNvPr id="17" name="Text 14"/>
          <p:cNvSpPr/>
          <p:nvPr/>
        </p:nvSpPr>
        <p:spPr>
          <a:xfrm>
            <a:off x="6272784" y="1426464"/>
            <a:ext cx="5687568" cy="182880"/>
          </a:xfrm>
          <a:prstGeom prst="rect">
            <a:avLst/>
          </a:prstGeom>
          <a:noFill/>
          <a:ln/>
        </p:spPr>
        <p:txBody>
          <a:bodyPr wrap="square" rtlCol="0" anchor="ctr"/>
          <a:lstStyle/>
          <a:p>
            <a:pPr marL="0" indent="0">
              <a:buNone/>
            </a:pPr>
            <a:r>
              <a:rPr lang="en-US" sz="850" b="1" i="1" dirty="0">
                <a:solidFill>
                  <a:srgbClr val="B91C1C"/>
                </a:solidFill>
                <a:latin typeface="Arial" pitchFamily="34" charset="0"/>
                <a:ea typeface="Arial" pitchFamily="34" charset="-122"/>
                <a:cs typeface="Arial" pitchFamily="34" charset="-120"/>
              </a:rPr>
              <a:t>Waste: Defects</a:t>
            </a:r>
            <a:endParaRPr lang="en-US" sz="850" dirty="0"/>
          </a:p>
        </p:txBody>
      </p:sp>
      <p:sp>
        <p:nvSpPr>
          <p:cNvPr id="18" name="Text 15"/>
          <p:cNvSpPr/>
          <p:nvPr/>
        </p:nvSpPr>
        <p:spPr>
          <a:xfrm>
            <a:off x="6272784" y="1627632"/>
            <a:ext cx="5687568" cy="713232"/>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The 5.8% scrap rate has a single identifiable root cause: inconsistent tool change practice leading to tool wear failures. An 8D project establishes a mandatory tool life management system, recorded on the job traveller for every batch.</a:t>
            </a:r>
            <a:endParaRPr lang="en-US" sz="850" dirty="0"/>
          </a:p>
        </p:txBody>
      </p:sp>
      <p:sp>
        <p:nvSpPr>
          <p:cNvPr id="19" name="Text 16"/>
          <p:cNvSpPr/>
          <p:nvPr/>
        </p:nvSpPr>
        <p:spPr>
          <a:xfrm>
            <a:off x="6272784" y="2359152"/>
            <a:ext cx="5687568" cy="182880"/>
          </a:xfrm>
          <a:prstGeom prst="rect">
            <a:avLst/>
          </a:prstGeom>
          <a:noFill/>
          <a:ln/>
        </p:spPr>
        <p:txBody>
          <a:bodyPr wrap="square" rtlCol="0" anchor="ctr"/>
          <a:lstStyle/>
          <a:p>
            <a:pPr marL="0" indent="0">
              <a:buNone/>
            </a:pPr>
            <a:r>
              <a:rPr lang="en-US" sz="800" b="1" dirty="0">
                <a:solidFill>
                  <a:srgbClr val="5B595A"/>
                </a:solidFill>
                <a:latin typeface="Arial" pitchFamily="34" charset="0"/>
                <a:ea typeface="Arial" pitchFamily="34" charset="-122"/>
                <a:cs typeface="Arial" pitchFamily="34" charset="-120"/>
              </a:rPr>
              <a:t>Owner: Quality Manager  |  Target: 6 weeks</a:t>
            </a:r>
            <a:endParaRPr lang="en-US" sz="800" dirty="0"/>
          </a:p>
        </p:txBody>
      </p:sp>
      <p:sp>
        <p:nvSpPr>
          <p:cNvPr id="20" name="Text 17"/>
          <p:cNvSpPr/>
          <p:nvPr/>
        </p:nvSpPr>
        <p:spPr>
          <a:xfrm>
            <a:off x="6272784" y="2560320"/>
            <a:ext cx="5687568" cy="201168"/>
          </a:xfrm>
          <a:prstGeom prst="rect">
            <a:avLst/>
          </a:prstGeom>
          <a:noFill/>
          <a:ln/>
        </p:spPr>
        <p:txBody>
          <a:bodyPr wrap="square" rtlCol="0" anchor="ctr"/>
          <a:lstStyle/>
          <a:p>
            <a:pPr marL="0" indent="0">
              <a:buNone/>
            </a:pPr>
            <a:r>
              <a:rPr lang="en-US" sz="850" b="1" dirty="0">
                <a:solidFill>
                  <a:srgbClr val="B91C1C"/>
                </a:solidFill>
                <a:latin typeface="Arial" pitchFamily="34" charset="0"/>
                <a:ea typeface="Arial" pitchFamily="34" charset="-122"/>
                <a:cs typeface="Arial" pitchFamily="34" charset="-120"/>
              </a:rPr>
              <a:t>Target: scrap rate below 2%. Est. saving £2,800/month.</a:t>
            </a:r>
            <a:endParaRPr lang="en-US" sz="850" dirty="0"/>
          </a:p>
        </p:txBody>
      </p:sp>
      <p:sp>
        <p:nvSpPr>
          <p:cNvPr id="21" name="Shape 18"/>
          <p:cNvSpPr/>
          <p:nvPr/>
        </p:nvSpPr>
        <p:spPr>
          <a:xfrm>
            <a:off x="182880" y="2871216"/>
            <a:ext cx="5833872" cy="1719072"/>
          </a:xfrm>
          <a:prstGeom prst="rect">
            <a:avLst/>
          </a:prstGeom>
          <a:solidFill>
            <a:srgbClr val="F3EAF4"/>
          </a:solidFill>
          <a:ln w="15240">
            <a:solidFill>
              <a:srgbClr val="83348F"/>
            </a:solidFill>
            <a:prstDash val="solid"/>
          </a:ln>
        </p:spPr>
        <p:txBody>
          <a:bodyPr/>
          <a:lstStyle/>
          <a:p>
            <a:endParaRPr lang="en-GB"/>
          </a:p>
        </p:txBody>
      </p:sp>
      <p:sp>
        <p:nvSpPr>
          <p:cNvPr id="22" name="Shape 19"/>
          <p:cNvSpPr/>
          <p:nvPr/>
        </p:nvSpPr>
        <p:spPr>
          <a:xfrm>
            <a:off x="182880" y="2871216"/>
            <a:ext cx="5833872" cy="310896"/>
          </a:xfrm>
          <a:prstGeom prst="rect">
            <a:avLst/>
          </a:prstGeom>
          <a:solidFill>
            <a:srgbClr val="83348F"/>
          </a:solidFill>
          <a:ln/>
        </p:spPr>
        <p:txBody>
          <a:bodyPr/>
          <a:lstStyle/>
          <a:p>
            <a:endParaRPr lang="en-GB"/>
          </a:p>
        </p:txBody>
      </p:sp>
      <p:sp>
        <p:nvSpPr>
          <p:cNvPr id="23" name="Text 20"/>
          <p:cNvSpPr/>
          <p:nvPr/>
        </p:nvSpPr>
        <p:spPr>
          <a:xfrm>
            <a:off x="256032" y="2898648"/>
            <a:ext cx="5687568" cy="256032"/>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ACTION 3: Relocate deburr station to Cell 2 area</a:t>
            </a:r>
            <a:endParaRPr lang="en-US" sz="950" dirty="0"/>
          </a:p>
        </p:txBody>
      </p:sp>
      <p:sp>
        <p:nvSpPr>
          <p:cNvPr id="24" name="Text 21"/>
          <p:cNvSpPr/>
          <p:nvPr/>
        </p:nvSpPr>
        <p:spPr>
          <a:xfrm>
            <a:off x="256032" y="3218688"/>
            <a:ext cx="5687568" cy="182880"/>
          </a:xfrm>
          <a:prstGeom prst="rect">
            <a:avLst/>
          </a:prstGeom>
          <a:noFill/>
          <a:ln/>
        </p:spPr>
        <p:txBody>
          <a:bodyPr wrap="square" rtlCol="0" anchor="ctr"/>
          <a:lstStyle/>
          <a:p>
            <a:pPr marL="0" indent="0">
              <a:buNone/>
            </a:pPr>
            <a:r>
              <a:rPr lang="en-US" sz="850" b="1" i="1" dirty="0">
                <a:solidFill>
                  <a:srgbClr val="83348F"/>
                </a:solidFill>
                <a:latin typeface="Arial" pitchFamily="34" charset="0"/>
                <a:ea typeface="Arial" pitchFamily="34" charset="-122"/>
                <a:cs typeface="Arial" pitchFamily="34" charset="-120"/>
              </a:rPr>
              <a:t>Waste: Transportation, Motion</a:t>
            </a:r>
            <a:endParaRPr lang="en-US" sz="850" dirty="0"/>
          </a:p>
        </p:txBody>
      </p:sp>
      <p:sp>
        <p:nvSpPr>
          <p:cNvPr id="25" name="Text 22"/>
          <p:cNvSpPr/>
          <p:nvPr/>
        </p:nvSpPr>
        <p:spPr>
          <a:xfrm>
            <a:off x="256032" y="3419856"/>
            <a:ext cx="5687568" cy="713232"/>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The deburr operator walks from the far end of the building to Cell 2 to collect work, consuming 40 minutes per shift. Relocating the deburr station adjacent to Cell 2 eliminates the walk, creates natural flow, and improves throughput time.</a:t>
            </a:r>
            <a:endParaRPr lang="en-US" sz="850" dirty="0"/>
          </a:p>
        </p:txBody>
      </p:sp>
      <p:sp>
        <p:nvSpPr>
          <p:cNvPr id="26" name="Text 23"/>
          <p:cNvSpPr/>
          <p:nvPr/>
        </p:nvSpPr>
        <p:spPr>
          <a:xfrm>
            <a:off x="256032" y="4151376"/>
            <a:ext cx="5687568" cy="182880"/>
          </a:xfrm>
          <a:prstGeom prst="rect">
            <a:avLst/>
          </a:prstGeom>
          <a:noFill/>
          <a:ln/>
        </p:spPr>
        <p:txBody>
          <a:bodyPr wrap="square" rtlCol="0" anchor="ctr"/>
          <a:lstStyle/>
          <a:p>
            <a:pPr marL="0" indent="0">
              <a:buNone/>
            </a:pPr>
            <a:r>
              <a:rPr lang="en-US" sz="800" b="1" dirty="0">
                <a:solidFill>
                  <a:srgbClr val="5B595A"/>
                </a:solidFill>
                <a:latin typeface="Arial" pitchFamily="34" charset="0"/>
                <a:ea typeface="Arial" pitchFamily="34" charset="-122"/>
                <a:cs typeface="Arial" pitchFamily="34" charset="-120"/>
              </a:rPr>
              <a:t>Owner: Facilities / Operations Manager  |  Target: 2 weeks</a:t>
            </a:r>
            <a:endParaRPr lang="en-US" sz="800" dirty="0"/>
          </a:p>
        </p:txBody>
      </p:sp>
      <p:sp>
        <p:nvSpPr>
          <p:cNvPr id="27" name="Text 24"/>
          <p:cNvSpPr/>
          <p:nvPr/>
        </p:nvSpPr>
        <p:spPr>
          <a:xfrm>
            <a:off x="256032" y="4352544"/>
            <a:ext cx="5687568" cy="201168"/>
          </a:xfrm>
          <a:prstGeom prst="rect">
            <a:avLst/>
          </a:prstGeom>
          <a:noFill/>
          <a:ln/>
        </p:spPr>
        <p:txBody>
          <a:bodyPr wrap="square" rtlCol="0" anchor="ctr"/>
          <a:lstStyle/>
          <a:p>
            <a:pPr marL="0" indent="0">
              <a:buNone/>
            </a:pPr>
            <a:r>
              <a:rPr lang="en-US" sz="850" b="1" dirty="0">
                <a:solidFill>
                  <a:srgbClr val="83348F"/>
                </a:solidFill>
                <a:latin typeface="Arial" pitchFamily="34" charset="0"/>
                <a:ea typeface="Arial" pitchFamily="34" charset="-122"/>
                <a:cs typeface="Arial" pitchFamily="34" charset="-120"/>
              </a:rPr>
              <a:t>3.3 hrs/week recovered. Natural Cell 2 to Deburr flow created.</a:t>
            </a:r>
            <a:endParaRPr lang="en-US" sz="850" dirty="0"/>
          </a:p>
        </p:txBody>
      </p:sp>
      <p:sp>
        <p:nvSpPr>
          <p:cNvPr id="28" name="Shape 25"/>
          <p:cNvSpPr/>
          <p:nvPr/>
        </p:nvSpPr>
        <p:spPr>
          <a:xfrm>
            <a:off x="6199632" y="2871216"/>
            <a:ext cx="5833872" cy="1719072"/>
          </a:xfrm>
          <a:prstGeom prst="rect">
            <a:avLst/>
          </a:prstGeom>
          <a:solidFill>
            <a:srgbClr val="FEE2E2"/>
          </a:solidFill>
          <a:ln w="15240">
            <a:solidFill>
              <a:srgbClr val="B91C1C"/>
            </a:solidFill>
            <a:prstDash val="solid"/>
          </a:ln>
        </p:spPr>
        <p:txBody>
          <a:bodyPr/>
          <a:lstStyle/>
          <a:p>
            <a:endParaRPr lang="en-GB"/>
          </a:p>
        </p:txBody>
      </p:sp>
      <p:sp>
        <p:nvSpPr>
          <p:cNvPr id="29" name="Shape 26"/>
          <p:cNvSpPr/>
          <p:nvPr/>
        </p:nvSpPr>
        <p:spPr>
          <a:xfrm>
            <a:off x="6199632" y="2871216"/>
            <a:ext cx="5833872" cy="310896"/>
          </a:xfrm>
          <a:prstGeom prst="rect">
            <a:avLst/>
          </a:prstGeom>
          <a:solidFill>
            <a:srgbClr val="B91C1C"/>
          </a:solidFill>
          <a:ln/>
        </p:spPr>
        <p:txBody>
          <a:bodyPr/>
          <a:lstStyle/>
          <a:p>
            <a:endParaRPr lang="en-GB"/>
          </a:p>
        </p:txBody>
      </p:sp>
      <p:sp>
        <p:nvSpPr>
          <p:cNvPr id="30" name="Text 27"/>
          <p:cNvSpPr/>
          <p:nvPr/>
        </p:nvSpPr>
        <p:spPr>
          <a:xfrm>
            <a:off x="6272784" y="2898648"/>
            <a:ext cx="5687568" cy="256032"/>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ACTION 4: Introduce inline first-off inspection at Cell 2</a:t>
            </a:r>
            <a:endParaRPr lang="en-US" sz="950" dirty="0"/>
          </a:p>
        </p:txBody>
      </p:sp>
      <p:sp>
        <p:nvSpPr>
          <p:cNvPr id="31" name="Text 28"/>
          <p:cNvSpPr/>
          <p:nvPr/>
        </p:nvSpPr>
        <p:spPr>
          <a:xfrm>
            <a:off x="6272784" y="3218688"/>
            <a:ext cx="5687568" cy="182880"/>
          </a:xfrm>
          <a:prstGeom prst="rect">
            <a:avLst/>
          </a:prstGeom>
          <a:noFill/>
          <a:ln/>
        </p:spPr>
        <p:txBody>
          <a:bodyPr wrap="square" rtlCol="0" anchor="ctr"/>
          <a:lstStyle/>
          <a:p>
            <a:pPr marL="0" indent="0">
              <a:buNone/>
            </a:pPr>
            <a:r>
              <a:rPr lang="en-US" sz="850" b="1" i="1" dirty="0">
                <a:solidFill>
                  <a:srgbClr val="B91C1C"/>
                </a:solidFill>
                <a:latin typeface="Arial" pitchFamily="34" charset="0"/>
                <a:ea typeface="Arial" pitchFamily="34" charset="-122"/>
                <a:cs typeface="Arial" pitchFamily="34" charset="-120"/>
              </a:rPr>
              <a:t>Waste: Waiting (inspection bottleneck)</a:t>
            </a:r>
            <a:endParaRPr lang="en-US" sz="850" dirty="0"/>
          </a:p>
        </p:txBody>
      </p:sp>
      <p:sp>
        <p:nvSpPr>
          <p:cNvPr id="32" name="Text 29"/>
          <p:cNvSpPr/>
          <p:nvPr/>
        </p:nvSpPr>
        <p:spPr>
          <a:xfrm>
            <a:off x="6272784" y="3419856"/>
            <a:ext cx="5687568" cy="713232"/>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The CMM inspection room creates a 5.2-day average queue. A first-off inspection protocol introduced at Cell 2 using existing surface plate and gauges eliminates the batch queue entirely. Full CMM inspection is retained for FAI and periodic audit only.</a:t>
            </a:r>
            <a:endParaRPr lang="en-US" sz="850" dirty="0"/>
          </a:p>
        </p:txBody>
      </p:sp>
      <p:sp>
        <p:nvSpPr>
          <p:cNvPr id="33" name="Text 30"/>
          <p:cNvSpPr/>
          <p:nvPr/>
        </p:nvSpPr>
        <p:spPr>
          <a:xfrm>
            <a:off x="6272784" y="4151376"/>
            <a:ext cx="5687568" cy="182880"/>
          </a:xfrm>
          <a:prstGeom prst="rect">
            <a:avLst/>
          </a:prstGeom>
          <a:noFill/>
          <a:ln/>
        </p:spPr>
        <p:txBody>
          <a:bodyPr wrap="square" rtlCol="0" anchor="ctr"/>
          <a:lstStyle/>
          <a:p>
            <a:pPr marL="0" indent="0">
              <a:buNone/>
            </a:pPr>
            <a:r>
              <a:rPr lang="en-US" sz="800" b="1" dirty="0">
                <a:solidFill>
                  <a:srgbClr val="5B595A"/>
                </a:solidFill>
                <a:latin typeface="Arial" pitchFamily="34" charset="0"/>
                <a:ea typeface="Arial" pitchFamily="34" charset="-122"/>
                <a:cs typeface="Arial" pitchFamily="34" charset="-120"/>
              </a:rPr>
              <a:t>Owner: Quality Manager  |  Target: 4 weeks</a:t>
            </a:r>
            <a:endParaRPr lang="en-US" sz="800" dirty="0"/>
          </a:p>
        </p:txBody>
      </p:sp>
      <p:sp>
        <p:nvSpPr>
          <p:cNvPr id="34" name="Text 31"/>
          <p:cNvSpPr/>
          <p:nvPr/>
        </p:nvSpPr>
        <p:spPr>
          <a:xfrm>
            <a:off x="6272784" y="4352544"/>
            <a:ext cx="5687568" cy="201168"/>
          </a:xfrm>
          <a:prstGeom prst="rect">
            <a:avLst/>
          </a:prstGeom>
          <a:noFill/>
          <a:ln/>
        </p:spPr>
        <p:txBody>
          <a:bodyPr wrap="square" rtlCol="0" anchor="ctr"/>
          <a:lstStyle/>
          <a:p>
            <a:pPr marL="0" indent="0">
              <a:buNone/>
            </a:pPr>
            <a:r>
              <a:rPr lang="en-US" sz="850" b="1" dirty="0">
                <a:solidFill>
                  <a:srgbClr val="B91C1C"/>
                </a:solidFill>
                <a:latin typeface="Arial" pitchFamily="34" charset="0"/>
                <a:ea typeface="Arial" pitchFamily="34" charset="-122"/>
                <a:cs typeface="Arial" pitchFamily="34" charset="-120"/>
              </a:rPr>
              <a:t>Inspection queue eliminated. Lead time reduced by 7 days.</a:t>
            </a:r>
            <a:endParaRPr lang="en-US" sz="850" dirty="0"/>
          </a:p>
        </p:txBody>
      </p:sp>
      <p:sp>
        <p:nvSpPr>
          <p:cNvPr id="35" name="Shape 32"/>
          <p:cNvSpPr/>
          <p:nvPr/>
        </p:nvSpPr>
        <p:spPr>
          <a:xfrm>
            <a:off x="182880" y="4663440"/>
            <a:ext cx="5833872" cy="1719072"/>
          </a:xfrm>
          <a:prstGeom prst="rect">
            <a:avLst/>
          </a:prstGeom>
          <a:solidFill>
            <a:srgbClr val="E0F4FD"/>
          </a:solidFill>
          <a:ln w="15240">
            <a:solidFill>
              <a:srgbClr val="009FE3"/>
            </a:solidFill>
            <a:prstDash val="solid"/>
          </a:ln>
        </p:spPr>
        <p:txBody>
          <a:bodyPr/>
          <a:lstStyle/>
          <a:p>
            <a:endParaRPr lang="en-GB"/>
          </a:p>
        </p:txBody>
      </p:sp>
      <p:sp>
        <p:nvSpPr>
          <p:cNvPr id="36" name="Shape 33"/>
          <p:cNvSpPr/>
          <p:nvPr/>
        </p:nvSpPr>
        <p:spPr>
          <a:xfrm>
            <a:off x="182880" y="4663440"/>
            <a:ext cx="5833872" cy="310896"/>
          </a:xfrm>
          <a:prstGeom prst="rect">
            <a:avLst/>
          </a:prstGeom>
          <a:solidFill>
            <a:srgbClr val="009FE3"/>
          </a:solidFill>
          <a:ln/>
        </p:spPr>
        <p:txBody>
          <a:bodyPr/>
          <a:lstStyle/>
          <a:p>
            <a:endParaRPr lang="en-GB"/>
          </a:p>
        </p:txBody>
      </p:sp>
      <p:sp>
        <p:nvSpPr>
          <p:cNvPr id="37" name="Text 34"/>
          <p:cNvSpPr/>
          <p:nvPr/>
        </p:nvSpPr>
        <p:spPr>
          <a:xfrm>
            <a:off x="256032" y="4690872"/>
            <a:ext cx="5687568" cy="256032"/>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ACTION 5: Introduce pull scheduling with WIP limits</a:t>
            </a:r>
            <a:endParaRPr lang="en-US" sz="950" dirty="0"/>
          </a:p>
        </p:txBody>
      </p:sp>
      <p:sp>
        <p:nvSpPr>
          <p:cNvPr id="38" name="Text 35"/>
          <p:cNvSpPr/>
          <p:nvPr/>
        </p:nvSpPr>
        <p:spPr>
          <a:xfrm>
            <a:off x="256032" y="5010912"/>
            <a:ext cx="5687568" cy="182880"/>
          </a:xfrm>
          <a:prstGeom prst="rect">
            <a:avLst/>
          </a:prstGeom>
          <a:noFill/>
          <a:ln/>
        </p:spPr>
        <p:txBody>
          <a:bodyPr wrap="square" rtlCol="0" anchor="ctr"/>
          <a:lstStyle/>
          <a:p>
            <a:pPr marL="0" indent="0">
              <a:buNone/>
            </a:pPr>
            <a:r>
              <a:rPr lang="en-US" sz="850" b="1" i="1" dirty="0">
                <a:solidFill>
                  <a:srgbClr val="009FE3"/>
                </a:solidFill>
                <a:latin typeface="Arial" pitchFamily="34" charset="0"/>
                <a:ea typeface="Arial" pitchFamily="34" charset="-122"/>
                <a:cs typeface="Arial" pitchFamily="34" charset="-120"/>
              </a:rPr>
              <a:t>Waste: Overproduction, Inventory, Waiting</a:t>
            </a:r>
            <a:endParaRPr lang="en-US" sz="850" dirty="0"/>
          </a:p>
        </p:txBody>
      </p:sp>
      <p:sp>
        <p:nvSpPr>
          <p:cNvPr id="39" name="Text 36"/>
          <p:cNvSpPr/>
          <p:nvPr/>
        </p:nvSpPr>
        <p:spPr>
          <a:xfrm>
            <a:off x="256032" y="5212080"/>
            <a:ext cx="5687568" cy="713232"/>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The push schedule is replaced with a simple pull system. Each process step has a maximum WIP limit. No step starts new work until downstream has consumed. This eliminates overproduction at source and reduces total WIP from 192 to under 40 units.</a:t>
            </a:r>
            <a:endParaRPr lang="en-US" sz="850" dirty="0"/>
          </a:p>
        </p:txBody>
      </p:sp>
      <p:sp>
        <p:nvSpPr>
          <p:cNvPr id="40" name="Text 37"/>
          <p:cNvSpPr/>
          <p:nvPr/>
        </p:nvSpPr>
        <p:spPr>
          <a:xfrm>
            <a:off x="256032" y="5943600"/>
            <a:ext cx="5687568" cy="182880"/>
          </a:xfrm>
          <a:prstGeom prst="rect">
            <a:avLst/>
          </a:prstGeom>
          <a:noFill/>
          <a:ln/>
        </p:spPr>
        <p:txBody>
          <a:bodyPr wrap="square" rtlCol="0" anchor="ctr"/>
          <a:lstStyle/>
          <a:p>
            <a:pPr marL="0" indent="0">
              <a:buNone/>
            </a:pPr>
            <a:r>
              <a:rPr lang="en-US" sz="800" b="1" dirty="0">
                <a:solidFill>
                  <a:srgbClr val="5B595A"/>
                </a:solidFill>
                <a:latin typeface="Arial" pitchFamily="34" charset="0"/>
                <a:ea typeface="Arial" pitchFamily="34" charset="-122"/>
                <a:cs typeface="Arial" pitchFamily="34" charset="-120"/>
              </a:rPr>
              <a:t>Owner: Operations Manager  |  Target: 10 weeks</a:t>
            </a:r>
            <a:endParaRPr lang="en-US" sz="800" dirty="0"/>
          </a:p>
        </p:txBody>
      </p:sp>
      <p:sp>
        <p:nvSpPr>
          <p:cNvPr id="42" name="Shape 39"/>
          <p:cNvSpPr/>
          <p:nvPr/>
        </p:nvSpPr>
        <p:spPr>
          <a:xfrm>
            <a:off x="6199632" y="4663440"/>
            <a:ext cx="5833872" cy="1719072"/>
          </a:xfrm>
          <a:prstGeom prst="rect">
            <a:avLst/>
          </a:prstGeom>
          <a:solidFill>
            <a:srgbClr val="FEF3C7"/>
          </a:solidFill>
          <a:ln w="15240">
            <a:solidFill>
              <a:srgbClr val="D4770A"/>
            </a:solidFill>
            <a:prstDash val="solid"/>
          </a:ln>
        </p:spPr>
        <p:txBody>
          <a:bodyPr/>
          <a:lstStyle/>
          <a:p>
            <a:endParaRPr lang="en-GB"/>
          </a:p>
        </p:txBody>
      </p:sp>
      <p:sp>
        <p:nvSpPr>
          <p:cNvPr id="43" name="Shape 40"/>
          <p:cNvSpPr/>
          <p:nvPr/>
        </p:nvSpPr>
        <p:spPr>
          <a:xfrm>
            <a:off x="6199632" y="4663440"/>
            <a:ext cx="5833872" cy="310896"/>
          </a:xfrm>
          <a:prstGeom prst="rect">
            <a:avLst/>
          </a:prstGeom>
          <a:solidFill>
            <a:srgbClr val="D4770A"/>
          </a:solidFill>
          <a:ln/>
        </p:spPr>
        <p:txBody>
          <a:bodyPr/>
          <a:lstStyle/>
          <a:p>
            <a:endParaRPr lang="en-GB"/>
          </a:p>
        </p:txBody>
      </p:sp>
      <p:sp>
        <p:nvSpPr>
          <p:cNvPr id="44" name="Text 41"/>
          <p:cNvSpPr/>
          <p:nvPr/>
        </p:nvSpPr>
        <p:spPr>
          <a:xfrm>
            <a:off x="6272784" y="4690872"/>
            <a:ext cx="5687568" cy="256032"/>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ACTION 6: Operator-led problem solving programme</a:t>
            </a:r>
            <a:endParaRPr lang="en-US" sz="950" dirty="0"/>
          </a:p>
        </p:txBody>
      </p:sp>
      <p:sp>
        <p:nvSpPr>
          <p:cNvPr id="45" name="Text 42"/>
          <p:cNvSpPr/>
          <p:nvPr/>
        </p:nvSpPr>
        <p:spPr>
          <a:xfrm>
            <a:off x="6272784" y="5010912"/>
            <a:ext cx="5687568" cy="182880"/>
          </a:xfrm>
          <a:prstGeom prst="rect">
            <a:avLst/>
          </a:prstGeom>
          <a:noFill/>
          <a:ln/>
        </p:spPr>
        <p:txBody>
          <a:bodyPr wrap="square" rtlCol="0" anchor="ctr"/>
          <a:lstStyle/>
          <a:p>
            <a:pPr marL="0" indent="0">
              <a:buNone/>
            </a:pPr>
            <a:r>
              <a:rPr lang="en-US" sz="850" b="1" i="1" dirty="0">
                <a:solidFill>
                  <a:srgbClr val="D4770A"/>
                </a:solidFill>
                <a:latin typeface="Arial" pitchFamily="34" charset="0"/>
                <a:ea typeface="Arial" pitchFamily="34" charset="-122"/>
                <a:cs typeface="Arial" pitchFamily="34" charset="-120"/>
              </a:rPr>
              <a:t>Waste: Skills (unused)</a:t>
            </a:r>
            <a:endParaRPr lang="en-US" sz="850" dirty="0"/>
          </a:p>
        </p:txBody>
      </p:sp>
      <p:sp>
        <p:nvSpPr>
          <p:cNvPr id="46" name="Text 43"/>
          <p:cNvSpPr/>
          <p:nvPr/>
        </p:nvSpPr>
        <p:spPr>
          <a:xfrm>
            <a:off x="6272784" y="5212080"/>
            <a:ext cx="5687568" cy="713232"/>
          </a:xfrm>
          <a:prstGeom prst="rect">
            <a:avLst/>
          </a:prstGeom>
          <a:noFill/>
          <a:ln/>
        </p:spPr>
        <p:txBody>
          <a:bodyPr wrap="square" rtlCol="0" anchor="t"/>
          <a:lstStyle/>
          <a:p>
            <a:pPr marL="0" indent="0">
              <a:buNone/>
            </a:pPr>
            <a:r>
              <a:rPr lang="en-US" sz="850" dirty="0">
                <a:solidFill>
                  <a:srgbClr val="5B595A"/>
                </a:solidFill>
                <a:latin typeface="Arial" pitchFamily="34" charset="0"/>
                <a:ea typeface="Arial" pitchFamily="34" charset="-122"/>
                <a:cs typeface="Arial" pitchFamily="34" charset="-120"/>
              </a:rPr>
              <a:t>Operators are closest to the problems but not currently involved in solving them. A structured programme introduces weekly 15-minute team reviews at each cell, a simple problem log, and basic training in 5 Whys. This builds the foundation for a self-improving team.</a:t>
            </a:r>
            <a:endParaRPr lang="en-US" sz="850" dirty="0"/>
          </a:p>
        </p:txBody>
      </p:sp>
      <p:sp>
        <p:nvSpPr>
          <p:cNvPr id="47" name="Text 44"/>
          <p:cNvSpPr/>
          <p:nvPr/>
        </p:nvSpPr>
        <p:spPr>
          <a:xfrm>
            <a:off x="6272784" y="5943600"/>
            <a:ext cx="5687568" cy="182880"/>
          </a:xfrm>
          <a:prstGeom prst="rect">
            <a:avLst/>
          </a:prstGeom>
          <a:noFill/>
          <a:ln/>
        </p:spPr>
        <p:txBody>
          <a:bodyPr wrap="square" rtlCol="0" anchor="ctr"/>
          <a:lstStyle/>
          <a:p>
            <a:pPr marL="0" indent="0">
              <a:buNone/>
            </a:pPr>
            <a:r>
              <a:rPr lang="en-US" sz="800" b="1" dirty="0">
                <a:solidFill>
                  <a:srgbClr val="5B595A"/>
                </a:solidFill>
                <a:latin typeface="Arial" pitchFamily="34" charset="0"/>
                <a:ea typeface="Arial" pitchFamily="34" charset="-122"/>
                <a:cs typeface="Arial" pitchFamily="34" charset="-120"/>
              </a:rPr>
              <a:t>Owner: HR / Operations Manager  |  Target: 12 weeks (ongoing)</a:t>
            </a:r>
            <a:endParaRPr lang="en-US" sz="800" dirty="0"/>
          </a:p>
        </p:txBody>
      </p:sp>
      <p:sp>
        <p:nvSpPr>
          <p:cNvPr id="48" name="Rectangle 47"/>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9" name="Picture 48" descr="image.png"/>
          <p:cNvPicPr>
            <a:picLocks noChangeAspect="1"/>
          </p:cNvPicPr>
          <p:nvPr/>
        </p:nvPicPr>
        <p:blipFill>
          <a:blip r:embed="rId5"/>
          <a:stretch>
            <a:fillRect/>
          </a:stretch>
        </p:blipFill>
        <p:spPr>
          <a:xfrm>
            <a:off x="10610088" y="100584"/>
            <a:ext cx="566928" cy="347472"/>
          </a:xfrm>
          <a:prstGeom prst="rect">
            <a:avLst/>
          </a:prstGeom>
        </p:spPr>
      </p:pic>
      <p:pic>
        <p:nvPicPr>
          <p:cNvPr id="50" name="Picture 49" descr="image.png"/>
          <p:cNvPicPr>
            <a:picLocks noChangeAspect="1"/>
          </p:cNvPicPr>
          <p:nvPr/>
        </p:nvPicPr>
        <p:blipFill>
          <a:blip r:embed="rId4"/>
          <a:stretch>
            <a:fillRect/>
          </a:stretch>
        </p:blipFill>
        <p:spPr>
          <a:xfrm>
            <a:off x="11222736" y="100584"/>
            <a:ext cx="658368" cy="347472"/>
          </a:xfrm>
          <a:prstGeom prst="rect">
            <a:avLst/>
          </a:prstGeom>
        </p:spPr>
      </p:pic>
      <p:sp>
        <p:nvSpPr>
          <p:cNvPr id="51" name="Rectangle 50"/>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217346"/>
          </a:solidFill>
          <a:ln/>
        </p:spPr>
        <p:txBody>
          <a:bodyPr/>
          <a:lstStyle/>
          <a:p>
            <a:endParaRPr lang="en-GB"/>
          </a:p>
        </p:txBody>
      </p:sp>
      <p:sp>
        <p:nvSpPr>
          <p:cNvPr id="3" name="Text 1"/>
          <p:cNvSpPr/>
          <p:nvPr/>
        </p:nvSpPr>
        <p:spPr>
          <a:xfrm>
            <a:off x="228600" y="73152"/>
            <a:ext cx="6858000" cy="420624"/>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FUTURE STATE MAP  (AFTER)</a:t>
            </a:r>
            <a:endParaRPr lang="en-US" sz="1700" dirty="0"/>
          </a:p>
        </p:txBody>
      </p:sp>
      <p:sp>
        <p:nvSpPr>
          <p:cNvPr id="4" name="Text 2"/>
          <p:cNvSpPr/>
          <p:nvPr/>
        </p:nvSpPr>
        <p:spPr>
          <a:xfrm>
            <a:off x="6766560" y="128016"/>
            <a:ext cx="5212080" cy="329184"/>
          </a:xfrm>
          <a:prstGeom prst="rect">
            <a:avLst/>
          </a:prstGeom>
          <a:noFill/>
          <a:ln/>
        </p:spPr>
        <p:txBody>
          <a:bodyPr wrap="square" rtlCol="0" anchor="ctr"/>
          <a:lstStyle/>
          <a:p>
            <a:pPr marL="0" indent="0" algn="r">
              <a:buNone/>
            </a:pPr>
            <a:r>
              <a:rPr lang="en-US" sz="850" b="1" dirty="0">
                <a:solidFill>
                  <a:srgbClr val="FFFFFF"/>
                </a:solidFill>
                <a:latin typeface="Arial" pitchFamily="34" charset="0"/>
                <a:ea typeface="Arial" pitchFamily="34" charset="-122"/>
                <a:cs typeface="Arial" pitchFamily="34" charset="-120"/>
              </a:rPr>
              <a:t>Lead Time: 7 days   |   VA Time: 4.2 hrs   |   Process Efficiency: 7.5%</a:t>
            </a:r>
            <a:endParaRPr lang="en-US" sz="850" dirty="0"/>
          </a:p>
        </p:txBody>
      </p:sp>
      <p:sp>
        <p:nvSpPr>
          <p:cNvPr id="5" name="Shape 3"/>
          <p:cNvSpPr/>
          <p:nvPr/>
        </p:nvSpPr>
        <p:spPr>
          <a:xfrm>
            <a:off x="1170432" y="640080"/>
            <a:ext cx="1325880" cy="347472"/>
          </a:xfrm>
          <a:prstGeom prst="rect">
            <a:avLst/>
          </a:prstGeom>
          <a:solidFill>
            <a:srgbClr val="217346"/>
          </a:solidFill>
          <a:ln/>
        </p:spPr>
        <p:txBody>
          <a:bodyPr/>
          <a:lstStyle/>
          <a:p>
            <a:endParaRPr lang="en-GB"/>
          </a:p>
        </p:txBody>
      </p:sp>
      <p:sp>
        <p:nvSpPr>
          <p:cNvPr id="6" name="Text 4"/>
          <p:cNvSpPr/>
          <p:nvPr/>
        </p:nvSpPr>
        <p:spPr>
          <a:xfrm>
            <a:off x="1207008" y="658368"/>
            <a:ext cx="1252728"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GOODS IN</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 STORES</a:t>
            </a:r>
            <a:endParaRPr lang="en-US" sz="850" dirty="0"/>
          </a:p>
        </p:txBody>
      </p:sp>
      <p:sp>
        <p:nvSpPr>
          <p:cNvPr id="7" name="Shape 5"/>
          <p:cNvSpPr/>
          <p:nvPr/>
        </p:nvSpPr>
        <p:spPr>
          <a:xfrm>
            <a:off x="1170432" y="987552"/>
            <a:ext cx="1325880" cy="822960"/>
          </a:xfrm>
          <a:prstGeom prst="rect">
            <a:avLst/>
          </a:prstGeom>
          <a:solidFill>
            <a:srgbClr val="EAF4EE"/>
          </a:solidFill>
          <a:ln w="6350">
            <a:solidFill>
              <a:srgbClr val="CCCCCC"/>
            </a:solidFill>
            <a:prstDash val="solid"/>
          </a:ln>
        </p:spPr>
        <p:txBody>
          <a:bodyPr/>
          <a:lstStyle/>
          <a:p>
            <a:endParaRPr lang="en-GB"/>
          </a:p>
        </p:txBody>
      </p:sp>
      <p:sp>
        <p:nvSpPr>
          <p:cNvPr id="8" name="Text 6"/>
          <p:cNvSpPr/>
          <p:nvPr/>
        </p:nvSpPr>
        <p:spPr>
          <a:xfrm>
            <a:off x="1234440" y="1033272"/>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15 min</a:t>
            </a:r>
            <a:endParaRPr lang="en-US" sz="800" dirty="0"/>
          </a:p>
        </p:txBody>
      </p:sp>
      <p:sp>
        <p:nvSpPr>
          <p:cNvPr id="9" name="Text 7"/>
          <p:cNvSpPr/>
          <p:nvPr/>
        </p:nvSpPr>
        <p:spPr>
          <a:xfrm>
            <a:off x="1234440" y="1179576"/>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0</a:t>
            </a:r>
            <a:endParaRPr lang="en-US" sz="800" dirty="0"/>
          </a:p>
        </p:txBody>
      </p:sp>
      <p:sp>
        <p:nvSpPr>
          <p:cNvPr id="10" name="Text 8"/>
          <p:cNvSpPr/>
          <p:nvPr/>
        </p:nvSpPr>
        <p:spPr>
          <a:xfrm>
            <a:off x="1234440" y="1325880"/>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100%</a:t>
            </a:r>
            <a:endParaRPr lang="en-US" sz="800" dirty="0"/>
          </a:p>
        </p:txBody>
      </p:sp>
      <p:sp>
        <p:nvSpPr>
          <p:cNvPr id="11" name="Text 9"/>
          <p:cNvSpPr/>
          <p:nvPr/>
        </p:nvSpPr>
        <p:spPr>
          <a:xfrm>
            <a:off x="1234440" y="1472184"/>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12" name="Text 10"/>
          <p:cNvSpPr/>
          <p:nvPr/>
        </p:nvSpPr>
        <p:spPr>
          <a:xfrm>
            <a:off x="1234440" y="1618488"/>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5 units</a:t>
            </a:r>
            <a:endParaRPr lang="en-US" sz="800" dirty="0"/>
          </a:p>
        </p:txBody>
      </p:sp>
      <p:sp>
        <p:nvSpPr>
          <p:cNvPr id="13" name="Shape 11"/>
          <p:cNvSpPr/>
          <p:nvPr/>
        </p:nvSpPr>
        <p:spPr>
          <a:xfrm>
            <a:off x="2715768" y="640080"/>
            <a:ext cx="1325880" cy="347472"/>
          </a:xfrm>
          <a:prstGeom prst="rect">
            <a:avLst/>
          </a:prstGeom>
          <a:solidFill>
            <a:srgbClr val="217346"/>
          </a:solidFill>
          <a:ln/>
        </p:spPr>
        <p:txBody>
          <a:bodyPr/>
          <a:lstStyle/>
          <a:p>
            <a:endParaRPr lang="en-GB"/>
          </a:p>
        </p:txBody>
      </p:sp>
      <p:sp>
        <p:nvSpPr>
          <p:cNvPr id="14" name="Text 12"/>
          <p:cNvSpPr/>
          <p:nvPr/>
        </p:nvSpPr>
        <p:spPr>
          <a:xfrm>
            <a:off x="2752344" y="658368"/>
            <a:ext cx="1252728"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CNC TURNING</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Cell 1</a:t>
            </a:r>
            <a:endParaRPr lang="en-US" sz="850" dirty="0"/>
          </a:p>
        </p:txBody>
      </p:sp>
      <p:sp>
        <p:nvSpPr>
          <p:cNvPr id="15" name="Shape 13"/>
          <p:cNvSpPr/>
          <p:nvPr/>
        </p:nvSpPr>
        <p:spPr>
          <a:xfrm>
            <a:off x="2715768" y="987552"/>
            <a:ext cx="1325880" cy="822960"/>
          </a:xfrm>
          <a:prstGeom prst="rect">
            <a:avLst/>
          </a:prstGeom>
          <a:solidFill>
            <a:srgbClr val="EAF4EE"/>
          </a:solidFill>
          <a:ln w="6350">
            <a:solidFill>
              <a:srgbClr val="CCCCCC"/>
            </a:solidFill>
            <a:prstDash val="solid"/>
          </a:ln>
        </p:spPr>
        <p:txBody>
          <a:bodyPr/>
          <a:lstStyle/>
          <a:p>
            <a:endParaRPr lang="en-GB"/>
          </a:p>
        </p:txBody>
      </p:sp>
      <p:sp>
        <p:nvSpPr>
          <p:cNvPr id="16" name="Text 14"/>
          <p:cNvSpPr/>
          <p:nvPr/>
        </p:nvSpPr>
        <p:spPr>
          <a:xfrm>
            <a:off x="2779776" y="1033272"/>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42 min</a:t>
            </a:r>
            <a:endParaRPr lang="en-US" sz="800" dirty="0"/>
          </a:p>
        </p:txBody>
      </p:sp>
      <p:sp>
        <p:nvSpPr>
          <p:cNvPr id="17" name="Text 15"/>
          <p:cNvSpPr/>
          <p:nvPr/>
        </p:nvSpPr>
        <p:spPr>
          <a:xfrm>
            <a:off x="2779776" y="1179576"/>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14 min</a:t>
            </a:r>
            <a:endParaRPr lang="en-US" sz="800" dirty="0"/>
          </a:p>
        </p:txBody>
      </p:sp>
      <p:sp>
        <p:nvSpPr>
          <p:cNvPr id="18" name="Text 16"/>
          <p:cNvSpPr/>
          <p:nvPr/>
        </p:nvSpPr>
        <p:spPr>
          <a:xfrm>
            <a:off x="2779776" y="1325880"/>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87%</a:t>
            </a:r>
            <a:endParaRPr lang="en-US" sz="800" dirty="0"/>
          </a:p>
        </p:txBody>
      </p:sp>
      <p:sp>
        <p:nvSpPr>
          <p:cNvPr id="19" name="Text 17"/>
          <p:cNvSpPr/>
          <p:nvPr/>
        </p:nvSpPr>
        <p:spPr>
          <a:xfrm>
            <a:off x="2779776" y="1472184"/>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2</a:t>
            </a:r>
            <a:endParaRPr lang="en-US" sz="800" dirty="0"/>
          </a:p>
        </p:txBody>
      </p:sp>
      <p:sp>
        <p:nvSpPr>
          <p:cNvPr id="20" name="Text 18"/>
          <p:cNvSpPr/>
          <p:nvPr/>
        </p:nvSpPr>
        <p:spPr>
          <a:xfrm>
            <a:off x="2779776" y="1618488"/>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4 units</a:t>
            </a:r>
            <a:endParaRPr lang="en-US" sz="800" dirty="0"/>
          </a:p>
        </p:txBody>
      </p:sp>
      <p:sp>
        <p:nvSpPr>
          <p:cNvPr id="21" name="Shape 19"/>
          <p:cNvSpPr/>
          <p:nvPr/>
        </p:nvSpPr>
        <p:spPr>
          <a:xfrm>
            <a:off x="4261104" y="640080"/>
            <a:ext cx="1325880" cy="347472"/>
          </a:xfrm>
          <a:prstGeom prst="rect">
            <a:avLst/>
          </a:prstGeom>
          <a:solidFill>
            <a:srgbClr val="217346"/>
          </a:solidFill>
          <a:ln/>
        </p:spPr>
        <p:txBody>
          <a:bodyPr/>
          <a:lstStyle/>
          <a:p>
            <a:endParaRPr lang="en-GB"/>
          </a:p>
        </p:txBody>
      </p:sp>
      <p:sp>
        <p:nvSpPr>
          <p:cNvPr id="22" name="Text 20"/>
          <p:cNvSpPr/>
          <p:nvPr/>
        </p:nvSpPr>
        <p:spPr>
          <a:xfrm>
            <a:off x="4297680" y="658368"/>
            <a:ext cx="1252728"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CNC MILLING</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Cell 2</a:t>
            </a:r>
            <a:endParaRPr lang="en-US" sz="850" dirty="0"/>
          </a:p>
        </p:txBody>
      </p:sp>
      <p:sp>
        <p:nvSpPr>
          <p:cNvPr id="23" name="Shape 21"/>
          <p:cNvSpPr/>
          <p:nvPr/>
        </p:nvSpPr>
        <p:spPr>
          <a:xfrm>
            <a:off x="4261104" y="987552"/>
            <a:ext cx="1325880" cy="822960"/>
          </a:xfrm>
          <a:prstGeom prst="rect">
            <a:avLst/>
          </a:prstGeom>
          <a:solidFill>
            <a:srgbClr val="EAF4EE"/>
          </a:solidFill>
          <a:ln w="6350">
            <a:solidFill>
              <a:srgbClr val="CCCCCC"/>
            </a:solidFill>
            <a:prstDash val="solid"/>
          </a:ln>
        </p:spPr>
        <p:txBody>
          <a:bodyPr/>
          <a:lstStyle/>
          <a:p>
            <a:endParaRPr lang="en-GB"/>
          </a:p>
        </p:txBody>
      </p:sp>
      <p:sp>
        <p:nvSpPr>
          <p:cNvPr id="24" name="Text 22"/>
          <p:cNvSpPr/>
          <p:nvPr/>
        </p:nvSpPr>
        <p:spPr>
          <a:xfrm>
            <a:off x="4325112" y="1033272"/>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38 min</a:t>
            </a:r>
            <a:endParaRPr lang="en-US" sz="800" dirty="0"/>
          </a:p>
        </p:txBody>
      </p:sp>
      <p:sp>
        <p:nvSpPr>
          <p:cNvPr id="25" name="Text 23"/>
          <p:cNvSpPr/>
          <p:nvPr/>
        </p:nvSpPr>
        <p:spPr>
          <a:xfrm>
            <a:off x="4325112" y="1179576"/>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20 min</a:t>
            </a:r>
            <a:endParaRPr lang="en-US" sz="800" dirty="0"/>
          </a:p>
        </p:txBody>
      </p:sp>
      <p:sp>
        <p:nvSpPr>
          <p:cNvPr id="26" name="Text 24"/>
          <p:cNvSpPr/>
          <p:nvPr/>
        </p:nvSpPr>
        <p:spPr>
          <a:xfrm>
            <a:off x="4325112" y="1325880"/>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84%</a:t>
            </a:r>
            <a:endParaRPr lang="en-US" sz="800" dirty="0"/>
          </a:p>
        </p:txBody>
      </p:sp>
      <p:sp>
        <p:nvSpPr>
          <p:cNvPr id="27" name="Text 25"/>
          <p:cNvSpPr/>
          <p:nvPr/>
        </p:nvSpPr>
        <p:spPr>
          <a:xfrm>
            <a:off x="4325112" y="1472184"/>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28" name="Text 26"/>
          <p:cNvSpPr/>
          <p:nvPr/>
        </p:nvSpPr>
        <p:spPr>
          <a:xfrm>
            <a:off x="4325112" y="1618488"/>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4 units</a:t>
            </a:r>
            <a:endParaRPr lang="en-US" sz="800" dirty="0"/>
          </a:p>
        </p:txBody>
      </p:sp>
      <p:sp>
        <p:nvSpPr>
          <p:cNvPr id="29" name="Shape 27"/>
          <p:cNvSpPr/>
          <p:nvPr/>
        </p:nvSpPr>
        <p:spPr>
          <a:xfrm>
            <a:off x="5806440" y="640080"/>
            <a:ext cx="1325880" cy="347472"/>
          </a:xfrm>
          <a:prstGeom prst="rect">
            <a:avLst/>
          </a:prstGeom>
          <a:solidFill>
            <a:srgbClr val="217346"/>
          </a:solidFill>
          <a:ln/>
        </p:spPr>
        <p:txBody>
          <a:bodyPr/>
          <a:lstStyle/>
          <a:p>
            <a:endParaRPr lang="en-GB"/>
          </a:p>
        </p:txBody>
      </p:sp>
      <p:sp>
        <p:nvSpPr>
          <p:cNvPr id="30" name="Text 28"/>
          <p:cNvSpPr/>
          <p:nvPr/>
        </p:nvSpPr>
        <p:spPr>
          <a:xfrm>
            <a:off x="5843016" y="658368"/>
            <a:ext cx="1252728"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DEBURR +</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INLINE INSP.</a:t>
            </a:r>
            <a:endParaRPr lang="en-US" sz="850" dirty="0"/>
          </a:p>
        </p:txBody>
      </p:sp>
      <p:sp>
        <p:nvSpPr>
          <p:cNvPr id="31" name="Shape 29"/>
          <p:cNvSpPr/>
          <p:nvPr/>
        </p:nvSpPr>
        <p:spPr>
          <a:xfrm>
            <a:off x="5806440" y="987552"/>
            <a:ext cx="1325880" cy="822960"/>
          </a:xfrm>
          <a:prstGeom prst="rect">
            <a:avLst/>
          </a:prstGeom>
          <a:solidFill>
            <a:srgbClr val="EAF4EE"/>
          </a:solidFill>
          <a:ln w="6350">
            <a:solidFill>
              <a:srgbClr val="CCCCCC"/>
            </a:solidFill>
            <a:prstDash val="solid"/>
          </a:ln>
        </p:spPr>
        <p:txBody>
          <a:bodyPr/>
          <a:lstStyle/>
          <a:p>
            <a:endParaRPr lang="en-GB"/>
          </a:p>
        </p:txBody>
      </p:sp>
      <p:sp>
        <p:nvSpPr>
          <p:cNvPr id="32" name="Text 30"/>
          <p:cNvSpPr/>
          <p:nvPr/>
        </p:nvSpPr>
        <p:spPr>
          <a:xfrm>
            <a:off x="5870448" y="1033272"/>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28 min</a:t>
            </a:r>
            <a:endParaRPr lang="en-US" sz="800" dirty="0"/>
          </a:p>
        </p:txBody>
      </p:sp>
      <p:sp>
        <p:nvSpPr>
          <p:cNvPr id="33" name="Text 31"/>
          <p:cNvSpPr/>
          <p:nvPr/>
        </p:nvSpPr>
        <p:spPr>
          <a:xfrm>
            <a:off x="5870448" y="1179576"/>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5 min</a:t>
            </a:r>
            <a:endParaRPr lang="en-US" sz="800" dirty="0"/>
          </a:p>
        </p:txBody>
      </p:sp>
      <p:sp>
        <p:nvSpPr>
          <p:cNvPr id="34" name="Text 32"/>
          <p:cNvSpPr/>
          <p:nvPr/>
        </p:nvSpPr>
        <p:spPr>
          <a:xfrm>
            <a:off x="5870448" y="1325880"/>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97%</a:t>
            </a:r>
            <a:endParaRPr lang="en-US" sz="800" dirty="0"/>
          </a:p>
        </p:txBody>
      </p:sp>
      <p:sp>
        <p:nvSpPr>
          <p:cNvPr id="35" name="Text 33"/>
          <p:cNvSpPr/>
          <p:nvPr/>
        </p:nvSpPr>
        <p:spPr>
          <a:xfrm>
            <a:off x="5870448" y="1472184"/>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36" name="Text 34"/>
          <p:cNvSpPr/>
          <p:nvPr/>
        </p:nvSpPr>
        <p:spPr>
          <a:xfrm>
            <a:off x="5870448" y="1618488"/>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1st-off inline</a:t>
            </a:r>
            <a:endParaRPr lang="en-US" sz="800" dirty="0"/>
          </a:p>
        </p:txBody>
      </p:sp>
      <p:sp>
        <p:nvSpPr>
          <p:cNvPr id="37" name="Shape 35"/>
          <p:cNvSpPr/>
          <p:nvPr/>
        </p:nvSpPr>
        <p:spPr>
          <a:xfrm>
            <a:off x="7351776" y="640080"/>
            <a:ext cx="1325880" cy="347472"/>
          </a:xfrm>
          <a:prstGeom prst="rect">
            <a:avLst/>
          </a:prstGeom>
          <a:solidFill>
            <a:srgbClr val="009FE3"/>
          </a:solidFill>
          <a:ln/>
        </p:spPr>
        <p:txBody>
          <a:bodyPr/>
          <a:lstStyle/>
          <a:p>
            <a:endParaRPr lang="en-GB"/>
          </a:p>
        </p:txBody>
      </p:sp>
      <p:sp>
        <p:nvSpPr>
          <p:cNvPr id="38" name="Text 36"/>
          <p:cNvSpPr/>
          <p:nvPr/>
        </p:nvSpPr>
        <p:spPr>
          <a:xfrm>
            <a:off x="7388352" y="658368"/>
            <a:ext cx="1252728"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CMM INSP.</a:t>
            </a:r>
            <a:endParaRPr lang="en-US" sz="850" dirty="0"/>
          </a:p>
          <a:p>
            <a:pPr marL="0" indent="0" algn="ctr">
              <a:buNone/>
            </a:pPr>
            <a:r>
              <a:rPr lang="en-US" sz="850" b="1" dirty="0">
                <a:solidFill>
                  <a:srgbClr val="FFFFFF"/>
                </a:solidFill>
                <a:latin typeface="Arial" pitchFamily="34" charset="0"/>
                <a:ea typeface="Arial" pitchFamily="34" charset="-122"/>
                <a:cs typeface="Arial" pitchFamily="34" charset="-120"/>
              </a:rPr>
              <a:t>(audit only)</a:t>
            </a:r>
            <a:endParaRPr lang="en-US" sz="850" dirty="0"/>
          </a:p>
        </p:txBody>
      </p:sp>
      <p:sp>
        <p:nvSpPr>
          <p:cNvPr id="39" name="Shape 37"/>
          <p:cNvSpPr/>
          <p:nvPr/>
        </p:nvSpPr>
        <p:spPr>
          <a:xfrm>
            <a:off x="7351776" y="987552"/>
            <a:ext cx="1325880" cy="822960"/>
          </a:xfrm>
          <a:prstGeom prst="rect">
            <a:avLst/>
          </a:prstGeom>
          <a:solidFill>
            <a:srgbClr val="E0F4FD"/>
          </a:solidFill>
          <a:ln w="6350">
            <a:solidFill>
              <a:srgbClr val="CCCCCC"/>
            </a:solidFill>
            <a:prstDash val="solid"/>
          </a:ln>
        </p:spPr>
        <p:txBody>
          <a:bodyPr/>
          <a:lstStyle/>
          <a:p>
            <a:endParaRPr lang="en-GB"/>
          </a:p>
        </p:txBody>
      </p:sp>
      <p:sp>
        <p:nvSpPr>
          <p:cNvPr id="40" name="Text 38"/>
          <p:cNvSpPr/>
          <p:nvPr/>
        </p:nvSpPr>
        <p:spPr>
          <a:xfrm>
            <a:off x="7415784" y="1033272"/>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55 min</a:t>
            </a:r>
            <a:endParaRPr lang="en-US" sz="800" dirty="0"/>
          </a:p>
        </p:txBody>
      </p:sp>
      <p:sp>
        <p:nvSpPr>
          <p:cNvPr id="41" name="Text 39"/>
          <p:cNvSpPr/>
          <p:nvPr/>
        </p:nvSpPr>
        <p:spPr>
          <a:xfrm>
            <a:off x="7415784" y="1179576"/>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15 min</a:t>
            </a:r>
            <a:endParaRPr lang="en-US" sz="800" dirty="0"/>
          </a:p>
        </p:txBody>
      </p:sp>
      <p:sp>
        <p:nvSpPr>
          <p:cNvPr id="42" name="Text 40"/>
          <p:cNvSpPr/>
          <p:nvPr/>
        </p:nvSpPr>
        <p:spPr>
          <a:xfrm>
            <a:off x="7415784" y="1325880"/>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90%</a:t>
            </a:r>
            <a:endParaRPr lang="en-US" sz="800" dirty="0"/>
          </a:p>
        </p:txBody>
      </p:sp>
      <p:sp>
        <p:nvSpPr>
          <p:cNvPr id="43" name="Text 41"/>
          <p:cNvSpPr/>
          <p:nvPr/>
        </p:nvSpPr>
        <p:spPr>
          <a:xfrm>
            <a:off x="7415784" y="1472184"/>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44" name="Text 42"/>
          <p:cNvSpPr/>
          <p:nvPr/>
        </p:nvSpPr>
        <p:spPr>
          <a:xfrm>
            <a:off x="7415784" y="1618488"/>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FAI / periodic</a:t>
            </a:r>
            <a:endParaRPr lang="en-US" sz="800" dirty="0"/>
          </a:p>
        </p:txBody>
      </p:sp>
      <p:sp>
        <p:nvSpPr>
          <p:cNvPr id="45" name="Shape 43"/>
          <p:cNvSpPr/>
          <p:nvPr/>
        </p:nvSpPr>
        <p:spPr>
          <a:xfrm>
            <a:off x="8897112" y="640080"/>
            <a:ext cx="1325880" cy="347472"/>
          </a:xfrm>
          <a:prstGeom prst="rect">
            <a:avLst/>
          </a:prstGeom>
          <a:solidFill>
            <a:srgbClr val="217346"/>
          </a:solidFill>
          <a:ln/>
        </p:spPr>
        <p:txBody>
          <a:bodyPr/>
          <a:lstStyle/>
          <a:p>
            <a:endParaRPr lang="en-GB"/>
          </a:p>
        </p:txBody>
      </p:sp>
      <p:sp>
        <p:nvSpPr>
          <p:cNvPr id="46" name="Text 44"/>
          <p:cNvSpPr/>
          <p:nvPr/>
        </p:nvSpPr>
        <p:spPr>
          <a:xfrm>
            <a:off x="8933688" y="658368"/>
            <a:ext cx="1252728"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DESPATCH</a:t>
            </a:r>
            <a:endParaRPr lang="en-US" sz="850" dirty="0"/>
          </a:p>
        </p:txBody>
      </p:sp>
      <p:sp>
        <p:nvSpPr>
          <p:cNvPr id="47" name="Shape 45"/>
          <p:cNvSpPr/>
          <p:nvPr/>
        </p:nvSpPr>
        <p:spPr>
          <a:xfrm>
            <a:off x="8897112" y="987552"/>
            <a:ext cx="1325880" cy="822960"/>
          </a:xfrm>
          <a:prstGeom prst="rect">
            <a:avLst/>
          </a:prstGeom>
          <a:solidFill>
            <a:srgbClr val="EAF4EE"/>
          </a:solidFill>
          <a:ln w="6350">
            <a:solidFill>
              <a:srgbClr val="CCCCCC"/>
            </a:solidFill>
            <a:prstDash val="solid"/>
          </a:ln>
        </p:spPr>
        <p:txBody>
          <a:bodyPr/>
          <a:lstStyle/>
          <a:p>
            <a:endParaRPr lang="en-GB"/>
          </a:p>
        </p:txBody>
      </p:sp>
      <p:sp>
        <p:nvSpPr>
          <p:cNvPr id="48" name="Text 46"/>
          <p:cNvSpPr/>
          <p:nvPr/>
        </p:nvSpPr>
        <p:spPr>
          <a:xfrm>
            <a:off x="8961120" y="1033272"/>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CT: 20 min</a:t>
            </a:r>
            <a:endParaRPr lang="en-US" sz="800" dirty="0"/>
          </a:p>
        </p:txBody>
      </p:sp>
      <p:sp>
        <p:nvSpPr>
          <p:cNvPr id="49" name="Text 47"/>
          <p:cNvSpPr/>
          <p:nvPr/>
        </p:nvSpPr>
        <p:spPr>
          <a:xfrm>
            <a:off x="8961120" y="1179576"/>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C/O: 0</a:t>
            </a:r>
            <a:endParaRPr lang="en-US" sz="800" dirty="0"/>
          </a:p>
        </p:txBody>
      </p:sp>
      <p:sp>
        <p:nvSpPr>
          <p:cNvPr id="50" name="Text 48"/>
          <p:cNvSpPr/>
          <p:nvPr/>
        </p:nvSpPr>
        <p:spPr>
          <a:xfrm>
            <a:off x="8961120" y="1325880"/>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Uptime: 100%</a:t>
            </a:r>
            <a:endParaRPr lang="en-US" sz="800" dirty="0"/>
          </a:p>
        </p:txBody>
      </p:sp>
      <p:sp>
        <p:nvSpPr>
          <p:cNvPr id="51" name="Text 49"/>
          <p:cNvSpPr/>
          <p:nvPr/>
        </p:nvSpPr>
        <p:spPr>
          <a:xfrm>
            <a:off x="8961120" y="1472184"/>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Operators: 1</a:t>
            </a:r>
            <a:endParaRPr lang="en-US" sz="800" dirty="0"/>
          </a:p>
        </p:txBody>
      </p:sp>
      <p:sp>
        <p:nvSpPr>
          <p:cNvPr id="52" name="Text 50"/>
          <p:cNvSpPr/>
          <p:nvPr/>
        </p:nvSpPr>
        <p:spPr>
          <a:xfrm>
            <a:off x="8961120" y="1618488"/>
            <a:ext cx="1197864" cy="137160"/>
          </a:xfrm>
          <a:prstGeom prst="rect">
            <a:avLst/>
          </a:prstGeom>
          <a:noFill/>
          <a:ln/>
        </p:spPr>
        <p:txBody>
          <a:bodyPr wrap="square" rtlCol="0" anchor="ctr"/>
          <a:lstStyle/>
          <a:p>
            <a:pPr marL="0" indent="0">
              <a:buNone/>
            </a:pPr>
            <a:r>
              <a:rPr lang="en-US" sz="800" dirty="0">
                <a:solidFill>
                  <a:srgbClr val="5B595A"/>
                </a:solidFill>
                <a:latin typeface="Arial" pitchFamily="34" charset="0"/>
                <a:ea typeface="Arial" pitchFamily="34" charset="-122"/>
                <a:cs typeface="Arial" pitchFamily="34" charset="-120"/>
              </a:rPr>
              <a:t>Batch: 5 units</a:t>
            </a:r>
            <a:endParaRPr lang="en-US" sz="800" dirty="0"/>
          </a:p>
        </p:txBody>
      </p:sp>
      <p:sp>
        <p:nvSpPr>
          <p:cNvPr id="53" name="Shape 51"/>
          <p:cNvSpPr/>
          <p:nvPr/>
        </p:nvSpPr>
        <p:spPr>
          <a:xfrm>
            <a:off x="137160" y="640080"/>
            <a:ext cx="914400" cy="1170432"/>
          </a:xfrm>
          <a:prstGeom prst="rect">
            <a:avLst/>
          </a:prstGeom>
          <a:solidFill>
            <a:srgbClr val="F2F2F2"/>
          </a:solidFill>
          <a:ln w="10160">
            <a:solidFill>
              <a:srgbClr val="5B595A"/>
            </a:solidFill>
            <a:prstDash val="solid"/>
          </a:ln>
        </p:spPr>
        <p:txBody>
          <a:bodyPr/>
          <a:lstStyle/>
          <a:p>
            <a:endParaRPr lang="en-GB"/>
          </a:p>
        </p:txBody>
      </p:sp>
      <p:sp>
        <p:nvSpPr>
          <p:cNvPr id="54" name="Shape 52"/>
          <p:cNvSpPr/>
          <p:nvPr/>
        </p:nvSpPr>
        <p:spPr>
          <a:xfrm>
            <a:off x="137160" y="640080"/>
            <a:ext cx="914400" cy="347472"/>
          </a:xfrm>
          <a:prstGeom prst="rect">
            <a:avLst/>
          </a:prstGeom>
          <a:solidFill>
            <a:srgbClr val="5B595A"/>
          </a:solidFill>
          <a:ln/>
        </p:spPr>
        <p:txBody>
          <a:bodyPr/>
          <a:lstStyle/>
          <a:p>
            <a:endParaRPr lang="en-GB"/>
          </a:p>
        </p:txBody>
      </p:sp>
      <p:sp>
        <p:nvSpPr>
          <p:cNvPr id="55" name="Text 53"/>
          <p:cNvSpPr/>
          <p:nvPr/>
        </p:nvSpPr>
        <p:spPr>
          <a:xfrm>
            <a:off x="137160" y="658368"/>
            <a:ext cx="914400"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SUPPLIER</a:t>
            </a:r>
            <a:endParaRPr lang="en-US" sz="850" dirty="0"/>
          </a:p>
        </p:txBody>
      </p:sp>
      <p:sp>
        <p:nvSpPr>
          <p:cNvPr id="56" name="Text 54"/>
          <p:cNvSpPr/>
          <p:nvPr/>
        </p:nvSpPr>
        <p:spPr>
          <a:xfrm>
            <a:off x="164592" y="1097280"/>
            <a:ext cx="841248" cy="457200"/>
          </a:xfrm>
          <a:prstGeom prst="rect">
            <a:avLst/>
          </a:prstGeom>
          <a:noFill/>
          <a:ln/>
        </p:spPr>
        <p:txBody>
          <a:bodyPr wrap="square" rtlCol="0" anchor="ctr"/>
          <a:lstStyle/>
          <a:p>
            <a:pPr marL="0" indent="0">
              <a:buNone/>
            </a:pPr>
            <a:r>
              <a:rPr lang="en-US" sz="750" dirty="0">
                <a:solidFill>
                  <a:srgbClr val="5B595A"/>
                </a:solidFill>
                <a:latin typeface="Arial" pitchFamily="34" charset="0"/>
                <a:ea typeface="Arial" pitchFamily="34" charset="-122"/>
                <a:cs typeface="Arial" pitchFamily="34" charset="-120"/>
              </a:rPr>
              <a:t>Steel stockholder</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Weekly delivery</a:t>
            </a:r>
            <a:endParaRPr lang="en-US" sz="750" dirty="0"/>
          </a:p>
        </p:txBody>
      </p:sp>
      <p:sp>
        <p:nvSpPr>
          <p:cNvPr id="57" name="Shape 55"/>
          <p:cNvSpPr/>
          <p:nvPr/>
        </p:nvSpPr>
        <p:spPr>
          <a:xfrm>
            <a:off x="10469880" y="640080"/>
            <a:ext cx="914400" cy="1170432"/>
          </a:xfrm>
          <a:prstGeom prst="rect">
            <a:avLst/>
          </a:prstGeom>
          <a:solidFill>
            <a:srgbClr val="F2F2F2"/>
          </a:solidFill>
          <a:ln w="10160">
            <a:solidFill>
              <a:srgbClr val="5B595A"/>
            </a:solidFill>
            <a:prstDash val="solid"/>
          </a:ln>
        </p:spPr>
        <p:txBody>
          <a:bodyPr/>
          <a:lstStyle/>
          <a:p>
            <a:endParaRPr lang="en-GB"/>
          </a:p>
        </p:txBody>
      </p:sp>
      <p:sp>
        <p:nvSpPr>
          <p:cNvPr id="58" name="Shape 56"/>
          <p:cNvSpPr/>
          <p:nvPr/>
        </p:nvSpPr>
        <p:spPr>
          <a:xfrm>
            <a:off x="10469880" y="640080"/>
            <a:ext cx="914400" cy="347472"/>
          </a:xfrm>
          <a:prstGeom prst="rect">
            <a:avLst/>
          </a:prstGeom>
          <a:solidFill>
            <a:srgbClr val="5B595A"/>
          </a:solidFill>
          <a:ln/>
        </p:spPr>
        <p:txBody>
          <a:bodyPr/>
          <a:lstStyle/>
          <a:p>
            <a:endParaRPr lang="en-GB"/>
          </a:p>
        </p:txBody>
      </p:sp>
      <p:sp>
        <p:nvSpPr>
          <p:cNvPr id="59" name="Text 57"/>
          <p:cNvSpPr/>
          <p:nvPr/>
        </p:nvSpPr>
        <p:spPr>
          <a:xfrm>
            <a:off x="10469880" y="658368"/>
            <a:ext cx="914400" cy="310896"/>
          </a:xfrm>
          <a:prstGeom prst="rect">
            <a:avLst/>
          </a:prstGeom>
          <a:noFill/>
          <a:ln/>
        </p:spPr>
        <p:txBody>
          <a:bodyPr wrap="square"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CUSTOMER</a:t>
            </a:r>
            <a:endParaRPr lang="en-US" sz="850" dirty="0"/>
          </a:p>
        </p:txBody>
      </p:sp>
      <p:sp>
        <p:nvSpPr>
          <p:cNvPr id="60" name="Text 58"/>
          <p:cNvSpPr/>
          <p:nvPr/>
        </p:nvSpPr>
        <p:spPr>
          <a:xfrm>
            <a:off x="10506456" y="1078992"/>
            <a:ext cx="841248" cy="502920"/>
          </a:xfrm>
          <a:prstGeom prst="rect">
            <a:avLst/>
          </a:prstGeom>
          <a:noFill/>
          <a:ln/>
        </p:spPr>
        <p:txBody>
          <a:bodyPr wrap="square" rtlCol="0" anchor="ctr"/>
          <a:lstStyle/>
          <a:p>
            <a:pPr marL="0" indent="0">
              <a:buNone/>
            </a:pPr>
            <a:r>
              <a:rPr lang="en-US" sz="750" dirty="0">
                <a:solidFill>
                  <a:srgbClr val="5B595A"/>
                </a:solidFill>
                <a:latin typeface="Arial" pitchFamily="34" charset="0"/>
                <a:ea typeface="Arial" pitchFamily="34" charset="-122"/>
                <a:cs typeface="Arial" pitchFamily="34" charset="-120"/>
              </a:rPr>
              <a:t>Nuclear OEM</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60/week</a:t>
            </a:r>
            <a:endParaRPr lang="en-US" sz="750" dirty="0"/>
          </a:p>
          <a:p>
            <a:pPr marL="0" indent="0">
              <a:buNone/>
            </a:pPr>
            <a:r>
              <a:rPr lang="en-US" sz="750" dirty="0">
                <a:solidFill>
                  <a:srgbClr val="5B595A"/>
                </a:solidFill>
                <a:latin typeface="Arial" pitchFamily="34" charset="0"/>
                <a:ea typeface="Arial" pitchFamily="34" charset="-122"/>
                <a:cs typeface="Arial" pitchFamily="34" charset="-120"/>
              </a:rPr>
              <a:t>OTIF 95%+</a:t>
            </a:r>
            <a:endParaRPr lang="en-US" sz="750" dirty="0"/>
          </a:p>
        </p:txBody>
      </p:sp>
      <p:sp>
        <p:nvSpPr>
          <p:cNvPr id="61" name="Shape 59"/>
          <p:cNvSpPr/>
          <p:nvPr/>
        </p:nvSpPr>
        <p:spPr>
          <a:xfrm>
            <a:off x="1170432" y="576072"/>
            <a:ext cx="9281160" cy="91440"/>
          </a:xfrm>
          <a:prstGeom prst="rect">
            <a:avLst/>
          </a:prstGeom>
          <a:solidFill>
            <a:srgbClr val="EAF4EE"/>
          </a:solidFill>
          <a:ln w="5080">
            <a:solidFill>
              <a:srgbClr val="217346"/>
            </a:solidFill>
            <a:prstDash val="solid"/>
          </a:ln>
        </p:spPr>
        <p:txBody>
          <a:bodyPr/>
          <a:lstStyle/>
          <a:p>
            <a:endParaRPr lang="en-GB"/>
          </a:p>
        </p:txBody>
      </p:sp>
      <p:sp>
        <p:nvSpPr>
          <p:cNvPr id="62" name="Text 60"/>
          <p:cNvSpPr/>
          <p:nvPr/>
        </p:nvSpPr>
        <p:spPr>
          <a:xfrm>
            <a:off x="2926080" y="448056"/>
            <a:ext cx="5029200" cy="182880"/>
          </a:xfrm>
          <a:prstGeom prst="rect">
            <a:avLst/>
          </a:prstGeom>
          <a:noFill/>
          <a:ln/>
        </p:spPr>
        <p:txBody>
          <a:bodyPr wrap="square" rtlCol="0" anchor="ctr"/>
          <a:lstStyle/>
          <a:p>
            <a:pPr marL="0" indent="0" algn="ctr">
              <a:buNone/>
            </a:pPr>
            <a:r>
              <a:rPr lang="en-US" sz="750" b="1" i="1" dirty="0">
                <a:solidFill>
                  <a:srgbClr val="217346"/>
                </a:solidFill>
                <a:latin typeface="Arial" pitchFamily="34" charset="0"/>
                <a:ea typeface="Arial" pitchFamily="34" charset="-122"/>
                <a:cs typeface="Arial" pitchFamily="34" charset="-120"/>
              </a:rPr>
              <a:t>Electronic pull schedule: customer demand drives production (takt-time based)</a:t>
            </a:r>
            <a:endParaRPr lang="en-US" sz="750" dirty="0"/>
          </a:p>
        </p:txBody>
      </p:sp>
      <p:sp>
        <p:nvSpPr>
          <p:cNvPr id="63" name="Shape 61"/>
          <p:cNvSpPr/>
          <p:nvPr/>
        </p:nvSpPr>
        <p:spPr>
          <a:xfrm>
            <a:off x="2514600" y="713232"/>
            <a:ext cx="182880" cy="201168"/>
          </a:xfrm>
          <a:prstGeom prst="rect">
            <a:avLst/>
          </a:prstGeom>
          <a:solidFill>
            <a:srgbClr val="217346"/>
          </a:solidFill>
          <a:ln/>
        </p:spPr>
        <p:txBody>
          <a:bodyPr/>
          <a:lstStyle/>
          <a:p>
            <a:endParaRPr lang="en-GB"/>
          </a:p>
        </p:txBody>
      </p:sp>
      <p:sp>
        <p:nvSpPr>
          <p:cNvPr id="64" name="Text 62"/>
          <p:cNvSpPr/>
          <p:nvPr/>
        </p:nvSpPr>
        <p:spPr>
          <a:xfrm>
            <a:off x="2514600"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65" name="Shape 63"/>
          <p:cNvSpPr/>
          <p:nvPr/>
        </p:nvSpPr>
        <p:spPr>
          <a:xfrm>
            <a:off x="4059936" y="713232"/>
            <a:ext cx="182880" cy="201168"/>
          </a:xfrm>
          <a:prstGeom prst="rect">
            <a:avLst/>
          </a:prstGeom>
          <a:solidFill>
            <a:srgbClr val="217346"/>
          </a:solidFill>
          <a:ln/>
        </p:spPr>
        <p:txBody>
          <a:bodyPr/>
          <a:lstStyle/>
          <a:p>
            <a:endParaRPr lang="en-GB"/>
          </a:p>
        </p:txBody>
      </p:sp>
      <p:sp>
        <p:nvSpPr>
          <p:cNvPr id="66" name="Text 64"/>
          <p:cNvSpPr/>
          <p:nvPr/>
        </p:nvSpPr>
        <p:spPr>
          <a:xfrm>
            <a:off x="4059936"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67" name="Shape 65"/>
          <p:cNvSpPr/>
          <p:nvPr/>
        </p:nvSpPr>
        <p:spPr>
          <a:xfrm>
            <a:off x="5605272" y="713232"/>
            <a:ext cx="182880" cy="201168"/>
          </a:xfrm>
          <a:prstGeom prst="rect">
            <a:avLst/>
          </a:prstGeom>
          <a:solidFill>
            <a:srgbClr val="217346"/>
          </a:solidFill>
          <a:ln/>
        </p:spPr>
        <p:txBody>
          <a:bodyPr/>
          <a:lstStyle/>
          <a:p>
            <a:endParaRPr lang="en-GB"/>
          </a:p>
        </p:txBody>
      </p:sp>
      <p:sp>
        <p:nvSpPr>
          <p:cNvPr id="68" name="Text 66"/>
          <p:cNvSpPr/>
          <p:nvPr/>
        </p:nvSpPr>
        <p:spPr>
          <a:xfrm>
            <a:off x="5605272"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69" name="Shape 67"/>
          <p:cNvSpPr/>
          <p:nvPr/>
        </p:nvSpPr>
        <p:spPr>
          <a:xfrm>
            <a:off x="7150608" y="713232"/>
            <a:ext cx="182880" cy="201168"/>
          </a:xfrm>
          <a:prstGeom prst="rect">
            <a:avLst/>
          </a:prstGeom>
          <a:solidFill>
            <a:srgbClr val="217346"/>
          </a:solidFill>
          <a:ln/>
        </p:spPr>
        <p:txBody>
          <a:bodyPr/>
          <a:lstStyle/>
          <a:p>
            <a:endParaRPr lang="en-GB"/>
          </a:p>
        </p:txBody>
      </p:sp>
      <p:sp>
        <p:nvSpPr>
          <p:cNvPr id="70" name="Text 68"/>
          <p:cNvSpPr/>
          <p:nvPr/>
        </p:nvSpPr>
        <p:spPr>
          <a:xfrm>
            <a:off x="7150608"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71" name="Shape 69"/>
          <p:cNvSpPr/>
          <p:nvPr/>
        </p:nvSpPr>
        <p:spPr>
          <a:xfrm>
            <a:off x="8695944" y="713232"/>
            <a:ext cx="182880" cy="201168"/>
          </a:xfrm>
          <a:prstGeom prst="rect">
            <a:avLst/>
          </a:prstGeom>
          <a:solidFill>
            <a:srgbClr val="217346"/>
          </a:solidFill>
          <a:ln/>
        </p:spPr>
        <p:txBody>
          <a:bodyPr/>
          <a:lstStyle/>
          <a:p>
            <a:endParaRPr lang="en-GB"/>
          </a:p>
        </p:txBody>
      </p:sp>
      <p:sp>
        <p:nvSpPr>
          <p:cNvPr id="72" name="Text 70"/>
          <p:cNvSpPr/>
          <p:nvPr/>
        </p:nvSpPr>
        <p:spPr>
          <a:xfrm>
            <a:off x="8695944" y="713232"/>
            <a:ext cx="182880" cy="201168"/>
          </a:xfrm>
          <a:prstGeom prst="rect">
            <a:avLst/>
          </a:prstGeom>
          <a:noFill/>
          <a:ln/>
        </p:spPr>
        <p:txBody>
          <a:bodyPr wrap="square" rtlCol="0" anchor="ctr"/>
          <a:lstStyle/>
          <a:p>
            <a:pPr marL="0" indent="0" algn="ctr">
              <a:buNone/>
            </a:pPr>
            <a:r>
              <a:rPr lang="en-US" sz="550" b="1" dirty="0">
                <a:solidFill>
                  <a:srgbClr val="FFFFFF"/>
                </a:solidFill>
                <a:latin typeface="Arial" pitchFamily="34" charset="0"/>
                <a:ea typeface="Arial" pitchFamily="34" charset="-122"/>
                <a:cs typeface="Arial" pitchFamily="34" charset="-120"/>
              </a:rPr>
              <a:t>PULL</a:t>
            </a:r>
            <a:endParaRPr lang="en-US" sz="550" dirty="0"/>
          </a:p>
        </p:txBody>
      </p:sp>
      <p:sp>
        <p:nvSpPr>
          <p:cNvPr id="73" name="Shape 71"/>
          <p:cNvSpPr/>
          <p:nvPr/>
        </p:nvSpPr>
        <p:spPr>
          <a:xfrm>
            <a:off x="1106424" y="1901952"/>
            <a:ext cx="365760" cy="256032"/>
          </a:xfrm>
          <a:prstGeom prst="rect">
            <a:avLst/>
          </a:prstGeom>
          <a:solidFill>
            <a:srgbClr val="217346"/>
          </a:solidFill>
          <a:ln w="5080">
            <a:solidFill>
              <a:srgbClr val="217346"/>
            </a:solidFill>
            <a:prstDash val="solid"/>
          </a:ln>
        </p:spPr>
        <p:txBody>
          <a:bodyPr/>
          <a:lstStyle/>
          <a:p>
            <a:endParaRPr lang="en-GB"/>
          </a:p>
        </p:txBody>
      </p:sp>
      <p:sp>
        <p:nvSpPr>
          <p:cNvPr id="74" name="Text 72"/>
          <p:cNvSpPr/>
          <p:nvPr/>
        </p:nvSpPr>
        <p:spPr>
          <a:xfrm>
            <a:off x="1106424" y="1901952"/>
            <a:ext cx="365760" cy="13716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75" name="Text 73"/>
          <p:cNvSpPr/>
          <p:nvPr/>
        </p:nvSpPr>
        <p:spPr>
          <a:xfrm>
            <a:off x="1051560" y="2185416"/>
            <a:ext cx="475488" cy="128016"/>
          </a:xfrm>
          <a:prstGeom prst="rect">
            <a:avLst/>
          </a:prstGeom>
          <a:noFill/>
          <a:ln/>
        </p:spPr>
        <p:txBody>
          <a:bodyPr wrap="square" rtlCol="0" anchor="ctr"/>
          <a:lstStyle/>
          <a:p>
            <a:pPr marL="0" indent="0" algn="ctr">
              <a:buNone/>
            </a:pPr>
            <a:r>
              <a:rPr lang="en-US" sz="700" b="1" dirty="0">
                <a:solidFill>
                  <a:srgbClr val="217346"/>
                </a:solidFill>
                <a:latin typeface="Arial" pitchFamily="34" charset="0"/>
                <a:ea typeface="Arial" pitchFamily="34" charset="-122"/>
                <a:cs typeface="Arial" pitchFamily="34" charset="-120"/>
              </a:rPr>
              <a:t>5 units</a:t>
            </a:r>
            <a:endParaRPr lang="en-US" sz="700" dirty="0"/>
          </a:p>
        </p:txBody>
      </p:sp>
      <p:sp>
        <p:nvSpPr>
          <p:cNvPr id="76" name="Text 74"/>
          <p:cNvSpPr/>
          <p:nvPr/>
        </p:nvSpPr>
        <p:spPr>
          <a:xfrm>
            <a:off x="1051560" y="2304288"/>
            <a:ext cx="475488" cy="118872"/>
          </a:xfrm>
          <a:prstGeom prst="rect">
            <a:avLst/>
          </a:prstGeom>
          <a:noFill/>
          <a:ln/>
        </p:spPr>
        <p:txBody>
          <a:bodyPr wrap="square" rtlCol="0" anchor="ctr"/>
          <a:lstStyle/>
          <a:p>
            <a:pPr marL="0" indent="0" algn="ctr">
              <a:buNone/>
            </a:pPr>
            <a:r>
              <a:rPr lang="en-US" sz="700" i="1" dirty="0">
                <a:solidFill>
                  <a:srgbClr val="217346"/>
                </a:solidFill>
                <a:latin typeface="Arial" pitchFamily="34" charset="0"/>
                <a:ea typeface="Arial" pitchFamily="34" charset="-122"/>
                <a:cs typeface="Arial" pitchFamily="34" charset="-120"/>
              </a:rPr>
              <a:t>0.5d</a:t>
            </a:r>
            <a:endParaRPr lang="en-US" sz="700" dirty="0"/>
          </a:p>
        </p:txBody>
      </p:sp>
      <p:sp>
        <p:nvSpPr>
          <p:cNvPr id="77" name="Shape 75"/>
          <p:cNvSpPr/>
          <p:nvPr/>
        </p:nvSpPr>
        <p:spPr>
          <a:xfrm>
            <a:off x="2514600" y="1901952"/>
            <a:ext cx="365760" cy="256032"/>
          </a:xfrm>
          <a:prstGeom prst="rect">
            <a:avLst/>
          </a:prstGeom>
          <a:solidFill>
            <a:srgbClr val="217346"/>
          </a:solidFill>
          <a:ln w="5080">
            <a:solidFill>
              <a:srgbClr val="217346"/>
            </a:solidFill>
            <a:prstDash val="solid"/>
          </a:ln>
        </p:spPr>
        <p:txBody>
          <a:bodyPr/>
          <a:lstStyle/>
          <a:p>
            <a:endParaRPr lang="en-GB"/>
          </a:p>
        </p:txBody>
      </p:sp>
      <p:sp>
        <p:nvSpPr>
          <p:cNvPr id="78" name="Text 76"/>
          <p:cNvSpPr/>
          <p:nvPr/>
        </p:nvSpPr>
        <p:spPr>
          <a:xfrm>
            <a:off x="2514600" y="1901952"/>
            <a:ext cx="365760" cy="13716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79" name="Text 77"/>
          <p:cNvSpPr/>
          <p:nvPr/>
        </p:nvSpPr>
        <p:spPr>
          <a:xfrm>
            <a:off x="2459736" y="2185416"/>
            <a:ext cx="475488" cy="128016"/>
          </a:xfrm>
          <a:prstGeom prst="rect">
            <a:avLst/>
          </a:prstGeom>
          <a:noFill/>
          <a:ln/>
        </p:spPr>
        <p:txBody>
          <a:bodyPr wrap="square" rtlCol="0" anchor="ctr"/>
          <a:lstStyle/>
          <a:p>
            <a:pPr marL="0" indent="0" algn="ctr">
              <a:buNone/>
            </a:pPr>
            <a:r>
              <a:rPr lang="en-US" sz="700" b="1" dirty="0">
                <a:solidFill>
                  <a:srgbClr val="217346"/>
                </a:solidFill>
                <a:latin typeface="Arial" pitchFamily="34" charset="0"/>
                <a:ea typeface="Arial" pitchFamily="34" charset="-122"/>
                <a:cs typeface="Arial" pitchFamily="34" charset="-120"/>
              </a:rPr>
              <a:t>8 units</a:t>
            </a:r>
            <a:endParaRPr lang="en-US" sz="700" dirty="0"/>
          </a:p>
        </p:txBody>
      </p:sp>
      <p:sp>
        <p:nvSpPr>
          <p:cNvPr id="80" name="Text 78"/>
          <p:cNvSpPr/>
          <p:nvPr/>
        </p:nvSpPr>
        <p:spPr>
          <a:xfrm>
            <a:off x="2459736" y="2304288"/>
            <a:ext cx="475488" cy="118872"/>
          </a:xfrm>
          <a:prstGeom prst="rect">
            <a:avLst/>
          </a:prstGeom>
          <a:noFill/>
          <a:ln/>
        </p:spPr>
        <p:txBody>
          <a:bodyPr wrap="square" rtlCol="0" anchor="ctr"/>
          <a:lstStyle/>
          <a:p>
            <a:pPr marL="0" indent="0" algn="ctr">
              <a:buNone/>
            </a:pPr>
            <a:r>
              <a:rPr lang="en-US" sz="700" i="1" dirty="0">
                <a:solidFill>
                  <a:srgbClr val="217346"/>
                </a:solidFill>
                <a:latin typeface="Arial" pitchFamily="34" charset="0"/>
                <a:ea typeface="Arial" pitchFamily="34" charset="-122"/>
                <a:cs typeface="Arial" pitchFamily="34" charset="-120"/>
              </a:rPr>
              <a:t>0.8d</a:t>
            </a:r>
            <a:endParaRPr lang="en-US" sz="700" dirty="0"/>
          </a:p>
        </p:txBody>
      </p:sp>
      <p:sp>
        <p:nvSpPr>
          <p:cNvPr id="81" name="Shape 79"/>
          <p:cNvSpPr/>
          <p:nvPr/>
        </p:nvSpPr>
        <p:spPr>
          <a:xfrm>
            <a:off x="5605272" y="1901952"/>
            <a:ext cx="365760" cy="256032"/>
          </a:xfrm>
          <a:prstGeom prst="rect">
            <a:avLst/>
          </a:prstGeom>
          <a:solidFill>
            <a:srgbClr val="217346"/>
          </a:solidFill>
          <a:ln w="5080">
            <a:solidFill>
              <a:srgbClr val="217346"/>
            </a:solidFill>
            <a:prstDash val="solid"/>
          </a:ln>
        </p:spPr>
        <p:txBody>
          <a:bodyPr/>
          <a:lstStyle/>
          <a:p>
            <a:endParaRPr lang="en-GB"/>
          </a:p>
        </p:txBody>
      </p:sp>
      <p:sp>
        <p:nvSpPr>
          <p:cNvPr id="82" name="Text 80"/>
          <p:cNvSpPr/>
          <p:nvPr/>
        </p:nvSpPr>
        <p:spPr>
          <a:xfrm>
            <a:off x="5605272" y="1901952"/>
            <a:ext cx="365760" cy="13716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83" name="Text 81"/>
          <p:cNvSpPr/>
          <p:nvPr/>
        </p:nvSpPr>
        <p:spPr>
          <a:xfrm>
            <a:off x="5550408" y="2185416"/>
            <a:ext cx="475488" cy="128016"/>
          </a:xfrm>
          <a:prstGeom prst="rect">
            <a:avLst/>
          </a:prstGeom>
          <a:noFill/>
          <a:ln/>
        </p:spPr>
        <p:txBody>
          <a:bodyPr wrap="square" rtlCol="0" anchor="ctr"/>
          <a:lstStyle/>
          <a:p>
            <a:pPr marL="0" indent="0" algn="ctr">
              <a:buNone/>
            </a:pPr>
            <a:r>
              <a:rPr lang="en-US" sz="700" b="1" dirty="0">
                <a:solidFill>
                  <a:srgbClr val="217346"/>
                </a:solidFill>
                <a:latin typeface="Arial" pitchFamily="34" charset="0"/>
                <a:ea typeface="Arial" pitchFamily="34" charset="-122"/>
                <a:cs typeface="Arial" pitchFamily="34" charset="-120"/>
              </a:rPr>
              <a:t>6 units</a:t>
            </a:r>
            <a:endParaRPr lang="en-US" sz="700" dirty="0"/>
          </a:p>
        </p:txBody>
      </p:sp>
      <p:sp>
        <p:nvSpPr>
          <p:cNvPr id="84" name="Text 82"/>
          <p:cNvSpPr/>
          <p:nvPr/>
        </p:nvSpPr>
        <p:spPr>
          <a:xfrm>
            <a:off x="5550408" y="2304288"/>
            <a:ext cx="475488" cy="118872"/>
          </a:xfrm>
          <a:prstGeom prst="rect">
            <a:avLst/>
          </a:prstGeom>
          <a:noFill/>
          <a:ln/>
        </p:spPr>
        <p:txBody>
          <a:bodyPr wrap="square" rtlCol="0" anchor="ctr"/>
          <a:lstStyle/>
          <a:p>
            <a:pPr marL="0" indent="0" algn="ctr">
              <a:buNone/>
            </a:pPr>
            <a:r>
              <a:rPr lang="en-US" sz="700" i="1" dirty="0">
                <a:solidFill>
                  <a:srgbClr val="217346"/>
                </a:solidFill>
                <a:latin typeface="Arial" pitchFamily="34" charset="0"/>
                <a:ea typeface="Arial" pitchFamily="34" charset="-122"/>
                <a:cs typeface="Arial" pitchFamily="34" charset="-120"/>
              </a:rPr>
              <a:t>0.6d</a:t>
            </a:r>
            <a:endParaRPr lang="en-US" sz="700" dirty="0"/>
          </a:p>
        </p:txBody>
      </p:sp>
      <p:sp>
        <p:nvSpPr>
          <p:cNvPr id="85" name="Shape 83"/>
          <p:cNvSpPr/>
          <p:nvPr/>
        </p:nvSpPr>
        <p:spPr>
          <a:xfrm>
            <a:off x="7150608" y="1901952"/>
            <a:ext cx="365760" cy="256032"/>
          </a:xfrm>
          <a:prstGeom prst="rect">
            <a:avLst/>
          </a:prstGeom>
          <a:solidFill>
            <a:srgbClr val="217346"/>
          </a:solidFill>
          <a:ln w="5080">
            <a:solidFill>
              <a:srgbClr val="217346"/>
            </a:solidFill>
            <a:prstDash val="solid"/>
          </a:ln>
        </p:spPr>
        <p:txBody>
          <a:bodyPr/>
          <a:lstStyle/>
          <a:p>
            <a:endParaRPr lang="en-GB"/>
          </a:p>
        </p:txBody>
      </p:sp>
      <p:sp>
        <p:nvSpPr>
          <p:cNvPr id="86" name="Text 84"/>
          <p:cNvSpPr/>
          <p:nvPr/>
        </p:nvSpPr>
        <p:spPr>
          <a:xfrm>
            <a:off x="7150608" y="1901952"/>
            <a:ext cx="365760" cy="13716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87" name="Text 85"/>
          <p:cNvSpPr/>
          <p:nvPr/>
        </p:nvSpPr>
        <p:spPr>
          <a:xfrm>
            <a:off x="7095744" y="2185416"/>
            <a:ext cx="475488" cy="128016"/>
          </a:xfrm>
          <a:prstGeom prst="rect">
            <a:avLst/>
          </a:prstGeom>
          <a:noFill/>
          <a:ln/>
        </p:spPr>
        <p:txBody>
          <a:bodyPr wrap="square" rtlCol="0" anchor="ctr"/>
          <a:lstStyle/>
          <a:p>
            <a:pPr marL="0" indent="0" algn="ctr">
              <a:buNone/>
            </a:pPr>
            <a:r>
              <a:rPr lang="en-US" sz="700" b="1" dirty="0">
                <a:solidFill>
                  <a:srgbClr val="217346"/>
                </a:solidFill>
                <a:latin typeface="Arial" pitchFamily="34" charset="0"/>
                <a:ea typeface="Arial" pitchFamily="34" charset="-122"/>
                <a:cs typeface="Arial" pitchFamily="34" charset="-120"/>
              </a:rPr>
              <a:t>5 units</a:t>
            </a:r>
            <a:endParaRPr lang="en-US" sz="700" dirty="0"/>
          </a:p>
        </p:txBody>
      </p:sp>
      <p:sp>
        <p:nvSpPr>
          <p:cNvPr id="88" name="Text 86"/>
          <p:cNvSpPr/>
          <p:nvPr/>
        </p:nvSpPr>
        <p:spPr>
          <a:xfrm>
            <a:off x="7095744" y="2304288"/>
            <a:ext cx="475488" cy="118872"/>
          </a:xfrm>
          <a:prstGeom prst="rect">
            <a:avLst/>
          </a:prstGeom>
          <a:noFill/>
          <a:ln/>
        </p:spPr>
        <p:txBody>
          <a:bodyPr wrap="square" rtlCol="0" anchor="ctr"/>
          <a:lstStyle/>
          <a:p>
            <a:pPr marL="0" indent="0" algn="ctr">
              <a:buNone/>
            </a:pPr>
            <a:r>
              <a:rPr lang="en-US" sz="700" i="1" dirty="0">
                <a:solidFill>
                  <a:srgbClr val="217346"/>
                </a:solidFill>
                <a:latin typeface="Arial" pitchFamily="34" charset="0"/>
                <a:ea typeface="Arial" pitchFamily="34" charset="-122"/>
                <a:cs typeface="Arial" pitchFamily="34" charset="-120"/>
              </a:rPr>
              <a:t>0.5d</a:t>
            </a:r>
            <a:endParaRPr lang="en-US" sz="700" dirty="0"/>
          </a:p>
        </p:txBody>
      </p:sp>
      <p:sp>
        <p:nvSpPr>
          <p:cNvPr id="89" name="Shape 87"/>
          <p:cNvSpPr/>
          <p:nvPr/>
        </p:nvSpPr>
        <p:spPr>
          <a:xfrm>
            <a:off x="7150608" y="1901952"/>
            <a:ext cx="365760" cy="256032"/>
          </a:xfrm>
          <a:prstGeom prst="rect">
            <a:avLst/>
          </a:prstGeom>
          <a:solidFill>
            <a:srgbClr val="217346"/>
          </a:solidFill>
          <a:ln w="5080">
            <a:solidFill>
              <a:srgbClr val="217346"/>
            </a:solidFill>
            <a:prstDash val="solid"/>
          </a:ln>
        </p:spPr>
        <p:txBody>
          <a:bodyPr/>
          <a:lstStyle/>
          <a:p>
            <a:endParaRPr lang="en-GB"/>
          </a:p>
        </p:txBody>
      </p:sp>
      <p:sp>
        <p:nvSpPr>
          <p:cNvPr id="90" name="Text 88"/>
          <p:cNvSpPr/>
          <p:nvPr/>
        </p:nvSpPr>
        <p:spPr>
          <a:xfrm>
            <a:off x="7150608" y="1901952"/>
            <a:ext cx="365760" cy="13716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91" name="Text 89"/>
          <p:cNvSpPr/>
          <p:nvPr/>
        </p:nvSpPr>
        <p:spPr>
          <a:xfrm>
            <a:off x="7095744" y="2185416"/>
            <a:ext cx="475488" cy="128016"/>
          </a:xfrm>
          <a:prstGeom prst="rect">
            <a:avLst/>
          </a:prstGeom>
          <a:noFill/>
          <a:ln/>
        </p:spPr>
        <p:txBody>
          <a:bodyPr wrap="square" rtlCol="0" anchor="ctr"/>
          <a:lstStyle/>
          <a:p>
            <a:pPr marL="0" indent="0" algn="ctr">
              <a:buNone/>
            </a:pPr>
            <a:r>
              <a:rPr lang="en-US" sz="700" b="1" dirty="0">
                <a:solidFill>
                  <a:srgbClr val="217346"/>
                </a:solidFill>
                <a:latin typeface="Arial" pitchFamily="34" charset="0"/>
                <a:ea typeface="Arial" pitchFamily="34" charset="-122"/>
                <a:cs typeface="Arial" pitchFamily="34" charset="-120"/>
              </a:rPr>
              <a:t>3 units</a:t>
            </a:r>
            <a:endParaRPr lang="en-US" sz="700" dirty="0"/>
          </a:p>
        </p:txBody>
      </p:sp>
      <p:sp>
        <p:nvSpPr>
          <p:cNvPr id="92" name="Text 90"/>
          <p:cNvSpPr/>
          <p:nvPr/>
        </p:nvSpPr>
        <p:spPr>
          <a:xfrm>
            <a:off x="7095744" y="2304288"/>
            <a:ext cx="475488" cy="118872"/>
          </a:xfrm>
          <a:prstGeom prst="rect">
            <a:avLst/>
          </a:prstGeom>
          <a:noFill/>
          <a:ln/>
        </p:spPr>
        <p:txBody>
          <a:bodyPr wrap="square" rtlCol="0" anchor="ctr"/>
          <a:lstStyle/>
          <a:p>
            <a:pPr marL="0" indent="0" algn="ctr">
              <a:buNone/>
            </a:pPr>
            <a:r>
              <a:rPr lang="en-US" sz="700" i="1" dirty="0">
                <a:solidFill>
                  <a:srgbClr val="217346"/>
                </a:solidFill>
                <a:latin typeface="Arial" pitchFamily="34" charset="0"/>
                <a:ea typeface="Arial" pitchFamily="34" charset="-122"/>
                <a:cs typeface="Arial" pitchFamily="34" charset="-120"/>
              </a:rPr>
              <a:t>0.3d</a:t>
            </a:r>
            <a:endParaRPr lang="en-US" sz="700" dirty="0"/>
          </a:p>
        </p:txBody>
      </p:sp>
      <p:sp>
        <p:nvSpPr>
          <p:cNvPr id="93" name="Shape 91"/>
          <p:cNvSpPr/>
          <p:nvPr/>
        </p:nvSpPr>
        <p:spPr>
          <a:xfrm>
            <a:off x="10241280" y="1901952"/>
            <a:ext cx="365760" cy="256032"/>
          </a:xfrm>
          <a:prstGeom prst="rect">
            <a:avLst/>
          </a:prstGeom>
          <a:solidFill>
            <a:srgbClr val="217346"/>
          </a:solidFill>
          <a:ln w="5080">
            <a:solidFill>
              <a:srgbClr val="217346"/>
            </a:solidFill>
            <a:prstDash val="solid"/>
          </a:ln>
        </p:spPr>
        <p:txBody>
          <a:bodyPr/>
          <a:lstStyle/>
          <a:p>
            <a:endParaRPr lang="en-GB"/>
          </a:p>
        </p:txBody>
      </p:sp>
      <p:sp>
        <p:nvSpPr>
          <p:cNvPr id="94" name="Text 92"/>
          <p:cNvSpPr/>
          <p:nvPr/>
        </p:nvSpPr>
        <p:spPr>
          <a:xfrm>
            <a:off x="10241280" y="1901952"/>
            <a:ext cx="365760" cy="137160"/>
          </a:xfrm>
          <a:prstGeom prst="rect">
            <a:avLst/>
          </a:prstGeom>
          <a:noFill/>
          <a:ln/>
        </p:spPr>
        <p:txBody>
          <a:bodyPr wrap="square" rtlCol="0" anchor="ctr"/>
          <a:lstStyle/>
          <a:p>
            <a:pPr marL="0" indent="0" algn="ctr">
              <a:buNone/>
            </a:pPr>
            <a:r>
              <a:rPr lang="en-US" sz="600" b="1" dirty="0">
                <a:solidFill>
                  <a:srgbClr val="FFFFFF"/>
                </a:solidFill>
                <a:latin typeface="Arial" pitchFamily="34" charset="0"/>
                <a:ea typeface="Arial" pitchFamily="34" charset="-122"/>
                <a:cs typeface="Arial" pitchFamily="34" charset="-120"/>
              </a:rPr>
              <a:t>INV</a:t>
            </a:r>
            <a:endParaRPr lang="en-US" sz="600" dirty="0"/>
          </a:p>
        </p:txBody>
      </p:sp>
      <p:sp>
        <p:nvSpPr>
          <p:cNvPr id="95" name="Text 93"/>
          <p:cNvSpPr/>
          <p:nvPr/>
        </p:nvSpPr>
        <p:spPr>
          <a:xfrm>
            <a:off x="10186416" y="2185416"/>
            <a:ext cx="475488" cy="128016"/>
          </a:xfrm>
          <a:prstGeom prst="rect">
            <a:avLst/>
          </a:prstGeom>
          <a:noFill/>
          <a:ln/>
        </p:spPr>
        <p:txBody>
          <a:bodyPr wrap="square" rtlCol="0" anchor="ctr"/>
          <a:lstStyle/>
          <a:p>
            <a:pPr marL="0" indent="0" algn="ctr">
              <a:buNone/>
            </a:pPr>
            <a:r>
              <a:rPr lang="en-US" sz="700" b="1" dirty="0">
                <a:solidFill>
                  <a:srgbClr val="217346"/>
                </a:solidFill>
                <a:latin typeface="Arial" pitchFamily="34" charset="0"/>
                <a:ea typeface="Arial" pitchFamily="34" charset="-122"/>
                <a:cs typeface="Arial" pitchFamily="34" charset="-120"/>
              </a:rPr>
              <a:t>5 units</a:t>
            </a:r>
            <a:endParaRPr lang="en-US" sz="700" dirty="0"/>
          </a:p>
        </p:txBody>
      </p:sp>
      <p:sp>
        <p:nvSpPr>
          <p:cNvPr id="96" name="Text 94"/>
          <p:cNvSpPr/>
          <p:nvPr/>
        </p:nvSpPr>
        <p:spPr>
          <a:xfrm>
            <a:off x="10186416" y="2304288"/>
            <a:ext cx="475488" cy="118872"/>
          </a:xfrm>
          <a:prstGeom prst="rect">
            <a:avLst/>
          </a:prstGeom>
          <a:noFill/>
          <a:ln/>
        </p:spPr>
        <p:txBody>
          <a:bodyPr wrap="square" rtlCol="0" anchor="ctr"/>
          <a:lstStyle/>
          <a:p>
            <a:pPr marL="0" indent="0" algn="ctr">
              <a:buNone/>
            </a:pPr>
            <a:r>
              <a:rPr lang="en-US" sz="700" i="1" dirty="0">
                <a:solidFill>
                  <a:srgbClr val="217346"/>
                </a:solidFill>
                <a:latin typeface="Arial" pitchFamily="34" charset="0"/>
                <a:ea typeface="Arial" pitchFamily="34" charset="-122"/>
                <a:cs typeface="Arial" pitchFamily="34" charset="-120"/>
              </a:rPr>
              <a:t>0.5d</a:t>
            </a:r>
            <a:endParaRPr lang="en-US" sz="700" dirty="0"/>
          </a:p>
        </p:txBody>
      </p:sp>
      <p:sp>
        <p:nvSpPr>
          <p:cNvPr id="97" name="Shape 95"/>
          <p:cNvSpPr/>
          <p:nvPr/>
        </p:nvSpPr>
        <p:spPr>
          <a:xfrm>
            <a:off x="137160" y="2487168"/>
            <a:ext cx="11887200" cy="36576"/>
          </a:xfrm>
          <a:prstGeom prst="rect">
            <a:avLst/>
          </a:prstGeom>
          <a:solidFill>
            <a:srgbClr val="5B595A"/>
          </a:solidFill>
          <a:ln/>
        </p:spPr>
        <p:txBody>
          <a:bodyPr/>
          <a:lstStyle/>
          <a:p>
            <a:endParaRPr lang="en-GB"/>
          </a:p>
        </p:txBody>
      </p:sp>
      <p:sp>
        <p:nvSpPr>
          <p:cNvPr id="98" name="Shape 96"/>
          <p:cNvSpPr/>
          <p:nvPr/>
        </p:nvSpPr>
        <p:spPr>
          <a:xfrm>
            <a:off x="1170432" y="2542032"/>
            <a:ext cx="1325880" cy="182880"/>
          </a:xfrm>
          <a:prstGeom prst="rect">
            <a:avLst/>
          </a:prstGeom>
          <a:solidFill>
            <a:srgbClr val="217346"/>
          </a:solidFill>
          <a:ln w="3810">
            <a:solidFill>
              <a:srgbClr val="AAAAAA"/>
            </a:solidFill>
            <a:prstDash val="solid"/>
          </a:ln>
        </p:spPr>
        <p:txBody>
          <a:bodyPr/>
          <a:lstStyle/>
          <a:p>
            <a:endParaRPr lang="en-GB"/>
          </a:p>
        </p:txBody>
      </p:sp>
      <p:sp>
        <p:nvSpPr>
          <p:cNvPr id="99" name="Text 97"/>
          <p:cNvSpPr/>
          <p:nvPr/>
        </p:nvSpPr>
        <p:spPr>
          <a:xfrm>
            <a:off x="1170432" y="2551176"/>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15m VA</a:t>
            </a:r>
            <a:endParaRPr lang="en-US" sz="700" dirty="0"/>
          </a:p>
        </p:txBody>
      </p:sp>
      <p:sp>
        <p:nvSpPr>
          <p:cNvPr id="100" name="Shape 98"/>
          <p:cNvSpPr/>
          <p:nvPr/>
        </p:nvSpPr>
        <p:spPr>
          <a:xfrm>
            <a:off x="1170432" y="2743200"/>
            <a:ext cx="1325880" cy="182880"/>
          </a:xfrm>
          <a:prstGeom prst="rect">
            <a:avLst/>
          </a:prstGeom>
          <a:solidFill>
            <a:srgbClr val="B91C1C"/>
          </a:solidFill>
          <a:ln w="3810">
            <a:solidFill>
              <a:srgbClr val="AAAAAA"/>
            </a:solidFill>
            <a:prstDash val="solid"/>
          </a:ln>
        </p:spPr>
        <p:txBody>
          <a:bodyPr/>
          <a:lstStyle/>
          <a:p>
            <a:endParaRPr lang="en-GB"/>
          </a:p>
        </p:txBody>
      </p:sp>
      <p:sp>
        <p:nvSpPr>
          <p:cNvPr id="101" name="Text 99"/>
          <p:cNvSpPr/>
          <p:nvPr/>
        </p:nvSpPr>
        <p:spPr>
          <a:xfrm>
            <a:off x="1170432" y="2752344"/>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0.5d wait</a:t>
            </a:r>
            <a:endParaRPr lang="en-US" sz="700" dirty="0"/>
          </a:p>
        </p:txBody>
      </p:sp>
      <p:sp>
        <p:nvSpPr>
          <p:cNvPr id="102" name="Shape 100"/>
          <p:cNvSpPr/>
          <p:nvPr/>
        </p:nvSpPr>
        <p:spPr>
          <a:xfrm>
            <a:off x="2715768" y="2542032"/>
            <a:ext cx="1325880" cy="182880"/>
          </a:xfrm>
          <a:prstGeom prst="rect">
            <a:avLst/>
          </a:prstGeom>
          <a:solidFill>
            <a:srgbClr val="217346"/>
          </a:solidFill>
          <a:ln w="3810">
            <a:solidFill>
              <a:srgbClr val="AAAAAA"/>
            </a:solidFill>
            <a:prstDash val="solid"/>
          </a:ln>
        </p:spPr>
        <p:txBody>
          <a:bodyPr/>
          <a:lstStyle/>
          <a:p>
            <a:endParaRPr lang="en-GB"/>
          </a:p>
        </p:txBody>
      </p:sp>
      <p:sp>
        <p:nvSpPr>
          <p:cNvPr id="103" name="Text 101"/>
          <p:cNvSpPr/>
          <p:nvPr/>
        </p:nvSpPr>
        <p:spPr>
          <a:xfrm>
            <a:off x="2715768" y="2551176"/>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42m VA</a:t>
            </a:r>
            <a:endParaRPr lang="en-US" sz="700" dirty="0"/>
          </a:p>
        </p:txBody>
      </p:sp>
      <p:sp>
        <p:nvSpPr>
          <p:cNvPr id="104" name="Shape 102"/>
          <p:cNvSpPr/>
          <p:nvPr/>
        </p:nvSpPr>
        <p:spPr>
          <a:xfrm>
            <a:off x="2715768" y="2743200"/>
            <a:ext cx="1325880" cy="182880"/>
          </a:xfrm>
          <a:prstGeom prst="rect">
            <a:avLst/>
          </a:prstGeom>
          <a:solidFill>
            <a:srgbClr val="B91C1C"/>
          </a:solidFill>
          <a:ln w="3810">
            <a:solidFill>
              <a:srgbClr val="AAAAAA"/>
            </a:solidFill>
            <a:prstDash val="solid"/>
          </a:ln>
        </p:spPr>
        <p:txBody>
          <a:bodyPr/>
          <a:lstStyle/>
          <a:p>
            <a:endParaRPr lang="en-GB"/>
          </a:p>
        </p:txBody>
      </p:sp>
      <p:sp>
        <p:nvSpPr>
          <p:cNvPr id="105" name="Text 103"/>
          <p:cNvSpPr/>
          <p:nvPr/>
        </p:nvSpPr>
        <p:spPr>
          <a:xfrm>
            <a:off x="2715768" y="2752344"/>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0.8d wait</a:t>
            </a:r>
            <a:endParaRPr lang="en-US" sz="700" dirty="0"/>
          </a:p>
        </p:txBody>
      </p:sp>
      <p:sp>
        <p:nvSpPr>
          <p:cNvPr id="106" name="Shape 104"/>
          <p:cNvSpPr/>
          <p:nvPr/>
        </p:nvSpPr>
        <p:spPr>
          <a:xfrm>
            <a:off x="4261104" y="2542032"/>
            <a:ext cx="1325880" cy="182880"/>
          </a:xfrm>
          <a:prstGeom prst="rect">
            <a:avLst/>
          </a:prstGeom>
          <a:solidFill>
            <a:srgbClr val="217346"/>
          </a:solidFill>
          <a:ln w="3810">
            <a:solidFill>
              <a:srgbClr val="AAAAAA"/>
            </a:solidFill>
            <a:prstDash val="solid"/>
          </a:ln>
        </p:spPr>
        <p:txBody>
          <a:bodyPr/>
          <a:lstStyle/>
          <a:p>
            <a:endParaRPr lang="en-GB"/>
          </a:p>
        </p:txBody>
      </p:sp>
      <p:sp>
        <p:nvSpPr>
          <p:cNvPr id="107" name="Text 105"/>
          <p:cNvSpPr/>
          <p:nvPr/>
        </p:nvSpPr>
        <p:spPr>
          <a:xfrm>
            <a:off x="4261104" y="2551176"/>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38m VA</a:t>
            </a:r>
            <a:endParaRPr lang="en-US" sz="700" dirty="0"/>
          </a:p>
        </p:txBody>
      </p:sp>
      <p:sp>
        <p:nvSpPr>
          <p:cNvPr id="108" name="Shape 106"/>
          <p:cNvSpPr/>
          <p:nvPr/>
        </p:nvSpPr>
        <p:spPr>
          <a:xfrm>
            <a:off x="4261104" y="2743200"/>
            <a:ext cx="1325880" cy="182880"/>
          </a:xfrm>
          <a:prstGeom prst="rect">
            <a:avLst/>
          </a:prstGeom>
          <a:solidFill>
            <a:srgbClr val="B91C1C"/>
          </a:solidFill>
          <a:ln w="3810">
            <a:solidFill>
              <a:srgbClr val="AAAAAA"/>
            </a:solidFill>
            <a:prstDash val="solid"/>
          </a:ln>
        </p:spPr>
        <p:txBody>
          <a:bodyPr/>
          <a:lstStyle/>
          <a:p>
            <a:endParaRPr lang="en-GB"/>
          </a:p>
        </p:txBody>
      </p:sp>
      <p:sp>
        <p:nvSpPr>
          <p:cNvPr id="109" name="Text 107"/>
          <p:cNvSpPr/>
          <p:nvPr/>
        </p:nvSpPr>
        <p:spPr>
          <a:xfrm>
            <a:off x="4261104" y="2752344"/>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0.6d wait</a:t>
            </a:r>
            <a:endParaRPr lang="en-US" sz="700" dirty="0"/>
          </a:p>
        </p:txBody>
      </p:sp>
      <p:sp>
        <p:nvSpPr>
          <p:cNvPr id="110" name="Shape 108"/>
          <p:cNvSpPr/>
          <p:nvPr/>
        </p:nvSpPr>
        <p:spPr>
          <a:xfrm>
            <a:off x="5806440" y="2542032"/>
            <a:ext cx="1325880" cy="182880"/>
          </a:xfrm>
          <a:prstGeom prst="rect">
            <a:avLst/>
          </a:prstGeom>
          <a:solidFill>
            <a:srgbClr val="217346"/>
          </a:solidFill>
          <a:ln w="3810">
            <a:solidFill>
              <a:srgbClr val="AAAAAA"/>
            </a:solidFill>
            <a:prstDash val="solid"/>
          </a:ln>
        </p:spPr>
        <p:txBody>
          <a:bodyPr/>
          <a:lstStyle/>
          <a:p>
            <a:endParaRPr lang="en-GB"/>
          </a:p>
        </p:txBody>
      </p:sp>
      <p:sp>
        <p:nvSpPr>
          <p:cNvPr id="111" name="Text 109"/>
          <p:cNvSpPr/>
          <p:nvPr/>
        </p:nvSpPr>
        <p:spPr>
          <a:xfrm>
            <a:off x="5806440" y="2551176"/>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28m VA</a:t>
            </a:r>
            <a:endParaRPr lang="en-US" sz="700" dirty="0"/>
          </a:p>
        </p:txBody>
      </p:sp>
      <p:sp>
        <p:nvSpPr>
          <p:cNvPr id="112" name="Shape 110"/>
          <p:cNvSpPr/>
          <p:nvPr/>
        </p:nvSpPr>
        <p:spPr>
          <a:xfrm>
            <a:off x="5806440" y="2743200"/>
            <a:ext cx="1325880" cy="182880"/>
          </a:xfrm>
          <a:prstGeom prst="rect">
            <a:avLst/>
          </a:prstGeom>
          <a:solidFill>
            <a:srgbClr val="B91C1C"/>
          </a:solidFill>
          <a:ln w="3810">
            <a:solidFill>
              <a:srgbClr val="AAAAAA"/>
            </a:solidFill>
            <a:prstDash val="solid"/>
          </a:ln>
        </p:spPr>
        <p:txBody>
          <a:bodyPr/>
          <a:lstStyle/>
          <a:p>
            <a:endParaRPr lang="en-GB"/>
          </a:p>
        </p:txBody>
      </p:sp>
      <p:sp>
        <p:nvSpPr>
          <p:cNvPr id="113" name="Text 111"/>
          <p:cNvSpPr/>
          <p:nvPr/>
        </p:nvSpPr>
        <p:spPr>
          <a:xfrm>
            <a:off x="5806440" y="2752344"/>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0.5d wait</a:t>
            </a:r>
            <a:endParaRPr lang="en-US" sz="700" dirty="0"/>
          </a:p>
        </p:txBody>
      </p:sp>
      <p:sp>
        <p:nvSpPr>
          <p:cNvPr id="114" name="Shape 112"/>
          <p:cNvSpPr/>
          <p:nvPr/>
        </p:nvSpPr>
        <p:spPr>
          <a:xfrm>
            <a:off x="7351776" y="2542032"/>
            <a:ext cx="1325880" cy="182880"/>
          </a:xfrm>
          <a:prstGeom prst="rect">
            <a:avLst/>
          </a:prstGeom>
          <a:solidFill>
            <a:srgbClr val="217346"/>
          </a:solidFill>
          <a:ln w="3810">
            <a:solidFill>
              <a:srgbClr val="AAAAAA"/>
            </a:solidFill>
            <a:prstDash val="solid"/>
          </a:ln>
        </p:spPr>
        <p:txBody>
          <a:bodyPr/>
          <a:lstStyle/>
          <a:p>
            <a:endParaRPr lang="en-GB"/>
          </a:p>
        </p:txBody>
      </p:sp>
      <p:sp>
        <p:nvSpPr>
          <p:cNvPr id="115" name="Text 113"/>
          <p:cNvSpPr/>
          <p:nvPr/>
        </p:nvSpPr>
        <p:spPr>
          <a:xfrm>
            <a:off x="7351776" y="2551176"/>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 VA</a:t>
            </a:r>
            <a:endParaRPr lang="en-US" sz="700" dirty="0"/>
          </a:p>
        </p:txBody>
      </p:sp>
      <p:sp>
        <p:nvSpPr>
          <p:cNvPr id="116" name="Shape 114"/>
          <p:cNvSpPr/>
          <p:nvPr/>
        </p:nvSpPr>
        <p:spPr>
          <a:xfrm>
            <a:off x="7351776" y="2743200"/>
            <a:ext cx="1325880" cy="182880"/>
          </a:xfrm>
          <a:prstGeom prst="rect">
            <a:avLst/>
          </a:prstGeom>
          <a:solidFill>
            <a:srgbClr val="B91C1C"/>
          </a:solidFill>
          <a:ln w="3810">
            <a:solidFill>
              <a:srgbClr val="AAAAAA"/>
            </a:solidFill>
            <a:prstDash val="solid"/>
          </a:ln>
        </p:spPr>
        <p:txBody>
          <a:bodyPr/>
          <a:lstStyle/>
          <a:p>
            <a:endParaRPr lang="en-GB"/>
          </a:p>
        </p:txBody>
      </p:sp>
      <p:sp>
        <p:nvSpPr>
          <p:cNvPr id="117" name="Text 115"/>
          <p:cNvSpPr/>
          <p:nvPr/>
        </p:nvSpPr>
        <p:spPr>
          <a:xfrm>
            <a:off x="7351776" y="2752344"/>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0.3d wait</a:t>
            </a:r>
            <a:endParaRPr lang="en-US" sz="700" dirty="0"/>
          </a:p>
        </p:txBody>
      </p:sp>
      <p:sp>
        <p:nvSpPr>
          <p:cNvPr id="118" name="Shape 116"/>
          <p:cNvSpPr/>
          <p:nvPr/>
        </p:nvSpPr>
        <p:spPr>
          <a:xfrm>
            <a:off x="8897112" y="2542032"/>
            <a:ext cx="1325880" cy="182880"/>
          </a:xfrm>
          <a:prstGeom prst="rect">
            <a:avLst/>
          </a:prstGeom>
          <a:solidFill>
            <a:srgbClr val="217346"/>
          </a:solidFill>
          <a:ln w="3810">
            <a:solidFill>
              <a:srgbClr val="AAAAAA"/>
            </a:solidFill>
            <a:prstDash val="solid"/>
          </a:ln>
        </p:spPr>
        <p:txBody>
          <a:bodyPr/>
          <a:lstStyle/>
          <a:p>
            <a:endParaRPr lang="en-GB"/>
          </a:p>
        </p:txBody>
      </p:sp>
      <p:sp>
        <p:nvSpPr>
          <p:cNvPr id="119" name="Text 117"/>
          <p:cNvSpPr/>
          <p:nvPr/>
        </p:nvSpPr>
        <p:spPr>
          <a:xfrm>
            <a:off x="8897112" y="2551176"/>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20m VA</a:t>
            </a:r>
            <a:endParaRPr lang="en-US" sz="700" dirty="0"/>
          </a:p>
        </p:txBody>
      </p:sp>
      <p:sp>
        <p:nvSpPr>
          <p:cNvPr id="120" name="Shape 118"/>
          <p:cNvSpPr/>
          <p:nvPr/>
        </p:nvSpPr>
        <p:spPr>
          <a:xfrm>
            <a:off x="8897112" y="2743200"/>
            <a:ext cx="1325880" cy="182880"/>
          </a:xfrm>
          <a:prstGeom prst="rect">
            <a:avLst/>
          </a:prstGeom>
          <a:solidFill>
            <a:srgbClr val="B91C1C"/>
          </a:solidFill>
          <a:ln w="3810">
            <a:solidFill>
              <a:srgbClr val="AAAAAA"/>
            </a:solidFill>
            <a:prstDash val="solid"/>
          </a:ln>
        </p:spPr>
        <p:txBody>
          <a:bodyPr/>
          <a:lstStyle/>
          <a:p>
            <a:endParaRPr lang="en-GB"/>
          </a:p>
        </p:txBody>
      </p:sp>
      <p:sp>
        <p:nvSpPr>
          <p:cNvPr id="121" name="Text 119"/>
          <p:cNvSpPr/>
          <p:nvPr/>
        </p:nvSpPr>
        <p:spPr>
          <a:xfrm>
            <a:off x="8897112" y="2752344"/>
            <a:ext cx="1325880" cy="164592"/>
          </a:xfrm>
          <a:prstGeom prst="rect">
            <a:avLst/>
          </a:prstGeom>
          <a:noFill/>
          <a:ln/>
        </p:spPr>
        <p:txBody>
          <a:bodyPr wrap="square" rtlCol="0" anchor="ctr"/>
          <a:lstStyle/>
          <a:p>
            <a:pPr marL="0" indent="0" algn="ctr">
              <a:buNone/>
            </a:pPr>
            <a:r>
              <a:rPr lang="en-US" sz="700" b="1" dirty="0">
                <a:solidFill>
                  <a:srgbClr val="FFFFFF"/>
                </a:solidFill>
                <a:latin typeface="Arial" pitchFamily="34" charset="0"/>
                <a:ea typeface="Arial" pitchFamily="34" charset="-122"/>
                <a:cs typeface="Arial" pitchFamily="34" charset="-120"/>
              </a:rPr>
              <a:t>0.5d wait</a:t>
            </a:r>
            <a:endParaRPr lang="en-US" sz="700" dirty="0"/>
          </a:p>
        </p:txBody>
      </p:sp>
      <p:sp>
        <p:nvSpPr>
          <p:cNvPr id="122" name="Shape 120"/>
          <p:cNvSpPr/>
          <p:nvPr/>
        </p:nvSpPr>
        <p:spPr>
          <a:xfrm>
            <a:off x="137160" y="2999232"/>
            <a:ext cx="11868912" cy="329184"/>
          </a:xfrm>
          <a:prstGeom prst="rect">
            <a:avLst/>
          </a:prstGeom>
          <a:solidFill>
            <a:srgbClr val="EAF4EE"/>
          </a:solidFill>
          <a:ln w="12700">
            <a:solidFill>
              <a:srgbClr val="217346"/>
            </a:solidFill>
            <a:prstDash val="solid"/>
          </a:ln>
        </p:spPr>
        <p:txBody>
          <a:bodyPr/>
          <a:lstStyle/>
          <a:p>
            <a:endParaRPr lang="en-GB"/>
          </a:p>
        </p:txBody>
      </p:sp>
      <p:sp>
        <p:nvSpPr>
          <p:cNvPr id="123" name="Text 121"/>
          <p:cNvSpPr/>
          <p:nvPr/>
        </p:nvSpPr>
        <p:spPr>
          <a:xfrm>
            <a:off x="228600" y="3017520"/>
            <a:ext cx="11686032" cy="274320"/>
          </a:xfrm>
          <a:prstGeom prst="rect">
            <a:avLst/>
          </a:prstGeom>
          <a:noFill/>
          <a:ln/>
        </p:spPr>
        <p:txBody>
          <a:bodyPr wrap="square" rtlCol="0" anchor="ctr"/>
          <a:lstStyle/>
          <a:p>
            <a:pPr marL="0" indent="0" algn="ctr">
              <a:buNone/>
            </a:pPr>
            <a:r>
              <a:rPr lang="en-US" sz="900" b="1" dirty="0">
                <a:solidFill>
                  <a:srgbClr val="217346"/>
                </a:solidFill>
                <a:latin typeface="Arial" pitchFamily="34" charset="0"/>
                <a:ea typeface="Arial" pitchFamily="34" charset="-122"/>
                <a:cs typeface="Arial" pitchFamily="34" charset="-120"/>
              </a:rPr>
              <a:t>TOTAL LEAD TIME: 7 days   |   VALUE-ADDING TIME: 4.2 hours   |   PROCESS EFFICIENCY: 7.5%   |   WIP: ~32 units   |   SCRAP: &lt;2%</a:t>
            </a:r>
            <a:endParaRPr lang="en-US" sz="900" dirty="0"/>
          </a:p>
        </p:txBody>
      </p:sp>
      <p:sp>
        <p:nvSpPr>
          <p:cNvPr id="124" name="Shape 122"/>
          <p:cNvSpPr/>
          <p:nvPr/>
        </p:nvSpPr>
        <p:spPr>
          <a:xfrm>
            <a:off x="137160" y="3401568"/>
            <a:ext cx="7680960" cy="274320"/>
          </a:xfrm>
          <a:prstGeom prst="rect">
            <a:avLst/>
          </a:prstGeom>
          <a:solidFill>
            <a:srgbClr val="217346"/>
          </a:solidFill>
          <a:ln/>
        </p:spPr>
        <p:txBody>
          <a:bodyPr/>
          <a:lstStyle/>
          <a:p>
            <a:endParaRPr lang="en-GB"/>
          </a:p>
        </p:txBody>
      </p:sp>
      <p:sp>
        <p:nvSpPr>
          <p:cNvPr id="125" name="Text 123"/>
          <p:cNvSpPr/>
          <p:nvPr/>
        </p:nvSpPr>
        <p:spPr>
          <a:xfrm>
            <a:off x="228600" y="3429000"/>
            <a:ext cx="7498080" cy="219456"/>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RESULTS AFTER 9 MONTHS</a:t>
            </a:r>
            <a:endParaRPr lang="en-US" sz="900" dirty="0"/>
          </a:p>
        </p:txBody>
      </p:sp>
      <p:sp>
        <p:nvSpPr>
          <p:cNvPr id="126" name="Shape 124"/>
          <p:cNvSpPr/>
          <p:nvPr/>
        </p:nvSpPr>
        <p:spPr>
          <a:xfrm>
            <a:off x="137160" y="3694176"/>
            <a:ext cx="2377440" cy="256032"/>
          </a:xfrm>
          <a:prstGeom prst="rect">
            <a:avLst/>
          </a:prstGeom>
          <a:solidFill>
            <a:srgbClr val="5B595A"/>
          </a:solidFill>
          <a:ln w="3810">
            <a:solidFill>
              <a:srgbClr val="CCCCCC"/>
            </a:solidFill>
            <a:prstDash val="solid"/>
          </a:ln>
        </p:spPr>
        <p:txBody>
          <a:bodyPr/>
          <a:lstStyle/>
          <a:p>
            <a:endParaRPr lang="en-GB"/>
          </a:p>
        </p:txBody>
      </p:sp>
      <p:sp>
        <p:nvSpPr>
          <p:cNvPr id="127" name="Text 125"/>
          <p:cNvSpPr/>
          <p:nvPr/>
        </p:nvSpPr>
        <p:spPr>
          <a:xfrm>
            <a:off x="192024" y="3694176"/>
            <a:ext cx="2267712" cy="256032"/>
          </a:xfrm>
          <a:prstGeom prst="rect">
            <a:avLst/>
          </a:prstGeom>
          <a:noFill/>
          <a:ln/>
        </p:spPr>
        <p:txBody>
          <a:bodyPr wrap="square"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Metric</a:t>
            </a:r>
            <a:endParaRPr lang="en-US" sz="900" dirty="0"/>
          </a:p>
        </p:txBody>
      </p:sp>
      <p:sp>
        <p:nvSpPr>
          <p:cNvPr id="128" name="Shape 126"/>
          <p:cNvSpPr/>
          <p:nvPr/>
        </p:nvSpPr>
        <p:spPr>
          <a:xfrm>
            <a:off x="2532888" y="3694176"/>
            <a:ext cx="1280160" cy="256032"/>
          </a:xfrm>
          <a:prstGeom prst="rect">
            <a:avLst/>
          </a:prstGeom>
          <a:solidFill>
            <a:srgbClr val="5B595A"/>
          </a:solidFill>
          <a:ln w="3810">
            <a:solidFill>
              <a:srgbClr val="CCCCCC"/>
            </a:solidFill>
            <a:prstDash val="solid"/>
          </a:ln>
        </p:spPr>
        <p:txBody>
          <a:bodyPr/>
          <a:lstStyle/>
          <a:p>
            <a:endParaRPr lang="en-GB"/>
          </a:p>
        </p:txBody>
      </p:sp>
      <p:sp>
        <p:nvSpPr>
          <p:cNvPr id="129" name="Text 127"/>
          <p:cNvSpPr/>
          <p:nvPr/>
        </p:nvSpPr>
        <p:spPr>
          <a:xfrm>
            <a:off x="2587752" y="3694176"/>
            <a:ext cx="1170432"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Before</a:t>
            </a:r>
            <a:endParaRPr lang="en-US" sz="900" dirty="0"/>
          </a:p>
        </p:txBody>
      </p:sp>
      <p:sp>
        <p:nvSpPr>
          <p:cNvPr id="130" name="Shape 128"/>
          <p:cNvSpPr/>
          <p:nvPr/>
        </p:nvSpPr>
        <p:spPr>
          <a:xfrm>
            <a:off x="3831336" y="3694176"/>
            <a:ext cx="1280160" cy="256032"/>
          </a:xfrm>
          <a:prstGeom prst="rect">
            <a:avLst/>
          </a:prstGeom>
          <a:solidFill>
            <a:srgbClr val="5B595A"/>
          </a:solidFill>
          <a:ln w="3810">
            <a:solidFill>
              <a:srgbClr val="CCCCCC"/>
            </a:solidFill>
            <a:prstDash val="solid"/>
          </a:ln>
        </p:spPr>
        <p:txBody>
          <a:bodyPr/>
          <a:lstStyle/>
          <a:p>
            <a:endParaRPr lang="en-GB"/>
          </a:p>
        </p:txBody>
      </p:sp>
      <p:sp>
        <p:nvSpPr>
          <p:cNvPr id="131" name="Text 129"/>
          <p:cNvSpPr/>
          <p:nvPr/>
        </p:nvSpPr>
        <p:spPr>
          <a:xfrm>
            <a:off x="3886200" y="3694176"/>
            <a:ext cx="1170432"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After</a:t>
            </a:r>
            <a:endParaRPr lang="en-US" sz="900" dirty="0"/>
          </a:p>
        </p:txBody>
      </p:sp>
      <p:sp>
        <p:nvSpPr>
          <p:cNvPr id="132" name="Shape 130"/>
          <p:cNvSpPr/>
          <p:nvPr/>
        </p:nvSpPr>
        <p:spPr>
          <a:xfrm>
            <a:off x="5129784" y="3694176"/>
            <a:ext cx="1280160" cy="256032"/>
          </a:xfrm>
          <a:prstGeom prst="rect">
            <a:avLst/>
          </a:prstGeom>
          <a:solidFill>
            <a:srgbClr val="5B595A"/>
          </a:solidFill>
          <a:ln w="3810">
            <a:solidFill>
              <a:srgbClr val="CCCCCC"/>
            </a:solidFill>
            <a:prstDash val="solid"/>
          </a:ln>
        </p:spPr>
        <p:txBody>
          <a:bodyPr/>
          <a:lstStyle/>
          <a:p>
            <a:endParaRPr lang="en-GB"/>
          </a:p>
        </p:txBody>
      </p:sp>
      <p:sp>
        <p:nvSpPr>
          <p:cNvPr id="133" name="Text 131"/>
          <p:cNvSpPr/>
          <p:nvPr/>
        </p:nvSpPr>
        <p:spPr>
          <a:xfrm>
            <a:off x="5184648" y="3694176"/>
            <a:ext cx="1170432" cy="256032"/>
          </a:xfrm>
          <a:prstGeom prst="rect">
            <a:avLst/>
          </a:prstGeom>
          <a:noFill/>
          <a:ln/>
        </p:spPr>
        <p:txBody>
          <a:bodyPr wrap="square"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Improvement</a:t>
            </a:r>
            <a:endParaRPr lang="en-US" sz="900" dirty="0"/>
          </a:p>
        </p:txBody>
      </p:sp>
      <p:sp>
        <p:nvSpPr>
          <p:cNvPr id="134" name="Shape 132"/>
          <p:cNvSpPr/>
          <p:nvPr/>
        </p:nvSpPr>
        <p:spPr>
          <a:xfrm>
            <a:off x="137160" y="3968496"/>
            <a:ext cx="2377440" cy="292608"/>
          </a:xfrm>
          <a:prstGeom prst="rect">
            <a:avLst/>
          </a:prstGeom>
          <a:solidFill>
            <a:srgbClr val="FFFFFF"/>
          </a:solidFill>
          <a:ln w="3810">
            <a:solidFill>
              <a:srgbClr val="CCCCCC"/>
            </a:solidFill>
            <a:prstDash val="solid"/>
          </a:ln>
        </p:spPr>
        <p:txBody>
          <a:bodyPr/>
          <a:lstStyle/>
          <a:p>
            <a:endParaRPr lang="en-GB"/>
          </a:p>
        </p:txBody>
      </p:sp>
      <p:sp>
        <p:nvSpPr>
          <p:cNvPr id="135" name="Text 133"/>
          <p:cNvSpPr/>
          <p:nvPr/>
        </p:nvSpPr>
        <p:spPr>
          <a:xfrm>
            <a:off x="192024" y="3968496"/>
            <a:ext cx="2267712" cy="292608"/>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Lead time</a:t>
            </a:r>
            <a:endParaRPr lang="en-US" sz="900" dirty="0"/>
          </a:p>
        </p:txBody>
      </p:sp>
      <p:sp>
        <p:nvSpPr>
          <p:cNvPr id="136" name="Shape 134"/>
          <p:cNvSpPr/>
          <p:nvPr/>
        </p:nvSpPr>
        <p:spPr>
          <a:xfrm>
            <a:off x="2532888" y="3968496"/>
            <a:ext cx="1280160" cy="292608"/>
          </a:xfrm>
          <a:prstGeom prst="rect">
            <a:avLst/>
          </a:prstGeom>
          <a:solidFill>
            <a:srgbClr val="FFFFFF"/>
          </a:solidFill>
          <a:ln w="3810">
            <a:solidFill>
              <a:srgbClr val="CCCCCC"/>
            </a:solidFill>
            <a:prstDash val="solid"/>
          </a:ln>
        </p:spPr>
        <p:txBody>
          <a:bodyPr/>
          <a:lstStyle/>
          <a:p>
            <a:endParaRPr lang="en-GB"/>
          </a:p>
        </p:txBody>
      </p:sp>
      <p:sp>
        <p:nvSpPr>
          <p:cNvPr id="137" name="Text 135"/>
          <p:cNvSpPr/>
          <p:nvPr/>
        </p:nvSpPr>
        <p:spPr>
          <a:xfrm>
            <a:off x="2587752" y="3968496"/>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22 days</a:t>
            </a:r>
            <a:endParaRPr lang="en-US" sz="900" dirty="0"/>
          </a:p>
        </p:txBody>
      </p:sp>
      <p:sp>
        <p:nvSpPr>
          <p:cNvPr id="138" name="Shape 136"/>
          <p:cNvSpPr/>
          <p:nvPr/>
        </p:nvSpPr>
        <p:spPr>
          <a:xfrm>
            <a:off x="3831336" y="3968496"/>
            <a:ext cx="1280160" cy="292608"/>
          </a:xfrm>
          <a:prstGeom prst="rect">
            <a:avLst/>
          </a:prstGeom>
          <a:solidFill>
            <a:srgbClr val="FFFFFF"/>
          </a:solidFill>
          <a:ln w="3810">
            <a:solidFill>
              <a:srgbClr val="CCCCCC"/>
            </a:solidFill>
            <a:prstDash val="solid"/>
          </a:ln>
        </p:spPr>
        <p:txBody>
          <a:bodyPr/>
          <a:lstStyle/>
          <a:p>
            <a:endParaRPr lang="en-GB"/>
          </a:p>
        </p:txBody>
      </p:sp>
      <p:sp>
        <p:nvSpPr>
          <p:cNvPr id="139" name="Text 137"/>
          <p:cNvSpPr/>
          <p:nvPr/>
        </p:nvSpPr>
        <p:spPr>
          <a:xfrm>
            <a:off x="3886200" y="3968496"/>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7 days</a:t>
            </a:r>
            <a:endParaRPr lang="en-US" sz="900" dirty="0"/>
          </a:p>
        </p:txBody>
      </p:sp>
      <p:sp>
        <p:nvSpPr>
          <p:cNvPr id="140" name="Shape 138"/>
          <p:cNvSpPr/>
          <p:nvPr/>
        </p:nvSpPr>
        <p:spPr>
          <a:xfrm>
            <a:off x="5129784" y="3968496"/>
            <a:ext cx="1280160" cy="292608"/>
          </a:xfrm>
          <a:prstGeom prst="rect">
            <a:avLst/>
          </a:prstGeom>
          <a:solidFill>
            <a:srgbClr val="FFFFFF"/>
          </a:solidFill>
          <a:ln w="3810">
            <a:solidFill>
              <a:srgbClr val="CCCCCC"/>
            </a:solidFill>
            <a:prstDash val="solid"/>
          </a:ln>
        </p:spPr>
        <p:txBody>
          <a:bodyPr/>
          <a:lstStyle/>
          <a:p>
            <a:endParaRPr lang="en-GB"/>
          </a:p>
        </p:txBody>
      </p:sp>
      <p:sp>
        <p:nvSpPr>
          <p:cNvPr id="141" name="Text 139"/>
          <p:cNvSpPr/>
          <p:nvPr/>
        </p:nvSpPr>
        <p:spPr>
          <a:xfrm>
            <a:off x="5184648" y="3968496"/>
            <a:ext cx="1170432" cy="292608"/>
          </a:xfrm>
          <a:prstGeom prst="rect">
            <a:avLst/>
          </a:prstGeom>
          <a:noFill/>
          <a:ln/>
        </p:spPr>
        <p:txBody>
          <a:bodyPr wrap="square" rtlCol="0" anchor="ctr"/>
          <a:lstStyle/>
          <a:p>
            <a:pPr marL="0" indent="0" algn="ctr">
              <a:buNone/>
            </a:pPr>
            <a:r>
              <a:rPr lang="en-US" sz="1000" b="1" dirty="0">
                <a:solidFill>
                  <a:srgbClr val="217346"/>
                </a:solidFill>
                <a:latin typeface="Arial" pitchFamily="34" charset="0"/>
                <a:ea typeface="Arial" pitchFamily="34" charset="-122"/>
                <a:cs typeface="Arial" pitchFamily="34" charset="-120"/>
              </a:rPr>
              <a:t>-68%</a:t>
            </a:r>
            <a:endParaRPr lang="en-US" sz="1000" dirty="0"/>
          </a:p>
        </p:txBody>
      </p:sp>
      <p:sp>
        <p:nvSpPr>
          <p:cNvPr id="142" name="Shape 140"/>
          <p:cNvSpPr/>
          <p:nvPr/>
        </p:nvSpPr>
        <p:spPr>
          <a:xfrm>
            <a:off x="137160" y="4279392"/>
            <a:ext cx="2377440" cy="292608"/>
          </a:xfrm>
          <a:prstGeom prst="rect">
            <a:avLst/>
          </a:prstGeom>
          <a:solidFill>
            <a:srgbClr val="EAF4EE"/>
          </a:solidFill>
          <a:ln w="3810">
            <a:solidFill>
              <a:srgbClr val="CCCCCC"/>
            </a:solidFill>
            <a:prstDash val="solid"/>
          </a:ln>
        </p:spPr>
        <p:txBody>
          <a:bodyPr/>
          <a:lstStyle/>
          <a:p>
            <a:endParaRPr lang="en-GB"/>
          </a:p>
        </p:txBody>
      </p:sp>
      <p:sp>
        <p:nvSpPr>
          <p:cNvPr id="143" name="Text 141"/>
          <p:cNvSpPr/>
          <p:nvPr/>
        </p:nvSpPr>
        <p:spPr>
          <a:xfrm>
            <a:off x="192024" y="4279392"/>
            <a:ext cx="2267712" cy="292608"/>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Process efficiency</a:t>
            </a:r>
            <a:endParaRPr lang="en-US" sz="900" dirty="0"/>
          </a:p>
        </p:txBody>
      </p:sp>
      <p:sp>
        <p:nvSpPr>
          <p:cNvPr id="144" name="Shape 142"/>
          <p:cNvSpPr/>
          <p:nvPr/>
        </p:nvSpPr>
        <p:spPr>
          <a:xfrm>
            <a:off x="2532888" y="4279392"/>
            <a:ext cx="1280160" cy="292608"/>
          </a:xfrm>
          <a:prstGeom prst="rect">
            <a:avLst/>
          </a:prstGeom>
          <a:solidFill>
            <a:srgbClr val="EAF4EE"/>
          </a:solidFill>
          <a:ln w="3810">
            <a:solidFill>
              <a:srgbClr val="CCCCCC"/>
            </a:solidFill>
            <a:prstDash val="solid"/>
          </a:ln>
        </p:spPr>
        <p:txBody>
          <a:bodyPr/>
          <a:lstStyle/>
          <a:p>
            <a:endParaRPr lang="en-GB"/>
          </a:p>
        </p:txBody>
      </p:sp>
      <p:sp>
        <p:nvSpPr>
          <p:cNvPr id="145" name="Text 143"/>
          <p:cNvSpPr/>
          <p:nvPr/>
        </p:nvSpPr>
        <p:spPr>
          <a:xfrm>
            <a:off x="2587752" y="4279392"/>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2.6%</a:t>
            </a:r>
            <a:endParaRPr lang="en-US" sz="900" dirty="0"/>
          </a:p>
        </p:txBody>
      </p:sp>
      <p:sp>
        <p:nvSpPr>
          <p:cNvPr id="146" name="Shape 144"/>
          <p:cNvSpPr/>
          <p:nvPr/>
        </p:nvSpPr>
        <p:spPr>
          <a:xfrm>
            <a:off x="3831336" y="4279392"/>
            <a:ext cx="1280160" cy="292608"/>
          </a:xfrm>
          <a:prstGeom prst="rect">
            <a:avLst/>
          </a:prstGeom>
          <a:solidFill>
            <a:srgbClr val="EAF4EE"/>
          </a:solidFill>
          <a:ln w="3810">
            <a:solidFill>
              <a:srgbClr val="CCCCCC"/>
            </a:solidFill>
            <a:prstDash val="solid"/>
          </a:ln>
        </p:spPr>
        <p:txBody>
          <a:bodyPr/>
          <a:lstStyle/>
          <a:p>
            <a:endParaRPr lang="en-GB"/>
          </a:p>
        </p:txBody>
      </p:sp>
      <p:sp>
        <p:nvSpPr>
          <p:cNvPr id="147" name="Text 145"/>
          <p:cNvSpPr/>
          <p:nvPr/>
        </p:nvSpPr>
        <p:spPr>
          <a:xfrm>
            <a:off x="3886200" y="4279392"/>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7.5%</a:t>
            </a:r>
            <a:endParaRPr lang="en-US" sz="900" dirty="0"/>
          </a:p>
        </p:txBody>
      </p:sp>
      <p:sp>
        <p:nvSpPr>
          <p:cNvPr id="148" name="Shape 146"/>
          <p:cNvSpPr/>
          <p:nvPr/>
        </p:nvSpPr>
        <p:spPr>
          <a:xfrm>
            <a:off x="5129784" y="4279392"/>
            <a:ext cx="1280160" cy="292608"/>
          </a:xfrm>
          <a:prstGeom prst="rect">
            <a:avLst/>
          </a:prstGeom>
          <a:solidFill>
            <a:srgbClr val="EAF4EE"/>
          </a:solidFill>
          <a:ln w="3810">
            <a:solidFill>
              <a:srgbClr val="CCCCCC"/>
            </a:solidFill>
            <a:prstDash val="solid"/>
          </a:ln>
        </p:spPr>
        <p:txBody>
          <a:bodyPr/>
          <a:lstStyle/>
          <a:p>
            <a:endParaRPr lang="en-GB"/>
          </a:p>
        </p:txBody>
      </p:sp>
      <p:sp>
        <p:nvSpPr>
          <p:cNvPr id="149" name="Text 147"/>
          <p:cNvSpPr/>
          <p:nvPr/>
        </p:nvSpPr>
        <p:spPr>
          <a:xfrm>
            <a:off x="5184648" y="4279392"/>
            <a:ext cx="1170432" cy="292608"/>
          </a:xfrm>
          <a:prstGeom prst="rect">
            <a:avLst/>
          </a:prstGeom>
          <a:noFill/>
          <a:ln/>
        </p:spPr>
        <p:txBody>
          <a:bodyPr wrap="square" rtlCol="0" anchor="ctr"/>
          <a:lstStyle/>
          <a:p>
            <a:pPr marL="0" indent="0" algn="ctr">
              <a:buNone/>
            </a:pPr>
            <a:r>
              <a:rPr lang="en-US" sz="1000" b="1" dirty="0">
                <a:solidFill>
                  <a:srgbClr val="217346"/>
                </a:solidFill>
                <a:latin typeface="Arial" pitchFamily="34" charset="0"/>
                <a:ea typeface="Arial" pitchFamily="34" charset="-122"/>
                <a:cs typeface="Arial" pitchFamily="34" charset="-120"/>
              </a:rPr>
              <a:t>+189%</a:t>
            </a:r>
            <a:endParaRPr lang="en-US" sz="1000" dirty="0"/>
          </a:p>
        </p:txBody>
      </p:sp>
      <p:sp>
        <p:nvSpPr>
          <p:cNvPr id="150" name="Shape 148"/>
          <p:cNvSpPr/>
          <p:nvPr/>
        </p:nvSpPr>
        <p:spPr>
          <a:xfrm>
            <a:off x="137160" y="4590288"/>
            <a:ext cx="2377440" cy="292608"/>
          </a:xfrm>
          <a:prstGeom prst="rect">
            <a:avLst/>
          </a:prstGeom>
          <a:solidFill>
            <a:srgbClr val="FFFFFF"/>
          </a:solidFill>
          <a:ln w="3810">
            <a:solidFill>
              <a:srgbClr val="CCCCCC"/>
            </a:solidFill>
            <a:prstDash val="solid"/>
          </a:ln>
        </p:spPr>
        <p:txBody>
          <a:bodyPr/>
          <a:lstStyle/>
          <a:p>
            <a:endParaRPr lang="en-GB"/>
          </a:p>
        </p:txBody>
      </p:sp>
      <p:sp>
        <p:nvSpPr>
          <p:cNvPr id="151" name="Text 149"/>
          <p:cNvSpPr/>
          <p:nvPr/>
        </p:nvSpPr>
        <p:spPr>
          <a:xfrm>
            <a:off x="192024" y="4590288"/>
            <a:ext cx="2267712" cy="292608"/>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WIP between steps</a:t>
            </a:r>
            <a:endParaRPr lang="en-US" sz="900" dirty="0"/>
          </a:p>
        </p:txBody>
      </p:sp>
      <p:sp>
        <p:nvSpPr>
          <p:cNvPr id="152" name="Shape 150"/>
          <p:cNvSpPr/>
          <p:nvPr/>
        </p:nvSpPr>
        <p:spPr>
          <a:xfrm>
            <a:off x="2532888" y="4590288"/>
            <a:ext cx="1280160" cy="292608"/>
          </a:xfrm>
          <a:prstGeom prst="rect">
            <a:avLst/>
          </a:prstGeom>
          <a:solidFill>
            <a:srgbClr val="FFFFFF"/>
          </a:solidFill>
          <a:ln w="3810">
            <a:solidFill>
              <a:srgbClr val="CCCCCC"/>
            </a:solidFill>
            <a:prstDash val="solid"/>
          </a:ln>
        </p:spPr>
        <p:txBody>
          <a:bodyPr/>
          <a:lstStyle/>
          <a:p>
            <a:endParaRPr lang="en-GB"/>
          </a:p>
        </p:txBody>
      </p:sp>
      <p:sp>
        <p:nvSpPr>
          <p:cNvPr id="153" name="Text 151"/>
          <p:cNvSpPr/>
          <p:nvPr/>
        </p:nvSpPr>
        <p:spPr>
          <a:xfrm>
            <a:off x="2587752" y="4590288"/>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192 units</a:t>
            </a:r>
            <a:endParaRPr lang="en-US" sz="900" dirty="0"/>
          </a:p>
        </p:txBody>
      </p:sp>
      <p:sp>
        <p:nvSpPr>
          <p:cNvPr id="154" name="Shape 152"/>
          <p:cNvSpPr/>
          <p:nvPr/>
        </p:nvSpPr>
        <p:spPr>
          <a:xfrm>
            <a:off x="3831336" y="4590288"/>
            <a:ext cx="1280160" cy="292608"/>
          </a:xfrm>
          <a:prstGeom prst="rect">
            <a:avLst/>
          </a:prstGeom>
          <a:solidFill>
            <a:srgbClr val="FFFFFF"/>
          </a:solidFill>
          <a:ln w="3810">
            <a:solidFill>
              <a:srgbClr val="CCCCCC"/>
            </a:solidFill>
            <a:prstDash val="solid"/>
          </a:ln>
        </p:spPr>
        <p:txBody>
          <a:bodyPr/>
          <a:lstStyle/>
          <a:p>
            <a:endParaRPr lang="en-GB"/>
          </a:p>
        </p:txBody>
      </p:sp>
      <p:sp>
        <p:nvSpPr>
          <p:cNvPr id="155" name="Text 153"/>
          <p:cNvSpPr/>
          <p:nvPr/>
        </p:nvSpPr>
        <p:spPr>
          <a:xfrm>
            <a:off x="3886200" y="4590288"/>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~32 units</a:t>
            </a:r>
            <a:endParaRPr lang="en-US" sz="900" dirty="0"/>
          </a:p>
        </p:txBody>
      </p:sp>
      <p:sp>
        <p:nvSpPr>
          <p:cNvPr id="156" name="Shape 154"/>
          <p:cNvSpPr/>
          <p:nvPr/>
        </p:nvSpPr>
        <p:spPr>
          <a:xfrm>
            <a:off x="5129784" y="4590288"/>
            <a:ext cx="1280160" cy="292608"/>
          </a:xfrm>
          <a:prstGeom prst="rect">
            <a:avLst/>
          </a:prstGeom>
          <a:solidFill>
            <a:srgbClr val="FFFFFF"/>
          </a:solidFill>
          <a:ln w="3810">
            <a:solidFill>
              <a:srgbClr val="CCCCCC"/>
            </a:solidFill>
            <a:prstDash val="solid"/>
          </a:ln>
        </p:spPr>
        <p:txBody>
          <a:bodyPr/>
          <a:lstStyle/>
          <a:p>
            <a:endParaRPr lang="en-GB"/>
          </a:p>
        </p:txBody>
      </p:sp>
      <p:sp>
        <p:nvSpPr>
          <p:cNvPr id="157" name="Text 155"/>
          <p:cNvSpPr/>
          <p:nvPr/>
        </p:nvSpPr>
        <p:spPr>
          <a:xfrm>
            <a:off x="5184648" y="4590288"/>
            <a:ext cx="1170432" cy="292608"/>
          </a:xfrm>
          <a:prstGeom prst="rect">
            <a:avLst/>
          </a:prstGeom>
          <a:noFill/>
          <a:ln/>
        </p:spPr>
        <p:txBody>
          <a:bodyPr wrap="square" rtlCol="0" anchor="ctr"/>
          <a:lstStyle/>
          <a:p>
            <a:pPr marL="0" indent="0" algn="ctr">
              <a:buNone/>
            </a:pPr>
            <a:r>
              <a:rPr lang="en-US" sz="1000" b="1" dirty="0">
                <a:solidFill>
                  <a:srgbClr val="217346"/>
                </a:solidFill>
                <a:latin typeface="Arial" pitchFamily="34" charset="0"/>
                <a:ea typeface="Arial" pitchFamily="34" charset="-122"/>
                <a:cs typeface="Arial" pitchFamily="34" charset="-120"/>
              </a:rPr>
              <a:t>-83%</a:t>
            </a:r>
            <a:endParaRPr lang="en-US" sz="1000" dirty="0"/>
          </a:p>
        </p:txBody>
      </p:sp>
      <p:sp>
        <p:nvSpPr>
          <p:cNvPr id="158" name="Shape 156"/>
          <p:cNvSpPr/>
          <p:nvPr/>
        </p:nvSpPr>
        <p:spPr>
          <a:xfrm>
            <a:off x="137160" y="4901184"/>
            <a:ext cx="2377440" cy="292608"/>
          </a:xfrm>
          <a:prstGeom prst="rect">
            <a:avLst/>
          </a:prstGeom>
          <a:solidFill>
            <a:srgbClr val="EAF4EE"/>
          </a:solidFill>
          <a:ln w="3810">
            <a:solidFill>
              <a:srgbClr val="CCCCCC"/>
            </a:solidFill>
            <a:prstDash val="solid"/>
          </a:ln>
        </p:spPr>
        <p:txBody>
          <a:bodyPr/>
          <a:lstStyle/>
          <a:p>
            <a:endParaRPr lang="en-GB"/>
          </a:p>
        </p:txBody>
      </p:sp>
      <p:sp>
        <p:nvSpPr>
          <p:cNvPr id="159" name="Text 157"/>
          <p:cNvSpPr/>
          <p:nvPr/>
        </p:nvSpPr>
        <p:spPr>
          <a:xfrm>
            <a:off x="192024" y="4901184"/>
            <a:ext cx="2267712" cy="292608"/>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Scrap rate</a:t>
            </a:r>
            <a:endParaRPr lang="en-US" sz="900" dirty="0"/>
          </a:p>
        </p:txBody>
      </p:sp>
      <p:sp>
        <p:nvSpPr>
          <p:cNvPr id="160" name="Shape 158"/>
          <p:cNvSpPr/>
          <p:nvPr/>
        </p:nvSpPr>
        <p:spPr>
          <a:xfrm>
            <a:off x="2532888" y="4901184"/>
            <a:ext cx="1280160" cy="292608"/>
          </a:xfrm>
          <a:prstGeom prst="rect">
            <a:avLst/>
          </a:prstGeom>
          <a:solidFill>
            <a:srgbClr val="EAF4EE"/>
          </a:solidFill>
          <a:ln w="3810">
            <a:solidFill>
              <a:srgbClr val="CCCCCC"/>
            </a:solidFill>
            <a:prstDash val="solid"/>
          </a:ln>
        </p:spPr>
        <p:txBody>
          <a:bodyPr/>
          <a:lstStyle/>
          <a:p>
            <a:endParaRPr lang="en-GB"/>
          </a:p>
        </p:txBody>
      </p:sp>
      <p:sp>
        <p:nvSpPr>
          <p:cNvPr id="161" name="Text 159"/>
          <p:cNvSpPr/>
          <p:nvPr/>
        </p:nvSpPr>
        <p:spPr>
          <a:xfrm>
            <a:off x="2587752" y="4901184"/>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5.8%</a:t>
            </a:r>
            <a:endParaRPr lang="en-US" sz="900" dirty="0"/>
          </a:p>
        </p:txBody>
      </p:sp>
      <p:sp>
        <p:nvSpPr>
          <p:cNvPr id="162" name="Shape 160"/>
          <p:cNvSpPr/>
          <p:nvPr/>
        </p:nvSpPr>
        <p:spPr>
          <a:xfrm>
            <a:off x="3831336" y="4901184"/>
            <a:ext cx="1280160" cy="292608"/>
          </a:xfrm>
          <a:prstGeom prst="rect">
            <a:avLst/>
          </a:prstGeom>
          <a:solidFill>
            <a:srgbClr val="EAF4EE"/>
          </a:solidFill>
          <a:ln w="3810">
            <a:solidFill>
              <a:srgbClr val="CCCCCC"/>
            </a:solidFill>
            <a:prstDash val="solid"/>
          </a:ln>
        </p:spPr>
        <p:txBody>
          <a:bodyPr/>
          <a:lstStyle/>
          <a:p>
            <a:endParaRPr lang="en-GB"/>
          </a:p>
        </p:txBody>
      </p:sp>
      <p:sp>
        <p:nvSpPr>
          <p:cNvPr id="163" name="Text 161"/>
          <p:cNvSpPr/>
          <p:nvPr/>
        </p:nvSpPr>
        <p:spPr>
          <a:xfrm>
            <a:off x="3886200" y="4901184"/>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1.9%</a:t>
            </a:r>
            <a:endParaRPr lang="en-US" sz="900" dirty="0"/>
          </a:p>
        </p:txBody>
      </p:sp>
      <p:sp>
        <p:nvSpPr>
          <p:cNvPr id="164" name="Shape 162"/>
          <p:cNvSpPr/>
          <p:nvPr/>
        </p:nvSpPr>
        <p:spPr>
          <a:xfrm>
            <a:off x="5129784" y="4901184"/>
            <a:ext cx="1280160" cy="292608"/>
          </a:xfrm>
          <a:prstGeom prst="rect">
            <a:avLst/>
          </a:prstGeom>
          <a:solidFill>
            <a:srgbClr val="EAF4EE"/>
          </a:solidFill>
          <a:ln w="3810">
            <a:solidFill>
              <a:srgbClr val="CCCCCC"/>
            </a:solidFill>
            <a:prstDash val="solid"/>
          </a:ln>
        </p:spPr>
        <p:txBody>
          <a:bodyPr/>
          <a:lstStyle/>
          <a:p>
            <a:endParaRPr lang="en-GB"/>
          </a:p>
        </p:txBody>
      </p:sp>
      <p:sp>
        <p:nvSpPr>
          <p:cNvPr id="165" name="Text 163"/>
          <p:cNvSpPr/>
          <p:nvPr/>
        </p:nvSpPr>
        <p:spPr>
          <a:xfrm>
            <a:off x="5184648" y="4901184"/>
            <a:ext cx="1170432" cy="292608"/>
          </a:xfrm>
          <a:prstGeom prst="rect">
            <a:avLst/>
          </a:prstGeom>
          <a:noFill/>
          <a:ln/>
        </p:spPr>
        <p:txBody>
          <a:bodyPr wrap="square" rtlCol="0" anchor="ctr"/>
          <a:lstStyle/>
          <a:p>
            <a:pPr marL="0" indent="0" algn="ctr">
              <a:buNone/>
            </a:pPr>
            <a:r>
              <a:rPr lang="en-US" sz="1000" b="1" dirty="0">
                <a:solidFill>
                  <a:srgbClr val="217346"/>
                </a:solidFill>
                <a:latin typeface="Arial" pitchFamily="34" charset="0"/>
                <a:ea typeface="Arial" pitchFamily="34" charset="-122"/>
                <a:cs typeface="Arial" pitchFamily="34" charset="-120"/>
              </a:rPr>
              <a:t>-67%</a:t>
            </a:r>
            <a:endParaRPr lang="en-US" sz="1000" dirty="0"/>
          </a:p>
        </p:txBody>
      </p:sp>
      <p:sp>
        <p:nvSpPr>
          <p:cNvPr id="166" name="Shape 164"/>
          <p:cNvSpPr/>
          <p:nvPr/>
        </p:nvSpPr>
        <p:spPr>
          <a:xfrm>
            <a:off x="137160" y="5212080"/>
            <a:ext cx="2377440" cy="292608"/>
          </a:xfrm>
          <a:prstGeom prst="rect">
            <a:avLst/>
          </a:prstGeom>
          <a:solidFill>
            <a:srgbClr val="FFFFFF"/>
          </a:solidFill>
          <a:ln w="3810">
            <a:solidFill>
              <a:srgbClr val="CCCCCC"/>
            </a:solidFill>
            <a:prstDash val="solid"/>
          </a:ln>
        </p:spPr>
        <p:txBody>
          <a:bodyPr/>
          <a:lstStyle/>
          <a:p>
            <a:endParaRPr lang="en-GB"/>
          </a:p>
        </p:txBody>
      </p:sp>
      <p:sp>
        <p:nvSpPr>
          <p:cNvPr id="167" name="Text 165"/>
          <p:cNvSpPr/>
          <p:nvPr/>
        </p:nvSpPr>
        <p:spPr>
          <a:xfrm>
            <a:off x="192024" y="5212080"/>
            <a:ext cx="2267712" cy="292608"/>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OTIF</a:t>
            </a:r>
            <a:endParaRPr lang="en-US" sz="900" dirty="0"/>
          </a:p>
        </p:txBody>
      </p:sp>
      <p:sp>
        <p:nvSpPr>
          <p:cNvPr id="168" name="Shape 166"/>
          <p:cNvSpPr/>
          <p:nvPr/>
        </p:nvSpPr>
        <p:spPr>
          <a:xfrm>
            <a:off x="2532888" y="5212080"/>
            <a:ext cx="1280160" cy="292608"/>
          </a:xfrm>
          <a:prstGeom prst="rect">
            <a:avLst/>
          </a:prstGeom>
          <a:solidFill>
            <a:srgbClr val="FFFFFF"/>
          </a:solidFill>
          <a:ln w="3810">
            <a:solidFill>
              <a:srgbClr val="CCCCCC"/>
            </a:solidFill>
            <a:prstDash val="solid"/>
          </a:ln>
        </p:spPr>
        <p:txBody>
          <a:bodyPr/>
          <a:lstStyle/>
          <a:p>
            <a:endParaRPr lang="en-GB"/>
          </a:p>
        </p:txBody>
      </p:sp>
      <p:sp>
        <p:nvSpPr>
          <p:cNvPr id="169" name="Text 167"/>
          <p:cNvSpPr/>
          <p:nvPr/>
        </p:nvSpPr>
        <p:spPr>
          <a:xfrm>
            <a:off x="2587752" y="5212080"/>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74%</a:t>
            </a:r>
            <a:endParaRPr lang="en-US" sz="900" dirty="0"/>
          </a:p>
        </p:txBody>
      </p:sp>
      <p:sp>
        <p:nvSpPr>
          <p:cNvPr id="170" name="Shape 168"/>
          <p:cNvSpPr/>
          <p:nvPr/>
        </p:nvSpPr>
        <p:spPr>
          <a:xfrm>
            <a:off x="3831336" y="5212080"/>
            <a:ext cx="1280160" cy="292608"/>
          </a:xfrm>
          <a:prstGeom prst="rect">
            <a:avLst/>
          </a:prstGeom>
          <a:solidFill>
            <a:srgbClr val="FFFFFF"/>
          </a:solidFill>
          <a:ln w="3810">
            <a:solidFill>
              <a:srgbClr val="CCCCCC"/>
            </a:solidFill>
            <a:prstDash val="solid"/>
          </a:ln>
        </p:spPr>
        <p:txBody>
          <a:bodyPr/>
          <a:lstStyle/>
          <a:p>
            <a:endParaRPr lang="en-GB"/>
          </a:p>
        </p:txBody>
      </p:sp>
      <p:sp>
        <p:nvSpPr>
          <p:cNvPr id="171" name="Text 169"/>
          <p:cNvSpPr/>
          <p:nvPr/>
        </p:nvSpPr>
        <p:spPr>
          <a:xfrm>
            <a:off x="3886200" y="5212080"/>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94%</a:t>
            </a:r>
            <a:endParaRPr lang="en-US" sz="900" dirty="0"/>
          </a:p>
        </p:txBody>
      </p:sp>
      <p:sp>
        <p:nvSpPr>
          <p:cNvPr id="172" name="Shape 170"/>
          <p:cNvSpPr/>
          <p:nvPr/>
        </p:nvSpPr>
        <p:spPr>
          <a:xfrm>
            <a:off x="5129784" y="5212080"/>
            <a:ext cx="1280160" cy="292608"/>
          </a:xfrm>
          <a:prstGeom prst="rect">
            <a:avLst/>
          </a:prstGeom>
          <a:solidFill>
            <a:srgbClr val="FFFFFF"/>
          </a:solidFill>
          <a:ln w="3810">
            <a:solidFill>
              <a:srgbClr val="CCCCCC"/>
            </a:solidFill>
            <a:prstDash val="solid"/>
          </a:ln>
        </p:spPr>
        <p:txBody>
          <a:bodyPr/>
          <a:lstStyle/>
          <a:p>
            <a:endParaRPr lang="en-GB"/>
          </a:p>
        </p:txBody>
      </p:sp>
      <p:sp>
        <p:nvSpPr>
          <p:cNvPr id="173" name="Text 171"/>
          <p:cNvSpPr/>
          <p:nvPr/>
        </p:nvSpPr>
        <p:spPr>
          <a:xfrm>
            <a:off x="5184648" y="5212080"/>
            <a:ext cx="1170432" cy="292608"/>
          </a:xfrm>
          <a:prstGeom prst="rect">
            <a:avLst/>
          </a:prstGeom>
          <a:noFill/>
          <a:ln/>
        </p:spPr>
        <p:txBody>
          <a:bodyPr wrap="square" rtlCol="0" anchor="ctr"/>
          <a:lstStyle/>
          <a:p>
            <a:pPr marL="0" indent="0" algn="ctr">
              <a:buNone/>
            </a:pPr>
            <a:r>
              <a:rPr lang="en-US" sz="1000" b="1" dirty="0">
                <a:solidFill>
                  <a:srgbClr val="217346"/>
                </a:solidFill>
                <a:latin typeface="Arial" pitchFamily="34" charset="0"/>
                <a:ea typeface="Arial" pitchFamily="34" charset="-122"/>
                <a:cs typeface="Arial" pitchFamily="34" charset="-120"/>
              </a:rPr>
              <a:t>+20pp</a:t>
            </a:r>
            <a:endParaRPr lang="en-US" sz="1000" dirty="0"/>
          </a:p>
        </p:txBody>
      </p:sp>
      <p:sp>
        <p:nvSpPr>
          <p:cNvPr id="174" name="Shape 172"/>
          <p:cNvSpPr/>
          <p:nvPr/>
        </p:nvSpPr>
        <p:spPr>
          <a:xfrm>
            <a:off x="137160" y="5522976"/>
            <a:ext cx="2377440" cy="292608"/>
          </a:xfrm>
          <a:prstGeom prst="rect">
            <a:avLst/>
          </a:prstGeom>
          <a:solidFill>
            <a:srgbClr val="EAF4EE"/>
          </a:solidFill>
          <a:ln w="3810">
            <a:solidFill>
              <a:srgbClr val="CCCCCC"/>
            </a:solidFill>
            <a:prstDash val="solid"/>
          </a:ln>
        </p:spPr>
        <p:txBody>
          <a:bodyPr/>
          <a:lstStyle/>
          <a:p>
            <a:endParaRPr lang="en-GB"/>
          </a:p>
        </p:txBody>
      </p:sp>
      <p:sp>
        <p:nvSpPr>
          <p:cNvPr id="175" name="Text 173"/>
          <p:cNvSpPr/>
          <p:nvPr/>
        </p:nvSpPr>
        <p:spPr>
          <a:xfrm>
            <a:off x="192024" y="5522976"/>
            <a:ext cx="2267712" cy="292608"/>
          </a:xfrm>
          <a:prstGeom prst="rect">
            <a:avLst/>
          </a:prstGeom>
          <a:noFill/>
          <a:ln/>
        </p:spPr>
        <p:txBody>
          <a:bodyPr wrap="square" rtlCol="0" anchor="ctr"/>
          <a:lstStyle/>
          <a:p>
            <a:pPr marL="0" indent="0" algn="l">
              <a:buNone/>
            </a:pPr>
            <a:r>
              <a:rPr lang="en-US" sz="900" dirty="0">
                <a:solidFill>
                  <a:srgbClr val="5B595A"/>
                </a:solidFill>
                <a:latin typeface="Arial" pitchFamily="34" charset="0"/>
                <a:ea typeface="Arial" pitchFamily="34" charset="-122"/>
                <a:cs typeface="Arial" pitchFamily="34" charset="-120"/>
              </a:rPr>
              <a:t>Est. monthly saving</a:t>
            </a:r>
            <a:endParaRPr lang="en-US" sz="900" dirty="0"/>
          </a:p>
        </p:txBody>
      </p:sp>
      <p:sp>
        <p:nvSpPr>
          <p:cNvPr id="176" name="Shape 174"/>
          <p:cNvSpPr/>
          <p:nvPr/>
        </p:nvSpPr>
        <p:spPr>
          <a:xfrm>
            <a:off x="2532888" y="5522976"/>
            <a:ext cx="1280160" cy="292608"/>
          </a:xfrm>
          <a:prstGeom prst="rect">
            <a:avLst/>
          </a:prstGeom>
          <a:solidFill>
            <a:srgbClr val="EAF4EE"/>
          </a:solidFill>
          <a:ln w="3810">
            <a:solidFill>
              <a:srgbClr val="CCCCCC"/>
            </a:solidFill>
            <a:prstDash val="solid"/>
          </a:ln>
        </p:spPr>
        <p:txBody>
          <a:bodyPr/>
          <a:lstStyle/>
          <a:p>
            <a:endParaRPr lang="en-GB"/>
          </a:p>
        </p:txBody>
      </p:sp>
      <p:sp>
        <p:nvSpPr>
          <p:cNvPr id="177" name="Text 175"/>
          <p:cNvSpPr/>
          <p:nvPr/>
        </p:nvSpPr>
        <p:spPr>
          <a:xfrm>
            <a:off x="2587752" y="5522976"/>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baseline</a:t>
            </a:r>
            <a:endParaRPr lang="en-US" sz="900" dirty="0"/>
          </a:p>
        </p:txBody>
      </p:sp>
      <p:sp>
        <p:nvSpPr>
          <p:cNvPr id="178" name="Shape 176"/>
          <p:cNvSpPr/>
          <p:nvPr/>
        </p:nvSpPr>
        <p:spPr>
          <a:xfrm>
            <a:off x="3831336" y="5522976"/>
            <a:ext cx="1280160" cy="292608"/>
          </a:xfrm>
          <a:prstGeom prst="rect">
            <a:avLst/>
          </a:prstGeom>
          <a:solidFill>
            <a:srgbClr val="EAF4EE"/>
          </a:solidFill>
          <a:ln w="3810">
            <a:solidFill>
              <a:srgbClr val="CCCCCC"/>
            </a:solidFill>
            <a:prstDash val="solid"/>
          </a:ln>
        </p:spPr>
        <p:txBody>
          <a:bodyPr/>
          <a:lstStyle/>
          <a:p>
            <a:endParaRPr lang="en-GB"/>
          </a:p>
        </p:txBody>
      </p:sp>
      <p:sp>
        <p:nvSpPr>
          <p:cNvPr id="179" name="Text 177"/>
          <p:cNvSpPr/>
          <p:nvPr/>
        </p:nvSpPr>
        <p:spPr>
          <a:xfrm>
            <a:off x="3886200" y="5522976"/>
            <a:ext cx="1170432" cy="292608"/>
          </a:xfrm>
          <a:prstGeom prst="rect">
            <a:avLst/>
          </a:prstGeom>
          <a:noFill/>
          <a:ln/>
        </p:spPr>
        <p:txBody>
          <a:bodyPr wrap="square" rtlCol="0" anchor="ctr"/>
          <a:lstStyle/>
          <a:p>
            <a:pPr marL="0" indent="0" algn="ctr">
              <a:buNone/>
            </a:pPr>
            <a:r>
              <a:rPr lang="en-US" sz="900" dirty="0">
                <a:solidFill>
                  <a:srgbClr val="5B595A"/>
                </a:solidFill>
                <a:latin typeface="Arial" pitchFamily="34" charset="0"/>
                <a:ea typeface="Arial" pitchFamily="34" charset="-122"/>
                <a:cs typeface="Arial" pitchFamily="34" charset="-120"/>
              </a:rPr>
              <a:t>+£8,400/month</a:t>
            </a:r>
            <a:endParaRPr lang="en-US" sz="900" dirty="0"/>
          </a:p>
        </p:txBody>
      </p:sp>
      <p:sp>
        <p:nvSpPr>
          <p:cNvPr id="180" name="Shape 178"/>
          <p:cNvSpPr/>
          <p:nvPr/>
        </p:nvSpPr>
        <p:spPr>
          <a:xfrm>
            <a:off x="5129784" y="5522976"/>
            <a:ext cx="1280160" cy="292608"/>
          </a:xfrm>
          <a:prstGeom prst="rect">
            <a:avLst/>
          </a:prstGeom>
          <a:solidFill>
            <a:srgbClr val="EAF4EE"/>
          </a:solidFill>
          <a:ln w="3810">
            <a:solidFill>
              <a:srgbClr val="CCCCCC"/>
            </a:solidFill>
            <a:prstDash val="solid"/>
          </a:ln>
        </p:spPr>
        <p:txBody>
          <a:bodyPr/>
          <a:lstStyle/>
          <a:p>
            <a:endParaRPr lang="en-GB"/>
          </a:p>
        </p:txBody>
      </p:sp>
      <p:sp>
        <p:nvSpPr>
          <p:cNvPr id="181" name="Text 179"/>
          <p:cNvSpPr/>
          <p:nvPr/>
        </p:nvSpPr>
        <p:spPr>
          <a:xfrm>
            <a:off x="5184648" y="5522976"/>
            <a:ext cx="1170432" cy="292608"/>
          </a:xfrm>
          <a:prstGeom prst="rect">
            <a:avLst/>
          </a:prstGeom>
          <a:noFill/>
          <a:ln/>
        </p:spPr>
        <p:txBody>
          <a:bodyPr wrap="square" rtlCol="0" anchor="ctr"/>
          <a:lstStyle/>
          <a:p>
            <a:pPr marL="0" indent="0" algn="ctr">
              <a:buNone/>
            </a:pPr>
            <a:r>
              <a:rPr lang="en-US" sz="1000" b="1" dirty="0">
                <a:solidFill>
                  <a:srgbClr val="217346"/>
                </a:solidFill>
                <a:latin typeface="Arial" pitchFamily="34" charset="0"/>
                <a:ea typeface="Arial" pitchFamily="34" charset="-122"/>
                <a:cs typeface="Arial" pitchFamily="34" charset="-120"/>
              </a:rPr>
              <a:t>annualised £100k+</a:t>
            </a:r>
            <a:endParaRPr lang="en-US" sz="1000" dirty="0"/>
          </a:p>
        </p:txBody>
      </p:sp>
      <p:sp>
        <p:nvSpPr>
          <p:cNvPr id="182" name="Shape 180"/>
          <p:cNvSpPr/>
          <p:nvPr/>
        </p:nvSpPr>
        <p:spPr>
          <a:xfrm>
            <a:off x="7909560" y="3401568"/>
            <a:ext cx="4114800" cy="2194560"/>
          </a:xfrm>
          <a:prstGeom prst="rect">
            <a:avLst/>
          </a:prstGeom>
          <a:solidFill>
            <a:srgbClr val="F3EAF4"/>
          </a:solidFill>
          <a:ln w="15240">
            <a:solidFill>
              <a:srgbClr val="83348F"/>
            </a:solidFill>
            <a:prstDash val="solid"/>
          </a:ln>
        </p:spPr>
        <p:txBody>
          <a:bodyPr/>
          <a:lstStyle/>
          <a:p>
            <a:endParaRPr lang="en-GB"/>
          </a:p>
        </p:txBody>
      </p:sp>
      <p:sp>
        <p:nvSpPr>
          <p:cNvPr id="183" name="Shape 181"/>
          <p:cNvSpPr/>
          <p:nvPr/>
        </p:nvSpPr>
        <p:spPr>
          <a:xfrm>
            <a:off x="7909560" y="3401568"/>
            <a:ext cx="4114800" cy="274320"/>
          </a:xfrm>
          <a:prstGeom prst="rect">
            <a:avLst/>
          </a:prstGeom>
          <a:solidFill>
            <a:srgbClr val="83348F"/>
          </a:solidFill>
          <a:ln/>
        </p:spPr>
        <p:txBody>
          <a:bodyPr/>
          <a:lstStyle/>
          <a:p>
            <a:endParaRPr lang="en-GB"/>
          </a:p>
        </p:txBody>
      </p:sp>
      <p:sp>
        <p:nvSpPr>
          <p:cNvPr id="184" name="Text 182"/>
          <p:cNvSpPr/>
          <p:nvPr/>
        </p:nvSpPr>
        <p:spPr>
          <a:xfrm>
            <a:off x="8001000" y="3429000"/>
            <a:ext cx="3931920" cy="219456"/>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Nuclear Assessor Perspective</a:t>
            </a:r>
            <a:endParaRPr lang="en-US" sz="900" dirty="0"/>
          </a:p>
        </p:txBody>
      </p:sp>
      <p:sp>
        <p:nvSpPr>
          <p:cNvPr id="185" name="Text 183"/>
          <p:cNvSpPr/>
          <p:nvPr/>
        </p:nvSpPr>
        <p:spPr>
          <a:xfrm>
            <a:off x="8001000" y="3730752"/>
            <a:ext cx="3931920" cy="1792224"/>
          </a:xfrm>
          <a:prstGeom prst="rect">
            <a:avLst/>
          </a:prstGeom>
          <a:noFill/>
          <a:ln/>
        </p:spPr>
        <p:txBody>
          <a:bodyPr wrap="square" rtlCol="0" anchor="t"/>
          <a:lstStyle/>
          <a:p>
            <a:pPr marL="0" indent="0">
              <a:buNone/>
            </a:pPr>
            <a:r>
              <a:rPr lang="en-US" sz="900" dirty="0">
                <a:solidFill>
                  <a:srgbClr val="5B595A"/>
                </a:solidFill>
                <a:latin typeface="Arial" pitchFamily="34" charset="0"/>
                <a:ea typeface="Arial" pitchFamily="34" charset="-122"/>
                <a:cs typeface="Arial" pitchFamily="34" charset="-120"/>
              </a:rPr>
              <a:t>At the verification visit, the SCC reviewed the before and after VSMs alongside the completed CSIP showing all six projects. Results were visible on the day: OTIF data confirmed the step change from month 4 onwards, scrap data confirmed the 8D project outcome, and reduced WIP was visible on the shopfloor. The company scored 7 out of 10 on Managing Value and Waste, up from 2 at initial assessment.</a:t>
            </a:r>
            <a:endParaRPr lang="en-US" sz="900" dirty="0"/>
          </a:p>
        </p:txBody>
      </p:sp>
      <p:sp>
        <p:nvSpPr>
          <p:cNvPr id="186" name="Rectangle 185"/>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7" name="Picture 186" descr="image.png"/>
          <p:cNvPicPr>
            <a:picLocks noChangeAspect="1"/>
          </p:cNvPicPr>
          <p:nvPr/>
        </p:nvPicPr>
        <p:blipFill>
          <a:blip r:embed="rId4"/>
          <a:stretch>
            <a:fillRect/>
          </a:stretch>
        </p:blipFill>
        <p:spPr>
          <a:xfrm>
            <a:off x="10610088" y="100584"/>
            <a:ext cx="566928" cy="347472"/>
          </a:xfrm>
          <a:prstGeom prst="rect">
            <a:avLst/>
          </a:prstGeom>
        </p:spPr>
      </p:pic>
      <p:pic>
        <p:nvPicPr>
          <p:cNvPr id="188" name="Picture 187" descr="image.png"/>
          <p:cNvPicPr>
            <a:picLocks noChangeAspect="1"/>
          </p:cNvPicPr>
          <p:nvPr/>
        </p:nvPicPr>
        <p:blipFill>
          <a:blip r:embed="rId3"/>
          <a:stretch>
            <a:fillRect/>
          </a:stretch>
        </p:blipFill>
        <p:spPr>
          <a:xfrm>
            <a:off x="11222736" y="100584"/>
            <a:ext cx="658368" cy="347472"/>
          </a:xfrm>
          <a:prstGeom prst="rect">
            <a:avLst/>
          </a:prstGeom>
        </p:spPr>
      </p:pic>
      <p:sp>
        <p:nvSpPr>
          <p:cNvPr id="189" name="Rectangle 188"/>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566928"/>
          </a:xfrm>
          <a:prstGeom prst="rect">
            <a:avLst/>
          </a:prstGeom>
          <a:solidFill>
            <a:srgbClr val="009FE3"/>
          </a:solidFill>
          <a:ln/>
        </p:spPr>
        <p:txBody>
          <a:bodyPr/>
          <a:lstStyle/>
          <a:p>
            <a:endParaRPr lang="en-GB"/>
          </a:p>
        </p:txBody>
      </p:sp>
      <p:sp>
        <p:nvSpPr>
          <p:cNvPr id="3" name="Text 1"/>
          <p:cNvSpPr/>
          <p:nvPr/>
        </p:nvSpPr>
        <p:spPr>
          <a:xfrm>
            <a:off x="228600" y="73152"/>
            <a:ext cx="10058400" cy="420624"/>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KEY LEARNINGS FROM THIS EXERCISE</a:t>
            </a:r>
            <a:endParaRPr lang="en-US" sz="1700" dirty="0"/>
          </a:p>
        </p:txBody>
      </p:sp>
      <p:sp>
        <p:nvSpPr>
          <p:cNvPr id="5" name="Shape 2"/>
          <p:cNvSpPr/>
          <p:nvPr/>
        </p:nvSpPr>
        <p:spPr>
          <a:xfrm>
            <a:off x="182880" y="658368"/>
            <a:ext cx="5833872" cy="1901952"/>
          </a:xfrm>
          <a:prstGeom prst="rect">
            <a:avLst/>
          </a:prstGeom>
          <a:solidFill>
            <a:srgbClr val="EAF4EE"/>
          </a:solidFill>
          <a:ln w="15240">
            <a:solidFill>
              <a:srgbClr val="217346"/>
            </a:solidFill>
            <a:prstDash val="solid"/>
          </a:ln>
        </p:spPr>
        <p:txBody>
          <a:bodyPr/>
          <a:lstStyle/>
          <a:p>
            <a:endParaRPr lang="en-GB"/>
          </a:p>
        </p:txBody>
      </p:sp>
      <p:sp>
        <p:nvSpPr>
          <p:cNvPr id="6" name="Shape 3"/>
          <p:cNvSpPr/>
          <p:nvPr/>
        </p:nvSpPr>
        <p:spPr>
          <a:xfrm>
            <a:off x="182880" y="658368"/>
            <a:ext cx="5833872" cy="310896"/>
          </a:xfrm>
          <a:prstGeom prst="rect">
            <a:avLst/>
          </a:prstGeom>
          <a:solidFill>
            <a:srgbClr val="217346"/>
          </a:solidFill>
          <a:ln/>
        </p:spPr>
        <p:txBody>
          <a:bodyPr/>
          <a:lstStyle/>
          <a:p>
            <a:endParaRPr lang="en-GB"/>
          </a:p>
        </p:txBody>
      </p:sp>
      <p:sp>
        <p:nvSpPr>
          <p:cNvPr id="7" name="Text 4"/>
          <p:cNvSpPr/>
          <p:nvPr/>
        </p:nvSpPr>
        <p:spPr>
          <a:xfrm>
            <a:off x="274320" y="694944"/>
            <a:ext cx="5650992"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The biggest waste was not where they expected it</a:t>
            </a:r>
            <a:endParaRPr lang="en-US" sz="950" dirty="0"/>
          </a:p>
        </p:txBody>
      </p:sp>
      <p:sp>
        <p:nvSpPr>
          <p:cNvPr id="8" name="Text 5"/>
          <p:cNvSpPr/>
          <p:nvPr/>
        </p:nvSpPr>
        <p:spPr>
          <a:xfrm>
            <a:off x="274320" y="1024128"/>
            <a:ext cx="5650992" cy="148132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Before the VSM exercise, management assumed the main constraint was machining speed on Cell 1. The map revealed that inspection was the true bottleneck, accounting for 5.2 of the 22-day lead time. The fix cost under £2,000 in gauges and surface plate. No capital investment in machinery was required.</a:t>
            </a:r>
            <a:endParaRPr lang="en-US" sz="950" dirty="0"/>
          </a:p>
        </p:txBody>
      </p:sp>
      <p:sp>
        <p:nvSpPr>
          <p:cNvPr id="9" name="Shape 6"/>
          <p:cNvSpPr/>
          <p:nvPr/>
        </p:nvSpPr>
        <p:spPr>
          <a:xfrm>
            <a:off x="6199632" y="658368"/>
            <a:ext cx="5833872" cy="1901952"/>
          </a:xfrm>
          <a:prstGeom prst="rect">
            <a:avLst/>
          </a:prstGeom>
          <a:solidFill>
            <a:srgbClr val="E0F4FD"/>
          </a:solidFill>
          <a:ln w="15240">
            <a:solidFill>
              <a:srgbClr val="009FE3"/>
            </a:solidFill>
            <a:prstDash val="solid"/>
          </a:ln>
        </p:spPr>
        <p:txBody>
          <a:bodyPr/>
          <a:lstStyle/>
          <a:p>
            <a:endParaRPr lang="en-GB"/>
          </a:p>
        </p:txBody>
      </p:sp>
      <p:sp>
        <p:nvSpPr>
          <p:cNvPr id="10" name="Shape 7"/>
          <p:cNvSpPr/>
          <p:nvPr/>
        </p:nvSpPr>
        <p:spPr>
          <a:xfrm>
            <a:off x="6199632" y="658368"/>
            <a:ext cx="5833872" cy="310896"/>
          </a:xfrm>
          <a:prstGeom prst="rect">
            <a:avLst/>
          </a:prstGeom>
          <a:solidFill>
            <a:srgbClr val="009FE3"/>
          </a:solidFill>
          <a:ln/>
        </p:spPr>
        <p:txBody>
          <a:bodyPr/>
          <a:lstStyle/>
          <a:p>
            <a:endParaRPr lang="en-GB"/>
          </a:p>
        </p:txBody>
      </p:sp>
      <p:sp>
        <p:nvSpPr>
          <p:cNvPr id="11" name="Text 8"/>
          <p:cNvSpPr/>
          <p:nvPr/>
        </p:nvSpPr>
        <p:spPr>
          <a:xfrm>
            <a:off x="6291072" y="694944"/>
            <a:ext cx="5650992"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Push scheduling was the root cause of most waste</a:t>
            </a:r>
            <a:endParaRPr lang="en-US" sz="950" dirty="0"/>
          </a:p>
        </p:txBody>
      </p:sp>
      <p:sp>
        <p:nvSpPr>
          <p:cNvPr id="12" name="Text 9"/>
          <p:cNvSpPr/>
          <p:nvPr/>
        </p:nvSpPr>
        <p:spPr>
          <a:xfrm>
            <a:off x="6291072" y="1024128"/>
            <a:ext cx="5650992" cy="148132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All six buffer points had excessive WIP because the push schedule told every cell to produce at full capacity, regardless of what the downstream step could absorb. Replacing push with pull eliminated the symptom at source. This is the single most important insight in lean thinking.</a:t>
            </a:r>
            <a:endParaRPr lang="en-US" sz="950" dirty="0"/>
          </a:p>
        </p:txBody>
      </p:sp>
      <p:sp>
        <p:nvSpPr>
          <p:cNvPr id="13" name="Shape 10"/>
          <p:cNvSpPr/>
          <p:nvPr/>
        </p:nvSpPr>
        <p:spPr>
          <a:xfrm>
            <a:off x="182880" y="2615184"/>
            <a:ext cx="5833872" cy="1901952"/>
          </a:xfrm>
          <a:prstGeom prst="rect">
            <a:avLst/>
          </a:prstGeom>
          <a:solidFill>
            <a:srgbClr val="F3EAF4"/>
          </a:solidFill>
          <a:ln w="15240">
            <a:solidFill>
              <a:srgbClr val="83348F"/>
            </a:solidFill>
            <a:prstDash val="solid"/>
          </a:ln>
        </p:spPr>
        <p:txBody>
          <a:bodyPr/>
          <a:lstStyle/>
          <a:p>
            <a:endParaRPr lang="en-GB"/>
          </a:p>
        </p:txBody>
      </p:sp>
      <p:sp>
        <p:nvSpPr>
          <p:cNvPr id="14" name="Shape 11"/>
          <p:cNvSpPr/>
          <p:nvPr/>
        </p:nvSpPr>
        <p:spPr>
          <a:xfrm>
            <a:off x="182880" y="2615184"/>
            <a:ext cx="5833872" cy="310896"/>
          </a:xfrm>
          <a:prstGeom prst="rect">
            <a:avLst/>
          </a:prstGeom>
          <a:solidFill>
            <a:srgbClr val="83348F"/>
          </a:solidFill>
          <a:ln/>
        </p:spPr>
        <p:txBody>
          <a:bodyPr/>
          <a:lstStyle/>
          <a:p>
            <a:endParaRPr lang="en-GB"/>
          </a:p>
        </p:txBody>
      </p:sp>
      <p:sp>
        <p:nvSpPr>
          <p:cNvPr id="15" name="Text 12"/>
          <p:cNvSpPr/>
          <p:nvPr/>
        </p:nvSpPr>
        <p:spPr>
          <a:xfrm>
            <a:off x="274320" y="2651760"/>
            <a:ext cx="5650992"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The process efficiency figure was a shock</a:t>
            </a:r>
            <a:endParaRPr lang="en-US" sz="950" dirty="0"/>
          </a:p>
        </p:txBody>
      </p:sp>
      <p:sp>
        <p:nvSpPr>
          <p:cNvPr id="16" name="Text 13"/>
          <p:cNvSpPr/>
          <p:nvPr/>
        </p:nvSpPr>
        <p:spPr>
          <a:xfrm>
            <a:off x="274320" y="2980944"/>
            <a:ext cx="5650992" cy="148132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At 2.6%, less than three percent of the total lead time involved actually working on the product. The remaining 97.4% was waiting, moving, or being stored in a queue. This is typical of a manufacturer who has never mapped their value stream. It is not a failure; it is the opportunity.</a:t>
            </a:r>
            <a:endParaRPr lang="en-US" sz="950" dirty="0"/>
          </a:p>
        </p:txBody>
      </p:sp>
      <p:sp>
        <p:nvSpPr>
          <p:cNvPr id="17" name="Shape 14"/>
          <p:cNvSpPr/>
          <p:nvPr/>
        </p:nvSpPr>
        <p:spPr>
          <a:xfrm>
            <a:off x="6199632" y="2615184"/>
            <a:ext cx="5833872" cy="1901952"/>
          </a:xfrm>
          <a:prstGeom prst="rect">
            <a:avLst/>
          </a:prstGeom>
          <a:solidFill>
            <a:srgbClr val="FEE2E2"/>
          </a:solidFill>
          <a:ln w="15240">
            <a:solidFill>
              <a:srgbClr val="B91C1C"/>
            </a:solidFill>
            <a:prstDash val="solid"/>
          </a:ln>
        </p:spPr>
        <p:txBody>
          <a:bodyPr/>
          <a:lstStyle/>
          <a:p>
            <a:endParaRPr lang="en-GB"/>
          </a:p>
        </p:txBody>
      </p:sp>
      <p:sp>
        <p:nvSpPr>
          <p:cNvPr id="18" name="Shape 15"/>
          <p:cNvSpPr/>
          <p:nvPr/>
        </p:nvSpPr>
        <p:spPr>
          <a:xfrm>
            <a:off x="6199632" y="2615184"/>
            <a:ext cx="5833872" cy="310896"/>
          </a:xfrm>
          <a:prstGeom prst="rect">
            <a:avLst/>
          </a:prstGeom>
          <a:solidFill>
            <a:srgbClr val="B91C1C"/>
          </a:solidFill>
          <a:ln/>
        </p:spPr>
        <p:txBody>
          <a:bodyPr/>
          <a:lstStyle/>
          <a:p>
            <a:endParaRPr lang="en-GB"/>
          </a:p>
        </p:txBody>
      </p:sp>
      <p:sp>
        <p:nvSpPr>
          <p:cNvPr id="19" name="Text 16"/>
          <p:cNvSpPr/>
          <p:nvPr/>
        </p:nvSpPr>
        <p:spPr>
          <a:xfrm>
            <a:off x="6291072" y="2651760"/>
            <a:ext cx="5650992"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Defects compound every other waste</a:t>
            </a:r>
            <a:endParaRPr lang="en-US" sz="950" dirty="0"/>
          </a:p>
        </p:txBody>
      </p:sp>
      <p:sp>
        <p:nvSpPr>
          <p:cNvPr id="20" name="Text 17"/>
          <p:cNvSpPr/>
          <p:nvPr/>
        </p:nvSpPr>
        <p:spPr>
          <a:xfrm>
            <a:off x="6291072" y="2980944"/>
            <a:ext cx="5650992" cy="148132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The 5.8% scrap rate on Cell 1 cost £3,200 per month in material, but it also created re-scheduling disruption, caused extra units to be started to cover expected losses, and contributed directly to late deliveries. Fixing the root cause had a cascade improvement across multiple KPIs.</a:t>
            </a:r>
            <a:endParaRPr lang="en-US" sz="950" dirty="0"/>
          </a:p>
        </p:txBody>
      </p:sp>
      <p:sp>
        <p:nvSpPr>
          <p:cNvPr id="21" name="Shape 18"/>
          <p:cNvSpPr/>
          <p:nvPr/>
        </p:nvSpPr>
        <p:spPr>
          <a:xfrm>
            <a:off x="182880" y="4572000"/>
            <a:ext cx="5833872" cy="1901952"/>
          </a:xfrm>
          <a:prstGeom prst="rect">
            <a:avLst/>
          </a:prstGeom>
          <a:solidFill>
            <a:srgbClr val="FEF3C7"/>
          </a:solidFill>
          <a:ln w="15240">
            <a:solidFill>
              <a:srgbClr val="D4770A"/>
            </a:solidFill>
            <a:prstDash val="solid"/>
          </a:ln>
        </p:spPr>
        <p:txBody>
          <a:bodyPr/>
          <a:lstStyle/>
          <a:p>
            <a:endParaRPr lang="en-GB"/>
          </a:p>
        </p:txBody>
      </p:sp>
      <p:sp>
        <p:nvSpPr>
          <p:cNvPr id="22" name="Shape 19"/>
          <p:cNvSpPr/>
          <p:nvPr/>
        </p:nvSpPr>
        <p:spPr>
          <a:xfrm>
            <a:off x="182880" y="4572000"/>
            <a:ext cx="5833872" cy="310896"/>
          </a:xfrm>
          <a:prstGeom prst="rect">
            <a:avLst/>
          </a:prstGeom>
          <a:solidFill>
            <a:srgbClr val="D4770A"/>
          </a:solidFill>
          <a:ln/>
        </p:spPr>
        <p:txBody>
          <a:bodyPr/>
          <a:lstStyle/>
          <a:p>
            <a:endParaRPr lang="en-GB"/>
          </a:p>
        </p:txBody>
      </p:sp>
      <p:sp>
        <p:nvSpPr>
          <p:cNvPr id="23" name="Text 20"/>
          <p:cNvSpPr/>
          <p:nvPr/>
        </p:nvSpPr>
        <p:spPr>
          <a:xfrm>
            <a:off x="274320" y="4608576"/>
            <a:ext cx="5650992"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Small layout changes delivered fast results</a:t>
            </a:r>
            <a:endParaRPr lang="en-US" sz="950" dirty="0"/>
          </a:p>
        </p:txBody>
      </p:sp>
      <p:sp>
        <p:nvSpPr>
          <p:cNvPr id="24" name="Text 21"/>
          <p:cNvSpPr/>
          <p:nvPr/>
        </p:nvSpPr>
        <p:spPr>
          <a:xfrm>
            <a:off x="274320" y="4937760"/>
            <a:ext cx="5650992" cy="148132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Relocating the deburr station took one day and cost nothing. It recovered 3.3 hours per week, created a natural flow between Cell 2 and deburr, and resolved a frustration the deburr operator had raised three times without result. Acting on it immediately built trust in the improvement process.</a:t>
            </a:r>
            <a:endParaRPr lang="en-US" sz="950" dirty="0"/>
          </a:p>
        </p:txBody>
      </p:sp>
      <p:sp>
        <p:nvSpPr>
          <p:cNvPr id="25" name="Shape 22"/>
          <p:cNvSpPr/>
          <p:nvPr/>
        </p:nvSpPr>
        <p:spPr>
          <a:xfrm>
            <a:off x="6199632" y="4572000"/>
            <a:ext cx="5833872" cy="1901952"/>
          </a:xfrm>
          <a:prstGeom prst="rect">
            <a:avLst/>
          </a:prstGeom>
          <a:solidFill>
            <a:srgbClr val="F2F2F2"/>
          </a:solidFill>
          <a:ln w="15240">
            <a:solidFill>
              <a:srgbClr val="5B595A"/>
            </a:solidFill>
            <a:prstDash val="solid"/>
          </a:ln>
        </p:spPr>
        <p:txBody>
          <a:bodyPr/>
          <a:lstStyle/>
          <a:p>
            <a:endParaRPr lang="en-GB"/>
          </a:p>
        </p:txBody>
      </p:sp>
      <p:sp>
        <p:nvSpPr>
          <p:cNvPr id="26" name="Shape 23"/>
          <p:cNvSpPr/>
          <p:nvPr/>
        </p:nvSpPr>
        <p:spPr>
          <a:xfrm>
            <a:off x="6199632" y="4572000"/>
            <a:ext cx="5833872" cy="310896"/>
          </a:xfrm>
          <a:prstGeom prst="rect">
            <a:avLst/>
          </a:prstGeom>
          <a:solidFill>
            <a:srgbClr val="5B595A"/>
          </a:solidFill>
          <a:ln/>
        </p:spPr>
        <p:txBody>
          <a:bodyPr/>
          <a:lstStyle/>
          <a:p>
            <a:endParaRPr lang="en-GB"/>
          </a:p>
        </p:txBody>
      </p:sp>
      <p:sp>
        <p:nvSpPr>
          <p:cNvPr id="27" name="Text 24"/>
          <p:cNvSpPr/>
          <p:nvPr/>
        </p:nvSpPr>
        <p:spPr>
          <a:xfrm>
            <a:off x="6291072" y="4608576"/>
            <a:ext cx="5650992" cy="237744"/>
          </a:xfrm>
          <a:prstGeom prst="rect">
            <a:avLst/>
          </a:prstGeom>
          <a:noFill/>
          <a:ln/>
        </p:spPr>
        <p:txBody>
          <a:bodyPr wrap="square" rtlCol="0" anchor="ctr"/>
          <a:lstStyle/>
          <a:p>
            <a:pPr marL="0" indent="0">
              <a:buNone/>
            </a:pPr>
            <a:r>
              <a:rPr lang="en-US" sz="950" b="1" dirty="0">
                <a:solidFill>
                  <a:srgbClr val="FFFFFF"/>
                </a:solidFill>
                <a:latin typeface="Arial" pitchFamily="34" charset="0"/>
                <a:ea typeface="Arial" pitchFamily="34" charset="-122"/>
                <a:cs typeface="Arial" pitchFamily="34" charset="-120"/>
              </a:rPr>
              <a:t>Evidence matters more than perfection in nuclear</a:t>
            </a:r>
            <a:endParaRPr lang="en-US" sz="950" dirty="0"/>
          </a:p>
        </p:txBody>
      </p:sp>
      <p:sp>
        <p:nvSpPr>
          <p:cNvPr id="28" name="Text 25"/>
          <p:cNvSpPr/>
          <p:nvPr/>
        </p:nvSpPr>
        <p:spPr>
          <a:xfrm>
            <a:off x="6291072" y="4937760"/>
            <a:ext cx="5650992" cy="1481328"/>
          </a:xfrm>
          <a:prstGeom prst="rect">
            <a:avLst/>
          </a:prstGeom>
          <a:noFill/>
          <a:ln/>
        </p:spPr>
        <p:txBody>
          <a:bodyPr wrap="square" rtlCol="0" anchor="t"/>
          <a:lstStyle/>
          <a:p>
            <a:pPr marL="0" indent="0">
              <a:buNone/>
            </a:pPr>
            <a:r>
              <a:rPr lang="en-US" sz="950" dirty="0">
                <a:solidFill>
                  <a:srgbClr val="5B595A"/>
                </a:solidFill>
                <a:latin typeface="Arial" pitchFamily="34" charset="0"/>
                <a:ea typeface="Arial" pitchFamily="34" charset="-122"/>
                <a:cs typeface="Arial" pitchFamily="34" charset="-120"/>
              </a:rPr>
              <a:t>The company did not achieve world-class performance. At 7.5% process efficiency, there is still significant room to improve. But they could show a before and after VSM, a CSIP with six completed projects, and quantified results on every metric. That evidence base is what carried the assessment.</a:t>
            </a:r>
            <a:endParaRPr lang="en-US" sz="950" dirty="0"/>
          </a:p>
        </p:txBody>
      </p:sp>
      <p:sp>
        <p:nvSpPr>
          <p:cNvPr id="29" name="Rectangle 28"/>
          <p:cNvSpPr/>
          <p:nvPr/>
        </p:nvSpPr>
        <p:spPr>
          <a:xfrm>
            <a:off x="10564368"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5"/>
          <a:stretch>
            <a:fillRect/>
          </a:stretch>
        </p:blipFill>
        <p:spPr>
          <a:xfrm>
            <a:off x="10610088" y="100584"/>
            <a:ext cx="566928" cy="347472"/>
          </a:xfrm>
          <a:prstGeom prst="rect">
            <a:avLst/>
          </a:prstGeom>
        </p:spPr>
      </p:pic>
      <p:pic>
        <p:nvPicPr>
          <p:cNvPr id="31" name="Picture 30" descr="image.png"/>
          <p:cNvPicPr>
            <a:picLocks noChangeAspect="1"/>
          </p:cNvPicPr>
          <p:nvPr/>
        </p:nvPicPr>
        <p:blipFill>
          <a:blip r:embed="rId4"/>
          <a:stretch>
            <a:fillRect/>
          </a:stretch>
        </p:blipFill>
        <p:spPr>
          <a:xfrm>
            <a:off x="11222736" y="100584"/>
            <a:ext cx="658368" cy="347472"/>
          </a:xfrm>
          <a:prstGeom prst="rect">
            <a:avLst/>
          </a:prstGeom>
        </p:spPr>
      </p:pic>
      <p:sp>
        <p:nvSpPr>
          <p:cNvPr id="32" name="Rectangle 31"/>
          <p:cNvSpPr/>
          <p:nvPr/>
        </p:nvSpPr>
        <p:spPr>
          <a:xfrm>
            <a:off x="0" y="6629400"/>
            <a:ext cx="12192000"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6F6BC0-33D1-43F4-8BA2-15743EDA9AB0}"/>
</file>

<file path=customXml/itemProps2.xml><?xml version="1.0" encoding="utf-8"?>
<ds:datastoreItem xmlns:ds="http://schemas.openxmlformats.org/officeDocument/2006/customXml" ds:itemID="{B4DFE92D-E937-45B2-8854-E88F5ACEB2DC}"/>
</file>

<file path=customXml/itemProps3.xml><?xml version="1.0" encoding="utf-8"?>
<ds:datastoreItem xmlns:ds="http://schemas.openxmlformats.org/officeDocument/2006/customXml" ds:itemID="{8030AE63-7017-4366-9F9B-30B6C11A4180}"/>
</file>

<file path=docProps/app.xml><?xml version="1.0" encoding="utf-8"?>
<Properties xmlns="http://schemas.openxmlformats.org/officeDocument/2006/extended-properties" xmlns:vt="http://schemas.openxmlformats.org/officeDocument/2006/docPropsVTypes">
  <TotalTime>0</TotalTime>
  <Words>2372</Words>
  <Application>Microsoft Office PowerPoint</Application>
  <PresentationFormat>Widescreen</PresentationFormat>
  <Paragraphs>376</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PE-02d Value Stream Map Worked Example Before After 2</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