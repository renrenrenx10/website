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media/image1.jpg" ContentType="image/jpg"/>
  <Override PartName="/ppt/slides/slide2.xml" ContentType="application/vnd.openxmlformats-officedocument.presentationml.slide+xml"/>
  <Override PartName="/ppt/notesSlides/notesSlide2.xml" ContentType="application/vnd.openxmlformats-officedocument.presentationml.notesSlide+xml"/>
  <Override PartName="/ppt/media/image2.jpg" ContentType="image/jpg"/>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2414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3.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3.png"/><Relationship Id="rId5"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3A5F"/>
          </a:solidFill>
          <a:ln/>
        </p:spPr>
        <p:txBody>
          <a:bodyPr/>
          <a:lstStyle/>
          <a:p>
            <a:endParaRPr lang="en-GB"/>
          </a:p>
        </p:txBody>
      </p:sp>
      <p:sp>
        <p:nvSpPr>
          <p:cNvPr id="3" name="Shape 1"/>
          <p:cNvSpPr/>
          <p:nvPr/>
        </p:nvSpPr>
        <p:spPr>
          <a:xfrm>
            <a:off x="0" y="0"/>
            <a:ext cx="5029200" cy="6858000"/>
          </a:xfrm>
          <a:prstGeom prst="rect">
            <a:avLst/>
          </a:prstGeom>
          <a:solidFill>
            <a:srgbClr val="009FE3"/>
          </a:solidFill>
          <a:ln/>
        </p:spPr>
        <p:txBody>
          <a:bodyPr/>
          <a:lstStyle/>
          <a:p>
            <a:endParaRPr lang="en-GB"/>
          </a:p>
        </p:txBody>
      </p:sp>
      <p:sp>
        <p:nvSpPr>
          <p:cNvPr id="4" name="Shape 2"/>
          <p:cNvSpPr/>
          <p:nvPr/>
        </p:nvSpPr>
        <p:spPr>
          <a:xfrm>
            <a:off x="4846320" y="0"/>
            <a:ext cx="228600" cy="6858000"/>
          </a:xfrm>
          <a:prstGeom prst="rect">
            <a:avLst/>
          </a:prstGeom>
          <a:solidFill>
            <a:srgbClr val="83348F"/>
          </a:solidFill>
          <a:ln/>
        </p:spPr>
        <p:txBody>
          <a:bodyPr/>
          <a:lstStyle/>
          <a:p>
            <a:endParaRPr lang="en-GB"/>
          </a:p>
        </p:txBody>
      </p:sp>
      <p:pic>
        <p:nvPicPr>
          <p:cNvPr id="5" name="Image 0" descr="/home/claude/nuccol_logo_cover.jpg"/>
          <p:cNvPicPr>
            <a:picLocks noChangeAspect="1"/>
          </p:cNvPicPr>
          <p:nvPr/>
        </p:nvPicPr>
        <p:blipFill>
          <a:blip r:embed="rId3"/>
          <a:stretch>
            <a:fillRect/>
          </a:stretch>
        </p:blipFill>
        <p:spPr>
          <a:xfrm>
            <a:off x="365760" y="365760"/>
            <a:ext cx="2011680" cy="1005840"/>
          </a:xfrm>
          <a:prstGeom prst="rect">
            <a:avLst/>
          </a:prstGeom>
        </p:spPr>
      </p:pic>
      <p:sp>
        <p:nvSpPr>
          <p:cNvPr id="6" name="Shape 3"/>
          <p:cNvSpPr/>
          <p:nvPr/>
        </p:nvSpPr>
        <p:spPr>
          <a:xfrm>
            <a:off x="365760" y="1600200"/>
            <a:ext cx="2011680" cy="347472"/>
          </a:xfrm>
          <a:prstGeom prst="rect">
            <a:avLst/>
          </a:prstGeom>
          <a:solidFill>
            <a:srgbClr val="83348F"/>
          </a:solidFill>
          <a:ln/>
        </p:spPr>
        <p:txBody>
          <a:bodyPr/>
          <a:lstStyle/>
          <a:p>
            <a:endParaRPr lang="en-GB"/>
          </a:p>
        </p:txBody>
      </p:sp>
      <p:sp>
        <p:nvSpPr>
          <p:cNvPr id="7" name="Text 4"/>
          <p:cNvSpPr/>
          <p:nvPr/>
        </p:nvSpPr>
        <p:spPr>
          <a:xfrm>
            <a:off x="365760" y="1618488"/>
            <a:ext cx="2011680" cy="310896"/>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PE-02e</a:t>
            </a:r>
            <a:endParaRPr lang="en-US" sz="1300" dirty="0"/>
          </a:p>
        </p:txBody>
      </p:sp>
      <p:sp>
        <p:nvSpPr>
          <p:cNvPr id="8" name="Text 5"/>
          <p:cNvSpPr/>
          <p:nvPr/>
        </p:nvSpPr>
        <p:spPr>
          <a:xfrm>
            <a:off x="228600" y="2194560"/>
            <a:ext cx="4389120" cy="457200"/>
          </a:xfrm>
          <a:prstGeom prst="rect">
            <a:avLst/>
          </a:prstGeom>
          <a:noFill/>
          <a:ln/>
        </p:spPr>
        <p:txBody>
          <a:bodyPr wrap="square"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PROCESS EXCELLENCE</a:t>
            </a:r>
            <a:endParaRPr lang="en-US" sz="1700" dirty="0"/>
          </a:p>
        </p:txBody>
      </p:sp>
      <p:sp>
        <p:nvSpPr>
          <p:cNvPr id="9" name="Text 6"/>
          <p:cNvSpPr/>
          <p:nvPr/>
        </p:nvSpPr>
        <p:spPr>
          <a:xfrm>
            <a:off x="228600" y="2834640"/>
            <a:ext cx="4389120" cy="822960"/>
          </a:xfrm>
          <a:prstGeom prst="rect">
            <a:avLst/>
          </a:prstGeom>
          <a:noFill/>
          <a:ln/>
        </p:spPr>
        <p:txBody>
          <a:bodyPr wrap="square" rtlCol="0" anchor="ctr"/>
          <a:lstStyle/>
          <a:p>
            <a:pPr marL="0" indent="0" algn="ctr">
              <a:buNone/>
            </a:pPr>
            <a:r>
              <a:rPr lang="en-US" sz="1500" i="1" dirty="0">
                <a:solidFill>
                  <a:srgbClr val="CCE9F6"/>
                </a:solidFill>
                <a:latin typeface="Arial" pitchFamily="34" charset="0"/>
                <a:ea typeface="Arial" pitchFamily="34" charset="-122"/>
                <a:cs typeface="Arial" pitchFamily="34" charset="-120"/>
              </a:rPr>
              <a:t>Managing Value</a:t>
            </a:r>
            <a:endParaRPr lang="en-US" sz="1500" dirty="0"/>
          </a:p>
          <a:p>
            <a:pPr marL="0" indent="0" algn="ctr">
              <a:buNone/>
            </a:pPr>
            <a:r>
              <a:rPr lang="en-US" sz="1500" i="1" dirty="0">
                <a:solidFill>
                  <a:srgbClr val="CCE9F6"/>
                </a:solidFill>
                <a:latin typeface="Arial" pitchFamily="34" charset="0"/>
                <a:ea typeface="Arial" pitchFamily="34" charset="-122"/>
                <a:cs typeface="Arial" pitchFamily="34" charset="-120"/>
              </a:rPr>
              <a:t>and Waste</a:t>
            </a:r>
            <a:endParaRPr lang="en-US" sz="1500" dirty="0"/>
          </a:p>
        </p:txBody>
      </p:sp>
      <p:sp>
        <p:nvSpPr>
          <p:cNvPr id="10" name="Text 7"/>
          <p:cNvSpPr/>
          <p:nvPr/>
        </p:nvSpPr>
        <p:spPr>
          <a:xfrm>
            <a:off x="5212080" y="914400"/>
            <a:ext cx="6766560" cy="3291840"/>
          </a:xfrm>
          <a:prstGeom prst="rect">
            <a:avLst/>
          </a:prstGeom>
          <a:noFill/>
          <a:ln/>
        </p:spPr>
        <p:txBody>
          <a:bodyPr wrap="square" rtlCol="0" anchor="ctr"/>
          <a:lstStyle/>
          <a:p>
            <a:pPr marL="0" indent="0">
              <a:buNone/>
            </a:pPr>
            <a:r>
              <a:rPr lang="en-US" sz="3400" b="1" dirty="0">
                <a:solidFill>
                  <a:srgbClr val="FFFFFF"/>
                </a:solidFill>
                <a:latin typeface="Arial" pitchFamily="34" charset="0"/>
                <a:ea typeface="Arial" pitchFamily="34" charset="-122"/>
                <a:cs typeface="Arial" pitchFamily="34" charset="-120"/>
              </a:rPr>
              <a:t>HOW TO UNDERSTAND</a:t>
            </a:r>
            <a:endParaRPr lang="en-US" sz="3400" dirty="0"/>
          </a:p>
          <a:p>
            <a:pPr marL="0" indent="0">
              <a:buNone/>
            </a:pPr>
            <a:r>
              <a:rPr lang="en-US" sz="3400" b="1" dirty="0">
                <a:solidFill>
                  <a:srgbClr val="FFFFFF"/>
                </a:solidFill>
                <a:latin typeface="Arial" pitchFamily="34" charset="0"/>
                <a:ea typeface="Arial" pitchFamily="34" charset="-122"/>
                <a:cs typeface="Arial" pitchFamily="34" charset="-120"/>
              </a:rPr>
              <a:t>AND COMPLETE A</a:t>
            </a:r>
            <a:endParaRPr lang="en-US" sz="3400" dirty="0"/>
          </a:p>
          <a:p>
            <a:pPr marL="0" indent="0">
              <a:buNone/>
            </a:pPr>
            <a:r>
              <a:rPr lang="en-US" sz="3400" b="1" dirty="0">
                <a:solidFill>
                  <a:srgbClr val="FFFFFF"/>
                </a:solidFill>
                <a:latin typeface="Arial" pitchFamily="34" charset="0"/>
                <a:ea typeface="Arial" pitchFamily="34" charset="-122"/>
                <a:cs typeface="Arial" pitchFamily="34" charset="-120"/>
              </a:rPr>
              <a:t>VALUE STREAM MAP</a:t>
            </a:r>
            <a:endParaRPr lang="en-US" sz="3400" dirty="0"/>
          </a:p>
        </p:txBody>
      </p:sp>
      <p:sp>
        <p:nvSpPr>
          <p:cNvPr id="11" name="Shape 8"/>
          <p:cNvSpPr/>
          <p:nvPr/>
        </p:nvSpPr>
        <p:spPr>
          <a:xfrm>
            <a:off x="5212080" y="4297680"/>
            <a:ext cx="6400800" cy="36576"/>
          </a:xfrm>
          <a:prstGeom prst="rect">
            <a:avLst/>
          </a:prstGeom>
          <a:solidFill>
            <a:srgbClr val="009FE3"/>
          </a:solidFill>
          <a:ln/>
        </p:spPr>
        <p:txBody>
          <a:bodyPr/>
          <a:lstStyle/>
          <a:p>
            <a:endParaRPr lang="en-GB"/>
          </a:p>
        </p:txBody>
      </p:sp>
      <p:sp>
        <p:nvSpPr>
          <p:cNvPr id="12" name="Text 9"/>
          <p:cNvSpPr/>
          <p:nvPr/>
        </p:nvSpPr>
        <p:spPr>
          <a:xfrm>
            <a:off x="5212080" y="4434840"/>
            <a:ext cx="6583680" cy="640080"/>
          </a:xfrm>
          <a:prstGeom prst="rect">
            <a:avLst/>
          </a:prstGeom>
          <a:noFill/>
          <a:ln/>
        </p:spPr>
        <p:txBody>
          <a:bodyPr wrap="square" rtlCol="0" anchor="ctr"/>
          <a:lstStyle/>
          <a:p>
            <a:pPr marL="0" indent="0">
              <a:buNone/>
            </a:pPr>
            <a:r>
              <a:rPr lang="en-US" sz="1300" i="1" dirty="0">
                <a:solidFill>
                  <a:srgbClr val="CCE9F6"/>
                </a:solidFill>
                <a:latin typeface="Arial" pitchFamily="34" charset="0"/>
                <a:ea typeface="Arial" pitchFamily="34" charset="-122"/>
                <a:cs typeface="Arial" pitchFamily="34" charset="-120"/>
              </a:rPr>
              <a:t>A practical step-by-step guide for manufacturing businesses</a:t>
            </a:r>
            <a:endParaRPr lang="en-US" sz="1300" dirty="0"/>
          </a:p>
          <a:p>
            <a:pPr marL="0" indent="0">
              <a:buNone/>
            </a:pPr>
            <a:r>
              <a:rPr lang="en-US" sz="1300" i="1" dirty="0">
                <a:solidFill>
                  <a:srgbClr val="CCE9F6"/>
                </a:solidFill>
                <a:latin typeface="Arial" pitchFamily="34" charset="0"/>
                <a:ea typeface="Arial" pitchFamily="34" charset="-122"/>
                <a:cs typeface="Arial" pitchFamily="34" charset="-120"/>
              </a:rPr>
              <a:t>entering the UK nuclear supply chain</a:t>
            </a:r>
            <a:endParaRPr lang="en-US" sz="1300" dirty="0"/>
          </a:p>
        </p:txBody>
      </p:sp>
      <p:sp>
        <p:nvSpPr>
          <p:cNvPr id="13" name="Rectangle 12"/>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10610088" y="100584"/>
            <a:ext cx="566928" cy="347472"/>
          </a:xfrm>
          <a:prstGeom prst="rect">
            <a:avLst/>
          </a:prstGeom>
        </p:spPr>
      </p:pic>
      <p:pic>
        <p:nvPicPr>
          <p:cNvPr id="15" name="Picture 14" descr="image.png"/>
          <p:cNvPicPr>
            <a:picLocks noChangeAspect="1"/>
          </p:cNvPicPr>
          <p:nvPr/>
        </p:nvPicPr>
        <p:blipFill>
          <a:blip r:embed="rId4"/>
          <a:stretch>
            <a:fillRect/>
          </a:stretch>
        </p:blipFill>
        <p:spPr>
          <a:xfrm>
            <a:off x="11222736" y="100584"/>
            <a:ext cx="658368" cy="347472"/>
          </a:xfrm>
          <a:prstGeom prst="rect">
            <a:avLst/>
          </a:prstGeom>
        </p:spPr>
      </p:pic>
      <p:sp>
        <p:nvSpPr>
          <p:cNvPr id="16" name="Rectangle 15"/>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274320" y="137160"/>
            <a:ext cx="9875520" cy="658368"/>
          </a:xfrm>
          <a:prstGeom prst="rect">
            <a:avLst/>
          </a:prstGeom>
          <a:noFill/>
          <a:ln/>
        </p:spPr>
        <p:txBody>
          <a:bodyPr wrap="square" rtlCol="0" anchor="ctr"/>
          <a:lstStyle/>
          <a:p>
            <a:pPr marL="0" indent="0">
              <a:buNone/>
            </a:pPr>
            <a:r>
              <a:rPr lang="en-US" sz="2800" b="1" dirty="0">
                <a:solidFill>
                  <a:srgbClr val="1E3A5F"/>
                </a:solidFill>
                <a:latin typeface="Arial" pitchFamily="34" charset="0"/>
                <a:ea typeface="Arial" pitchFamily="34" charset="-122"/>
                <a:cs typeface="Arial" pitchFamily="34" charset="-120"/>
              </a:rPr>
              <a:t>How to Use This Guide</a:t>
            </a:r>
            <a:endParaRPr lang="en-US" sz="2800" dirty="0"/>
          </a:p>
        </p:txBody>
      </p:sp>
      <p:sp>
        <p:nvSpPr>
          <p:cNvPr id="4" name="Shape 1"/>
          <p:cNvSpPr/>
          <p:nvPr/>
        </p:nvSpPr>
        <p:spPr>
          <a:xfrm>
            <a:off x="274320" y="804672"/>
            <a:ext cx="11612880" cy="36576"/>
          </a:xfrm>
          <a:prstGeom prst="rect">
            <a:avLst/>
          </a:prstGeom>
          <a:solidFill>
            <a:srgbClr val="009FE3"/>
          </a:solidFill>
          <a:ln/>
        </p:spPr>
        <p:txBody>
          <a:bodyPr/>
          <a:lstStyle/>
          <a:p>
            <a:endParaRPr lang="en-GB"/>
          </a:p>
        </p:txBody>
      </p:sp>
      <p:sp>
        <p:nvSpPr>
          <p:cNvPr id="6" name="Shape 2"/>
          <p:cNvSpPr/>
          <p:nvPr/>
        </p:nvSpPr>
        <p:spPr>
          <a:xfrm>
            <a:off x="274320" y="987552"/>
            <a:ext cx="2286000" cy="347472"/>
          </a:xfrm>
          <a:prstGeom prst="rect">
            <a:avLst/>
          </a:prstGeom>
          <a:solidFill>
            <a:srgbClr val="009FE3"/>
          </a:solidFill>
          <a:ln/>
        </p:spPr>
        <p:txBody>
          <a:bodyPr/>
          <a:lstStyle/>
          <a:p>
            <a:endParaRPr lang="en-GB"/>
          </a:p>
        </p:txBody>
      </p:sp>
      <p:sp>
        <p:nvSpPr>
          <p:cNvPr id="7" name="Text 3"/>
          <p:cNvSpPr/>
          <p:nvPr/>
        </p:nvSpPr>
        <p:spPr>
          <a:xfrm>
            <a:off x="274320" y="1005840"/>
            <a:ext cx="2286000" cy="310896"/>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What is VSM?</a:t>
            </a:r>
            <a:endParaRPr lang="en-US" sz="1100" dirty="0"/>
          </a:p>
        </p:txBody>
      </p:sp>
      <p:sp>
        <p:nvSpPr>
          <p:cNvPr id="8" name="Shape 4"/>
          <p:cNvSpPr/>
          <p:nvPr/>
        </p:nvSpPr>
        <p:spPr>
          <a:xfrm>
            <a:off x="2834640" y="987552"/>
            <a:ext cx="2286000" cy="347472"/>
          </a:xfrm>
          <a:prstGeom prst="rect">
            <a:avLst/>
          </a:prstGeom>
          <a:solidFill>
            <a:srgbClr val="83348F"/>
          </a:solidFill>
          <a:ln/>
        </p:spPr>
        <p:txBody>
          <a:bodyPr/>
          <a:lstStyle/>
          <a:p>
            <a:endParaRPr lang="en-GB"/>
          </a:p>
        </p:txBody>
      </p:sp>
      <p:sp>
        <p:nvSpPr>
          <p:cNvPr id="9" name="Text 5"/>
          <p:cNvSpPr/>
          <p:nvPr/>
        </p:nvSpPr>
        <p:spPr>
          <a:xfrm>
            <a:off x="2834640" y="1005840"/>
            <a:ext cx="2286000" cy="310896"/>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Why Do It?</a:t>
            </a:r>
            <a:endParaRPr lang="en-US" sz="1100" dirty="0"/>
          </a:p>
        </p:txBody>
      </p:sp>
      <p:sp>
        <p:nvSpPr>
          <p:cNvPr id="10" name="Text 6"/>
          <p:cNvSpPr/>
          <p:nvPr/>
        </p:nvSpPr>
        <p:spPr>
          <a:xfrm>
            <a:off x="457200" y="2395728"/>
            <a:ext cx="731520" cy="237744"/>
          </a:xfrm>
          <a:prstGeom prst="rect">
            <a:avLst/>
          </a:prstGeom>
          <a:noFill/>
          <a:ln/>
        </p:spPr>
        <p:txBody>
          <a:bodyPr wrap="square" rtlCol="0" anchor="ctr"/>
          <a:lstStyle/>
          <a:p>
            <a:pPr marL="0" indent="0">
              <a:buNone/>
            </a:pPr>
            <a:r>
              <a:rPr lang="en-US" sz="1100" b="1" dirty="0">
                <a:solidFill>
                  <a:srgbClr val="009FE3"/>
                </a:solidFill>
                <a:latin typeface="Arial" pitchFamily="34" charset="0"/>
                <a:ea typeface="Arial" pitchFamily="34" charset="-122"/>
                <a:cs typeface="Arial" pitchFamily="34" charset="-120"/>
              </a:rPr>
              <a:t>START</a:t>
            </a:r>
            <a:endParaRPr lang="en-US" sz="1100" dirty="0"/>
          </a:p>
        </p:txBody>
      </p:sp>
      <p:sp>
        <p:nvSpPr>
          <p:cNvPr id="11" name="Shape 7"/>
          <p:cNvSpPr/>
          <p:nvPr/>
        </p:nvSpPr>
        <p:spPr>
          <a:xfrm>
            <a:off x="1188720" y="2450592"/>
            <a:ext cx="457200" cy="128016"/>
          </a:xfrm>
          <a:prstGeom prst="rect">
            <a:avLst/>
          </a:prstGeom>
          <a:solidFill>
            <a:srgbClr val="009FE3"/>
          </a:solidFill>
          <a:ln/>
        </p:spPr>
        <p:txBody>
          <a:bodyPr/>
          <a:lstStyle/>
          <a:p>
            <a:endParaRPr lang="en-GB"/>
          </a:p>
        </p:txBody>
      </p:sp>
      <p:sp>
        <p:nvSpPr>
          <p:cNvPr id="12" name="Shape 8"/>
          <p:cNvSpPr/>
          <p:nvPr/>
        </p:nvSpPr>
        <p:spPr>
          <a:xfrm>
            <a:off x="1463040" y="2194560"/>
            <a:ext cx="2743200" cy="658368"/>
          </a:xfrm>
          <a:prstGeom prst="rect">
            <a:avLst/>
          </a:prstGeom>
          <a:solidFill>
            <a:srgbClr val="009FE3"/>
          </a:solidFill>
          <a:ln/>
        </p:spPr>
        <p:txBody>
          <a:bodyPr/>
          <a:lstStyle/>
          <a:p>
            <a:endParaRPr lang="en-GB"/>
          </a:p>
        </p:txBody>
      </p:sp>
      <p:sp>
        <p:nvSpPr>
          <p:cNvPr id="13" name="Text 9"/>
          <p:cNvSpPr/>
          <p:nvPr/>
        </p:nvSpPr>
        <p:spPr>
          <a:xfrm>
            <a:off x="1508760" y="2231136"/>
            <a:ext cx="2651760" cy="585216"/>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PART 1</a:t>
            </a:r>
            <a:endParaRPr lang="en-US" sz="1050" dirty="0"/>
          </a:p>
          <a:p>
            <a:pPr marL="0" indent="0" algn="ctr">
              <a:buNone/>
            </a:pPr>
            <a:r>
              <a:rPr lang="en-US" sz="1050" b="1" dirty="0">
                <a:solidFill>
                  <a:srgbClr val="FFFFFF"/>
                </a:solidFill>
                <a:latin typeface="Arial" pitchFamily="34" charset="0"/>
                <a:ea typeface="Arial" pitchFamily="34" charset="-122"/>
                <a:cs typeface="Arial" pitchFamily="34" charset="-120"/>
              </a:rPr>
              <a:t>Create the Current</a:t>
            </a:r>
            <a:endParaRPr lang="en-US" sz="1050" dirty="0"/>
          </a:p>
          <a:p>
            <a:pPr marL="0" indent="0" algn="ctr">
              <a:buNone/>
            </a:pPr>
            <a:r>
              <a:rPr lang="en-US" sz="1050" b="1" dirty="0">
                <a:solidFill>
                  <a:srgbClr val="FFFFFF"/>
                </a:solidFill>
                <a:latin typeface="Arial" pitchFamily="34" charset="0"/>
                <a:ea typeface="Arial" pitchFamily="34" charset="-122"/>
                <a:cs typeface="Arial" pitchFamily="34" charset="-120"/>
              </a:rPr>
              <a:t>State Map</a:t>
            </a:r>
            <a:endParaRPr lang="en-US" sz="1050" dirty="0"/>
          </a:p>
        </p:txBody>
      </p:sp>
      <p:sp>
        <p:nvSpPr>
          <p:cNvPr id="14" name="Shape 10"/>
          <p:cNvSpPr/>
          <p:nvPr/>
        </p:nvSpPr>
        <p:spPr>
          <a:xfrm>
            <a:off x="4224528" y="2450592"/>
            <a:ext cx="411480" cy="128016"/>
          </a:xfrm>
          <a:prstGeom prst="rect">
            <a:avLst/>
          </a:prstGeom>
          <a:solidFill>
            <a:srgbClr val="5B595A"/>
          </a:solidFill>
          <a:ln/>
        </p:spPr>
        <p:txBody>
          <a:bodyPr/>
          <a:lstStyle/>
          <a:p>
            <a:endParaRPr lang="en-GB"/>
          </a:p>
        </p:txBody>
      </p:sp>
      <p:sp>
        <p:nvSpPr>
          <p:cNvPr id="15" name="Shape 11"/>
          <p:cNvSpPr/>
          <p:nvPr/>
        </p:nvSpPr>
        <p:spPr>
          <a:xfrm>
            <a:off x="4663440" y="2212848"/>
            <a:ext cx="914400" cy="621792"/>
          </a:xfrm>
          <a:prstGeom prst="rect">
            <a:avLst/>
          </a:prstGeom>
          <a:solidFill>
            <a:srgbClr val="D97706"/>
          </a:solidFill>
          <a:ln/>
        </p:spPr>
        <p:txBody>
          <a:bodyPr/>
          <a:lstStyle/>
          <a:p>
            <a:endParaRPr lang="en-GB"/>
          </a:p>
        </p:txBody>
      </p:sp>
      <p:sp>
        <p:nvSpPr>
          <p:cNvPr id="16" name="Text 12"/>
          <p:cNvSpPr/>
          <p:nvPr/>
        </p:nvSpPr>
        <p:spPr>
          <a:xfrm>
            <a:off x="4663440" y="2231136"/>
            <a:ext cx="914400" cy="566928"/>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Gate</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Checklist</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7" name="Text 13"/>
          <p:cNvSpPr/>
          <p:nvPr/>
        </p:nvSpPr>
        <p:spPr>
          <a:xfrm>
            <a:off x="4114800" y="1828800"/>
            <a:ext cx="2286000" cy="256032"/>
          </a:xfrm>
          <a:prstGeom prst="rect">
            <a:avLst/>
          </a:prstGeom>
          <a:noFill/>
          <a:ln/>
        </p:spPr>
        <p:txBody>
          <a:bodyPr wrap="square" rtlCol="0" anchor="ctr"/>
          <a:lstStyle/>
          <a:p>
            <a:pPr marL="0" indent="0">
              <a:buNone/>
            </a:pPr>
            <a:r>
              <a:rPr lang="en-US" sz="800" i="1" dirty="0">
                <a:solidFill>
                  <a:srgbClr val="D97706"/>
                </a:solidFill>
                <a:latin typeface="Arial" pitchFamily="34" charset="0"/>
                <a:ea typeface="Arial" pitchFamily="34" charset="-122"/>
                <a:cs typeface="Arial" pitchFamily="34" charset="-120"/>
              </a:rPr>
              <a:t>← review if needed</a:t>
            </a:r>
            <a:endParaRPr lang="en-US" sz="800" dirty="0"/>
          </a:p>
        </p:txBody>
      </p:sp>
      <p:sp>
        <p:nvSpPr>
          <p:cNvPr id="18" name="Shape 14"/>
          <p:cNvSpPr/>
          <p:nvPr/>
        </p:nvSpPr>
        <p:spPr>
          <a:xfrm>
            <a:off x="5596128" y="2450592"/>
            <a:ext cx="411480" cy="128016"/>
          </a:xfrm>
          <a:prstGeom prst="rect">
            <a:avLst/>
          </a:prstGeom>
          <a:solidFill>
            <a:srgbClr val="5B595A"/>
          </a:solidFill>
          <a:ln/>
        </p:spPr>
        <p:txBody>
          <a:bodyPr/>
          <a:lstStyle/>
          <a:p>
            <a:endParaRPr lang="en-GB"/>
          </a:p>
        </p:txBody>
      </p:sp>
      <p:sp>
        <p:nvSpPr>
          <p:cNvPr id="19" name="Shape 15"/>
          <p:cNvSpPr/>
          <p:nvPr/>
        </p:nvSpPr>
        <p:spPr>
          <a:xfrm>
            <a:off x="6035040" y="2194560"/>
            <a:ext cx="2743200" cy="658368"/>
          </a:xfrm>
          <a:prstGeom prst="rect">
            <a:avLst/>
          </a:prstGeom>
          <a:solidFill>
            <a:srgbClr val="1E3A5F"/>
          </a:solidFill>
          <a:ln/>
        </p:spPr>
        <p:txBody>
          <a:bodyPr/>
          <a:lstStyle/>
          <a:p>
            <a:endParaRPr lang="en-GB"/>
          </a:p>
        </p:txBody>
      </p:sp>
      <p:sp>
        <p:nvSpPr>
          <p:cNvPr id="20" name="Text 16"/>
          <p:cNvSpPr/>
          <p:nvPr/>
        </p:nvSpPr>
        <p:spPr>
          <a:xfrm>
            <a:off x="6080760" y="2231136"/>
            <a:ext cx="2651760" cy="585216"/>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PART 2</a:t>
            </a:r>
            <a:endParaRPr lang="en-US" sz="1050" dirty="0"/>
          </a:p>
          <a:p>
            <a:pPr marL="0" indent="0" algn="ctr">
              <a:buNone/>
            </a:pPr>
            <a:r>
              <a:rPr lang="en-US" sz="1050" b="1" dirty="0">
                <a:solidFill>
                  <a:srgbClr val="FFFFFF"/>
                </a:solidFill>
                <a:latin typeface="Arial" pitchFamily="34" charset="0"/>
                <a:ea typeface="Arial" pitchFamily="34" charset="-122"/>
                <a:cs typeface="Arial" pitchFamily="34" charset="-120"/>
              </a:rPr>
              <a:t>Create the Future</a:t>
            </a:r>
            <a:endParaRPr lang="en-US" sz="1050" dirty="0"/>
          </a:p>
          <a:p>
            <a:pPr marL="0" indent="0" algn="ctr">
              <a:buNone/>
            </a:pPr>
            <a:r>
              <a:rPr lang="en-US" sz="1050" b="1" dirty="0">
                <a:solidFill>
                  <a:srgbClr val="FFFFFF"/>
                </a:solidFill>
                <a:latin typeface="Arial" pitchFamily="34" charset="0"/>
                <a:ea typeface="Arial" pitchFamily="34" charset="-122"/>
                <a:cs typeface="Arial" pitchFamily="34" charset="-120"/>
              </a:rPr>
              <a:t>State Map</a:t>
            </a:r>
            <a:endParaRPr lang="en-US" sz="1050" dirty="0"/>
          </a:p>
        </p:txBody>
      </p:sp>
      <p:sp>
        <p:nvSpPr>
          <p:cNvPr id="21" name="Shape 17"/>
          <p:cNvSpPr/>
          <p:nvPr/>
        </p:nvSpPr>
        <p:spPr>
          <a:xfrm>
            <a:off x="8796528" y="2450592"/>
            <a:ext cx="411480" cy="128016"/>
          </a:xfrm>
          <a:prstGeom prst="rect">
            <a:avLst/>
          </a:prstGeom>
          <a:solidFill>
            <a:srgbClr val="5B595A"/>
          </a:solidFill>
          <a:ln/>
        </p:spPr>
        <p:txBody>
          <a:bodyPr/>
          <a:lstStyle/>
          <a:p>
            <a:endParaRPr lang="en-GB"/>
          </a:p>
        </p:txBody>
      </p:sp>
      <p:sp>
        <p:nvSpPr>
          <p:cNvPr id="22" name="Shape 18"/>
          <p:cNvSpPr/>
          <p:nvPr/>
        </p:nvSpPr>
        <p:spPr>
          <a:xfrm>
            <a:off x="9235440" y="2212848"/>
            <a:ext cx="914400" cy="621792"/>
          </a:xfrm>
          <a:prstGeom prst="rect">
            <a:avLst/>
          </a:prstGeom>
          <a:solidFill>
            <a:srgbClr val="D97706"/>
          </a:solidFill>
          <a:ln/>
        </p:spPr>
        <p:txBody>
          <a:bodyPr/>
          <a:lstStyle/>
          <a:p>
            <a:endParaRPr lang="en-GB"/>
          </a:p>
        </p:txBody>
      </p:sp>
      <p:sp>
        <p:nvSpPr>
          <p:cNvPr id="23" name="Text 19"/>
          <p:cNvSpPr/>
          <p:nvPr/>
        </p:nvSpPr>
        <p:spPr>
          <a:xfrm>
            <a:off x="9235440" y="2231136"/>
            <a:ext cx="914400" cy="566928"/>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Gate</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Checklist</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4" name="Shape 20"/>
          <p:cNvSpPr/>
          <p:nvPr/>
        </p:nvSpPr>
        <p:spPr>
          <a:xfrm>
            <a:off x="9646920" y="2852928"/>
            <a:ext cx="128016" cy="365760"/>
          </a:xfrm>
          <a:prstGeom prst="rect">
            <a:avLst/>
          </a:prstGeom>
          <a:solidFill>
            <a:srgbClr val="5B595A"/>
          </a:solidFill>
          <a:ln/>
        </p:spPr>
        <p:txBody>
          <a:bodyPr/>
          <a:lstStyle/>
          <a:p>
            <a:endParaRPr lang="en-GB"/>
          </a:p>
        </p:txBody>
      </p:sp>
      <p:sp>
        <p:nvSpPr>
          <p:cNvPr id="25" name="Text 21"/>
          <p:cNvSpPr/>
          <p:nvPr/>
        </p:nvSpPr>
        <p:spPr>
          <a:xfrm>
            <a:off x="9326880" y="3246120"/>
            <a:ext cx="731520" cy="256032"/>
          </a:xfrm>
          <a:prstGeom prst="rect">
            <a:avLst/>
          </a:prstGeom>
          <a:noFill/>
          <a:ln/>
        </p:spPr>
        <p:txBody>
          <a:bodyPr wrap="square" rtlCol="0" anchor="ctr"/>
          <a:lstStyle/>
          <a:p>
            <a:pPr marL="0" indent="0" algn="ctr">
              <a:buNone/>
            </a:pPr>
            <a:r>
              <a:rPr lang="en-US" sz="1100" b="1" dirty="0">
                <a:solidFill>
                  <a:srgbClr val="5B595A"/>
                </a:solidFill>
                <a:latin typeface="Arial" pitchFamily="34" charset="0"/>
                <a:ea typeface="Arial" pitchFamily="34" charset="-122"/>
                <a:cs typeface="Arial" pitchFamily="34" charset="-120"/>
              </a:rPr>
              <a:t>END</a:t>
            </a:r>
            <a:endParaRPr lang="en-US" sz="1100" dirty="0"/>
          </a:p>
        </p:txBody>
      </p:sp>
      <p:sp>
        <p:nvSpPr>
          <p:cNvPr id="26" name="Shape 22"/>
          <p:cNvSpPr/>
          <p:nvPr/>
        </p:nvSpPr>
        <p:spPr>
          <a:xfrm>
            <a:off x="274320" y="3127248"/>
            <a:ext cx="5623560" cy="274320"/>
          </a:xfrm>
          <a:prstGeom prst="rect">
            <a:avLst/>
          </a:prstGeom>
          <a:solidFill>
            <a:srgbClr val="009FE3"/>
          </a:solidFill>
          <a:ln/>
        </p:spPr>
        <p:txBody>
          <a:bodyPr/>
          <a:lstStyle/>
          <a:p>
            <a:endParaRPr lang="en-GB"/>
          </a:p>
        </p:txBody>
      </p:sp>
      <p:sp>
        <p:nvSpPr>
          <p:cNvPr id="27" name="Text 23"/>
          <p:cNvSpPr/>
          <p:nvPr/>
        </p:nvSpPr>
        <p:spPr>
          <a:xfrm>
            <a:off x="365760" y="3145536"/>
            <a:ext cx="5394960" cy="237744"/>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PART 1: CURRENT STATE  (Steps 1–8)</a:t>
            </a:r>
            <a:endParaRPr lang="en-US" sz="950" dirty="0"/>
          </a:p>
        </p:txBody>
      </p:sp>
      <p:sp>
        <p:nvSpPr>
          <p:cNvPr id="28" name="Shape 24"/>
          <p:cNvSpPr/>
          <p:nvPr/>
        </p:nvSpPr>
        <p:spPr>
          <a:xfrm>
            <a:off x="274320" y="3429000"/>
            <a:ext cx="5623560" cy="347472"/>
          </a:xfrm>
          <a:prstGeom prst="rect">
            <a:avLst/>
          </a:prstGeom>
          <a:solidFill>
            <a:srgbClr val="FFFFFF"/>
          </a:solidFill>
          <a:ln w="3810">
            <a:solidFill>
              <a:srgbClr val="D8D8D8"/>
            </a:solidFill>
            <a:prstDash val="solid"/>
          </a:ln>
        </p:spPr>
        <p:txBody>
          <a:bodyPr/>
          <a:lstStyle/>
          <a:p>
            <a:endParaRPr lang="en-GB"/>
          </a:p>
        </p:txBody>
      </p:sp>
      <p:sp>
        <p:nvSpPr>
          <p:cNvPr id="29" name="Shape 25"/>
          <p:cNvSpPr/>
          <p:nvPr/>
        </p:nvSpPr>
        <p:spPr>
          <a:xfrm>
            <a:off x="274320" y="3429000"/>
            <a:ext cx="685800" cy="347472"/>
          </a:xfrm>
          <a:prstGeom prst="rect">
            <a:avLst/>
          </a:prstGeom>
          <a:solidFill>
            <a:srgbClr val="009FE3"/>
          </a:solidFill>
          <a:ln/>
        </p:spPr>
        <p:txBody>
          <a:bodyPr/>
          <a:lstStyle/>
          <a:p>
            <a:endParaRPr lang="en-GB"/>
          </a:p>
        </p:txBody>
      </p:sp>
      <p:sp>
        <p:nvSpPr>
          <p:cNvPr id="30" name="Text 26"/>
          <p:cNvSpPr/>
          <p:nvPr/>
        </p:nvSpPr>
        <p:spPr>
          <a:xfrm>
            <a:off x="274320" y="3429000"/>
            <a:ext cx="685800"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1</a:t>
            </a:r>
            <a:endParaRPr lang="en-US" sz="900" dirty="0"/>
          </a:p>
        </p:txBody>
      </p:sp>
      <p:sp>
        <p:nvSpPr>
          <p:cNvPr id="31" name="Text 27"/>
          <p:cNvSpPr/>
          <p:nvPr/>
        </p:nvSpPr>
        <p:spPr>
          <a:xfrm>
            <a:off x="1005840" y="3465576"/>
            <a:ext cx="4846320" cy="27432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Define scope &amp; customer requirements</a:t>
            </a:r>
            <a:endParaRPr lang="en-US" sz="950" dirty="0"/>
          </a:p>
        </p:txBody>
      </p:sp>
      <p:sp>
        <p:nvSpPr>
          <p:cNvPr id="32" name="Shape 28"/>
          <p:cNvSpPr/>
          <p:nvPr/>
        </p:nvSpPr>
        <p:spPr>
          <a:xfrm>
            <a:off x="274320" y="3813048"/>
            <a:ext cx="5623560" cy="347472"/>
          </a:xfrm>
          <a:prstGeom prst="rect">
            <a:avLst/>
          </a:prstGeom>
          <a:solidFill>
            <a:srgbClr val="E0F4FD"/>
          </a:solidFill>
          <a:ln w="3810">
            <a:solidFill>
              <a:srgbClr val="D8D8D8"/>
            </a:solidFill>
            <a:prstDash val="solid"/>
          </a:ln>
        </p:spPr>
        <p:txBody>
          <a:bodyPr/>
          <a:lstStyle/>
          <a:p>
            <a:endParaRPr lang="en-GB"/>
          </a:p>
        </p:txBody>
      </p:sp>
      <p:sp>
        <p:nvSpPr>
          <p:cNvPr id="33" name="Shape 29"/>
          <p:cNvSpPr/>
          <p:nvPr/>
        </p:nvSpPr>
        <p:spPr>
          <a:xfrm>
            <a:off x="274320" y="3813048"/>
            <a:ext cx="685800" cy="347472"/>
          </a:xfrm>
          <a:prstGeom prst="rect">
            <a:avLst/>
          </a:prstGeom>
          <a:solidFill>
            <a:srgbClr val="009FE3"/>
          </a:solidFill>
          <a:ln/>
        </p:spPr>
        <p:txBody>
          <a:bodyPr/>
          <a:lstStyle/>
          <a:p>
            <a:endParaRPr lang="en-GB"/>
          </a:p>
        </p:txBody>
      </p:sp>
      <p:sp>
        <p:nvSpPr>
          <p:cNvPr id="34" name="Text 30"/>
          <p:cNvSpPr/>
          <p:nvPr/>
        </p:nvSpPr>
        <p:spPr>
          <a:xfrm>
            <a:off x="274320" y="3813048"/>
            <a:ext cx="685800"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2</a:t>
            </a:r>
            <a:endParaRPr lang="en-US" sz="900" dirty="0"/>
          </a:p>
        </p:txBody>
      </p:sp>
      <p:sp>
        <p:nvSpPr>
          <p:cNvPr id="35" name="Text 31"/>
          <p:cNvSpPr/>
          <p:nvPr/>
        </p:nvSpPr>
        <p:spPr>
          <a:xfrm>
            <a:off x="1005840" y="3849624"/>
            <a:ext cx="4846320" cy="27432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Map process steps</a:t>
            </a:r>
            <a:endParaRPr lang="en-US" sz="950" dirty="0"/>
          </a:p>
        </p:txBody>
      </p:sp>
      <p:sp>
        <p:nvSpPr>
          <p:cNvPr id="36" name="Shape 32"/>
          <p:cNvSpPr/>
          <p:nvPr/>
        </p:nvSpPr>
        <p:spPr>
          <a:xfrm>
            <a:off x="274320" y="4197096"/>
            <a:ext cx="5623560" cy="347472"/>
          </a:xfrm>
          <a:prstGeom prst="rect">
            <a:avLst/>
          </a:prstGeom>
          <a:solidFill>
            <a:srgbClr val="FFFFFF"/>
          </a:solidFill>
          <a:ln w="3810">
            <a:solidFill>
              <a:srgbClr val="D8D8D8"/>
            </a:solidFill>
            <a:prstDash val="solid"/>
          </a:ln>
        </p:spPr>
        <p:txBody>
          <a:bodyPr/>
          <a:lstStyle/>
          <a:p>
            <a:endParaRPr lang="en-GB"/>
          </a:p>
        </p:txBody>
      </p:sp>
      <p:sp>
        <p:nvSpPr>
          <p:cNvPr id="37" name="Shape 33"/>
          <p:cNvSpPr/>
          <p:nvPr/>
        </p:nvSpPr>
        <p:spPr>
          <a:xfrm>
            <a:off x="274320" y="4197096"/>
            <a:ext cx="685800" cy="347472"/>
          </a:xfrm>
          <a:prstGeom prst="rect">
            <a:avLst/>
          </a:prstGeom>
          <a:solidFill>
            <a:srgbClr val="009FE3"/>
          </a:solidFill>
          <a:ln/>
        </p:spPr>
        <p:txBody>
          <a:bodyPr/>
          <a:lstStyle/>
          <a:p>
            <a:endParaRPr lang="en-GB"/>
          </a:p>
        </p:txBody>
      </p:sp>
      <p:sp>
        <p:nvSpPr>
          <p:cNvPr id="38" name="Text 34"/>
          <p:cNvSpPr/>
          <p:nvPr/>
        </p:nvSpPr>
        <p:spPr>
          <a:xfrm>
            <a:off x="274320" y="4197096"/>
            <a:ext cx="685800"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3</a:t>
            </a:r>
            <a:endParaRPr lang="en-US" sz="900" dirty="0"/>
          </a:p>
        </p:txBody>
      </p:sp>
      <p:sp>
        <p:nvSpPr>
          <p:cNvPr id="39" name="Text 35"/>
          <p:cNvSpPr/>
          <p:nvPr/>
        </p:nvSpPr>
        <p:spPr>
          <a:xfrm>
            <a:off x="1005840" y="4233672"/>
            <a:ext cx="4846320" cy="27432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Capture process data</a:t>
            </a:r>
            <a:endParaRPr lang="en-US" sz="950" dirty="0"/>
          </a:p>
        </p:txBody>
      </p:sp>
      <p:sp>
        <p:nvSpPr>
          <p:cNvPr id="40" name="Shape 36"/>
          <p:cNvSpPr/>
          <p:nvPr/>
        </p:nvSpPr>
        <p:spPr>
          <a:xfrm>
            <a:off x="274320" y="4581144"/>
            <a:ext cx="5623560" cy="347472"/>
          </a:xfrm>
          <a:prstGeom prst="rect">
            <a:avLst/>
          </a:prstGeom>
          <a:solidFill>
            <a:srgbClr val="E0F4FD"/>
          </a:solidFill>
          <a:ln w="3810">
            <a:solidFill>
              <a:srgbClr val="D8D8D8"/>
            </a:solidFill>
            <a:prstDash val="solid"/>
          </a:ln>
        </p:spPr>
        <p:txBody>
          <a:bodyPr/>
          <a:lstStyle/>
          <a:p>
            <a:endParaRPr lang="en-GB"/>
          </a:p>
        </p:txBody>
      </p:sp>
      <p:sp>
        <p:nvSpPr>
          <p:cNvPr id="41" name="Shape 37"/>
          <p:cNvSpPr/>
          <p:nvPr/>
        </p:nvSpPr>
        <p:spPr>
          <a:xfrm>
            <a:off x="274320" y="4581144"/>
            <a:ext cx="685800" cy="347472"/>
          </a:xfrm>
          <a:prstGeom prst="rect">
            <a:avLst/>
          </a:prstGeom>
          <a:solidFill>
            <a:srgbClr val="009FE3"/>
          </a:solidFill>
          <a:ln/>
        </p:spPr>
        <p:txBody>
          <a:bodyPr/>
          <a:lstStyle/>
          <a:p>
            <a:endParaRPr lang="en-GB"/>
          </a:p>
        </p:txBody>
      </p:sp>
      <p:sp>
        <p:nvSpPr>
          <p:cNvPr id="42" name="Text 38"/>
          <p:cNvSpPr/>
          <p:nvPr/>
        </p:nvSpPr>
        <p:spPr>
          <a:xfrm>
            <a:off x="274320" y="4581144"/>
            <a:ext cx="685800"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4</a:t>
            </a:r>
            <a:endParaRPr lang="en-US" sz="900" dirty="0"/>
          </a:p>
        </p:txBody>
      </p:sp>
      <p:sp>
        <p:nvSpPr>
          <p:cNvPr id="43" name="Text 39"/>
          <p:cNvSpPr/>
          <p:nvPr/>
        </p:nvSpPr>
        <p:spPr>
          <a:xfrm>
            <a:off x="1005840" y="4617720"/>
            <a:ext cx="4846320" cy="27432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Map inventory</a:t>
            </a:r>
            <a:endParaRPr lang="en-US" sz="950" dirty="0"/>
          </a:p>
        </p:txBody>
      </p:sp>
      <p:sp>
        <p:nvSpPr>
          <p:cNvPr id="44" name="Shape 40"/>
          <p:cNvSpPr/>
          <p:nvPr/>
        </p:nvSpPr>
        <p:spPr>
          <a:xfrm>
            <a:off x="274320" y="4965192"/>
            <a:ext cx="5623560" cy="347472"/>
          </a:xfrm>
          <a:prstGeom prst="rect">
            <a:avLst/>
          </a:prstGeom>
          <a:solidFill>
            <a:srgbClr val="FFFFFF"/>
          </a:solidFill>
          <a:ln w="3810">
            <a:solidFill>
              <a:srgbClr val="D8D8D8"/>
            </a:solidFill>
            <a:prstDash val="solid"/>
          </a:ln>
        </p:spPr>
        <p:txBody>
          <a:bodyPr/>
          <a:lstStyle/>
          <a:p>
            <a:endParaRPr lang="en-GB"/>
          </a:p>
        </p:txBody>
      </p:sp>
      <p:sp>
        <p:nvSpPr>
          <p:cNvPr id="45" name="Shape 41"/>
          <p:cNvSpPr/>
          <p:nvPr/>
        </p:nvSpPr>
        <p:spPr>
          <a:xfrm>
            <a:off x="274320" y="4965192"/>
            <a:ext cx="685800" cy="347472"/>
          </a:xfrm>
          <a:prstGeom prst="rect">
            <a:avLst/>
          </a:prstGeom>
          <a:solidFill>
            <a:srgbClr val="009FE3"/>
          </a:solidFill>
          <a:ln/>
        </p:spPr>
        <p:txBody>
          <a:bodyPr/>
          <a:lstStyle/>
          <a:p>
            <a:endParaRPr lang="en-GB"/>
          </a:p>
        </p:txBody>
      </p:sp>
      <p:sp>
        <p:nvSpPr>
          <p:cNvPr id="46" name="Text 42"/>
          <p:cNvSpPr/>
          <p:nvPr/>
        </p:nvSpPr>
        <p:spPr>
          <a:xfrm>
            <a:off x="274320" y="4965192"/>
            <a:ext cx="685800"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5</a:t>
            </a:r>
            <a:endParaRPr lang="en-US" sz="900" dirty="0"/>
          </a:p>
        </p:txBody>
      </p:sp>
      <p:sp>
        <p:nvSpPr>
          <p:cNvPr id="47" name="Text 43"/>
          <p:cNvSpPr/>
          <p:nvPr/>
        </p:nvSpPr>
        <p:spPr>
          <a:xfrm>
            <a:off x="1005840" y="5001768"/>
            <a:ext cx="4846320" cy="27432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Map material flow</a:t>
            </a:r>
            <a:endParaRPr lang="en-US" sz="950" dirty="0"/>
          </a:p>
        </p:txBody>
      </p:sp>
      <p:sp>
        <p:nvSpPr>
          <p:cNvPr id="48" name="Shape 44"/>
          <p:cNvSpPr/>
          <p:nvPr/>
        </p:nvSpPr>
        <p:spPr>
          <a:xfrm>
            <a:off x="274320" y="5349240"/>
            <a:ext cx="5623560" cy="347472"/>
          </a:xfrm>
          <a:prstGeom prst="rect">
            <a:avLst/>
          </a:prstGeom>
          <a:solidFill>
            <a:srgbClr val="E0F4FD"/>
          </a:solidFill>
          <a:ln w="3810">
            <a:solidFill>
              <a:srgbClr val="D8D8D8"/>
            </a:solidFill>
            <a:prstDash val="solid"/>
          </a:ln>
        </p:spPr>
        <p:txBody>
          <a:bodyPr/>
          <a:lstStyle/>
          <a:p>
            <a:endParaRPr lang="en-GB"/>
          </a:p>
        </p:txBody>
      </p:sp>
      <p:sp>
        <p:nvSpPr>
          <p:cNvPr id="49" name="Shape 45"/>
          <p:cNvSpPr/>
          <p:nvPr/>
        </p:nvSpPr>
        <p:spPr>
          <a:xfrm>
            <a:off x="274320" y="5349240"/>
            <a:ext cx="685800" cy="347472"/>
          </a:xfrm>
          <a:prstGeom prst="rect">
            <a:avLst/>
          </a:prstGeom>
          <a:solidFill>
            <a:srgbClr val="009FE3"/>
          </a:solidFill>
          <a:ln/>
        </p:spPr>
        <p:txBody>
          <a:bodyPr/>
          <a:lstStyle/>
          <a:p>
            <a:endParaRPr lang="en-GB"/>
          </a:p>
        </p:txBody>
      </p:sp>
      <p:sp>
        <p:nvSpPr>
          <p:cNvPr id="50" name="Text 46"/>
          <p:cNvSpPr/>
          <p:nvPr/>
        </p:nvSpPr>
        <p:spPr>
          <a:xfrm>
            <a:off x="274320" y="5349240"/>
            <a:ext cx="685800"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6</a:t>
            </a:r>
            <a:endParaRPr lang="en-US" sz="900" dirty="0"/>
          </a:p>
        </p:txBody>
      </p:sp>
      <p:sp>
        <p:nvSpPr>
          <p:cNvPr id="51" name="Text 47"/>
          <p:cNvSpPr/>
          <p:nvPr/>
        </p:nvSpPr>
        <p:spPr>
          <a:xfrm>
            <a:off x="1005840" y="5385816"/>
            <a:ext cx="4846320" cy="27432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Map information flow</a:t>
            </a:r>
            <a:endParaRPr lang="en-US" sz="950" dirty="0"/>
          </a:p>
        </p:txBody>
      </p:sp>
      <p:sp>
        <p:nvSpPr>
          <p:cNvPr id="52" name="Shape 48"/>
          <p:cNvSpPr/>
          <p:nvPr/>
        </p:nvSpPr>
        <p:spPr>
          <a:xfrm>
            <a:off x="274320" y="5733288"/>
            <a:ext cx="5623560" cy="347472"/>
          </a:xfrm>
          <a:prstGeom prst="rect">
            <a:avLst/>
          </a:prstGeom>
          <a:solidFill>
            <a:srgbClr val="FFFFFF"/>
          </a:solidFill>
          <a:ln w="3810">
            <a:solidFill>
              <a:srgbClr val="D8D8D8"/>
            </a:solidFill>
            <a:prstDash val="solid"/>
          </a:ln>
        </p:spPr>
        <p:txBody>
          <a:bodyPr/>
          <a:lstStyle/>
          <a:p>
            <a:endParaRPr lang="en-GB"/>
          </a:p>
        </p:txBody>
      </p:sp>
      <p:sp>
        <p:nvSpPr>
          <p:cNvPr id="53" name="Shape 49"/>
          <p:cNvSpPr/>
          <p:nvPr/>
        </p:nvSpPr>
        <p:spPr>
          <a:xfrm>
            <a:off x="274320" y="5733288"/>
            <a:ext cx="685800" cy="347472"/>
          </a:xfrm>
          <a:prstGeom prst="rect">
            <a:avLst/>
          </a:prstGeom>
          <a:solidFill>
            <a:srgbClr val="009FE3"/>
          </a:solidFill>
          <a:ln/>
        </p:spPr>
        <p:txBody>
          <a:bodyPr/>
          <a:lstStyle/>
          <a:p>
            <a:endParaRPr lang="en-GB"/>
          </a:p>
        </p:txBody>
      </p:sp>
      <p:sp>
        <p:nvSpPr>
          <p:cNvPr id="54" name="Text 50"/>
          <p:cNvSpPr/>
          <p:nvPr/>
        </p:nvSpPr>
        <p:spPr>
          <a:xfrm>
            <a:off x="274320" y="5733288"/>
            <a:ext cx="685800"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7</a:t>
            </a:r>
            <a:endParaRPr lang="en-US" sz="900" dirty="0"/>
          </a:p>
        </p:txBody>
      </p:sp>
      <p:sp>
        <p:nvSpPr>
          <p:cNvPr id="55" name="Text 51"/>
          <p:cNvSpPr/>
          <p:nvPr/>
        </p:nvSpPr>
        <p:spPr>
          <a:xfrm>
            <a:off x="1005840" y="5769864"/>
            <a:ext cx="4846320" cy="27432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Add timeline &amp; calculate efficiency</a:t>
            </a:r>
            <a:endParaRPr lang="en-US" sz="950" dirty="0"/>
          </a:p>
        </p:txBody>
      </p:sp>
      <p:sp>
        <p:nvSpPr>
          <p:cNvPr id="57" name="Shape 53"/>
          <p:cNvSpPr/>
          <p:nvPr/>
        </p:nvSpPr>
        <p:spPr>
          <a:xfrm>
            <a:off x="274320" y="6117336"/>
            <a:ext cx="685800" cy="347472"/>
          </a:xfrm>
          <a:prstGeom prst="rect">
            <a:avLst/>
          </a:prstGeom>
          <a:solidFill>
            <a:srgbClr val="009FE3"/>
          </a:solidFill>
          <a:ln/>
        </p:spPr>
        <p:txBody>
          <a:bodyPr/>
          <a:lstStyle/>
          <a:p>
            <a:endParaRPr lang="en-GB"/>
          </a:p>
        </p:txBody>
      </p:sp>
      <p:sp>
        <p:nvSpPr>
          <p:cNvPr id="58" name="Text 54"/>
          <p:cNvSpPr/>
          <p:nvPr/>
        </p:nvSpPr>
        <p:spPr>
          <a:xfrm>
            <a:off x="274320" y="6117336"/>
            <a:ext cx="685800"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8</a:t>
            </a:r>
            <a:endParaRPr lang="en-US" sz="900" dirty="0"/>
          </a:p>
        </p:txBody>
      </p:sp>
      <p:sp>
        <p:nvSpPr>
          <p:cNvPr id="60" name="Shape 56"/>
          <p:cNvSpPr/>
          <p:nvPr/>
        </p:nvSpPr>
        <p:spPr>
          <a:xfrm>
            <a:off x="6217920" y="3127248"/>
            <a:ext cx="5760720" cy="274320"/>
          </a:xfrm>
          <a:prstGeom prst="rect">
            <a:avLst/>
          </a:prstGeom>
          <a:solidFill>
            <a:srgbClr val="1E3A5F"/>
          </a:solidFill>
          <a:ln/>
        </p:spPr>
        <p:txBody>
          <a:bodyPr/>
          <a:lstStyle/>
          <a:p>
            <a:endParaRPr lang="en-GB"/>
          </a:p>
        </p:txBody>
      </p:sp>
      <p:sp>
        <p:nvSpPr>
          <p:cNvPr id="61" name="Text 57"/>
          <p:cNvSpPr/>
          <p:nvPr/>
        </p:nvSpPr>
        <p:spPr>
          <a:xfrm>
            <a:off x="6309360" y="3145536"/>
            <a:ext cx="5486400" cy="237744"/>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PART 2: FUTURE STATE  (Steps 9–15)</a:t>
            </a:r>
            <a:endParaRPr lang="en-US" sz="950" dirty="0"/>
          </a:p>
        </p:txBody>
      </p:sp>
      <p:sp>
        <p:nvSpPr>
          <p:cNvPr id="62" name="Shape 58"/>
          <p:cNvSpPr/>
          <p:nvPr/>
        </p:nvSpPr>
        <p:spPr>
          <a:xfrm>
            <a:off x="6217920" y="3429000"/>
            <a:ext cx="5760720" cy="347472"/>
          </a:xfrm>
          <a:prstGeom prst="rect">
            <a:avLst/>
          </a:prstGeom>
          <a:solidFill>
            <a:srgbClr val="FFFFFF"/>
          </a:solidFill>
          <a:ln w="3810">
            <a:solidFill>
              <a:srgbClr val="D8D8D8"/>
            </a:solidFill>
            <a:prstDash val="solid"/>
          </a:ln>
        </p:spPr>
        <p:txBody>
          <a:bodyPr/>
          <a:lstStyle/>
          <a:p>
            <a:endParaRPr lang="en-GB"/>
          </a:p>
        </p:txBody>
      </p:sp>
      <p:sp>
        <p:nvSpPr>
          <p:cNvPr id="63" name="Shape 59"/>
          <p:cNvSpPr/>
          <p:nvPr/>
        </p:nvSpPr>
        <p:spPr>
          <a:xfrm>
            <a:off x="6217920" y="3429000"/>
            <a:ext cx="685800" cy="347472"/>
          </a:xfrm>
          <a:prstGeom prst="rect">
            <a:avLst/>
          </a:prstGeom>
          <a:solidFill>
            <a:srgbClr val="1E3A5F"/>
          </a:solidFill>
          <a:ln/>
        </p:spPr>
        <p:txBody>
          <a:bodyPr/>
          <a:lstStyle/>
          <a:p>
            <a:endParaRPr lang="en-GB"/>
          </a:p>
        </p:txBody>
      </p:sp>
      <p:sp>
        <p:nvSpPr>
          <p:cNvPr id="64" name="Text 60"/>
          <p:cNvSpPr/>
          <p:nvPr/>
        </p:nvSpPr>
        <p:spPr>
          <a:xfrm>
            <a:off x="6217920" y="3429000"/>
            <a:ext cx="685800"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9</a:t>
            </a:r>
            <a:endParaRPr lang="en-US" sz="900" dirty="0"/>
          </a:p>
        </p:txBody>
      </p:sp>
      <p:sp>
        <p:nvSpPr>
          <p:cNvPr id="65" name="Text 61"/>
          <p:cNvSpPr/>
          <p:nvPr/>
        </p:nvSpPr>
        <p:spPr>
          <a:xfrm>
            <a:off x="6949440" y="3465576"/>
            <a:ext cx="4937760" cy="27432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Confirm customer requirements</a:t>
            </a:r>
            <a:endParaRPr lang="en-US" sz="950" dirty="0"/>
          </a:p>
        </p:txBody>
      </p:sp>
      <p:sp>
        <p:nvSpPr>
          <p:cNvPr id="66" name="Shape 62"/>
          <p:cNvSpPr/>
          <p:nvPr/>
        </p:nvSpPr>
        <p:spPr>
          <a:xfrm>
            <a:off x="6217920" y="3813048"/>
            <a:ext cx="5760720" cy="347472"/>
          </a:xfrm>
          <a:prstGeom prst="rect">
            <a:avLst/>
          </a:prstGeom>
          <a:solidFill>
            <a:srgbClr val="F3EAF4"/>
          </a:solidFill>
          <a:ln w="3810">
            <a:solidFill>
              <a:srgbClr val="D8D8D8"/>
            </a:solidFill>
            <a:prstDash val="solid"/>
          </a:ln>
        </p:spPr>
        <p:txBody>
          <a:bodyPr/>
          <a:lstStyle/>
          <a:p>
            <a:endParaRPr lang="en-GB"/>
          </a:p>
        </p:txBody>
      </p:sp>
      <p:sp>
        <p:nvSpPr>
          <p:cNvPr id="67" name="Shape 63"/>
          <p:cNvSpPr/>
          <p:nvPr/>
        </p:nvSpPr>
        <p:spPr>
          <a:xfrm>
            <a:off x="6217920" y="3813048"/>
            <a:ext cx="685800" cy="347472"/>
          </a:xfrm>
          <a:prstGeom prst="rect">
            <a:avLst/>
          </a:prstGeom>
          <a:solidFill>
            <a:srgbClr val="1E3A5F"/>
          </a:solidFill>
          <a:ln/>
        </p:spPr>
        <p:txBody>
          <a:bodyPr/>
          <a:lstStyle/>
          <a:p>
            <a:endParaRPr lang="en-GB"/>
          </a:p>
        </p:txBody>
      </p:sp>
      <p:sp>
        <p:nvSpPr>
          <p:cNvPr id="68" name="Text 64"/>
          <p:cNvSpPr/>
          <p:nvPr/>
        </p:nvSpPr>
        <p:spPr>
          <a:xfrm>
            <a:off x="6217920" y="3813048"/>
            <a:ext cx="685800"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10</a:t>
            </a:r>
            <a:endParaRPr lang="en-US" sz="900" dirty="0"/>
          </a:p>
        </p:txBody>
      </p:sp>
      <p:sp>
        <p:nvSpPr>
          <p:cNvPr id="69" name="Text 65"/>
          <p:cNvSpPr/>
          <p:nvPr/>
        </p:nvSpPr>
        <p:spPr>
          <a:xfrm>
            <a:off x="6949440" y="3849624"/>
            <a:ext cx="4937760" cy="27432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Design for continuous flow</a:t>
            </a:r>
            <a:endParaRPr lang="en-US" sz="950" dirty="0"/>
          </a:p>
        </p:txBody>
      </p:sp>
      <p:sp>
        <p:nvSpPr>
          <p:cNvPr id="70" name="Shape 66"/>
          <p:cNvSpPr/>
          <p:nvPr/>
        </p:nvSpPr>
        <p:spPr>
          <a:xfrm>
            <a:off x="6217920" y="4197096"/>
            <a:ext cx="5760720" cy="347472"/>
          </a:xfrm>
          <a:prstGeom prst="rect">
            <a:avLst/>
          </a:prstGeom>
          <a:solidFill>
            <a:srgbClr val="FFFFFF"/>
          </a:solidFill>
          <a:ln w="3810">
            <a:solidFill>
              <a:srgbClr val="D8D8D8"/>
            </a:solidFill>
            <a:prstDash val="solid"/>
          </a:ln>
        </p:spPr>
        <p:txBody>
          <a:bodyPr/>
          <a:lstStyle/>
          <a:p>
            <a:endParaRPr lang="en-GB"/>
          </a:p>
        </p:txBody>
      </p:sp>
      <p:sp>
        <p:nvSpPr>
          <p:cNvPr id="71" name="Shape 67"/>
          <p:cNvSpPr/>
          <p:nvPr/>
        </p:nvSpPr>
        <p:spPr>
          <a:xfrm>
            <a:off x="6217920" y="4197096"/>
            <a:ext cx="685800" cy="347472"/>
          </a:xfrm>
          <a:prstGeom prst="rect">
            <a:avLst/>
          </a:prstGeom>
          <a:solidFill>
            <a:srgbClr val="1E3A5F"/>
          </a:solidFill>
          <a:ln/>
        </p:spPr>
        <p:txBody>
          <a:bodyPr/>
          <a:lstStyle/>
          <a:p>
            <a:endParaRPr lang="en-GB"/>
          </a:p>
        </p:txBody>
      </p:sp>
      <p:sp>
        <p:nvSpPr>
          <p:cNvPr id="72" name="Text 68"/>
          <p:cNvSpPr/>
          <p:nvPr/>
        </p:nvSpPr>
        <p:spPr>
          <a:xfrm>
            <a:off x="6217920" y="4197096"/>
            <a:ext cx="685800"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11</a:t>
            </a:r>
            <a:endParaRPr lang="en-US" sz="900" dirty="0"/>
          </a:p>
        </p:txBody>
      </p:sp>
      <p:sp>
        <p:nvSpPr>
          <p:cNvPr id="73" name="Text 69"/>
          <p:cNvSpPr/>
          <p:nvPr/>
        </p:nvSpPr>
        <p:spPr>
          <a:xfrm>
            <a:off x="6949440" y="4233672"/>
            <a:ext cx="4937760" cy="27432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Define control system</a:t>
            </a:r>
            <a:endParaRPr lang="en-US" sz="950" dirty="0"/>
          </a:p>
        </p:txBody>
      </p:sp>
      <p:sp>
        <p:nvSpPr>
          <p:cNvPr id="74" name="Shape 70"/>
          <p:cNvSpPr/>
          <p:nvPr/>
        </p:nvSpPr>
        <p:spPr>
          <a:xfrm>
            <a:off x="6217920" y="4581144"/>
            <a:ext cx="5760720" cy="347472"/>
          </a:xfrm>
          <a:prstGeom prst="rect">
            <a:avLst/>
          </a:prstGeom>
          <a:solidFill>
            <a:srgbClr val="F3EAF4"/>
          </a:solidFill>
          <a:ln w="3810">
            <a:solidFill>
              <a:srgbClr val="D8D8D8"/>
            </a:solidFill>
            <a:prstDash val="solid"/>
          </a:ln>
        </p:spPr>
        <p:txBody>
          <a:bodyPr/>
          <a:lstStyle/>
          <a:p>
            <a:endParaRPr lang="en-GB"/>
          </a:p>
        </p:txBody>
      </p:sp>
      <p:sp>
        <p:nvSpPr>
          <p:cNvPr id="75" name="Shape 71"/>
          <p:cNvSpPr/>
          <p:nvPr/>
        </p:nvSpPr>
        <p:spPr>
          <a:xfrm>
            <a:off x="6217920" y="4581144"/>
            <a:ext cx="685800" cy="347472"/>
          </a:xfrm>
          <a:prstGeom prst="rect">
            <a:avLst/>
          </a:prstGeom>
          <a:solidFill>
            <a:srgbClr val="1E3A5F"/>
          </a:solidFill>
          <a:ln/>
        </p:spPr>
        <p:txBody>
          <a:bodyPr/>
          <a:lstStyle/>
          <a:p>
            <a:endParaRPr lang="en-GB"/>
          </a:p>
        </p:txBody>
      </p:sp>
      <p:sp>
        <p:nvSpPr>
          <p:cNvPr id="76" name="Text 72"/>
          <p:cNvSpPr/>
          <p:nvPr/>
        </p:nvSpPr>
        <p:spPr>
          <a:xfrm>
            <a:off x="6217920" y="4581144"/>
            <a:ext cx="685800"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12</a:t>
            </a:r>
            <a:endParaRPr lang="en-US" sz="900" dirty="0"/>
          </a:p>
        </p:txBody>
      </p:sp>
      <p:sp>
        <p:nvSpPr>
          <p:cNvPr id="77" name="Text 73"/>
          <p:cNvSpPr/>
          <p:nvPr/>
        </p:nvSpPr>
        <p:spPr>
          <a:xfrm>
            <a:off x="6949440" y="4617720"/>
            <a:ext cx="4937760" cy="27432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Calculate future state metrics</a:t>
            </a:r>
            <a:endParaRPr lang="en-US" sz="950" dirty="0"/>
          </a:p>
        </p:txBody>
      </p:sp>
      <p:sp>
        <p:nvSpPr>
          <p:cNvPr id="78" name="Shape 74"/>
          <p:cNvSpPr/>
          <p:nvPr/>
        </p:nvSpPr>
        <p:spPr>
          <a:xfrm>
            <a:off x="6217920" y="4965192"/>
            <a:ext cx="5760720" cy="347472"/>
          </a:xfrm>
          <a:prstGeom prst="rect">
            <a:avLst/>
          </a:prstGeom>
          <a:solidFill>
            <a:srgbClr val="FFFFFF"/>
          </a:solidFill>
          <a:ln w="3810">
            <a:solidFill>
              <a:srgbClr val="D8D8D8"/>
            </a:solidFill>
            <a:prstDash val="solid"/>
          </a:ln>
        </p:spPr>
        <p:txBody>
          <a:bodyPr/>
          <a:lstStyle/>
          <a:p>
            <a:endParaRPr lang="en-GB"/>
          </a:p>
        </p:txBody>
      </p:sp>
      <p:sp>
        <p:nvSpPr>
          <p:cNvPr id="79" name="Shape 75"/>
          <p:cNvSpPr/>
          <p:nvPr/>
        </p:nvSpPr>
        <p:spPr>
          <a:xfrm>
            <a:off x="6217920" y="4965192"/>
            <a:ext cx="685800" cy="347472"/>
          </a:xfrm>
          <a:prstGeom prst="rect">
            <a:avLst/>
          </a:prstGeom>
          <a:solidFill>
            <a:srgbClr val="1E3A5F"/>
          </a:solidFill>
          <a:ln/>
        </p:spPr>
        <p:txBody>
          <a:bodyPr/>
          <a:lstStyle/>
          <a:p>
            <a:endParaRPr lang="en-GB"/>
          </a:p>
        </p:txBody>
      </p:sp>
      <p:sp>
        <p:nvSpPr>
          <p:cNvPr id="80" name="Text 76"/>
          <p:cNvSpPr/>
          <p:nvPr/>
        </p:nvSpPr>
        <p:spPr>
          <a:xfrm>
            <a:off x="6217920" y="4965192"/>
            <a:ext cx="685800"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13</a:t>
            </a:r>
            <a:endParaRPr lang="en-US" sz="900" dirty="0"/>
          </a:p>
        </p:txBody>
      </p:sp>
      <p:sp>
        <p:nvSpPr>
          <p:cNvPr id="81" name="Text 77"/>
          <p:cNvSpPr/>
          <p:nvPr/>
        </p:nvSpPr>
        <p:spPr>
          <a:xfrm>
            <a:off x="6949440" y="5001768"/>
            <a:ext cx="4937760" cy="27432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Assess people requirements</a:t>
            </a:r>
            <a:endParaRPr lang="en-US" sz="950" dirty="0"/>
          </a:p>
        </p:txBody>
      </p:sp>
      <p:sp>
        <p:nvSpPr>
          <p:cNvPr id="82" name="Shape 78"/>
          <p:cNvSpPr/>
          <p:nvPr/>
        </p:nvSpPr>
        <p:spPr>
          <a:xfrm>
            <a:off x="6217920" y="5349240"/>
            <a:ext cx="5760720" cy="347472"/>
          </a:xfrm>
          <a:prstGeom prst="rect">
            <a:avLst/>
          </a:prstGeom>
          <a:solidFill>
            <a:srgbClr val="F3EAF4"/>
          </a:solidFill>
          <a:ln w="3810">
            <a:solidFill>
              <a:srgbClr val="D8D8D8"/>
            </a:solidFill>
            <a:prstDash val="solid"/>
          </a:ln>
        </p:spPr>
        <p:txBody>
          <a:bodyPr/>
          <a:lstStyle/>
          <a:p>
            <a:endParaRPr lang="en-GB"/>
          </a:p>
        </p:txBody>
      </p:sp>
      <p:sp>
        <p:nvSpPr>
          <p:cNvPr id="83" name="Shape 79"/>
          <p:cNvSpPr/>
          <p:nvPr/>
        </p:nvSpPr>
        <p:spPr>
          <a:xfrm>
            <a:off x="6217920" y="5349240"/>
            <a:ext cx="685800" cy="347472"/>
          </a:xfrm>
          <a:prstGeom prst="rect">
            <a:avLst/>
          </a:prstGeom>
          <a:solidFill>
            <a:srgbClr val="1E3A5F"/>
          </a:solidFill>
          <a:ln/>
        </p:spPr>
        <p:txBody>
          <a:bodyPr/>
          <a:lstStyle/>
          <a:p>
            <a:endParaRPr lang="en-GB"/>
          </a:p>
        </p:txBody>
      </p:sp>
      <p:sp>
        <p:nvSpPr>
          <p:cNvPr id="84" name="Text 80"/>
          <p:cNvSpPr/>
          <p:nvPr/>
        </p:nvSpPr>
        <p:spPr>
          <a:xfrm>
            <a:off x="6217920" y="5349240"/>
            <a:ext cx="685800"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14</a:t>
            </a:r>
            <a:endParaRPr lang="en-US" sz="900" dirty="0"/>
          </a:p>
        </p:txBody>
      </p:sp>
      <p:sp>
        <p:nvSpPr>
          <p:cNvPr id="85" name="Text 81"/>
          <p:cNvSpPr/>
          <p:nvPr/>
        </p:nvSpPr>
        <p:spPr>
          <a:xfrm>
            <a:off x="6949440" y="5385816"/>
            <a:ext cx="4937760" cy="27432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Draw the future state map</a:t>
            </a:r>
            <a:endParaRPr lang="en-US" sz="950" dirty="0"/>
          </a:p>
        </p:txBody>
      </p:sp>
      <p:sp>
        <p:nvSpPr>
          <p:cNvPr id="86" name="Shape 82"/>
          <p:cNvSpPr/>
          <p:nvPr/>
        </p:nvSpPr>
        <p:spPr>
          <a:xfrm>
            <a:off x="6217920" y="5733288"/>
            <a:ext cx="5760720" cy="347472"/>
          </a:xfrm>
          <a:prstGeom prst="rect">
            <a:avLst/>
          </a:prstGeom>
          <a:solidFill>
            <a:srgbClr val="FFFFFF"/>
          </a:solidFill>
          <a:ln w="3810">
            <a:solidFill>
              <a:srgbClr val="D8D8D8"/>
            </a:solidFill>
            <a:prstDash val="solid"/>
          </a:ln>
        </p:spPr>
        <p:txBody>
          <a:bodyPr/>
          <a:lstStyle/>
          <a:p>
            <a:endParaRPr lang="en-GB"/>
          </a:p>
        </p:txBody>
      </p:sp>
      <p:sp>
        <p:nvSpPr>
          <p:cNvPr id="87" name="Shape 83"/>
          <p:cNvSpPr/>
          <p:nvPr/>
        </p:nvSpPr>
        <p:spPr>
          <a:xfrm>
            <a:off x="6217920" y="5733288"/>
            <a:ext cx="685800" cy="347472"/>
          </a:xfrm>
          <a:prstGeom prst="rect">
            <a:avLst/>
          </a:prstGeom>
          <a:solidFill>
            <a:srgbClr val="1E3A5F"/>
          </a:solidFill>
          <a:ln/>
        </p:spPr>
        <p:txBody>
          <a:bodyPr/>
          <a:lstStyle/>
          <a:p>
            <a:endParaRPr lang="en-GB"/>
          </a:p>
        </p:txBody>
      </p:sp>
      <p:sp>
        <p:nvSpPr>
          <p:cNvPr id="88" name="Text 84"/>
          <p:cNvSpPr/>
          <p:nvPr/>
        </p:nvSpPr>
        <p:spPr>
          <a:xfrm>
            <a:off x="6217920" y="5733288"/>
            <a:ext cx="685800"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15</a:t>
            </a:r>
            <a:endParaRPr lang="en-US" sz="900" dirty="0"/>
          </a:p>
        </p:txBody>
      </p:sp>
      <p:sp>
        <p:nvSpPr>
          <p:cNvPr id="89" name="Text 85"/>
          <p:cNvSpPr/>
          <p:nvPr/>
        </p:nvSpPr>
        <p:spPr>
          <a:xfrm>
            <a:off x="6949440" y="5769864"/>
            <a:ext cx="4937760" cy="27432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Set targets and action plan</a:t>
            </a:r>
            <a:endParaRPr lang="en-US" sz="950" dirty="0"/>
          </a:p>
        </p:txBody>
      </p:sp>
      <p:sp>
        <p:nvSpPr>
          <p:cNvPr id="90" name="Rectangle 89"/>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1" name="Picture 90" descr="image.png"/>
          <p:cNvPicPr>
            <a:picLocks noChangeAspect="1"/>
          </p:cNvPicPr>
          <p:nvPr/>
        </p:nvPicPr>
        <p:blipFill>
          <a:blip r:embed="rId5"/>
          <a:stretch>
            <a:fillRect/>
          </a:stretch>
        </p:blipFill>
        <p:spPr>
          <a:xfrm>
            <a:off x="10610088" y="100584"/>
            <a:ext cx="566928" cy="347472"/>
          </a:xfrm>
          <a:prstGeom prst="rect">
            <a:avLst/>
          </a:prstGeom>
        </p:spPr>
      </p:pic>
      <p:pic>
        <p:nvPicPr>
          <p:cNvPr id="92" name="Picture 91" descr="image.png"/>
          <p:cNvPicPr>
            <a:picLocks noChangeAspect="1"/>
          </p:cNvPicPr>
          <p:nvPr/>
        </p:nvPicPr>
        <p:blipFill>
          <a:blip r:embed="rId4"/>
          <a:stretch>
            <a:fillRect/>
          </a:stretch>
        </p:blipFill>
        <p:spPr>
          <a:xfrm>
            <a:off x="11222736" y="100584"/>
            <a:ext cx="658368" cy="347472"/>
          </a:xfrm>
          <a:prstGeom prst="rect">
            <a:avLst/>
          </a:prstGeom>
        </p:spPr>
      </p:pic>
      <p:sp>
        <p:nvSpPr>
          <p:cNvPr id="93" name="Rectangle 92"/>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Objectives and Principles</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Value Stream Mapping: What Is It?</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7" name="Shape 3"/>
          <p:cNvSpPr/>
          <p:nvPr/>
        </p:nvSpPr>
        <p:spPr>
          <a:xfrm>
            <a:off x="256032" y="1101852"/>
            <a:ext cx="91440" cy="91440"/>
          </a:xfrm>
          <a:prstGeom prst="rect">
            <a:avLst/>
          </a:prstGeom>
          <a:solidFill>
            <a:srgbClr val="009FE3"/>
          </a:solidFill>
          <a:ln/>
        </p:spPr>
        <p:txBody>
          <a:bodyPr/>
          <a:lstStyle/>
          <a:p>
            <a:endParaRPr lang="en-GB"/>
          </a:p>
        </p:txBody>
      </p:sp>
      <p:sp>
        <p:nvSpPr>
          <p:cNvPr id="8" name="Text 4"/>
          <p:cNvSpPr/>
          <p:nvPr/>
        </p:nvSpPr>
        <p:spPr>
          <a:xfrm>
            <a:off x="457200" y="1051560"/>
            <a:ext cx="5669280" cy="292608"/>
          </a:xfrm>
          <a:prstGeom prst="rect">
            <a:avLst/>
          </a:prstGeom>
          <a:noFill/>
          <a:ln/>
        </p:spPr>
        <p:txBody>
          <a:bodyPr wrap="square" rtlCol="0" anchor="t"/>
          <a:lstStyle/>
          <a:p>
            <a:pPr marL="0" indent="0">
              <a:buNone/>
            </a:pPr>
            <a:r>
              <a:rPr lang="en-US" sz="1050" dirty="0">
                <a:solidFill>
                  <a:srgbClr val="5B595A"/>
                </a:solidFill>
                <a:latin typeface="Arial" pitchFamily="34" charset="0"/>
                <a:ea typeface="Arial" pitchFamily="34" charset="-122"/>
                <a:cs typeface="Arial" pitchFamily="34" charset="-120"/>
              </a:rPr>
              <a:t>A visual method of representing the complete end-to-end process, the big picture, not just one area</a:t>
            </a:r>
            <a:endParaRPr lang="en-US" sz="1050" dirty="0"/>
          </a:p>
        </p:txBody>
      </p:sp>
      <p:sp>
        <p:nvSpPr>
          <p:cNvPr id="9" name="Shape 5"/>
          <p:cNvSpPr/>
          <p:nvPr/>
        </p:nvSpPr>
        <p:spPr>
          <a:xfrm>
            <a:off x="256032" y="1467612"/>
            <a:ext cx="91440" cy="91440"/>
          </a:xfrm>
          <a:prstGeom prst="rect">
            <a:avLst/>
          </a:prstGeom>
          <a:solidFill>
            <a:srgbClr val="009FE3"/>
          </a:solidFill>
          <a:ln/>
        </p:spPr>
        <p:txBody>
          <a:bodyPr/>
          <a:lstStyle/>
          <a:p>
            <a:endParaRPr lang="en-GB"/>
          </a:p>
        </p:txBody>
      </p:sp>
      <p:sp>
        <p:nvSpPr>
          <p:cNvPr id="10" name="Text 6"/>
          <p:cNvSpPr/>
          <p:nvPr/>
        </p:nvSpPr>
        <p:spPr>
          <a:xfrm>
            <a:off x="457200" y="1417320"/>
            <a:ext cx="5669280" cy="292608"/>
          </a:xfrm>
          <a:prstGeom prst="rect">
            <a:avLst/>
          </a:prstGeom>
          <a:noFill/>
          <a:ln/>
        </p:spPr>
        <p:txBody>
          <a:bodyPr wrap="square" rtlCol="0" anchor="t"/>
          <a:lstStyle/>
          <a:p>
            <a:pPr marL="0" indent="0">
              <a:buNone/>
            </a:pPr>
            <a:r>
              <a:rPr lang="en-US" sz="1050" dirty="0">
                <a:solidFill>
                  <a:srgbClr val="5B595A"/>
                </a:solidFill>
                <a:latin typeface="Arial" pitchFamily="34" charset="0"/>
                <a:ea typeface="Arial" pitchFamily="34" charset="-122"/>
                <a:cs typeface="Arial" pitchFamily="34" charset="-120"/>
              </a:rPr>
              <a:t>A snapshot in time of the current system, showing where value is being added and where it is not</a:t>
            </a:r>
            <a:endParaRPr lang="en-US" sz="1050" dirty="0"/>
          </a:p>
        </p:txBody>
      </p:sp>
      <p:sp>
        <p:nvSpPr>
          <p:cNvPr id="11" name="Shape 7"/>
          <p:cNvSpPr/>
          <p:nvPr/>
        </p:nvSpPr>
        <p:spPr>
          <a:xfrm>
            <a:off x="256032" y="1833372"/>
            <a:ext cx="91440" cy="91440"/>
          </a:xfrm>
          <a:prstGeom prst="rect">
            <a:avLst/>
          </a:prstGeom>
          <a:solidFill>
            <a:srgbClr val="009FE3"/>
          </a:solidFill>
          <a:ln/>
        </p:spPr>
        <p:txBody>
          <a:bodyPr/>
          <a:lstStyle/>
          <a:p>
            <a:endParaRPr lang="en-GB"/>
          </a:p>
        </p:txBody>
      </p:sp>
      <p:sp>
        <p:nvSpPr>
          <p:cNvPr id="12" name="Text 8"/>
          <p:cNvSpPr/>
          <p:nvPr/>
        </p:nvSpPr>
        <p:spPr>
          <a:xfrm>
            <a:off x="457200" y="1783080"/>
            <a:ext cx="5669280" cy="292608"/>
          </a:xfrm>
          <a:prstGeom prst="rect">
            <a:avLst/>
          </a:prstGeom>
          <a:noFill/>
          <a:ln/>
        </p:spPr>
        <p:txBody>
          <a:bodyPr wrap="square" rtlCol="0" anchor="t"/>
          <a:lstStyle/>
          <a:p>
            <a:pPr marL="0" indent="0">
              <a:buNone/>
            </a:pPr>
            <a:r>
              <a:rPr lang="en-US" sz="1050" dirty="0">
                <a:solidFill>
                  <a:srgbClr val="5B595A"/>
                </a:solidFill>
                <a:latin typeface="Arial" pitchFamily="34" charset="0"/>
                <a:ea typeface="Arial" pitchFamily="34" charset="-122"/>
                <a:cs typeface="Arial" pitchFamily="34" charset="-120"/>
              </a:rPr>
              <a:t>A tool that makes the following visible:</a:t>
            </a:r>
            <a:endParaRPr lang="en-US" sz="1050" dirty="0"/>
          </a:p>
        </p:txBody>
      </p:sp>
      <p:sp>
        <p:nvSpPr>
          <p:cNvPr id="13" name="Shape 9"/>
          <p:cNvSpPr/>
          <p:nvPr/>
        </p:nvSpPr>
        <p:spPr>
          <a:xfrm>
            <a:off x="685800" y="2253996"/>
            <a:ext cx="73152" cy="73152"/>
          </a:xfrm>
          <a:prstGeom prst="rect">
            <a:avLst/>
          </a:prstGeom>
          <a:solidFill>
            <a:srgbClr val="83348F"/>
          </a:solidFill>
          <a:ln/>
        </p:spPr>
        <p:txBody>
          <a:bodyPr/>
          <a:lstStyle/>
          <a:p>
            <a:endParaRPr lang="en-GB"/>
          </a:p>
        </p:txBody>
      </p:sp>
      <p:sp>
        <p:nvSpPr>
          <p:cNvPr id="14" name="Text 10"/>
          <p:cNvSpPr/>
          <p:nvPr/>
        </p:nvSpPr>
        <p:spPr>
          <a:xfrm>
            <a:off x="777240" y="2194560"/>
            <a:ext cx="5349240" cy="256032"/>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All the steps in a process, starting from the customer end and working backwards</a:t>
            </a:r>
            <a:endParaRPr lang="en-US" sz="1000" dirty="0"/>
          </a:p>
        </p:txBody>
      </p:sp>
      <p:sp>
        <p:nvSpPr>
          <p:cNvPr id="15" name="Shape 11"/>
          <p:cNvSpPr/>
          <p:nvPr/>
        </p:nvSpPr>
        <p:spPr>
          <a:xfrm>
            <a:off x="685800" y="2564892"/>
            <a:ext cx="73152" cy="73152"/>
          </a:xfrm>
          <a:prstGeom prst="rect">
            <a:avLst/>
          </a:prstGeom>
          <a:solidFill>
            <a:srgbClr val="83348F"/>
          </a:solidFill>
          <a:ln/>
        </p:spPr>
        <p:txBody>
          <a:bodyPr/>
          <a:lstStyle/>
          <a:p>
            <a:endParaRPr lang="en-GB"/>
          </a:p>
        </p:txBody>
      </p:sp>
      <p:sp>
        <p:nvSpPr>
          <p:cNvPr id="16" name="Text 12"/>
          <p:cNvSpPr/>
          <p:nvPr/>
        </p:nvSpPr>
        <p:spPr>
          <a:xfrm>
            <a:off x="777240" y="2505456"/>
            <a:ext cx="5349240" cy="256032"/>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Physical material flow through each process step towards the customer</a:t>
            </a:r>
            <a:endParaRPr lang="en-US" sz="1000" dirty="0"/>
          </a:p>
        </p:txBody>
      </p:sp>
      <p:sp>
        <p:nvSpPr>
          <p:cNvPr id="17" name="Shape 13"/>
          <p:cNvSpPr/>
          <p:nvPr/>
        </p:nvSpPr>
        <p:spPr>
          <a:xfrm>
            <a:off x="685800" y="2875788"/>
            <a:ext cx="73152" cy="73152"/>
          </a:xfrm>
          <a:prstGeom prst="rect">
            <a:avLst/>
          </a:prstGeom>
          <a:solidFill>
            <a:srgbClr val="83348F"/>
          </a:solidFill>
          <a:ln/>
        </p:spPr>
        <p:txBody>
          <a:bodyPr/>
          <a:lstStyle/>
          <a:p>
            <a:endParaRPr lang="en-GB"/>
          </a:p>
        </p:txBody>
      </p:sp>
      <p:sp>
        <p:nvSpPr>
          <p:cNvPr id="18" name="Text 14"/>
          <p:cNvSpPr/>
          <p:nvPr/>
        </p:nvSpPr>
        <p:spPr>
          <a:xfrm>
            <a:off x="777240" y="2816352"/>
            <a:ext cx="5349240" cy="256032"/>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Information flow: what tells each step what to do and when</a:t>
            </a:r>
            <a:endParaRPr lang="en-US" sz="1000" dirty="0"/>
          </a:p>
        </p:txBody>
      </p:sp>
      <p:sp>
        <p:nvSpPr>
          <p:cNvPr id="19" name="Shape 15"/>
          <p:cNvSpPr/>
          <p:nvPr/>
        </p:nvSpPr>
        <p:spPr>
          <a:xfrm>
            <a:off x="685800" y="3186684"/>
            <a:ext cx="73152" cy="73152"/>
          </a:xfrm>
          <a:prstGeom prst="rect">
            <a:avLst/>
          </a:prstGeom>
          <a:solidFill>
            <a:srgbClr val="83348F"/>
          </a:solidFill>
          <a:ln/>
        </p:spPr>
        <p:txBody>
          <a:bodyPr/>
          <a:lstStyle/>
          <a:p>
            <a:endParaRPr lang="en-GB"/>
          </a:p>
        </p:txBody>
      </p:sp>
      <p:sp>
        <p:nvSpPr>
          <p:cNvPr id="20" name="Text 16"/>
          <p:cNvSpPr/>
          <p:nvPr/>
        </p:nvSpPr>
        <p:spPr>
          <a:xfrm>
            <a:off x="777240" y="3127248"/>
            <a:ext cx="5349240" cy="256032"/>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The connection between information and material flow</a:t>
            </a:r>
            <a:endParaRPr lang="en-US" sz="1000" dirty="0"/>
          </a:p>
        </p:txBody>
      </p:sp>
      <p:sp>
        <p:nvSpPr>
          <p:cNvPr id="21" name="Shape 17"/>
          <p:cNvSpPr/>
          <p:nvPr/>
        </p:nvSpPr>
        <p:spPr>
          <a:xfrm>
            <a:off x="685800" y="3497580"/>
            <a:ext cx="73152" cy="73152"/>
          </a:xfrm>
          <a:prstGeom prst="rect">
            <a:avLst/>
          </a:prstGeom>
          <a:solidFill>
            <a:srgbClr val="83348F"/>
          </a:solidFill>
          <a:ln/>
        </p:spPr>
        <p:txBody>
          <a:bodyPr/>
          <a:lstStyle/>
          <a:p>
            <a:endParaRPr lang="en-GB"/>
          </a:p>
        </p:txBody>
      </p:sp>
      <p:sp>
        <p:nvSpPr>
          <p:cNvPr id="22" name="Text 18"/>
          <p:cNvSpPr/>
          <p:nvPr/>
        </p:nvSpPr>
        <p:spPr>
          <a:xfrm>
            <a:off x="777240" y="3438144"/>
            <a:ext cx="5349240" cy="256032"/>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The total lead time versus the value-adding time in the process</a:t>
            </a:r>
            <a:endParaRPr lang="en-US" sz="1000" dirty="0"/>
          </a:p>
        </p:txBody>
      </p:sp>
      <p:sp>
        <p:nvSpPr>
          <p:cNvPr id="23" name="Shape 19"/>
          <p:cNvSpPr/>
          <p:nvPr/>
        </p:nvSpPr>
        <p:spPr>
          <a:xfrm>
            <a:off x="256032" y="3845052"/>
            <a:ext cx="91440" cy="91440"/>
          </a:xfrm>
          <a:prstGeom prst="rect">
            <a:avLst/>
          </a:prstGeom>
          <a:solidFill>
            <a:srgbClr val="009FE3"/>
          </a:solidFill>
          <a:ln/>
        </p:spPr>
        <p:txBody>
          <a:bodyPr/>
          <a:lstStyle/>
          <a:p>
            <a:endParaRPr lang="en-GB"/>
          </a:p>
        </p:txBody>
      </p:sp>
      <p:sp>
        <p:nvSpPr>
          <p:cNvPr id="24" name="Text 20"/>
          <p:cNvSpPr/>
          <p:nvPr/>
        </p:nvSpPr>
        <p:spPr>
          <a:xfrm>
            <a:off x="457200" y="3794760"/>
            <a:ext cx="5669280" cy="292608"/>
          </a:xfrm>
          <a:prstGeom prst="rect">
            <a:avLst/>
          </a:prstGeom>
          <a:noFill/>
          <a:ln/>
        </p:spPr>
        <p:txBody>
          <a:bodyPr wrap="square" rtlCol="0" anchor="t"/>
          <a:lstStyle/>
          <a:p>
            <a:pPr marL="0" indent="0">
              <a:buNone/>
            </a:pPr>
            <a:r>
              <a:rPr lang="en-US" sz="1050" dirty="0">
                <a:solidFill>
                  <a:srgbClr val="5B595A"/>
                </a:solidFill>
                <a:latin typeface="Arial" pitchFamily="34" charset="0"/>
                <a:ea typeface="Arial" pitchFamily="34" charset="-122"/>
                <a:cs typeface="Arial" pitchFamily="34" charset="-120"/>
              </a:rPr>
              <a:t>A structured way to identify waste across the whole value stream, not just within individual departments</a:t>
            </a:r>
            <a:endParaRPr lang="en-US" sz="1050" dirty="0"/>
          </a:p>
        </p:txBody>
      </p:sp>
      <p:sp>
        <p:nvSpPr>
          <p:cNvPr id="25" name="Shape 21"/>
          <p:cNvSpPr/>
          <p:nvPr/>
        </p:nvSpPr>
        <p:spPr>
          <a:xfrm>
            <a:off x="256032" y="4247388"/>
            <a:ext cx="91440" cy="91440"/>
          </a:xfrm>
          <a:prstGeom prst="rect">
            <a:avLst/>
          </a:prstGeom>
          <a:solidFill>
            <a:srgbClr val="009FE3"/>
          </a:solidFill>
          <a:ln/>
        </p:spPr>
        <p:txBody>
          <a:bodyPr/>
          <a:lstStyle/>
          <a:p>
            <a:endParaRPr lang="en-GB"/>
          </a:p>
        </p:txBody>
      </p:sp>
      <p:sp>
        <p:nvSpPr>
          <p:cNvPr id="26" name="Text 22"/>
          <p:cNvSpPr/>
          <p:nvPr/>
        </p:nvSpPr>
        <p:spPr>
          <a:xfrm>
            <a:off x="457200" y="4197096"/>
            <a:ext cx="5669280" cy="292608"/>
          </a:xfrm>
          <a:prstGeom prst="rect">
            <a:avLst/>
          </a:prstGeom>
          <a:noFill/>
          <a:ln/>
        </p:spPr>
        <p:txBody>
          <a:bodyPr wrap="square" rtlCol="0" anchor="t"/>
          <a:lstStyle/>
          <a:p>
            <a:pPr marL="0" indent="0">
              <a:buNone/>
            </a:pPr>
            <a:r>
              <a:rPr lang="en-US" sz="1050" dirty="0">
                <a:solidFill>
                  <a:srgbClr val="5B595A"/>
                </a:solidFill>
                <a:latin typeface="Arial" pitchFamily="34" charset="0"/>
                <a:ea typeface="Arial" pitchFamily="34" charset="-122"/>
                <a:cs typeface="Arial" pitchFamily="34" charset="-120"/>
              </a:rPr>
              <a:t>A blueprint for improvement that generates the improvement roadmap rather than isolated projects</a:t>
            </a:r>
            <a:endParaRPr lang="en-US" sz="1050" dirty="0"/>
          </a:p>
        </p:txBody>
      </p:sp>
      <p:sp>
        <p:nvSpPr>
          <p:cNvPr id="27" name="Shape 23"/>
          <p:cNvSpPr/>
          <p:nvPr/>
        </p:nvSpPr>
        <p:spPr>
          <a:xfrm>
            <a:off x="228600" y="5440680"/>
            <a:ext cx="5760720" cy="804672"/>
          </a:xfrm>
          <a:prstGeom prst="rect">
            <a:avLst/>
          </a:prstGeom>
          <a:solidFill>
            <a:srgbClr val="E0F4FD"/>
          </a:solidFill>
          <a:ln w="10160">
            <a:solidFill>
              <a:srgbClr val="009FE3"/>
            </a:solidFill>
            <a:prstDash val="solid"/>
          </a:ln>
        </p:spPr>
        <p:txBody>
          <a:bodyPr/>
          <a:lstStyle/>
          <a:p>
            <a:endParaRPr lang="en-GB"/>
          </a:p>
        </p:txBody>
      </p:sp>
      <p:sp>
        <p:nvSpPr>
          <p:cNvPr id="28" name="Text 24"/>
          <p:cNvSpPr/>
          <p:nvPr/>
        </p:nvSpPr>
        <p:spPr>
          <a:xfrm>
            <a:off x="365760" y="5532120"/>
            <a:ext cx="5486400" cy="548640"/>
          </a:xfrm>
          <a:prstGeom prst="rect">
            <a:avLst/>
          </a:prstGeom>
          <a:noFill/>
          <a:ln/>
        </p:spPr>
        <p:txBody>
          <a:bodyPr wrap="square" rtlCol="0" anchor="ctr"/>
          <a:lstStyle/>
          <a:p>
            <a:pPr marL="0" indent="0">
              <a:buNone/>
            </a:pPr>
            <a:r>
              <a:rPr lang="en-US" sz="1100" b="1" i="1" dirty="0">
                <a:solidFill>
                  <a:srgbClr val="1E3A5F"/>
                </a:solidFill>
                <a:latin typeface="Arial" pitchFamily="34" charset="0"/>
                <a:ea typeface="Arial" pitchFamily="34" charset="-122"/>
                <a:cs typeface="Arial" pitchFamily="34" charset="-120"/>
              </a:rPr>
              <a:t>"Whenever there is a product for a customer,</a:t>
            </a:r>
            <a:endParaRPr lang="en-US" sz="1100" dirty="0"/>
          </a:p>
          <a:p>
            <a:pPr marL="0" indent="0">
              <a:buNone/>
            </a:pPr>
            <a:r>
              <a:rPr lang="en-US" sz="1100" b="1" i="1" dirty="0">
                <a:solidFill>
                  <a:srgbClr val="1E3A5F"/>
                </a:solidFill>
                <a:latin typeface="Arial" pitchFamily="34" charset="0"/>
                <a:ea typeface="Arial" pitchFamily="34" charset="-122"/>
                <a:cs typeface="Arial" pitchFamily="34" charset="-120"/>
              </a:rPr>
              <a:t>there is a value stream. The challenge lies in seeing it."</a:t>
            </a:r>
            <a:endParaRPr lang="en-US" sz="1100" dirty="0"/>
          </a:p>
        </p:txBody>
      </p:sp>
      <p:sp>
        <p:nvSpPr>
          <p:cNvPr id="30" name="Shape 26"/>
          <p:cNvSpPr/>
          <p:nvPr/>
        </p:nvSpPr>
        <p:spPr>
          <a:xfrm>
            <a:off x="6400800" y="1280160"/>
            <a:ext cx="1097280" cy="731520"/>
          </a:xfrm>
          <a:prstGeom prst="rect">
            <a:avLst/>
          </a:prstGeom>
          <a:solidFill>
            <a:srgbClr val="1E3A5F"/>
          </a:solidFill>
          <a:ln w="6350">
            <a:solidFill>
              <a:srgbClr val="1E3A5F"/>
            </a:solidFill>
            <a:prstDash val="solid"/>
          </a:ln>
        </p:spPr>
        <p:txBody>
          <a:bodyPr/>
          <a:lstStyle/>
          <a:p>
            <a:endParaRPr lang="en-GB"/>
          </a:p>
        </p:txBody>
      </p:sp>
      <p:sp>
        <p:nvSpPr>
          <p:cNvPr id="31" name="Text 27"/>
          <p:cNvSpPr/>
          <p:nvPr/>
        </p:nvSpPr>
        <p:spPr>
          <a:xfrm>
            <a:off x="6400800" y="1426464"/>
            <a:ext cx="1097280" cy="365760"/>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SUPPLIER</a:t>
            </a:r>
            <a:endParaRPr lang="en-US" sz="900" dirty="0"/>
          </a:p>
        </p:txBody>
      </p:sp>
      <p:sp>
        <p:nvSpPr>
          <p:cNvPr id="32" name="Shape 28"/>
          <p:cNvSpPr/>
          <p:nvPr/>
        </p:nvSpPr>
        <p:spPr>
          <a:xfrm>
            <a:off x="7516368" y="1591056"/>
            <a:ext cx="457200" cy="109728"/>
          </a:xfrm>
          <a:prstGeom prst="rect">
            <a:avLst/>
          </a:prstGeom>
          <a:solidFill>
            <a:srgbClr val="5B595A"/>
          </a:solidFill>
          <a:ln/>
        </p:spPr>
        <p:txBody>
          <a:bodyPr/>
          <a:lstStyle/>
          <a:p>
            <a:endParaRPr lang="en-GB"/>
          </a:p>
        </p:txBody>
      </p:sp>
      <p:sp>
        <p:nvSpPr>
          <p:cNvPr id="33" name="Shape 29"/>
          <p:cNvSpPr/>
          <p:nvPr/>
        </p:nvSpPr>
        <p:spPr>
          <a:xfrm>
            <a:off x="7991856" y="1280160"/>
            <a:ext cx="1188720" cy="329184"/>
          </a:xfrm>
          <a:prstGeom prst="rect">
            <a:avLst/>
          </a:prstGeom>
          <a:solidFill>
            <a:srgbClr val="009FE3"/>
          </a:solidFill>
          <a:ln/>
        </p:spPr>
        <p:txBody>
          <a:bodyPr/>
          <a:lstStyle/>
          <a:p>
            <a:endParaRPr lang="en-GB"/>
          </a:p>
        </p:txBody>
      </p:sp>
      <p:sp>
        <p:nvSpPr>
          <p:cNvPr id="34" name="Text 30"/>
          <p:cNvSpPr/>
          <p:nvPr/>
        </p:nvSpPr>
        <p:spPr>
          <a:xfrm>
            <a:off x="7991856" y="1298448"/>
            <a:ext cx="1188720" cy="274320"/>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PROCESS A</a:t>
            </a:r>
            <a:endParaRPr lang="en-US" sz="850" dirty="0"/>
          </a:p>
        </p:txBody>
      </p:sp>
      <p:sp>
        <p:nvSpPr>
          <p:cNvPr id="35" name="Shape 31"/>
          <p:cNvSpPr/>
          <p:nvPr/>
        </p:nvSpPr>
        <p:spPr>
          <a:xfrm>
            <a:off x="7991856" y="1609344"/>
            <a:ext cx="1188720" cy="402336"/>
          </a:xfrm>
          <a:prstGeom prst="rect">
            <a:avLst/>
          </a:prstGeom>
          <a:solidFill>
            <a:srgbClr val="E0F4FD"/>
          </a:solidFill>
          <a:ln w="5080">
            <a:solidFill>
              <a:srgbClr val="D8D8D8"/>
            </a:solidFill>
            <a:prstDash val="solid"/>
          </a:ln>
        </p:spPr>
        <p:txBody>
          <a:bodyPr/>
          <a:lstStyle/>
          <a:p>
            <a:endParaRPr lang="en-GB"/>
          </a:p>
        </p:txBody>
      </p:sp>
      <p:sp>
        <p:nvSpPr>
          <p:cNvPr id="36" name="Text 32"/>
          <p:cNvSpPr/>
          <p:nvPr/>
        </p:nvSpPr>
        <p:spPr>
          <a:xfrm>
            <a:off x="8028432" y="1627632"/>
            <a:ext cx="1115568" cy="365760"/>
          </a:xfrm>
          <a:prstGeom prst="rect">
            <a:avLst/>
          </a:prstGeom>
          <a:noFill/>
          <a:ln/>
        </p:spPr>
        <p:txBody>
          <a:bodyPr wrap="square" rtlCol="0" anchor="ctr"/>
          <a:lstStyle/>
          <a:p>
            <a:pPr marL="0" indent="0">
              <a:buNone/>
            </a:pPr>
            <a:r>
              <a:rPr lang="en-US" sz="750" dirty="0">
                <a:solidFill>
                  <a:srgbClr val="5B595A"/>
                </a:solidFill>
                <a:latin typeface="Arial" pitchFamily="34" charset="0"/>
                <a:ea typeface="Arial" pitchFamily="34" charset="-122"/>
                <a:cs typeface="Arial" pitchFamily="34" charset="-120"/>
              </a:rPr>
              <a:t>CT: 12 min</a:t>
            </a:r>
            <a:endParaRPr lang="en-US" sz="750" dirty="0"/>
          </a:p>
          <a:p>
            <a:pPr marL="0" indent="0">
              <a:buNone/>
            </a:pPr>
            <a:r>
              <a:rPr lang="en-US" sz="750" dirty="0">
                <a:solidFill>
                  <a:srgbClr val="5B595A"/>
                </a:solidFill>
                <a:latin typeface="Arial" pitchFamily="34" charset="0"/>
                <a:ea typeface="Arial" pitchFamily="34" charset="-122"/>
                <a:cs typeface="Arial" pitchFamily="34" charset="-120"/>
              </a:rPr>
              <a:t>C/O: 8 min</a:t>
            </a:r>
            <a:endParaRPr lang="en-US" sz="750" dirty="0"/>
          </a:p>
          <a:p>
            <a:pPr marL="0" indent="0">
              <a:buNone/>
            </a:pPr>
            <a:r>
              <a:rPr lang="en-US" sz="750" dirty="0">
                <a:solidFill>
                  <a:srgbClr val="5B595A"/>
                </a:solidFill>
                <a:latin typeface="Arial" pitchFamily="34" charset="0"/>
                <a:ea typeface="Arial" pitchFamily="34" charset="-122"/>
                <a:cs typeface="Arial" pitchFamily="34" charset="-120"/>
              </a:rPr>
              <a:t>Uptime: 88%</a:t>
            </a:r>
            <a:endParaRPr lang="en-US" sz="750" dirty="0"/>
          </a:p>
        </p:txBody>
      </p:sp>
      <p:sp>
        <p:nvSpPr>
          <p:cNvPr id="37" name="Shape 33"/>
          <p:cNvSpPr/>
          <p:nvPr/>
        </p:nvSpPr>
        <p:spPr>
          <a:xfrm>
            <a:off x="9198864" y="1444752"/>
            <a:ext cx="329184" cy="256032"/>
          </a:xfrm>
          <a:prstGeom prst="rect">
            <a:avLst/>
          </a:prstGeom>
          <a:solidFill>
            <a:srgbClr val="F59E0B"/>
          </a:solidFill>
          <a:ln w="6350">
            <a:solidFill>
              <a:srgbClr val="D97706"/>
            </a:solidFill>
            <a:prstDash val="solid"/>
          </a:ln>
        </p:spPr>
        <p:txBody>
          <a:bodyPr/>
          <a:lstStyle/>
          <a:p>
            <a:endParaRPr lang="en-GB"/>
          </a:p>
        </p:txBody>
      </p:sp>
      <p:sp>
        <p:nvSpPr>
          <p:cNvPr id="38" name="Text 34"/>
          <p:cNvSpPr/>
          <p:nvPr/>
        </p:nvSpPr>
        <p:spPr>
          <a:xfrm>
            <a:off x="9198864" y="1444752"/>
            <a:ext cx="329184" cy="128016"/>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INV</a:t>
            </a:r>
            <a:endParaRPr lang="en-US" sz="600" dirty="0"/>
          </a:p>
        </p:txBody>
      </p:sp>
      <p:sp>
        <p:nvSpPr>
          <p:cNvPr id="39" name="Shape 35"/>
          <p:cNvSpPr/>
          <p:nvPr/>
        </p:nvSpPr>
        <p:spPr>
          <a:xfrm>
            <a:off x="9546336" y="1591056"/>
            <a:ext cx="329184" cy="109728"/>
          </a:xfrm>
          <a:prstGeom prst="rect">
            <a:avLst/>
          </a:prstGeom>
          <a:solidFill>
            <a:srgbClr val="5B595A"/>
          </a:solidFill>
          <a:ln/>
        </p:spPr>
        <p:txBody>
          <a:bodyPr/>
          <a:lstStyle/>
          <a:p>
            <a:endParaRPr lang="en-GB"/>
          </a:p>
        </p:txBody>
      </p:sp>
      <p:sp>
        <p:nvSpPr>
          <p:cNvPr id="40" name="Shape 36"/>
          <p:cNvSpPr/>
          <p:nvPr/>
        </p:nvSpPr>
        <p:spPr>
          <a:xfrm>
            <a:off x="9893808" y="1280160"/>
            <a:ext cx="1188720" cy="329184"/>
          </a:xfrm>
          <a:prstGeom prst="rect">
            <a:avLst/>
          </a:prstGeom>
          <a:solidFill>
            <a:srgbClr val="B91C1C"/>
          </a:solidFill>
          <a:ln/>
        </p:spPr>
        <p:txBody>
          <a:bodyPr/>
          <a:lstStyle/>
          <a:p>
            <a:endParaRPr lang="en-GB"/>
          </a:p>
        </p:txBody>
      </p:sp>
      <p:sp>
        <p:nvSpPr>
          <p:cNvPr id="41" name="Text 37"/>
          <p:cNvSpPr/>
          <p:nvPr/>
        </p:nvSpPr>
        <p:spPr>
          <a:xfrm>
            <a:off x="9893808" y="1298448"/>
            <a:ext cx="1188720" cy="274320"/>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PROCESS B</a:t>
            </a:r>
            <a:endParaRPr lang="en-US" sz="850" dirty="0"/>
          </a:p>
        </p:txBody>
      </p:sp>
      <p:sp>
        <p:nvSpPr>
          <p:cNvPr id="42" name="Shape 38"/>
          <p:cNvSpPr/>
          <p:nvPr/>
        </p:nvSpPr>
        <p:spPr>
          <a:xfrm>
            <a:off x="9893808" y="1609344"/>
            <a:ext cx="1188720" cy="402336"/>
          </a:xfrm>
          <a:prstGeom prst="rect">
            <a:avLst/>
          </a:prstGeom>
          <a:solidFill>
            <a:srgbClr val="FEE2E2"/>
          </a:solidFill>
          <a:ln w="5080">
            <a:solidFill>
              <a:srgbClr val="D8D8D8"/>
            </a:solidFill>
            <a:prstDash val="solid"/>
          </a:ln>
        </p:spPr>
        <p:txBody>
          <a:bodyPr/>
          <a:lstStyle/>
          <a:p>
            <a:endParaRPr lang="en-GB"/>
          </a:p>
        </p:txBody>
      </p:sp>
      <p:sp>
        <p:nvSpPr>
          <p:cNvPr id="43" name="Text 39"/>
          <p:cNvSpPr/>
          <p:nvPr/>
        </p:nvSpPr>
        <p:spPr>
          <a:xfrm>
            <a:off x="9930384" y="1627632"/>
            <a:ext cx="1115568" cy="365760"/>
          </a:xfrm>
          <a:prstGeom prst="rect">
            <a:avLst/>
          </a:prstGeom>
          <a:noFill/>
          <a:ln/>
        </p:spPr>
        <p:txBody>
          <a:bodyPr wrap="square" rtlCol="0" anchor="ctr"/>
          <a:lstStyle/>
          <a:p>
            <a:pPr marL="0" indent="0">
              <a:buNone/>
            </a:pPr>
            <a:r>
              <a:rPr lang="en-US" sz="750" dirty="0">
                <a:solidFill>
                  <a:srgbClr val="5B595A"/>
                </a:solidFill>
                <a:latin typeface="Arial" pitchFamily="34" charset="0"/>
                <a:ea typeface="Arial" pitchFamily="34" charset="-122"/>
                <a:cs typeface="Arial" pitchFamily="34" charset="-120"/>
              </a:rPr>
              <a:t>CT: 45 min</a:t>
            </a:r>
            <a:endParaRPr lang="en-US" sz="750" dirty="0"/>
          </a:p>
          <a:p>
            <a:pPr marL="0" indent="0">
              <a:buNone/>
            </a:pPr>
            <a:r>
              <a:rPr lang="en-US" sz="750" dirty="0">
                <a:solidFill>
                  <a:srgbClr val="5B595A"/>
                </a:solidFill>
                <a:latin typeface="Arial" pitchFamily="34" charset="0"/>
                <a:ea typeface="Arial" pitchFamily="34" charset="-122"/>
                <a:cs typeface="Arial" pitchFamily="34" charset="-120"/>
              </a:rPr>
              <a:t>C/O: 30 min</a:t>
            </a:r>
            <a:endParaRPr lang="en-US" sz="750" dirty="0"/>
          </a:p>
          <a:p>
            <a:pPr marL="0" indent="0">
              <a:buNone/>
            </a:pPr>
            <a:r>
              <a:rPr lang="en-US" sz="750" dirty="0">
                <a:solidFill>
                  <a:srgbClr val="5B595A"/>
                </a:solidFill>
                <a:latin typeface="Arial" pitchFamily="34" charset="0"/>
                <a:ea typeface="Arial" pitchFamily="34" charset="-122"/>
                <a:cs typeface="Arial" pitchFamily="34" charset="-120"/>
              </a:rPr>
              <a:t>Uptime: 72%</a:t>
            </a:r>
            <a:endParaRPr lang="en-US" sz="750" dirty="0"/>
          </a:p>
        </p:txBody>
      </p:sp>
      <p:sp>
        <p:nvSpPr>
          <p:cNvPr id="44" name="Shape 40"/>
          <p:cNvSpPr/>
          <p:nvPr/>
        </p:nvSpPr>
        <p:spPr>
          <a:xfrm>
            <a:off x="10332720" y="1170432"/>
            <a:ext cx="694944" cy="310896"/>
          </a:xfrm>
          <a:prstGeom prst="rect">
            <a:avLst/>
          </a:prstGeom>
          <a:solidFill>
            <a:srgbClr val="FEE2E2"/>
          </a:solidFill>
          <a:ln w="12700">
            <a:solidFill>
              <a:srgbClr val="B91C1C"/>
            </a:solidFill>
            <a:prstDash val="solid"/>
          </a:ln>
        </p:spPr>
        <p:txBody>
          <a:bodyPr/>
          <a:lstStyle/>
          <a:p>
            <a:endParaRPr lang="en-GB"/>
          </a:p>
        </p:txBody>
      </p:sp>
      <p:sp>
        <p:nvSpPr>
          <p:cNvPr id="45" name="Text 41"/>
          <p:cNvSpPr/>
          <p:nvPr/>
        </p:nvSpPr>
        <p:spPr>
          <a:xfrm>
            <a:off x="10332720" y="1188720"/>
            <a:ext cx="694944" cy="274320"/>
          </a:xfrm>
          <a:prstGeom prst="rect">
            <a:avLst/>
          </a:prstGeom>
          <a:noFill/>
          <a:ln/>
        </p:spPr>
        <p:txBody>
          <a:bodyPr wrap="square" rtlCol="0" anchor="ctr"/>
          <a:lstStyle/>
          <a:p>
            <a:pPr marL="0" indent="0" algn="ctr">
              <a:buNone/>
            </a:pPr>
            <a:r>
              <a:rPr lang="en-US" sz="700" b="1" dirty="0">
                <a:solidFill>
                  <a:srgbClr val="B91C1C"/>
                </a:solidFill>
                <a:latin typeface="Arial" pitchFamily="34" charset="0"/>
                <a:ea typeface="Arial" pitchFamily="34" charset="-122"/>
                <a:cs typeface="Arial" pitchFamily="34" charset="-120"/>
              </a:rPr>
              <a:t>C/O too high!</a:t>
            </a:r>
            <a:endParaRPr lang="en-US" sz="700" dirty="0"/>
          </a:p>
        </p:txBody>
      </p:sp>
      <p:sp>
        <p:nvSpPr>
          <p:cNvPr id="46" name="Shape 42"/>
          <p:cNvSpPr/>
          <p:nvPr/>
        </p:nvSpPr>
        <p:spPr>
          <a:xfrm>
            <a:off x="11100816" y="1389888"/>
            <a:ext cx="402336" cy="310896"/>
          </a:xfrm>
          <a:prstGeom prst="rect">
            <a:avLst/>
          </a:prstGeom>
          <a:solidFill>
            <a:srgbClr val="B91C1C"/>
          </a:solidFill>
          <a:ln w="6350">
            <a:solidFill>
              <a:srgbClr val="B91C1C"/>
            </a:solidFill>
            <a:prstDash val="solid"/>
          </a:ln>
        </p:spPr>
        <p:txBody>
          <a:bodyPr/>
          <a:lstStyle/>
          <a:p>
            <a:endParaRPr lang="en-GB"/>
          </a:p>
        </p:txBody>
      </p:sp>
      <p:sp>
        <p:nvSpPr>
          <p:cNvPr id="47" name="Text 43"/>
          <p:cNvSpPr/>
          <p:nvPr/>
        </p:nvSpPr>
        <p:spPr>
          <a:xfrm>
            <a:off x="11100816" y="1389888"/>
            <a:ext cx="402336" cy="146304"/>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INV</a:t>
            </a:r>
            <a:endParaRPr lang="en-US" sz="600" dirty="0"/>
          </a:p>
        </p:txBody>
      </p:sp>
      <p:sp>
        <p:nvSpPr>
          <p:cNvPr id="48" name="Text 44"/>
          <p:cNvSpPr/>
          <p:nvPr/>
        </p:nvSpPr>
        <p:spPr>
          <a:xfrm>
            <a:off x="11027664" y="1719072"/>
            <a:ext cx="548640" cy="128016"/>
          </a:xfrm>
          <a:prstGeom prst="rect">
            <a:avLst/>
          </a:prstGeom>
          <a:noFill/>
          <a:ln/>
        </p:spPr>
        <p:txBody>
          <a:bodyPr wrap="square" rtlCol="0" anchor="ctr"/>
          <a:lstStyle/>
          <a:p>
            <a:pPr marL="0" indent="0" algn="ctr">
              <a:buNone/>
            </a:pPr>
            <a:r>
              <a:rPr lang="en-US" sz="700" b="1" dirty="0">
                <a:solidFill>
                  <a:srgbClr val="B91C1C"/>
                </a:solidFill>
                <a:latin typeface="Arial" pitchFamily="34" charset="0"/>
                <a:ea typeface="Arial" pitchFamily="34" charset="-122"/>
                <a:cs typeface="Arial" pitchFamily="34" charset="-120"/>
              </a:rPr>
              <a:t>48 units</a:t>
            </a:r>
            <a:endParaRPr lang="en-US" sz="700" dirty="0"/>
          </a:p>
        </p:txBody>
      </p:sp>
      <p:sp>
        <p:nvSpPr>
          <p:cNvPr id="49" name="Shape 45"/>
          <p:cNvSpPr/>
          <p:nvPr/>
        </p:nvSpPr>
        <p:spPr>
          <a:xfrm>
            <a:off x="11521440" y="1591056"/>
            <a:ext cx="329184" cy="109728"/>
          </a:xfrm>
          <a:prstGeom prst="rect">
            <a:avLst/>
          </a:prstGeom>
          <a:solidFill>
            <a:srgbClr val="5B595A"/>
          </a:solidFill>
          <a:ln/>
        </p:spPr>
        <p:txBody>
          <a:bodyPr/>
          <a:lstStyle/>
          <a:p>
            <a:endParaRPr lang="en-GB"/>
          </a:p>
        </p:txBody>
      </p:sp>
      <p:sp>
        <p:nvSpPr>
          <p:cNvPr id="50" name="Shape 46"/>
          <p:cNvSpPr/>
          <p:nvPr/>
        </p:nvSpPr>
        <p:spPr>
          <a:xfrm>
            <a:off x="11868912" y="1280160"/>
            <a:ext cx="1097280" cy="731520"/>
          </a:xfrm>
          <a:prstGeom prst="rect">
            <a:avLst/>
          </a:prstGeom>
          <a:solidFill>
            <a:srgbClr val="0D7377"/>
          </a:solidFill>
          <a:ln w="6350">
            <a:solidFill>
              <a:srgbClr val="0D7377"/>
            </a:solidFill>
            <a:prstDash val="solid"/>
          </a:ln>
        </p:spPr>
        <p:txBody>
          <a:bodyPr/>
          <a:lstStyle/>
          <a:p>
            <a:endParaRPr lang="en-GB"/>
          </a:p>
        </p:txBody>
      </p:sp>
      <p:sp>
        <p:nvSpPr>
          <p:cNvPr id="51" name="Text 47"/>
          <p:cNvSpPr/>
          <p:nvPr/>
        </p:nvSpPr>
        <p:spPr>
          <a:xfrm>
            <a:off x="11868912" y="1426464"/>
            <a:ext cx="1097280" cy="365760"/>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CUSTOMER</a:t>
            </a:r>
            <a:endParaRPr lang="en-US" sz="900" dirty="0"/>
          </a:p>
        </p:txBody>
      </p:sp>
      <p:sp>
        <p:nvSpPr>
          <p:cNvPr id="52" name="Shape 48"/>
          <p:cNvSpPr/>
          <p:nvPr/>
        </p:nvSpPr>
        <p:spPr>
          <a:xfrm>
            <a:off x="6400800" y="2194560"/>
            <a:ext cx="6565392" cy="36576"/>
          </a:xfrm>
          <a:prstGeom prst="rect">
            <a:avLst/>
          </a:prstGeom>
          <a:solidFill>
            <a:srgbClr val="5B595A"/>
          </a:solidFill>
          <a:ln/>
        </p:spPr>
        <p:txBody>
          <a:bodyPr/>
          <a:lstStyle/>
          <a:p>
            <a:endParaRPr lang="en-GB"/>
          </a:p>
        </p:txBody>
      </p:sp>
      <p:sp>
        <p:nvSpPr>
          <p:cNvPr id="53" name="Shape 49"/>
          <p:cNvSpPr/>
          <p:nvPr/>
        </p:nvSpPr>
        <p:spPr>
          <a:xfrm>
            <a:off x="6492240" y="2240280"/>
            <a:ext cx="1097280" cy="164592"/>
          </a:xfrm>
          <a:prstGeom prst="rect">
            <a:avLst/>
          </a:prstGeom>
          <a:solidFill>
            <a:srgbClr val="217346"/>
          </a:solidFill>
          <a:ln w="3810">
            <a:solidFill>
              <a:srgbClr val="AAAAAA"/>
            </a:solidFill>
            <a:prstDash val="solid"/>
          </a:ln>
        </p:spPr>
        <p:txBody>
          <a:bodyPr/>
          <a:lstStyle/>
          <a:p>
            <a:endParaRPr lang="en-GB"/>
          </a:p>
        </p:txBody>
      </p:sp>
      <p:sp>
        <p:nvSpPr>
          <p:cNvPr id="54" name="Text 50"/>
          <p:cNvSpPr/>
          <p:nvPr/>
        </p:nvSpPr>
        <p:spPr>
          <a:xfrm>
            <a:off x="6492240" y="2249424"/>
            <a:ext cx="1097280" cy="146304"/>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12m VA</a:t>
            </a:r>
            <a:endParaRPr lang="en-US" sz="700" dirty="0"/>
          </a:p>
        </p:txBody>
      </p:sp>
      <p:sp>
        <p:nvSpPr>
          <p:cNvPr id="55" name="Shape 51"/>
          <p:cNvSpPr/>
          <p:nvPr/>
        </p:nvSpPr>
        <p:spPr>
          <a:xfrm>
            <a:off x="6492240" y="2423160"/>
            <a:ext cx="1097280" cy="164592"/>
          </a:xfrm>
          <a:prstGeom prst="rect">
            <a:avLst/>
          </a:prstGeom>
          <a:solidFill>
            <a:srgbClr val="B91C1C"/>
          </a:solidFill>
          <a:ln w="3810">
            <a:solidFill>
              <a:srgbClr val="AAAAAA"/>
            </a:solidFill>
            <a:prstDash val="solid"/>
          </a:ln>
        </p:spPr>
        <p:txBody>
          <a:bodyPr/>
          <a:lstStyle/>
          <a:p>
            <a:endParaRPr lang="en-GB"/>
          </a:p>
        </p:txBody>
      </p:sp>
      <p:sp>
        <p:nvSpPr>
          <p:cNvPr id="56" name="Text 52"/>
          <p:cNvSpPr/>
          <p:nvPr/>
        </p:nvSpPr>
        <p:spPr>
          <a:xfrm>
            <a:off x="6492240" y="2432304"/>
            <a:ext cx="1097280" cy="146304"/>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2d wait</a:t>
            </a:r>
            <a:endParaRPr lang="en-US" sz="700" dirty="0"/>
          </a:p>
        </p:txBody>
      </p:sp>
      <p:sp>
        <p:nvSpPr>
          <p:cNvPr id="57" name="Shape 53"/>
          <p:cNvSpPr/>
          <p:nvPr/>
        </p:nvSpPr>
        <p:spPr>
          <a:xfrm>
            <a:off x="8229600" y="2240280"/>
            <a:ext cx="1097280" cy="164592"/>
          </a:xfrm>
          <a:prstGeom prst="rect">
            <a:avLst/>
          </a:prstGeom>
          <a:solidFill>
            <a:srgbClr val="217346"/>
          </a:solidFill>
          <a:ln w="3810">
            <a:solidFill>
              <a:srgbClr val="AAAAAA"/>
            </a:solidFill>
            <a:prstDash val="solid"/>
          </a:ln>
        </p:spPr>
        <p:txBody>
          <a:bodyPr/>
          <a:lstStyle/>
          <a:p>
            <a:endParaRPr lang="en-GB"/>
          </a:p>
        </p:txBody>
      </p:sp>
      <p:sp>
        <p:nvSpPr>
          <p:cNvPr id="58" name="Text 54"/>
          <p:cNvSpPr/>
          <p:nvPr/>
        </p:nvSpPr>
        <p:spPr>
          <a:xfrm>
            <a:off x="8229600" y="2249424"/>
            <a:ext cx="1097280" cy="146304"/>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a:t>
            </a:r>
            <a:endParaRPr lang="en-US" sz="700" dirty="0"/>
          </a:p>
        </p:txBody>
      </p:sp>
      <p:sp>
        <p:nvSpPr>
          <p:cNvPr id="59" name="Shape 55"/>
          <p:cNvSpPr/>
          <p:nvPr/>
        </p:nvSpPr>
        <p:spPr>
          <a:xfrm>
            <a:off x="8229600" y="2423160"/>
            <a:ext cx="1097280" cy="164592"/>
          </a:xfrm>
          <a:prstGeom prst="rect">
            <a:avLst/>
          </a:prstGeom>
          <a:solidFill>
            <a:srgbClr val="B91C1C"/>
          </a:solidFill>
          <a:ln w="3810">
            <a:solidFill>
              <a:srgbClr val="AAAAAA"/>
            </a:solidFill>
            <a:prstDash val="solid"/>
          </a:ln>
        </p:spPr>
        <p:txBody>
          <a:bodyPr/>
          <a:lstStyle/>
          <a:p>
            <a:endParaRPr lang="en-GB"/>
          </a:p>
        </p:txBody>
      </p:sp>
      <p:sp>
        <p:nvSpPr>
          <p:cNvPr id="60" name="Text 56"/>
          <p:cNvSpPr/>
          <p:nvPr/>
        </p:nvSpPr>
        <p:spPr>
          <a:xfrm>
            <a:off x="8229600" y="2432304"/>
            <a:ext cx="1097280" cy="146304"/>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4.8d wait</a:t>
            </a:r>
            <a:endParaRPr lang="en-US" sz="700" dirty="0"/>
          </a:p>
        </p:txBody>
      </p:sp>
      <p:sp>
        <p:nvSpPr>
          <p:cNvPr id="61" name="Shape 57"/>
          <p:cNvSpPr/>
          <p:nvPr/>
        </p:nvSpPr>
        <p:spPr>
          <a:xfrm>
            <a:off x="10058400" y="2240280"/>
            <a:ext cx="1097280" cy="164592"/>
          </a:xfrm>
          <a:prstGeom prst="rect">
            <a:avLst/>
          </a:prstGeom>
          <a:solidFill>
            <a:srgbClr val="217346"/>
          </a:solidFill>
          <a:ln w="3810">
            <a:solidFill>
              <a:srgbClr val="AAAAAA"/>
            </a:solidFill>
            <a:prstDash val="solid"/>
          </a:ln>
        </p:spPr>
        <p:txBody>
          <a:bodyPr/>
          <a:lstStyle/>
          <a:p>
            <a:endParaRPr lang="en-GB"/>
          </a:p>
        </p:txBody>
      </p:sp>
      <p:sp>
        <p:nvSpPr>
          <p:cNvPr id="62" name="Text 58"/>
          <p:cNvSpPr/>
          <p:nvPr/>
        </p:nvSpPr>
        <p:spPr>
          <a:xfrm>
            <a:off x="10058400" y="2249424"/>
            <a:ext cx="1097280" cy="146304"/>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45m VA</a:t>
            </a:r>
            <a:endParaRPr lang="en-US" sz="700" dirty="0"/>
          </a:p>
        </p:txBody>
      </p:sp>
      <p:sp>
        <p:nvSpPr>
          <p:cNvPr id="63" name="Shape 59"/>
          <p:cNvSpPr/>
          <p:nvPr/>
        </p:nvSpPr>
        <p:spPr>
          <a:xfrm>
            <a:off x="10058400" y="2423160"/>
            <a:ext cx="1097280" cy="164592"/>
          </a:xfrm>
          <a:prstGeom prst="rect">
            <a:avLst/>
          </a:prstGeom>
          <a:solidFill>
            <a:srgbClr val="B91C1C"/>
          </a:solidFill>
          <a:ln w="3810">
            <a:solidFill>
              <a:srgbClr val="AAAAAA"/>
            </a:solidFill>
            <a:prstDash val="solid"/>
          </a:ln>
        </p:spPr>
        <p:txBody>
          <a:bodyPr/>
          <a:lstStyle/>
          <a:p>
            <a:endParaRPr lang="en-GB"/>
          </a:p>
        </p:txBody>
      </p:sp>
      <p:sp>
        <p:nvSpPr>
          <p:cNvPr id="64" name="Text 60"/>
          <p:cNvSpPr/>
          <p:nvPr/>
        </p:nvSpPr>
        <p:spPr>
          <a:xfrm>
            <a:off x="10058400" y="2432304"/>
            <a:ext cx="1097280" cy="146304"/>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0.4d wait</a:t>
            </a:r>
            <a:endParaRPr lang="en-US" sz="700" dirty="0"/>
          </a:p>
        </p:txBody>
      </p:sp>
      <p:sp>
        <p:nvSpPr>
          <p:cNvPr id="65" name="Shape 61"/>
          <p:cNvSpPr/>
          <p:nvPr/>
        </p:nvSpPr>
        <p:spPr>
          <a:xfrm>
            <a:off x="11612880" y="2240280"/>
            <a:ext cx="1097280" cy="164592"/>
          </a:xfrm>
          <a:prstGeom prst="rect">
            <a:avLst/>
          </a:prstGeom>
          <a:solidFill>
            <a:srgbClr val="217346"/>
          </a:solidFill>
          <a:ln w="3810">
            <a:solidFill>
              <a:srgbClr val="AAAAAA"/>
            </a:solidFill>
            <a:prstDash val="solid"/>
          </a:ln>
        </p:spPr>
        <p:txBody>
          <a:bodyPr/>
          <a:lstStyle/>
          <a:p>
            <a:endParaRPr lang="en-GB"/>
          </a:p>
        </p:txBody>
      </p:sp>
      <p:sp>
        <p:nvSpPr>
          <p:cNvPr id="66" name="Text 62"/>
          <p:cNvSpPr/>
          <p:nvPr/>
        </p:nvSpPr>
        <p:spPr>
          <a:xfrm>
            <a:off x="11612880" y="2249424"/>
            <a:ext cx="1097280" cy="146304"/>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20m VA</a:t>
            </a:r>
            <a:endParaRPr lang="en-US" sz="700" dirty="0"/>
          </a:p>
        </p:txBody>
      </p:sp>
      <p:sp>
        <p:nvSpPr>
          <p:cNvPr id="67" name="Shape 63"/>
          <p:cNvSpPr/>
          <p:nvPr/>
        </p:nvSpPr>
        <p:spPr>
          <a:xfrm>
            <a:off x="11612880" y="2423160"/>
            <a:ext cx="1097280" cy="164592"/>
          </a:xfrm>
          <a:prstGeom prst="rect">
            <a:avLst/>
          </a:prstGeom>
          <a:solidFill>
            <a:srgbClr val="B91C1C"/>
          </a:solidFill>
          <a:ln w="3810">
            <a:solidFill>
              <a:srgbClr val="AAAAAA"/>
            </a:solidFill>
            <a:prstDash val="solid"/>
          </a:ln>
        </p:spPr>
        <p:txBody>
          <a:bodyPr/>
          <a:lstStyle/>
          <a:p>
            <a:endParaRPr lang="en-GB"/>
          </a:p>
        </p:txBody>
      </p:sp>
      <p:sp>
        <p:nvSpPr>
          <p:cNvPr id="68" name="Text 64"/>
          <p:cNvSpPr/>
          <p:nvPr/>
        </p:nvSpPr>
        <p:spPr>
          <a:xfrm>
            <a:off x="11612880" y="2432304"/>
            <a:ext cx="1097280" cy="146304"/>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0.5d wait</a:t>
            </a:r>
            <a:endParaRPr lang="en-US" sz="700" dirty="0"/>
          </a:p>
        </p:txBody>
      </p:sp>
      <p:sp>
        <p:nvSpPr>
          <p:cNvPr id="69" name="Text 65"/>
          <p:cNvSpPr/>
          <p:nvPr/>
        </p:nvSpPr>
        <p:spPr>
          <a:xfrm>
            <a:off x="6400800" y="2670048"/>
            <a:ext cx="6583680" cy="219456"/>
          </a:xfrm>
          <a:prstGeom prst="rect">
            <a:avLst/>
          </a:prstGeom>
          <a:noFill/>
          <a:ln/>
        </p:spPr>
        <p:txBody>
          <a:bodyPr wrap="square" rtlCol="0" anchor="ctr"/>
          <a:lstStyle/>
          <a:p>
            <a:pPr marL="0" indent="0" algn="ctr">
              <a:buNone/>
            </a:pPr>
            <a:r>
              <a:rPr lang="en-US" sz="850" b="1" dirty="0">
                <a:solidFill>
                  <a:srgbClr val="B91C1C"/>
                </a:solidFill>
                <a:latin typeface="Arial" pitchFamily="34" charset="0"/>
                <a:ea typeface="Arial" pitchFamily="34" charset="-122"/>
                <a:cs typeface="Arial" pitchFamily="34" charset="-120"/>
              </a:rPr>
              <a:t>Total Lead Time: 7.7 days   |   VA Time: 57 mins   |   Process Efficiency: 0.5%</a:t>
            </a:r>
            <a:endParaRPr lang="en-US" sz="850" dirty="0"/>
          </a:p>
        </p:txBody>
      </p:sp>
      <p:sp>
        <p:nvSpPr>
          <p:cNvPr id="70" name="Text 66"/>
          <p:cNvSpPr/>
          <p:nvPr/>
        </p:nvSpPr>
        <p:spPr>
          <a:xfrm>
            <a:off x="6400800" y="2971800"/>
            <a:ext cx="6565392" cy="219456"/>
          </a:xfrm>
          <a:prstGeom prst="rect">
            <a:avLst/>
          </a:prstGeom>
          <a:noFill/>
          <a:ln/>
        </p:spPr>
        <p:txBody>
          <a:bodyPr wrap="square" rtlCol="0" anchor="ctr"/>
          <a:lstStyle/>
          <a:p>
            <a:pPr marL="0" indent="0" algn="ctr">
              <a:buNone/>
            </a:pPr>
            <a:r>
              <a:rPr lang="en-US" sz="850" i="1" dirty="0">
                <a:solidFill>
                  <a:srgbClr val="009FE3"/>
                </a:solidFill>
                <a:latin typeface="Arial" pitchFamily="34" charset="0"/>
                <a:ea typeface="Arial" pitchFamily="34" charset="-122"/>
                <a:cs typeface="Arial" pitchFamily="34" charset="-120"/>
              </a:rPr>
              <a:t>Example: a VSM reveals that 99.5% of lead time adds no value for the customer</a:t>
            </a:r>
            <a:endParaRPr lang="en-US" sz="850" dirty="0"/>
          </a:p>
        </p:txBody>
      </p:sp>
      <p:sp>
        <p:nvSpPr>
          <p:cNvPr id="71" name="Shape 67"/>
          <p:cNvSpPr/>
          <p:nvPr/>
        </p:nvSpPr>
        <p:spPr>
          <a:xfrm>
            <a:off x="6400800" y="3337560"/>
            <a:ext cx="1828800" cy="1188720"/>
          </a:xfrm>
          <a:prstGeom prst="rect">
            <a:avLst/>
          </a:prstGeom>
          <a:solidFill>
            <a:srgbClr val="E0F4FD"/>
          </a:solidFill>
          <a:ln w="10160">
            <a:solidFill>
              <a:srgbClr val="009FE3"/>
            </a:solidFill>
            <a:prstDash val="solid"/>
          </a:ln>
        </p:spPr>
        <p:txBody>
          <a:bodyPr/>
          <a:lstStyle/>
          <a:p>
            <a:endParaRPr lang="en-GB"/>
          </a:p>
        </p:txBody>
      </p:sp>
      <p:sp>
        <p:nvSpPr>
          <p:cNvPr id="72" name="Shape 68"/>
          <p:cNvSpPr/>
          <p:nvPr/>
        </p:nvSpPr>
        <p:spPr>
          <a:xfrm>
            <a:off x="6400800" y="3337560"/>
            <a:ext cx="1828800" cy="256032"/>
          </a:xfrm>
          <a:prstGeom prst="rect">
            <a:avLst/>
          </a:prstGeom>
          <a:solidFill>
            <a:srgbClr val="009FE3"/>
          </a:solidFill>
          <a:ln/>
        </p:spPr>
        <p:txBody>
          <a:bodyPr/>
          <a:lstStyle/>
          <a:p>
            <a:endParaRPr lang="en-GB"/>
          </a:p>
        </p:txBody>
      </p:sp>
      <p:sp>
        <p:nvSpPr>
          <p:cNvPr id="73" name="Text 69"/>
          <p:cNvSpPr/>
          <p:nvPr/>
        </p:nvSpPr>
        <p:spPr>
          <a:xfrm>
            <a:off x="6455664" y="3355848"/>
            <a:ext cx="1719072" cy="219456"/>
          </a:xfrm>
          <a:prstGeom prst="rect">
            <a:avLst/>
          </a:prstGeom>
          <a:noFill/>
          <a:ln/>
        </p:spPr>
        <p:txBody>
          <a:bodyPr wrap="square" rtlCol="0" anchor="ctr"/>
          <a:lstStyle/>
          <a:p>
            <a:pPr marL="0" indent="0">
              <a:buNone/>
            </a:pPr>
            <a:r>
              <a:rPr lang="en-US" sz="850" b="1" dirty="0">
                <a:solidFill>
                  <a:srgbClr val="FFFFFF"/>
                </a:solidFill>
                <a:latin typeface="Arial" pitchFamily="34" charset="0"/>
                <a:ea typeface="Arial" pitchFamily="34" charset="-122"/>
                <a:cs typeface="Arial" pitchFamily="34" charset="-120"/>
              </a:rPr>
              <a:t>What the customer sees</a:t>
            </a:r>
            <a:endParaRPr lang="en-US" sz="850" dirty="0"/>
          </a:p>
        </p:txBody>
      </p:sp>
      <p:sp>
        <p:nvSpPr>
          <p:cNvPr id="74" name="Text 70"/>
          <p:cNvSpPr/>
          <p:nvPr/>
        </p:nvSpPr>
        <p:spPr>
          <a:xfrm>
            <a:off x="6455664" y="3639312"/>
            <a:ext cx="1719072" cy="822960"/>
          </a:xfrm>
          <a:prstGeom prst="rect">
            <a:avLst/>
          </a:prstGeom>
          <a:noFill/>
          <a:ln/>
        </p:spPr>
        <p:txBody>
          <a:bodyPr wrap="square" rtlCol="0" anchor="t"/>
          <a:lstStyle/>
          <a:p>
            <a:pPr marL="0" indent="0">
              <a:buNone/>
            </a:pPr>
            <a:r>
              <a:rPr lang="en-US" sz="850" dirty="0">
                <a:solidFill>
                  <a:srgbClr val="5B595A"/>
                </a:solidFill>
                <a:latin typeface="Arial" pitchFamily="34" charset="0"/>
                <a:ea typeface="Arial" pitchFamily="34" charset="-122"/>
                <a:cs typeface="Arial" pitchFamily="34" charset="-120"/>
              </a:rPr>
              <a:t>Lead time of 7.7 days. But only 57 minutes of actual work. The rest is waiting.</a:t>
            </a:r>
            <a:endParaRPr lang="en-US" sz="850" dirty="0"/>
          </a:p>
        </p:txBody>
      </p:sp>
      <p:sp>
        <p:nvSpPr>
          <p:cNvPr id="75" name="Shape 71"/>
          <p:cNvSpPr/>
          <p:nvPr/>
        </p:nvSpPr>
        <p:spPr>
          <a:xfrm>
            <a:off x="8321040" y="3337560"/>
            <a:ext cx="1828800" cy="1188720"/>
          </a:xfrm>
          <a:prstGeom prst="rect">
            <a:avLst/>
          </a:prstGeom>
          <a:solidFill>
            <a:srgbClr val="FEE2E2"/>
          </a:solidFill>
          <a:ln w="10160">
            <a:solidFill>
              <a:srgbClr val="B91C1C"/>
            </a:solidFill>
            <a:prstDash val="solid"/>
          </a:ln>
        </p:spPr>
        <p:txBody>
          <a:bodyPr/>
          <a:lstStyle/>
          <a:p>
            <a:endParaRPr lang="en-GB"/>
          </a:p>
        </p:txBody>
      </p:sp>
      <p:sp>
        <p:nvSpPr>
          <p:cNvPr id="76" name="Shape 72"/>
          <p:cNvSpPr/>
          <p:nvPr/>
        </p:nvSpPr>
        <p:spPr>
          <a:xfrm>
            <a:off x="8321040" y="3337560"/>
            <a:ext cx="1828800" cy="256032"/>
          </a:xfrm>
          <a:prstGeom prst="rect">
            <a:avLst/>
          </a:prstGeom>
          <a:solidFill>
            <a:srgbClr val="B91C1C"/>
          </a:solidFill>
          <a:ln/>
        </p:spPr>
        <p:txBody>
          <a:bodyPr/>
          <a:lstStyle/>
          <a:p>
            <a:endParaRPr lang="en-GB"/>
          </a:p>
        </p:txBody>
      </p:sp>
      <p:sp>
        <p:nvSpPr>
          <p:cNvPr id="77" name="Text 73"/>
          <p:cNvSpPr/>
          <p:nvPr/>
        </p:nvSpPr>
        <p:spPr>
          <a:xfrm>
            <a:off x="8375904" y="3355848"/>
            <a:ext cx="1719072" cy="219456"/>
          </a:xfrm>
          <a:prstGeom prst="rect">
            <a:avLst/>
          </a:prstGeom>
          <a:noFill/>
          <a:ln/>
        </p:spPr>
        <p:txBody>
          <a:bodyPr wrap="square" rtlCol="0" anchor="ctr"/>
          <a:lstStyle/>
          <a:p>
            <a:pPr marL="0" indent="0">
              <a:buNone/>
            </a:pPr>
            <a:r>
              <a:rPr lang="en-US" sz="850" b="1" dirty="0">
                <a:solidFill>
                  <a:srgbClr val="FFFFFF"/>
                </a:solidFill>
                <a:latin typeface="Arial" pitchFamily="34" charset="0"/>
                <a:ea typeface="Arial" pitchFamily="34" charset="-122"/>
                <a:cs typeface="Arial" pitchFamily="34" charset="-120"/>
              </a:rPr>
              <a:t>Where to focus</a:t>
            </a:r>
            <a:endParaRPr lang="en-US" sz="850" dirty="0"/>
          </a:p>
        </p:txBody>
      </p:sp>
      <p:sp>
        <p:nvSpPr>
          <p:cNvPr id="78" name="Text 74"/>
          <p:cNvSpPr/>
          <p:nvPr/>
        </p:nvSpPr>
        <p:spPr>
          <a:xfrm>
            <a:off x="8375904" y="3639312"/>
            <a:ext cx="1719072" cy="822960"/>
          </a:xfrm>
          <a:prstGeom prst="rect">
            <a:avLst/>
          </a:prstGeom>
          <a:noFill/>
          <a:ln/>
        </p:spPr>
        <p:txBody>
          <a:bodyPr wrap="square" rtlCol="0" anchor="t"/>
          <a:lstStyle/>
          <a:p>
            <a:pPr marL="0" indent="0">
              <a:buNone/>
            </a:pPr>
            <a:r>
              <a:rPr lang="en-US" sz="850" dirty="0">
                <a:solidFill>
                  <a:srgbClr val="5B595A"/>
                </a:solidFill>
                <a:latin typeface="Arial" pitchFamily="34" charset="0"/>
                <a:ea typeface="Arial" pitchFamily="34" charset="-122"/>
                <a:cs typeface="Arial" pitchFamily="34" charset="-120"/>
              </a:rPr>
              <a:t>The large inventory before Process B and the 30-min changeover are the priority targets.</a:t>
            </a:r>
            <a:endParaRPr lang="en-US" sz="850" dirty="0"/>
          </a:p>
        </p:txBody>
      </p:sp>
      <p:sp>
        <p:nvSpPr>
          <p:cNvPr id="79" name="Shape 75"/>
          <p:cNvSpPr/>
          <p:nvPr/>
        </p:nvSpPr>
        <p:spPr>
          <a:xfrm>
            <a:off x="10241280" y="3337560"/>
            <a:ext cx="1828800" cy="1188720"/>
          </a:xfrm>
          <a:prstGeom prst="rect">
            <a:avLst/>
          </a:prstGeom>
          <a:solidFill>
            <a:srgbClr val="EAF4EE"/>
          </a:solidFill>
          <a:ln w="10160">
            <a:solidFill>
              <a:srgbClr val="217346"/>
            </a:solidFill>
            <a:prstDash val="solid"/>
          </a:ln>
        </p:spPr>
        <p:txBody>
          <a:bodyPr/>
          <a:lstStyle/>
          <a:p>
            <a:endParaRPr lang="en-GB"/>
          </a:p>
        </p:txBody>
      </p:sp>
      <p:sp>
        <p:nvSpPr>
          <p:cNvPr id="80" name="Shape 76"/>
          <p:cNvSpPr/>
          <p:nvPr/>
        </p:nvSpPr>
        <p:spPr>
          <a:xfrm>
            <a:off x="10241280" y="3337560"/>
            <a:ext cx="1828800" cy="256032"/>
          </a:xfrm>
          <a:prstGeom prst="rect">
            <a:avLst/>
          </a:prstGeom>
          <a:solidFill>
            <a:srgbClr val="217346"/>
          </a:solidFill>
          <a:ln/>
        </p:spPr>
        <p:txBody>
          <a:bodyPr/>
          <a:lstStyle/>
          <a:p>
            <a:endParaRPr lang="en-GB"/>
          </a:p>
        </p:txBody>
      </p:sp>
      <p:sp>
        <p:nvSpPr>
          <p:cNvPr id="81" name="Text 77"/>
          <p:cNvSpPr/>
          <p:nvPr/>
        </p:nvSpPr>
        <p:spPr>
          <a:xfrm>
            <a:off x="10296144" y="3355848"/>
            <a:ext cx="1719072" cy="219456"/>
          </a:xfrm>
          <a:prstGeom prst="rect">
            <a:avLst/>
          </a:prstGeom>
          <a:noFill/>
          <a:ln/>
        </p:spPr>
        <p:txBody>
          <a:bodyPr wrap="square" rtlCol="0" anchor="ctr"/>
          <a:lstStyle/>
          <a:p>
            <a:pPr marL="0" indent="0">
              <a:buNone/>
            </a:pPr>
            <a:r>
              <a:rPr lang="en-US" sz="850" b="1" dirty="0">
                <a:solidFill>
                  <a:srgbClr val="FFFFFF"/>
                </a:solidFill>
                <a:latin typeface="Arial" pitchFamily="34" charset="0"/>
                <a:ea typeface="Arial" pitchFamily="34" charset="-122"/>
                <a:cs typeface="Arial" pitchFamily="34" charset="-120"/>
              </a:rPr>
              <a:t>What a VSM enables</a:t>
            </a:r>
            <a:endParaRPr lang="en-US" sz="850" dirty="0"/>
          </a:p>
        </p:txBody>
      </p:sp>
      <p:sp>
        <p:nvSpPr>
          <p:cNvPr id="82" name="Text 78"/>
          <p:cNvSpPr/>
          <p:nvPr/>
        </p:nvSpPr>
        <p:spPr>
          <a:xfrm>
            <a:off x="10296144" y="3639312"/>
            <a:ext cx="1719072" cy="822960"/>
          </a:xfrm>
          <a:prstGeom prst="rect">
            <a:avLst/>
          </a:prstGeom>
          <a:noFill/>
          <a:ln/>
        </p:spPr>
        <p:txBody>
          <a:bodyPr wrap="square" rtlCol="0" anchor="t"/>
          <a:lstStyle/>
          <a:p>
            <a:pPr marL="0" indent="0">
              <a:buNone/>
            </a:pPr>
            <a:r>
              <a:rPr lang="en-US" sz="850" dirty="0">
                <a:solidFill>
                  <a:srgbClr val="5B595A"/>
                </a:solidFill>
                <a:latin typeface="Arial" pitchFamily="34" charset="0"/>
                <a:ea typeface="Arial" pitchFamily="34" charset="-122"/>
                <a:cs typeface="Arial" pitchFamily="34" charset="-120"/>
              </a:rPr>
              <a:t>You can now design a future state that could reduce lead time to under 2 days.</a:t>
            </a:r>
            <a:endParaRPr lang="en-US" sz="850" dirty="0"/>
          </a:p>
        </p:txBody>
      </p:sp>
      <p:sp>
        <p:nvSpPr>
          <p:cNvPr id="83" name="Rectangle 82"/>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4" name="Picture 83" descr="image.png"/>
          <p:cNvPicPr>
            <a:picLocks noChangeAspect="1"/>
          </p:cNvPicPr>
          <p:nvPr/>
        </p:nvPicPr>
        <p:blipFill>
          <a:blip r:embed="rId5"/>
          <a:stretch>
            <a:fillRect/>
          </a:stretch>
        </p:blipFill>
        <p:spPr>
          <a:xfrm>
            <a:off x="10610088" y="100584"/>
            <a:ext cx="566928" cy="347472"/>
          </a:xfrm>
          <a:prstGeom prst="rect">
            <a:avLst/>
          </a:prstGeom>
        </p:spPr>
      </p:pic>
      <p:pic>
        <p:nvPicPr>
          <p:cNvPr id="85" name="Picture 84" descr="image.png"/>
          <p:cNvPicPr>
            <a:picLocks noChangeAspect="1"/>
          </p:cNvPicPr>
          <p:nvPr/>
        </p:nvPicPr>
        <p:blipFill>
          <a:blip r:embed="rId4"/>
          <a:stretch>
            <a:fillRect/>
          </a:stretch>
        </p:blipFill>
        <p:spPr>
          <a:xfrm>
            <a:off x="11222736" y="100584"/>
            <a:ext cx="658368" cy="347472"/>
          </a:xfrm>
          <a:prstGeom prst="rect">
            <a:avLst/>
          </a:prstGeom>
        </p:spPr>
      </p:pic>
      <p:sp>
        <p:nvSpPr>
          <p:cNvPr id="86" name="Rectangle 85"/>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Objectives and Principles</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Value Stream Mapping: Why Do It?</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7" name="Shape 3"/>
          <p:cNvSpPr/>
          <p:nvPr/>
        </p:nvSpPr>
        <p:spPr>
          <a:xfrm>
            <a:off x="274320" y="1078992"/>
            <a:ext cx="5687568" cy="1627632"/>
          </a:xfrm>
          <a:prstGeom prst="rect">
            <a:avLst/>
          </a:prstGeom>
          <a:solidFill>
            <a:srgbClr val="E0F4FD"/>
          </a:solidFill>
          <a:ln w="10160">
            <a:solidFill>
              <a:srgbClr val="009FE3"/>
            </a:solidFill>
            <a:prstDash val="solid"/>
          </a:ln>
        </p:spPr>
        <p:txBody>
          <a:bodyPr/>
          <a:lstStyle/>
          <a:p>
            <a:endParaRPr lang="en-GB"/>
          </a:p>
        </p:txBody>
      </p:sp>
      <p:sp>
        <p:nvSpPr>
          <p:cNvPr id="8" name="Shape 4"/>
          <p:cNvSpPr/>
          <p:nvPr/>
        </p:nvSpPr>
        <p:spPr>
          <a:xfrm>
            <a:off x="274320" y="1078992"/>
            <a:ext cx="5687568" cy="292608"/>
          </a:xfrm>
          <a:prstGeom prst="rect">
            <a:avLst/>
          </a:prstGeom>
          <a:solidFill>
            <a:srgbClr val="009FE3"/>
          </a:solidFill>
          <a:ln/>
        </p:spPr>
        <p:txBody>
          <a:bodyPr/>
          <a:lstStyle/>
          <a:p>
            <a:endParaRPr lang="en-GB"/>
          </a:p>
        </p:txBody>
      </p:sp>
      <p:sp>
        <p:nvSpPr>
          <p:cNvPr id="9" name="Shape 5"/>
          <p:cNvSpPr/>
          <p:nvPr/>
        </p:nvSpPr>
        <p:spPr>
          <a:xfrm>
            <a:off x="274320" y="1078992"/>
            <a:ext cx="329184" cy="292608"/>
          </a:xfrm>
          <a:prstGeom prst="rect">
            <a:avLst/>
          </a:prstGeom>
          <a:solidFill>
            <a:srgbClr val="83348F"/>
          </a:solidFill>
          <a:ln/>
        </p:spPr>
        <p:txBody>
          <a:bodyPr/>
          <a:lstStyle/>
          <a:p>
            <a:endParaRPr lang="en-GB"/>
          </a:p>
        </p:txBody>
      </p:sp>
      <p:sp>
        <p:nvSpPr>
          <p:cNvPr id="10" name="Text 6"/>
          <p:cNvSpPr/>
          <p:nvPr/>
        </p:nvSpPr>
        <p:spPr>
          <a:xfrm>
            <a:off x="274320" y="1078992"/>
            <a:ext cx="329184" cy="292608"/>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Text 7"/>
          <p:cNvSpPr/>
          <p:nvPr/>
        </p:nvSpPr>
        <p:spPr>
          <a:xfrm>
            <a:off x="658368" y="1106424"/>
            <a:ext cx="5248656"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Creates a shared picture of how the process really works, not how it was designed to work</a:t>
            </a:r>
            <a:endParaRPr lang="en-US" sz="1000" dirty="0"/>
          </a:p>
        </p:txBody>
      </p:sp>
      <p:sp>
        <p:nvSpPr>
          <p:cNvPr id="12" name="Text 8"/>
          <p:cNvSpPr/>
          <p:nvPr/>
        </p:nvSpPr>
        <p:spPr>
          <a:xfrm>
            <a:off x="384048" y="1426464"/>
            <a:ext cx="5468112" cy="1188720"/>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When a team walks the value stream together for the first time, they often discover significant differences between what the procedure says and what actually happens.</a:t>
            </a:r>
            <a:endParaRPr lang="en-US" sz="1000" dirty="0"/>
          </a:p>
        </p:txBody>
      </p:sp>
      <p:sp>
        <p:nvSpPr>
          <p:cNvPr id="13" name="Shape 9"/>
          <p:cNvSpPr/>
          <p:nvPr/>
        </p:nvSpPr>
        <p:spPr>
          <a:xfrm>
            <a:off x="6217920" y="1078992"/>
            <a:ext cx="5687568" cy="1627632"/>
          </a:xfrm>
          <a:prstGeom prst="rect">
            <a:avLst/>
          </a:prstGeom>
          <a:solidFill>
            <a:srgbClr val="E0F4FD"/>
          </a:solidFill>
          <a:ln w="10160">
            <a:solidFill>
              <a:srgbClr val="009FE3"/>
            </a:solidFill>
            <a:prstDash val="solid"/>
          </a:ln>
        </p:spPr>
        <p:txBody>
          <a:bodyPr/>
          <a:lstStyle/>
          <a:p>
            <a:endParaRPr lang="en-GB"/>
          </a:p>
        </p:txBody>
      </p:sp>
      <p:sp>
        <p:nvSpPr>
          <p:cNvPr id="14" name="Shape 10"/>
          <p:cNvSpPr/>
          <p:nvPr/>
        </p:nvSpPr>
        <p:spPr>
          <a:xfrm>
            <a:off x="6217920" y="1078992"/>
            <a:ext cx="5687568" cy="292608"/>
          </a:xfrm>
          <a:prstGeom prst="rect">
            <a:avLst/>
          </a:prstGeom>
          <a:solidFill>
            <a:srgbClr val="009FE3"/>
          </a:solidFill>
          <a:ln/>
        </p:spPr>
        <p:txBody>
          <a:bodyPr/>
          <a:lstStyle/>
          <a:p>
            <a:endParaRPr lang="en-GB"/>
          </a:p>
        </p:txBody>
      </p:sp>
      <p:sp>
        <p:nvSpPr>
          <p:cNvPr id="15" name="Shape 11"/>
          <p:cNvSpPr/>
          <p:nvPr/>
        </p:nvSpPr>
        <p:spPr>
          <a:xfrm>
            <a:off x="6217920" y="1078992"/>
            <a:ext cx="329184" cy="292608"/>
          </a:xfrm>
          <a:prstGeom prst="rect">
            <a:avLst/>
          </a:prstGeom>
          <a:solidFill>
            <a:srgbClr val="009FE3"/>
          </a:solidFill>
          <a:ln/>
        </p:spPr>
        <p:txBody>
          <a:bodyPr/>
          <a:lstStyle/>
          <a:p>
            <a:endParaRPr lang="en-GB"/>
          </a:p>
        </p:txBody>
      </p:sp>
      <p:sp>
        <p:nvSpPr>
          <p:cNvPr id="16" name="Text 12"/>
          <p:cNvSpPr/>
          <p:nvPr/>
        </p:nvSpPr>
        <p:spPr>
          <a:xfrm>
            <a:off x="6217920" y="1078992"/>
            <a:ext cx="329184" cy="292608"/>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3"/>
          <p:cNvSpPr/>
          <p:nvPr/>
        </p:nvSpPr>
        <p:spPr>
          <a:xfrm>
            <a:off x="6601968" y="1106424"/>
            <a:ext cx="5248656"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Makes waste visible to everyone, not just quality or engineering</a:t>
            </a:r>
            <a:endParaRPr lang="en-US" sz="1000" dirty="0"/>
          </a:p>
        </p:txBody>
      </p:sp>
      <p:sp>
        <p:nvSpPr>
          <p:cNvPr id="18" name="Text 14"/>
          <p:cNvSpPr/>
          <p:nvPr/>
        </p:nvSpPr>
        <p:spPr>
          <a:xfrm>
            <a:off x="6327648" y="1426464"/>
            <a:ext cx="5468112" cy="1188720"/>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Waiting, excess inventory, unnecessary movement, and rework are often invisible to people who work in them every day. The VSM forces them to the surface with data.</a:t>
            </a:r>
            <a:endParaRPr lang="en-US" sz="1000" dirty="0"/>
          </a:p>
        </p:txBody>
      </p:sp>
      <p:sp>
        <p:nvSpPr>
          <p:cNvPr id="19" name="Shape 15"/>
          <p:cNvSpPr/>
          <p:nvPr/>
        </p:nvSpPr>
        <p:spPr>
          <a:xfrm>
            <a:off x="274320" y="2798064"/>
            <a:ext cx="5687568" cy="1627632"/>
          </a:xfrm>
          <a:prstGeom prst="rect">
            <a:avLst/>
          </a:prstGeom>
          <a:solidFill>
            <a:srgbClr val="F3EAF4"/>
          </a:solidFill>
          <a:ln w="10160">
            <a:solidFill>
              <a:srgbClr val="83348F"/>
            </a:solidFill>
            <a:prstDash val="solid"/>
          </a:ln>
        </p:spPr>
        <p:txBody>
          <a:bodyPr/>
          <a:lstStyle/>
          <a:p>
            <a:endParaRPr lang="en-GB"/>
          </a:p>
        </p:txBody>
      </p:sp>
      <p:sp>
        <p:nvSpPr>
          <p:cNvPr id="20" name="Shape 16"/>
          <p:cNvSpPr/>
          <p:nvPr/>
        </p:nvSpPr>
        <p:spPr>
          <a:xfrm>
            <a:off x="274320" y="2798064"/>
            <a:ext cx="5687568" cy="292608"/>
          </a:xfrm>
          <a:prstGeom prst="rect">
            <a:avLst/>
          </a:prstGeom>
          <a:solidFill>
            <a:srgbClr val="83348F"/>
          </a:solidFill>
          <a:ln/>
        </p:spPr>
        <p:txBody>
          <a:bodyPr/>
          <a:lstStyle/>
          <a:p>
            <a:endParaRPr lang="en-GB"/>
          </a:p>
        </p:txBody>
      </p:sp>
      <p:sp>
        <p:nvSpPr>
          <p:cNvPr id="21" name="Shape 17"/>
          <p:cNvSpPr/>
          <p:nvPr/>
        </p:nvSpPr>
        <p:spPr>
          <a:xfrm>
            <a:off x="274320" y="2798064"/>
            <a:ext cx="329184" cy="292608"/>
          </a:xfrm>
          <a:prstGeom prst="rect">
            <a:avLst/>
          </a:prstGeom>
          <a:solidFill>
            <a:srgbClr val="83348F"/>
          </a:solidFill>
          <a:ln/>
        </p:spPr>
        <p:txBody>
          <a:bodyPr/>
          <a:lstStyle/>
          <a:p>
            <a:endParaRPr lang="en-GB"/>
          </a:p>
        </p:txBody>
      </p:sp>
      <p:sp>
        <p:nvSpPr>
          <p:cNvPr id="22" name="Text 18"/>
          <p:cNvSpPr/>
          <p:nvPr/>
        </p:nvSpPr>
        <p:spPr>
          <a:xfrm>
            <a:off x="274320" y="2798064"/>
            <a:ext cx="329184" cy="292608"/>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3" name="Text 19"/>
          <p:cNvSpPr/>
          <p:nvPr/>
        </p:nvSpPr>
        <p:spPr>
          <a:xfrm>
            <a:off x="658368" y="2825496"/>
            <a:ext cx="5248656"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Generates a blueprint for improvement rather than isolated projects</a:t>
            </a:r>
            <a:endParaRPr lang="en-US" sz="1000" dirty="0"/>
          </a:p>
        </p:txBody>
      </p:sp>
      <p:sp>
        <p:nvSpPr>
          <p:cNvPr id="24" name="Text 20"/>
          <p:cNvSpPr/>
          <p:nvPr/>
        </p:nvSpPr>
        <p:spPr>
          <a:xfrm>
            <a:off x="384048" y="3145536"/>
            <a:ext cx="5468112" cy="1188720"/>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Without a VSM, improvement efforts tend to focus on local optimisation. A process step gets faster, but the queue in front of it simply grows. The VSM shows the whole system.</a:t>
            </a:r>
            <a:endParaRPr lang="en-US" sz="1000" dirty="0"/>
          </a:p>
        </p:txBody>
      </p:sp>
      <p:sp>
        <p:nvSpPr>
          <p:cNvPr id="25" name="Shape 21"/>
          <p:cNvSpPr/>
          <p:nvPr/>
        </p:nvSpPr>
        <p:spPr>
          <a:xfrm>
            <a:off x="6217920" y="2798064"/>
            <a:ext cx="5687568" cy="1627632"/>
          </a:xfrm>
          <a:prstGeom prst="rect">
            <a:avLst/>
          </a:prstGeom>
          <a:solidFill>
            <a:srgbClr val="F3EAF4"/>
          </a:solidFill>
          <a:ln w="10160">
            <a:solidFill>
              <a:srgbClr val="83348F"/>
            </a:solidFill>
            <a:prstDash val="solid"/>
          </a:ln>
        </p:spPr>
        <p:txBody>
          <a:bodyPr/>
          <a:lstStyle/>
          <a:p>
            <a:endParaRPr lang="en-GB"/>
          </a:p>
        </p:txBody>
      </p:sp>
      <p:sp>
        <p:nvSpPr>
          <p:cNvPr id="26" name="Shape 22"/>
          <p:cNvSpPr/>
          <p:nvPr/>
        </p:nvSpPr>
        <p:spPr>
          <a:xfrm>
            <a:off x="6217920" y="2798064"/>
            <a:ext cx="5687568" cy="292608"/>
          </a:xfrm>
          <a:prstGeom prst="rect">
            <a:avLst/>
          </a:prstGeom>
          <a:solidFill>
            <a:srgbClr val="83348F"/>
          </a:solidFill>
          <a:ln/>
        </p:spPr>
        <p:txBody>
          <a:bodyPr/>
          <a:lstStyle/>
          <a:p>
            <a:endParaRPr lang="en-GB"/>
          </a:p>
        </p:txBody>
      </p:sp>
      <p:sp>
        <p:nvSpPr>
          <p:cNvPr id="27" name="Shape 23"/>
          <p:cNvSpPr/>
          <p:nvPr/>
        </p:nvSpPr>
        <p:spPr>
          <a:xfrm>
            <a:off x="6217920" y="2798064"/>
            <a:ext cx="329184" cy="292608"/>
          </a:xfrm>
          <a:prstGeom prst="rect">
            <a:avLst/>
          </a:prstGeom>
          <a:solidFill>
            <a:srgbClr val="009FE3"/>
          </a:solidFill>
          <a:ln/>
        </p:spPr>
        <p:txBody>
          <a:bodyPr/>
          <a:lstStyle/>
          <a:p>
            <a:endParaRPr lang="en-GB"/>
          </a:p>
        </p:txBody>
      </p:sp>
      <p:sp>
        <p:nvSpPr>
          <p:cNvPr id="28" name="Text 24"/>
          <p:cNvSpPr/>
          <p:nvPr/>
        </p:nvSpPr>
        <p:spPr>
          <a:xfrm>
            <a:off x="6217920" y="2798064"/>
            <a:ext cx="329184" cy="292608"/>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9" name="Text 25"/>
          <p:cNvSpPr/>
          <p:nvPr/>
        </p:nvSpPr>
        <p:spPr>
          <a:xfrm>
            <a:off x="6601968" y="2825496"/>
            <a:ext cx="5248656"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Synchronises production with customer demand</a:t>
            </a:r>
            <a:endParaRPr lang="en-US" sz="1000" dirty="0"/>
          </a:p>
        </p:txBody>
      </p:sp>
      <p:sp>
        <p:nvSpPr>
          <p:cNvPr id="30" name="Text 26"/>
          <p:cNvSpPr/>
          <p:nvPr/>
        </p:nvSpPr>
        <p:spPr>
          <a:xfrm>
            <a:off x="6327648" y="3145536"/>
            <a:ext cx="5468112" cy="1188720"/>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Takt time, the rate at which the customer requires product, becomes the foundation for every decision about flow, batch size, and staffing.</a:t>
            </a:r>
            <a:endParaRPr lang="en-US" sz="1000" dirty="0"/>
          </a:p>
        </p:txBody>
      </p:sp>
      <p:sp>
        <p:nvSpPr>
          <p:cNvPr id="31" name="Shape 27"/>
          <p:cNvSpPr/>
          <p:nvPr/>
        </p:nvSpPr>
        <p:spPr>
          <a:xfrm>
            <a:off x="274320" y="4517136"/>
            <a:ext cx="5687568" cy="1627632"/>
          </a:xfrm>
          <a:prstGeom prst="rect">
            <a:avLst/>
          </a:prstGeom>
          <a:solidFill>
            <a:srgbClr val="EAF4EE"/>
          </a:solidFill>
          <a:ln w="10160">
            <a:solidFill>
              <a:srgbClr val="217346"/>
            </a:solidFill>
            <a:prstDash val="solid"/>
          </a:ln>
        </p:spPr>
        <p:txBody>
          <a:bodyPr/>
          <a:lstStyle/>
          <a:p>
            <a:endParaRPr lang="en-GB"/>
          </a:p>
        </p:txBody>
      </p:sp>
      <p:sp>
        <p:nvSpPr>
          <p:cNvPr id="32" name="Shape 28"/>
          <p:cNvSpPr/>
          <p:nvPr/>
        </p:nvSpPr>
        <p:spPr>
          <a:xfrm>
            <a:off x="274320" y="4517136"/>
            <a:ext cx="5687568" cy="292608"/>
          </a:xfrm>
          <a:prstGeom prst="rect">
            <a:avLst/>
          </a:prstGeom>
          <a:solidFill>
            <a:srgbClr val="217346"/>
          </a:solidFill>
          <a:ln/>
        </p:spPr>
        <p:txBody>
          <a:bodyPr/>
          <a:lstStyle/>
          <a:p>
            <a:endParaRPr lang="en-GB"/>
          </a:p>
        </p:txBody>
      </p:sp>
      <p:sp>
        <p:nvSpPr>
          <p:cNvPr id="33" name="Shape 29"/>
          <p:cNvSpPr/>
          <p:nvPr/>
        </p:nvSpPr>
        <p:spPr>
          <a:xfrm>
            <a:off x="274320" y="4517136"/>
            <a:ext cx="329184" cy="292608"/>
          </a:xfrm>
          <a:prstGeom prst="rect">
            <a:avLst/>
          </a:prstGeom>
          <a:solidFill>
            <a:srgbClr val="83348F"/>
          </a:solidFill>
          <a:ln/>
        </p:spPr>
        <p:txBody>
          <a:bodyPr/>
          <a:lstStyle/>
          <a:p>
            <a:endParaRPr lang="en-GB"/>
          </a:p>
        </p:txBody>
      </p:sp>
      <p:sp>
        <p:nvSpPr>
          <p:cNvPr id="34" name="Text 30"/>
          <p:cNvSpPr/>
          <p:nvPr/>
        </p:nvSpPr>
        <p:spPr>
          <a:xfrm>
            <a:off x="274320" y="4517136"/>
            <a:ext cx="329184" cy="292608"/>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5" name="Text 31"/>
          <p:cNvSpPr/>
          <p:nvPr/>
        </p:nvSpPr>
        <p:spPr>
          <a:xfrm>
            <a:off x="658368" y="4544568"/>
            <a:ext cx="5248656"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Provides a benchmark to measure progress against</a:t>
            </a:r>
            <a:endParaRPr lang="en-US" sz="1000" dirty="0"/>
          </a:p>
        </p:txBody>
      </p:sp>
      <p:sp>
        <p:nvSpPr>
          <p:cNvPr id="36" name="Text 32"/>
          <p:cNvSpPr/>
          <p:nvPr/>
        </p:nvSpPr>
        <p:spPr>
          <a:xfrm>
            <a:off x="384048" y="4864608"/>
            <a:ext cx="5468112" cy="1188720"/>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The current state map is a dated record. When you draw the future state and achieve it, you have evidence of improvement that is visible, quantified, and credible.</a:t>
            </a:r>
            <a:endParaRPr lang="en-US" sz="1000" dirty="0"/>
          </a:p>
        </p:txBody>
      </p:sp>
      <p:sp>
        <p:nvSpPr>
          <p:cNvPr id="37" name="Shape 33"/>
          <p:cNvSpPr/>
          <p:nvPr/>
        </p:nvSpPr>
        <p:spPr>
          <a:xfrm>
            <a:off x="6217920" y="4517136"/>
            <a:ext cx="5687568" cy="1627632"/>
          </a:xfrm>
          <a:prstGeom prst="rect">
            <a:avLst/>
          </a:prstGeom>
          <a:solidFill>
            <a:srgbClr val="EAF4EE"/>
          </a:solidFill>
          <a:ln w="10160">
            <a:solidFill>
              <a:srgbClr val="217346"/>
            </a:solidFill>
            <a:prstDash val="solid"/>
          </a:ln>
        </p:spPr>
        <p:txBody>
          <a:bodyPr/>
          <a:lstStyle/>
          <a:p>
            <a:endParaRPr lang="en-GB"/>
          </a:p>
        </p:txBody>
      </p:sp>
      <p:sp>
        <p:nvSpPr>
          <p:cNvPr id="38" name="Shape 34"/>
          <p:cNvSpPr/>
          <p:nvPr/>
        </p:nvSpPr>
        <p:spPr>
          <a:xfrm>
            <a:off x="6217920" y="4517136"/>
            <a:ext cx="5687568" cy="292608"/>
          </a:xfrm>
          <a:prstGeom prst="rect">
            <a:avLst/>
          </a:prstGeom>
          <a:solidFill>
            <a:srgbClr val="217346"/>
          </a:solidFill>
          <a:ln/>
        </p:spPr>
        <p:txBody>
          <a:bodyPr/>
          <a:lstStyle/>
          <a:p>
            <a:endParaRPr lang="en-GB"/>
          </a:p>
        </p:txBody>
      </p:sp>
      <p:sp>
        <p:nvSpPr>
          <p:cNvPr id="39" name="Shape 35"/>
          <p:cNvSpPr/>
          <p:nvPr/>
        </p:nvSpPr>
        <p:spPr>
          <a:xfrm>
            <a:off x="6217920" y="4517136"/>
            <a:ext cx="329184" cy="292608"/>
          </a:xfrm>
          <a:prstGeom prst="rect">
            <a:avLst/>
          </a:prstGeom>
          <a:solidFill>
            <a:srgbClr val="009FE3"/>
          </a:solidFill>
          <a:ln/>
        </p:spPr>
        <p:txBody>
          <a:bodyPr/>
          <a:lstStyle/>
          <a:p>
            <a:endParaRPr lang="en-GB"/>
          </a:p>
        </p:txBody>
      </p:sp>
      <p:sp>
        <p:nvSpPr>
          <p:cNvPr id="40" name="Text 36"/>
          <p:cNvSpPr/>
          <p:nvPr/>
        </p:nvSpPr>
        <p:spPr>
          <a:xfrm>
            <a:off x="6217920" y="4517136"/>
            <a:ext cx="329184" cy="292608"/>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1" name="Text 37"/>
          <p:cNvSpPr/>
          <p:nvPr/>
        </p:nvSpPr>
        <p:spPr>
          <a:xfrm>
            <a:off x="6601968" y="4544568"/>
            <a:ext cx="5248656"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Connects lean tools to a strategic purpose</a:t>
            </a:r>
            <a:endParaRPr lang="en-US" sz="1000" dirty="0"/>
          </a:p>
        </p:txBody>
      </p:sp>
      <p:sp>
        <p:nvSpPr>
          <p:cNvPr id="42" name="Text 38"/>
          <p:cNvSpPr/>
          <p:nvPr/>
        </p:nvSpPr>
        <p:spPr>
          <a:xfrm>
            <a:off x="6327648" y="4864608"/>
            <a:ext cx="5468112" cy="1188720"/>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SMED, kanban, 5S, standard work, and pull scheduling all make more sense when they are placed in the context of a value stream with measured lead times and process efficiencies.</a:t>
            </a:r>
            <a:endParaRPr lang="en-US" sz="1000" dirty="0"/>
          </a:p>
        </p:txBody>
      </p:sp>
      <p:sp>
        <p:nvSpPr>
          <p:cNvPr id="43" name="Rectangle 42"/>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5"/>
          <a:stretch>
            <a:fillRect/>
          </a:stretch>
        </p:blipFill>
        <p:spPr>
          <a:xfrm>
            <a:off x="10610088" y="100584"/>
            <a:ext cx="566928" cy="347472"/>
          </a:xfrm>
          <a:prstGeom prst="rect">
            <a:avLst/>
          </a:prstGeom>
        </p:spPr>
      </p:pic>
      <p:pic>
        <p:nvPicPr>
          <p:cNvPr id="45" name="Picture 44" descr="image.png"/>
          <p:cNvPicPr>
            <a:picLocks noChangeAspect="1"/>
          </p:cNvPicPr>
          <p:nvPr/>
        </p:nvPicPr>
        <p:blipFill>
          <a:blip r:embed="rId4"/>
          <a:stretch>
            <a:fillRect/>
          </a:stretch>
        </p:blipFill>
        <p:spPr>
          <a:xfrm>
            <a:off x="11222736" y="100584"/>
            <a:ext cx="658368" cy="347472"/>
          </a:xfrm>
          <a:prstGeom prst="rect">
            <a:avLst/>
          </a:prstGeom>
        </p:spPr>
      </p:pic>
      <p:sp>
        <p:nvSpPr>
          <p:cNvPr id="46" name="Rectangle 45"/>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9FE3"/>
          </a:solidFill>
          <a:ln/>
        </p:spPr>
        <p:txBody>
          <a:bodyPr/>
          <a:lstStyle/>
          <a:p>
            <a:endParaRPr lang="en-GB"/>
          </a:p>
        </p:txBody>
      </p:sp>
      <p:sp>
        <p:nvSpPr>
          <p:cNvPr id="3" name="Shape 1"/>
          <p:cNvSpPr/>
          <p:nvPr/>
        </p:nvSpPr>
        <p:spPr>
          <a:xfrm>
            <a:off x="0" y="5303520"/>
            <a:ext cx="12188952" cy="1554480"/>
          </a:xfrm>
          <a:prstGeom prst="rect">
            <a:avLst/>
          </a:prstGeom>
          <a:solidFill>
            <a:srgbClr val="83348F"/>
          </a:solidFill>
          <a:ln/>
        </p:spPr>
        <p:txBody>
          <a:bodyPr/>
          <a:lstStyle/>
          <a:p>
            <a:endParaRPr lang="en-GB"/>
          </a:p>
        </p:txBody>
      </p:sp>
      <p:sp>
        <p:nvSpPr>
          <p:cNvPr id="4" name="Shape 2"/>
          <p:cNvSpPr/>
          <p:nvPr/>
        </p:nvSpPr>
        <p:spPr>
          <a:xfrm>
            <a:off x="365760" y="1371600"/>
            <a:ext cx="731520" cy="3200400"/>
          </a:xfrm>
          <a:prstGeom prst="rect">
            <a:avLst/>
          </a:prstGeom>
          <a:solidFill>
            <a:srgbClr val="FFFFFF"/>
          </a:solidFill>
          <a:ln/>
        </p:spPr>
        <p:txBody>
          <a:bodyPr/>
          <a:lstStyle/>
          <a:p>
            <a:endParaRPr lang="en-GB"/>
          </a:p>
        </p:txBody>
      </p:sp>
      <p:sp>
        <p:nvSpPr>
          <p:cNvPr id="5" name="Text 3"/>
          <p:cNvSpPr/>
          <p:nvPr/>
        </p:nvSpPr>
        <p:spPr>
          <a:xfrm rot="16200000">
            <a:off x="292608" y="1280160"/>
            <a:ext cx="914400" cy="3383280"/>
          </a:xfrm>
          <a:prstGeom prst="rect">
            <a:avLst/>
          </a:prstGeom>
          <a:noFill/>
          <a:ln/>
        </p:spPr>
        <p:txBody>
          <a:bodyPr wrap="square" rtlCol="0" anchor="ctr"/>
          <a:lstStyle/>
          <a:p>
            <a:pPr marL="0" indent="0" algn="ctr">
              <a:buNone/>
            </a:pPr>
            <a:r>
              <a:rPr lang="en-US" sz="8000" b="1" dirty="0">
                <a:solidFill>
                  <a:srgbClr val="FFFFFF"/>
                </a:solidFill>
                <a:latin typeface="Arial" pitchFamily="34" charset="0"/>
                <a:ea typeface="Arial" pitchFamily="34" charset="-122"/>
                <a:cs typeface="Arial" pitchFamily="34" charset="-120"/>
              </a:rPr>
              <a:t>1</a:t>
            </a:r>
            <a:endParaRPr lang="en-US" sz="8000" dirty="0"/>
          </a:p>
        </p:txBody>
      </p:sp>
      <p:pic>
        <p:nvPicPr>
          <p:cNvPr id="6" name="Image 0" descr="/home/claude/nuccol_logo_cover.jpg"/>
          <p:cNvPicPr>
            <a:picLocks noChangeAspect="1"/>
          </p:cNvPicPr>
          <p:nvPr/>
        </p:nvPicPr>
        <p:blipFill>
          <a:blip r:embed="rId3"/>
          <a:stretch>
            <a:fillRect/>
          </a:stretch>
        </p:blipFill>
        <p:spPr>
          <a:xfrm>
            <a:off x="5184648" y="274320"/>
            <a:ext cx="1828800" cy="914400"/>
          </a:xfrm>
          <a:prstGeom prst="rect">
            <a:avLst/>
          </a:prstGeom>
        </p:spPr>
      </p:pic>
      <p:sp>
        <p:nvSpPr>
          <p:cNvPr id="7" name="Text 4"/>
          <p:cNvSpPr/>
          <p:nvPr/>
        </p:nvSpPr>
        <p:spPr>
          <a:xfrm>
            <a:off x="1463040" y="1828800"/>
            <a:ext cx="10424160" cy="164592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PART ONE:</a:t>
            </a:r>
            <a:endParaRPr lang="en-US" sz="4400" dirty="0"/>
          </a:p>
          <a:p>
            <a:pPr marL="0" indent="0" algn="l">
              <a:buNone/>
            </a:pPr>
            <a:r>
              <a:rPr lang="en-US" sz="4400" b="1" dirty="0">
                <a:solidFill>
                  <a:srgbClr val="FFFFFF"/>
                </a:solidFill>
                <a:latin typeface="Arial" pitchFamily="34" charset="0"/>
                <a:ea typeface="Arial" pitchFamily="34" charset="-122"/>
                <a:cs typeface="Arial" pitchFamily="34" charset="-120"/>
              </a:rPr>
              <a:t>Create the Current State Map</a:t>
            </a:r>
            <a:endParaRPr lang="en-US" sz="4400" dirty="0"/>
          </a:p>
        </p:txBody>
      </p:sp>
      <p:sp>
        <p:nvSpPr>
          <p:cNvPr id="8" name="Text 5"/>
          <p:cNvSpPr/>
          <p:nvPr/>
        </p:nvSpPr>
        <p:spPr>
          <a:xfrm>
            <a:off x="1463040" y="3566160"/>
            <a:ext cx="10424160" cy="640080"/>
          </a:xfrm>
          <a:prstGeom prst="rect">
            <a:avLst/>
          </a:prstGeom>
          <a:noFill/>
          <a:ln/>
        </p:spPr>
        <p:txBody>
          <a:bodyPr wrap="square" rtlCol="0" anchor="ctr"/>
          <a:lstStyle/>
          <a:p>
            <a:pPr marL="0" indent="0">
              <a:buNone/>
            </a:pPr>
            <a:r>
              <a:rPr lang="en-US" sz="2000" i="1" dirty="0">
                <a:solidFill>
                  <a:srgbClr val="CCE9F6"/>
                </a:solidFill>
                <a:latin typeface="Arial" pitchFamily="34" charset="0"/>
                <a:ea typeface="Arial" pitchFamily="34" charset="-122"/>
                <a:cs typeface="Arial" pitchFamily="34" charset="-120"/>
              </a:rPr>
              <a:t>Steps 1 through 8</a:t>
            </a:r>
            <a:endParaRPr lang="en-US" sz="2000" dirty="0"/>
          </a:p>
        </p:txBody>
      </p:sp>
      <p:sp>
        <p:nvSpPr>
          <p:cNvPr id="9" name="Text 6"/>
          <p:cNvSpPr/>
          <p:nvPr/>
        </p:nvSpPr>
        <p:spPr>
          <a:xfrm>
            <a:off x="1463040" y="5486400"/>
            <a:ext cx="10058400" cy="329184"/>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NucCol Ltd  |  Process Excellence  |  PE-02e</a:t>
            </a:r>
            <a:endParaRPr lang="en-US" sz="1100" dirty="0"/>
          </a:p>
        </p:txBody>
      </p:sp>
      <p:sp>
        <p:nvSpPr>
          <p:cNvPr id="10" name="Rectangle 9"/>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5"/>
          <a:stretch>
            <a:fillRect/>
          </a:stretch>
        </p:blipFill>
        <p:spPr>
          <a:xfrm>
            <a:off x="10610088" y="100584"/>
            <a:ext cx="566928" cy="347472"/>
          </a:xfrm>
          <a:prstGeom prst="rect">
            <a:avLst/>
          </a:prstGeom>
        </p:spPr>
      </p:pic>
      <p:pic>
        <p:nvPicPr>
          <p:cNvPr id="12" name="Picture 11" descr="image.png"/>
          <p:cNvPicPr>
            <a:picLocks noChangeAspect="1"/>
          </p:cNvPicPr>
          <p:nvPr/>
        </p:nvPicPr>
        <p:blipFill>
          <a:blip r:embed="rId4"/>
          <a:stretch>
            <a:fillRect/>
          </a:stretch>
        </p:blipFill>
        <p:spPr>
          <a:xfrm>
            <a:off x="11222736" y="100584"/>
            <a:ext cx="658368" cy="347472"/>
          </a:xfrm>
          <a:prstGeom prst="rect">
            <a:avLst/>
          </a:prstGeom>
        </p:spPr>
      </p:pic>
      <p:sp>
        <p:nvSpPr>
          <p:cNvPr id="13" name="Rectangle 12"/>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Before You Start</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VSM Symbols: The Language of the Map</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7" name="Text 3"/>
          <p:cNvSpPr/>
          <p:nvPr/>
        </p:nvSpPr>
        <p:spPr>
          <a:xfrm>
            <a:off x="274320" y="987552"/>
            <a:ext cx="11612880" cy="256032"/>
          </a:xfrm>
          <a:prstGeom prst="rect">
            <a:avLst/>
          </a:prstGeom>
          <a:noFill/>
          <a:ln/>
        </p:spPr>
        <p:txBody>
          <a:bodyPr wrap="square" rtlCol="0" anchor="ctr"/>
          <a:lstStyle/>
          <a:p>
            <a:pPr marL="0" indent="0">
              <a:buNone/>
            </a:pPr>
            <a:r>
              <a:rPr lang="en-US" sz="1000" i="1" dirty="0">
                <a:solidFill>
                  <a:srgbClr val="5B595A"/>
                </a:solidFill>
                <a:latin typeface="Arial" pitchFamily="34" charset="0"/>
                <a:ea typeface="Arial" pitchFamily="34" charset="-122"/>
                <a:cs typeface="Arial" pitchFamily="34" charset="-120"/>
              </a:rPr>
              <a:t>These symbols are the standard notation for VSM. Use them consistently so that anyone familiar with lean mapping can read your map immediately.</a:t>
            </a:r>
            <a:endParaRPr lang="en-US" sz="1000" dirty="0"/>
          </a:p>
        </p:txBody>
      </p:sp>
      <p:sp>
        <p:nvSpPr>
          <p:cNvPr id="8" name="Shape 4"/>
          <p:cNvSpPr/>
          <p:nvPr/>
        </p:nvSpPr>
        <p:spPr>
          <a:xfrm>
            <a:off x="228600" y="1298448"/>
            <a:ext cx="3547872" cy="2011680"/>
          </a:xfrm>
          <a:prstGeom prst="rect">
            <a:avLst/>
          </a:prstGeom>
          <a:solidFill>
            <a:srgbClr val="E0F4FD"/>
          </a:solidFill>
          <a:ln w="10160">
            <a:solidFill>
              <a:srgbClr val="009FE3"/>
            </a:solidFill>
            <a:prstDash val="solid"/>
          </a:ln>
        </p:spPr>
        <p:txBody>
          <a:bodyPr/>
          <a:lstStyle/>
          <a:p>
            <a:endParaRPr lang="en-GB"/>
          </a:p>
        </p:txBody>
      </p:sp>
      <p:sp>
        <p:nvSpPr>
          <p:cNvPr id="9" name="Shape 5"/>
          <p:cNvSpPr/>
          <p:nvPr/>
        </p:nvSpPr>
        <p:spPr>
          <a:xfrm>
            <a:off x="228600" y="1298448"/>
            <a:ext cx="3547872" cy="274320"/>
          </a:xfrm>
          <a:prstGeom prst="rect">
            <a:avLst/>
          </a:prstGeom>
          <a:solidFill>
            <a:srgbClr val="009FE3"/>
          </a:solidFill>
          <a:ln/>
        </p:spPr>
        <p:txBody>
          <a:bodyPr/>
          <a:lstStyle/>
          <a:p>
            <a:endParaRPr lang="en-GB"/>
          </a:p>
        </p:txBody>
      </p:sp>
      <p:sp>
        <p:nvSpPr>
          <p:cNvPr id="10" name="Text 6"/>
          <p:cNvSpPr/>
          <p:nvPr/>
        </p:nvSpPr>
        <p:spPr>
          <a:xfrm>
            <a:off x="301752" y="1325880"/>
            <a:ext cx="3401568" cy="219456"/>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PROCESS STEPS &amp; DATA</a:t>
            </a:r>
            <a:endParaRPr lang="en-US" sz="950" dirty="0"/>
          </a:p>
        </p:txBody>
      </p:sp>
      <p:sp>
        <p:nvSpPr>
          <p:cNvPr id="11" name="Shape 7"/>
          <p:cNvSpPr/>
          <p:nvPr/>
        </p:nvSpPr>
        <p:spPr>
          <a:xfrm>
            <a:off x="320040" y="1627632"/>
            <a:ext cx="73152" cy="73152"/>
          </a:xfrm>
          <a:prstGeom prst="rect">
            <a:avLst/>
          </a:prstGeom>
          <a:solidFill>
            <a:srgbClr val="009FE3"/>
          </a:solidFill>
          <a:ln/>
        </p:spPr>
        <p:txBody>
          <a:bodyPr/>
          <a:lstStyle/>
          <a:p>
            <a:endParaRPr lang="en-GB"/>
          </a:p>
        </p:txBody>
      </p:sp>
      <p:sp>
        <p:nvSpPr>
          <p:cNvPr id="12" name="Text 8"/>
          <p:cNvSpPr/>
          <p:nvPr/>
        </p:nvSpPr>
        <p:spPr>
          <a:xfrm>
            <a:off x="429768" y="1618488"/>
            <a:ext cx="1005840" cy="146304"/>
          </a:xfrm>
          <a:prstGeom prst="rect">
            <a:avLst/>
          </a:prstGeom>
          <a:noFill/>
          <a:ln/>
        </p:spPr>
        <p:txBody>
          <a:bodyPr wrap="square" rtlCol="0" anchor="ctr"/>
          <a:lstStyle/>
          <a:p>
            <a:pPr marL="0" indent="0">
              <a:buNone/>
            </a:pPr>
            <a:r>
              <a:rPr lang="en-US" sz="850" b="1" dirty="0">
                <a:solidFill>
                  <a:srgbClr val="009FE3"/>
                </a:solidFill>
                <a:latin typeface="Arial" pitchFamily="34" charset="0"/>
                <a:ea typeface="Arial" pitchFamily="34" charset="-122"/>
                <a:cs typeface="Arial" pitchFamily="34" charset="-120"/>
              </a:rPr>
              <a:t>Process box:</a:t>
            </a:r>
            <a:endParaRPr lang="en-US" sz="850" dirty="0"/>
          </a:p>
        </p:txBody>
      </p:sp>
      <p:sp>
        <p:nvSpPr>
          <p:cNvPr id="13" name="Text 9"/>
          <p:cNvSpPr/>
          <p:nvPr/>
        </p:nvSpPr>
        <p:spPr>
          <a:xfrm>
            <a:off x="429768" y="1764792"/>
            <a:ext cx="3255264"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Rectangle with process name above a data box. One box per operation.</a:t>
            </a:r>
            <a:endParaRPr lang="en-US" sz="800" dirty="0"/>
          </a:p>
        </p:txBody>
      </p:sp>
      <p:sp>
        <p:nvSpPr>
          <p:cNvPr id="14" name="Shape 10"/>
          <p:cNvSpPr/>
          <p:nvPr/>
        </p:nvSpPr>
        <p:spPr>
          <a:xfrm>
            <a:off x="320040" y="2176272"/>
            <a:ext cx="73152" cy="73152"/>
          </a:xfrm>
          <a:prstGeom prst="rect">
            <a:avLst/>
          </a:prstGeom>
          <a:solidFill>
            <a:srgbClr val="009FE3"/>
          </a:solidFill>
          <a:ln/>
        </p:spPr>
        <p:txBody>
          <a:bodyPr/>
          <a:lstStyle/>
          <a:p>
            <a:endParaRPr lang="en-GB"/>
          </a:p>
        </p:txBody>
      </p:sp>
      <p:sp>
        <p:nvSpPr>
          <p:cNvPr id="15" name="Text 11"/>
          <p:cNvSpPr/>
          <p:nvPr/>
        </p:nvSpPr>
        <p:spPr>
          <a:xfrm>
            <a:off x="429768" y="2167128"/>
            <a:ext cx="1005840" cy="146304"/>
          </a:xfrm>
          <a:prstGeom prst="rect">
            <a:avLst/>
          </a:prstGeom>
          <a:noFill/>
          <a:ln/>
        </p:spPr>
        <p:txBody>
          <a:bodyPr wrap="square" rtlCol="0" anchor="ctr"/>
          <a:lstStyle/>
          <a:p>
            <a:pPr marL="0" indent="0">
              <a:buNone/>
            </a:pPr>
            <a:r>
              <a:rPr lang="en-US" sz="850" b="1" dirty="0">
                <a:solidFill>
                  <a:srgbClr val="009FE3"/>
                </a:solidFill>
                <a:latin typeface="Arial" pitchFamily="34" charset="0"/>
                <a:ea typeface="Arial" pitchFamily="34" charset="-122"/>
                <a:cs typeface="Arial" pitchFamily="34" charset="-120"/>
              </a:rPr>
              <a:t>Data box:</a:t>
            </a:r>
            <a:endParaRPr lang="en-US" sz="850" dirty="0"/>
          </a:p>
        </p:txBody>
      </p:sp>
      <p:sp>
        <p:nvSpPr>
          <p:cNvPr id="16" name="Text 12"/>
          <p:cNvSpPr/>
          <p:nvPr/>
        </p:nvSpPr>
        <p:spPr>
          <a:xfrm>
            <a:off x="429768" y="2313432"/>
            <a:ext cx="3255264"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Beneath each process box. Records CT, C/O, Uptime %, Operators, Batch size.</a:t>
            </a:r>
            <a:endParaRPr lang="en-US" sz="800" dirty="0"/>
          </a:p>
        </p:txBody>
      </p:sp>
      <p:sp>
        <p:nvSpPr>
          <p:cNvPr id="17" name="Shape 13"/>
          <p:cNvSpPr/>
          <p:nvPr/>
        </p:nvSpPr>
        <p:spPr>
          <a:xfrm>
            <a:off x="320040" y="2724912"/>
            <a:ext cx="73152" cy="73152"/>
          </a:xfrm>
          <a:prstGeom prst="rect">
            <a:avLst/>
          </a:prstGeom>
          <a:solidFill>
            <a:srgbClr val="009FE3"/>
          </a:solidFill>
          <a:ln/>
        </p:spPr>
        <p:txBody>
          <a:bodyPr/>
          <a:lstStyle/>
          <a:p>
            <a:endParaRPr lang="en-GB"/>
          </a:p>
        </p:txBody>
      </p:sp>
      <p:sp>
        <p:nvSpPr>
          <p:cNvPr id="18" name="Text 14"/>
          <p:cNvSpPr/>
          <p:nvPr/>
        </p:nvSpPr>
        <p:spPr>
          <a:xfrm>
            <a:off x="429768" y="2715768"/>
            <a:ext cx="1005840" cy="146304"/>
          </a:xfrm>
          <a:prstGeom prst="rect">
            <a:avLst/>
          </a:prstGeom>
          <a:noFill/>
          <a:ln/>
        </p:spPr>
        <p:txBody>
          <a:bodyPr wrap="square" rtlCol="0" anchor="ctr"/>
          <a:lstStyle/>
          <a:p>
            <a:pPr marL="0" indent="0">
              <a:buNone/>
            </a:pPr>
            <a:r>
              <a:rPr lang="en-US" sz="850" b="1" dirty="0">
                <a:solidFill>
                  <a:srgbClr val="009FE3"/>
                </a:solidFill>
                <a:latin typeface="Arial" pitchFamily="34" charset="0"/>
                <a:ea typeface="Arial" pitchFamily="34" charset="-122"/>
                <a:cs typeface="Arial" pitchFamily="34" charset="-120"/>
              </a:rPr>
              <a:t>Operator circle:</a:t>
            </a:r>
            <a:endParaRPr lang="en-US" sz="850" dirty="0"/>
          </a:p>
        </p:txBody>
      </p:sp>
      <p:sp>
        <p:nvSpPr>
          <p:cNvPr id="19" name="Text 15"/>
          <p:cNvSpPr/>
          <p:nvPr/>
        </p:nvSpPr>
        <p:spPr>
          <a:xfrm>
            <a:off x="429768" y="2862072"/>
            <a:ext cx="3255264"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Small circle inside or below the process box. Shows number of operators.</a:t>
            </a:r>
            <a:endParaRPr lang="en-US" sz="800" dirty="0"/>
          </a:p>
        </p:txBody>
      </p:sp>
      <p:sp>
        <p:nvSpPr>
          <p:cNvPr id="20" name="Shape 16"/>
          <p:cNvSpPr/>
          <p:nvPr/>
        </p:nvSpPr>
        <p:spPr>
          <a:xfrm>
            <a:off x="3822192" y="1298448"/>
            <a:ext cx="3547872" cy="2011680"/>
          </a:xfrm>
          <a:prstGeom prst="rect">
            <a:avLst/>
          </a:prstGeom>
          <a:solidFill>
            <a:srgbClr val="FFFBEB"/>
          </a:solidFill>
          <a:ln w="10160">
            <a:solidFill>
              <a:srgbClr val="F59E0B"/>
            </a:solidFill>
            <a:prstDash val="solid"/>
          </a:ln>
        </p:spPr>
        <p:txBody>
          <a:bodyPr/>
          <a:lstStyle/>
          <a:p>
            <a:endParaRPr lang="en-GB"/>
          </a:p>
        </p:txBody>
      </p:sp>
      <p:sp>
        <p:nvSpPr>
          <p:cNvPr id="21" name="Shape 17"/>
          <p:cNvSpPr/>
          <p:nvPr/>
        </p:nvSpPr>
        <p:spPr>
          <a:xfrm>
            <a:off x="3822192" y="1298448"/>
            <a:ext cx="3547872" cy="274320"/>
          </a:xfrm>
          <a:prstGeom prst="rect">
            <a:avLst/>
          </a:prstGeom>
          <a:solidFill>
            <a:srgbClr val="F59E0B"/>
          </a:solidFill>
          <a:ln/>
        </p:spPr>
        <p:txBody>
          <a:bodyPr/>
          <a:lstStyle/>
          <a:p>
            <a:endParaRPr lang="en-GB"/>
          </a:p>
        </p:txBody>
      </p:sp>
      <p:sp>
        <p:nvSpPr>
          <p:cNvPr id="22" name="Text 18"/>
          <p:cNvSpPr/>
          <p:nvPr/>
        </p:nvSpPr>
        <p:spPr>
          <a:xfrm>
            <a:off x="3895344" y="1325880"/>
            <a:ext cx="3401568" cy="219456"/>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INVENTORY &amp; STORAGE</a:t>
            </a:r>
            <a:endParaRPr lang="en-US" sz="950" dirty="0"/>
          </a:p>
        </p:txBody>
      </p:sp>
      <p:sp>
        <p:nvSpPr>
          <p:cNvPr id="23" name="Shape 19"/>
          <p:cNvSpPr/>
          <p:nvPr/>
        </p:nvSpPr>
        <p:spPr>
          <a:xfrm>
            <a:off x="3913632" y="1627632"/>
            <a:ext cx="73152" cy="73152"/>
          </a:xfrm>
          <a:prstGeom prst="rect">
            <a:avLst/>
          </a:prstGeom>
          <a:solidFill>
            <a:srgbClr val="F59E0B"/>
          </a:solidFill>
          <a:ln/>
        </p:spPr>
        <p:txBody>
          <a:bodyPr/>
          <a:lstStyle/>
          <a:p>
            <a:endParaRPr lang="en-GB"/>
          </a:p>
        </p:txBody>
      </p:sp>
      <p:sp>
        <p:nvSpPr>
          <p:cNvPr id="24" name="Text 20"/>
          <p:cNvSpPr/>
          <p:nvPr/>
        </p:nvSpPr>
        <p:spPr>
          <a:xfrm>
            <a:off x="4023360" y="1618488"/>
            <a:ext cx="1005840" cy="146304"/>
          </a:xfrm>
          <a:prstGeom prst="rect">
            <a:avLst/>
          </a:prstGeom>
          <a:noFill/>
          <a:ln/>
        </p:spPr>
        <p:txBody>
          <a:bodyPr wrap="square" rtlCol="0" anchor="ctr"/>
          <a:lstStyle/>
          <a:p>
            <a:pPr marL="0" indent="0">
              <a:buNone/>
            </a:pPr>
            <a:r>
              <a:rPr lang="en-US" sz="850" b="1" dirty="0">
                <a:solidFill>
                  <a:srgbClr val="F59E0B"/>
                </a:solidFill>
                <a:latin typeface="Arial" pitchFamily="34" charset="0"/>
                <a:ea typeface="Arial" pitchFamily="34" charset="-122"/>
                <a:cs typeface="Arial" pitchFamily="34" charset="-120"/>
              </a:rPr>
              <a:t>Inventory triangle:</a:t>
            </a:r>
            <a:endParaRPr lang="en-US" sz="850" dirty="0"/>
          </a:p>
        </p:txBody>
      </p:sp>
      <p:sp>
        <p:nvSpPr>
          <p:cNvPr id="25" name="Text 21"/>
          <p:cNvSpPr/>
          <p:nvPr/>
        </p:nvSpPr>
        <p:spPr>
          <a:xfrm>
            <a:off x="4023360" y="1764792"/>
            <a:ext cx="3255264"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Yellow triangle with "I" inside. Quantity and time shown below.</a:t>
            </a:r>
            <a:endParaRPr lang="en-US" sz="800" dirty="0"/>
          </a:p>
        </p:txBody>
      </p:sp>
      <p:sp>
        <p:nvSpPr>
          <p:cNvPr id="26" name="Shape 22"/>
          <p:cNvSpPr/>
          <p:nvPr/>
        </p:nvSpPr>
        <p:spPr>
          <a:xfrm>
            <a:off x="3913632" y="2176272"/>
            <a:ext cx="73152" cy="73152"/>
          </a:xfrm>
          <a:prstGeom prst="rect">
            <a:avLst/>
          </a:prstGeom>
          <a:solidFill>
            <a:srgbClr val="F59E0B"/>
          </a:solidFill>
          <a:ln/>
        </p:spPr>
        <p:txBody>
          <a:bodyPr/>
          <a:lstStyle/>
          <a:p>
            <a:endParaRPr lang="en-GB"/>
          </a:p>
        </p:txBody>
      </p:sp>
      <p:sp>
        <p:nvSpPr>
          <p:cNvPr id="27" name="Text 23"/>
          <p:cNvSpPr/>
          <p:nvPr/>
        </p:nvSpPr>
        <p:spPr>
          <a:xfrm>
            <a:off x="4023360" y="2167128"/>
            <a:ext cx="1005840" cy="146304"/>
          </a:xfrm>
          <a:prstGeom prst="rect">
            <a:avLst/>
          </a:prstGeom>
          <a:noFill/>
          <a:ln/>
        </p:spPr>
        <p:txBody>
          <a:bodyPr wrap="square" rtlCol="0" anchor="ctr"/>
          <a:lstStyle/>
          <a:p>
            <a:pPr marL="0" indent="0">
              <a:buNone/>
            </a:pPr>
            <a:r>
              <a:rPr lang="en-US" sz="850" b="1" dirty="0">
                <a:solidFill>
                  <a:srgbClr val="F59E0B"/>
                </a:solidFill>
                <a:latin typeface="Arial" pitchFamily="34" charset="0"/>
                <a:ea typeface="Arial" pitchFamily="34" charset="-122"/>
                <a:cs typeface="Arial" pitchFamily="34" charset="-120"/>
              </a:rPr>
              <a:t>Supermarket:</a:t>
            </a:r>
            <a:endParaRPr lang="en-US" sz="850" dirty="0"/>
          </a:p>
        </p:txBody>
      </p:sp>
      <p:sp>
        <p:nvSpPr>
          <p:cNvPr id="28" name="Text 24"/>
          <p:cNvSpPr/>
          <p:nvPr/>
        </p:nvSpPr>
        <p:spPr>
          <a:xfrm>
            <a:off x="4023360" y="2313432"/>
            <a:ext cx="3255264"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Small shelving icon. Indicates a controlled inventory point with pull signal.</a:t>
            </a:r>
            <a:endParaRPr lang="en-US" sz="800" dirty="0"/>
          </a:p>
        </p:txBody>
      </p:sp>
      <p:sp>
        <p:nvSpPr>
          <p:cNvPr id="29" name="Shape 25"/>
          <p:cNvSpPr/>
          <p:nvPr/>
        </p:nvSpPr>
        <p:spPr>
          <a:xfrm>
            <a:off x="3913632" y="2724912"/>
            <a:ext cx="73152" cy="73152"/>
          </a:xfrm>
          <a:prstGeom prst="rect">
            <a:avLst/>
          </a:prstGeom>
          <a:solidFill>
            <a:srgbClr val="F59E0B"/>
          </a:solidFill>
          <a:ln/>
        </p:spPr>
        <p:txBody>
          <a:bodyPr/>
          <a:lstStyle/>
          <a:p>
            <a:endParaRPr lang="en-GB"/>
          </a:p>
        </p:txBody>
      </p:sp>
      <p:sp>
        <p:nvSpPr>
          <p:cNvPr id="30" name="Text 26"/>
          <p:cNvSpPr/>
          <p:nvPr/>
        </p:nvSpPr>
        <p:spPr>
          <a:xfrm>
            <a:off x="4023360" y="2715768"/>
            <a:ext cx="1005840" cy="146304"/>
          </a:xfrm>
          <a:prstGeom prst="rect">
            <a:avLst/>
          </a:prstGeom>
          <a:noFill/>
          <a:ln/>
        </p:spPr>
        <p:txBody>
          <a:bodyPr wrap="square" rtlCol="0" anchor="ctr"/>
          <a:lstStyle/>
          <a:p>
            <a:pPr marL="0" indent="0">
              <a:buNone/>
            </a:pPr>
            <a:r>
              <a:rPr lang="en-US" sz="850" b="1" dirty="0">
                <a:solidFill>
                  <a:srgbClr val="F59E0B"/>
                </a:solidFill>
                <a:latin typeface="Arial" pitchFamily="34" charset="0"/>
                <a:ea typeface="Arial" pitchFamily="34" charset="-122"/>
                <a:cs typeface="Arial" pitchFamily="34" charset="-120"/>
              </a:rPr>
              <a:t>Buffer/safety stock:</a:t>
            </a:r>
            <a:endParaRPr lang="en-US" sz="850" dirty="0"/>
          </a:p>
        </p:txBody>
      </p:sp>
      <p:sp>
        <p:nvSpPr>
          <p:cNvPr id="31" name="Text 27"/>
          <p:cNvSpPr/>
          <p:nvPr/>
        </p:nvSpPr>
        <p:spPr>
          <a:xfrm>
            <a:off x="4023360" y="2862072"/>
            <a:ext cx="3255264"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Separate storage location between processes or before the customer.</a:t>
            </a:r>
            <a:endParaRPr lang="en-US" sz="800" dirty="0"/>
          </a:p>
        </p:txBody>
      </p:sp>
      <p:sp>
        <p:nvSpPr>
          <p:cNvPr id="32" name="Shape 28"/>
          <p:cNvSpPr/>
          <p:nvPr/>
        </p:nvSpPr>
        <p:spPr>
          <a:xfrm>
            <a:off x="7415784" y="1298448"/>
            <a:ext cx="4544568" cy="2011680"/>
          </a:xfrm>
          <a:prstGeom prst="rect">
            <a:avLst/>
          </a:prstGeom>
          <a:solidFill>
            <a:srgbClr val="F3EAF4"/>
          </a:solidFill>
          <a:ln w="10160">
            <a:solidFill>
              <a:srgbClr val="83348F"/>
            </a:solidFill>
            <a:prstDash val="solid"/>
          </a:ln>
        </p:spPr>
        <p:txBody>
          <a:bodyPr/>
          <a:lstStyle/>
          <a:p>
            <a:endParaRPr lang="en-GB"/>
          </a:p>
        </p:txBody>
      </p:sp>
      <p:sp>
        <p:nvSpPr>
          <p:cNvPr id="33" name="Shape 29"/>
          <p:cNvSpPr/>
          <p:nvPr/>
        </p:nvSpPr>
        <p:spPr>
          <a:xfrm>
            <a:off x="7415784" y="1298448"/>
            <a:ext cx="4544568" cy="274320"/>
          </a:xfrm>
          <a:prstGeom prst="rect">
            <a:avLst/>
          </a:prstGeom>
          <a:solidFill>
            <a:srgbClr val="83348F"/>
          </a:solidFill>
          <a:ln/>
        </p:spPr>
        <p:txBody>
          <a:bodyPr/>
          <a:lstStyle/>
          <a:p>
            <a:endParaRPr lang="en-GB"/>
          </a:p>
        </p:txBody>
      </p:sp>
      <p:sp>
        <p:nvSpPr>
          <p:cNvPr id="34" name="Text 30"/>
          <p:cNvSpPr/>
          <p:nvPr/>
        </p:nvSpPr>
        <p:spPr>
          <a:xfrm>
            <a:off x="7488936" y="1325880"/>
            <a:ext cx="4398264" cy="219456"/>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INFORMATION FLOW</a:t>
            </a:r>
            <a:endParaRPr lang="en-US" sz="950" dirty="0"/>
          </a:p>
        </p:txBody>
      </p:sp>
      <p:sp>
        <p:nvSpPr>
          <p:cNvPr id="35" name="Shape 31"/>
          <p:cNvSpPr/>
          <p:nvPr/>
        </p:nvSpPr>
        <p:spPr>
          <a:xfrm>
            <a:off x="7507224" y="1627632"/>
            <a:ext cx="73152" cy="73152"/>
          </a:xfrm>
          <a:prstGeom prst="rect">
            <a:avLst/>
          </a:prstGeom>
          <a:solidFill>
            <a:srgbClr val="83348F"/>
          </a:solidFill>
          <a:ln/>
        </p:spPr>
        <p:txBody>
          <a:bodyPr/>
          <a:lstStyle/>
          <a:p>
            <a:endParaRPr lang="en-GB"/>
          </a:p>
        </p:txBody>
      </p:sp>
      <p:sp>
        <p:nvSpPr>
          <p:cNvPr id="36" name="Text 32"/>
          <p:cNvSpPr/>
          <p:nvPr/>
        </p:nvSpPr>
        <p:spPr>
          <a:xfrm>
            <a:off x="7616952" y="1618488"/>
            <a:ext cx="1005840" cy="146304"/>
          </a:xfrm>
          <a:prstGeom prst="rect">
            <a:avLst/>
          </a:prstGeom>
          <a:noFill/>
          <a:ln/>
        </p:spPr>
        <p:txBody>
          <a:bodyPr wrap="square" rtlCol="0" anchor="ctr"/>
          <a:lstStyle/>
          <a:p>
            <a:pPr marL="0" indent="0">
              <a:buNone/>
            </a:pPr>
            <a:r>
              <a:rPr lang="en-US" sz="850" b="1" dirty="0">
                <a:solidFill>
                  <a:srgbClr val="83348F"/>
                </a:solidFill>
                <a:latin typeface="Arial" pitchFamily="34" charset="0"/>
                <a:ea typeface="Arial" pitchFamily="34" charset="-122"/>
                <a:cs typeface="Arial" pitchFamily="34" charset="-120"/>
              </a:rPr>
              <a:t>Manual info flow:</a:t>
            </a:r>
            <a:endParaRPr lang="en-US" sz="850" dirty="0"/>
          </a:p>
        </p:txBody>
      </p:sp>
      <p:sp>
        <p:nvSpPr>
          <p:cNvPr id="37" name="Text 33"/>
          <p:cNvSpPr/>
          <p:nvPr/>
        </p:nvSpPr>
        <p:spPr>
          <a:xfrm>
            <a:off x="7616952" y="1764792"/>
            <a:ext cx="4251960"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Straight arrow. Schedule, order, or instruction passed by paper or verbal.</a:t>
            </a:r>
            <a:endParaRPr lang="en-US" sz="800" dirty="0"/>
          </a:p>
        </p:txBody>
      </p:sp>
      <p:sp>
        <p:nvSpPr>
          <p:cNvPr id="38" name="Shape 34"/>
          <p:cNvSpPr/>
          <p:nvPr/>
        </p:nvSpPr>
        <p:spPr>
          <a:xfrm>
            <a:off x="7507224" y="2039112"/>
            <a:ext cx="73152" cy="73152"/>
          </a:xfrm>
          <a:prstGeom prst="rect">
            <a:avLst/>
          </a:prstGeom>
          <a:solidFill>
            <a:srgbClr val="83348F"/>
          </a:solidFill>
          <a:ln/>
        </p:spPr>
        <p:txBody>
          <a:bodyPr/>
          <a:lstStyle/>
          <a:p>
            <a:endParaRPr lang="en-GB"/>
          </a:p>
        </p:txBody>
      </p:sp>
      <p:sp>
        <p:nvSpPr>
          <p:cNvPr id="39" name="Text 35"/>
          <p:cNvSpPr/>
          <p:nvPr/>
        </p:nvSpPr>
        <p:spPr>
          <a:xfrm>
            <a:off x="7616952" y="2029968"/>
            <a:ext cx="1005840" cy="146304"/>
          </a:xfrm>
          <a:prstGeom prst="rect">
            <a:avLst/>
          </a:prstGeom>
          <a:noFill/>
          <a:ln/>
        </p:spPr>
        <p:txBody>
          <a:bodyPr wrap="square" rtlCol="0" anchor="ctr"/>
          <a:lstStyle/>
          <a:p>
            <a:pPr marL="0" indent="0">
              <a:buNone/>
            </a:pPr>
            <a:r>
              <a:rPr lang="en-US" sz="850" b="1" dirty="0">
                <a:solidFill>
                  <a:srgbClr val="83348F"/>
                </a:solidFill>
                <a:latin typeface="Arial" pitchFamily="34" charset="0"/>
                <a:ea typeface="Arial" pitchFamily="34" charset="-122"/>
                <a:cs typeface="Arial" pitchFamily="34" charset="-120"/>
              </a:rPr>
              <a:t>Electronic info flow:</a:t>
            </a:r>
            <a:endParaRPr lang="en-US" sz="850" dirty="0"/>
          </a:p>
        </p:txBody>
      </p:sp>
      <p:sp>
        <p:nvSpPr>
          <p:cNvPr id="40" name="Text 36"/>
          <p:cNvSpPr/>
          <p:nvPr/>
        </p:nvSpPr>
        <p:spPr>
          <a:xfrm>
            <a:off x="7616952" y="2176272"/>
            <a:ext cx="4251960"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Arrow with "lightning bolt". ERP system, email, MES data, digital schedule.</a:t>
            </a:r>
            <a:endParaRPr lang="en-US" sz="800" dirty="0"/>
          </a:p>
        </p:txBody>
      </p:sp>
      <p:sp>
        <p:nvSpPr>
          <p:cNvPr id="41" name="Shape 37"/>
          <p:cNvSpPr/>
          <p:nvPr/>
        </p:nvSpPr>
        <p:spPr>
          <a:xfrm>
            <a:off x="7507224" y="2450592"/>
            <a:ext cx="73152" cy="73152"/>
          </a:xfrm>
          <a:prstGeom prst="rect">
            <a:avLst/>
          </a:prstGeom>
          <a:solidFill>
            <a:srgbClr val="83348F"/>
          </a:solidFill>
          <a:ln/>
        </p:spPr>
        <p:txBody>
          <a:bodyPr/>
          <a:lstStyle/>
          <a:p>
            <a:endParaRPr lang="en-GB"/>
          </a:p>
        </p:txBody>
      </p:sp>
      <p:sp>
        <p:nvSpPr>
          <p:cNvPr id="42" name="Text 38"/>
          <p:cNvSpPr/>
          <p:nvPr/>
        </p:nvSpPr>
        <p:spPr>
          <a:xfrm>
            <a:off x="7616952" y="2441448"/>
            <a:ext cx="1005840" cy="146304"/>
          </a:xfrm>
          <a:prstGeom prst="rect">
            <a:avLst/>
          </a:prstGeom>
          <a:noFill/>
          <a:ln/>
        </p:spPr>
        <p:txBody>
          <a:bodyPr wrap="square" rtlCol="0" anchor="ctr"/>
          <a:lstStyle/>
          <a:p>
            <a:pPr marL="0" indent="0">
              <a:buNone/>
            </a:pPr>
            <a:r>
              <a:rPr lang="en-US" sz="850" b="1" dirty="0">
                <a:solidFill>
                  <a:srgbClr val="83348F"/>
                </a:solidFill>
                <a:latin typeface="Arial" pitchFamily="34" charset="0"/>
                <a:ea typeface="Arial" pitchFamily="34" charset="-122"/>
                <a:cs typeface="Arial" pitchFamily="34" charset="-120"/>
              </a:rPr>
              <a:t>Production kanban:</a:t>
            </a:r>
            <a:endParaRPr lang="en-US" sz="850" dirty="0"/>
          </a:p>
        </p:txBody>
      </p:sp>
      <p:sp>
        <p:nvSpPr>
          <p:cNvPr id="43" name="Text 39"/>
          <p:cNvSpPr/>
          <p:nvPr/>
        </p:nvSpPr>
        <p:spPr>
          <a:xfrm>
            <a:off x="7616952" y="2587752"/>
            <a:ext cx="4251960"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Small card. Authorises production of a set quantity.</a:t>
            </a:r>
            <a:endParaRPr lang="en-US" sz="800" dirty="0"/>
          </a:p>
        </p:txBody>
      </p:sp>
      <p:sp>
        <p:nvSpPr>
          <p:cNvPr id="44" name="Shape 40"/>
          <p:cNvSpPr/>
          <p:nvPr/>
        </p:nvSpPr>
        <p:spPr>
          <a:xfrm>
            <a:off x="7507224" y="2862072"/>
            <a:ext cx="73152" cy="73152"/>
          </a:xfrm>
          <a:prstGeom prst="rect">
            <a:avLst/>
          </a:prstGeom>
          <a:solidFill>
            <a:srgbClr val="83348F"/>
          </a:solidFill>
          <a:ln/>
        </p:spPr>
        <p:txBody>
          <a:bodyPr/>
          <a:lstStyle/>
          <a:p>
            <a:endParaRPr lang="en-GB"/>
          </a:p>
        </p:txBody>
      </p:sp>
      <p:sp>
        <p:nvSpPr>
          <p:cNvPr id="45" name="Text 41"/>
          <p:cNvSpPr/>
          <p:nvPr/>
        </p:nvSpPr>
        <p:spPr>
          <a:xfrm>
            <a:off x="7616952" y="2852928"/>
            <a:ext cx="1005840" cy="146304"/>
          </a:xfrm>
          <a:prstGeom prst="rect">
            <a:avLst/>
          </a:prstGeom>
          <a:noFill/>
          <a:ln/>
        </p:spPr>
        <p:txBody>
          <a:bodyPr wrap="square" rtlCol="0" anchor="ctr"/>
          <a:lstStyle/>
          <a:p>
            <a:pPr marL="0" indent="0">
              <a:buNone/>
            </a:pPr>
            <a:r>
              <a:rPr lang="en-US" sz="850" b="1" dirty="0">
                <a:solidFill>
                  <a:srgbClr val="83348F"/>
                </a:solidFill>
                <a:latin typeface="Arial" pitchFamily="34" charset="0"/>
                <a:ea typeface="Arial" pitchFamily="34" charset="-122"/>
                <a:cs typeface="Arial" pitchFamily="34" charset="-120"/>
              </a:rPr>
              <a:t>Withdrawal kanban:</a:t>
            </a:r>
            <a:endParaRPr lang="en-US" sz="850" dirty="0"/>
          </a:p>
        </p:txBody>
      </p:sp>
      <p:sp>
        <p:nvSpPr>
          <p:cNvPr id="46" name="Text 42"/>
          <p:cNvSpPr/>
          <p:nvPr/>
        </p:nvSpPr>
        <p:spPr>
          <a:xfrm>
            <a:off x="7616952" y="2999232"/>
            <a:ext cx="4251960"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Small card. Authorises movement of material from one point to another.</a:t>
            </a:r>
            <a:endParaRPr lang="en-US" sz="800" dirty="0"/>
          </a:p>
        </p:txBody>
      </p:sp>
      <p:sp>
        <p:nvSpPr>
          <p:cNvPr id="47" name="Shape 43"/>
          <p:cNvSpPr/>
          <p:nvPr/>
        </p:nvSpPr>
        <p:spPr>
          <a:xfrm>
            <a:off x="228600" y="3383280"/>
            <a:ext cx="3547872" cy="1828800"/>
          </a:xfrm>
          <a:prstGeom prst="rect">
            <a:avLst/>
          </a:prstGeom>
          <a:solidFill>
            <a:srgbClr val="E8ECF2"/>
          </a:solidFill>
          <a:ln w="10160">
            <a:solidFill>
              <a:srgbClr val="1E3A5F"/>
            </a:solidFill>
            <a:prstDash val="solid"/>
          </a:ln>
        </p:spPr>
        <p:txBody>
          <a:bodyPr/>
          <a:lstStyle/>
          <a:p>
            <a:endParaRPr lang="en-GB"/>
          </a:p>
        </p:txBody>
      </p:sp>
      <p:sp>
        <p:nvSpPr>
          <p:cNvPr id="48" name="Shape 44"/>
          <p:cNvSpPr/>
          <p:nvPr/>
        </p:nvSpPr>
        <p:spPr>
          <a:xfrm>
            <a:off x="228600" y="3383280"/>
            <a:ext cx="3547872" cy="274320"/>
          </a:xfrm>
          <a:prstGeom prst="rect">
            <a:avLst/>
          </a:prstGeom>
          <a:solidFill>
            <a:srgbClr val="1E3A5F"/>
          </a:solidFill>
          <a:ln/>
        </p:spPr>
        <p:txBody>
          <a:bodyPr/>
          <a:lstStyle/>
          <a:p>
            <a:endParaRPr lang="en-GB"/>
          </a:p>
        </p:txBody>
      </p:sp>
      <p:sp>
        <p:nvSpPr>
          <p:cNvPr id="49" name="Text 45"/>
          <p:cNvSpPr/>
          <p:nvPr/>
        </p:nvSpPr>
        <p:spPr>
          <a:xfrm>
            <a:off x="301752" y="3410712"/>
            <a:ext cx="3401568" cy="219456"/>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MATERIAL FLOW</a:t>
            </a:r>
            <a:endParaRPr lang="en-US" sz="950" dirty="0"/>
          </a:p>
        </p:txBody>
      </p:sp>
      <p:sp>
        <p:nvSpPr>
          <p:cNvPr id="50" name="Shape 46"/>
          <p:cNvSpPr/>
          <p:nvPr/>
        </p:nvSpPr>
        <p:spPr>
          <a:xfrm>
            <a:off x="320040" y="3712464"/>
            <a:ext cx="73152" cy="73152"/>
          </a:xfrm>
          <a:prstGeom prst="rect">
            <a:avLst/>
          </a:prstGeom>
          <a:solidFill>
            <a:srgbClr val="1E3A5F"/>
          </a:solidFill>
          <a:ln/>
        </p:spPr>
        <p:txBody>
          <a:bodyPr/>
          <a:lstStyle/>
          <a:p>
            <a:endParaRPr lang="en-GB"/>
          </a:p>
        </p:txBody>
      </p:sp>
      <p:sp>
        <p:nvSpPr>
          <p:cNvPr id="51" name="Text 47"/>
          <p:cNvSpPr/>
          <p:nvPr/>
        </p:nvSpPr>
        <p:spPr>
          <a:xfrm>
            <a:off x="429768" y="3703320"/>
            <a:ext cx="1005840" cy="146304"/>
          </a:xfrm>
          <a:prstGeom prst="rect">
            <a:avLst/>
          </a:prstGeom>
          <a:noFill/>
          <a:ln/>
        </p:spPr>
        <p:txBody>
          <a:bodyPr wrap="square" rtlCol="0" anchor="ctr"/>
          <a:lstStyle/>
          <a:p>
            <a:pPr marL="0" indent="0">
              <a:buNone/>
            </a:pPr>
            <a:r>
              <a:rPr lang="en-US" sz="850" b="1" dirty="0">
                <a:solidFill>
                  <a:srgbClr val="1E3A5F"/>
                </a:solidFill>
                <a:latin typeface="Arial" pitchFamily="34" charset="0"/>
                <a:ea typeface="Arial" pitchFamily="34" charset="-122"/>
                <a:cs typeface="Arial" pitchFamily="34" charset="-120"/>
              </a:rPr>
              <a:t>Push arrow:</a:t>
            </a:r>
            <a:endParaRPr lang="en-US" sz="850" dirty="0"/>
          </a:p>
        </p:txBody>
      </p:sp>
      <p:sp>
        <p:nvSpPr>
          <p:cNvPr id="52" name="Text 48"/>
          <p:cNvSpPr/>
          <p:nvPr/>
        </p:nvSpPr>
        <p:spPr>
          <a:xfrm>
            <a:off x="429768" y="3849624"/>
            <a:ext cx="3255264"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Striped arrow. Material is pushed to the next step regardless of need.</a:t>
            </a:r>
            <a:endParaRPr lang="en-US" sz="800" dirty="0"/>
          </a:p>
        </p:txBody>
      </p:sp>
      <p:sp>
        <p:nvSpPr>
          <p:cNvPr id="53" name="Shape 49"/>
          <p:cNvSpPr/>
          <p:nvPr/>
        </p:nvSpPr>
        <p:spPr>
          <a:xfrm>
            <a:off x="320040" y="4200144"/>
            <a:ext cx="73152" cy="73152"/>
          </a:xfrm>
          <a:prstGeom prst="rect">
            <a:avLst/>
          </a:prstGeom>
          <a:solidFill>
            <a:srgbClr val="1E3A5F"/>
          </a:solidFill>
          <a:ln/>
        </p:spPr>
        <p:txBody>
          <a:bodyPr/>
          <a:lstStyle/>
          <a:p>
            <a:endParaRPr lang="en-GB"/>
          </a:p>
        </p:txBody>
      </p:sp>
      <p:sp>
        <p:nvSpPr>
          <p:cNvPr id="54" name="Text 50"/>
          <p:cNvSpPr/>
          <p:nvPr/>
        </p:nvSpPr>
        <p:spPr>
          <a:xfrm>
            <a:off x="429768" y="4191000"/>
            <a:ext cx="1005840" cy="146304"/>
          </a:xfrm>
          <a:prstGeom prst="rect">
            <a:avLst/>
          </a:prstGeom>
          <a:noFill/>
          <a:ln/>
        </p:spPr>
        <p:txBody>
          <a:bodyPr wrap="square" rtlCol="0" anchor="ctr"/>
          <a:lstStyle/>
          <a:p>
            <a:pPr marL="0" indent="0">
              <a:buNone/>
            </a:pPr>
            <a:r>
              <a:rPr lang="en-US" sz="850" b="1" dirty="0">
                <a:solidFill>
                  <a:srgbClr val="1E3A5F"/>
                </a:solidFill>
                <a:latin typeface="Arial" pitchFamily="34" charset="0"/>
                <a:ea typeface="Arial" pitchFamily="34" charset="-122"/>
                <a:cs typeface="Arial" pitchFamily="34" charset="-120"/>
              </a:rPr>
              <a:t>Pull/withdrawal:</a:t>
            </a:r>
            <a:endParaRPr lang="en-US" sz="850" dirty="0"/>
          </a:p>
        </p:txBody>
      </p:sp>
      <p:sp>
        <p:nvSpPr>
          <p:cNvPr id="55" name="Text 51"/>
          <p:cNvSpPr/>
          <p:nvPr/>
        </p:nvSpPr>
        <p:spPr>
          <a:xfrm>
            <a:off x="429768" y="4337304"/>
            <a:ext cx="3255264"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Circular arrow. Material is only moved when a downstream signal is received.</a:t>
            </a:r>
            <a:endParaRPr lang="en-US" sz="800" dirty="0"/>
          </a:p>
        </p:txBody>
      </p:sp>
      <p:sp>
        <p:nvSpPr>
          <p:cNvPr id="56" name="Shape 52"/>
          <p:cNvSpPr/>
          <p:nvPr/>
        </p:nvSpPr>
        <p:spPr>
          <a:xfrm>
            <a:off x="320040" y="4687824"/>
            <a:ext cx="73152" cy="73152"/>
          </a:xfrm>
          <a:prstGeom prst="rect">
            <a:avLst/>
          </a:prstGeom>
          <a:solidFill>
            <a:srgbClr val="1E3A5F"/>
          </a:solidFill>
          <a:ln/>
        </p:spPr>
        <p:txBody>
          <a:bodyPr/>
          <a:lstStyle/>
          <a:p>
            <a:endParaRPr lang="en-GB"/>
          </a:p>
        </p:txBody>
      </p:sp>
      <p:sp>
        <p:nvSpPr>
          <p:cNvPr id="57" name="Text 53"/>
          <p:cNvSpPr/>
          <p:nvPr/>
        </p:nvSpPr>
        <p:spPr>
          <a:xfrm>
            <a:off x="429768" y="4678680"/>
            <a:ext cx="1005840" cy="146304"/>
          </a:xfrm>
          <a:prstGeom prst="rect">
            <a:avLst/>
          </a:prstGeom>
          <a:noFill/>
          <a:ln/>
        </p:spPr>
        <p:txBody>
          <a:bodyPr wrap="square" rtlCol="0" anchor="ctr"/>
          <a:lstStyle/>
          <a:p>
            <a:pPr marL="0" indent="0">
              <a:buNone/>
            </a:pPr>
            <a:r>
              <a:rPr lang="en-US" sz="850" b="1" dirty="0">
                <a:solidFill>
                  <a:srgbClr val="1E3A5F"/>
                </a:solidFill>
                <a:latin typeface="Arial" pitchFamily="34" charset="0"/>
                <a:ea typeface="Arial" pitchFamily="34" charset="-122"/>
                <a:cs typeface="Arial" pitchFamily="34" charset="-120"/>
              </a:rPr>
              <a:t>Finished goods arrow:</a:t>
            </a:r>
            <a:endParaRPr lang="en-US" sz="850" dirty="0"/>
          </a:p>
        </p:txBody>
      </p:sp>
      <p:sp>
        <p:nvSpPr>
          <p:cNvPr id="58" name="Text 54"/>
          <p:cNvSpPr/>
          <p:nvPr/>
        </p:nvSpPr>
        <p:spPr>
          <a:xfrm>
            <a:off x="429768" y="4824984"/>
            <a:ext cx="3255264"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Large open arrow from last process to customer.</a:t>
            </a:r>
            <a:endParaRPr lang="en-US" sz="800" dirty="0"/>
          </a:p>
        </p:txBody>
      </p:sp>
      <p:sp>
        <p:nvSpPr>
          <p:cNvPr id="59" name="Shape 55"/>
          <p:cNvSpPr/>
          <p:nvPr/>
        </p:nvSpPr>
        <p:spPr>
          <a:xfrm>
            <a:off x="3822192" y="3383280"/>
            <a:ext cx="3547872" cy="1828800"/>
          </a:xfrm>
          <a:prstGeom prst="rect">
            <a:avLst/>
          </a:prstGeom>
          <a:solidFill>
            <a:srgbClr val="FEE2E2"/>
          </a:solidFill>
          <a:ln w="10160">
            <a:solidFill>
              <a:srgbClr val="B91C1C"/>
            </a:solidFill>
            <a:prstDash val="solid"/>
          </a:ln>
        </p:spPr>
        <p:txBody>
          <a:bodyPr/>
          <a:lstStyle/>
          <a:p>
            <a:endParaRPr lang="en-GB"/>
          </a:p>
        </p:txBody>
      </p:sp>
      <p:sp>
        <p:nvSpPr>
          <p:cNvPr id="60" name="Shape 56"/>
          <p:cNvSpPr/>
          <p:nvPr/>
        </p:nvSpPr>
        <p:spPr>
          <a:xfrm>
            <a:off x="3822192" y="3383280"/>
            <a:ext cx="3547872" cy="274320"/>
          </a:xfrm>
          <a:prstGeom prst="rect">
            <a:avLst/>
          </a:prstGeom>
          <a:solidFill>
            <a:srgbClr val="B91C1C"/>
          </a:solidFill>
          <a:ln/>
        </p:spPr>
        <p:txBody>
          <a:bodyPr/>
          <a:lstStyle/>
          <a:p>
            <a:endParaRPr lang="en-GB"/>
          </a:p>
        </p:txBody>
      </p:sp>
      <p:sp>
        <p:nvSpPr>
          <p:cNvPr id="61" name="Text 57"/>
          <p:cNvSpPr/>
          <p:nvPr/>
        </p:nvSpPr>
        <p:spPr>
          <a:xfrm>
            <a:off x="3895344" y="3410712"/>
            <a:ext cx="3401568" cy="219456"/>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IMPROVEMENT MARKERS</a:t>
            </a:r>
            <a:endParaRPr lang="en-US" sz="950" dirty="0"/>
          </a:p>
        </p:txBody>
      </p:sp>
      <p:sp>
        <p:nvSpPr>
          <p:cNvPr id="62" name="Shape 58"/>
          <p:cNvSpPr/>
          <p:nvPr/>
        </p:nvSpPr>
        <p:spPr>
          <a:xfrm>
            <a:off x="3913632" y="3712464"/>
            <a:ext cx="73152" cy="73152"/>
          </a:xfrm>
          <a:prstGeom prst="rect">
            <a:avLst/>
          </a:prstGeom>
          <a:solidFill>
            <a:srgbClr val="B91C1C"/>
          </a:solidFill>
          <a:ln/>
        </p:spPr>
        <p:txBody>
          <a:bodyPr/>
          <a:lstStyle/>
          <a:p>
            <a:endParaRPr lang="en-GB"/>
          </a:p>
        </p:txBody>
      </p:sp>
      <p:sp>
        <p:nvSpPr>
          <p:cNvPr id="63" name="Text 59"/>
          <p:cNvSpPr/>
          <p:nvPr/>
        </p:nvSpPr>
        <p:spPr>
          <a:xfrm>
            <a:off x="4023360" y="3703320"/>
            <a:ext cx="1005840" cy="146304"/>
          </a:xfrm>
          <a:prstGeom prst="rect">
            <a:avLst/>
          </a:prstGeom>
          <a:noFill/>
          <a:ln/>
        </p:spPr>
        <p:txBody>
          <a:bodyPr wrap="square" rtlCol="0" anchor="ctr"/>
          <a:lstStyle/>
          <a:p>
            <a:pPr marL="0" indent="0">
              <a:buNone/>
            </a:pPr>
            <a:r>
              <a:rPr lang="en-US" sz="850" b="1" dirty="0">
                <a:solidFill>
                  <a:srgbClr val="B91C1C"/>
                </a:solidFill>
                <a:latin typeface="Arial" pitchFamily="34" charset="0"/>
                <a:ea typeface="Arial" pitchFamily="34" charset="-122"/>
                <a:cs typeface="Arial" pitchFamily="34" charset="-120"/>
              </a:rPr>
              <a:t>Kaizen burst:</a:t>
            </a:r>
            <a:endParaRPr lang="en-US" sz="850" dirty="0"/>
          </a:p>
        </p:txBody>
      </p:sp>
      <p:sp>
        <p:nvSpPr>
          <p:cNvPr id="64" name="Text 60"/>
          <p:cNvSpPr/>
          <p:nvPr/>
        </p:nvSpPr>
        <p:spPr>
          <a:xfrm>
            <a:off x="4023360" y="3849624"/>
            <a:ext cx="3255264"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Starburst shape (approximated as spiked box). Marks a waste or improvement opportunity.</a:t>
            </a:r>
            <a:endParaRPr lang="en-US" sz="800" dirty="0"/>
          </a:p>
        </p:txBody>
      </p:sp>
      <p:sp>
        <p:nvSpPr>
          <p:cNvPr id="65" name="Shape 61"/>
          <p:cNvSpPr/>
          <p:nvPr/>
        </p:nvSpPr>
        <p:spPr>
          <a:xfrm>
            <a:off x="3913632" y="4443984"/>
            <a:ext cx="73152" cy="73152"/>
          </a:xfrm>
          <a:prstGeom prst="rect">
            <a:avLst/>
          </a:prstGeom>
          <a:solidFill>
            <a:srgbClr val="B91C1C"/>
          </a:solidFill>
          <a:ln/>
        </p:spPr>
        <p:txBody>
          <a:bodyPr/>
          <a:lstStyle/>
          <a:p>
            <a:endParaRPr lang="en-GB"/>
          </a:p>
        </p:txBody>
      </p:sp>
      <p:sp>
        <p:nvSpPr>
          <p:cNvPr id="66" name="Text 62"/>
          <p:cNvSpPr/>
          <p:nvPr/>
        </p:nvSpPr>
        <p:spPr>
          <a:xfrm>
            <a:off x="4023360" y="4434840"/>
            <a:ext cx="1005840" cy="146304"/>
          </a:xfrm>
          <a:prstGeom prst="rect">
            <a:avLst/>
          </a:prstGeom>
          <a:noFill/>
          <a:ln/>
        </p:spPr>
        <p:txBody>
          <a:bodyPr wrap="square" rtlCol="0" anchor="ctr"/>
          <a:lstStyle/>
          <a:p>
            <a:pPr marL="0" indent="0">
              <a:buNone/>
            </a:pPr>
            <a:r>
              <a:rPr lang="en-US" sz="850" b="1" dirty="0">
                <a:solidFill>
                  <a:srgbClr val="B91C1C"/>
                </a:solidFill>
                <a:latin typeface="Arial" pitchFamily="34" charset="0"/>
                <a:ea typeface="Arial" pitchFamily="34" charset="-122"/>
                <a:cs typeface="Arial" pitchFamily="34" charset="-120"/>
              </a:rPr>
              <a:t>Target value:</a:t>
            </a:r>
            <a:endParaRPr lang="en-US" sz="850" dirty="0"/>
          </a:p>
        </p:txBody>
      </p:sp>
      <p:sp>
        <p:nvSpPr>
          <p:cNvPr id="67" name="Text 63"/>
          <p:cNvSpPr/>
          <p:nvPr/>
        </p:nvSpPr>
        <p:spPr>
          <a:xfrm>
            <a:off x="4023360" y="4581144"/>
            <a:ext cx="3255264"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Value written on the kaizen burst showing the improvement goal.</a:t>
            </a:r>
            <a:endParaRPr lang="en-US" sz="800" dirty="0"/>
          </a:p>
        </p:txBody>
      </p:sp>
      <p:sp>
        <p:nvSpPr>
          <p:cNvPr id="68" name="Shape 64"/>
          <p:cNvSpPr/>
          <p:nvPr/>
        </p:nvSpPr>
        <p:spPr>
          <a:xfrm>
            <a:off x="7415784" y="3383280"/>
            <a:ext cx="4544568" cy="1828800"/>
          </a:xfrm>
          <a:prstGeom prst="rect">
            <a:avLst/>
          </a:prstGeom>
          <a:solidFill>
            <a:srgbClr val="E0F7F7"/>
          </a:solidFill>
          <a:ln w="10160">
            <a:solidFill>
              <a:srgbClr val="0D7377"/>
            </a:solidFill>
            <a:prstDash val="solid"/>
          </a:ln>
        </p:spPr>
        <p:txBody>
          <a:bodyPr/>
          <a:lstStyle/>
          <a:p>
            <a:endParaRPr lang="en-GB"/>
          </a:p>
        </p:txBody>
      </p:sp>
      <p:sp>
        <p:nvSpPr>
          <p:cNvPr id="69" name="Shape 65"/>
          <p:cNvSpPr/>
          <p:nvPr/>
        </p:nvSpPr>
        <p:spPr>
          <a:xfrm>
            <a:off x="7415784" y="3383280"/>
            <a:ext cx="4544568" cy="274320"/>
          </a:xfrm>
          <a:prstGeom prst="rect">
            <a:avLst/>
          </a:prstGeom>
          <a:solidFill>
            <a:srgbClr val="0D7377"/>
          </a:solidFill>
          <a:ln/>
        </p:spPr>
        <p:txBody>
          <a:bodyPr/>
          <a:lstStyle/>
          <a:p>
            <a:endParaRPr lang="en-GB"/>
          </a:p>
        </p:txBody>
      </p:sp>
      <p:sp>
        <p:nvSpPr>
          <p:cNvPr id="70" name="Text 66"/>
          <p:cNvSpPr/>
          <p:nvPr/>
        </p:nvSpPr>
        <p:spPr>
          <a:xfrm>
            <a:off x="7488936" y="3410712"/>
            <a:ext cx="4398264" cy="219456"/>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EXTERNAL ENTITIES</a:t>
            </a:r>
            <a:endParaRPr lang="en-US" sz="950" dirty="0"/>
          </a:p>
        </p:txBody>
      </p:sp>
      <p:sp>
        <p:nvSpPr>
          <p:cNvPr id="71" name="Shape 67"/>
          <p:cNvSpPr/>
          <p:nvPr/>
        </p:nvSpPr>
        <p:spPr>
          <a:xfrm>
            <a:off x="7507224" y="3712464"/>
            <a:ext cx="73152" cy="73152"/>
          </a:xfrm>
          <a:prstGeom prst="rect">
            <a:avLst/>
          </a:prstGeom>
          <a:solidFill>
            <a:srgbClr val="0D7377"/>
          </a:solidFill>
          <a:ln/>
        </p:spPr>
        <p:txBody>
          <a:bodyPr/>
          <a:lstStyle/>
          <a:p>
            <a:endParaRPr lang="en-GB"/>
          </a:p>
        </p:txBody>
      </p:sp>
      <p:sp>
        <p:nvSpPr>
          <p:cNvPr id="72" name="Text 68"/>
          <p:cNvSpPr/>
          <p:nvPr/>
        </p:nvSpPr>
        <p:spPr>
          <a:xfrm>
            <a:off x="7616952" y="3703320"/>
            <a:ext cx="1005840" cy="146304"/>
          </a:xfrm>
          <a:prstGeom prst="rect">
            <a:avLst/>
          </a:prstGeom>
          <a:noFill/>
          <a:ln/>
        </p:spPr>
        <p:txBody>
          <a:bodyPr wrap="square" rtlCol="0" anchor="ctr"/>
          <a:lstStyle/>
          <a:p>
            <a:pPr marL="0" indent="0">
              <a:buNone/>
            </a:pPr>
            <a:r>
              <a:rPr lang="en-US" sz="850" b="1" dirty="0">
                <a:solidFill>
                  <a:srgbClr val="0D7377"/>
                </a:solidFill>
                <a:latin typeface="Arial" pitchFamily="34" charset="0"/>
                <a:ea typeface="Arial" pitchFamily="34" charset="-122"/>
                <a:cs typeface="Arial" pitchFamily="34" charset="-120"/>
              </a:rPr>
              <a:t>Factory/supplier icon:</a:t>
            </a:r>
            <a:endParaRPr lang="en-US" sz="850" dirty="0"/>
          </a:p>
        </p:txBody>
      </p:sp>
      <p:sp>
        <p:nvSpPr>
          <p:cNvPr id="73" name="Text 69"/>
          <p:cNvSpPr/>
          <p:nvPr/>
        </p:nvSpPr>
        <p:spPr>
          <a:xfrm>
            <a:off x="7616952" y="3849624"/>
            <a:ext cx="4251960"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Building shape in top left. Represents the supplier of raw material or bought-in parts.</a:t>
            </a:r>
            <a:endParaRPr lang="en-US" sz="800" dirty="0"/>
          </a:p>
        </p:txBody>
      </p:sp>
      <p:sp>
        <p:nvSpPr>
          <p:cNvPr id="74" name="Shape 70"/>
          <p:cNvSpPr/>
          <p:nvPr/>
        </p:nvSpPr>
        <p:spPr>
          <a:xfrm>
            <a:off x="7507224" y="4200144"/>
            <a:ext cx="73152" cy="73152"/>
          </a:xfrm>
          <a:prstGeom prst="rect">
            <a:avLst/>
          </a:prstGeom>
          <a:solidFill>
            <a:srgbClr val="0D7377"/>
          </a:solidFill>
          <a:ln/>
        </p:spPr>
        <p:txBody>
          <a:bodyPr/>
          <a:lstStyle/>
          <a:p>
            <a:endParaRPr lang="en-GB"/>
          </a:p>
        </p:txBody>
      </p:sp>
      <p:sp>
        <p:nvSpPr>
          <p:cNvPr id="75" name="Text 71"/>
          <p:cNvSpPr/>
          <p:nvPr/>
        </p:nvSpPr>
        <p:spPr>
          <a:xfrm>
            <a:off x="7616952" y="4191000"/>
            <a:ext cx="1005840" cy="146304"/>
          </a:xfrm>
          <a:prstGeom prst="rect">
            <a:avLst/>
          </a:prstGeom>
          <a:noFill/>
          <a:ln/>
        </p:spPr>
        <p:txBody>
          <a:bodyPr wrap="square" rtlCol="0" anchor="ctr"/>
          <a:lstStyle/>
          <a:p>
            <a:pPr marL="0" indent="0">
              <a:buNone/>
            </a:pPr>
            <a:r>
              <a:rPr lang="en-US" sz="850" b="1" dirty="0">
                <a:solidFill>
                  <a:srgbClr val="0D7377"/>
                </a:solidFill>
                <a:latin typeface="Arial" pitchFamily="34" charset="0"/>
                <a:ea typeface="Arial" pitchFamily="34" charset="-122"/>
                <a:cs typeface="Arial" pitchFamily="34" charset="-120"/>
              </a:rPr>
              <a:t>Customer icon:</a:t>
            </a:r>
            <a:endParaRPr lang="en-US" sz="850" dirty="0"/>
          </a:p>
        </p:txBody>
      </p:sp>
      <p:sp>
        <p:nvSpPr>
          <p:cNvPr id="76" name="Text 72"/>
          <p:cNvSpPr/>
          <p:nvPr/>
        </p:nvSpPr>
        <p:spPr>
          <a:xfrm>
            <a:off x="7616952" y="4337304"/>
            <a:ext cx="4251960"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Building shape in top right. Represents the end customer or next process tier.</a:t>
            </a:r>
            <a:endParaRPr lang="en-US" sz="800" dirty="0"/>
          </a:p>
        </p:txBody>
      </p:sp>
      <p:sp>
        <p:nvSpPr>
          <p:cNvPr id="77" name="Shape 73"/>
          <p:cNvSpPr/>
          <p:nvPr/>
        </p:nvSpPr>
        <p:spPr>
          <a:xfrm>
            <a:off x="7507224" y="4687824"/>
            <a:ext cx="73152" cy="73152"/>
          </a:xfrm>
          <a:prstGeom prst="rect">
            <a:avLst/>
          </a:prstGeom>
          <a:solidFill>
            <a:srgbClr val="0D7377"/>
          </a:solidFill>
          <a:ln/>
        </p:spPr>
        <p:txBody>
          <a:bodyPr/>
          <a:lstStyle/>
          <a:p>
            <a:endParaRPr lang="en-GB"/>
          </a:p>
        </p:txBody>
      </p:sp>
      <p:sp>
        <p:nvSpPr>
          <p:cNvPr id="78" name="Text 74"/>
          <p:cNvSpPr/>
          <p:nvPr/>
        </p:nvSpPr>
        <p:spPr>
          <a:xfrm>
            <a:off x="7616952" y="4678680"/>
            <a:ext cx="1005840" cy="146304"/>
          </a:xfrm>
          <a:prstGeom prst="rect">
            <a:avLst/>
          </a:prstGeom>
          <a:noFill/>
          <a:ln/>
        </p:spPr>
        <p:txBody>
          <a:bodyPr wrap="square" rtlCol="0" anchor="ctr"/>
          <a:lstStyle/>
          <a:p>
            <a:pPr marL="0" indent="0">
              <a:buNone/>
            </a:pPr>
            <a:r>
              <a:rPr lang="en-US" sz="850" b="1" dirty="0">
                <a:solidFill>
                  <a:srgbClr val="0D7377"/>
                </a:solidFill>
                <a:latin typeface="Arial" pitchFamily="34" charset="0"/>
                <a:ea typeface="Arial" pitchFamily="34" charset="-122"/>
                <a:cs typeface="Arial" pitchFamily="34" charset="-120"/>
              </a:rPr>
              <a:t>Transport arrow:</a:t>
            </a:r>
            <a:endParaRPr lang="en-US" sz="850" dirty="0"/>
          </a:p>
        </p:txBody>
      </p:sp>
      <p:sp>
        <p:nvSpPr>
          <p:cNvPr id="79" name="Text 75"/>
          <p:cNvSpPr/>
          <p:nvPr/>
        </p:nvSpPr>
        <p:spPr>
          <a:xfrm>
            <a:off x="7616952" y="4824984"/>
            <a:ext cx="4251960" cy="310896"/>
          </a:xfrm>
          <a:prstGeom prst="rect">
            <a:avLst/>
          </a:prstGeom>
          <a:noFill/>
          <a:ln/>
        </p:spPr>
        <p:txBody>
          <a:bodyPr wrap="square" rtlCol="0" anchor="t"/>
          <a:lstStyle/>
          <a:p>
            <a:pPr marL="0" indent="0">
              <a:buNone/>
            </a:pPr>
            <a:r>
              <a:rPr lang="en-US" sz="800" dirty="0">
                <a:solidFill>
                  <a:srgbClr val="5B595A"/>
                </a:solidFill>
                <a:latin typeface="Arial" pitchFamily="34" charset="0"/>
                <a:ea typeface="Arial" pitchFamily="34" charset="-122"/>
                <a:cs typeface="Arial" pitchFamily="34" charset="-120"/>
              </a:rPr>
              <a:t>Shows mode of transport and frequency between supplier and the value stream.</a:t>
            </a:r>
            <a:endParaRPr lang="en-US" sz="800" dirty="0"/>
          </a:p>
        </p:txBody>
      </p:sp>
      <p:sp>
        <p:nvSpPr>
          <p:cNvPr id="80" name="Shape 76"/>
          <p:cNvSpPr/>
          <p:nvPr/>
        </p:nvSpPr>
        <p:spPr>
          <a:xfrm>
            <a:off x="228600" y="5266944"/>
            <a:ext cx="11731752" cy="274320"/>
          </a:xfrm>
          <a:prstGeom prst="rect">
            <a:avLst/>
          </a:prstGeom>
          <a:solidFill>
            <a:srgbClr val="E0F4FD"/>
          </a:solidFill>
          <a:ln w="6350">
            <a:solidFill>
              <a:srgbClr val="009FE3"/>
            </a:solidFill>
            <a:prstDash val="solid"/>
          </a:ln>
        </p:spPr>
        <p:txBody>
          <a:bodyPr/>
          <a:lstStyle/>
          <a:p>
            <a:endParaRPr lang="en-GB"/>
          </a:p>
        </p:txBody>
      </p:sp>
      <p:sp>
        <p:nvSpPr>
          <p:cNvPr id="81" name="Text 77"/>
          <p:cNvSpPr/>
          <p:nvPr/>
        </p:nvSpPr>
        <p:spPr>
          <a:xfrm>
            <a:off x="320040" y="5285232"/>
            <a:ext cx="11521440" cy="237744"/>
          </a:xfrm>
          <a:prstGeom prst="rect">
            <a:avLst/>
          </a:prstGeom>
          <a:noFill/>
          <a:ln/>
        </p:spPr>
        <p:txBody>
          <a:bodyPr wrap="square" rtlCol="0" anchor="ctr"/>
          <a:lstStyle/>
          <a:p>
            <a:pPr marL="0" indent="0">
              <a:buNone/>
            </a:pPr>
            <a:r>
              <a:rPr lang="en-US" sz="850" i="1" dirty="0">
                <a:solidFill>
                  <a:srgbClr val="1E3A5F"/>
                </a:solidFill>
                <a:latin typeface="Arial" pitchFamily="34" charset="0"/>
                <a:ea typeface="Arial" pitchFamily="34" charset="-122"/>
                <a:cs typeface="Arial" pitchFamily="34" charset="-120"/>
              </a:rPr>
              <a:t>Tip: Draw your map on A3 or A1 paper with pencil first. Digital versions come after, not before. The act of physically drawing it as a team generates insights that clicking around a computer screen does not.</a:t>
            </a:r>
            <a:endParaRPr lang="en-US" sz="850" dirty="0"/>
          </a:p>
        </p:txBody>
      </p:sp>
      <p:sp>
        <p:nvSpPr>
          <p:cNvPr id="82" name="Rectangle 81"/>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Picture 82" descr="image.png"/>
          <p:cNvPicPr>
            <a:picLocks noChangeAspect="1"/>
          </p:cNvPicPr>
          <p:nvPr/>
        </p:nvPicPr>
        <p:blipFill>
          <a:blip r:embed="rId5"/>
          <a:stretch>
            <a:fillRect/>
          </a:stretch>
        </p:blipFill>
        <p:spPr>
          <a:xfrm>
            <a:off x="10610088" y="100584"/>
            <a:ext cx="566928" cy="347472"/>
          </a:xfrm>
          <a:prstGeom prst="rect">
            <a:avLst/>
          </a:prstGeom>
        </p:spPr>
      </p:pic>
      <p:pic>
        <p:nvPicPr>
          <p:cNvPr id="84" name="Picture 83" descr="image.png"/>
          <p:cNvPicPr>
            <a:picLocks noChangeAspect="1"/>
          </p:cNvPicPr>
          <p:nvPr/>
        </p:nvPicPr>
        <p:blipFill>
          <a:blip r:embed="rId4"/>
          <a:stretch>
            <a:fillRect/>
          </a:stretch>
        </p:blipFill>
        <p:spPr>
          <a:xfrm>
            <a:off x="11222736" y="100584"/>
            <a:ext cx="658368" cy="347472"/>
          </a:xfrm>
          <a:prstGeom prst="rect">
            <a:avLst/>
          </a:prstGeom>
        </p:spPr>
      </p:pic>
      <p:sp>
        <p:nvSpPr>
          <p:cNvPr id="85" name="Rectangle 84"/>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1. Create a Current State Value Stream Map</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Step 1: Define Customer Requirements and Calculate Takt Time</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9" name="Text 6"/>
          <p:cNvSpPr/>
          <p:nvPr/>
        </p:nvSpPr>
        <p:spPr>
          <a:xfrm>
            <a:off x="274320" y="987552"/>
            <a:ext cx="5760720" cy="457200"/>
          </a:xfrm>
          <a:prstGeom prst="rect">
            <a:avLst/>
          </a:prstGeom>
          <a:noFill/>
          <a:ln/>
        </p:spPr>
        <p:txBody>
          <a:bodyPr wrap="square" rtlCol="0" anchor="ctr"/>
          <a:lstStyle/>
          <a:p>
            <a:pPr marL="0" indent="0">
              <a:buNone/>
            </a:pPr>
            <a:r>
              <a:rPr lang="en-US" sz="1050" dirty="0">
                <a:solidFill>
                  <a:srgbClr val="5B595A"/>
                </a:solidFill>
                <a:latin typeface="Arial" pitchFamily="34" charset="0"/>
                <a:ea typeface="Arial" pitchFamily="34" charset="-122"/>
                <a:cs typeface="Arial" pitchFamily="34" charset="-120"/>
              </a:rPr>
              <a:t>Start every VSM exercise from the customer, not the supplier. Understanding what the customer actually needs, and at what rate, is the foundation on which every other decision is built.</a:t>
            </a:r>
            <a:endParaRPr lang="en-US" sz="1050" dirty="0"/>
          </a:p>
        </p:txBody>
      </p:sp>
      <p:sp>
        <p:nvSpPr>
          <p:cNvPr id="10" name="Text 7"/>
          <p:cNvSpPr/>
          <p:nvPr/>
        </p:nvSpPr>
        <p:spPr>
          <a:xfrm>
            <a:off x="274320" y="1508760"/>
            <a:ext cx="5760720" cy="256032"/>
          </a:xfrm>
          <a:prstGeom prst="rect">
            <a:avLst/>
          </a:prstGeom>
          <a:noFill/>
          <a:ln/>
        </p:spPr>
        <p:txBody>
          <a:bodyPr wrap="square" rtlCol="0" anchor="ctr"/>
          <a:lstStyle/>
          <a:p>
            <a:pPr marL="0" indent="0">
              <a:buNone/>
            </a:pPr>
            <a:r>
              <a:rPr lang="en-US" sz="1100" b="1" dirty="0">
                <a:solidFill>
                  <a:srgbClr val="1E3A5F"/>
                </a:solidFill>
                <a:latin typeface="Arial" pitchFamily="34" charset="0"/>
                <a:ea typeface="Arial" pitchFamily="34" charset="-122"/>
                <a:cs typeface="Arial" pitchFamily="34" charset="-120"/>
              </a:rPr>
              <a:t>What to capture about your customer:</a:t>
            </a:r>
            <a:endParaRPr lang="en-US" sz="1100" dirty="0"/>
          </a:p>
        </p:txBody>
      </p:sp>
      <p:sp>
        <p:nvSpPr>
          <p:cNvPr id="11" name="Shape 8"/>
          <p:cNvSpPr/>
          <p:nvPr/>
        </p:nvSpPr>
        <p:spPr>
          <a:xfrm>
            <a:off x="347472" y="1860804"/>
            <a:ext cx="91440" cy="91440"/>
          </a:xfrm>
          <a:prstGeom prst="rect">
            <a:avLst/>
          </a:prstGeom>
          <a:solidFill>
            <a:srgbClr val="009FE3"/>
          </a:solidFill>
          <a:ln/>
        </p:spPr>
        <p:txBody>
          <a:bodyPr/>
          <a:lstStyle/>
          <a:p>
            <a:endParaRPr lang="en-GB"/>
          </a:p>
        </p:txBody>
      </p:sp>
      <p:sp>
        <p:nvSpPr>
          <p:cNvPr id="12" name="Text 9"/>
          <p:cNvSpPr/>
          <p:nvPr/>
        </p:nvSpPr>
        <p:spPr>
          <a:xfrm>
            <a:off x="548640" y="1810512"/>
            <a:ext cx="5577840" cy="292608"/>
          </a:xfrm>
          <a:prstGeom prst="rect">
            <a:avLst/>
          </a:prstGeom>
          <a:noFill/>
          <a:ln/>
        </p:spPr>
        <p:txBody>
          <a:bodyPr wrap="square" rtlCol="0" anchor="t"/>
          <a:lstStyle/>
          <a:p>
            <a:pPr marL="0" indent="0">
              <a:buNone/>
            </a:pPr>
            <a:r>
              <a:rPr lang="en-US" sz="1050" dirty="0">
                <a:solidFill>
                  <a:srgbClr val="5B595A"/>
                </a:solidFill>
                <a:latin typeface="Arial" pitchFamily="34" charset="0"/>
                <a:ea typeface="Arial" pitchFamily="34" charset="-122"/>
                <a:cs typeface="Arial" pitchFamily="34" charset="-120"/>
              </a:rPr>
              <a:t>Volume: how many units per week/day do they require?</a:t>
            </a:r>
            <a:endParaRPr lang="en-US" sz="1050" dirty="0"/>
          </a:p>
        </p:txBody>
      </p:sp>
      <p:sp>
        <p:nvSpPr>
          <p:cNvPr id="13" name="Shape 10"/>
          <p:cNvSpPr/>
          <p:nvPr/>
        </p:nvSpPr>
        <p:spPr>
          <a:xfrm>
            <a:off x="347472" y="2208276"/>
            <a:ext cx="91440" cy="91440"/>
          </a:xfrm>
          <a:prstGeom prst="rect">
            <a:avLst/>
          </a:prstGeom>
          <a:solidFill>
            <a:srgbClr val="009FE3"/>
          </a:solidFill>
          <a:ln/>
        </p:spPr>
        <p:txBody>
          <a:bodyPr/>
          <a:lstStyle/>
          <a:p>
            <a:endParaRPr lang="en-GB"/>
          </a:p>
        </p:txBody>
      </p:sp>
      <p:sp>
        <p:nvSpPr>
          <p:cNvPr id="14" name="Text 11"/>
          <p:cNvSpPr/>
          <p:nvPr/>
        </p:nvSpPr>
        <p:spPr>
          <a:xfrm>
            <a:off x="548640" y="2157984"/>
            <a:ext cx="5577840" cy="292608"/>
          </a:xfrm>
          <a:prstGeom prst="rect">
            <a:avLst/>
          </a:prstGeom>
          <a:noFill/>
          <a:ln/>
        </p:spPr>
        <p:txBody>
          <a:bodyPr wrap="square" rtlCol="0" anchor="t"/>
          <a:lstStyle/>
          <a:p>
            <a:pPr marL="0" indent="0">
              <a:buNone/>
            </a:pPr>
            <a:r>
              <a:rPr lang="en-US" sz="1050" dirty="0">
                <a:solidFill>
                  <a:srgbClr val="5B595A"/>
                </a:solidFill>
                <a:latin typeface="Arial" pitchFamily="34" charset="0"/>
                <a:ea typeface="Arial" pitchFamily="34" charset="-122"/>
                <a:cs typeface="Arial" pitchFamily="34" charset="-120"/>
              </a:rPr>
              <a:t>Delivery frequency: daily, weekly, call-off?</a:t>
            </a:r>
            <a:endParaRPr lang="en-US" sz="1050" dirty="0"/>
          </a:p>
        </p:txBody>
      </p:sp>
      <p:sp>
        <p:nvSpPr>
          <p:cNvPr id="15" name="Shape 12"/>
          <p:cNvSpPr/>
          <p:nvPr/>
        </p:nvSpPr>
        <p:spPr>
          <a:xfrm>
            <a:off x="347472" y="2555748"/>
            <a:ext cx="91440" cy="91440"/>
          </a:xfrm>
          <a:prstGeom prst="rect">
            <a:avLst/>
          </a:prstGeom>
          <a:solidFill>
            <a:srgbClr val="009FE3"/>
          </a:solidFill>
          <a:ln/>
        </p:spPr>
        <p:txBody>
          <a:bodyPr/>
          <a:lstStyle/>
          <a:p>
            <a:endParaRPr lang="en-GB"/>
          </a:p>
        </p:txBody>
      </p:sp>
      <p:sp>
        <p:nvSpPr>
          <p:cNvPr id="16" name="Text 13"/>
          <p:cNvSpPr/>
          <p:nvPr/>
        </p:nvSpPr>
        <p:spPr>
          <a:xfrm>
            <a:off x="548640" y="2505456"/>
            <a:ext cx="5577840" cy="292608"/>
          </a:xfrm>
          <a:prstGeom prst="rect">
            <a:avLst/>
          </a:prstGeom>
          <a:noFill/>
          <a:ln/>
        </p:spPr>
        <p:txBody>
          <a:bodyPr wrap="square" rtlCol="0" anchor="t"/>
          <a:lstStyle/>
          <a:p>
            <a:pPr marL="0" indent="0">
              <a:buNone/>
            </a:pPr>
            <a:r>
              <a:rPr lang="en-US" sz="1050" dirty="0">
                <a:solidFill>
                  <a:srgbClr val="5B595A"/>
                </a:solidFill>
                <a:latin typeface="Arial" pitchFamily="34" charset="0"/>
                <a:ea typeface="Arial" pitchFamily="34" charset="-122"/>
                <a:cs typeface="Arial" pitchFamily="34" charset="-120"/>
              </a:rPr>
              <a:t>Packaging and labelling requirements</a:t>
            </a:r>
            <a:endParaRPr lang="en-US" sz="1050" dirty="0"/>
          </a:p>
        </p:txBody>
      </p:sp>
      <p:sp>
        <p:nvSpPr>
          <p:cNvPr id="17" name="Shape 14"/>
          <p:cNvSpPr/>
          <p:nvPr/>
        </p:nvSpPr>
        <p:spPr>
          <a:xfrm>
            <a:off x="347472" y="2903220"/>
            <a:ext cx="91440" cy="91440"/>
          </a:xfrm>
          <a:prstGeom prst="rect">
            <a:avLst/>
          </a:prstGeom>
          <a:solidFill>
            <a:srgbClr val="009FE3"/>
          </a:solidFill>
          <a:ln/>
        </p:spPr>
        <p:txBody>
          <a:bodyPr/>
          <a:lstStyle/>
          <a:p>
            <a:endParaRPr lang="en-GB"/>
          </a:p>
        </p:txBody>
      </p:sp>
      <p:sp>
        <p:nvSpPr>
          <p:cNvPr id="18" name="Text 15"/>
          <p:cNvSpPr/>
          <p:nvPr/>
        </p:nvSpPr>
        <p:spPr>
          <a:xfrm>
            <a:off x="548640" y="2852928"/>
            <a:ext cx="5577840" cy="292608"/>
          </a:xfrm>
          <a:prstGeom prst="rect">
            <a:avLst/>
          </a:prstGeom>
          <a:noFill/>
          <a:ln/>
        </p:spPr>
        <p:txBody>
          <a:bodyPr wrap="square" rtlCol="0" anchor="t"/>
          <a:lstStyle/>
          <a:p>
            <a:pPr marL="0" indent="0">
              <a:buNone/>
            </a:pPr>
            <a:r>
              <a:rPr lang="en-US" sz="1050" dirty="0">
                <a:solidFill>
                  <a:srgbClr val="5B595A"/>
                </a:solidFill>
                <a:latin typeface="Arial" pitchFamily="34" charset="0"/>
                <a:ea typeface="Arial" pitchFamily="34" charset="-122"/>
                <a:cs typeface="Arial" pitchFamily="34" charset="-120"/>
              </a:rPr>
              <a:t>Quality grade and inspection requirements (especially important in nuclear)</a:t>
            </a:r>
            <a:endParaRPr lang="en-US" sz="1050" dirty="0"/>
          </a:p>
        </p:txBody>
      </p:sp>
      <p:sp>
        <p:nvSpPr>
          <p:cNvPr id="19" name="Shape 16"/>
          <p:cNvSpPr/>
          <p:nvPr/>
        </p:nvSpPr>
        <p:spPr>
          <a:xfrm>
            <a:off x="347472" y="3250692"/>
            <a:ext cx="91440" cy="91440"/>
          </a:xfrm>
          <a:prstGeom prst="rect">
            <a:avLst/>
          </a:prstGeom>
          <a:solidFill>
            <a:srgbClr val="009FE3"/>
          </a:solidFill>
          <a:ln/>
        </p:spPr>
        <p:txBody>
          <a:bodyPr/>
          <a:lstStyle/>
          <a:p>
            <a:endParaRPr lang="en-GB"/>
          </a:p>
        </p:txBody>
      </p:sp>
      <p:sp>
        <p:nvSpPr>
          <p:cNvPr id="20" name="Text 17"/>
          <p:cNvSpPr/>
          <p:nvPr/>
        </p:nvSpPr>
        <p:spPr>
          <a:xfrm>
            <a:off x="548640" y="3200400"/>
            <a:ext cx="5577840" cy="292608"/>
          </a:xfrm>
          <a:prstGeom prst="rect">
            <a:avLst/>
          </a:prstGeom>
          <a:noFill/>
          <a:ln/>
        </p:spPr>
        <p:txBody>
          <a:bodyPr wrap="square" rtlCol="0" anchor="t"/>
          <a:lstStyle/>
          <a:p>
            <a:pPr marL="0" indent="0">
              <a:buNone/>
            </a:pPr>
            <a:r>
              <a:rPr lang="en-US" sz="1050" dirty="0">
                <a:solidFill>
                  <a:srgbClr val="5B595A"/>
                </a:solidFill>
                <a:latin typeface="Arial" pitchFamily="34" charset="0"/>
                <a:ea typeface="Arial" pitchFamily="34" charset="-122"/>
                <a:cs typeface="Arial" pitchFamily="34" charset="-120"/>
              </a:rPr>
              <a:t>Lead time expectation: what do they expect from order to delivery?</a:t>
            </a:r>
            <a:endParaRPr lang="en-US" sz="1050" dirty="0"/>
          </a:p>
        </p:txBody>
      </p:sp>
      <p:sp>
        <p:nvSpPr>
          <p:cNvPr id="21" name="Shape 18"/>
          <p:cNvSpPr/>
          <p:nvPr/>
        </p:nvSpPr>
        <p:spPr>
          <a:xfrm>
            <a:off x="347472" y="3598164"/>
            <a:ext cx="91440" cy="91440"/>
          </a:xfrm>
          <a:prstGeom prst="rect">
            <a:avLst/>
          </a:prstGeom>
          <a:solidFill>
            <a:srgbClr val="009FE3"/>
          </a:solidFill>
          <a:ln/>
        </p:spPr>
        <p:txBody>
          <a:bodyPr/>
          <a:lstStyle/>
          <a:p>
            <a:endParaRPr lang="en-GB"/>
          </a:p>
        </p:txBody>
      </p:sp>
      <p:sp>
        <p:nvSpPr>
          <p:cNvPr id="22" name="Text 19"/>
          <p:cNvSpPr/>
          <p:nvPr/>
        </p:nvSpPr>
        <p:spPr>
          <a:xfrm>
            <a:off x="548640" y="3547872"/>
            <a:ext cx="5577840" cy="292608"/>
          </a:xfrm>
          <a:prstGeom prst="rect">
            <a:avLst/>
          </a:prstGeom>
          <a:noFill/>
          <a:ln/>
        </p:spPr>
        <p:txBody>
          <a:bodyPr wrap="square" rtlCol="0" anchor="t"/>
          <a:lstStyle/>
          <a:p>
            <a:pPr marL="0" indent="0">
              <a:buNone/>
            </a:pPr>
            <a:r>
              <a:rPr lang="en-US" sz="1050" dirty="0">
                <a:solidFill>
                  <a:srgbClr val="5B595A"/>
                </a:solidFill>
                <a:latin typeface="Arial" pitchFamily="34" charset="0"/>
                <a:ea typeface="Arial" pitchFamily="34" charset="-122"/>
                <a:cs typeface="Arial" pitchFamily="34" charset="-120"/>
              </a:rPr>
              <a:t>Contractual obligations: SLAs, OTIF targets, penalties</a:t>
            </a:r>
            <a:endParaRPr lang="en-US" sz="1050" dirty="0"/>
          </a:p>
        </p:txBody>
      </p:sp>
      <p:sp>
        <p:nvSpPr>
          <p:cNvPr id="23" name="Shape 20"/>
          <p:cNvSpPr/>
          <p:nvPr/>
        </p:nvSpPr>
        <p:spPr>
          <a:xfrm>
            <a:off x="228600" y="3913632"/>
            <a:ext cx="5806440" cy="2359152"/>
          </a:xfrm>
          <a:prstGeom prst="rect">
            <a:avLst/>
          </a:prstGeom>
          <a:solidFill>
            <a:srgbClr val="E0F4FD"/>
          </a:solidFill>
          <a:ln w="12700">
            <a:solidFill>
              <a:srgbClr val="009FE3"/>
            </a:solidFill>
            <a:prstDash val="solid"/>
          </a:ln>
        </p:spPr>
        <p:txBody>
          <a:bodyPr/>
          <a:lstStyle/>
          <a:p>
            <a:endParaRPr lang="en-GB"/>
          </a:p>
        </p:txBody>
      </p:sp>
      <p:sp>
        <p:nvSpPr>
          <p:cNvPr id="24" name="Shape 21"/>
          <p:cNvSpPr/>
          <p:nvPr/>
        </p:nvSpPr>
        <p:spPr>
          <a:xfrm>
            <a:off x="228600" y="3913632"/>
            <a:ext cx="5806440" cy="292608"/>
          </a:xfrm>
          <a:prstGeom prst="rect">
            <a:avLst/>
          </a:prstGeom>
          <a:solidFill>
            <a:srgbClr val="009FE3"/>
          </a:solidFill>
          <a:ln/>
        </p:spPr>
        <p:txBody>
          <a:bodyPr/>
          <a:lstStyle/>
          <a:p>
            <a:endParaRPr lang="en-GB"/>
          </a:p>
        </p:txBody>
      </p:sp>
      <p:sp>
        <p:nvSpPr>
          <p:cNvPr id="25" name="Text 22"/>
          <p:cNvSpPr/>
          <p:nvPr/>
        </p:nvSpPr>
        <p:spPr>
          <a:xfrm>
            <a:off x="320040" y="3931920"/>
            <a:ext cx="5623560" cy="256032"/>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TAKT TIME: THE HEARTBEAT OF THE PROCESS</a:t>
            </a:r>
            <a:endParaRPr lang="en-US" sz="1000" dirty="0"/>
          </a:p>
        </p:txBody>
      </p:sp>
      <p:sp>
        <p:nvSpPr>
          <p:cNvPr id="26" name="Text 23"/>
          <p:cNvSpPr/>
          <p:nvPr/>
        </p:nvSpPr>
        <p:spPr>
          <a:xfrm>
            <a:off x="320040" y="4251960"/>
            <a:ext cx="5623560" cy="457200"/>
          </a:xfrm>
          <a:prstGeom prst="rect">
            <a:avLst/>
          </a:prstGeom>
          <a:noFill/>
          <a:ln/>
        </p:spPr>
        <p:txBody>
          <a:bodyPr wrap="square" rtlCol="0" anchor="ctr"/>
          <a:lstStyle/>
          <a:p>
            <a:pPr marL="0" indent="0">
              <a:buNone/>
            </a:pPr>
            <a:r>
              <a:rPr lang="en-US" sz="1000" dirty="0">
                <a:solidFill>
                  <a:srgbClr val="5B595A"/>
                </a:solidFill>
                <a:latin typeface="Arial" pitchFamily="34" charset="0"/>
                <a:ea typeface="Arial" pitchFamily="34" charset="-122"/>
                <a:cs typeface="Arial" pitchFamily="34" charset="-120"/>
              </a:rPr>
              <a:t>Takt time is the maximum time available per unit to meet customer demand. It is the "drum beat" of the process and every process step should be able to meet it.</a:t>
            </a:r>
            <a:endParaRPr lang="en-US" sz="1000" dirty="0"/>
          </a:p>
        </p:txBody>
      </p:sp>
      <p:sp>
        <p:nvSpPr>
          <p:cNvPr id="27" name="Shape 24"/>
          <p:cNvSpPr/>
          <p:nvPr/>
        </p:nvSpPr>
        <p:spPr>
          <a:xfrm>
            <a:off x="457200" y="4773168"/>
            <a:ext cx="5394960" cy="530352"/>
          </a:xfrm>
          <a:prstGeom prst="rect">
            <a:avLst/>
          </a:prstGeom>
          <a:solidFill>
            <a:srgbClr val="FFFFFF"/>
          </a:solidFill>
          <a:ln w="10160">
            <a:solidFill>
              <a:srgbClr val="009FE3"/>
            </a:solidFill>
            <a:prstDash val="solid"/>
          </a:ln>
        </p:spPr>
        <p:txBody>
          <a:bodyPr/>
          <a:lstStyle/>
          <a:p>
            <a:endParaRPr lang="en-GB"/>
          </a:p>
        </p:txBody>
      </p:sp>
      <p:sp>
        <p:nvSpPr>
          <p:cNvPr id="28" name="Text 25"/>
          <p:cNvSpPr/>
          <p:nvPr/>
        </p:nvSpPr>
        <p:spPr>
          <a:xfrm>
            <a:off x="502920" y="4809744"/>
            <a:ext cx="5303520" cy="201168"/>
          </a:xfrm>
          <a:prstGeom prst="rect">
            <a:avLst/>
          </a:prstGeom>
          <a:noFill/>
          <a:ln/>
        </p:spPr>
        <p:txBody>
          <a:bodyPr wrap="square" rtlCol="0" anchor="ctr"/>
          <a:lstStyle/>
          <a:p>
            <a:pPr marL="0" indent="0" algn="ctr">
              <a:buNone/>
            </a:pPr>
            <a:r>
              <a:rPr lang="en-US" sz="1100" b="1" dirty="0">
                <a:solidFill>
                  <a:srgbClr val="1E3A5F"/>
                </a:solidFill>
                <a:latin typeface="Arial" pitchFamily="34" charset="0"/>
                <a:ea typeface="Arial" pitchFamily="34" charset="-122"/>
                <a:cs typeface="Arial" pitchFamily="34" charset="-120"/>
              </a:rPr>
              <a:t>Takt Time  =  Available Working Time per Period</a:t>
            </a:r>
            <a:endParaRPr lang="en-US" sz="1100" dirty="0"/>
          </a:p>
        </p:txBody>
      </p:sp>
      <p:sp>
        <p:nvSpPr>
          <p:cNvPr id="29" name="Shape 26"/>
          <p:cNvSpPr/>
          <p:nvPr/>
        </p:nvSpPr>
        <p:spPr>
          <a:xfrm>
            <a:off x="1371600" y="4992624"/>
            <a:ext cx="3657600" cy="18288"/>
          </a:xfrm>
          <a:prstGeom prst="rect">
            <a:avLst/>
          </a:prstGeom>
          <a:solidFill>
            <a:srgbClr val="1E3A5F"/>
          </a:solidFill>
          <a:ln/>
        </p:spPr>
        <p:txBody>
          <a:bodyPr/>
          <a:lstStyle/>
          <a:p>
            <a:endParaRPr lang="en-GB"/>
          </a:p>
        </p:txBody>
      </p:sp>
      <p:sp>
        <p:nvSpPr>
          <p:cNvPr id="30" name="Text 27"/>
          <p:cNvSpPr/>
          <p:nvPr/>
        </p:nvSpPr>
        <p:spPr>
          <a:xfrm>
            <a:off x="502920" y="5029200"/>
            <a:ext cx="5303520" cy="201168"/>
          </a:xfrm>
          <a:prstGeom prst="rect">
            <a:avLst/>
          </a:prstGeom>
          <a:noFill/>
          <a:ln/>
        </p:spPr>
        <p:txBody>
          <a:bodyPr wrap="square" rtlCol="0" anchor="ctr"/>
          <a:lstStyle/>
          <a:p>
            <a:pPr marL="0" indent="0" algn="ctr">
              <a:buNone/>
            </a:pPr>
            <a:r>
              <a:rPr lang="en-US" sz="1100" b="1" dirty="0">
                <a:solidFill>
                  <a:srgbClr val="1E3A5F"/>
                </a:solidFill>
                <a:latin typeface="Arial" pitchFamily="34" charset="0"/>
                <a:ea typeface="Arial" pitchFamily="34" charset="-122"/>
                <a:cs typeface="Arial" pitchFamily="34" charset="-120"/>
              </a:rPr>
              <a:t>Customer Requirement (units) in same period</a:t>
            </a:r>
            <a:endParaRPr lang="en-US" sz="1100" dirty="0"/>
          </a:p>
        </p:txBody>
      </p:sp>
      <p:sp>
        <p:nvSpPr>
          <p:cNvPr id="31" name="Text 28"/>
          <p:cNvSpPr/>
          <p:nvPr/>
        </p:nvSpPr>
        <p:spPr>
          <a:xfrm>
            <a:off x="320040" y="5358384"/>
            <a:ext cx="5623560" cy="219456"/>
          </a:xfrm>
          <a:prstGeom prst="rect">
            <a:avLst/>
          </a:prstGeom>
          <a:noFill/>
          <a:ln/>
        </p:spPr>
        <p:txBody>
          <a:bodyPr wrap="square" rtlCol="0" anchor="ctr"/>
          <a:lstStyle/>
          <a:p>
            <a:pPr marL="0" indent="0">
              <a:buNone/>
            </a:pPr>
            <a:r>
              <a:rPr lang="en-US" sz="1000" b="1" dirty="0">
                <a:solidFill>
                  <a:srgbClr val="217346"/>
                </a:solidFill>
                <a:latin typeface="Arial" pitchFamily="34" charset="0"/>
                <a:ea typeface="Arial" pitchFamily="34" charset="-122"/>
                <a:cs typeface="Arial" pitchFamily="34" charset="-120"/>
              </a:rPr>
              <a:t>Example: 37.5 hr week (2,250 mins) ÷ 60 units = 37.5 minutes per unit</a:t>
            </a:r>
            <a:endParaRPr lang="en-US" sz="1000" dirty="0"/>
          </a:p>
        </p:txBody>
      </p:sp>
      <p:sp>
        <p:nvSpPr>
          <p:cNvPr id="32" name="Shape 29"/>
          <p:cNvSpPr/>
          <p:nvPr/>
        </p:nvSpPr>
        <p:spPr>
          <a:xfrm>
            <a:off x="6400800" y="987552"/>
            <a:ext cx="5486400" cy="5285232"/>
          </a:xfrm>
          <a:prstGeom prst="rect">
            <a:avLst/>
          </a:prstGeom>
          <a:solidFill>
            <a:srgbClr val="F2F2F2"/>
          </a:solidFill>
          <a:ln w="6350">
            <a:solidFill>
              <a:srgbClr val="D8D8D8"/>
            </a:solidFill>
            <a:prstDash val="solid"/>
          </a:ln>
        </p:spPr>
        <p:txBody>
          <a:bodyPr/>
          <a:lstStyle/>
          <a:p>
            <a:endParaRPr lang="en-GB"/>
          </a:p>
        </p:txBody>
      </p:sp>
      <p:sp>
        <p:nvSpPr>
          <p:cNvPr id="33" name="Shape 30"/>
          <p:cNvSpPr/>
          <p:nvPr/>
        </p:nvSpPr>
        <p:spPr>
          <a:xfrm>
            <a:off x="6400800" y="987552"/>
            <a:ext cx="5486400" cy="292608"/>
          </a:xfrm>
          <a:prstGeom prst="rect">
            <a:avLst/>
          </a:prstGeom>
          <a:solidFill>
            <a:srgbClr val="0D7377"/>
          </a:solidFill>
          <a:ln/>
        </p:spPr>
        <p:txBody>
          <a:bodyPr/>
          <a:lstStyle/>
          <a:p>
            <a:endParaRPr lang="en-GB"/>
          </a:p>
        </p:txBody>
      </p:sp>
      <p:sp>
        <p:nvSpPr>
          <p:cNvPr id="34" name="Text 31"/>
          <p:cNvSpPr/>
          <p:nvPr/>
        </p:nvSpPr>
        <p:spPr>
          <a:xfrm>
            <a:off x="6492240" y="1005840"/>
            <a:ext cx="5303520" cy="256032"/>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Customer Data Box</a:t>
            </a:r>
            <a:endParaRPr lang="en-US" sz="1000" dirty="0"/>
          </a:p>
        </p:txBody>
      </p:sp>
      <p:sp>
        <p:nvSpPr>
          <p:cNvPr id="35" name="Shape 32"/>
          <p:cNvSpPr/>
          <p:nvPr/>
        </p:nvSpPr>
        <p:spPr>
          <a:xfrm>
            <a:off x="7498080" y="1371600"/>
            <a:ext cx="3291840" cy="1371600"/>
          </a:xfrm>
          <a:prstGeom prst="rect">
            <a:avLst/>
          </a:prstGeom>
          <a:solidFill>
            <a:srgbClr val="0D7377"/>
          </a:solidFill>
          <a:ln w="6350">
            <a:solidFill>
              <a:srgbClr val="0D7377"/>
            </a:solidFill>
            <a:prstDash val="solid"/>
          </a:ln>
        </p:spPr>
        <p:txBody>
          <a:bodyPr/>
          <a:lstStyle/>
          <a:p>
            <a:endParaRPr lang="en-GB"/>
          </a:p>
        </p:txBody>
      </p:sp>
      <p:sp>
        <p:nvSpPr>
          <p:cNvPr id="36" name="Text 33"/>
          <p:cNvSpPr/>
          <p:nvPr/>
        </p:nvSpPr>
        <p:spPr>
          <a:xfrm>
            <a:off x="7498080" y="1554480"/>
            <a:ext cx="3291840" cy="100584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CUSTOMER</a:t>
            </a:r>
            <a:endParaRPr lang="en-US" sz="1400" dirty="0"/>
          </a:p>
          <a:p>
            <a:pPr marL="0" indent="0" algn="ctr">
              <a:buNone/>
            </a:pPr>
            <a:r>
              <a:rPr lang="en-US" sz="1400" b="1" dirty="0">
                <a:solidFill>
                  <a:srgbClr val="FFFFFF"/>
                </a:solidFill>
                <a:latin typeface="Arial" pitchFamily="34" charset="0"/>
                <a:ea typeface="Arial" pitchFamily="34" charset="-122"/>
                <a:cs typeface="Arial" pitchFamily="34" charset="-120"/>
              </a:rPr>
              <a:t>(Nuclear OEM Example)</a:t>
            </a:r>
            <a:endParaRPr lang="en-US" sz="1400" dirty="0"/>
          </a:p>
        </p:txBody>
      </p:sp>
      <p:sp>
        <p:nvSpPr>
          <p:cNvPr id="37" name="Shape 34"/>
          <p:cNvSpPr/>
          <p:nvPr/>
        </p:nvSpPr>
        <p:spPr>
          <a:xfrm>
            <a:off x="6446520" y="2834640"/>
            <a:ext cx="5394960" cy="310896"/>
          </a:xfrm>
          <a:prstGeom prst="rect">
            <a:avLst/>
          </a:prstGeom>
          <a:solidFill>
            <a:srgbClr val="FFFFFF"/>
          </a:solidFill>
          <a:ln w="3810">
            <a:solidFill>
              <a:srgbClr val="D8D8D8"/>
            </a:solidFill>
            <a:prstDash val="solid"/>
          </a:ln>
        </p:spPr>
        <p:txBody>
          <a:bodyPr/>
          <a:lstStyle/>
          <a:p>
            <a:endParaRPr lang="en-GB"/>
          </a:p>
        </p:txBody>
      </p:sp>
      <p:sp>
        <p:nvSpPr>
          <p:cNvPr id="38" name="Text 35"/>
          <p:cNvSpPr/>
          <p:nvPr/>
        </p:nvSpPr>
        <p:spPr>
          <a:xfrm>
            <a:off x="6510528" y="2871216"/>
            <a:ext cx="2560320" cy="237744"/>
          </a:xfrm>
          <a:prstGeom prst="rect">
            <a:avLst/>
          </a:prstGeom>
          <a:noFill/>
          <a:ln/>
        </p:spPr>
        <p:txBody>
          <a:bodyPr wrap="square" rtlCol="0" anchor="ctr"/>
          <a:lstStyle/>
          <a:p>
            <a:pPr marL="0" indent="0">
              <a:buNone/>
            </a:pPr>
            <a:r>
              <a:rPr lang="en-US" sz="900" b="1" dirty="0">
                <a:solidFill>
                  <a:srgbClr val="1E3A5F"/>
                </a:solidFill>
                <a:latin typeface="Arial" pitchFamily="34" charset="0"/>
                <a:ea typeface="Arial" pitchFamily="34" charset="-122"/>
                <a:cs typeface="Arial" pitchFamily="34" charset="-120"/>
              </a:rPr>
              <a:t>Weekly volume required</a:t>
            </a:r>
            <a:endParaRPr lang="en-US" sz="900" dirty="0"/>
          </a:p>
        </p:txBody>
      </p:sp>
      <p:sp>
        <p:nvSpPr>
          <p:cNvPr id="39" name="Text 36"/>
          <p:cNvSpPr/>
          <p:nvPr/>
        </p:nvSpPr>
        <p:spPr>
          <a:xfrm>
            <a:off x="9107424" y="2871216"/>
            <a:ext cx="2651760" cy="237744"/>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60 units/week</a:t>
            </a:r>
            <a:endParaRPr lang="en-US" sz="900" dirty="0"/>
          </a:p>
        </p:txBody>
      </p:sp>
      <p:sp>
        <p:nvSpPr>
          <p:cNvPr id="40" name="Shape 37"/>
          <p:cNvSpPr/>
          <p:nvPr/>
        </p:nvSpPr>
        <p:spPr>
          <a:xfrm>
            <a:off x="6446520" y="3172968"/>
            <a:ext cx="5394960" cy="310896"/>
          </a:xfrm>
          <a:prstGeom prst="rect">
            <a:avLst/>
          </a:prstGeom>
          <a:solidFill>
            <a:srgbClr val="E0F4FD"/>
          </a:solidFill>
          <a:ln w="3810">
            <a:solidFill>
              <a:srgbClr val="D8D8D8"/>
            </a:solidFill>
            <a:prstDash val="solid"/>
          </a:ln>
        </p:spPr>
        <p:txBody>
          <a:bodyPr/>
          <a:lstStyle/>
          <a:p>
            <a:endParaRPr lang="en-GB"/>
          </a:p>
        </p:txBody>
      </p:sp>
      <p:sp>
        <p:nvSpPr>
          <p:cNvPr id="41" name="Text 38"/>
          <p:cNvSpPr/>
          <p:nvPr/>
        </p:nvSpPr>
        <p:spPr>
          <a:xfrm>
            <a:off x="6510528" y="3209544"/>
            <a:ext cx="2560320" cy="237744"/>
          </a:xfrm>
          <a:prstGeom prst="rect">
            <a:avLst/>
          </a:prstGeom>
          <a:noFill/>
          <a:ln/>
        </p:spPr>
        <p:txBody>
          <a:bodyPr wrap="square" rtlCol="0" anchor="ctr"/>
          <a:lstStyle/>
          <a:p>
            <a:pPr marL="0" indent="0">
              <a:buNone/>
            </a:pPr>
            <a:r>
              <a:rPr lang="en-US" sz="900" b="1" dirty="0">
                <a:solidFill>
                  <a:srgbClr val="1E3A5F"/>
                </a:solidFill>
                <a:latin typeface="Arial" pitchFamily="34" charset="0"/>
                <a:ea typeface="Arial" pitchFamily="34" charset="-122"/>
                <a:cs typeface="Arial" pitchFamily="34" charset="-120"/>
              </a:rPr>
              <a:t>Working hours per week</a:t>
            </a:r>
            <a:endParaRPr lang="en-US" sz="900" dirty="0"/>
          </a:p>
        </p:txBody>
      </p:sp>
      <p:sp>
        <p:nvSpPr>
          <p:cNvPr id="42" name="Text 39"/>
          <p:cNvSpPr/>
          <p:nvPr/>
        </p:nvSpPr>
        <p:spPr>
          <a:xfrm>
            <a:off x="9107424" y="3209544"/>
            <a:ext cx="2651760" cy="237744"/>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37.5 hours</a:t>
            </a:r>
            <a:endParaRPr lang="en-US" sz="900" dirty="0"/>
          </a:p>
        </p:txBody>
      </p:sp>
      <p:sp>
        <p:nvSpPr>
          <p:cNvPr id="43" name="Shape 40"/>
          <p:cNvSpPr/>
          <p:nvPr/>
        </p:nvSpPr>
        <p:spPr>
          <a:xfrm>
            <a:off x="6446520" y="3511296"/>
            <a:ext cx="5394960" cy="310896"/>
          </a:xfrm>
          <a:prstGeom prst="rect">
            <a:avLst/>
          </a:prstGeom>
          <a:solidFill>
            <a:srgbClr val="FFFFFF"/>
          </a:solidFill>
          <a:ln w="3810">
            <a:solidFill>
              <a:srgbClr val="D8D8D8"/>
            </a:solidFill>
            <a:prstDash val="solid"/>
          </a:ln>
        </p:spPr>
        <p:txBody>
          <a:bodyPr/>
          <a:lstStyle/>
          <a:p>
            <a:endParaRPr lang="en-GB"/>
          </a:p>
        </p:txBody>
      </p:sp>
      <p:sp>
        <p:nvSpPr>
          <p:cNvPr id="44" name="Text 41"/>
          <p:cNvSpPr/>
          <p:nvPr/>
        </p:nvSpPr>
        <p:spPr>
          <a:xfrm>
            <a:off x="6510528" y="3547872"/>
            <a:ext cx="2560320" cy="237744"/>
          </a:xfrm>
          <a:prstGeom prst="rect">
            <a:avLst/>
          </a:prstGeom>
          <a:noFill/>
          <a:ln/>
        </p:spPr>
        <p:txBody>
          <a:bodyPr wrap="square" rtlCol="0" anchor="ctr"/>
          <a:lstStyle/>
          <a:p>
            <a:pPr marL="0" indent="0">
              <a:buNone/>
            </a:pPr>
            <a:r>
              <a:rPr lang="en-US" sz="900" b="1" dirty="0">
                <a:solidFill>
                  <a:srgbClr val="1E3A5F"/>
                </a:solidFill>
                <a:latin typeface="Arial" pitchFamily="34" charset="0"/>
                <a:ea typeface="Arial" pitchFamily="34" charset="-122"/>
                <a:cs typeface="Arial" pitchFamily="34" charset="-120"/>
              </a:rPr>
              <a:t>Working days per week</a:t>
            </a:r>
            <a:endParaRPr lang="en-US" sz="900" dirty="0"/>
          </a:p>
        </p:txBody>
      </p:sp>
      <p:sp>
        <p:nvSpPr>
          <p:cNvPr id="45" name="Text 42"/>
          <p:cNvSpPr/>
          <p:nvPr/>
        </p:nvSpPr>
        <p:spPr>
          <a:xfrm>
            <a:off x="9107424" y="3547872"/>
            <a:ext cx="2651760" cy="237744"/>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5 days</a:t>
            </a:r>
            <a:endParaRPr lang="en-US" sz="900" dirty="0"/>
          </a:p>
        </p:txBody>
      </p:sp>
      <p:sp>
        <p:nvSpPr>
          <p:cNvPr id="46" name="Shape 43"/>
          <p:cNvSpPr/>
          <p:nvPr/>
        </p:nvSpPr>
        <p:spPr>
          <a:xfrm>
            <a:off x="6446520" y="3849624"/>
            <a:ext cx="5394960" cy="310896"/>
          </a:xfrm>
          <a:prstGeom prst="rect">
            <a:avLst/>
          </a:prstGeom>
          <a:solidFill>
            <a:srgbClr val="E0F4FD"/>
          </a:solidFill>
          <a:ln w="3810">
            <a:solidFill>
              <a:srgbClr val="D8D8D8"/>
            </a:solidFill>
            <a:prstDash val="solid"/>
          </a:ln>
        </p:spPr>
        <p:txBody>
          <a:bodyPr/>
          <a:lstStyle/>
          <a:p>
            <a:endParaRPr lang="en-GB"/>
          </a:p>
        </p:txBody>
      </p:sp>
      <p:sp>
        <p:nvSpPr>
          <p:cNvPr id="47" name="Text 44"/>
          <p:cNvSpPr/>
          <p:nvPr/>
        </p:nvSpPr>
        <p:spPr>
          <a:xfrm>
            <a:off x="6510528" y="3886200"/>
            <a:ext cx="2560320" cy="237744"/>
          </a:xfrm>
          <a:prstGeom prst="rect">
            <a:avLst/>
          </a:prstGeom>
          <a:noFill/>
          <a:ln/>
        </p:spPr>
        <p:txBody>
          <a:bodyPr wrap="square" rtlCol="0" anchor="ctr"/>
          <a:lstStyle/>
          <a:p>
            <a:pPr marL="0" indent="0">
              <a:buNone/>
            </a:pPr>
            <a:r>
              <a:rPr lang="en-US" sz="900" b="1" dirty="0">
                <a:solidFill>
                  <a:srgbClr val="1E3A5F"/>
                </a:solidFill>
                <a:latin typeface="Arial" pitchFamily="34" charset="0"/>
                <a:ea typeface="Arial" pitchFamily="34" charset="-122"/>
                <a:cs typeface="Arial" pitchFamily="34" charset="-120"/>
              </a:rPr>
              <a:t>Delivery frequency</a:t>
            </a:r>
            <a:endParaRPr lang="en-US" sz="900" dirty="0"/>
          </a:p>
        </p:txBody>
      </p:sp>
      <p:sp>
        <p:nvSpPr>
          <p:cNvPr id="48" name="Text 45"/>
          <p:cNvSpPr/>
          <p:nvPr/>
        </p:nvSpPr>
        <p:spPr>
          <a:xfrm>
            <a:off x="9107424" y="3886200"/>
            <a:ext cx="2651760" cy="237744"/>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Weekly, full consignment</a:t>
            </a:r>
            <a:endParaRPr lang="en-US" sz="900" dirty="0"/>
          </a:p>
        </p:txBody>
      </p:sp>
      <p:sp>
        <p:nvSpPr>
          <p:cNvPr id="49" name="Shape 46"/>
          <p:cNvSpPr/>
          <p:nvPr/>
        </p:nvSpPr>
        <p:spPr>
          <a:xfrm>
            <a:off x="6446520" y="4187952"/>
            <a:ext cx="5394960" cy="310896"/>
          </a:xfrm>
          <a:prstGeom prst="rect">
            <a:avLst/>
          </a:prstGeom>
          <a:solidFill>
            <a:srgbClr val="FFFFFF"/>
          </a:solidFill>
          <a:ln w="3810">
            <a:solidFill>
              <a:srgbClr val="D8D8D8"/>
            </a:solidFill>
            <a:prstDash val="solid"/>
          </a:ln>
        </p:spPr>
        <p:txBody>
          <a:bodyPr/>
          <a:lstStyle/>
          <a:p>
            <a:endParaRPr lang="en-GB"/>
          </a:p>
        </p:txBody>
      </p:sp>
      <p:sp>
        <p:nvSpPr>
          <p:cNvPr id="50" name="Text 47"/>
          <p:cNvSpPr/>
          <p:nvPr/>
        </p:nvSpPr>
        <p:spPr>
          <a:xfrm>
            <a:off x="6510528" y="4224528"/>
            <a:ext cx="2560320" cy="237744"/>
          </a:xfrm>
          <a:prstGeom prst="rect">
            <a:avLst/>
          </a:prstGeom>
          <a:noFill/>
          <a:ln/>
        </p:spPr>
        <p:txBody>
          <a:bodyPr wrap="square" rtlCol="0" anchor="ctr"/>
          <a:lstStyle/>
          <a:p>
            <a:pPr marL="0" indent="0">
              <a:buNone/>
            </a:pPr>
            <a:r>
              <a:rPr lang="en-US" sz="900" b="1" dirty="0">
                <a:solidFill>
                  <a:srgbClr val="1E3A5F"/>
                </a:solidFill>
                <a:latin typeface="Arial" pitchFamily="34" charset="0"/>
                <a:ea typeface="Arial" pitchFamily="34" charset="-122"/>
                <a:cs typeface="Arial" pitchFamily="34" charset="-120"/>
              </a:rPr>
              <a:t>Takt time (calculated)</a:t>
            </a:r>
            <a:endParaRPr lang="en-US" sz="900" dirty="0"/>
          </a:p>
        </p:txBody>
      </p:sp>
      <p:sp>
        <p:nvSpPr>
          <p:cNvPr id="51" name="Text 48"/>
          <p:cNvSpPr/>
          <p:nvPr/>
        </p:nvSpPr>
        <p:spPr>
          <a:xfrm>
            <a:off x="9107424" y="4224528"/>
            <a:ext cx="2651760" cy="237744"/>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37.5 mins per unit</a:t>
            </a:r>
            <a:endParaRPr lang="en-US" sz="900" dirty="0"/>
          </a:p>
        </p:txBody>
      </p:sp>
      <p:sp>
        <p:nvSpPr>
          <p:cNvPr id="52" name="Shape 49"/>
          <p:cNvSpPr/>
          <p:nvPr/>
        </p:nvSpPr>
        <p:spPr>
          <a:xfrm>
            <a:off x="6446520" y="4526280"/>
            <a:ext cx="5394960" cy="310896"/>
          </a:xfrm>
          <a:prstGeom prst="rect">
            <a:avLst/>
          </a:prstGeom>
          <a:solidFill>
            <a:srgbClr val="E0F4FD"/>
          </a:solidFill>
          <a:ln w="3810">
            <a:solidFill>
              <a:srgbClr val="D8D8D8"/>
            </a:solidFill>
            <a:prstDash val="solid"/>
          </a:ln>
        </p:spPr>
        <p:txBody>
          <a:bodyPr/>
          <a:lstStyle/>
          <a:p>
            <a:endParaRPr lang="en-GB"/>
          </a:p>
        </p:txBody>
      </p:sp>
      <p:sp>
        <p:nvSpPr>
          <p:cNvPr id="53" name="Text 50"/>
          <p:cNvSpPr/>
          <p:nvPr/>
        </p:nvSpPr>
        <p:spPr>
          <a:xfrm>
            <a:off x="6510528" y="4562856"/>
            <a:ext cx="2560320" cy="237744"/>
          </a:xfrm>
          <a:prstGeom prst="rect">
            <a:avLst/>
          </a:prstGeom>
          <a:noFill/>
          <a:ln/>
        </p:spPr>
        <p:txBody>
          <a:bodyPr wrap="square" rtlCol="0" anchor="ctr"/>
          <a:lstStyle/>
          <a:p>
            <a:pPr marL="0" indent="0">
              <a:buNone/>
            </a:pPr>
            <a:r>
              <a:rPr lang="en-US" sz="900" b="1" dirty="0">
                <a:solidFill>
                  <a:srgbClr val="1E3A5F"/>
                </a:solidFill>
                <a:latin typeface="Arial" pitchFamily="34" charset="0"/>
                <a:ea typeface="Arial" pitchFamily="34" charset="-122"/>
                <a:cs typeface="Arial" pitchFamily="34" charset="-120"/>
              </a:rPr>
              <a:t>Lead time expectation</a:t>
            </a:r>
            <a:endParaRPr lang="en-US" sz="900" dirty="0"/>
          </a:p>
        </p:txBody>
      </p:sp>
      <p:sp>
        <p:nvSpPr>
          <p:cNvPr id="54" name="Text 51"/>
          <p:cNvSpPr/>
          <p:nvPr/>
        </p:nvSpPr>
        <p:spPr>
          <a:xfrm>
            <a:off x="9107424" y="4562856"/>
            <a:ext cx="2651760" cy="237744"/>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10 working days</a:t>
            </a:r>
            <a:endParaRPr lang="en-US" sz="900" dirty="0"/>
          </a:p>
        </p:txBody>
      </p:sp>
      <p:sp>
        <p:nvSpPr>
          <p:cNvPr id="55" name="Shape 52"/>
          <p:cNvSpPr/>
          <p:nvPr/>
        </p:nvSpPr>
        <p:spPr>
          <a:xfrm>
            <a:off x="6446520" y="4864608"/>
            <a:ext cx="5394960" cy="310896"/>
          </a:xfrm>
          <a:prstGeom prst="rect">
            <a:avLst/>
          </a:prstGeom>
          <a:solidFill>
            <a:srgbClr val="FFFFFF"/>
          </a:solidFill>
          <a:ln w="3810">
            <a:solidFill>
              <a:srgbClr val="D8D8D8"/>
            </a:solidFill>
            <a:prstDash val="solid"/>
          </a:ln>
        </p:spPr>
        <p:txBody>
          <a:bodyPr/>
          <a:lstStyle/>
          <a:p>
            <a:endParaRPr lang="en-GB"/>
          </a:p>
        </p:txBody>
      </p:sp>
      <p:sp>
        <p:nvSpPr>
          <p:cNvPr id="56" name="Text 53"/>
          <p:cNvSpPr/>
          <p:nvPr/>
        </p:nvSpPr>
        <p:spPr>
          <a:xfrm>
            <a:off x="6510528" y="4901184"/>
            <a:ext cx="2560320" cy="237744"/>
          </a:xfrm>
          <a:prstGeom prst="rect">
            <a:avLst/>
          </a:prstGeom>
          <a:noFill/>
          <a:ln/>
        </p:spPr>
        <p:txBody>
          <a:bodyPr wrap="square" rtlCol="0" anchor="ctr"/>
          <a:lstStyle/>
          <a:p>
            <a:pPr marL="0" indent="0">
              <a:buNone/>
            </a:pPr>
            <a:r>
              <a:rPr lang="en-US" sz="900" b="1" dirty="0">
                <a:solidFill>
                  <a:srgbClr val="1E3A5F"/>
                </a:solidFill>
                <a:latin typeface="Arial" pitchFamily="34" charset="0"/>
                <a:ea typeface="Arial" pitchFamily="34" charset="-122"/>
                <a:cs typeface="Arial" pitchFamily="34" charset="-120"/>
              </a:rPr>
              <a:t>Quality grade</a:t>
            </a:r>
            <a:endParaRPr lang="en-US" sz="900" dirty="0"/>
          </a:p>
        </p:txBody>
      </p:sp>
      <p:sp>
        <p:nvSpPr>
          <p:cNvPr id="57" name="Text 54"/>
          <p:cNvSpPr/>
          <p:nvPr/>
        </p:nvSpPr>
        <p:spPr>
          <a:xfrm>
            <a:off x="9107424" y="4901184"/>
            <a:ext cx="2651760" cy="237744"/>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Nuclear Grade 2 (IFS)</a:t>
            </a:r>
            <a:endParaRPr lang="en-US" sz="900" dirty="0"/>
          </a:p>
        </p:txBody>
      </p:sp>
      <p:sp>
        <p:nvSpPr>
          <p:cNvPr id="58" name="Shape 55"/>
          <p:cNvSpPr/>
          <p:nvPr/>
        </p:nvSpPr>
        <p:spPr>
          <a:xfrm>
            <a:off x="6446520" y="5202936"/>
            <a:ext cx="5394960" cy="310896"/>
          </a:xfrm>
          <a:prstGeom prst="rect">
            <a:avLst/>
          </a:prstGeom>
          <a:solidFill>
            <a:srgbClr val="E0F4FD"/>
          </a:solidFill>
          <a:ln w="3810">
            <a:solidFill>
              <a:srgbClr val="D8D8D8"/>
            </a:solidFill>
            <a:prstDash val="solid"/>
          </a:ln>
        </p:spPr>
        <p:txBody>
          <a:bodyPr/>
          <a:lstStyle/>
          <a:p>
            <a:endParaRPr lang="en-GB"/>
          </a:p>
        </p:txBody>
      </p:sp>
      <p:sp>
        <p:nvSpPr>
          <p:cNvPr id="59" name="Text 56"/>
          <p:cNvSpPr/>
          <p:nvPr/>
        </p:nvSpPr>
        <p:spPr>
          <a:xfrm>
            <a:off x="6510528" y="5239512"/>
            <a:ext cx="2560320" cy="237744"/>
          </a:xfrm>
          <a:prstGeom prst="rect">
            <a:avLst/>
          </a:prstGeom>
          <a:noFill/>
          <a:ln/>
        </p:spPr>
        <p:txBody>
          <a:bodyPr wrap="square" rtlCol="0" anchor="ctr"/>
          <a:lstStyle/>
          <a:p>
            <a:pPr marL="0" indent="0">
              <a:buNone/>
            </a:pPr>
            <a:r>
              <a:rPr lang="en-US" sz="900" b="1" dirty="0">
                <a:solidFill>
                  <a:srgbClr val="1E3A5F"/>
                </a:solidFill>
                <a:latin typeface="Arial" pitchFamily="34" charset="0"/>
                <a:ea typeface="Arial" pitchFamily="34" charset="-122"/>
                <a:cs typeface="Arial" pitchFamily="34" charset="-120"/>
              </a:rPr>
              <a:t>OTIF requirement</a:t>
            </a:r>
            <a:endParaRPr lang="en-US" sz="900" dirty="0"/>
          </a:p>
        </p:txBody>
      </p:sp>
      <p:sp>
        <p:nvSpPr>
          <p:cNvPr id="60" name="Text 57"/>
          <p:cNvSpPr/>
          <p:nvPr/>
        </p:nvSpPr>
        <p:spPr>
          <a:xfrm>
            <a:off x="9107424" y="5239512"/>
            <a:ext cx="2651760" cy="237744"/>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 95%</a:t>
            </a:r>
            <a:endParaRPr lang="en-US" sz="900" dirty="0"/>
          </a:p>
        </p:txBody>
      </p:sp>
      <p:sp>
        <p:nvSpPr>
          <p:cNvPr id="61" name="Shape 58"/>
          <p:cNvSpPr/>
          <p:nvPr/>
        </p:nvSpPr>
        <p:spPr>
          <a:xfrm>
            <a:off x="6446520" y="5541264"/>
            <a:ext cx="5394960" cy="310896"/>
          </a:xfrm>
          <a:prstGeom prst="rect">
            <a:avLst/>
          </a:prstGeom>
          <a:solidFill>
            <a:srgbClr val="FFFFFF"/>
          </a:solidFill>
          <a:ln w="3810">
            <a:solidFill>
              <a:srgbClr val="D8D8D8"/>
            </a:solidFill>
            <a:prstDash val="solid"/>
          </a:ln>
        </p:spPr>
        <p:txBody>
          <a:bodyPr/>
          <a:lstStyle/>
          <a:p>
            <a:endParaRPr lang="en-GB"/>
          </a:p>
        </p:txBody>
      </p:sp>
      <p:sp>
        <p:nvSpPr>
          <p:cNvPr id="62" name="Text 59"/>
          <p:cNvSpPr/>
          <p:nvPr/>
        </p:nvSpPr>
        <p:spPr>
          <a:xfrm>
            <a:off x="6510528" y="5577840"/>
            <a:ext cx="2560320" cy="237744"/>
          </a:xfrm>
          <a:prstGeom prst="rect">
            <a:avLst/>
          </a:prstGeom>
          <a:noFill/>
          <a:ln/>
        </p:spPr>
        <p:txBody>
          <a:bodyPr wrap="square" rtlCol="0" anchor="ctr"/>
          <a:lstStyle/>
          <a:p>
            <a:pPr marL="0" indent="0">
              <a:buNone/>
            </a:pPr>
            <a:r>
              <a:rPr lang="en-US" sz="900" b="1" dirty="0">
                <a:solidFill>
                  <a:srgbClr val="1E3A5F"/>
                </a:solidFill>
                <a:latin typeface="Arial" pitchFamily="34" charset="0"/>
                <a:ea typeface="Arial" pitchFamily="34" charset="-122"/>
                <a:cs typeface="Arial" pitchFamily="34" charset="-120"/>
              </a:rPr>
              <a:t>Packaging requirement</a:t>
            </a:r>
            <a:endParaRPr lang="en-US" sz="900" dirty="0"/>
          </a:p>
        </p:txBody>
      </p:sp>
      <p:sp>
        <p:nvSpPr>
          <p:cNvPr id="63" name="Text 60"/>
          <p:cNvSpPr/>
          <p:nvPr/>
        </p:nvSpPr>
        <p:spPr>
          <a:xfrm>
            <a:off x="9107424" y="5577840"/>
            <a:ext cx="2651760" cy="237744"/>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Individual bagged, tagged, with CoC</a:t>
            </a:r>
            <a:endParaRPr lang="en-US" sz="900" dirty="0"/>
          </a:p>
        </p:txBody>
      </p:sp>
      <p:sp>
        <p:nvSpPr>
          <p:cNvPr id="64" name="Shape 61"/>
          <p:cNvSpPr/>
          <p:nvPr/>
        </p:nvSpPr>
        <p:spPr>
          <a:xfrm>
            <a:off x="6446520" y="5879592"/>
            <a:ext cx="5394960" cy="310896"/>
          </a:xfrm>
          <a:prstGeom prst="rect">
            <a:avLst/>
          </a:prstGeom>
          <a:solidFill>
            <a:srgbClr val="E0F4FD"/>
          </a:solidFill>
          <a:ln w="3810">
            <a:solidFill>
              <a:srgbClr val="D8D8D8"/>
            </a:solidFill>
            <a:prstDash val="solid"/>
          </a:ln>
        </p:spPr>
        <p:txBody>
          <a:bodyPr/>
          <a:lstStyle/>
          <a:p>
            <a:endParaRPr lang="en-GB"/>
          </a:p>
        </p:txBody>
      </p:sp>
      <p:sp>
        <p:nvSpPr>
          <p:cNvPr id="65" name="Text 62"/>
          <p:cNvSpPr/>
          <p:nvPr/>
        </p:nvSpPr>
        <p:spPr>
          <a:xfrm>
            <a:off x="6510528" y="5916168"/>
            <a:ext cx="2560320" cy="237744"/>
          </a:xfrm>
          <a:prstGeom prst="rect">
            <a:avLst/>
          </a:prstGeom>
          <a:noFill/>
          <a:ln/>
        </p:spPr>
        <p:txBody>
          <a:bodyPr wrap="square" rtlCol="0" anchor="ctr"/>
          <a:lstStyle/>
          <a:p>
            <a:pPr marL="0" indent="0">
              <a:buNone/>
            </a:pPr>
            <a:r>
              <a:rPr lang="en-US" sz="900" b="1" dirty="0">
                <a:solidFill>
                  <a:srgbClr val="1E3A5F"/>
                </a:solidFill>
                <a:latin typeface="Arial" pitchFamily="34" charset="0"/>
                <a:ea typeface="Arial" pitchFamily="34" charset="-122"/>
                <a:cs typeface="Arial" pitchFamily="34" charset="-120"/>
              </a:rPr>
              <a:t>Key issue raised</a:t>
            </a:r>
            <a:endParaRPr lang="en-US" sz="900" dirty="0"/>
          </a:p>
        </p:txBody>
      </p:sp>
      <p:sp>
        <p:nvSpPr>
          <p:cNvPr id="66" name="Text 63"/>
          <p:cNvSpPr/>
          <p:nvPr/>
        </p:nvSpPr>
        <p:spPr>
          <a:xfrm>
            <a:off x="9107424" y="5916168"/>
            <a:ext cx="2651760" cy="237744"/>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Current supplier lead time is 22 days</a:t>
            </a:r>
            <a:endParaRPr lang="en-US" sz="900" dirty="0"/>
          </a:p>
        </p:txBody>
      </p:sp>
      <p:sp>
        <p:nvSpPr>
          <p:cNvPr id="67" name="Rectangle 66"/>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8" name="Picture 67" descr="image.png"/>
          <p:cNvPicPr>
            <a:picLocks noChangeAspect="1"/>
          </p:cNvPicPr>
          <p:nvPr/>
        </p:nvPicPr>
        <p:blipFill>
          <a:blip r:embed="rId5"/>
          <a:stretch>
            <a:fillRect/>
          </a:stretch>
        </p:blipFill>
        <p:spPr>
          <a:xfrm>
            <a:off x="10610088" y="100584"/>
            <a:ext cx="566928" cy="347472"/>
          </a:xfrm>
          <a:prstGeom prst="rect">
            <a:avLst/>
          </a:prstGeom>
        </p:spPr>
      </p:pic>
      <p:pic>
        <p:nvPicPr>
          <p:cNvPr id="69" name="Picture 68" descr="image.png"/>
          <p:cNvPicPr>
            <a:picLocks noChangeAspect="1"/>
          </p:cNvPicPr>
          <p:nvPr/>
        </p:nvPicPr>
        <p:blipFill>
          <a:blip r:embed="rId4"/>
          <a:stretch>
            <a:fillRect/>
          </a:stretch>
        </p:blipFill>
        <p:spPr>
          <a:xfrm>
            <a:off x="11222736" y="100584"/>
            <a:ext cx="658368" cy="347472"/>
          </a:xfrm>
          <a:prstGeom prst="rect">
            <a:avLst/>
          </a:prstGeom>
        </p:spPr>
      </p:pic>
      <p:sp>
        <p:nvSpPr>
          <p:cNvPr id="70" name="Rectangle 69"/>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1. Create a Current State Value Stream Map</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Step 2: Map the Process Steps</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9" name="Text 6"/>
          <p:cNvSpPr/>
          <p:nvPr/>
        </p:nvSpPr>
        <p:spPr>
          <a:xfrm>
            <a:off x="274320" y="987552"/>
            <a:ext cx="5760720" cy="457200"/>
          </a:xfrm>
          <a:prstGeom prst="rect">
            <a:avLst/>
          </a:prstGeom>
          <a:noFill/>
          <a:ln/>
        </p:spPr>
        <p:txBody>
          <a:bodyPr wrap="square" rtlCol="0" anchor="ctr"/>
          <a:lstStyle/>
          <a:p>
            <a:pPr marL="0" indent="0">
              <a:buNone/>
            </a:pPr>
            <a:r>
              <a:rPr lang="en-US" sz="1050" dirty="0">
                <a:solidFill>
                  <a:srgbClr val="5B595A"/>
                </a:solidFill>
                <a:latin typeface="Arial" pitchFamily="34" charset="0"/>
                <a:ea typeface="Arial" pitchFamily="34" charset="-122"/>
                <a:cs typeface="Arial" pitchFamily="34" charset="-120"/>
              </a:rPr>
              <a:t>Walk the process from the customer backwards to raw material, not the other way around. This keeps your perspective anchored on what the customer needs rather than what is convenient to produce.</a:t>
            </a:r>
            <a:endParaRPr lang="en-US" sz="1050" dirty="0"/>
          </a:p>
        </p:txBody>
      </p:sp>
      <p:sp>
        <p:nvSpPr>
          <p:cNvPr id="10" name="Shape 7"/>
          <p:cNvSpPr/>
          <p:nvPr/>
        </p:nvSpPr>
        <p:spPr>
          <a:xfrm>
            <a:off x="228600" y="1508760"/>
            <a:ext cx="5806440" cy="841248"/>
          </a:xfrm>
          <a:prstGeom prst="rect">
            <a:avLst/>
          </a:prstGeom>
          <a:solidFill>
            <a:srgbClr val="E0F4FD"/>
          </a:solidFill>
          <a:ln w="6350">
            <a:solidFill>
              <a:srgbClr val="009FE3"/>
            </a:solidFill>
            <a:prstDash val="solid"/>
          </a:ln>
        </p:spPr>
        <p:txBody>
          <a:bodyPr/>
          <a:lstStyle/>
          <a:p>
            <a:endParaRPr lang="en-GB"/>
          </a:p>
        </p:txBody>
      </p:sp>
      <p:sp>
        <p:nvSpPr>
          <p:cNvPr id="11" name="Text 8"/>
          <p:cNvSpPr/>
          <p:nvPr/>
        </p:nvSpPr>
        <p:spPr>
          <a:xfrm>
            <a:off x="320040" y="1545336"/>
            <a:ext cx="5623560" cy="219456"/>
          </a:xfrm>
          <a:prstGeom prst="rect">
            <a:avLst/>
          </a:prstGeom>
          <a:noFill/>
          <a:ln/>
        </p:spPr>
        <p:txBody>
          <a:bodyPr wrap="square" rtlCol="0" anchor="ctr"/>
          <a:lstStyle/>
          <a:p>
            <a:pPr marL="0" indent="0">
              <a:buNone/>
            </a:pPr>
            <a:r>
              <a:rPr lang="en-US" sz="1050" b="1" dirty="0">
                <a:solidFill>
                  <a:srgbClr val="009FE3"/>
                </a:solidFill>
                <a:latin typeface="Arial" pitchFamily="34" charset="0"/>
                <a:ea typeface="Arial" pitchFamily="34" charset="-122"/>
                <a:cs typeface="Arial" pitchFamily="34" charset="-120"/>
              </a:rPr>
              <a:t>Walk the process, do not map from memory</a:t>
            </a:r>
            <a:endParaRPr lang="en-US" sz="1050" dirty="0"/>
          </a:p>
        </p:txBody>
      </p:sp>
      <p:sp>
        <p:nvSpPr>
          <p:cNvPr id="12" name="Text 9"/>
          <p:cNvSpPr/>
          <p:nvPr/>
        </p:nvSpPr>
        <p:spPr>
          <a:xfrm>
            <a:off x="320040" y="1783080"/>
            <a:ext cx="5623560" cy="530352"/>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Your process map and your QMS procedure will not match reality. The only way to map what actually happens is to physically walk it, observe it, and talk to the people doing the work.</a:t>
            </a:r>
            <a:endParaRPr lang="en-US" sz="1000" dirty="0"/>
          </a:p>
        </p:txBody>
      </p:sp>
      <p:sp>
        <p:nvSpPr>
          <p:cNvPr id="13" name="Shape 10"/>
          <p:cNvSpPr/>
          <p:nvPr/>
        </p:nvSpPr>
        <p:spPr>
          <a:xfrm>
            <a:off x="228600" y="2423160"/>
            <a:ext cx="5806440" cy="841248"/>
          </a:xfrm>
          <a:prstGeom prst="rect">
            <a:avLst/>
          </a:prstGeom>
          <a:solidFill>
            <a:srgbClr val="F3EAF4"/>
          </a:solidFill>
          <a:ln w="6350">
            <a:solidFill>
              <a:srgbClr val="83348F"/>
            </a:solidFill>
            <a:prstDash val="solid"/>
          </a:ln>
        </p:spPr>
        <p:txBody>
          <a:bodyPr/>
          <a:lstStyle/>
          <a:p>
            <a:endParaRPr lang="en-GB"/>
          </a:p>
        </p:txBody>
      </p:sp>
      <p:sp>
        <p:nvSpPr>
          <p:cNvPr id="14" name="Text 11"/>
          <p:cNvSpPr/>
          <p:nvPr/>
        </p:nvSpPr>
        <p:spPr>
          <a:xfrm>
            <a:off x="320040" y="2459736"/>
            <a:ext cx="5623560" cy="219456"/>
          </a:xfrm>
          <a:prstGeom prst="rect">
            <a:avLst/>
          </a:prstGeom>
          <a:noFill/>
          <a:ln/>
        </p:spPr>
        <p:txBody>
          <a:bodyPr wrap="square" rtlCol="0" anchor="ctr"/>
          <a:lstStyle/>
          <a:p>
            <a:pPr marL="0" indent="0">
              <a:buNone/>
            </a:pPr>
            <a:r>
              <a:rPr lang="en-US" sz="1050" b="1" dirty="0">
                <a:solidFill>
                  <a:srgbClr val="83348F"/>
                </a:solidFill>
                <a:latin typeface="Arial" pitchFamily="34" charset="0"/>
                <a:ea typeface="Arial" pitchFamily="34" charset="-122"/>
                <a:cs typeface="Arial" pitchFamily="34" charset="-120"/>
              </a:rPr>
              <a:t>Map every step, including ones that add no value</a:t>
            </a:r>
            <a:endParaRPr lang="en-US" sz="1050" dirty="0"/>
          </a:p>
        </p:txBody>
      </p:sp>
      <p:sp>
        <p:nvSpPr>
          <p:cNvPr id="15" name="Text 12"/>
          <p:cNvSpPr/>
          <p:nvPr/>
        </p:nvSpPr>
        <p:spPr>
          <a:xfrm>
            <a:off x="320040" y="2697480"/>
            <a:ext cx="5623560" cy="530352"/>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Inspection steps, waiting points, rework loops, and transport legs should all appear. The temptation to omit NVA steps defeats the purpose of the exercise.</a:t>
            </a:r>
            <a:endParaRPr lang="en-US" sz="1000" dirty="0"/>
          </a:p>
        </p:txBody>
      </p:sp>
      <p:sp>
        <p:nvSpPr>
          <p:cNvPr id="16" name="Shape 13"/>
          <p:cNvSpPr/>
          <p:nvPr/>
        </p:nvSpPr>
        <p:spPr>
          <a:xfrm>
            <a:off x="228600" y="3337560"/>
            <a:ext cx="5806440" cy="841248"/>
          </a:xfrm>
          <a:prstGeom prst="rect">
            <a:avLst/>
          </a:prstGeom>
          <a:solidFill>
            <a:srgbClr val="E0F4FD"/>
          </a:solidFill>
          <a:ln w="6350">
            <a:solidFill>
              <a:srgbClr val="009FE3"/>
            </a:solidFill>
            <a:prstDash val="solid"/>
          </a:ln>
        </p:spPr>
        <p:txBody>
          <a:bodyPr/>
          <a:lstStyle/>
          <a:p>
            <a:endParaRPr lang="en-GB"/>
          </a:p>
        </p:txBody>
      </p:sp>
      <p:sp>
        <p:nvSpPr>
          <p:cNvPr id="17" name="Text 14"/>
          <p:cNvSpPr/>
          <p:nvPr/>
        </p:nvSpPr>
        <p:spPr>
          <a:xfrm>
            <a:off x="320040" y="3374136"/>
            <a:ext cx="5623560" cy="219456"/>
          </a:xfrm>
          <a:prstGeom prst="rect">
            <a:avLst/>
          </a:prstGeom>
          <a:noFill/>
          <a:ln/>
        </p:spPr>
        <p:txBody>
          <a:bodyPr wrap="square" rtlCol="0" anchor="ctr"/>
          <a:lstStyle/>
          <a:p>
            <a:pPr marL="0" indent="0">
              <a:buNone/>
            </a:pPr>
            <a:r>
              <a:rPr lang="en-US" sz="1050" b="1" dirty="0">
                <a:solidFill>
                  <a:srgbClr val="009FE3"/>
                </a:solidFill>
                <a:latin typeface="Arial" pitchFamily="34" charset="0"/>
                <a:ea typeface="Arial" pitchFamily="34" charset="-122"/>
                <a:cs typeface="Arial" pitchFamily="34" charset="-120"/>
              </a:rPr>
              <a:t>Work backwards from the customer</a:t>
            </a:r>
            <a:endParaRPr lang="en-US" sz="1050" dirty="0"/>
          </a:p>
        </p:txBody>
      </p:sp>
      <p:sp>
        <p:nvSpPr>
          <p:cNvPr id="18" name="Text 15"/>
          <p:cNvSpPr/>
          <p:nvPr/>
        </p:nvSpPr>
        <p:spPr>
          <a:xfrm>
            <a:off x="320040" y="3611880"/>
            <a:ext cx="5623560" cy="530352"/>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Starting at despatch and working back to goods-in keeps you focused on what the customer needs at each stage.</a:t>
            </a:r>
            <a:endParaRPr lang="en-US" sz="1000" dirty="0"/>
          </a:p>
        </p:txBody>
      </p:sp>
      <p:sp>
        <p:nvSpPr>
          <p:cNvPr id="19" name="Shape 16"/>
          <p:cNvSpPr/>
          <p:nvPr/>
        </p:nvSpPr>
        <p:spPr>
          <a:xfrm>
            <a:off x="228600" y="4251960"/>
            <a:ext cx="5806440" cy="841248"/>
          </a:xfrm>
          <a:prstGeom prst="rect">
            <a:avLst/>
          </a:prstGeom>
          <a:solidFill>
            <a:srgbClr val="F3EAF4"/>
          </a:solidFill>
          <a:ln w="6350">
            <a:solidFill>
              <a:srgbClr val="83348F"/>
            </a:solidFill>
            <a:prstDash val="solid"/>
          </a:ln>
        </p:spPr>
        <p:txBody>
          <a:bodyPr/>
          <a:lstStyle/>
          <a:p>
            <a:endParaRPr lang="en-GB"/>
          </a:p>
        </p:txBody>
      </p:sp>
      <p:sp>
        <p:nvSpPr>
          <p:cNvPr id="20" name="Text 17"/>
          <p:cNvSpPr/>
          <p:nvPr/>
        </p:nvSpPr>
        <p:spPr>
          <a:xfrm>
            <a:off x="320040" y="4288536"/>
            <a:ext cx="5623560" cy="219456"/>
          </a:xfrm>
          <a:prstGeom prst="rect">
            <a:avLst/>
          </a:prstGeom>
          <a:noFill/>
          <a:ln/>
        </p:spPr>
        <p:txBody>
          <a:bodyPr wrap="square" rtlCol="0" anchor="ctr"/>
          <a:lstStyle/>
          <a:p>
            <a:pPr marL="0" indent="0">
              <a:buNone/>
            </a:pPr>
            <a:r>
              <a:rPr lang="en-US" sz="1050" b="1" dirty="0">
                <a:solidFill>
                  <a:srgbClr val="83348F"/>
                </a:solidFill>
                <a:latin typeface="Arial" pitchFamily="34" charset="0"/>
                <a:ea typeface="Arial" pitchFamily="34" charset="-122"/>
                <a:cs typeface="Arial" pitchFamily="34" charset="-120"/>
              </a:rPr>
              <a:t>Use different colours to indicate value</a:t>
            </a:r>
            <a:endParaRPr lang="en-US" sz="1050" dirty="0"/>
          </a:p>
        </p:txBody>
      </p:sp>
      <p:sp>
        <p:nvSpPr>
          <p:cNvPr id="21" name="Text 18"/>
          <p:cNvSpPr/>
          <p:nvPr/>
        </p:nvSpPr>
        <p:spPr>
          <a:xfrm>
            <a:off x="320040" y="4526280"/>
            <a:ext cx="5623560" cy="530352"/>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Green process boxes for value-adding steps (anything that changes the fit, form, or function of the product). Red or grey for non-value-adding steps.</a:t>
            </a:r>
            <a:endParaRPr lang="en-US" sz="1000" dirty="0"/>
          </a:p>
        </p:txBody>
      </p:sp>
      <p:sp>
        <p:nvSpPr>
          <p:cNvPr id="22" name="Shape 19"/>
          <p:cNvSpPr/>
          <p:nvPr/>
        </p:nvSpPr>
        <p:spPr>
          <a:xfrm>
            <a:off x="228600" y="5166360"/>
            <a:ext cx="5806440" cy="841248"/>
          </a:xfrm>
          <a:prstGeom prst="rect">
            <a:avLst/>
          </a:prstGeom>
          <a:solidFill>
            <a:srgbClr val="E0F4FD"/>
          </a:solidFill>
          <a:ln w="6350">
            <a:solidFill>
              <a:srgbClr val="009FE3"/>
            </a:solidFill>
            <a:prstDash val="solid"/>
          </a:ln>
        </p:spPr>
        <p:txBody>
          <a:bodyPr/>
          <a:lstStyle/>
          <a:p>
            <a:endParaRPr lang="en-GB"/>
          </a:p>
        </p:txBody>
      </p:sp>
      <p:sp>
        <p:nvSpPr>
          <p:cNvPr id="23" name="Text 20"/>
          <p:cNvSpPr/>
          <p:nvPr/>
        </p:nvSpPr>
        <p:spPr>
          <a:xfrm>
            <a:off x="320040" y="5202936"/>
            <a:ext cx="5623560" cy="219456"/>
          </a:xfrm>
          <a:prstGeom prst="rect">
            <a:avLst/>
          </a:prstGeom>
          <a:noFill/>
          <a:ln/>
        </p:spPr>
        <p:txBody>
          <a:bodyPr wrap="square" rtlCol="0" anchor="ctr"/>
          <a:lstStyle/>
          <a:p>
            <a:pPr marL="0" indent="0">
              <a:buNone/>
            </a:pPr>
            <a:r>
              <a:rPr lang="en-US" sz="1050" b="1" dirty="0">
                <a:solidFill>
                  <a:srgbClr val="009FE3"/>
                </a:solidFill>
                <a:latin typeface="Arial" pitchFamily="34" charset="0"/>
                <a:ea typeface="Arial" pitchFamily="34" charset="-122"/>
                <a:cs typeface="Arial" pitchFamily="34" charset="-120"/>
              </a:rPr>
              <a:t>Post process boxes on paper first</a:t>
            </a:r>
            <a:endParaRPr lang="en-US" sz="1050" dirty="0"/>
          </a:p>
        </p:txBody>
      </p:sp>
      <p:sp>
        <p:nvSpPr>
          <p:cNvPr id="24" name="Text 21"/>
          <p:cNvSpPr/>
          <p:nvPr/>
        </p:nvSpPr>
        <p:spPr>
          <a:xfrm>
            <a:off x="320040" y="5440680"/>
            <a:ext cx="5623560" cy="530352"/>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Use a large roll of brown paper and Post-it notes. Moving boxes around is easy on paper and almost impossible once you have committed to a digital version.</a:t>
            </a:r>
            <a:endParaRPr lang="en-US" sz="1000" dirty="0"/>
          </a:p>
        </p:txBody>
      </p:sp>
      <p:sp>
        <p:nvSpPr>
          <p:cNvPr id="25" name="Shape 22"/>
          <p:cNvSpPr/>
          <p:nvPr/>
        </p:nvSpPr>
        <p:spPr>
          <a:xfrm>
            <a:off x="6400800" y="987552"/>
            <a:ext cx="5486400" cy="5285232"/>
          </a:xfrm>
          <a:prstGeom prst="rect">
            <a:avLst/>
          </a:prstGeom>
          <a:solidFill>
            <a:srgbClr val="F5F5F5"/>
          </a:solidFill>
          <a:ln w="6350">
            <a:solidFill>
              <a:srgbClr val="D8D8D8"/>
            </a:solidFill>
            <a:prstDash val="solid"/>
          </a:ln>
        </p:spPr>
        <p:txBody>
          <a:bodyPr/>
          <a:lstStyle/>
          <a:p>
            <a:endParaRPr lang="en-GB"/>
          </a:p>
        </p:txBody>
      </p:sp>
      <p:sp>
        <p:nvSpPr>
          <p:cNvPr id="26" name="Text 23"/>
          <p:cNvSpPr/>
          <p:nvPr/>
        </p:nvSpPr>
        <p:spPr>
          <a:xfrm>
            <a:off x="6492240" y="1042416"/>
            <a:ext cx="5303520" cy="237744"/>
          </a:xfrm>
          <a:prstGeom prst="rect">
            <a:avLst/>
          </a:prstGeom>
          <a:noFill/>
          <a:ln/>
        </p:spPr>
        <p:txBody>
          <a:bodyPr wrap="square" rtlCol="0" anchor="ctr"/>
          <a:lstStyle/>
          <a:p>
            <a:pPr marL="0" indent="0">
              <a:buNone/>
            </a:pPr>
            <a:r>
              <a:rPr lang="en-US" sz="950" i="1" dirty="0">
                <a:solidFill>
                  <a:srgbClr val="5B595A"/>
                </a:solidFill>
                <a:latin typeface="Arial" pitchFamily="34" charset="0"/>
                <a:ea typeface="Arial" pitchFamily="34" charset="-122"/>
                <a:cs typeface="Arial" pitchFamily="34" charset="-120"/>
              </a:rPr>
              <a:t>Process sequence mapped on paper (example):</a:t>
            </a:r>
            <a:endParaRPr lang="en-US" sz="950" dirty="0"/>
          </a:p>
        </p:txBody>
      </p:sp>
      <p:sp>
        <p:nvSpPr>
          <p:cNvPr id="27" name="Shape 24"/>
          <p:cNvSpPr/>
          <p:nvPr/>
        </p:nvSpPr>
        <p:spPr>
          <a:xfrm>
            <a:off x="6583680" y="1389888"/>
            <a:ext cx="1115568" cy="274320"/>
          </a:xfrm>
          <a:prstGeom prst="rect">
            <a:avLst/>
          </a:prstGeom>
          <a:solidFill>
            <a:srgbClr val="1E3A5F"/>
          </a:solidFill>
          <a:ln/>
        </p:spPr>
        <p:txBody>
          <a:bodyPr/>
          <a:lstStyle/>
          <a:p>
            <a:endParaRPr lang="en-GB"/>
          </a:p>
        </p:txBody>
      </p:sp>
      <p:sp>
        <p:nvSpPr>
          <p:cNvPr id="28" name="Text 25"/>
          <p:cNvSpPr/>
          <p:nvPr/>
        </p:nvSpPr>
        <p:spPr>
          <a:xfrm>
            <a:off x="6583680" y="1399032"/>
            <a:ext cx="1115568" cy="256032"/>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GOODS IN</a:t>
            </a:r>
            <a:endParaRPr lang="en-US" sz="750" dirty="0"/>
          </a:p>
          <a:p>
            <a:pPr marL="0" indent="0" algn="ctr">
              <a:buNone/>
            </a:pPr>
            <a:r>
              <a:rPr lang="en-US" sz="750" b="1" dirty="0">
                <a:solidFill>
                  <a:srgbClr val="FFFFFF"/>
                </a:solidFill>
                <a:latin typeface="Arial" pitchFamily="34" charset="0"/>
                <a:ea typeface="Arial" pitchFamily="34" charset="-122"/>
                <a:cs typeface="Arial" pitchFamily="34" charset="-120"/>
              </a:rPr>
              <a:t>/ STORES</a:t>
            </a:r>
            <a:endParaRPr lang="en-US" sz="750" dirty="0"/>
          </a:p>
        </p:txBody>
      </p:sp>
      <p:sp>
        <p:nvSpPr>
          <p:cNvPr id="29" name="Shape 26"/>
          <p:cNvSpPr/>
          <p:nvPr/>
        </p:nvSpPr>
        <p:spPr>
          <a:xfrm>
            <a:off x="6583680" y="1664208"/>
            <a:ext cx="1115568" cy="438912"/>
          </a:xfrm>
          <a:prstGeom prst="rect">
            <a:avLst/>
          </a:prstGeom>
          <a:solidFill>
            <a:srgbClr val="FFFFFF"/>
          </a:solidFill>
          <a:ln w="3810">
            <a:solidFill>
              <a:srgbClr val="D8D8D8"/>
            </a:solidFill>
            <a:prstDash val="solid"/>
          </a:ln>
        </p:spPr>
        <p:txBody>
          <a:bodyPr/>
          <a:lstStyle/>
          <a:p>
            <a:endParaRPr lang="en-GB"/>
          </a:p>
        </p:txBody>
      </p:sp>
      <p:sp>
        <p:nvSpPr>
          <p:cNvPr id="30" name="Text 27"/>
          <p:cNvSpPr/>
          <p:nvPr/>
        </p:nvSpPr>
        <p:spPr>
          <a:xfrm>
            <a:off x="6629400" y="1719072"/>
            <a:ext cx="1024128" cy="329184"/>
          </a:xfrm>
          <a:prstGeom prst="rect">
            <a:avLst/>
          </a:prstGeom>
          <a:noFill/>
          <a:ln/>
        </p:spPr>
        <p:txBody>
          <a:bodyPr wrap="square" rtlCol="0" anchor="ctr"/>
          <a:lstStyle/>
          <a:p>
            <a:pPr marL="0" indent="0">
              <a:buNone/>
            </a:pPr>
            <a:r>
              <a:rPr lang="en-US" sz="700" i="1" dirty="0">
                <a:solidFill>
                  <a:srgbClr val="D8D8D8"/>
                </a:solidFill>
                <a:latin typeface="Arial" pitchFamily="34" charset="0"/>
                <a:ea typeface="Arial" pitchFamily="34" charset="-122"/>
                <a:cs typeface="Arial" pitchFamily="34" charset="-120"/>
              </a:rPr>
              <a:t>Data here</a:t>
            </a:r>
            <a:endParaRPr lang="en-US" sz="700" dirty="0"/>
          </a:p>
        </p:txBody>
      </p:sp>
      <p:sp>
        <p:nvSpPr>
          <p:cNvPr id="31" name="Shape 28"/>
          <p:cNvSpPr/>
          <p:nvPr/>
        </p:nvSpPr>
        <p:spPr>
          <a:xfrm>
            <a:off x="7717536" y="1481328"/>
            <a:ext cx="109728" cy="91440"/>
          </a:xfrm>
          <a:prstGeom prst="rect">
            <a:avLst/>
          </a:prstGeom>
          <a:solidFill>
            <a:srgbClr val="5B595A"/>
          </a:solidFill>
          <a:ln/>
        </p:spPr>
        <p:txBody>
          <a:bodyPr/>
          <a:lstStyle/>
          <a:p>
            <a:endParaRPr lang="en-GB"/>
          </a:p>
        </p:txBody>
      </p:sp>
      <p:sp>
        <p:nvSpPr>
          <p:cNvPr id="32" name="Shape 29"/>
          <p:cNvSpPr/>
          <p:nvPr/>
        </p:nvSpPr>
        <p:spPr>
          <a:xfrm>
            <a:off x="7845552" y="1389888"/>
            <a:ext cx="1115568" cy="274320"/>
          </a:xfrm>
          <a:prstGeom prst="rect">
            <a:avLst/>
          </a:prstGeom>
          <a:solidFill>
            <a:srgbClr val="009FE3"/>
          </a:solidFill>
          <a:ln/>
        </p:spPr>
        <p:txBody>
          <a:bodyPr/>
          <a:lstStyle/>
          <a:p>
            <a:endParaRPr lang="en-GB"/>
          </a:p>
        </p:txBody>
      </p:sp>
      <p:sp>
        <p:nvSpPr>
          <p:cNvPr id="33" name="Text 30"/>
          <p:cNvSpPr/>
          <p:nvPr/>
        </p:nvSpPr>
        <p:spPr>
          <a:xfrm>
            <a:off x="7845552" y="1399032"/>
            <a:ext cx="1115568" cy="256032"/>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CNC</a:t>
            </a:r>
            <a:endParaRPr lang="en-US" sz="750" dirty="0"/>
          </a:p>
          <a:p>
            <a:pPr marL="0" indent="0" algn="ctr">
              <a:buNone/>
            </a:pPr>
            <a:r>
              <a:rPr lang="en-US" sz="750" b="1" dirty="0">
                <a:solidFill>
                  <a:srgbClr val="FFFFFF"/>
                </a:solidFill>
                <a:latin typeface="Arial" pitchFamily="34" charset="0"/>
                <a:ea typeface="Arial" pitchFamily="34" charset="-122"/>
                <a:cs typeface="Arial" pitchFamily="34" charset="-120"/>
              </a:rPr>
              <a:t>TURNING</a:t>
            </a:r>
            <a:endParaRPr lang="en-US" sz="750" dirty="0"/>
          </a:p>
        </p:txBody>
      </p:sp>
      <p:sp>
        <p:nvSpPr>
          <p:cNvPr id="34" name="Shape 31"/>
          <p:cNvSpPr/>
          <p:nvPr/>
        </p:nvSpPr>
        <p:spPr>
          <a:xfrm>
            <a:off x="7845552" y="1664208"/>
            <a:ext cx="1115568" cy="438912"/>
          </a:xfrm>
          <a:prstGeom prst="rect">
            <a:avLst/>
          </a:prstGeom>
          <a:solidFill>
            <a:srgbClr val="FFFFFF"/>
          </a:solidFill>
          <a:ln w="3810">
            <a:solidFill>
              <a:srgbClr val="D8D8D8"/>
            </a:solidFill>
            <a:prstDash val="solid"/>
          </a:ln>
        </p:spPr>
        <p:txBody>
          <a:bodyPr/>
          <a:lstStyle/>
          <a:p>
            <a:endParaRPr lang="en-GB"/>
          </a:p>
        </p:txBody>
      </p:sp>
      <p:sp>
        <p:nvSpPr>
          <p:cNvPr id="35" name="Text 32"/>
          <p:cNvSpPr/>
          <p:nvPr/>
        </p:nvSpPr>
        <p:spPr>
          <a:xfrm>
            <a:off x="7891272" y="1719072"/>
            <a:ext cx="1024128" cy="329184"/>
          </a:xfrm>
          <a:prstGeom prst="rect">
            <a:avLst/>
          </a:prstGeom>
          <a:noFill/>
          <a:ln/>
        </p:spPr>
        <p:txBody>
          <a:bodyPr wrap="square" rtlCol="0" anchor="ctr"/>
          <a:lstStyle/>
          <a:p>
            <a:pPr marL="0" indent="0">
              <a:buNone/>
            </a:pPr>
            <a:r>
              <a:rPr lang="en-US" sz="700" i="1" dirty="0">
                <a:solidFill>
                  <a:srgbClr val="D8D8D8"/>
                </a:solidFill>
                <a:latin typeface="Arial" pitchFamily="34" charset="0"/>
                <a:ea typeface="Arial" pitchFamily="34" charset="-122"/>
                <a:cs typeface="Arial" pitchFamily="34" charset="-120"/>
              </a:rPr>
              <a:t>Data here</a:t>
            </a:r>
            <a:endParaRPr lang="en-US" sz="700" dirty="0"/>
          </a:p>
        </p:txBody>
      </p:sp>
      <p:sp>
        <p:nvSpPr>
          <p:cNvPr id="36" name="Shape 33"/>
          <p:cNvSpPr/>
          <p:nvPr/>
        </p:nvSpPr>
        <p:spPr>
          <a:xfrm>
            <a:off x="8979408" y="1481328"/>
            <a:ext cx="109728" cy="91440"/>
          </a:xfrm>
          <a:prstGeom prst="rect">
            <a:avLst/>
          </a:prstGeom>
          <a:solidFill>
            <a:srgbClr val="5B595A"/>
          </a:solidFill>
          <a:ln/>
        </p:spPr>
        <p:txBody>
          <a:bodyPr/>
          <a:lstStyle/>
          <a:p>
            <a:endParaRPr lang="en-GB"/>
          </a:p>
        </p:txBody>
      </p:sp>
      <p:sp>
        <p:nvSpPr>
          <p:cNvPr id="37" name="Shape 34"/>
          <p:cNvSpPr/>
          <p:nvPr/>
        </p:nvSpPr>
        <p:spPr>
          <a:xfrm>
            <a:off x="9107424" y="1389888"/>
            <a:ext cx="1115568" cy="274320"/>
          </a:xfrm>
          <a:prstGeom prst="rect">
            <a:avLst/>
          </a:prstGeom>
          <a:solidFill>
            <a:srgbClr val="009FE3"/>
          </a:solidFill>
          <a:ln/>
        </p:spPr>
        <p:txBody>
          <a:bodyPr/>
          <a:lstStyle/>
          <a:p>
            <a:endParaRPr lang="en-GB"/>
          </a:p>
        </p:txBody>
      </p:sp>
      <p:sp>
        <p:nvSpPr>
          <p:cNvPr id="38" name="Text 35"/>
          <p:cNvSpPr/>
          <p:nvPr/>
        </p:nvSpPr>
        <p:spPr>
          <a:xfrm>
            <a:off x="9107424" y="1399032"/>
            <a:ext cx="1115568" cy="256032"/>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CNC</a:t>
            </a:r>
            <a:endParaRPr lang="en-US" sz="750" dirty="0"/>
          </a:p>
          <a:p>
            <a:pPr marL="0" indent="0" algn="ctr">
              <a:buNone/>
            </a:pPr>
            <a:r>
              <a:rPr lang="en-US" sz="750" b="1" dirty="0">
                <a:solidFill>
                  <a:srgbClr val="FFFFFF"/>
                </a:solidFill>
                <a:latin typeface="Arial" pitchFamily="34" charset="0"/>
                <a:ea typeface="Arial" pitchFamily="34" charset="-122"/>
                <a:cs typeface="Arial" pitchFamily="34" charset="-120"/>
              </a:rPr>
              <a:t>MILLING</a:t>
            </a:r>
            <a:endParaRPr lang="en-US" sz="750" dirty="0"/>
          </a:p>
        </p:txBody>
      </p:sp>
      <p:sp>
        <p:nvSpPr>
          <p:cNvPr id="39" name="Shape 36"/>
          <p:cNvSpPr/>
          <p:nvPr/>
        </p:nvSpPr>
        <p:spPr>
          <a:xfrm>
            <a:off x="9107424" y="1664208"/>
            <a:ext cx="1115568" cy="438912"/>
          </a:xfrm>
          <a:prstGeom prst="rect">
            <a:avLst/>
          </a:prstGeom>
          <a:solidFill>
            <a:srgbClr val="FFFFFF"/>
          </a:solidFill>
          <a:ln w="3810">
            <a:solidFill>
              <a:srgbClr val="D8D8D8"/>
            </a:solidFill>
            <a:prstDash val="solid"/>
          </a:ln>
        </p:spPr>
        <p:txBody>
          <a:bodyPr/>
          <a:lstStyle/>
          <a:p>
            <a:endParaRPr lang="en-GB"/>
          </a:p>
        </p:txBody>
      </p:sp>
      <p:sp>
        <p:nvSpPr>
          <p:cNvPr id="40" name="Text 37"/>
          <p:cNvSpPr/>
          <p:nvPr/>
        </p:nvSpPr>
        <p:spPr>
          <a:xfrm>
            <a:off x="9153144" y="1719072"/>
            <a:ext cx="1024128" cy="329184"/>
          </a:xfrm>
          <a:prstGeom prst="rect">
            <a:avLst/>
          </a:prstGeom>
          <a:noFill/>
          <a:ln/>
        </p:spPr>
        <p:txBody>
          <a:bodyPr wrap="square" rtlCol="0" anchor="ctr"/>
          <a:lstStyle/>
          <a:p>
            <a:pPr marL="0" indent="0">
              <a:buNone/>
            </a:pPr>
            <a:r>
              <a:rPr lang="en-US" sz="700" i="1" dirty="0">
                <a:solidFill>
                  <a:srgbClr val="D8D8D8"/>
                </a:solidFill>
                <a:latin typeface="Arial" pitchFamily="34" charset="0"/>
                <a:ea typeface="Arial" pitchFamily="34" charset="-122"/>
                <a:cs typeface="Arial" pitchFamily="34" charset="-120"/>
              </a:rPr>
              <a:t>Data here</a:t>
            </a:r>
            <a:endParaRPr lang="en-US" sz="700" dirty="0"/>
          </a:p>
        </p:txBody>
      </p:sp>
      <p:sp>
        <p:nvSpPr>
          <p:cNvPr id="41" name="Shape 38"/>
          <p:cNvSpPr/>
          <p:nvPr/>
        </p:nvSpPr>
        <p:spPr>
          <a:xfrm>
            <a:off x="10241280" y="1481328"/>
            <a:ext cx="109728" cy="91440"/>
          </a:xfrm>
          <a:prstGeom prst="rect">
            <a:avLst/>
          </a:prstGeom>
          <a:solidFill>
            <a:srgbClr val="5B595A"/>
          </a:solidFill>
          <a:ln/>
        </p:spPr>
        <p:txBody>
          <a:bodyPr/>
          <a:lstStyle/>
          <a:p>
            <a:endParaRPr lang="en-GB"/>
          </a:p>
        </p:txBody>
      </p:sp>
      <p:sp>
        <p:nvSpPr>
          <p:cNvPr id="42" name="Shape 39"/>
          <p:cNvSpPr/>
          <p:nvPr/>
        </p:nvSpPr>
        <p:spPr>
          <a:xfrm>
            <a:off x="10369296" y="1389888"/>
            <a:ext cx="1115568" cy="274320"/>
          </a:xfrm>
          <a:prstGeom prst="rect">
            <a:avLst/>
          </a:prstGeom>
          <a:solidFill>
            <a:srgbClr val="B91C1C"/>
          </a:solidFill>
          <a:ln/>
        </p:spPr>
        <p:txBody>
          <a:bodyPr/>
          <a:lstStyle/>
          <a:p>
            <a:endParaRPr lang="en-GB"/>
          </a:p>
        </p:txBody>
      </p:sp>
      <p:sp>
        <p:nvSpPr>
          <p:cNvPr id="43" name="Text 40"/>
          <p:cNvSpPr/>
          <p:nvPr/>
        </p:nvSpPr>
        <p:spPr>
          <a:xfrm>
            <a:off x="10369296" y="1399032"/>
            <a:ext cx="1115568" cy="256032"/>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DEBURR</a:t>
            </a:r>
            <a:endParaRPr lang="en-US" sz="750" dirty="0"/>
          </a:p>
          <a:p>
            <a:pPr marL="0" indent="0" algn="ctr">
              <a:buNone/>
            </a:pPr>
            <a:r>
              <a:rPr lang="en-US" sz="750" b="1" dirty="0">
                <a:solidFill>
                  <a:srgbClr val="FFFFFF"/>
                </a:solidFill>
                <a:latin typeface="Arial" pitchFamily="34" charset="0"/>
                <a:ea typeface="Arial" pitchFamily="34" charset="-122"/>
                <a:cs typeface="Arial" pitchFamily="34" charset="-120"/>
              </a:rPr>
              <a:t>&amp; CLEAN</a:t>
            </a:r>
            <a:endParaRPr lang="en-US" sz="750" dirty="0"/>
          </a:p>
        </p:txBody>
      </p:sp>
      <p:sp>
        <p:nvSpPr>
          <p:cNvPr id="44" name="Shape 41"/>
          <p:cNvSpPr/>
          <p:nvPr/>
        </p:nvSpPr>
        <p:spPr>
          <a:xfrm>
            <a:off x="10369296" y="1664208"/>
            <a:ext cx="1115568" cy="438912"/>
          </a:xfrm>
          <a:prstGeom prst="rect">
            <a:avLst/>
          </a:prstGeom>
          <a:solidFill>
            <a:srgbClr val="FFFFFF"/>
          </a:solidFill>
          <a:ln w="3810">
            <a:solidFill>
              <a:srgbClr val="D8D8D8"/>
            </a:solidFill>
            <a:prstDash val="solid"/>
          </a:ln>
        </p:spPr>
        <p:txBody>
          <a:bodyPr/>
          <a:lstStyle/>
          <a:p>
            <a:endParaRPr lang="en-GB"/>
          </a:p>
        </p:txBody>
      </p:sp>
      <p:sp>
        <p:nvSpPr>
          <p:cNvPr id="45" name="Text 42"/>
          <p:cNvSpPr/>
          <p:nvPr/>
        </p:nvSpPr>
        <p:spPr>
          <a:xfrm>
            <a:off x="10415016" y="1719072"/>
            <a:ext cx="1024128" cy="329184"/>
          </a:xfrm>
          <a:prstGeom prst="rect">
            <a:avLst/>
          </a:prstGeom>
          <a:noFill/>
          <a:ln/>
        </p:spPr>
        <p:txBody>
          <a:bodyPr wrap="square" rtlCol="0" anchor="ctr"/>
          <a:lstStyle/>
          <a:p>
            <a:pPr marL="0" indent="0">
              <a:buNone/>
            </a:pPr>
            <a:r>
              <a:rPr lang="en-US" sz="700" i="1" dirty="0">
                <a:solidFill>
                  <a:srgbClr val="D8D8D8"/>
                </a:solidFill>
                <a:latin typeface="Arial" pitchFamily="34" charset="0"/>
                <a:ea typeface="Arial" pitchFamily="34" charset="-122"/>
                <a:cs typeface="Arial" pitchFamily="34" charset="-120"/>
              </a:rPr>
              <a:t>Data here</a:t>
            </a:r>
            <a:endParaRPr lang="en-US" sz="700" dirty="0"/>
          </a:p>
        </p:txBody>
      </p:sp>
      <p:sp>
        <p:nvSpPr>
          <p:cNvPr id="46" name="Shape 43"/>
          <p:cNvSpPr/>
          <p:nvPr/>
        </p:nvSpPr>
        <p:spPr>
          <a:xfrm>
            <a:off x="10863072" y="2103120"/>
            <a:ext cx="91440" cy="347472"/>
          </a:xfrm>
          <a:prstGeom prst="rect">
            <a:avLst/>
          </a:prstGeom>
          <a:solidFill>
            <a:srgbClr val="5B595A"/>
          </a:solidFill>
          <a:ln/>
        </p:spPr>
        <p:txBody>
          <a:bodyPr/>
          <a:lstStyle/>
          <a:p>
            <a:endParaRPr lang="en-GB"/>
          </a:p>
        </p:txBody>
      </p:sp>
      <p:sp>
        <p:nvSpPr>
          <p:cNvPr id="47" name="Shape 44"/>
          <p:cNvSpPr/>
          <p:nvPr/>
        </p:nvSpPr>
        <p:spPr>
          <a:xfrm>
            <a:off x="6583680" y="3035808"/>
            <a:ext cx="1115568" cy="274320"/>
          </a:xfrm>
          <a:prstGeom prst="rect">
            <a:avLst/>
          </a:prstGeom>
          <a:solidFill>
            <a:srgbClr val="B91C1C"/>
          </a:solidFill>
          <a:ln/>
        </p:spPr>
        <p:txBody>
          <a:bodyPr/>
          <a:lstStyle/>
          <a:p>
            <a:endParaRPr lang="en-GB"/>
          </a:p>
        </p:txBody>
      </p:sp>
      <p:sp>
        <p:nvSpPr>
          <p:cNvPr id="48" name="Text 45"/>
          <p:cNvSpPr/>
          <p:nvPr/>
        </p:nvSpPr>
        <p:spPr>
          <a:xfrm>
            <a:off x="6583680" y="3044952"/>
            <a:ext cx="1115568" cy="256032"/>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CMM</a:t>
            </a:r>
            <a:endParaRPr lang="en-US" sz="750" dirty="0"/>
          </a:p>
          <a:p>
            <a:pPr marL="0" indent="0" algn="ctr">
              <a:buNone/>
            </a:pPr>
            <a:r>
              <a:rPr lang="en-US" sz="750" b="1" dirty="0">
                <a:solidFill>
                  <a:srgbClr val="FFFFFF"/>
                </a:solidFill>
                <a:latin typeface="Arial" pitchFamily="34" charset="0"/>
                <a:ea typeface="Arial" pitchFamily="34" charset="-122"/>
                <a:cs typeface="Arial" pitchFamily="34" charset="-120"/>
              </a:rPr>
              <a:t>INSPECTION</a:t>
            </a:r>
            <a:endParaRPr lang="en-US" sz="750" dirty="0"/>
          </a:p>
        </p:txBody>
      </p:sp>
      <p:sp>
        <p:nvSpPr>
          <p:cNvPr id="49" name="Shape 46"/>
          <p:cNvSpPr/>
          <p:nvPr/>
        </p:nvSpPr>
        <p:spPr>
          <a:xfrm>
            <a:off x="6583680" y="3310128"/>
            <a:ext cx="1115568" cy="438912"/>
          </a:xfrm>
          <a:prstGeom prst="rect">
            <a:avLst/>
          </a:prstGeom>
          <a:solidFill>
            <a:srgbClr val="FFFFFF"/>
          </a:solidFill>
          <a:ln w="3810">
            <a:solidFill>
              <a:srgbClr val="D8D8D8"/>
            </a:solidFill>
            <a:prstDash val="solid"/>
          </a:ln>
        </p:spPr>
        <p:txBody>
          <a:bodyPr/>
          <a:lstStyle/>
          <a:p>
            <a:endParaRPr lang="en-GB"/>
          </a:p>
        </p:txBody>
      </p:sp>
      <p:sp>
        <p:nvSpPr>
          <p:cNvPr id="50" name="Text 47"/>
          <p:cNvSpPr/>
          <p:nvPr/>
        </p:nvSpPr>
        <p:spPr>
          <a:xfrm>
            <a:off x="6629400" y="3364992"/>
            <a:ext cx="1024128" cy="329184"/>
          </a:xfrm>
          <a:prstGeom prst="rect">
            <a:avLst/>
          </a:prstGeom>
          <a:noFill/>
          <a:ln/>
        </p:spPr>
        <p:txBody>
          <a:bodyPr wrap="square" rtlCol="0" anchor="ctr"/>
          <a:lstStyle/>
          <a:p>
            <a:pPr marL="0" indent="0">
              <a:buNone/>
            </a:pPr>
            <a:r>
              <a:rPr lang="en-US" sz="700" i="1" dirty="0">
                <a:solidFill>
                  <a:srgbClr val="D8D8D8"/>
                </a:solidFill>
                <a:latin typeface="Arial" pitchFamily="34" charset="0"/>
                <a:ea typeface="Arial" pitchFamily="34" charset="-122"/>
                <a:cs typeface="Arial" pitchFamily="34" charset="-120"/>
              </a:rPr>
              <a:t>Data here</a:t>
            </a:r>
            <a:endParaRPr lang="en-US" sz="700" dirty="0"/>
          </a:p>
        </p:txBody>
      </p:sp>
      <p:sp>
        <p:nvSpPr>
          <p:cNvPr id="51" name="Shape 48"/>
          <p:cNvSpPr/>
          <p:nvPr/>
        </p:nvSpPr>
        <p:spPr>
          <a:xfrm>
            <a:off x="7717536" y="3127248"/>
            <a:ext cx="109728" cy="91440"/>
          </a:xfrm>
          <a:prstGeom prst="rect">
            <a:avLst/>
          </a:prstGeom>
          <a:solidFill>
            <a:srgbClr val="5B595A"/>
          </a:solidFill>
          <a:ln/>
        </p:spPr>
        <p:txBody>
          <a:bodyPr/>
          <a:lstStyle/>
          <a:p>
            <a:endParaRPr lang="en-GB"/>
          </a:p>
        </p:txBody>
      </p:sp>
      <p:sp>
        <p:nvSpPr>
          <p:cNvPr id="52" name="Shape 49"/>
          <p:cNvSpPr/>
          <p:nvPr/>
        </p:nvSpPr>
        <p:spPr>
          <a:xfrm>
            <a:off x="7845552" y="3035808"/>
            <a:ext cx="1115568" cy="274320"/>
          </a:xfrm>
          <a:prstGeom prst="rect">
            <a:avLst/>
          </a:prstGeom>
          <a:solidFill>
            <a:srgbClr val="009FE3"/>
          </a:solidFill>
          <a:ln/>
        </p:spPr>
        <p:txBody>
          <a:bodyPr/>
          <a:lstStyle/>
          <a:p>
            <a:endParaRPr lang="en-GB"/>
          </a:p>
        </p:txBody>
      </p:sp>
      <p:sp>
        <p:nvSpPr>
          <p:cNvPr id="53" name="Text 50"/>
          <p:cNvSpPr/>
          <p:nvPr/>
        </p:nvSpPr>
        <p:spPr>
          <a:xfrm>
            <a:off x="7845552" y="3044952"/>
            <a:ext cx="1115568" cy="256032"/>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SURFACE</a:t>
            </a:r>
            <a:endParaRPr lang="en-US" sz="750" dirty="0"/>
          </a:p>
          <a:p>
            <a:pPr marL="0" indent="0" algn="ctr">
              <a:buNone/>
            </a:pPr>
            <a:r>
              <a:rPr lang="en-US" sz="750" b="1" dirty="0">
                <a:solidFill>
                  <a:srgbClr val="FFFFFF"/>
                </a:solidFill>
                <a:latin typeface="Arial" pitchFamily="34" charset="0"/>
                <a:ea typeface="Arial" pitchFamily="34" charset="-122"/>
                <a:cs typeface="Arial" pitchFamily="34" charset="-120"/>
              </a:rPr>
              <a:t>TREATMENT</a:t>
            </a:r>
            <a:endParaRPr lang="en-US" sz="750" dirty="0"/>
          </a:p>
        </p:txBody>
      </p:sp>
      <p:sp>
        <p:nvSpPr>
          <p:cNvPr id="54" name="Shape 51"/>
          <p:cNvSpPr/>
          <p:nvPr/>
        </p:nvSpPr>
        <p:spPr>
          <a:xfrm>
            <a:off x="7845552" y="3310128"/>
            <a:ext cx="1115568" cy="438912"/>
          </a:xfrm>
          <a:prstGeom prst="rect">
            <a:avLst/>
          </a:prstGeom>
          <a:solidFill>
            <a:srgbClr val="FFFFFF"/>
          </a:solidFill>
          <a:ln w="3810">
            <a:solidFill>
              <a:srgbClr val="D8D8D8"/>
            </a:solidFill>
            <a:prstDash val="solid"/>
          </a:ln>
        </p:spPr>
        <p:txBody>
          <a:bodyPr/>
          <a:lstStyle/>
          <a:p>
            <a:endParaRPr lang="en-GB"/>
          </a:p>
        </p:txBody>
      </p:sp>
      <p:sp>
        <p:nvSpPr>
          <p:cNvPr id="55" name="Text 52"/>
          <p:cNvSpPr/>
          <p:nvPr/>
        </p:nvSpPr>
        <p:spPr>
          <a:xfrm>
            <a:off x="7891272" y="3364992"/>
            <a:ext cx="1024128" cy="329184"/>
          </a:xfrm>
          <a:prstGeom prst="rect">
            <a:avLst/>
          </a:prstGeom>
          <a:noFill/>
          <a:ln/>
        </p:spPr>
        <p:txBody>
          <a:bodyPr wrap="square" rtlCol="0" anchor="ctr"/>
          <a:lstStyle/>
          <a:p>
            <a:pPr marL="0" indent="0">
              <a:buNone/>
            </a:pPr>
            <a:r>
              <a:rPr lang="en-US" sz="700" i="1" dirty="0">
                <a:solidFill>
                  <a:srgbClr val="D8D8D8"/>
                </a:solidFill>
                <a:latin typeface="Arial" pitchFamily="34" charset="0"/>
                <a:ea typeface="Arial" pitchFamily="34" charset="-122"/>
                <a:cs typeface="Arial" pitchFamily="34" charset="-120"/>
              </a:rPr>
              <a:t>Data here</a:t>
            </a:r>
            <a:endParaRPr lang="en-US" sz="700" dirty="0"/>
          </a:p>
        </p:txBody>
      </p:sp>
      <p:sp>
        <p:nvSpPr>
          <p:cNvPr id="56" name="Shape 53"/>
          <p:cNvSpPr/>
          <p:nvPr/>
        </p:nvSpPr>
        <p:spPr>
          <a:xfrm>
            <a:off x="8979408" y="3127248"/>
            <a:ext cx="109728" cy="91440"/>
          </a:xfrm>
          <a:prstGeom prst="rect">
            <a:avLst/>
          </a:prstGeom>
          <a:solidFill>
            <a:srgbClr val="5B595A"/>
          </a:solidFill>
          <a:ln/>
        </p:spPr>
        <p:txBody>
          <a:bodyPr/>
          <a:lstStyle/>
          <a:p>
            <a:endParaRPr lang="en-GB"/>
          </a:p>
        </p:txBody>
      </p:sp>
      <p:sp>
        <p:nvSpPr>
          <p:cNvPr id="57" name="Shape 54"/>
          <p:cNvSpPr/>
          <p:nvPr/>
        </p:nvSpPr>
        <p:spPr>
          <a:xfrm>
            <a:off x="9107424" y="3035808"/>
            <a:ext cx="1115568" cy="274320"/>
          </a:xfrm>
          <a:prstGeom prst="rect">
            <a:avLst/>
          </a:prstGeom>
          <a:solidFill>
            <a:srgbClr val="1E3A5F"/>
          </a:solidFill>
          <a:ln/>
        </p:spPr>
        <p:txBody>
          <a:bodyPr/>
          <a:lstStyle/>
          <a:p>
            <a:endParaRPr lang="en-GB"/>
          </a:p>
        </p:txBody>
      </p:sp>
      <p:sp>
        <p:nvSpPr>
          <p:cNvPr id="58" name="Text 55"/>
          <p:cNvSpPr/>
          <p:nvPr/>
        </p:nvSpPr>
        <p:spPr>
          <a:xfrm>
            <a:off x="9107424" y="3044952"/>
            <a:ext cx="1115568" cy="256032"/>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DESPATCH</a:t>
            </a:r>
            <a:endParaRPr lang="en-US" sz="750" dirty="0"/>
          </a:p>
        </p:txBody>
      </p:sp>
      <p:sp>
        <p:nvSpPr>
          <p:cNvPr id="59" name="Shape 56"/>
          <p:cNvSpPr/>
          <p:nvPr/>
        </p:nvSpPr>
        <p:spPr>
          <a:xfrm>
            <a:off x="9107424" y="3310128"/>
            <a:ext cx="1115568" cy="438912"/>
          </a:xfrm>
          <a:prstGeom prst="rect">
            <a:avLst/>
          </a:prstGeom>
          <a:solidFill>
            <a:srgbClr val="FFFFFF"/>
          </a:solidFill>
          <a:ln w="3810">
            <a:solidFill>
              <a:srgbClr val="D8D8D8"/>
            </a:solidFill>
            <a:prstDash val="solid"/>
          </a:ln>
        </p:spPr>
        <p:txBody>
          <a:bodyPr/>
          <a:lstStyle/>
          <a:p>
            <a:endParaRPr lang="en-GB"/>
          </a:p>
        </p:txBody>
      </p:sp>
      <p:sp>
        <p:nvSpPr>
          <p:cNvPr id="60" name="Text 57"/>
          <p:cNvSpPr/>
          <p:nvPr/>
        </p:nvSpPr>
        <p:spPr>
          <a:xfrm>
            <a:off x="9153144" y="3364992"/>
            <a:ext cx="1024128" cy="329184"/>
          </a:xfrm>
          <a:prstGeom prst="rect">
            <a:avLst/>
          </a:prstGeom>
          <a:noFill/>
          <a:ln/>
        </p:spPr>
        <p:txBody>
          <a:bodyPr wrap="square" rtlCol="0" anchor="ctr"/>
          <a:lstStyle/>
          <a:p>
            <a:pPr marL="0" indent="0">
              <a:buNone/>
            </a:pPr>
            <a:r>
              <a:rPr lang="en-US" sz="700" i="1" dirty="0">
                <a:solidFill>
                  <a:srgbClr val="D8D8D8"/>
                </a:solidFill>
                <a:latin typeface="Arial" pitchFamily="34" charset="0"/>
                <a:ea typeface="Arial" pitchFamily="34" charset="-122"/>
                <a:cs typeface="Arial" pitchFamily="34" charset="-120"/>
              </a:rPr>
              <a:t>Data here</a:t>
            </a:r>
            <a:endParaRPr lang="en-US" sz="700" dirty="0"/>
          </a:p>
        </p:txBody>
      </p:sp>
      <p:sp>
        <p:nvSpPr>
          <p:cNvPr id="61" name="Shape 58"/>
          <p:cNvSpPr/>
          <p:nvPr/>
        </p:nvSpPr>
        <p:spPr>
          <a:xfrm>
            <a:off x="6492240" y="4663440"/>
            <a:ext cx="5303520" cy="1463040"/>
          </a:xfrm>
          <a:prstGeom prst="rect">
            <a:avLst/>
          </a:prstGeom>
          <a:solidFill>
            <a:srgbClr val="FFFFFF"/>
          </a:solidFill>
          <a:ln w="6350">
            <a:solidFill>
              <a:srgbClr val="D8D8D8"/>
            </a:solidFill>
            <a:prstDash val="solid"/>
          </a:ln>
        </p:spPr>
        <p:txBody>
          <a:bodyPr/>
          <a:lstStyle/>
          <a:p>
            <a:endParaRPr lang="en-GB"/>
          </a:p>
        </p:txBody>
      </p:sp>
      <p:sp>
        <p:nvSpPr>
          <p:cNvPr id="62" name="Text 59"/>
          <p:cNvSpPr/>
          <p:nvPr/>
        </p:nvSpPr>
        <p:spPr>
          <a:xfrm>
            <a:off x="6583680" y="4700016"/>
            <a:ext cx="5120640" cy="219456"/>
          </a:xfrm>
          <a:prstGeom prst="rect">
            <a:avLst/>
          </a:prstGeom>
          <a:noFill/>
          <a:ln/>
        </p:spPr>
        <p:txBody>
          <a:bodyPr wrap="square" rtlCol="0" anchor="ctr"/>
          <a:lstStyle/>
          <a:p>
            <a:pPr marL="0" indent="0">
              <a:buNone/>
            </a:pPr>
            <a:r>
              <a:rPr lang="en-US" sz="950" b="1" dirty="0">
                <a:solidFill>
                  <a:srgbClr val="5B595A"/>
                </a:solidFill>
                <a:latin typeface="Arial" pitchFamily="34" charset="0"/>
                <a:ea typeface="Arial" pitchFamily="34" charset="-122"/>
                <a:cs typeface="Arial" pitchFamily="34" charset="-120"/>
              </a:rPr>
              <a:t>Colour coding guide:</a:t>
            </a:r>
            <a:endParaRPr lang="en-US" sz="950" dirty="0"/>
          </a:p>
        </p:txBody>
      </p:sp>
      <p:sp>
        <p:nvSpPr>
          <p:cNvPr id="63" name="Shape 60"/>
          <p:cNvSpPr/>
          <p:nvPr/>
        </p:nvSpPr>
        <p:spPr>
          <a:xfrm>
            <a:off x="6583680" y="4974336"/>
            <a:ext cx="457200" cy="256032"/>
          </a:xfrm>
          <a:prstGeom prst="rect">
            <a:avLst/>
          </a:prstGeom>
          <a:solidFill>
            <a:srgbClr val="009FE3"/>
          </a:solidFill>
          <a:ln/>
        </p:spPr>
        <p:txBody>
          <a:bodyPr/>
          <a:lstStyle/>
          <a:p>
            <a:endParaRPr lang="en-GB"/>
          </a:p>
        </p:txBody>
      </p:sp>
      <p:sp>
        <p:nvSpPr>
          <p:cNvPr id="64" name="Text 61"/>
          <p:cNvSpPr/>
          <p:nvPr/>
        </p:nvSpPr>
        <p:spPr>
          <a:xfrm>
            <a:off x="7132320" y="4992624"/>
            <a:ext cx="4572000" cy="237744"/>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Value-adding step (changes fit, form, or function)</a:t>
            </a:r>
            <a:endParaRPr lang="en-US" sz="950" dirty="0"/>
          </a:p>
        </p:txBody>
      </p:sp>
      <p:sp>
        <p:nvSpPr>
          <p:cNvPr id="65" name="Shape 62"/>
          <p:cNvSpPr/>
          <p:nvPr/>
        </p:nvSpPr>
        <p:spPr>
          <a:xfrm>
            <a:off x="6583680" y="5321808"/>
            <a:ext cx="457200" cy="256032"/>
          </a:xfrm>
          <a:prstGeom prst="rect">
            <a:avLst/>
          </a:prstGeom>
          <a:solidFill>
            <a:srgbClr val="B91C1C"/>
          </a:solidFill>
          <a:ln/>
        </p:spPr>
        <p:txBody>
          <a:bodyPr/>
          <a:lstStyle/>
          <a:p>
            <a:endParaRPr lang="en-GB"/>
          </a:p>
        </p:txBody>
      </p:sp>
      <p:sp>
        <p:nvSpPr>
          <p:cNvPr id="66" name="Text 63"/>
          <p:cNvSpPr/>
          <p:nvPr/>
        </p:nvSpPr>
        <p:spPr>
          <a:xfrm>
            <a:off x="7132320" y="5340096"/>
            <a:ext cx="4572000" cy="237744"/>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Non-value-adding step (required but adds no value for customer)</a:t>
            </a:r>
            <a:endParaRPr lang="en-US" sz="950" dirty="0"/>
          </a:p>
        </p:txBody>
      </p:sp>
      <p:sp>
        <p:nvSpPr>
          <p:cNvPr id="67" name="Shape 64"/>
          <p:cNvSpPr/>
          <p:nvPr/>
        </p:nvSpPr>
        <p:spPr>
          <a:xfrm>
            <a:off x="6583680" y="5669280"/>
            <a:ext cx="457200" cy="256032"/>
          </a:xfrm>
          <a:prstGeom prst="rect">
            <a:avLst/>
          </a:prstGeom>
          <a:solidFill>
            <a:srgbClr val="1E3A5F"/>
          </a:solidFill>
          <a:ln/>
        </p:spPr>
        <p:txBody>
          <a:bodyPr/>
          <a:lstStyle/>
          <a:p>
            <a:endParaRPr lang="en-GB"/>
          </a:p>
        </p:txBody>
      </p:sp>
      <p:sp>
        <p:nvSpPr>
          <p:cNvPr id="68" name="Text 65"/>
          <p:cNvSpPr/>
          <p:nvPr/>
        </p:nvSpPr>
        <p:spPr>
          <a:xfrm>
            <a:off x="7132320" y="5687568"/>
            <a:ext cx="4572000" cy="237744"/>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Necessary but non-direct (goods in, despatch, planning)</a:t>
            </a:r>
            <a:endParaRPr lang="en-US" sz="950" dirty="0"/>
          </a:p>
        </p:txBody>
      </p:sp>
      <p:sp>
        <p:nvSpPr>
          <p:cNvPr id="69" name="Rectangle 68"/>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image.png"/>
          <p:cNvPicPr>
            <a:picLocks noChangeAspect="1"/>
          </p:cNvPicPr>
          <p:nvPr/>
        </p:nvPicPr>
        <p:blipFill>
          <a:blip r:embed="rId5"/>
          <a:stretch>
            <a:fillRect/>
          </a:stretch>
        </p:blipFill>
        <p:spPr>
          <a:xfrm>
            <a:off x="10610088" y="100584"/>
            <a:ext cx="566928" cy="347472"/>
          </a:xfrm>
          <a:prstGeom prst="rect">
            <a:avLst/>
          </a:prstGeom>
        </p:spPr>
      </p:pic>
      <p:pic>
        <p:nvPicPr>
          <p:cNvPr id="71" name="Picture 70" descr="image.png"/>
          <p:cNvPicPr>
            <a:picLocks noChangeAspect="1"/>
          </p:cNvPicPr>
          <p:nvPr/>
        </p:nvPicPr>
        <p:blipFill>
          <a:blip r:embed="rId4"/>
          <a:stretch>
            <a:fillRect/>
          </a:stretch>
        </p:blipFill>
        <p:spPr>
          <a:xfrm>
            <a:off x="11222736" y="100584"/>
            <a:ext cx="658368" cy="347472"/>
          </a:xfrm>
          <a:prstGeom prst="rect">
            <a:avLst/>
          </a:prstGeom>
        </p:spPr>
      </p:pic>
      <p:sp>
        <p:nvSpPr>
          <p:cNvPr id="72" name="Rectangle 71"/>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1. Create a Current State Value Stream Map</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Step 3: Capture Process Data</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9" name="Text 6"/>
          <p:cNvSpPr/>
          <p:nvPr/>
        </p:nvSpPr>
        <p:spPr>
          <a:xfrm>
            <a:off x="274320" y="987552"/>
            <a:ext cx="5760720" cy="402336"/>
          </a:xfrm>
          <a:prstGeom prst="rect">
            <a:avLst/>
          </a:prstGeom>
          <a:noFill/>
          <a:ln/>
        </p:spPr>
        <p:txBody>
          <a:bodyPr wrap="square" rtlCol="0" anchor="ctr"/>
          <a:lstStyle/>
          <a:p>
            <a:pPr marL="0" indent="0">
              <a:buNone/>
            </a:pPr>
            <a:r>
              <a:rPr lang="en-US" sz="1050" dirty="0">
                <a:solidFill>
                  <a:srgbClr val="5B595A"/>
                </a:solidFill>
                <a:latin typeface="Arial" pitchFamily="34" charset="0"/>
                <a:ea typeface="Arial" pitchFamily="34" charset="-122"/>
                <a:cs typeface="Arial" pitchFamily="34" charset="-120"/>
              </a:rPr>
              <a:t>For every process box, collect actual observed data, not system data, not standard times, and not what the supervisor thinks it should be. The map must reflect reality.</a:t>
            </a:r>
            <a:endParaRPr lang="en-US" sz="1050" dirty="0"/>
          </a:p>
        </p:txBody>
      </p:sp>
      <p:sp>
        <p:nvSpPr>
          <p:cNvPr id="10" name="Shape 7"/>
          <p:cNvSpPr/>
          <p:nvPr/>
        </p:nvSpPr>
        <p:spPr>
          <a:xfrm>
            <a:off x="228600" y="1444752"/>
            <a:ext cx="5806440" cy="292608"/>
          </a:xfrm>
          <a:prstGeom prst="rect">
            <a:avLst/>
          </a:prstGeom>
          <a:solidFill>
            <a:srgbClr val="1E3A5F"/>
          </a:solidFill>
          <a:ln/>
        </p:spPr>
        <p:txBody>
          <a:bodyPr/>
          <a:lstStyle/>
          <a:p>
            <a:endParaRPr lang="en-GB"/>
          </a:p>
        </p:txBody>
      </p:sp>
      <p:sp>
        <p:nvSpPr>
          <p:cNvPr id="11" name="Text 8"/>
          <p:cNvSpPr/>
          <p:nvPr/>
        </p:nvSpPr>
        <p:spPr>
          <a:xfrm>
            <a:off x="320040" y="1463040"/>
            <a:ext cx="5623560" cy="256032"/>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DATA BOX: WHAT TO CAPTURE AT EACH PROCESS STEP</a:t>
            </a:r>
            <a:endParaRPr lang="en-US" sz="1000" dirty="0"/>
          </a:p>
        </p:txBody>
      </p:sp>
      <p:sp>
        <p:nvSpPr>
          <p:cNvPr id="12" name="Shape 9"/>
          <p:cNvSpPr/>
          <p:nvPr/>
        </p:nvSpPr>
        <p:spPr>
          <a:xfrm>
            <a:off x="228600" y="1755648"/>
            <a:ext cx="5806440" cy="512064"/>
          </a:xfrm>
          <a:prstGeom prst="rect">
            <a:avLst/>
          </a:prstGeom>
          <a:solidFill>
            <a:srgbClr val="FFFFFF"/>
          </a:solidFill>
          <a:ln w="3810">
            <a:solidFill>
              <a:srgbClr val="D8D8D8"/>
            </a:solidFill>
            <a:prstDash val="solid"/>
          </a:ln>
        </p:spPr>
        <p:txBody>
          <a:bodyPr/>
          <a:lstStyle/>
          <a:p>
            <a:endParaRPr lang="en-GB"/>
          </a:p>
        </p:txBody>
      </p:sp>
      <p:sp>
        <p:nvSpPr>
          <p:cNvPr id="13" name="Text 10"/>
          <p:cNvSpPr/>
          <p:nvPr/>
        </p:nvSpPr>
        <p:spPr>
          <a:xfrm>
            <a:off x="320040" y="1792224"/>
            <a:ext cx="1645920" cy="438912"/>
          </a:xfrm>
          <a:prstGeom prst="rect">
            <a:avLst/>
          </a:prstGeom>
          <a:noFill/>
          <a:ln/>
        </p:spPr>
        <p:txBody>
          <a:bodyPr wrap="square" rtlCol="0" anchor="ctr"/>
          <a:lstStyle/>
          <a:p>
            <a:pPr marL="0" indent="0">
              <a:buNone/>
            </a:pPr>
            <a:r>
              <a:rPr lang="en-US" sz="1000" b="1" dirty="0">
                <a:solidFill>
                  <a:srgbClr val="1E3A5F"/>
                </a:solidFill>
                <a:latin typeface="Arial" pitchFamily="34" charset="0"/>
                <a:ea typeface="Arial" pitchFamily="34" charset="-122"/>
                <a:cs typeface="Arial" pitchFamily="34" charset="-120"/>
              </a:rPr>
              <a:t>Cycle Time (CT)</a:t>
            </a:r>
            <a:endParaRPr lang="en-US" sz="1000" dirty="0"/>
          </a:p>
        </p:txBody>
      </p:sp>
      <p:sp>
        <p:nvSpPr>
          <p:cNvPr id="14" name="Text 11"/>
          <p:cNvSpPr/>
          <p:nvPr/>
        </p:nvSpPr>
        <p:spPr>
          <a:xfrm>
            <a:off x="2011680" y="1792224"/>
            <a:ext cx="3931920" cy="438912"/>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The time to complete one unit from start to finish at this step. Time it with a stopwatch. Measure several cycles and use the mode (most common), not the average.</a:t>
            </a:r>
            <a:endParaRPr lang="en-US" sz="950" dirty="0"/>
          </a:p>
        </p:txBody>
      </p:sp>
      <p:sp>
        <p:nvSpPr>
          <p:cNvPr id="15" name="Shape 12"/>
          <p:cNvSpPr/>
          <p:nvPr/>
        </p:nvSpPr>
        <p:spPr>
          <a:xfrm>
            <a:off x="228600" y="2304288"/>
            <a:ext cx="5806440" cy="512064"/>
          </a:xfrm>
          <a:prstGeom prst="rect">
            <a:avLst/>
          </a:prstGeom>
          <a:solidFill>
            <a:srgbClr val="E0F4FD"/>
          </a:solidFill>
          <a:ln w="3810">
            <a:solidFill>
              <a:srgbClr val="D8D8D8"/>
            </a:solidFill>
            <a:prstDash val="solid"/>
          </a:ln>
        </p:spPr>
        <p:txBody>
          <a:bodyPr/>
          <a:lstStyle/>
          <a:p>
            <a:endParaRPr lang="en-GB"/>
          </a:p>
        </p:txBody>
      </p:sp>
      <p:sp>
        <p:nvSpPr>
          <p:cNvPr id="16" name="Text 13"/>
          <p:cNvSpPr/>
          <p:nvPr/>
        </p:nvSpPr>
        <p:spPr>
          <a:xfrm>
            <a:off x="320040" y="2340864"/>
            <a:ext cx="1645920" cy="438912"/>
          </a:xfrm>
          <a:prstGeom prst="rect">
            <a:avLst/>
          </a:prstGeom>
          <a:noFill/>
          <a:ln/>
        </p:spPr>
        <p:txBody>
          <a:bodyPr wrap="square" rtlCol="0" anchor="ctr"/>
          <a:lstStyle/>
          <a:p>
            <a:pPr marL="0" indent="0">
              <a:buNone/>
            </a:pPr>
            <a:r>
              <a:rPr lang="en-US" sz="1000" b="1" dirty="0">
                <a:solidFill>
                  <a:srgbClr val="1E3A5F"/>
                </a:solidFill>
                <a:latin typeface="Arial" pitchFamily="34" charset="0"/>
                <a:ea typeface="Arial" pitchFamily="34" charset="-122"/>
                <a:cs typeface="Arial" pitchFamily="34" charset="-120"/>
              </a:rPr>
              <a:t>Changeover Time (C/O)</a:t>
            </a:r>
            <a:endParaRPr lang="en-US" sz="1000" dirty="0"/>
          </a:p>
        </p:txBody>
      </p:sp>
      <p:sp>
        <p:nvSpPr>
          <p:cNvPr id="17" name="Text 14"/>
          <p:cNvSpPr/>
          <p:nvPr/>
        </p:nvSpPr>
        <p:spPr>
          <a:xfrm>
            <a:off x="2011680" y="2340864"/>
            <a:ext cx="3931920" cy="438912"/>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The time to switch from the last unit of one product to the first good unit of the next. Include all preparation, cleaning, adjustment, and trial runs.</a:t>
            </a:r>
            <a:endParaRPr lang="en-US" sz="950" dirty="0"/>
          </a:p>
        </p:txBody>
      </p:sp>
      <p:sp>
        <p:nvSpPr>
          <p:cNvPr id="18" name="Shape 15"/>
          <p:cNvSpPr/>
          <p:nvPr/>
        </p:nvSpPr>
        <p:spPr>
          <a:xfrm>
            <a:off x="228600" y="2852928"/>
            <a:ext cx="5806440" cy="512064"/>
          </a:xfrm>
          <a:prstGeom prst="rect">
            <a:avLst/>
          </a:prstGeom>
          <a:solidFill>
            <a:srgbClr val="FFFFFF"/>
          </a:solidFill>
          <a:ln w="3810">
            <a:solidFill>
              <a:srgbClr val="D8D8D8"/>
            </a:solidFill>
            <a:prstDash val="solid"/>
          </a:ln>
        </p:spPr>
        <p:txBody>
          <a:bodyPr/>
          <a:lstStyle/>
          <a:p>
            <a:endParaRPr lang="en-GB"/>
          </a:p>
        </p:txBody>
      </p:sp>
      <p:sp>
        <p:nvSpPr>
          <p:cNvPr id="19" name="Text 16"/>
          <p:cNvSpPr/>
          <p:nvPr/>
        </p:nvSpPr>
        <p:spPr>
          <a:xfrm>
            <a:off x="320040" y="2889504"/>
            <a:ext cx="1645920" cy="438912"/>
          </a:xfrm>
          <a:prstGeom prst="rect">
            <a:avLst/>
          </a:prstGeom>
          <a:noFill/>
          <a:ln/>
        </p:spPr>
        <p:txBody>
          <a:bodyPr wrap="square" rtlCol="0" anchor="ctr"/>
          <a:lstStyle/>
          <a:p>
            <a:pPr marL="0" indent="0">
              <a:buNone/>
            </a:pPr>
            <a:r>
              <a:rPr lang="en-US" sz="1000" b="1" dirty="0">
                <a:solidFill>
                  <a:srgbClr val="1E3A5F"/>
                </a:solidFill>
                <a:latin typeface="Arial" pitchFamily="34" charset="0"/>
                <a:ea typeface="Arial" pitchFamily="34" charset="-122"/>
                <a:cs typeface="Arial" pitchFamily="34" charset="-120"/>
              </a:rPr>
              <a:t>Uptime %</a:t>
            </a:r>
            <a:endParaRPr lang="en-US" sz="1000" dirty="0"/>
          </a:p>
        </p:txBody>
      </p:sp>
      <p:sp>
        <p:nvSpPr>
          <p:cNvPr id="20" name="Text 17"/>
          <p:cNvSpPr/>
          <p:nvPr/>
        </p:nvSpPr>
        <p:spPr>
          <a:xfrm>
            <a:off x="2011680" y="2889504"/>
            <a:ext cx="3931920" cy="438912"/>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Actual production time as a percentage of planned production time. Low uptime is often caused by breakdown, changeover, or waiting for materials.</a:t>
            </a:r>
            <a:endParaRPr lang="en-US" sz="950" dirty="0"/>
          </a:p>
        </p:txBody>
      </p:sp>
      <p:sp>
        <p:nvSpPr>
          <p:cNvPr id="21" name="Shape 18"/>
          <p:cNvSpPr/>
          <p:nvPr/>
        </p:nvSpPr>
        <p:spPr>
          <a:xfrm>
            <a:off x="228600" y="3401568"/>
            <a:ext cx="5806440" cy="512064"/>
          </a:xfrm>
          <a:prstGeom prst="rect">
            <a:avLst/>
          </a:prstGeom>
          <a:solidFill>
            <a:srgbClr val="E0F4FD"/>
          </a:solidFill>
          <a:ln w="3810">
            <a:solidFill>
              <a:srgbClr val="D8D8D8"/>
            </a:solidFill>
            <a:prstDash val="solid"/>
          </a:ln>
        </p:spPr>
        <p:txBody>
          <a:bodyPr/>
          <a:lstStyle/>
          <a:p>
            <a:endParaRPr lang="en-GB"/>
          </a:p>
        </p:txBody>
      </p:sp>
      <p:sp>
        <p:nvSpPr>
          <p:cNvPr id="22" name="Text 19"/>
          <p:cNvSpPr/>
          <p:nvPr/>
        </p:nvSpPr>
        <p:spPr>
          <a:xfrm>
            <a:off x="320040" y="3438144"/>
            <a:ext cx="1645920" cy="438912"/>
          </a:xfrm>
          <a:prstGeom prst="rect">
            <a:avLst/>
          </a:prstGeom>
          <a:noFill/>
          <a:ln/>
        </p:spPr>
        <p:txBody>
          <a:bodyPr wrap="square" rtlCol="0" anchor="ctr"/>
          <a:lstStyle/>
          <a:p>
            <a:pPr marL="0" indent="0">
              <a:buNone/>
            </a:pPr>
            <a:r>
              <a:rPr lang="en-US" sz="1000" b="1" dirty="0">
                <a:solidFill>
                  <a:srgbClr val="1E3A5F"/>
                </a:solidFill>
                <a:latin typeface="Arial" pitchFamily="34" charset="0"/>
                <a:ea typeface="Arial" pitchFamily="34" charset="-122"/>
                <a:cs typeface="Arial" pitchFamily="34" charset="-120"/>
              </a:rPr>
              <a:t>Number of operators</a:t>
            </a:r>
            <a:endParaRPr lang="en-US" sz="1000" dirty="0"/>
          </a:p>
        </p:txBody>
      </p:sp>
      <p:sp>
        <p:nvSpPr>
          <p:cNvPr id="23" name="Text 20"/>
          <p:cNvSpPr/>
          <p:nvPr/>
        </p:nvSpPr>
        <p:spPr>
          <a:xfrm>
            <a:off x="2011680" y="3438144"/>
            <a:ext cx="3931920" cy="438912"/>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Count of people allocated to this step during a standard shift. Include all roles: machine operator, inspector, loader.</a:t>
            </a:r>
            <a:endParaRPr lang="en-US" sz="950" dirty="0"/>
          </a:p>
        </p:txBody>
      </p:sp>
      <p:sp>
        <p:nvSpPr>
          <p:cNvPr id="24" name="Shape 21"/>
          <p:cNvSpPr/>
          <p:nvPr/>
        </p:nvSpPr>
        <p:spPr>
          <a:xfrm>
            <a:off x="228600" y="3950208"/>
            <a:ext cx="5806440" cy="512064"/>
          </a:xfrm>
          <a:prstGeom prst="rect">
            <a:avLst/>
          </a:prstGeom>
          <a:solidFill>
            <a:srgbClr val="FFFFFF"/>
          </a:solidFill>
          <a:ln w="3810">
            <a:solidFill>
              <a:srgbClr val="D8D8D8"/>
            </a:solidFill>
            <a:prstDash val="solid"/>
          </a:ln>
        </p:spPr>
        <p:txBody>
          <a:bodyPr/>
          <a:lstStyle/>
          <a:p>
            <a:endParaRPr lang="en-GB"/>
          </a:p>
        </p:txBody>
      </p:sp>
      <p:sp>
        <p:nvSpPr>
          <p:cNvPr id="25" name="Text 22"/>
          <p:cNvSpPr/>
          <p:nvPr/>
        </p:nvSpPr>
        <p:spPr>
          <a:xfrm>
            <a:off x="320040" y="3986784"/>
            <a:ext cx="1645920" cy="438912"/>
          </a:xfrm>
          <a:prstGeom prst="rect">
            <a:avLst/>
          </a:prstGeom>
          <a:noFill/>
          <a:ln/>
        </p:spPr>
        <p:txBody>
          <a:bodyPr wrap="square" rtlCol="0" anchor="ctr"/>
          <a:lstStyle/>
          <a:p>
            <a:pPr marL="0" indent="0">
              <a:buNone/>
            </a:pPr>
            <a:r>
              <a:rPr lang="en-US" sz="1000" b="1" dirty="0">
                <a:solidFill>
                  <a:srgbClr val="1E3A5F"/>
                </a:solidFill>
                <a:latin typeface="Arial" pitchFamily="34" charset="0"/>
                <a:ea typeface="Arial" pitchFamily="34" charset="-122"/>
                <a:cs typeface="Arial" pitchFamily="34" charset="-120"/>
              </a:rPr>
              <a:t>Batch size</a:t>
            </a:r>
            <a:endParaRPr lang="en-US" sz="1000" dirty="0"/>
          </a:p>
        </p:txBody>
      </p:sp>
      <p:sp>
        <p:nvSpPr>
          <p:cNvPr id="26" name="Text 23"/>
          <p:cNvSpPr/>
          <p:nvPr/>
        </p:nvSpPr>
        <p:spPr>
          <a:xfrm>
            <a:off x="2011680" y="3986784"/>
            <a:ext cx="3931920" cy="438912"/>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How many units are processed together before moving to the next step. Large batches create large queues downstream.</a:t>
            </a:r>
            <a:endParaRPr lang="en-US" sz="950" dirty="0"/>
          </a:p>
        </p:txBody>
      </p:sp>
      <p:sp>
        <p:nvSpPr>
          <p:cNvPr id="27" name="Shape 24"/>
          <p:cNvSpPr/>
          <p:nvPr/>
        </p:nvSpPr>
        <p:spPr>
          <a:xfrm>
            <a:off x="228600" y="4498848"/>
            <a:ext cx="5806440" cy="512064"/>
          </a:xfrm>
          <a:prstGeom prst="rect">
            <a:avLst/>
          </a:prstGeom>
          <a:solidFill>
            <a:srgbClr val="E0F4FD"/>
          </a:solidFill>
          <a:ln w="3810">
            <a:solidFill>
              <a:srgbClr val="D8D8D8"/>
            </a:solidFill>
            <a:prstDash val="solid"/>
          </a:ln>
        </p:spPr>
        <p:txBody>
          <a:bodyPr/>
          <a:lstStyle/>
          <a:p>
            <a:endParaRPr lang="en-GB"/>
          </a:p>
        </p:txBody>
      </p:sp>
      <p:sp>
        <p:nvSpPr>
          <p:cNvPr id="28" name="Text 25"/>
          <p:cNvSpPr/>
          <p:nvPr/>
        </p:nvSpPr>
        <p:spPr>
          <a:xfrm>
            <a:off x="320040" y="4535424"/>
            <a:ext cx="1645920" cy="438912"/>
          </a:xfrm>
          <a:prstGeom prst="rect">
            <a:avLst/>
          </a:prstGeom>
          <a:noFill/>
          <a:ln/>
        </p:spPr>
        <p:txBody>
          <a:bodyPr wrap="square" rtlCol="0" anchor="ctr"/>
          <a:lstStyle/>
          <a:p>
            <a:pPr marL="0" indent="0">
              <a:buNone/>
            </a:pPr>
            <a:r>
              <a:rPr lang="en-US" sz="1000" b="1" dirty="0">
                <a:solidFill>
                  <a:srgbClr val="1E3A5F"/>
                </a:solidFill>
                <a:latin typeface="Arial" pitchFamily="34" charset="0"/>
                <a:ea typeface="Arial" pitchFamily="34" charset="-122"/>
                <a:cs typeface="Arial" pitchFamily="34" charset="-120"/>
              </a:rPr>
              <a:t>OK Rate / First Pass Yield</a:t>
            </a:r>
            <a:endParaRPr lang="en-US" sz="1000" dirty="0"/>
          </a:p>
        </p:txBody>
      </p:sp>
      <p:sp>
        <p:nvSpPr>
          <p:cNvPr id="29" name="Text 26"/>
          <p:cNvSpPr/>
          <p:nvPr/>
        </p:nvSpPr>
        <p:spPr>
          <a:xfrm>
            <a:off x="2011680" y="4535424"/>
            <a:ext cx="3931920" cy="438912"/>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Percentage of units that pass the process without rework or rejection. If 5% of parts need rework, record 95% here.</a:t>
            </a:r>
            <a:endParaRPr lang="en-US" sz="950" dirty="0"/>
          </a:p>
        </p:txBody>
      </p:sp>
      <p:sp>
        <p:nvSpPr>
          <p:cNvPr id="30" name="Shape 27"/>
          <p:cNvSpPr/>
          <p:nvPr/>
        </p:nvSpPr>
        <p:spPr>
          <a:xfrm>
            <a:off x="228600" y="5047488"/>
            <a:ext cx="5806440" cy="512064"/>
          </a:xfrm>
          <a:prstGeom prst="rect">
            <a:avLst/>
          </a:prstGeom>
          <a:solidFill>
            <a:srgbClr val="FFFFFF"/>
          </a:solidFill>
          <a:ln w="3810">
            <a:solidFill>
              <a:srgbClr val="D8D8D8"/>
            </a:solidFill>
            <a:prstDash val="solid"/>
          </a:ln>
        </p:spPr>
        <p:txBody>
          <a:bodyPr/>
          <a:lstStyle/>
          <a:p>
            <a:endParaRPr lang="en-GB"/>
          </a:p>
        </p:txBody>
      </p:sp>
      <p:sp>
        <p:nvSpPr>
          <p:cNvPr id="31" name="Text 28"/>
          <p:cNvSpPr/>
          <p:nvPr/>
        </p:nvSpPr>
        <p:spPr>
          <a:xfrm>
            <a:off x="320040" y="5084064"/>
            <a:ext cx="1645920" cy="438912"/>
          </a:xfrm>
          <a:prstGeom prst="rect">
            <a:avLst/>
          </a:prstGeom>
          <a:noFill/>
          <a:ln/>
        </p:spPr>
        <p:txBody>
          <a:bodyPr wrap="square" rtlCol="0" anchor="ctr"/>
          <a:lstStyle/>
          <a:p>
            <a:pPr marL="0" indent="0">
              <a:buNone/>
            </a:pPr>
            <a:r>
              <a:rPr lang="en-US" sz="1000" b="1" dirty="0">
                <a:solidFill>
                  <a:srgbClr val="1E3A5F"/>
                </a:solidFill>
                <a:latin typeface="Arial" pitchFamily="34" charset="0"/>
                <a:ea typeface="Arial" pitchFamily="34" charset="-122"/>
                <a:cs typeface="Arial" pitchFamily="34" charset="-120"/>
              </a:rPr>
              <a:t>Number of machines</a:t>
            </a:r>
            <a:endParaRPr lang="en-US" sz="1000" dirty="0"/>
          </a:p>
        </p:txBody>
      </p:sp>
      <p:sp>
        <p:nvSpPr>
          <p:cNvPr id="32" name="Text 29"/>
          <p:cNvSpPr/>
          <p:nvPr/>
        </p:nvSpPr>
        <p:spPr>
          <a:xfrm>
            <a:off x="2011680" y="5084064"/>
            <a:ext cx="3931920" cy="438912"/>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Count of machines or workstations at this step. Important for calculating capacity against Takt.</a:t>
            </a:r>
            <a:endParaRPr lang="en-US" sz="950" dirty="0"/>
          </a:p>
        </p:txBody>
      </p:sp>
      <p:sp>
        <p:nvSpPr>
          <p:cNvPr id="33" name="Shape 30"/>
          <p:cNvSpPr/>
          <p:nvPr/>
        </p:nvSpPr>
        <p:spPr>
          <a:xfrm>
            <a:off x="228600" y="5596128"/>
            <a:ext cx="5806440" cy="512064"/>
          </a:xfrm>
          <a:prstGeom prst="rect">
            <a:avLst/>
          </a:prstGeom>
          <a:solidFill>
            <a:srgbClr val="E0F4FD"/>
          </a:solidFill>
          <a:ln w="3810">
            <a:solidFill>
              <a:srgbClr val="D8D8D8"/>
            </a:solidFill>
            <a:prstDash val="solid"/>
          </a:ln>
        </p:spPr>
        <p:txBody>
          <a:bodyPr/>
          <a:lstStyle/>
          <a:p>
            <a:endParaRPr lang="en-GB"/>
          </a:p>
        </p:txBody>
      </p:sp>
      <p:sp>
        <p:nvSpPr>
          <p:cNvPr id="34" name="Text 31"/>
          <p:cNvSpPr/>
          <p:nvPr/>
        </p:nvSpPr>
        <p:spPr>
          <a:xfrm>
            <a:off x="320040" y="5632704"/>
            <a:ext cx="1645920" cy="438912"/>
          </a:xfrm>
          <a:prstGeom prst="rect">
            <a:avLst/>
          </a:prstGeom>
          <a:noFill/>
          <a:ln/>
        </p:spPr>
        <p:txBody>
          <a:bodyPr wrap="square" rtlCol="0" anchor="ctr"/>
          <a:lstStyle/>
          <a:p>
            <a:pPr marL="0" indent="0">
              <a:buNone/>
            </a:pPr>
            <a:r>
              <a:rPr lang="en-US" sz="1000" b="1" dirty="0">
                <a:solidFill>
                  <a:srgbClr val="1E3A5F"/>
                </a:solidFill>
                <a:latin typeface="Arial" pitchFamily="34" charset="0"/>
                <a:ea typeface="Arial" pitchFamily="34" charset="-122"/>
                <a:cs typeface="Arial" pitchFamily="34" charset="-120"/>
              </a:rPr>
              <a:t>Observations</a:t>
            </a:r>
            <a:endParaRPr lang="en-US" sz="1000" dirty="0"/>
          </a:p>
        </p:txBody>
      </p:sp>
      <p:sp>
        <p:nvSpPr>
          <p:cNvPr id="35" name="Text 32"/>
          <p:cNvSpPr/>
          <p:nvPr/>
        </p:nvSpPr>
        <p:spPr>
          <a:xfrm>
            <a:off x="2011680" y="5632704"/>
            <a:ext cx="3931920" cy="438912"/>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Any issues, constraints, or notable characteristics observed during the walk. Record everything; edit later.</a:t>
            </a:r>
            <a:endParaRPr lang="en-US" sz="950" dirty="0"/>
          </a:p>
        </p:txBody>
      </p:sp>
      <p:sp>
        <p:nvSpPr>
          <p:cNvPr id="36" name="Shape 33"/>
          <p:cNvSpPr/>
          <p:nvPr/>
        </p:nvSpPr>
        <p:spPr>
          <a:xfrm>
            <a:off x="6400800" y="987552"/>
            <a:ext cx="5486400" cy="5285232"/>
          </a:xfrm>
          <a:prstGeom prst="rect">
            <a:avLst/>
          </a:prstGeom>
          <a:solidFill>
            <a:srgbClr val="F2F2F2"/>
          </a:solidFill>
          <a:ln w="6350">
            <a:solidFill>
              <a:srgbClr val="D8D8D8"/>
            </a:solidFill>
            <a:prstDash val="solid"/>
          </a:ln>
        </p:spPr>
        <p:txBody>
          <a:bodyPr/>
          <a:lstStyle/>
          <a:p>
            <a:endParaRPr lang="en-GB"/>
          </a:p>
        </p:txBody>
      </p:sp>
      <p:sp>
        <p:nvSpPr>
          <p:cNvPr id="37" name="Text 34"/>
          <p:cNvSpPr/>
          <p:nvPr/>
        </p:nvSpPr>
        <p:spPr>
          <a:xfrm>
            <a:off x="6492240" y="1024128"/>
            <a:ext cx="5303520" cy="237744"/>
          </a:xfrm>
          <a:prstGeom prst="rect">
            <a:avLst/>
          </a:prstGeom>
          <a:noFill/>
          <a:ln/>
        </p:spPr>
        <p:txBody>
          <a:bodyPr wrap="square" rtlCol="0" anchor="ctr"/>
          <a:lstStyle/>
          <a:p>
            <a:pPr marL="0" indent="0">
              <a:buNone/>
            </a:pPr>
            <a:r>
              <a:rPr lang="en-US" sz="950" i="1" dirty="0">
                <a:solidFill>
                  <a:srgbClr val="5B595A"/>
                </a:solidFill>
                <a:latin typeface="Arial" pitchFamily="34" charset="0"/>
                <a:ea typeface="Arial" pitchFamily="34" charset="-122"/>
                <a:cs typeface="Arial" pitchFamily="34" charset="-120"/>
              </a:rPr>
              <a:t>Example completed data box (CNC turning cell):</a:t>
            </a:r>
            <a:endParaRPr lang="en-US" sz="950" dirty="0"/>
          </a:p>
        </p:txBody>
      </p:sp>
      <p:sp>
        <p:nvSpPr>
          <p:cNvPr id="38" name="Shape 35"/>
          <p:cNvSpPr/>
          <p:nvPr/>
        </p:nvSpPr>
        <p:spPr>
          <a:xfrm>
            <a:off x="7315200" y="1371600"/>
            <a:ext cx="2743200" cy="384048"/>
          </a:xfrm>
          <a:prstGeom prst="rect">
            <a:avLst/>
          </a:prstGeom>
          <a:solidFill>
            <a:srgbClr val="1E3A5F"/>
          </a:solidFill>
          <a:ln/>
        </p:spPr>
        <p:txBody>
          <a:bodyPr/>
          <a:lstStyle/>
          <a:p>
            <a:endParaRPr lang="en-GB"/>
          </a:p>
        </p:txBody>
      </p:sp>
      <p:sp>
        <p:nvSpPr>
          <p:cNvPr id="39" name="Text 36"/>
          <p:cNvSpPr/>
          <p:nvPr/>
        </p:nvSpPr>
        <p:spPr>
          <a:xfrm>
            <a:off x="7315200" y="1408176"/>
            <a:ext cx="2743200" cy="310896"/>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CNC TURNING  Cell 1</a:t>
            </a:r>
            <a:endParaRPr lang="en-US" sz="1100" dirty="0"/>
          </a:p>
        </p:txBody>
      </p:sp>
      <p:sp>
        <p:nvSpPr>
          <p:cNvPr id="40" name="Shape 37"/>
          <p:cNvSpPr/>
          <p:nvPr/>
        </p:nvSpPr>
        <p:spPr>
          <a:xfrm>
            <a:off x="7388352" y="1444752"/>
            <a:ext cx="237744" cy="237744"/>
          </a:xfrm>
          <a:prstGeom prst="rect">
            <a:avLst/>
          </a:prstGeom>
          <a:solidFill>
            <a:srgbClr val="E0F4FD"/>
          </a:solidFill>
          <a:ln w="6350">
            <a:solidFill>
              <a:srgbClr val="1E3A5F"/>
            </a:solidFill>
            <a:prstDash val="solid"/>
          </a:ln>
        </p:spPr>
        <p:txBody>
          <a:bodyPr/>
          <a:lstStyle/>
          <a:p>
            <a:endParaRPr lang="en-GB"/>
          </a:p>
        </p:txBody>
      </p:sp>
      <p:sp>
        <p:nvSpPr>
          <p:cNvPr id="41" name="Text 38"/>
          <p:cNvSpPr/>
          <p:nvPr/>
        </p:nvSpPr>
        <p:spPr>
          <a:xfrm>
            <a:off x="7388352" y="1444752"/>
            <a:ext cx="237744" cy="237744"/>
          </a:xfrm>
          <a:prstGeom prst="rect">
            <a:avLst/>
          </a:prstGeom>
          <a:noFill/>
          <a:ln/>
        </p:spPr>
        <p:txBody>
          <a:bodyPr wrap="square" rtlCol="0" anchor="ctr"/>
          <a:lstStyle/>
          <a:p>
            <a:pPr marL="0" indent="0" algn="ctr">
              <a:buNone/>
            </a:pPr>
            <a:r>
              <a:rPr lang="en-US" sz="800" b="1" dirty="0">
                <a:solidFill>
                  <a:srgbClr val="1E3A5F"/>
                </a:solidFill>
                <a:latin typeface="Arial" pitchFamily="34" charset="0"/>
                <a:ea typeface="Arial" pitchFamily="34" charset="-122"/>
                <a:cs typeface="Arial" pitchFamily="34" charset="-120"/>
              </a:rPr>
              <a:t>2</a:t>
            </a:r>
            <a:endParaRPr lang="en-US" sz="800" dirty="0"/>
          </a:p>
        </p:txBody>
      </p:sp>
      <p:sp>
        <p:nvSpPr>
          <p:cNvPr id="42" name="Shape 39"/>
          <p:cNvSpPr/>
          <p:nvPr/>
        </p:nvSpPr>
        <p:spPr>
          <a:xfrm>
            <a:off x="7315200" y="1755648"/>
            <a:ext cx="2743200" cy="2011680"/>
          </a:xfrm>
          <a:prstGeom prst="rect">
            <a:avLst/>
          </a:prstGeom>
          <a:solidFill>
            <a:srgbClr val="FFFFFF"/>
          </a:solidFill>
          <a:ln w="6350">
            <a:solidFill>
              <a:srgbClr val="D8D8D8"/>
            </a:solidFill>
            <a:prstDash val="solid"/>
          </a:ln>
        </p:spPr>
        <p:txBody>
          <a:bodyPr/>
          <a:lstStyle/>
          <a:p>
            <a:endParaRPr lang="en-GB"/>
          </a:p>
        </p:txBody>
      </p:sp>
      <p:sp>
        <p:nvSpPr>
          <p:cNvPr id="43" name="Shape 40"/>
          <p:cNvSpPr/>
          <p:nvPr/>
        </p:nvSpPr>
        <p:spPr>
          <a:xfrm>
            <a:off x="7351776" y="1792224"/>
            <a:ext cx="2670048" cy="256032"/>
          </a:xfrm>
          <a:prstGeom prst="rect">
            <a:avLst/>
          </a:prstGeom>
          <a:solidFill>
            <a:srgbClr val="FFFFFF"/>
          </a:solidFill>
          <a:ln w="2540">
            <a:solidFill>
              <a:srgbClr val="EEEEEE"/>
            </a:solidFill>
            <a:prstDash val="solid"/>
          </a:ln>
        </p:spPr>
        <p:txBody>
          <a:bodyPr/>
          <a:lstStyle/>
          <a:p>
            <a:endParaRPr lang="en-GB"/>
          </a:p>
        </p:txBody>
      </p:sp>
      <p:sp>
        <p:nvSpPr>
          <p:cNvPr id="44" name="Text 41"/>
          <p:cNvSpPr/>
          <p:nvPr/>
        </p:nvSpPr>
        <p:spPr>
          <a:xfrm>
            <a:off x="7388352" y="1810512"/>
            <a:ext cx="1280160" cy="21945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Cycle Time</a:t>
            </a:r>
            <a:endParaRPr lang="en-US" sz="900" dirty="0"/>
          </a:p>
        </p:txBody>
      </p:sp>
      <p:sp>
        <p:nvSpPr>
          <p:cNvPr id="45" name="Text 42"/>
          <p:cNvSpPr/>
          <p:nvPr/>
        </p:nvSpPr>
        <p:spPr>
          <a:xfrm>
            <a:off x="8686800" y="1810512"/>
            <a:ext cx="1280160" cy="219456"/>
          </a:xfrm>
          <a:prstGeom prst="rect">
            <a:avLst/>
          </a:prstGeom>
          <a:noFill/>
          <a:ln/>
        </p:spPr>
        <p:txBody>
          <a:bodyPr wrap="square" rtlCol="0" anchor="ctr"/>
          <a:lstStyle/>
          <a:p>
            <a:pPr marL="0" indent="0">
              <a:buNone/>
            </a:pPr>
            <a:r>
              <a:rPr lang="en-US" sz="900" dirty="0">
                <a:solidFill>
                  <a:srgbClr val="1E3A5F"/>
                </a:solidFill>
                <a:latin typeface="Arial" pitchFamily="34" charset="0"/>
                <a:ea typeface="Arial" pitchFamily="34" charset="-122"/>
                <a:cs typeface="Arial" pitchFamily="34" charset="-120"/>
              </a:rPr>
              <a:t>42 minutes</a:t>
            </a:r>
            <a:endParaRPr lang="en-US" sz="900" dirty="0"/>
          </a:p>
        </p:txBody>
      </p:sp>
      <p:sp>
        <p:nvSpPr>
          <p:cNvPr id="46" name="Shape 43"/>
          <p:cNvSpPr/>
          <p:nvPr/>
        </p:nvSpPr>
        <p:spPr>
          <a:xfrm>
            <a:off x="7351776" y="2066544"/>
            <a:ext cx="2670048" cy="256032"/>
          </a:xfrm>
          <a:prstGeom prst="rect">
            <a:avLst/>
          </a:prstGeom>
          <a:solidFill>
            <a:srgbClr val="FEE2E2"/>
          </a:solidFill>
          <a:ln w="2540">
            <a:solidFill>
              <a:srgbClr val="EEEEEE"/>
            </a:solidFill>
            <a:prstDash val="solid"/>
          </a:ln>
        </p:spPr>
        <p:txBody>
          <a:bodyPr/>
          <a:lstStyle/>
          <a:p>
            <a:endParaRPr lang="en-GB"/>
          </a:p>
        </p:txBody>
      </p:sp>
      <p:sp>
        <p:nvSpPr>
          <p:cNvPr id="47" name="Text 44"/>
          <p:cNvSpPr/>
          <p:nvPr/>
        </p:nvSpPr>
        <p:spPr>
          <a:xfrm>
            <a:off x="7388352" y="2084832"/>
            <a:ext cx="1280160" cy="21945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Changeover</a:t>
            </a:r>
            <a:endParaRPr lang="en-US" sz="900" dirty="0"/>
          </a:p>
        </p:txBody>
      </p:sp>
      <p:sp>
        <p:nvSpPr>
          <p:cNvPr id="48" name="Text 45"/>
          <p:cNvSpPr/>
          <p:nvPr/>
        </p:nvSpPr>
        <p:spPr>
          <a:xfrm>
            <a:off x="8686800" y="2084832"/>
            <a:ext cx="1280160" cy="219456"/>
          </a:xfrm>
          <a:prstGeom prst="rect">
            <a:avLst/>
          </a:prstGeom>
          <a:noFill/>
          <a:ln/>
        </p:spPr>
        <p:txBody>
          <a:bodyPr wrap="square" rtlCol="0" anchor="ctr"/>
          <a:lstStyle/>
          <a:p>
            <a:pPr marL="0" indent="0">
              <a:buNone/>
            </a:pPr>
            <a:r>
              <a:rPr lang="en-US" sz="900" b="1" dirty="0">
                <a:solidFill>
                  <a:srgbClr val="B91C1C"/>
                </a:solidFill>
                <a:latin typeface="Arial" pitchFamily="34" charset="0"/>
                <a:ea typeface="Arial" pitchFamily="34" charset="-122"/>
                <a:cs typeface="Arial" pitchFamily="34" charset="-120"/>
              </a:rPr>
              <a:t>35 minutes</a:t>
            </a:r>
            <a:endParaRPr lang="en-US" sz="900" dirty="0"/>
          </a:p>
        </p:txBody>
      </p:sp>
      <p:sp>
        <p:nvSpPr>
          <p:cNvPr id="49" name="Shape 46"/>
          <p:cNvSpPr/>
          <p:nvPr/>
        </p:nvSpPr>
        <p:spPr>
          <a:xfrm>
            <a:off x="7351776" y="2340864"/>
            <a:ext cx="2670048" cy="256032"/>
          </a:xfrm>
          <a:prstGeom prst="rect">
            <a:avLst/>
          </a:prstGeom>
          <a:solidFill>
            <a:srgbClr val="FEE2E2"/>
          </a:solidFill>
          <a:ln w="2540">
            <a:solidFill>
              <a:srgbClr val="EEEEEE"/>
            </a:solidFill>
            <a:prstDash val="solid"/>
          </a:ln>
        </p:spPr>
        <p:txBody>
          <a:bodyPr/>
          <a:lstStyle/>
          <a:p>
            <a:endParaRPr lang="en-GB"/>
          </a:p>
        </p:txBody>
      </p:sp>
      <p:sp>
        <p:nvSpPr>
          <p:cNvPr id="50" name="Text 47"/>
          <p:cNvSpPr/>
          <p:nvPr/>
        </p:nvSpPr>
        <p:spPr>
          <a:xfrm>
            <a:off x="7388352" y="2359152"/>
            <a:ext cx="1280160" cy="21945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Uptime</a:t>
            </a:r>
            <a:endParaRPr lang="en-US" sz="900" dirty="0"/>
          </a:p>
        </p:txBody>
      </p:sp>
      <p:sp>
        <p:nvSpPr>
          <p:cNvPr id="51" name="Text 48"/>
          <p:cNvSpPr/>
          <p:nvPr/>
        </p:nvSpPr>
        <p:spPr>
          <a:xfrm>
            <a:off x="8686800" y="2359152"/>
            <a:ext cx="1280160" cy="219456"/>
          </a:xfrm>
          <a:prstGeom prst="rect">
            <a:avLst/>
          </a:prstGeom>
          <a:noFill/>
          <a:ln/>
        </p:spPr>
        <p:txBody>
          <a:bodyPr wrap="square" rtlCol="0" anchor="ctr"/>
          <a:lstStyle/>
          <a:p>
            <a:pPr marL="0" indent="0">
              <a:buNone/>
            </a:pPr>
            <a:r>
              <a:rPr lang="en-US" sz="900" b="1" dirty="0">
                <a:solidFill>
                  <a:srgbClr val="B91C1C"/>
                </a:solidFill>
                <a:latin typeface="Arial" pitchFamily="34" charset="0"/>
                <a:ea typeface="Arial" pitchFamily="34" charset="-122"/>
                <a:cs typeface="Arial" pitchFamily="34" charset="-120"/>
              </a:rPr>
              <a:t>81%</a:t>
            </a:r>
            <a:endParaRPr lang="en-US" sz="900" dirty="0"/>
          </a:p>
        </p:txBody>
      </p:sp>
      <p:sp>
        <p:nvSpPr>
          <p:cNvPr id="52" name="Shape 49"/>
          <p:cNvSpPr/>
          <p:nvPr/>
        </p:nvSpPr>
        <p:spPr>
          <a:xfrm>
            <a:off x="7351776" y="2615184"/>
            <a:ext cx="2670048" cy="256032"/>
          </a:xfrm>
          <a:prstGeom prst="rect">
            <a:avLst/>
          </a:prstGeom>
          <a:solidFill>
            <a:srgbClr val="FEE2E2"/>
          </a:solidFill>
          <a:ln w="2540">
            <a:solidFill>
              <a:srgbClr val="EEEEEE"/>
            </a:solidFill>
            <a:prstDash val="solid"/>
          </a:ln>
        </p:spPr>
        <p:txBody>
          <a:bodyPr/>
          <a:lstStyle/>
          <a:p>
            <a:endParaRPr lang="en-GB"/>
          </a:p>
        </p:txBody>
      </p:sp>
      <p:sp>
        <p:nvSpPr>
          <p:cNvPr id="53" name="Text 50"/>
          <p:cNvSpPr/>
          <p:nvPr/>
        </p:nvSpPr>
        <p:spPr>
          <a:xfrm>
            <a:off x="7388352" y="2633472"/>
            <a:ext cx="1280160" cy="21945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OK Rate / FPY</a:t>
            </a:r>
            <a:endParaRPr lang="en-US" sz="900" dirty="0"/>
          </a:p>
        </p:txBody>
      </p:sp>
      <p:sp>
        <p:nvSpPr>
          <p:cNvPr id="54" name="Text 51"/>
          <p:cNvSpPr/>
          <p:nvPr/>
        </p:nvSpPr>
        <p:spPr>
          <a:xfrm>
            <a:off x="8686800" y="2633472"/>
            <a:ext cx="1280160" cy="219456"/>
          </a:xfrm>
          <a:prstGeom prst="rect">
            <a:avLst/>
          </a:prstGeom>
          <a:noFill/>
          <a:ln/>
        </p:spPr>
        <p:txBody>
          <a:bodyPr wrap="square" rtlCol="0" anchor="ctr"/>
          <a:lstStyle/>
          <a:p>
            <a:pPr marL="0" indent="0">
              <a:buNone/>
            </a:pPr>
            <a:r>
              <a:rPr lang="en-US" sz="900" b="1" dirty="0">
                <a:solidFill>
                  <a:srgbClr val="B91C1C"/>
                </a:solidFill>
                <a:latin typeface="Arial" pitchFamily="34" charset="0"/>
                <a:ea typeface="Arial" pitchFamily="34" charset="-122"/>
                <a:cs typeface="Arial" pitchFamily="34" charset="-120"/>
              </a:rPr>
              <a:t>94.2%</a:t>
            </a:r>
            <a:endParaRPr lang="en-US" sz="900" dirty="0"/>
          </a:p>
        </p:txBody>
      </p:sp>
      <p:sp>
        <p:nvSpPr>
          <p:cNvPr id="55" name="Shape 52"/>
          <p:cNvSpPr/>
          <p:nvPr/>
        </p:nvSpPr>
        <p:spPr>
          <a:xfrm>
            <a:off x="7351776" y="2889504"/>
            <a:ext cx="2670048" cy="256032"/>
          </a:xfrm>
          <a:prstGeom prst="rect">
            <a:avLst/>
          </a:prstGeom>
          <a:solidFill>
            <a:srgbClr val="FFFFFF"/>
          </a:solidFill>
          <a:ln w="2540">
            <a:solidFill>
              <a:srgbClr val="EEEEEE"/>
            </a:solidFill>
            <a:prstDash val="solid"/>
          </a:ln>
        </p:spPr>
        <p:txBody>
          <a:bodyPr/>
          <a:lstStyle/>
          <a:p>
            <a:endParaRPr lang="en-GB"/>
          </a:p>
        </p:txBody>
      </p:sp>
      <p:sp>
        <p:nvSpPr>
          <p:cNvPr id="56" name="Text 53"/>
          <p:cNvSpPr/>
          <p:nvPr/>
        </p:nvSpPr>
        <p:spPr>
          <a:xfrm>
            <a:off x="7388352" y="2907792"/>
            <a:ext cx="1280160" cy="21945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Batch size</a:t>
            </a:r>
            <a:endParaRPr lang="en-US" sz="900" dirty="0"/>
          </a:p>
        </p:txBody>
      </p:sp>
      <p:sp>
        <p:nvSpPr>
          <p:cNvPr id="57" name="Text 54"/>
          <p:cNvSpPr/>
          <p:nvPr/>
        </p:nvSpPr>
        <p:spPr>
          <a:xfrm>
            <a:off x="8686800" y="2907792"/>
            <a:ext cx="1280160" cy="219456"/>
          </a:xfrm>
          <a:prstGeom prst="rect">
            <a:avLst/>
          </a:prstGeom>
          <a:noFill/>
          <a:ln/>
        </p:spPr>
        <p:txBody>
          <a:bodyPr wrap="square" rtlCol="0" anchor="ctr"/>
          <a:lstStyle/>
          <a:p>
            <a:pPr marL="0" indent="0">
              <a:buNone/>
            </a:pPr>
            <a:r>
              <a:rPr lang="en-US" sz="900" dirty="0">
                <a:solidFill>
                  <a:srgbClr val="1E3A5F"/>
                </a:solidFill>
                <a:latin typeface="Arial" pitchFamily="34" charset="0"/>
                <a:ea typeface="Arial" pitchFamily="34" charset="-122"/>
                <a:cs typeface="Arial" pitchFamily="34" charset="-120"/>
              </a:rPr>
              <a:t>10 units</a:t>
            </a:r>
            <a:endParaRPr lang="en-US" sz="900" dirty="0"/>
          </a:p>
        </p:txBody>
      </p:sp>
      <p:sp>
        <p:nvSpPr>
          <p:cNvPr id="58" name="Shape 55"/>
          <p:cNvSpPr/>
          <p:nvPr/>
        </p:nvSpPr>
        <p:spPr>
          <a:xfrm>
            <a:off x="7351776" y="3163824"/>
            <a:ext cx="2670048" cy="256032"/>
          </a:xfrm>
          <a:prstGeom prst="rect">
            <a:avLst/>
          </a:prstGeom>
          <a:solidFill>
            <a:srgbClr val="F2F2F2"/>
          </a:solidFill>
          <a:ln w="2540">
            <a:solidFill>
              <a:srgbClr val="EEEEEE"/>
            </a:solidFill>
            <a:prstDash val="solid"/>
          </a:ln>
        </p:spPr>
        <p:txBody>
          <a:bodyPr/>
          <a:lstStyle/>
          <a:p>
            <a:endParaRPr lang="en-GB"/>
          </a:p>
        </p:txBody>
      </p:sp>
      <p:sp>
        <p:nvSpPr>
          <p:cNvPr id="59" name="Text 56"/>
          <p:cNvSpPr/>
          <p:nvPr/>
        </p:nvSpPr>
        <p:spPr>
          <a:xfrm>
            <a:off x="7388352" y="3182112"/>
            <a:ext cx="1280160" cy="21945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No. Machines</a:t>
            </a:r>
            <a:endParaRPr lang="en-US" sz="900" dirty="0"/>
          </a:p>
        </p:txBody>
      </p:sp>
      <p:sp>
        <p:nvSpPr>
          <p:cNvPr id="60" name="Text 57"/>
          <p:cNvSpPr/>
          <p:nvPr/>
        </p:nvSpPr>
        <p:spPr>
          <a:xfrm>
            <a:off x="8686800" y="3182112"/>
            <a:ext cx="1280160" cy="219456"/>
          </a:xfrm>
          <a:prstGeom prst="rect">
            <a:avLst/>
          </a:prstGeom>
          <a:noFill/>
          <a:ln/>
        </p:spPr>
        <p:txBody>
          <a:bodyPr wrap="square" rtlCol="0" anchor="ctr"/>
          <a:lstStyle/>
          <a:p>
            <a:pPr marL="0" indent="0">
              <a:buNone/>
            </a:pPr>
            <a:r>
              <a:rPr lang="en-US" sz="900" dirty="0">
                <a:solidFill>
                  <a:srgbClr val="1E3A5F"/>
                </a:solidFill>
                <a:latin typeface="Arial" pitchFamily="34" charset="0"/>
                <a:ea typeface="Arial" pitchFamily="34" charset="-122"/>
                <a:cs typeface="Arial" pitchFamily="34" charset="-120"/>
              </a:rPr>
              <a:t>2</a:t>
            </a:r>
            <a:endParaRPr lang="en-US" sz="900" dirty="0"/>
          </a:p>
        </p:txBody>
      </p:sp>
      <p:sp>
        <p:nvSpPr>
          <p:cNvPr id="61" name="Shape 58"/>
          <p:cNvSpPr/>
          <p:nvPr/>
        </p:nvSpPr>
        <p:spPr>
          <a:xfrm>
            <a:off x="7351776" y="3438144"/>
            <a:ext cx="2670048" cy="256032"/>
          </a:xfrm>
          <a:prstGeom prst="rect">
            <a:avLst/>
          </a:prstGeom>
          <a:solidFill>
            <a:srgbClr val="FEE2E2"/>
          </a:solidFill>
          <a:ln w="2540">
            <a:solidFill>
              <a:srgbClr val="EEEEEE"/>
            </a:solidFill>
            <a:prstDash val="solid"/>
          </a:ln>
        </p:spPr>
        <p:txBody>
          <a:bodyPr/>
          <a:lstStyle/>
          <a:p>
            <a:endParaRPr lang="en-GB"/>
          </a:p>
        </p:txBody>
      </p:sp>
      <p:sp>
        <p:nvSpPr>
          <p:cNvPr id="62" name="Text 59"/>
          <p:cNvSpPr/>
          <p:nvPr/>
        </p:nvSpPr>
        <p:spPr>
          <a:xfrm>
            <a:off x="7388352" y="3456432"/>
            <a:ext cx="1280160" cy="21945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Observations</a:t>
            </a:r>
            <a:endParaRPr lang="en-US" sz="900" dirty="0"/>
          </a:p>
        </p:txBody>
      </p:sp>
      <p:sp>
        <p:nvSpPr>
          <p:cNvPr id="63" name="Text 60"/>
          <p:cNvSpPr/>
          <p:nvPr/>
        </p:nvSpPr>
        <p:spPr>
          <a:xfrm>
            <a:off x="8686800" y="3456432"/>
            <a:ext cx="1280160" cy="219456"/>
          </a:xfrm>
          <a:prstGeom prst="rect">
            <a:avLst/>
          </a:prstGeom>
          <a:noFill/>
          <a:ln/>
        </p:spPr>
        <p:txBody>
          <a:bodyPr wrap="square" rtlCol="0" anchor="ctr"/>
          <a:lstStyle/>
          <a:p>
            <a:pPr marL="0" indent="0">
              <a:buNone/>
            </a:pPr>
            <a:r>
              <a:rPr lang="en-US" sz="900" b="1" dirty="0">
                <a:solidFill>
                  <a:srgbClr val="B91C1C"/>
                </a:solidFill>
                <a:latin typeface="Arial" pitchFamily="34" charset="0"/>
                <a:ea typeface="Arial" pitchFamily="34" charset="-122"/>
                <a:cs typeface="Arial" pitchFamily="34" charset="-120"/>
              </a:rPr>
              <a:t>Tool wear causing scrap on final pass</a:t>
            </a:r>
            <a:endParaRPr lang="en-US" sz="900" dirty="0"/>
          </a:p>
        </p:txBody>
      </p:sp>
      <p:sp>
        <p:nvSpPr>
          <p:cNvPr id="64" name="Text 61"/>
          <p:cNvSpPr/>
          <p:nvPr/>
        </p:nvSpPr>
        <p:spPr>
          <a:xfrm>
            <a:off x="6492240" y="3840480"/>
            <a:ext cx="5303520" cy="237744"/>
          </a:xfrm>
          <a:prstGeom prst="rect">
            <a:avLst/>
          </a:prstGeom>
          <a:noFill/>
          <a:ln/>
        </p:spPr>
        <p:txBody>
          <a:bodyPr wrap="square" rtlCol="0" anchor="ctr"/>
          <a:lstStyle/>
          <a:p>
            <a:pPr marL="0" indent="0">
              <a:buNone/>
            </a:pPr>
            <a:r>
              <a:rPr lang="en-US" sz="850" b="1" i="1" dirty="0">
                <a:solidFill>
                  <a:srgbClr val="B91C1C"/>
                </a:solidFill>
                <a:latin typeface="Arial" pitchFamily="34" charset="0"/>
                <a:ea typeface="Arial" pitchFamily="34" charset="-122"/>
                <a:cs typeface="Arial" pitchFamily="34" charset="-120"/>
              </a:rPr>
              <a:t>Issues highlighted in red: these become targets for improvement</a:t>
            </a:r>
            <a:endParaRPr lang="en-US" sz="850" dirty="0"/>
          </a:p>
        </p:txBody>
      </p:sp>
      <p:sp>
        <p:nvSpPr>
          <p:cNvPr id="65" name="Shape 62"/>
          <p:cNvSpPr/>
          <p:nvPr/>
        </p:nvSpPr>
        <p:spPr>
          <a:xfrm>
            <a:off x="6492240" y="3749040"/>
            <a:ext cx="5303520" cy="2377440"/>
          </a:xfrm>
          <a:prstGeom prst="rect">
            <a:avLst/>
          </a:prstGeom>
          <a:solidFill>
            <a:srgbClr val="F3EAF4"/>
          </a:solidFill>
          <a:ln w="10160">
            <a:solidFill>
              <a:srgbClr val="83348F"/>
            </a:solidFill>
            <a:prstDash val="solid"/>
          </a:ln>
        </p:spPr>
        <p:txBody>
          <a:bodyPr/>
          <a:lstStyle/>
          <a:p>
            <a:endParaRPr lang="en-GB"/>
          </a:p>
        </p:txBody>
      </p:sp>
      <p:sp>
        <p:nvSpPr>
          <p:cNvPr id="66" name="Shape 63"/>
          <p:cNvSpPr/>
          <p:nvPr/>
        </p:nvSpPr>
        <p:spPr>
          <a:xfrm>
            <a:off x="6492240" y="3749040"/>
            <a:ext cx="5303520" cy="274320"/>
          </a:xfrm>
          <a:prstGeom prst="rect">
            <a:avLst/>
          </a:prstGeom>
          <a:solidFill>
            <a:srgbClr val="83348F"/>
          </a:solidFill>
          <a:ln/>
        </p:spPr>
        <p:txBody>
          <a:bodyPr/>
          <a:lstStyle/>
          <a:p>
            <a:endParaRPr lang="en-GB"/>
          </a:p>
        </p:txBody>
      </p:sp>
      <p:sp>
        <p:nvSpPr>
          <p:cNvPr id="67" name="Text 64"/>
          <p:cNvSpPr/>
          <p:nvPr/>
        </p:nvSpPr>
        <p:spPr>
          <a:xfrm>
            <a:off x="6583680" y="3767328"/>
            <a:ext cx="5120640"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KEY RULES FOR CAPTURING DATA</a:t>
            </a:r>
            <a:endParaRPr lang="en-US" sz="1000" dirty="0"/>
          </a:p>
        </p:txBody>
      </p:sp>
      <p:sp>
        <p:nvSpPr>
          <p:cNvPr id="68" name="Shape 65"/>
          <p:cNvSpPr/>
          <p:nvPr/>
        </p:nvSpPr>
        <p:spPr>
          <a:xfrm>
            <a:off x="6565392" y="4128516"/>
            <a:ext cx="91440" cy="91440"/>
          </a:xfrm>
          <a:prstGeom prst="rect">
            <a:avLst/>
          </a:prstGeom>
          <a:solidFill>
            <a:srgbClr val="009FE3"/>
          </a:solidFill>
          <a:ln/>
        </p:spPr>
        <p:txBody>
          <a:bodyPr/>
          <a:lstStyle/>
          <a:p>
            <a:endParaRPr lang="en-GB"/>
          </a:p>
        </p:txBody>
      </p:sp>
      <p:sp>
        <p:nvSpPr>
          <p:cNvPr id="69" name="Text 66"/>
          <p:cNvSpPr/>
          <p:nvPr/>
        </p:nvSpPr>
        <p:spPr>
          <a:xfrm>
            <a:off x="6766560" y="4078224"/>
            <a:ext cx="5029200" cy="292608"/>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Measure cycle time yourself with a stopwatch. Do not ask the operator what it should be</a:t>
            </a:r>
            <a:endParaRPr lang="en-US" sz="1000" dirty="0"/>
          </a:p>
        </p:txBody>
      </p:sp>
      <p:sp>
        <p:nvSpPr>
          <p:cNvPr id="70" name="Shape 67"/>
          <p:cNvSpPr/>
          <p:nvPr/>
        </p:nvSpPr>
        <p:spPr>
          <a:xfrm>
            <a:off x="6565392" y="4512564"/>
            <a:ext cx="91440" cy="91440"/>
          </a:xfrm>
          <a:prstGeom prst="rect">
            <a:avLst/>
          </a:prstGeom>
          <a:solidFill>
            <a:srgbClr val="009FE3"/>
          </a:solidFill>
          <a:ln/>
        </p:spPr>
        <p:txBody>
          <a:bodyPr/>
          <a:lstStyle/>
          <a:p>
            <a:endParaRPr lang="en-GB"/>
          </a:p>
        </p:txBody>
      </p:sp>
      <p:sp>
        <p:nvSpPr>
          <p:cNvPr id="71" name="Text 68"/>
          <p:cNvSpPr/>
          <p:nvPr/>
        </p:nvSpPr>
        <p:spPr>
          <a:xfrm>
            <a:off x="6766560" y="4462272"/>
            <a:ext cx="5029200" cy="292608"/>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Challenge data that looks too good. 100% uptime and 0% rework are almost never real</a:t>
            </a:r>
            <a:endParaRPr lang="en-US" sz="1000" dirty="0"/>
          </a:p>
        </p:txBody>
      </p:sp>
      <p:sp>
        <p:nvSpPr>
          <p:cNvPr id="72" name="Shape 69"/>
          <p:cNvSpPr/>
          <p:nvPr/>
        </p:nvSpPr>
        <p:spPr>
          <a:xfrm>
            <a:off x="6565392" y="4896612"/>
            <a:ext cx="91440" cy="91440"/>
          </a:xfrm>
          <a:prstGeom prst="rect">
            <a:avLst/>
          </a:prstGeom>
          <a:solidFill>
            <a:srgbClr val="009FE3"/>
          </a:solidFill>
          <a:ln/>
        </p:spPr>
        <p:txBody>
          <a:bodyPr/>
          <a:lstStyle/>
          <a:p>
            <a:endParaRPr lang="en-GB"/>
          </a:p>
        </p:txBody>
      </p:sp>
      <p:sp>
        <p:nvSpPr>
          <p:cNvPr id="73" name="Text 70"/>
          <p:cNvSpPr/>
          <p:nvPr/>
        </p:nvSpPr>
        <p:spPr>
          <a:xfrm>
            <a:off x="6766560" y="4846320"/>
            <a:ext cx="5029200" cy="292608"/>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Capture variation: if times vary significantly, note the range and use the typical (mode) value</a:t>
            </a:r>
            <a:endParaRPr lang="en-US" sz="1000" dirty="0"/>
          </a:p>
        </p:txBody>
      </p:sp>
      <p:sp>
        <p:nvSpPr>
          <p:cNvPr id="74" name="Shape 71"/>
          <p:cNvSpPr/>
          <p:nvPr/>
        </p:nvSpPr>
        <p:spPr>
          <a:xfrm>
            <a:off x="6565392" y="5280660"/>
            <a:ext cx="91440" cy="91440"/>
          </a:xfrm>
          <a:prstGeom prst="rect">
            <a:avLst/>
          </a:prstGeom>
          <a:solidFill>
            <a:srgbClr val="009FE3"/>
          </a:solidFill>
          <a:ln/>
        </p:spPr>
        <p:txBody>
          <a:bodyPr/>
          <a:lstStyle/>
          <a:p>
            <a:endParaRPr lang="en-GB"/>
          </a:p>
        </p:txBody>
      </p:sp>
      <p:sp>
        <p:nvSpPr>
          <p:cNvPr id="75" name="Text 72"/>
          <p:cNvSpPr/>
          <p:nvPr/>
        </p:nvSpPr>
        <p:spPr>
          <a:xfrm>
            <a:off x="6766560" y="5230368"/>
            <a:ext cx="5029200" cy="292608"/>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Record what you actually see happening, not what the SOP says should happen</a:t>
            </a:r>
            <a:endParaRPr lang="en-US" sz="1000" dirty="0"/>
          </a:p>
        </p:txBody>
      </p:sp>
      <p:sp>
        <p:nvSpPr>
          <p:cNvPr id="76" name="Shape 73"/>
          <p:cNvSpPr/>
          <p:nvPr/>
        </p:nvSpPr>
        <p:spPr>
          <a:xfrm>
            <a:off x="6565392" y="5664708"/>
            <a:ext cx="91440" cy="91440"/>
          </a:xfrm>
          <a:prstGeom prst="rect">
            <a:avLst/>
          </a:prstGeom>
          <a:solidFill>
            <a:srgbClr val="009FE3"/>
          </a:solidFill>
          <a:ln/>
        </p:spPr>
        <p:txBody>
          <a:bodyPr/>
          <a:lstStyle/>
          <a:p>
            <a:endParaRPr lang="en-GB"/>
          </a:p>
        </p:txBody>
      </p:sp>
      <p:sp>
        <p:nvSpPr>
          <p:cNvPr id="77" name="Text 74"/>
          <p:cNvSpPr/>
          <p:nvPr/>
        </p:nvSpPr>
        <p:spPr>
          <a:xfrm>
            <a:off x="6766560" y="5614416"/>
            <a:ext cx="5029200" cy="292608"/>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Be transparent with the team about what you are measuring and why</a:t>
            </a:r>
            <a:endParaRPr lang="en-US" sz="1000" dirty="0"/>
          </a:p>
        </p:txBody>
      </p:sp>
      <p:sp>
        <p:nvSpPr>
          <p:cNvPr id="78" name="Rectangle 77"/>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9" name="Picture 78" descr="image.png"/>
          <p:cNvPicPr>
            <a:picLocks noChangeAspect="1"/>
          </p:cNvPicPr>
          <p:nvPr/>
        </p:nvPicPr>
        <p:blipFill>
          <a:blip r:embed="rId5"/>
          <a:stretch>
            <a:fillRect/>
          </a:stretch>
        </p:blipFill>
        <p:spPr>
          <a:xfrm>
            <a:off x="10610088" y="100584"/>
            <a:ext cx="566928" cy="347472"/>
          </a:xfrm>
          <a:prstGeom prst="rect">
            <a:avLst/>
          </a:prstGeom>
        </p:spPr>
      </p:pic>
      <p:pic>
        <p:nvPicPr>
          <p:cNvPr id="80" name="Picture 79" descr="image.png"/>
          <p:cNvPicPr>
            <a:picLocks noChangeAspect="1"/>
          </p:cNvPicPr>
          <p:nvPr/>
        </p:nvPicPr>
        <p:blipFill>
          <a:blip r:embed="rId4"/>
          <a:stretch>
            <a:fillRect/>
          </a:stretch>
        </p:blipFill>
        <p:spPr>
          <a:xfrm>
            <a:off x="11222736" y="100584"/>
            <a:ext cx="658368" cy="347472"/>
          </a:xfrm>
          <a:prstGeom prst="rect">
            <a:avLst/>
          </a:prstGeom>
        </p:spPr>
      </p:pic>
      <p:sp>
        <p:nvSpPr>
          <p:cNvPr id="81" name="Rectangle 80"/>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1. Create a Current State Value Stream Map</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Steps 4 &amp; 5: Map Inventory and Material Flow</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9" name="Shape 6"/>
          <p:cNvSpPr/>
          <p:nvPr/>
        </p:nvSpPr>
        <p:spPr>
          <a:xfrm>
            <a:off x="228600" y="987552"/>
            <a:ext cx="5577840" cy="292608"/>
          </a:xfrm>
          <a:prstGeom prst="rect">
            <a:avLst/>
          </a:prstGeom>
          <a:solidFill>
            <a:srgbClr val="F59E0B"/>
          </a:solidFill>
          <a:ln/>
        </p:spPr>
        <p:txBody>
          <a:bodyPr/>
          <a:lstStyle/>
          <a:p>
            <a:endParaRPr lang="en-GB"/>
          </a:p>
        </p:txBody>
      </p:sp>
      <p:sp>
        <p:nvSpPr>
          <p:cNvPr id="10" name="Text 7"/>
          <p:cNvSpPr/>
          <p:nvPr/>
        </p:nvSpPr>
        <p:spPr>
          <a:xfrm>
            <a:off x="320040" y="1005840"/>
            <a:ext cx="5394960" cy="256032"/>
          </a:xfrm>
          <a:prstGeom prst="rect">
            <a:avLst/>
          </a:prstGeom>
          <a:noFill/>
          <a:ln/>
        </p:spPr>
        <p:txBody>
          <a:bodyPr wrap="square" rtlCol="0" anchor="ctr"/>
          <a:lstStyle/>
          <a:p>
            <a:pPr marL="0" indent="0">
              <a:buNone/>
            </a:pPr>
            <a:r>
              <a:rPr lang="en-US" sz="1100" b="1" dirty="0">
                <a:solidFill>
                  <a:srgbClr val="1E3A5F"/>
                </a:solidFill>
                <a:latin typeface="Arial" pitchFamily="34" charset="0"/>
                <a:ea typeface="Arial" pitchFamily="34" charset="-122"/>
                <a:cs typeface="Arial" pitchFamily="34" charset="-120"/>
              </a:rPr>
              <a:t>STEP 4: INVENTORY</a:t>
            </a:r>
            <a:endParaRPr lang="en-US" sz="1100" dirty="0"/>
          </a:p>
        </p:txBody>
      </p:sp>
      <p:sp>
        <p:nvSpPr>
          <p:cNvPr id="11" name="Shape 8"/>
          <p:cNvSpPr/>
          <p:nvPr/>
        </p:nvSpPr>
        <p:spPr>
          <a:xfrm>
            <a:off x="301752" y="1385316"/>
            <a:ext cx="91440" cy="91440"/>
          </a:xfrm>
          <a:prstGeom prst="rect">
            <a:avLst/>
          </a:prstGeom>
          <a:solidFill>
            <a:srgbClr val="009FE3"/>
          </a:solidFill>
          <a:ln/>
        </p:spPr>
        <p:txBody>
          <a:bodyPr/>
          <a:lstStyle/>
          <a:p>
            <a:endParaRPr lang="en-GB"/>
          </a:p>
        </p:txBody>
      </p:sp>
      <p:sp>
        <p:nvSpPr>
          <p:cNvPr id="12" name="Text 9"/>
          <p:cNvSpPr/>
          <p:nvPr/>
        </p:nvSpPr>
        <p:spPr>
          <a:xfrm>
            <a:off x="502920" y="1335024"/>
            <a:ext cx="5303520" cy="292608"/>
          </a:xfrm>
          <a:prstGeom prst="rect">
            <a:avLst/>
          </a:prstGeom>
          <a:noFill/>
          <a:ln/>
        </p:spPr>
        <p:txBody>
          <a:bodyPr wrap="square" rtlCol="0" anchor="t"/>
          <a:lstStyle/>
          <a:p>
            <a:pPr marL="0" indent="0">
              <a:buNone/>
            </a:pPr>
            <a:r>
              <a:rPr lang="en-US" sz="1050" dirty="0">
                <a:solidFill>
                  <a:srgbClr val="5B595A"/>
                </a:solidFill>
                <a:latin typeface="Arial" pitchFamily="34" charset="0"/>
                <a:ea typeface="Arial" pitchFamily="34" charset="-122"/>
                <a:cs typeface="Arial" pitchFamily="34" charset="-120"/>
              </a:rPr>
              <a:t>Count the actual inventory at every point in the value stream between each process step, at goods in, and at finished goods.</a:t>
            </a:r>
            <a:endParaRPr lang="en-US" sz="1050" dirty="0"/>
          </a:p>
        </p:txBody>
      </p:sp>
      <p:sp>
        <p:nvSpPr>
          <p:cNvPr id="13" name="Shape 10"/>
          <p:cNvSpPr/>
          <p:nvPr/>
        </p:nvSpPr>
        <p:spPr>
          <a:xfrm>
            <a:off x="301752" y="1842516"/>
            <a:ext cx="91440" cy="91440"/>
          </a:xfrm>
          <a:prstGeom prst="rect">
            <a:avLst/>
          </a:prstGeom>
          <a:solidFill>
            <a:srgbClr val="009FE3"/>
          </a:solidFill>
          <a:ln/>
        </p:spPr>
        <p:txBody>
          <a:bodyPr/>
          <a:lstStyle/>
          <a:p>
            <a:endParaRPr lang="en-GB"/>
          </a:p>
        </p:txBody>
      </p:sp>
      <p:sp>
        <p:nvSpPr>
          <p:cNvPr id="14" name="Text 11"/>
          <p:cNvSpPr/>
          <p:nvPr/>
        </p:nvSpPr>
        <p:spPr>
          <a:xfrm>
            <a:off x="502920" y="1792224"/>
            <a:ext cx="5303520" cy="292608"/>
          </a:xfrm>
          <a:prstGeom prst="rect">
            <a:avLst/>
          </a:prstGeom>
          <a:noFill/>
          <a:ln/>
        </p:spPr>
        <p:txBody>
          <a:bodyPr wrap="square" rtlCol="0" anchor="t"/>
          <a:lstStyle/>
          <a:p>
            <a:pPr marL="0" indent="0">
              <a:buNone/>
            </a:pPr>
            <a:r>
              <a:rPr lang="en-US" sz="1050" dirty="0">
                <a:solidFill>
                  <a:srgbClr val="5B595A"/>
                </a:solidFill>
                <a:latin typeface="Arial" pitchFamily="34" charset="0"/>
                <a:ea typeface="Arial" pitchFamily="34" charset="-122"/>
                <a:cs typeface="Arial" pitchFamily="34" charset="-120"/>
              </a:rPr>
              <a:t>Express inventory in two ways: the quantity held, and the number of days of demand that quantity represents based on customer consumption rate.</a:t>
            </a:r>
            <a:endParaRPr lang="en-US" sz="1050" dirty="0"/>
          </a:p>
        </p:txBody>
      </p:sp>
      <p:sp>
        <p:nvSpPr>
          <p:cNvPr id="15" name="Shape 12"/>
          <p:cNvSpPr/>
          <p:nvPr/>
        </p:nvSpPr>
        <p:spPr>
          <a:xfrm>
            <a:off x="301752" y="2299716"/>
            <a:ext cx="91440" cy="91440"/>
          </a:xfrm>
          <a:prstGeom prst="rect">
            <a:avLst/>
          </a:prstGeom>
          <a:solidFill>
            <a:srgbClr val="009FE3"/>
          </a:solidFill>
          <a:ln/>
        </p:spPr>
        <p:txBody>
          <a:bodyPr/>
          <a:lstStyle/>
          <a:p>
            <a:endParaRPr lang="en-GB"/>
          </a:p>
        </p:txBody>
      </p:sp>
      <p:sp>
        <p:nvSpPr>
          <p:cNvPr id="16" name="Text 13"/>
          <p:cNvSpPr/>
          <p:nvPr/>
        </p:nvSpPr>
        <p:spPr>
          <a:xfrm>
            <a:off x="502920" y="2249424"/>
            <a:ext cx="5303520" cy="292608"/>
          </a:xfrm>
          <a:prstGeom prst="rect">
            <a:avLst/>
          </a:prstGeom>
          <a:noFill/>
          <a:ln/>
        </p:spPr>
        <p:txBody>
          <a:bodyPr wrap="square" rtlCol="0" anchor="t"/>
          <a:lstStyle/>
          <a:p>
            <a:pPr marL="0" indent="0">
              <a:buNone/>
            </a:pPr>
            <a:r>
              <a:rPr lang="en-US" sz="1050" dirty="0">
                <a:solidFill>
                  <a:srgbClr val="5B595A"/>
                </a:solidFill>
                <a:latin typeface="Arial" pitchFamily="34" charset="0"/>
                <a:ea typeface="Arial" pitchFamily="34" charset="-122"/>
                <a:cs typeface="Arial" pitchFamily="34" charset="-120"/>
              </a:rPr>
              <a:t>Do not rely on the ERP system stock figures. Walk the shop floor and count physically. System figures and physical reality frequently differ.</a:t>
            </a:r>
            <a:endParaRPr lang="en-US" sz="1050" dirty="0"/>
          </a:p>
        </p:txBody>
      </p:sp>
      <p:sp>
        <p:nvSpPr>
          <p:cNvPr id="17" name="Shape 14"/>
          <p:cNvSpPr/>
          <p:nvPr/>
        </p:nvSpPr>
        <p:spPr>
          <a:xfrm>
            <a:off x="274320" y="2724912"/>
            <a:ext cx="5394960" cy="585216"/>
          </a:xfrm>
          <a:prstGeom prst="rect">
            <a:avLst/>
          </a:prstGeom>
          <a:solidFill>
            <a:srgbClr val="FFFBEB"/>
          </a:solidFill>
          <a:ln w="10160">
            <a:solidFill>
              <a:srgbClr val="D97706"/>
            </a:solidFill>
            <a:prstDash val="solid"/>
          </a:ln>
        </p:spPr>
        <p:txBody>
          <a:bodyPr/>
          <a:lstStyle/>
          <a:p>
            <a:endParaRPr lang="en-GB"/>
          </a:p>
        </p:txBody>
      </p:sp>
      <p:sp>
        <p:nvSpPr>
          <p:cNvPr id="18" name="Text 15"/>
          <p:cNvSpPr/>
          <p:nvPr/>
        </p:nvSpPr>
        <p:spPr>
          <a:xfrm>
            <a:off x="365760" y="2834640"/>
            <a:ext cx="5212080" cy="256032"/>
          </a:xfrm>
          <a:prstGeom prst="rect">
            <a:avLst/>
          </a:prstGeom>
          <a:noFill/>
          <a:ln/>
        </p:spPr>
        <p:txBody>
          <a:bodyPr wrap="square" rtlCol="0" anchor="ctr"/>
          <a:lstStyle/>
          <a:p>
            <a:pPr marL="0" indent="0" algn="ctr">
              <a:buNone/>
            </a:pPr>
            <a:r>
              <a:rPr lang="en-US" sz="1100" b="1" dirty="0">
                <a:solidFill>
                  <a:srgbClr val="D97706"/>
                </a:solidFill>
                <a:latin typeface="Arial" pitchFamily="34" charset="0"/>
                <a:ea typeface="Arial" pitchFamily="34" charset="-122"/>
                <a:cs typeface="Arial" pitchFamily="34" charset="-120"/>
              </a:rPr>
              <a:t>Days of inventory  =  Quantity held  ÷  Customer daily requirement</a:t>
            </a:r>
            <a:endParaRPr lang="en-US" sz="1100" dirty="0"/>
          </a:p>
        </p:txBody>
      </p:sp>
      <p:sp>
        <p:nvSpPr>
          <p:cNvPr id="19" name="Text 16"/>
          <p:cNvSpPr/>
          <p:nvPr/>
        </p:nvSpPr>
        <p:spPr>
          <a:xfrm>
            <a:off x="365760" y="3127248"/>
            <a:ext cx="5212080" cy="201168"/>
          </a:xfrm>
          <a:prstGeom prst="rect">
            <a:avLst/>
          </a:prstGeom>
          <a:noFill/>
          <a:ln/>
        </p:spPr>
        <p:txBody>
          <a:bodyPr wrap="square" rtlCol="0" anchor="ctr"/>
          <a:lstStyle/>
          <a:p>
            <a:pPr marL="0" indent="0" algn="ctr">
              <a:buNone/>
            </a:pPr>
            <a:r>
              <a:rPr lang="en-US" sz="1000" dirty="0">
                <a:solidFill>
                  <a:srgbClr val="5B595A"/>
                </a:solidFill>
                <a:latin typeface="Arial" pitchFamily="34" charset="0"/>
                <a:ea typeface="Arial" pitchFamily="34" charset="-122"/>
                <a:cs typeface="Arial" pitchFamily="34" charset="-120"/>
              </a:rPr>
              <a:t>Example: 45 units held, customer requires 12/day  =  3.75 days of inventory</a:t>
            </a:r>
            <a:endParaRPr lang="en-US" sz="1000" dirty="0"/>
          </a:p>
        </p:txBody>
      </p:sp>
      <p:sp>
        <p:nvSpPr>
          <p:cNvPr id="20" name="Shape 17"/>
          <p:cNvSpPr/>
          <p:nvPr/>
        </p:nvSpPr>
        <p:spPr>
          <a:xfrm>
            <a:off x="228600" y="3401568"/>
            <a:ext cx="5577840" cy="292608"/>
          </a:xfrm>
          <a:prstGeom prst="rect">
            <a:avLst/>
          </a:prstGeom>
          <a:solidFill>
            <a:srgbClr val="1E3A5F"/>
          </a:solidFill>
          <a:ln/>
        </p:spPr>
        <p:txBody>
          <a:bodyPr/>
          <a:lstStyle/>
          <a:p>
            <a:endParaRPr lang="en-GB"/>
          </a:p>
        </p:txBody>
      </p:sp>
      <p:sp>
        <p:nvSpPr>
          <p:cNvPr id="21" name="Text 18"/>
          <p:cNvSpPr/>
          <p:nvPr/>
        </p:nvSpPr>
        <p:spPr>
          <a:xfrm>
            <a:off x="320040" y="3419856"/>
            <a:ext cx="5394960" cy="256032"/>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STEP 5: MATERIAL FLOW, PUSH vs PULL</a:t>
            </a:r>
            <a:endParaRPr lang="en-US" sz="1100" dirty="0"/>
          </a:p>
        </p:txBody>
      </p:sp>
      <p:sp>
        <p:nvSpPr>
          <p:cNvPr id="22" name="Shape 19"/>
          <p:cNvSpPr/>
          <p:nvPr/>
        </p:nvSpPr>
        <p:spPr>
          <a:xfrm>
            <a:off x="228600" y="3749040"/>
            <a:ext cx="5577840" cy="1133856"/>
          </a:xfrm>
          <a:prstGeom prst="rect">
            <a:avLst/>
          </a:prstGeom>
          <a:solidFill>
            <a:srgbClr val="FEE2E2"/>
          </a:solidFill>
          <a:ln w="12700">
            <a:solidFill>
              <a:srgbClr val="B91C1C"/>
            </a:solidFill>
            <a:prstDash val="solid"/>
          </a:ln>
        </p:spPr>
        <p:txBody>
          <a:bodyPr/>
          <a:lstStyle/>
          <a:p>
            <a:endParaRPr lang="en-GB"/>
          </a:p>
        </p:txBody>
      </p:sp>
      <p:sp>
        <p:nvSpPr>
          <p:cNvPr id="23" name="Shape 20"/>
          <p:cNvSpPr/>
          <p:nvPr/>
        </p:nvSpPr>
        <p:spPr>
          <a:xfrm>
            <a:off x="228600" y="3749040"/>
            <a:ext cx="5577840" cy="274320"/>
          </a:xfrm>
          <a:prstGeom prst="rect">
            <a:avLst/>
          </a:prstGeom>
          <a:solidFill>
            <a:srgbClr val="B91C1C"/>
          </a:solidFill>
          <a:ln/>
        </p:spPr>
        <p:txBody>
          <a:bodyPr/>
          <a:lstStyle/>
          <a:p>
            <a:endParaRPr lang="en-GB"/>
          </a:p>
        </p:txBody>
      </p:sp>
      <p:sp>
        <p:nvSpPr>
          <p:cNvPr id="24" name="Text 21"/>
          <p:cNvSpPr/>
          <p:nvPr/>
        </p:nvSpPr>
        <p:spPr>
          <a:xfrm>
            <a:off x="320040" y="3776472"/>
            <a:ext cx="5394960" cy="219456"/>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PUSH</a:t>
            </a:r>
            <a:endParaRPr lang="en-US" sz="1200" dirty="0"/>
          </a:p>
        </p:txBody>
      </p:sp>
      <p:sp>
        <p:nvSpPr>
          <p:cNvPr id="25" name="Text 22"/>
          <p:cNvSpPr/>
          <p:nvPr/>
        </p:nvSpPr>
        <p:spPr>
          <a:xfrm>
            <a:off x="320040" y="4078224"/>
            <a:ext cx="5303520" cy="749808"/>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A process produces output regardless of whether the downstream step is ready for it. Push creates queues, excess WIP, and hides problems. Most factories operate predominantly on push.</a:t>
            </a:r>
            <a:endParaRPr lang="en-US" sz="1000" dirty="0"/>
          </a:p>
        </p:txBody>
      </p:sp>
      <p:sp>
        <p:nvSpPr>
          <p:cNvPr id="26" name="Shape 23"/>
          <p:cNvSpPr/>
          <p:nvPr/>
        </p:nvSpPr>
        <p:spPr>
          <a:xfrm>
            <a:off x="228600" y="4974336"/>
            <a:ext cx="5577840" cy="1133856"/>
          </a:xfrm>
          <a:prstGeom prst="rect">
            <a:avLst/>
          </a:prstGeom>
          <a:solidFill>
            <a:srgbClr val="EAF4EE"/>
          </a:solidFill>
          <a:ln w="12700">
            <a:solidFill>
              <a:srgbClr val="217346"/>
            </a:solidFill>
            <a:prstDash val="solid"/>
          </a:ln>
        </p:spPr>
        <p:txBody>
          <a:bodyPr/>
          <a:lstStyle/>
          <a:p>
            <a:endParaRPr lang="en-GB"/>
          </a:p>
        </p:txBody>
      </p:sp>
      <p:sp>
        <p:nvSpPr>
          <p:cNvPr id="27" name="Shape 24"/>
          <p:cNvSpPr/>
          <p:nvPr/>
        </p:nvSpPr>
        <p:spPr>
          <a:xfrm>
            <a:off x="228600" y="4974336"/>
            <a:ext cx="5577840" cy="274320"/>
          </a:xfrm>
          <a:prstGeom prst="rect">
            <a:avLst/>
          </a:prstGeom>
          <a:solidFill>
            <a:srgbClr val="217346"/>
          </a:solidFill>
          <a:ln/>
        </p:spPr>
        <p:txBody>
          <a:bodyPr/>
          <a:lstStyle/>
          <a:p>
            <a:endParaRPr lang="en-GB"/>
          </a:p>
        </p:txBody>
      </p:sp>
      <p:sp>
        <p:nvSpPr>
          <p:cNvPr id="28" name="Text 25"/>
          <p:cNvSpPr/>
          <p:nvPr/>
        </p:nvSpPr>
        <p:spPr>
          <a:xfrm>
            <a:off x="320040" y="5001768"/>
            <a:ext cx="5394960" cy="219456"/>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PULL</a:t>
            </a:r>
            <a:endParaRPr lang="en-US" sz="1200" dirty="0"/>
          </a:p>
        </p:txBody>
      </p:sp>
      <p:sp>
        <p:nvSpPr>
          <p:cNvPr id="29" name="Text 26"/>
          <p:cNvSpPr/>
          <p:nvPr/>
        </p:nvSpPr>
        <p:spPr>
          <a:xfrm>
            <a:off x="320040" y="5303520"/>
            <a:ext cx="5303520" cy="749808"/>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A process only produces when the downstream step requests it. Pull eliminates WIP build-up and synchronises production with customer demand. This is the target of the future state.</a:t>
            </a:r>
            <a:endParaRPr lang="en-US" sz="1000" dirty="0"/>
          </a:p>
        </p:txBody>
      </p:sp>
      <p:sp>
        <p:nvSpPr>
          <p:cNvPr id="30" name="Shape 27"/>
          <p:cNvSpPr/>
          <p:nvPr/>
        </p:nvSpPr>
        <p:spPr>
          <a:xfrm>
            <a:off x="6035040" y="987552"/>
            <a:ext cx="5897880" cy="5285232"/>
          </a:xfrm>
          <a:prstGeom prst="rect">
            <a:avLst/>
          </a:prstGeom>
          <a:solidFill>
            <a:srgbClr val="F2F2F2"/>
          </a:solidFill>
          <a:ln w="6350">
            <a:solidFill>
              <a:srgbClr val="D8D8D8"/>
            </a:solidFill>
            <a:prstDash val="solid"/>
          </a:ln>
        </p:spPr>
        <p:txBody>
          <a:bodyPr/>
          <a:lstStyle/>
          <a:p>
            <a:endParaRPr lang="en-GB"/>
          </a:p>
        </p:txBody>
      </p:sp>
      <p:sp>
        <p:nvSpPr>
          <p:cNvPr id="31" name="Text 28"/>
          <p:cNvSpPr/>
          <p:nvPr/>
        </p:nvSpPr>
        <p:spPr>
          <a:xfrm>
            <a:off x="6126480" y="1024128"/>
            <a:ext cx="5715000" cy="237744"/>
          </a:xfrm>
          <a:prstGeom prst="rect">
            <a:avLst/>
          </a:prstGeom>
          <a:noFill/>
          <a:ln/>
        </p:spPr>
        <p:txBody>
          <a:bodyPr wrap="square" rtlCol="0" anchor="ctr"/>
          <a:lstStyle/>
          <a:p>
            <a:pPr marL="0" indent="0">
              <a:buNone/>
            </a:pPr>
            <a:r>
              <a:rPr lang="en-US" sz="950" i="1" dirty="0">
                <a:solidFill>
                  <a:srgbClr val="5B595A"/>
                </a:solidFill>
                <a:latin typeface="Arial" pitchFamily="34" charset="0"/>
                <a:ea typeface="Arial" pitchFamily="34" charset="-122"/>
                <a:cs typeface="Arial" pitchFamily="34" charset="-120"/>
              </a:rPr>
              <a:t>Current state (push) versus future state (pull):</a:t>
            </a:r>
            <a:endParaRPr lang="en-US" sz="950" dirty="0"/>
          </a:p>
        </p:txBody>
      </p:sp>
      <p:sp>
        <p:nvSpPr>
          <p:cNvPr id="32" name="Shape 29"/>
          <p:cNvSpPr/>
          <p:nvPr/>
        </p:nvSpPr>
        <p:spPr>
          <a:xfrm>
            <a:off x="6126480" y="1335024"/>
            <a:ext cx="5669280" cy="274320"/>
          </a:xfrm>
          <a:prstGeom prst="rect">
            <a:avLst/>
          </a:prstGeom>
          <a:solidFill>
            <a:srgbClr val="B91C1C"/>
          </a:solidFill>
          <a:ln/>
        </p:spPr>
        <p:txBody>
          <a:bodyPr/>
          <a:lstStyle/>
          <a:p>
            <a:endParaRPr lang="en-GB"/>
          </a:p>
        </p:txBody>
      </p:sp>
      <p:sp>
        <p:nvSpPr>
          <p:cNvPr id="33" name="Text 30"/>
          <p:cNvSpPr/>
          <p:nvPr/>
        </p:nvSpPr>
        <p:spPr>
          <a:xfrm>
            <a:off x="6217920" y="1353312"/>
            <a:ext cx="5486400" cy="237744"/>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CURRENT STATE: PUSH</a:t>
            </a:r>
            <a:endParaRPr lang="en-US" sz="950" dirty="0"/>
          </a:p>
        </p:txBody>
      </p:sp>
      <p:sp>
        <p:nvSpPr>
          <p:cNvPr id="34" name="Shape 31"/>
          <p:cNvSpPr/>
          <p:nvPr/>
        </p:nvSpPr>
        <p:spPr>
          <a:xfrm>
            <a:off x="6172200" y="1664208"/>
            <a:ext cx="1097280" cy="292608"/>
          </a:xfrm>
          <a:prstGeom prst="rect">
            <a:avLst/>
          </a:prstGeom>
          <a:solidFill>
            <a:srgbClr val="1E3A5F"/>
          </a:solidFill>
          <a:ln/>
        </p:spPr>
        <p:txBody>
          <a:bodyPr/>
          <a:lstStyle/>
          <a:p>
            <a:endParaRPr lang="en-GB"/>
          </a:p>
        </p:txBody>
      </p:sp>
      <p:sp>
        <p:nvSpPr>
          <p:cNvPr id="35" name="Text 32"/>
          <p:cNvSpPr/>
          <p:nvPr/>
        </p:nvSpPr>
        <p:spPr>
          <a:xfrm>
            <a:off x="6172200" y="1673352"/>
            <a:ext cx="1097280" cy="274320"/>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TURNING</a:t>
            </a:r>
            <a:endParaRPr lang="en-US" sz="800" dirty="0"/>
          </a:p>
        </p:txBody>
      </p:sp>
      <p:sp>
        <p:nvSpPr>
          <p:cNvPr id="36" name="Shape 33"/>
          <p:cNvSpPr/>
          <p:nvPr/>
        </p:nvSpPr>
        <p:spPr>
          <a:xfrm>
            <a:off x="6172200" y="1956816"/>
            <a:ext cx="1097280" cy="329184"/>
          </a:xfrm>
          <a:prstGeom prst="rect">
            <a:avLst/>
          </a:prstGeom>
          <a:solidFill>
            <a:srgbClr val="FFFFFF"/>
          </a:solidFill>
          <a:ln w="3810">
            <a:solidFill>
              <a:srgbClr val="D8D8D8"/>
            </a:solidFill>
            <a:prstDash val="solid"/>
          </a:ln>
        </p:spPr>
        <p:txBody>
          <a:bodyPr/>
          <a:lstStyle/>
          <a:p>
            <a:endParaRPr lang="en-GB"/>
          </a:p>
        </p:txBody>
      </p:sp>
      <p:sp>
        <p:nvSpPr>
          <p:cNvPr id="37" name="Shape 34"/>
          <p:cNvSpPr/>
          <p:nvPr/>
        </p:nvSpPr>
        <p:spPr>
          <a:xfrm>
            <a:off x="7287768" y="1737360"/>
            <a:ext cx="256032" cy="201168"/>
          </a:xfrm>
          <a:prstGeom prst="rect">
            <a:avLst/>
          </a:prstGeom>
          <a:solidFill>
            <a:srgbClr val="B91C1C"/>
          </a:solidFill>
          <a:ln/>
        </p:spPr>
        <p:txBody>
          <a:bodyPr/>
          <a:lstStyle/>
          <a:p>
            <a:endParaRPr lang="en-GB"/>
          </a:p>
        </p:txBody>
      </p:sp>
      <p:sp>
        <p:nvSpPr>
          <p:cNvPr id="38" name="Text 35"/>
          <p:cNvSpPr/>
          <p:nvPr/>
        </p:nvSpPr>
        <p:spPr>
          <a:xfrm>
            <a:off x="7269480" y="1956816"/>
            <a:ext cx="292608" cy="164592"/>
          </a:xfrm>
          <a:prstGeom prst="rect">
            <a:avLst/>
          </a:prstGeom>
          <a:noFill/>
          <a:ln/>
        </p:spPr>
        <p:txBody>
          <a:bodyPr wrap="square" rtlCol="0" anchor="ctr"/>
          <a:lstStyle/>
          <a:p>
            <a:pPr marL="0" indent="0" algn="ctr">
              <a:buNone/>
            </a:pPr>
            <a:r>
              <a:rPr lang="en-US" sz="750" b="1" dirty="0">
                <a:solidFill>
                  <a:srgbClr val="B91C1C"/>
                </a:solidFill>
                <a:latin typeface="Arial" pitchFamily="34" charset="0"/>
                <a:ea typeface="Arial" pitchFamily="34" charset="-122"/>
                <a:cs typeface="Arial" pitchFamily="34" charset="-120"/>
              </a:rPr>
              <a:t>45</a:t>
            </a:r>
            <a:endParaRPr lang="en-US" sz="750" dirty="0"/>
          </a:p>
        </p:txBody>
      </p:sp>
      <p:sp>
        <p:nvSpPr>
          <p:cNvPr id="39" name="Shape 36"/>
          <p:cNvSpPr/>
          <p:nvPr/>
        </p:nvSpPr>
        <p:spPr>
          <a:xfrm>
            <a:off x="7086600" y="1737360"/>
            <a:ext cx="237744" cy="182880"/>
          </a:xfrm>
          <a:prstGeom prst="rect">
            <a:avLst/>
          </a:prstGeom>
          <a:solidFill>
            <a:srgbClr val="B91C1C"/>
          </a:solidFill>
          <a:ln/>
        </p:spPr>
        <p:txBody>
          <a:bodyPr/>
          <a:lstStyle/>
          <a:p>
            <a:endParaRPr lang="en-GB"/>
          </a:p>
        </p:txBody>
      </p:sp>
      <p:sp>
        <p:nvSpPr>
          <p:cNvPr id="40" name="Text 37"/>
          <p:cNvSpPr/>
          <p:nvPr/>
        </p:nvSpPr>
        <p:spPr>
          <a:xfrm>
            <a:off x="7086600" y="1737360"/>
            <a:ext cx="237744" cy="182880"/>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PUSH</a:t>
            </a:r>
            <a:endParaRPr lang="en-US" sz="550" dirty="0"/>
          </a:p>
        </p:txBody>
      </p:sp>
      <p:sp>
        <p:nvSpPr>
          <p:cNvPr id="41" name="Shape 38"/>
          <p:cNvSpPr/>
          <p:nvPr/>
        </p:nvSpPr>
        <p:spPr>
          <a:xfrm>
            <a:off x="7562088" y="1664208"/>
            <a:ext cx="1097280" cy="292608"/>
          </a:xfrm>
          <a:prstGeom prst="rect">
            <a:avLst/>
          </a:prstGeom>
          <a:solidFill>
            <a:srgbClr val="1E3A5F"/>
          </a:solidFill>
          <a:ln/>
        </p:spPr>
        <p:txBody>
          <a:bodyPr/>
          <a:lstStyle/>
          <a:p>
            <a:endParaRPr lang="en-GB"/>
          </a:p>
        </p:txBody>
      </p:sp>
      <p:sp>
        <p:nvSpPr>
          <p:cNvPr id="42" name="Text 39"/>
          <p:cNvSpPr/>
          <p:nvPr/>
        </p:nvSpPr>
        <p:spPr>
          <a:xfrm>
            <a:off x="7562088" y="1673352"/>
            <a:ext cx="1097280" cy="274320"/>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MILLING</a:t>
            </a:r>
            <a:endParaRPr lang="en-US" sz="800" dirty="0"/>
          </a:p>
        </p:txBody>
      </p:sp>
      <p:sp>
        <p:nvSpPr>
          <p:cNvPr id="43" name="Shape 40"/>
          <p:cNvSpPr/>
          <p:nvPr/>
        </p:nvSpPr>
        <p:spPr>
          <a:xfrm>
            <a:off x="7562088" y="1956816"/>
            <a:ext cx="1097280" cy="329184"/>
          </a:xfrm>
          <a:prstGeom prst="rect">
            <a:avLst/>
          </a:prstGeom>
          <a:solidFill>
            <a:srgbClr val="FFFFFF"/>
          </a:solidFill>
          <a:ln w="3810">
            <a:solidFill>
              <a:srgbClr val="D8D8D8"/>
            </a:solidFill>
            <a:prstDash val="solid"/>
          </a:ln>
        </p:spPr>
        <p:txBody>
          <a:bodyPr/>
          <a:lstStyle/>
          <a:p>
            <a:endParaRPr lang="en-GB"/>
          </a:p>
        </p:txBody>
      </p:sp>
      <p:sp>
        <p:nvSpPr>
          <p:cNvPr id="44" name="Shape 41"/>
          <p:cNvSpPr/>
          <p:nvPr/>
        </p:nvSpPr>
        <p:spPr>
          <a:xfrm>
            <a:off x="8677656" y="1737360"/>
            <a:ext cx="256032" cy="201168"/>
          </a:xfrm>
          <a:prstGeom prst="rect">
            <a:avLst/>
          </a:prstGeom>
          <a:solidFill>
            <a:srgbClr val="B91C1C"/>
          </a:solidFill>
          <a:ln/>
        </p:spPr>
        <p:txBody>
          <a:bodyPr/>
          <a:lstStyle/>
          <a:p>
            <a:endParaRPr lang="en-GB"/>
          </a:p>
        </p:txBody>
      </p:sp>
      <p:sp>
        <p:nvSpPr>
          <p:cNvPr id="45" name="Text 42"/>
          <p:cNvSpPr/>
          <p:nvPr/>
        </p:nvSpPr>
        <p:spPr>
          <a:xfrm>
            <a:off x="8659368" y="1956816"/>
            <a:ext cx="292608" cy="164592"/>
          </a:xfrm>
          <a:prstGeom prst="rect">
            <a:avLst/>
          </a:prstGeom>
          <a:noFill/>
          <a:ln/>
        </p:spPr>
        <p:txBody>
          <a:bodyPr wrap="square" rtlCol="0" anchor="ctr"/>
          <a:lstStyle/>
          <a:p>
            <a:pPr marL="0" indent="0" algn="ctr">
              <a:buNone/>
            </a:pPr>
            <a:r>
              <a:rPr lang="en-US" sz="750" b="1" dirty="0">
                <a:solidFill>
                  <a:srgbClr val="B91C1C"/>
                </a:solidFill>
                <a:latin typeface="Arial" pitchFamily="34" charset="0"/>
                <a:ea typeface="Arial" pitchFamily="34" charset="-122"/>
                <a:cs typeface="Arial" pitchFamily="34" charset="-120"/>
              </a:rPr>
              <a:t>38</a:t>
            </a:r>
            <a:endParaRPr lang="en-US" sz="750" dirty="0"/>
          </a:p>
        </p:txBody>
      </p:sp>
      <p:sp>
        <p:nvSpPr>
          <p:cNvPr id="46" name="Shape 43"/>
          <p:cNvSpPr/>
          <p:nvPr/>
        </p:nvSpPr>
        <p:spPr>
          <a:xfrm>
            <a:off x="8476488" y="1737360"/>
            <a:ext cx="237744" cy="182880"/>
          </a:xfrm>
          <a:prstGeom prst="rect">
            <a:avLst/>
          </a:prstGeom>
          <a:solidFill>
            <a:srgbClr val="B91C1C"/>
          </a:solidFill>
          <a:ln/>
        </p:spPr>
        <p:txBody>
          <a:bodyPr/>
          <a:lstStyle/>
          <a:p>
            <a:endParaRPr lang="en-GB"/>
          </a:p>
        </p:txBody>
      </p:sp>
      <p:sp>
        <p:nvSpPr>
          <p:cNvPr id="47" name="Text 44"/>
          <p:cNvSpPr/>
          <p:nvPr/>
        </p:nvSpPr>
        <p:spPr>
          <a:xfrm>
            <a:off x="8476488" y="1737360"/>
            <a:ext cx="237744" cy="182880"/>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PUSH</a:t>
            </a:r>
            <a:endParaRPr lang="en-US" sz="550" dirty="0"/>
          </a:p>
        </p:txBody>
      </p:sp>
      <p:sp>
        <p:nvSpPr>
          <p:cNvPr id="48" name="Shape 45"/>
          <p:cNvSpPr/>
          <p:nvPr/>
        </p:nvSpPr>
        <p:spPr>
          <a:xfrm>
            <a:off x="8951976" y="1664208"/>
            <a:ext cx="1097280" cy="292608"/>
          </a:xfrm>
          <a:prstGeom prst="rect">
            <a:avLst/>
          </a:prstGeom>
          <a:solidFill>
            <a:srgbClr val="1E3A5F"/>
          </a:solidFill>
          <a:ln/>
        </p:spPr>
        <p:txBody>
          <a:bodyPr/>
          <a:lstStyle/>
          <a:p>
            <a:endParaRPr lang="en-GB"/>
          </a:p>
        </p:txBody>
      </p:sp>
      <p:sp>
        <p:nvSpPr>
          <p:cNvPr id="49" name="Text 46"/>
          <p:cNvSpPr/>
          <p:nvPr/>
        </p:nvSpPr>
        <p:spPr>
          <a:xfrm>
            <a:off x="8951976" y="1673352"/>
            <a:ext cx="1097280" cy="274320"/>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DEBURR</a:t>
            </a:r>
            <a:endParaRPr lang="en-US" sz="800" dirty="0"/>
          </a:p>
        </p:txBody>
      </p:sp>
      <p:sp>
        <p:nvSpPr>
          <p:cNvPr id="50" name="Shape 47"/>
          <p:cNvSpPr/>
          <p:nvPr/>
        </p:nvSpPr>
        <p:spPr>
          <a:xfrm>
            <a:off x="8951976" y="1956816"/>
            <a:ext cx="1097280" cy="329184"/>
          </a:xfrm>
          <a:prstGeom prst="rect">
            <a:avLst/>
          </a:prstGeom>
          <a:solidFill>
            <a:srgbClr val="FFFFFF"/>
          </a:solidFill>
          <a:ln w="3810">
            <a:solidFill>
              <a:srgbClr val="D8D8D8"/>
            </a:solidFill>
            <a:prstDash val="solid"/>
          </a:ln>
        </p:spPr>
        <p:txBody>
          <a:bodyPr/>
          <a:lstStyle/>
          <a:p>
            <a:endParaRPr lang="en-GB"/>
          </a:p>
        </p:txBody>
      </p:sp>
      <p:sp>
        <p:nvSpPr>
          <p:cNvPr id="51" name="Shape 48"/>
          <p:cNvSpPr/>
          <p:nvPr/>
        </p:nvSpPr>
        <p:spPr>
          <a:xfrm>
            <a:off x="10067544" y="1737360"/>
            <a:ext cx="256032" cy="201168"/>
          </a:xfrm>
          <a:prstGeom prst="rect">
            <a:avLst/>
          </a:prstGeom>
          <a:solidFill>
            <a:srgbClr val="D97706"/>
          </a:solidFill>
          <a:ln/>
        </p:spPr>
        <p:txBody>
          <a:bodyPr/>
          <a:lstStyle/>
          <a:p>
            <a:endParaRPr lang="en-GB"/>
          </a:p>
        </p:txBody>
      </p:sp>
      <p:sp>
        <p:nvSpPr>
          <p:cNvPr id="52" name="Text 49"/>
          <p:cNvSpPr/>
          <p:nvPr/>
        </p:nvSpPr>
        <p:spPr>
          <a:xfrm>
            <a:off x="10049256" y="1956816"/>
            <a:ext cx="292608" cy="164592"/>
          </a:xfrm>
          <a:prstGeom prst="rect">
            <a:avLst/>
          </a:prstGeom>
          <a:noFill/>
          <a:ln/>
        </p:spPr>
        <p:txBody>
          <a:bodyPr wrap="square" rtlCol="0" anchor="ctr"/>
          <a:lstStyle/>
          <a:p>
            <a:pPr marL="0" indent="0" algn="ctr">
              <a:buNone/>
            </a:pPr>
            <a:r>
              <a:rPr lang="en-US" sz="750" b="1" dirty="0">
                <a:solidFill>
                  <a:srgbClr val="D97706"/>
                </a:solidFill>
                <a:latin typeface="Arial" pitchFamily="34" charset="0"/>
                <a:ea typeface="Arial" pitchFamily="34" charset="-122"/>
                <a:cs typeface="Arial" pitchFamily="34" charset="-120"/>
              </a:rPr>
              <a:t>22</a:t>
            </a:r>
            <a:endParaRPr lang="en-US" sz="750" dirty="0"/>
          </a:p>
        </p:txBody>
      </p:sp>
      <p:sp>
        <p:nvSpPr>
          <p:cNvPr id="53" name="Shape 50"/>
          <p:cNvSpPr/>
          <p:nvPr/>
        </p:nvSpPr>
        <p:spPr>
          <a:xfrm>
            <a:off x="9866376" y="1737360"/>
            <a:ext cx="237744" cy="182880"/>
          </a:xfrm>
          <a:prstGeom prst="rect">
            <a:avLst/>
          </a:prstGeom>
          <a:solidFill>
            <a:srgbClr val="B91C1C"/>
          </a:solidFill>
          <a:ln/>
        </p:spPr>
        <p:txBody>
          <a:bodyPr/>
          <a:lstStyle/>
          <a:p>
            <a:endParaRPr lang="en-GB"/>
          </a:p>
        </p:txBody>
      </p:sp>
      <p:sp>
        <p:nvSpPr>
          <p:cNvPr id="54" name="Text 51"/>
          <p:cNvSpPr/>
          <p:nvPr/>
        </p:nvSpPr>
        <p:spPr>
          <a:xfrm>
            <a:off x="9866376" y="1737360"/>
            <a:ext cx="237744" cy="182880"/>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PUSH</a:t>
            </a:r>
            <a:endParaRPr lang="en-US" sz="550" dirty="0"/>
          </a:p>
        </p:txBody>
      </p:sp>
      <p:sp>
        <p:nvSpPr>
          <p:cNvPr id="55" name="Shape 52"/>
          <p:cNvSpPr/>
          <p:nvPr/>
        </p:nvSpPr>
        <p:spPr>
          <a:xfrm>
            <a:off x="10341864" y="1664208"/>
            <a:ext cx="1097280" cy="292608"/>
          </a:xfrm>
          <a:prstGeom prst="rect">
            <a:avLst/>
          </a:prstGeom>
          <a:solidFill>
            <a:srgbClr val="1E3A5F"/>
          </a:solidFill>
          <a:ln/>
        </p:spPr>
        <p:txBody>
          <a:bodyPr/>
          <a:lstStyle/>
          <a:p>
            <a:endParaRPr lang="en-GB"/>
          </a:p>
        </p:txBody>
      </p:sp>
      <p:sp>
        <p:nvSpPr>
          <p:cNvPr id="56" name="Text 53"/>
          <p:cNvSpPr/>
          <p:nvPr/>
        </p:nvSpPr>
        <p:spPr>
          <a:xfrm>
            <a:off x="10341864" y="1673352"/>
            <a:ext cx="1097280" cy="274320"/>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INSPECT</a:t>
            </a:r>
            <a:endParaRPr lang="en-US" sz="800" dirty="0"/>
          </a:p>
        </p:txBody>
      </p:sp>
      <p:sp>
        <p:nvSpPr>
          <p:cNvPr id="57" name="Shape 54"/>
          <p:cNvSpPr/>
          <p:nvPr/>
        </p:nvSpPr>
        <p:spPr>
          <a:xfrm>
            <a:off x="10341864" y="1956816"/>
            <a:ext cx="1097280" cy="329184"/>
          </a:xfrm>
          <a:prstGeom prst="rect">
            <a:avLst/>
          </a:prstGeom>
          <a:solidFill>
            <a:srgbClr val="FFFFFF"/>
          </a:solidFill>
          <a:ln w="3810">
            <a:solidFill>
              <a:srgbClr val="D8D8D8"/>
            </a:solidFill>
            <a:prstDash val="solid"/>
          </a:ln>
        </p:spPr>
        <p:txBody>
          <a:bodyPr/>
          <a:lstStyle/>
          <a:p>
            <a:endParaRPr lang="en-GB"/>
          </a:p>
        </p:txBody>
      </p:sp>
      <p:sp>
        <p:nvSpPr>
          <p:cNvPr id="58" name="Text 55"/>
          <p:cNvSpPr/>
          <p:nvPr/>
        </p:nvSpPr>
        <p:spPr>
          <a:xfrm>
            <a:off x="6172200" y="2340864"/>
            <a:ext cx="5577840" cy="219456"/>
          </a:xfrm>
          <a:prstGeom prst="rect">
            <a:avLst/>
          </a:prstGeom>
          <a:noFill/>
          <a:ln/>
        </p:spPr>
        <p:txBody>
          <a:bodyPr wrap="square" rtlCol="0" anchor="ctr"/>
          <a:lstStyle/>
          <a:p>
            <a:pPr marL="0" indent="0">
              <a:buNone/>
            </a:pPr>
            <a:r>
              <a:rPr lang="en-US" sz="850" b="1" dirty="0">
                <a:solidFill>
                  <a:srgbClr val="B91C1C"/>
                </a:solidFill>
                <a:latin typeface="Arial" pitchFamily="34" charset="0"/>
                <a:ea typeface="Arial" pitchFamily="34" charset="-122"/>
                <a:cs typeface="Arial" pitchFamily="34" charset="-120"/>
              </a:rPr>
              <a:t>Total WIP: 105 units queued  |  Lead time driven by inventory, not process speed</a:t>
            </a:r>
            <a:endParaRPr lang="en-US" sz="850" dirty="0"/>
          </a:p>
        </p:txBody>
      </p:sp>
      <p:sp>
        <p:nvSpPr>
          <p:cNvPr id="59" name="Shape 56"/>
          <p:cNvSpPr/>
          <p:nvPr/>
        </p:nvSpPr>
        <p:spPr>
          <a:xfrm>
            <a:off x="6126480" y="2615184"/>
            <a:ext cx="5669280" cy="36576"/>
          </a:xfrm>
          <a:prstGeom prst="rect">
            <a:avLst/>
          </a:prstGeom>
          <a:solidFill>
            <a:srgbClr val="5B595A"/>
          </a:solidFill>
          <a:ln/>
        </p:spPr>
        <p:txBody>
          <a:bodyPr/>
          <a:lstStyle/>
          <a:p>
            <a:endParaRPr lang="en-GB"/>
          </a:p>
        </p:txBody>
      </p:sp>
      <p:sp>
        <p:nvSpPr>
          <p:cNvPr id="60" name="Shape 57"/>
          <p:cNvSpPr/>
          <p:nvPr/>
        </p:nvSpPr>
        <p:spPr>
          <a:xfrm>
            <a:off x="6126480" y="2706624"/>
            <a:ext cx="5669280" cy="274320"/>
          </a:xfrm>
          <a:prstGeom prst="rect">
            <a:avLst/>
          </a:prstGeom>
          <a:solidFill>
            <a:srgbClr val="217346"/>
          </a:solidFill>
          <a:ln/>
        </p:spPr>
        <p:txBody>
          <a:bodyPr/>
          <a:lstStyle/>
          <a:p>
            <a:endParaRPr lang="en-GB"/>
          </a:p>
        </p:txBody>
      </p:sp>
      <p:sp>
        <p:nvSpPr>
          <p:cNvPr id="61" name="Text 58"/>
          <p:cNvSpPr/>
          <p:nvPr/>
        </p:nvSpPr>
        <p:spPr>
          <a:xfrm>
            <a:off x="6217920" y="2724912"/>
            <a:ext cx="5486400" cy="237744"/>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FUTURE STATE: PULL</a:t>
            </a:r>
            <a:endParaRPr lang="en-US" sz="950" dirty="0"/>
          </a:p>
        </p:txBody>
      </p:sp>
      <p:sp>
        <p:nvSpPr>
          <p:cNvPr id="62" name="Shape 59"/>
          <p:cNvSpPr/>
          <p:nvPr/>
        </p:nvSpPr>
        <p:spPr>
          <a:xfrm>
            <a:off x="6172200" y="3035808"/>
            <a:ext cx="1097280" cy="292608"/>
          </a:xfrm>
          <a:prstGeom prst="rect">
            <a:avLst/>
          </a:prstGeom>
          <a:solidFill>
            <a:srgbClr val="217346"/>
          </a:solidFill>
          <a:ln/>
        </p:spPr>
        <p:txBody>
          <a:bodyPr/>
          <a:lstStyle/>
          <a:p>
            <a:endParaRPr lang="en-GB"/>
          </a:p>
        </p:txBody>
      </p:sp>
      <p:sp>
        <p:nvSpPr>
          <p:cNvPr id="63" name="Text 60"/>
          <p:cNvSpPr/>
          <p:nvPr/>
        </p:nvSpPr>
        <p:spPr>
          <a:xfrm>
            <a:off x="6172200" y="3044952"/>
            <a:ext cx="1097280" cy="274320"/>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TURNING</a:t>
            </a:r>
            <a:endParaRPr lang="en-US" sz="800" dirty="0"/>
          </a:p>
        </p:txBody>
      </p:sp>
      <p:sp>
        <p:nvSpPr>
          <p:cNvPr id="64" name="Shape 61"/>
          <p:cNvSpPr/>
          <p:nvPr/>
        </p:nvSpPr>
        <p:spPr>
          <a:xfrm>
            <a:off x="6172200" y="3328416"/>
            <a:ext cx="1097280" cy="329184"/>
          </a:xfrm>
          <a:prstGeom prst="rect">
            <a:avLst/>
          </a:prstGeom>
          <a:solidFill>
            <a:srgbClr val="EAF4EE"/>
          </a:solidFill>
          <a:ln w="3810">
            <a:solidFill>
              <a:srgbClr val="D8D8D8"/>
            </a:solidFill>
            <a:prstDash val="solid"/>
          </a:ln>
        </p:spPr>
        <p:txBody>
          <a:bodyPr/>
          <a:lstStyle/>
          <a:p>
            <a:endParaRPr lang="en-GB"/>
          </a:p>
        </p:txBody>
      </p:sp>
      <p:sp>
        <p:nvSpPr>
          <p:cNvPr id="65" name="Shape 62"/>
          <p:cNvSpPr/>
          <p:nvPr/>
        </p:nvSpPr>
        <p:spPr>
          <a:xfrm>
            <a:off x="7287768" y="3090672"/>
            <a:ext cx="256032" cy="182880"/>
          </a:xfrm>
          <a:prstGeom prst="rect">
            <a:avLst/>
          </a:prstGeom>
          <a:solidFill>
            <a:srgbClr val="217346"/>
          </a:solidFill>
          <a:ln/>
        </p:spPr>
        <p:txBody>
          <a:bodyPr/>
          <a:lstStyle/>
          <a:p>
            <a:endParaRPr lang="en-GB"/>
          </a:p>
        </p:txBody>
      </p:sp>
      <p:sp>
        <p:nvSpPr>
          <p:cNvPr id="66" name="Text 63"/>
          <p:cNvSpPr/>
          <p:nvPr/>
        </p:nvSpPr>
        <p:spPr>
          <a:xfrm>
            <a:off x="7269480" y="3310128"/>
            <a:ext cx="292608" cy="146304"/>
          </a:xfrm>
          <a:prstGeom prst="rect">
            <a:avLst/>
          </a:prstGeom>
          <a:noFill/>
          <a:ln/>
        </p:spPr>
        <p:txBody>
          <a:bodyPr wrap="square" rtlCol="0" anchor="ctr"/>
          <a:lstStyle/>
          <a:p>
            <a:pPr marL="0" indent="0" algn="ctr">
              <a:buNone/>
            </a:pPr>
            <a:r>
              <a:rPr lang="en-US" sz="750" b="1" dirty="0">
                <a:solidFill>
                  <a:srgbClr val="217346"/>
                </a:solidFill>
                <a:latin typeface="Arial" pitchFamily="34" charset="0"/>
                <a:ea typeface="Arial" pitchFamily="34" charset="-122"/>
                <a:cs typeface="Arial" pitchFamily="34" charset="-120"/>
              </a:rPr>
              <a:t>5</a:t>
            </a:r>
            <a:endParaRPr lang="en-US" sz="750" dirty="0"/>
          </a:p>
        </p:txBody>
      </p:sp>
      <p:sp>
        <p:nvSpPr>
          <p:cNvPr id="67" name="Shape 64"/>
          <p:cNvSpPr/>
          <p:nvPr/>
        </p:nvSpPr>
        <p:spPr>
          <a:xfrm>
            <a:off x="7086600" y="3090672"/>
            <a:ext cx="237744" cy="182880"/>
          </a:xfrm>
          <a:prstGeom prst="rect">
            <a:avLst/>
          </a:prstGeom>
          <a:solidFill>
            <a:srgbClr val="217346"/>
          </a:solidFill>
          <a:ln/>
        </p:spPr>
        <p:txBody>
          <a:bodyPr/>
          <a:lstStyle/>
          <a:p>
            <a:endParaRPr lang="en-GB"/>
          </a:p>
        </p:txBody>
      </p:sp>
      <p:sp>
        <p:nvSpPr>
          <p:cNvPr id="68" name="Text 65"/>
          <p:cNvSpPr/>
          <p:nvPr/>
        </p:nvSpPr>
        <p:spPr>
          <a:xfrm>
            <a:off x="7086600" y="3090672"/>
            <a:ext cx="237744" cy="182880"/>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PULL</a:t>
            </a:r>
            <a:endParaRPr lang="en-US" sz="550" dirty="0"/>
          </a:p>
        </p:txBody>
      </p:sp>
      <p:sp>
        <p:nvSpPr>
          <p:cNvPr id="69" name="Shape 66"/>
          <p:cNvSpPr/>
          <p:nvPr/>
        </p:nvSpPr>
        <p:spPr>
          <a:xfrm>
            <a:off x="7562088" y="3035808"/>
            <a:ext cx="1097280" cy="292608"/>
          </a:xfrm>
          <a:prstGeom prst="rect">
            <a:avLst/>
          </a:prstGeom>
          <a:solidFill>
            <a:srgbClr val="217346"/>
          </a:solidFill>
          <a:ln/>
        </p:spPr>
        <p:txBody>
          <a:bodyPr/>
          <a:lstStyle/>
          <a:p>
            <a:endParaRPr lang="en-GB"/>
          </a:p>
        </p:txBody>
      </p:sp>
      <p:sp>
        <p:nvSpPr>
          <p:cNvPr id="70" name="Text 67"/>
          <p:cNvSpPr/>
          <p:nvPr/>
        </p:nvSpPr>
        <p:spPr>
          <a:xfrm>
            <a:off x="7562088" y="3044952"/>
            <a:ext cx="1097280" cy="274320"/>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MILLING</a:t>
            </a:r>
            <a:endParaRPr lang="en-US" sz="800" dirty="0"/>
          </a:p>
        </p:txBody>
      </p:sp>
      <p:sp>
        <p:nvSpPr>
          <p:cNvPr id="71" name="Shape 68"/>
          <p:cNvSpPr/>
          <p:nvPr/>
        </p:nvSpPr>
        <p:spPr>
          <a:xfrm>
            <a:off x="7562088" y="3328416"/>
            <a:ext cx="1097280" cy="329184"/>
          </a:xfrm>
          <a:prstGeom prst="rect">
            <a:avLst/>
          </a:prstGeom>
          <a:solidFill>
            <a:srgbClr val="EAF4EE"/>
          </a:solidFill>
          <a:ln w="3810">
            <a:solidFill>
              <a:srgbClr val="D8D8D8"/>
            </a:solidFill>
            <a:prstDash val="solid"/>
          </a:ln>
        </p:spPr>
        <p:txBody>
          <a:bodyPr/>
          <a:lstStyle/>
          <a:p>
            <a:endParaRPr lang="en-GB"/>
          </a:p>
        </p:txBody>
      </p:sp>
      <p:sp>
        <p:nvSpPr>
          <p:cNvPr id="72" name="Shape 69"/>
          <p:cNvSpPr/>
          <p:nvPr/>
        </p:nvSpPr>
        <p:spPr>
          <a:xfrm>
            <a:off x="8677656" y="3090672"/>
            <a:ext cx="256032" cy="182880"/>
          </a:xfrm>
          <a:prstGeom prst="rect">
            <a:avLst/>
          </a:prstGeom>
          <a:solidFill>
            <a:srgbClr val="217346"/>
          </a:solidFill>
          <a:ln/>
        </p:spPr>
        <p:txBody>
          <a:bodyPr/>
          <a:lstStyle/>
          <a:p>
            <a:endParaRPr lang="en-GB"/>
          </a:p>
        </p:txBody>
      </p:sp>
      <p:sp>
        <p:nvSpPr>
          <p:cNvPr id="73" name="Text 70"/>
          <p:cNvSpPr/>
          <p:nvPr/>
        </p:nvSpPr>
        <p:spPr>
          <a:xfrm>
            <a:off x="8659368" y="3310128"/>
            <a:ext cx="292608" cy="146304"/>
          </a:xfrm>
          <a:prstGeom prst="rect">
            <a:avLst/>
          </a:prstGeom>
          <a:noFill/>
          <a:ln/>
        </p:spPr>
        <p:txBody>
          <a:bodyPr wrap="square" rtlCol="0" anchor="ctr"/>
          <a:lstStyle/>
          <a:p>
            <a:pPr marL="0" indent="0" algn="ctr">
              <a:buNone/>
            </a:pPr>
            <a:r>
              <a:rPr lang="en-US" sz="750" b="1" dirty="0">
                <a:solidFill>
                  <a:srgbClr val="217346"/>
                </a:solidFill>
                <a:latin typeface="Arial" pitchFamily="34" charset="0"/>
                <a:ea typeface="Arial" pitchFamily="34" charset="-122"/>
                <a:cs typeface="Arial" pitchFamily="34" charset="-120"/>
              </a:rPr>
              <a:t>4</a:t>
            </a:r>
            <a:endParaRPr lang="en-US" sz="750" dirty="0"/>
          </a:p>
        </p:txBody>
      </p:sp>
      <p:sp>
        <p:nvSpPr>
          <p:cNvPr id="74" name="Shape 71"/>
          <p:cNvSpPr/>
          <p:nvPr/>
        </p:nvSpPr>
        <p:spPr>
          <a:xfrm>
            <a:off x="8476488" y="3090672"/>
            <a:ext cx="237744" cy="182880"/>
          </a:xfrm>
          <a:prstGeom prst="rect">
            <a:avLst/>
          </a:prstGeom>
          <a:solidFill>
            <a:srgbClr val="217346"/>
          </a:solidFill>
          <a:ln/>
        </p:spPr>
        <p:txBody>
          <a:bodyPr/>
          <a:lstStyle/>
          <a:p>
            <a:endParaRPr lang="en-GB"/>
          </a:p>
        </p:txBody>
      </p:sp>
      <p:sp>
        <p:nvSpPr>
          <p:cNvPr id="75" name="Text 72"/>
          <p:cNvSpPr/>
          <p:nvPr/>
        </p:nvSpPr>
        <p:spPr>
          <a:xfrm>
            <a:off x="8476488" y="3090672"/>
            <a:ext cx="237744" cy="182880"/>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PULL</a:t>
            </a:r>
            <a:endParaRPr lang="en-US" sz="550" dirty="0"/>
          </a:p>
        </p:txBody>
      </p:sp>
      <p:sp>
        <p:nvSpPr>
          <p:cNvPr id="76" name="Shape 73"/>
          <p:cNvSpPr/>
          <p:nvPr/>
        </p:nvSpPr>
        <p:spPr>
          <a:xfrm>
            <a:off x="8951976" y="3035808"/>
            <a:ext cx="1097280" cy="292608"/>
          </a:xfrm>
          <a:prstGeom prst="rect">
            <a:avLst/>
          </a:prstGeom>
          <a:solidFill>
            <a:srgbClr val="217346"/>
          </a:solidFill>
          <a:ln/>
        </p:spPr>
        <p:txBody>
          <a:bodyPr/>
          <a:lstStyle/>
          <a:p>
            <a:endParaRPr lang="en-GB"/>
          </a:p>
        </p:txBody>
      </p:sp>
      <p:sp>
        <p:nvSpPr>
          <p:cNvPr id="77" name="Text 74"/>
          <p:cNvSpPr/>
          <p:nvPr/>
        </p:nvSpPr>
        <p:spPr>
          <a:xfrm>
            <a:off x="8951976" y="3044952"/>
            <a:ext cx="1097280" cy="274320"/>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DEBURR</a:t>
            </a:r>
            <a:endParaRPr lang="en-US" sz="800" dirty="0"/>
          </a:p>
        </p:txBody>
      </p:sp>
      <p:sp>
        <p:nvSpPr>
          <p:cNvPr id="78" name="Shape 75"/>
          <p:cNvSpPr/>
          <p:nvPr/>
        </p:nvSpPr>
        <p:spPr>
          <a:xfrm>
            <a:off x="8951976" y="3328416"/>
            <a:ext cx="1097280" cy="329184"/>
          </a:xfrm>
          <a:prstGeom prst="rect">
            <a:avLst/>
          </a:prstGeom>
          <a:solidFill>
            <a:srgbClr val="EAF4EE"/>
          </a:solidFill>
          <a:ln w="3810">
            <a:solidFill>
              <a:srgbClr val="D8D8D8"/>
            </a:solidFill>
            <a:prstDash val="solid"/>
          </a:ln>
        </p:spPr>
        <p:txBody>
          <a:bodyPr/>
          <a:lstStyle/>
          <a:p>
            <a:endParaRPr lang="en-GB"/>
          </a:p>
        </p:txBody>
      </p:sp>
      <p:sp>
        <p:nvSpPr>
          <p:cNvPr id="79" name="Shape 76"/>
          <p:cNvSpPr/>
          <p:nvPr/>
        </p:nvSpPr>
        <p:spPr>
          <a:xfrm>
            <a:off x="10067544" y="3090672"/>
            <a:ext cx="256032" cy="182880"/>
          </a:xfrm>
          <a:prstGeom prst="rect">
            <a:avLst/>
          </a:prstGeom>
          <a:solidFill>
            <a:srgbClr val="217346"/>
          </a:solidFill>
          <a:ln/>
        </p:spPr>
        <p:txBody>
          <a:bodyPr/>
          <a:lstStyle/>
          <a:p>
            <a:endParaRPr lang="en-GB"/>
          </a:p>
        </p:txBody>
      </p:sp>
      <p:sp>
        <p:nvSpPr>
          <p:cNvPr id="80" name="Text 77"/>
          <p:cNvSpPr/>
          <p:nvPr/>
        </p:nvSpPr>
        <p:spPr>
          <a:xfrm>
            <a:off x="10049256" y="3310128"/>
            <a:ext cx="292608" cy="146304"/>
          </a:xfrm>
          <a:prstGeom prst="rect">
            <a:avLst/>
          </a:prstGeom>
          <a:noFill/>
          <a:ln/>
        </p:spPr>
        <p:txBody>
          <a:bodyPr wrap="square" rtlCol="0" anchor="ctr"/>
          <a:lstStyle/>
          <a:p>
            <a:pPr marL="0" indent="0" algn="ctr">
              <a:buNone/>
            </a:pPr>
            <a:r>
              <a:rPr lang="en-US" sz="750" b="1" dirty="0">
                <a:solidFill>
                  <a:srgbClr val="217346"/>
                </a:solidFill>
                <a:latin typeface="Arial" pitchFamily="34" charset="0"/>
                <a:ea typeface="Arial" pitchFamily="34" charset="-122"/>
                <a:cs typeface="Arial" pitchFamily="34" charset="-120"/>
              </a:rPr>
              <a:t>3</a:t>
            </a:r>
            <a:endParaRPr lang="en-US" sz="750" dirty="0"/>
          </a:p>
        </p:txBody>
      </p:sp>
      <p:sp>
        <p:nvSpPr>
          <p:cNvPr id="81" name="Shape 78"/>
          <p:cNvSpPr/>
          <p:nvPr/>
        </p:nvSpPr>
        <p:spPr>
          <a:xfrm>
            <a:off x="9866376" y="3090672"/>
            <a:ext cx="237744" cy="182880"/>
          </a:xfrm>
          <a:prstGeom prst="rect">
            <a:avLst/>
          </a:prstGeom>
          <a:solidFill>
            <a:srgbClr val="217346"/>
          </a:solidFill>
          <a:ln/>
        </p:spPr>
        <p:txBody>
          <a:bodyPr/>
          <a:lstStyle/>
          <a:p>
            <a:endParaRPr lang="en-GB"/>
          </a:p>
        </p:txBody>
      </p:sp>
      <p:sp>
        <p:nvSpPr>
          <p:cNvPr id="82" name="Text 79"/>
          <p:cNvSpPr/>
          <p:nvPr/>
        </p:nvSpPr>
        <p:spPr>
          <a:xfrm>
            <a:off x="9866376" y="3090672"/>
            <a:ext cx="237744" cy="182880"/>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PULL</a:t>
            </a:r>
            <a:endParaRPr lang="en-US" sz="550" dirty="0"/>
          </a:p>
        </p:txBody>
      </p:sp>
      <p:sp>
        <p:nvSpPr>
          <p:cNvPr id="83" name="Shape 80"/>
          <p:cNvSpPr/>
          <p:nvPr/>
        </p:nvSpPr>
        <p:spPr>
          <a:xfrm>
            <a:off x="10341864" y="3035808"/>
            <a:ext cx="1097280" cy="292608"/>
          </a:xfrm>
          <a:prstGeom prst="rect">
            <a:avLst/>
          </a:prstGeom>
          <a:solidFill>
            <a:srgbClr val="217346"/>
          </a:solidFill>
          <a:ln/>
        </p:spPr>
        <p:txBody>
          <a:bodyPr/>
          <a:lstStyle/>
          <a:p>
            <a:endParaRPr lang="en-GB"/>
          </a:p>
        </p:txBody>
      </p:sp>
      <p:sp>
        <p:nvSpPr>
          <p:cNvPr id="84" name="Text 81"/>
          <p:cNvSpPr/>
          <p:nvPr/>
        </p:nvSpPr>
        <p:spPr>
          <a:xfrm>
            <a:off x="10341864" y="3044952"/>
            <a:ext cx="1097280" cy="274320"/>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INSPECT</a:t>
            </a:r>
            <a:endParaRPr lang="en-US" sz="800" dirty="0"/>
          </a:p>
        </p:txBody>
      </p:sp>
      <p:sp>
        <p:nvSpPr>
          <p:cNvPr id="85" name="Shape 82"/>
          <p:cNvSpPr/>
          <p:nvPr/>
        </p:nvSpPr>
        <p:spPr>
          <a:xfrm>
            <a:off x="10341864" y="3328416"/>
            <a:ext cx="1097280" cy="329184"/>
          </a:xfrm>
          <a:prstGeom prst="rect">
            <a:avLst/>
          </a:prstGeom>
          <a:solidFill>
            <a:srgbClr val="EAF4EE"/>
          </a:solidFill>
          <a:ln w="3810">
            <a:solidFill>
              <a:srgbClr val="D8D8D8"/>
            </a:solidFill>
            <a:prstDash val="solid"/>
          </a:ln>
        </p:spPr>
        <p:txBody>
          <a:bodyPr/>
          <a:lstStyle/>
          <a:p>
            <a:endParaRPr lang="en-GB"/>
          </a:p>
        </p:txBody>
      </p:sp>
      <p:sp>
        <p:nvSpPr>
          <p:cNvPr id="86" name="Text 83"/>
          <p:cNvSpPr/>
          <p:nvPr/>
        </p:nvSpPr>
        <p:spPr>
          <a:xfrm>
            <a:off x="6172200" y="3712464"/>
            <a:ext cx="5577840" cy="219456"/>
          </a:xfrm>
          <a:prstGeom prst="rect">
            <a:avLst/>
          </a:prstGeom>
          <a:noFill/>
          <a:ln/>
        </p:spPr>
        <p:txBody>
          <a:bodyPr wrap="square" rtlCol="0" anchor="ctr"/>
          <a:lstStyle/>
          <a:p>
            <a:pPr marL="0" indent="0">
              <a:buNone/>
            </a:pPr>
            <a:r>
              <a:rPr lang="en-US" sz="850" b="1" dirty="0">
                <a:solidFill>
                  <a:srgbClr val="217346"/>
                </a:solidFill>
                <a:latin typeface="Arial" pitchFamily="34" charset="0"/>
                <a:ea typeface="Arial" pitchFamily="34" charset="-122"/>
                <a:cs typeface="Arial" pitchFamily="34" charset="-120"/>
              </a:rPr>
              <a:t>Total WIP: ~17 units  |  Lead time falls in proportion to WIP reduction</a:t>
            </a:r>
            <a:endParaRPr lang="en-US" sz="850" dirty="0"/>
          </a:p>
        </p:txBody>
      </p:sp>
      <p:sp>
        <p:nvSpPr>
          <p:cNvPr id="87" name="Shape 84"/>
          <p:cNvSpPr/>
          <p:nvPr/>
        </p:nvSpPr>
        <p:spPr>
          <a:xfrm>
            <a:off x="6126480" y="3986784"/>
            <a:ext cx="5669280" cy="2194560"/>
          </a:xfrm>
          <a:prstGeom prst="rect">
            <a:avLst/>
          </a:prstGeom>
          <a:solidFill>
            <a:srgbClr val="F3EAF4"/>
          </a:solidFill>
          <a:ln w="10160">
            <a:solidFill>
              <a:srgbClr val="83348F"/>
            </a:solidFill>
            <a:prstDash val="solid"/>
          </a:ln>
        </p:spPr>
        <p:txBody>
          <a:bodyPr/>
          <a:lstStyle/>
          <a:p>
            <a:endParaRPr lang="en-GB"/>
          </a:p>
        </p:txBody>
      </p:sp>
      <p:sp>
        <p:nvSpPr>
          <p:cNvPr id="88" name="Shape 85"/>
          <p:cNvSpPr/>
          <p:nvPr/>
        </p:nvSpPr>
        <p:spPr>
          <a:xfrm>
            <a:off x="6126480" y="3986784"/>
            <a:ext cx="5669280" cy="274320"/>
          </a:xfrm>
          <a:prstGeom prst="rect">
            <a:avLst/>
          </a:prstGeom>
          <a:solidFill>
            <a:srgbClr val="83348F"/>
          </a:solidFill>
          <a:ln/>
        </p:spPr>
        <p:txBody>
          <a:bodyPr/>
          <a:lstStyle/>
          <a:p>
            <a:endParaRPr lang="en-GB"/>
          </a:p>
        </p:txBody>
      </p:sp>
      <p:sp>
        <p:nvSpPr>
          <p:cNvPr id="89" name="Text 86"/>
          <p:cNvSpPr/>
          <p:nvPr/>
        </p:nvSpPr>
        <p:spPr>
          <a:xfrm>
            <a:off x="6217920" y="4005072"/>
            <a:ext cx="5486400"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INVENTORY AND NUCLEAR SUPPLY CHAINS</a:t>
            </a:r>
            <a:endParaRPr lang="en-US" sz="1000" dirty="0"/>
          </a:p>
        </p:txBody>
      </p:sp>
      <p:sp>
        <p:nvSpPr>
          <p:cNvPr id="90" name="Text 87"/>
          <p:cNvSpPr/>
          <p:nvPr/>
        </p:nvSpPr>
        <p:spPr>
          <a:xfrm>
            <a:off x="6217920" y="4315968"/>
            <a:ext cx="5486400" cy="1792224"/>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Excess inventory carries additional risk in nuclear manufacturing beyond the usual WIP cost and lead time impacts. Material held beyond its certification window may lose its approved status. Components stored incorrectly can become non-conforming through contamination, mechanical damage, or exposure. First-in-first-out (FIFO) management is an expectation of nuclear customers, and excess inventory makes FIFO harder to maintain. Nuclear customers will look at WIP levels on a site tour. High WIP is a visible indicator of push scheduling and poor flow control.</a:t>
            </a:r>
            <a:endParaRPr lang="en-US" sz="1000" dirty="0"/>
          </a:p>
        </p:txBody>
      </p:sp>
      <p:sp>
        <p:nvSpPr>
          <p:cNvPr id="91" name="Rectangle 90"/>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2" name="Picture 91" descr="image.png"/>
          <p:cNvPicPr>
            <a:picLocks noChangeAspect="1"/>
          </p:cNvPicPr>
          <p:nvPr/>
        </p:nvPicPr>
        <p:blipFill>
          <a:blip r:embed="rId5"/>
          <a:stretch>
            <a:fillRect/>
          </a:stretch>
        </p:blipFill>
        <p:spPr>
          <a:xfrm>
            <a:off x="10610088" y="100584"/>
            <a:ext cx="566928" cy="347472"/>
          </a:xfrm>
          <a:prstGeom prst="rect">
            <a:avLst/>
          </a:prstGeom>
        </p:spPr>
      </p:pic>
      <p:pic>
        <p:nvPicPr>
          <p:cNvPr id="93" name="Picture 92" descr="image.png"/>
          <p:cNvPicPr>
            <a:picLocks noChangeAspect="1"/>
          </p:cNvPicPr>
          <p:nvPr/>
        </p:nvPicPr>
        <p:blipFill>
          <a:blip r:embed="rId4"/>
          <a:stretch>
            <a:fillRect/>
          </a:stretch>
        </p:blipFill>
        <p:spPr>
          <a:xfrm>
            <a:off x="11222736" y="100584"/>
            <a:ext cx="658368" cy="347472"/>
          </a:xfrm>
          <a:prstGeom prst="rect">
            <a:avLst/>
          </a:prstGeom>
        </p:spPr>
      </p:pic>
      <p:sp>
        <p:nvSpPr>
          <p:cNvPr id="94" name="Rectangle 93"/>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1. Create a Current State Value Stream Map</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Step 6: Map the Information Flow</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9" name="Text 6"/>
          <p:cNvSpPr/>
          <p:nvPr/>
        </p:nvSpPr>
        <p:spPr>
          <a:xfrm>
            <a:off x="274320" y="987552"/>
            <a:ext cx="5760720" cy="402336"/>
          </a:xfrm>
          <a:prstGeom prst="rect">
            <a:avLst/>
          </a:prstGeom>
          <a:noFill/>
          <a:ln/>
        </p:spPr>
        <p:txBody>
          <a:bodyPr wrap="square" rtlCol="0" anchor="ctr"/>
          <a:lstStyle/>
          <a:p>
            <a:pPr marL="0" indent="0">
              <a:buNone/>
            </a:pPr>
            <a:r>
              <a:rPr lang="en-US" sz="1050" dirty="0">
                <a:solidFill>
                  <a:srgbClr val="5B595A"/>
                </a:solidFill>
                <a:latin typeface="Arial" pitchFamily="34" charset="0"/>
                <a:ea typeface="Arial" pitchFamily="34" charset="-122"/>
                <a:cs typeface="Arial" pitchFamily="34" charset="-120"/>
              </a:rPr>
              <a:t>The information flow is the often-overlooked half of the value stream map. It shows what tells each process step what to do next, and it is frequently where the biggest sources of waste and delay are hiding.</a:t>
            </a:r>
            <a:endParaRPr lang="en-US" sz="1050" dirty="0"/>
          </a:p>
        </p:txBody>
      </p:sp>
      <p:sp>
        <p:nvSpPr>
          <p:cNvPr id="10" name="Shape 7"/>
          <p:cNvSpPr/>
          <p:nvPr/>
        </p:nvSpPr>
        <p:spPr>
          <a:xfrm>
            <a:off x="228600" y="1463040"/>
            <a:ext cx="5577840" cy="1170432"/>
          </a:xfrm>
          <a:prstGeom prst="rect">
            <a:avLst/>
          </a:prstGeom>
          <a:solidFill>
            <a:srgbClr val="E8ECF2"/>
          </a:solidFill>
          <a:ln w="12700">
            <a:solidFill>
              <a:srgbClr val="1E3A5F"/>
            </a:solidFill>
            <a:prstDash val="solid"/>
          </a:ln>
        </p:spPr>
        <p:txBody>
          <a:bodyPr/>
          <a:lstStyle/>
          <a:p>
            <a:endParaRPr lang="en-GB"/>
          </a:p>
        </p:txBody>
      </p:sp>
      <p:sp>
        <p:nvSpPr>
          <p:cNvPr id="11" name="Shape 8"/>
          <p:cNvSpPr/>
          <p:nvPr/>
        </p:nvSpPr>
        <p:spPr>
          <a:xfrm>
            <a:off x="228600" y="1463040"/>
            <a:ext cx="5577840" cy="274320"/>
          </a:xfrm>
          <a:prstGeom prst="rect">
            <a:avLst/>
          </a:prstGeom>
          <a:solidFill>
            <a:srgbClr val="1E3A5F"/>
          </a:solidFill>
          <a:ln/>
        </p:spPr>
        <p:txBody>
          <a:bodyPr/>
          <a:lstStyle/>
          <a:p>
            <a:endParaRPr lang="en-GB"/>
          </a:p>
        </p:txBody>
      </p:sp>
      <p:sp>
        <p:nvSpPr>
          <p:cNvPr id="12" name="Text 9"/>
          <p:cNvSpPr/>
          <p:nvPr/>
        </p:nvSpPr>
        <p:spPr>
          <a:xfrm>
            <a:off x="320040" y="1490472"/>
            <a:ext cx="5394960" cy="219456"/>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Manual information flow</a:t>
            </a:r>
            <a:endParaRPr lang="en-US" sz="1100" dirty="0"/>
          </a:p>
        </p:txBody>
      </p:sp>
      <p:sp>
        <p:nvSpPr>
          <p:cNvPr id="13" name="Text 10"/>
          <p:cNvSpPr/>
          <p:nvPr/>
        </p:nvSpPr>
        <p:spPr>
          <a:xfrm>
            <a:off x="320040" y="1792224"/>
            <a:ext cx="5303520" cy="786384"/>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Straight solid arrow. A schedule, work order, verbal instruction, or printed paperwork. Common in smaller businesses. Creates waste when information is ambiguous, late, or lost.</a:t>
            </a:r>
            <a:endParaRPr lang="en-US" sz="1000" dirty="0"/>
          </a:p>
        </p:txBody>
      </p:sp>
      <p:sp>
        <p:nvSpPr>
          <p:cNvPr id="14" name="Shape 11"/>
          <p:cNvSpPr/>
          <p:nvPr/>
        </p:nvSpPr>
        <p:spPr>
          <a:xfrm>
            <a:off x="228600" y="2724912"/>
            <a:ext cx="5577840" cy="1170432"/>
          </a:xfrm>
          <a:prstGeom prst="rect">
            <a:avLst/>
          </a:prstGeom>
          <a:solidFill>
            <a:srgbClr val="E0F4FD"/>
          </a:solidFill>
          <a:ln w="12700">
            <a:solidFill>
              <a:srgbClr val="009FE3"/>
            </a:solidFill>
            <a:prstDash val="solid"/>
          </a:ln>
        </p:spPr>
        <p:txBody>
          <a:bodyPr/>
          <a:lstStyle/>
          <a:p>
            <a:endParaRPr lang="en-GB"/>
          </a:p>
        </p:txBody>
      </p:sp>
      <p:sp>
        <p:nvSpPr>
          <p:cNvPr id="15" name="Shape 12"/>
          <p:cNvSpPr/>
          <p:nvPr/>
        </p:nvSpPr>
        <p:spPr>
          <a:xfrm>
            <a:off x="228600" y="2724912"/>
            <a:ext cx="5577840" cy="274320"/>
          </a:xfrm>
          <a:prstGeom prst="rect">
            <a:avLst/>
          </a:prstGeom>
          <a:solidFill>
            <a:srgbClr val="009FE3"/>
          </a:solidFill>
          <a:ln/>
        </p:spPr>
        <p:txBody>
          <a:bodyPr/>
          <a:lstStyle/>
          <a:p>
            <a:endParaRPr lang="en-GB"/>
          </a:p>
        </p:txBody>
      </p:sp>
      <p:sp>
        <p:nvSpPr>
          <p:cNvPr id="16" name="Text 13"/>
          <p:cNvSpPr/>
          <p:nvPr/>
        </p:nvSpPr>
        <p:spPr>
          <a:xfrm>
            <a:off x="320040" y="2752344"/>
            <a:ext cx="5394960" cy="219456"/>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Electronic information flow</a:t>
            </a:r>
            <a:endParaRPr lang="en-US" sz="1100" dirty="0"/>
          </a:p>
        </p:txBody>
      </p:sp>
      <p:sp>
        <p:nvSpPr>
          <p:cNvPr id="17" name="Text 14"/>
          <p:cNvSpPr/>
          <p:nvPr/>
        </p:nvSpPr>
        <p:spPr>
          <a:xfrm>
            <a:off x="320040" y="3054096"/>
            <a:ext cx="5303520" cy="786384"/>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Arrow with a zigzag or lightning bolt symbol. ERP-generated job cards, email schedules, MES instructions. Faster but not immune to errors, incorrect data in a system is worse than no data.</a:t>
            </a:r>
            <a:endParaRPr lang="en-US" sz="1000" dirty="0"/>
          </a:p>
        </p:txBody>
      </p:sp>
      <p:sp>
        <p:nvSpPr>
          <p:cNvPr id="18" name="Shape 15"/>
          <p:cNvSpPr/>
          <p:nvPr/>
        </p:nvSpPr>
        <p:spPr>
          <a:xfrm>
            <a:off x="228600" y="3986784"/>
            <a:ext cx="5577840" cy="1170432"/>
          </a:xfrm>
          <a:prstGeom prst="rect">
            <a:avLst/>
          </a:prstGeom>
          <a:solidFill>
            <a:srgbClr val="F3EAF4"/>
          </a:solidFill>
          <a:ln w="12700">
            <a:solidFill>
              <a:srgbClr val="83348F"/>
            </a:solidFill>
            <a:prstDash val="solid"/>
          </a:ln>
        </p:spPr>
        <p:txBody>
          <a:bodyPr/>
          <a:lstStyle/>
          <a:p>
            <a:endParaRPr lang="en-GB"/>
          </a:p>
        </p:txBody>
      </p:sp>
      <p:sp>
        <p:nvSpPr>
          <p:cNvPr id="19" name="Shape 16"/>
          <p:cNvSpPr/>
          <p:nvPr/>
        </p:nvSpPr>
        <p:spPr>
          <a:xfrm>
            <a:off x="228600" y="3986784"/>
            <a:ext cx="5577840" cy="274320"/>
          </a:xfrm>
          <a:prstGeom prst="rect">
            <a:avLst/>
          </a:prstGeom>
          <a:solidFill>
            <a:srgbClr val="83348F"/>
          </a:solidFill>
          <a:ln/>
        </p:spPr>
        <p:txBody>
          <a:bodyPr/>
          <a:lstStyle/>
          <a:p>
            <a:endParaRPr lang="en-GB"/>
          </a:p>
        </p:txBody>
      </p:sp>
      <p:sp>
        <p:nvSpPr>
          <p:cNvPr id="20" name="Text 17"/>
          <p:cNvSpPr/>
          <p:nvPr/>
        </p:nvSpPr>
        <p:spPr>
          <a:xfrm>
            <a:off x="320040" y="4014216"/>
            <a:ext cx="5394960" cy="219456"/>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Informal information</a:t>
            </a:r>
            <a:endParaRPr lang="en-US" sz="1100" dirty="0"/>
          </a:p>
        </p:txBody>
      </p:sp>
      <p:sp>
        <p:nvSpPr>
          <p:cNvPr id="21" name="Text 18"/>
          <p:cNvSpPr/>
          <p:nvPr/>
        </p:nvSpPr>
        <p:spPr>
          <a:xfrm>
            <a:off x="320040" y="4315968"/>
            <a:ext cx="5303520" cy="786384"/>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Dashed or curved arrow. "I asked Dave what to do next." This is the most common information flow in most factories, and the most dangerous because it is invisible, inconsistent, and non-auditable.</a:t>
            </a:r>
            <a:endParaRPr lang="en-US" sz="1000" dirty="0"/>
          </a:p>
        </p:txBody>
      </p:sp>
      <p:sp>
        <p:nvSpPr>
          <p:cNvPr id="22" name="Shape 19"/>
          <p:cNvSpPr/>
          <p:nvPr/>
        </p:nvSpPr>
        <p:spPr>
          <a:xfrm>
            <a:off x="228600" y="5230368"/>
            <a:ext cx="5577840" cy="1042416"/>
          </a:xfrm>
          <a:prstGeom prst="rect">
            <a:avLst/>
          </a:prstGeom>
          <a:solidFill>
            <a:srgbClr val="FFFBEB"/>
          </a:solidFill>
          <a:ln w="10160">
            <a:solidFill>
              <a:srgbClr val="D97706"/>
            </a:solidFill>
            <a:prstDash val="solid"/>
          </a:ln>
        </p:spPr>
        <p:txBody>
          <a:bodyPr/>
          <a:lstStyle/>
          <a:p>
            <a:endParaRPr lang="en-GB"/>
          </a:p>
        </p:txBody>
      </p:sp>
      <p:sp>
        <p:nvSpPr>
          <p:cNvPr id="23" name="Shape 20"/>
          <p:cNvSpPr/>
          <p:nvPr/>
        </p:nvSpPr>
        <p:spPr>
          <a:xfrm>
            <a:off x="228600" y="5230368"/>
            <a:ext cx="5577840" cy="274320"/>
          </a:xfrm>
          <a:prstGeom prst="rect">
            <a:avLst/>
          </a:prstGeom>
          <a:solidFill>
            <a:srgbClr val="D97706"/>
          </a:solidFill>
          <a:ln/>
        </p:spPr>
        <p:txBody>
          <a:bodyPr/>
          <a:lstStyle/>
          <a:p>
            <a:endParaRPr lang="en-GB"/>
          </a:p>
        </p:txBody>
      </p:sp>
      <p:sp>
        <p:nvSpPr>
          <p:cNvPr id="24" name="Text 21"/>
          <p:cNvSpPr/>
          <p:nvPr/>
        </p:nvSpPr>
        <p:spPr>
          <a:xfrm>
            <a:off x="320040" y="5248656"/>
            <a:ext cx="5394960"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KEY QUESTIONS TO ASK AT EACH PROCESS STEP</a:t>
            </a:r>
            <a:endParaRPr lang="en-US" sz="1000" dirty="0"/>
          </a:p>
        </p:txBody>
      </p:sp>
      <p:sp>
        <p:nvSpPr>
          <p:cNvPr id="25" name="Shape 22"/>
          <p:cNvSpPr/>
          <p:nvPr/>
        </p:nvSpPr>
        <p:spPr>
          <a:xfrm>
            <a:off x="256032" y="5591556"/>
            <a:ext cx="91440" cy="91440"/>
          </a:xfrm>
          <a:prstGeom prst="rect">
            <a:avLst/>
          </a:prstGeom>
          <a:solidFill>
            <a:srgbClr val="009FE3"/>
          </a:solidFill>
          <a:ln/>
        </p:spPr>
        <p:txBody>
          <a:bodyPr/>
          <a:lstStyle/>
          <a:p>
            <a:endParaRPr lang="en-GB"/>
          </a:p>
        </p:txBody>
      </p:sp>
      <p:sp>
        <p:nvSpPr>
          <p:cNvPr id="26" name="Text 23"/>
          <p:cNvSpPr/>
          <p:nvPr/>
        </p:nvSpPr>
        <p:spPr>
          <a:xfrm>
            <a:off x="457200" y="5541264"/>
            <a:ext cx="5349240" cy="292608"/>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How does this step know what to make next?</a:t>
            </a:r>
            <a:endParaRPr lang="en-US" sz="950" dirty="0"/>
          </a:p>
        </p:txBody>
      </p:sp>
      <p:sp>
        <p:nvSpPr>
          <p:cNvPr id="27" name="Shape 24"/>
          <p:cNvSpPr/>
          <p:nvPr/>
        </p:nvSpPr>
        <p:spPr>
          <a:xfrm>
            <a:off x="256032" y="5774436"/>
            <a:ext cx="91440" cy="91440"/>
          </a:xfrm>
          <a:prstGeom prst="rect">
            <a:avLst/>
          </a:prstGeom>
          <a:solidFill>
            <a:srgbClr val="009FE3"/>
          </a:solidFill>
          <a:ln/>
        </p:spPr>
        <p:txBody>
          <a:bodyPr/>
          <a:lstStyle/>
          <a:p>
            <a:endParaRPr lang="en-GB"/>
          </a:p>
        </p:txBody>
      </p:sp>
      <p:sp>
        <p:nvSpPr>
          <p:cNvPr id="28" name="Text 25"/>
          <p:cNvSpPr/>
          <p:nvPr/>
        </p:nvSpPr>
        <p:spPr>
          <a:xfrm>
            <a:off x="457200" y="5724144"/>
            <a:ext cx="5349240" cy="292608"/>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Where does that instruction come from?</a:t>
            </a:r>
            <a:endParaRPr lang="en-US" sz="950" dirty="0"/>
          </a:p>
        </p:txBody>
      </p:sp>
      <p:sp>
        <p:nvSpPr>
          <p:cNvPr id="29" name="Shape 26"/>
          <p:cNvSpPr/>
          <p:nvPr/>
        </p:nvSpPr>
        <p:spPr>
          <a:xfrm>
            <a:off x="256032" y="5957316"/>
            <a:ext cx="91440" cy="91440"/>
          </a:xfrm>
          <a:prstGeom prst="rect">
            <a:avLst/>
          </a:prstGeom>
          <a:solidFill>
            <a:srgbClr val="009FE3"/>
          </a:solidFill>
          <a:ln/>
        </p:spPr>
        <p:txBody>
          <a:bodyPr/>
          <a:lstStyle/>
          <a:p>
            <a:endParaRPr lang="en-GB"/>
          </a:p>
        </p:txBody>
      </p:sp>
      <p:sp>
        <p:nvSpPr>
          <p:cNvPr id="30" name="Text 27"/>
          <p:cNvSpPr/>
          <p:nvPr/>
        </p:nvSpPr>
        <p:spPr>
          <a:xfrm>
            <a:off x="457200" y="5907024"/>
            <a:ext cx="5349240" cy="292608"/>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How often is it updated?</a:t>
            </a:r>
            <a:endParaRPr lang="en-US" sz="950" dirty="0"/>
          </a:p>
        </p:txBody>
      </p:sp>
      <p:sp>
        <p:nvSpPr>
          <p:cNvPr id="31" name="Shape 28"/>
          <p:cNvSpPr/>
          <p:nvPr/>
        </p:nvSpPr>
        <p:spPr>
          <a:xfrm>
            <a:off x="256032" y="6140196"/>
            <a:ext cx="91440" cy="91440"/>
          </a:xfrm>
          <a:prstGeom prst="rect">
            <a:avLst/>
          </a:prstGeom>
          <a:solidFill>
            <a:srgbClr val="009FE3"/>
          </a:solidFill>
          <a:ln/>
        </p:spPr>
        <p:txBody>
          <a:bodyPr/>
          <a:lstStyle/>
          <a:p>
            <a:endParaRPr lang="en-GB"/>
          </a:p>
        </p:txBody>
      </p:sp>
      <p:sp>
        <p:nvSpPr>
          <p:cNvPr id="33" name="Shape 30"/>
          <p:cNvSpPr/>
          <p:nvPr/>
        </p:nvSpPr>
        <p:spPr>
          <a:xfrm>
            <a:off x="6035040" y="987552"/>
            <a:ext cx="5897880" cy="5285232"/>
          </a:xfrm>
          <a:prstGeom prst="rect">
            <a:avLst/>
          </a:prstGeom>
          <a:solidFill>
            <a:srgbClr val="F2F2F2"/>
          </a:solidFill>
          <a:ln w="6350">
            <a:solidFill>
              <a:srgbClr val="D8D8D8"/>
            </a:solidFill>
            <a:prstDash val="solid"/>
          </a:ln>
        </p:spPr>
        <p:txBody>
          <a:bodyPr/>
          <a:lstStyle/>
          <a:p>
            <a:endParaRPr lang="en-GB"/>
          </a:p>
        </p:txBody>
      </p:sp>
      <p:sp>
        <p:nvSpPr>
          <p:cNvPr id="34" name="Text 31"/>
          <p:cNvSpPr/>
          <p:nvPr/>
        </p:nvSpPr>
        <p:spPr>
          <a:xfrm>
            <a:off x="6126480" y="1024128"/>
            <a:ext cx="5715000" cy="237744"/>
          </a:xfrm>
          <a:prstGeom prst="rect">
            <a:avLst/>
          </a:prstGeom>
          <a:noFill/>
          <a:ln/>
        </p:spPr>
        <p:txBody>
          <a:bodyPr wrap="square" rtlCol="0" anchor="ctr"/>
          <a:lstStyle/>
          <a:p>
            <a:pPr marL="0" indent="0">
              <a:buNone/>
            </a:pPr>
            <a:r>
              <a:rPr lang="en-US" sz="950" i="1" dirty="0">
                <a:solidFill>
                  <a:srgbClr val="5B595A"/>
                </a:solidFill>
                <a:latin typeface="Arial" pitchFamily="34" charset="0"/>
                <a:ea typeface="Arial" pitchFamily="34" charset="-122"/>
                <a:cs typeface="Arial" pitchFamily="34" charset="-120"/>
              </a:rPr>
              <a:t>Mapping the information flow: example:</a:t>
            </a:r>
            <a:endParaRPr lang="en-US" sz="950" dirty="0"/>
          </a:p>
        </p:txBody>
      </p:sp>
      <p:sp>
        <p:nvSpPr>
          <p:cNvPr id="35" name="Shape 32"/>
          <p:cNvSpPr/>
          <p:nvPr/>
        </p:nvSpPr>
        <p:spPr>
          <a:xfrm>
            <a:off x="8229600" y="1335024"/>
            <a:ext cx="2011680" cy="640080"/>
          </a:xfrm>
          <a:prstGeom prst="rect">
            <a:avLst/>
          </a:prstGeom>
          <a:solidFill>
            <a:srgbClr val="009FE3"/>
          </a:solidFill>
          <a:ln w="6350">
            <a:solidFill>
              <a:srgbClr val="009FE3"/>
            </a:solidFill>
            <a:prstDash val="solid"/>
          </a:ln>
        </p:spPr>
        <p:txBody>
          <a:bodyPr/>
          <a:lstStyle/>
          <a:p>
            <a:endParaRPr lang="en-GB"/>
          </a:p>
        </p:txBody>
      </p:sp>
      <p:sp>
        <p:nvSpPr>
          <p:cNvPr id="36" name="Text 33"/>
          <p:cNvSpPr/>
          <p:nvPr/>
        </p:nvSpPr>
        <p:spPr>
          <a:xfrm>
            <a:off x="8229600" y="1371600"/>
            <a:ext cx="2011680" cy="566928"/>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PLANNING</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FUNCTION</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(ERP / MRP)</a:t>
            </a:r>
            <a:endParaRPr lang="en-US" sz="900" dirty="0"/>
          </a:p>
        </p:txBody>
      </p:sp>
      <p:sp>
        <p:nvSpPr>
          <p:cNvPr id="37" name="Shape 34"/>
          <p:cNvSpPr/>
          <p:nvPr/>
        </p:nvSpPr>
        <p:spPr>
          <a:xfrm>
            <a:off x="10515600" y="1335024"/>
            <a:ext cx="1280160" cy="640080"/>
          </a:xfrm>
          <a:prstGeom prst="rect">
            <a:avLst/>
          </a:prstGeom>
          <a:solidFill>
            <a:srgbClr val="0D7377"/>
          </a:solidFill>
          <a:ln/>
        </p:spPr>
        <p:txBody>
          <a:bodyPr/>
          <a:lstStyle/>
          <a:p>
            <a:endParaRPr lang="en-GB"/>
          </a:p>
        </p:txBody>
      </p:sp>
      <p:sp>
        <p:nvSpPr>
          <p:cNvPr id="38" name="Text 35"/>
          <p:cNvSpPr/>
          <p:nvPr/>
        </p:nvSpPr>
        <p:spPr>
          <a:xfrm>
            <a:off x="10515600" y="1481328"/>
            <a:ext cx="1280160"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CUSTOMER</a:t>
            </a:r>
            <a:endParaRPr lang="en-US" sz="900" dirty="0"/>
          </a:p>
        </p:txBody>
      </p:sp>
      <p:sp>
        <p:nvSpPr>
          <p:cNvPr id="39" name="Shape 36"/>
          <p:cNvSpPr/>
          <p:nvPr/>
        </p:nvSpPr>
        <p:spPr>
          <a:xfrm>
            <a:off x="8503920" y="1042416"/>
            <a:ext cx="1965960" cy="54864"/>
          </a:xfrm>
          <a:prstGeom prst="rect">
            <a:avLst/>
          </a:prstGeom>
          <a:solidFill>
            <a:srgbClr val="009FE3"/>
          </a:solidFill>
          <a:ln/>
        </p:spPr>
        <p:txBody>
          <a:bodyPr/>
          <a:lstStyle/>
          <a:p>
            <a:endParaRPr lang="en-GB"/>
          </a:p>
        </p:txBody>
      </p:sp>
      <p:sp>
        <p:nvSpPr>
          <p:cNvPr id="40" name="Text 37"/>
          <p:cNvSpPr/>
          <p:nvPr/>
        </p:nvSpPr>
        <p:spPr>
          <a:xfrm>
            <a:off x="8412480" y="914400"/>
            <a:ext cx="2286000" cy="201168"/>
          </a:xfrm>
          <a:prstGeom prst="rect">
            <a:avLst/>
          </a:prstGeom>
          <a:noFill/>
          <a:ln/>
        </p:spPr>
        <p:txBody>
          <a:bodyPr wrap="square" rtlCol="0" anchor="ctr"/>
          <a:lstStyle/>
          <a:p>
            <a:pPr marL="0" indent="0" algn="ctr">
              <a:buNone/>
            </a:pPr>
            <a:r>
              <a:rPr lang="en-US" sz="750" dirty="0">
                <a:solidFill>
                  <a:srgbClr val="009FE3"/>
                </a:solidFill>
                <a:latin typeface="Arial" pitchFamily="34" charset="0"/>
                <a:ea typeface="Arial" pitchFamily="34" charset="-122"/>
                <a:cs typeface="Arial" pitchFamily="34" charset="-120"/>
              </a:rPr>
              <a:t>Weekly forecast + orders</a:t>
            </a:r>
            <a:endParaRPr lang="en-US" sz="750" dirty="0"/>
          </a:p>
        </p:txBody>
      </p:sp>
      <p:sp>
        <p:nvSpPr>
          <p:cNvPr id="41" name="Shape 38"/>
          <p:cNvSpPr/>
          <p:nvPr/>
        </p:nvSpPr>
        <p:spPr>
          <a:xfrm>
            <a:off x="6126480" y="3200400"/>
            <a:ext cx="804672" cy="274320"/>
          </a:xfrm>
          <a:prstGeom prst="rect">
            <a:avLst/>
          </a:prstGeom>
          <a:solidFill>
            <a:srgbClr val="1E3A5F"/>
          </a:solidFill>
          <a:ln/>
        </p:spPr>
        <p:txBody>
          <a:bodyPr/>
          <a:lstStyle/>
          <a:p>
            <a:endParaRPr lang="en-GB"/>
          </a:p>
        </p:txBody>
      </p:sp>
      <p:sp>
        <p:nvSpPr>
          <p:cNvPr id="42" name="Text 39"/>
          <p:cNvSpPr/>
          <p:nvPr/>
        </p:nvSpPr>
        <p:spPr>
          <a:xfrm>
            <a:off x="6126480" y="3209544"/>
            <a:ext cx="804672" cy="256032"/>
          </a:xfrm>
          <a:prstGeom prst="rect">
            <a:avLst/>
          </a:prstGeom>
          <a:noFill/>
          <a:ln/>
        </p:spPr>
        <p:txBody>
          <a:bodyPr wrap="square" rtlCol="0" anchor="ctr"/>
          <a:lstStyle/>
          <a:p>
            <a:pPr marL="0" indent="0" algn="ctr">
              <a:buNone/>
            </a:pPr>
            <a:r>
              <a:rPr lang="en-US" sz="650" b="1" dirty="0">
                <a:solidFill>
                  <a:srgbClr val="FFFFFF"/>
                </a:solidFill>
                <a:latin typeface="Arial" pitchFamily="34" charset="0"/>
                <a:ea typeface="Arial" pitchFamily="34" charset="-122"/>
                <a:cs typeface="Arial" pitchFamily="34" charset="-120"/>
              </a:rPr>
              <a:t>GOODS IN</a:t>
            </a:r>
            <a:endParaRPr lang="en-US" sz="650" dirty="0"/>
          </a:p>
        </p:txBody>
      </p:sp>
      <p:sp>
        <p:nvSpPr>
          <p:cNvPr id="43" name="Shape 40"/>
          <p:cNvSpPr/>
          <p:nvPr/>
        </p:nvSpPr>
        <p:spPr>
          <a:xfrm>
            <a:off x="6126480" y="3474720"/>
            <a:ext cx="804672" cy="384048"/>
          </a:xfrm>
          <a:prstGeom prst="rect">
            <a:avLst/>
          </a:prstGeom>
          <a:solidFill>
            <a:srgbClr val="FFFFFF"/>
          </a:solidFill>
          <a:ln w="3810">
            <a:solidFill>
              <a:srgbClr val="D8D8D8"/>
            </a:solidFill>
            <a:prstDash val="solid"/>
          </a:ln>
        </p:spPr>
        <p:txBody>
          <a:bodyPr/>
          <a:lstStyle/>
          <a:p>
            <a:endParaRPr lang="en-GB"/>
          </a:p>
        </p:txBody>
      </p:sp>
      <p:sp>
        <p:nvSpPr>
          <p:cNvPr id="44" name="Shape 41"/>
          <p:cNvSpPr/>
          <p:nvPr/>
        </p:nvSpPr>
        <p:spPr>
          <a:xfrm>
            <a:off x="6473952" y="1975104"/>
            <a:ext cx="36576" cy="1225296"/>
          </a:xfrm>
          <a:prstGeom prst="rect">
            <a:avLst/>
          </a:prstGeom>
          <a:solidFill>
            <a:srgbClr val="009FE3"/>
          </a:solidFill>
          <a:ln/>
        </p:spPr>
        <p:txBody>
          <a:bodyPr/>
          <a:lstStyle/>
          <a:p>
            <a:endParaRPr lang="en-GB"/>
          </a:p>
        </p:txBody>
      </p:sp>
      <p:sp>
        <p:nvSpPr>
          <p:cNvPr id="45" name="Text 42"/>
          <p:cNvSpPr/>
          <p:nvPr/>
        </p:nvSpPr>
        <p:spPr>
          <a:xfrm>
            <a:off x="6382512" y="2286000"/>
            <a:ext cx="256032" cy="182880"/>
          </a:xfrm>
          <a:prstGeom prst="rect">
            <a:avLst/>
          </a:prstGeom>
          <a:noFill/>
          <a:ln/>
        </p:spPr>
        <p:txBody>
          <a:bodyPr wrap="square" rtlCol="0" anchor="ctr"/>
          <a:lstStyle/>
          <a:p>
            <a:pPr marL="0" indent="0">
              <a:buNone/>
            </a:pPr>
            <a:r>
              <a:rPr lang="en-US" sz="650" b="1" dirty="0">
                <a:solidFill>
                  <a:srgbClr val="009FE3"/>
                </a:solidFill>
                <a:latin typeface="Arial" pitchFamily="34" charset="0"/>
                <a:ea typeface="Arial" pitchFamily="34" charset="-122"/>
                <a:cs typeface="Arial" pitchFamily="34" charset="-120"/>
              </a:rPr>
              <a:t>ERP</a:t>
            </a:r>
            <a:endParaRPr lang="en-US" sz="650" dirty="0"/>
          </a:p>
        </p:txBody>
      </p:sp>
      <p:sp>
        <p:nvSpPr>
          <p:cNvPr id="46" name="Shape 43"/>
          <p:cNvSpPr/>
          <p:nvPr/>
        </p:nvSpPr>
        <p:spPr>
          <a:xfrm>
            <a:off x="7022592" y="3200400"/>
            <a:ext cx="804672" cy="274320"/>
          </a:xfrm>
          <a:prstGeom prst="rect">
            <a:avLst/>
          </a:prstGeom>
          <a:solidFill>
            <a:srgbClr val="1E3A5F"/>
          </a:solidFill>
          <a:ln/>
        </p:spPr>
        <p:txBody>
          <a:bodyPr/>
          <a:lstStyle/>
          <a:p>
            <a:endParaRPr lang="en-GB"/>
          </a:p>
        </p:txBody>
      </p:sp>
      <p:sp>
        <p:nvSpPr>
          <p:cNvPr id="47" name="Text 44"/>
          <p:cNvSpPr/>
          <p:nvPr/>
        </p:nvSpPr>
        <p:spPr>
          <a:xfrm>
            <a:off x="7022592" y="3209544"/>
            <a:ext cx="804672" cy="256032"/>
          </a:xfrm>
          <a:prstGeom prst="rect">
            <a:avLst/>
          </a:prstGeom>
          <a:noFill/>
          <a:ln/>
        </p:spPr>
        <p:txBody>
          <a:bodyPr wrap="square" rtlCol="0" anchor="ctr"/>
          <a:lstStyle/>
          <a:p>
            <a:pPr marL="0" indent="0" algn="ctr">
              <a:buNone/>
            </a:pPr>
            <a:r>
              <a:rPr lang="en-US" sz="650" b="1" dirty="0">
                <a:solidFill>
                  <a:srgbClr val="FFFFFF"/>
                </a:solidFill>
                <a:latin typeface="Arial" pitchFamily="34" charset="0"/>
                <a:ea typeface="Arial" pitchFamily="34" charset="-122"/>
                <a:cs typeface="Arial" pitchFamily="34" charset="-120"/>
              </a:rPr>
              <a:t>TURNING</a:t>
            </a:r>
            <a:endParaRPr lang="en-US" sz="650" dirty="0"/>
          </a:p>
        </p:txBody>
      </p:sp>
      <p:sp>
        <p:nvSpPr>
          <p:cNvPr id="48" name="Shape 45"/>
          <p:cNvSpPr/>
          <p:nvPr/>
        </p:nvSpPr>
        <p:spPr>
          <a:xfrm>
            <a:off x="7022592" y="3474720"/>
            <a:ext cx="804672" cy="384048"/>
          </a:xfrm>
          <a:prstGeom prst="rect">
            <a:avLst/>
          </a:prstGeom>
          <a:solidFill>
            <a:srgbClr val="FFFFFF"/>
          </a:solidFill>
          <a:ln w="3810">
            <a:solidFill>
              <a:srgbClr val="D8D8D8"/>
            </a:solidFill>
            <a:prstDash val="solid"/>
          </a:ln>
        </p:spPr>
        <p:txBody>
          <a:bodyPr/>
          <a:lstStyle/>
          <a:p>
            <a:endParaRPr lang="en-GB"/>
          </a:p>
        </p:txBody>
      </p:sp>
      <p:sp>
        <p:nvSpPr>
          <p:cNvPr id="49" name="Shape 46"/>
          <p:cNvSpPr/>
          <p:nvPr/>
        </p:nvSpPr>
        <p:spPr>
          <a:xfrm>
            <a:off x="7370064" y="1975104"/>
            <a:ext cx="36576" cy="1225296"/>
          </a:xfrm>
          <a:prstGeom prst="rect">
            <a:avLst/>
          </a:prstGeom>
          <a:solidFill>
            <a:srgbClr val="009FE3"/>
          </a:solidFill>
          <a:ln/>
        </p:spPr>
        <p:txBody>
          <a:bodyPr/>
          <a:lstStyle/>
          <a:p>
            <a:endParaRPr lang="en-GB"/>
          </a:p>
        </p:txBody>
      </p:sp>
      <p:sp>
        <p:nvSpPr>
          <p:cNvPr id="50" name="Text 47"/>
          <p:cNvSpPr/>
          <p:nvPr/>
        </p:nvSpPr>
        <p:spPr>
          <a:xfrm>
            <a:off x="7278624" y="2286000"/>
            <a:ext cx="256032" cy="182880"/>
          </a:xfrm>
          <a:prstGeom prst="rect">
            <a:avLst/>
          </a:prstGeom>
          <a:noFill/>
          <a:ln/>
        </p:spPr>
        <p:txBody>
          <a:bodyPr wrap="square" rtlCol="0" anchor="ctr"/>
          <a:lstStyle/>
          <a:p>
            <a:pPr marL="0" indent="0">
              <a:buNone/>
            </a:pPr>
            <a:r>
              <a:rPr lang="en-US" sz="650" b="1" dirty="0">
                <a:solidFill>
                  <a:srgbClr val="009FE3"/>
                </a:solidFill>
                <a:latin typeface="Arial" pitchFamily="34" charset="0"/>
                <a:ea typeface="Arial" pitchFamily="34" charset="-122"/>
                <a:cs typeface="Arial" pitchFamily="34" charset="-120"/>
              </a:rPr>
              <a:t>ERP</a:t>
            </a:r>
            <a:endParaRPr lang="en-US" sz="650" dirty="0"/>
          </a:p>
        </p:txBody>
      </p:sp>
      <p:sp>
        <p:nvSpPr>
          <p:cNvPr id="51" name="Shape 48"/>
          <p:cNvSpPr/>
          <p:nvPr/>
        </p:nvSpPr>
        <p:spPr>
          <a:xfrm>
            <a:off x="7918704" y="3200400"/>
            <a:ext cx="804672" cy="274320"/>
          </a:xfrm>
          <a:prstGeom prst="rect">
            <a:avLst/>
          </a:prstGeom>
          <a:solidFill>
            <a:srgbClr val="1E3A5F"/>
          </a:solidFill>
          <a:ln/>
        </p:spPr>
        <p:txBody>
          <a:bodyPr/>
          <a:lstStyle/>
          <a:p>
            <a:endParaRPr lang="en-GB"/>
          </a:p>
        </p:txBody>
      </p:sp>
      <p:sp>
        <p:nvSpPr>
          <p:cNvPr id="52" name="Text 49"/>
          <p:cNvSpPr/>
          <p:nvPr/>
        </p:nvSpPr>
        <p:spPr>
          <a:xfrm>
            <a:off x="7918704" y="3209544"/>
            <a:ext cx="804672" cy="256032"/>
          </a:xfrm>
          <a:prstGeom prst="rect">
            <a:avLst/>
          </a:prstGeom>
          <a:noFill/>
          <a:ln/>
        </p:spPr>
        <p:txBody>
          <a:bodyPr wrap="square" rtlCol="0" anchor="ctr"/>
          <a:lstStyle/>
          <a:p>
            <a:pPr marL="0" indent="0" algn="ctr">
              <a:buNone/>
            </a:pPr>
            <a:r>
              <a:rPr lang="en-US" sz="650" b="1" dirty="0">
                <a:solidFill>
                  <a:srgbClr val="FFFFFF"/>
                </a:solidFill>
                <a:latin typeface="Arial" pitchFamily="34" charset="0"/>
                <a:ea typeface="Arial" pitchFamily="34" charset="-122"/>
                <a:cs typeface="Arial" pitchFamily="34" charset="-120"/>
              </a:rPr>
              <a:t>MILLING</a:t>
            </a:r>
            <a:endParaRPr lang="en-US" sz="650" dirty="0"/>
          </a:p>
        </p:txBody>
      </p:sp>
      <p:sp>
        <p:nvSpPr>
          <p:cNvPr id="53" name="Shape 50"/>
          <p:cNvSpPr/>
          <p:nvPr/>
        </p:nvSpPr>
        <p:spPr>
          <a:xfrm>
            <a:off x="7918704" y="3474720"/>
            <a:ext cx="804672" cy="384048"/>
          </a:xfrm>
          <a:prstGeom prst="rect">
            <a:avLst/>
          </a:prstGeom>
          <a:solidFill>
            <a:srgbClr val="FFFFFF"/>
          </a:solidFill>
          <a:ln w="3810">
            <a:solidFill>
              <a:srgbClr val="D8D8D8"/>
            </a:solidFill>
            <a:prstDash val="solid"/>
          </a:ln>
        </p:spPr>
        <p:txBody>
          <a:bodyPr/>
          <a:lstStyle/>
          <a:p>
            <a:endParaRPr lang="en-GB"/>
          </a:p>
        </p:txBody>
      </p:sp>
      <p:sp>
        <p:nvSpPr>
          <p:cNvPr id="54" name="Shape 51"/>
          <p:cNvSpPr/>
          <p:nvPr/>
        </p:nvSpPr>
        <p:spPr>
          <a:xfrm>
            <a:off x="8266176" y="1975104"/>
            <a:ext cx="36576" cy="1225296"/>
          </a:xfrm>
          <a:prstGeom prst="rect">
            <a:avLst/>
          </a:prstGeom>
          <a:solidFill>
            <a:srgbClr val="009FE3"/>
          </a:solidFill>
          <a:ln/>
        </p:spPr>
        <p:txBody>
          <a:bodyPr/>
          <a:lstStyle/>
          <a:p>
            <a:endParaRPr lang="en-GB"/>
          </a:p>
        </p:txBody>
      </p:sp>
      <p:sp>
        <p:nvSpPr>
          <p:cNvPr id="55" name="Text 52"/>
          <p:cNvSpPr/>
          <p:nvPr/>
        </p:nvSpPr>
        <p:spPr>
          <a:xfrm>
            <a:off x="8174736" y="2286000"/>
            <a:ext cx="256032" cy="182880"/>
          </a:xfrm>
          <a:prstGeom prst="rect">
            <a:avLst/>
          </a:prstGeom>
          <a:noFill/>
          <a:ln/>
        </p:spPr>
        <p:txBody>
          <a:bodyPr wrap="square" rtlCol="0" anchor="ctr"/>
          <a:lstStyle/>
          <a:p>
            <a:pPr marL="0" indent="0">
              <a:buNone/>
            </a:pPr>
            <a:r>
              <a:rPr lang="en-US" sz="650" b="1" dirty="0">
                <a:solidFill>
                  <a:srgbClr val="009FE3"/>
                </a:solidFill>
                <a:latin typeface="Arial" pitchFamily="34" charset="0"/>
                <a:ea typeface="Arial" pitchFamily="34" charset="-122"/>
                <a:cs typeface="Arial" pitchFamily="34" charset="-120"/>
              </a:rPr>
              <a:t>ERP</a:t>
            </a:r>
            <a:endParaRPr lang="en-US" sz="650" dirty="0"/>
          </a:p>
        </p:txBody>
      </p:sp>
      <p:sp>
        <p:nvSpPr>
          <p:cNvPr id="56" name="Shape 53"/>
          <p:cNvSpPr/>
          <p:nvPr/>
        </p:nvSpPr>
        <p:spPr>
          <a:xfrm>
            <a:off x="8814816" y="3200400"/>
            <a:ext cx="804672" cy="274320"/>
          </a:xfrm>
          <a:prstGeom prst="rect">
            <a:avLst/>
          </a:prstGeom>
          <a:solidFill>
            <a:srgbClr val="1E3A5F"/>
          </a:solidFill>
          <a:ln/>
        </p:spPr>
        <p:txBody>
          <a:bodyPr/>
          <a:lstStyle/>
          <a:p>
            <a:endParaRPr lang="en-GB"/>
          </a:p>
        </p:txBody>
      </p:sp>
      <p:sp>
        <p:nvSpPr>
          <p:cNvPr id="57" name="Text 54"/>
          <p:cNvSpPr/>
          <p:nvPr/>
        </p:nvSpPr>
        <p:spPr>
          <a:xfrm>
            <a:off x="8814816" y="3209544"/>
            <a:ext cx="804672" cy="256032"/>
          </a:xfrm>
          <a:prstGeom prst="rect">
            <a:avLst/>
          </a:prstGeom>
          <a:noFill/>
          <a:ln/>
        </p:spPr>
        <p:txBody>
          <a:bodyPr wrap="square" rtlCol="0" anchor="ctr"/>
          <a:lstStyle/>
          <a:p>
            <a:pPr marL="0" indent="0" algn="ctr">
              <a:buNone/>
            </a:pPr>
            <a:r>
              <a:rPr lang="en-US" sz="650" b="1" dirty="0">
                <a:solidFill>
                  <a:srgbClr val="FFFFFF"/>
                </a:solidFill>
                <a:latin typeface="Arial" pitchFamily="34" charset="0"/>
                <a:ea typeface="Arial" pitchFamily="34" charset="-122"/>
                <a:cs typeface="Arial" pitchFamily="34" charset="-120"/>
              </a:rPr>
              <a:t>DEBURR</a:t>
            </a:r>
            <a:endParaRPr lang="en-US" sz="650" dirty="0"/>
          </a:p>
        </p:txBody>
      </p:sp>
      <p:sp>
        <p:nvSpPr>
          <p:cNvPr id="58" name="Shape 55"/>
          <p:cNvSpPr/>
          <p:nvPr/>
        </p:nvSpPr>
        <p:spPr>
          <a:xfrm>
            <a:off x="8814816" y="3474720"/>
            <a:ext cx="804672" cy="384048"/>
          </a:xfrm>
          <a:prstGeom prst="rect">
            <a:avLst/>
          </a:prstGeom>
          <a:solidFill>
            <a:srgbClr val="FFFFFF"/>
          </a:solidFill>
          <a:ln w="3810">
            <a:solidFill>
              <a:srgbClr val="D8D8D8"/>
            </a:solidFill>
            <a:prstDash val="solid"/>
          </a:ln>
        </p:spPr>
        <p:txBody>
          <a:bodyPr/>
          <a:lstStyle/>
          <a:p>
            <a:endParaRPr lang="en-GB"/>
          </a:p>
        </p:txBody>
      </p:sp>
      <p:sp>
        <p:nvSpPr>
          <p:cNvPr id="59" name="Shape 56"/>
          <p:cNvSpPr/>
          <p:nvPr/>
        </p:nvSpPr>
        <p:spPr>
          <a:xfrm>
            <a:off x="9162288" y="2377440"/>
            <a:ext cx="36576" cy="822960"/>
          </a:xfrm>
          <a:prstGeom prst="rect">
            <a:avLst/>
          </a:prstGeom>
          <a:solidFill>
            <a:srgbClr val="83348F"/>
          </a:solidFill>
          <a:ln/>
        </p:spPr>
        <p:txBody>
          <a:bodyPr/>
          <a:lstStyle/>
          <a:p>
            <a:endParaRPr lang="en-GB"/>
          </a:p>
        </p:txBody>
      </p:sp>
      <p:sp>
        <p:nvSpPr>
          <p:cNvPr id="60" name="Text 57"/>
          <p:cNvSpPr/>
          <p:nvPr/>
        </p:nvSpPr>
        <p:spPr>
          <a:xfrm>
            <a:off x="9070848" y="2560320"/>
            <a:ext cx="365760" cy="182880"/>
          </a:xfrm>
          <a:prstGeom prst="rect">
            <a:avLst/>
          </a:prstGeom>
          <a:noFill/>
          <a:ln/>
        </p:spPr>
        <p:txBody>
          <a:bodyPr wrap="square" rtlCol="0" anchor="ctr"/>
          <a:lstStyle/>
          <a:p>
            <a:pPr marL="0" indent="0">
              <a:buNone/>
            </a:pPr>
            <a:r>
              <a:rPr lang="en-US" sz="650" i="1" dirty="0">
                <a:solidFill>
                  <a:srgbClr val="83348F"/>
                </a:solidFill>
                <a:latin typeface="Arial" pitchFamily="34" charset="0"/>
                <a:ea typeface="Arial" pitchFamily="34" charset="-122"/>
                <a:cs typeface="Arial" pitchFamily="34" charset="-120"/>
              </a:rPr>
              <a:t>verbal</a:t>
            </a:r>
            <a:endParaRPr lang="en-US" sz="650" dirty="0"/>
          </a:p>
        </p:txBody>
      </p:sp>
      <p:sp>
        <p:nvSpPr>
          <p:cNvPr id="61" name="Shape 58"/>
          <p:cNvSpPr/>
          <p:nvPr/>
        </p:nvSpPr>
        <p:spPr>
          <a:xfrm>
            <a:off x="9710928" y="3200400"/>
            <a:ext cx="804672" cy="274320"/>
          </a:xfrm>
          <a:prstGeom prst="rect">
            <a:avLst/>
          </a:prstGeom>
          <a:solidFill>
            <a:srgbClr val="1E3A5F"/>
          </a:solidFill>
          <a:ln/>
        </p:spPr>
        <p:txBody>
          <a:bodyPr/>
          <a:lstStyle/>
          <a:p>
            <a:endParaRPr lang="en-GB"/>
          </a:p>
        </p:txBody>
      </p:sp>
      <p:sp>
        <p:nvSpPr>
          <p:cNvPr id="62" name="Text 59"/>
          <p:cNvSpPr/>
          <p:nvPr/>
        </p:nvSpPr>
        <p:spPr>
          <a:xfrm>
            <a:off x="9710928" y="3209544"/>
            <a:ext cx="804672" cy="256032"/>
          </a:xfrm>
          <a:prstGeom prst="rect">
            <a:avLst/>
          </a:prstGeom>
          <a:noFill/>
          <a:ln/>
        </p:spPr>
        <p:txBody>
          <a:bodyPr wrap="square" rtlCol="0" anchor="ctr"/>
          <a:lstStyle/>
          <a:p>
            <a:pPr marL="0" indent="0" algn="ctr">
              <a:buNone/>
            </a:pPr>
            <a:r>
              <a:rPr lang="en-US" sz="650" b="1" dirty="0">
                <a:solidFill>
                  <a:srgbClr val="FFFFFF"/>
                </a:solidFill>
                <a:latin typeface="Arial" pitchFamily="34" charset="0"/>
                <a:ea typeface="Arial" pitchFamily="34" charset="-122"/>
                <a:cs typeface="Arial" pitchFamily="34" charset="-120"/>
              </a:rPr>
              <a:t>INSPECT</a:t>
            </a:r>
            <a:endParaRPr lang="en-US" sz="650" dirty="0"/>
          </a:p>
        </p:txBody>
      </p:sp>
      <p:sp>
        <p:nvSpPr>
          <p:cNvPr id="63" name="Shape 60"/>
          <p:cNvSpPr/>
          <p:nvPr/>
        </p:nvSpPr>
        <p:spPr>
          <a:xfrm>
            <a:off x="9710928" y="3474720"/>
            <a:ext cx="804672" cy="384048"/>
          </a:xfrm>
          <a:prstGeom prst="rect">
            <a:avLst/>
          </a:prstGeom>
          <a:solidFill>
            <a:srgbClr val="FFFFFF"/>
          </a:solidFill>
          <a:ln w="3810">
            <a:solidFill>
              <a:srgbClr val="D8D8D8"/>
            </a:solidFill>
            <a:prstDash val="solid"/>
          </a:ln>
        </p:spPr>
        <p:txBody>
          <a:bodyPr/>
          <a:lstStyle/>
          <a:p>
            <a:endParaRPr lang="en-GB"/>
          </a:p>
        </p:txBody>
      </p:sp>
      <p:sp>
        <p:nvSpPr>
          <p:cNvPr id="64" name="Shape 61"/>
          <p:cNvSpPr/>
          <p:nvPr/>
        </p:nvSpPr>
        <p:spPr>
          <a:xfrm>
            <a:off x="10058400" y="2377440"/>
            <a:ext cx="36576" cy="822960"/>
          </a:xfrm>
          <a:prstGeom prst="rect">
            <a:avLst/>
          </a:prstGeom>
          <a:solidFill>
            <a:srgbClr val="83348F"/>
          </a:solidFill>
          <a:ln/>
        </p:spPr>
        <p:txBody>
          <a:bodyPr/>
          <a:lstStyle/>
          <a:p>
            <a:endParaRPr lang="en-GB"/>
          </a:p>
        </p:txBody>
      </p:sp>
      <p:sp>
        <p:nvSpPr>
          <p:cNvPr id="65" name="Text 62"/>
          <p:cNvSpPr/>
          <p:nvPr/>
        </p:nvSpPr>
        <p:spPr>
          <a:xfrm>
            <a:off x="9966960" y="2560320"/>
            <a:ext cx="365760" cy="182880"/>
          </a:xfrm>
          <a:prstGeom prst="rect">
            <a:avLst/>
          </a:prstGeom>
          <a:noFill/>
          <a:ln/>
        </p:spPr>
        <p:txBody>
          <a:bodyPr wrap="square" rtlCol="0" anchor="ctr"/>
          <a:lstStyle/>
          <a:p>
            <a:pPr marL="0" indent="0">
              <a:buNone/>
            </a:pPr>
            <a:r>
              <a:rPr lang="en-US" sz="650" i="1" dirty="0">
                <a:solidFill>
                  <a:srgbClr val="83348F"/>
                </a:solidFill>
                <a:latin typeface="Arial" pitchFamily="34" charset="0"/>
                <a:ea typeface="Arial" pitchFamily="34" charset="-122"/>
                <a:cs typeface="Arial" pitchFamily="34" charset="-120"/>
              </a:rPr>
              <a:t>verbal</a:t>
            </a:r>
            <a:endParaRPr lang="en-US" sz="650" dirty="0"/>
          </a:p>
        </p:txBody>
      </p:sp>
      <p:sp>
        <p:nvSpPr>
          <p:cNvPr id="66" name="Shape 63"/>
          <p:cNvSpPr/>
          <p:nvPr/>
        </p:nvSpPr>
        <p:spPr>
          <a:xfrm>
            <a:off x="10607040" y="3200400"/>
            <a:ext cx="804672" cy="274320"/>
          </a:xfrm>
          <a:prstGeom prst="rect">
            <a:avLst/>
          </a:prstGeom>
          <a:solidFill>
            <a:srgbClr val="1E3A5F"/>
          </a:solidFill>
          <a:ln/>
        </p:spPr>
        <p:txBody>
          <a:bodyPr/>
          <a:lstStyle/>
          <a:p>
            <a:endParaRPr lang="en-GB"/>
          </a:p>
        </p:txBody>
      </p:sp>
      <p:sp>
        <p:nvSpPr>
          <p:cNvPr id="67" name="Text 64"/>
          <p:cNvSpPr/>
          <p:nvPr/>
        </p:nvSpPr>
        <p:spPr>
          <a:xfrm>
            <a:off x="10607040" y="3209544"/>
            <a:ext cx="804672" cy="256032"/>
          </a:xfrm>
          <a:prstGeom prst="rect">
            <a:avLst/>
          </a:prstGeom>
          <a:noFill/>
          <a:ln/>
        </p:spPr>
        <p:txBody>
          <a:bodyPr wrap="square" rtlCol="0" anchor="ctr"/>
          <a:lstStyle/>
          <a:p>
            <a:pPr marL="0" indent="0" algn="ctr">
              <a:buNone/>
            </a:pPr>
            <a:r>
              <a:rPr lang="en-US" sz="650" b="1" dirty="0">
                <a:solidFill>
                  <a:srgbClr val="FFFFFF"/>
                </a:solidFill>
                <a:latin typeface="Arial" pitchFamily="34" charset="0"/>
                <a:ea typeface="Arial" pitchFamily="34" charset="-122"/>
                <a:cs typeface="Arial" pitchFamily="34" charset="-120"/>
              </a:rPr>
              <a:t>DESPATCH</a:t>
            </a:r>
            <a:endParaRPr lang="en-US" sz="650" dirty="0"/>
          </a:p>
        </p:txBody>
      </p:sp>
      <p:sp>
        <p:nvSpPr>
          <p:cNvPr id="68" name="Shape 65"/>
          <p:cNvSpPr/>
          <p:nvPr/>
        </p:nvSpPr>
        <p:spPr>
          <a:xfrm>
            <a:off x="10607040" y="3474720"/>
            <a:ext cx="804672" cy="384048"/>
          </a:xfrm>
          <a:prstGeom prst="rect">
            <a:avLst/>
          </a:prstGeom>
          <a:solidFill>
            <a:srgbClr val="FFFFFF"/>
          </a:solidFill>
          <a:ln w="3810">
            <a:solidFill>
              <a:srgbClr val="D8D8D8"/>
            </a:solidFill>
            <a:prstDash val="solid"/>
          </a:ln>
        </p:spPr>
        <p:txBody>
          <a:bodyPr/>
          <a:lstStyle/>
          <a:p>
            <a:endParaRPr lang="en-GB"/>
          </a:p>
        </p:txBody>
      </p:sp>
      <p:sp>
        <p:nvSpPr>
          <p:cNvPr id="69" name="Shape 66"/>
          <p:cNvSpPr/>
          <p:nvPr/>
        </p:nvSpPr>
        <p:spPr>
          <a:xfrm>
            <a:off x="10954512" y="2377440"/>
            <a:ext cx="36576" cy="822960"/>
          </a:xfrm>
          <a:prstGeom prst="rect">
            <a:avLst/>
          </a:prstGeom>
          <a:solidFill>
            <a:srgbClr val="83348F"/>
          </a:solidFill>
          <a:ln/>
        </p:spPr>
        <p:txBody>
          <a:bodyPr/>
          <a:lstStyle/>
          <a:p>
            <a:endParaRPr lang="en-GB"/>
          </a:p>
        </p:txBody>
      </p:sp>
      <p:sp>
        <p:nvSpPr>
          <p:cNvPr id="70" name="Text 67"/>
          <p:cNvSpPr/>
          <p:nvPr/>
        </p:nvSpPr>
        <p:spPr>
          <a:xfrm>
            <a:off x="10863072" y="2560320"/>
            <a:ext cx="365760" cy="182880"/>
          </a:xfrm>
          <a:prstGeom prst="rect">
            <a:avLst/>
          </a:prstGeom>
          <a:noFill/>
          <a:ln/>
        </p:spPr>
        <p:txBody>
          <a:bodyPr wrap="square" rtlCol="0" anchor="ctr"/>
          <a:lstStyle/>
          <a:p>
            <a:pPr marL="0" indent="0">
              <a:buNone/>
            </a:pPr>
            <a:r>
              <a:rPr lang="en-US" sz="650" i="1" dirty="0">
                <a:solidFill>
                  <a:srgbClr val="83348F"/>
                </a:solidFill>
                <a:latin typeface="Arial" pitchFamily="34" charset="0"/>
                <a:ea typeface="Arial" pitchFamily="34" charset="-122"/>
                <a:cs typeface="Arial" pitchFamily="34" charset="-120"/>
              </a:rPr>
              <a:t>verbal</a:t>
            </a:r>
            <a:endParaRPr lang="en-US" sz="650" dirty="0"/>
          </a:p>
        </p:txBody>
      </p:sp>
      <p:sp>
        <p:nvSpPr>
          <p:cNvPr id="71" name="Shape 68"/>
          <p:cNvSpPr/>
          <p:nvPr/>
        </p:nvSpPr>
        <p:spPr>
          <a:xfrm>
            <a:off x="6126480" y="3931920"/>
            <a:ext cx="5669280" cy="1097280"/>
          </a:xfrm>
          <a:prstGeom prst="rect">
            <a:avLst/>
          </a:prstGeom>
          <a:solidFill>
            <a:srgbClr val="FEE2E2"/>
          </a:solidFill>
          <a:ln w="10160">
            <a:solidFill>
              <a:srgbClr val="B91C1C"/>
            </a:solidFill>
            <a:prstDash val="solid"/>
          </a:ln>
        </p:spPr>
        <p:txBody>
          <a:bodyPr/>
          <a:lstStyle/>
          <a:p>
            <a:endParaRPr lang="en-GB"/>
          </a:p>
        </p:txBody>
      </p:sp>
      <p:sp>
        <p:nvSpPr>
          <p:cNvPr id="72" name="Shape 69"/>
          <p:cNvSpPr/>
          <p:nvPr/>
        </p:nvSpPr>
        <p:spPr>
          <a:xfrm>
            <a:off x="6126480" y="3931920"/>
            <a:ext cx="5669280" cy="274320"/>
          </a:xfrm>
          <a:prstGeom prst="rect">
            <a:avLst/>
          </a:prstGeom>
          <a:solidFill>
            <a:srgbClr val="B91C1C"/>
          </a:solidFill>
          <a:ln/>
        </p:spPr>
        <p:txBody>
          <a:bodyPr/>
          <a:lstStyle/>
          <a:p>
            <a:endParaRPr lang="en-GB"/>
          </a:p>
        </p:txBody>
      </p:sp>
      <p:sp>
        <p:nvSpPr>
          <p:cNvPr id="73" name="Text 70"/>
          <p:cNvSpPr/>
          <p:nvPr/>
        </p:nvSpPr>
        <p:spPr>
          <a:xfrm>
            <a:off x="6217920" y="3950208"/>
            <a:ext cx="548640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COMMON FAILURE: INFORMAL INFORMATION CONTROLS KEY PROCESSES</a:t>
            </a:r>
            <a:endParaRPr lang="en-US" sz="900" dirty="0"/>
          </a:p>
        </p:txBody>
      </p:sp>
      <p:sp>
        <p:nvSpPr>
          <p:cNvPr id="74" name="Text 71"/>
          <p:cNvSpPr/>
          <p:nvPr/>
        </p:nvSpPr>
        <p:spPr>
          <a:xfrm>
            <a:off x="6217920" y="4261104"/>
            <a:ext cx="5486400" cy="713232"/>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In the example above, the deburr and inspection steps are controlled by verbal instruction from the supervisor rather than the ERP system. This means those steps have no formal priority signal. They work on whatever is physically in front of them. In a nuclear context, this creates a traceability and scheduling risk. The future state map should show all critical steps receiving a documented, controlled information signal.</a:t>
            </a:r>
            <a:endParaRPr lang="en-US" sz="950" dirty="0"/>
          </a:p>
        </p:txBody>
      </p:sp>
      <p:sp>
        <p:nvSpPr>
          <p:cNvPr id="75" name="Shape 72"/>
          <p:cNvSpPr/>
          <p:nvPr/>
        </p:nvSpPr>
        <p:spPr>
          <a:xfrm>
            <a:off x="6126480" y="5084064"/>
            <a:ext cx="5669280" cy="1115568"/>
          </a:xfrm>
          <a:prstGeom prst="rect">
            <a:avLst/>
          </a:prstGeom>
          <a:solidFill>
            <a:srgbClr val="F3EAF4"/>
          </a:solidFill>
          <a:ln w="10160">
            <a:solidFill>
              <a:srgbClr val="83348F"/>
            </a:solidFill>
            <a:prstDash val="solid"/>
          </a:ln>
        </p:spPr>
        <p:txBody>
          <a:bodyPr/>
          <a:lstStyle/>
          <a:p>
            <a:endParaRPr lang="en-GB"/>
          </a:p>
        </p:txBody>
      </p:sp>
      <p:sp>
        <p:nvSpPr>
          <p:cNvPr id="76" name="Shape 73"/>
          <p:cNvSpPr/>
          <p:nvPr/>
        </p:nvSpPr>
        <p:spPr>
          <a:xfrm>
            <a:off x="6126480" y="5084064"/>
            <a:ext cx="5669280" cy="274320"/>
          </a:xfrm>
          <a:prstGeom prst="rect">
            <a:avLst/>
          </a:prstGeom>
          <a:solidFill>
            <a:srgbClr val="83348F"/>
          </a:solidFill>
          <a:ln/>
        </p:spPr>
        <p:txBody>
          <a:bodyPr/>
          <a:lstStyle/>
          <a:p>
            <a:endParaRPr lang="en-GB"/>
          </a:p>
        </p:txBody>
      </p:sp>
      <p:sp>
        <p:nvSpPr>
          <p:cNvPr id="77" name="Text 74"/>
          <p:cNvSpPr/>
          <p:nvPr/>
        </p:nvSpPr>
        <p:spPr>
          <a:xfrm>
            <a:off x="6217920" y="5102352"/>
            <a:ext cx="5486400" cy="237744"/>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INFORMATION FLOW AND DIGITAL WASTE</a:t>
            </a:r>
            <a:endParaRPr lang="en-US" sz="950" dirty="0"/>
          </a:p>
        </p:txBody>
      </p:sp>
      <p:sp>
        <p:nvSpPr>
          <p:cNvPr id="78" name="Text 75"/>
          <p:cNvSpPr/>
          <p:nvPr/>
        </p:nvSpPr>
        <p:spPr>
          <a:xfrm>
            <a:off x="6217920" y="5413248"/>
            <a:ext cx="5486400" cy="749808"/>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Since 2020, the concept of digital waste has become a formal part of VSM thinking. Map information flow carefully and ask: Is this data re-entered into more than one system? Are there reports generated that nobody reads? Is the same drawing held in three different places? Each yes is a digital waste that carries traceability and error risk in a nuclear environment.</a:t>
            </a:r>
            <a:endParaRPr lang="en-US" sz="950" dirty="0"/>
          </a:p>
        </p:txBody>
      </p:sp>
      <p:sp>
        <p:nvSpPr>
          <p:cNvPr id="79" name="Rectangle 78"/>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0" name="Picture 79" descr="image.png"/>
          <p:cNvPicPr>
            <a:picLocks noChangeAspect="1"/>
          </p:cNvPicPr>
          <p:nvPr/>
        </p:nvPicPr>
        <p:blipFill>
          <a:blip r:embed="rId5"/>
          <a:stretch>
            <a:fillRect/>
          </a:stretch>
        </p:blipFill>
        <p:spPr>
          <a:xfrm>
            <a:off x="10610088" y="100584"/>
            <a:ext cx="566928" cy="347472"/>
          </a:xfrm>
          <a:prstGeom prst="rect">
            <a:avLst/>
          </a:prstGeom>
        </p:spPr>
      </p:pic>
      <p:pic>
        <p:nvPicPr>
          <p:cNvPr id="81" name="Picture 80" descr="image.png"/>
          <p:cNvPicPr>
            <a:picLocks noChangeAspect="1"/>
          </p:cNvPicPr>
          <p:nvPr/>
        </p:nvPicPr>
        <p:blipFill>
          <a:blip r:embed="rId4"/>
          <a:stretch>
            <a:fillRect/>
          </a:stretch>
        </p:blipFill>
        <p:spPr>
          <a:xfrm>
            <a:off x="11222736" y="100584"/>
            <a:ext cx="658368" cy="347472"/>
          </a:xfrm>
          <a:prstGeom prst="rect">
            <a:avLst/>
          </a:prstGeom>
        </p:spPr>
      </p:pic>
      <p:sp>
        <p:nvSpPr>
          <p:cNvPr id="82" name="Rectangle 81"/>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1. Create a Current State Value Stream Map</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Step 7: Add the Timeline and Calculate Process Efficiency</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9" name="Text 6"/>
          <p:cNvSpPr/>
          <p:nvPr/>
        </p:nvSpPr>
        <p:spPr>
          <a:xfrm>
            <a:off x="274320" y="987552"/>
            <a:ext cx="5760720" cy="457200"/>
          </a:xfrm>
          <a:prstGeom prst="rect">
            <a:avLst/>
          </a:prstGeom>
          <a:noFill/>
          <a:ln/>
        </p:spPr>
        <p:txBody>
          <a:bodyPr wrap="square" rtlCol="0" anchor="ctr"/>
          <a:lstStyle/>
          <a:p>
            <a:pPr marL="0" indent="0">
              <a:buNone/>
            </a:pPr>
            <a:r>
              <a:rPr lang="en-US" sz="1050" dirty="0">
                <a:solidFill>
                  <a:srgbClr val="5B595A"/>
                </a:solidFill>
                <a:latin typeface="Arial" pitchFamily="34" charset="0"/>
                <a:ea typeface="Arial" pitchFamily="34" charset="-122"/>
                <a:cs typeface="Arial" pitchFamily="34" charset="-120"/>
              </a:rPr>
              <a:t>The timeline is the most revealing part of the current state map. It converts all the inventory data and process data into a single, clear comparison: how long does it actually take versus how long is spent adding value.</a:t>
            </a:r>
            <a:endParaRPr lang="en-US" sz="1050" dirty="0"/>
          </a:p>
        </p:txBody>
      </p:sp>
      <p:sp>
        <p:nvSpPr>
          <p:cNvPr id="10" name="Text 7"/>
          <p:cNvSpPr/>
          <p:nvPr/>
        </p:nvSpPr>
        <p:spPr>
          <a:xfrm>
            <a:off x="274320" y="1508760"/>
            <a:ext cx="5760720" cy="256032"/>
          </a:xfrm>
          <a:prstGeom prst="rect">
            <a:avLst/>
          </a:prstGeom>
          <a:noFill/>
          <a:ln/>
        </p:spPr>
        <p:txBody>
          <a:bodyPr wrap="square" rtlCol="0" anchor="ctr"/>
          <a:lstStyle/>
          <a:p>
            <a:pPr marL="0" indent="0">
              <a:buNone/>
            </a:pPr>
            <a:r>
              <a:rPr lang="en-US" sz="1100" b="1" dirty="0">
                <a:solidFill>
                  <a:srgbClr val="1E3A5F"/>
                </a:solidFill>
                <a:latin typeface="Arial" pitchFamily="34" charset="0"/>
                <a:ea typeface="Arial" pitchFamily="34" charset="-122"/>
                <a:cs typeface="Arial" pitchFamily="34" charset="-120"/>
              </a:rPr>
              <a:t>How to calculate the timeline:</a:t>
            </a:r>
            <a:endParaRPr lang="en-US" sz="1100" dirty="0"/>
          </a:p>
        </p:txBody>
      </p:sp>
      <p:sp>
        <p:nvSpPr>
          <p:cNvPr id="11" name="Shape 8"/>
          <p:cNvSpPr/>
          <p:nvPr/>
        </p:nvSpPr>
        <p:spPr>
          <a:xfrm>
            <a:off x="228600" y="1828800"/>
            <a:ext cx="310896" cy="310896"/>
          </a:xfrm>
          <a:prstGeom prst="rect">
            <a:avLst/>
          </a:prstGeom>
          <a:solidFill>
            <a:srgbClr val="009FE3"/>
          </a:solidFill>
          <a:ln/>
        </p:spPr>
        <p:txBody>
          <a:bodyPr/>
          <a:lstStyle/>
          <a:p>
            <a:endParaRPr lang="en-GB"/>
          </a:p>
        </p:txBody>
      </p:sp>
      <p:sp>
        <p:nvSpPr>
          <p:cNvPr id="12" name="Text 9"/>
          <p:cNvSpPr/>
          <p:nvPr/>
        </p:nvSpPr>
        <p:spPr>
          <a:xfrm>
            <a:off x="228600" y="1828800"/>
            <a:ext cx="310896" cy="310896"/>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3" name="Text 10"/>
          <p:cNvSpPr/>
          <p:nvPr/>
        </p:nvSpPr>
        <p:spPr>
          <a:xfrm>
            <a:off x="594360" y="1828800"/>
            <a:ext cx="5212080" cy="256032"/>
          </a:xfrm>
          <a:prstGeom prst="rect">
            <a:avLst/>
          </a:prstGeom>
          <a:noFill/>
          <a:ln/>
        </p:spPr>
        <p:txBody>
          <a:bodyPr wrap="square" rtlCol="0" anchor="ctr"/>
          <a:lstStyle/>
          <a:p>
            <a:pPr marL="0" indent="0">
              <a:buNone/>
            </a:pPr>
            <a:r>
              <a:rPr lang="en-US" sz="1050" b="1" dirty="0">
                <a:solidFill>
                  <a:srgbClr val="1E3A5F"/>
                </a:solidFill>
                <a:latin typeface="Arial" pitchFamily="34" charset="0"/>
                <a:ea typeface="Arial" pitchFamily="34" charset="-122"/>
                <a:cs typeface="Arial" pitchFamily="34" charset="-120"/>
              </a:rPr>
              <a:t>Convert inventory to days</a:t>
            </a:r>
            <a:endParaRPr lang="en-US" sz="1050" dirty="0"/>
          </a:p>
        </p:txBody>
      </p:sp>
      <p:sp>
        <p:nvSpPr>
          <p:cNvPr id="14" name="Text 11"/>
          <p:cNvSpPr/>
          <p:nvPr/>
        </p:nvSpPr>
        <p:spPr>
          <a:xfrm>
            <a:off x="594360" y="2103120"/>
            <a:ext cx="5212080" cy="457200"/>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For each inventory point: days = quantity ÷ customer daily requirement. Place these wait times on the top "steps" of the timeline.</a:t>
            </a:r>
            <a:endParaRPr lang="en-US" sz="1000" dirty="0"/>
          </a:p>
        </p:txBody>
      </p:sp>
      <p:sp>
        <p:nvSpPr>
          <p:cNvPr id="15" name="Shape 12"/>
          <p:cNvSpPr/>
          <p:nvPr/>
        </p:nvSpPr>
        <p:spPr>
          <a:xfrm>
            <a:off x="228600" y="2615184"/>
            <a:ext cx="310896" cy="310896"/>
          </a:xfrm>
          <a:prstGeom prst="rect">
            <a:avLst/>
          </a:prstGeom>
          <a:solidFill>
            <a:srgbClr val="009FE3"/>
          </a:solidFill>
          <a:ln/>
        </p:spPr>
        <p:txBody>
          <a:bodyPr/>
          <a:lstStyle/>
          <a:p>
            <a:endParaRPr lang="en-GB"/>
          </a:p>
        </p:txBody>
      </p:sp>
      <p:sp>
        <p:nvSpPr>
          <p:cNvPr id="16" name="Text 13"/>
          <p:cNvSpPr/>
          <p:nvPr/>
        </p:nvSpPr>
        <p:spPr>
          <a:xfrm>
            <a:off x="228600" y="2615184"/>
            <a:ext cx="310896" cy="310896"/>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7" name="Text 14"/>
          <p:cNvSpPr/>
          <p:nvPr/>
        </p:nvSpPr>
        <p:spPr>
          <a:xfrm>
            <a:off x="594360" y="2615184"/>
            <a:ext cx="5212080" cy="256032"/>
          </a:xfrm>
          <a:prstGeom prst="rect">
            <a:avLst/>
          </a:prstGeom>
          <a:noFill/>
          <a:ln/>
        </p:spPr>
        <p:txBody>
          <a:bodyPr wrap="square" rtlCol="0" anchor="ctr"/>
          <a:lstStyle/>
          <a:p>
            <a:pPr marL="0" indent="0">
              <a:buNone/>
            </a:pPr>
            <a:r>
              <a:rPr lang="en-US" sz="1050" b="1" dirty="0">
                <a:solidFill>
                  <a:srgbClr val="1E3A5F"/>
                </a:solidFill>
                <a:latin typeface="Arial" pitchFamily="34" charset="0"/>
                <a:ea typeface="Arial" pitchFamily="34" charset="-122"/>
                <a:cs typeface="Arial" pitchFamily="34" charset="-120"/>
              </a:rPr>
              <a:t>Add process (VA) times</a:t>
            </a:r>
            <a:endParaRPr lang="en-US" sz="1050" dirty="0"/>
          </a:p>
        </p:txBody>
      </p:sp>
      <p:sp>
        <p:nvSpPr>
          <p:cNvPr id="18" name="Text 15"/>
          <p:cNvSpPr/>
          <p:nvPr/>
        </p:nvSpPr>
        <p:spPr>
          <a:xfrm>
            <a:off x="594360" y="2889504"/>
            <a:ext cx="5212080" cy="457200"/>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For each process step: use the cycle time. These go on the bottom "steps" of the timeline.</a:t>
            </a:r>
            <a:endParaRPr lang="en-US" sz="1000" dirty="0"/>
          </a:p>
        </p:txBody>
      </p:sp>
      <p:sp>
        <p:nvSpPr>
          <p:cNvPr id="19" name="Shape 16"/>
          <p:cNvSpPr/>
          <p:nvPr/>
        </p:nvSpPr>
        <p:spPr>
          <a:xfrm>
            <a:off x="228600" y="3401568"/>
            <a:ext cx="310896" cy="310896"/>
          </a:xfrm>
          <a:prstGeom prst="rect">
            <a:avLst/>
          </a:prstGeom>
          <a:solidFill>
            <a:srgbClr val="009FE3"/>
          </a:solidFill>
          <a:ln/>
        </p:spPr>
        <p:txBody>
          <a:bodyPr/>
          <a:lstStyle/>
          <a:p>
            <a:endParaRPr lang="en-GB"/>
          </a:p>
        </p:txBody>
      </p:sp>
      <p:sp>
        <p:nvSpPr>
          <p:cNvPr id="20" name="Text 17"/>
          <p:cNvSpPr/>
          <p:nvPr/>
        </p:nvSpPr>
        <p:spPr>
          <a:xfrm>
            <a:off x="228600" y="3401568"/>
            <a:ext cx="310896" cy="310896"/>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1" name="Text 18"/>
          <p:cNvSpPr/>
          <p:nvPr/>
        </p:nvSpPr>
        <p:spPr>
          <a:xfrm>
            <a:off x="594360" y="3401568"/>
            <a:ext cx="5212080" cy="256032"/>
          </a:xfrm>
          <a:prstGeom prst="rect">
            <a:avLst/>
          </a:prstGeom>
          <a:noFill/>
          <a:ln/>
        </p:spPr>
        <p:txBody>
          <a:bodyPr wrap="square" rtlCol="0" anchor="ctr"/>
          <a:lstStyle/>
          <a:p>
            <a:pPr marL="0" indent="0">
              <a:buNone/>
            </a:pPr>
            <a:r>
              <a:rPr lang="en-US" sz="1050" b="1" dirty="0">
                <a:solidFill>
                  <a:srgbClr val="1E3A5F"/>
                </a:solidFill>
                <a:latin typeface="Arial" pitchFamily="34" charset="0"/>
                <a:ea typeface="Arial" pitchFamily="34" charset="-122"/>
                <a:cs typeface="Arial" pitchFamily="34" charset="-120"/>
              </a:rPr>
              <a:t>Sum the total lead time</a:t>
            </a:r>
            <a:endParaRPr lang="en-US" sz="1050" dirty="0"/>
          </a:p>
        </p:txBody>
      </p:sp>
      <p:sp>
        <p:nvSpPr>
          <p:cNvPr id="22" name="Text 19"/>
          <p:cNvSpPr/>
          <p:nvPr/>
        </p:nvSpPr>
        <p:spPr>
          <a:xfrm>
            <a:off x="594360" y="3675888"/>
            <a:ext cx="5212080" cy="457200"/>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Add all the wait times together. This is the total lead time.</a:t>
            </a:r>
            <a:endParaRPr lang="en-US" sz="1000" dirty="0"/>
          </a:p>
        </p:txBody>
      </p:sp>
      <p:sp>
        <p:nvSpPr>
          <p:cNvPr id="23" name="Shape 20"/>
          <p:cNvSpPr/>
          <p:nvPr/>
        </p:nvSpPr>
        <p:spPr>
          <a:xfrm>
            <a:off x="228600" y="4187952"/>
            <a:ext cx="310896" cy="310896"/>
          </a:xfrm>
          <a:prstGeom prst="rect">
            <a:avLst/>
          </a:prstGeom>
          <a:solidFill>
            <a:srgbClr val="009FE3"/>
          </a:solidFill>
          <a:ln/>
        </p:spPr>
        <p:txBody>
          <a:bodyPr/>
          <a:lstStyle/>
          <a:p>
            <a:endParaRPr lang="en-GB"/>
          </a:p>
        </p:txBody>
      </p:sp>
      <p:sp>
        <p:nvSpPr>
          <p:cNvPr id="24" name="Text 21"/>
          <p:cNvSpPr/>
          <p:nvPr/>
        </p:nvSpPr>
        <p:spPr>
          <a:xfrm>
            <a:off x="228600" y="4187952"/>
            <a:ext cx="310896" cy="310896"/>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5" name="Text 22"/>
          <p:cNvSpPr/>
          <p:nvPr/>
        </p:nvSpPr>
        <p:spPr>
          <a:xfrm>
            <a:off x="594360" y="4187952"/>
            <a:ext cx="5212080" cy="256032"/>
          </a:xfrm>
          <a:prstGeom prst="rect">
            <a:avLst/>
          </a:prstGeom>
          <a:noFill/>
          <a:ln/>
        </p:spPr>
        <p:txBody>
          <a:bodyPr wrap="square" rtlCol="0" anchor="ctr"/>
          <a:lstStyle/>
          <a:p>
            <a:pPr marL="0" indent="0">
              <a:buNone/>
            </a:pPr>
            <a:r>
              <a:rPr lang="en-US" sz="1050" b="1" dirty="0">
                <a:solidFill>
                  <a:srgbClr val="1E3A5F"/>
                </a:solidFill>
                <a:latin typeface="Arial" pitchFamily="34" charset="0"/>
                <a:ea typeface="Arial" pitchFamily="34" charset="-122"/>
                <a:cs typeface="Arial" pitchFamily="34" charset="-120"/>
              </a:rPr>
              <a:t>Sum the value-adding time</a:t>
            </a:r>
            <a:endParaRPr lang="en-US" sz="1050" dirty="0"/>
          </a:p>
        </p:txBody>
      </p:sp>
      <p:sp>
        <p:nvSpPr>
          <p:cNvPr id="26" name="Text 23"/>
          <p:cNvSpPr/>
          <p:nvPr/>
        </p:nvSpPr>
        <p:spPr>
          <a:xfrm>
            <a:off x="594360" y="4462272"/>
            <a:ext cx="5212080" cy="457200"/>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Add all the cycle times together. This is the value-adding time.</a:t>
            </a:r>
            <a:endParaRPr lang="en-US" sz="1000" dirty="0"/>
          </a:p>
        </p:txBody>
      </p:sp>
      <p:sp>
        <p:nvSpPr>
          <p:cNvPr id="27" name="Shape 24"/>
          <p:cNvSpPr/>
          <p:nvPr/>
        </p:nvSpPr>
        <p:spPr>
          <a:xfrm>
            <a:off x="228600" y="4974336"/>
            <a:ext cx="310896" cy="310896"/>
          </a:xfrm>
          <a:prstGeom prst="rect">
            <a:avLst/>
          </a:prstGeom>
          <a:solidFill>
            <a:srgbClr val="009FE3"/>
          </a:solidFill>
          <a:ln/>
        </p:spPr>
        <p:txBody>
          <a:bodyPr/>
          <a:lstStyle/>
          <a:p>
            <a:endParaRPr lang="en-GB"/>
          </a:p>
        </p:txBody>
      </p:sp>
      <p:sp>
        <p:nvSpPr>
          <p:cNvPr id="28" name="Text 25"/>
          <p:cNvSpPr/>
          <p:nvPr/>
        </p:nvSpPr>
        <p:spPr>
          <a:xfrm>
            <a:off x="228600" y="4974336"/>
            <a:ext cx="310896" cy="310896"/>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9" name="Text 26"/>
          <p:cNvSpPr/>
          <p:nvPr/>
        </p:nvSpPr>
        <p:spPr>
          <a:xfrm>
            <a:off x="594360" y="4974336"/>
            <a:ext cx="5212080" cy="256032"/>
          </a:xfrm>
          <a:prstGeom prst="rect">
            <a:avLst/>
          </a:prstGeom>
          <a:noFill/>
          <a:ln/>
        </p:spPr>
        <p:txBody>
          <a:bodyPr wrap="square" rtlCol="0" anchor="ctr"/>
          <a:lstStyle/>
          <a:p>
            <a:pPr marL="0" indent="0">
              <a:buNone/>
            </a:pPr>
            <a:r>
              <a:rPr lang="en-US" sz="1050" b="1" dirty="0">
                <a:solidFill>
                  <a:srgbClr val="1E3A5F"/>
                </a:solidFill>
                <a:latin typeface="Arial" pitchFamily="34" charset="0"/>
                <a:ea typeface="Arial" pitchFamily="34" charset="-122"/>
                <a:cs typeface="Arial" pitchFamily="34" charset="-120"/>
              </a:rPr>
              <a:t>Calculate process efficiency</a:t>
            </a:r>
            <a:endParaRPr lang="en-US" sz="1050" dirty="0"/>
          </a:p>
        </p:txBody>
      </p:sp>
      <p:sp>
        <p:nvSpPr>
          <p:cNvPr id="30" name="Text 27"/>
          <p:cNvSpPr/>
          <p:nvPr/>
        </p:nvSpPr>
        <p:spPr>
          <a:xfrm>
            <a:off x="594360" y="5248656"/>
            <a:ext cx="5212080" cy="457200"/>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Process efficiency (%) = (value-adding time ÷ total lead time) × 100.</a:t>
            </a:r>
            <a:endParaRPr lang="en-US" sz="1000" dirty="0"/>
          </a:p>
        </p:txBody>
      </p:sp>
      <p:sp>
        <p:nvSpPr>
          <p:cNvPr id="31" name="Shape 28"/>
          <p:cNvSpPr/>
          <p:nvPr/>
        </p:nvSpPr>
        <p:spPr>
          <a:xfrm>
            <a:off x="228600" y="5760720"/>
            <a:ext cx="5577840" cy="512064"/>
          </a:xfrm>
          <a:prstGeom prst="rect">
            <a:avLst/>
          </a:prstGeom>
          <a:solidFill>
            <a:srgbClr val="E0F4FD"/>
          </a:solidFill>
          <a:ln w="6350">
            <a:solidFill>
              <a:srgbClr val="009FE3"/>
            </a:solidFill>
            <a:prstDash val="solid"/>
          </a:ln>
        </p:spPr>
        <p:txBody>
          <a:bodyPr/>
          <a:lstStyle/>
          <a:p>
            <a:endParaRPr lang="en-GB"/>
          </a:p>
        </p:txBody>
      </p:sp>
      <p:sp>
        <p:nvSpPr>
          <p:cNvPr id="32" name="Text 29"/>
          <p:cNvSpPr/>
          <p:nvPr/>
        </p:nvSpPr>
        <p:spPr>
          <a:xfrm>
            <a:off x="320040" y="5815584"/>
            <a:ext cx="5394960" cy="384048"/>
          </a:xfrm>
          <a:prstGeom prst="rect">
            <a:avLst/>
          </a:prstGeom>
          <a:noFill/>
          <a:ln/>
        </p:spPr>
        <p:txBody>
          <a:bodyPr wrap="square" rtlCol="0" anchor="ctr"/>
          <a:lstStyle/>
          <a:p>
            <a:pPr marL="0" indent="0">
              <a:buNone/>
            </a:pPr>
            <a:r>
              <a:rPr lang="en-US" sz="1000" i="1" dirty="0">
                <a:solidFill>
                  <a:srgbClr val="1E3A5F"/>
                </a:solidFill>
                <a:latin typeface="Arial" pitchFamily="34" charset="0"/>
                <a:ea typeface="Arial" pitchFamily="34" charset="-122"/>
                <a:cs typeface="Arial" pitchFamily="34" charset="-120"/>
              </a:rPr>
              <a:t>Most UK manufacturers see process efficiencies of 1–10% on their first VSM. This is not unusual. It is the baseline from which improvement begins.</a:t>
            </a:r>
            <a:endParaRPr lang="en-US" sz="1000" dirty="0"/>
          </a:p>
        </p:txBody>
      </p:sp>
      <p:sp>
        <p:nvSpPr>
          <p:cNvPr id="33" name="Shape 30"/>
          <p:cNvSpPr/>
          <p:nvPr/>
        </p:nvSpPr>
        <p:spPr>
          <a:xfrm>
            <a:off x="6035040" y="987552"/>
            <a:ext cx="5897880" cy="5285232"/>
          </a:xfrm>
          <a:prstGeom prst="rect">
            <a:avLst/>
          </a:prstGeom>
          <a:solidFill>
            <a:srgbClr val="FFFFFF"/>
          </a:solidFill>
          <a:ln w="6350">
            <a:solidFill>
              <a:srgbClr val="D8D8D8"/>
            </a:solidFill>
            <a:prstDash val="solid"/>
          </a:ln>
        </p:spPr>
        <p:txBody>
          <a:bodyPr/>
          <a:lstStyle/>
          <a:p>
            <a:endParaRPr lang="en-GB"/>
          </a:p>
        </p:txBody>
      </p:sp>
      <p:sp>
        <p:nvSpPr>
          <p:cNvPr id="34" name="Text 31"/>
          <p:cNvSpPr/>
          <p:nvPr/>
        </p:nvSpPr>
        <p:spPr>
          <a:xfrm>
            <a:off x="6126480" y="1024128"/>
            <a:ext cx="5715000" cy="237744"/>
          </a:xfrm>
          <a:prstGeom prst="rect">
            <a:avLst/>
          </a:prstGeom>
          <a:noFill/>
          <a:ln/>
        </p:spPr>
        <p:txBody>
          <a:bodyPr wrap="square" rtlCol="0" anchor="ctr"/>
          <a:lstStyle/>
          <a:p>
            <a:pPr marL="0" indent="0">
              <a:buNone/>
            </a:pPr>
            <a:r>
              <a:rPr lang="en-US" sz="950" i="1" dirty="0">
                <a:solidFill>
                  <a:srgbClr val="5B595A"/>
                </a:solidFill>
                <a:latin typeface="Arial" pitchFamily="34" charset="0"/>
                <a:ea typeface="Arial" pitchFamily="34" charset="-122"/>
                <a:cs typeface="Arial" pitchFamily="34" charset="-120"/>
              </a:rPr>
              <a:t>Example timeline: 6-step process:</a:t>
            </a:r>
            <a:endParaRPr lang="en-US" sz="950" dirty="0"/>
          </a:p>
        </p:txBody>
      </p:sp>
      <p:sp>
        <p:nvSpPr>
          <p:cNvPr id="35" name="Shape 32"/>
          <p:cNvSpPr/>
          <p:nvPr/>
        </p:nvSpPr>
        <p:spPr>
          <a:xfrm>
            <a:off x="6126480" y="1335024"/>
            <a:ext cx="804672" cy="256032"/>
          </a:xfrm>
          <a:prstGeom prst="rect">
            <a:avLst/>
          </a:prstGeom>
          <a:solidFill>
            <a:srgbClr val="1E3A5F"/>
          </a:solidFill>
          <a:ln/>
        </p:spPr>
        <p:txBody>
          <a:bodyPr/>
          <a:lstStyle/>
          <a:p>
            <a:endParaRPr lang="en-GB"/>
          </a:p>
        </p:txBody>
      </p:sp>
      <p:sp>
        <p:nvSpPr>
          <p:cNvPr id="36" name="Text 33"/>
          <p:cNvSpPr/>
          <p:nvPr/>
        </p:nvSpPr>
        <p:spPr>
          <a:xfrm>
            <a:off x="6126480" y="1344168"/>
            <a:ext cx="804672" cy="237744"/>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GDS IN</a:t>
            </a:r>
            <a:endParaRPr lang="en-US" sz="700" dirty="0"/>
          </a:p>
        </p:txBody>
      </p:sp>
      <p:sp>
        <p:nvSpPr>
          <p:cNvPr id="37" name="Shape 34"/>
          <p:cNvSpPr/>
          <p:nvPr/>
        </p:nvSpPr>
        <p:spPr>
          <a:xfrm>
            <a:off x="6126480" y="1591056"/>
            <a:ext cx="804672" cy="347472"/>
          </a:xfrm>
          <a:prstGeom prst="rect">
            <a:avLst/>
          </a:prstGeom>
          <a:solidFill>
            <a:srgbClr val="E0F4FD"/>
          </a:solidFill>
          <a:ln w="3810">
            <a:solidFill>
              <a:srgbClr val="D8D8D8"/>
            </a:solidFill>
            <a:prstDash val="solid"/>
          </a:ln>
        </p:spPr>
        <p:txBody>
          <a:bodyPr/>
          <a:lstStyle/>
          <a:p>
            <a:endParaRPr lang="en-GB"/>
          </a:p>
        </p:txBody>
      </p:sp>
      <p:sp>
        <p:nvSpPr>
          <p:cNvPr id="38" name="Shape 35"/>
          <p:cNvSpPr/>
          <p:nvPr/>
        </p:nvSpPr>
        <p:spPr>
          <a:xfrm>
            <a:off x="7077456" y="1335024"/>
            <a:ext cx="804672" cy="256032"/>
          </a:xfrm>
          <a:prstGeom prst="rect">
            <a:avLst/>
          </a:prstGeom>
          <a:solidFill>
            <a:srgbClr val="1E3A5F"/>
          </a:solidFill>
          <a:ln/>
        </p:spPr>
        <p:txBody>
          <a:bodyPr/>
          <a:lstStyle/>
          <a:p>
            <a:endParaRPr lang="en-GB"/>
          </a:p>
        </p:txBody>
      </p:sp>
      <p:sp>
        <p:nvSpPr>
          <p:cNvPr id="39" name="Text 36"/>
          <p:cNvSpPr/>
          <p:nvPr/>
        </p:nvSpPr>
        <p:spPr>
          <a:xfrm>
            <a:off x="7077456" y="1344168"/>
            <a:ext cx="804672" cy="237744"/>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TURNING</a:t>
            </a:r>
            <a:endParaRPr lang="en-US" sz="700" dirty="0"/>
          </a:p>
        </p:txBody>
      </p:sp>
      <p:sp>
        <p:nvSpPr>
          <p:cNvPr id="40" name="Shape 37"/>
          <p:cNvSpPr/>
          <p:nvPr/>
        </p:nvSpPr>
        <p:spPr>
          <a:xfrm>
            <a:off x="7077456" y="1591056"/>
            <a:ext cx="804672" cy="347472"/>
          </a:xfrm>
          <a:prstGeom prst="rect">
            <a:avLst/>
          </a:prstGeom>
          <a:solidFill>
            <a:srgbClr val="E0F4FD"/>
          </a:solidFill>
          <a:ln w="3810">
            <a:solidFill>
              <a:srgbClr val="D8D8D8"/>
            </a:solidFill>
            <a:prstDash val="solid"/>
          </a:ln>
        </p:spPr>
        <p:txBody>
          <a:bodyPr/>
          <a:lstStyle/>
          <a:p>
            <a:endParaRPr lang="en-GB"/>
          </a:p>
        </p:txBody>
      </p:sp>
      <p:sp>
        <p:nvSpPr>
          <p:cNvPr id="41" name="Shape 38"/>
          <p:cNvSpPr/>
          <p:nvPr/>
        </p:nvSpPr>
        <p:spPr>
          <a:xfrm>
            <a:off x="8028432" y="1335024"/>
            <a:ext cx="804672" cy="256032"/>
          </a:xfrm>
          <a:prstGeom prst="rect">
            <a:avLst/>
          </a:prstGeom>
          <a:solidFill>
            <a:srgbClr val="1E3A5F"/>
          </a:solidFill>
          <a:ln/>
        </p:spPr>
        <p:txBody>
          <a:bodyPr/>
          <a:lstStyle/>
          <a:p>
            <a:endParaRPr lang="en-GB"/>
          </a:p>
        </p:txBody>
      </p:sp>
      <p:sp>
        <p:nvSpPr>
          <p:cNvPr id="42" name="Text 39"/>
          <p:cNvSpPr/>
          <p:nvPr/>
        </p:nvSpPr>
        <p:spPr>
          <a:xfrm>
            <a:off x="8028432" y="1344168"/>
            <a:ext cx="804672" cy="237744"/>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MILLING</a:t>
            </a:r>
            <a:endParaRPr lang="en-US" sz="700" dirty="0"/>
          </a:p>
        </p:txBody>
      </p:sp>
      <p:sp>
        <p:nvSpPr>
          <p:cNvPr id="43" name="Shape 40"/>
          <p:cNvSpPr/>
          <p:nvPr/>
        </p:nvSpPr>
        <p:spPr>
          <a:xfrm>
            <a:off x="8028432" y="1591056"/>
            <a:ext cx="804672" cy="347472"/>
          </a:xfrm>
          <a:prstGeom prst="rect">
            <a:avLst/>
          </a:prstGeom>
          <a:solidFill>
            <a:srgbClr val="E0F4FD"/>
          </a:solidFill>
          <a:ln w="3810">
            <a:solidFill>
              <a:srgbClr val="D8D8D8"/>
            </a:solidFill>
            <a:prstDash val="solid"/>
          </a:ln>
        </p:spPr>
        <p:txBody>
          <a:bodyPr/>
          <a:lstStyle/>
          <a:p>
            <a:endParaRPr lang="en-GB"/>
          </a:p>
        </p:txBody>
      </p:sp>
      <p:sp>
        <p:nvSpPr>
          <p:cNvPr id="44" name="Shape 41"/>
          <p:cNvSpPr/>
          <p:nvPr/>
        </p:nvSpPr>
        <p:spPr>
          <a:xfrm>
            <a:off x="8979408" y="1335024"/>
            <a:ext cx="804672" cy="256032"/>
          </a:xfrm>
          <a:prstGeom prst="rect">
            <a:avLst/>
          </a:prstGeom>
          <a:solidFill>
            <a:srgbClr val="1E3A5F"/>
          </a:solidFill>
          <a:ln/>
        </p:spPr>
        <p:txBody>
          <a:bodyPr/>
          <a:lstStyle/>
          <a:p>
            <a:endParaRPr lang="en-GB"/>
          </a:p>
        </p:txBody>
      </p:sp>
      <p:sp>
        <p:nvSpPr>
          <p:cNvPr id="45" name="Text 42"/>
          <p:cNvSpPr/>
          <p:nvPr/>
        </p:nvSpPr>
        <p:spPr>
          <a:xfrm>
            <a:off x="8979408" y="1344168"/>
            <a:ext cx="804672" cy="237744"/>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DEBURR</a:t>
            </a:r>
            <a:endParaRPr lang="en-US" sz="700" dirty="0"/>
          </a:p>
        </p:txBody>
      </p:sp>
      <p:sp>
        <p:nvSpPr>
          <p:cNvPr id="46" name="Shape 43"/>
          <p:cNvSpPr/>
          <p:nvPr/>
        </p:nvSpPr>
        <p:spPr>
          <a:xfrm>
            <a:off x="8979408" y="1591056"/>
            <a:ext cx="804672" cy="347472"/>
          </a:xfrm>
          <a:prstGeom prst="rect">
            <a:avLst/>
          </a:prstGeom>
          <a:solidFill>
            <a:srgbClr val="E0F4FD"/>
          </a:solidFill>
          <a:ln w="3810">
            <a:solidFill>
              <a:srgbClr val="D8D8D8"/>
            </a:solidFill>
            <a:prstDash val="solid"/>
          </a:ln>
        </p:spPr>
        <p:txBody>
          <a:bodyPr/>
          <a:lstStyle/>
          <a:p>
            <a:endParaRPr lang="en-GB"/>
          </a:p>
        </p:txBody>
      </p:sp>
      <p:sp>
        <p:nvSpPr>
          <p:cNvPr id="47" name="Shape 44"/>
          <p:cNvSpPr/>
          <p:nvPr/>
        </p:nvSpPr>
        <p:spPr>
          <a:xfrm>
            <a:off x="9930384" y="1335024"/>
            <a:ext cx="804672" cy="256032"/>
          </a:xfrm>
          <a:prstGeom prst="rect">
            <a:avLst/>
          </a:prstGeom>
          <a:solidFill>
            <a:srgbClr val="1E3A5F"/>
          </a:solidFill>
          <a:ln/>
        </p:spPr>
        <p:txBody>
          <a:bodyPr/>
          <a:lstStyle/>
          <a:p>
            <a:endParaRPr lang="en-GB"/>
          </a:p>
        </p:txBody>
      </p:sp>
      <p:sp>
        <p:nvSpPr>
          <p:cNvPr id="48" name="Text 45"/>
          <p:cNvSpPr/>
          <p:nvPr/>
        </p:nvSpPr>
        <p:spPr>
          <a:xfrm>
            <a:off x="9930384" y="1344168"/>
            <a:ext cx="804672" cy="237744"/>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INSPECT</a:t>
            </a:r>
            <a:endParaRPr lang="en-US" sz="700" dirty="0"/>
          </a:p>
        </p:txBody>
      </p:sp>
      <p:sp>
        <p:nvSpPr>
          <p:cNvPr id="49" name="Shape 46"/>
          <p:cNvSpPr/>
          <p:nvPr/>
        </p:nvSpPr>
        <p:spPr>
          <a:xfrm>
            <a:off x="9930384" y="1591056"/>
            <a:ext cx="804672" cy="347472"/>
          </a:xfrm>
          <a:prstGeom prst="rect">
            <a:avLst/>
          </a:prstGeom>
          <a:solidFill>
            <a:srgbClr val="E0F4FD"/>
          </a:solidFill>
          <a:ln w="3810">
            <a:solidFill>
              <a:srgbClr val="D8D8D8"/>
            </a:solidFill>
            <a:prstDash val="solid"/>
          </a:ln>
        </p:spPr>
        <p:txBody>
          <a:bodyPr/>
          <a:lstStyle/>
          <a:p>
            <a:endParaRPr lang="en-GB"/>
          </a:p>
        </p:txBody>
      </p:sp>
      <p:sp>
        <p:nvSpPr>
          <p:cNvPr id="50" name="Shape 47"/>
          <p:cNvSpPr/>
          <p:nvPr/>
        </p:nvSpPr>
        <p:spPr>
          <a:xfrm>
            <a:off x="10881360" y="1335024"/>
            <a:ext cx="804672" cy="256032"/>
          </a:xfrm>
          <a:prstGeom prst="rect">
            <a:avLst/>
          </a:prstGeom>
          <a:solidFill>
            <a:srgbClr val="1E3A5F"/>
          </a:solidFill>
          <a:ln/>
        </p:spPr>
        <p:txBody>
          <a:bodyPr/>
          <a:lstStyle/>
          <a:p>
            <a:endParaRPr lang="en-GB"/>
          </a:p>
        </p:txBody>
      </p:sp>
      <p:sp>
        <p:nvSpPr>
          <p:cNvPr id="51" name="Text 48"/>
          <p:cNvSpPr/>
          <p:nvPr/>
        </p:nvSpPr>
        <p:spPr>
          <a:xfrm>
            <a:off x="10881360" y="1344168"/>
            <a:ext cx="804672" cy="237744"/>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DESPATCH</a:t>
            </a:r>
            <a:endParaRPr lang="en-US" sz="700" dirty="0"/>
          </a:p>
        </p:txBody>
      </p:sp>
      <p:sp>
        <p:nvSpPr>
          <p:cNvPr id="52" name="Shape 49"/>
          <p:cNvSpPr/>
          <p:nvPr/>
        </p:nvSpPr>
        <p:spPr>
          <a:xfrm>
            <a:off x="10881360" y="1591056"/>
            <a:ext cx="804672" cy="347472"/>
          </a:xfrm>
          <a:prstGeom prst="rect">
            <a:avLst/>
          </a:prstGeom>
          <a:solidFill>
            <a:srgbClr val="E0F4FD"/>
          </a:solidFill>
          <a:ln w="3810">
            <a:solidFill>
              <a:srgbClr val="D8D8D8"/>
            </a:solidFill>
            <a:prstDash val="solid"/>
          </a:ln>
        </p:spPr>
        <p:txBody>
          <a:bodyPr/>
          <a:lstStyle/>
          <a:p>
            <a:endParaRPr lang="en-GB"/>
          </a:p>
        </p:txBody>
      </p:sp>
      <p:sp>
        <p:nvSpPr>
          <p:cNvPr id="53" name="Shape 50"/>
          <p:cNvSpPr/>
          <p:nvPr/>
        </p:nvSpPr>
        <p:spPr>
          <a:xfrm>
            <a:off x="6967728" y="1444752"/>
            <a:ext cx="128016" cy="201168"/>
          </a:xfrm>
          <a:prstGeom prst="rect">
            <a:avLst/>
          </a:prstGeom>
          <a:solidFill>
            <a:srgbClr val="D97706"/>
          </a:solidFill>
          <a:ln/>
        </p:spPr>
        <p:txBody>
          <a:bodyPr/>
          <a:lstStyle/>
          <a:p>
            <a:endParaRPr lang="en-GB"/>
          </a:p>
        </p:txBody>
      </p:sp>
      <p:sp>
        <p:nvSpPr>
          <p:cNvPr id="54" name="Shape 51"/>
          <p:cNvSpPr/>
          <p:nvPr/>
        </p:nvSpPr>
        <p:spPr>
          <a:xfrm>
            <a:off x="7918704" y="1444752"/>
            <a:ext cx="128016" cy="201168"/>
          </a:xfrm>
          <a:prstGeom prst="rect">
            <a:avLst/>
          </a:prstGeom>
          <a:solidFill>
            <a:srgbClr val="D97706"/>
          </a:solidFill>
          <a:ln/>
        </p:spPr>
        <p:txBody>
          <a:bodyPr/>
          <a:lstStyle/>
          <a:p>
            <a:endParaRPr lang="en-GB"/>
          </a:p>
        </p:txBody>
      </p:sp>
      <p:sp>
        <p:nvSpPr>
          <p:cNvPr id="55" name="Shape 52"/>
          <p:cNvSpPr/>
          <p:nvPr/>
        </p:nvSpPr>
        <p:spPr>
          <a:xfrm>
            <a:off x="8869680" y="1444752"/>
            <a:ext cx="128016" cy="201168"/>
          </a:xfrm>
          <a:prstGeom prst="rect">
            <a:avLst/>
          </a:prstGeom>
          <a:solidFill>
            <a:srgbClr val="D97706"/>
          </a:solidFill>
          <a:ln/>
        </p:spPr>
        <p:txBody>
          <a:bodyPr/>
          <a:lstStyle/>
          <a:p>
            <a:endParaRPr lang="en-GB"/>
          </a:p>
        </p:txBody>
      </p:sp>
      <p:sp>
        <p:nvSpPr>
          <p:cNvPr id="56" name="Shape 53"/>
          <p:cNvSpPr/>
          <p:nvPr/>
        </p:nvSpPr>
        <p:spPr>
          <a:xfrm>
            <a:off x="9820656" y="1444752"/>
            <a:ext cx="128016" cy="201168"/>
          </a:xfrm>
          <a:prstGeom prst="rect">
            <a:avLst/>
          </a:prstGeom>
          <a:solidFill>
            <a:srgbClr val="D97706"/>
          </a:solidFill>
          <a:ln/>
        </p:spPr>
        <p:txBody>
          <a:bodyPr/>
          <a:lstStyle/>
          <a:p>
            <a:endParaRPr lang="en-GB"/>
          </a:p>
        </p:txBody>
      </p:sp>
      <p:sp>
        <p:nvSpPr>
          <p:cNvPr id="57" name="Shape 54"/>
          <p:cNvSpPr/>
          <p:nvPr/>
        </p:nvSpPr>
        <p:spPr>
          <a:xfrm>
            <a:off x="10771632" y="1444752"/>
            <a:ext cx="128016" cy="201168"/>
          </a:xfrm>
          <a:prstGeom prst="rect">
            <a:avLst/>
          </a:prstGeom>
          <a:solidFill>
            <a:srgbClr val="B91C1C"/>
          </a:solidFill>
          <a:ln/>
        </p:spPr>
        <p:txBody>
          <a:bodyPr/>
          <a:lstStyle/>
          <a:p>
            <a:endParaRPr lang="en-GB"/>
          </a:p>
        </p:txBody>
      </p:sp>
      <p:sp>
        <p:nvSpPr>
          <p:cNvPr id="58" name="Shape 55"/>
          <p:cNvSpPr/>
          <p:nvPr/>
        </p:nvSpPr>
        <p:spPr>
          <a:xfrm>
            <a:off x="6126480" y="2103120"/>
            <a:ext cx="5669280" cy="36576"/>
          </a:xfrm>
          <a:prstGeom prst="rect">
            <a:avLst/>
          </a:prstGeom>
          <a:solidFill>
            <a:srgbClr val="5B595A"/>
          </a:solidFill>
          <a:ln/>
        </p:spPr>
        <p:txBody>
          <a:bodyPr/>
          <a:lstStyle/>
          <a:p>
            <a:endParaRPr lang="en-GB"/>
          </a:p>
        </p:txBody>
      </p:sp>
      <p:sp>
        <p:nvSpPr>
          <p:cNvPr id="59" name="Shape 56"/>
          <p:cNvSpPr/>
          <p:nvPr/>
        </p:nvSpPr>
        <p:spPr>
          <a:xfrm>
            <a:off x="6126480" y="1792224"/>
            <a:ext cx="804672" cy="292608"/>
          </a:xfrm>
          <a:prstGeom prst="rect">
            <a:avLst/>
          </a:prstGeom>
          <a:solidFill>
            <a:srgbClr val="B91C1C"/>
          </a:solidFill>
          <a:ln w="3810">
            <a:solidFill>
              <a:srgbClr val="AA0000"/>
            </a:solidFill>
            <a:prstDash val="solid"/>
          </a:ln>
        </p:spPr>
        <p:txBody>
          <a:bodyPr/>
          <a:lstStyle/>
          <a:p>
            <a:endParaRPr lang="en-GB"/>
          </a:p>
        </p:txBody>
      </p:sp>
      <p:sp>
        <p:nvSpPr>
          <p:cNvPr id="60" name="Text 57"/>
          <p:cNvSpPr/>
          <p:nvPr/>
        </p:nvSpPr>
        <p:spPr>
          <a:xfrm>
            <a:off x="6126480" y="1801368"/>
            <a:ext cx="804672" cy="274320"/>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2.0d</a:t>
            </a:r>
            <a:endParaRPr lang="en-US" sz="750" dirty="0"/>
          </a:p>
        </p:txBody>
      </p:sp>
      <p:sp>
        <p:nvSpPr>
          <p:cNvPr id="61" name="Shape 58"/>
          <p:cNvSpPr/>
          <p:nvPr/>
        </p:nvSpPr>
        <p:spPr>
          <a:xfrm>
            <a:off x="6126480" y="2157984"/>
            <a:ext cx="804672" cy="237744"/>
          </a:xfrm>
          <a:prstGeom prst="rect">
            <a:avLst/>
          </a:prstGeom>
          <a:solidFill>
            <a:srgbClr val="217346"/>
          </a:solidFill>
          <a:ln w="3810">
            <a:solidFill>
              <a:srgbClr val="115533"/>
            </a:solidFill>
            <a:prstDash val="solid"/>
          </a:ln>
        </p:spPr>
        <p:txBody>
          <a:bodyPr/>
          <a:lstStyle/>
          <a:p>
            <a:endParaRPr lang="en-GB"/>
          </a:p>
        </p:txBody>
      </p:sp>
      <p:sp>
        <p:nvSpPr>
          <p:cNvPr id="62" name="Text 59"/>
          <p:cNvSpPr/>
          <p:nvPr/>
        </p:nvSpPr>
        <p:spPr>
          <a:xfrm>
            <a:off x="6126480" y="2167128"/>
            <a:ext cx="804672" cy="219456"/>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15m</a:t>
            </a:r>
            <a:endParaRPr lang="en-US" sz="750" dirty="0"/>
          </a:p>
        </p:txBody>
      </p:sp>
      <p:sp>
        <p:nvSpPr>
          <p:cNvPr id="63" name="Shape 60"/>
          <p:cNvSpPr/>
          <p:nvPr/>
        </p:nvSpPr>
        <p:spPr>
          <a:xfrm>
            <a:off x="7077456" y="1792224"/>
            <a:ext cx="804672" cy="292608"/>
          </a:xfrm>
          <a:prstGeom prst="rect">
            <a:avLst/>
          </a:prstGeom>
          <a:solidFill>
            <a:srgbClr val="B91C1C"/>
          </a:solidFill>
          <a:ln w="3810">
            <a:solidFill>
              <a:srgbClr val="AA0000"/>
            </a:solidFill>
            <a:prstDash val="solid"/>
          </a:ln>
        </p:spPr>
        <p:txBody>
          <a:bodyPr/>
          <a:lstStyle/>
          <a:p>
            <a:endParaRPr lang="en-GB"/>
          </a:p>
        </p:txBody>
      </p:sp>
      <p:sp>
        <p:nvSpPr>
          <p:cNvPr id="64" name="Text 61"/>
          <p:cNvSpPr/>
          <p:nvPr/>
        </p:nvSpPr>
        <p:spPr>
          <a:xfrm>
            <a:off x="7077456" y="1801368"/>
            <a:ext cx="804672" cy="274320"/>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4.5d</a:t>
            </a:r>
            <a:endParaRPr lang="en-US" sz="750" dirty="0"/>
          </a:p>
        </p:txBody>
      </p:sp>
      <p:sp>
        <p:nvSpPr>
          <p:cNvPr id="65" name="Shape 62"/>
          <p:cNvSpPr/>
          <p:nvPr/>
        </p:nvSpPr>
        <p:spPr>
          <a:xfrm>
            <a:off x="7077456" y="2157984"/>
            <a:ext cx="804672" cy="237744"/>
          </a:xfrm>
          <a:prstGeom prst="rect">
            <a:avLst/>
          </a:prstGeom>
          <a:solidFill>
            <a:srgbClr val="217346"/>
          </a:solidFill>
          <a:ln w="3810">
            <a:solidFill>
              <a:srgbClr val="115533"/>
            </a:solidFill>
            <a:prstDash val="solid"/>
          </a:ln>
        </p:spPr>
        <p:txBody>
          <a:bodyPr/>
          <a:lstStyle/>
          <a:p>
            <a:endParaRPr lang="en-GB"/>
          </a:p>
        </p:txBody>
      </p:sp>
      <p:sp>
        <p:nvSpPr>
          <p:cNvPr id="66" name="Text 63"/>
          <p:cNvSpPr/>
          <p:nvPr/>
        </p:nvSpPr>
        <p:spPr>
          <a:xfrm>
            <a:off x="7077456" y="2167128"/>
            <a:ext cx="804672" cy="219456"/>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42m</a:t>
            </a:r>
            <a:endParaRPr lang="en-US" sz="750" dirty="0"/>
          </a:p>
        </p:txBody>
      </p:sp>
      <p:sp>
        <p:nvSpPr>
          <p:cNvPr id="67" name="Shape 64"/>
          <p:cNvSpPr/>
          <p:nvPr/>
        </p:nvSpPr>
        <p:spPr>
          <a:xfrm>
            <a:off x="8028432" y="1792224"/>
            <a:ext cx="804672" cy="292608"/>
          </a:xfrm>
          <a:prstGeom prst="rect">
            <a:avLst/>
          </a:prstGeom>
          <a:solidFill>
            <a:srgbClr val="B91C1C"/>
          </a:solidFill>
          <a:ln w="3810">
            <a:solidFill>
              <a:srgbClr val="AA0000"/>
            </a:solidFill>
            <a:prstDash val="solid"/>
          </a:ln>
        </p:spPr>
        <p:txBody>
          <a:bodyPr/>
          <a:lstStyle/>
          <a:p>
            <a:endParaRPr lang="en-GB"/>
          </a:p>
        </p:txBody>
      </p:sp>
      <p:sp>
        <p:nvSpPr>
          <p:cNvPr id="68" name="Text 65"/>
          <p:cNvSpPr/>
          <p:nvPr/>
        </p:nvSpPr>
        <p:spPr>
          <a:xfrm>
            <a:off x="8028432" y="1801368"/>
            <a:ext cx="804672" cy="274320"/>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3.8d</a:t>
            </a:r>
            <a:endParaRPr lang="en-US" sz="750" dirty="0"/>
          </a:p>
        </p:txBody>
      </p:sp>
      <p:sp>
        <p:nvSpPr>
          <p:cNvPr id="69" name="Shape 66"/>
          <p:cNvSpPr/>
          <p:nvPr/>
        </p:nvSpPr>
        <p:spPr>
          <a:xfrm>
            <a:off x="8028432" y="2157984"/>
            <a:ext cx="804672" cy="237744"/>
          </a:xfrm>
          <a:prstGeom prst="rect">
            <a:avLst/>
          </a:prstGeom>
          <a:solidFill>
            <a:srgbClr val="217346"/>
          </a:solidFill>
          <a:ln w="3810">
            <a:solidFill>
              <a:srgbClr val="115533"/>
            </a:solidFill>
            <a:prstDash val="solid"/>
          </a:ln>
        </p:spPr>
        <p:txBody>
          <a:bodyPr/>
          <a:lstStyle/>
          <a:p>
            <a:endParaRPr lang="en-GB"/>
          </a:p>
        </p:txBody>
      </p:sp>
      <p:sp>
        <p:nvSpPr>
          <p:cNvPr id="70" name="Text 67"/>
          <p:cNvSpPr/>
          <p:nvPr/>
        </p:nvSpPr>
        <p:spPr>
          <a:xfrm>
            <a:off x="8028432" y="2167128"/>
            <a:ext cx="804672" cy="219456"/>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38m</a:t>
            </a:r>
            <a:endParaRPr lang="en-US" sz="750" dirty="0"/>
          </a:p>
        </p:txBody>
      </p:sp>
      <p:sp>
        <p:nvSpPr>
          <p:cNvPr id="71" name="Shape 68"/>
          <p:cNvSpPr/>
          <p:nvPr/>
        </p:nvSpPr>
        <p:spPr>
          <a:xfrm>
            <a:off x="8979408" y="1792224"/>
            <a:ext cx="804672" cy="292608"/>
          </a:xfrm>
          <a:prstGeom prst="rect">
            <a:avLst/>
          </a:prstGeom>
          <a:solidFill>
            <a:srgbClr val="B91C1C"/>
          </a:solidFill>
          <a:ln w="3810">
            <a:solidFill>
              <a:srgbClr val="AA0000"/>
            </a:solidFill>
            <a:prstDash val="solid"/>
          </a:ln>
        </p:spPr>
        <p:txBody>
          <a:bodyPr/>
          <a:lstStyle/>
          <a:p>
            <a:endParaRPr lang="en-GB"/>
          </a:p>
        </p:txBody>
      </p:sp>
      <p:sp>
        <p:nvSpPr>
          <p:cNvPr id="72" name="Text 69"/>
          <p:cNvSpPr/>
          <p:nvPr/>
        </p:nvSpPr>
        <p:spPr>
          <a:xfrm>
            <a:off x="8979408" y="1801368"/>
            <a:ext cx="804672" cy="274320"/>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2.2d</a:t>
            </a:r>
            <a:endParaRPr lang="en-US" sz="750" dirty="0"/>
          </a:p>
        </p:txBody>
      </p:sp>
      <p:sp>
        <p:nvSpPr>
          <p:cNvPr id="73" name="Shape 70"/>
          <p:cNvSpPr/>
          <p:nvPr/>
        </p:nvSpPr>
        <p:spPr>
          <a:xfrm>
            <a:off x="8979408" y="2157984"/>
            <a:ext cx="804672" cy="237744"/>
          </a:xfrm>
          <a:prstGeom prst="rect">
            <a:avLst/>
          </a:prstGeom>
          <a:solidFill>
            <a:srgbClr val="217346"/>
          </a:solidFill>
          <a:ln w="3810">
            <a:solidFill>
              <a:srgbClr val="115533"/>
            </a:solidFill>
            <a:prstDash val="solid"/>
          </a:ln>
        </p:spPr>
        <p:txBody>
          <a:bodyPr/>
          <a:lstStyle/>
          <a:p>
            <a:endParaRPr lang="en-GB"/>
          </a:p>
        </p:txBody>
      </p:sp>
      <p:sp>
        <p:nvSpPr>
          <p:cNvPr id="74" name="Text 71"/>
          <p:cNvSpPr/>
          <p:nvPr/>
        </p:nvSpPr>
        <p:spPr>
          <a:xfrm>
            <a:off x="8979408" y="2167128"/>
            <a:ext cx="804672" cy="219456"/>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22m</a:t>
            </a:r>
            <a:endParaRPr lang="en-US" sz="750" dirty="0"/>
          </a:p>
        </p:txBody>
      </p:sp>
      <p:sp>
        <p:nvSpPr>
          <p:cNvPr id="75" name="Shape 72"/>
          <p:cNvSpPr/>
          <p:nvPr/>
        </p:nvSpPr>
        <p:spPr>
          <a:xfrm>
            <a:off x="9930384" y="1792224"/>
            <a:ext cx="804672" cy="292608"/>
          </a:xfrm>
          <a:prstGeom prst="rect">
            <a:avLst/>
          </a:prstGeom>
          <a:solidFill>
            <a:srgbClr val="B91C1C"/>
          </a:solidFill>
          <a:ln w="3810">
            <a:solidFill>
              <a:srgbClr val="AA0000"/>
            </a:solidFill>
            <a:prstDash val="solid"/>
          </a:ln>
        </p:spPr>
        <p:txBody>
          <a:bodyPr/>
          <a:lstStyle/>
          <a:p>
            <a:endParaRPr lang="en-GB"/>
          </a:p>
        </p:txBody>
      </p:sp>
      <p:sp>
        <p:nvSpPr>
          <p:cNvPr id="76" name="Text 73"/>
          <p:cNvSpPr/>
          <p:nvPr/>
        </p:nvSpPr>
        <p:spPr>
          <a:xfrm>
            <a:off x="9930384" y="1801368"/>
            <a:ext cx="804672" cy="274320"/>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5.2d</a:t>
            </a:r>
            <a:endParaRPr lang="en-US" sz="750" dirty="0"/>
          </a:p>
        </p:txBody>
      </p:sp>
      <p:sp>
        <p:nvSpPr>
          <p:cNvPr id="77" name="Shape 74"/>
          <p:cNvSpPr/>
          <p:nvPr/>
        </p:nvSpPr>
        <p:spPr>
          <a:xfrm>
            <a:off x="9930384" y="2157984"/>
            <a:ext cx="804672" cy="237744"/>
          </a:xfrm>
          <a:prstGeom prst="rect">
            <a:avLst/>
          </a:prstGeom>
          <a:solidFill>
            <a:srgbClr val="217346"/>
          </a:solidFill>
          <a:ln w="3810">
            <a:solidFill>
              <a:srgbClr val="115533"/>
            </a:solidFill>
            <a:prstDash val="solid"/>
          </a:ln>
        </p:spPr>
        <p:txBody>
          <a:bodyPr/>
          <a:lstStyle/>
          <a:p>
            <a:endParaRPr lang="en-GB"/>
          </a:p>
        </p:txBody>
      </p:sp>
      <p:sp>
        <p:nvSpPr>
          <p:cNvPr id="78" name="Text 75"/>
          <p:cNvSpPr/>
          <p:nvPr/>
        </p:nvSpPr>
        <p:spPr>
          <a:xfrm>
            <a:off x="9930384" y="2167128"/>
            <a:ext cx="804672" cy="219456"/>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55m</a:t>
            </a:r>
            <a:endParaRPr lang="en-US" sz="750" dirty="0"/>
          </a:p>
        </p:txBody>
      </p:sp>
      <p:sp>
        <p:nvSpPr>
          <p:cNvPr id="79" name="Shape 76"/>
          <p:cNvSpPr/>
          <p:nvPr/>
        </p:nvSpPr>
        <p:spPr>
          <a:xfrm>
            <a:off x="10881360" y="1792224"/>
            <a:ext cx="804672" cy="292608"/>
          </a:xfrm>
          <a:prstGeom prst="rect">
            <a:avLst/>
          </a:prstGeom>
          <a:solidFill>
            <a:srgbClr val="B91C1C"/>
          </a:solidFill>
          <a:ln w="3810">
            <a:solidFill>
              <a:srgbClr val="AA0000"/>
            </a:solidFill>
            <a:prstDash val="solid"/>
          </a:ln>
        </p:spPr>
        <p:txBody>
          <a:bodyPr/>
          <a:lstStyle/>
          <a:p>
            <a:endParaRPr lang="en-GB"/>
          </a:p>
        </p:txBody>
      </p:sp>
      <p:sp>
        <p:nvSpPr>
          <p:cNvPr id="80" name="Text 77"/>
          <p:cNvSpPr/>
          <p:nvPr/>
        </p:nvSpPr>
        <p:spPr>
          <a:xfrm>
            <a:off x="10881360" y="1801368"/>
            <a:ext cx="804672" cy="274320"/>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1.5d</a:t>
            </a:r>
            <a:endParaRPr lang="en-US" sz="750" dirty="0"/>
          </a:p>
        </p:txBody>
      </p:sp>
      <p:sp>
        <p:nvSpPr>
          <p:cNvPr id="81" name="Shape 78"/>
          <p:cNvSpPr/>
          <p:nvPr/>
        </p:nvSpPr>
        <p:spPr>
          <a:xfrm>
            <a:off x="10881360" y="2157984"/>
            <a:ext cx="804672" cy="237744"/>
          </a:xfrm>
          <a:prstGeom prst="rect">
            <a:avLst/>
          </a:prstGeom>
          <a:solidFill>
            <a:srgbClr val="217346"/>
          </a:solidFill>
          <a:ln w="3810">
            <a:solidFill>
              <a:srgbClr val="115533"/>
            </a:solidFill>
            <a:prstDash val="solid"/>
          </a:ln>
        </p:spPr>
        <p:txBody>
          <a:bodyPr/>
          <a:lstStyle/>
          <a:p>
            <a:endParaRPr lang="en-GB"/>
          </a:p>
        </p:txBody>
      </p:sp>
      <p:sp>
        <p:nvSpPr>
          <p:cNvPr id="82" name="Text 79"/>
          <p:cNvSpPr/>
          <p:nvPr/>
        </p:nvSpPr>
        <p:spPr>
          <a:xfrm>
            <a:off x="10881360" y="2167128"/>
            <a:ext cx="804672" cy="219456"/>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20m</a:t>
            </a:r>
            <a:endParaRPr lang="en-US" sz="750" dirty="0"/>
          </a:p>
        </p:txBody>
      </p:sp>
      <p:sp>
        <p:nvSpPr>
          <p:cNvPr id="83" name="Text 80"/>
          <p:cNvSpPr/>
          <p:nvPr/>
        </p:nvSpPr>
        <p:spPr>
          <a:xfrm>
            <a:off x="6126480" y="1554480"/>
            <a:ext cx="5669280" cy="201168"/>
          </a:xfrm>
          <a:prstGeom prst="rect">
            <a:avLst/>
          </a:prstGeom>
          <a:noFill/>
          <a:ln/>
        </p:spPr>
        <p:txBody>
          <a:bodyPr wrap="square" rtlCol="0" anchor="ctr"/>
          <a:lstStyle/>
          <a:p>
            <a:pPr marL="0" indent="0" algn="ctr">
              <a:buNone/>
            </a:pPr>
            <a:r>
              <a:rPr lang="en-US" sz="800" b="1" dirty="0">
                <a:solidFill>
                  <a:srgbClr val="B91C1C"/>
                </a:solidFill>
                <a:latin typeface="Arial" pitchFamily="34" charset="0"/>
                <a:ea typeface="Arial" pitchFamily="34" charset="-122"/>
                <a:cs typeface="Arial" pitchFamily="34" charset="-120"/>
              </a:rPr>
              <a:t>WAIT / INVENTORY TIME</a:t>
            </a:r>
            <a:endParaRPr lang="en-US" sz="800" dirty="0"/>
          </a:p>
        </p:txBody>
      </p:sp>
      <p:sp>
        <p:nvSpPr>
          <p:cNvPr id="84" name="Text 81"/>
          <p:cNvSpPr/>
          <p:nvPr/>
        </p:nvSpPr>
        <p:spPr>
          <a:xfrm>
            <a:off x="6126480" y="2423160"/>
            <a:ext cx="5669280" cy="201168"/>
          </a:xfrm>
          <a:prstGeom prst="rect">
            <a:avLst/>
          </a:prstGeom>
          <a:noFill/>
          <a:ln/>
        </p:spPr>
        <p:txBody>
          <a:bodyPr wrap="square" rtlCol="0" anchor="ctr"/>
          <a:lstStyle/>
          <a:p>
            <a:pPr marL="0" indent="0" algn="ctr">
              <a:buNone/>
            </a:pPr>
            <a:r>
              <a:rPr lang="en-US" sz="800" b="1" dirty="0">
                <a:solidFill>
                  <a:srgbClr val="217346"/>
                </a:solidFill>
                <a:latin typeface="Arial" pitchFamily="34" charset="0"/>
                <a:ea typeface="Arial" pitchFamily="34" charset="-122"/>
                <a:cs typeface="Arial" pitchFamily="34" charset="-120"/>
              </a:rPr>
              <a:t>VALUE-ADDING TIME (Cycle Time)</a:t>
            </a:r>
            <a:endParaRPr lang="en-US" sz="800" dirty="0"/>
          </a:p>
        </p:txBody>
      </p:sp>
      <p:sp>
        <p:nvSpPr>
          <p:cNvPr id="85" name="Shape 82"/>
          <p:cNvSpPr/>
          <p:nvPr/>
        </p:nvSpPr>
        <p:spPr>
          <a:xfrm>
            <a:off x="6126480" y="2578608"/>
            <a:ext cx="5669280" cy="2377440"/>
          </a:xfrm>
          <a:prstGeom prst="rect">
            <a:avLst/>
          </a:prstGeom>
          <a:solidFill>
            <a:srgbClr val="FFFBEB"/>
          </a:solidFill>
          <a:ln w="10160">
            <a:solidFill>
              <a:srgbClr val="D97706"/>
            </a:solidFill>
            <a:prstDash val="solid"/>
          </a:ln>
        </p:spPr>
        <p:txBody>
          <a:bodyPr/>
          <a:lstStyle/>
          <a:p>
            <a:endParaRPr lang="en-GB"/>
          </a:p>
        </p:txBody>
      </p:sp>
      <p:sp>
        <p:nvSpPr>
          <p:cNvPr id="86" name="Shape 83"/>
          <p:cNvSpPr/>
          <p:nvPr/>
        </p:nvSpPr>
        <p:spPr>
          <a:xfrm>
            <a:off x="6126480" y="2578608"/>
            <a:ext cx="5669280" cy="274320"/>
          </a:xfrm>
          <a:prstGeom prst="rect">
            <a:avLst/>
          </a:prstGeom>
          <a:solidFill>
            <a:srgbClr val="D97706"/>
          </a:solidFill>
          <a:ln/>
        </p:spPr>
        <p:txBody>
          <a:bodyPr/>
          <a:lstStyle/>
          <a:p>
            <a:endParaRPr lang="en-GB"/>
          </a:p>
        </p:txBody>
      </p:sp>
      <p:sp>
        <p:nvSpPr>
          <p:cNvPr id="87" name="Text 84"/>
          <p:cNvSpPr/>
          <p:nvPr/>
        </p:nvSpPr>
        <p:spPr>
          <a:xfrm>
            <a:off x="6217920" y="2596896"/>
            <a:ext cx="5486400"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TIMELINE CALCULATIONS</a:t>
            </a:r>
            <a:endParaRPr lang="en-US" sz="1000" dirty="0"/>
          </a:p>
        </p:txBody>
      </p:sp>
      <p:sp>
        <p:nvSpPr>
          <p:cNvPr id="88" name="Shape 85"/>
          <p:cNvSpPr/>
          <p:nvPr/>
        </p:nvSpPr>
        <p:spPr>
          <a:xfrm>
            <a:off x="6172200" y="2907792"/>
            <a:ext cx="5577840" cy="438912"/>
          </a:xfrm>
          <a:prstGeom prst="rect">
            <a:avLst/>
          </a:prstGeom>
          <a:solidFill>
            <a:srgbClr val="FFFFFF"/>
          </a:solidFill>
          <a:ln w="2540">
            <a:solidFill>
              <a:srgbClr val="EEEEEE"/>
            </a:solidFill>
            <a:prstDash val="solid"/>
          </a:ln>
        </p:spPr>
        <p:txBody>
          <a:bodyPr/>
          <a:lstStyle/>
          <a:p>
            <a:endParaRPr lang="en-GB"/>
          </a:p>
        </p:txBody>
      </p:sp>
      <p:sp>
        <p:nvSpPr>
          <p:cNvPr id="89" name="Text 86"/>
          <p:cNvSpPr/>
          <p:nvPr/>
        </p:nvSpPr>
        <p:spPr>
          <a:xfrm>
            <a:off x="6236208" y="2944368"/>
            <a:ext cx="1371600" cy="365760"/>
          </a:xfrm>
          <a:prstGeom prst="rect">
            <a:avLst/>
          </a:prstGeom>
          <a:noFill/>
          <a:ln/>
        </p:spPr>
        <p:txBody>
          <a:bodyPr wrap="square" rtlCol="0" anchor="ctr"/>
          <a:lstStyle/>
          <a:p>
            <a:pPr marL="0" indent="0">
              <a:buNone/>
            </a:pPr>
            <a:r>
              <a:rPr lang="en-US" sz="950" b="1" dirty="0">
                <a:solidFill>
                  <a:srgbClr val="1E3A5F"/>
                </a:solidFill>
                <a:latin typeface="Arial" pitchFamily="34" charset="0"/>
                <a:ea typeface="Arial" pitchFamily="34" charset="-122"/>
                <a:cs typeface="Arial" pitchFamily="34" charset="-120"/>
              </a:rPr>
              <a:t>Total wait time</a:t>
            </a:r>
            <a:endParaRPr lang="en-US" sz="950" dirty="0"/>
          </a:p>
        </p:txBody>
      </p:sp>
      <p:sp>
        <p:nvSpPr>
          <p:cNvPr id="90" name="Text 87"/>
          <p:cNvSpPr/>
          <p:nvPr/>
        </p:nvSpPr>
        <p:spPr>
          <a:xfrm>
            <a:off x="7644384" y="2944368"/>
            <a:ext cx="2286000" cy="365760"/>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2.0 + 4.5 + 3.8 + 2.2 + 5.2 + 1.5  =</a:t>
            </a:r>
            <a:endParaRPr lang="en-US" sz="900" dirty="0"/>
          </a:p>
        </p:txBody>
      </p:sp>
      <p:sp>
        <p:nvSpPr>
          <p:cNvPr id="91" name="Text 88"/>
          <p:cNvSpPr/>
          <p:nvPr/>
        </p:nvSpPr>
        <p:spPr>
          <a:xfrm>
            <a:off x="9966960" y="2944368"/>
            <a:ext cx="1737360" cy="365760"/>
          </a:xfrm>
          <a:prstGeom prst="rect">
            <a:avLst/>
          </a:prstGeom>
          <a:noFill/>
          <a:ln/>
        </p:spPr>
        <p:txBody>
          <a:bodyPr wrap="square" rtlCol="0" anchor="ctr"/>
          <a:lstStyle/>
          <a:p>
            <a:pPr marL="0" indent="0">
              <a:buNone/>
            </a:pPr>
            <a:r>
              <a:rPr lang="en-US" sz="950" b="1" dirty="0">
                <a:solidFill>
                  <a:srgbClr val="1E3A5F"/>
                </a:solidFill>
                <a:latin typeface="Arial" pitchFamily="34" charset="0"/>
                <a:ea typeface="Arial" pitchFamily="34" charset="-122"/>
                <a:cs typeface="Arial" pitchFamily="34" charset="-120"/>
              </a:rPr>
              <a:t>19.2 days</a:t>
            </a:r>
            <a:endParaRPr lang="en-US" sz="950" dirty="0"/>
          </a:p>
        </p:txBody>
      </p:sp>
      <p:sp>
        <p:nvSpPr>
          <p:cNvPr id="92" name="Shape 89"/>
          <p:cNvSpPr/>
          <p:nvPr/>
        </p:nvSpPr>
        <p:spPr>
          <a:xfrm>
            <a:off x="6172200" y="3383280"/>
            <a:ext cx="5577840" cy="438912"/>
          </a:xfrm>
          <a:prstGeom prst="rect">
            <a:avLst/>
          </a:prstGeom>
          <a:solidFill>
            <a:srgbClr val="FFFBEB"/>
          </a:solidFill>
          <a:ln w="2540">
            <a:solidFill>
              <a:srgbClr val="EEEEEE"/>
            </a:solidFill>
            <a:prstDash val="solid"/>
          </a:ln>
        </p:spPr>
        <p:txBody>
          <a:bodyPr/>
          <a:lstStyle/>
          <a:p>
            <a:endParaRPr lang="en-GB"/>
          </a:p>
        </p:txBody>
      </p:sp>
      <p:sp>
        <p:nvSpPr>
          <p:cNvPr id="93" name="Text 90"/>
          <p:cNvSpPr/>
          <p:nvPr/>
        </p:nvSpPr>
        <p:spPr>
          <a:xfrm>
            <a:off x="6236208" y="3419856"/>
            <a:ext cx="1371600" cy="365760"/>
          </a:xfrm>
          <a:prstGeom prst="rect">
            <a:avLst/>
          </a:prstGeom>
          <a:noFill/>
          <a:ln/>
        </p:spPr>
        <p:txBody>
          <a:bodyPr wrap="square" rtlCol="0" anchor="ctr"/>
          <a:lstStyle/>
          <a:p>
            <a:pPr marL="0" indent="0">
              <a:buNone/>
            </a:pPr>
            <a:r>
              <a:rPr lang="en-US" sz="950" b="1" dirty="0">
                <a:solidFill>
                  <a:srgbClr val="1E3A5F"/>
                </a:solidFill>
                <a:latin typeface="Arial" pitchFamily="34" charset="0"/>
                <a:ea typeface="Arial" pitchFamily="34" charset="-122"/>
                <a:cs typeface="Arial" pitchFamily="34" charset="-120"/>
              </a:rPr>
              <a:t>Total VA time</a:t>
            </a:r>
            <a:endParaRPr lang="en-US" sz="950" dirty="0"/>
          </a:p>
        </p:txBody>
      </p:sp>
      <p:sp>
        <p:nvSpPr>
          <p:cNvPr id="94" name="Text 91"/>
          <p:cNvSpPr/>
          <p:nvPr/>
        </p:nvSpPr>
        <p:spPr>
          <a:xfrm>
            <a:off x="7644384" y="3419856"/>
            <a:ext cx="2286000" cy="365760"/>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15 + 42 + 38 + 22 + 55 + 20 =</a:t>
            </a:r>
            <a:endParaRPr lang="en-US" sz="900" dirty="0"/>
          </a:p>
        </p:txBody>
      </p:sp>
      <p:sp>
        <p:nvSpPr>
          <p:cNvPr id="95" name="Text 92"/>
          <p:cNvSpPr/>
          <p:nvPr/>
        </p:nvSpPr>
        <p:spPr>
          <a:xfrm>
            <a:off x="9966960" y="3419856"/>
            <a:ext cx="1737360" cy="365760"/>
          </a:xfrm>
          <a:prstGeom prst="rect">
            <a:avLst/>
          </a:prstGeom>
          <a:noFill/>
          <a:ln/>
        </p:spPr>
        <p:txBody>
          <a:bodyPr wrap="square" rtlCol="0" anchor="ctr"/>
          <a:lstStyle/>
          <a:p>
            <a:pPr marL="0" indent="0">
              <a:buNone/>
            </a:pPr>
            <a:r>
              <a:rPr lang="en-US" sz="950" b="1" dirty="0">
                <a:solidFill>
                  <a:srgbClr val="1E3A5F"/>
                </a:solidFill>
                <a:latin typeface="Arial" pitchFamily="34" charset="0"/>
                <a:ea typeface="Arial" pitchFamily="34" charset="-122"/>
                <a:cs typeface="Arial" pitchFamily="34" charset="-120"/>
              </a:rPr>
              <a:t>192 minutes  (3.2 hours)</a:t>
            </a:r>
            <a:endParaRPr lang="en-US" sz="950" dirty="0"/>
          </a:p>
        </p:txBody>
      </p:sp>
      <p:sp>
        <p:nvSpPr>
          <p:cNvPr id="96" name="Shape 93"/>
          <p:cNvSpPr/>
          <p:nvPr/>
        </p:nvSpPr>
        <p:spPr>
          <a:xfrm>
            <a:off x="6172200" y="3858768"/>
            <a:ext cx="5577840" cy="438912"/>
          </a:xfrm>
          <a:prstGeom prst="rect">
            <a:avLst/>
          </a:prstGeom>
          <a:solidFill>
            <a:srgbClr val="FFFFFF"/>
          </a:solidFill>
          <a:ln w="2540">
            <a:solidFill>
              <a:srgbClr val="EEEEEE"/>
            </a:solidFill>
            <a:prstDash val="solid"/>
          </a:ln>
        </p:spPr>
        <p:txBody>
          <a:bodyPr/>
          <a:lstStyle/>
          <a:p>
            <a:endParaRPr lang="en-GB"/>
          </a:p>
        </p:txBody>
      </p:sp>
      <p:sp>
        <p:nvSpPr>
          <p:cNvPr id="97" name="Text 94"/>
          <p:cNvSpPr/>
          <p:nvPr/>
        </p:nvSpPr>
        <p:spPr>
          <a:xfrm>
            <a:off x="6236208" y="3895344"/>
            <a:ext cx="1371600" cy="365760"/>
          </a:xfrm>
          <a:prstGeom prst="rect">
            <a:avLst/>
          </a:prstGeom>
          <a:noFill/>
          <a:ln/>
        </p:spPr>
        <p:txBody>
          <a:bodyPr wrap="square" rtlCol="0" anchor="ctr"/>
          <a:lstStyle/>
          <a:p>
            <a:pPr marL="0" indent="0">
              <a:buNone/>
            </a:pPr>
            <a:r>
              <a:rPr lang="en-US" sz="950" b="1" dirty="0">
                <a:solidFill>
                  <a:srgbClr val="1E3A5F"/>
                </a:solidFill>
                <a:latin typeface="Arial" pitchFamily="34" charset="0"/>
                <a:ea typeface="Arial" pitchFamily="34" charset="-122"/>
                <a:cs typeface="Arial" pitchFamily="34" charset="-120"/>
              </a:rPr>
              <a:t>Total lead time</a:t>
            </a:r>
            <a:endParaRPr lang="en-US" sz="950" dirty="0"/>
          </a:p>
        </p:txBody>
      </p:sp>
      <p:sp>
        <p:nvSpPr>
          <p:cNvPr id="98" name="Text 95"/>
          <p:cNvSpPr/>
          <p:nvPr/>
        </p:nvSpPr>
        <p:spPr>
          <a:xfrm>
            <a:off x="7644384" y="3895344"/>
            <a:ext cx="2286000" cy="365760"/>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19.2 days + 3.2 hrs =</a:t>
            </a:r>
            <a:endParaRPr lang="en-US" sz="900" dirty="0"/>
          </a:p>
        </p:txBody>
      </p:sp>
      <p:sp>
        <p:nvSpPr>
          <p:cNvPr id="99" name="Text 96"/>
          <p:cNvSpPr/>
          <p:nvPr/>
        </p:nvSpPr>
        <p:spPr>
          <a:xfrm>
            <a:off x="9966960" y="3895344"/>
            <a:ext cx="1737360" cy="365760"/>
          </a:xfrm>
          <a:prstGeom prst="rect">
            <a:avLst/>
          </a:prstGeom>
          <a:noFill/>
          <a:ln/>
        </p:spPr>
        <p:txBody>
          <a:bodyPr wrap="square" rtlCol="0" anchor="ctr"/>
          <a:lstStyle/>
          <a:p>
            <a:pPr marL="0" indent="0">
              <a:buNone/>
            </a:pPr>
            <a:r>
              <a:rPr lang="en-US" sz="950" b="1" dirty="0">
                <a:solidFill>
                  <a:srgbClr val="1E3A5F"/>
                </a:solidFill>
                <a:latin typeface="Arial" pitchFamily="34" charset="0"/>
                <a:ea typeface="Arial" pitchFamily="34" charset="-122"/>
                <a:cs typeface="Arial" pitchFamily="34" charset="-120"/>
              </a:rPr>
              <a:t>~19.6 days  (22 days quoted)</a:t>
            </a:r>
            <a:endParaRPr lang="en-US" sz="950" dirty="0"/>
          </a:p>
        </p:txBody>
      </p:sp>
      <p:sp>
        <p:nvSpPr>
          <p:cNvPr id="100" name="Shape 97"/>
          <p:cNvSpPr/>
          <p:nvPr/>
        </p:nvSpPr>
        <p:spPr>
          <a:xfrm>
            <a:off x="6172200" y="4334256"/>
            <a:ext cx="5577840" cy="438912"/>
          </a:xfrm>
          <a:prstGeom prst="rect">
            <a:avLst/>
          </a:prstGeom>
          <a:solidFill>
            <a:srgbClr val="FFFBEB"/>
          </a:solidFill>
          <a:ln w="2540">
            <a:solidFill>
              <a:srgbClr val="EEEEEE"/>
            </a:solidFill>
            <a:prstDash val="solid"/>
          </a:ln>
        </p:spPr>
        <p:txBody>
          <a:bodyPr/>
          <a:lstStyle/>
          <a:p>
            <a:endParaRPr lang="en-GB"/>
          </a:p>
        </p:txBody>
      </p:sp>
      <p:sp>
        <p:nvSpPr>
          <p:cNvPr id="101" name="Text 98"/>
          <p:cNvSpPr/>
          <p:nvPr/>
        </p:nvSpPr>
        <p:spPr>
          <a:xfrm>
            <a:off x="6236208" y="4370832"/>
            <a:ext cx="1371600" cy="365760"/>
          </a:xfrm>
          <a:prstGeom prst="rect">
            <a:avLst/>
          </a:prstGeom>
          <a:noFill/>
          <a:ln/>
        </p:spPr>
        <p:txBody>
          <a:bodyPr wrap="square" rtlCol="0" anchor="ctr"/>
          <a:lstStyle/>
          <a:p>
            <a:pPr marL="0" indent="0">
              <a:buNone/>
            </a:pPr>
            <a:r>
              <a:rPr lang="en-US" sz="950" b="1" dirty="0">
                <a:solidFill>
                  <a:srgbClr val="1E3A5F"/>
                </a:solidFill>
                <a:latin typeface="Arial" pitchFamily="34" charset="0"/>
                <a:ea typeface="Arial" pitchFamily="34" charset="-122"/>
                <a:cs typeface="Arial" pitchFamily="34" charset="-120"/>
              </a:rPr>
              <a:t>Process efficiency</a:t>
            </a:r>
            <a:endParaRPr lang="en-US" sz="950" dirty="0"/>
          </a:p>
        </p:txBody>
      </p:sp>
      <p:sp>
        <p:nvSpPr>
          <p:cNvPr id="102" name="Text 99"/>
          <p:cNvSpPr/>
          <p:nvPr/>
        </p:nvSpPr>
        <p:spPr>
          <a:xfrm>
            <a:off x="7644384" y="4370832"/>
            <a:ext cx="2286000" cy="365760"/>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192 mins ÷ (22 × 450 mins) × 100 =</a:t>
            </a:r>
            <a:endParaRPr lang="en-US" sz="900" dirty="0"/>
          </a:p>
        </p:txBody>
      </p:sp>
      <p:sp>
        <p:nvSpPr>
          <p:cNvPr id="103" name="Text 100"/>
          <p:cNvSpPr/>
          <p:nvPr/>
        </p:nvSpPr>
        <p:spPr>
          <a:xfrm>
            <a:off x="9966960" y="4370832"/>
            <a:ext cx="1737360" cy="365760"/>
          </a:xfrm>
          <a:prstGeom prst="rect">
            <a:avLst/>
          </a:prstGeom>
          <a:noFill/>
          <a:ln/>
        </p:spPr>
        <p:txBody>
          <a:bodyPr wrap="square" rtlCol="0" anchor="ctr"/>
          <a:lstStyle/>
          <a:p>
            <a:pPr marL="0" indent="0">
              <a:buNone/>
            </a:pPr>
            <a:r>
              <a:rPr lang="en-US" sz="950" b="1" dirty="0">
                <a:solidFill>
                  <a:srgbClr val="B91C1C"/>
                </a:solidFill>
                <a:latin typeface="Arial" pitchFamily="34" charset="0"/>
                <a:ea typeface="Arial" pitchFamily="34" charset="-122"/>
                <a:cs typeface="Arial" pitchFamily="34" charset="-120"/>
              </a:rPr>
              <a:t>1.94%</a:t>
            </a:r>
            <a:endParaRPr lang="en-US" sz="950" dirty="0"/>
          </a:p>
        </p:txBody>
      </p:sp>
      <p:sp>
        <p:nvSpPr>
          <p:cNvPr id="104" name="Shape 101"/>
          <p:cNvSpPr/>
          <p:nvPr/>
        </p:nvSpPr>
        <p:spPr>
          <a:xfrm>
            <a:off x="6172200" y="5010912"/>
            <a:ext cx="5577840" cy="1170432"/>
          </a:xfrm>
          <a:prstGeom prst="rect">
            <a:avLst/>
          </a:prstGeom>
          <a:solidFill>
            <a:srgbClr val="FEE2E2"/>
          </a:solidFill>
          <a:ln w="10160">
            <a:solidFill>
              <a:srgbClr val="B91C1C"/>
            </a:solidFill>
            <a:prstDash val="solid"/>
          </a:ln>
        </p:spPr>
        <p:txBody>
          <a:bodyPr/>
          <a:lstStyle/>
          <a:p>
            <a:endParaRPr lang="en-GB"/>
          </a:p>
        </p:txBody>
      </p:sp>
      <p:sp>
        <p:nvSpPr>
          <p:cNvPr id="105" name="Text 102"/>
          <p:cNvSpPr/>
          <p:nvPr/>
        </p:nvSpPr>
        <p:spPr>
          <a:xfrm>
            <a:off x="6263640" y="5065776"/>
            <a:ext cx="5394960" cy="1060704"/>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Process efficiency of under 2% means that for every hour the customer waits, less than 90 seconds involves actual work on their product. This figure is not unusual. It is the starting point. When presented to leadership teams for the first time, it almost always generates immediate commitment to improvement.</a:t>
            </a:r>
            <a:endParaRPr lang="en-US" sz="950" dirty="0"/>
          </a:p>
        </p:txBody>
      </p:sp>
      <p:sp>
        <p:nvSpPr>
          <p:cNvPr id="106" name="Rectangle 105"/>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7" name="Picture 106" descr="image.png"/>
          <p:cNvPicPr>
            <a:picLocks noChangeAspect="1"/>
          </p:cNvPicPr>
          <p:nvPr/>
        </p:nvPicPr>
        <p:blipFill>
          <a:blip r:embed="rId5"/>
          <a:stretch>
            <a:fillRect/>
          </a:stretch>
        </p:blipFill>
        <p:spPr>
          <a:xfrm>
            <a:off x="10610088" y="100584"/>
            <a:ext cx="566928" cy="347472"/>
          </a:xfrm>
          <a:prstGeom prst="rect">
            <a:avLst/>
          </a:prstGeom>
        </p:spPr>
      </p:pic>
      <p:pic>
        <p:nvPicPr>
          <p:cNvPr id="108" name="Picture 107" descr="image.png"/>
          <p:cNvPicPr>
            <a:picLocks noChangeAspect="1"/>
          </p:cNvPicPr>
          <p:nvPr/>
        </p:nvPicPr>
        <p:blipFill>
          <a:blip r:embed="rId4"/>
          <a:stretch>
            <a:fillRect/>
          </a:stretch>
        </p:blipFill>
        <p:spPr>
          <a:xfrm>
            <a:off x="11222736" y="100584"/>
            <a:ext cx="658368" cy="347472"/>
          </a:xfrm>
          <a:prstGeom prst="rect">
            <a:avLst/>
          </a:prstGeom>
        </p:spPr>
      </p:pic>
      <p:sp>
        <p:nvSpPr>
          <p:cNvPr id="109" name="Rectangle 108"/>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1. Create a Current State Value Stream Map</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Step 8: Identify Waste and Mark Kaizen Bursts</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9" name="Text 6"/>
          <p:cNvSpPr/>
          <p:nvPr/>
        </p:nvSpPr>
        <p:spPr>
          <a:xfrm>
            <a:off x="274320" y="987552"/>
            <a:ext cx="5760720" cy="457200"/>
          </a:xfrm>
          <a:prstGeom prst="rect">
            <a:avLst/>
          </a:prstGeom>
          <a:noFill/>
          <a:ln/>
        </p:spPr>
        <p:txBody>
          <a:bodyPr wrap="square" rtlCol="0" anchor="ctr"/>
          <a:lstStyle/>
          <a:p>
            <a:pPr marL="0" indent="0">
              <a:buNone/>
            </a:pPr>
            <a:r>
              <a:rPr lang="en-US" sz="1050" dirty="0">
                <a:solidFill>
                  <a:srgbClr val="5B595A"/>
                </a:solidFill>
                <a:latin typeface="Arial" pitchFamily="34" charset="0"/>
                <a:ea typeface="Arial" pitchFamily="34" charset="-122"/>
                <a:cs typeface="Arial" pitchFamily="34" charset="-120"/>
              </a:rPr>
              <a:t>The final step in building the current state map is to overlay it with kaizen bursts, visual markers that identify problems, constraints, and improvement opportunities. Every burst is a candidate for a future state change and a CSIP project.</a:t>
            </a:r>
            <a:endParaRPr lang="en-US" sz="1050" dirty="0"/>
          </a:p>
        </p:txBody>
      </p:sp>
      <p:sp>
        <p:nvSpPr>
          <p:cNvPr id="10" name="Shape 7"/>
          <p:cNvSpPr/>
          <p:nvPr/>
        </p:nvSpPr>
        <p:spPr>
          <a:xfrm>
            <a:off x="228600" y="1508760"/>
            <a:ext cx="5577840" cy="1371600"/>
          </a:xfrm>
          <a:prstGeom prst="rect">
            <a:avLst/>
          </a:prstGeom>
          <a:solidFill>
            <a:srgbClr val="FEE2E2"/>
          </a:solidFill>
          <a:ln w="12700">
            <a:solidFill>
              <a:srgbClr val="B91C1C"/>
            </a:solidFill>
            <a:prstDash val="solid"/>
          </a:ln>
        </p:spPr>
        <p:txBody>
          <a:bodyPr/>
          <a:lstStyle/>
          <a:p>
            <a:endParaRPr lang="en-GB"/>
          </a:p>
        </p:txBody>
      </p:sp>
      <p:sp>
        <p:nvSpPr>
          <p:cNvPr id="11" name="Shape 8"/>
          <p:cNvSpPr/>
          <p:nvPr/>
        </p:nvSpPr>
        <p:spPr>
          <a:xfrm>
            <a:off x="228600" y="1508760"/>
            <a:ext cx="5577840" cy="274320"/>
          </a:xfrm>
          <a:prstGeom prst="rect">
            <a:avLst/>
          </a:prstGeom>
          <a:solidFill>
            <a:srgbClr val="B91C1C"/>
          </a:solidFill>
          <a:ln/>
        </p:spPr>
        <p:txBody>
          <a:bodyPr/>
          <a:lstStyle/>
          <a:p>
            <a:endParaRPr lang="en-GB"/>
          </a:p>
        </p:txBody>
      </p:sp>
      <p:sp>
        <p:nvSpPr>
          <p:cNvPr id="12" name="Text 9"/>
          <p:cNvSpPr/>
          <p:nvPr/>
        </p:nvSpPr>
        <p:spPr>
          <a:xfrm>
            <a:off x="320040" y="1536192"/>
            <a:ext cx="5394960" cy="219456"/>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What to mark with a kaizen burst</a:t>
            </a:r>
            <a:endParaRPr lang="en-US" sz="1100" dirty="0"/>
          </a:p>
        </p:txBody>
      </p:sp>
      <p:sp>
        <p:nvSpPr>
          <p:cNvPr id="13" name="Text 10"/>
          <p:cNvSpPr/>
          <p:nvPr/>
        </p:nvSpPr>
        <p:spPr>
          <a:xfrm>
            <a:off x="320040" y="1837944"/>
            <a:ext cx="5303520" cy="987552"/>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Any step where the cycle time exceeds Takt time (you cannot meet customer demand from this step as currently configured). Large inventory points (anything more than 1 to 2 days of demand). High changeover times that are driving large batch sizes. Poor uptime (below 80% is a clear concern). Poor quality or high rework rates. Information flow gaps or informal controls. Any process step the team identifies as a known pain point.</a:t>
            </a:r>
            <a:endParaRPr lang="en-US" sz="950" dirty="0"/>
          </a:p>
        </p:txBody>
      </p:sp>
      <p:sp>
        <p:nvSpPr>
          <p:cNvPr id="14" name="Shape 11"/>
          <p:cNvSpPr/>
          <p:nvPr/>
        </p:nvSpPr>
        <p:spPr>
          <a:xfrm>
            <a:off x="228600" y="2971800"/>
            <a:ext cx="5577840" cy="1371600"/>
          </a:xfrm>
          <a:prstGeom prst="rect">
            <a:avLst/>
          </a:prstGeom>
          <a:solidFill>
            <a:srgbClr val="FFFBEB"/>
          </a:solidFill>
          <a:ln w="12700">
            <a:solidFill>
              <a:srgbClr val="D97706"/>
            </a:solidFill>
            <a:prstDash val="solid"/>
          </a:ln>
        </p:spPr>
        <p:txBody>
          <a:bodyPr/>
          <a:lstStyle/>
          <a:p>
            <a:endParaRPr lang="en-GB"/>
          </a:p>
        </p:txBody>
      </p:sp>
      <p:sp>
        <p:nvSpPr>
          <p:cNvPr id="15" name="Shape 12"/>
          <p:cNvSpPr/>
          <p:nvPr/>
        </p:nvSpPr>
        <p:spPr>
          <a:xfrm>
            <a:off x="228600" y="2971800"/>
            <a:ext cx="5577840" cy="274320"/>
          </a:xfrm>
          <a:prstGeom prst="rect">
            <a:avLst/>
          </a:prstGeom>
          <a:solidFill>
            <a:srgbClr val="D97706"/>
          </a:solidFill>
          <a:ln/>
        </p:spPr>
        <p:txBody>
          <a:bodyPr/>
          <a:lstStyle/>
          <a:p>
            <a:endParaRPr lang="en-GB"/>
          </a:p>
        </p:txBody>
      </p:sp>
      <p:sp>
        <p:nvSpPr>
          <p:cNvPr id="16" name="Text 13"/>
          <p:cNvSpPr/>
          <p:nvPr/>
        </p:nvSpPr>
        <p:spPr>
          <a:xfrm>
            <a:off x="320040" y="2999232"/>
            <a:ext cx="5394960" cy="219456"/>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How to prioritise which to address first</a:t>
            </a:r>
            <a:endParaRPr lang="en-US" sz="1100" dirty="0"/>
          </a:p>
        </p:txBody>
      </p:sp>
      <p:sp>
        <p:nvSpPr>
          <p:cNvPr id="17" name="Text 14"/>
          <p:cNvSpPr/>
          <p:nvPr/>
        </p:nvSpPr>
        <p:spPr>
          <a:xfrm>
            <a:off x="320040" y="3300984"/>
            <a:ext cx="5303520" cy="987552"/>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Not all kaizen bursts are equal. Rank them by: impact on lead time; impact on quality (especially important in nuclear); impact on cost; ease of implementation. Start at the pacemaker process and work upstream, or identify the highest-impact quick win.</a:t>
            </a:r>
            <a:endParaRPr lang="en-US" sz="950" dirty="0"/>
          </a:p>
        </p:txBody>
      </p:sp>
      <p:sp>
        <p:nvSpPr>
          <p:cNvPr id="18" name="Shape 15"/>
          <p:cNvSpPr/>
          <p:nvPr/>
        </p:nvSpPr>
        <p:spPr>
          <a:xfrm>
            <a:off x="228600" y="4434840"/>
            <a:ext cx="5577840" cy="1371600"/>
          </a:xfrm>
          <a:prstGeom prst="rect">
            <a:avLst/>
          </a:prstGeom>
          <a:solidFill>
            <a:srgbClr val="EAF4EE"/>
          </a:solidFill>
          <a:ln w="12700">
            <a:solidFill>
              <a:srgbClr val="217346"/>
            </a:solidFill>
            <a:prstDash val="solid"/>
          </a:ln>
        </p:spPr>
        <p:txBody>
          <a:bodyPr/>
          <a:lstStyle/>
          <a:p>
            <a:endParaRPr lang="en-GB"/>
          </a:p>
        </p:txBody>
      </p:sp>
      <p:sp>
        <p:nvSpPr>
          <p:cNvPr id="19" name="Shape 16"/>
          <p:cNvSpPr/>
          <p:nvPr/>
        </p:nvSpPr>
        <p:spPr>
          <a:xfrm>
            <a:off x="228600" y="4434840"/>
            <a:ext cx="5577840" cy="274320"/>
          </a:xfrm>
          <a:prstGeom prst="rect">
            <a:avLst/>
          </a:prstGeom>
          <a:solidFill>
            <a:srgbClr val="217346"/>
          </a:solidFill>
          <a:ln/>
        </p:spPr>
        <p:txBody>
          <a:bodyPr/>
          <a:lstStyle/>
          <a:p>
            <a:endParaRPr lang="en-GB"/>
          </a:p>
        </p:txBody>
      </p:sp>
      <p:sp>
        <p:nvSpPr>
          <p:cNvPr id="20" name="Text 17"/>
          <p:cNvSpPr/>
          <p:nvPr/>
        </p:nvSpPr>
        <p:spPr>
          <a:xfrm>
            <a:off x="320040" y="4462272"/>
            <a:ext cx="5394960" cy="219456"/>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Linking bursts to the CSIP</a:t>
            </a:r>
            <a:endParaRPr lang="en-US" sz="1100" dirty="0"/>
          </a:p>
        </p:txBody>
      </p:sp>
      <p:sp>
        <p:nvSpPr>
          <p:cNvPr id="21" name="Text 18"/>
          <p:cNvSpPr/>
          <p:nvPr/>
        </p:nvSpPr>
        <p:spPr>
          <a:xfrm>
            <a:off x="320040" y="4764024"/>
            <a:ext cx="5303520" cy="987552"/>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Every kaizen burst on the current state map should generate a CSIP project entry. The burst identifies the problem; the CSIP project defines the solution, the owner, the target, and the timeline. This is how the map becomes an improvement programme rather than a paper exercise.</a:t>
            </a:r>
            <a:endParaRPr lang="en-US" sz="950" dirty="0"/>
          </a:p>
        </p:txBody>
      </p:sp>
      <p:sp>
        <p:nvSpPr>
          <p:cNvPr id="22" name="Shape 19"/>
          <p:cNvSpPr/>
          <p:nvPr/>
        </p:nvSpPr>
        <p:spPr>
          <a:xfrm>
            <a:off x="6035040" y="987552"/>
            <a:ext cx="5897880" cy="5285232"/>
          </a:xfrm>
          <a:prstGeom prst="rect">
            <a:avLst/>
          </a:prstGeom>
          <a:solidFill>
            <a:srgbClr val="F2F2F2"/>
          </a:solidFill>
          <a:ln w="6350">
            <a:solidFill>
              <a:srgbClr val="D8D8D8"/>
            </a:solidFill>
            <a:prstDash val="solid"/>
          </a:ln>
        </p:spPr>
        <p:txBody>
          <a:bodyPr/>
          <a:lstStyle/>
          <a:p>
            <a:endParaRPr lang="en-GB"/>
          </a:p>
        </p:txBody>
      </p:sp>
      <p:sp>
        <p:nvSpPr>
          <p:cNvPr id="23" name="Text 20"/>
          <p:cNvSpPr/>
          <p:nvPr/>
        </p:nvSpPr>
        <p:spPr>
          <a:xfrm>
            <a:off x="6126480" y="1024128"/>
            <a:ext cx="5715000" cy="237744"/>
          </a:xfrm>
          <a:prstGeom prst="rect">
            <a:avLst/>
          </a:prstGeom>
          <a:noFill/>
          <a:ln/>
        </p:spPr>
        <p:txBody>
          <a:bodyPr wrap="square" rtlCol="0" anchor="ctr"/>
          <a:lstStyle/>
          <a:p>
            <a:pPr marL="0" indent="0">
              <a:buNone/>
            </a:pPr>
            <a:r>
              <a:rPr lang="en-US" sz="950" i="1" dirty="0">
                <a:solidFill>
                  <a:srgbClr val="5B595A"/>
                </a:solidFill>
                <a:latin typeface="Arial" pitchFamily="34" charset="0"/>
                <a:ea typeface="Arial" pitchFamily="34" charset="-122"/>
                <a:cs typeface="Arial" pitchFamily="34" charset="-120"/>
              </a:rPr>
              <a:t>Current state map with kaizen bursts marked:</a:t>
            </a:r>
            <a:endParaRPr lang="en-US" sz="950" dirty="0"/>
          </a:p>
        </p:txBody>
      </p:sp>
      <p:sp>
        <p:nvSpPr>
          <p:cNvPr id="24" name="Shape 21"/>
          <p:cNvSpPr/>
          <p:nvPr/>
        </p:nvSpPr>
        <p:spPr>
          <a:xfrm>
            <a:off x="6144768" y="1371600"/>
            <a:ext cx="914400" cy="256032"/>
          </a:xfrm>
          <a:prstGeom prst="rect">
            <a:avLst/>
          </a:prstGeom>
          <a:solidFill>
            <a:srgbClr val="B91C1C"/>
          </a:solidFill>
          <a:ln/>
        </p:spPr>
        <p:txBody>
          <a:bodyPr/>
          <a:lstStyle/>
          <a:p>
            <a:endParaRPr lang="en-GB"/>
          </a:p>
        </p:txBody>
      </p:sp>
      <p:sp>
        <p:nvSpPr>
          <p:cNvPr id="25" name="Text 22"/>
          <p:cNvSpPr/>
          <p:nvPr/>
        </p:nvSpPr>
        <p:spPr>
          <a:xfrm>
            <a:off x="6144768" y="1389888"/>
            <a:ext cx="914400" cy="219456"/>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TURNING</a:t>
            </a:r>
            <a:endParaRPr lang="en-US" sz="750" dirty="0"/>
          </a:p>
        </p:txBody>
      </p:sp>
      <p:sp>
        <p:nvSpPr>
          <p:cNvPr id="26" name="Shape 23"/>
          <p:cNvSpPr/>
          <p:nvPr/>
        </p:nvSpPr>
        <p:spPr>
          <a:xfrm>
            <a:off x="6144768" y="1627632"/>
            <a:ext cx="914400" cy="512064"/>
          </a:xfrm>
          <a:prstGeom prst="rect">
            <a:avLst/>
          </a:prstGeom>
          <a:solidFill>
            <a:srgbClr val="FFFFFF"/>
          </a:solidFill>
          <a:ln w="3810">
            <a:solidFill>
              <a:srgbClr val="D8D8D8"/>
            </a:solidFill>
            <a:prstDash val="solid"/>
          </a:ln>
        </p:spPr>
        <p:txBody>
          <a:bodyPr/>
          <a:lstStyle/>
          <a:p>
            <a:endParaRPr lang="en-GB"/>
          </a:p>
        </p:txBody>
      </p:sp>
      <p:sp>
        <p:nvSpPr>
          <p:cNvPr id="27" name="Shape 24"/>
          <p:cNvSpPr/>
          <p:nvPr/>
        </p:nvSpPr>
        <p:spPr>
          <a:xfrm>
            <a:off x="7086600" y="1463040"/>
            <a:ext cx="73152" cy="146304"/>
          </a:xfrm>
          <a:prstGeom prst="rect">
            <a:avLst/>
          </a:prstGeom>
          <a:solidFill>
            <a:srgbClr val="B91C1C"/>
          </a:solidFill>
          <a:ln/>
        </p:spPr>
        <p:txBody>
          <a:bodyPr/>
          <a:lstStyle/>
          <a:p>
            <a:endParaRPr lang="en-GB"/>
          </a:p>
        </p:txBody>
      </p:sp>
      <p:sp>
        <p:nvSpPr>
          <p:cNvPr id="28" name="Shape 25"/>
          <p:cNvSpPr/>
          <p:nvPr/>
        </p:nvSpPr>
        <p:spPr>
          <a:xfrm>
            <a:off x="7178040" y="1371600"/>
            <a:ext cx="914400" cy="256032"/>
          </a:xfrm>
          <a:prstGeom prst="rect">
            <a:avLst/>
          </a:prstGeom>
          <a:solidFill>
            <a:srgbClr val="009FE3"/>
          </a:solidFill>
          <a:ln/>
        </p:spPr>
        <p:txBody>
          <a:bodyPr/>
          <a:lstStyle/>
          <a:p>
            <a:endParaRPr lang="en-GB"/>
          </a:p>
        </p:txBody>
      </p:sp>
      <p:sp>
        <p:nvSpPr>
          <p:cNvPr id="29" name="Text 26"/>
          <p:cNvSpPr/>
          <p:nvPr/>
        </p:nvSpPr>
        <p:spPr>
          <a:xfrm>
            <a:off x="7178040" y="1389888"/>
            <a:ext cx="914400" cy="219456"/>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MILLING</a:t>
            </a:r>
            <a:endParaRPr lang="en-US" sz="750" dirty="0"/>
          </a:p>
        </p:txBody>
      </p:sp>
      <p:sp>
        <p:nvSpPr>
          <p:cNvPr id="30" name="Shape 27"/>
          <p:cNvSpPr/>
          <p:nvPr/>
        </p:nvSpPr>
        <p:spPr>
          <a:xfrm>
            <a:off x="7178040" y="1627632"/>
            <a:ext cx="914400" cy="512064"/>
          </a:xfrm>
          <a:prstGeom prst="rect">
            <a:avLst/>
          </a:prstGeom>
          <a:solidFill>
            <a:srgbClr val="FFFFFF"/>
          </a:solidFill>
          <a:ln w="3810">
            <a:solidFill>
              <a:srgbClr val="D8D8D8"/>
            </a:solidFill>
            <a:prstDash val="solid"/>
          </a:ln>
        </p:spPr>
        <p:txBody>
          <a:bodyPr/>
          <a:lstStyle/>
          <a:p>
            <a:endParaRPr lang="en-GB"/>
          </a:p>
        </p:txBody>
      </p:sp>
      <p:sp>
        <p:nvSpPr>
          <p:cNvPr id="31" name="Shape 28"/>
          <p:cNvSpPr/>
          <p:nvPr/>
        </p:nvSpPr>
        <p:spPr>
          <a:xfrm>
            <a:off x="8119872" y="1463040"/>
            <a:ext cx="73152" cy="146304"/>
          </a:xfrm>
          <a:prstGeom prst="rect">
            <a:avLst/>
          </a:prstGeom>
          <a:solidFill>
            <a:srgbClr val="B91C1C"/>
          </a:solidFill>
          <a:ln/>
        </p:spPr>
        <p:txBody>
          <a:bodyPr/>
          <a:lstStyle/>
          <a:p>
            <a:endParaRPr lang="en-GB"/>
          </a:p>
        </p:txBody>
      </p:sp>
      <p:sp>
        <p:nvSpPr>
          <p:cNvPr id="32" name="Shape 29"/>
          <p:cNvSpPr/>
          <p:nvPr/>
        </p:nvSpPr>
        <p:spPr>
          <a:xfrm>
            <a:off x="8211312" y="1371600"/>
            <a:ext cx="914400" cy="256032"/>
          </a:xfrm>
          <a:prstGeom prst="rect">
            <a:avLst/>
          </a:prstGeom>
          <a:solidFill>
            <a:srgbClr val="009FE3"/>
          </a:solidFill>
          <a:ln/>
        </p:spPr>
        <p:txBody>
          <a:bodyPr/>
          <a:lstStyle/>
          <a:p>
            <a:endParaRPr lang="en-GB"/>
          </a:p>
        </p:txBody>
      </p:sp>
      <p:sp>
        <p:nvSpPr>
          <p:cNvPr id="33" name="Text 30"/>
          <p:cNvSpPr/>
          <p:nvPr/>
        </p:nvSpPr>
        <p:spPr>
          <a:xfrm>
            <a:off x="8211312" y="1389888"/>
            <a:ext cx="914400" cy="219456"/>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DEBURR</a:t>
            </a:r>
            <a:endParaRPr lang="en-US" sz="750" dirty="0"/>
          </a:p>
        </p:txBody>
      </p:sp>
      <p:sp>
        <p:nvSpPr>
          <p:cNvPr id="34" name="Shape 31"/>
          <p:cNvSpPr/>
          <p:nvPr/>
        </p:nvSpPr>
        <p:spPr>
          <a:xfrm>
            <a:off x="8211312" y="1627632"/>
            <a:ext cx="914400" cy="512064"/>
          </a:xfrm>
          <a:prstGeom prst="rect">
            <a:avLst/>
          </a:prstGeom>
          <a:solidFill>
            <a:srgbClr val="FFFFFF"/>
          </a:solidFill>
          <a:ln w="3810">
            <a:solidFill>
              <a:srgbClr val="D8D8D8"/>
            </a:solidFill>
            <a:prstDash val="solid"/>
          </a:ln>
        </p:spPr>
        <p:txBody>
          <a:bodyPr/>
          <a:lstStyle/>
          <a:p>
            <a:endParaRPr lang="en-GB"/>
          </a:p>
        </p:txBody>
      </p:sp>
      <p:sp>
        <p:nvSpPr>
          <p:cNvPr id="35" name="Shape 32"/>
          <p:cNvSpPr/>
          <p:nvPr/>
        </p:nvSpPr>
        <p:spPr>
          <a:xfrm>
            <a:off x="9153144" y="1463040"/>
            <a:ext cx="73152" cy="146304"/>
          </a:xfrm>
          <a:prstGeom prst="rect">
            <a:avLst/>
          </a:prstGeom>
          <a:solidFill>
            <a:srgbClr val="D97706"/>
          </a:solidFill>
          <a:ln/>
        </p:spPr>
        <p:txBody>
          <a:bodyPr/>
          <a:lstStyle/>
          <a:p>
            <a:endParaRPr lang="en-GB"/>
          </a:p>
        </p:txBody>
      </p:sp>
      <p:sp>
        <p:nvSpPr>
          <p:cNvPr id="36" name="Shape 33"/>
          <p:cNvSpPr/>
          <p:nvPr/>
        </p:nvSpPr>
        <p:spPr>
          <a:xfrm>
            <a:off x="9244584" y="1371600"/>
            <a:ext cx="914400" cy="256032"/>
          </a:xfrm>
          <a:prstGeom prst="rect">
            <a:avLst/>
          </a:prstGeom>
          <a:solidFill>
            <a:srgbClr val="B91C1C"/>
          </a:solidFill>
          <a:ln/>
        </p:spPr>
        <p:txBody>
          <a:bodyPr/>
          <a:lstStyle/>
          <a:p>
            <a:endParaRPr lang="en-GB"/>
          </a:p>
        </p:txBody>
      </p:sp>
      <p:sp>
        <p:nvSpPr>
          <p:cNvPr id="37" name="Text 34"/>
          <p:cNvSpPr/>
          <p:nvPr/>
        </p:nvSpPr>
        <p:spPr>
          <a:xfrm>
            <a:off x="9244584" y="1389888"/>
            <a:ext cx="914400" cy="219456"/>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INSPECT</a:t>
            </a:r>
            <a:endParaRPr lang="en-US" sz="750" dirty="0"/>
          </a:p>
        </p:txBody>
      </p:sp>
      <p:sp>
        <p:nvSpPr>
          <p:cNvPr id="38" name="Shape 35"/>
          <p:cNvSpPr/>
          <p:nvPr/>
        </p:nvSpPr>
        <p:spPr>
          <a:xfrm>
            <a:off x="9244584" y="1627632"/>
            <a:ext cx="914400" cy="512064"/>
          </a:xfrm>
          <a:prstGeom prst="rect">
            <a:avLst/>
          </a:prstGeom>
          <a:solidFill>
            <a:srgbClr val="FFFFFF"/>
          </a:solidFill>
          <a:ln w="3810">
            <a:solidFill>
              <a:srgbClr val="D8D8D8"/>
            </a:solidFill>
            <a:prstDash val="solid"/>
          </a:ln>
        </p:spPr>
        <p:txBody>
          <a:bodyPr/>
          <a:lstStyle/>
          <a:p>
            <a:endParaRPr lang="en-GB"/>
          </a:p>
        </p:txBody>
      </p:sp>
      <p:sp>
        <p:nvSpPr>
          <p:cNvPr id="39" name="Shape 36"/>
          <p:cNvSpPr/>
          <p:nvPr/>
        </p:nvSpPr>
        <p:spPr>
          <a:xfrm>
            <a:off x="10186416" y="1463040"/>
            <a:ext cx="73152" cy="146304"/>
          </a:xfrm>
          <a:prstGeom prst="rect">
            <a:avLst/>
          </a:prstGeom>
          <a:solidFill>
            <a:srgbClr val="B91C1C"/>
          </a:solidFill>
          <a:ln/>
        </p:spPr>
        <p:txBody>
          <a:bodyPr/>
          <a:lstStyle/>
          <a:p>
            <a:endParaRPr lang="en-GB"/>
          </a:p>
        </p:txBody>
      </p:sp>
      <p:sp>
        <p:nvSpPr>
          <p:cNvPr id="40" name="Shape 37"/>
          <p:cNvSpPr/>
          <p:nvPr/>
        </p:nvSpPr>
        <p:spPr>
          <a:xfrm>
            <a:off x="10277856" y="1371600"/>
            <a:ext cx="914400" cy="256032"/>
          </a:xfrm>
          <a:prstGeom prst="rect">
            <a:avLst/>
          </a:prstGeom>
          <a:solidFill>
            <a:srgbClr val="1E3A5F"/>
          </a:solidFill>
          <a:ln/>
        </p:spPr>
        <p:txBody>
          <a:bodyPr/>
          <a:lstStyle/>
          <a:p>
            <a:endParaRPr lang="en-GB"/>
          </a:p>
        </p:txBody>
      </p:sp>
      <p:sp>
        <p:nvSpPr>
          <p:cNvPr id="41" name="Text 38"/>
          <p:cNvSpPr/>
          <p:nvPr/>
        </p:nvSpPr>
        <p:spPr>
          <a:xfrm>
            <a:off x="10277856" y="1389888"/>
            <a:ext cx="914400" cy="219456"/>
          </a:xfrm>
          <a:prstGeom prst="rect">
            <a:avLst/>
          </a:prstGeom>
          <a:noFill/>
          <a:ln/>
        </p:spPr>
        <p:txBody>
          <a:bodyPr wrap="square"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DESPATCH</a:t>
            </a:r>
            <a:endParaRPr lang="en-US" sz="750" dirty="0"/>
          </a:p>
        </p:txBody>
      </p:sp>
      <p:sp>
        <p:nvSpPr>
          <p:cNvPr id="42" name="Shape 39"/>
          <p:cNvSpPr/>
          <p:nvPr/>
        </p:nvSpPr>
        <p:spPr>
          <a:xfrm>
            <a:off x="10277856" y="1627632"/>
            <a:ext cx="914400" cy="512064"/>
          </a:xfrm>
          <a:prstGeom prst="rect">
            <a:avLst/>
          </a:prstGeom>
          <a:solidFill>
            <a:srgbClr val="FFFFFF"/>
          </a:solidFill>
          <a:ln w="3810">
            <a:solidFill>
              <a:srgbClr val="D8D8D8"/>
            </a:solidFill>
            <a:prstDash val="solid"/>
          </a:ln>
        </p:spPr>
        <p:txBody>
          <a:bodyPr/>
          <a:lstStyle/>
          <a:p>
            <a:endParaRPr lang="en-GB"/>
          </a:p>
        </p:txBody>
      </p:sp>
      <p:sp>
        <p:nvSpPr>
          <p:cNvPr id="43" name="Shape 40"/>
          <p:cNvSpPr/>
          <p:nvPr/>
        </p:nvSpPr>
        <p:spPr>
          <a:xfrm>
            <a:off x="6144768" y="2212848"/>
            <a:ext cx="914400" cy="438912"/>
          </a:xfrm>
          <a:prstGeom prst="rect">
            <a:avLst/>
          </a:prstGeom>
          <a:solidFill>
            <a:srgbClr val="FEE2E2"/>
          </a:solidFill>
          <a:ln w="19050">
            <a:solidFill>
              <a:srgbClr val="B91C1C"/>
            </a:solidFill>
            <a:prstDash val="solid"/>
          </a:ln>
        </p:spPr>
        <p:txBody>
          <a:bodyPr/>
          <a:lstStyle/>
          <a:p>
            <a:endParaRPr lang="en-GB"/>
          </a:p>
        </p:txBody>
      </p:sp>
      <p:sp>
        <p:nvSpPr>
          <p:cNvPr id="44" name="Text 41"/>
          <p:cNvSpPr/>
          <p:nvPr/>
        </p:nvSpPr>
        <p:spPr>
          <a:xfrm>
            <a:off x="6190488" y="2249424"/>
            <a:ext cx="822960" cy="365760"/>
          </a:xfrm>
          <a:prstGeom prst="rect">
            <a:avLst/>
          </a:prstGeom>
          <a:noFill/>
          <a:ln/>
        </p:spPr>
        <p:txBody>
          <a:bodyPr wrap="square" rtlCol="0" anchor="ctr"/>
          <a:lstStyle/>
          <a:p>
            <a:pPr marL="0" indent="0" algn="ctr">
              <a:buNone/>
            </a:pPr>
            <a:r>
              <a:rPr lang="en-US" sz="750" b="1" dirty="0">
                <a:solidFill>
                  <a:srgbClr val="B91C1C"/>
                </a:solidFill>
                <a:latin typeface="Arial" pitchFamily="34" charset="0"/>
                <a:ea typeface="Arial" pitchFamily="34" charset="-122"/>
                <a:cs typeface="Arial" pitchFamily="34" charset="-120"/>
              </a:rPr>
              <a:t>CT &gt; Takt</a:t>
            </a:r>
            <a:endParaRPr lang="en-US" sz="750" dirty="0"/>
          </a:p>
          <a:p>
            <a:pPr marL="0" indent="0" algn="ctr">
              <a:buNone/>
            </a:pPr>
            <a:r>
              <a:rPr lang="en-US" sz="750" b="1" dirty="0">
                <a:solidFill>
                  <a:srgbClr val="B91C1C"/>
                </a:solidFill>
                <a:latin typeface="Arial" pitchFamily="34" charset="0"/>
                <a:ea typeface="Arial" pitchFamily="34" charset="-122"/>
                <a:cs typeface="Arial" pitchFamily="34" charset="-120"/>
              </a:rPr>
              <a:t>Add capacity</a:t>
            </a:r>
            <a:endParaRPr lang="en-US" sz="750" dirty="0"/>
          </a:p>
        </p:txBody>
      </p:sp>
      <p:sp>
        <p:nvSpPr>
          <p:cNvPr id="45" name="Shape 42"/>
          <p:cNvSpPr/>
          <p:nvPr/>
        </p:nvSpPr>
        <p:spPr>
          <a:xfrm>
            <a:off x="7178040" y="2212848"/>
            <a:ext cx="914400" cy="438912"/>
          </a:xfrm>
          <a:prstGeom prst="rect">
            <a:avLst/>
          </a:prstGeom>
          <a:solidFill>
            <a:srgbClr val="FEE2E2"/>
          </a:solidFill>
          <a:ln w="19050">
            <a:solidFill>
              <a:srgbClr val="B91C1C"/>
            </a:solidFill>
            <a:prstDash val="solid"/>
          </a:ln>
        </p:spPr>
        <p:txBody>
          <a:bodyPr/>
          <a:lstStyle/>
          <a:p>
            <a:endParaRPr lang="en-GB"/>
          </a:p>
        </p:txBody>
      </p:sp>
      <p:sp>
        <p:nvSpPr>
          <p:cNvPr id="46" name="Text 43"/>
          <p:cNvSpPr/>
          <p:nvPr/>
        </p:nvSpPr>
        <p:spPr>
          <a:xfrm>
            <a:off x="7223760" y="2249424"/>
            <a:ext cx="822960" cy="365760"/>
          </a:xfrm>
          <a:prstGeom prst="rect">
            <a:avLst/>
          </a:prstGeom>
          <a:noFill/>
          <a:ln/>
        </p:spPr>
        <p:txBody>
          <a:bodyPr wrap="square" rtlCol="0" anchor="ctr"/>
          <a:lstStyle/>
          <a:p>
            <a:pPr marL="0" indent="0" algn="ctr">
              <a:buNone/>
            </a:pPr>
            <a:r>
              <a:rPr lang="en-US" sz="750" b="1" dirty="0">
                <a:solidFill>
                  <a:srgbClr val="B91C1C"/>
                </a:solidFill>
                <a:latin typeface="Arial" pitchFamily="34" charset="0"/>
                <a:ea typeface="Arial" pitchFamily="34" charset="-122"/>
                <a:cs typeface="Arial" pitchFamily="34" charset="-120"/>
              </a:rPr>
              <a:t>C/O: 35m</a:t>
            </a:r>
            <a:endParaRPr lang="en-US" sz="750" dirty="0"/>
          </a:p>
          <a:p>
            <a:pPr marL="0" indent="0" algn="ctr">
              <a:buNone/>
            </a:pPr>
            <a:r>
              <a:rPr lang="en-US" sz="750" b="1" dirty="0">
                <a:solidFill>
                  <a:srgbClr val="B91C1C"/>
                </a:solidFill>
                <a:latin typeface="Arial" pitchFamily="34" charset="0"/>
                <a:ea typeface="Arial" pitchFamily="34" charset="-122"/>
                <a:cs typeface="Arial" pitchFamily="34" charset="-120"/>
              </a:rPr>
              <a:t>SMED target:</a:t>
            </a:r>
            <a:endParaRPr lang="en-US" sz="750" dirty="0"/>
          </a:p>
          <a:p>
            <a:pPr marL="0" indent="0" algn="ctr">
              <a:buNone/>
            </a:pPr>
            <a:r>
              <a:rPr lang="en-US" sz="750" b="1" dirty="0">
                <a:solidFill>
                  <a:srgbClr val="B91C1C"/>
                </a:solidFill>
                <a:latin typeface="Arial" pitchFamily="34" charset="0"/>
                <a:ea typeface="Arial" pitchFamily="34" charset="-122"/>
                <a:cs typeface="Arial" pitchFamily="34" charset="-120"/>
              </a:rPr>
              <a:t>15m</a:t>
            </a:r>
            <a:endParaRPr lang="en-US" sz="750" dirty="0"/>
          </a:p>
        </p:txBody>
      </p:sp>
      <p:sp>
        <p:nvSpPr>
          <p:cNvPr id="47" name="Shape 44"/>
          <p:cNvSpPr/>
          <p:nvPr/>
        </p:nvSpPr>
        <p:spPr>
          <a:xfrm>
            <a:off x="9125712" y="2212848"/>
            <a:ext cx="914400" cy="438912"/>
          </a:xfrm>
          <a:prstGeom prst="rect">
            <a:avLst/>
          </a:prstGeom>
          <a:solidFill>
            <a:srgbClr val="FEE2E2"/>
          </a:solidFill>
          <a:ln w="19050">
            <a:solidFill>
              <a:srgbClr val="B91C1C"/>
            </a:solidFill>
            <a:prstDash val="solid"/>
          </a:ln>
        </p:spPr>
        <p:txBody>
          <a:bodyPr/>
          <a:lstStyle/>
          <a:p>
            <a:endParaRPr lang="en-GB"/>
          </a:p>
        </p:txBody>
      </p:sp>
      <p:sp>
        <p:nvSpPr>
          <p:cNvPr id="48" name="Text 45"/>
          <p:cNvSpPr/>
          <p:nvPr/>
        </p:nvSpPr>
        <p:spPr>
          <a:xfrm>
            <a:off x="9171432" y="2249424"/>
            <a:ext cx="822960" cy="365760"/>
          </a:xfrm>
          <a:prstGeom prst="rect">
            <a:avLst/>
          </a:prstGeom>
          <a:noFill/>
          <a:ln/>
        </p:spPr>
        <p:txBody>
          <a:bodyPr wrap="square" rtlCol="0" anchor="ctr"/>
          <a:lstStyle/>
          <a:p>
            <a:pPr marL="0" indent="0" algn="ctr">
              <a:buNone/>
            </a:pPr>
            <a:r>
              <a:rPr lang="en-US" sz="750" b="1" dirty="0">
                <a:solidFill>
                  <a:srgbClr val="B91C1C"/>
                </a:solidFill>
                <a:latin typeface="Arial" pitchFamily="34" charset="0"/>
                <a:ea typeface="Arial" pitchFamily="34" charset="-122"/>
                <a:cs typeface="Arial" pitchFamily="34" charset="-120"/>
              </a:rPr>
              <a:t>Bottleneck</a:t>
            </a:r>
            <a:endParaRPr lang="en-US" sz="750" dirty="0"/>
          </a:p>
          <a:p>
            <a:pPr marL="0" indent="0" algn="ctr">
              <a:buNone/>
            </a:pPr>
            <a:r>
              <a:rPr lang="en-US" sz="750" b="1" dirty="0">
                <a:solidFill>
                  <a:srgbClr val="B91C1C"/>
                </a:solidFill>
                <a:latin typeface="Arial" pitchFamily="34" charset="0"/>
                <a:ea typeface="Arial" pitchFamily="34" charset="-122"/>
                <a:cs typeface="Arial" pitchFamily="34" charset="-120"/>
              </a:rPr>
              <a:t>5.2d queue</a:t>
            </a:r>
            <a:endParaRPr lang="en-US" sz="750" dirty="0"/>
          </a:p>
          <a:p>
            <a:pPr marL="0" indent="0" algn="ctr">
              <a:buNone/>
            </a:pPr>
            <a:r>
              <a:rPr lang="en-US" sz="750" b="1" dirty="0">
                <a:solidFill>
                  <a:srgbClr val="B91C1C"/>
                </a:solidFill>
                <a:latin typeface="Arial" pitchFamily="34" charset="0"/>
                <a:ea typeface="Arial" pitchFamily="34" charset="-122"/>
                <a:cs typeface="Arial" pitchFamily="34" charset="-120"/>
              </a:rPr>
              <a:t>Inline insp.</a:t>
            </a:r>
            <a:endParaRPr lang="en-US" sz="750" dirty="0"/>
          </a:p>
        </p:txBody>
      </p:sp>
      <p:sp>
        <p:nvSpPr>
          <p:cNvPr id="49" name="Shape 46"/>
          <p:cNvSpPr/>
          <p:nvPr/>
        </p:nvSpPr>
        <p:spPr>
          <a:xfrm>
            <a:off x="8138160" y="2212848"/>
            <a:ext cx="914400" cy="438912"/>
          </a:xfrm>
          <a:prstGeom prst="rect">
            <a:avLst/>
          </a:prstGeom>
          <a:solidFill>
            <a:srgbClr val="FEE2E2"/>
          </a:solidFill>
          <a:ln w="19050">
            <a:solidFill>
              <a:srgbClr val="B91C1C"/>
            </a:solidFill>
            <a:prstDash val="solid"/>
          </a:ln>
        </p:spPr>
        <p:txBody>
          <a:bodyPr/>
          <a:lstStyle/>
          <a:p>
            <a:endParaRPr lang="en-GB"/>
          </a:p>
        </p:txBody>
      </p:sp>
      <p:sp>
        <p:nvSpPr>
          <p:cNvPr id="50" name="Text 47"/>
          <p:cNvSpPr/>
          <p:nvPr/>
        </p:nvSpPr>
        <p:spPr>
          <a:xfrm>
            <a:off x="8183880" y="2249424"/>
            <a:ext cx="822960" cy="365760"/>
          </a:xfrm>
          <a:prstGeom prst="rect">
            <a:avLst/>
          </a:prstGeom>
          <a:noFill/>
          <a:ln/>
        </p:spPr>
        <p:txBody>
          <a:bodyPr wrap="square" rtlCol="0" anchor="ctr"/>
          <a:lstStyle/>
          <a:p>
            <a:pPr marL="0" indent="0" algn="ctr">
              <a:buNone/>
            </a:pPr>
            <a:r>
              <a:rPr lang="en-US" sz="750" b="1" dirty="0">
                <a:solidFill>
                  <a:srgbClr val="B91C1C"/>
                </a:solidFill>
                <a:latin typeface="Arial" pitchFamily="34" charset="0"/>
                <a:ea typeface="Arial" pitchFamily="34" charset="-122"/>
                <a:cs typeface="Arial" pitchFamily="34" charset="-120"/>
              </a:rPr>
              <a:t>5.8% scrap</a:t>
            </a:r>
            <a:endParaRPr lang="en-US" sz="750" dirty="0"/>
          </a:p>
          <a:p>
            <a:pPr marL="0" indent="0" algn="ctr">
              <a:buNone/>
            </a:pPr>
            <a:r>
              <a:rPr lang="en-US" sz="750" b="1" dirty="0">
                <a:solidFill>
                  <a:srgbClr val="B91C1C"/>
                </a:solidFill>
                <a:latin typeface="Arial" pitchFamily="34" charset="0"/>
                <a:ea typeface="Arial" pitchFamily="34" charset="-122"/>
                <a:cs typeface="Arial" pitchFamily="34" charset="-120"/>
              </a:rPr>
              <a:t>8D RCA</a:t>
            </a:r>
            <a:endParaRPr lang="en-US" sz="750" dirty="0"/>
          </a:p>
          <a:p>
            <a:pPr marL="0" indent="0" algn="ctr">
              <a:buNone/>
            </a:pPr>
            <a:r>
              <a:rPr lang="en-US" sz="750" b="1" dirty="0">
                <a:solidFill>
                  <a:srgbClr val="B91C1C"/>
                </a:solidFill>
                <a:latin typeface="Arial" pitchFamily="34" charset="0"/>
                <a:ea typeface="Arial" pitchFamily="34" charset="-122"/>
                <a:cs typeface="Arial" pitchFamily="34" charset="-120"/>
              </a:rPr>
              <a:t>required</a:t>
            </a:r>
            <a:endParaRPr lang="en-US" sz="750" dirty="0"/>
          </a:p>
        </p:txBody>
      </p:sp>
      <p:sp>
        <p:nvSpPr>
          <p:cNvPr id="51" name="Shape 48"/>
          <p:cNvSpPr/>
          <p:nvPr/>
        </p:nvSpPr>
        <p:spPr>
          <a:xfrm>
            <a:off x="6126480" y="3493008"/>
            <a:ext cx="5669280" cy="274320"/>
          </a:xfrm>
          <a:prstGeom prst="rect">
            <a:avLst/>
          </a:prstGeom>
          <a:solidFill>
            <a:srgbClr val="1E3A5F"/>
          </a:solidFill>
          <a:ln/>
        </p:spPr>
        <p:txBody>
          <a:bodyPr/>
          <a:lstStyle/>
          <a:p>
            <a:endParaRPr lang="en-GB"/>
          </a:p>
        </p:txBody>
      </p:sp>
      <p:sp>
        <p:nvSpPr>
          <p:cNvPr id="52" name="Text 49"/>
          <p:cNvSpPr/>
          <p:nvPr/>
        </p:nvSpPr>
        <p:spPr>
          <a:xfrm>
            <a:off x="6217920" y="3511296"/>
            <a:ext cx="548640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CAPACITY CHECK: CYCLE TIME vs TAKT TIME (37.5 mins per unit)</a:t>
            </a:r>
            <a:endParaRPr lang="en-US" sz="900" dirty="0"/>
          </a:p>
        </p:txBody>
      </p:sp>
      <p:sp>
        <p:nvSpPr>
          <p:cNvPr id="53" name="Shape 50"/>
          <p:cNvSpPr/>
          <p:nvPr/>
        </p:nvSpPr>
        <p:spPr>
          <a:xfrm>
            <a:off x="6126480" y="3785616"/>
            <a:ext cx="1261872" cy="237744"/>
          </a:xfrm>
          <a:prstGeom prst="rect">
            <a:avLst/>
          </a:prstGeom>
          <a:solidFill>
            <a:srgbClr val="5B595A"/>
          </a:solidFill>
          <a:ln w="3810">
            <a:solidFill>
              <a:srgbClr val="CCCCCC"/>
            </a:solidFill>
            <a:prstDash val="solid"/>
          </a:ln>
        </p:spPr>
        <p:txBody>
          <a:bodyPr/>
          <a:lstStyle/>
          <a:p>
            <a:endParaRPr lang="en-GB"/>
          </a:p>
        </p:txBody>
      </p:sp>
      <p:sp>
        <p:nvSpPr>
          <p:cNvPr id="54" name="Text 51"/>
          <p:cNvSpPr/>
          <p:nvPr/>
        </p:nvSpPr>
        <p:spPr>
          <a:xfrm>
            <a:off x="6181344" y="3785616"/>
            <a:ext cx="1152144" cy="237744"/>
          </a:xfrm>
          <a:prstGeom prst="rect">
            <a:avLst/>
          </a:prstGeom>
          <a:noFill/>
          <a:ln/>
        </p:spPr>
        <p:txBody>
          <a:bodyPr wrap="square" rtlCol="0" anchor="ctr"/>
          <a:lstStyle/>
          <a:p>
            <a:pPr marL="0" indent="0" algn="l">
              <a:buNone/>
            </a:pPr>
            <a:r>
              <a:rPr lang="en-US" sz="850" b="1" dirty="0">
                <a:solidFill>
                  <a:srgbClr val="FFFFFF"/>
                </a:solidFill>
                <a:latin typeface="Arial" pitchFamily="34" charset="0"/>
                <a:ea typeface="Arial" pitchFamily="34" charset="-122"/>
                <a:cs typeface="Arial" pitchFamily="34" charset="-120"/>
              </a:rPr>
              <a:t>Process Step</a:t>
            </a:r>
            <a:endParaRPr lang="en-US" sz="850" dirty="0"/>
          </a:p>
        </p:txBody>
      </p:sp>
      <p:sp>
        <p:nvSpPr>
          <p:cNvPr id="55" name="Shape 52"/>
          <p:cNvSpPr/>
          <p:nvPr/>
        </p:nvSpPr>
        <p:spPr>
          <a:xfrm>
            <a:off x="7406640" y="3785616"/>
            <a:ext cx="1078992" cy="237744"/>
          </a:xfrm>
          <a:prstGeom prst="rect">
            <a:avLst/>
          </a:prstGeom>
          <a:solidFill>
            <a:srgbClr val="5B595A"/>
          </a:solidFill>
          <a:ln w="3810">
            <a:solidFill>
              <a:srgbClr val="CCCCCC"/>
            </a:solidFill>
            <a:prstDash val="solid"/>
          </a:ln>
        </p:spPr>
        <p:txBody>
          <a:bodyPr/>
          <a:lstStyle/>
          <a:p>
            <a:endParaRPr lang="en-GB"/>
          </a:p>
        </p:txBody>
      </p:sp>
      <p:sp>
        <p:nvSpPr>
          <p:cNvPr id="56" name="Text 53"/>
          <p:cNvSpPr/>
          <p:nvPr/>
        </p:nvSpPr>
        <p:spPr>
          <a:xfrm>
            <a:off x="7461504" y="3785616"/>
            <a:ext cx="969264" cy="237744"/>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Cycle Time</a:t>
            </a:r>
            <a:endParaRPr lang="en-US" sz="850" dirty="0"/>
          </a:p>
        </p:txBody>
      </p:sp>
      <p:sp>
        <p:nvSpPr>
          <p:cNvPr id="57" name="Shape 54"/>
          <p:cNvSpPr/>
          <p:nvPr/>
        </p:nvSpPr>
        <p:spPr>
          <a:xfrm>
            <a:off x="8503920" y="3785616"/>
            <a:ext cx="1078992" cy="237744"/>
          </a:xfrm>
          <a:prstGeom prst="rect">
            <a:avLst/>
          </a:prstGeom>
          <a:solidFill>
            <a:srgbClr val="5B595A"/>
          </a:solidFill>
          <a:ln w="3810">
            <a:solidFill>
              <a:srgbClr val="CCCCCC"/>
            </a:solidFill>
            <a:prstDash val="solid"/>
          </a:ln>
        </p:spPr>
        <p:txBody>
          <a:bodyPr/>
          <a:lstStyle/>
          <a:p>
            <a:endParaRPr lang="en-GB"/>
          </a:p>
        </p:txBody>
      </p:sp>
      <p:sp>
        <p:nvSpPr>
          <p:cNvPr id="58" name="Text 55"/>
          <p:cNvSpPr/>
          <p:nvPr/>
        </p:nvSpPr>
        <p:spPr>
          <a:xfrm>
            <a:off x="8558784" y="3785616"/>
            <a:ext cx="969264" cy="237744"/>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Takt Time</a:t>
            </a:r>
            <a:endParaRPr lang="en-US" sz="850" dirty="0"/>
          </a:p>
        </p:txBody>
      </p:sp>
      <p:sp>
        <p:nvSpPr>
          <p:cNvPr id="59" name="Shape 56"/>
          <p:cNvSpPr/>
          <p:nvPr/>
        </p:nvSpPr>
        <p:spPr>
          <a:xfrm>
            <a:off x="9601200" y="3785616"/>
            <a:ext cx="2212848" cy="237744"/>
          </a:xfrm>
          <a:prstGeom prst="rect">
            <a:avLst/>
          </a:prstGeom>
          <a:solidFill>
            <a:srgbClr val="5B595A"/>
          </a:solidFill>
          <a:ln w="3810">
            <a:solidFill>
              <a:srgbClr val="CCCCCC"/>
            </a:solidFill>
            <a:prstDash val="solid"/>
          </a:ln>
        </p:spPr>
        <p:txBody>
          <a:bodyPr/>
          <a:lstStyle/>
          <a:p>
            <a:endParaRPr lang="en-GB"/>
          </a:p>
        </p:txBody>
      </p:sp>
      <p:sp>
        <p:nvSpPr>
          <p:cNvPr id="60" name="Text 57"/>
          <p:cNvSpPr/>
          <p:nvPr/>
        </p:nvSpPr>
        <p:spPr>
          <a:xfrm>
            <a:off x="9656064" y="3785616"/>
            <a:ext cx="2103120" cy="237744"/>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Status</a:t>
            </a:r>
            <a:endParaRPr lang="en-US" sz="850" dirty="0"/>
          </a:p>
        </p:txBody>
      </p:sp>
      <p:sp>
        <p:nvSpPr>
          <p:cNvPr id="61" name="Shape 58"/>
          <p:cNvSpPr/>
          <p:nvPr/>
        </p:nvSpPr>
        <p:spPr>
          <a:xfrm>
            <a:off x="6126480" y="4041648"/>
            <a:ext cx="1261872" cy="310896"/>
          </a:xfrm>
          <a:prstGeom prst="rect">
            <a:avLst/>
          </a:prstGeom>
          <a:solidFill>
            <a:srgbClr val="FFFFFF"/>
          </a:solidFill>
          <a:ln w="3810">
            <a:solidFill>
              <a:srgbClr val="DDDDDD"/>
            </a:solidFill>
            <a:prstDash val="solid"/>
          </a:ln>
        </p:spPr>
        <p:txBody>
          <a:bodyPr/>
          <a:lstStyle/>
          <a:p>
            <a:endParaRPr lang="en-GB"/>
          </a:p>
        </p:txBody>
      </p:sp>
      <p:sp>
        <p:nvSpPr>
          <p:cNvPr id="62" name="Text 59"/>
          <p:cNvSpPr/>
          <p:nvPr/>
        </p:nvSpPr>
        <p:spPr>
          <a:xfrm>
            <a:off x="6181344" y="4041648"/>
            <a:ext cx="1152144" cy="310896"/>
          </a:xfrm>
          <a:prstGeom prst="rect">
            <a:avLst/>
          </a:prstGeom>
          <a:noFill/>
          <a:ln/>
        </p:spPr>
        <p:txBody>
          <a:bodyPr wrap="square" rtlCol="0" anchor="ctr"/>
          <a:lstStyle/>
          <a:p>
            <a:pPr marL="0" indent="0" algn="l">
              <a:buNone/>
            </a:pPr>
            <a:r>
              <a:rPr lang="en-US" sz="850" dirty="0">
                <a:solidFill>
                  <a:srgbClr val="5B595A"/>
                </a:solidFill>
                <a:latin typeface="Arial" pitchFamily="34" charset="0"/>
                <a:ea typeface="Arial" pitchFamily="34" charset="-122"/>
                <a:cs typeface="Arial" pitchFamily="34" charset="-120"/>
              </a:rPr>
              <a:t>Goods In / Stores</a:t>
            </a:r>
            <a:endParaRPr lang="en-US" sz="850" dirty="0"/>
          </a:p>
        </p:txBody>
      </p:sp>
      <p:sp>
        <p:nvSpPr>
          <p:cNvPr id="63" name="Shape 60"/>
          <p:cNvSpPr/>
          <p:nvPr/>
        </p:nvSpPr>
        <p:spPr>
          <a:xfrm>
            <a:off x="7406640" y="4041648"/>
            <a:ext cx="1078992" cy="310896"/>
          </a:xfrm>
          <a:prstGeom prst="rect">
            <a:avLst/>
          </a:prstGeom>
          <a:solidFill>
            <a:srgbClr val="FFFFFF"/>
          </a:solidFill>
          <a:ln w="3810">
            <a:solidFill>
              <a:srgbClr val="DDDDDD"/>
            </a:solidFill>
            <a:prstDash val="solid"/>
          </a:ln>
        </p:spPr>
        <p:txBody>
          <a:bodyPr/>
          <a:lstStyle/>
          <a:p>
            <a:endParaRPr lang="en-GB"/>
          </a:p>
        </p:txBody>
      </p:sp>
      <p:sp>
        <p:nvSpPr>
          <p:cNvPr id="64" name="Text 61"/>
          <p:cNvSpPr/>
          <p:nvPr/>
        </p:nvSpPr>
        <p:spPr>
          <a:xfrm>
            <a:off x="7461504" y="4041648"/>
            <a:ext cx="969264" cy="310896"/>
          </a:xfrm>
          <a:prstGeom prst="rect">
            <a:avLst/>
          </a:prstGeom>
          <a:noFill/>
          <a:ln/>
        </p:spPr>
        <p:txBody>
          <a:bodyPr wrap="square" rtlCol="0" anchor="ctr"/>
          <a:lstStyle/>
          <a:p>
            <a:pPr marL="0" indent="0" algn="ctr">
              <a:buNone/>
            </a:pPr>
            <a:r>
              <a:rPr lang="en-US" sz="850" dirty="0">
                <a:solidFill>
                  <a:srgbClr val="5B595A"/>
                </a:solidFill>
                <a:latin typeface="Arial" pitchFamily="34" charset="0"/>
                <a:ea typeface="Arial" pitchFamily="34" charset="-122"/>
                <a:cs typeface="Arial" pitchFamily="34" charset="-120"/>
              </a:rPr>
              <a:t>15 mins</a:t>
            </a:r>
            <a:endParaRPr lang="en-US" sz="850" dirty="0"/>
          </a:p>
        </p:txBody>
      </p:sp>
      <p:sp>
        <p:nvSpPr>
          <p:cNvPr id="65" name="Shape 62"/>
          <p:cNvSpPr/>
          <p:nvPr/>
        </p:nvSpPr>
        <p:spPr>
          <a:xfrm>
            <a:off x="8503920" y="4041648"/>
            <a:ext cx="1078992" cy="310896"/>
          </a:xfrm>
          <a:prstGeom prst="rect">
            <a:avLst/>
          </a:prstGeom>
          <a:solidFill>
            <a:srgbClr val="FFFFFF"/>
          </a:solidFill>
          <a:ln w="3810">
            <a:solidFill>
              <a:srgbClr val="DDDDDD"/>
            </a:solidFill>
            <a:prstDash val="solid"/>
          </a:ln>
        </p:spPr>
        <p:txBody>
          <a:bodyPr/>
          <a:lstStyle/>
          <a:p>
            <a:endParaRPr lang="en-GB"/>
          </a:p>
        </p:txBody>
      </p:sp>
      <p:sp>
        <p:nvSpPr>
          <p:cNvPr id="66" name="Text 63"/>
          <p:cNvSpPr/>
          <p:nvPr/>
        </p:nvSpPr>
        <p:spPr>
          <a:xfrm>
            <a:off x="8558784" y="4041648"/>
            <a:ext cx="969264" cy="310896"/>
          </a:xfrm>
          <a:prstGeom prst="rect">
            <a:avLst/>
          </a:prstGeom>
          <a:noFill/>
          <a:ln/>
        </p:spPr>
        <p:txBody>
          <a:bodyPr wrap="square" rtlCol="0" anchor="ctr"/>
          <a:lstStyle/>
          <a:p>
            <a:pPr marL="0" indent="0" algn="ctr">
              <a:buNone/>
            </a:pPr>
            <a:r>
              <a:rPr lang="en-US" sz="850" dirty="0">
                <a:solidFill>
                  <a:srgbClr val="5B595A"/>
                </a:solidFill>
                <a:latin typeface="Arial" pitchFamily="34" charset="0"/>
                <a:ea typeface="Arial" pitchFamily="34" charset="-122"/>
                <a:cs typeface="Arial" pitchFamily="34" charset="-120"/>
              </a:rPr>
              <a:t>37.5 mins</a:t>
            </a:r>
            <a:endParaRPr lang="en-US" sz="850" dirty="0"/>
          </a:p>
        </p:txBody>
      </p:sp>
      <p:sp>
        <p:nvSpPr>
          <p:cNvPr id="67" name="Shape 64"/>
          <p:cNvSpPr/>
          <p:nvPr/>
        </p:nvSpPr>
        <p:spPr>
          <a:xfrm>
            <a:off x="9601200" y="4041648"/>
            <a:ext cx="2212848" cy="310896"/>
          </a:xfrm>
          <a:prstGeom prst="rect">
            <a:avLst/>
          </a:prstGeom>
          <a:solidFill>
            <a:srgbClr val="EAF4EE"/>
          </a:solidFill>
          <a:ln w="3810">
            <a:solidFill>
              <a:srgbClr val="DDDDDD"/>
            </a:solidFill>
            <a:prstDash val="solid"/>
          </a:ln>
        </p:spPr>
        <p:txBody>
          <a:bodyPr/>
          <a:lstStyle/>
          <a:p>
            <a:endParaRPr lang="en-GB"/>
          </a:p>
        </p:txBody>
      </p:sp>
      <p:sp>
        <p:nvSpPr>
          <p:cNvPr id="68" name="Text 65"/>
          <p:cNvSpPr/>
          <p:nvPr/>
        </p:nvSpPr>
        <p:spPr>
          <a:xfrm>
            <a:off x="9656064" y="4041648"/>
            <a:ext cx="2103120" cy="310896"/>
          </a:xfrm>
          <a:prstGeom prst="rect">
            <a:avLst/>
          </a:prstGeom>
          <a:noFill/>
          <a:ln/>
        </p:spPr>
        <p:txBody>
          <a:bodyPr wrap="square" rtlCol="0" anchor="ctr"/>
          <a:lstStyle/>
          <a:p>
            <a:pPr marL="0" indent="0" algn="ctr">
              <a:buNone/>
            </a:pPr>
            <a:r>
              <a:rPr lang="en-US" sz="850" b="1" dirty="0">
                <a:solidFill>
                  <a:srgbClr val="217346"/>
                </a:solidFill>
                <a:latin typeface="Arial" pitchFamily="34" charset="0"/>
                <a:ea typeface="Arial" pitchFamily="34" charset="-122"/>
                <a:cs typeface="Arial" pitchFamily="34" charset="-120"/>
              </a:rPr>
              <a:t>OK</a:t>
            </a:r>
            <a:endParaRPr lang="en-US" sz="850" dirty="0"/>
          </a:p>
        </p:txBody>
      </p:sp>
      <p:sp>
        <p:nvSpPr>
          <p:cNvPr id="69" name="Shape 66"/>
          <p:cNvSpPr/>
          <p:nvPr/>
        </p:nvSpPr>
        <p:spPr>
          <a:xfrm>
            <a:off x="6126480" y="4370832"/>
            <a:ext cx="1261872" cy="310896"/>
          </a:xfrm>
          <a:prstGeom prst="rect">
            <a:avLst/>
          </a:prstGeom>
          <a:solidFill>
            <a:srgbClr val="F2F2F2"/>
          </a:solidFill>
          <a:ln w="3810">
            <a:solidFill>
              <a:srgbClr val="DDDDDD"/>
            </a:solidFill>
            <a:prstDash val="solid"/>
          </a:ln>
        </p:spPr>
        <p:txBody>
          <a:bodyPr/>
          <a:lstStyle/>
          <a:p>
            <a:endParaRPr lang="en-GB"/>
          </a:p>
        </p:txBody>
      </p:sp>
      <p:sp>
        <p:nvSpPr>
          <p:cNvPr id="70" name="Text 67"/>
          <p:cNvSpPr/>
          <p:nvPr/>
        </p:nvSpPr>
        <p:spPr>
          <a:xfrm>
            <a:off x="6181344" y="4370832"/>
            <a:ext cx="1152144" cy="310896"/>
          </a:xfrm>
          <a:prstGeom prst="rect">
            <a:avLst/>
          </a:prstGeom>
          <a:noFill/>
          <a:ln/>
        </p:spPr>
        <p:txBody>
          <a:bodyPr wrap="square" rtlCol="0" anchor="ctr"/>
          <a:lstStyle/>
          <a:p>
            <a:pPr marL="0" indent="0" algn="l">
              <a:buNone/>
            </a:pPr>
            <a:r>
              <a:rPr lang="en-US" sz="850" dirty="0">
                <a:solidFill>
                  <a:srgbClr val="5B595A"/>
                </a:solidFill>
                <a:latin typeface="Arial" pitchFamily="34" charset="0"/>
                <a:ea typeface="Arial" pitchFamily="34" charset="-122"/>
                <a:cs typeface="Arial" pitchFamily="34" charset="-120"/>
              </a:rPr>
              <a:t>CNC Turning Cell 1</a:t>
            </a:r>
            <a:endParaRPr lang="en-US" sz="850" dirty="0"/>
          </a:p>
        </p:txBody>
      </p:sp>
      <p:sp>
        <p:nvSpPr>
          <p:cNvPr id="71" name="Shape 68"/>
          <p:cNvSpPr/>
          <p:nvPr/>
        </p:nvSpPr>
        <p:spPr>
          <a:xfrm>
            <a:off x="7406640" y="4370832"/>
            <a:ext cx="1078992" cy="310896"/>
          </a:xfrm>
          <a:prstGeom prst="rect">
            <a:avLst/>
          </a:prstGeom>
          <a:solidFill>
            <a:srgbClr val="F2F2F2"/>
          </a:solidFill>
          <a:ln w="3810">
            <a:solidFill>
              <a:srgbClr val="DDDDDD"/>
            </a:solidFill>
            <a:prstDash val="solid"/>
          </a:ln>
        </p:spPr>
        <p:txBody>
          <a:bodyPr/>
          <a:lstStyle/>
          <a:p>
            <a:endParaRPr lang="en-GB"/>
          </a:p>
        </p:txBody>
      </p:sp>
      <p:sp>
        <p:nvSpPr>
          <p:cNvPr id="72" name="Text 69"/>
          <p:cNvSpPr/>
          <p:nvPr/>
        </p:nvSpPr>
        <p:spPr>
          <a:xfrm>
            <a:off x="7461504" y="4370832"/>
            <a:ext cx="969264" cy="310896"/>
          </a:xfrm>
          <a:prstGeom prst="rect">
            <a:avLst/>
          </a:prstGeom>
          <a:noFill/>
          <a:ln/>
        </p:spPr>
        <p:txBody>
          <a:bodyPr wrap="square" rtlCol="0" anchor="ctr"/>
          <a:lstStyle/>
          <a:p>
            <a:pPr marL="0" indent="0" algn="ctr">
              <a:buNone/>
            </a:pPr>
            <a:r>
              <a:rPr lang="en-US" sz="850" dirty="0">
                <a:solidFill>
                  <a:srgbClr val="5B595A"/>
                </a:solidFill>
                <a:latin typeface="Arial" pitchFamily="34" charset="0"/>
                <a:ea typeface="Arial" pitchFamily="34" charset="-122"/>
                <a:cs typeface="Arial" pitchFamily="34" charset="-120"/>
              </a:rPr>
              <a:t>42 mins</a:t>
            </a:r>
            <a:endParaRPr lang="en-US" sz="850" dirty="0"/>
          </a:p>
        </p:txBody>
      </p:sp>
      <p:sp>
        <p:nvSpPr>
          <p:cNvPr id="73" name="Shape 70"/>
          <p:cNvSpPr/>
          <p:nvPr/>
        </p:nvSpPr>
        <p:spPr>
          <a:xfrm>
            <a:off x="8503920" y="4370832"/>
            <a:ext cx="1078992" cy="310896"/>
          </a:xfrm>
          <a:prstGeom prst="rect">
            <a:avLst/>
          </a:prstGeom>
          <a:solidFill>
            <a:srgbClr val="F2F2F2"/>
          </a:solidFill>
          <a:ln w="3810">
            <a:solidFill>
              <a:srgbClr val="DDDDDD"/>
            </a:solidFill>
            <a:prstDash val="solid"/>
          </a:ln>
        </p:spPr>
        <p:txBody>
          <a:bodyPr/>
          <a:lstStyle/>
          <a:p>
            <a:endParaRPr lang="en-GB"/>
          </a:p>
        </p:txBody>
      </p:sp>
      <p:sp>
        <p:nvSpPr>
          <p:cNvPr id="74" name="Text 71"/>
          <p:cNvSpPr/>
          <p:nvPr/>
        </p:nvSpPr>
        <p:spPr>
          <a:xfrm>
            <a:off x="8558784" y="4370832"/>
            <a:ext cx="969264" cy="310896"/>
          </a:xfrm>
          <a:prstGeom prst="rect">
            <a:avLst/>
          </a:prstGeom>
          <a:noFill/>
          <a:ln/>
        </p:spPr>
        <p:txBody>
          <a:bodyPr wrap="square" rtlCol="0" anchor="ctr"/>
          <a:lstStyle/>
          <a:p>
            <a:pPr marL="0" indent="0" algn="ctr">
              <a:buNone/>
            </a:pPr>
            <a:r>
              <a:rPr lang="en-US" sz="850" dirty="0">
                <a:solidFill>
                  <a:srgbClr val="5B595A"/>
                </a:solidFill>
                <a:latin typeface="Arial" pitchFamily="34" charset="0"/>
                <a:ea typeface="Arial" pitchFamily="34" charset="-122"/>
                <a:cs typeface="Arial" pitchFamily="34" charset="-120"/>
              </a:rPr>
              <a:t>37.5 mins</a:t>
            </a:r>
            <a:endParaRPr lang="en-US" sz="850" dirty="0"/>
          </a:p>
        </p:txBody>
      </p:sp>
      <p:sp>
        <p:nvSpPr>
          <p:cNvPr id="75" name="Shape 72"/>
          <p:cNvSpPr/>
          <p:nvPr/>
        </p:nvSpPr>
        <p:spPr>
          <a:xfrm>
            <a:off x="9601200" y="4370832"/>
            <a:ext cx="2212848" cy="310896"/>
          </a:xfrm>
          <a:prstGeom prst="rect">
            <a:avLst/>
          </a:prstGeom>
          <a:solidFill>
            <a:srgbClr val="FEE2E2"/>
          </a:solidFill>
          <a:ln w="3810">
            <a:solidFill>
              <a:srgbClr val="DDDDDD"/>
            </a:solidFill>
            <a:prstDash val="solid"/>
          </a:ln>
        </p:spPr>
        <p:txBody>
          <a:bodyPr/>
          <a:lstStyle/>
          <a:p>
            <a:endParaRPr lang="en-GB"/>
          </a:p>
        </p:txBody>
      </p:sp>
      <p:sp>
        <p:nvSpPr>
          <p:cNvPr id="76" name="Text 73"/>
          <p:cNvSpPr/>
          <p:nvPr/>
        </p:nvSpPr>
        <p:spPr>
          <a:xfrm>
            <a:off x="9656064" y="4370832"/>
            <a:ext cx="2103120" cy="310896"/>
          </a:xfrm>
          <a:prstGeom prst="rect">
            <a:avLst/>
          </a:prstGeom>
          <a:noFill/>
          <a:ln/>
        </p:spPr>
        <p:txBody>
          <a:bodyPr wrap="square" rtlCol="0" anchor="ctr"/>
          <a:lstStyle/>
          <a:p>
            <a:pPr marL="0" indent="0" algn="ctr">
              <a:buNone/>
            </a:pPr>
            <a:r>
              <a:rPr lang="en-US" sz="850" b="1" dirty="0">
                <a:solidFill>
                  <a:srgbClr val="B91C1C"/>
                </a:solidFill>
                <a:latin typeface="Arial" pitchFamily="34" charset="0"/>
                <a:ea typeface="Arial" pitchFamily="34" charset="-122"/>
                <a:cs typeface="Arial" pitchFamily="34" charset="-120"/>
              </a:rPr>
              <a:t>EXCEEDS TAKT</a:t>
            </a:r>
            <a:endParaRPr lang="en-US" sz="850" dirty="0"/>
          </a:p>
        </p:txBody>
      </p:sp>
      <p:sp>
        <p:nvSpPr>
          <p:cNvPr id="77" name="Shape 74"/>
          <p:cNvSpPr/>
          <p:nvPr/>
        </p:nvSpPr>
        <p:spPr>
          <a:xfrm>
            <a:off x="6126480" y="4700016"/>
            <a:ext cx="1261872" cy="310896"/>
          </a:xfrm>
          <a:prstGeom prst="rect">
            <a:avLst/>
          </a:prstGeom>
          <a:solidFill>
            <a:srgbClr val="FFFFFF"/>
          </a:solidFill>
          <a:ln w="3810">
            <a:solidFill>
              <a:srgbClr val="DDDDDD"/>
            </a:solidFill>
            <a:prstDash val="solid"/>
          </a:ln>
        </p:spPr>
        <p:txBody>
          <a:bodyPr/>
          <a:lstStyle/>
          <a:p>
            <a:endParaRPr lang="en-GB"/>
          </a:p>
        </p:txBody>
      </p:sp>
      <p:sp>
        <p:nvSpPr>
          <p:cNvPr id="78" name="Text 75"/>
          <p:cNvSpPr/>
          <p:nvPr/>
        </p:nvSpPr>
        <p:spPr>
          <a:xfrm>
            <a:off x="6181344" y="4700016"/>
            <a:ext cx="1152144" cy="310896"/>
          </a:xfrm>
          <a:prstGeom prst="rect">
            <a:avLst/>
          </a:prstGeom>
          <a:noFill/>
          <a:ln/>
        </p:spPr>
        <p:txBody>
          <a:bodyPr wrap="square" rtlCol="0" anchor="ctr"/>
          <a:lstStyle/>
          <a:p>
            <a:pPr marL="0" indent="0" algn="l">
              <a:buNone/>
            </a:pPr>
            <a:r>
              <a:rPr lang="en-US" sz="850" dirty="0">
                <a:solidFill>
                  <a:srgbClr val="5B595A"/>
                </a:solidFill>
                <a:latin typeface="Arial" pitchFamily="34" charset="0"/>
                <a:ea typeface="Arial" pitchFamily="34" charset="-122"/>
                <a:cs typeface="Arial" pitchFamily="34" charset="-120"/>
              </a:rPr>
              <a:t>CNC Milling Cell 2</a:t>
            </a:r>
            <a:endParaRPr lang="en-US" sz="850" dirty="0"/>
          </a:p>
        </p:txBody>
      </p:sp>
      <p:sp>
        <p:nvSpPr>
          <p:cNvPr id="79" name="Shape 76"/>
          <p:cNvSpPr/>
          <p:nvPr/>
        </p:nvSpPr>
        <p:spPr>
          <a:xfrm>
            <a:off x="7406640" y="4700016"/>
            <a:ext cx="1078992" cy="310896"/>
          </a:xfrm>
          <a:prstGeom prst="rect">
            <a:avLst/>
          </a:prstGeom>
          <a:solidFill>
            <a:srgbClr val="FFFFFF"/>
          </a:solidFill>
          <a:ln w="3810">
            <a:solidFill>
              <a:srgbClr val="DDDDDD"/>
            </a:solidFill>
            <a:prstDash val="solid"/>
          </a:ln>
        </p:spPr>
        <p:txBody>
          <a:bodyPr/>
          <a:lstStyle/>
          <a:p>
            <a:endParaRPr lang="en-GB"/>
          </a:p>
        </p:txBody>
      </p:sp>
      <p:sp>
        <p:nvSpPr>
          <p:cNvPr id="80" name="Text 77"/>
          <p:cNvSpPr/>
          <p:nvPr/>
        </p:nvSpPr>
        <p:spPr>
          <a:xfrm>
            <a:off x="7461504" y="4700016"/>
            <a:ext cx="969264" cy="310896"/>
          </a:xfrm>
          <a:prstGeom prst="rect">
            <a:avLst/>
          </a:prstGeom>
          <a:noFill/>
          <a:ln/>
        </p:spPr>
        <p:txBody>
          <a:bodyPr wrap="square" rtlCol="0" anchor="ctr"/>
          <a:lstStyle/>
          <a:p>
            <a:pPr marL="0" indent="0" algn="ctr">
              <a:buNone/>
            </a:pPr>
            <a:r>
              <a:rPr lang="en-US" sz="850" dirty="0">
                <a:solidFill>
                  <a:srgbClr val="5B595A"/>
                </a:solidFill>
                <a:latin typeface="Arial" pitchFamily="34" charset="0"/>
                <a:ea typeface="Arial" pitchFamily="34" charset="-122"/>
                <a:cs typeface="Arial" pitchFamily="34" charset="-120"/>
              </a:rPr>
              <a:t>38 mins</a:t>
            </a:r>
            <a:endParaRPr lang="en-US" sz="850" dirty="0"/>
          </a:p>
        </p:txBody>
      </p:sp>
      <p:sp>
        <p:nvSpPr>
          <p:cNvPr id="81" name="Shape 78"/>
          <p:cNvSpPr/>
          <p:nvPr/>
        </p:nvSpPr>
        <p:spPr>
          <a:xfrm>
            <a:off x="8503920" y="4700016"/>
            <a:ext cx="1078992" cy="310896"/>
          </a:xfrm>
          <a:prstGeom prst="rect">
            <a:avLst/>
          </a:prstGeom>
          <a:solidFill>
            <a:srgbClr val="FFFFFF"/>
          </a:solidFill>
          <a:ln w="3810">
            <a:solidFill>
              <a:srgbClr val="DDDDDD"/>
            </a:solidFill>
            <a:prstDash val="solid"/>
          </a:ln>
        </p:spPr>
        <p:txBody>
          <a:bodyPr/>
          <a:lstStyle/>
          <a:p>
            <a:endParaRPr lang="en-GB"/>
          </a:p>
        </p:txBody>
      </p:sp>
      <p:sp>
        <p:nvSpPr>
          <p:cNvPr id="82" name="Text 79"/>
          <p:cNvSpPr/>
          <p:nvPr/>
        </p:nvSpPr>
        <p:spPr>
          <a:xfrm>
            <a:off x="8558784" y="4700016"/>
            <a:ext cx="969264" cy="310896"/>
          </a:xfrm>
          <a:prstGeom prst="rect">
            <a:avLst/>
          </a:prstGeom>
          <a:noFill/>
          <a:ln/>
        </p:spPr>
        <p:txBody>
          <a:bodyPr wrap="square" rtlCol="0" anchor="ctr"/>
          <a:lstStyle/>
          <a:p>
            <a:pPr marL="0" indent="0" algn="ctr">
              <a:buNone/>
            </a:pPr>
            <a:r>
              <a:rPr lang="en-US" sz="850" dirty="0">
                <a:solidFill>
                  <a:srgbClr val="5B595A"/>
                </a:solidFill>
                <a:latin typeface="Arial" pitchFamily="34" charset="0"/>
                <a:ea typeface="Arial" pitchFamily="34" charset="-122"/>
                <a:cs typeface="Arial" pitchFamily="34" charset="-120"/>
              </a:rPr>
              <a:t>37.5 mins</a:t>
            </a:r>
            <a:endParaRPr lang="en-US" sz="850" dirty="0"/>
          </a:p>
        </p:txBody>
      </p:sp>
      <p:sp>
        <p:nvSpPr>
          <p:cNvPr id="83" name="Shape 80"/>
          <p:cNvSpPr/>
          <p:nvPr/>
        </p:nvSpPr>
        <p:spPr>
          <a:xfrm>
            <a:off x="9601200" y="4700016"/>
            <a:ext cx="2212848" cy="310896"/>
          </a:xfrm>
          <a:prstGeom prst="rect">
            <a:avLst/>
          </a:prstGeom>
          <a:solidFill>
            <a:srgbClr val="FEF3C7"/>
          </a:solidFill>
          <a:ln w="3810">
            <a:solidFill>
              <a:srgbClr val="DDDDDD"/>
            </a:solidFill>
            <a:prstDash val="solid"/>
          </a:ln>
        </p:spPr>
        <p:txBody>
          <a:bodyPr/>
          <a:lstStyle/>
          <a:p>
            <a:endParaRPr lang="en-GB"/>
          </a:p>
        </p:txBody>
      </p:sp>
      <p:sp>
        <p:nvSpPr>
          <p:cNvPr id="84" name="Text 81"/>
          <p:cNvSpPr/>
          <p:nvPr/>
        </p:nvSpPr>
        <p:spPr>
          <a:xfrm>
            <a:off x="9656064" y="4700016"/>
            <a:ext cx="2103120" cy="310896"/>
          </a:xfrm>
          <a:prstGeom prst="rect">
            <a:avLst/>
          </a:prstGeom>
          <a:noFill/>
          <a:ln/>
        </p:spPr>
        <p:txBody>
          <a:bodyPr wrap="square" rtlCol="0" anchor="ctr"/>
          <a:lstStyle/>
          <a:p>
            <a:pPr marL="0" indent="0" algn="ctr">
              <a:buNone/>
            </a:pPr>
            <a:r>
              <a:rPr lang="en-US" sz="850" b="1" dirty="0">
                <a:solidFill>
                  <a:srgbClr val="D97706"/>
                </a:solidFill>
                <a:latin typeface="Arial" pitchFamily="34" charset="0"/>
                <a:ea typeface="Arial" pitchFamily="34" charset="-122"/>
                <a:cs typeface="Arial" pitchFamily="34" charset="-120"/>
              </a:rPr>
              <a:t>Borderline</a:t>
            </a:r>
            <a:endParaRPr lang="en-US" sz="850" dirty="0"/>
          </a:p>
        </p:txBody>
      </p:sp>
      <p:sp>
        <p:nvSpPr>
          <p:cNvPr id="85" name="Shape 82"/>
          <p:cNvSpPr/>
          <p:nvPr/>
        </p:nvSpPr>
        <p:spPr>
          <a:xfrm>
            <a:off x="6126480" y="5029200"/>
            <a:ext cx="1261872" cy="310896"/>
          </a:xfrm>
          <a:prstGeom prst="rect">
            <a:avLst/>
          </a:prstGeom>
          <a:solidFill>
            <a:srgbClr val="F2F2F2"/>
          </a:solidFill>
          <a:ln w="3810">
            <a:solidFill>
              <a:srgbClr val="DDDDDD"/>
            </a:solidFill>
            <a:prstDash val="solid"/>
          </a:ln>
        </p:spPr>
        <p:txBody>
          <a:bodyPr/>
          <a:lstStyle/>
          <a:p>
            <a:endParaRPr lang="en-GB"/>
          </a:p>
        </p:txBody>
      </p:sp>
      <p:sp>
        <p:nvSpPr>
          <p:cNvPr id="86" name="Text 83"/>
          <p:cNvSpPr/>
          <p:nvPr/>
        </p:nvSpPr>
        <p:spPr>
          <a:xfrm>
            <a:off x="6181344" y="5029200"/>
            <a:ext cx="1152144" cy="310896"/>
          </a:xfrm>
          <a:prstGeom prst="rect">
            <a:avLst/>
          </a:prstGeom>
          <a:noFill/>
          <a:ln/>
        </p:spPr>
        <p:txBody>
          <a:bodyPr wrap="square" rtlCol="0" anchor="ctr"/>
          <a:lstStyle/>
          <a:p>
            <a:pPr marL="0" indent="0" algn="l">
              <a:buNone/>
            </a:pPr>
            <a:r>
              <a:rPr lang="en-US" sz="850" dirty="0">
                <a:solidFill>
                  <a:srgbClr val="5B595A"/>
                </a:solidFill>
                <a:latin typeface="Arial" pitchFamily="34" charset="0"/>
                <a:ea typeface="Arial" pitchFamily="34" charset="-122"/>
                <a:cs typeface="Arial" pitchFamily="34" charset="-120"/>
              </a:rPr>
              <a:t>Deburr &amp; Clean</a:t>
            </a:r>
            <a:endParaRPr lang="en-US" sz="850" dirty="0"/>
          </a:p>
        </p:txBody>
      </p:sp>
      <p:sp>
        <p:nvSpPr>
          <p:cNvPr id="87" name="Shape 84"/>
          <p:cNvSpPr/>
          <p:nvPr/>
        </p:nvSpPr>
        <p:spPr>
          <a:xfrm>
            <a:off x="7406640" y="5029200"/>
            <a:ext cx="1078992" cy="310896"/>
          </a:xfrm>
          <a:prstGeom prst="rect">
            <a:avLst/>
          </a:prstGeom>
          <a:solidFill>
            <a:srgbClr val="F2F2F2"/>
          </a:solidFill>
          <a:ln w="3810">
            <a:solidFill>
              <a:srgbClr val="DDDDDD"/>
            </a:solidFill>
            <a:prstDash val="solid"/>
          </a:ln>
        </p:spPr>
        <p:txBody>
          <a:bodyPr/>
          <a:lstStyle/>
          <a:p>
            <a:endParaRPr lang="en-GB"/>
          </a:p>
        </p:txBody>
      </p:sp>
      <p:sp>
        <p:nvSpPr>
          <p:cNvPr id="88" name="Text 85"/>
          <p:cNvSpPr/>
          <p:nvPr/>
        </p:nvSpPr>
        <p:spPr>
          <a:xfrm>
            <a:off x="7461504" y="5029200"/>
            <a:ext cx="969264" cy="310896"/>
          </a:xfrm>
          <a:prstGeom prst="rect">
            <a:avLst/>
          </a:prstGeom>
          <a:noFill/>
          <a:ln/>
        </p:spPr>
        <p:txBody>
          <a:bodyPr wrap="square" rtlCol="0" anchor="ctr"/>
          <a:lstStyle/>
          <a:p>
            <a:pPr marL="0" indent="0" algn="ctr">
              <a:buNone/>
            </a:pPr>
            <a:r>
              <a:rPr lang="en-US" sz="850" dirty="0">
                <a:solidFill>
                  <a:srgbClr val="5B595A"/>
                </a:solidFill>
                <a:latin typeface="Arial" pitchFamily="34" charset="0"/>
                <a:ea typeface="Arial" pitchFamily="34" charset="-122"/>
                <a:cs typeface="Arial" pitchFamily="34" charset="-120"/>
              </a:rPr>
              <a:t>22 mins</a:t>
            </a:r>
            <a:endParaRPr lang="en-US" sz="850" dirty="0"/>
          </a:p>
        </p:txBody>
      </p:sp>
      <p:sp>
        <p:nvSpPr>
          <p:cNvPr id="89" name="Shape 86"/>
          <p:cNvSpPr/>
          <p:nvPr/>
        </p:nvSpPr>
        <p:spPr>
          <a:xfrm>
            <a:off x="8503920" y="5029200"/>
            <a:ext cx="1078992" cy="310896"/>
          </a:xfrm>
          <a:prstGeom prst="rect">
            <a:avLst/>
          </a:prstGeom>
          <a:solidFill>
            <a:srgbClr val="F2F2F2"/>
          </a:solidFill>
          <a:ln w="3810">
            <a:solidFill>
              <a:srgbClr val="DDDDDD"/>
            </a:solidFill>
            <a:prstDash val="solid"/>
          </a:ln>
        </p:spPr>
        <p:txBody>
          <a:bodyPr/>
          <a:lstStyle/>
          <a:p>
            <a:endParaRPr lang="en-GB"/>
          </a:p>
        </p:txBody>
      </p:sp>
      <p:sp>
        <p:nvSpPr>
          <p:cNvPr id="90" name="Text 87"/>
          <p:cNvSpPr/>
          <p:nvPr/>
        </p:nvSpPr>
        <p:spPr>
          <a:xfrm>
            <a:off x="8558784" y="5029200"/>
            <a:ext cx="969264" cy="310896"/>
          </a:xfrm>
          <a:prstGeom prst="rect">
            <a:avLst/>
          </a:prstGeom>
          <a:noFill/>
          <a:ln/>
        </p:spPr>
        <p:txBody>
          <a:bodyPr wrap="square" rtlCol="0" anchor="ctr"/>
          <a:lstStyle/>
          <a:p>
            <a:pPr marL="0" indent="0" algn="ctr">
              <a:buNone/>
            </a:pPr>
            <a:r>
              <a:rPr lang="en-US" sz="850" dirty="0">
                <a:solidFill>
                  <a:srgbClr val="5B595A"/>
                </a:solidFill>
                <a:latin typeface="Arial" pitchFamily="34" charset="0"/>
                <a:ea typeface="Arial" pitchFamily="34" charset="-122"/>
                <a:cs typeface="Arial" pitchFamily="34" charset="-120"/>
              </a:rPr>
              <a:t>37.5 mins</a:t>
            </a:r>
            <a:endParaRPr lang="en-US" sz="850" dirty="0"/>
          </a:p>
        </p:txBody>
      </p:sp>
      <p:sp>
        <p:nvSpPr>
          <p:cNvPr id="91" name="Shape 88"/>
          <p:cNvSpPr/>
          <p:nvPr/>
        </p:nvSpPr>
        <p:spPr>
          <a:xfrm>
            <a:off x="9601200" y="5029200"/>
            <a:ext cx="2212848" cy="310896"/>
          </a:xfrm>
          <a:prstGeom prst="rect">
            <a:avLst/>
          </a:prstGeom>
          <a:solidFill>
            <a:srgbClr val="EAF4EE"/>
          </a:solidFill>
          <a:ln w="3810">
            <a:solidFill>
              <a:srgbClr val="DDDDDD"/>
            </a:solidFill>
            <a:prstDash val="solid"/>
          </a:ln>
        </p:spPr>
        <p:txBody>
          <a:bodyPr/>
          <a:lstStyle/>
          <a:p>
            <a:endParaRPr lang="en-GB"/>
          </a:p>
        </p:txBody>
      </p:sp>
      <p:sp>
        <p:nvSpPr>
          <p:cNvPr id="92" name="Text 89"/>
          <p:cNvSpPr/>
          <p:nvPr/>
        </p:nvSpPr>
        <p:spPr>
          <a:xfrm>
            <a:off x="9656064" y="5029200"/>
            <a:ext cx="2103120" cy="310896"/>
          </a:xfrm>
          <a:prstGeom prst="rect">
            <a:avLst/>
          </a:prstGeom>
          <a:noFill/>
          <a:ln/>
        </p:spPr>
        <p:txBody>
          <a:bodyPr wrap="square" rtlCol="0" anchor="ctr"/>
          <a:lstStyle/>
          <a:p>
            <a:pPr marL="0" indent="0" algn="ctr">
              <a:buNone/>
            </a:pPr>
            <a:r>
              <a:rPr lang="en-US" sz="850" b="1" dirty="0">
                <a:solidFill>
                  <a:srgbClr val="217346"/>
                </a:solidFill>
                <a:latin typeface="Arial" pitchFamily="34" charset="0"/>
                <a:ea typeface="Arial" pitchFamily="34" charset="-122"/>
                <a:cs typeface="Arial" pitchFamily="34" charset="-120"/>
              </a:rPr>
              <a:t>OK</a:t>
            </a:r>
            <a:endParaRPr lang="en-US" sz="850" dirty="0"/>
          </a:p>
        </p:txBody>
      </p:sp>
      <p:sp>
        <p:nvSpPr>
          <p:cNvPr id="93" name="Shape 90"/>
          <p:cNvSpPr/>
          <p:nvPr/>
        </p:nvSpPr>
        <p:spPr>
          <a:xfrm>
            <a:off x="6126480" y="5358384"/>
            <a:ext cx="1261872" cy="310896"/>
          </a:xfrm>
          <a:prstGeom prst="rect">
            <a:avLst/>
          </a:prstGeom>
          <a:solidFill>
            <a:srgbClr val="FFFFFF"/>
          </a:solidFill>
          <a:ln w="3810">
            <a:solidFill>
              <a:srgbClr val="DDDDDD"/>
            </a:solidFill>
            <a:prstDash val="solid"/>
          </a:ln>
        </p:spPr>
        <p:txBody>
          <a:bodyPr/>
          <a:lstStyle/>
          <a:p>
            <a:endParaRPr lang="en-GB"/>
          </a:p>
        </p:txBody>
      </p:sp>
      <p:sp>
        <p:nvSpPr>
          <p:cNvPr id="94" name="Text 91"/>
          <p:cNvSpPr/>
          <p:nvPr/>
        </p:nvSpPr>
        <p:spPr>
          <a:xfrm>
            <a:off x="6181344" y="5358384"/>
            <a:ext cx="1152144" cy="310896"/>
          </a:xfrm>
          <a:prstGeom prst="rect">
            <a:avLst/>
          </a:prstGeom>
          <a:noFill/>
          <a:ln/>
        </p:spPr>
        <p:txBody>
          <a:bodyPr wrap="square" rtlCol="0" anchor="ctr"/>
          <a:lstStyle/>
          <a:p>
            <a:pPr marL="0" indent="0" algn="l">
              <a:buNone/>
            </a:pPr>
            <a:r>
              <a:rPr lang="en-US" sz="850" dirty="0">
                <a:solidFill>
                  <a:srgbClr val="5B595A"/>
                </a:solidFill>
                <a:latin typeface="Arial" pitchFamily="34" charset="0"/>
                <a:ea typeface="Arial" pitchFamily="34" charset="-122"/>
                <a:cs typeface="Arial" pitchFamily="34" charset="-120"/>
              </a:rPr>
              <a:t>CMM Inspection</a:t>
            </a:r>
            <a:endParaRPr lang="en-US" sz="850" dirty="0"/>
          </a:p>
        </p:txBody>
      </p:sp>
      <p:sp>
        <p:nvSpPr>
          <p:cNvPr id="95" name="Shape 92"/>
          <p:cNvSpPr/>
          <p:nvPr/>
        </p:nvSpPr>
        <p:spPr>
          <a:xfrm>
            <a:off x="7406640" y="5358384"/>
            <a:ext cx="1078992" cy="310896"/>
          </a:xfrm>
          <a:prstGeom prst="rect">
            <a:avLst/>
          </a:prstGeom>
          <a:solidFill>
            <a:srgbClr val="FFFFFF"/>
          </a:solidFill>
          <a:ln w="3810">
            <a:solidFill>
              <a:srgbClr val="DDDDDD"/>
            </a:solidFill>
            <a:prstDash val="solid"/>
          </a:ln>
        </p:spPr>
        <p:txBody>
          <a:bodyPr/>
          <a:lstStyle/>
          <a:p>
            <a:endParaRPr lang="en-GB"/>
          </a:p>
        </p:txBody>
      </p:sp>
      <p:sp>
        <p:nvSpPr>
          <p:cNvPr id="96" name="Text 93"/>
          <p:cNvSpPr/>
          <p:nvPr/>
        </p:nvSpPr>
        <p:spPr>
          <a:xfrm>
            <a:off x="7461504" y="5358384"/>
            <a:ext cx="969264" cy="310896"/>
          </a:xfrm>
          <a:prstGeom prst="rect">
            <a:avLst/>
          </a:prstGeom>
          <a:noFill/>
          <a:ln/>
        </p:spPr>
        <p:txBody>
          <a:bodyPr wrap="square" rtlCol="0" anchor="ctr"/>
          <a:lstStyle/>
          <a:p>
            <a:pPr marL="0" indent="0" algn="ctr">
              <a:buNone/>
            </a:pPr>
            <a:r>
              <a:rPr lang="en-US" sz="850" dirty="0">
                <a:solidFill>
                  <a:srgbClr val="5B595A"/>
                </a:solidFill>
                <a:latin typeface="Arial" pitchFamily="34" charset="0"/>
                <a:ea typeface="Arial" pitchFamily="34" charset="-122"/>
                <a:cs typeface="Arial" pitchFamily="34" charset="-120"/>
              </a:rPr>
              <a:t>55 mins</a:t>
            </a:r>
            <a:endParaRPr lang="en-US" sz="850" dirty="0"/>
          </a:p>
        </p:txBody>
      </p:sp>
      <p:sp>
        <p:nvSpPr>
          <p:cNvPr id="97" name="Shape 94"/>
          <p:cNvSpPr/>
          <p:nvPr/>
        </p:nvSpPr>
        <p:spPr>
          <a:xfrm>
            <a:off x="8503920" y="5358384"/>
            <a:ext cx="1078992" cy="310896"/>
          </a:xfrm>
          <a:prstGeom prst="rect">
            <a:avLst/>
          </a:prstGeom>
          <a:solidFill>
            <a:srgbClr val="FFFFFF"/>
          </a:solidFill>
          <a:ln w="3810">
            <a:solidFill>
              <a:srgbClr val="DDDDDD"/>
            </a:solidFill>
            <a:prstDash val="solid"/>
          </a:ln>
        </p:spPr>
        <p:txBody>
          <a:bodyPr/>
          <a:lstStyle/>
          <a:p>
            <a:endParaRPr lang="en-GB"/>
          </a:p>
        </p:txBody>
      </p:sp>
      <p:sp>
        <p:nvSpPr>
          <p:cNvPr id="98" name="Text 95"/>
          <p:cNvSpPr/>
          <p:nvPr/>
        </p:nvSpPr>
        <p:spPr>
          <a:xfrm>
            <a:off x="8558784" y="5358384"/>
            <a:ext cx="969264" cy="310896"/>
          </a:xfrm>
          <a:prstGeom prst="rect">
            <a:avLst/>
          </a:prstGeom>
          <a:noFill/>
          <a:ln/>
        </p:spPr>
        <p:txBody>
          <a:bodyPr wrap="square" rtlCol="0" anchor="ctr"/>
          <a:lstStyle/>
          <a:p>
            <a:pPr marL="0" indent="0" algn="ctr">
              <a:buNone/>
            </a:pPr>
            <a:r>
              <a:rPr lang="en-US" sz="850" dirty="0">
                <a:solidFill>
                  <a:srgbClr val="5B595A"/>
                </a:solidFill>
                <a:latin typeface="Arial" pitchFamily="34" charset="0"/>
                <a:ea typeface="Arial" pitchFamily="34" charset="-122"/>
                <a:cs typeface="Arial" pitchFamily="34" charset="-120"/>
              </a:rPr>
              <a:t>37.5 mins</a:t>
            </a:r>
            <a:endParaRPr lang="en-US" sz="850" dirty="0"/>
          </a:p>
        </p:txBody>
      </p:sp>
      <p:sp>
        <p:nvSpPr>
          <p:cNvPr id="99" name="Shape 96"/>
          <p:cNvSpPr/>
          <p:nvPr/>
        </p:nvSpPr>
        <p:spPr>
          <a:xfrm>
            <a:off x="9601200" y="5358384"/>
            <a:ext cx="2212848" cy="310896"/>
          </a:xfrm>
          <a:prstGeom prst="rect">
            <a:avLst/>
          </a:prstGeom>
          <a:solidFill>
            <a:srgbClr val="FEE2E2"/>
          </a:solidFill>
          <a:ln w="3810">
            <a:solidFill>
              <a:srgbClr val="DDDDDD"/>
            </a:solidFill>
            <a:prstDash val="solid"/>
          </a:ln>
        </p:spPr>
        <p:txBody>
          <a:bodyPr/>
          <a:lstStyle/>
          <a:p>
            <a:endParaRPr lang="en-GB"/>
          </a:p>
        </p:txBody>
      </p:sp>
      <p:sp>
        <p:nvSpPr>
          <p:cNvPr id="100" name="Text 97"/>
          <p:cNvSpPr/>
          <p:nvPr/>
        </p:nvSpPr>
        <p:spPr>
          <a:xfrm>
            <a:off x="9656064" y="5358384"/>
            <a:ext cx="2103120" cy="310896"/>
          </a:xfrm>
          <a:prstGeom prst="rect">
            <a:avLst/>
          </a:prstGeom>
          <a:noFill/>
          <a:ln/>
        </p:spPr>
        <p:txBody>
          <a:bodyPr wrap="square" rtlCol="0" anchor="ctr"/>
          <a:lstStyle/>
          <a:p>
            <a:pPr marL="0" indent="0" algn="ctr">
              <a:buNone/>
            </a:pPr>
            <a:r>
              <a:rPr lang="en-US" sz="850" b="1" dirty="0">
                <a:solidFill>
                  <a:srgbClr val="B91C1C"/>
                </a:solidFill>
                <a:latin typeface="Arial" pitchFamily="34" charset="0"/>
                <a:ea typeface="Arial" pitchFamily="34" charset="-122"/>
                <a:cs typeface="Arial" pitchFamily="34" charset="-120"/>
              </a:rPr>
              <a:t>EXCEEDS TAKT</a:t>
            </a:r>
            <a:endParaRPr lang="en-US" sz="850" dirty="0"/>
          </a:p>
        </p:txBody>
      </p:sp>
      <p:sp>
        <p:nvSpPr>
          <p:cNvPr id="101" name="Shape 98"/>
          <p:cNvSpPr/>
          <p:nvPr/>
        </p:nvSpPr>
        <p:spPr>
          <a:xfrm>
            <a:off x="6126480" y="5687568"/>
            <a:ext cx="1261872" cy="310896"/>
          </a:xfrm>
          <a:prstGeom prst="rect">
            <a:avLst/>
          </a:prstGeom>
          <a:solidFill>
            <a:srgbClr val="F2F2F2"/>
          </a:solidFill>
          <a:ln w="3810">
            <a:solidFill>
              <a:srgbClr val="DDDDDD"/>
            </a:solidFill>
            <a:prstDash val="solid"/>
          </a:ln>
        </p:spPr>
        <p:txBody>
          <a:bodyPr/>
          <a:lstStyle/>
          <a:p>
            <a:endParaRPr lang="en-GB"/>
          </a:p>
        </p:txBody>
      </p:sp>
      <p:sp>
        <p:nvSpPr>
          <p:cNvPr id="102" name="Text 99"/>
          <p:cNvSpPr/>
          <p:nvPr/>
        </p:nvSpPr>
        <p:spPr>
          <a:xfrm>
            <a:off x="6181344" y="5687568"/>
            <a:ext cx="1152144" cy="310896"/>
          </a:xfrm>
          <a:prstGeom prst="rect">
            <a:avLst/>
          </a:prstGeom>
          <a:noFill/>
          <a:ln/>
        </p:spPr>
        <p:txBody>
          <a:bodyPr wrap="square" rtlCol="0" anchor="ctr"/>
          <a:lstStyle/>
          <a:p>
            <a:pPr marL="0" indent="0" algn="l">
              <a:buNone/>
            </a:pPr>
            <a:r>
              <a:rPr lang="en-US" sz="850" dirty="0">
                <a:solidFill>
                  <a:srgbClr val="5B595A"/>
                </a:solidFill>
                <a:latin typeface="Arial" pitchFamily="34" charset="0"/>
                <a:ea typeface="Arial" pitchFamily="34" charset="-122"/>
                <a:cs typeface="Arial" pitchFamily="34" charset="-120"/>
              </a:rPr>
              <a:t>Despatch</a:t>
            </a:r>
            <a:endParaRPr lang="en-US" sz="850" dirty="0"/>
          </a:p>
        </p:txBody>
      </p:sp>
      <p:sp>
        <p:nvSpPr>
          <p:cNvPr id="103" name="Shape 100"/>
          <p:cNvSpPr/>
          <p:nvPr/>
        </p:nvSpPr>
        <p:spPr>
          <a:xfrm>
            <a:off x="7406640" y="5687568"/>
            <a:ext cx="1078992" cy="310896"/>
          </a:xfrm>
          <a:prstGeom prst="rect">
            <a:avLst/>
          </a:prstGeom>
          <a:solidFill>
            <a:srgbClr val="F2F2F2"/>
          </a:solidFill>
          <a:ln w="3810">
            <a:solidFill>
              <a:srgbClr val="DDDDDD"/>
            </a:solidFill>
            <a:prstDash val="solid"/>
          </a:ln>
        </p:spPr>
        <p:txBody>
          <a:bodyPr/>
          <a:lstStyle/>
          <a:p>
            <a:endParaRPr lang="en-GB"/>
          </a:p>
        </p:txBody>
      </p:sp>
      <p:sp>
        <p:nvSpPr>
          <p:cNvPr id="104" name="Text 101"/>
          <p:cNvSpPr/>
          <p:nvPr/>
        </p:nvSpPr>
        <p:spPr>
          <a:xfrm>
            <a:off x="7461504" y="5687568"/>
            <a:ext cx="969264" cy="310896"/>
          </a:xfrm>
          <a:prstGeom prst="rect">
            <a:avLst/>
          </a:prstGeom>
          <a:noFill/>
          <a:ln/>
        </p:spPr>
        <p:txBody>
          <a:bodyPr wrap="square" rtlCol="0" anchor="ctr"/>
          <a:lstStyle/>
          <a:p>
            <a:pPr marL="0" indent="0" algn="ctr">
              <a:buNone/>
            </a:pPr>
            <a:r>
              <a:rPr lang="en-US" sz="850" dirty="0">
                <a:solidFill>
                  <a:srgbClr val="5B595A"/>
                </a:solidFill>
                <a:latin typeface="Arial" pitchFamily="34" charset="0"/>
                <a:ea typeface="Arial" pitchFamily="34" charset="-122"/>
                <a:cs typeface="Arial" pitchFamily="34" charset="-120"/>
              </a:rPr>
              <a:t>20 mins</a:t>
            </a:r>
            <a:endParaRPr lang="en-US" sz="850" dirty="0"/>
          </a:p>
        </p:txBody>
      </p:sp>
      <p:sp>
        <p:nvSpPr>
          <p:cNvPr id="105" name="Shape 102"/>
          <p:cNvSpPr/>
          <p:nvPr/>
        </p:nvSpPr>
        <p:spPr>
          <a:xfrm>
            <a:off x="8503920" y="5687568"/>
            <a:ext cx="1078992" cy="310896"/>
          </a:xfrm>
          <a:prstGeom prst="rect">
            <a:avLst/>
          </a:prstGeom>
          <a:solidFill>
            <a:srgbClr val="F2F2F2"/>
          </a:solidFill>
          <a:ln w="3810">
            <a:solidFill>
              <a:srgbClr val="DDDDDD"/>
            </a:solidFill>
            <a:prstDash val="solid"/>
          </a:ln>
        </p:spPr>
        <p:txBody>
          <a:bodyPr/>
          <a:lstStyle/>
          <a:p>
            <a:endParaRPr lang="en-GB"/>
          </a:p>
        </p:txBody>
      </p:sp>
      <p:sp>
        <p:nvSpPr>
          <p:cNvPr id="106" name="Text 103"/>
          <p:cNvSpPr/>
          <p:nvPr/>
        </p:nvSpPr>
        <p:spPr>
          <a:xfrm>
            <a:off x="8558784" y="5687568"/>
            <a:ext cx="969264" cy="310896"/>
          </a:xfrm>
          <a:prstGeom prst="rect">
            <a:avLst/>
          </a:prstGeom>
          <a:noFill/>
          <a:ln/>
        </p:spPr>
        <p:txBody>
          <a:bodyPr wrap="square" rtlCol="0" anchor="ctr"/>
          <a:lstStyle/>
          <a:p>
            <a:pPr marL="0" indent="0" algn="ctr">
              <a:buNone/>
            </a:pPr>
            <a:r>
              <a:rPr lang="en-US" sz="850" dirty="0">
                <a:solidFill>
                  <a:srgbClr val="5B595A"/>
                </a:solidFill>
                <a:latin typeface="Arial" pitchFamily="34" charset="0"/>
                <a:ea typeface="Arial" pitchFamily="34" charset="-122"/>
                <a:cs typeface="Arial" pitchFamily="34" charset="-120"/>
              </a:rPr>
              <a:t>37.5 mins</a:t>
            </a:r>
            <a:endParaRPr lang="en-US" sz="850" dirty="0"/>
          </a:p>
        </p:txBody>
      </p:sp>
      <p:sp>
        <p:nvSpPr>
          <p:cNvPr id="107" name="Shape 104"/>
          <p:cNvSpPr/>
          <p:nvPr/>
        </p:nvSpPr>
        <p:spPr>
          <a:xfrm>
            <a:off x="9601200" y="5687568"/>
            <a:ext cx="2212848" cy="310896"/>
          </a:xfrm>
          <a:prstGeom prst="rect">
            <a:avLst/>
          </a:prstGeom>
          <a:solidFill>
            <a:srgbClr val="EAF4EE"/>
          </a:solidFill>
          <a:ln w="3810">
            <a:solidFill>
              <a:srgbClr val="DDDDDD"/>
            </a:solidFill>
            <a:prstDash val="solid"/>
          </a:ln>
        </p:spPr>
        <p:txBody>
          <a:bodyPr/>
          <a:lstStyle/>
          <a:p>
            <a:endParaRPr lang="en-GB"/>
          </a:p>
        </p:txBody>
      </p:sp>
      <p:sp>
        <p:nvSpPr>
          <p:cNvPr id="108" name="Text 105"/>
          <p:cNvSpPr/>
          <p:nvPr/>
        </p:nvSpPr>
        <p:spPr>
          <a:xfrm>
            <a:off x="9656064" y="5687568"/>
            <a:ext cx="2103120" cy="310896"/>
          </a:xfrm>
          <a:prstGeom prst="rect">
            <a:avLst/>
          </a:prstGeom>
          <a:noFill/>
          <a:ln/>
        </p:spPr>
        <p:txBody>
          <a:bodyPr wrap="square" rtlCol="0" anchor="ctr"/>
          <a:lstStyle/>
          <a:p>
            <a:pPr marL="0" indent="0" algn="ctr">
              <a:buNone/>
            </a:pPr>
            <a:r>
              <a:rPr lang="en-US" sz="850" b="1" dirty="0">
                <a:solidFill>
                  <a:srgbClr val="217346"/>
                </a:solidFill>
                <a:latin typeface="Arial" pitchFamily="34" charset="0"/>
                <a:ea typeface="Arial" pitchFamily="34" charset="-122"/>
                <a:cs typeface="Arial" pitchFamily="34" charset="-120"/>
              </a:rPr>
              <a:t>OK</a:t>
            </a:r>
            <a:endParaRPr lang="en-US" sz="850" dirty="0"/>
          </a:p>
        </p:txBody>
      </p:sp>
      <p:sp>
        <p:nvSpPr>
          <p:cNvPr id="109" name="Rectangle 108"/>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0" name="Picture 109" descr="image.png"/>
          <p:cNvPicPr>
            <a:picLocks noChangeAspect="1"/>
          </p:cNvPicPr>
          <p:nvPr/>
        </p:nvPicPr>
        <p:blipFill>
          <a:blip r:embed="rId5"/>
          <a:stretch>
            <a:fillRect/>
          </a:stretch>
        </p:blipFill>
        <p:spPr>
          <a:xfrm>
            <a:off x="10610088" y="100584"/>
            <a:ext cx="566928" cy="347472"/>
          </a:xfrm>
          <a:prstGeom prst="rect">
            <a:avLst/>
          </a:prstGeom>
        </p:spPr>
      </p:pic>
      <p:pic>
        <p:nvPicPr>
          <p:cNvPr id="111" name="Picture 110" descr="image.png"/>
          <p:cNvPicPr>
            <a:picLocks noChangeAspect="1"/>
          </p:cNvPicPr>
          <p:nvPr/>
        </p:nvPicPr>
        <p:blipFill>
          <a:blip r:embed="rId4"/>
          <a:stretch>
            <a:fillRect/>
          </a:stretch>
        </p:blipFill>
        <p:spPr>
          <a:xfrm>
            <a:off x="11222736" y="100584"/>
            <a:ext cx="658368" cy="347472"/>
          </a:xfrm>
          <a:prstGeom prst="rect">
            <a:avLst/>
          </a:prstGeom>
        </p:spPr>
      </p:pic>
      <p:sp>
        <p:nvSpPr>
          <p:cNvPr id="112" name="Rectangle 111"/>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nvSpPr>
        <p:spPr>
          <a:xfrm>
            <a:off x="274320" y="91440"/>
            <a:ext cx="10058400" cy="384048"/>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Gate Checklist 1:</a:t>
            </a:r>
            <a:endParaRPr lang="en-US" sz="1300" dirty="0"/>
          </a:p>
        </p:txBody>
      </p:sp>
      <p:sp>
        <p:nvSpPr>
          <p:cNvPr id="4" name="Text 1"/>
          <p:cNvSpPr/>
          <p:nvPr/>
        </p:nvSpPr>
        <p:spPr>
          <a:xfrm>
            <a:off x="274320" y="457200"/>
            <a:ext cx="10058400" cy="457200"/>
          </a:xfrm>
          <a:prstGeom prst="rect">
            <a:avLst/>
          </a:prstGeom>
          <a:noFill/>
          <a:ln/>
        </p:spPr>
        <p:txBody>
          <a:bodyPr wrap="square" rtlCol="0" anchor="ctr"/>
          <a:lstStyle/>
          <a:p>
            <a:pPr marL="0" indent="0">
              <a:buNone/>
            </a:pPr>
            <a:r>
              <a:rPr lang="en-US" sz="2600" b="1" dirty="0">
                <a:solidFill>
                  <a:srgbClr val="1E3A5F"/>
                </a:solidFill>
                <a:latin typeface="Arial" pitchFamily="34" charset="0"/>
                <a:ea typeface="Arial" pitchFamily="34" charset="-122"/>
                <a:cs typeface="Arial" pitchFamily="34" charset="-120"/>
              </a:rPr>
              <a:t>Create the Current State Value Stream Map</a:t>
            </a:r>
            <a:endParaRPr lang="en-US" sz="26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6" name="Text 3"/>
          <p:cNvSpPr/>
          <p:nvPr/>
        </p:nvSpPr>
        <p:spPr>
          <a:xfrm>
            <a:off x="274320" y="1005840"/>
            <a:ext cx="11612880" cy="329184"/>
          </a:xfrm>
          <a:prstGeom prst="rect">
            <a:avLst/>
          </a:prstGeom>
          <a:noFill/>
          <a:ln/>
        </p:spPr>
        <p:txBody>
          <a:bodyPr wrap="square" rtlCol="0" anchor="ctr"/>
          <a:lstStyle/>
          <a:p>
            <a:pPr marL="0" indent="0">
              <a:buNone/>
            </a:pPr>
            <a:r>
              <a:rPr lang="en-US" sz="1050" i="1" dirty="0">
                <a:solidFill>
                  <a:srgbClr val="5B595A"/>
                </a:solidFill>
                <a:latin typeface="Arial" pitchFamily="34" charset="0"/>
                <a:ea typeface="Arial" pitchFamily="34" charset="-122"/>
                <a:cs typeface="Arial" pitchFamily="34" charset="-120"/>
              </a:rPr>
              <a:t>Before progressing to the future state, confirm that every item below has been completed. Do not skip items, the quality of the future state map depends entirely on the accuracy of the current state.</a:t>
            </a:r>
            <a:endParaRPr lang="en-US" sz="1050" dirty="0"/>
          </a:p>
        </p:txBody>
      </p:sp>
      <p:sp>
        <p:nvSpPr>
          <p:cNvPr id="7" name="Shape 4"/>
          <p:cNvSpPr/>
          <p:nvPr/>
        </p:nvSpPr>
        <p:spPr>
          <a:xfrm>
            <a:off x="274320" y="1426464"/>
            <a:ext cx="5669280" cy="585216"/>
          </a:xfrm>
          <a:prstGeom prst="rect">
            <a:avLst/>
          </a:prstGeom>
          <a:solidFill>
            <a:srgbClr val="FFFFFF"/>
          </a:solidFill>
          <a:ln w="3810">
            <a:solidFill>
              <a:srgbClr val="D8D8D8"/>
            </a:solidFill>
            <a:prstDash val="solid"/>
          </a:ln>
        </p:spPr>
        <p:txBody>
          <a:bodyPr/>
          <a:lstStyle/>
          <a:p>
            <a:endParaRPr lang="en-GB"/>
          </a:p>
        </p:txBody>
      </p:sp>
      <p:sp>
        <p:nvSpPr>
          <p:cNvPr id="8" name="Shape 5"/>
          <p:cNvSpPr/>
          <p:nvPr/>
        </p:nvSpPr>
        <p:spPr>
          <a:xfrm>
            <a:off x="274320" y="1426464"/>
            <a:ext cx="475488" cy="585216"/>
          </a:xfrm>
          <a:prstGeom prst="rect">
            <a:avLst/>
          </a:prstGeom>
          <a:solidFill>
            <a:srgbClr val="009FE3"/>
          </a:solidFill>
          <a:ln/>
        </p:spPr>
        <p:txBody>
          <a:bodyPr/>
          <a:lstStyle/>
          <a:p>
            <a:endParaRPr lang="en-GB"/>
          </a:p>
        </p:txBody>
      </p:sp>
      <p:sp>
        <p:nvSpPr>
          <p:cNvPr id="9" name="Text 6"/>
          <p:cNvSpPr/>
          <p:nvPr/>
        </p:nvSpPr>
        <p:spPr>
          <a:xfrm>
            <a:off x="274320" y="1463040"/>
            <a:ext cx="475488" cy="51206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0" name="Text 7"/>
          <p:cNvSpPr/>
          <p:nvPr/>
        </p:nvSpPr>
        <p:spPr>
          <a:xfrm>
            <a:off x="804672" y="1481328"/>
            <a:ext cx="5084064" cy="475488"/>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The scope of the map has been agreed (high-level enterprise view, or detailed product-family level)</a:t>
            </a:r>
            <a:endParaRPr lang="en-US" sz="950" dirty="0"/>
          </a:p>
        </p:txBody>
      </p:sp>
      <p:sp>
        <p:nvSpPr>
          <p:cNvPr id="11" name="Shape 8"/>
          <p:cNvSpPr/>
          <p:nvPr/>
        </p:nvSpPr>
        <p:spPr>
          <a:xfrm>
            <a:off x="274320" y="2084832"/>
            <a:ext cx="5669280" cy="585216"/>
          </a:xfrm>
          <a:prstGeom prst="rect">
            <a:avLst/>
          </a:prstGeom>
          <a:solidFill>
            <a:srgbClr val="E0F4FD"/>
          </a:solidFill>
          <a:ln w="3810">
            <a:solidFill>
              <a:srgbClr val="D8D8D8"/>
            </a:solidFill>
            <a:prstDash val="solid"/>
          </a:ln>
        </p:spPr>
        <p:txBody>
          <a:bodyPr/>
          <a:lstStyle/>
          <a:p>
            <a:endParaRPr lang="en-GB"/>
          </a:p>
        </p:txBody>
      </p:sp>
      <p:sp>
        <p:nvSpPr>
          <p:cNvPr id="12" name="Shape 9"/>
          <p:cNvSpPr/>
          <p:nvPr/>
        </p:nvSpPr>
        <p:spPr>
          <a:xfrm>
            <a:off x="274320" y="2084832"/>
            <a:ext cx="475488" cy="585216"/>
          </a:xfrm>
          <a:prstGeom prst="rect">
            <a:avLst/>
          </a:prstGeom>
          <a:solidFill>
            <a:srgbClr val="009FE3"/>
          </a:solidFill>
          <a:ln/>
        </p:spPr>
        <p:txBody>
          <a:bodyPr/>
          <a:lstStyle/>
          <a:p>
            <a:endParaRPr lang="en-GB"/>
          </a:p>
        </p:txBody>
      </p:sp>
      <p:sp>
        <p:nvSpPr>
          <p:cNvPr id="13" name="Text 10"/>
          <p:cNvSpPr/>
          <p:nvPr/>
        </p:nvSpPr>
        <p:spPr>
          <a:xfrm>
            <a:off x="274320" y="2121408"/>
            <a:ext cx="475488" cy="51206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4" name="Text 11"/>
          <p:cNvSpPr/>
          <p:nvPr/>
        </p:nvSpPr>
        <p:spPr>
          <a:xfrm>
            <a:off x="804672" y="2139696"/>
            <a:ext cx="5084064" cy="475488"/>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The product family or representative part to be mapped has been identified and agreed with the team</a:t>
            </a:r>
            <a:endParaRPr lang="en-US" sz="950" dirty="0"/>
          </a:p>
        </p:txBody>
      </p:sp>
      <p:sp>
        <p:nvSpPr>
          <p:cNvPr id="15" name="Shape 12"/>
          <p:cNvSpPr/>
          <p:nvPr/>
        </p:nvSpPr>
        <p:spPr>
          <a:xfrm>
            <a:off x="274320" y="2743200"/>
            <a:ext cx="5669280" cy="585216"/>
          </a:xfrm>
          <a:prstGeom prst="rect">
            <a:avLst/>
          </a:prstGeom>
          <a:solidFill>
            <a:srgbClr val="FFFFFF"/>
          </a:solidFill>
          <a:ln w="3810">
            <a:solidFill>
              <a:srgbClr val="D8D8D8"/>
            </a:solidFill>
            <a:prstDash val="solid"/>
          </a:ln>
        </p:spPr>
        <p:txBody>
          <a:bodyPr/>
          <a:lstStyle/>
          <a:p>
            <a:endParaRPr lang="en-GB"/>
          </a:p>
        </p:txBody>
      </p:sp>
      <p:sp>
        <p:nvSpPr>
          <p:cNvPr id="16" name="Shape 13"/>
          <p:cNvSpPr/>
          <p:nvPr/>
        </p:nvSpPr>
        <p:spPr>
          <a:xfrm>
            <a:off x="274320" y="2743200"/>
            <a:ext cx="475488" cy="585216"/>
          </a:xfrm>
          <a:prstGeom prst="rect">
            <a:avLst/>
          </a:prstGeom>
          <a:solidFill>
            <a:srgbClr val="009FE3"/>
          </a:solidFill>
          <a:ln/>
        </p:spPr>
        <p:txBody>
          <a:bodyPr/>
          <a:lstStyle/>
          <a:p>
            <a:endParaRPr lang="en-GB"/>
          </a:p>
        </p:txBody>
      </p:sp>
      <p:sp>
        <p:nvSpPr>
          <p:cNvPr id="17" name="Text 14"/>
          <p:cNvSpPr/>
          <p:nvPr/>
        </p:nvSpPr>
        <p:spPr>
          <a:xfrm>
            <a:off x="274320" y="2779776"/>
            <a:ext cx="475488" cy="51206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8" name="Text 15"/>
          <p:cNvSpPr/>
          <p:nvPr/>
        </p:nvSpPr>
        <p:spPr>
          <a:xfrm>
            <a:off x="804672" y="2798064"/>
            <a:ext cx="5084064" cy="475488"/>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All relevant VSM symbols are understood by everyone participating in the exercise</a:t>
            </a:r>
            <a:endParaRPr lang="en-US" sz="950" dirty="0"/>
          </a:p>
        </p:txBody>
      </p:sp>
      <p:sp>
        <p:nvSpPr>
          <p:cNvPr id="19" name="Shape 16"/>
          <p:cNvSpPr/>
          <p:nvPr/>
        </p:nvSpPr>
        <p:spPr>
          <a:xfrm>
            <a:off x="274320" y="3401568"/>
            <a:ext cx="5669280" cy="585216"/>
          </a:xfrm>
          <a:prstGeom prst="rect">
            <a:avLst/>
          </a:prstGeom>
          <a:solidFill>
            <a:srgbClr val="E0F4FD"/>
          </a:solidFill>
          <a:ln w="3810">
            <a:solidFill>
              <a:srgbClr val="D8D8D8"/>
            </a:solidFill>
            <a:prstDash val="solid"/>
          </a:ln>
        </p:spPr>
        <p:txBody>
          <a:bodyPr/>
          <a:lstStyle/>
          <a:p>
            <a:endParaRPr lang="en-GB"/>
          </a:p>
        </p:txBody>
      </p:sp>
      <p:sp>
        <p:nvSpPr>
          <p:cNvPr id="20" name="Shape 17"/>
          <p:cNvSpPr/>
          <p:nvPr/>
        </p:nvSpPr>
        <p:spPr>
          <a:xfrm>
            <a:off x="274320" y="3401568"/>
            <a:ext cx="475488" cy="585216"/>
          </a:xfrm>
          <a:prstGeom prst="rect">
            <a:avLst/>
          </a:prstGeom>
          <a:solidFill>
            <a:srgbClr val="009FE3"/>
          </a:solidFill>
          <a:ln/>
        </p:spPr>
        <p:txBody>
          <a:bodyPr/>
          <a:lstStyle/>
          <a:p>
            <a:endParaRPr lang="en-GB"/>
          </a:p>
        </p:txBody>
      </p:sp>
      <p:sp>
        <p:nvSpPr>
          <p:cNvPr id="21" name="Text 18"/>
          <p:cNvSpPr/>
          <p:nvPr/>
        </p:nvSpPr>
        <p:spPr>
          <a:xfrm>
            <a:off x="274320" y="3438144"/>
            <a:ext cx="475488" cy="51206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2" name="Text 19"/>
          <p:cNvSpPr/>
          <p:nvPr/>
        </p:nvSpPr>
        <p:spPr>
          <a:xfrm>
            <a:off x="804672" y="3456432"/>
            <a:ext cx="5084064" cy="475488"/>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Customer requirements have been confirmed: volume, takt time, lead time expectation, quality grade, and delivery frequency</a:t>
            </a:r>
            <a:endParaRPr lang="en-US" sz="950" dirty="0"/>
          </a:p>
        </p:txBody>
      </p:sp>
      <p:sp>
        <p:nvSpPr>
          <p:cNvPr id="23" name="Shape 20"/>
          <p:cNvSpPr/>
          <p:nvPr/>
        </p:nvSpPr>
        <p:spPr>
          <a:xfrm>
            <a:off x="274320" y="4059936"/>
            <a:ext cx="5669280" cy="585216"/>
          </a:xfrm>
          <a:prstGeom prst="rect">
            <a:avLst/>
          </a:prstGeom>
          <a:solidFill>
            <a:srgbClr val="FFFFFF"/>
          </a:solidFill>
          <a:ln w="3810">
            <a:solidFill>
              <a:srgbClr val="D8D8D8"/>
            </a:solidFill>
            <a:prstDash val="solid"/>
          </a:ln>
        </p:spPr>
        <p:txBody>
          <a:bodyPr/>
          <a:lstStyle/>
          <a:p>
            <a:endParaRPr lang="en-GB"/>
          </a:p>
        </p:txBody>
      </p:sp>
      <p:sp>
        <p:nvSpPr>
          <p:cNvPr id="24" name="Shape 21"/>
          <p:cNvSpPr/>
          <p:nvPr/>
        </p:nvSpPr>
        <p:spPr>
          <a:xfrm>
            <a:off x="274320" y="4059936"/>
            <a:ext cx="475488" cy="585216"/>
          </a:xfrm>
          <a:prstGeom prst="rect">
            <a:avLst/>
          </a:prstGeom>
          <a:solidFill>
            <a:srgbClr val="009FE3"/>
          </a:solidFill>
          <a:ln/>
        </p:spPr>
        <p:txBody>
          <a:bodyPr/>
          <a:lstStyle/>
          <a:p>
            <a:endParaRPr lang="en-GB"/>
          </a:p>
        </p:txBody>
      </p:sp>
      <p:sp>
        <p:nvSpPr>
          <p:cNvPr id="25" name="Text 22"/>
          <p:cNvSpPr/>
          <p:nvPr/>
        </p:nvSpPr>
        <p:spPr>
          <a:xfrm>
            <a:off x="274320" y="4096512"/>
            <a:ext cx="475488" cy="51206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6" name="Text 23"/>
          <p:cNvSpPr/>
          <p:nvPr/>
        </p:nvSpPr>
        <p:spPr>
          <a:xfrm>
            <a:off x="804672" y="4114800"/>
            <a:ext cx="5084064" cy="475488"/>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The complete process sequence has been physically walked and mapped, not mapped from memory or from a procedure</a:t>
            </a:r>
            <a:endParaRPr lang="en-US" sz="950" dirty="0"/>
          </a:p>
        </p:txBody>
      </p:sp>
      <p:sp>
        <p:nvSpPr>
          <p:cNvPr id="27" name="Shape 24"/>
          <p:cNvSpPr/>
          <p:nvPr/>
        </p:nvSpPr>
        <p:spPr>
          <a:xfrm>
            <a:off x="274320" y="4718304"/>
            <a:ext cx="5669280" cy="585216"/>
          </a:xfrm>
          <a:prstGeom prst="rect">
            <a:avLst/>
          </a:prstGeom>
          <a:solidFill>
            <a:srgbClr val="E0F4FD"/>
          </a:solidFill>
          <a:ln w="3810">
            <a:solidFill>
              <a:srgbClr val="D8D8D8"/>
            </a:solidFill>
            <a:prstDash val="solid"/>
          </a:ln>
        </p:spPr>
        <p:txBody>
          <a:bodyPr/>
          <a:lstStyle/>
          <a:p>
            <a:endParaRPr lang="en-GB"/>
          </a:p>
        </p:txBody>
      </p:sp>
      <p:sp>
        <p:nvSpPr>
          <p:cNvPr id="28" name="Shape 25"/>
          <p:cNvSpPr/>
          <p:nvPr/>
        </p:nvSpPr>
        <p:spPr>
          <a:xfrm>
            <a:off x="274320" y="4718304"/>
            <a:ext cx="475488" cy="585216"/>
          </a:xfrm>
          <a:prstGeom prst="rect">
            <a:avLst/>
          </a:prstGeom>
          <a:solidFill>
            <a:srgbClr val="009FE3"/>
          </a:solidFill>
          <a:ln/>
        </p:spPr>
        <p:txBody>
          <a:bodyPr/>
          <a:lstStyle/>
          <a:p>
            <a:endParaRPr lang="en-GB"/>
          </a:p>
        </p:txBody>
      </p:sp>
      <p:sp>
        <p:nvSpPr>
          <p:cNvPr id="29" name="Text 26"/>
          <p:cNvSpPr/>
          <p:nvPr/>
        </p:nvSpPr>
        <p:spPr>
          <a:xfrm>
            <a:off x="274320" y="4754880"/>
            <a:ext cx="475488" cy="51206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30" name="Text 27"/>
          <p:cNvSpPr/>
          <p:nvPr/>
        </p:nvSpPr>
        <p:spPr>
          <a:xfrm>
            <a:off x="804672" y="4773168"/>
            <a:ext cx="5084064" cy="475488"/>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Process data has been gathered by direct observation at each step: cycle time, changeover, uptime, operators, batch size, and first pass yield</a:t>
            </a:r>
            <a:endParaRPr lang="en-US" sz="950" dirty="0"/>
          </a:p>
        </p:txBody>
      </p:sp>
      <p:sp>
        <p:nvSpPr>
          <p:cNvPr id="31" name="Shape 28"/>
          <p:cNvSpPr/>
          <p:nvPr/>
        </p:nvSpPr>
        <p:spPr>
          <a:xfrm>
            <a:off x="274320" y="5376672"/>
            <a:ext cx="5669280" cy="585216"/>
          </a:xfrm>
          <a:prstGeom prst="rect">
            <a:avLst/>
          </a:prstGeom>
          <a:solidFill>
            <a:srgbClr val="FFFFFF"/>
          </a:solidFill>
          <a:ln w="3810">
            <a:solidFill>
              <a:srgbClr val="D8D8D8"/>
            </a:solidFill>
            <a:prstDash val="solid"/>
          </a:ln>
        </p:spPr>
        <p:txBody>
          <a:bodyPr/>
          <a:lstStyle/>
          <a:p>
            <a:endParaRPr lang="en-GB"/>
          </a:p>
        </p:txBody>
      </p:sp>
      <p:sp>
        <p:nvSpPr>
          <p:cNvPr id="32" name="Shape 29"/>
          <p:cNvSpPr/>
          <p:nvPr/>
        </p:nvSpPr>
        <p:spPr>
          <a:xfrm>
            <a:off x="274320" y="5376672"/>
            <a:ext cx="475488" cy="585216"/>
          </a:xfrm>
          <a:prstGeom prst="rect">
            <a:avLst/>
          </a:prstGeom>
          <a:solidFill>
            <a:srgbClr val="009FE3"/>
          </a:solidFill>
          <a:ln/>
        </p:spPr>
        <p:txBody>
          <a:bodyPr/>
          <a:lstStyle/>
          <a:p>
            <a:endParaRPr lang="en-GB"/>
          </a:p>
        </p:txBody>
      </p:sp>
      <p:sp>
        <p:nvSpPr>
          <p:cNvPr id="33" name="Text 30"/>
          <p:cNvSpPr/>
          <p:nvPr/>
        </p:nvSpPr>
        <p:spPr>
          <a:xfrm>
            <a:off x="274320" y="5413248"/>
            <a:ext cx="475488" cy="51206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34" name="Text 31"/>
          <p:cNvSpPr/>
          <p:nvPr/>
        </p:nvSpPr>
        <p:spPr>
          <a:xfrm>
            <a:off x="804672" y="5431536"/>
            <a:ext cx="5084064" cy="475488"/>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Inventory has been physically counted at every point in the value stream, including goods-in and finished goods</a:t>
            </a:r>
            <a:endParaRPr lang="en-US" sz="950" dirty="0"/>
          </a:p>
        </p:txBody>
      </p:sp>
      <p:sp>
        <p:nvSpPr>
          <p:cNvPr id="35" name="Shape 32"/>
          <p:cNvSpPr/>
          <p:nvPr/>
        </p:nvSpPr>
        <p:spPr>
          <a:xfrm>
            <a:off x="6309360" y="1426464"/>
            <a:ext cx="5669280" cy="585216"/>
          </a:xfrm>
          <a:prstGeom prst="rect">
            <a:avLst/>
          </a:prstGeom>
          <a:solidFill>
            <a:srgbClr val="FFFFFF"/>
          </a:solidFill>
          <a:ln w="3810">
            <a:solidFill>
              <a:srgbClr val="D8D8D8"/>
            </a:solidFill>
            <a:prstDash val="solid"/>
          </a:ln>
        </p:spPr>
        <p:txBody>
          <a:bodyPr/>
          <a:lstStyle/>
          <a:p>
            <a:endParaRPr lang="en-GB"/>
          </a:p>
        </p:txBody>
      </p:sp>
      <p:sp>
        <p:nvSpPr>
          <p:cNvPr id="36" name="Shape 33"/>
          <p:cNvSpPr/>
          <p:nvPr/>
        </p:nvSpPr>
        <p:spPr>
          <a:xfrm>
            <a:off x="6309360" y="1426464"/>
            <a:ext cx="475488" cy="585216"/>
          </a:xfrm>
          <a:prstGeom prst="rect">
            <a:avLst/>
          </a:prstGeom>
          <a:solidFill>
            <a:srgbClr val="83348F"/>
          </a:solidFill>
          <a:ln/>
        </p:spPr>
        <p:txBody>
          <a:bodyPr/>
          <a:lstStyle/>
          <a:p>
            <a:endParaRPr lang="en-GB"/>
          </a:p>
        </p:txBody>
      </p:sp>
      <p:sp>
        <p:nvSpPr>
          <p:cNvPr id="37" name="Text 34"/>
          <p:cNvSpPr/>
          <p:nvPr/>
        </p:nvSpPr>
        <p:spPr>
          <a:xfrm>
            <a:off x="6309360" y="1463040"/>
            <a:ext cx="475488" cy="51206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38" name="Text 35"/>
          <p:cNvSpPr/>
          <p:nvPr/>
        </p:nvSpPr>
        <p:spPr>
          <a:xfrm>
            <a:off x="6839712" y="1481328"/>
            <a:ext cx="5084064" cy="475488"/>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Material flow has been mapped and characterised as push or pull at each step</a:t>
            </a:r>
            <a:endParaRPr lang="en-US" sz="950" dirty="0"/>
          </a:p>
        </p:txBody>
      </p:sp>
      <p:sp>
        <p:nvSpPr>
          <p:cNvPr id="39" name="Shape 36"/>
          <p:cNvSpPr/>
          <p:nvPr/>
        </p:nvSpPr>
        <p:spPr>
          <a:xfrm>
            <a:off x="6309360" y="2084832"/>
            <a:ext cx="5669280" cy="585216"/>
          </a:xfrm>
          <a:prstGeom prst="rect">
            <a:avLst/>
          </a:prstGeom>
          <a:solidFill>
            <a:srgbClr val="F3EAF4"/>
          </a:solidFill>
          <a:ln w="3810">
            <a:solidFill>
              <a:srgbClr val="D8D8D8"/>
            </a:solidFill>
            <a:prstDash val="solid"/>
          </a:ln>
        </p:spPr>
        <p:txBody>
          <a:bodyPr/>
          <a:lstStyle/>
          <a:p>
            <a:endParaRPr lang="en-GB"/>
          </a:p>
        </p:txBody>
      </p:sp>
      <p:sp>
        <p:nvSpPr>
          <p:cNvPr id="40" name="Shape 37"/>
          <p:cNvSpPr/>
          <p:nvPr/>
        </p:nvSpPr>
        <p:spPr>
          <a:xfrm>
            <a:off x="6309360" y="2084832"/>
            <a:ext cx="475488" cy="585216"/>
          </a:xfrm>
          <a:prstGeom prst="rect">
            <a:avLst/>
          </a:prstGeom>
          <a:solidFill>
            <a:srgbClr val="83348F"/>
          </a:solidFill>
          <a:ln/>
        </p:spPr>
        <p:txBody>
          <a:bodyPr/>
          <a:lstStyle/>
          <a:p>
            <a:endParaRPr lang="en-GB"/>
          </a:p>
        </p:txBody>
      </p:sp>
      <p:sp>
        <p:nvSpPr>
          <p:cNvPr id="41" name="Text 38"/>
          <p:cNvSpPr/>
          <p:nvPr/>
        </p:nvSpPr>
        <p:spPr>
          <a:xfrm>
            <a:off x="6309360" y="2121408"/>
            <a:ext cx="475488" cy="51206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42" name="Text 39"/>
          <p:cNvSpPr/>
          <p:nvPr/>
        </p:nvSpPr>
        <p:spPr>
          <a:xfrm>
            <a:off x="6839712" y="2139696"/>
            <a:ext cx="5084064" cy="475488"/>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Information flow has been mapped: what tells each step what to do, and whether it is manual, electronic, or informal</a:t>
            </a:r>
            <a:endParaRPr lang="en-US" sz="950" dirty="0"/>
          </a:p>
        </p:txBody>
      </p:sp>
      <p:sp>
        <p:nvSpPr>
          <p:cNvPr id="43" name="Shape 40"/>
          <p:cNvSpPr/>
          <p:nvPr/>
        </p:nvSpPr>
        <p:spPr>
          <a:xfrm>
            <a:off x="6309360" y="2743200"/>
            <a:ext cx="5669280" cy="585216"/>
          </a:xfrm>
          <a:prstGeom prst="rect">
            <a:avLst/>
          </a:prstGeom>
          <a:solidFill>
            <a:srgbClr val="FFFFFF"/>
          </a:solidFill>
          <a:ln w="3810">
            <a:solidFill>
              <a:srgbClr val="D8D8D8"/>
            </a:solidFill>
            <a:prstDash val="solid"/>
          </a:ln>
        </p:spPr>
        <p:txBody>
          <a:bodyPr/>
          <a:lstStyle/>
          <a:p>
            <a:endParaRPr lang="en-GB"/>
          </a:p>
        </p:txBody>
      </p:sp>
      <p:sp>
        <p:nvSpPr>
          <p:cNvPr id="44" name="Shape 41"/>
          <p:cNvSpPr/>
          <p:nvPr/>
        </p:nvSpPr>
        <p:spPr>
          <a:xfrm>
            <a:off x="6309360" y="2743200"/>
            <a:ext cx="475488" cy="585216"/>
          </a:xfrm>
          <a:prstGeom prst="rect">
            <a:avLst/>
          </a:prstGeom>
          <a:solidFill>
            <a:srgbClr val="83348F"/>
          </a:solidFill>
          <a:ln/>
        </p:spPr>
        <p:txBody>
          <a:bodyPr/>
          <a:lstStyle/>
          <a:p>
            <a:endParaRPr lang="en-GB"/>
          </a:p>
        </p:txBody>
      </p:sp>
      <p:sp>
        <p:nvSpPr>
          <p:cNvPr id="45" name="Text 42"/>
          <p:cNvSpPr/>
          <p:nvPr/>
        </p:nvSpPr>
        <p:spPr>
          <a:xfrm>
            <a:off x="6309360" y="2779776"/>
            <a:ext cx="475488" cy="51206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46" name="Text 43"/>
          <p:cNvSpPr/>
          <p:nvPr/>
        </p:nvSpPr>
        <p:spPr>
          <a:xfrm>
            <a:off x="6839712" y="2798064"/>
            <a:ext cx="5084064" cy="475488"/>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The timeline has been drawn and the process efficiency has been calculated</a:t>
            </a:r>
            <a:endParaRPr lang="en-US" sz="950" dirty="0"/>
          </a:p>
        </p:txBody>
      </p:sp>
      <p:sp>
        <p:nvSpPr>
          <p:cNvPr id="47" name="Shape 44"/>
          <p:cNvSpPr/>
          <p:nvPr/>
        </p:nvSpPr>
        <p:spPr>
          <a:xfrm>
            <a:off x="6309360" y="3401568"/>
            <a:ext cx="5669280" cy="585216"/>
          </a:xfrm>
          <a:prstGeom prst="rect">
            <a:avLst/>
          </a:prstGeom>
          <a:solidFill>
            <a:srgbClr val="F3EAF4"/>
          </a:solidFill>
          <a:ln w="3810">
            <a:solidFill>
              <a:srgbClr val="D8D8D8"/>
            </a:solidFill>
            <a:prstDash val="solid"/>
          </a:ln>
        </p:spPr>
        <p:txBody>
          <a:bodyPr/>
          <a:lstStyle/>
          <a:p>
            <a:endParaRPr lang="en-GB"/>
          </a:p>
        </p:txBody>
      </p:sp>
      <p:sp>
        <p:nvSpPr>
          <p:cNvPr id="48" name="Shape 45"/>
          <p:cNvSpPr/>
          <p:nvPr/>
        </p:nvSpPr>
        <p:spPr>
          <a:xfrm>
            <a:off x="6309360" y="3401568"/>
            <a:ext cx="475488" cy="585216"/>
          </a:xfrm>
          <a:prstGeom prst="rect">
            <a:avLst/>
          </a:prstGeom>
          <a:solidFill>
            <a:srgbClr val="83348F"/>
          </a:solidFill>
          <a:ln/>
        </p:spPr>
        <p:txBody>
          <a:bodyPr/>
          <a:lstStyle/>
          <a:p>
            <a:endParaRPr lang="en-GB"/>
          </a:p>
        </p:txBody>
      </p:sp>
      <p:sp>
        <p:nvSpPr>
          <p:cNvPr id="49" name="Text 46"/>
          <p:cNvSpPr/>
          <p:nvPr/>
        </p:nvSpPr>
        <p:spPr>
          <a:xfrm>
            <a:off x="6309360" y="3438144"/>
            <a:ext cx="475488" cy="51206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50" name="Text 47"/>
          <p:cNvSpPr/>
          <p:nvPr/>
        </p:nvSpPr>
        <p:spPr>
          <a:xfrm>
            <a:off x="6839712" y="3456432"/>
            <a:ext cx="5084064" cy="475488"/>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Kaizen bursts have been marked at all identifiable waste and constraint points</a:t>
            </a:r>
            <a:endParaRPr lang="en-US" sz="950" dirty="0"/>
          </a:p>
        </p:txBody>
      </p:sp>
      <p:sp>
        <p:nvSpPr>
          <p:cNvPr id="51" name="Shape 48"/>
          <p:cNvSpPr/>
          <p:nvPr/>
        </p:nvSpPr>
        <p:spPr>
          <a:xfrm>
            <a:off x="6309360" y="4059936"/>
            <a:ext cx="5669280" cy="585216"/>
          </a:xfrm>
          <a:prstGeom prst="rect">
            <a:avLst/>
          </a:prstGeom>
          <a:solidFill>
            <a:srgbClr val="FFFFFF"/>
          </a:solidFill>
          <a:ln w="3810">
            <a:solidFill>
              <a:srgbClr val="D8D8D8"/>
            </a:solidFill>
            <a:prstDash val="solid"/>
          </a:ln>
        </p:spPr>
        <p:txBody>
          <a:bodyPr/>
          <a:lstStyle/>
          <a:p>
            <a:endParaRPr lang="en-GB"/>
          </a:p>
        </p:txBody>
      </p:sp>
      <p:sp>
        <p:nvSpPr>
          <p:cNvPr id="52" name="Shape 49"/>
          <p:cNvSpPr/>
          <p:nvPr/>
        </p:nvSpPr>
        <p:spPr>
          <a:xfrm>
            <a:off x="6309360" y="4059936"/>
            <a:ext cx="475488" cy="585216"/>
          </a:xfrm>
          <a:prstGeom prst="rect">
            <a:avLst/>
          </a:prstGeom>
          <a:solidFill>
            <a:srgbClr val="83348F"/>
          </a:solidFill>
          <a:ln/>
        </p:spPr>
        <p:txBody>
          <a:bodyPr/>
          <a:lstStyle/>
          <a:p>
            <a:endParaRPr lang="en-GB"/>
          </a:p>
        </p:txBody>
      </p:sp>
      <p:sp>
        <p:nvSpPr>
          <p:cNvPr id="53" name="Text 50"/>
          <p:cNvSpPr/>
          <p:nvPr/>
        </p:nvSpPr>
        <p:spPr>
          <a:xfrm>
            <a:off x="6309360" y="4096512"/>
            <a:ext cx="475488" cy="51206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54" name="Text 51"/>
          <p:cNvSpPr/>
          <p:nvPr/>
        </p:nvSpPr>
        <p:spPr>
          <a:xfrm>
            <a:off x="6839712" y="4114800"/>
            <a:ext cx="5084064" cy="475488"/>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The cycle time versus takt time check has been completed for every process step</a:t>
            </a:r>
            <a:endParaRPr lang="en-US" sz="950" dirty="0"/>
          </a:p>
        </p:txBody>
      </p:sp>
      <p:sp>
        <p:nvSpPr>
          <p:cNvPr id="55" name="Shape 52"/>
          <p:cNvSpPr/>
          <p:nvPr/>
        </p:nvSpPr>
        <p:spPr>
          <a:xfrm>
            <a:off x="6309360" y="4718304"/>
            <a:ext cx="5669280" cy="585216"/>
          </a:xfrm>
          <a:prstGeom prst="rect">
            <a:avLst/>
          </a:prstGeom>
          <a:solidFill>
            <a:srgbClr val="F3EAF4"/>
          </a:solidFill>
          <a:ln w="3810">
            <a:solidFill>
              <a:srgbClr val="D8D8D8"/>
            </a:solidFill>
            <a:prstDash val="solid"/>
          </a:ln>
        </p:spPr>
        <p:txBody>
          <a:bodyPr/>
          <a:lstStyle/>
          <a:p>
            <a:endParaRPr lang="en-GB"/>
          </a:p>
        </p:txBody>
      </p:sp>
      <p:sp>
        <p:nvSpPr>
          <p:cNvPr id="56" name="Shape 53"/>
          <p:cNvSpPr/>
          <p:nvPr/>
        </p:nvSpPr>
        <p:spPr>
          <a:xfrm>
            <a:off x="6309360" y="4718304"/>
            <a:ext cx="475488" cy="585216"/>
          </a:xfrm>
          <a:prstGeom prst="rect">
            <a:avLst/>
          </a:prstGeom>
          <a:solidFill>
            <a:srgbClr val="83348F"/>
          </a:solidFill>
          <a:ln/>
        </p:spPr>
        <p:txBody>
          <a:bodyPr/>
          <a:lstStyle/>
          <a:p>
            <a:endParaRPr lang="en-GB"/>
          </a:p>
        </p:txBody>
      </p:sp>
      <p:sp>
        <p:nvSpPr>
          <p:cNvPr id="57" name="Text 54"/>
          <p:cNvSpPr/>
          <p:nvPr/>
        </p:nvSpPr>
        <p:spPr>
          <a:xfrm>
            <a:off x="6309360" y="4754880"/>
            <a:ext cx="475488" cy="512064"/>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58" name="Text 55"/>
          <p:cNvSpPr/>
          <p:nvPr/>
        </p:nvSpPr>
        <p:spPr>
          <a:xfrm>
            <a:off x="6839712" y="4773168"/>
            <a:ext cx="5084064" cy="475488"/>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The current state map has been reviewed with the team and agreed as an accurate representation of reality</a:t>
            </a:r>
            <a:endParaRPr lang="en-US" sz="950" dirty="0"/>
          </a:p>
        </p:txBody>
      </p:sp>
      <p:sp>
        <p:nvSpPr>
          <p:cNvPr id="59" name="Rectangle 58"/>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image.png"/>
          <p:cNvPicPr>
            <a:picLocks noChangeAspect="1"/>
          </p:cNvPicPr>
          <p:nvPr/>
        </p:nvPicPr>
        <p:blipFill>
          <a:blip r:embed="rId5"/>
          <a:stretch>
            <a:fillRect/>
          </a:stretch>
        </p:blipFill>
        <p:spPr>
          <a:xfrm>
            <a:off x="10610088" y="100584"/>
            <a:ext cx="566928" cy="347472"/>
          </a:xfrm>
          <a:prstGeom prst="rect">
            <a:avLst/>
          </a:prstGeom>
        </p:spPr>
      </p:pic>
      <p:pic>
        <p:nvPicPr>
          <p:cNvPr id="61" name="Picture 60" descr="image.png"/>
          <p:cNvPicPr>
            <a:picLocks noChangeAspect="1"/>
          </p:cNvPicPr>
          <p:nvPr/>
        </p:nvPicPr>
        <p:blipFill>
          <a:blip r:embed="rId4"/>
          <a:stretch>
            <a:fillRect/>
          </a:stretch>
        </p:blipFill>
        <p:spPr>
          <a:xfrm>
            <a:off x="11222736" y="100584"/>
            <a:ext cx="658368" cy="347472"/>
          </a:xfrm>
          <a:prstGeom prst="rect">
            <a:avLst/>
          </a:prstGeom>
        </p:spPr>
      </p:pic>
      <p:sp>
        <p:nvSpPr>
          <p:cNvPr id="62" name="Rectangle 61"/>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9FE3"/>
          </a:solidFill>
          <a:ln/>
        </p:spPr>
        <p:txBody>
          <a:bodyPr/>
          <a:lstStyle/>
          <a:p>
            <a:endParaRPr lang="en-GB"/>
          </a:p>
        </p:txBody>
      </p:sp>
      <p:sp>
        <p:nvSpPr>
          <p:cNvPr id="3" name="Shape 1"/>
          <p:cNvSpPr/>
          <p:nvPr/>
        </p:nvSpPr>
        <p:spPr>
          <a:xfrm>
            <a:off x="0" y="5303520"/>
            <a:ext cx="12188952" cy="1554480"/>
          </a:xfrm>
          <a:prstGeom prst="rect">
            <a:avLst/>
          </a:prstGeom>
          <a:solidFill>
            <a:srgbClr val="83348F"/>
          </a:solidFill>
          <a:ln/>
        </p:spPr>
        <p:txBody>
          <a:bodyPr/>
          <a:lstStyle/>
          <a:p>
            <a:endParaRPr lang="en-GB"/>
          </a:p>
        </p:txBody>
      </p:sp>
      <p:sp>
        <p:nvSpPr>
          <p:cNvPr id="4" name="Shape 2"/>
          <p:cNvSpPr/>
          <p:nvPr/>
        </p:nvSpPr>
        <p:spPr>
          <a:xfrm>
            <a:off x="365760" y="1371600"/>
            <a:ext cx="731520" cy="3200400"/>
          </a:xfrm>
          <a:prstGeom prst="rect">
            <a:avLst/>
          </a:prstGeom>
          <a:solidFill>
            <a:srgbClr val="FFFFFF"/>
          </a:solidFill>
          <a:ln/>
        </p:spPr>
        <p:txBody>
          <a:bodyPr/>
          <a:lstStyle/>
          <a:p>
            <a:endParaRPr lang="en-GB"/>
          </a:p>
        </p:txBody>
      </p:sp>
      <p:sp>
        <p:nvSpPr>
          <p:cNvPr id="5" name="Text 3"/>
          <p:cNvSpPr/>
          <p:nvPr/>
        </p:nvSpPr>
        <p:spPr>
          <a:xfrm rot="16200000">
            <a:off x="292608" y="1280160"/>
            <a:ext cx="914400" cy="3383280"/>
          </a:xfrm>
          <a:prstGeom prst="rect">
            <a:avLst/>
          </a:prstGeom>
          <a:noFill/>
          <a:ln/>
        </p:spPr>
        <p:txBody>
          <a:bodyPr wrap="square" rtlCol="0" anchor="ctr"/>
          <a:lstStyle/>
          <a:p>
            <a:pPr marL="0" indent="0" algn="ctr">
              <a:buNone/>
            </a:pPr>
            <a:r>
              <a:rPr lang="en-US" sz="8000" b="1" dirty="0">
                <a:solidFill>
                  <a:srgbClr val="FFFFFF"/>
                </a:solidFill>
                <a:latin typeface="Arial" pitchFamily="34" charset="0"/>
                <a:ea typeface="Arial" pitchFamily="34" charset="-122"/>
                <a:cs typeface="Arial" pitchFamily="34" charset="-120"/>
              </a:rPr>
              <a:t>2</a:t>
            </a:r>
            <a:endParaRPr lang="en-US" sz="8000" dirty="0"/>
          </a:p>
        </p:txBody>
      </p:sp>
      <p:pic>
        <p:nvPicPr>
          <p:cNvPr id="6" name="Image 0" descr="/home/claude/nuccol_logo_cover.jpg"/>
          <p:cNvPicPr>
            <a:picLocks noChangeAspect="1"/>
          </p:cNvPicPr>
          <p:nvPr/>
        </p:nvPicPr>
        <p:blipFill>
          <a:blip r:embed="rId3"/>
          <a:stretch>
            <a:fillRect/>
          </a:stretch>
        </p:blipFill>
        <p:spPr>
          <a:xfrm>
            <a:off x="5184648" y="274320"/>
            <a:ext cx="1828800" cy="914400"/>
          </a:xfrm>
          <a:prstGeom prst="rect">
            <a:avLst/>
          </a:prstGeom>
        </p:spPr>
      </p:pic>
      <p:sp>
        <p:nvSpPr>
          <p:cNvPr id="7" name="Text 4"/>
          <p:cNvSpPr/>
          <p:nvPr/>
        </p:nvSpPr>
        <p:spPr>
          <a:xfrm>
            <a:off x="1463040" y="1828800"/>
            <a:ext cx="10424160" cy="164592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PART TWO:</a:t>
            </a:r>
            <a:endParaRPr lang="en-US" sz="4400" dirty="0"/>
          </a:p>
          <a:p>
            <a:pPr marL="0" indent="0" algn="l">
              <a:buNone/>
            </a:pPr>
            <a:r>
              <a:rPr lang="en-US" sz="4400" b="1" dirty="0">
                <a:solidFill>
                  <a:srgbClr val="FFFFFF"/>
                </a:solidFill>
                <a:latin typeface="Arial" pitchFamily="34" charset="0"/>
                <a:ea typeface="Arial" pitchFamily="34" charset="-122"/>
                <a:cs typeface="Arial" pitchFamily="34" charset="-120"/>
              </a:rPr>
              <a:t>Create the Future State Map</a:t>
            </a:r>
            <a:endParaRPr lang="en-US" sz="4400" dirty="0"/>
          </a:p>
        </p:txBody>
      </p:sp>
      <p:sp>
        <p:nvSpPr>
          <p:cNvPr id="8" name="Text 5"/>
          <p:cNvSpPr/>
          <p:nvPr/>
        </p:nvSpPr>
        <p:spPr>
          <a:xfrm>
            <a:off x="1463040" y="3566160"/>
            <a:ext cx="10424160" cy="640080"/>
          </a:xfrm>
          <a:prstGeom prst="rect">
            <a:avLst/>
          </a:prstGeom>
          <a:noFill/>
          <a:ln/>
        </p:spPr>
        <p:txBody>
          <a:bodyPr wrap="square" rtlCol="0" anchor="ctr"/>
          <a:lstStyle/>
          <a:p>
            <a:pPr marL="0" indent="0">
              <a:buNone/>
            </a:pPr>
            <a:r>
              <a:rPr lang="en-US" sz="2000" i="1" dirty="0">
                <a:solidFill>
                  <a:srgbClr val="CCE9F6"/>
                </a:solidFill>
                <a:latin typeface="Arial" pitchFamily="34" charset="0"/>
                <a:ea typeface="Arial" pitchFamily="34" charset="-122"/>
                <a:cs typeface="Arial" pitchFamily="34" charset="-120"/>
              </a:rPr>
              <a:t>Steps 9 through 15</a:t>
            </a:r>
            <a:endParaRPr lang="en-US" sz="2000" dirty="0"/>
          </a:p>
        </p:txBody>
      </p:sp>
      <p:sp>
        <p:nvSpPr>
          <p:cNvPr id="9" name="Text 6"/>
          <p:cNvSpPr/>
          <p:nvPr/>
        </p:nvSpPr>
        <p:spPr>
          <a:xfrm>
            <a:off x="1463040" y="5486400"/>
            <a:ext cx="10058400" cy="329184"/>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NucCol Ltd  |  Process Excellence  |  PE-02e</a:t>
            </a:r>
            <a:endParaRPr lang="en-US" sz="1100" dirty="0"/>
          </a:p>
        </p:txBody>
      </p:sp>
      <p:sp>
        <p:nvSpPr>
          <p:cNvPr id="10" name="Rectangle 9"/>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5"/>
          <a:stretch>
            <a:fillRect/>
          </a:stretch>
        </p:blipFill>
        <p:spPr>
          <a:xfrm>
            <a:off x="10610088" y="100584"/>
            <a:ext cx="566928" cy="347472"/>
          </a:xfrm>
          <a:prstGeom prst="rect">
            <a:avLst/>
          </a:prstGeom>
        </p:spPr>
      </p:pic>
      <p:pic>
        <p:nvPicPr>
          <p:cNvPr id="12" name="Picture 11" descr="image.png"/>
          <p:cNvPicPr>
            <a:picLocks noChangeAspect="1"/>
          </p:cNvPicPr>
          <p:nvPr/>
        </p:nvPicPr>
        <p:blipFill>
          <a:blip r:embed="rId4"/>
          <a:stretch>
            <a:fillRect/>
          </a:stretch>
        </p:blipFill>
        <p:spPr>
          <a:xfrm>
            <a:off x="11222736" y="100584"/>
            <a:ext cx="658368" cy="347472"/>
          </a:xfrm>
          <a:prstGeom prst="rect">
            <a:avLst/>
          </a:prstGeom>
        </p:spPr>
      </p:pic>
      <p:sp>
        <p:nvSpPr>
          <p:cNvPr id="13" name="Rectangle 12"/>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2. Create the Future State Value Stream Map</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Steps 9 &amp; 10: Confirm Requirements and Design for Flow</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9" name="Shape 6"/>
          <p:cNvSpPr/>
          <p:nvPr/>
        </p:nvSpPr>
        <p:spPr>
          <a:xfrm>
            <a:off x="228600" y="987552"/>
            <a:ext cx="5577840" cy="274320"/>
          </a:xfrm>
          <a:prstGeom prst="rect">
            <a:avLst/>
          </a:prstGeom>
          <a:solidFill>
            <a:srgbClr val="1E3A5F"/>
          </a:solidFill>
          <a:ln/>
        </p:spPr>
        <p:txBody>
          <a:bodyPr/>
          <a:lstStyle/>
          <a:p>
            <a:endParaRPr lang="en-GB"/>
          </a:p>
        </p:txBody>
      </p:sp>
      <p:sp>
        <p:nvSpPr>
          <p:cNvPr id="10" name="Text 7"/>
          <p:cNvSpPr/>
          <p:nvPr/>
        </p:nvSpPr>
        <p:spPr>
          <a:xfrm>
            <a:off x="320040" y="1005840"/>
            <a:ext cx="5394960"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STEP 9: RECONFIRM CUSTOMER REQUIREMENTS</a:t>
            </a:r>
            <a:endParaRPr lang="en-US" sz="1000" dirty="0"/>
          </a:p>
        </p:txBody>
      </p:sp>
      <p:sp>
        <p:nvSpPr>
          <p:cNvPr id="11" name="Text 8"/>
          <p:cNvSpPr/>
          <p:nvPr/>
        </p:nvSpPr>
        <p:spPr>
          <a:xfrm>
            <a:off x="274320" y="1316736"/>
            <a:ext cx="5577840" cy="658368"/>
          </a:xfrm>
          <a:prstGeom prst="rect">
            <a:avLst/>
          </a:prstGeom>
          <a:noFill/>
          <a:ln/>
        </p:spPr>
        <p:txBody>
          <a:bodyPr wrap="square" rtlCol="0" anchor="ctr"/>
          <a:lstStyle/>
          <a:p>
            <a:pPr marL="0" indent="0">
              <a:buNone/>
            </a:pPr>
            <a:r>
              <a:rPr lang="en-US" sz="1050" dirty="0">
                <a:solidFill>
                  <a:srgbClr val="5B595A"/>
                </a:solidFill>
                <a:latin typeface="Arial" pitchFamily="34" charset="0"/>
                <a:ea typeface="Arial" pitchFamily="34" charset="-122"/>
                <a:cs typeface="Arial" pitchFamily="34" charset="-120"/>
              </a:rPr>
              <a:t>Before designing the future state, reconfirm the customer requirement. Has the volume changed? Has the lead time expectation shifted? Has a new nuclear programme requirement been added? The future state is designed around what the customer needs today and in the next 12 to 18 months, not what was true when the current state was mapped.</a:t>
            </a:r>
            <a:endParaRPr lang="en-US" sz="1050" dirty="0"/>
          </a:p>
        </p:txBody>
      </p:sp>
      <p:sp>
        <p:nvSpPr>
          <p:cNvPr id="12" name="Shape 9"/>
          <p:cNvSpPr/>
          <p:nvPr/>
        </p:nvSpPr>
        <p:spPr>
          <a:xfrm>
            <a:off x="228600" y="2029968"/>
            <a:ext cx="5577840" cy="274320"/>
          </a:xfrm>
          <a:prstGeom prst="rect">
            <a:avLst/>
          </a:prstGeom>
          <a:solidFill>
            <a:srgbClr val="009FE3"/>
          </a:solidFill>
          <a:ln/>
        </p:spPr>
        <p:txBody>
          <a:bodyPr/>
          <a:lstStyle/>
          <a:p>
            <a:endParaRPr lang="en-GB"/>
          </a:p>
        </p:txBody>
      </p:sp>
      <p:sp>
        <p:nvSpPr>
          <p:cNvPr id="13" name="Text 10"/>
          <p:cNvSpPr/>
          <p:nvPr/>
        </p:nvSpPr>
        <p:spPr>
          <a:xfrm>
            <a:off x="320040" y="2048256"/>
            <a:ext cx="5394960"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STEP 10: IDENTIFY OPPORTUNITIES FOR CONTINUOUS FLOW</a:t>
            </a:r>
            <a:endParaRPr lang="en-US" sz="1000" dirty="0"/>
          </a:p>
        </p:txBody>
      </p:sp>
      <p:sp>
        <p:nvSpPr>
          <p:cNvPr id="14" name="Shape 11"/>
          <p:cNvSpPr/>
          <p:nvPr/>
        </p:nvSpPr>
        <p:spPr>
          <a:xfrm>
            <a:off x="228600" y="2359152"/>
            <a:ext cx="5577840" cy="822960"/>
          </a:xfrm>
          <a:prstGeom prst="rect">
            <a:avLst/>
          </a:prstGeom>
          <a:solidFill>
            <a:srgbClr val="E0F4FD"/>
          </a:solidFill>
          <a:ln w="6350">
            <a:solidFill>
              <a:srgbClr val="009FE3"/>
            </a:solidFill>
            <a:prstDash val="solid"/>
          </a:ln>
        </p:spPr>
        <p:txBody>
          <a:bodyPr/>
          <a:lstStyle/>
          <a:p>
            <a:endParaRPr lang="en-GB"/>
          </a:p>
        </p:txBody>
      </p:sp>
      <p:sp>
        <p:nvSpPr>
          <p:cNvPr id="15" name="Text 12"/>
          <p:cNvSpPr/>
          <p:nvPr/>
        </p:nvSpPr>
        <p:spPr>
          <a:xfrm>
            <a:off x="320040" y="2395728"/>
            <a:ext cx="5394960" cy="237744"/>
          </a:xfrm>
          <a:prstGeom prst="rect">
            <a:avLst/>
          </a:prstGeom>
          <a:noFill/>
          <a:ln/>
        </p:spPr>
        <p:txBody>
          <a:bodyPr wrap="square" rtlCol="0" anchor="ctr"/>
          <a:lstStyle/>
          <a:p>
            <a:pPr marL="0" indent="0">
              <a:buNone/>
            </a:pPr>
            <a:r>
              <a:rPr lang="en-US" sz="1050" b="1" dirty="0">
                <a:solidFill>
                  <a:srgbClr val="009FE3"/>
                </a:solidFill>
                <a:latin typeface="Arial" pitchFamily="34" charset="0"/>
                <a:ea typeface="Arial" pitchFamily="34" charset="-122"/>
                <a:cs typeface="Arial" pitchFamily="34" charset="-120"/>
              </a:rPr>
              <a:t>Can any processes be eliminated?</a:t>
            </a:r>
            <a:endParaRPr lang="en-US" sz="1050" dirty="0"/>
          </a:p>
        </p:txBody>
      </p:sp>
      <p:sp>
        <p:nvSpPr>
          <p:cNvPr id="16" name="Text 13"/>
          <p:cNvSpPr/>
          <p:nvPr/>
        </p:nvSpPr>
        <p:spPr>
          <a:xfrm>
            <a:off x="320040" y="2651760"/>
            <a:ext cx="5394960" cy="493776"/>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Does every step genuinely transform the product in a way the customer values? Inspection steps, rework loops, and approval stages are common candidates for elimination or reduction.</a:t>
            </a:r>
            <a:endParaRPr lang="en-US" sz="1000" dirty="0"/>
          </a:p>
        </p:txBody>
      </p:sp>
      <p:sp>
        <p:nvSpPr>
          <p:cNvPr id="17" name="Shape 14"/>
          <p:cNvSpPr/>
          <p:nvPr/>
        </p:nvSpPr>
        <p:spPr>
          <a:xfrm>
            <a:off x="228600" y="3255264"/>
            <a:ext cx="5577840" cy="822960"/>
          </a:xfrm>
          <a:prstGeom prst="rect">
            <a:avLst/>
          </a:prstGeom>
          <a:solidFill>
            <a:srgbClr val="F3EAF4"/>
          </a:solidFill>
          <a:ln w="6350">
            <a:solidFill>
              <a:srgbClr val="83348F"/>
            </a:solidFill>
            <a:prstDash val="solid"/>
          </a:ln>
        </p:spPr>
        <p:txBody>
          <a:bodyPr/>
          <a:lstStyle/>
          <a:p>
            <a:endParaRPr lang="en-GB"/>
          </a:p>
        </p:txBody>
      </p:sp>
      <p:sp>
        <p:nvSpPr>
          <p:cNvPr id="18" name="Text 15"/>
          <p:cNvSpPr/>
          <p:nvPr/>
        </p:nvSpPr>
        <p:spPr>
          <a:xfrm>
            <a:off x="320040" y="3291840"/>
            <a:ext cx="5394960" cy="237744"/>
          </a:xfrm>
          <a:prstGeom prst="rect">
            <a:avLst/>
          </a:prstGeom>
          <a:noFill/>
          <a:ln/>
        </p:spPr>
        <p:txBody>
          <a:bodyPr wrap="square" rtlCol="0" anchor="ctr"/>
          <a:lstStyle/>
          <a:p>
            <a:pPr marL="0" indent="0">
              <a:buNone/>
            </a:pPr>
            <a:r>
              <a:rPr lang="en-US" sz="1050" b="1" dirty="0">
                <a:solidFill>
                  <a:srgbClr val="83348F"/>
                </a:solidFill>
                <a:latin typeface="Arial" pitchFamily="34" charset="0"/>
                <a:ea typeface="Arial" pitchFamily="34" charset="-122"/>
                <a:cs typeface="Arial" pitchFamily="34" charset="-120"/>
              </a:rPr>
              <a:t>Can any processes be combined?</a:t>
            </a:r>
            <a:endParaRPr lang="en-US" sz="1050" dirty="0"/>
          </a:p>
        </p:txBody>
      </p:sp>
      <p:sp>
        <p:nvSpPr>
          <p:cNvPr id="19" name="Text 16"/>
          <p:cNvSpPr/>
          <p:nvPr/>
        </p:nvSpPr>
        <p:spPr>
          <a:xfrm>
            <a:off x="320040" y="3547872"/>
            <a:ext cx="5394960" cy="493776"/>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If two adjacent steps have combined cycle times below Takt, they can potentially be run by one operator in a single cell. This eliminates the inventory point between them.</a:t>
            </a:r>
            <a:endParaRPr lang="en-US" sz="1000" dirty="0"/>
          </a:p>
        </p:txBody>
      </p:sp>
      <p:sp>
        <p:nvSpPr>
          <p:cNvPr id="20" name="Shape 17"/>
          <p:cNvSpPr/>
          <p:nvPr/>
        </p:nvSpPr>
        <p:spPr>
          <a:xfrm>
            <a:off x="228600" y="4151376"/>
            <a:ext cx="5577840" cy="822960"/>
          </a:xfrm>
          <a:prstGeom prst="rect">
            <a:avLst/>
          </a:prstGeom>
          <a:solidFill>
            <a:srgbClr val="E0F4FD"/>
          </a:solidFill>
          <a:ln w="6350">
            <a:solidFill>
              <a:srgbClr val="009FE3"/>
            </a:solidFill>
            <a:prstDash val="solid"/>
          </a:ln>
        </p:spPr>
        <p:txBody>
          <a:bodyPr/>
          <a:lstStyle/>
          <a:p>
            <a:endParaRPr lang="en-GB"/>
          </a:p>
        </p:txBody>
      </p:sp>
      <p:sp>
        <p:nvSpPr>
          <p:cNvPr id="21" name="Text 18"/>
          <p:cNvSpPr/>
          <p:nvPr/>
        </p:nvSpPr>
        <p:spPr>
          <a:xfrm>
            <a:off x="320040" y="4187952"/>
            <a:ext cx="5394960" cy="237744"/>
          </a:xfrm>
          <a:prstGeom prst="rect">
            <a:avLst/>
          </a:prstGeom>
          <a:noFill/>
          <a:ln/>
        </p:spPr>
        <p:txBody>
          <a:bodyPr wrap="square" rtlCol="0" anchor="ctr"/>
          <a:lstStyle/>
          <a:p>
            <a:pPr marL="0" indent="0">
              <a:buNone/>
            </a:pPr>
            <a:r>
              <a:rPr lang="en-US" sz="1050" b="1" dirty="0">
                <a:solidFill>
                  <a:srgbClr val="009FE3"/>
                </a:solidFill>
                <a:latin typeface="Arial" pitchFamily="34" charset="0"/>
                <a:ea typeface="Arial" pitchFamily="34" charset="-122"/>
                <a:cs typeface="Arial" pitchFamily="34" charset="-120"/>
              </a:rPr>
              <a:t>Can processes be re-sequenced?</a:t>
            </a:r>
            <a:endParaRPr lang="en-US" sz="1050" dirty="0"/>
          </a:p>
        </p:txBody>
      </p:sp>
      <p:sp>
        <p:nvSpPr>
          <p:cNvPr id="22" name="Text 19"/>
          <p:cNvSpPr/>
          <p:nvPr/>
        </p:nvSpPr>
        <p:spPr>
          <a:xfrm>
            <a:off x="320040" y="4443984"/>
            <a:ext cx="5394960" cy="493776"/>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Sometimes a step creates waste only because of where it sits in the sequence. Moving inspection earlier (closer to the point of production) can eliminate queues.</a:t>
            </a:r>
            <a:endParaRPr lang="en-US" sz="1000" dirty="0"/>
          </a:p>
        </p:txBody>
      </p:sp>
      <p:sp>
        <p:nvSpPr>
          <p:cNvPr id="23" name="Shape 20"/>
          <p:cNvSpPr/>
          <p:nvPr/>
        </p:nvSpPr>
        <p:spPr>
          <a:xfrm>
            <a:off x="228600" y="5047488"/>
            <a:ext cx="5577840" cy="822960"/>
          </a:xfrm>
          <a:prstGeom prst="rect">
            <a:avLst/>
          </a:prstGeom>
          <a:solidFill>
            <a:srgbClr val="F3EAF4"/>
          </a:solidFill>
          <a:ln w="6350">
            <a:solidFill>
              <a:srgbClr val="83348F"/>
            </a:solidFill>
            <a:prstDash val="solid"/>
          </a:ln>
        </p:spPr>
        <p:txBody>
          <a:bodyPr/>
          <a:lstStyle/>
          <a:p>
            <a:endParaRPr lang="en-GB"/>
          </a:p>
        </p:txBody>
      </p:sp>
      <p:sp>
        <p:nvSpPr>
          <p:cNvPr id="24" name="Text 21"/>
          <p:cNvSpPr/>
          <p:nvPr/>
        </p:nvSpPr>
        <p:spPr>
          <a:xfrm>
            <a:off x="320040" y="5084064"/>
            <a:ext cx="5394960" cy="237744"/>
          </a:xfrm>
          <a:prstGeom prst="rect">
            <a:avLst/>
          </a:prstGeom>
          <a:noFill/>
          <a:ln/>
        </p:spPr>
        <p:txBody>
          <a:bodyPr wrap="square" rtlCol="0" anchor="ctr"/>
          <a:lstStyle/>
          <a:p>
            <a:pPr marL="0" indent="0">
              <a:buNone/>
            </a:pPr>
            <a:r>
              <a:rPr lang="en-US" sz="1050" b="1" dirty="0">
                <a:solidFill>
                  <a:srgbClr val="83348F"/>
                </a:solidFill>
                <a:latin typeface="Arial" pitchFamily="34" charset="0"/>
                <a:ea typeface="Arial" pitchFamily="34" charset="-122"/>
                <a:cs typeface="Arial" pitchFamily="34" charset="-120"/>
              </a:rPr>
              <a:t>Where is flow broken?</a:t>
            </a:r>
            <a:endParaRPr lang="en-US" sz="1050" dirty="0"/>
          </a:p>
        </p:txBody>
      </p:sp>
      <p:sp>
        <p:nvSpPr>
          <p:cNvPr id="25" name="Text 22"/>
          <p:cNvSpPr/>
          <p:nvPr/>
        </p:nvSpPr>
        <p:spPr>
          <a:xfrm>
            <a:off x="320040" y="5340096"/>
            <a:ext cx="5394960" cy="493776"/>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Wherever flow cannot be maintained due to batch sizes, long changeovers, or capacity mismatches, a buffer or control mechanism is needed. Mark these as control points.</a:t>
            </a:r>
            <a:endParaRPr lang="en-US" sz="1000" dirty="0"/>
          </a:p>
        </p:txBody>
      </p:sp>
      <p:sp>
        <p:nvSpPr>
          <p:cNvPr id="26" name="Shape 23"/>
          <p:cNvSpPr/>
          <p:nvPr/>
        </p:nvSpPr>
        <p:spPr>
          <a:xfrm>
            <a:off x="6035040" y="987552"/>
            <a:ext cx="5897880" cy="5285232"/>
          </a:xfrm>
          <a:prstGeom prst="rect">
            <a:avLst/>
          </a:prstGeom>
          <a:solidFill>
            <a:srgbClr val="F2F2F2"/>
          </a:solidFill>
          <a:ln w="6350">
            <a:solidFill>
              <a:srgbClr val="D8D8D8"/>
            </a:solidFill>
            <a:prstDash val="solid"/>
          </a:ln>
        </p:spPr>
        <p:txBody>
          <a:bodyPr/>
          <a:lstStyle/>
          <a:p>
            <a:endParaRPr lang="en-GB"/>
          </a:p>
        </p:txBody>
      </p:sp>
      <p:sp>
        <p:nvSpPr>
          <p:cNvPr id="27" name="Text 24"/>
          <p:cNvSpPr/>
          <p:nvPr/>
        </p:nvSpPr>
        <p:spPr>
          <a:xfrm>
            <a:off x="6126480" y="1024128"/>
            <a:ext cx="5715000" cy="237744"/>
          </a:xfrm>
          <a:prstGeom prst="rect">
            <a:avLst/>
          </a:prstGeom>
          <a:noFill/>
          <a:ln/>
        </p:spPr>
        <p:txBody>
          <a:bodyPr wrap="square" rtlCol="0" anchor="ctr"/>
          <a:lstStyle/>
          <a:p>
            <a:pPr marL="0" indent="0">
              <a:buNone/>
            </a:pPr>
            <a:r>
              <a:rPr lang="en-US" sz="950" i="1" dirty="0">
                <a:solidFill>
                  <a:srgbClr val="5B595A"/>
                </a:solidFill>
                <a:latin typeface="Arial" pitchFamily="34" charset="0"/>
                <a:ea typeface="Arial" pitchFamily="34" charset="-122"/>
                <a:cs typeface="Arial" pitchFamily="34" charset="-120"/>
              </a:rPr>
              <a:t>Combining processes to eliminate inventory:</a:t>
            </a:r>
            <a:endParaRPr lang="en-US" sz="950" dirty="0"/>
          </a:p>
        </p:txBody>
      </p:sp>
      <p:sp>
        <p:nvSpPr>
          <p:cNvPr id="28" name="Shape 25"/>
          <p:cNvSpPr/>
          <p:nvPr/>
        </p:nvSpPr>
        <p:spPr>
          <a:xfrm>
            <a:off x="6126480" y="1335024"/>
            <a:ext cx="5669280" cy="256032"/>
          </a:xfrm>
          <a:prstGeom prst="rect">
            <a:avLst/>
          </a:prstGeom>
          <a:solidFill>
            <a:srgbClr val="B91C1C"/>
          </a:solidFill>
          <a:ln/>
        </p:spPr>
        <p:txBody>
          <a:bodyPr/>
          <a:lstStyle/>
          <a:p>
            <a:endParaRPr lang="en-GB"/>
          </a:p>
        </p:txBody>
      </p:sp>
      <p:sp>
        <p:nvSpPr>
          <p:cNvPr id="29" name="Text 26"/>
          <p:cNvSpPr/>
          <p:nvPr/>
        </p:nvSpPr>
        <p:spPr>
          <a:xfrm>
            <a:off x="6217920" y="1353312"/>
            <a:ext cx="5486400" cy="219456"/>
          </a:xfrm>
          <a:prstGeom prst="rect">
            <a:avLst/>
          </a:prstGeom>
          <a:noFill/>
          <a:ln/>
        </p:spPr>
        <p:txBody>
          <a:bodyPr wrap="square" rtlCol="0" anchor="ctr"/>
          <a:lstStyle/>
          <a:p>
            <a:pPr marL="0" indent="0">
              <a:buNone/>
            </a:pPr>
            <a:r>
              <a:rPr lang="en-US" sz="850" b="1" dirty="0">
                <a:solidFill>
                  <a:srgbClr val="FFFFFF"/>
                </a:solidFill>
                <a:latin typeface="Arial" pitchFamily="34" charset="0"/>
                <a:ea typeface="Arial" pitchFamily="34" charset="-122"/>
                <a:cs typeface="Arial" pitchFamily="34" charset="-120"/>
              </a:rPr>
              <a:t>BEFORE: Two separate steps with inventory point between them</a:t>
            </a:r>
            <a:endParaRPr lang="en-US" sz="850" dirty="0"/>
          </a:p>
        </p:txBody>
      </p:sp>
      <p:sp>
        <p:nvSpPr>
          <p:cNvPr id="30" name="Shape 27"/>
          <p:cNvSpPr/>
          <p:nvPr/>
        </p:nvSpPr>
        <p:spPr>
          <a:xfrm>
            <a:off x="6172200" y="1664208"/>
            <a:ext cx="1371600" cy="457200"/>
          </a:xfrm>
          <a:prstGeom prst="rect">
            <a:avLst/>
          </a:prstGeom>
          <a:solidFill>
            <a:srgbClr val="009FE3"/>
          </a:solidFill>
          <a:ln/>
        </p:spPr>
        <p:txBody>
          <a:bodyPr/>
          <a:lstStyle/>
          <a:p>
            <a:endParaRPr lang="en-GB"/>
          </a:p>
        </p:txBody>
      </p:sp>
      <p:sp>
        <p:nvSpPr>
          <p:cNvPr id="31" name="Text 28"/>
          <p:cNvSpPr/>
          <p:nvPr/>
        </p:nvSpPr>
        <p:spPr>
          <a:xfrm>
            <a:off x="6208776" y="1682496"/>
            <a:ext cx="1298448" cy="420624"/>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DEBURR</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&amp; CLEAN</a:t>
            </a:r>
            <a:endParaRPr lang="en-US" sz="900" dirty="0"/>
          </a:p>
        </p:txBody>
      </p:sp>
      <p:sp>
        <p:nvSpPr>
          <p:cNvPr id="32" name="Shape 29"/>
          <p:cNvSpPr/>
          <p:nvPr/>
        </p:nvSpPr>
        <p:spPr>
          <a:xfrm>
            <a:off x="7955280" y="1664208"/>
            <a:ext cx="1371600" cy="457200"/>
          </a:xfrm>
          <a:prstGeom prst="rect">
            <a:avLst/>
          </a:prstGeom>
          <a:solidFill>
            <a:srgbClr val="B91C1C"/>
          </a:solidFill>
          <a:ln/>
        </p:spPr>
        <p:txBody>
          <a:bodyPr/>
          <a:lstStyle/>
          <a:p>
            <a:endParaRPr lang="en-GB"/>
          </a:p>
        </p:txBody>
      </p:sp>
      <p:sp>
        <p:nvSpPr>
          <p:cNvPr id="33" name="Text 30"/>
          <p:cNvSpPr/>
          <p:nvPr/>
        </p:nvSpPr>
        <p:spPr>
          <a:xfrm>
            <a:off x="7991856" y="1682496"/>
            <a:ext cx="1298448" cy="420624"/>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5.2-day</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queue</a:t>
            </a:r>
            <a:endParaRPr lang="en-US" sz="900" dirty="0"/>
          </a:p>
        </p:txBody>
      </p:sp>
      <p:sp>
        <p:nvSpPr>
          <p:cNvPr id="34" name="Shape 31"/>
          <p:cNvSpPr/>
          <p:nvPr/>
        </p:nvSpPr>
        <p:spPr>
          <a:xfrm>
            <a:off x="7955280" y="1664208"/>
            <a:ext cx="1371600" cy="457200"/>
          </a:xfrm>
          <a:prstGeom prst="rect">
            <a:avLst/>
          </a:prstGeom>
          <a:solidFill>
            <a:srgbClr val="FEE2E2"/>
          </a:solidFill>
          <a:ln w="12700">
            <a:solidFill>
              <a:srgbClr val="B91C1C"/>
            </a:solidFill>
            <a:prstDash val="solid"/>
          </a:ln>
        </p:spPr>
        <p:txBody>
          <a:bodyPr/>
          <a:lstStyle/>
          <a:p>
            <a:endParaRPr lang="en-GB"/>
          </a:p>
        </p:txBody>
      </p:sp>
      <p:sp>
        <p:nvSpPr>
          <p:cNvPr id="35" name="Text 32"/>
          <p:cNvSpPr/>
          <p:nvPr/>
        </p:nvSpPr>
        <p:spPr>
          <a:xfrm>
            <a:off x="7991856" y="1682496"/>
            <a:ext cx="1298448" cy="420624"/>
          </a:xfrm>
          <a:prstGeom prst="rect">
            <a:avLst/>
          </a:prstGeom>
          <a:noFill/>
          <a:ln/>
        </p:spPr>
        <p:txBody>
          <a:bodyPr wrap="square" rtlCol="0" anchor="ctr"/>
          <a:lstStyle/>
          <a:p>
            <a:pPr marL="0" indent="0" algn="ctr">
              <a:buNone/>
            </a:pPr>
            <a:r>
              <a:rPr lang="en-US" sz="850" b="1" dirty="0">
                <a:solidFill>
                  <a:srgbClr val="B91C1C"/>
                </a:solidFill>
                <a:latin typeface="Arial" pitchFamily="34" charset="0"/>
                <a:ea typeface="Arial" pitchFamily="34" charset="-122"/>
                <a:cs typeface="Arial" pitchFamily="34" charset="-120"/>
              </a:rPr>
              <a:t>52 units</a:t>
            </a:r>
            <a:endParaRPr lang="en-US" sz="850" dirty="0"/>
          </a:p>
          <a:p>
            <a:pPr marL="0" indent="0" algn="ctr">
              <a:buNone/>
            </a:pPr>
            <a:r>
              <a:rPr lang="en-US" sz="850" b="1" dirty="0">
                <a:solidFill>
                  <a:srgbClr val="B91C1C"/>
                </a:solidFill>
                <a:latin typeface="Arial" pitchFamily="34" charset="0"/>
                <a:ea typeface="Arial" pitchFamily="34" charset="-122"/>
                <a:cs typeface="Arial" pitchFamily="34" charset="-120"/>
              </a:rPr>
              <a:t>5.2 days wait</a:t>
            </a:r>
            <a:endParaRPr lang="en-US" sz="850" dirty="0"/>
          </a:p>
        </p:txBody>
      </p:sp>
      <p:sp>
        <p:nvSpPr>
          <p:cNvPr id="36" name="Shape 33"/>
          <p:cNvSpPr/>
          <p:nvPr/>
        </p:nvSpPr>
        <p:spPr>
          <a:xfrm>
            <a:off x="9509760" y="1664208"/>
            <a:ext cx="1371600" cy="457200"/>
          </a:xfrm>
          <a:prstGeom prst="rect">
            <a:avLst/>
          </a:prstGeom>
          <a:solidFill>
            <a:srgbClr val="B91C1C"/>
          </a:solidFill>
          <a:ln/>
        </p:spPr>
        <p:txBody>
          <a:bodyPr/>
          <a:lstStyle/>
          <a:p>
            <a:endParaRPr lang="en-GB"/>
          </a:p>
        </p:txBody>
      </p:sp>
      <p:sp>
        <p:nvSpPr>
          <p:cNvPr id="37" name="Text 34"/>
          <p:cNvSpPr/>
          <p:nvPr/>
        </p:nvSpPr>
        <p:spPr>
          <a:xfrm>
            <a:off x="9546336" y="1682496"/>
            <a:ext cx="1298448" cy="420624"/>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CMM</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INSPECT</a:t>
            </a:r>
            <a:endParaRPr lang="en-US" sz="900" dirty="0"/>
          </a:p>
        </p:txBody>
      </p:sp>
      <p:sp>
        <p:nvSpPr>
          <p:cNvPr id="38" name="Shape 35"/>
          <p:cNvSpPr/>
          <p:nvPr/>
        </p:nvSpPr>
        <p:spPr>
          <a:xfrm>
            <a:off x="6126480" y="2304288"/>
            <a:ext cx="5669280" cy="256032"/>
          </a:xfrm>
          <a:prstGeom prst="rect">
            <a:avLst/>
          </a:prstGeom>
          <a:solidFill>
            <a:srgbClr val="217346"/>
          </a:solidFill>
          <a:ln/>
        </p:spPr>
        <p:txBody>
          <a:bodyPr/>
          <a:lstStyle/>
          <a:p>
            <a:endParaRPr lang="en-GB"/>
          </a:p>
        </p:txBody>
      </p:sp>
      <p:sp>
        <p:nvSpPr>
          <p:cNvPr id="39" name="Text 36"/>
          <p:cNvSpPr/>
          <p:nvPr/>
        </p:nvSpPr>
        <p:spPr>
          <a:xfrm>
            <a:off x="6217920" y="2322576"/>
            <a:ext cx="5486400" cy="219456"/>
          </a:xfrm>
          <a:prstGeom prst="rect">
            <a:avLst/>
          </a:prstGeom>
          <a:noFill/>
          <a:ln/>
        </p:spPr>
        <p:txBody>
          <a:bodyPr wrap="square" rtlCol="0" anchor="ctr"/>
          <a:lstStyle/>
          <a:p>
            <a:pPr marL="0" indent="0">
              <a:buNone/>
            </a:pPr>
            <a:r>
              <a:rPr lang="en-US" sz="850" b="1" dirty="0">
                <a:solidFill>
                  <a:srgbClr val="FFFFFF"/>
                </a:solidFill>
                <a:latin typeface="Arial" pitchFamily="34" charset="0"/>
                <a:ea typeface="Arial" pitchFamily="34" charset="-122"/>
                <a:cs typeface="Arial" pitchFamily="34" charset="-120"/>
              </a:rPr>
              <a:t>AFTER: Combined step, inline first-off inspection eliminates the queue</a:t>
            </a:r>
            <a:endParaRPr lang="en-US" sz="850" dirty="0"/>
          </a:p>
        </p:txBody>
      </p:sp>
      <p:sp>
        <p:nvSpPr>
          <p:cNvPr id="40" name="Shape 37"/>
          <p:cNvSpPr/>
          <p:nvPr/>
        </p:nvSpPr>
        <p:spPr>
          <a:xfrm>
            <a:off x="7406640" y="2633472"/>
            <a:ext cx="3200400" cy="512064"/>
          </a:xfrm>
          <a:prstGeom prst="rect">
            <a:avLst/>
          </a:prstGeom>
          <a:solidFill>
            <a:srgbClr val="217346"/>
          </a:solidFill>
          <a:ln/>
        </p:spPr>
        <p:txBody>
          <a:bodyPr/>
          <a:lstStyle/>
          <a:p>
            <a:endParaRPr lang="en-GB"/>
          </a:p>
        </p:txBody>
      </p:sp>
      <p:sp>
        <p:nvSpPr>
          <p:cNvPr id="41" name="Text 38"/>
          <p:cNvSpPr/>
          <p:nvPr/>
        </p:nvSpPr>
        <p:spPr>
          <a:xfrm>
            <a:off x="7443216" y="2651760"/>
            <a:ext cx="3127248" cy="475488"/>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DEBURR + INLINE INSPECTION</a:t>
            </a:r>
            <a:endParaRPr lang="en-US" sz="900" dirty="0"/>
          </a:p>
          <a:p>
            <a:pPr marL="0" indent="0" algn="ctr">
              <a:buNone/>
            </a:pPr>
            <a:r>
              <a:rPr lang="en-US" sz="900" b="1" dirty="0">
                <a:solidFill>
                  <a:srgbClr val="FFFFFF"/>
                </a:solidFill>
                <a:latin typeface="Arial" pitchFamily="34" charset="0"/>
                <a:ea typeface="Arial" pitchFamily="34" charset="-122"/>
                <a:cs typeface="Arial" pitchFamily="34" charset="-120"/>
              </a:rPr>
              <a:t>CT: 28 min  |  1 operator  |  First-off check at source</a:t>
            </a:r>
            <a:endParaRPr lang="en-US" sz="900" dirty="0"/>
          </a:p>
        </p:txBody>
      </p:sp>
      <p:sp>
        <p:nvSpPr>
          <p:cNvPr id="42" name="Text 39"/>
          <p:cNvSpPr/>
          <p:nvPr/>
        </p:nvSpPr>
        <p:spPr>
          <a:xfrm>
            <a:off x="6172200" y="3218688"/>
            <a:ext cx="5577840" cy="237744"/>
          </a:xfrm>
          <a:prstGeom prst="rect">
            <a:avLst/>
          </a:prstGeom>
          <a:noFill/>
          <a:ln/>
        </p:spPr>
        <p:txBody>
          <a:bodyPr wrap="square" rtlCol="0" anchor="ctr"/>
          <a:lstStyle/>
          <a:p>
            <a:pPr marL="0" indent="0" algn="ctr">
              <a:buNone/>
            </a:pPr>
            <a:r>
              <a:rPr lang="en-US" sz="850" b="1" dirty="0">
                <a:solidFill>
                  <a:srgbClr val="217346"/>
                </a:solidFill>
                <a:latin typeface="Arial" pitchFamily="34" charset="0"/>
                <a:ea typeface="Arial" pitchFamily="34" charset="-122"/>
                <a:cs typeface="Arial" pitchFamily="34" charset="-120"/>
              </a:rPr>
              <a:t>Result: queue eliminated  |  lead time -5.2 days  |  same staffing</a:t>
            </a:r>
            <a:endParaRPr lang="en-US" sz="850" dirty="0"/>
          </a:p>
        </p:txBody>
      </p:sp>
      <p:sp>
        <p:nvSpPr>
          <p:cNvPr id="43" name="Shape 40"/>
          <p:cNvSpPr/>
          <p:nvPr/>
        </p:nvSpPr>
        <p:spPr>
          <a:xfrm>
            <a:off x="6126480" y="3529584"/>
            <a:ext cx="5669280" cy="274320"/>
          </a:xfrm>
          <a:prstGeom prst="rect">
            <a:avLst/>
          </a:prstGeom>
          <a:solidFill>
            <a:srgbClr val="1E3A5F"/>
          </a:solidFill>
          <a:ln/>
        </p:spPr>
        <p:txBody>
          <a:bodyPr/>
          <a:lstStyle/>
          <a:p>
            <a:endParaRPr lang="en-GB"/>
          </a:p>
        </p:txBody>
      </p:sp>
      <p:sp>
        <p:nvSpPr>
          <p:cNvPr id="44" name="Text 41"/>
          <p:cNvSpPr/>
          <p:nvPr/>
        </p:nvSpPr>
        <p:spPr>
          <a:xfrm>
            <a:off x="6217920" y="3547872"/>
            <a:ext cx="548640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TAKT TIME RE-CHECK: DOES THE FUTURE STATE MEET DEMAND?</a:t>
            </a:r>
            <a:endParaRPr lang="en-US" sz="900" dirty="0"/>
          </a:p>
        </p:txBody>
      </p:sp>
      <p:sp>
        <p:nvSpPr>
          <p:cNvPr id="45" name="Text 42"/>
          <p:cNvSpPr/>
          <p:nvPr/>
        </p:nvSpPr>
        <p:spPr>
          <a:xfrm>
            <a:off x="6217920" y="3858768"/>
            <a:ext cx="5486400" cy="768096"/>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Takt time = 37.5 minutes per unit. With SMED reducing Cell 1 changeover to 14 minutes, Cell 1 cycle time of 42 minutes can be met on two machines (21 min effective CT per unit). The new combined Deburr + Inline Inspection step takes 28 minutes, below Takt. CMM inspection moves to FAI and periodic audit only, no longer on the critical path.</a:t>
            </a:r>
            <a:endParaRPr lang="en-US" sz="950" dirty="0"/>
          </a:p>
        </p:txBody>
      </p:sp>
      <p:sp>
        <p:nvSpPr>
          <p:cNvPr id="46" name="Shape 43"/>
          <p:cNvSpPr/>
          <p:nvPr/>
        </p:nvSpPr>
        <p:spPr>
          <a:xfrm>
            <a:off x="6126480" y="4681728"/>
            <a:ext cx="5669280" cy="1499616"/>
          </a:xfrm>
          <a:prstGeom prst="rect">
            <a:avLst/>
          </a:prstGeom>
          <a:solidFill>
            <a:srgbClr val="F3EAF4"/>
          </a:solidFill>
          <a:ln w="10160">
            <a:solidFill>
              <a:srgbClr val="83348F"/>
            </a:solidFill>
            <a:prstDash val="solid"/>
          </a:ln>
        </p:spPr>
        <p:txBody>
          <a:bodyPr/>
          <a:lstStyle/>
          <a:p>
            <a:endParaRPr lang="en-GB"/>
          </a:p>
        </p:txBody>
      </p:sp>
      <p:sp>
        <p:nvSpPr>
          <p:cNvPr id="47" name="Shape 44"/>
          <p:cNvSpPr/>
          <p:nvPr/>
        </p:nvSpPr>
        <p:spPr>
          <a:xfrm>
            <a:off x="6126480" y="4681728"/>
            <a:ext cx="5669280" cy="274320"/>
          </a:xfrm>
          <a:prstGeom prst="rect">
            <a:avLst/>
          </a:prstGeom>
          <a:solidFill>
            <a:srgbClr val="83348F"/>
          </a:solidFill>
          <a:ln/>
        </p:spPr>
        <p:txBody>
          <a:bodyPr/>
          <a:lstStyle/>
          <a:p>
            <a:endParaRPr lang="en-GB"/>
          </a:p>
        </p:txBody>
      </p:sp>
      <p:sp>
        <p:nvSpPr>
          <p:cNvPr id="48" name="Text 45"/>
          <p:cNvSpPr/>
          <p:nvPr/>
        </p:nvSpPr>
        <p:spPr>
          <a:xfrm>
            <a:off x="6217920" y="4700016"/>
            <a:ext cx="5486400" cy="237744"/>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NUCLEAR CONTEXT: INSPECTION IN THE FUTURE STATE</a:t>
            </a:r>
            <a:endParaRPr lang="en-US" sz="950" dirty="0"/>
          </a:p>
        </p:txBody>
      </p:sp>
      <p:sp>
        <p:nvSpPr>
          <p:cNvPr id="49" name="Text 46"/>
          <p:cNvSpPr/>
          <p:nvPr/>
        </p:nvSpPr>
        <p:spPr>
          <a:xfrm>
            <a:off x="6217920" y="5010912"/>
            <a:ext cx="5486400" cy="1115568"/>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Moving to inline inspection does not eliminate the rigour of nuclear inspection. It relocates it to the most effective point. Nuclear customers want Right First Time at source, not batch re-inspection at the end of the line. Inline first-off inspection, with results documented on the job traveller, actually provides better traceability and earlier problem detection than a centralised CMM queue. Discuss this approach with your Supply Chain Consultant before implementation.</a:t>
            </a:r>
            <a:endParaRPr lang="en-US" sz="950" dirty="0"/>
          </a:p>
        </p:txBody>
      </p:sp>
      <p:sp>
        <p:nvSpPr>
          <p:cNvPr id="50" name="Rectangle 49"/>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5"/>
          <a:stretch>
            <a:fillRect/>
          </a:stretch>
        </p:blipFill>
        <p:spPr>
          <a:xfrm>
            <a:off x="10610088" y="100584"/>
            <a:ext cx="566928" cy="347472"/>
          </a:xfrm>
          <a:prstGeom prst="rect">
            <a:avLst/>
          </a:prstGeom>
        </p:spPr>
      </p:pic>
      <p:pic>
        <p:nvPicPr>
          <p:cNvPr id="52" name="Picture 51" descr="image.png"/>
          <p:cNvPicPr>
            <a:picLocks noChangeAspect="1"/>
          </p:cNvPicPr>
          <p:nvPr/>
        </p:nvPicPr>
        <p:blipFill>
          <a:blip r:embed="rId4"/>
          <a:stretch>
            <a:fillRect/>
          </a:stretch>
        </p:blipFill>
        <p:spPr>
          <a:xfrm>
            <a:off x="11222736" y="100584"/>
            <a:ext cx="658368" cy="347472"/>
          </a:xfrm>
          <a:prstGeom prst="rect">
            <a:avLst/>
          </a:prstGeom>
        </p:spPr>
      </p:pic>
      <p:sp>
        <p:nvSpPr>
          <p:cNvPr id="53" name="Rectangle 52"/>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2. Create the Future State Value Stream Map</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Steps 11 &amp; 12: Control System and Future State Metrics</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9" name="Shape 6"/>
          <p:cNvSpPr/>
          <p:nvPr/>
        </p:nvSpPr>
        <p:spPr>
          <a:xfrm>
            <a:off x="228600" y="987552"/>
            <a:ext cx="5577840" cy="274320"/>
          </a:xfrm>
          <a:prstGeom prst="rect">
            <a:avLst/>
          </a:prstGeom>
          <a:solidFill>
            <a:srgbClr val="009FE3"/>
          </a:solidFill>
          <a:ln/>
        </p:spPr>
        <p:txBody>
          <a:bodyPr/>
          <a:lstStyle/>
          <a:p>
            <a:endParaRPr lang="en-GB"/>
          </a:p>
        </p:txBody>
      </p:sp>
      <p:sp>
        <p:nvSpPr>
          <p:cNvPr id="10" name="Text 7"/>
          <p:cNvSpPr/>
          <p:nvPr/>
        </p:nvSpPr>
        <p:spPr>
          <a:xfrm>
            <a:off x="320040" y="1005840"/>
            <a:ext cx="5394960"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STEP 11: DEFINE THE CONTROL SYSTEM</a:t>
            </a:r>
            <a:endParaRPr lang="en-US" sz="1000" dirty="0"/>
          </a:p>
        </p:txBody>
      </p:sp>
      <p:sp>
        <p:nvSpPr>
          <p:cNvPr id="11" name="Shape 8"/>
          <p:cNvSpPr/>
          <p:nvPr/>
        </p:nvSpPr>
        <p:spPr>
          <a:xfrm>
            <a:off x="228600" y="1316736"/>
            <a:ext cx="5577840" cy="877824"/>
          </a:xfrm>
          <a:prstGeom prst="rect">
            <a:avLst/>
          </a:prstGeom>
          <a:solidFill>
            <a:srgbClr val="E0F4FD"/>
          </a:solidFill>
          <a:ln w="6350">
            <a:solidFill>
              <a:srgbClr val="009FE3"/>
            </a:solidFill>
            <a:prstDash val="solid"/>
          </a:ln>
        </p:spPr>
        <p:txBody>
          <a:bodyPr/>
          <a:lstStyle/>
          <a:p>
            <a:endParaRPr lang="en-GB"/>
          </a:p>
        </p:txBody>
      </p:sp>
      <p:sp>
        <p:nvSpPr>
          <p:cNvPr id="12" name="Text 9"/>
          <p:cNvSpPr/>
          <p:nvPr/>
        </p:nvSpPr>
        <p:spPr>
          <a:xfrm>
            <a:off x="320040" y="1353312"/>
            <a:ext cx="5394960" cy="219456"/>
          </a:xfrm>
          <a:prstGeom prst="rect">
            <a:avLst/>
          </a:prstGeom>
          <a:noFill/>
          <a:ln/>
        </p:spPr>
        <p:txBody>
          <a:bodyPr wrap="square" rtlCol="0" anchor="ctr"/>
          <a:lstStyle/>
          <a:p>
            <a:pPr marL="0" indent="0">
              <a:buNone/>
            </a:pPr>
            <a:r>
              <a:rPr lang="en-US" sz="1100" b="1" dirty="0">
                <a:solidFill>
                  <a:srgbClr val="009FE3"/>
                </a:solidFill>
                <a:latin typeface="Arial" pitchFamily="34" charset="0"/>
                <a:ea typeface="Arial" pitchFamily="34" charset="-122"/>
                <a:cs typeface="Arial" pitchFamily="34" charset="-120"/>
              </a:rPr>
              <a:t>Kanban</a:t>
            </a:r>
            <a:endParaRPr lang="en-US" sz="1100" dirty="0"/>
          </a:p>
        </p:txBody>
      </p:sp>
      <p:sp>
        <p:nvSpPr>
          <p:cNvPr id="13" name="Text 10"/>
          <p:cNvSpPr/>
          <p:nvPr/>
        </p:nvSpPr>
        <p:spPr>
          <a:xfrm>
            <a:off x="320040" y="1591056"/>
            <a:ext cx="5303520" cy="548640"/>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A physical or electronic card that authorises production of a specific quantity. When the downstream step consumes a kanban quantity, a card is returned to the upstream step authorising replenishment. Simple and effective.</a:t>
            </a:r>
            <a:endParaRPr lang="en-US" sz="1000" dirty="0"/>
          </a:p>
        </p:txBody>
      </p:sp>
      <p:sp>
        <p:nvSpPr>
          <p:cNvPr id="14" name="Shape 11"/>
          <p:cNvSpPr/>
          <p:nvPr/>
        </p:nvSpPr>
        <p:spPr>
          <a:xfrm>
            <a:off x="228600" y="2267712"/>
            <a:ext cx="5577840" cy="877824"/>
          </a:xfrm>
          <a:prstGeom prst="rect">
            <a:avLst/>
          </a:prstGeom>
          <a:solidFill>
            <a:srgbClr val="EAF4EE"/>
          </a:solidFill>
          <a:ln w="6350">
            <a:solidFill>
              <a:srgbClr val="217346"/>
            </a:solidFill>
            <a:prstDash val="solid"/>
          </a:ln>
        </p:spPr>
        <p:txBody>
          <a:bodyPr/>
          <a:lstStyle/>
          <a:p>
            <a:endParaRPr lang="en-GB"/>
          </a:p>
        </p:txBody>
      </p:sp>
      <p:sp>
        <p:nvSpPr>
          <p:cNvPr id="15" name="Text 12"/>
          <p:cNvSpPr/>
          <p:nvPr/>
        </p:nvSpPr>
        <p:spPr>
          <a:xfrm>
            <a:off x="320040" y="2304288"/>
            <a:ext cx="5394960" cy="219456"/>
          </a:xfrm>
          <a:prstGeom prst="rect">
            <a:avLst/>
          </a:prstGeom>
          <a:noFill/>
          <a:ln/>
        </p:spPr>
        <p:txBody>
          <a:bodyPr wrap="square" rtlCol="0" anchor="ctr"/>
          <a:lstStyle/>
          <a:p>
            <a:pPr marL="0" indent="0">
              <a:buNone/>
            </a:pPr>
            <a:r>
              <a:rPr lang="en-US" sz="1100" b="1" dirty="0">
                <a:solidFill>
                  <a:srgbClr val="217346"/>
                </a:solidFill>
                <a:latin typeface="Arial" pitchFamily="34" charset="0"/>
                <a:ea typeface="Arial" pitchFamily="34" charset="-122"/>
                <a:cs typeface="Arial" pitchFamily="34" charset="-120"/>
              </a:rPr>
              <a:t>FIFO lane</a:t>
            </a:r>
            <a:endParaRPr lang="en-US" sz="1100" dirty="0"/>
          </a:p>
        </p:txBody>
      </p:sp>
      <p:sp>
        <p:nvSpPr>
          <p:cNvPr id="16" name="Text 13"/>
          <p:cNvSpPr/>
          <p:nvPr/>
        </p:nvSpPr>
        <p:spPr>
          <a:xfrm>
            <a:off x="320040" y="2542032"/>
            <a:ext cx="5303520" cy="548640"/>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A controlled buffer between two steps where material is consumed in the order it arrives. When the lane is full, the upstream step stops. When the lane has space, the upstream step starts.</a:t>
            </a:r>
            <a:endParaRPr lang="en-US" sz="1000" dirty="0"/>
          </a:p>
        </p:txBody>
      </p:sp>
      <p:sp>
        <p:nvSpPr>
          <p:cNvPr id="17" name="Shape 14"/>
          <p:cNvSpPr/>
          <p:nvPr/>
        </p:nvSpPr>
        <p:spPr>
          <a:xfrm>
            <a:off x="228600" y="3218688"/>
            <a:ext cx="5577840" cy="877824"/>
          </a:xfrm>
          <a:prstGeom prst="rect">
            <a:avLst/>
          </a:prstGeom>
          <a:solidFill>
            <a:srgbClr val="E0F4FD"/>
          </a:solidFill>
          <a:ln w="6350">
            <a:solidFill>
              <a:srgbClr val="009FE3"/>
            </a:solidFill>
            <a:prstDash val="solid"/>
          </a:ln>
        </p:spPr>
        <p:txBody>
          <a:bodyPr/>
          <a:lstStyle/>
          <a:p>
            <a:endParaRPr lang="en-GB"/>
          </a:p>
        </p:txBody>
      </p:sp>
      <p:sp>
        <p:nvSpPr>
          <p:cNvPr id="18" name="Text 15"/>
          <p:cNvSpPr/>
          <p:nvPr/>
        </p:nvSpPr>
        <p:spPr>
          <a:xfrm>
            <a:off x="320040" y="3255264"/>
            <a:ext cx="5394960" cy="219456"/>
          </a:xfrm>
          <a:prstGeom prst="rect">
            <a:avLst/>
          </a:prstGeom>
          <a:noFill/>
          <a:ln/>
        </p:spPr>
        <p:txBody>
          <a:bodyPr wrap="square" rtlCol="0" anchor="ctr"/>
          <a:lstStyle/>
          <a:p>
            <a:pPr marL="0" indent="0">
              <a:buNone/>
            </a:pPr>
            <a:r>
              <a:rPr lang="en-US" sz="1100" b="1" dirty="0">
                <a:solidFill>
                  <a:srgbClr val="009FE3"/>
                </a:solidFill>
                <a:latin typeface="Arial" pitchFamily="34" charset="0"/>
                <a:ea typeface="Arial" pitchFamily="34" charset="-122"/>
                <a:cs typeface="Arial" pitchFamily="34" charset="-120"/>
              </a:rPr>
              <a:t>Supermarket pull</a:t>
            </a:r>
            <a:endParaRPr lang="en-US" sz="1100" dirty="0"/>
          </a:p>
        </p:txBody>
      </p:sp>
      <p:sp>
        <p:nvSpPr>
          <p:cNvPr id="19" name="Text 16"/>
          <p:cNvSpPr/>
          <p:nvPr/>
        </p:nvSpPr>
        <p:spPr>
          <a:xfrm>
            <a:off x="320040" y="3493008"/>
            <a:ext cx="5303520" cy="548640"/>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A small, controlled stock of finished or semi-finished items that the downstream step pulls from as needed. Replenishment of the supermarket is triggered by consumption.</a:t>
            </a:r>
            <a:endParaRPr lang="en-US" sz="1000" dirty="0"/>
          </a:p>
        </p:txBody>
      </p:sp>
      <p:sp>
        <p:nvSpPr>
          <p:cNvPr id="20" name="Shape 17"/>
          <p:cNvSpPr/>
          <p:nvPr/>
        </p:nvSpPr>
        <p:spPr>
          <a:xfrm>
            <a:off x="228600" y="4206240"/>
            <a:ext cx="5577840" cy="274320"/>
          </a:xfrm>
          <a:prstGeom prst="rect">
            <a:avLst/>
          </a:prstGeom>
          <a:solidFill>
            <a:srgbClr val="1E3A5F"/>
          </a:solidFill>
          <a:ln/>
        </p:spPr>
        <p:txBody>
          <a:bodyPr/>
          <a:lstStyle/>
          <a:p>
            <a:endParaRPr lang="en-GB"/>
          </a:p>
        </p:txBody>
      </p:sp>
      <p:sp>
        <p:nvSpPr>
          <p:cNvPr id="21" name="Text 18"/>
          <p:cNvSpPr/>
          <p:nvPr/>
        </p:nvSpPr>
        <p:spPr>
          <a:xfrm>
            <a:off x="320040" y="4224528"/>
            <a:ext cx="5394960"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STEP 12: CALCULATE FUTURE STATE METRICS</a:t>
            </a:r>
            <a:endParaRPr lang="en-US" sz="1000" dirty="0"/>
          </a:p>
        </p:txBody>
      </p:sp>
      <p:sp>
        <p:nvSpPr>
          <p:cNvPr id="22" name="Text 19"/>
          <p:cNvSpPr/>
          <p:nvPr/>
        </p:nvSpPr>
        <p:spPr>
          <a:xfrm>
            <a:off x="274320" y="4535424"/>
            <a:ext cx="5577840" cy="457200"/>
          </a:xfrm>
          <a:prstGeom prst="rect">
            <a:avLst/>
          </a:prstGeom>
          <a:noFill/>
          <a:ln/>
        </p:spPr>
        <p:txBody>
          <a:bodyPr wrap="square" rtlCol="0" anchor="ctr"/>
          <a:lstStyle/>
          <a:p>
            <a:pPr marL="0" indent="0">
              <a:buNone/>
            </a:pPr>
            <a:r>
              <a:rPr lang="en-US" sz="1050" dirty="0">
                <a:solidFill>
                  <a:srgbClr val="5B595A"/>
                </a:solidFill>
                <a:latin typeface="Arial" pitchFamily="34" charset="0"/>
                <a:ea typeface="Arial" pitchFamily="34" charset="-122"/>
                <a:cs typeface="Arial" pitchFamily="34" charset="-120"/>
              </a:rPr>
              <a:t>Using the same method as the current state timeline, calculate the projected lead time and process efficiency for the future state. These figures become the targets that the improvement programme is measured against.</a:t>
            </a:r>
            <a:endParaRPr lang="en-US" sz="1050" dirty="0"/>
          </a:p>
        </p:txBody>
      </p:sp>
      <p:sp>
        <p:nvSpPr>
          <p:cNvPr id="23" name="Shape 20"/>
          <p:cNvSpPr/>
          <p:nvPr/>
        </p:nvSpPr>
        <p:spPr>
          <a:xfrm>
            <a:off x="228600" y="5047488"/>
            <a:ext cx="1719072" cy="237744"/>
          </a:xfrm>
          <a:prstGeom prst="rect">
            <a:avLst/>
          </a:prstGeom>
          <a:solidFill>
            <a:srgbClr val="5B595A"/>
          </a:solidFill>
          <a:ln w="3810">
            <a:solidFill>
              <a:srgbClr val="CCCCCC"/>
            </a:solidFill>
            <a:prstDash val="solid"/>
          </a:ln>
        </p:spPr>
        <p:txBody>
          <a:bodyPr/>
          <a:lstStyle/>
          <a:p>
            <a:endParaRPr lang="en-GB"/>
          </a:p>
        </p:txBody>
      </p:sp>
      <p:sp>
        <p:nvSpPr>
          <p:cNvPr id="24" name="Text 21"/>
          <p:cNvSpPr/>
          <p:nvPr/>
        </p:nvSpPr>
        <p:spPr>
          <a:xfrm>
            <a:off x="274320" y="5047488"/>
            <a:ext cx="1627632" cy="237744"/>
          </a:xfrm>
          <a:prstGeom prst="rect">
            <a:avLst/>
          </a:prstGeom>
          <a:noFill/>
          <a:ln/>
        </p:spPr>
        <p:txBody>
          <a:bodyPr wrap="square" rtlCol="0" anchor="ctr"/>
          <a:lstStyle/>
          <a:p>
            <a:pPr marL="0" indent="0" algn="l">
              <a:buNone/>
            </a:pPr>
            <a:r>
              <a:rPr lang="en-US" sz="850" b="1" dirty="0">
                <a:solidFill>
                  <a:srgbClr val="FFFFFF"/>
                </a:solidFill>
                <a:latin typeface="Arial" pitchFamily="34" charset="0"/>
                <a:ea typeface="Arial" pitchFamily="34" charset="-122"/>
                <a:cs typeface="Arial" pitchFamily="34" charset="-120"/>
              </a:rPr>
              <a:t>Metric</a:t>
            </a:r>
            <a:endParaRPr lang="en-US" sz="850" dirty="0"/>
          </a:p>
        </p:txBody>
      </p:sp>
      <p:sp>
        <p:nvSpPr>
          <p:cNvPr id="25" name="Shape 22"/>
          <p:cNvSpPr/>
          <p:nvPr/>
        </p:nvSpPr>
        <p:spPr>
          <a:xfrm>
            <a:off x="1965960" y="5047488"/>
            <a:ext cx="1627632" cy="237744"/>
          </a:xfrm>
          <a:prstGeom prst="rect">
            <a:avLst/>
          </a:prstGeom>
          <a:solidFill>
            <a:srgbClr val="5B595A"/>
          </a:solidFill>
          <a:ln w="3810">
            <a:solidFill>
              <a:srgbClr val="CCCCCC"/>
            </a:solidFill>
            <a:prstDash val="solid"/>
          </a:ln>
        </p:spPr>
        <p:txBody>
          <a:bodyPr/>
          <a:lstStyle/>
          <a:p>
            <a:endParaRPr lang="en-GB"/>
          </a:p>
        </p:txBody>
      </p:sp>
      <p:sp>
        <p:nvSpPr>
          <p:cNvPr id="26" name="Text 23"/>
          <p:cNvSpPr/>
          <p:nvPr/>
        </p:nvSpPr>
        <p:spPr>
          <a:xfrm>
            <a:off x="2011680" y="5047488"/>
            <a:ext cx="1536192" cy="237744"/>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Current State</a:t>
            </a:r>
            <a:endParaRPr lang="en-US" sz="850" dirty="0"/>
          </a:p>
        </p:txBody>
      </p:sp>
      <p:sp>
        <p:nvSpPr>
          <p:cNvPr id="27" name="Shape 24"/>
          <p:cNvSpPr/>
          <p:nvPr/>
        </p:nvSpPr>
        <p:spPr>
          <a:xfrm>
            <a:off x="3611880" y="5047488"/>
            <a:ext cx="1261872" cy="237744"/>
          </a:xfrm>
          <a:prstGeom prst="rect">
            <a:avLst/>
          </a:prstGeom>
          <a:solidFill>
            <a:srgbClr val="5B595A"/>
          </a:solidFill>
          <a:ln w="3810">
            <a:solidFill>
              <a:srgbClr val="CCCCCC"/>
            </a:solidFill>
            <a:prstDash val="solid"/>
          </a:ln>
        </p:spPr>
        <p:txBody>
          <a:bodyPr/>
          <a:lstStyle/>
          <a:p>
            <a:endParaRPr lang="en-GB"/>
          </a:p>
        </p:txBody>
      </p:sp>
      <p:sp>
        <p:nvSpPr>
          <p:cNvPr id="28" name="Text 25"/>
          <p:cNvSpPr/>
          <p:nvPr/>
        </p:nvSpPr>
        <p:spPr>
          <a:xfrm>
            <a:off x="3657600" y="5047488"/>
            <a:ext cx="1170432" cy="237744"/>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Future State Target</a:t>
            </a:r>
            <a:endParaRPr lang="en-US" sz="850" dirty="0"/>
          </a:p>
        </p:txBody>
      </p:sp>
      <p:sp>
        <p:nvSpPr>
          <p:cNvPr id="29" name="Shape 26"/>
          <p:cNvSpPr/>
          <p:nvPr/>
        </p:nvSpPr>
        <p:spPr>
          <a:xfrm>
            <a:off x="4892040" y="5047488"/>
            <a:ext cx="1097280" cy="237744"/>
          </a:xfrm>
          <a:prstGeom prst="rect">
            <a:avLst/>
          </a:prstGeom>
          <a:solidFill>
            <a:srgbClr val="5B595A"/>
          </a:solidFill>
          <a:ln w="3810">
            <a:solidFill>
              <a:srgbClr val="CCCCCC"/>
            </a:solidFill>
            <a:prstDash val="solid"/>
          </a:ln>
        </p:spPr>
        <p:txBody>
          <a:bodyPr/>
          <a:lstStyle/>
          <a:p>
            <a:endParaRPr lang="en-GB"/>
          </a:p>
        </p:txBody>
      </p:sp>
      <p:sp>
        <p:nvSpPr>
          <p:cNvPr id="30" name="Text 27"/>
          <p:cNvSpPr/>
          <p:nvPr/>
        </p:nvSpPr>
        <p:spPr>
          <a:xfrm>
            <a:off x="4937760" y="5047488"/>
            <a:ext cx="1005840" cy="237744"/>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Change</a:t>
            </a:r>
            <a:endParaRPr lang="en-US" sz="850" dirty="0"/>
          </a:p>
        </p:txBody>
      </p:sp>
      <p:sp>
        <p:nvSpPr>
          <p:cNvPr id="31" name="Shape 28"/>
          <p:cNvSpPr/>
          <p:nvPr/>
        </p:nvSpPr>
        <p:spPr>
          <a:xfrm>
            <a:off x="228600" y="5303520"/>
            <a:ext cx="1719072" cy="256032"/>
          </a:xfrm>
          <a:prstGeom prst="rect">
            <a:avLst/>
          </a:prstGeom>
          <a:solidFill>
            <a:srgbClr val="FFFFFF"/>
          </a:solidFill>
          <a:ln w="2540">
            <a:solidFill>
              <a:srgbClr val="DDDDDD"/>
            </a:solidFill>
            <a:prstDash val="solid"/>
          </a:ln>
        </p:spPr>
        <p:txBody>
          <a:bodyPr/>
          <a:lstStyle/>
          <a:p>
            <a:endParaRPr lang="en-GB"/>
          </a:p>
        </p:txBody>
      </p:sp>
      <p:sp>
        <p:nvSpPr>
          <p:cNvPr id="32" name="Text 29"/>
          <p:cNvSpPr/>
          <p:nvPr/>
        </p:nvSpPr>
        <p:spPr>
          <a:xfrm>
            <a:off x="274320" y="5303520"/>
            <a:ext cx="1627632" cy="256032"/>
          </a:xfrm>
          <a:prstGeom prst="rect">
            <a:avLst/>
          </a:prstGeom>
          <a:noFill/>
          <a:ln/>
        </p:spPr>
        <p:txBody>
          <a:bodyPr wrap="square" rtlCol="0" anchor="ctr"/>
          <a:lstStyle/>
          <a:p>
            <a:pPr marL="0" indent="0" algn="l">
              <a:buNone/>
            </a:pPr>
            <a:r>
              <a:rPr lang="en-US" sz="900" dirty="0">
                <a:solidFill>
                  <a:srgbClr val="5B595A"/>
                </a:solidFill>
                <a:latin typeface="Arial" pitchFamily="34" charset="0"/>
                <a:ea typeface="Arial" pitchFamily="34" charset="-122"/>
                <a:cs typeface="Arial" pitchFamily="34" charset="-120"/>
              </a:rPr>
              <a:t>Total WIP</a:t>
            </a:r>
            <a:endParaRPr lang="en-US" sz="900" dirty="0"/>
          </a:p>
        </p:txBody>
      </p:sp>
      <p:sp>
        <p:nvSpPr>
          <p:cNvPr id="33" name="Shape 30"/>
          <p:cNvSpPr/>
          <p:nvPr/>
        </p:nvSpPr>
        <p:spPr>
          <a:xfrm>
            <a:off x="1965960" y="5303520"/>
            <a:ext cx="1627632" cy="256032"/>
          </a:xfrm>
          <a:prstGeom prst="rect">
            <a:avLst/>
          </a:prstGeom>
          <a:solidFill>
            <a:srgbClr val="FFFFFF"/>
          </a:solidFill>
          <a:ln w="2540">
            <a:solidFill>
              <a:srgbClr val="DDDDDD"/>
            </a:solidFill>
            <a:prstDash val="solid"/>
          </a:ln>
        </p:spPr>
        <p:txBody>
          <a:bodyPr/>
          <a:lstStyle/>
          <a:p>
            <a:endParaRPr lang="en-GB"/>
          </a:p>
        </p:txBody>
      </p:sp>
      <p:sp>
        <p:nvSpPr>
          <p:cNvPr id="34" name="Text 31"/>
          <p:cNvSpPr/>
          <p:nvPr/>
        </p:nvSpPr>
        <p:spPr>
          <a:xfrm>
            <a:off x="2011680" y="5303520"/>
            <a:ext cx="1536192" cy="256032"/>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192 units</a:t>
            </a:r>
            <a:endParaRPr lang="en-US" sz="900" dirty="0"/>
          </a:p>
        </p:txBody>
      </p:sp>
      <p:sp>
        <p:nvSpPr>
          <p:cNvPr id="35" name="Shape 32"/>
          <p:cNvSpPr/>
          <p:nvPr/>
        </p:nvSpPr>
        <p:spPr>
          <a:xfrm>
            <a:off x="3611880" y="5303520"/>
            <a:ext cx="1261872" cy="256032"/>
          </a:xfrm>
          <a:prstGeom prst="rect">
            <a:avLst/>
          </a:prstGeom>
          <a:solidFill>
            <a:srgbClr val="FFFFFF"/>
          </a:solidFill>
          <a:ln w="2540">
            <a:solidFill>
              <a:srgbClr val="DDDDDD"/>
            </a:solidFill>
            <a:prstDash val="solid"/>
          </a:ln>
        </p:spPr>
        <p:txBody>
          <a:bodyPr/>
          <a:lstStyle/>
          <a:p>
            <a:endParaRPr lang="en-GB"/>
          </a:p>
        </p:txBody>
      </p:sp>
      <p:sp>
        <p:nvSpPr>
          <p:cNvPr id="36" name="Text 33"/>
          <p:cNvSpPr/>
          <p:nvPr/>
        </p:nvSpPr>
        <p:spPr>
          <a:xfrm>
            <a:off x="3657600" y="5303520"/>
            <a:ext cx="1170432" cy="256032"/>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~32 units</a:t>
            </a:r>
            <a:endParaRPr lang="en-US" sz="900" dirty="0"/>
          </a:p>
        </p:txBody>
      </p:sp>
      <p:sp>
        <p:nvSpPr>
          <p:cNvPr id="37" name="Shape 34"/>
          <p:cNvSpPr/>
          <p:nvPr/>
        </p:nvSpPr>
        <p:spPr>
          <a:xfrm>
            <a:off x="4892040" y="5303520"/>
            <a:ext cx="1097280" cy="256032"/>
          </a:xfrm>
          <a:prstGeom prst="rect">
            <a:avLst/>
          </a:prstGeom>
          <a:solidFill>
            <a:srgbClr val="EAF4EE"/>
          </a:solidFill>
          <a:ln w="2540">
            <a:solidFill>
              <a:srgbClr val="DDDDDD"/>
            </a:solidFill>
            <a:prstDash val="solid"/>
          </a:ln>
        </p:spPr>
        <p:txBody>
          <a:bodyPr/>
          <a:lstStyle/>
          <a:p>
            <a:endParaRPr lang="en-GB"/>
          </a:p>
        </p:txBody>
      </p:sp>
      <p:sp>
        <p:nvSpPr>
          <p:cNvPr id="38" name="Text 35"/>
          <p:cNvSpPr/>
          <p:nvPr/>
        </p:nvSpPr>
        <p:spPr>
          <a:xfrm>
            <a:off x="4937760" y="5303520"/>
            <a:ext cx="1005840" cy="256032"/>
          </a:xfrm>
          <a:prstGeom prst="rect">
            <a:avLst/>
          </a:prstGeom>
          <a:noFill/>
          <a:ln/>
        </p:spPr>
        <p:txBody>
          <a:bodyPr wrap="square" rtlCol="0" anchor="ctr"/>
          <a:lstStyle/>
          <a:p>
            <a:pPr marL="0" indent="0" algn="ctr">
              <a:buNone/>
            </a:pPr>
            <a:r>
              <a:rPr lang="en-US" sz="900" b="1" dirty="0">
                <a:solidFill>
                  <a:srgbClr val="217346"/>
                </a:solidFill>
                <a:latin typeface="Arial" pitchFamily="34" charset="0"/>
                <a:ea typeface="Arial" pitchFamily="34" charset="-122"/>
                <a:cs typeface="Arial" pitchFamily="34" charset="-120"/>
              </a:rPr>
              <a:t>-83%</a:t>
            </a:r>
            <a:endParaRPr lang="en-US" sz="900" dirty="0"/>
          </a:p>
        </p:txBody>
      </p:sp>
      <p:sp>
        <p:nvSpPr>
          <p:cNvPr id="39" name="Shape 36"/>
          <p:cNvSpPr/>
          <p:nvPr/>
        </p:nvSpPr>
        <p:spPr>
          <a:xfrm>
            <a:off x="228600" y="5577840"/>
            <a:ext cx="1719072" cy="256032"/>
          </a:xfrm>
          <a:prstGeom prst="rect">
            <a:avLst/>
          </a:prstGeom>
          <a:solidFill>
            <a:srgbClr val="F2F2F2"/>
          </a:solidFill>
          <a:ln w="2540">
            <a:solidFill>
              <a:srgbClr val="DDDDDD"/>
            </a:solidFill>
            <a:prstDash val="solid"/>
          </a:ln>
        </p:spPr>
        <p:txBody>
          <a:bodyPr/>
          <a:lstStyle/>
          <a:p>
            <a:endParaRPr lang="en-GB"/>
          </a:p>
        </p:txBody>
      </p:sp>
      <p:sp>
        <p:nvSpPr>
          <p:cNvPr id="40" name="Text 37"/>
          <p:cNvSpPr/>
          <p:nvPr/>
        </p:nvSpPr>
        <p:spPr>
          <a:xfrm>
            <a:off x="274320" y="5577840"/>
            <a:ext cx="1627632" cy="256032"/>
          </a:xfrm>
          <a:prstGeom prst="rect">
            <a:avLst/>
          </a:prstGeom>
          <a:noFill/>
          <a:ln/>
        </p:spPr>
        <p:txBody>
          <a:bodyPr wrap="square" rtlCol="0" anchor="ctr"/>
          <a:lstStyle/>
          <a:p>
            <a:pPr marL="0" indent="0" algn="l">
              <a:buNone/>
            </a:pPr>
            <a:r>
              <a:rPr lang="en-US" sz="900" dirty="0">
                <a:solidFill>
                  <a:srgbClr val="5B595A"/>
                </a:solidFill>
                <a:latin typeface="Arial" pitchFamily="34" charset="0"/>
                <a:ea typeface="Arial" pitchFamily="34" charset="-122"/>
                <a:cs typeface="Arial" pitchFamily="34" charset="-120"/>
              </a:rPr>
              <a:t>Total lead time</a:t>
            </a:r>
            <a:endParaRPr lang="en-US" sz="900" dirty="0"/>
          </a:p>
        </p:txBody>
      </p:sp>
      <p:sp>
        <p:nvSpPr>
          <p:cNvPr id="41" name="Shape 38"/>
          <p:cNvSpPr/>
          <p:nvPr/>
        </p:nvSpPr>
        <p:spPr>
          <a:xfrm>
            <a:off x="1965960" y="5577840"/>
            <a:ext cx="1627632" cy="256032"/>
          </a:xfrm>
          <a:prstGeom prst="rect">
            <a:avLst/>
          </a:prstGeom>
          <a:solidFill>
            <a:srgbClr val="F2F2F2"/>
          </a:solidFill>
          <a:ln w="2540">
            <a:solidFill>
              <a:srgbClr val="DDDDDD"/>
            </a:solidFill>
            <a:prstDash val="solid"/>
          </a:ln>
        </p:spPr>
        <p:txBody>
          <a:bodyPr/>
          <a:lstStyle/>
          <a:p>
            <a:endParaRPr lang="en-GB"/>
          </a:p>
        </p:txBody>
      </p:sp>
      <p:sp>
        <p:nvSpPr>
          <p:cNvPr id="42" name="Text 39"/>
          <p:cNvSpPr/>
          <p:nvPr/>
        </p:nvSpPr>
        <p:spPr>
          <a:xfrm>
            <a:off x="2011680" y="5577840"/>
            <a:ext cx="1536192" cy="256032"/>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22 days</a:t>
            </a:r>
            <a:endParaRPr lang="en-US" sz="900" dirty="0"/>
          </a:p>
        </p:txBody>
      </p:sp>
      <p:sp>
        <p:nvSpPr>
          <p:cNvPr id="43" name="Shape 40"/>
          <p:cNvSpPr/>
          <p:nvPr/>
        </p:nvSpPr>
        <p:spPr>
          <a:xfrm>
            <a:off x="3611880" y="5577840"/>
            <a:ext cx="1261872" cy="256032"/>
          </a:xfrm>
          <a:prstGeom prst="rect">
            <a:avLst/>
          </a:prstGeom>
          <a:solidFill>
            <a:srgbClr val="F2F2F2"/>
          </a:solidFill>
          <a:ln w="2540">
            <a:solidFill>
              <a:srgbClr val="DDDDDD"/>
            </a:solidFill>
            <a:prstDash val="solid"/>
          </a:ln>
        </p:spPr>
        <p:txBody>
          <a:bodyPr/>
          <a:lstStyle/>
          <a:p>
            <a:endParaRPr lang="en-GB"/>
          </a:p>
        </p:txBody>
      </p:sp>
      <p:sp>
        <p:nvSpPr>
          <p:cNvPr id="44" name="Text 41"/>
          <p:cNvSpPr/>
          <p:nvPr/>
        </p:nvSpPr>
        <p:spPr>
          <a:xfrm>
            <a:off x="3657600" y="5577840"/>
            <a:ext cx="1170432" cy="256032"/>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7 days</a:t>
            </a:r>
            <a:endParaRPr lang="en-US" sz="900" dirty="0"/>
          </a:p>
        </p:txBody>
      </p:sp>
      <p:sp>
        <p:nvSpPr>
          <p:cNvPr id="45" name="Shape 42"/>
          <p:cNvSpPr/>
          <p:nvPr/>
        </p:nvSpPr>
        <p:spPr>
          <a:xfrm>
            <a:off x="4892040" y="5577840"/>
            <a:ext cx="1097280" cy="256032"/>
          </a:xfrm>
          <a:prstGeom prst="rect">
            <a:avLst/>
          </a:prstGeom>
          <a:solidFill>
            <a:srgbClr val="EAF4EE"/>
          </a:solidFill>
          <a:ln w="2540">
            <a:solidFill>
              <a:srgbClr val="DDDDDD"/>
            </a:solidFill>
            <a:prstDash val="solid"/>
          </a:ln>
        </p:spPr>
        <p:txBody>
          <a:bodyPr/>
          <a:lstStyle/>
          <a:p>
            <a:endParaRPr lang="en-GB"/>
          </a:p>
        </p:txBody>
      </p:sp>
      <p:sp>
        <p:nvSpPr>
          <p:cNvPr id="46" name="Text 43"/>
          <p:cNvSpPr/>
          <p:nvPr/>
        </p:nvSpPr>
        <p:spPr>
          <a:xfrm>
            <a:off x="4937760" y="5577840"/>
            <a:ext cx="1005840" cy="256032"/>
          </a:xfrm>
          <a:prstGeom prst="rect">
            <a:avLst/>
          </a:prstGeom>
          <a:noFill/>
          <a:ln/>
        </p:spPr>
        <p:txBody>
          <a:bodyPr wrap="square" rtlCol="0" anchor="ctr"/>
          <a:lstStyle/>
          <a:p>
            <a:pPr marL="0" indent="0" algn="ctr">
              <a:buNone/>
            </a:pPr>
            <a:r>
              <a:rPr lang="en-US" sz="900" b="1" dirty="0">
                <a:solidFill>
                  <a:srgbClr val="217346"/>
                </a:solidFill>
                <a:latin typeface="Arial" pitchFamily="34" charset="0"/>
                <a:ea typeface="Arial" pitchFamily="34" charset="-122"/>
                <a:cs typeface="Arial" pitchFamily="34" charset="-120"/>
              </a:rPr>
              <a:t>-68%</a:t>
            </a:r>
            <a:endParaRPr lang="en-US" sz="900" dirty="0"/>
          </a:p>
        </p:txBody>
      </p:sp>
      <p:sp>
        <p:nvSpPr>
          <p:cNvPr id="47" name="Shape 44"/>
          <p:cNvSpPr/>
          <p:nvPr/>
        </p:nvSpPr>
        <p:spPr>
          <a:xfrm>
            <a:off x="228600" y="5852160"/>
            <a:ext cx="1719072" cy="256032"/>
          </a:xfrm>
          <a:prstGeom prst="rect">
            <a:avLst/>
          </a:prstGeom>
          <a:solidFill>
            <a:srgbClr val="FFFFFF"/>
          </a:solidFill>
          <a:ln w="2540">
            <a:solidFill>
              <a:srgbClr val="DDDDDD"/>
            </a:solidFill>
            <a:prstDash val="solid"/>
          </a:ln>
        </p:spPr>
        <p:txBody>
          <a:bodyPr/>
          <a:lstStyle/>
          <a:p>
            <a:endParaRPr lang="en-GB"/>
          </a:p>
        </p:txBody>
      </p:sp>
      <p:sp>
        <p:nvSpPr>
          <p:cNvPr id="48" name="Text 45"/>
          <p:cNvSpPr/>
          <p:nvPr/>
        </p:nvSpPr>
        <p:spPr>
          <a:xfrm>
            <a:off x="274320" y="5852160"/>
            <a:ext cx="1627632" cy="256032"/>
          </a:xfrm>
          <a:prstGeom prst="rect">
            <a:avLst/>
          </a:prstGeom>
          <a:noFill/>
          <a:ln/>
        </p:spPr>
        <p:txBody>
          <a:bodyPr wrap="square" rtlCol="0" anchor="ctr"/>
          <a:lstStyle/>
          <a:p>
            <a:pPr marL="0" indent="0" algn="l">
              <a:buNone/>
            </a:pPr>
            <a:r>
              <a:rPr lang="en-US" sz="900" dirty="0">
                <a:solidFill>
                  <a:srgbClr val="5B595A"/>
                </a:solidFill>
                <a:latin typeface="Arial" pitchFamily="34" charset="0"/>
                <a:ea typeface="Arial" pitchFamily="34" charset="-122"/>
                <a:cs typeface="Arial" pitchFamily="34" charset="-120"/>
              </a:rPr>
              <a:t>Value-adding time</a:t>
            </a:r>
            <a:endParaRPr lang="en-US" sz="900" dirty="0"/>
          </a:p>
        </p:txBody>
      </p:sp>
      <p:sp>
        <p:nvSpPr>
          <p:cNvPr id="49" name="Shape 46"/>
          <p:cNvSpPr/>
          <p:nvPr/>
        </p:nvSpPr>
        <p:spPr>
          <a:xfrm>
            <a:off x="1965960" y="5852160"/>
            <a:ext cx="1627632" cy="256032"/>
          </a:xfrm>
          <a:prstGeom prst="rect">
            <a:avLst/>
          </a:prstGeom>
          <a:solidFill>
            <a:srgbClr val="FFFFFF"/>
          </a:solidFill>
          <a:ln w="2540">
            <a:solidFill>
              <a:srgbClr val="DDDDDD"/>
            </a:solidFill>
            <a:prstDash val="solid"/>
          </a:ln>
        </p:spPr>
        <p:txBody>
          <a:bodyPr/>
          <a:lstStyle/>
          <a:p>
            <a:endParaRPr lang="en-GB"/>
          </a:p>
        </p:txBody>
      </p:sp>
      <p:sp>
        <p:nvSpPr>
          <p:cNvPr id="50" name="Text 47"/>
          <p:cNvSpPr/>
          <p:nvPr/>
        </p:nvSpPr>
        <p:spPr>
          <a:xfrm>
            <a:off x="2011680" y="5852160"/>
            <a:ext cx="1536192" cy="256032"/>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3.2 hours</a:t>
            </a:r>
            <a:endParaRPr lang="en-US" sz="900" dirty="0"/>
          </a:p>
        </p:txBody>
      </p:sp>
      <p:sp>
        <p:nvSpPr>
          <p:cNvPr id="51" name="Shape 48"/>
          <p:cNvSpPr/>
          <p:nvPr/>
        </p:nvSpPr>
        <p:spPr>
          <a:xfrm>
            <a:off x="3611880" y="5852160"/>
            <a:ext cx="1261872" cy="256032"/>
          </a:xfrm>
          <a:prstGeom prst="rect">
            <a:avLst/>
          </a:prstGeom>
          <a:solidFill>
            <a:srgbClr val="FFFFFF"/>
          </a:solidFill>
          <a:ln w="2540">
            <a:solidFill>
              <a:srgbClr val="DDDDDD"/>
            </a:solidFill>
            <a:prstDash val="solid"/>
          </a:ln>
        </p:spPr>
        <p:txBody>
          <a:bodyPr/>
          <a:lstStyle/>
          <a:p>
            <a:endParaRPr lang="en-GB"/>
          </a:p>
        </p:txBody>
      </p:sp>
      <p:sp>
        <p:nvSpPr>
          <p:cNvPr id="52" name="Text 49"/>
          <p:cNvSpPr/>
          <p:nvPr/>
        </p:nvSpPr>
        <p:spPr>
          <a:xfrm>
            <a:off x="3657600" y="5852160"/>
            <a:ext cx="1170432" cy="256032"/>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3.1 hours</a:t>
            </a:r>
            <a:endParaRPr lang="en-US" sz="900" dirty="0"/>
          </a:p>
        </p:txBody>
      </p:sp>
      <p:sp>
        <p:nvSpPr>
          <p:cNvPr id="53" name="Shape 50"/>
          <p:cNvSpPr/>
          <p:nvPr/>
        </p:nvSpPr>
        <p:spPr>
          <a:xfrm>
            <a:off x="4892040" y="5852160"/>
            <a:ext cx="1097280" cy="256032"/>
          </a:xfrm>
          <a:prstGeom prst="rect">
            <a:avLst/>
          </a:prstGeom>
          <a:solidFill>
            <a:srgbClr val="F2F2F2"/>
          </a:solidFill>
          <a:ln w="2540">
            <a:solidFill>
              <a:srgbClr val="DDDDDD"/>
            </a:solidFill>
            <a:prstDash val="solid"/>
          </a:ln>
        </p:spPr>
        <p:txBody>
          <a:bodyPr/>
          <a:lstStyle/>
          <a:p>
            <a:endParaRPr lang="en-GB"/>
          </a:p>
        </p:txBody>
      </p:sp>
      <p:sp>
        <p:nvSpPr>
          <p:cNvPr id="54" name="Text 51"/>
          <p:cNvSpPr/>
          <p:nvPr/>
        </p:nvSpPr>
        <p:spPr>
          <a:xfrm>
            <a:off x="4937760" y="5852160"/>
            <a:ext cx="1005840" cy="256032"/>
          </a:xfrm>
          <a:prstGeom prst="rect">
            <a:avLst/>
          </a:prstGeom>
          <a:noFill/>
          <a:ln/>
        </p:spPr>
        <p:txBody>
          <a:bodyPr wrap="square" rtlCol="0" anchor="ctr"/>
          <a:lstStyle/>
          <a:p>
            <a:pPr marL="0" indent="0" algn="ctr">
              <a:buNone/>
            </a:pPr>
            <a:r>
              <a:rPr lang="en-US" sz="900" b="1" dirty="0">
                <a:solidFill>
                  <a:srgbClr val="5B595A"/>
                </a:solidFill>
                <a:latin typeface="Arial" pitchFamily="34" charset="0"/>
                <a:ea typeface="Arial" pitchFamily="34" charset="-122"/>
                <a:cs typeface="Arial" pitchFamily="34" charset="-120"/>
              </a:rPr>
              <a:t>Similar</a:t>
            </a:r>
            <a:endParaRPr lang="en-US" sz="900" dirty="0"/>
          </a:p>
        </p:txBody>
      </p:sp>
      <p:sp>
        <p:nvSpPr>
          <p:cNvPr id="55" name="Shape 52"/>
          <p:cNvSpPr/>
          <p:nvPr/>
        </p:nvSpPr>
        <p:spPr>
          <a:xfrm>
            <a:off x="228600" y="6126480"/>
            <a:ext cx="1719072" cy="256032"/>
          </a:xfrm>
          <a:prstGeom prst="rect">
            <a:avLst/>
          </a:prstGeom>
          <a:solidFill>
            <a:srgbClr val="F2F2F2"/>
          </a:solidFill>
          <a:ln w="2540">
            <a:solidFill>
              <a:srgbClr val="DDDDDD"/>
            </a:solidFill>
            <a:prstDash val="solid"/>
          </a:ln>
        </p:spPr>
        <p:txBody>
          <a:bodyPr/>
          <a:lstStyle/>
          <a:p>
            <a:endParaRPr lang="en-GB"/>
          </a:p>
        </p:txBody>
      </p:sp>
      <p:sp>
        <p:nvSpPr>
          <p:cNvPr id="56" name="Text 53"/>
          <p:cNvSpPr/>
          <p:nvPr/>
        </p:nvSpPr>
        <p:spPr>
          <a:xfrm>
            <a:off x="274320" y="6126480"/>
            <a:ext cx="1627632" cy="256032"/>
          </a:xfrm>
          <a:prstGeom prst="rect">
            <a:avLst/>
          </a:prstGeom>
          <a:noFill/>
          <a:ln/>
        </p:spPr>
        <p:txBody>
          <a:bodyPr wrap="square" rtlCol="0" anchor="ctr"/>
          <a:lstStyle/>
          <a:p>
            <a:pPr marL="0" indent="0" algn="l">
              <a:buNone/>
            </a:pPr>
            <a:r>
              <a:rPr lang="en-US" sz="900" dirty="0">
                <a:solidFill>
                  <a:srgbClr val="5B595A"/>
                </a:solidFill>
                <a:latin typeface="Arial" pitchFamily="34" charset="0"/>
                <a:ea typeface="Arial" pitchFamily="34" charset="-122"/>
                <a:cs typeface="Arial" pitchFamily="34" charset="-120"/>
              </a:rPr>
              <a:t>Process efficiency</a:t>
            </a:r>
            <a:endParaRPr lang="en-US" sz="900" dirty="0"/>
          </a:p>
        </p:txBody>
      </p:sp>
      <p:sp>
        <p:nvSpPr>
          <p:cNvPr id="57" name="Shape 54"/>
          <p:cNvSpPr/>
          <p:nvPr/>
        </p:nvSpPr>
        <p:spPr>
          <a:xfrm>
            <a:off x="1965960" y="6126480"/>
            <a:ext cx="1627632" cy="256032"/>
          </a:xfrm>
          <a:prstGeom prst="rect">
            <a:avLst/>
          </a:prstGeom>
          <a:solidFill>
            <a:srgbClr val="F2F2F2"/>
          </a:solidFill>
          <a:ln w="2540">
            <a:solidFill>
              <a:srgbClr val="DDDDDD"/>
            </a:solidFill>
            <a:prstDash val="solid"/>
          </a:ln>
        </p:spPr>
        <p:txBody>
          <a:bodyPr/>
          <a:lstStyle/>
          <a:p>
            <a:endParaRPr lang="en-GB"/>
          </a:p>
        </p:txBody>
      </p:sp>
      <p:sp>
        <p:nvSpPr>
          <p:cNvPr id="58" name="Text 55"/>
          <p:cNvSpPr/>
          <p:nvPr/>
        </p:nvSpPr>
        <p:spPr>
          <a:xfrm>
            <a:off x="2011680" y="6126480"/>
            <a:ext cx="1536192" cy="256032"/>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1.94%</a:t>
            </a:r>
            <a:endParaRPr lang="en-US" sz="900" dirty="0"/>
          </a:p>
        </p:txBody>
      </p:sp>
      <p:sp>
        <p:nvSpPr>
          <p:cNvPr id="59" name="Shape 56"/>
          <p:cNvSpPr/>
          <p:nvPr/>
        </p:nvSpPr>
        <p:spPr>
          <a:xfrm>
            <a:off x="3611880" y="6126480"/>
            <a:ext cx="1261872" cy="256032"/>
          </a:xfrm>
          <a:prstGeom prst="rect">
            <a:avLst/>
          </a:prstGeom>
          <a:solidFill>
            <a:srgbClr val="F2F2F2"/>
          </a:solidFill>
          <a:ln w="2540">
            <a:solidFill>
              <a:srgbClr val="DDDDDD"/>
            </a:solidFill>
            <a:prstDash val="solid"/>
          </a:ln>
        </p:spPr>
        <p:txBody>
          <a:bodyPr/>
          <a:lstStyle/>
          <a:p>
            <a:endParaRPr lang="en-GB"/>
          </a:p>
        </p:txBody>
      </p:sp>
      <p:sp>
        <p:nvSpPr>
          <p:cNvPr id="60" name="Text 57"/>
          <p:cNvSpPr/>
          <p:nvPr/>
        </p:nvSpPr>
        <p:spPr>
          <a:xfrm>
            <a:off x="3657600" y="6126480"/>
            <a:ext cx="1170432" cy="256032"/>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5.6%</a:t>
            </a:r>
            <a:endParaRPr lang="en-US" sz="900" dirty="0"/>
          </a:p>
        </p:txBody>
      </p:sp>
      <p:sp>
        <p:nvSpPr>
          <p:cNvPr id="61" name="Shape 58"/>
          <p:cNvSpPr/>
          <p:nvPr/>
        </p:nvSpPr>
        <p:spPr>
          <a:xfrm>
            <a:off x="4892040" y="6126480"/>
            <a:ext cx="1097280" cy="256032"/>
          </a:xfrm>
          <a:prstGeom prst="rect">
            <a:avLst/>
          </a:prstGeom>
          <a:solidFill>
            <a:srgbClr val="EAF4EE"/>
          </a:solidFill>
          <a:ln w="2540">
            <a:solidFill>
              <a:srgbClr val="DDDDDD"/>
            </a:solidFill>
            <a:prstDash val="solid"/>
          </a:ln>
        </p:spPr>
        <p:txBody>
          <a:bodyPr/>
          <a:lstStyle/>
          <a:p>
            <a:endParaRPr lang="en-GB"/>
          </a:p>
        </p:txBody>
      </p:sp>
      <p:sp>
        <p:nvSpPr>
          <p:cNvPr id="62" name="Text 59"/>
          <p:cNvSpPr/>
          <p:nvPr/>
        </p:nvSpPr>
        <p:spPr>
          <a:xfrm>
            <a:off x="4937760" y="6126480"/>
            <a:ext cx="1005840" cy="256032"/>
          </a:xfrm>
          <a:prstGeom prst="rect">
            <a:avLst/>
          </a:prstGeom>
          <a:noFill/>
          <a:ln/>
        </p:spPr>
        <p:txBody>
          <a:bodyPr wrap="square" rtlCol="0" anchor="ctr"/>
          <a:lstStyle/>
          <a:p>
            <a:pPr marL="0" indent="0" algn="ctr">
              <a:buNone/>
            </a:pPr>
            <a:r>
              <a:rPr lang="en-US" sz="900" b="1" dirty="0">
                <a:solidFill>
                  <a:srgbClr val="217346"/>
                </a:solidFill>
                <a:latin typeface="Arial" pitchFamily="34" charset="0"/>
                <a:ea typeface="Arial" pitchFamily="34" charset="-122"/>
                <a:cs typeface="Arial" pitchFamily="34" charset="-120"/>
              </a:rPr>
              <a:t>+189%</a:t>
            </a:r>
            <a:endParaRPr lang="en-US" sz="900" dirty="0"/>
          </a:p>
        </p:txBody>
      </p:sp>
      <p:sp>
        <p:nvSpPr>
          <p:cNvPr id="63" name="Shape 60"/>
          <p:cNvSpPr/>
          <p:nvPr/>
        </p:nvSpPr>
        <p:spPr>
          <a:xfrm>
            <a:off x="228600" y="6400800"/>
            <a:ext cx="1719072" cy="256032"/>
          </a:xfrm>
          <a:prstGeom prst="rect">
            <a:avLst/>
          </a:prstGeom>
          <a:solidFill>
            <a:srgbClr val="FFFFFF"/>
          </a:solidFill>
          <a:ln w="2540">
            <a:solidFill>
              <a:srgbClr val="DDDDDD"/>
            </a:solidFill>
            <a:prstDash val="solid"/>
          </a:ln>
        </p:spPr>
        <p:txBody>
          <a:bodyPr/>
          <a:lstStyle/>
          <a:p>
            <a:endParaRPr lang="en-GB"/>
          </a:p>
        </p:txBody>
      </p:sp>
      <p:sp>
        <p:nvSpPr>
          <p:cNvPr id="64" name="Text 61"/>
          <p:cNvSpPr/>
          <p:nvPr/>
        </p:nvSpPr>
        <p:spPr>
          <a:xfrm>
            <a:off x="274320" y="6400800"/>
            <a:ext cx="1627632" cy="256032"/>
          </a:xfrm>
          <a:prstGeom prst="rect">
            <a:avLst/>
          </a:prstGeom>
          <a:noFill/>
          <a:ln/>
        </p:spPr>
        <p:txBody>
          <a:bodyPr wrap="square" rtlCol="0" anchor="ctr"/>
          <a:lstStyle/>
          <a:p>
            <a:pPr marL="0" indent="0" algn="l">
              <a:buNone/>
            </a:pPr>
            <a:r>
              <a:rPr lang="en-US" sz="900" dirty="0">
                <a:solidFill>
                  <a:srgbClr val="5B595A"/>
                </a:solidFill>
                <a:latin typeface="Arial" pitchFamily="34" charset="0"/>
                <a:ea typeface="Arial" pitchFamily="34" charset="-122"/>
                <a:cs typeface="Arial" pitchFamily="34" charset="-120"/>
              </a:rPr>
              <a:t>OTIF (projected)</a:t>
            </a:r>
            <a:endParaRPr lang="en-US" sz="900" dirty="0"/>
          </a:p>
        </p:txBody>
      </p:sp>
      <p:sp>
        <p:nvSpPr>
          <p:cNvPr id="65" name="Shape 62"/>
          <p:cNvSpPr/>
          <p:nvPr/>
        </p:nvSpPr>
        <p:spPr>
          <a:xfrm>
            <a:off x="1965960" y="6400800"/>
            <a:ext cx="1627632" cy="256032"/>
          </a:xfrm>
          <a:prstGeom prst="rect">
            <a:avLst/>
          </a:prstGeom>
          <a:solidFill>
            <a:srgbClr val="FFFFFF"/>
          </a:solidFill>
          <a:ln w="2540">
            <a:solidFill>
              <a:srgbClr val="DDDDDD"/>
            </a:solidFill>
            <a:prstDash val="solid"/>
          </a:ln>
        </p:spPr>
        <p:txBody>
          <a:bodyPr/>
          <a:lstStyle/>
          <a:p>
            <a:endParaRPr lang="en-GB"/>
          </a:p>
        </p:txBody>
      </p:sp>
      <p:sp>
        <p:nvSpPr>
          <p:cNvPr id="66" name="Text 63"/>
          <p:cNvSpPr/>
          <p:nvPr/>
        </p:nvSpPr>
        <p:spPr>
          <a:xfrm>
            <a:off x="2011680" y="6400800"/>
            <a:ext cx="1536192" cy="256032"/>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74%</a:t>
            </a:r>
            <a:endParaRPr lang="en-US" sz="900" dirty="0"/>
          </a:p>
        </p:txBody>
      </p:sp>
      <p:sp>
        <p:nvSpPr>
          <p:cNvPr id="67" name="Shape 64"/>
          <p:cNvSpPr/>
          <p:nvPr/>
        </p:nvSpPr>
        <p:spPr>
          <a:xfrm>
            <a:off x="3611880" y="6400800"/>
            <a:ext cx="1261872" cy="256032"/>
          </a:xfrm>
          <a:prstGeom prst="rect">
            <a:avLst/>
          </a:prstGeom>
          <a:solidFill>
            <a:srgbClr val="FFFFFF"/>
          </a:solidFill>
          <a:ln w="2540">
            <a:solidFill>
              <a:srgbClr val="DDDDDD"/>
            </a:solidFill>
            <a:prstDash val="solid"/>
          </a:ln>
        </p:spPr>
        <p:txBody>
          <a:bodyPr/>
          <a:lstStyle/>
          <a:p>
            <a:endParaRPr lang="en-GB"/>
          </a:p>
        </p:txBody>
      </p:sp>
      <p:sp>
        <p:nvSpPr>
          <p:cNvPr id="68" name="Text 65"/>
          <p:cNvSpPr/>
          <p:nvPr/>
        </p:nvSpPr>
        <p:spPr>
          <a:xfrm>
            <a:off x="3657600" y="6400800"/>
            <a:ext cx="1170432" cy="256032"/>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94%+</a:t>
            </a:r>
            <a:endParaRPr lang="en-US" sz="900" dirty="0"/>
          </a:p>
        </p:txBody>
      </p:sp>
      <p:sp>
        <p:nvSpPr>
          <p:cNvPr id="69" name="Shape 66"/>
          <p:cNvSpPr/>
          <p:nvPr/>
        </p:nvSpPr>
        <p:spPr>
          <a:xfrm>
            <a:off x="4892040" y="6400800"/>
            <a:ext cx="1097280" cy="256032"/>
          </a:xfrm>
          <a:prstGeom prst="rect">
            <a:avLst/>
          </a:prstGeom>
          <a:solidFill>
            <a:srgbClr val="EAF4EE"/>
          </a:solidFill>
          <a:ln w="2540">
            <a:solidFill>
              <a:srgbClr val="DDDDDD"/>
            </a:solidFill>
            <a:prstDash val="solid"/>
          </a:ln>
        </p:spPr>
        <p:txBody>
          <a:bodyPr/>
          <a:lstStyle/>
          <a:p>
            <a:endParaRPr lang="en-GB"/>
          </a:p>
        </p:txBody>
      </p:sp>
      <p:sp>
        <p:nvSpPr>
          <p:cNvPr id="70" name="Text 67"/>
          <p:cNvSpPr/>
          <p:nvPr/>
        </p:nvSpPr>
        <p:spPr>
          <a:xfrm>
            <a:off x="4937760" y="6400800"/>
            <a:ext cx="1005840" cy="256032"/>
          </a:xfrm>
          <a:prstGeom prst="rect">
            <a:avLst/>
          </a:prstGeom>
          <a:noFill/>
          <a:ln/>
        </p:spPr>
        <p:txBody>
          <a:bodyPr wrap="square" rtlCol="0" anchor="ctr"/>
          <a:lstStyle/>
          <a:p>
            <a:pPr marL="0" indent="0" algn="ctr">
              <a:buNone/>
            </a:pPr>
            <a:r>
              <a:rPr lang="en-US" sz="900" b="1" dirty="0">
                <a:solidFill>
                  <a:srgbClr val="217346"/>
                </a:solidFill>
                <a:latin typeface="Arial" pitchFamily="34" charset="0"/>
                <a:ea typeface="Arial" pitchFamily="34" charset="-122"/>
                <a:cs typeface="Arial" pitchFamily="34" charset="-120"/>
              </a:rPr>
              <a:t>+20pp</a:t>
            </a:r>
            <a:endParaRPr lang="en-US" sz="900" dirty="0"/>
          </a:p>
        </p:txBody>
      </p:sp>
      <p:sp>
        <p:nvSpPr>
          <p:cNvPr id="71" name="Shape 68"/>
          <p:cNvSpPr/>
          <p:nvPr/>
        </p:nvSpPr>
        <p:spPr>
          <a:xfrm>
            <a:off x="6035040" y="987552"/>
            <a:ext cx="5897880" cy="5285232"/>
          </a:xfrm>
          <a:prstGeom prst="rect">
            <a:avLst/>
          </a:prstGeom>
          <a:solidFill>
            <a:srgbClr val="F2F2F2"/>
          </a:solidFill>
          <a:ln w="6350">
            <a:solidFill>
              <a:srgbClr val="D8D8D8"/>
            </a:solidFill>
            <a:prstDash val="solid"/>
          </a:ln>
        </p:spPr>
        <p:txBody>
          <a:bodyPr/>
          <a:lstStyle/>
          <a:p>
            <a:endParaRPr lang="en-GB"/>
          </a:p>
        </p:txBody>
      </p:sp>
      <p:sp>
        <p:nvSpPr>
          <p:cNvPr id="72" name="Text 69"/>
          <p:cNvSpPr/>
          <p:nvPr/>
        </p:nvSpPr>
        <p:spPr>
          <a:xfrm>
            <a:off x="6126480" y="1024128"/>
            <a:ext cx="5715000" cy="237744"/>
          </a:xfrm>
          <a:prstGeom prst="rect">
            <a:avLst/>
          </a:prstGeom>
          <a:noFill/>
          <a:ln/>
        </p:spPr>
        <p:txBody>
          <a:bodyPr wrap="square" rtlCol="0" anchor="ctr"/>
          <a:lstStyle/>
          <a:p>
            <a:pPr marL="0" indent="0">
              <a:buNone/>
            </a:pPr>
            <a:r>
              <a:rPr lang="en-US" sz="950" i="1" dirty="0">
                <a:solidFill>
                  <a:srgbClr val="5B595A"/>
                </a:solidFill>
                <a:latin typeface="Arial" pitchFamily="34" charset="0"/>
                <a:ea typeface="Arial" pitchFamily="34" charset="-122"/>
                <a:cs typeface="Arial" pitchFamily="34" charset="-120"/>
              </a:rPr>
              <a:t>Future state control system, pacemaker and pull signals:</a:t>
            </a:r>
            <a:endParaRPr lang="en-US" sz="950" dirty="0"/>
          </a:p>
        </p:txBody>
      </p:sp>
      <p:sp>
        <p:nvSpPr>
          <p:cNvPr id="73" name="Shape 70"/>
          <p:cNvSpPr/>
          <p:nvPr/>
        </p:nvSpPr>
        <p:spPr>
          <a:xfrm>
            <a:off x="6126480" y="1335024"/>
            <a:ext cx="5669280" cy="1280160"/>
          </a:xfrm>
          <a:prstGeom prst="rect">
            <a:avLst/>
          </a:prstGeom>
          <a:solidFill>
            <a:srgbClr val="FFFFFF"/>
          </a:solidFill>
          <a:ln w="6350">
            <a:solidFill>
              <a:srgbClr val="D8D8D8"/>
            </a:solidFill>
            <a:prstDash val="solid"/>
          </a:ln>
        </p:spPr>
        <p:txBody>
          <a:bodyPr/>
          <a:lstStyle/>
          <a:p>
            <a:endParaRPr lang="en-GB"/>
          </a:p>
        </p:txBody>
      </p:sp>
      <p:sp>
        <p:nvSpPr>
          <p:cNvPr id="74" name="Shape 71"/>
          <p:cNvSpPr/>
          <p:nvPr/>
        </p:nvSpPr>
        <p:spPr>
          <a:xfrm>
            <a:off x="6217920" y="1408176"/>
            <a:ext cx="1170432" cy="274320"/>
          </a:xfrm>
          <a:prstGeom prst="rect">
            <a:avLst/>
          </a:prstGeom>
          <a:solidFill>
            <a:srgbClr val="217346"/>
          </a:solidFill>
          <a:ln/>
        </p:spPr>
        <p:txBody>
          <a:bodyPr/>
          <a:lstStyle/>
          <a:p>
            <a:endParaRPr lang="en-GB"/>
          </a:p>
        </p:txBody>
      </p:sp>
      <p:sp>
        <p:nvSpPr>
          <p:cNvPr id="75" name="Text 72"/>
          <p:cNvSpPr/>
          <p:nvPr/>
        </p:nvSpPr>
        <p:spPr>
          <a:xfrm>
            <a:off x="6217920" y="1417320"/>
            <a:ext cx="1170432"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TURNING</a:t>
            </a:r>
            <a:endParaRPr lang="en-US" sz="800" dirty="0"/>
          </a:p>
        </p:txBody>
      </p:sp>
      <p:sp>
        <p:nvSpPr>
          <p:cNvPr id="76" name="Shape 73"/>
          <p:cNvSpPr/>
          <p:nvPr/>
        </p:nvSpPr>
        <p:spPr>
          <a:xfrm>
            <a:off x="6217920" y="1682496"/>
            <a:ext cx="1170432" cy="384048"/>
          </a:xfrm>
          <a:prstGeom prst="rect">
            <a:avLst/>
          </a:prstGeom>
          <a:solidFill>
            <a:srgbClr val="EAF4EE"/>
          </a:solidFill>
          <a:ln w="3810">
            <a:solidFill>
              <a:srgbClr val="D8D8D8"/>
            </a:solidFill>
            <a:prstDash val="solid"/>
          </a:ln>
        </p:spPr>
        <p:txBody>
          <a:bodyPr/>
          <a:lstStyle/>
          <a:p>
            <a:endParaRPr lang="en-GB"/>
          </a:p>
        </p:txBody>
      </p:sp>
      <p:sp>
        <p:nvSpPr>
          <p:cNvPr id="77" name="Shape 74"/>
          <p:cNvSpPr/>
          <p:nvPr/>
        </p:nvSpPr>
        <p:spPr>
          <a:xfrm>
            <a:off x="6455664" y="1408176"/>
            <a:ext cx="694944" cy="164592"/>
          </a:xfrm>
          <a:prstGeom prst="rect">
            <a:avLst/>
          </a:prstGeom>
          <a:solidFill>
            <a:srgbClr val="D97706"/>
          </a:solidFill>
          <a:ln/>
        </p:spPr>
        <p:txBody>
          <a:bodyPr/>
          <a:lstStyle/>
          <a:p>
            <a:endParaRPr lang="en-GB"/>
          </a:p>
        </p:txBody>
      </p:sp>
      <p:sp>
        <p:nvSpPr>
          <p:cNvPr id="78" name="Text 75"/>
          <p:cNvSpPr/>
          <p:nvPr/>
        </p:nvSpPr>
        <p:spPr>
          <a:xfrm>
            <a:off x="6455664" y="1408176"/>
            <a:ext cx="694944" cy="164592"/>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PACEMAKER</a:t>
            </a:r>
            <a:endParaRPr lang="en-US" sz="550" dirty="0"/>
          </a:p>
        </p:txBody>
      </p:sp>
      <p:sp>
        <p:nvSpPr>
          <p:cNvPr id="79" name="Shape 76"/>
          <p:cNvSpPr/>
          <p:nvPr/>
        </p:nvSpPr>
        <p:spPr>
          <a:xfrm>
            <a:off x="7406640" y="1481328"/>
            <a:ext cx="237744" cy="182880"/>
          </a:xfrm>
          <a:prstGeom prst="rect">
            <a:avLst/>
          </a:prstGeom>
          <a:solidFill>
            <a:srgbClr val="217346"/>
          </a:solidFill>
          <a:ln/>
        </p:spPr>
        <p:txBody>
          <a:bodyPr/>
          <a:lstStyle/>
          <a:p>
            <a:endParaRPr lang="en-GB"/>
          </a:p>
        </p:txBody>
      </p:sp>
      <p:sp>
        <p:nvSpPr>
          <p:cNvPr id="80" name="Text 77"/>
          <p:cNvSpPr/>
          <p:nvPr/>
        </p:nvSpPr>
        <p:spPr>
          <a:xfrm>
            <a:off x="7406640" y="1481328"/>
            <a:ext cx="237744" cy="182880"/>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PULL</a:t>
            </a:r>
            <a:endParaRPr lang="en-US" sz="550" dirty="0"/>
          </a:p>
        </p:txBody>
      </p:sp>
      <p:sp>
        <p:nvSpPr>
          <p:cNvPr id="81" name="Shape 78"/>
          <p:cNvSpPr/>
          <p:nvPr/>
        </p:nvSpPr>
        <p:spPr>
          <a:xfrm>
            <a:off x="7406640" y="1719072"/>
            <a:ext cx="91440" cy="91440"/>
          </a:xfrm>
          <a:prstGeom prst="rect">
            <a:avLst/>
          </a:prstGeom>
          <a:solidFill>
            <a:srgbClr val="217346"/>
          </a:solidFill>
          <a:ln/>
        </p:spPr>
        <p:txBody>
          <a:bodyPr/>
          <a:lstStyle/>
          <a:p>
            <a:endParaRPr lang="en-GB"/>
          </a:p>
        </p:txBody>
      </p:sp>
      <p:sp>
        <p:nvSpPr>
          <p:cNvPr id="82" name="Text 79"/>
          <p:cNvSpPr/>
          <p:nvPr/>
        </p:nvSpPr>
        <p:spPr>
          <a:xfrm>
            <a:off x="7342632" y="1810512"/>
            <a:ext cx="219456" cy="128016"/>
          </a:xfrm>
          <a:prstGeom prst="rect">
            <a:avLst/>
          </a:prstGeom>
          <a:noFill/>
          <a:ln/>
        </p:spPr>
        <p:txBody>
          <a:bodyPr wrap="square" rtlCol="0" anchor="ctr"/>
          <a:lstStyle/>
          <a:p>
            <a:pPr marL="0" indent="0" algn="ctr">
              <a:buNone/>
            </a:pPr>
            <a:r>
              <a:rPr lang="en-US" sz="550" b="1" dirty="0">
                <a:solidFill>
                  <a:srgbClr val="217346"/>
                </a:solidFill>
                <a:latin typeface="Arial" pitchFamily="34" charset="0"/>
                <a:ea typeface="Arial" pitchFamily="34" charset="-122"/>
                <a:cs typeface="Arial" pitchFamily="34" charset="-120"/>
              </a:rPr>
              <a:t>FIFO</a:t>
            </a:r>
            <a:endParaRPr lang="en-US" sz="550" dirty="0"/>
          </a:p>
        </p:txBody>
      </p:sp>
      <p:sp>
        <p:nvSpPr>
          <p:cNvPr id="83" name="Shape 80"/>
          <p:cNvSpPr/>
          <p:nvPr/>
        </p:nvSpPr>
        <p:spPr>
          <a:xfrm>
            <a:off x="7516368" y="1408176"/>
            <a:ext cx="1170432" cy="274320"/>
          </a:xfrm>
          <a:prstGeom prst="rect">
            <a:avLst/>
          </a:prstGeom>
          <a:solidFill>
            <a:srgbClr val="217346"/>
          </a:solidFill>
          <a:ln/>
        </p:spPr>
        <p:txBody>
          <a:bodyPr/>
          <a:lstStyle/>
          <a:p>
            <a:endParaRPr lang="en-GB"/>
          </a:p>
        </p:txBody>
      </p:sp>
      <p:sp>
        <p:nvSpPr>
          <p:cNvPr id="84" name="Text 81"/>
          <p:cNvSpPr/>
          <p:nvPr/>
        </p:nvSpPr>
        <p:spPr>
          <a:xfrm>
            <a:off x="7516368" y="1417320"/>
            <a:ext cx="1170432"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MILLING</a:t>
            </a:r>
            <a:endParaRPr lang="en-US" sz="800" dirty="0"/>
          </a:p>
        </p:txBody>
      </p:sp>
      <p:sp>
        <p:nvSpPr>
          <p:cNvPr id="85" name="Shape 82"/>
          <p:cNvSpPr/>
          <p:nvPr/>
        </p:nvSpPr>
        <p:spPr>
          <a:xfrm>
            <a:off x="7516368" y="1682496"/>
            <a:ext cx="1170432" cy="384048"/>
          </a:xfrm>
          <a:prstGeom prst="rect">
            <a:avLst/>
          </a:prstGeom>
          <a:solidFill>
            <a:srgbClr val="EAF4EE"/>
          </a:solidFill>
          <a:ln w="3810">
            <a:solidFill>
              <a:srgbClr val="D8D8D8"/>
            </a:solidFill>
            <a:prstDash val="solid"/>
          </a:ln>
        </p:spPr>
        <p:txBody>
          <a:bodyPr/>
          <a:lstStyle/>
          <a:p>
            <a:endParaRPr lang="en-GB"/>
          </a:p>
        </p:txBody>
      </p:sp>
      <p:sp>
        <p:nvSpPr>
          <p:cNvPr id="86" name="Shape 83"/>
          <p:cNvSpPr/>
          <p:nvPr/>
        </p:nvSpPr>
        <p:spPr>
          <a:xfrm>
            <a:off x="8705088" y="1481328"/>
            <a:ext cx="237744" cy="182880"/>
          </a:xfrm>
          <a:prstGeom prst="rect">
            <a:avLst/>
          </a:prstGeom>
          <a:solidFill>
            <a:srgbClr val="217346"/>
          </a:solidFill>
          <a:ln/>
        </p:spPr>
        <p:txBody>
          <a:bodyPr/>
          <a:lstStyle/>
          <a:p>
            <a:endParaRPr lang="en-GB"/>
          </a:p>
        </p:txBody>
      </p:sp>
      <p:sp>
        <p:nvSpPr>
          <p:cNvPr id="87" name="Text 84"/>
          <p:cNvSpPr/>
          <p:nvPr/>
        </p:nvSpPr>
        <p:spPr>
          <a:xfrm>
            <a:off x="8705088" y="1481328"/>
            <a:ext cx="237744" cy="182880"/>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PULL</a:t>
            </a:r>
            <a:endParaRPr lang="en-US" sz="550" dirty="0"/>
          </a:p>
        </p:txBody>
      </p:sp>
      <p:sp>
        <p:nvSpPr>
          <p:cNvPr id="88" name="Shape 85"/>
          <p:cNvSpPr/>
          <p:nvPr/>
        </p:nvSpPr>
        <p:spPr>
          <a:xfrm>
            <a:off x="8705088" y="1719072"/>
            <a:ext cx="91440" cy="91440"/>
          </a:xfrm>
          <a:prstGeom prst="rect">
            <a:avLst/>
          </a:prstGeom>
          <a:solidFill>
            <a:srgbClr val="217346"/>
          </a:solidFill>
          <a:ln/>
        </p:spPr>
        <p:txBody>
          <a:bodyPr/>
          <a:lstStyle/>
          <a:p>
            <a:endParaRPr lang="en-GB"/>
          </a:p>
        </p:txBody>
      </p:sp>
      <p:sp>
        <p:nvSpPr>
          <p:cNvPr id="89" name="Text 86"/>
          <p:cNvSpPr/>
          <p:nvPr/>
        </p:nvSpPr>
        <p:spPr>
          <a:xfrm>
            <a:off x="8641080" y="1810512"/>
            <a:ext cx="219456" cy="128016"/>
          </a:xfrm>
          <a:prstGeom prst="rect">
            <a:avLst/>
          </a:prstGeom>
          <a:noFill/>
          <a:ln/>
        </p:spPr>
        <p:txBody>
          <a:bodyPr wrap="square" rtlCol="0" anchor="ctr"/>
          <a:lstStyle/>
          <a:p>
            <a:pPr marL="0" indent="0" algn="ctr">
              <a:buNone/>
            </a:pPr>
            <a:r>
              <a:rPr lang="en-US" sz="550" b="1" dirty="0">
                <a:solidFill>
                  <a:srgbClr val="217346"/>
                </a:solidFill>
                <a:latin typeface="Arial" pitchFamily="34" charset="0"/>
                <a:ea typeface="Arial" pitchFamily="34" charset="-122"/>
                <a:cs typeface="Arial" pitchFamily="34" charset="-120"/>
              </a:rPr>
              <a:t>FIFO</a:t>
            </a:r>
            <a:endParaRPr lang="en-US" sz="550" dirty="0"/>
          </a:p>
        </p:txBody>
      </p:sp>
      <p:sp>
        <p:nvSpPr>
          <p:cNvPr id="90" name="Shape 87"/>
          <p:cNvSpPr/>
          <p:nvPr/>
        </p:nvSpPr>
        <p:spPr>
          <a:xfrm>
            <a:off x="8814816" y="1408176"/>
            <a:ext cx="1170432" cy="274320"/>
          </a:xfrm>
          <a:prstGeom prst="rect">
            <a:avLst/>
          </a:prstGeom>
          <a:solidFill>
            <a:srgbClr val="217346"/>
          </a:solidFill>
          <a:ln/>
        </p:spPr>
        <p:txBody>
          <a:bodyPr/>
          <a:lstStyle/>
          <a:p>
            <a:endParaRPr lang="en-GB"/>
          </a:p>
        </p:txBody>
      </p:sp>
      <p:sp>
        <p:nvSpPr>
          <p:cNvPr id="91" name="Text 88"/>
          <p:cNvSpPr/>
          <p:nvPr/>
        </p:nvSpPr>
        <p:spPr>
          <a:xfrm>
            <a:off x="8814816" y="1417320"/>
            <a:ext cx="1170432"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DEBURR+</a:t>
            </a:r>
            <a:endParaRPr lang="en-US" sz="800" dirty="0"/>
          </a:p>
          <a:p>
            <a:pPr marL="0" indent="0" algn="ctr">
              <a:buNone/>
            </a:pPr>
            <a:r>
              <a:rPr lang="en-US" sz="800" b="1" dirty="0">
                <a:solidFill>
                  <a:srgbClr val="FFFFFF"/>
                </a:solidFill>
                <a:latin typeface="Arial" pitchFamily="34" charset="0"/>
                <a:ea typeface="Arial" pitchFamily="34" charset="-122"/>
                <a:cs typeface="Arial" pitchFamily="34" charset="-120"/>
              </a:rPr>
              <a:t>INSP.</a:t>
            </a:r>
            <a:endParaRPr lang="en-US" sz="800" dirty="0"/>
          </a:p>
        </p:txBody>
      </p:sp>
      <p:sp>
        <p:nvSpPr>
          <p:cNvPr id="92" name="Shape 89"/>
          <p:cNvSpPr/>
          <p:nvPr/>
        </p:nvSpPr>
        <p:spPr>
          <a:xfrm>
            <a:off x="8814816" y="1682496"/>
            <a:ext cx="1170432" cy="384048"/>
          </a:xfrm>
          <a:prstGeom prst="rect">
            <a:avLst/>
          </a:prstGeom>
          <a:solidFill>
            <a:srgbClr val="EAF4EE"/>
          </a:solidFill>
          <a:ln w="3810">
            <a:solidFill>
              <a:srgbClr val="D8D8D8"/>
            </a:solidFill>
            <a:prstDash val="solid"/>
          </a:ln>
        </p:spPr>
        <p:txBody>
          <a:bodyPr/>
          <a:lstStyle/>
          <a:p>
            <a:endParaRPr lang="en-GB"/>
          </a:p>
        </p:txBody>
      </p:sp>
      <p:sp>
        <p:nvSpPr>
          <p:cNvPr id="93" name="Shape 90"/>
          <p:cNvSpPr/>
          <p:nvPr/>
        </p:nvSpPr>
        <p:spPr>
          <a:xfrm>
            <a:off x="10003536" y="1481328"/>
            <a:ext cx="237744" cy="182880"/>
          </a:xfrm>
          <a:prstGeom prst="rect">
            <a:avLst/>
          </a:prstGeom>
          <a:solidFill>
            <a:srgbClr val="217346"/>
          </a:solidFill>
          <a:ln/>
        </p:spPr>
        <p:txBody>
          <a:bodyPr/>
          <a:lstStyle/>
          <a:p>
            <a:endParaRPr lang="en-GB"/>
          </a:p>
        </p:txBody>
      </p:sp>
      <p:sp>
        <p:nvSpPr>
          <p:cNvPr id="94" name="Text 91"/>
          <p:cNvSpPr/>
          <p:nvPr/>
        </p:nvSpPr>
        <p:spPr>
          <a:xfrm>
            <a:off x="10003536" y="1481328"/>
            <a:ext cx="237744" cy="182880"/>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PULL</a:t>
            </a:r>
            <a:endParaRPr lang="en-US" sz="550" dirty="0"/>
          </a:p>
        </p:txBody>
      </p:sp>
      <p:sp>
        <p:nvSpPr>
          <p:cNvPr id="95" name="Shape 92"/>
          <p:cNvSpPr/>
          <p:nvPr/>
        </p:nvSpPr>
        <p:spPr>
          <a:xfrm>
            <a:off x="10003536" y="1719072"/>
            <a:ext cx="91440" cy="91440"/>
          </a:xfrm>
          <a:prstGeom prst="rect">
            <a:avLst/>
          </a:prstGeom>
          <a:solidFill>
            <a:srgbClr val="217346"/>
          </a:solidFill>
          <a:ln/>
        </p:spPr>
        <p:txBody>
          <a:bodyPr/>
          <a:lstStyle/>
          <a:p>
            <a:endParaRPr lang="en-GB"/>
          </a:p>
        </p:txBody>
      </p:sp>
      <p:sp>
        <p:nvSpPr>
          <p:cNvPr id="96" name="Text 93"/>
          <p:cNvSpPr/>
          <p:nvPr/>
        </p:nvSpPr>
        <p:spPr>
          <a:xfrm>
            <a:off x="9939528" y="1810512"/>
            <a:ext cx="219456" cy="128016"/>
          </a:xfrm>
          <a:prstGeom prst="rect">
            <a:avLst/>
          </a:prstGeom>
          <a:noFill/>
          <a:ln/>
        </p:spPr>
        <p:txBody>
          <a:bodyPr wrap="square" rtlCol="0" anchor="ctr"/>
          <a:lstStyle/>
          <a:p>
            <a:pPr marL="0" indent="0" algn="ctr">
              <a:buNone/>
            </a:pPr>
            <a:r>
              <a:rPr lang="en-US" sz="550" b="1" dirty="0">
                <a:solidFill>
                  <a:srgbClr val="217346"/>
                </a:solidFill>
                <a:latin typeface="Arial" pitchFamily="34" charset="0"/>
                <a:ea typeface="Arial" pitchFamily="34" charset="-122"/>
                <a:cs typeface="Arial" pitchFamily="34" charset="-120"/>
              </a:rPr>
              <a:t>FIFO</a:t>
            </a:r>
            <a:endParaRPr lang="en-US" sz="550" dirty="0"/>
          </a:p>
        </p:txBody>
      </p:sp>
      <p:sp>
        <p:nvSpPr>
          <p:cNvPr id="97" name="Shape 94"/>
          <p:cNvSpPr/>
          <p:nvPr/>
        </p:nvSpPr>
        <p:spPr>
          <a:xfrm>
            <a:off x="10113264" y="1408176"/>
            <a:ext cx="1170432" cy="274320"/>
          </a:xfrm>
          <a:prstGeom prst="rect">
            <a:avLst/>
          </a:prstGeom>
          <a:solidFill>
            <a:srgbClr val="1E3A5F"/>
          </a:solidFill>
          <a:ln/>
        </p:spPr>
        <p:txBody>
          <a:bodyPr/>
          <a:lstStyle/>
          <a:p>
            <a:endParaRPr lang="en-GB"/>
          </a:p>
        </p:txBody>
      </p:sp>
      <p:sp>
        <p:nvSpPr>
          <p:cNvPr id="98" name="Text 95"/>
          <p:cNvSpPr/>
          <p:nvPr/>
        </p:nvSpPr>
        <p:spPr>
          <a:xfrm>
            <a:off x="10113264" y="1417320"/>
            <a:ext cx="1170432"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DESPATCH</a:t>
            </a:r>
            <a:endParaRPr lang="en-US" sz="800" dirty="0"/>
          </a:p>
        </p:txBody>
      </p:sp>
      <p:sp>
        <p:nvSpPr>
          <p:cNvPr id="99" name="Shape 96"/>
          <p:cNvSpPr/>
          <p:nvPr/>
        </p:nvSpPr>
        <p:spPr>
          <a:xfrm>
            <a:off x="10113264" y="1682496"/>
            <a:ext cx="1170432" cy="384048"/>
          </a:xfrm>
          <a:prstGeom prst="rect">
            <a:avLst/>
          </a:prstGeom>
          <a:solidFill>
            <a:srgbClr val="EAF4EE"/>
          </a:solidFill>
          <a:ln w="3810">
            <a:solidFill>
              <a:srgbClr val="D8D8D8"/>
            </a:solidFill>
            <a:prstDash val="solid"/>
          </a:ln>
        </p:spPr>
        <p:txBody>
          <a:bodyPr/>
          <a:lstStyle/>
          <a:p>
            <a:endParaRPr lang="en-GB"/>
          </a:p>
        </p:txBody>
      </p:sp>
      <p:sp>
        <p:nvSpPr>
          <p:cNvPr id="100" name="Shape 97"/>
          <p:cNvSpPr/>
          <p:nvPr/>
        </p:nvSpPr>
        <p:spPr>
          <a:xfrm>
            <a:off x="7498080" y="2724912"/>
            <a:ext cx="2194560" cy="457200"/>
          </a:xfrm>
          <a:prstGeom prst="rect">
            <a:avLst/>
          </a:prstGeom>
          <a:solidFill>
            <a:srgbClr val="009FE3"/>
          </a:solidFill>
          <a:ln/>
        </p:spPr>
        <p:txBody>
          <a:bodyPr/>
          <a:lstStyle/>
          <a:p>
            <a:endParaRPr lang="en-GB"/>
          </a:p>
        </p:txBody>
      </p:sp>
      <p:sp>
        <p:nvSpPr>
          <p:cNvPr id="101" name="Text 98"/>
          <p:cNvSpPr/>
          <p:nvPr/>
        </p:nvSpPr>
        <p:spPr>
          <a:xfrm>
            <a:off x="7498080" y="2743200"/>
            <a:ext cx="2194560" cy="420624"/>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SCHEDULE</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(ERP pull signal)</a:t>
            </a:r>
            <a:endParaRPr lang="en-US" sz="850" dirty="0"/>
          </a:p>
        </p:txBody>
      </p:sp>
      <p:sp>
        <p:nvSpPr>
          <p:cNvPr id="102" name="Shape 99"/>
          <p:cNvSpPr/>
          <p:nvPr/>
        </p:nvSpPr>
        <p:spPr>
          <a:xfrm>
            <a:off x="8522208" y="3200400"/>
            <a:ext cx="91440" cy="384048"/>
          </a:xfrm>
          <a:prstGeom prst="rect">
            <a:avLst/>
          </a:prstGeom>
          <a:solidFill>
            <a:srgbClr val="009FE3"/>
          </a:solidFill>
          <a:ln/>
        </p:spPr>
        <p:txBody>
          <a:bodyPr/>
          <a:lstStyle/>
          <a:p>
            <a:endParaRPr lang="en-GB"/>
          </a:p>
        </p:txBody>
      </p:sp>
      <p:sp>
        <p:nvSpPr>
          <p:cNvPr id="103" name="Text 100"/>
          <p:cNvSpPr/>
          <p:nvPr/>
        </p:nvSpPr>
        <p:spPr>
          <a:xfrm>
            <a:off x="8138160" y="3602736"/>
            <a:ext cx="1645920" cy="329184"/>
          </a:xfrm>
          <a:prstGeom prst="rect">
            <a:avLst/>
          </a:prstGeom>
          <a:noFill/>
          <a:ln/>
        </p:spPr>
        <p:txBody>
          <a:bodyPr wrap="square" rtlCol="0" anchor="ctr"/>
          <a:lstStyle/>
          <a:p>
            <a:pPr marL="0" indent="0" algn="ctr">
              <a:buNone/>
            </a:pPr>
            <a:r>
              <a:rPr lang="en-US" sz="750" i="1" dirty="0">
                <a:solidFill>
                  <a:srgbClr val="009FE3"/>
                </a:solidFill>
                <a:latin typeface="Arial" pitchFamily="34" charset="0"/>
                <a:ea typeface="Arial" pitchFamily="34" charset="-122"/>
                <a:cs typeface="Arial" pitchFamily="34" charset="-120"/>
              </a:rPr>
              <a:t>Only the pacemaker</a:t>
            </a:r>
            <a:endParaRPr lang="en-US" sz="750" dirty="0"/>
          </a:p>
          <a:p>
            <a:pPr marL="0" indent="0" algn="ctr">
              <a:buNone/>
            </a:pPr>
            <a:r>
              <a:rPr lang="en-US" sz="750" i="1" dirty="0">
                <a:solidFill>
                  <a:srgbClr val="009FE3"/>
                </a:solidFill>
                <a:latin typeface="Arial" pitchFamily="34" charset="0"/>
                <a:ea typeface="Arial" pitchFamily="34" charset="-122"/>
                <a:cs typeface="Arial" pitchFamily="34" charset="-120"/>
              </a:rPr>
              <a:t>receives a schedule</a:t>
            </a:r>
            <a:endParaRPr lang="en-US" sz="750" dirty="0"/>
          </a:p>
        </p:txBody>
      </p:sp>
      <p:sp>
        <p:nvSpPr>
          <p:cNvPr id="104" name="Shape 101"/>
          <p:cNvSpPr/>
          <p:nvPr/>
        </p:nvSpPr>
        <p:spPr>
          <a:xfrm>
            <a:off x="6126480" y="4096512"/>
            <a:ext cx="5669280" cy="694944"/>
          </a:xfrm>
          <a:prstGeom prst="rect">
            <a:avLst/>
          </a:prstGeom>
          <a:solidFill>
            <a:srgbClr val="EAF4EE"/>
          </a:solidFill>
          <a:ln w="6350">
            <a:solidFill>
              <a:srgbClr val="217346"/>
            </a:solidFill>
            <a:prstDash val="solid"/>
          </a:ln>
        </p:spPr>
        <p:txBody>
          <a:bodyPr/>
          <a:lstStyle/>
          <a:p>
            <a:endParaRPr lang="en-GB"/>
          </a:p>
        </p:txBody>
      </p:sp>
      <p:sp>
        <p:nvSpPr>
          <p:cNvPr id="105" name="Text 102"/>
          <p:cNvSpPr/>
          <p:nvPr/>
        </p:nvSpPr>
        <p:spPr>
          <a:xfrm>
            <a:off x="6217920" y="4133088"/>
            <a:ext cx="5486400" cy="219456"/>
          </a:xfrm>
          <a:prstGeom prst="rect">
            <a:avLst/>
          </a:prstGeom>
          <a:noFill/>
          <a:ln/>
        </p:spPr>
        <p:txBody>
          <a:bodyPr wrap="square" rtlCol="0" anchor="ctr"/>
          <a:lstStyle/>
          <a:p>
            <a:pPr marL="0" indent="0">
              <a:buNone/>
            </a:pPr>
            <a:r>
              <a:rPr lang="en-US" sz="950" b="1" dirty="0">
                <a:solidFill>
                  <a:srgbClr val="217346"/>
                </a:solidFill>
                <a:latin typeface="Arial" pitchFamily="34" charset="0"/>
                <a:ea typeface="Arial" pitchFamily="34" charset="-122"/>
                <a:cs typeface="Arial" pitchFamily="34" charset="-120"/>
              </a:rPr>
              <a:t>Schedule only the pacemaker process</a:t>
            </a:r>
            <a:endParaRPr lang="en-US" sz="950" dirty="0"/>
          </a:p>
        </p:txBody>
      </p:sp>
      <p:sp>
        <p:nvSpPr>
          <p:cNvPr id="106" name="Text 103"/>
          <p:cNvSpPr/>
          <p:nvPr/>
        </p:nvSpPr>
        <p:spPr>
          <a:xfrm>
            <a:off x="6217920" y="4370832"/>
            <a:ext cx="5486400" cy="384048"/>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All other steps respond to pull signals from the downstream step. Only the pacemaker receives a schedule from the planning system. This prevents overproduction everywhere upstream.</a:t>
            </a:r>
            <a:endParaRPr lang="en-US" sz="950" dirty="0"/>
          </a:p>
        </p:txBody>
      </p:sp>
      <p:sp>
        <p:nvSpPr>
          <p:cNvPr id="107" name="Shape 104"/>
          <p:cNvSpPr/>
          <p:nvPr/>
        </p:nvSpPr>
        <p:spPr>
          <a:xfrm>
            <a:off x="6126480" y="4846320"/>
            <a:ext cx="5669280" cy="694944"/>
          </a:xfrm>
          <a:prstGeom prst="rect">
            <a:avLst/>
          </a:prstGeom>
          <a:solidFill>
            <a:srgbClr val="E0F4FD"/>
          </a:solidFill>
          <a:ln w="6350">
            <a:solidFill>
              <a:srgbClr val="009FE3"/>
            </a:solidFill>
            <a:prstDash val="solid"/>
          </a:ln>
        </p:spPr>
        <p:txBody>
          <a:bodyPr/>
          <a:lstStyle/>
          <a:p>
            <a:endParaRPr lang="en-GB"/>
          </a:p>
        </p:txBody>
      </p:sp>
      <p:sp>
        <p:nvSpPr>
          <p:cNvPr id="108" name="Text 105"/>
          <p:cNvSpPr/>
          <p:nvPr/>
        </p:nvSpPr>
        <p:spPr>
          <a:xfrm>
            <a:off x="6217920" y="4882896"/>
            <a:ext cx="5486400" cy="219456"/>
          </a:xfrm>
          <a:prstGeom prst="rect">
            <a:avLst/>
          </a:prstGeom>
          <a:noFill/>
          <a:ln/>
        </p:spPr>
        <p:txBody>
          <a:bodyPr wrap="square" rtlCol="0" anchor="ctr"/>
          <a:lstStyle/>
          <a:p>
            <a:pPr marL="0" indent="0">
              <a:buNone/>
            </a:pPr>
            <a:r>
              <a:rPr lang="en-US" sz="950" b="1" dirty="0">
                <a:solidFill>
                  <a:srgbClr val="009FE3"/>
                </a:solidFill>
                <a:latin typeface="Arial" pitchFamily="34" charset="0"/>
                <a:ea typeface="Arial" pitchFamily="34" charset="-122"/>
                <a:cs typeface="Arial" pitchFamily="34" charset="-120"/>
              </a:rPr>
              <a:t>Set WIP limits (kanban quantities)</a:t>
            </a:r>
            <a:endParaRPr lang="en-US" sz="950" dirty="0"/>
          </a:p>
        </p:txBody>
      </p:sp>
      <p:sp>
        <p:nvSpPr>
          <p:cNvPr id="109" name="Text 106"/>
          <p:cNvSpPr/>
          <p:nvPr/>
        </p:nvSpPr>
        <p:spPr>
          <a:xfrm>
            <a:off x="6217920" y="5120640"/>
            <a:ext cx="5486400" cy="384048"/>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Each step has a maximum WIP limit. When the downstream buffer is full, the upstream step stops. This is the mechanism that makes pull work in practice.</a:t>
            </a:r>
            <a:endParaRPr lang="en-US" sz="950" dirty="0"/>
          </a:p>
        </p:txBody>
      </p:sp>
      <p:sp>
        <p:nvSpPr>
          <p:cNvPr id="110" name="Shape 107"/>
          <p:cNvSpPr/>
          <p:nvPr/>
        </p:nvSpPr>
        <p:spPr>
          <a:xfrm>
            <a:off x="6126480" y="5596128"/>
            <a:ext cx="5669280" cy="694944"/>
          </a:xfrm>
          <a:prstGeom prst="rect">
            <a:avLst/>
          </a:prstGeom>
          <a:solidFill>
            <a:srgbClr val="F3EAF4"/>
          </a:solidFill>
          <a:ln w="6350">
            <a:solidFill>
              <a:srgbClr val="83348F"/>
            </a:solidFill>
            <a:prstDash val="solid"/>
          </a:ln>
        </p:spPr>
        <p:txBody>
          <a:bodyPr/>
          <a:lstStyle/>
          <a:p>
            <a:endParaRPr lang="en-GB"/>
          </a:p>
        </p:txBody>
      </p:sp>
      <p:sp>
        <p:nvSpPr>
          <p:cNvPr id="111" name="Text 108"/>
          <p:cNvSpPr/>
          <p:nvPr/>
        </p:nvSpPr>
        <p:spPr>
          <a:xfrm>
            <a:off x="6217920" y="5632704"/>
            <a:ext cx="5486400" cy="219456"/>
          </a:xfrm>
          <a:prstGeom prst="rect">
            <a:avLst/>
          </a:prstGeom>
          <a:noFill/>
          <a:ln/>
        </p:spPr>
        <p:txBody>
          <a:bodyPr wrap="square" rtlCol="0" anchor="ctr"/>
          <a:lstStyle/>
          <a:p>
            <a:pPr marL="0" indent="0">
              <a:buNone/>
            </a:pPr>
            <a:r>
              <a:rPr lang="en-US" sz="950" b="1" dirty="0">
                <a:solidFill>
                  <a:srgbClr val="83348F"/>
                </a:solidFill>
                <a:latin typeface="Arial" pitchFamily="34" charset="0"/>
                <a:ea typeface="Arial" pitchFamily="34" charset="-122"/>
                <a:cs typeface="Arial" pitchFamily="34" charset="-120"/>
              </a:rPr>
              <a:t>Use FIFO between closely linked steps</a:t>
            </a:r>
            <a:endParaRPr lang="en-US" sz="950" dirty="0"/>
          </a:p>
        </p:txBody>
      </p:sp>
      <p:sp>
        <p:nvSpPr>
          <p:cNvPr id="112" name="Text 109"/>
          <p:cNvSpPr/>
          <p:nvPr/>
        </p:nvSpPr>
        <p:spPr>
          <a:xfrm>
            <a:off x="6217920" y="5870448"/>
            <a:ext cx="5486400" cy="384048"/>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Where steps are physically adjacent and use similar batch sizes, a simple FIFO lane (maximum 3 to 5 units) is more effective than a formal kanban system.</a:t>
            </a:r>
            <a:endParaRPr lang="en-US" sz="950" dirty="0"/>
          </a:p>
        </p:txBody>
      </p:sp>
      <p:sp>
        <p:nvSpPr>
          <p:cNvPr id="113" name="Rectangle 112"/>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4" name="Picture 113" descr="image.png"/>
          <p:cNvPicPr>
            <a:picLocks noChangeAspect="1"/>
          </p:cNvPicPr>
          <p:nvPr/>
        </p:nvPicPr>
        <p:blipFill>
          <a:blip r:embed="rId5"/>
          <a:stretch>
            <a:fillRect/>
          </a:stretch>
        </p:blipFill>
        <p:spPr>
          <a:xfrm>
            <a:off x="10610088" y="100584"/>
            <a:ext cx="566928" cy="347472"/>
          </a:xfrm>
          <a:prstGeom prst="rect">
            <a:avLst/>
          </a:prstGeom>
        </p:spPr>
      </p:pic>
      <p:pic>
        <p:nvPicPr>
          <p:cNvPr id="115" name="Picture 114" descr="image.png"/>
          <p:cNvPicPr>
            <a:picLocks noChangeAspect="1"/>
          </p:cNvPicPr>
          <p:nvPr/>
        </p:nvPicPr>
        <p:blipFill>
          <a:blip r:embed="rId4"/>
          <a:stretch>
            <a:fillRect/>
          </a:stretch>
        </p:blipFill>
        <p:spPr>
          <a:xfrm>
            <a:off x="11222736" y="100584"/>
            <a:ext cx="658368" cy="347472"/>
          </a:xfrm>
          <a:prstGeom prst="rect">
            <a:avLst/>
          </a:prstGeom>
        </p:spPr>
      </p:pic>
      <p:sp>
        <p:nvSpPr>
          <p:cNvPr id="116" name="Rectangle 115"/>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2. Create the Future State Value Stream Map</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Steps 13 &amp; 14: People Requirements and Drawing the Future State</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9" name="Shape 6"/>
          <p:cNvSpPr/>
          <p:nvPr/>
        </p:nvSpPr>
        <p:spPr>
          <a:xfrm>
            <a:off x="228600" y="987552"/>
            <a:ext cx="5577840" cy="274320"/>
          </a:xfrm>
          <a:prstGeom prst="rect">
            <a:avLst/>
          </a:prstGeom>
          <a:solidFill>
            <a:srgbClr val="83348F"/>
          </a:solidFill>
          <a:ln/>
        </p:spPr>
        <p:txBody>
          <a:bodyPr/>
          <a:lstStyle/>
          <a:p>
            <a:endParaRPr lang="en-GB"/>
          </a:p>
        </p:txBody>
      </p:sp>
      <p:sp>
        <p:nvSpPr>
          <p:cNvPr id="10" name="Text 7"/>
          <p:cNvSpPr/>
          <p:nvPr/>
        </p:nvSpPr>
        <p:spPr>
          <a:xfrm>
            <a:off x="320040" y="1005840"/>
            <a:ext cx="5394960"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STEP 13: PEOPLE AND SKILLS REQUIREMENTS</a:t>
            </a:r>
            <a:endParaRPr lang="en-US" sz="1000" dirty="0"/>
          </a:p>
        </p:txBody>
      </p:sp>
      <p:sp>
        <p:nvSpPr>
          <p:cNvPr id="11" name="Shape 8"/>
          <p:cNvSpPr/>
          <p:nvPr/>
        </p:nvSpPr>
        <p:spPr>
          <a:xfrm>
            <a:off x="228600" y="1316736"/>
            <a:ext cx="5577840" cy="1097280"/>
          </a:xfrm>
          <a:prstGeom prst="rect">
            <a:avLst/>
          </a:prstGeom>
          <a:solidFill>
            <a:srgbClr val="F3EAF4"/>
          </a:solidFill>
          <a:ln w="6350">
            <a:solidFill>
              <a:srgbClr val="83348F"/>
            </a:solidFill>
            <a:prstDash val="solid"/>
          </a:ln>
        </p:spPr>
        <p:txBody>
          <a:bodyPr/>
          <a:lstStyle/>
          <a:p>
            <a:endParaRPr lang="en-GB"/>
          </a:p>
        </p:txBody>
      </p:sp>
      <p:sp>
        <p:nvSpPr>
          <p:cNvPr id="12" name="Text 9"/>
          <p:cNvSpPr/>
          <p:nvPr/>
        </p:nvSpPr>
        <p:spPr>
          <a:xfrm>
            <a:off x="320040" y="1353312"/>
            <a:ext cx="5394960" cy="237744"/>
          </a:xfrm>
          <a:prstGeom prst="rect">
            <a:avLst/>
          </a:prstGeom>
          <a:noFill/>
          <a:ln/>
        </p:spPr>
        <p:txBody>
          <a:bodyPr wrap="square" rtlCol="0" anchor="ctr"/>
          <a:lstStyle/>
          <a:p>
            <a:pPr marL="0" indent="0">
              <a:buNone/>
            </a:pPr>
            <a:r>
              <a:rPr lang="en-US" sz="1050" b="1" dirty="0">
                <a:solidFill>
                  <a:srgbClr val="83348F"/>
                </a:solidFill>
                <a:latin typeface="Arial" pitchFamily="34" charset="0"/>
                <a:ea typeface="Arial" pitchFamily="34" charset="-122"/>
                <a:cs typeface="Arial" pitchFamily="34" charset="-120"/>
              </a:rPr>
              <a:t>Are existing operators able to run the new process?</a:t>
            </a:r>
            <a:endParaRPr lang="en-US" sz="1050" dirty="0"/>
          </a:p>
        </p:txBody>
      </p:sp>
      <p:sp>
        <p:nvSpPr>
          <p:cNvPr id="13" name="Text 10"/>
          <p:cNvSpPr/>
          <p:nvPr/>
        </p:nvSpPr>
        <p:spPr>
          <a:xfrm>
            <a:off x="320040" y="1609344"/>
            <a:ext cx="5303520" cy="768096"/>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If two steps are being combined, does the operator who runs step A also have the skills to perform step B? In nuclear manufacturing, this question carries additional weight because competence must be documented and verified.</a:t>
            </a:r>
            <a:endParaRPr lang="en-US" sz="1000" dirty="0"/>
          </a:p>
        </p:txBody>
      </p:sp>
      <p:sp>
        <p:nvSpPr>
          <p:cNvPr id="14" name="Shape 11"/>
          <p:cNvSpPr/>
          <p:nvPr/>
        </p:nvSpPr>
        <p:spPr>
          <a:xfrm>
            <a:off x="228600" y="2487168"/>
            <a:ext cx="5577840" cy="1097280"/>
          </a:xfrm>
          <a:prstGeom prst="rect">
            <a:avLst/>
          </a:prstGeom>
          <a:solidFill>
            <a:srgbClr val="E0F4FD"/>
          </a:solidFill>
          <a:ln w="6350">
            <a:solidFill>
              <a:srgbClr val="009FE3"/>
            </a:solidFill>
            <a:prstDash val="solid"/>
          </a:ln>
        </p:spPr>
        <p:txBody>
          <a:bodyPr/>
          <a:lstStyle/>
          <a:p>
            <a:endParaRPr lang="en-GB"/>
          </a:p>
        </p:txBody>
      </p:sp>
      <p:sp>
        <p:nvSpPr>
          <p:cNvPr id="15" name="Text 12"/>
          <p:cNvSpPr/>
          <p:nvPr/>
        </p:nvSpPr>
        <p:spPr>
          <a:xfrm>
            <a:off x="320040" y="2523744"/>
            <a:ext cx="5394960" cy="237744"/>
          </a:xfrm>
          <a:prstGeom prst="rect">
            <a:avLst/>
          </a:prstGeom>
          <a:noFill/>
          <a:ln/>
        </p:spPr>
        <p:txBody>
          <a:bodyPr wrap="square" rtlCol="0" anchor="ctr"/>
          <a:lstStyle/>
          <a:p>
            <a:pPr marL="0" indent="0">
              <a:buNone/>
            </a:pPr>
            <a:r>
              <a:rPr lang="en-US" sz="1050" b="1" dirty="0">
                <a:solidFill>
                  <a:srgbClr val="009FE3"/>
                </a:solidFill>
                <a:latin typeface="Arial" pitchFamily="34" charset="0"/>
                <a:ea typeface="Arial" pitchFamily="34" charset="-122"/>
                <a:cs typeface="Arial" pitchFamily="34" charset="-120"/>
              </a:rPr>
              <a:t>What training or qualification is required?</a:t>
            </a:r>
            <a:endParaRPr lang="en-US" sz="1050" dirty="0"/>
          </a:p>
        </p:txBody>
      </p:sp>
      <p:sp>
        <p:nvSpPr>
          <p:cNvPr id="16" name="Text 13"/>
          <p:cNvSpPr/>
          <p:nvPr/>
        </p:nvSpPr>
        <p:spPr>
          <a:xfrm>
            <a:off x="320040" y="2779776"/>
            <a:ext cx="5303520" cy="768096"/>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Any change in process creates a training requirement. SOPs must be updated before the change is made, and operators must be signed off against the new procedure before production begins.</a:t>
            </a:r>
            <a:endParaRPr lang="en-US" sz="1000" dirty="0"/>
          </a:p>
        </p:txBody>
      </p:sp>
      <p:sp>
        <p:nvSpPr>
          <p:cNvPr id="17" name="Shape 14"/>
          <p:cNvSpPr/>
          <p:nvPr/>
        </p:nvSpPr>
        <p:spPr>
          <a:xfrm>
            <a:off x="228600" y="3657600"/>
            <a:ext cx="5577840" cy="1097280"/>
          </a:xfrm>
          <a:prstGeom prst="rect">
            <a:avLst/>
          </a:prstGeom>
          <a:solidFill>
            <a:srgbClr val="F3EAF4"/>
          </a:solidFill>
          <a:ln w="6350">
            <a:solidFill>
              <a:srgbClr val="83348F"/>
            </a:solidFill>
            <a:prstDash val="solid"/>
          </a:ln>
        </p:spPr>
        <p:txBody>
          <a:bodyPr/>
          <a:lstStyle/>
          <a:p>
            <a:endParaRPr lang="en-GB"/>
          </a:p>
        </p:txBody>
      </p:sp>
      <p:sp>
        <p:nvSpPr>
          <p:cNvPr id="18" name="Text 15"/>
          <p:cNvSpPr/>
          <p:nvPr/>
        </p:nvSpPr>
        <p:spPr>
          <a:xfrm>
            <a:off x="320040" y="3694176"/>
            <a:ext cx="5394960" cy="237744"/>
          </a:xfrm>
          <a:prstGeom prst="rect">
            <a:avLst/>
          </a:prstGeom>
          <a:noFill/>
          <a:ln/>
        </p:spPr>
        <p:txBody>
          <a:bodyPr wrap="square" rtlCol="0" anchor="ctr"/>
          <a:lstStyle/>
          <a:p>
            <a:pPr marL="0" indent="0">
              <a:buNone/>
            </a:pPr>
            <a:r>
              <a:rPr lang="en-US" sz="1050" b="1" dirty="0">
                <a:solidFill>
                  <a:srgbClr val="83348F"/>
                </a:solidFill>
                <a:latin typeface="Arial" pitchFamily="34" charset="0"/>
                <a:ea typeface="Arial" pitchFamily="34" charset="-122"/>
                <a:cs typeface="Arial" pitchFamily="34" charset="-120"/>
              </a:rPr>
              <a:t>What does the skills matrix show?</a:t>
            </a:r>
            <a:endParaRPr lang="en-US" sz="1050" dirty="0"/>
          </a:p>
        </p:txBody>
      </p:sp>
      <p:sp>
        <p:nvSpPr>
          <p:cNvPr id="19" name="Text 16"/>
          <p:cNvSpPr/>
          <p:nvPr/>
        </p:nvSpPr>
        <p:spPr>
          <a:xfrm>
            <a:off x="320040" y="3950208"/>
            <a:ext cx="5303520" cy="768096"/>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The future state is the right time to update the skills matrix. Map the new combined or re-sequenced steps against current operator competencies and identify any gaps.</a:t>
            </a:r>
            <a:endParaRPr lang="en-US" sz="1000" dirty="0"/>
          </a:p>
        </p:txBody>
      </p:sp>
      <p:sp>
        <p:nvSpPr>
          <p:cNvPr id="20" name="Shape 17"/>
          <p:cNvSpPr/>
          <p:nvPr/>
        </p:nvSpPr>
        <p:spPr>
          <a:xfrm>
            <a:off x="228600" y="4828032"/>
            <a:ext cx="5577840" cy="1097280"/>
          </a:xfrm>
          <a:prstGeom prst="rect">
            <a:avLst/>
          </a:prstGeom>
          <a:solidFill>
            <a:srgbClr val="E0F4FD"/>
          </a:solidFill>
          <a:ln w="6350">
            <a:solidFill>
              <a:srgbClr val="009FE3"/>
            </a:solidFill>
            <a:prstDash val="solid"/>
          </a:ln>
        </p:spPr>
        <p:txBody>
          <a:bodyPr/>
          <a:lstStyle/>
          <a:p>
            <a:endParaRPr lang="en-GB"/>
          </a:p>
        </p:txBody>
      </p:sp>
      <p:sp>
        <p:nvSpPr>
          <p:cNvPr id="21" name="Text 18"/>
          <p:cNvSpPr/>
          <p:nvPr/>
        </p:nvSpPr>
        <p:spPr>
          <a:xfrm>
            <a:off x="320040" y="4864608"/>
            <a:ext cx="5394960" cy="237744"/>
          </a:xfrm>
          <a:prstGeom prst="rect">
            <a:avLst/>
          </a:prstGeom>
          <a:noFill/>
          <a:ln/>
        </p:spPr>
        <p:txBody>
          <a:bodyPr wrap="square" rtlCol="0" anchor="ctr"/>
          <a:lstStyle/>
          <a:p>
            <a:pPr marL="0" indent="0">
              <a:buNone/>
            </a:pPr>
            <a:r>
              <a:rPr lang="en-US" sz="1050" b="1" dirty="0">
                <a:solidFill>
                  <a:srgbClr val="009FE3"/>
                </a:solidFill>
                <a:latin typeface="Arial" pitchFamily="34" charset="0"/>
                <a:ea typeface="Arial" pitchFamily="34" charset="-122"/>
                <a:cs typeface="Arial" pitchFamily="34" charset="-120"/>
              </a:rPr>
              <a:t>Is the headcount right for the new flow?</a:t>
            </a:r>
            <a:endParaRPr lang="en-US" sz="1050" dirty="0"/>
          </a:p>
        </p:txBody>
      </p:sp>
      <p:sp>
        <p:nvSpPr>
          <p:cNvPr id="22" name="Text 19"/>
          <p:cNvSpPr/>
          <p:nvPr/>
        </p:nvSpPr>
        <p:spPr>
          <a:xfrm>
            <a:off x="320040" y="5120640"/>
            <a:ext cx="5303520" cy="768096"/>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Pull scheduling typically reduces the headcount needed at some steps and increases it at others. Model the future state staffing requirements against takt time and cycle times.</a:t>
            </a:r>
            <a:endParaRPr lang="en-US" sz="1000" dirty="0"/>
          </a:p>
        </p:txBody>
      </p:sp>
      <p:sp>
        <p:nvSpPr>
          <p:cNvPr id="23" name="Shape 20"/>
          <p:cNvSpPr/>
          <p:nvPr/>
        </p:nvSpPr>
        <p:spPr>
          <a:xfrm>
            <a:off x="6035040" y="987552"/>
            <a:ext cx="5897880" cy="3291840"/>
          </a:xfrm>
          <a:prstGeom prst="rect">
            <a:avLst/>
          </a:prstGeom>
          <a:solidFill>
            <a:srgbClr val="F2F2F2"/>
          </a:solidFill>
          <a:ln w="6350">
            <a:solidFill>
              <a:srgbClr val="D8D8D8"/>
            </a:solidFill>
            <a:prstDash val="solid"/>
          </a:ln>
        </p:spPr>
        <p:txBody>
          <a:bodyPr/>
          <a:lstStyle/>
          <a:p>
            <a:endParaRPr lang="en-GB"/>
          </a:p>
        </p:txBody>
      </p:sp>
      <p:sp>
        <p:nvSpPr>
          <p:cNvPr id="24" name="Text 21"/>
          <p:cNvSpPr/>
          <p:nvPr/>
        </p:nvSpPr>
        <p:spPr>
          <a:xfrm>
            <a:off x="6126480" y="1005840"/>
            <a:ext cx="5715000" cy="237744"/>
          </a:xfrm>
          <a:prstGeom prst="rect">
            <a:avLst/>
          </a:prstGeom>
          <a:noFill/>
          <a:ln/>
        </p:spPr>
        <p:txBody>
          <a:bodyPr wrap="square" rtlCol="0" anchor="ctr"/>
          <a:lstStyle/>
          <a:p>
            <a:pPr marL="0" indent="0">
              <a:buNone/>
            </a:pPr>
            <a:r>
              <a:rPr lang="en-US" sz="950" b="1" dirty="0">
                <a:solidFill>
                  <a:srgbClr val="1E3A5F"/>
                </a:solidFill>
                <a:latin typeface="Arial" pitchFamily="34" charset="0"/>
                <a:ea typeface="Arial" pitchFamily="34" charset="-122"/>
                <a:cs typeface="Arial" pitchFamily="34" charset="-120"/>
              </a:rPr>
              <a:t>STEP 14: DRAW THE COMPLETE FUTURE STATE MAP</a:t>
            </a:r>
            <a:endParaRPr lang="en-US" sz="950" dirty="0"/>
          </a:p>
        </p:txBody>
      </p:sp>
      <p:sp>
        <p:nvSpPr>
          <p:cNvPr id="25" name="Shape 22"/>
          <p:cNvSpPr/>
          <p:nvPr/>
        </p:nvSpPr>
        <p:spPr>
          <a:xfrm>
            <a:off x="6035040" y="1207008"/>
            <a:ext cx="5897880" cy="36576"/>
          </a:xfrm>
          <a:prstGeom prst="rect">
            <a:avLst/>
          </a:prstGeom>
          <a:solidFill>
            <a:srgbClr val="009FE3"/>
          </a:solidFill>
          <a:ln/>
        </p:spPr>
        <p:txBody>
          <a:bodyPr/>
          <a:lstStyle/>
          <a:p>
            <a:endParaRPr lang="en-GB"/>
          </a:p>
        </p:txBody>
      </p:sp>
      <p:sp>
        <p:nvSpPr>
          <p:cNvPr id="26" name="Shape 23"/>
          <p:cNvSpPr/>
          <p:nvPr/>
        </p:nvSpPr>
        <p:spPr>
          <a:xfrm>
            <a:off x="6108192" y="1367028"/>
            <a:ext cx="91440" cy="91440"/>
          </a:xfrm>
          <a:prstGeom prst="rect">
            <a:avLst/>
          </a:prstGeom>
          <a:solidFill>
            <a:srgbClr val="009FE3"/>
          </a:solidFill>
          <a:ln/>
        </p:spPr>
        <p:txBody>
          <a:bodyPr/>
          <a:lstStyle/>
          <a:p>
            <a:endParaRPr lang="en-GB"/>
          </a:p>
        </p:txBody>
      </p:sp>
      <p:sp>
        <p:nvSpPr>
          <p:cNvPr id="27" name="Text 24"/>
          <p:cNvSpPr/>
          <p:nvPr/>
        </p:nvSpPr>
        <p:spPr>
          <a:xfrm>
            <a:off x="6309360" y="1316736"/>
            <a:ext cx="5623560" cy="292608"/>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Draw all process boxes with the new cycle times and staffing levels from the future state design</a:t>
            </a:r>
            <a:endParaRPr lang="en-US" sz="1000" dirty="0"/>
          </a:p>
        </p:txBody>
      </p:sp>
      <p:sp>
        <p:nvSpPr>
          <p:cNvPr id="28" name="Shape 25"/>
          <p:cNvSpPr/>
          <p:nvPr/>
        </p:nvSpPr>
        <p:spPr>
          <a:xfrm>
            <a:off x="6108192" y="1641348"/>
            <a:ext cx="91440" cy="91440"/>
          </a:xfrm>
          <a:prstGeom prst="rect">
            <a:avLst/>
          </a:prstGeom>
          <a:solidFill>
            <a:srgbClr val="009FE3"/>
          </a:solidFill>
          <a:ln/>
        </p:spPr>
        <p:txBody>
          <a:bodyPr/>
          <a:lstStyle/>
          <a:p>
            <a:endParaRPr lang="en-GB"/>
          </a:p>
        </p:txBody>
      </p:sp>
      <p:sp>
        <p:nvSpPr>
          <p:cNvPr id="29" name="Text 26"/>
          <p:cNvSpPr/>
          <p:nvPr/>
        </p:nvSpPr>
        <p:spPr>
          <a:xfrm>
            <a:off x="6309360" y="1591056"/>
            <a:ext cx="5623560" cy="292608"/>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Show the new information flow: electronic pull signal to the pacemaker only</a:t>
            </a:r>
            <a:endParaRPr lang="en-US" sz="1000" dirty="0"/>
          </a:p>
        </p:txBody>
      </p:sp>
      <p:sp>
        <p:nvSpPr>
          <p:cNvPr id="30" name="Shape 27"/>
          <p:cNvSpPr/>
          <p:nvPr/>
        </p:nvSpPr>
        <p:spPr>
          <a:xfrm>
            <a:off x="6108192" y="1915668"/>
            <a:ext cx="91440" cy="91440"/>
          </a:xfrm>
          <a:prstGeom prst="rect">
            <a:avLst/>
          </a:prstGeom>
          <a:solidFill>
            <a:srgbClr val="009FE3"/>
          </a:solidFill>
          <a:ln/>
        </p:spPr>
        <p:txBody>
          <a:bodyPr/>
          <a:lstStyle/>
          <a:p>
            <a:endParaRPr lang="en-GB"/>
          </a:p>
        </p:txBody>
      </p:sp>
      <p:sp>
        <p:nvSpPr>
          <p:cNvPr id="31" name="Text 28"/>
          <p:cNvSpPr/>
          <p:nvPr/>
        </p:nvSpPr>
        <p:spPr>
          <a:xfrm>
            <a:off x="6309360" y="1865376"/>
            <a:ext cx="5623560" cy="292608"/>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Mark FIFO lanes and kanban quantities between each step</a:t>
            </a:r>
            <a:endParaRPr lang="en-US" sz="1000" dirty="0"/>
          </a:p>
        </p:txBody>
      </p:sp>
      <p:sp>
        <p:nvSpPr>
          <p:cNvPr id="32" name="Shape 29"/>
          <p:cNvSpPr/>
          <p:nvPr/>
        </p:nvSpPr>
        <p:spPr>
          <a:xfrm>
            <a:off x="6108192" y="2189988"/>
            <a:ext cx="91440" cy="91440"/>
          </a:xfrm>
          <a:prstGeom prst="rect">
            <a:avLst/>
          </a:prstGeom>
          <a:solidFill>
            <a:srgbClr val="009FE3"/>
          </a:solidFill>
          <a:ln/>
        </p:spPr>
        <p:txBody>
          <a:bodyPr/>
          <a:lstStyle/>
          <a:p>
            <a:endParaRPr lang="en-GB"/>
          </a:p>
        </p:txBody>
      </p:sp>
      <p:sp>
        <p:nvSpPr>
          <p:cNvPr id="33" name="Text 30"/>
          <p:cNvSpPr/>
          <p:nvPr/>
        </p:nvSpPr>
        <p:spPr>
          <a:xfrm>
            <a:off x="6309360" y="2139696"/>
            <a:ext cx="5623560" cy="292608"/>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Show the reduced inventory triangles at each buffer point</a:t>
            </a:r>
            <a:endParaRPr lang="en-US" sz="1000" dirty="0"/>
          </a:p>
        </p:txBody>
      </p:sp>
      <p:sp>
        <p:nvSpPr>
          <p:cNvPr id="34" name="Shape 31"/>
          <p:cNvSpPr/>
          <p:nvPr/>
        </p:nvSpPr>
        <p:spPr>
          <a:xfrm>
            <a:off x="6108192" y="2464308"/>
            <a:ext cx="91440" cy="91440"/>
          </a:xfrm>
          <a:prstGeom prst="rect">
            <a:avLst/>
          </a:prstGeom>
          <a:solidFill>
            <a:srgbClr val="009FE3"/>
          </a:solidFill>
          <a:ln/>
        </p:spPr>
        <p:txBody>
          <a:bodyPr/>
          <a:lstStyle/>
          <a:p>
            <a:endParaRPr lang="en-GB"/>
          </a:p>
        </p:txBody>
      </p:sp>
      <p:sp>
        <p:nvSpPr>
          <p:cNvPr id="35" name="Text 32"/>
          <p:cNvSpPr/>
          <p:nvPr/>
        </p:nvSpPr>
        <p:spPr>
          <a:xfrm>
            <a:off x="6309360" y="2414016"/>
            <a:ext cx="5623560" cy="292608"/>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Draw the timeline with the new wait times and cycle times</a:t>
            </a:r>
            <a:endParaRPr lang="en-US" sz="1000" dirty="0"/>
          </a:p>
        </p:txBody>
      </p:sp>
      <p:sp>
        <p:nvSpPr>
          <p:cNvPr id="36" name="Shape 33"/>
          <p:cNvSpPr/>
          <p:nvPr/>
        </p:nvSpPr>
        <p:spPr>
          <a:xfrm>
            <a:off x="6108192" y="2738628"/>
            <a:ext cx="91440" cy="91440"/>
          </a:xfrm>
          <a:prstGeom prst="rect">
            <a:avLst/>
          </a:prstGeom>
          <a:solidFill>
            <a:srgbClr val="009FE3"/>
          </a:solidFill>
          <a:ln/>
        </p:spPr>
        <p:txBody>
          <a:bodyPr/>
          <a:lstStyle/>
          <a:p>
            <a:endParaRPr lang="en-GB"/>
          </a:p>
        </p:txBody>
      </p:sp>
      <p:sp>
        <p:nvSpPr>
          <p:cNvPr id="37" name="Text 34"/>
          <p:cNvSpPr/>
          <p:nvPr/>
        </p:nvSpPr>
        <p:spPr>
          <a:xfrm>
            <a:off x="6309360" y="2688336"/>
            <a:ext cx="5623560" cy="292608"/>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Mark targets on any remaining kaizen bursts (uptime improvement, further SMED, etc.)</a:t>
            </a:r>
            <a:endParaRPr lang="en-US" sz="1000" dirty="0"/>
          </a:p>
        </p:txBody>
      </p:sp>
      <p:sp>
        <p:nvSpPr>
          <p:cNvPr id="38" name="Shape 35"/>
          <p:cNvSpPr/>
          <p:nvPr/>
        </p:nvSpPr>
        <p:spPr>
          <a:xfrm>
            <a:off x="6108192" y="3012948"/>
            <a:ext cx="91440" cy="91440"/>
          </a:xfrm>
          <a:prstGeom prst="rect">
            <a:avLst/>
          </a:prstGeom>
          <a:solidFill>
            <a:srgbClr val="009FE3"/>
          </a:solidFill>
          <a:ln/>
        </p:spPr>
        <p:txBody>
          <a:bodyPr/>
          <a:lstStyle/>
          <a:p>
            <a:endParaRPr lang="en-GB"/>
          </a:p>
        </p:txBody>
      </p:sp>
      <p:sp>
        <p:nvSpPr>
          <p:cNvPr id="39" name="Text 36"/>
          <p:cNvSpPr/>
          <p:nvPr/>
        </p:nvSpPr>
        <p:spPr>
          <a:xfrm>
            <a:off x="6309360" y="2962656"/>
            <a:ext cx="5623560" cy="292608"/>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Add the future state metrics: lead time, process efficiency, and WIP target</a:t>
            </a:r>
            <a:endParaRPr lang="en-US" sz="1000" dirty="0"/>
          </a:p>
        </p:txBody>
      </p:sp>
      <p:sp>
        <p:nvSpPr>
          <p:cNvPr id="40" name="Shape 37"/>
          <p:cNvSpPr/>
          <p:nvPr/>
        </p:nvSpPr>
        <p:spPr>
          <a:xfrm>
            <a:off x="6035040" y="4352544"/>
            <a:ext cx="5897880" cy="1920240"/>
          </a:xfrm>
          <a:prstGeom prst="rect">
            <a:avLst/>
          </a:prstGeom>
          <a:solidFill>
            <a:srgbClr val="FFFFFF"/>
          </a:solidFill>
          <a:ln w="12700">
            <a:solidFill>
              <a:srgbClr val="217346"/>
            </a:solidFill>
            <a:prstDash val="solid"/>
          </a:ln>
        </p:spPr>
        <p:txBody>
          <a:bodyPr/>
          <a:lstStyle/>
          <a:p>
            <a:endParaRPr lang="en-GB"/>
          </a:p>
        </p:txBody>
      </p:sp>
      <p:sp>
        <p:nvSpPr>
          <p:cNvPr id="41" name="Shape 38"/>
          <p:cNvSpPr/>
          <p:nvPr/>
        </p:nvSpPr>
        <p:spPr>
          <a:xfrm>
            <a:off x="6035040" y="4352544"/>
            <a:ext cx="5897880" cy="256032"/>
          </a:xfrm>
          <a:prstGeom prst="rect">
            <a:avLst/>
          </a:prstGeom>
          <a:solidFill>
            <a:srgbClr val="217346"/>
          </a:solidFill>
          <a:ln/>
        </p:spPr>
        <p:txBody>
          <a:bodyPr/>
          <a:lstStyle/>
          <a:p>
            <a:endParaRPr lang="en-GB"/>
          </a:p>
        </p:txBody>
      </p:sp>
      <p:sp>
        <p:nvSpPr>
          <p:cNvPr id="42" name="Text 39"/>
          <p:cNvSpPr/>
          <p:nvPr/>
        </p:nvSpPr>
        <p:spPr>
          <a:xfrm>
            <a:off x="6126480" y="4370832"/>
            <a:ext cx="5715000" cy="219456"/>
          </a:xfrm>
          <a:prstGeom prst="rect">
            <a:avLst/>
          </a:prstGeom>
          <a:noFill/>
          <a:ln/>
        </p:spPr>
        <p:txBody>
          <a:bodyPr wrap="square" rtlCol="0" anchor="ctr"/>
          <a:lstStyle/>
          <a:p>
            <a:pPr marL="0" indent="0">
              <a:buNone/>
            </a:pPr>
            <a:r>
              <a:rPr lang="en-US" sz="850" b="1" dirty="0">
                <a:solidFill>
                  <a:srgbClr val="FFFFFF"/>
                </a:solidFill>
                <a:latin typeface="Arial" pitchFamily="34" charset="0"/>
                <a:ea typeface="Arial" pitchFamily="34" charset="-122"/>
                <a:cs typeface="Arial" pitchFamily="34" charset="-120"/>
              </a:rPr>
              <a:t>FUTURE STATE MAP, Precision Engineering Ltd  (7-day lead time target)</a:t>
            </a:r>
            <a:endParaRPr lang="en-US" sz="850" dirty="0"/>
          </a:p>
        </p:txBody>
      </p:sp>
      <p:sp>
        <p:nvSpPr>
          <p:cNvPr id="43" name="Shape 40"/>
          <p:cNvSpPr/>
          <p:nvPr/>
        </p:nvSpPr>
        <p:spPr>
          <a:xfrm>
            <a:off x="6126480" y="4681728"/>
            <a:ext cx="969264" cy="219456"/>
          </a:xfrm>
          <a:prstGeom prst="rect">
            <a:avLst/>
          </a:prstGeom>
          <a:solidFill>
            <a:srgbClr val="217346"/>
          </a:solidFill>
          <a:ln/>
        </p:spPr>
        <p:txBody>
          <a:bodyPr/>
          <a:lstStyle/>
          <a:p>
            <a:endParaRPr lang="en-GB"/>
          </a:p>
        </p:txBody>
      </p:sp>
      <p:sp>
        <p:nvSpPr>
          <p:cNvPr id="44" name="Text 41"/>
          <p:cNvSpPr/>
          <p:nvPr/>
        </p:nvSpPr>
        <p:spPr>
          <a:xfrm>
            <a:off x="6126480" y="4690872"/>
            <a:ext cx="969264" cy="201168"/>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GDS IN</a:t>
            </a:r>
            <a:endParaRPr lang="en-US" sz="700" dirty="0"/>
          </a:p>
        </p:txBody>
      </p:sp>
      <p:sp>
        <p:nvSpPr>
          <p:cNvPr id="45" name="Shape 42"/>
          <p:cNvSpPr/>
          <p:nvPr/>
        </p:nvSpPr>
        <p:spPr>
          <a:xfrm>
            <a:off x="6126480" y="4901184"/>
            <a:ext cx="969264" cy="292608"/>
          </a:xfrm>
          <a:prstGeom prst="rect">
            <a:avLst/>
          </a:prstGeom>
          <a:solidFill>
            <a:srgbClr val="EAF4EE"/>
          </a:solidFill>
          <a:ln w="3810">
            <a:solidFill>
              <a:srgbClr val="D8D8D8"/>
            </a:solidFill>
            <a:prstDash val="solid"/>
          </a:ln>
        </p:spPr>
        <p:txBody>
          <a:bodyPr/>
          <a:lstStyle/>
          <a:p>
            <a:endParaRPr lang="en-GB"/>
          </a:p>
        </p:txBody>
      </p:sp>
      <p:sp>
        <p:nvSpPr>
          <p:cNvPr id="46" name="Text 43"/>
          <p:cNvSpPr/>
          <p:nvPr/>
        </p:nvSpPr>
        <p:spPr>
          <a:xfrm>
            <a:off x="6126480" y="4919472"/>
            <a:ext cx="969264" cy="256032"/>
          </a:xfrm>
          <a:prstGeom prst="rect">
            <a:avLst/>
          </a:prstGeom>
          <a:noFill/>
          <a:ln/>
        </p:spPr>
        <p:txBody>
          <a:bodyPr wrap="square" rtlCol="0" anchor="ctr"/>
          <a:lstStyle/>
          <a:p>
            <a:pPr marL="0" indent="0" algn="ctr">
              <a:buNone/>
            </a:pPr>
            <a:r>
              <a:rPr lang="en-US" sz="750" b="1" dirty="0">
                <a:solidFill>
                  <a:srgbClr val="217346"/>
                </a:solidFill>
                <a:latin typeface="Arial" pitchFamily="34" charset="0"/>
                <a:ea typeface="Arial" pitchFamily="34" charset="-122"/>
                <a:cs typeface="Arial" pitchFamily="34" charset="-120"/>
              </a:rPr>
              <a:t>15m</a:t>
            </a:r>
            <a:endParaRPr lang="en-US" sz="750" dirty="0"/>
          </a:p>
        </p:txBody>
      </p:sp>
      <p:sp>
        <p:nvSpPr>
          <p:cNvPr id="47" name="Shape 44"/>
          <p:cNvSpPr/>
          <p:nvPr/>
        </p:nvSpPr>
        <p:spPr>
          <a:xfrm>
            <a:off x="7114032" y="4754880"/>
            <a:ext cx="237744" cy="182880"/>
          </a:xfrm>
          <a:prstGeom prst="rect">
            <a:avLst/>
          </a:prstGeom>
          <a:solidFill>
            <a:srgbClr val="217346"/>
          </a:solidFill>
          <a:ln/>
        </p:spPr>
        <p:txBody>
          <a:bodyPr/>
          <a:lstStyle/>
          <a:p>
            <a:endParaRPr lang="en-GB"/>
          </a:p>
        </p:txBody>
      </p:sp>
      <p:sp>
        <p:nvSpPr>
          <p:cNvPr id="48" name="Text 45"/>
          <p:cNvSpPr/>
          <p:nvPr/>
        </p:nvSpPr>
        <p:spPr>
          <a:xfrm>
            <a:off x="7114032" y="4754880"/>
            <a:ext cx="237744" cy="182880"/>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PULL</a:t>
            </a:r>
            <a:endParaRPr lang="en-US" sz="550" dirty="0"/>
          </a:p>
        </p:txBody>
      </p:sp>
      <p:sp>
        <p:nvSpPr>
          <p:cNvPr id="49" name="Shape 46"/>
          <p:cNvSpPr/>
          <p:nvPr/>
        </p:nvSpPr>
        <p:spPr>
          <a:xfrm>
            <a:off x="7114032" y="4937760"/>
            <a:ext cx="91440" cy="91440"/>
          </a:xfrm>
          <a:prstGeom prst="rect">
            <a:avLst/>
          </a:prstGeom>
          <a:solidFill>
            <a:srgbClr val="217346"/>
          </a:solidFill>
          <a:ln/>
        </p:spPr>
        <p:txBody>
          <a:bodyPr/>
          <a:lstStyle/>
          <a:p>
            <a:endParaRPr lang="en-GB"/>
          </a:p>
        </p:txBody>
      </p:sp>
      <p:sp>
        <p:nvSpPr>
          <p:cNvPr id="50" name="Text 47"/>
          <p:cNvSpPr/>
          <p:nvPr/>
        </p:nvSpPr>
        <p:spPr>
          <a:xfrm>
            <a:off x="7077456" y="5029200"/>
            <a:ext cx="164592" cy="128016"/>
          </a:xfrm>
          <a:prstGeom prst="rect">
            <a:avLst/>
          </a:prstGeom>
          <a:noFill/>
          <a:ln/>
        </p:spPr>
        <p:txBody>
          <a:bodyPr wrap="square" rtlCol="0" anchor="ctr"/>
          <a:lstStyle/>
          <a:p>
            <a:pPr marL="0" indent="0" algn="ctr">
              <a:buNone/>
            </a:pPr>
            <a:r>
              <a:rPr lang="en-US" sz="600" dirty="0">
                <a:solidFill>
                  <a:srgbClr val="217346"/>
                </a:solidFill>
                <a:latin typeface="Arial" pitchFamily="34" charset="0"/>
                <a:ea typeface="Arial" pitchFamily="34" charset="-122"/>
                <a:cs typeface="Arial" pitchFamily="34" charset="-120"/>
              </a:rPr>
              <a:t>0.5d</a:t>
            </a:r>
            <a:endParaRPr lang="en-US" sz="600" dirty="0"/>
          </a:p>
        </p:txBody>
      </p:sp>
      <p:sp>
        <p:nvSpPr>
          <p:cNvPr id="51" name="Shape 48"/>
          <p:cNvSpPr/>
          <p:nvPr/>
        </p:nvSpPr>
        <p:spPr>
          <a:xfrm>
            <a:off x="7205472" y="4681728"/>
            <a:ext cx="969264" cy="219456"/>
          </a:xfrm>
          <a:prstGeom prst="rect">
            <a:avLst/>
          </a:prstGeom>
          <a:solidFill>
            <a:srgbClr val="217346"/>
          </a:solidFill>
          <a:ln/>
        </p:spPr>
        <p:txBody>
          <a:bodyPr/>
          <a:lstStyle/>
          <a:p>
            <a:endParaRPr lang="en-GB"/>
          </a:p>
        </p:txBody>
      </p:sp>
      <p:sp>
        <p:nvSpPr>
          <p:cNvPr id="52" name="Text 49"/>
          <p:cNvSpPr/>
          <p:nvPr/>
        </p:nvSpPr>
        <p:spPr>
          <a:xfrm>
            <a:off x="7205472" y="4690872"/>
            <a:ext cx="969264" cy="201168"/>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TURNING</a:t>
            </a:r>
            <a:endParaRPr lang="en-US" sz="700" dirty="0"/>
          </a:p>
        </p:txBody>
      </p:sp>
      <p:sp>
        <p:nvSpPr>
          <p:cNvPr id="53" name="Shape 50"/>
          <p:cNvSpPr/>
          <p:nvPr/>
        </p:nvSpPr>
        <p:spPr>
          <a:xfrm>
            <a:off x="7205472" y="4901184"/>
            <a:ext cx="969264" cy="292608"/>
          </a:xfrm>
          <a:prstGeom prst="rect">
            <a:avLst/>
          </a:prstGeom>
          <a:solidFill>
            <a:srgbClr val="EAF4EE"/>
          </a:solidFill>
          <a:ln w="3810">
            <a:solidFill>
              <a:srgbClr val="D8D8D8"/>
            </a:solidFill>
            <a:prstDash val="solid"/>
          </a:ln>
        </p:spPr>
        <p:txBody>
          <a:bodyPr/>
          <a:lstStyle/>
          <a:p>
            <a:endParaRPr lang="en-GB"/>
          </a:p>
        </p:txBody>
      </p:sp>
      <p:sp>
        <p:nvSpPr>
          <p:cNvPr id="54" name="Text 51"/>
          <p:cNvSpPr/>
          <p:nvPr/>
        </p:nvSpPr>
        <p:spPr>
          <a:xfrm>
            <a:off x="7205472" y="4919472"/>
            <a:ext cx="969264" cy="256032"/>
          </a:xfrm>
          <a:prstGeom prst="rect">
            <a:avLst/>
          </a:prstGeom>
          <a:noFill/>
          <a:ln/>
        </p:spPr>
        <p:txBody>
          <a:bodyPr wrap="square" rtlCol="0" anchor="ctr"/>
          <a:lstStyle/>
          <a:p>
            <a:pPr marL="0" indent="0" algn="ctr">
              <a:buNone/>
            </a:pPr>
            <a:r>
              <a:rPr lang="en-US" sz="750" b="1" dirty="0">
                <a:solidFill>
                  <a:srgbClr val="217346"/>
                </a:solidFill>
                <a:latin typeface="Arial" pitchFamily="34" charset="0"/>
                <a:ea typeface="Arial" pitchFamily="34" charset="-122"/>
                <a:cs typeface="Arial" pitchFamily="34" charset="-120"/>
              </a:rPr>
              <a:t>42m</a:t>
            </a:r>
            <a:endParaRPr lang="en-US" sz="750" dirty="0"/>
          </a:p>
        </p:txBody>
      </p:sp>
      <p:sp>
        <p:nvSpPr>
          <p:cNvPr id="55" name="Shape 52"/>
          <p:cNvSpPr/>
          <p:nvPr/>
        </p:nvSpPr>
        <p:spPr>
          <a:xfrm>
            <a:off x="8193024" y="4754880"/>
            <a:ext cx="237744" cy="182880"/>
          </a:xfrm>
          <a:prstGeom prst="rect">
            <a:avLst/>
          </a:prstGeom>
          <a:solidFill>
            <a:srgbClr val="217346"/>
          </a:solidFill>
          <a:ln/>
        </p:spPr>
        <p:txBody>
          <a:bodyPr/>
          <a:lstStyle/>
          <a:p>
            <a:endParaRPr lang="en-GB"/>
          </a:p>
        </p:txBody>
      </p:sp>
      <p:sp>
        <p:nvSpPr>
          <p:cNvPr id="56" name="Text 53"/>
          <p:cNvSpPr/>
          <p:nvPr/>
        </p:nvSpPr>
        <p:spPr>
          <a:xfrm>
            <a:off x="8193024" y="4754880"/>
            <a:ext cx="237744" cy="182880"/>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PULL</a:t>
            </a:r>
            <a:endParaRPr lang="en-US" sz="550" dirty="0"/>
          </a:p>
        </p:txBody>
      </p:sp>
      <p:sp>
        <p:nvSpPr>
          <p:cNvPr id="57" name="Shape 54"/>
          <p:cNvSpPr/>
          <p:nvPr/>
        </p:nvSpPr>
        <p:spPr>
          <a:xfrm>
            <a:off x="8193024" y="4937760"/>
            <a:ext cx="91440" cy="91440"/>
          </a:xfrm>
          <a:prstGeom prst="rect">
            <a:avLst/>
          </a:prstGeom>
          <a:solidFill>
            <a:srgbClr val="217346"/>
          </a:solidFill>
          <a:ln/>
        </p:spPr>
        <p:txBody>
          <a:bodyPr/>
          <a:lstStyle/>
          <a:p>
            <a:endParaRPr lang="en-GB"/>
          </a:p>
        </p:txBody>
      </p:sp>
      <p:sp>
        <p:nvSpPr>
          <p:cNvPr id="58" name="Text 55"/>
          <p:cNvSpPr/>
          <p:nvPr/>
        </p:nvSpPr>
        <p:spPr>
          <a:xfrm>
            <a:off x="8156448" y="5029200"/>
            <a:ext cx="164592" cy="128016"/>
          </a:xfrm>
          <a:prstGeom prst="rect">
            <a:avLst/>
          </a:prstGeom>
          <a:noFill/>
          <a:ln/>
        </p:spPr>
        <p:txBody>
          <a:bodyPr wrap="square" rtlCol="0" anchor="ctr"/>
          <a:lstStyle/>
          <a:p>
            <a:pPr marL="0" indent="0" algn="ctr">
              <a:buNone/>
            </a:pPr>
            <a:r>
              <a:rPr lang="en-US" sz="600" dirty="0">
                <a:solidFill>
                  <a:srgbClr val="217346"/>
                </a:solidFill>
                <a:latin typeface="Arial" pitchFamily="34" charset="0"/>
                <a:ea typeface="Arial" pitchFamily="34" charset="-122"/>
                <a:cs typeface="Arial" pitchFamily="34" charset="-120"/>
              </a:rPr>
              <a:t>0.8d</a:t>
            </a:r>
            <a:endParaRPr lang="en-US" sz="600" dirty="0"/>
          </a:p>
        </p:txBody>
      </p:sp>
      <p:sp>
        <p:nvSpPr>
          <p:cNvPr id="59" name="Shape 56"/>
          <p:cNvSpPr/>
          <p:nvPr/>
        </p:nvSpPr>
        <p:spPr>
          <a:xfrm>
            <a:off x="8284464" y="4681728"/>
            <a:ext cx="969264" cy="219456"/>
          </a:xfrm>
          <a:prstGeom prst="rect">
            <a:avLst/>
          </a:prstGeom>
          <a:solidFill>
            <a:srgbClr val="217346"/>
          </a:solidFill>
          <a:ln/>
        </p:spPr>
        <p:txBody>
          <a:bodyPr/>
          <a:lstStyle/>
          <a:p>
            <a:endParaRPr lang="en-GB"/>
          </a:p>
        </p:txBody>
      </p:sp>
      <p:sp>
        <p:nvSpPr>
          <p:cNvPr id="60" name="Text 57"/>
          <p:cNvSpPr/>
          <p:nvPr/>
        </p:nvSpPr>
        <p:spPr>
          <a:xfrm>
            <a:off x="8284464" y="4690872"/>
            <a:ext cx="969264" cy="201168"/>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MILLING</a:t>
            </a:r>
            <a:endParaRPr lang="en-US" sz="700" dirty="0"/>
          </a:p>
        </p:txBody>
      </p:sp>
      <p:sp>
        <p:nvSpPr>
          <p:cNvPr id="61" name="Shape 58"/>
          <p:cNvSpPr/>
          <p:nvPr/>
        </p:nvSpPr>
        <p:spPr>
          <a:xfrm>
            <a:off x="8284464" y="4901184"/>
            <a:ext cx="969264" cy="292608"/>
          </a:xfrm>
          <a:prstGeom prst="rect">
            <a:avLst/>
          </a:prstGeom>
          <a:solidFill>
            <a:srgbClr val="EAF4EE"/>
          </a:solidFill>
          <a:ln w="3810">
            <a:solidFill>
              <a:srgbClr val="D8D8D8"/>
            </a:solidFill>
            <a:prstDash val="solid"/>
          </a:ln>
        </p:spPr>
        <p:txBody>
          <a:bodyPr/>
          <a:lstStyle/>
          <a:p>
            <a:endParaRPr lang="en-GB"/>
          </a:p>
        </p:txBody>
      </p:sp>
      <p:sp>
        <p:nvSpPr>
          <p:cNvPr id="62" name="Text 59"/>
          <p:cNvSpPr/>
          <p:nvPr/>
        </p:nvSpPr>
        <p:spPr>
          <a:xfrm>
            <a:off x="8284464" y="4919472"/>
            <a:ext cx="969264" cy="256032"/>
          </a:xfrm>
          <a:prstGeom prst="rect">
            <a:avLst/>
          </a:prstGeom>
          <a:noFill/>
          <a:ln/>
        </p:spPr>
        <p:txBody>
          <a:bodyPr wrap="square" rtlCol="0" anchor="ctr"/>
          <a:lstStyle/>
          <a:p>
            <a:pPr marL="0" indent="0" algn="ctr">
              <a:buNone/>
            </a:pPr>
            <a:r>
              <a:rPr lang="en-US" sz="750" b="1" dirty="0">
                <a:solidFill>
                  <a:srgbClr val="217346"/>
                </a:solidFill>
                <a:latin typeface="Arial" pitchFamily="34" charset="0"/>
                <a:ea typeface="Arial" pitchFamily="34" charset="-122"/>
                <a:cs typeface="Arial" pitchFamily="34" charset="-120"/>
              </a:rPr>
              <a:t>38m</a:t>
            </a:r>
            <a:endParaRPr lang="en-US" sz="750" dirty="0"/>
          </a:p>
        </p:txBody>
      </p:sp>
      <p:sp>
        <p:nvSpPr>
          <p:cNvPr id="63" name="Shape 60"/>
          <p:cNvSpPr/>
          <p:nvPr/>
        </p:nvSpPr>
        <p:spPr>
          <a:xfrm>
            <a:off x="9272016" y="4754880"/>
            <a:ext cx="237744" cy="182880"/>
          </a:xfrm>
          <a:prstGeom prst="rect">
            <a:avLst/>
          </a:prstGeom>
          <a:solidFill>
            <a:srgbClr val="217346"/>
          </a:solidFill>
          <a:ln/>
        </p:spPr>
        <p:txBody>
          <a:bodyPr/>
          <a:lstStyle/>
          <a:p>
            <a:endParaRPr lang="en-GB"/>
          </a:p>
        </p:txBody>
      </p:sp>
      <p:sp>
        <p:nvSpPr>
          <p:cNvPr id="64" name="Text 61"/>
          <p:cNvSpPr/>
          <p:nvPr/>
        </p:nvSpPr>
        <p:spPr>
          <a:xfrm>
            <a:off x="9272016" y="4754880"/>
            <a:ext cx="237744" cy="182880"/>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PULL</a:t>
            </a:r>
            <a:endParaRPr lang="en-US" sz="550" dirty="0"/>
          </a:p>
        </p:txBody>
      </p:sp>
      <p:sp>
        <p:nvSpPr>
          <p:cNvPr id="65" name="Shape 62"/>
          <p:cNvSpPr/>
          <p:nvPr/>
        </p:nvSpPr>
        <p:spPr>
          <a:xfrm>
            <a:off x="9272016" y="4937760"/>
            <a:ext cx="91440" cy="91440"/>
          </a:xfrm>
          <a:prstGeom prst="rect">
            <a:avLst/>
          </a:prstGeom>
          <a:solidFill>
            <a:srgbClr val="217346"/>
          </a:solidFill>
          <a:ln/>
        </p:spPr>
        <p:txBody>
          <a:bodyPr/>
          <a:lstStyle/>
          <a:p>
            <a:endParaRPr lang="en-GB"/>
          </a:p>
        </p:txBody>
      </p:sp>
      <p:sp>
        <p:nvSpPr>
          <p:cNvPr id="66" name="Text 63"/>
          <p:cNvSpPr/>
          <p:nvPr/>
        </p:nvSpPr>
        <p:spPr>
          <a:xfrm>
            <a:off x="9235440" y="5029200"/>
            <a:ext cx="164592" cy="128016"/>
          </a:xfrm>
          <a:prstGeom prst="rect">
            <a:avLst/>
          </a:prstGeom>
          <a:noFill/>
          <a:ln/>
        </p:spPr>
        <p:txBody>
          <a:bodyPr wrap="square" rtlCol="0" anchor="ctr"/>
          <a:lstStyle/>
          <a:p>
            <a:pPr marL="0" indent="0" algn="ctr">
              <a:buNone/>
            </a:pPr>
            <a:r>
              <a:rPr lang="en-US" sz="600" dirty="0">
                <a:solidFill>
                  <a:srgbClr val="217346"/>
                </a:solidFill>
                <a:latin typeface="Arial" pitchFamily="34" charset="0"/>
                <a:ea typeface="Arial" pitchFamily="34" charset="-122"/>
                <a:cs typeface="Arial" pitchFamily="34" charset="-120"/>
              </a:rPr>
              <a:t>0.6d</a:t>
            </a:r>
            <a:endParaRPr lang="en-US" sz="600" dirty="0"/>
          </a:p>
        </p:txBody>
      </p:sp>
      <p:sp>
        <p:nvSpPr>
          <p:cNvPr id="67" name="Shape 64"/>
          <p:cNvSpPr/>
          <p:nvPr/>
        </p:nvSpPr>
        <p:spPr>
          <a:xfrm>
            <a:off x="9363456" y="4681728"/>
            <a:ext cx="969264" cy="219456"/>
          </a:xfrm>
          <a:prstGeom prst="rect">
            <a:avLst/>
          </a:prstGeom>
          <a:solidFill>
            <a:srgbClr val="217346"/>
          </a:solidFill>
          <a:ln/>
        </p:spPr>
        <p:txBody>
          <a:bodyPr/>
          <a:lstStyle/>
          <a:p>
            <a:endParaRPr lang="en-GB"/>
          </a:p>
        </p:txBody>
      </p:sp>
      <p:sp>
        <p:nvSpPr>
          <p:cNvPr id="68" name="Text 65"/>
          <p:cNvSpPr/>
          <p:nvPr/>
        </p:nvSpPr>
        <p:spPr>
          <a:xfrm>
            <a:off x="9363456" y="4690872"/>
            <a:ext cx="969264" cy="201168"/>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DEBURR+</a:t>
            </a:r>
            <a:endParaRPr lang="en-US" sz="700" dirty="0"/>
          </a:p>
          <a:p>
            <a:pPr marL="0" indent="0" algn="ctr">
              <a:buNone/>
            </a:pPr>
            <a:r>
              <a:rPr lang="en-US" sz="700" b="1" dirty="0">
                <a:solidFill>
                  <a:srgbClr val="FFFFFF"/>
                </a:solidFill>
                <a:latin typeface="Arial" pitchFamily="34" charset="0"/>
                <a:ea typeface="Arial" pitchFamily="34" charset="-122"/>
                <a:cs typeface="Arial" pitchFamily="34" charset="-120"/>
              </a:rPr>
              <a:t>INSP.</a:t>
            </a:r>
            <a:endParaRPr lang="en-US" sz="700" dirty="0"/>
          </a:p>
        </p:txBody>
      </p:sp>
      <p:sp>
        <p:nvSpPr>
          <p:cNvPr id="69" name="Shape 66"/>
          <p:cNvSpPr/>
          <p:nvPr/>
        </p:nvSpPr>
        <p:spPr>
          <a:xfrm>
            <a:off x="9363456" y="4901184"/>
            <a:ext cx="969264" cy="292608"/>
          </a:xfrm>
          <a:prstGeom prst="rect">
            <a:avLst/>
          </a:prstGeom>
          <a:solidFill>
            <a:srgbClr val="EAF4EE"/>
          </a:solidFill>
          <a:ln w="3810">
            <a:solidFill>
              <a:srgbClr val="D8D8D8"/>
            </a:solidFill>
            <a:prstDash val="solid"/>
          </a:ln>
        </p:spPr>
        <p:txBody>
          <a:bodyPr/>
          <a:lstStyle/>
          <a:p>
            <a:endParaRPr lang="en-GB"/>
          </a:p>
        </p:txBody>
      </p:sp>
      <p:sp>
        <p:nvSpPr>
          <p:cNvPr id="70" name="Text 67"/>
          <p:cNvSpPr/>
          <p:nvPr/>
        </p:nvSpPr>
        <p:spPr>
          <a:xfrm>
            <a:off x="9363456" y="4919472"/>
            <a:ext cx="969264" cy="256032"/>
          </a:xfrm>
          <a:prstGeom prst="rect">
            <a:avLst/>
          </a:prstGeom>
          <a:noFill/>
          <a:ln/>
        </p:spPr>
        <p:txBody>
          <a:bodyPr wrap="square" rtlCol="0" anchor="ctr"/>
          <a:lstStyle/>
          <a:p>
            <a:pPr marL="0" indent="0" algn="ctr">
              <a:buNone/>
            </a:pPr>
            <a:r>
              <a:rPr lang="en-US" sz="750" b="1" dirty="0">
                <a:solidFill>
                  <a:srgbClr val="217346"/>
                </a:solidFill>
                <a:latin typeface="Arial" pitchFamily="34" charset="0"/>
                <a:ea typeface="Arial" pitchFamily="34" charset="-122"/>
                <a:cs typeface="Arial" pitchFamily="34" charset="-120"/>
              </a:rPr>
              <a:t>28m</a:t>
            </a:r>
            <a:endParaRPr lang="en-US" sz="750" dirty="0"/>
          </a:p>
        </p:txBody>
      </p:sp>
      <p:sp>
        <p:nvSpPr>
          <p:cNvPr id="71" name="Shape 68"/>
          <p:cNvSpPr/>
          <p:nvPr/>
        </p:nvSpPr>
        <p:spPr>
          <a:xfrm>
            <a:off x="10351008" y="4754880"/>
            <a:ext cx="237744" cy="182880"/>
          </a:xfrm>
          <a:prstGeom prst="rect">
            <a:avLst/>
          </a:prstGeom>
          <a:solidFill>
            <a:srgbClr val="217346"/>
          </a:solidFill>
          <a:ln/>
        </p:spPr>
        <p:txBody>
          <a:bodyPr/>
          <a:lstStyle/>
          <a:p>
            <a:endParaRPr lang="en-GB"/>
          </a:p>
        </p:txBody>
      </p:sp>
      <p:sp>
        <p:nvSpPr>
          <p:cNvPr id="72" name="Text 69"/>
          <p:cNvSpPr/>
          <p:nvPr/>
        </p:nvSpPr>
        <p:spPr>
          <a:xfrm>
            <a:off x="10351008" y="4754880"/>
            <a:ext cx="237744" cy="182880"/>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PULL</a:t>
            </a:r>
            <a:endParaRPr lang="en-US" sz="550" dirty="0"/>
          </a:p>
        </p:txBody>
      </p:sp>
      <p:sp>
        <p:nvSpPr>
          <p:cNvPr id="73" name="Shape 70"/>
          <p:cNvSpPr/>
          <p:nvPr/>
        </p:nvSpPr>
        <p:spPr>
          <a:xfrm>
            <a:off x="10351008" y="4937760"/>
            <a:ext cx="91440" cy="91440"/>
          </a:xfrm>
          <a:prstGeom prst="rect">
            <a:avLst/>
          </a:prstGeom>
          <a:solidFill>
            <a:srgbClr val="217346"/>
          </a:solidFill>
          <a:ln/>
        </p:spPr>
        <p:txBody>
          <a:bodyPr/>
          <a:lstStyle/>
          <a:p>
            <a:endParaRPr lang="en-GB"/>
          </a:p>
        </p:txBody>
      </p:sp>
      <p:sp>
        <p:nvSpPr>
          <p:cNvPr id="74" name="Text 71"/>
          <p:cNvSpPr/>
          <p:nvPr/>
        </p:nvSpPr>
        <p:spPr>
          <a:xfrm>
            <a:off x="10314432" y="5029200"/>
            <a:ext cx="164592" cy="128016"/>
          </a:xfrm>
          <a:prstGeom prst="rect">
            <a:avLst/>
          </a:prstGeom>
          <a:noFill/>
          <a:ln/>
        </p:spPr>
        <p:txBody>
          <a:bodyPr wrap="square" rtlCol="0" anchor="ctr"/>
          <a:lstStyle/>
          <a:p>
            <a:pPr marL="0" indent="0" algn="ctr">
              <a:buNone/>
            </a:pPr>
            <a:r>
              <a:rPr lang="en-US" sz="600" dirty="0">
                <a:solidFill>
                  <a:srgbClr val="217346"/>
                </a:solidFill>
                <a:latin typeface="Arial" pitchFamily="34" charset="0"/>
                <a:ea typeface="Arial" pitchFamily="34" charset="-122"/>
                <a:cs typeface="Arial" pitchFamily="34" charset="-120"/>
              </a:rPr>
              <a:t>0.5d</a:t>
            </a:r>
            <a:endParaRPr lang="en-US" sz="600" dirty="0"/>
          </a:p>
        </p:txBody>
      </p:sp>
      <p:sp>
        <p:nvSpPr>
          <p:cNvPr id="75" name="Shape 72"/>
          <p:cNvSpPr/>
          <p:nvPr/>
        </p:nvSpPr>
        <p:spPr>
          <a:xfrm>
            <a:off x="10442448" y="4681728"/>
            <a:ext cx="969264" cy="219456"/>
          </a:xfrm>
          <a:prstGeom prst="rect">
            <a:avLst/>
          </a:prstGeom>
          <a:solidFill>
            <a:srgbClr val="1E3A5F"/>
          </a:solidFill>
          <a:ln/>
        </p:spPr>
        <p:txBody>
          <a:bodyPr/>
          <a:lstStyle/>
          <a:p>
            <a:endParaRPr lang="en-GB"/>
          </a:p>
        </p:txBody>
      </p:sp>
      <p:sp>
        <p:nvSpPr>
          <p:cNvPr id="76" name="Text 73"/>
          <p:cNvSpPr/>
          <p:nvPr/>
        </p:nvSpPr>
        <p:spPr>
          <a:xfrm>
            <a:off x="10442448" y="4690872"/>
            <a:ext cx="969264" cy="201168"/>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DESPATCH</a:t>
            </a:r>
            <a:endParaRPr lang="en-US" sz="700" dirty="0"/>
          </a:p>
        </p:txBody>
      </p:sp>
      <p:sp>
        <p:nvSpPr>
          <p:cNvPr id="77" name="Shape 74"/>
          <p:cNvSpPr/>
          <p:nvPr/>
        </p:nvSpPr>
        <p:spPr>
          <a:xfrm>
            <a:off x="10442448" y="4901184"/>
            <a:ext cx="969264" cy="292608"/>
          </a:xfrm>
          <a:prstGeom prst="rect">
            <a:avLst/>
          </a:prstGeom>
          <a:solidFill>
            <a:srgbClr val="EAF4EE"/>
          </a:solidFill>
          <a:ln w="3810">
            <a:solidFill>
              <a:srgbClr val="D8D8D8"/>
            </a:solidFill>
            <a:prstDash val="solid"/>
          </a:ln>
        </p:spPr>
        <p:txBody>
          <a:bodyPr/>
          <a:lstStyle/>
          <a:p>
            <a:endParaRPr lang="en-GB"/>
          </a:p>
        </p:txBody>
      </p:sp>
      <p:sp>
        <p:nvSpPr>
          <p:cNvPr id="78" name="Text 75"/>
          <p:cNvSpPr/>
          <p:nvPr/>
        </p:nvSpPr>
        <p:spPr>
          <a:xfrm>
            <a:off x="10442448" y="4919472"/>
            <a:ext cx="969264" cy="256032"/>
          </a:xfrm>
          <a:prstGeom prst="rect">
            <a:avLst/>
          </a:prstGeom>
          <a:noFill/>
          <a:ln/>
        </p:spPr>
        <p:txBody>
          <a:bodyPr wrap="square" rtlCol="0" anchor="ctr"/>
          <a:lstStyle/>
          <a:p>
            <a:pPr marL="0" indent="0" algn="ctr">
              <a:buNone/>
            </a:pPr>
            <a:r>
              <a:rPr lang="en-US" sz="750" b="1" dirty="0">
                <a:solidFill>
                  <a:srgbClr val="217346"/>
                </a:solidFill>
                <a:latin typeface="Arial" pitchFamily="34" charset="0"/>
                <a:ea typeface="Arial" pitchFamily="34" charset="-122"/>
                <a:cs typeface="Arial" pitchFamily="34" charset="-120"/>
              </a:rPr>
              <a:t>20m</a:t>
            </a:r>
            <a:endParaRPr lang="en-US" sz="750" dirty="0"/>
          </a:p>
        </p:txBody>
      </p:sp>
      <p:sp>
        <p:nvSpPr>
          <p:cNvPr id="79" name="Shape 76"/>
          <p:cNvSpPr/>
          <p:nvPr/>
        </p:nvSpPr>
        <p:spPr>
          <a:xfrm>
            <a:off x="6080760" y="5266944"/>
            <a:ext cx="5760720" cy="219456"/>
          </a:xfrm>
          <a:prstGeom prst="rect">
            <a:avLst/>
          </a:prstGeom>
          <a:solidFill>
            <a:srgbClr val="EAF4EE"/>
          </a:solidFill>
          <a:ln w="6350">
            <a:solidFill>
              <a:srgbClr val="217346"/>
            </a:solidFill>
            <a:prstDash val="solid"/>
          </a:ln>
        </p:spPr>
        <p:txBody>
          <a:bodyPr/>
          <a:lstStyle/>
          <a:p>
            <a:endParaRPr lang="en-GB"/>
          </a:p>
        </p:txBody>
      </p:sp>
      <p:sp>
        <p:nvSpPr>
          <p:cNvPr id="80" name="Text 77"/>
          <p:cNvSpPr/>
          <p:nvPr/>
        </p:nvSpPr>
        <p:spPr>
          <a:xfrm>
            <a:off x="6126480" y="5285232"/>
            <a:ext cx="5669280" cy="182880"/>
          </a:xfrm>
          <a:prstGeom prst="rect">
            <a:avLst/>
          </a:prstGeom>
          <a:noFill/>
          <a:ln/>
        </p:spPr>
        <p:txBody>
          <a:bodyPr wrap="square" rtlCol="0" anchor="ctr"/>
          <a:lstStyle/>
          <a:p>
            <a:pPr marL="0" indent="0" algn="ctr">
              <a:buNone/>
            </a:pPr>
            <a:r>
              <a:rPr lang="en-US" sz="750" b="1" dirty="0">
                <a:solidFill>
                  <a:srgbClr val="217346"/>
                </a:solidFill>
                <a:latin typeface="Arial" pitchFamily="34" charset="0"/>
                <a:ea typeface="Arial" pitchFamily="34" charset="-122"/>
                <a:cs typeface="Arial" pitchFamily="34" charset="-120"/>
              </a:rPr>
              <a:t>Lead Time: 7 days   |   VA Time: 3.1 hrs   |   Process Efficiency: 5.6%   |   WIP: ~32 units   |   OTIF Target: 94%+</a:t>
            </a:r>
            <a:endParaRPr lang="en-US" sz="750" dirty="0"/>
          </a:p>
        </p:txBody>
      </p:sp>
      <p:sp>
        <p:nvSpPr>
          <p:cNvPr id="81" name="Rectangle 80"/>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2" name="Picture 81" descr="image.png"/>
          <p:cNvPicPr>
            <a:picLocks noChangeAspect="1"/>
          </p:cNvPicPr>
          <p:nvPr/>
        </p:nvPicPr>
        <p:blipFill>
          <a:blip r:embed="rId5"/>
          <a:stretch>
            <a:fillRect/>
          </a:stretch>
        </p:blipFill>
        <p:spPr>
          <a:xfrm>
            <a:off x="10610088" y="100584"/>
            <a:ext cx="566928" cy="347472"/>
          </a:xfrm>
          <a:prstGeom prst="rect">
            <a:avLst/>
          </a:prstGeom>
        </p:spPr>
      </p:pic>
      <p:pic>
        <p:nvPicPr>
          <p:cNvPr id="83" name="Picture 82" descr="image.png"/>
          <p:cNvPicPr>
            <a:picLocks noChangeAspect="1"/>
          </p:cNvPicPr>
          <p:nvPr/>
        </p:nvPicPr>
        <p:blipFill>
          <a:blip r:embed="rId4"/>
          <a:stretch>
            <a:fillRect/>
          </a:stretch>
        </p:blipFill>
        <p:spPr>
          <a:xfrm>
            <a:off x="11222736" y="100584"/>
            <a:ext cx="658368" cy="347472"/>
          </a:xfrm>
          <a:prstGeom prst="rect">
            <a:avLst/>
          </a:prstGeom>
        </p:spPr>
      </p:pic>
      <p:sp>
        <p:nvSpPr>
          <p:cNvPr id="84" name="Rectangle 83"/>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2. Create the Future State Value Stream Map</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Step 15: Develop Targets and the Action Plan</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9" name="Text 6"/>
          <p:cNvSpPr/>
          <p:nvPr/>
        </p:nvSpPr>
        <p:spPr>
          <a:xfrm>
            <a:off x="274320" y="987552"/>
            <a:ext cx="5760720" cy="493776"/>
          </a:xfrm>
          <a:prstGeom prst="rect">
            <a:avLst/>
          </a:prstGeom>
          <a:noFill/>
          <a:ln/>
        </p:spPr>
        <p:txBody>
          <a:bodyPr wrap="square" rtlCol="0" anchor="ctr"/>
          <a:lstStyle/>
          <a:p>
            <a:pPr marL="0" indent="0">
              <a:buNone/>
            </a:pPr>
            <a:r>
              <a:rPr lang="en-US" sz="1050" dirty="0">
                <a:solidFill>
                  <a:srgbClr val="5B595A"/>
                </a:solidFill>
                <a:latin typeface="Arial" pitchFamily="34" charset="0"/>
                <a:ea typeface="Arial" pitchFamily="34" charset="-122"/>
                <a:cs typeface="Arial" pitchFamily="34" charset="-120"/>
              </a:rPr>
              <a:t>The future state map is only valuable if it generates a concrete action plan. The map tells you what needs to change; the action plan tells you how, when, and who. Without the action plan, the VSM exercise is an interesting conversation piece, not a transformation tool.</a:t>
            </a:r>
            <a:endParaRPr lang="en-US" sz="1050" dirty="0"/>
          </a:p>
        </p:txBody>
      </p:sp>
      <p:sp>
        <p:nvSpPr>
          <p:cNvPr id="10" name="Shape 7"/>
          <p:cNvSpPr/>
          <p:nvPr/>
        </p:nvSpPr>
        <p:spPr>
          <a:xfrm>
            <a:off x="228600" y="1554480"/>
            <a:ext cx="5577840" cy="822960"/>
          </a:xfrm>
          <a:prstGeom prst="rect">
            <a:avLst/>
          </a:prstGeom>
          <a:solidFill>
            <a:srgbClr val="E0F4FD"/>
          </a:solidFill>
          <a:ln w="6350">
            <a:solidFill>
              <a:srgbClr val="009FE3"/>
            </a:solidFill>
            <a:prstDash val="solid"/>
          </a:ln>
        </p:spPr>
        <p:txBody>
          <a:bodyPr/>
          <a:lstStyle/>
          <a:p>
            <a:endParaRPr lang="en-GB"/>
          </a:p>
        </p:txBody>
      </p:sp>
      <p:sp>
        <p:nvSpPr>
          <p:cNvPr id="11" name="Text 8"/>
          <p:cNvSpPr/>
          <p:nvPr/>
        </p:nvSpPr>
        <p:spPr>
          <a:xfrm>
            <a:off x="320040" y="1591056"/>
            <a:ext cx="5394960" cy="219456"/>
          </a:xfrm>
          <a:prstGeom prst="rect">
            <a:avLst/>
          </a:prstGeom>
          <a:noFill/>
          <a:ln/>
        </p:spPr>
        <p:txBody>
          <a:bodyPr wrap="square" rtlCol="0" anchor="ctr"/>
          <a:lstStyle/>
          <a:p>
            <a:pPr marL="0" indent="0">
              <a:buNone/>
            </a:pPr>
            <a:r>
              <a:rPr lang="en-US" sz="1050" b="1" dirty="0">
                <a:solidFill>
                  <a:srgbClr val="009FE3"/>
                </a:solidFill>
                <a:latin typeface="Arial" pitchFamily="34" charset="0"/>
                <a:ea typeface="Arial" pitchFamily="34" charset="-122"/>
                <a:cs typeface="Arial" pitchFamily="34" charset="-120"/>
              </a:rPr>
              <a:t>Start at the pacemaker process</a:t>
            </a:r>
            <a:endParaRPr lang="en-US" sz="1050" dirty="0"/>
          </a:p>
        </p:txBody>
      </p:sp>
      <p:sp>
        <p:nvSpPr>
          <p:cNvPr id="12" name="Text 9"/>
          <p:cNvSpPr/>
          <p:nvPr/>
        </p:nvSpPr>
        <p:spPr>
          <a:xfrm>
            <a:off x="320040" y="1828800"/>
            <a:ext cx="5303520" cy="512064"/>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Begin implementation at the pacemaker step and work upstream. The pacemaker sets the rhythm for everything else. Getting that right first stabilises the whole value stream.</a:t>
            </a:r>
            <a:endParaRPr lang="en-US" sz="1000" dirty="0"/>
          </a:p>
        </p:txBody>
      </p:sp>
      <p:sp>
        <p:nvSpPr>
          <p:cNvPr id="13" name="Shape 10"/>
          <p:cNvSpPr/>
          <p:nvPr/>
        </p:nvSpPr>
        <p:spPr>
          <a:xfrm>
            <a:off x="228600" y="2450592"/>
            <a:ext cx="5577840" cy="822960"/>
          </a:xfrm>
          <a:prstGeom prst="rect">
            <a:avLst/>
          </a:prstGeom>
          <a:solidFill>
            <a:srgbClr val="EAF4EE"/>
          </a:solidFill>
          <a:ln w="6350">
            <a:solidFill>
              <a:srgbClr val="217346"/>
            </a:solidFill>
            <a:prstDash val="solid"/>
          </a:ln>
        </p:spPr>
        <p:txBody>
          <a:bodyPr/>
          <a:lstStyle/>
          <a:p>
            <a:endParaRPr lang="en-GB"/>
          </a:p>
        </p:txBody>
      </p:sp>
      <p:sp>
        <p:nvSpPr>
          <p:cNvPr id="14" name="Text 11"/>
          <p:cNvSpPr/>
          <p:nvPr/>
        </p:nvSpPr>
        <p:spPr>
          <a:xfrm>
            <a:off x="320040" y="2487168"/>
            <a:ext cx="5394960" cy="219456"/>
          </a:xfrm>
          <a:prstGeom prst="rect">
            <a:avLst/>
          </a:prstGeom>
          <a:noFill/>
          <a:ln/>
        </p:spPr>
        <p:txBody>
          <a:bodyPr wrap="square" rtlCol="0" anchor="ctr"/>
          <a:lstStyle/>
          <a:p>
            <a:pPr marL="0" indent="0">
              <a:buNone/>
            </a:pPr>
            <a:r>
              <a:rPr lang="en-US" sz="1050" b="1" dirty="0">
                <a:solidFill>
                  <a:srgbClr val="217346"/>
                </a:solidFill>
                <a:latin typeface="Arial" pitchFamily="34" charset="0"/>
                <a:ea typeface="Arial" pitchFamily="34" charset="-122"/>
                <a:cs typeface="Arial" pitchFamily="34" charset="-120"/>
              </a:rPr>
              <a:t>Or go for the biggest bang first</a:t>
            </a:r>
            <a:endParaRPr lang="en-US" sz="1050" dirty="0"/>
          </a:p>
        </p:txBody>
      </p:sp>
      <p:sp>
        <p:nvSpPr>
          <p:cNvPr id="15" name="Text 12"/>
          <p:cNvSpPr/>
          <p:nvPr/>
        </p:nvSpPr>
        <p:spPr>
          <a:xfrm>
            <a:off x="320040" y="2724912"/>
            <a:ext cx="5303520" cy="512064"/>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Alternatively, start at the highest-impact kaizen burst, the one that delivers the most lead time reduction, cost saving, or quality improvement. Early, visible results build momentum and commitment.</a:t>
            </a:r>
            <a:endParaRPr lang="en-US" sz="1000" dirty="0"/>
          </a:p>
        </p:txBody>
      </p:sp>
      <p:sp>
        <p:nvSpPr>
          <p:cNvPr id="16" name="Shape 13"/>
          <p:cNvSpPr/>
          <p:nvPr/>
        </p:nvSpPr>
        <p:spPr>
          <a:xfrm>
            <a:off x="228600" y="3346704"/>
            <a:ext cx="5577840" cy="822960"/>
          </a:xfrm>
          <a:prstGeom prst="rect">
            <a:avLst/>
          </a:prstGeom>
          <a:solidFill>
            <a:srgbClr val="E0F4FD"/>
          </a:solidFill>
          <a:ln w="6350">
            <a:solidFill>
              <a:srgbClr val="009FE3"/>
            </a:solidFill>
            <a:prstDash val="solid"/>
          </a:ln>
        </p:spPr>
        <p:txBody>
          <a:bodyPr/>
          <a:lstStyle/>
          <a:p>
            <a:endParaRPr lang="en-GB"/>
          </a:p>
        </p:txBody>
      </p:sp>
      <p:sp>
        <p:nvSpPr>
          <p:cNvPr id="17" name="Text 14"/>
          <p:cNvSpPr/>
          <p:nvPr/>
        </p:nvSpPr>
        <p:spPr>
          <a:xfrm>
            <a:off x="320040" y="3383280"/>
            <a:ext cx="5394960" cy="219456"/>
          </a:xfrm>
          <a:prstGeom prst="rect">
            <a:avLst/>
          </a:prstGeom>
          <a:noFill/>
          <a:ln/>
        </p:spPr>
        <p:txBody>
          <a:bodyPr wrap="square" rtlCol="0" anchor="ctr"/>
          <a:lstStyle/>
          <a:p>
            <a:pPr marL="0" indent="0">
              <a:buNone/>
            </a:pPr>
            <a:r>
              <a:rPr lang="en-US" sz="1050" b="1" dirty="0">
                <a:solidFill>
                  <a:srgbClr val="009FE3"/>
                </a:solidFill>
                <a:latin typeface="Arial" pitchFamily="34" charset="0"/>
                <a:ea typeface="Arial" pitchFamily="34" charset="-122"/>
                <a:cs typeface="Arial" pitchFamily="34" charset="-120"/>
              </a:rPr>
              <a:t>Set quantifiable targets for each action</a:t>
            </a:r>
            <a:endParaRPr lang="en-US" sz="1050" dirty="0"/>
          </a:p>
        </p:txBody>
      </p:sp>
      <p:sp>
        <p:nvSpPr>
          <p:cNvPr id="18" name="Text 15"/>
          <p:cNvSpPr/>
          <p:nvPr/>
        </p:nvSpPr>
        <p:spPr>
          <a:xfrm>
            <a:off x="320040" y="3621024"/>
            <a:ext cx="5303520" cy="512064"/>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Every action on the plan must have a measurable target. Not "improve changeover time" but "reduce changeover on Cell 1 from 35 minutes to 14 minutes by 31 March."</a:t>
            </a:r>
            <a:endParaRPr lang="en-US" sz="1000" dirty="0"/>
          </a:p>
        </p:txBody>
      </p:sp>
      <p:sp>
        <p:nvSpPr>
          <p:cNvPr id="19" name="Shape 16"/>
          <p:cNvSpPr/>
          <p:nvPr/>
        </p:nvSpPr>
        <p:spPr>
          <a:xfrm>
            <a:off x="228600" y="4242816"/>
            <a:ext cx="5577840" cy="822960"/>
          </a:xfrm>
          <a:prstGeom prst="rect">
            <a:avLst/>
          </a:prstGeom>
          <a:solidFill>
            <a:srgbClr val="EAF4EE"/>
          </a:solidFill>
          <a:ln w="6350">
            <a:solidFill>
              <a:srgbClr val="217346"/>
            </a:solidFill>
            <a:prstDash val="solid"/>
          </a:ln>
        </p:spPr>
        <p:txBody>
          <a:bodyPr/>
          <a:lstStyle/>
          <a:p>
            <a:endParaRPr lang="en-GB"/>
          </a:p>
        </p:txBody>
      </p:sp>
      <p:sp>
        <p:nvSpPr>
          <p:cNvPr id="20" name="Text 17"/>
          <p:cNvSpPr/>
          <p:nvPr/>
        </p:nvSpPr>
        <p:spPr>
          <a:xfrm>
            <a:off x="320040" y="4279392"/>
            <a:ext cx="5394960" cy="219456"/>
          </a:xfrm>
          <a:prstGeom prst="rect">
            <a:avLst/>
          </a:prstGeom>
          <a:noFill/>
          <a:ln/>
        </p:spPr>
        <p:txBody>
          <a:bodyPr wrap="square" rtlCol="0" anchor="ctr"/>
          <a:lstStyle/>
          <a:p>
            <a:pPr marL="0" indent="0">
              <a:buNone/>
            </a:pPr>
            <a:r>
              <a:rPr lang="en-US" sz="1050" b="1" dirty="0">
                <a:solidFill>
                  <a:srgbClr val="217346"/>
                </a:solidFill>
                <a:latin typeface="Arial" pitchFamily="34" charset="0"/>
                <a:ea typeface="Arial" pitchFamily="34" charset="-122"/>
                <a:cs typeface="Arial" pitchFamily="34" charset="-120"/>
              </a:rPr>
              <a:t>Phase the plan realistically</a:t>
            </a:r>
            <a:endParaRPr lang="en-US" sz="1050" dirty="0"/>
          </a:p>
        </p:txBody>
      </p:sp>
      <p:sp>
        <p:nvSpPr>
          <p:cNvPr id="21" name="Text 18"/>
          <p:cNvSpPr/>
          <p:nvPr/>
        </p:nvSpPr>
        <p:spPr>
          <a:xfrm>
            <a:off x="320040" y="4517136"/>
            <a:ext cx="5303520" cy="512064"/>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Not everything can happen at once. Sequence actions logically, if pull scheduling depends on kanban design, design the kanban first. If inline inspection depends on a new gauge, procure the gauge first.</a:t>
            </a:r>
            <a:endParaRPr lang="en-US" sz="1000" dirty="0"/>
          </a:p>
        </p:txBody>
      </p:sp>
      <p:sp>
        <p:nvSpPr>
          <p:cNvPr id="22" name="Shape 19"/>
          <p:cNvSpPr/>
          <p:nvPr/>
        </p:nvSpPr>
        <p:spPr>
          <a:xfrm>
            <a:off x="228600" y="5138928"/>
            <a:ext cx="5577840" cy="822960"/>
          </a:xfrm>
          <a:prstGeom prst="rect">
            <a:avLst/>
          </a:prstGeom>
          <a:solidFill>
            <a:srgbClr val="E0F4FD"/>
          </a:solidFill>
          <a:ln w="6350">
            <a:solidFill>
              <a:srgbClr val="009FE3"/>
            </a:solidFill>
            <a:prstDash val="solid"/>
          </a:ln>
        </p:spPr>
        <p:txBody>
          <a:bodyPr/>
          <a:lstStyle/>
          <a:p>
            <a:endParaRPr lang="en-GB"/>
          </a:p>
        </p:txBody>
      </p:sp>
      <p:sp>
        <p:nvSpPr>
          <p:cNvPr id="23" name="Text 20"/>
          <p:cNvSpPr/>
          <p:nvPr/>
        </p:nvSpPr>
        <p:spPr>
          <a:xfrm>
            <a:off x="320040" y="5175504"/>
            <a:ext cx="5394960" cy="219456"/>
          </a:xfrm>
          <a:prstGeom prst="rect">
            <a:avLst/>
          </a:prstGeom>
          <a:noFill/>
          <a:ln/>
        </p:spPr>
        <p:txBody>
          <a:bodyPr wrap="square" rtlCol="0" anchor="ctr"/>
          <a:lstStyle/>
          <a:p>
            <a:pPr marL="0" indent="0">
              <a:buNone/>
            </a:pPr>
            <a:r>
              <a:rPr lang="en-US" sz="1050" b="1" dirty="0">
                <a:solidFill>
                  <a:srgbClr val="009FE3"/>
                </a:solidFill>
                <a:latin typeface="Arial" pitchFamily="34" charset="0"/>
                <a:ea typeface="Arial" pitchFamily="34" charset="-122"/>
                <a:cs typeface="Arial" pitchFamily="34" charset="-120"/>
              </a:rPr>
              <a:t>Build in review gates</a:t>
            </a:r>
            <a:endParaRPr lang="en-US" sz="1050" dirty="0"/>
          </a:p>
        </p:txBody>
      </p:sp>
      <p:sp>
        <p:nvSpPr>
          <p:cNvPr id="24" name="Text 21"/>
          <p:cNvSpPr/>
          <p:nvPr/>
        </p:nvSpPr>
        <p:spPr>
          <a:xfrm>
            <a:off x="320040" y="5413248"/>
            <a:ext cx="5303520" cy="512064"/>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Set review points, typically every 4 to 8 weeks, where progress is assessed against targets. At each gate, decide whether to proceed, adjust, or go back to a previous step.</a:t>
            </a:r>
            <a:endParaRPr lang="en-US" sz="1000" dirty="0"/>
          </a:p>
        </p:txBody>
      </p:sp>
      <p:sp>
        <p:nvSpPr>
          <p:cNvPr id="25" name="Shape 22"/>
          <p:cNvSpPr/>
          <p:nvPr/>
        </p:nvSpPr>
        <p:spPr>
          <a:xfrm>
            <a:off x="6035040" y="987552"/>
            <a:ext cx="5897880" cy="5285232"/>
          </a:xfrm>
          <a:prstGeom prst="rect">
            <a:avLst/>
          </a:prstGeom>
          <a:solidFill>
            <a:srgbClr val="F2F2F2"/>
          </a:solidFill>
          <a:ln w="6350">
            <a:solidFill>
              <a:srgbClr val="D8D8D8"/>
            </a:solidFill>
            <a:prstDash val="solid"/>
          </a:ln>
        </p:spPr>
        <p:txBody>
          <a:bodyPr/>
          <a:lstStyle/>
          <a:p>
            <a:endParaRPr lang="en-GB"/>
          </a:p>
        </p:txBody>
      </p:sp>
      <p:sp>
        <p:nvSpPr>
          <p:cNvPr id="26" name="Text 23"/>
          <p:cNvSpPr/>
          <p:nvPr/>
        </p:nvSpPr>
        <p:spPr>
          <a:xfrm>
            <a:off x="6126480" y="1024128"/>
            <a:ext cx="5715000" cy="237744"/>
          </a:xfrm>
          <a:prstGeom prst="rect">
            <a:avLst/>
          </a:prstGeom>
          <a:noFill/>
          <a:ln/>
        </p:spPr>
        <p:txBody>
          <a:bodyPr wrap="square" rtlCol="0" anchor="ctr"/>
          <a:lstStyle/>
          <a:p>
            <a:pPr marL="0" indent="0">
              <a:buNone/>
            </a:pPr>
            <a:r>
              <a:rPr lang="en-US" sz="950" i="1" dirty="0">
                <a:solidFill>
                  <a:srgbClr val="5B595A"/>
                </a:solidFill>
                <a:latin typeface="Arial" pitchFamily="34" charset="0"/>
                <a:ea typeface="Arial" pitchFamily="34" charset="-122"/>
                <a:cs typeface="Arial" pitchFamily="34" charset="-120"/>
              </a:rPr>
              <a:t>VSM to CSIP: converting kaizen bursts into actions</a:t>
            </a:r>
            <a:endParaRPr lang="en-US" sz="950" dirty="0"/>
          </a:p>
        </p:txBody>
      </p:sp>
      <p:sp>
        <p:nvSpPr>
          <p:cNvPr id="27" name="Shape 24"/>
          <p:cNvSpPr/>
          <p:nvPr/>
        </p:nvSpPr>
        <p:spPr>
          <a:xfrm>
            <a:off x="6080760" y="1335024"/>
            <a:ext cx="1280160" cy="256032"/>
          </a:xfrm>
          <a:prstGeom prst="rect">
            <a:avLst/>
          </a:prstGeom>
          <a:solidFill>
            <a:srgbClr val="1E3A5F"/>
          </a:solidFill>
          <a:ln w="3810">
            <a:solidFill>
              <a:srgbClr val="CCCCCC"/>
            </a:solidFill>
            <a:prstDash val="solid"/>
          </a:ln>
        </p:spPr>
        <p:txBody>
          <a:bodyPr/>
          <a:lstStyle/>
          <a:p>
            <a:endParaRPr lang="en-GB"/>
          </a:p>
        </p:txBody>
      </p:sp>
      <p:sp>
        <p:nvSpPr>
          <p:cNvPr id="28" name="Text 25"/>
          <p:cNvSpPr/>
          <p:nvPr/>
        </p:nvSpPr>
        <p:spPr>
          <a:xfrm>
            <a:off x="6117336" y="1335024"/>
            <a:ext cx="1207008" cy="256032"/>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Kaizen Burst</a:t>
            </a:r>
            <a:endParaRPr lang="en-US" sz="800" dirty="0"/>
          </a:p>
        </p:txBody>
      </p:sp>
      <p:sp>
        <p:nvSpPr>
          <p:cNvPr id="29" name="Shape 26"/>
          <p:cNvSpPr/>
          <p:nvPr/>
        </p:nvSpPr>
        <p:spPr>
          <a:xfrm>
            <a:off x="7379208" y="1335024"/>
            <a:ext cx="1828800" cy="256032"/>
          </a:xfrm>
          <a:prstGeom prst="rect">
            <a:avLst/>
          </a:prstGeom>
          <a:solidFill>
            <a:srgbClr val="1E3A5F"/>
          </a:solidFill>
          <a:ln w="3810">
            <a:solidFill>
              <a:srgbClr val="CCCCCC"/>
            </a:solidFill>
            <a:prstDash val="solid"/>
          </a:ln>
        </p:spPr>
        <p:txBody>
          <a:bodyPr/>
          <a:lstStyle/>
          <a:p>
            <a:endParaRPr lang="en-GB"/>
          </a:p>
        </p:txBody>
      </p:sp>
      <p:sp>
        <p:nvSpPr>
          <p:cNvPr id="30" name="Text 27"/>
          <p:cNvSpPr/>
          <p:nvPr/>
        </p:nvSpPr>
        <p:spPr>
          <a:xfrm>
            <a:off x="7415784" y="1335024"/>
            <a:ext cx="1755648" cy="256032"/>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Action</a:t>
            </a:r>
            <a:endParaRPr lang="en-US" sz="800" dirty="0"/>
          </a:p>
        </p:txBody>
      </p:sp>
      <p:sp>
        <p:nvSpPr>
          <p:cNvPr id="31" name="Shape 28"/>
          <p:cNvSpPr/>
          <p:nvPr/>
        </p:nvSpPr>
        <p:spPr>
          <a:xfrm>
            <a:off x="9226296" y="1335024"/>
            <a:ext cx="1005840" cy="256032"/>
          </a:xfrm>
          <a:prstGeom prst="rect">
            <a:avLst/>
          </a:prstGeom>
          <a:solidFill>
            <a:srgbClr val="1E3A5F"/>
          </a:solidFill>
          <a:ln w="3810">
            <a:solidFill>
              <a:srgbClr val="CCCCCC"/>
            </a:solidFill>
            <a:prstDash val="solid"/>
          </a:ln>
        </p:spPr>
        <p:txBody>
          <a:bodyPr/>
          <a:lstStyle/>
          <a:p>
            <a:endParaRPr lang="en-GB"/>
          </a:p>
        </p:txBody>
      </p:sp>
      <p:sp>
        <p:nvSpPr>
          <p:cNvPr id="32" name="Text 29"/>
          <p:cNvSpPr/>
          <p:nvPr/>
        </p:nvSpPr>
        <p:spPr>
          <a:xfrm>
            <a:off x="9262872" y="1335024"/>
            <a:ext cx="932688" cy="256032"/>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Target</a:t>
            </a:r>
            <a:endParaRPr lang="en-US" sz="800" dirty="0"/>
          </a:p>
        </p:txBody>
      </p:sp>
      <p:sp>
        <p:nvSpPr>
          <p:cNvPr id="33" name="Shape 30"/>
          <p:cNvSpPr/>
          <p:nvPr/>
        </p:nvSpPr>
        <p:spPr>
          <a:xfrm>
            <a:off x="10250424" y="1335024"/>
            <a:ext cx="822960" cy="256032"/>
          </a:xfrm>
          <a:prstGeom prst="rect">
            <a:avLst/>
          </a:prstGeom>
          <a:solidFill>
            <a:srgbClr val="1E3A5F"/>
          </a:solidFill>
          <a:ln w="3810">
            <a:solidFill>
              <a:srgbClr val="CCCCCC"/>
            </a:solidFill>
            <a:prstDash val="solid"/>
          </a:ln>
        </p:spPr>
        <p:txBody>
          <a:bodyPr/>
          <a:lstStyle/>
          <a:p>
            <a:endParaRPr lang="en-GB"/>
          </a:p>
        </p:txBody>
      </p:sp>
      <p:sp>
        <p:nvSpPr>
          <p:cNvPr id="34" name="Text 31"/>
          <p:cNvSpPr/>
          <p:nvPr/>
        </p:nvSpPr>
        <p:spPr>
          <a:xfrm>
            <a:off x="10287000" y="1335024"/>
            <a:ext cx="749808" cy="256032"/>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Owner</a:t>
            </a:r>
            <a:endParaRPr lang="en-US" sz="800" dirty="0"/>
          </a:p>
        </p:txBody>
      </p:sp>
      <p:sp>
        <p:nvSpPr>
          <p:cNvPr id="35" name="Shape 32"/>
          <p:cNvSpPr/>
          <p:nvPr/>
        </p:nvSpPr>
        <p:spPr>
          <a:xfrm>
            <a:off x="11082528" y="1335024"/>
            <a:ext cx="594360" cy="256032"/>
          </a:xfrm>
          <a:prstGeom prst="rect">
            <a:avLst/>
          </a:prstGeom>
          <a:solidFill>
            <a:srgbClr val="1E3A5F"/>
          </a:solidFill>
          <a:ln w="3810">
            <a:solidFill>
              <a:srgbClr val="CCCCCC"/>
            </a:solidFill>
            <a:prstDash val="solid"/>
          </a:ln>
        </p:spPr>
        <p:txBody>
          <a:bodyPr/>
          <a:lstStyle/>
          <a:p>
            <a:endParaRPr lang="en-GB"/>
          </a:p>
        </p:txBody>
      </p:sp>
      <p:sp>
        <p:nvSpPr>
          <p:cNvPr id="36" name="Text 33"/>
          <p:cNvSpPr/>
          <p:nvPr/>
        </p:nvSpPr>
        <p:spPr>
          <a:xfrm>
            <a:off x="11119104" y="1335024"/>
            <a:ext cx="521208" cy="256032"/>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Date</a:t>
            </a:r>
            <a:endParaRPr lang="en-US" sz="800" dirty="0"/>
          </a:p>
        </p:txBody>
      </p:sp>
      <p:sp>
        <p:nvSpPr>
          <p:cNvPr id="37" name="Shape 34"/>
          <p:cNvSpPr/>
          <p:nvPr/>
        </p:nvSpPr>
        <p:spPr>
          <a:xfrm>
            <a:off x="11695176" y="1335024"/>
            <a:ext cx="777240" cy="256032"/>
          </a:xfrm>
          <a:prstGeom prst="rect">
            <a:avLst/>
          </a:prstGeom>
          <a:solidFill>
            <a:srgbClr val="1E3A5F"/>
          </a:solidFill>
          <a:ln w="3810">
            <a:solidFill>
              <a:srgbClr val="CCCCCC"/>
            </a:solidFill>
            <a:prstDash val="solid"/>
          </a:ln>
        </p:spPr>
        <p:txBody>
          <a:bodyPr/>
          <a:lstStyle/>
          <a:p>
            <a:endParaRPr lang="en-GB"/>
          </a:p>
        </p:txBody>
      </p:sp>
      <p:sp>
        <p:nvSpPr>
          <p:cNvPr id="38" name="Text 35"/>
          <p:cNvSpPr/>
          <p:nvPr/>
        </p:nvSpPr>
        <p:spPr>
          <a:xfrm>
            <a:off x="11731752" y="1335024"/>
            <a:ext cx="704088" cy="256032"/>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CSIP Ref</a:t>
            </a:r>
            <a:endParaRPr lang="en-US" sz="800" dirty="0"/>
          </a:p>
        </p:txBody>
      </p:sp>
      <p:sp>
        <p:nvSpPr>
          <p:cNvPr id="39" name="Shape 36"/>
          <p:cNvSpPr/>
          <p:nvPr/>
        </p:nvSpPr>
        <p:spPr>
          <a:xfrm>
            <a:off x="6080760" y="1609344"/>
            <a:ext cx="1280160" cy="658368"/>
          </a:xfrm>
          <a:prstGeom prst="rect">
            <a:avLst/>
          </a:prstGeom>
          <a:solidFill>
            <a:srgbClr val="FFFFFF"/>
          </a:solidFill>
          <a:ln w="2540">
            <a:solidFill>
              <a:srgbClr val="DDDDDD"/>
            </a:solidFill>
            <a:prstDash val="solid"/>
          </a:ln>
        </p:spPr>
        <p:txBody>
          <a:bodyPr/>
          <a:lstStyle/>
          <a:p>
            <a:endParaRPr lang="en-GB"/>
          </a:p>
        </p:txBody>
      </p:sp>
      <p:sp>
        <p:nvSpPr>
          <p:cNvPr id="40" name="Text 37"/>
          <p:cNvSpPr/>
          <p:nvPr/>
        </p:nvSpPr>
        <p:spPr>
          <a:xfrm>
            <a:off x="6117336" y="1645920"/>
            <a:ext cx="12070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C/O: 35 min</a:t>
            </a:r>
            <a:endParaRPr lang="en-US" sz="800" dirty="0"/>
          </a:p>
          <a:p>
            <a:pPr marL="0" indent="0">
              <a:buNone/>
            </a:pPr>
            <a:r>
              <a:rPr lang="en-US" sz="800" dirty="0">
                <a:solidFill>
                  <a:srgbClr val="5B595A"/>
                </a:solidFill>
                <a:latin typeface="Arial" pitchFamily="34" charset="0"/>
                <a:ea typeface="Arial" pitchFamily="34" charset="-122"/>
                <a:cs typeface="Arial" pitchFamily="34" charset="-120"/>
              </a:rPr>
              <a:t>→ Cell 1</a:t>
            </a:r>
            <a:endParaRPr lang="en-US" sz="800" dirty="0"/>
          </a:p>
        </p:txBody>
      </p:sp>
      <p:sp>
        <p:nvSpPr>
          <p:cNvPr id="41" name="Shape 38"/>
          <p:cNvSpPr/>
          <p:nvPr/>
        </p:nvSpPr>
        <p:spPr>
          <a:xfrm>
            <a:off x="7379208" y="1609344"/>
            <a:ext cx="1828800" cy="658368"/>
          </a:xfrm>
          <a:prstGeom prst="rect">
            <a:avLst/>
          </a:prstGeom>
          <a:solidFill>
            <a:srgbClr val="FFFFFF"/>
          </a:solidFill>
          <a:ln w="2540">
            <a:solidFill>
              <a:srgbClr val="DDDDDD"/>
            </a:solidFill>
            <a:prstDash val="solid"/>
          </a:ln>
        </p:spPr>
        <p:txBody>
          <a:bodyPr/>
          <a:lstStyle/>
          <a:p>
            <a:endParaRPr lang="en-GB"/>
          </a:p>
        </p:txBody>
      </p:sp>
      <p:sp>
        <p:nvSpPr>
          <p:cNvPr id="42" name="Text 39"/>
          <p:cNvSpPr/>
          <p:nvPr/>
        </p:nvSpPr>
        <p:spPr>
          <a:xfrm>
            <a:off x="7415784" y="1645920"/>
            <a:ext cx="175564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SMED exercise on Cell 1 turning. Video current state, classify internal/external, trial new sequence.</a:t>
            </a:r>
            <a:endParaRPr lang="en-US" sz="800" dirty="0"/>
          </a:p>
        </p:txBody>
      </p:sp>
      <p:sp>
        <p:nvSpPr>
          <p:cNvPr id="43" name="Shape 40"/>
          <p:cNvSpPr/>
          <p:nvPr/>
        </p:nvSpPr>
        <p:spPr>
          <a:xfrm>
            <a:off x="9226296" y="1609344"/>
            <a:ext cx="1005840" cy="658368"/>
          </a:xfrm>
          <a:prstGeom prst="rect">
            <a:avLst/>
          </a:prstGeom>
          <a:solidFill>
            <a:srgbClr val="FFFFFF"/>
          </a:solidFill>
          <a:ln w="2540">
            <a:solidFill>
              <a:srgbClr val="DDDDDD"/>
            </a:solidFill>
            <a:prstDash val="solid"/>
          </a:ln>
        </p:spPr>
        <p:txBody>
          <a:bodyPr/>
          <a:lstStyle/>
          <a:p>
            <a:endParaRPr lang="en-GB"/>
          </a:p>
        </p:txBody>
      </p:sp>
      <p:sp>
        <p:nvSpPr>
          <p:cNvPr id="44" name="Text 41"/>
          <p:cNvSpPr/>
          <p:nvPr/>
        </p:nvSpPr>
        <p:spPr>
          <a:xfrm>
            <a:off x="9262872" y="1645920"/>
            <a:ext cx="93268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CT below 15 min</a:t>
            </a:r>
            <a:endParaRPr lang="en-US" sz="800" dirty="0"/>
          </a:p>
        </p:txBody>
      </p:sp>
      <p:sp>
        <p:nvSpPr>
          <p:cNvPr id="45" name="Shape 42"/>
          <p:cNvSpPr/>
          <p:nvPr/>
        </p:nvSpPr>
        <p:spPr>
          <a:xfrm>
            <a:off x="10250424" y="1609344"/>
            <a:ext cx="822960" cy="658368"/>
          </a:xfrm>
          <a:prstGeom prst="rect">
            <a:avLst/>
          </a:prstGeom>
          <a:solidFill>
            <a:srgbClr val="FFFFFF"/>
          </a:solidFill>
          <a:ln w="2540">
            <a:solidFill>
              <a:srgbClr val="DDDDDD"/>
            </a:solidFill>
            <a:prstDash val="solid"/>
          </a:ln>
        </p:spPr>
        <p:txBody>
          <a:bodyPr/>
          <a:lstStyle/>
          <a:p>
            <a:endParaRPr lang="en-GB"/>
          </a:p>
        </p:txBody>
      </p:sp>
      <p:sp>
        <p:nvSpPr>
          <p:cNvPr id="46" name="Text 43"/>
          <p:cNvSpPr/>
          <p:nvPr/>
        </p:nvSpPr>
        <p:spPr>
          <a:xfrm>
            <a:off x="10287000" y="1645920"/>
            <a:ext cx="7498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Ops Mgr</a:t>
            </a:r>
            <a:endParaRPr lang="en-US" sz="800" dirty="0"/>
          </a:p>
        </p:txBody>
      </p:sp>
      <p:sp>
        <p:nvSpPr>
          <p:cNvPr id="47" name="Shape 44"/>
          <p:cNvSpPr/>
          <p:nvPr/>
        </p:nvSpPr>
        <p:spPr>
          <a:xfrm>
            <a:off x="11082528" y="1609344"/>
            <a:ext cx="594360" cy="658368"/>
          </a:xfrm>
          <a:prstGeom prst="rect">
            <a:avLst/>
          </a:prstGeom>
          <a:solidFill>
            <a:srgbClr val="FFFFFF"/>
          </a:solidFill>
          <a:ln w="2540">
            <a:solidFill>
              <a:srgbClr val="DDDDDD"/>
            </a:solidFill>
            <a:prstDash val="solid"/>
          </a:ln>
        </p:spPr>
        <p:txBody>
          <a:bodyPr/>
          <a:lstStyle/>
          <a:p>
            <a:endParaRPr lang="en-GB"/>
          </a:p>
        </p:txBody>
      </p:sp>
      <p:sp>
        <p:nvSpPr>
          <p:cNvPr id="48" name="Text 45"/>
          <p:cNvSpPr/>
          <p:nvPr/>
        </p:nvSpPr>
        <p:spPr>
          <a:xfrm>
            <a:off x="11119104" y="1645920"/>
            <a:ext cx="5212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31 Mar</a:t>
            </a:r>
            <a:endParaRPr lang="en-US" sz="800" dirty="0"/>
          </a:p>
        </p:txBody>
      </p:sp>
      <p:sp>
        <p:nvSpPr>
          <p:cNvPr id="49" name="Shape 46"/>
          <p:cNvSpPr/>
          <p:nvPr/>
        </p:nvSpPr>
        <p:spPr>
          <a:xfrm>
            <a:off x="11695176" y="1609344"/>
            <a:ext cx="777240" cy="658368"/>
          </a:xfrm>
          <a:prstGeom prst="rect">
            <a:avLst/>
          </a:prstGeom>
          <a:solidFill>
            <a:srgbClr val="FFFFFF"/>
          </a:solidFill>
          <a:ln w="2540">
            <a:solidFill>
              <a:srgbClr val="DDDDDD"/>
            </a:solidFill>
            <a:prstDash val="solid"/>
          </a:ln>
        </p:spPr>
        <p:txBody>
          <a:bodyPr/>
          <a:lstStyle/>
          <a:p>
            <a:endParaRPr lang="en-GB"/>
          </a:p>
        </p:txBody>
      </p:sp>
      <p:sp>
        <p:nvSpPr>
          <p:cNvPr id="50" name="Text 47"/>
          <p:cNvSpPr/>
          <p:nvPr/>
        </p:nvSpPr>
        <p:spPr>
          <a:xfrm>
            <a:off x="11731752" y="1645920"/>
            <a:ext cx="704088" cy="585216"/>
          </a:xfrm>
          <a:prstGeom prst="rect">
            <a:avLst/>
          </a:prstGeom>
          <a:noFill/>
          <a:ln/>
        </p:spPr>
        <p:txBody>
          <a:bodyPr wrap="square" rtlCol="0" anchor="ctr"/>
          <a:lstStyle/>
          <a:p>
            <a:pPr marL="0" indent="0">
              <a:buNone/>
            </a:pPr>
            <a:r>
              <a:rPr lang="en-US" sz="800" b="1" dirty="0">
                <a:solidFill>
                  <a:srgbClr val="009FE3"/>
                </a:solidFill>
                <a:latin typeface="Arial" pitchFamily="34" charset="0"/>
                <a:ea typeface="Arial" pitchFamily="34" charset="-122"/>
                <a:cs typeface="Arial" pitchFamily="34" charset="-120"/>
              </a:rPr>
              <a:t>CSIP-01</a:t>
            </a:r>
            <a:endParaRPr lang="en-US" sz="800" dirty="0"/>
          </a:p>
        </p:txBody>
      </p:sp>
      <p:sp>
        <p:nvSpPr>
          <p:cNvPr id="51" name="Shape 48"/>
          <p:cNvSpPr/>
          <p:nvPr/>
        </p:nvSpPr>
        <p:spPr>
          <a:xfrm>
            <a:off x="6080760" y="2304288"/>
            <a:ext cx="1280160" cy="658368"/>
          </a:xfrm>
          <a:prstGeom prst="rect">
            <a:avLst/>
          </a:prstGeom>
          <a:solidFill>
            <a:srgbClr val="F2F2F2"/>
          </a:solidFill>
          <a:ln w="2540">
            <a:solidFill>
              <a:srgbClr val="DDDDDD"/>
            </a:solidFill>
            <a:prstDash val="solid"/>
          </a:ln>
        </p:spPr>
        <p:txBody>
          <a:bodyPr/>
          <a:lstStyle/>
          <a:p>
            <a:endParaRPr lang="en-GB"/>
          </a:p>
        </p:txBody>
      </p:sp>
      <p:sp>
        <p:nvSpPr>
          <p:cNvPr id="52" name="Text 49"/>
          <p:cNvSpPr/>
          <p:nvPr/>
        </p:nvSpPr>
        <p:spPr>
          <a:xfrm>
            <a:off x="6117336" y="2340864"/>
            <a:ext cx="12070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5.8% scrap</a:t>
            </a:r>
            <a:endParaRPr lang="en-US" sz="800" dirty="0"/>
          </a:p>
          <a:p>
            <a:pPr marL="0" indent="0">
              <a:buNone/>
            </a:pPr>
            <a:r>
              <a:rPr lang="en-US" sz="800" dirty="0">
                <a:solidFill>
                  <a:srgbClr val="5B595A"/>
                </a:solidFill>
                <a:latin typeface="Arial" pitchFamily="34" charset="0"/>
                <a:ea typeface="Arial" pitchFamily="34" charset="-122"/>
                <a:cs typeface="Arial" pitchFamily="34" charset="-120"/>
              </a:rPr>
              <a:t>→ Cell 1</a:t>
            </a:r>
            <a:endParaRPr lang="en-US" sz="800" dirty="0"/>
          </a:p>
        </p:txBody>
      </p:sp>
      <p:sp>
        <p:nvSpPr>
          <p:cNvPr id="53" name="Shape 50"/>
          <p:cNvSpPr/>
          <p:nvPr/>
        </p:nvSpPr>
        <p:spPr>
          <a:xfrm>
            <a:off x="7379208" y="2304288"/>
            <a:ext cx="1828800" cy="658368"/>
          </a:xfrm>
          <a:prstGeom prst="rect">
            <a:avLst/>
          </a:prstGeom>
          <a:solidFill>
            <a:srgbClr val="F2F2F2"/>
          </a:solidFill>
          <a:ln w="2540">
            <a:solidFill>
              <a:srgbClr val="DDDDDD"/>
            </a:solidFill>
            <a:prstDash val="solid"/>
          </a:ln>
        </p:spPr>
        <p:txBody>
          <a:bodyPr/>
          <a:lstStyle/>
          <a:p>
            <a:endParaRPr lang="en-GB"/>
          </a:p>
        </p:txBody>
      </p:sp>
      <p:sp>
        <p:nvSpPr>
          <p:cNvPr id="54" name="Text 51"/>
          <p:cNvSpPr/>
          <p:nvPr/>
        </p:nvSpPr>
        <p:spPr>
          <a:xfrm>
            <a:off x="7415784" y="2340864"/>
            <a:ext cx="175564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8D root cause analysis. Introduce mandatory tool life record on job traveller.</a:t>
            </a:r>
            <a:endParaRPr lang="en-US" sz="800" dirty="0"/>
          </a:p>
        </p:txBody>
      </p:sp>
      <p:sp>
        <p:nvSpPr>
          <p:cNvPr id="55" name="Shape 52"/>
          <p:cNvSpPr/>
          <p:nvPr/>
        </p:nvSpPr>
        <p:spPr>
          <a:xfrm>
            <a:off x="9226296" y="2304288"/>
            <a:ext cx="1005840" cy="658368"/>
          </a:xfrm>
          <a:prstGeom prst="rect">
            <a:avLst/>
          </a:prstGeom>
          <a:solidFill>
            <a:srgbClr val="F2F2F2"/>
          </a:solidFill>
          <a:ln w="2540">
            <a:solidFill>
              <a:srgbClr val="DDDDDD"/>
            </a:solidFill>
            <a:prstDash val="solid"/>
          </a:ln>
        </p:spPr>
        <p:txBody>
          <a:bodyPr/>
          <a:lstStyle/>
          <a:p>
            <a:endParaRPr lang="en-GB"/>
          </a:p>
        </p:txBody>
      </p:sp>
      <p:sp>
        <p:nvSpPr>
          <p:cNvPr id="56" name="Text 53"/>
          <p:cNvSpPr/>
          <p:nvPr/>
        </p:nvSpPr>
        <p:spPr>
          <a:xfrm>
            <a:off x="9262872" y="2340864"/>
            <a:ext cx="93268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Scrap &lt;2%</a:t>
            </a:r>
            <a:endParaRPr lang="en-US" sz="800" dirty="0"/>
          </a:p>
        </p:txBody>
      </p:sp>
      <p:sp>
        <p:nvSpPr>
          <p:cNvPr id="57" name="Shape 54"/>
          <p:cNvSpPr/>
          <p:nvPr/>
        </p:nvSpPr>
        <p:spPr>
          <a:xfrm>
            <a:off x="10250424" y="2304288"/>
            <a:ext cx="822960" cy="658368"/>
          </a:xfrm>
          <a:prstGeom prst="rect">
            <a:avLst/>
          </a:prstGeom>
          <a:solidFill>
            <a:srgbClr val="F2F2F2"/>
          </a:solidFill>
          <a:ln w="2540">
            <a:solidFill>
              <a:srgbClr val="DDDDDD"/>
            </a:solidFill>
            <a:prstDash val="solid"/>
          </a:ln>
        </p:spPr>
        <p:txBody>
          <a:bodyPr/>
          <a:lstStyle/>
          <a:p>
            <a:endParaRPr lang="en-GB"/>
          </a:p>
        </p:txBody>
      </p:sp>
      <p:sp>
        <p:nvSpPr>
          <p:cNvPr id="58" name="Text 55"/>
          <p:cNvSpPr/>
          <p:nvPr/>
        </p:nvSpPr>
        <p:spPr>
          <a:xfrm>
            <a:off x="10287000" y="2340864"/>
            <a:ext cx="7498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Quality Mgr</a:t>
            </a:r>
            <a:endParaRPr lang="en-US" sz="800" dirty="0"/>
          </a:p>
        </p:txBody>
      </p:sp>
      <p:sp>
        <p:nvSpPr>
          <p:cNvPr id="59" name="Shape 56"/>
          <p:cNvSpPr/>
          <p:nvPr/>
        </p:nvSpPr>
        <p:spPr>
          <a:xfrm>
            <a:off x="11082528" y="2304288"/>
            <a:ext cx="594360" cy="658368"/>
          </a:xfrm>
          <a:prstGeom prst="rect">
            <a:avLst/>
          </a:prstGeom>
          <a:solidFill>
            <a:srgbClr val="F2F2F2"/>
          </a:solidFill>
          <a:ln w="2540">
            <a:solidFill>
              <a:srgbClr val="DDDDDD"/>
            </a:solidFill>
            <a:prstDash val="solid"/>
          </a:ln>
        </p:spPr>
        <p:txBody>
          <a:bodyPr/>
          <a:lstStyle/>
          <a:p>
            <a:endParaRPr lang="en-GB"/>
          </a:p>
        </p:txBody>
      </p:sp>
      <p:sp>
        <p:nvSpPr>
          <p:cNvPr id="60" name="Text 57"/>
          <p:cNvSpPr/>
          <p:nvPr/>
        </p:nvSpPr>
        <p:spPr>
          <a:xfrm>
            <a:off x="11119104" y="2340864"/>
            <a:ext cx="5212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28 Feb</a:t>
            </a:r>
            <a:endParaRPr lang="en-US" sz="800" dirty="0"/>
          </a:p>
        </p:txBody>
      </p:sp>
      <p:sp>
        <p:nvSpPr>
          <p:cNvPr id="61" name="Shape 58"/>
          <p:cNvSpPr/>
          <p:nvPr/>
        </p:nvSpPr>
        <p:spPr>
          <a:xfrm>
            <a:off x="11695176" y="2304288"/>
            <a:ext cx="777240" cy="658368"/>
          </a:xfrm>
          <a:prstGeom prst="rect">
            <a:avLst/>
          </a:prstGeom>
          <a:solidFill>
            <a:srgbClr val="F2F2F2"/>
          </a:solidFill>
          <a:ln w="2540">
            <a:solidFill>
              <a:srgbClr val="DDDDDD"/>
            </a:solidFill>
            <a:prstDash val="solid"/>
          </a:ln>
        </p:spPr>
        <p:txBody>
          <a:bodyPr/>
          <a:lstStyle/>
          <a:p>
            <a:endParaRPr lang="en-GB"/>
          </a:p>
        </p:txBody>
      </p:sp>
      <p:sp>
        <p:nvSpPr>
          <p:cNvPr id="62" name="Text 59"/>
          <p:cNvSpPr/>
          <p:nvPr/>
        </p:nvSpPr>
        <p:spPr>
          <a:xfrm>
            <a:off x="11731752" y="2340864"/>
            <a:ext cx="704088" cy="585216"/>
          </a:xfrm>
          <a:prstGeom prst="rect">
            <a:avLst/>
          </a:prstGeom>
          <a:noFill/>
          <a:ln/>
        </p:spPr>
        <p:txBody>
          <a:bodyPr wrap="square" rtlCol="0" anchor="ctr"/>
          <a:lstStyle/>
          <a:p>
            <a:pPr marL="0" indent="0">
              <a:buNone/>
            </a:pPr>
            <a:r>
              <a:rPr lang="en-US" sz="800" b="1" dirty="0">
                <a:solidFill>
                  <a:srgbClr val="009FE3"/>
                </a:solidFill>
                <a:latin typeface="Arial" pitchFamily="34" charset="0"/>
                <a:ea typeface="Arial" pitchFamily="34" charset="-122"/>
                <a:cs typeface="Arial" pitchFamily="34" charset="-120"/>
              </a:rPr>
              <a:t>CSIP-02</a:t>
            </a:r>
            <a:endParaRPr lang="en-US" sz="800" dirty="0"/>
          </a:p>
        </p:txBody>
      </p:sp>
      <p:sp>
        <p:nvSpPr>
          <p:cNvPr id="63" name="Shape 60"/>
          <p:cNvSpPr/>
          <p:nvPr/>
        </p:nvSpPr>
        <p:spPr>
          <a:xfrm>
            <a:off x="6080760" y="2999232"/>
            <a:ext cx="1280160" cy="658368"/>
          </a:xfrm>
          <a:prstGeom prst="rect">
            <a:avLst/>
          </a:prstGeom>
          <a:solidFill>
            <a:srgbClr val="FFFFFF"/>
          </a:solidFill>
          <a:ln w="2540">
            <a:solidFill>
              <a:srgbClr val="DDDDDD"/>
            </a:solidFill>
            <a:prstDash val="solid"/>
          </a:ln>
        </p:spPr>
        <p:txBody>
          <a:bodyPr/>
          <a:lstStyle/>
          <a:p>
            <a:endParaRPr lang="en-GB"/>
          </a:p>
        </p:txBody>
      </p:sp>
      <p:sp>
        <p:nvSpPr>
          <p:cNvPr id="64" name="Text 61"/>
          <p:cNvSpPr/>
          <p:nvPr/>
        </p:nvSpPr>
        <p:spPr>
          <a:xfrm>
            <a:off x="6117336" y="3035808"/>
            <a:ext cx="12070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5.2-day queue</a:t>
            </a:r>
            <a:endParaRPr lang="en-US" sz="800" dirty="0"/>
          </a:p>
          <a:p>
            <a:pPr marL="0" indent="0">
              <a:buNone/>
            </a:pPr>
            <a:r>
              <a:rPr lang="en-US" sz="800" dirty="0">
                <a:solidFill>
                  <a:srgbClr val="5B595A"/>
                </a:solidFill>
                <a:latin typeface="Arial" pitchFamily="34" charset="0"/>
                <a:ea typeface="Arial" pitchFamily="34" charset="-122"/>
                <a:cs typeface="Arial" pitchFamily="34" charset="-120"/>
              </a:rPr>
              <a:t>→ Inspect</a:t>
            </a:r>
            <a:endParaRPr lang="en-US" sz="800" dirty="0"/>
          </a:p>
        </p:txBody>
      </p:sp>
      <p:sp>
        <p:nvSpPr>
          <p:cNvPr id="65" name="Shape 62"/>
          <p:cNvSpPr/>
          <p:nvPr/>
        </p:nvSpPr>
        <p:spPr>
          <a:xfrm>
            <a:off x="7379208" y="2999232"/>
            <a:ext cx="1828800" cy="658368"/>
          </a:xfrm>
          <a:prstGeom prst="rect">
            <a:avLst/>
          </a:prstGeom>
          <a:solidFill>
            <a:srgbClr val="FFFFFF"/>
          </a:solidFill>
          <a:ln w="2540">
            <a:solidFill>
              <a:srgbClr val="DDDDDD"/>
            </a:solidFill>
            <a:prstDash val="solid"/>
          </a:ln>
        </p:spPr>
        <p:txBody>
          <a:bodyPr/>
          <a:lstStyle/>
          <a:p>
            <a:endParaRPr lang="en-GB"/>
          </a:p>
        </p:txBody>
      </p:sp>
      <p:sp>
        <p:nvSpPr>
          <p:cNvPr id="66" name="Text 63"/>
          <p:cNvSpPr/>
          <p:nvPr/>
        </p:nvSpPr>
        <p:spPr>
          <a:xfrm>
            <a:off x="7415784" y="3035808"/>
            <a:ext cx="175564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Design inline first-off inspection protocol at Cell 2. Source surface plate and go/no-go gauges.</a:t>
            </a:r>
            <a:endParaRPr lang="en-US" sz="800" dirty="0"/>
          </a:p>
        </p:txBody>
      </p:sp>
      <p:sp>
        <p:nvSpPr>
          <p:cNvPr id="67" name="Shape 64"/>
          <p:cNvSpPr/>
          <p:nvPr/>
        </p:nvSpPr>
        <p:spPr>
          <a:xfrm>
            <a:off x="9226296" y="2999232"/>
            <a:ext cx="1005840" cy="658368"/>
          </a:xfrm>
          <a:prstGeom prst="rect">
            <a:avLst/>
          </a:prstGeom>
          <a:solidFill>
            <a:srgbClr val="FFFFFF"/>
          </a:solidFill>
          <a:ln w="2540">
            <a:solidFill>
              <a:srgbClr val="DDDDDD"/>
            </a:solidFill>
            <a:prstDash val="solid"/>
          </a:ln>
        </p:spPr>
        <p:txBody>
          <a:bodyPr/>
          <a:lstStyle/>
          <a:p>
            <a:endParaRPr lang="en-GB"/>
          </a:p>
        </p:txBody>
      </p:sp>
      <p:sp>
        <p:nvSpPr>
          <p:cNvPr id="68" name="Text 65"/>
          <p:cNvSpPr/>
          <p:nvPr/>
        </p:nvSpPr>
        <p:spPr>
          <a:xfrm>
            <a:off x="9262872" y="3035808"/>
            <a:ext cx="93268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Same-day</a:t>
            </a:r>
            <a:endParaRPr lang="en-US" sz="800" dirty="0"/>
          </a:p>
          <a:p>
            <a:pPr marL="0" indent="0">
              <a:buNone/>
            </a:pPr>
            <a:r>
              <a:rPr lang="en-US" sz="800" dirty="0">
                <a:solidFill>
                  <a:srgbClr val="5B595A"/>
                </a:solidFill>
                <a:latin typeface="Arial" pitchFamily="34" charset="0"/>
                <a:ea typeface="Arial" pitchFamily="34" charset="-122"/>
                <a:cs typeface="Arial" pitchFamily="34" charset="-120"/>
              </a:rPr>
              <a:t>inspection</a:t>
            </a:r>
            <a:endParaRPr lang="en-US" sz="800" dirty="0"/>
          </a:p>
        </p:txBody>
      </p:sp>
      <p:sp>
        <p:nvSpPr>
          <p:cNvPr id="69" name="Shape 66"/>
          <p:cNvSpPr/>
          <p:nvPr/>
        </p:nvSpPr>
        <p:spPr>
          <a:xfrm>
            <a:off x="10250424" y="2999232"/>
            <a:ext cx="822960" cy="658368"/>
          </a:xfrm>
          <a:prstGeom prst="rect">
            <a:avLst/>
          </a:prstGeom>
          <a:solidFill>
            <a:srgbClr val="FFFFFF"/>
          </a:solidFill>
          <a:ln w="2540">
            <a:solidFill>
              <a:srgbClr val="DDDDDD"/>
            </a:solidFill>
            <a:prstDash val="solid"/>
          </a:ln>
        </p:spPr>
        <p:txBody>
          <a:bodyPr/>
          <a:lstStyle/>
          <a:p>
            <a:endParaRPr lang="en-GB"/>
          </a:p>
        </p:txBody>
      </p:sp>
      <p:sp>
        <p:nvSpPr>
          <p:cNvPr id="70" name="Text 67"/>
          <p:cNvSpPr/>
          <p:nvPr/>
        </p:nvSpPr>
        <p:spPr>
          <a:xfrm>
            <a:off x="10287000" y="3035808"/>
            <a:ext cx="7498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Quality Mgr</a:t>
            </a:r>
            <a:endParaRPr lang="en-US" sz="800" dirty="0"/>
          </a:p>
        </p:txBody>
      </p:sp>
      <p:sp>
        <p:nvSpPr>
          <p:cNvPr id="71" name="Shape 68"/>
          <p:cNvSpPr/>
          <p:nvPr/>
        </p:nvSpPr>
        <p:spPr>
          <a:xfrm>
            <a:off x="11082528" y="2999232"/>
            <a:ext cx="594360" cy="658368"/>
          </a:xfrm>
          <a:prstGeom prst="rect">
            <a:avLst/>
          </a:prstGeom>
          <a:solidFill>
            <a:srgbClr val="FFFFFF"/>
          </a:solidFill>
          <a:ln w="2540">
            <a:solidFill>
              <a:srgbClr val="DDDDDD"/>
            </a:solidFill>
            <a:prstDash val="solid"/>
          </a:ln>
        </p:spPr>
        <p:txBody>
          <a:bodyPr/>
          <a:lstStyle/>
          <a:p>
            <a:endParaRPr lang="en-GB"/>
          </a:p>
        </p:txBody>
      </p:sp>
      <p:sp>
        <p:nvSpPr>
          <p:cNvPr id="72" name="Text 69"/>
          <p:cNvSpPr/>
          <p:nvPr/>
        </p:nvSpPr>
        <p:spPr>
          <a:xfrm>
            <a:off x="11119104" y="3035808"/>
            <a:ext cx="5212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15 Feb</a:t>
            </a:r>
            <a:endParaRPr lang="en-US" sz="800" dirty="0"/>
          </a:p>
        </p:txBody>
      </p:sp>
      <p:sp>
        <p:nvSpPr>
          <p:cNvPr id="73" name="Shape 70"/>
          <p:cNvSpPr/>
          <p:nvPr/>
        </p:nvSpPr>
        <p:spPr>
          <a:xfrm>
            <a:off x="11695176" y="2999232"/>
            <a:ext cx="777240" cy="658368"/>
          </a:xfrm>
          <a:prstGeom prst="rect">
            <a:avLst/>
          </a:prstGeom>
          <a:solidFill>
            <a:srgbClr val="FFFFFF"/>
          </a:solidFill>
          <a:ln w="2540">
            <a:solidFill>
              <a:srgbClr val="DDDDDD"/>
            </a:solidFill>
            <a:prstDash val="solid"/>
          </a:ln>
        </p:spPr>
        <p:txBody>
          <a:bodyPr/>
          <a:lstStyle/>
          <a:p>
            <a:endParaRPr lang="en-GB"/>
          </a:p>
        </p:txBody>
      </p:sp>
      <p:sp>
        <p:nvSpPr>
          <p:cNvPr id="74" name="Text 71"/>
          <p:cNvSpPr/>
          <p:nvPr/>
        </p:nvSpPr>
        <p:spPr>
          <a:xfrm>
            <a:off x="11731752" y="3035808"/>
            <a:ext cx="704088" cy="585216"/>
          </a:xfrm>
          <a:prstGeom prst="rect">
            <a:avLst/>
          </a:prstGeom>
          <a:noFill/>
          <a:ln/>
        </p:spPr>
        <p:txBody>
          <a:bodyPr wrap="square" rtlCol="0" anchor="ctr"/>
          <a:lstStyle/>
          <a:p>
            <a:pPr marL="0" indent="0">
              <a:buNone/>
            </a:pPr>
            <a:r>
              <a:rPr lang="en-US" sz="800" b="1" dirty="0">
                <a:solidFill>
                  <a:srgbClr val="009FE3"/>
                </a:solidFill>
                <a:latin typeface="Arial" pitchFamily="34" charset="0"/>
                <a:ea typeface="Arial" pitchFamily="34" charset="-122"/>
                <a:cs typeface="Arial" pitchFamily="34" charset="-120"/>
              </a:rPr>
              <a:t>CSIP-03</a:t>
            </a:r>
            <a:endParaRPr lang="en-US" sz="800" dirty="0"/>
          </a:p>
        </p:txBody>
      </p:sp>
      <p:sp>
        <p:nvSpPr>
          <p:cNvPr id="75" name="Shape 72"/>
          <p:cNvSpPr/>
          <p:nvPr/>
        </p:nvSpPr>
        <p:spPr>
          <a:xfrm>
            <a:off x="6080760" y="3694176"/>
            <a:ext cx="1280160" cy="658368"/>
          </a:xfrm>
          <a:prstGeom prst="rect">
            <a:avLst/>
          </a:prstGeom>
          <a:solidFill>
            <a:srgbClr val="F2F2F2"/>
          </a:solidFill>
          <a:ln w="2540">
            <a:solidFill>
              <a:srgbClr val="DDDDDD"/>
            </a:solidFill>
            <a:prstDash val="solid"/>
          </a:ln>
        </p:spPr>
        <p:txBody>
          <a:bodyPr/>
          <a:lstStyle/>
          <a:p>
            <a:endParaRPr lang="en-GB"/>
          </a:p>
        </p:txBody>
      </p:sp>
      <p:sp>
        <p:nvSpPr>
          <p:cNvPr id="76" name="Text 73"/>
          <p:cNvSpPr/>
          <p:nvPr/>
        </p:nvSpPr>
        <p:spPr>
          <a:xfrm>
            <a:off x="6117336" y="3730752"/>
            <a:ext cx="12070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Motion waste</a:t>
            </a:r>
            <a:endParaRPr lang="en-US" sz="800" dirty="0"/>
          </a:p>
          <a:p>
            <a:pPr marL="0" indent="0">
              <a:buNone/>
            </a:pPr>
            <a:r>
              <a:rPr lang="en-US" sz="800" dirty="0">
                <a:solidFill>
                  <a:srgbClr val="5B595A"/>
                </a:solidFill>
                <a:latin typeface="Arial" pitchFamily="34" charset="0"/>
                <a:ea typeface="Arial" pitchFamily="34" charset="-122"/>
                <a:cs typeface="Arial" pitchFamily="34" charset="-120"/>
              </a:rPr>
              <a:t>→ Deburr</a:t>
            </a:r>
            <a:endParaRPr lang="en-US" sz="800" dirty="0"/>
          </a:p>
        </p:txBody>
      </p:sp>
      <p:sp>
        <p:nvSpPr>
          <p:cNvPr id="77" name="Shape 74"/>
          <p:cNvSpPr/>
          <p:nvPr/>
        </p:nvSpPr>
        <p:spPr>
          <a:xfrm>
            <a:off x="7379208" y="3694176"/>
            <a:ext cx="1828800" cy="658368"/>
          </a:xfrm>
          <a:prstGeom prst="rect">
            <a:avLst/>
          </a:prstGeom>
          <a:solidFill>
            <a:srgbClr val="F2F2F2"/>
          </a:solidFill>
          <a:ln w="2540">
            <a:solidFill>
              <a:srgbClr val="DDDDDD"/>
            </a:solidFill>
            <a:prstDash val="solid"/>
          </a:ln>
        </p:spPr>
        <p:txBody>
          <a:bodyPr/>
          <a:lstStyle/>
          <a:p>
            <a:endParaRPr lang="en-GB"/>
          </a:p>
        </p:txBody>
      </p:sp>
      <p:sp>
        <p:nvSpPr>
          <p:cNvPr id="78" name="Text 75"/>
          <p:cNvSpPr/>
          <p:nvPr/>
        </p:nvSpPr>
        <p:spPr>
          <a:xfrm>
            <a:off x="7415784" y="3730752"/>
            <a:ext cx="175564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Relocate deburr station to Cell 2 area. Agree layout with facilities. Move equipment over a weekend.</a:t>
            </a:r>
            <a:endParaRPr lang="en-US" sz="800" dirty="0"/>
          </a:p>
        </p:txBody>
      </p:sp>
      <p:sp>
        <p:nvSpPr>
          <p:cNvPr id="79" name="Shape 76"/>
          <p:cNvSpPr/>
          <p:nvPr/>
        </p:nvSpPr>
        <p:spPr>
          <a:xfrm>
            <a:off x="9226296" y="3694176"/>
            <a:ext cx="1005840" cy="658368"/>
          </a:xfrm>
          <a:prstGeom prst="rect">
            <a:avLst/>
          </a:prstGeom>
          <a:solidFill>
            <a:srgbClr val="F2F2F2"/>
          </a:solidFill>
          <a:ln w="2540">
            <a:solidFill>
              <a:srgbClr val="DDDDDD"/>
            </a:solidFill>
            <a:prstDash val="solid"/>
          </a:ln>
        </p:spPr>
        <p:txBody>
          <a:bodyPr/>
          <a:lstStyle/>
          <a:p>
            <a:endParaRPr lang="en-GB"/>
          </a:p>
        </p:txBody>
      </p:sp>
      <p:sp>
        <p:nvSpPr>
          <p:cNvPr id="80" name="Text 77"/>
          <p:cNvSpPr/>
          <p:nvPr/>
        </p:nvSpPr>
        <p:spPr>
          <a:xfrm>
            <a:off x="9262872" y="3730752"/>
            <a:ext cx="93268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Layout live</a:t>
            </a:r>
            <a:endParaRPr lang="en-US" sz="800" dirty="0"/>
          </a:p>
        </p:txBody>
      </p:sp>
      <p:sp>
        <p:nvSpPr>
          <p:cNvPr id="81" name="Shape 78"/>
          <p:cNvSpPr/>
          <p:nvPr/>
        </p:nvSpPr>
        <p:spPr>
          <a:xfrm>
            <a:off x="10250424" y="3694176"/>
            <a:ext cx="822960" cy="658368"/>
          </a:xfrm>
          <a:prstGeom prst="rect">
            <a:avLst/>
          </a:prstGeom>
          <a:solidFill>
            <a:srgbClr val="F2F2F2"/>
          </a:solidFill>
          <a:ln w="2540">
            <a:solidFill>
              <a:srgbClr val="DDDDDD"/>
            </a:solidFill>
            <a:prstDash val="solid"/>
          </a:ln>
        </p:spPr>
        <p:txBody>
          <a:bodyPr/>
          <a:lstStyle/>
          <a:p>
            <a:endParaRPr lang="en-GB"/>
          </a:p>
        </p:txBody>
      </p:sp>
      <p:sp>
        <p:nvSpPr>
          <p:cNvPr id="82" name="Text 79"/>
          <p:cNvSpPr/>
          <p:nvPr/>
        </p:nvSpPr>
        <p:spPr>
          <a:xfrm>
            <a:off x="10287000" y="3730752"/>
            <a:ext cx="7498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Facilities</a:t>
            </a:r>
            <a:endParaRPr lang="en-US" sz="800" dirty="0"/>
          </a:p>
        </p:txBody>
      </p:sp>
      <p:sp>
        <p:nvSpPr>
          <p:cNvPr id="83" name="Shape 80"/>
          <p:cNvSpPr/>
          <p:nvPr/>
        </p:nvSpPr>
        <p:spPr>
          <a:xfrm>
            <a:off x="11082528" y="3694176"/>
            <a:ext cx="594360" cy="658368"/>
          </a:xfrm>
          <a:prstGeom prst="rect">
            <a:avLst/>
          </a:prstGeom>
          <a:solidFill>
            <a:srgbClr val="F2F2F2"/>
          </a:solidFill>
          <a:ln w="2540">
            <a:solidFill>
              <a:srgbClr val="DDDDDD"/>
            </a:solidFill>
            <a:prstDash val="solid"/>
          </a:ln>
        </p:spPr>
        <p:txBody>
          <a:bodyPr/>
          <a:lstStyle/>
          <a:p>
            <a:endParaRPr lang="en-GB"/>
          </a:p>
        </p:txBody>
      </p:sp>
      <p:sp>
        <p:nvSpPr>
          <p:cNvPr id="84" name="Text 81"/>
          <p:cNvSpPr/>
          <p:nvPr/>
        </p:nvSpPr>
        <p:spPr>
          <a:xfrm>
            <a:off x="11119104" y="3730752"/>
            <a:ext cx="5212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28 Jan</a:t>
            </a:r>
            <a:endParaRPr lang="en-US" sz="800" dirty="0"/>
          </a:p>
        </p:txBody>
      </p:sp>
      <p:sp>
        <p:nvSpPr>
          <p:cNvPr id="85" name="Shape 82"/>
          <p:cNvSpPr/>
          <p:nvPr/>
        </p:nvSpPr>
        <p:spPr>
          <a:xfrm>
            <a:off x="11695176" y="3694176"/>
            <a:ext cx="777240" cy="658368"/>
          </a:xfrm>
          <a:prstGeom prst="rect">
            <a:avLst/>
          </a:prstGeom>
          <a:solidFill>
            <a:srgbClr val="F2F2F2"/>
          </a:solidFill>
          <a:ln w="2540">
            <a:solidFill>
              <a:srgbClr val="DDDDDD"/>
            </a:solidFill>
            <a:prstDash val="solid"/>
          </a:ln>
        </p:spPr>
        <p:txBody>
          <a:bodyPr/>
          <a:lstStyle/>
          <a:p>
            <a:endParaRPr lang="en-GB"/>
          </a:p>
        </p:txBody>
      </p:sp>
      <p:sp>
        <p:nvSpPr>
          <p:cNvPr id="86" name="Text 83"/>
          <p:cNvSpPr/>
          <p:nvPr/>
        </p:nvSpPr>
        <p:spPr>
          <a:xfrm>
            <a:off x="11731752" y="3730752"/>
            <a:ext cx="704088" cy="585216"/>
          </a:xfrm>
          <a:prstGeom prst="rect">
            <a:avLst/>
          </a:prstGeom>
          <a:noFill/>
          <a:ln/>
        </p:spPr>
        <p:txBody>
          <a:bodyPr wrap="square" rtlCol="0" anchor="ctr"/>
          <a:lstStyle/>
          <a:p>
            <a:pPr marL="0" indent="0">
              <a:buNone/>
            </a:pPr>
            <a:r>
              <a:rPr lang="en-US" sz="800" b="1" dirty="0">
                <a:solidFill>
                  <a:srgbClr val="009FE3"/>
                </a:solidFill>
                <a:latin typeface="Arial" pitchFamily="34" charset="0"/>
                <a:ea typeface="Arial" pitchFamily="34" charset="-122"/>
                <a:cs typeface="Arial" pitchFamily="34" charset="-120"/>
              </a:rPr>
              <a:t>CSIP-04</a:t>
            </a:r>
            <a:endParaRPr lang="en-US" sz="800" dirty="0"/>
          </a:p>
        </p:txBody>
      </p:sp>
      <p:sp>
        <p:nvSpPr>
          <p:cNvPr id="87" name="Shape 84"/>
          <p:cNvSpPr/>
          <p:nvPr/>
        </p:nvSpPr>
        <p:spPr>
          <a:xfrm>
            <a:off x="6080760" y="4389120"/>
            <a:ext cx="1280160" cy="658368"/>
          </a:xfrm>
          <a:prstGeom prst="rect">
            <a:avLst/>
          </a:prstGeom>
          <a:solidFill>
            <a:srgbClr val="FFFFFF"/>
          </a:solidFill>
          <a:ln w="2540">
            <a:solidFill>
              <a:srgbClr val="DDDDDD"/>
            </a:solidFill>
            <a:prstDash val="solid"/>
          </a:ln>
        </p:spPr>
        <p:txBody>
          <a:bodyPr/>
          <a:lstStyle/>
          <a:p>
            <a:endParaRPr lang="en-GB"/>
          </a:p>
        </p:txBody>
      </p:sp>
      <p:sp>
        <p:nvSpPr>
          <p:cNvPr id="88" name="Text 85"/>
          <p:cNvSpPr/>
          <p:nvPr/>
        </p:nvSpPr>
        <p:spPr>
          <a:xfrm>
            <a:off x="6117336" y="4425696"/>
            <a:ext cx="12070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Push scheduling</a:t>
            </a:r>
            <a:endParaRPr lang="en-US" sz="800" dirty="0"/>
          </a:p>
          <a:p>
            <a:pPr marL="0" indent="0">
              <a:buNone/>
            </a:pPr>
            <a:r>
              <a:rPr lang="en-US" sz="800" dirty="0">
                <a:solidFill>
                  <a:srgbClr val="5B595A"/>
                </a:solidFill>
                <a:latin typeface="Arial" pitchFamily="34" charset="0"/>
                <a:ea typeface="Arial" pitchFamily="34" charset="-122"/>
                <a:cs typeface="Arial" pitchFamily="34" charset="-120"/>
              </a:rPr>
              <a:t>→ All cells</a:t>
            </a:r>
            <a:endParaRPr lang="en-US" sz="800" dirty="0"/>
          </a:p>
        </p:txBody>
      </p:sp>
      <p:sp>
        <p:nvSpPr>
          <p:cNvPr id="89" name="Shape 86"/>
          <p:cNvSpPr/>
          <p:nvPr/>
        </p:nvSpPr>
        <p:spPr>
          <a:xfrm>
            <a:off x="7379208" y="4389120"/>
            <a:ext cx="1828800" cy="658368"/>
          </a:xfrm>
          <a:prstGeom prst="rect">
            <a:avLst/>
          </a:prstGeom>
          <a:solidFill>
            <a:srgbClr val="FFFFFF"/>
          </a:solidFill>
          <a:ln w="2540">
            <a:solidFill>
              <a:srgbClr val="DDDDDD"/>
            </a:solidFill>
            <a:prstDash val="solid"/>
          </a:ln>
        </p:spPr>
        <p:txBody>
          <a:bodyPr/>
          <a:lstStyle/>
          <a:p>
            <a:endParaRPr lang="en-GB"/>
          </a:p>
        </p:txBody>
      </p:sp>
      <p:sp>
        <p:nvSpPr>
          <p:cNvPr id="90" name="Text 87"/>
          <p:cNvSpPr/>
          <p:nvPr/>
        </p:nvSpPr>
        <p:spPr>
          <a:xfrm>
            <a:off x="7415784" y="4425696"/>
            <a:ext cx="175564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Design pull system with FIFO lanes. Set WIP limits. Brief all operators. Run 2-week trial.</a:t>
            </a:r>
            <a:endParaRPr lang="en-US" sz="800" dirty="0"/>
          </a:p>
        </p:txBody>
      </p:sp>
      <p:sp>
        <p:nvSpPr>
          <p:cNvPr id="91" name="Shape 88"/>
          <p:cNvSpPr/>
          <p:nvPr/>
        </p:nvSpPr>
        <p:spPr>
          <a:xfrm>
            <a:off x="9226296" y="4389120"/>
            <a:ext cx="1005840" cy="658368"/>
          </a:xfrm>
          <a:prstGeom prst="rect">
            <a:avLst/>
          </a:prstGeom>
          <a:solidFill>
            <a:srgbClr val="FFFFFF"/>
          </a:solidFill>
          <a:ln w="2540">
            <a:solidFill>
              <a:srgbClr val="DDDDDD"/>
            </a:solidFill>
            <a:prstDash val="solid"/>
          </a:ln>
        </p:spPr>
        <p:txBody>
          <a:bodyPr/>
          <a:lstStyle/>
          <a:p>
            <a:endParaRPr lang="en-GB"/>
          </a:p>
        </p:txBody>
      </p:sp>
      <p:sp>
        <p:nvSpPr>
          <p:cNvPr id="92" name="Text 89"/>
          <p:cNvSpPr/>
          <p:nvPr/>
        </p:nvSpPr>
        <p:spPr>
          <a:xfrm>
            <a:off x="9262872" y="4425696"/>
            <a:ext cx="93268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WIP &lt;40 units</a:t>
            </a:r>
            <a:endParaRPr lang="en-US" sz="800" dirty="0"/>
          </a:p>
        </p:txBody>
      </p:sp>
      <p:sp>
        <p:nvSpPr>
          <p:cNvPr id="93" name="Shape 90"/>
          <p:cNvSpPr/>
          <p:nvPr/>
        </p:nvSpPr>
        <p:spPr>
          <a:xfrm>
            <a:off x="10250424" y="4389120"/>
            <a:ext cx="822960" cy="658368"/>
          </a:xfrm>
          <a:prstGeom prst="rect">
            <a:avLst/>
          </a:prstGeom>
          <a:solidFill>
            <a:srgbClr val="FFFFFF"/>
          </a:solidFill>
          <a:ln w="2540">
            <a:solidFill>
              <a:srgbClr val="DDDDDD"/>
            </a:solidFill>
            <a:prstDash val="solid"/>
          </a:ln>
        </p:spPr>
        <p:txBody>
          <a:bodyPr/>
          <a:lstStyle/>
          <a:p>
            <a:endParaRPr lang="en-GB"/>
          </a:p>
        </p:txBody>
      </p:sp>
      <p:sp>
        <p:nvSpPr>
          <p:cNvPr id="94" name="Text 91"/>
          <p:cNvSpPr/>
          <p:nvPr/>
        </p:nvSpPr>
        <p:spPr>
          <a:xfrm>
            <a:off x="10287000" y="4425696"/>
            <a:ext cx="7498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Ops Mgr</a:t>
            </a:r>
            <a:endParaRPr lang="en-US" sz="800" dirty="0"/>
          </a:p>
        </p:txBody>
      </p:sp>
      <p:sp>
        <p:nvSpPr>
          <p:cNvPr id="95" name="Shape 92"/>
          <p:cNvSpPr/>
          <p:nvPr/>
        </p:nvSpPr>
        <p:spPr>
          <a:xfrm>
            <a:off x="11082528" y="4389120"/>
            <a:ext cx="594360" cy="658368"/>
          </a:xfrm>
          <a:prstGeom prst="rect">
            <a:avLst/>
          </a:prstGeom>
          <a:solidFill>
            <a:srgbClr val="FFFFFF"/>
          </a:solidFill>
          <a:ln w="2540">
            <a:solidFill>
              <a:srgbClr val="DDDDDD"/>
            </a:solidFill>
            <a:prstDash val="solid"/>
          </a:ln>
        </p:spPr>
        <p:txBody>
          <a:bodyPr/>
          <a:lstStyle/>
          <a:p>
            <a:endParaRPr lang="en-GB"/>
          </a:p>
        </p:txBody>
      </p:sp>
      <p:sp>
        <p:nvSpPr>
          <p:cNvPr id="96" name="Text 93"/>
          <p:cNvSpPr/>
          <p:nvPr/>
        </p:nvSpPr>
        <p:spPr>
          <a:xfrm>
            <a:off x="11119104" y="4425696"/>
            <a:ext cx="5212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30 Apr</a:t>
            </a:r>
            <a:endParaRPr lang="en-US" sz="800" dirty="0"/>
          </a:p>
        </p:txBody>
      </p:sp>
      <p:sp>
        <p:nvSpPr>
          <p:cNvPr id="97" name="Shape 94"/>
          <p:cNvSpPr/>
          <p:nvPr/>
        </p:nvSpPr>
        <p:spPr>
          <a:xfrm>
            <a:off x="11695176" y="4389120"/>
            <a:ext cx="777240" cy="658368"/>
          </a:xfrm>
          <a:prstGeom prst="rect">
            <a:avLst/>
          </a:prstGeom>
          <a:solidFill>
            <a:srgbClr val="FFFFFF"/>
          </a:solidFill>
          <a:ln w="2540">
            <a:solidFill>
              <a:srgbClr val="DDDDDD"/>
            </a:solidFill>
            <a:prstDash val="solid"/>
          </a:ln>
        </p:spPr>
        <p:txBody>
          <a:bodyPr/>
          <a:lstStyle/>
          <a:p>
            <a:endParaRPr lang="en-GB"/>
          </a:p>
        </p:txBody>
      </p:sp>
      <p:sp>
        <p:nvSpPr>
          <p:cNvPr id="98" name="Text 95"/>
          <p:cNvSpPr/>
          <p:nvPr/>
        </p:nvSpPr>
        <p:spPr>
          <a:xfrm>
            <a:off x="11731752" y="4425696"/>
            <a:ext cx="704088" cy="585216"/>
          </a:xfrm>
          <a:prstGeom prst="rect">
            <a:avLst/>
          </a:prstGeom>
          <a:noFill/>
          <a:ln/>
        </p:spPr>
        <p:txBody>
          <a:bodyPr wrap="square" rtlCol="0" anchor="ctr"/>
          <a:lstStyle/>
          <a:p>
            <a:pPr marL="0" indent="0">
              <a:buNone/>
            </a:pPr>
            <a:r>
              <a:rPr lang="en-US" sz="800" b="1" dirty="0">
                <a:solidFill>
                  <a:srgbClr val="009FE3"/>
                </a:solidFill>
                <a:latin typeface="Arial" pitchFamily="34" charset="0"/>
                <a:ea typeface="Arial" pitchFamily="34" charset="-122"/>
                <a:cs typeface="Arial" pitchFamily="34" charset="-120"/>
              </a:rPr>
              <a:t>CSIP-05</a:t>
            </a:r>
            <a:endParaRPr lang="en-US" sz="800" dirty="0"/>
          </a:p>
        </p:txBody>
      </p:sp>
      <p:sp>
        <p:nvSpPr>
          <p:cNvPr id="99" name="Shape 96"/>
          <p:cNvSpPr/>
          <p:nvPr/>
        </p:nvSpPr>
        <p:spPr>
          <a:xfrm>
            <a:off x="6080760" y="5084064"/>
            <a:ext cx="1280160" cy="658368"/>
          </a:xfrm>
          <a:prstGeom prst="rect">
            <a:avLst/>
          </a:prstGeom>
          <a:solidFill>
            <a:srgbClr val="F2F2F2"/>
          </a:solidFill>
          <a:ln w="2540">
            <a:solidFill>
              <a:srgbClr val="DDDDDD"/>
            </a:solidFill>
            <a:prstDash val="solid"/>
          </a:ln>
        </p:spPr>
        <p:txBody>
          <a:bodyPr/>
          <a:lstStyle/>
          <a:p>
            <a:endParaRPr lang="en-GB"/>
          </a:p>
        </p:txBody>
      </p:sp>
      <p:sp>
        <p:nvSpPr>
          <p:cNvPr id="100" name="Text 97"/>
          <p:cNvSpPr/>
          <p:nvPr/>
        </p:nvSpPr>
        <p:spPr>
          <a:xfrm>
            <a:off x="6117336" y="5120640"/>
            <a:ext cx="12070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Skills waste</a:t>
            </a:r>
            <a:endParaRPr lang="en-US" sz="800" dirty="0"/>
          </a:p>
          <a:p>
            <a:pPr marL="0" indent="0">
              <a:buNone/>
            </a:pPr>
            <a:r>
              <a:rPr lang="en-US" sz="800" dirty="0">
                <a:solidFill>
                  <a:srgbClr val="5B595A"/>
                </a:solidFill>
                <a:latin typeface="Arial" pitchFamily="34" charset="0"/>
                <a:ea typeface="Arial" pitchFamily="34" charset="-122"/>
                <a:cs typeface="Arial" pitchFamily="34" charset="-120"/>
              </a:rPr>
              <a:t>→ All cells</a:t>
            </a:r>
            <a:endParaRPr lang="en-US" sz="800" dirty="0"/>
          </a:p>
        </p:txBody>
      </p:sp>
      <p:sp>
        <p:nvSpPr>
          <p:cNvPr id="101" name="Shape 98"/>
          <p:cNvSpPr/>
          <p:nvPr/>
        </p:nvSpPr>
        <p:spPr>
          <a:xfrm>
            <a:off x="7379208" y="5084064"/>
            <a:ext cx="1828800" cy="658368"/>
          </a:xfrm>
          <a:prstGeom prst="rect">
            <a:avLst/>
          </a:prstGeom>
          <a:solidFill>
            <a:srgbClr val="F2F2F2"/>
          </a:solidFill>
          <a:ln w="2540">
            <a:solidFill>
              <a:srgbClr val="DDDDDD"/>
            </a:solidFill>
            <a:prstDash val="solid"/>
          </a:ln>
        </p:spPr>
        <p:txBody>
          <a:bodyPr/>
          <a:lstStyle/>
          <a:p>
            <a:endParaRPr lang="en-GB"/>
          </a:p>
        </p:txBody>
      </p:sp>
      <p:sp>
        <p:nvSpPr>
          <p:cNvPr id="102" name="Text 99"/>
          <p:cNvSpPr/>
          <p:nvPr/>
        </p:nvSpPr>
        <p:spPr>
          <a:xfrm>
            <a:off x="7415784" y="5120640"/>
            <a:ext cx="175564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Launch weekly 15-min team reviews at each cell. Train operators in 5 Whys. Log all issues raised.</a:t>
            </a:r>
            <a:endParaRPr lang="en-US" sz="800" dirty="0"/>
          </a:p>
        </p:txBody>
      </p:sp>
      <p:sp>
        <p:nvSpPr>
          <p:cNvPr id="103" name="Shape 100"/>
          <p:cNvSpPr/>
          <p:nvPr/>
        </p:nvSpPr>
        <p:spPr>
          <a:xfrm>
            <a:off x="9226296" y="5084064"/>
            <a:ext cx="1005840" cy="658368"/>
          </a:xfrm>
          <a:prstGeom prst="rect">
            <a:avLst/>
          </a:prstGeom>
          <a:solidFill>
            <a:srgbClr val="F2F2F2"/>
          </a:solidFill>
          <a:ln w="2540">
            <a:solidFill>
              <a:srgbClr val="DDDDDD"/>
            </a:solidFill>
            <a:prstDash val="solid"/>
          </a:ln>
        </p:spPr>
        <p:txBody>
          <a:bodyPr/>
          <a:lstStyle/>
          <a:p>
            <a:endParaRPr lang="en-GB"/>
          </a:p>
        </p:txBody>
      </p:sp>
      <p:sp>
        <p:nvSpPr>
          <p:cNvPr id="104" name="Text 101"/>
          <p:cNvSpPr/>
          <p:nvPr/>
        </p:nvSpPr>
        <p:spPr>
          <a:xfrm>
            <a:off x="9262872" y="5120640"/>
            <a:ext cx="93268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Ongoing</a:t>
            </a:r>
            <a:endParaRPr lang="en-US" sz="800" dirty="0"/>
          </a:p>
        </p:txBody>
      </p:sp>
      <p:sp>
        <p:nvSpPr>
          <p:cNvPr id="105" name="Shape 102"/>
          <p:cNvSpPr/>
          <p:nvPr/>
        </p:nvSpPr>
        <p:spPr>
          <a:xfrm>
            <a:off x="10250424" y="5084064"/>
            <a:ext cx="822960" cy="658368"/>
          </a:xfrm>
          <a:prstGeom prst="rect">
            <a:avLst/>
          </a:prstGeom>
          <a:solidFill>
            <a:srgbClr val="F2F2F2"/>
          </a:solidFill>
          <a:ln w="2540">
            <a:solidFill>
              <a:srgbClr val="DDDDDD"/>
            </a:solidFill>
            <a:prstDash val="solid"/>
          </a:ln>
        </p:spPr>
        <p:txBody>
          <a:bodyPr/>
          <a:lstStyle/>
          <a:p>
            <a:endParaRPr lang="en-GB"/>
          </a:p>
        </p:txBody>
      </p:sp>
      <p:sp>
        <p:nvSpPr>
          <p:cNvPr id="106" name="Text 103"/>
          <p:cNvSpPr/>
          <p:nvPr/>
        </p:nvSpPr>
        <p:spPr>
          <a:xfrm>
            <a:off x="10287000" y="5120640"/>
            <a:ext cx="7498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HR / Ops</a:t>
            </a:r>
            <a:endParaRPr lang="en-US" sz="800" dirty="0"/>
          </a:p>
        </p:txBody>
      </p:sp>
      <p:sp>
        <p:nvSpPr>
          <p:cNvPr id="107" name="Shape 104"/>
          <p:cNvSpPr/>
          <p:nvPr/>
        </p:nvSpPr>
        <p:spPr>
          <a:xfrm>
            <a:off x="11082528" y="5084064"/>
            <a:ext cx="594360" cy="658368"/>
          </a:xfrm>
          <a:prstGeom prst="rect">
            <a:avLst/>
          </a:prstGeom>
          <a:solidFill>
            <a:srgbClr val="F2F2F2"/>
          </a:solidFill>
          <a:ln w="2540">
            <a:solidFill>
              <a:srgbClr val="DDDDDD"/>
            </a:solidFill>
            <a:prstDash val="solid"/>
          </a:ln>
        </p:spPr>
        <p:txBody>
          <a:bodyPr/>
          <a:lstStyle/>
          <a:p>
            <a:endParaRPr lang="en-GB"/>
          </a:p>
        </p:txBody>
      </p:sp>
      <p:sp>
        <p:nvSpPr>
          <p:cNvPr id="108" name="Text 105"/>
          <p:cNvSpPr/>
          <p:nvPr/>
        </p:nvSpPr>
        <p:spPr>
          <a:xfrm>
            <a:off x="11119104" y="5120640"/>
            <a:ext cx="521208" cy="585216"/>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1 Feb</a:t>
            </a:r>
            <a:endParaRPr lang="en-US" sz="800" dirty="0"/>
          </a:p>
        </p:txBody>
      </p:sp>
      <p:sp>
        <p:nvSpPr>
          <p:cNvPr id="109" name="Shape 106"/>
          <p:cNvSpPr/>
          <p:nvPr/>
        </p:nvSpPr>
        <p:spPr>
          <a:xfrm>
            <a:off x="11695176" y="5084064"/>
            <a:ext cx="777240" cy="658368"/>
          </a:xfrm>
          <a:prstGeom prst="rect">
            <a:avLst/>
          </a:prstGeom>
          <a:solidFill>
            <a:srgbClr val="F2F2F2"/>
          </a:solidFill>
          <a:ln w="2540">
            <a:solidFill>
              <a:srgbClr val="DDDDDD"/>
            </a:solidFill>
            <a:prstDash val="solid"/>
          </a:ln>
        </p:spPr>
        <p:txBody>
          <a:bodyPr/>
          <a:lstStyle/>
          <a:p>
            <a:endParaRPr lang="en-GB"/>
          </a:p>
        </p:txBody>
      </p:sp>
      <p:sp>
        <p:nvSpPr>
          <p:cNvPr id="110" name="Text 107"/>
          <p:cNvSpPr/>
          <p:nvPr/>
        </p:nvSpPr>
        <p:spPr>
          <a:xfrm>
            <a:off x="11731752" y="5120640"/>
            <a:ext cx="704088" cy="585216"/>
          </a:xfrm>
          <a:prstGeom prst="rect">
            <a:avLst/>
          </a:prstGeom>
          <a:noFill/>
          <a:ln/>
        </p:spPr>
        <p:txBody>
          <a:bodyPr wrap="square" rtlCol="0" anchor="ctr"/>
          <a:lstStyle/>
          <a:p>
            <a:pPr marL="0" indent="0">
              <a:buNone/>
            </a:pPr>
            <a:r>
              <a:rPr lang="en-US" sz="800" b="1" dirty="0">
                <a:solidFill>
                  <a:srgbClr val="009FE3"/>
                </a:solidFill>
                <a:latin typeface="Arial" pitchFamily="34" charset="0"/>
                <a:ea typeface="Arial" pitchFamily="34" charset="-122"/>
                <a:cs typeface="Arial" pitchFamily="34" charset="-120"/>
              </a:rPr>
              <a:t>CSIP-06</a:t>
            </a:r>
            <a:endParaRPr lang="en-US" sz="800" dirty="0"/>
          </a:p>
        </p:txBody>
      </p:sp>
      <p:sp>
        <p:nvSpPr>
          <p:cNvPr id="111" name="Shape 108"/>
          <p:cNvSpPr/>
          <p:nvPr/>
        </p:nvSpPr>
        <p:spPr>
          <a:xfrm>
            <a:off x="6080760" y="5797296"/>
            <a:ext cx="5760720" cy="384048"/>
          </a:xfrm>
          <a:prstGeom prst="rect">
            <a:avLst/>
          </a:prstGeom>
          <a:solidFill>
            <a:srgbClr val="EAF4EE"/>
          </a:solidFill>
          <a:ln w="6350">
            <a:solidFill>
              <a:srgbClr val="217346"/>
            </a:solidFill>
            <a:prstDash val="solid"/>
          </a:ln>
        </p:spPr>
        <p:txBody>
          <a:bodyPr/>
          <a:lstStyle/>
          <a:p>
            <a:endParaRPr lang="en-GB"/>
          </a:p>
        </p:txBody>
      </p:sp>
      <p:sp>
        <p:nvSpPr>
          <p:cNvPr id="112" name="Text 109"/>
          <p:cNvSpPr/>
          <p:nvPr/>
        </p:nvSpPr>
        <p:spPr>
          <a:xfrm>
            <a:off x="6172200" y="5833872"/>
            <a:ext cx="5577840" cy="310896"/>
          </a:xfrm>
          <a:prstGeom prst="rect">
            <a:avLst/>
          </a:prstGeom>
          <a:noFill/>
          <a:ln/>
        </p:spPr>
        <p:txBody>
          <a:bodyPr wrap="square" rtlCol="0" anchor="ctr"/>
          <a:lstStyle/>
          <a:p>
            <a:pPr marL="0" indent="0">
              <a:buNone/>
            </a:pPr>
            <a:r>
              <a:rPr lang="en-US" sz="900" b="1" dirty="0">
                <a:solidFill>
                  <a:srgbClr val="217346"/>
                </a:solidFill>
                <a:latin typeface="Arial" pitchFamily="34" charset="0"/>
                <a:ea typeface="Arial" pitchFamily="34" charset="-122"/>
                <a:cs typeface="Arial" pitchFamily="34" charset="-120"/>
              </a:rPr>
              <a:t>Each row above becomes a CSIP project. The VSM exercise has generated a fully sequenced, owned, and targeted improvement programme in a single workshop.</a:t>
            </a:r>
            <a:endParaRPr lang="en-US" sz="900" dirty="0"/>
          </a:p>
        </p:txBody>
      </p:sp>
      <p:sp>
        <p:nvSpPr>
          <p:cNvPr id="113" name="Rectangle 112"/>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4" name="Picture 113" descr="image.png"/>
          <p:cNvPicPr>
            <a:picLocks noChangeAspect="1"/>
          </p:cNvPicPr>
          <p:nvPr/>
        </p:nvPicPr>
        <p:blipFill>
          <a:blip r:embed="rId5"/>
          <a:stretch>
            <a:fillRect/>
          </a:stretch>
        </p:blipFill>
        <p:spPr>
          <a:xfrm>
            <a:off x="10610088" y="100584"/>
            <a:ext cx="566928" cy="347472"/>
          </a:xfrm>
          <a:prstGeom prst="rect">
            <a:avLst/>
          </a:prstGeom>
        </p:spPr>
      </p:pic>
      <p:pic>
        <p:nvPicPr>
          <p:cNvPr id="115" name="Picture 114" descr="image.png"/>
          <p:cNvPicPr>
            <a:picLocks noChangeAspect="1"/>
          </p:cNvPicPr>
          <p:nvPr/>
        </p:nvPicPr>
        <p:blipFill>
          <a:blip r:embed="rId4"/>
          <a:stretch>
            <a:fillRect/>
          </a:stretch>
        </p:blipFill>
        <p:spPr>
          <a:xfrm>
            <a:off x="11222736" y="100584"/>
            <a:ext cx="658368" cy="347472"/>
          </a:xfrm>
          <a:prstGeom prst="rect">
            <a:avLst/>
          </a:prstGeom>
        </p:spPr>
      </p:pic>
      <p:sp>
        <p:nvSpPr>
          <p:cNvPr id="116" name="Rectangle 115"/>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nvSpPr>
        <p:spPr>
          <a:xfrm>
            <a:off x="274320" y="91440"/>
            <a:ext cx="10058400" cy="384048"/>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Gate Checklist 2:</a:t>
            </a:r>
            <a:endParaRPr lang="en-US" sz="1300" dirty="0"/>
          </a:p>
        </p:txBody>
      </p:sp>
      <p:sp>
        <p:nvSpPr>
          <p:cNvPr id="4" name="Text 1"/>
          <p:cNvSpPr/>
          <p:nvPr/>
        </p:nvSpPr>
        <p:spPr>
          <a:xfrm>
            <a:off x="274320" y="457200"/>
            <a:ext cx="10058400" cy="457200"/>
          </a:xfrm>
          <a:prstGeom prst="rect">
            <a:avLst/>
          </a:prstGeom>
          <a:noFill/>
          <a:ln/>
        </p:spPr>
        <p:txBody>
          <a:bodyPr wrap="square" rtlCol="0" anchor="ctr"/>
          <a:lstStyle/>
          <a:p>
            <a:pPr marL="0" indent="0">
              <a:buNone/>
            </a:pPr>
            <a:r>
              <a:rPr lang="en-US" sz="2600" b="1" dirty="0">
                <a:solidFill>
                  <a:srgbClr val="1E3A5F"/>
                </a:solidFill>
                <a:latin typeface="Arial" pitchFamily="34" charset="0"/>
                <a:ea typeface="Arial" pitchFamily="34" charset="-122"/>
                <a:cs typeface="Arial" pitchFamily="34" charset="-120"/>
              </a:rPr>
              <a:t>Create the Future State Value Stream Map</a:t>
            </a:r>
            <a:endParaRPr lang="en-US" sz="26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6" name="Text 3"/>
          <p:cNvSpPr/>
          <p:nvPr/>
        </p:nvSpPr>
        <p:spPr>
          <a:xfrm>
            <a:off x="274320" y="1005840"/>
            <a:ext cx="11612880" cy="310896"/>
          </a:xfrm>
          <a:prstGeom prst="rect">
            <a:avLst/>
          </a:prstGeom>
          <a:noFill/>
          <a:ln/>
        </p:spPr>
        <p:txBody>
          <a:bodyPr wrap="square" rtlCol="0" anchor="ctr"/>
          <a:lstStyle/>
          <a:p>
            <a:pPr marL="0" indent="0">
              <a:buNone/>
            </a:pPr>
            <a:r>
              <a:rPr lang="en-US" sz="1050" i="1" dirty="0">
                <a:solidFill>
                  <a:srgbClr val="5B595A"/>
                </a:solidFill>
                <a:latin typeface="Arial" pitchFamily="34" charset="0"/>
                <a:ea typeface="Arial" pitchFamily="34" charset="-122"/>
                <a:cs typeface="Arial" pitchFamily="34" charset="-120"/>
              </a:rPr>
              <a:t>Confirm that every item below has been completed before progressing to implementation. The quality of the improvement programme that follows depends entirely on the rigour of this checklist.</a:t>
            </a:r>
            <a:endParaRPr lang="en-US" sz="1050" dirty="0"/>
          </a:p>
        </p:txBody>
      </p:sp>
      <p:sp>
        <p:nvSpPr>
          <p:cNvPr id="7" name="Shape 4"/>
          <p:cNvSpPr/>
          <p:nvPr/>
        </p:nvSpPr>
        <p:spPr>
          <a:xfrm>
            <a:off x="274320" y="1408176"/>
            <a:ext cx="5669280" cy="731520"/>
          </a:xfrm>
          <a:prstGeom prst="rect">
            <a:avLst/>
          </a:prstGeom>
          <a:solidFill>
            <a:srgbClr val="FFFFFF"/>
          </a:solidFill>
          <a:ln w="3810">
            <a:solidFill>
              <a:srgbClr val="D8D8D8"/>
            </a:solidFill>
            <a:prstDash val="solid"/>
          </a:ln>
        </p:spPr>
        <p:txBody>
          <a:bodyPr/>
          <a:lstStyle/>
          <a:p>
            <a:endParaRPr lang="en-GB"/>
          </a:p>
        </p:txBody>
      </p:sp>
      <p:sp>
        <p:nvSpPr>
          <p:cNvPr id="8" name="Shape 5"/>
          <p:cNvSpPr/>
          <p:nvPr/>
        </p:nvSpPr>
        <p:spPr>
          <a:xfrm>
            <a:off x="274320" y="1408176"/>
            <a:ext cx="475488" cy="731520"/>
          </a:xfrm>
          <a:prstGeom prst="rect">
            <a:avLst/>
          </a:prstGeom>
          <a:solidFill>
            <a:srgbClr val="009FE3"/>
          </a:solidFill>
          <a:ln/>
        </p:spPr>
        <p:txBody>
          <a:bodyPr/>
          <a:lstStyle/>
          <a:p>
            <a:endParaRPr lang="en-GB"/>
          </a:p>
        </p:txBody>
      </p:sp>
      <p:sp>
        <p:nvSpPr>
          <p:cNvPr id="9" name="Text 6"/>
          <p:cNvSpPr/>
          <p:nvPr/>
        </p:nvSpPr>
        <p:spPr>
          <a:xfrm>
            <a:off x="274320" y="1408176"/>
            <a:ext cx="475488" cy="7315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0" name="Text 7"/>
          <p:cNvSpPr/>
          <p:nvPr/>
        </p:nvSpPr>
        <p:spPr>
          <a:xfrm>
            <a:off x="804672" y="1499616"/>
            <a:ext cx="5084064" cy="54864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Customer requirements have been reconfirmed for the future state (volume, takt time, lead time, quality grade)</a:t>
            </a:r>
            <a:endParaRPr lang="en-US" sz="950" dirty="0"/>
          </a:p>
        </p:txBody>
      </p:sp>
      <p:sp>
        <p:nvSpPr>
          <p:cNvPr id="11" name="Shape 8"/>
          <p:cNvSpPr/>
          <p:nvPr/>
        </p:nvSpPr>
        <p:spPr>
          <a:xfrm>
            <a:off x="274320" y="2212848"/>
            <a:ext cx="5669280" cy="731520"/>
          </a:xfrm>
          <a:prstGeom prst="rect">
            <a:avLst/>
          </a:prstGeom>
          <a:solidFill>
            <a:srgbClr val="E0F4FD"/>
          </a:solidFill>
          <a:ln w="3810">
            <a:solidFill>
              <a:srgbClr val="D8D8D8"/>
            </a:solidFill>
            <a:prstDash val="solid"/>
          </a:ln>
        </p:spPr>
        <p:txBody>
          <a:bodyPr/>
          <a:lstStyle/>
          <a:p>
            <a:endParaRPr lang="en-GB"/>
          </a:p>
        </p:txBody>
      </p:sp>
      <p:sp>
        <p:nvSpPr>
          <p:cNvPr id="12" name="Shape 9"/>
          <p:cNvSpPr/>
          <p:nvPr/>
        </p:nvSpPr>
        <p:spPr>
          <a:xfrm>
            <a:off x="274320" y="2212848"/>
            <a:ext cx="475488" cy="731520"/>
          </a:xfrm>
          <a:prstGeom prst="rect">
            <a:avLst/>
          </a:prstGeom>
          <a:solidFill>
            <a:srgbClr val="009FE3"/>
          </a:solidFill>
          <a:ln/>
        </p:spPr>
        <p:txBody>
          <a:bodyPr/>
          <a:lstStyle/>
          <a:p>
            <a:endParaRPr lang="en-GB"/>
          </a:p>
        </p:txBody>
      </p:sp>
      <p:sp>
        <p:nvSpPr>
          <p:cNvPr id="13" name="Text 10"/>
          <p:cNvSpPr/>
          <p:nvPr/>
        </p:nvSpPr>
        <p:spPr>
          <a:xfrm>
            <a:off x="274320" y="2212848"/>
            <a:ext cx="475488" cy="7315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4" name="Text 11"/>
          <p:cNvSpPr/>
          <p:nvPr/>
        </p:nvSpPr>
        <p:spPr>
          <a:xfrm>
            <a:off x="804672" y="2304288"/>
            <a:ext cx="5084064" cy="54864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Opportunities for process elimination, combination, or re-sequencing have been identified and evaluated</a:t>
            </a:r>
            <a:endParaRPr lang="en-US" sz="950" dirty="0"/>
          </a:p>
        </p:txBody>
      </p:sp>
      <p:sp>
        <p:nvSpPr>
          <p:cNvPr id="15" name="Shape 12"/>
          <p:cNvSpPr/>
          <p:nvPr/>
        </p:nvSpPr>
        <p:spPr>
          <a:xfrm>
            <a:off x="274320" y="3017520"/>
            <a:ext cx="5669280" cy="731520"/>
          </a:xfrm>
          <a:prstGeom prst="rect">
            <a:avLst/>
          </a:prstGeom>
          <a:solidFill>
            <a:srgbClr val="FFFFFF"/>
          </a:solidFill>
          <a:ln w="3810">
            <a:solidFill>
              <a:srgbClr val="D8D8D8"/>
            </a:solidFill>
            <a:prstDash val="solid"/>
          </a:ln>
        </p:spPr>
        <p:txBody>
          <a:bodyPr/>
          <a:lstStyle/>
          <a:p>
            <a:endParaRPr lang="en-GB"/>
          </a:p>
        </p:txBody>
      </p:sp>
      <p:sp>
        <p:nvSpPr>
          <p:cNvPr id="16" name="Shape 13"/>
          <p:cNvSpPr/>
          <p:nvPr/>
        </p:nvSpPr>
        <p:spPr>
          <a:xfrm>
            <a:off x="274320" y="3017520"/>
            <a:ext cx="475488" cy="731520"/>
          </a:xfrm>
          <a:prstGeom prst="rect">
            <a:avLst/>
          </a:prstGeom>
          <a:solidFill>
            <a:srgbClr val="009FE3"/>
          </a:solidFill>
          <a:ln/>
        </p:spPr>
        <p:txBody>
          <a:bodyPr/>
          <a:lstStyle/>
          <a:p>
            <a:endParaRPr lang="en-GB"/>
          </a:p>
        </p:txBody>
      </p:sp>
      <p:sp>
        <p:nvSpPr>
          <p:cNvPr id="17" name="Text 14"/>
          <p:cNvSpPr/>
          <p:nvPr/>
        </p:nvSpPr>
        <p:spPr>
          <a:xfrm>
            <a:off x="274320" y="3017520"/>
            <a:ext cx="475488" cy="7315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8" name="Text 15"/>
          <p:cNvSpPr/>
          <p:nvPr/>
        </p:nvSpPr>
        <p:spPr>
          <a:xfrm>
            <a:off x="804672" y="3108960"/>
            <a:ext cx="5084064" cy="54864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The future state flow design has been agreed by the team, a clear concept exists for how material will move</a:t>
            </a:r>
            <a:endParaRPr lang="en-US" sz="950" dirty="0"/>
          </a:p>
        </p:txBody>
      </p:sp>
      <p:sp>
        <p:nvSpPr>
          <p:cNvPr id="19" name="Shape 16"/>
          <p:cNvSpPr/>
          <p:nvPr/>
        </p:nvSpPr>
        <p:spPr>
          <a:xfrm>
            <a:off x="274320" y="3822192"/>
            <a:ext cx="5669280" cy="731520"/>
          </a:xfrm>
          <a:prstGeom prst="rect">
            <a:avLst/>
          </a:prstGeom>
          <a:solidFill>
            <a:srgbClr val="E0F4FD"/>
          </a:solidFill>
          <a:ln w="3810">
            <a:solidFill>
              <a:srgbClr val="D8D8D8"/>
            </a:solidFill>
            <a:prstDash val="solid"/>
          </a:ln>
        </p:spPr>
        <p:txBody>
          <a:bodyPr/>
          <a:lstStyle/>
          <a:p>
            <a:endParaRPr lang="en-GB"/>
          </a:p>
        </p:txBody>
      </p:sp>
      <p:sp>
        <p:nvSpPr>
          <p:cNvPr id="20" name="Shape 17"/>
          <p:cNvSpPr/>
          <p:nvPr/>
        </p:nvSpPr>
        <p:spPr>
          <a:xfrm>
            <a:off x="274320" y="3822192"/>
            <a:ext cx="475488" cy="731520"/>
          </a:xfrm>
          <a:prstGeom prst="rect">
            <a:avLst/>
          </a:prstGeom>
          <a:solidFill>
            <a:srgbClr val="009FE3"/>
          </a:solidFill>
          <a:ln/>
        </p:spPr>
        <p:txBody>
          <a:bodyPr/>
          <a:lstStyle/>
          <a:p>
            <a:endParaRPr lang="en-GB"/>
          </a:p>
        </p:txBody>
      </p:sp>
      <p:sp>
        <p:nvSpPr>
          <p:cNvPr id="21" name="Text 18"/>
          <p:cNvSpPr/>
          <p:nvPr/>
        </p:nvSpPr>
        <p:spPr>
          <a:xfrm>
            <a:off x="274320" y="3822192"/>
            <a:ext cx="475488" cy="7315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2" name="Text 19"/>
          <p:cNvSpPr/>
          <p:nvPr/>
        </p:nvSpPr>
        <p:spPr>
          <a:xfrm>
            <a:off x="804672" y="3913632"/>
            <a:ext cx="5084064" cy="54864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The control system has been designed: pacemaker identified, FIFO lanes or kanban quantities defined for each step</a:t>
            </a:r>
            <a:endParaRPr lang="en-US" sz="950" dirty="0"/>
          </a:p>
        </p:txBody>
      </p:sp>
      <p:sp>
        <p:nvSpPr>
          <p:cNvPr id="23" name="Shape 20"/>
          <p:cNvSpPr/>
          <p:nvPr/>
        </p:nvSpPr>
        <p:spPr>
          <a:xfrm>
            <a:off x="274320" y="4626864"/>
            <a:ext cx="5669280" cy="731520"/>
          </a:xfrm>
          <a:prstGeom prst="rect">
            <a:avLst/>
          </a:prstGeom>
          <a:solidFill>
            <a:srgbClr val="FFFFFF"/>
          </a:solidFill>
          <a:ln w="3810">
            <a:solidFill>
              <a:srgbClr val="D8D8D8"/>
            </a:solidFill>
            <a:prstDash val="solid"/>
          </a:ln>
        </p:spPr>
        <p:txBody>
          <a:bodyPr/>
          <a:lstStyle/>
          <a:p>
            <a:endParaRPr lang="en-GB"/>
          </a:p>
        </p:txBody>
      </p:sp>
      <p:sp>
        <p:nvSpPr>
          <p:cNvPr id="24" name="Shape 21"/>
          <p:cNvSpPr/>
          <p:nvPr/>
        </p:nvSpPr>
        <p:spPr>
          <a:xfrm>
            <a:off x="274320" y="4626864"/>
            <a:ext cx="475488" cy="731520"/>
          </a:xfrm>
          <a:prstGeom prst="rect">
            <a:avLst/>
          </a:prstGeom>
          <a:solidFill>
            <a:srgbClr val="009FE3"/>
          </a:solidFill>
          <a:ln/>
        </p:spPr>
        <p:txBody>
          <a:bodyPr/>
          <a:lstStyle/>
          <a:p>
            <a:endParaRPr lang="en-GB"/>
          </a:p>
        </p:txBody>
      </p:sp>
      <p:sp>
        <p:nvSpPr>
          <p:cNvPr id="25" name="Text 22"/>
          <p:cNvSpPr/>
          <p:nvPr/>
        </p:nvSpPr>
        <p:spPr>
          <a:xfrm>
            <a:off x="274320" y="4626864"/>
            <a:ext cx="475488" cy="7315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6" name="Text 23"/>
          <p:cNvSpPr/>
          <p:nvPr/>
        </p:nvSpPr>
        <p:spPr>
          <a:xfrm>
            <a:off x="804672" y="4718304"/>
            <a:ext cx="5084064" cy="54864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Replenishment signals have been designed: what triggers each step to produce, and in what quantity</a:t>
            </a:r>
            <a:endParaRPr lang="en-US" sz="950" dirty="0"/>
          </a:p>
        </p:txBody>
      </p:sp>
      <p:sp>
        <p:nvSpPr>
          <p:cNvPr id="27" name="Shape 24"/>
          <p:cNvSpPr/>
          <p:nvPr/>
        </p:nvSpPr>
        <p:spPr>
          <a:xfrm>
            <a:off x="274320" y="5431536"/>
            <a:ext cx="5669280" cy="731520"/>
          </a:xfrm>
          <a:prstGeom prst="rect">
            <a:avLst/>
          </a:prstGeom>
          <a:solidFill>
            <a:srgbClr val="E0F4FD"/>
          </a:solidFill>
          <a:ln w="3810">
            <a:solidFill>
              <a:srgbClr val="D8D8D8"/>
            </a:solidFill>
            <a:prstDash val="solid"/>
          </a:ln>
        </p:spPr>
        <p:txBody>
          <a:bodyPr/>
          <a:lstStyle/>
          <a:p>
            <a:endParaRPr lang="en-GB"/>
          </a:p>
        </p:txBody>
      </p:sp>
      <p:sp>
        <p:nvSpPr>
          <p:cNvPr id="28" name="Shape 25"/>
          <p:cNvSpPr/>
          <p:nvPr/>
        </p:nvSpPr>
        <p:spPr>
          <a:xfrm>
            <a:off x="274320" y="5431536"/>
            <a:ext cx="475488" cy="731520"/>
          </a:xfrm>
          <a:prstGeom prst="rect">
            <a:avLst/>
          </a:prstGeom>
          <a:solidFill>
            <a:srgbClr val="009FE3"/>
          </a:solidFill>
          <a:ln/>
        </p:spPr>
        <p:txBody>
          <a:bodyPr/>
          <a:lstStyle/>
          <a:p>
            <a:endParaRPr lang="en-GB"/>
          </a:p>
        </p:txBody>
      </p:sp>
      <p:sp>
        <p:nvSpPr>
          <p:cNvPr id="29" name="Text 26"/>
          <p:cNvSpPr/>
          <p:nvPr/>
        </p:nvSpPr>
        <p:spPr>
          <a:xfrm>
            <a:off x="274320" y="5431536"/>
            <a:ext cx="475488" cy="7315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30" name="Text 27"/>
          <p:cNvSpPr/>
          <p:nvPr/>
        </p:nvSpPr>
        <p:spPr>
          <a:xfrm>
            <a:off x="804672" y="5522976"/>
            <a:ext cx="5084064" cy="54864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Future state lead time and process efficiency have been calculated and documented</a:t>
            </a:r>
            <a:endParaRPr lang="en-US" sz="950" dirty="0"/>
          </a:p>
        </p:txBody>
      </p:sp>
      <p:sp>
        <p:nvSpPr>
          <p:cNvPr id="31" name="Shape 28"/>
          <p:cNvSpPr/>
          <p:nvPr/>
        </p:nvSpPr>
        <p:spPr>
          <a:xfrm>
            <a:off x="6309360" y="1408176"/>
            <a:ext cx="5669280" cy="731520"/>
          </a:xfrm>
          <a:prstGeom prst="rect">
            <a:avLst/>
          </a:prstGeom>
          <a:solidFill>
            <a:srgbClr val="FFFFFF"/>
          </a:solidFill>
          <a:ln w="3810">
            <a:solidFill>
              <a:srgbClr val="D8D8D8"/>
            </a:solidFill>
            <a:prstDash val="solid"/>
          </a:ln>
        </p:spPr>
        <p:txBody>
          <a:bodyPr/>
          <a:lstStyle/>
          <a:p>
            <a:endParaRPr lang="en-GB"/>
          </a:p>
        </p:txBody>
      </p:sp>
      <p:sp>
        <p:nvSpPr>
          <p:cNvPr id="32" name="Shape 29"/>
          <p:cNvSpPr/>
          <p:nvPr/>
        </p:nvSpPr>
        <p:spPr>
          <a:xfrm>
            <a:off x="6309360" y="1408176"/>
            <a:ext cx="475488" cy="731520"/>
          </a:xfrm>
          <a:prstGeom prst="rect">
            <a:avLst/>
          </a:prstGeom>
          <a:solidFill>
            <a:srgbClr val="83348F"/>
          </a:solidFill>
          <a:ln/>
        </p:spPr>
        <p:txBody>
          <a:bodyPr/>
          <a:lstStyle/>
          <a:p>
            <a:endParaRPr lang="en-GB"/>
          </a:p>
        </p:txBody>
      </p:sp>
      <p:sp>
        <p:nvSpPr>
          <p:cNvPr id="33" name="Text 30"/>
          <p:cNvSpPr/>
          <p:nvPr/>
        </p:nvSpPr>
        <p:spPr>
          <a:xfrm>
            <a:off x="6309360" y="1408176"/>
            <a:ext cx="475488" cy="7315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34" name="Text 31"/>
          <p:cNvSpPr/>
          <p:nvPr/>
        </p:nvSpPr>
        <p:spPr>
          <a:xfrm>
            <a:off x="6839712" y="1499616"/>
            <a:ext cx="5084064" cy="54864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People requirements have been assessed: skills gaps identified, training needs confirmed, staffing model reviewed</a:t>
            </a:r>
            <a:endParaRPr lang="en-US" sz="950" dirty="0"/>
          </a:p>
        </p:txBody>
      </p:sp>
      <p:sp>
        <p:nvSpPr>
          <p:cNvPr id="35" name="Shape 32"/>
          <p:cNvSpPr/>
          <p:nvPr/>
        </p:nvSpPr>
        <p:spPr>
          <a:xfrm>
            <a:off x="6309360" y="2212848"/>
            <a:ext cx="5669280" cy="731520"/>
          </a:xfrm>
          <a:prstGeom prst="rect">
            <a:avLst/>
          </a:prstGeom>
          <a:solidFill>
            <a:srgbClr val="F3EAF4"/>
          </a:solidFill>
          <a:ln w="3810">
            <a:solidFill>
              <a:srgbClr val="D8D8D8"/>
            </a:solidFill>
            <a:prstDash val="solid"/>
          </a:ln>
        </p:spPr>
        <p:txBody>
          <a:bodyPr/>
          <a:lstStyle/>
          <a:p>
            <a:endParaRPr lang="en-GB"/>
          </a:p>
        </p:txBody>
      </p:sp>
      <p:sp>
        <p:nvSpPr>
          <p:cNvPr id="36" name="Shape 33"/>
          <p:cNvSpPr/>
          <p:nvPr/>
        </p:nvSpPr>
        <p:spPr>
          <a:xfrm>
            <a:off x="6309360" y="2212848"/>
            <a:ext cx="475488" cy="731520"/>
          </a:xfrm>
          <a:prstGeom prst="rect">
            <a:avLst/>
          </a:prstGeom>
          <a:solidFill>
            <a:srgbClr val="83348F"/>
          </a:solidFill>
          <a:ln/>
        </p:spPr>
        <p:txBody>
          <a:bodyPr/>
          <a:lstStyle/>
          <a:p>
            <a:endParaRPr lang="en-GB"/>
          </a:p>
        </p:txBody>
      </p:sp>
      <p:sp>
        <p:nvSpPr>
          <p:cNvPr id="37" name="Text 34"/>
          <p:cNvSpPr/>
          <p:nvPr/>
        </p:nvSpPr>
        <p:spPr>
          <a:xfrm>
            <a:off x="6309360" y="2212848"/>
            <a:ext cx="475488" cy="7315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38" name="Text 35"/>
          <p:cNvSpPr/>
          <p:nvPr/>
        </p:nvSpPr>
        <p:spPr>
          <a:xfrm>
            <a:off x="6839712" y="2304288"/>
            <a:ext cx="5084064" cy="54864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The complete future state map has been drawn with all data, information flow, and control mechanisms shown</a:t>
            </a:r>
            <a:endParaRPr lang="en-US" sz="950" dirty="0"/>
          </a:p>
        </p:txBody>
      </p:sp>
      <p:sp>
        <p:nvSpPr>
          <p:cNvPr id="39" name="Shape 36"/>
          <p:cNvSpPr/>
          <p:nvPr/>
        </p:nvSpPr>
        <p:spPr>
          <a:xfrm>
            <a:off x="6309360" y="3017520"/>
            <a:ext cx="5669280" cy="731520"/>
          </a:xfrm>
          <a:prstGeom prst="rect">
            <a:avLst/>
          </a:prstGeom>
          <a:solidFill>
            <a:srgbClr val="FFFFFF"/>
          </a:solidFill>
          <a:ln w="3810">
            <a:solidFill>
              <a:srgbClr val="D8D8D8"/>
            </a:solidFill>
            <a:prstDash val="solid"/>
          </a:ln>
        </p:spPr>
        <p:txBody>
          <a:bodyPr/>
          <a:lstStyle/>
          <a:p>
            <a:endParaRPr lang="en-GB"/>
          </a:p>
        </p:txBody>
      </p:sp>
      <p:sp>
        <p:nvSpPr>
          <p:cNvPr id="40" name="Shape 37"/>
          <p:cNvSpPr/>
          <p:nvPr/>
        </p:nvSpPr>
        <p:spPr>
          <a:xfrm>
            <a:off x="6309360" y="3017520"/>
            <a:ext cx="475488" cy="731520"/>
          </a:xfrm>
          <a:prstGeom prst="rect">
            <a:avLst/>
          </a:prstGeom>
          <a:solidFill>
            <a:srgbClr val="83348F"/>
          </a:solidFill>
          <a:ln/>
        </p:spPr>
        <p:txBody>
          <a:bodyPr/>
          <a:lstStyle/>
          <a:p>
            <a:endParaRPr lang="en-GB"/>
          </a:p>
        </p:txBody>
      </p:sp>
      <p:sp>
        <p:nvSpPr>
          <p:cNvPr id="41" name="Text 38"/>
          <p:cNvSpPr/>
          <p:nvPr/>
        </p:nvSpPr>
        <p:spPr>
          <a:xfrm>
            <a:off x="6309360" y="3017520"/>
            <a:ext cx="475488" cy="7315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42" name="Text 39"/>
          <p:cNvSpPr/>
          <p:nvPr/>
        </p:nvSpPr>
        <p:spPr>
          <a:xfrm>
            <a:off x="6839712" y="3108960"/>
            <a:ext cx="5084064" cy="54864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Targets have been set for each kaizen burst remaining in the future state</a:t>
            </a:r>
            <a:endParaRPr lang="en-US" sz="950" dirty="0"/>
          </a:p>
        </p:txBody>
      </p:sp>
      <p:sp>
        <p:nvSpPr>
          <p:cNvPr id="43" name="Shape 40"/>
          <p:cNvSpPr/>
          <p:nvPr/>
        </p:nvSpPr>
        <p:spPr>
          <a:xfrm>
            <a:off x="6309360" y="3822192"/>
            <a:ext cx="5669280" cy="731520"/>
          </a:xfrm>
          <a:prstGeom prst="rect">
            <a:avLst/>
          </a:prstGeom>
          <a:solidFill>
            <a:srgbClr val="F3EAF4"/>
          </a:solidFill>
          <a:ln w="3810">
            <a:solidFill>
              <a:srgbClr val="D8D8D8"/>
            </a:solidFill>
            <a:prstDash val="solid"/>
          </a:ln>
        </p:spPr>
        <p:txBody>
          <a:bodyPr/>
          <a:lstStyle/>
          <a:p>
            <a:endParaRPr lang="en-GB"/>
          </a:p>
        </p:txBody>
      </p:sp>
      <p:sp>
        <p:nvSpPr>
          <p:cNvPr id="44" name="Shape 41"/>
          <p:cNvSpPr/>
          <p:nvPr/>
        </p:nvSpPr>
        <p:spPr>
          <a:xfrm>
            <a:off x="6309360" y="3822192"/>
            <a:ext cx="475488" cy="731520"/>
          </a:xfrm>
          <a:prstGeom prst="rect">
            <a:avLst/>
          </a:prstGeom>
          <a:solidFill>
            <a:srgbClr val="83348F"/>
          </a:solidFill>
          <a:ln/>
        </p:spPr>
        <p:txBody>
          <a:bodyPr/>
          <a:lstStyle/>
          <a:p>
            <a:endParaRPr lang="en-GB"/>
          </a:p>
        </p:txBody>
      </p:sp>
      <p:sp>
        <p:nvSpPr>
          <p:cNvPr id="45" name="Text 42"/>
          <p:cNvSpPr/>
          <p:nvPr/>
        </p:nvSpPr>
        <p:spPr>
          <a:xfrm>
            <a:off x="6309360" y="3822192"/>
            <a:ext cx="475488" cy="7315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46" name="Text 43"/>
          <p:cNvSpPr/>
          <p:nvPr/>
        </p:nvSpPr>
        <p:spPr>
          <a:xfrm>
            <a:off x="6839712" y="3913632"/>
            <a:ext cx="5084064" cy="54864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A phased action plan has been developed: actions, targets, owners, dates, and CSIP project references</a:t>
            </a:r>
            <a:endParaRPr lang="en-US" sz="950" dirty="0"/>
          </a:p>
        </p:txBody>
      </p:sp>
      <p:sp>
        <p:nvSpPr>
          <p:cNvPr id="47" name="Shape 44"/>
          <p:cNvSpPr/>
          <p:nvPr/>
        </p:nvSpPr>
        <p:spPr>
          <a:xfrm>
            <a:off x="6309360" y="4626864"/>
            <a:ext cx="5669280" cy="731520"/>
          </a:xfrm>
          <a:prstGeom prst="rect">
            <a:avLst/>
          </a:prstGeom>
          <a:solidFill>
            <a:srgbClr val="FFFFFF"/>
          </a:solidFill>
          <a:ln w="3810">
            <a:solidFill>
              <a:srgbClr val="D8D8D8"/>
            </a:solidFill>
            <a:prstDash val="solid"/>
          </a:ln>
        </p:spPr>
        <p:txBody>
          <a:bodyPr/>
          <a:lstStyle/>
          <a:p>
            <a:endParaRPr lang="en-GB"/>
          </a:p>
        </p:txBody>
      </p:sp>
      <p:sp>
        <p:nvSpPr>
          <p:cNvPr id="48" name="Shape 45"/>
          <p:cNvSpPr/>
          <p:nvPr/>
        </p:nvSpPr>
        <p:spPr>
          <a:xfrm>
            <a:off x="6309360" y="4626864"/>
            <a:ext cx="475488" cy="731520"/>
          </a:xfrm>
          <a:prstGeom prst="rect">
            <a:avLst/>
          </a:prstGeom>
          <a:solidFill>
            <a:srgbClr val="83348F"/>
          </a:solidFill>
          <a:ln/>
        </p:spPr>
        <p:txBody>
          <a:bodyPr/>
          <a:lstStyle/>
          <a:p>
            <a:endParaRPr lang="en-GB"/>
          </a:p>
        </p:txBody>
      </p:sp>
      <p:sp>
        <p:nvSpPr>
          <p:cNvPr id="49" name="Text 46"/>
          <p:cNvSpPr/>
          <p:nvPr/>
        </p:nvSpPr>
        <p:spPr>
          <a:xfrm>
            <a:off x="6309360" y="4626864"/>
            <a:ext cx="475488" cy="7315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50" name="Text 47"/>
          <p:cNvSpPr/>
          <p:nvPr/>
        </p:nvSpPr>
        <p:spPr>
          <a:xfrm>
            <a:off x="6839712" y="4718304"/>
            <a:ext cx="5084064" cy="54864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Review gates have been agreed: dates and criteria for assessing whether each phase has been achieved</a:t>
            </a:r>
            <a:endParaRPr lang="en-US" sz="950" dirty="0"/>
          </a:p>
        </p:txBody>
      </p:sp>
      <p:sp>
        <p:nvSpPr>
          <p:cNvPr id="51" name="Shape 48"/>
          <p:cNvSpPr/>
          <p:nvPr/>
        </p:nvSpPr>
        <p:spPr>
          <a:xfrm>
            <a:off x="6309360" y="5431536"/>
            <a:ext cx="5669280" cy="731520"/>
          </a:xfrm>
          <a:prstGeom prst="rect">
            <a:avLst/>
          </a:prstGeom>
          <a:solidFill>
            <a:srgbClr val="F3EAF4"/>
          </a:solidFill>
          <a:ln w="3810">
            <a:solidFill>
              <a:srgbClr val="D8D8D8"/>
            </a:solidFill>
            <a:prstDash val="solid"/>
          </a:ln>
        </p:spPr>
        <p:txBody>
          <a:bodyPr/>
          <a:lstStyle/>
          <a:p>
            <a:endParaRPr lang="en-GB"/>
          </a:p>
        </p:txBody>
      </p:sp>
      <p:sp>
        <p:nvSpPr>
          <p:cNvPr id="52" name="Shape 49"/>
          <p:cNvSpPr/>
          <p:nvPr/>
        </p:nvSpPr>
        <p:spPr>
          <a:xfrm>
            <a:off x="6309360" y="5431536"/>
            <a:ext cx="475488" cy="731520"/>
          </a:xfrm>
          <a:prstGeom prst="rect">
            <a:avLst/>
          </a:prstGeom>
          <a:solidFill>
            <a:srgbClr val="83348F"/>
          </a:solidFill>
          <a:ln/>
        </p:spPr>
        <p:txBody>
          <a:bodyPr/>
          <a:lstStyle/>
          <a:p>
            <a:endParaRPr lang="en-GB"/>
          </a:p>
        </p:txBody>
      </p:sp>
      <p:sp>
        <p:nvSpPr>
          <p:cNvPr id="53" name="Text 50"/>
          <p:cNvSpPr/>
          <p:nvPr/>
        </p:nvSpPr>
        <p:spPr>
          <a:xfrm>
            <a:off x="6309360" y="5431536"/>
            <a:ext cx="475488" cy="73152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54" name="Text 51"/>
          <p:cNvSpPr/>
          <p:nvPr/>
        </p:nvSpPr>
        <p:spPr>
          <a:xfrm>
            <a:off x="6839712" y="5522976"/>
            <a:ext cx="5084064" cy="548640"/>
          </a:xfrm>
          <a:prstGeom prst="rect">
            <a:avLst/>
          </a:prstGeom>
          <a:noFill/>
          <a:ln/>
        </p:spPr>
        <p:txBody>
          <a:bodyPr wrap="square" rtlCol="0" anchor="ctr"/>
          <a:lstStyle/>
          <a:p>
            <a:pPr marL="0" indent="0">
              <a:buNone/>
            </a:pPr>
            <a:r>
              <a:rPr lang="en-US" sz="950" dirty="0">
                <a:solidFill>
                  <a:srgbClr val="5B595A"/>
                </a:solidFill>
                <a:latin typeface="Arial" pitchFamily="34" charset="0"/>
                <a:ea typeface="Arial" pitchFamily="34" charset="-122"/>
                <a:cs typeface="Arial" pitchFamily="34" charset="-120"/>
              </a:rPr>
              <a:t>The plan has been presented to and approved by senior leadership, resource and budget are committed</a:t>
            </a:r>
            <a:endParaRPr lang="en-US" sz="950" dirty="0"/>
          </a:p>
        </p:txBody>
      </p:sp>
      <p:sp>
        <p:nvSpPr>
          <p:cNvPr id="55" name="Rectangle 54"/>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mage.png"/>
          <p:cNvPicPr>
            <a:picLocks noChangeAspect="1"/>
          </p:cNvPicPr>
          <p:nvPr/>
        </p:nvPicPr>
        <p:blipFill>
          <a:blip r:embed="rId5"/>
          <a:stretch>
            <a:fillRect/>
          </a:stretch>
        </p:blipFill>
        <p:spPr>
          <a:xfrm>
            <a:off x="10610088" y="100584"/>
            <a:ext cx="566928" cy="347472"/>
          </a:xfrm>
          <a:prstGeom prst="rect">
            <a:avLst/>
          </a:prstGeom>
        </p:spPr>
      </p:pic>
      <p:pic>
        <p:nvPicPr>
          <p:cNvPr id="57" name="Picture 56" descr="image.png"/>
          <p:cNvPicPr>
            <a:picLocks noChangeAspect="1"/>
          </p:cNvPicPr>
          <p:nvPr/>
        </p:nvPicPr>
        <p:blipFill>
          <a:blip r:embed="rId4"/>
          <a:stretch>
            <a:fillRect/>
          </a:stretch>
        </p:blipFill>
        <p:spPr>
          <a:xfrm>
            <a:off x="11222736" y="100584"/>
            <a:ext cx="658368" cy="347472"/>
          </a:xfrm>
          <a:prstGeom prst="rect">
            <a:avLst/>
          </a:prstGeom>
        </p:spPr>
      </p:pic>
      <p:sp>
        <p:nvSpPr>
          <p:cNvPr id="58" name="Rectangle 57"/>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Reference</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Takt Time: Quick Reference and Common Mistakes</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7" name="Shape 3"/>
          <p:cNvSpPr/>
          <p:nvPr/>
        </p:nvSpPr>
        <p:spPr>
          <a:xfrm>
            <a:off x="228600" y="987552"/>
            <a:ext cx="11750040" cy="1005840"/>
          </a:xfrm>
          <a:prstGeom prst="rect">
            <a:avLst/>
          </a:prstGeom>
          <a:solidFill>
            <a:srgbClr val="E0F4FD"/>
          </a:solidFill>
          <a:ln w="10160">
            <a:solidFill>
              <a:srgbClr val="009FE3"/>
            </a:solidFill>
            <a:prstDash val="solid"/>
          </a:ln>
        </p:spPr>
        <p:txBody>
          <a:bodyPr/>
          <a:lstStyle/>
          <a:p>
            <a:endParaRPr lang="en-GB"/>
          </a:p>
        </p:txBody>
      </p:sp>
      <p:sp>
        <p:nvSpPr>
          <p:cNvPr id="8" name="Shape 4"/>
          <p:cNvSpPr/>
          <p:nvPr/>
        </p:nvSpPr>
        <p:spPr>
          <a:xfrm>
            <a:off x="228600" y="987552"/>
            <a:ext cx="11750040" cy="292608"/>
          </a:xfrm>
          <a:prstGeom prst="rect">
            <a:avLst/>
          </a:prstGeom>
          <a:solidFill>
            <a:srgbClr val="009FE3"/>
          </a:solidFill>
          <a:ln/>
        </p:spPr>
        <p:txBody>
          <a:bodyPr/>
          <a:lstStyle/>
          <a:p>
            <a:endParaRPr lang="en-GB"/>
          </a:p>
        </p:txBody>
      </p:sp>
      <p:sp>
        <p:nvSpPr>
          <p:cNvPr id="9" name="Text 5"/>
          <p:cNvSpPr/>
          <p:nvPr/>
        </p:nvSpPr>
        <p:spPr>
          <a:xfrm>
            <a:off x="320040" y="1005840"/>
            <a:ext cx="11567160" cy="256032"/>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THE TAKT TIME FORMULA</a:t>
            </a:r>
            <a:endParaRPr lang="en-US" sz="1000" dirty="0"/>
          </a:p>
        </p:txBody>
      </p:sp>
      <p:sp>
        <p:nvSpPr>
          <p:cNvPr id="10" name="Text 6"/>
          <p:cNvSpPr/>
          <p:nvPr/>
        </p:nvSpPr>
        <p:spPr>
          <a:xfrm>
            <a:off x="320040" y="1316736"/>
            <a:ext cx="11567160" cy="384048"/>
          </a:xfrm>
          <a:prstGeom prst="rect">
            <a:avLst/>
          </a:prstGeom>
          <a:noFill/>
          <a:ln/>
        </p:spPr>
        <p:txBody>
          <a:bodyPr wrap="square" rtlCol="0" anchor="ctr"/>
          <a:lstStyle/>
          <a:p>
            <a:pPr marL="0" indent="0" algn="ctr">
              <a:buNone/>
            </a:pPr>
            <a:r>
              <a:rPr lang="en-US" sz="1500" b="1" dirty="0">
                <a:solidFill>
                  <a:srgbClr val="1E3A5F"/>
                </a:solidFill>
                <a:latin typeface="Arial" pitchFamily="34" charset="0"/>
                <a:ea typeface="Arial" pitchFamily="34" charset="-122"/>
                <a:cs typeface="Arial" pitchFamily="34" charset="-120"/>
              </a:rPr>
              <a:t>Takt Time  =  Available Working Time per Period  ÷  Customer Requirement (units) in same period</a:t>
            </a:r>
            <a:endParaRPr lang="en-US" sz="1500" dirty="0"/>
          </a:p>
        </p:txBody>
      </p:sp>
      <p:sp>
        <p:nvSpPr>
          <p:cNvPr id="11" name="Text 7"/>
          <p:cNvSpPr/>
          <p:nvPr/>
        </p:nvSpPr>
        <p:spPr>
          <a:xfrm>
            <a:off x="320040" y="1700784"/>
            <a:ext cx="11567160" cy="219456"/>
          </a:xfrm>
          <a:prstGeom prst="rect">
            <a:avLst/>
          </a:prstGeom>
          <a:noFill/>
          <a:ln/>
        </p:spPr>
        <p:txBody>
          <a:bodyPr wrap="square" rtlCol="0" anchor="ctr"/>
          <a:lstStyle/>
          <a:p>
            <a:pPr marL="0" indent="0" algn="ctr">
              <a:buNone/>
            </a:pPr>
            <a:r>
              <a:rPr lang="en-US" sz="1000" i="1" dirty="0">
                <a:solidFill>
                  <a:srgbClr val="5B595A"/>
                </a:solidFill>
                <a:latin typeface="Arial" pitchFamily="34" charset="0"/>
                <a:ea typeface="Arial" pitchFamily="34" charset="-122"/>
                <a:cs typeface="Arial" pitchFamily="34" charset="-120"/>
              </a:rPr>
              <a:t>Result: the maximum time allowed to complete one unit if you are to meet customer demand</a:t>
            </a:r>
            <a:endParaRPr lang="en-US" sz="1000" dirty="0"/>
          </a:p>
        </p:txBody>
      </p:sp>
      <p:sp>
        <p:nvSpPr>
          <p:cNvPr id="12" name="Shape 8"/>
          <p:cNvSpPr/>
          <p:nvPr/>
        </p:nvSpPr>
        <p:spPr>
          <a:xfrm>
            <a:off x="228600" y="2103120"/>
            <a:ext cx="11750040" cy="274320"/>
          </a:xfrm>
          <a:prstGeom prst="rect">
            <a:avLst/>
          </a:prstGeom>
          <a:solidFill>
            <a:srgbClr val="1E3A5F"/>
          </a:solidFill>
          <a:ln/>
        </p:spPr>
        <p:txBody>
          <a:bodyPr/>
          <a:lstStyle/>
          <a:p>
            <a:endParaRPr lang="en-GB"/>
          </a:p>
        </p:txBody>
      </p:sp>
      <p:sp>
        <p:nvSpPr>
          <p:cNvPr id="13" name="Text 9"/>
          <p:cNvSpPr/>
          <p:nvPr/>
        </p:nvSpPr>
        <p:spPr>
          <a:xfrm>
            <a:off x="320040" y="2121408"/>
            <a:ext cx="11567160"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WORKED EXAMPLES</a:t>
            </a:r>
            <a:endParaRPr lang="en-US" sz="1000" dirty="0"/>
          </a:p>
        </p:txBody>
      </p:sp>
      <p:sp>
        <p:nvSpPr>
          <p:cNvPr id="14" name="Shape 10"/>
          <p:cNvSpPr/>
          <p:nvPr/>
        </p:nvSpPr>
        <p:spPr>
          <a:xfrm>
            <a:off x="228600" y="2395728"/>
            <a:ext cx="1719072" cy="256032"/>
          </a:xfrm>
          <a:prstGeom prst="rect">
            <a:avLst/>
          </a:prstGeom>
          <a:solidFill>
            <a:srgbClr val="5B595A"/>
          </a:solidFill>
          <a:ln w="3810">
            <a:solidFill>
              <a:srgbClr val="CCCCCC"/>
            </a:solidFill>
            <a:prstDash val="solid"/>
          </a:ln>
        </p:spPr>
        <p:txBody>
          <a:bodyPr/>
          <a:lstStyle/>
          <a:p>
            <a:endParaRPr lang="en-GB"/>
          </a:p>
        </p:txBody>
      </p:sp>
      <p:sp>
        <p:nvSpPr>
          <p:cNvPr id="15" name="Text 11"/>
          <p:cNvSpPr/>
          <p:nvPr/>
        </p:nvSpPr>
        <p:spPr>
          <a:xfrm>
            <a:off x="274320" y="2395728"/>
            <a:ext cx="1627632" cy="256032"/>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Shift Pattern</a:t>
            </a:r>
            <a:endParaRPr lang="en-US" sz="850" dirty="0"/>
          </a:p>
        </p:txBody>
      </p:sp>
      <p:sp>
        <p:nvSpPr>
          <p:cNvPr id="16" name="Shape 12"/>
          <p:cNvSpPr/>
          <p:nvPr/>
        </p:nvSpPr>
        <p:spPr>
          <a:xfrm>
            <a:off x="1965960" y="2395728"/>
            <a:ext cx="1719072" cy="256032"/>
          </a:xfrm>
          <a:prstGeom prst="rect">
            <a:avLst/>
          </a:prstGeom>
          <a:solidFill>
            <a:srgbClr val="5B595A"/>
          </a:solidFill>
          <a:ln w="3810">
            <a:solidFill>
              <a:srgbClr val="CCCCCC"/>
            </a:solidFill>
            <a:prstDash val="solid"/>
          </a:ln>
        </p:spPr>
        <p:txBody>
          <a:bodyPr/>
          <a:lstStyle/>
          <a:p>
            <a:endParaRPr lang="en-GB"/>
          </a:p>
        </p:txBody>
      </p:sp>
      <p:sp>
        <p:nvSpPr>
          <p:cNvPr id="17" name="Text 13"/>
          <p:cNvSpPr/>
          <p:nvPr/>
        </p:nvSpPr>
        <p:spPr>
          <a:xfrm>
            <a:off x="2011680" y="2395728"/>
            <a:ext cx="1627632" cy="256032"/>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Customer Demand</a:t>
            </a:r>
            <a:endParaRPr lang="en-US" sz="850" dirty="0"/>
          </a:p>
        </p:txBody>
      </p:sp>
      <p:sp>
        <p:nvSpPr>
          <p:cNvPr id="18" name="Shape 14"/>
          <p:cNvSpPr/>
          <p:nvPr/>
        </p:nvSpPr>
        <p:spPr>
          <a:xfrm>
            <a:off x="3703320" y="2395728"/>
            <a:ext cx="2267712" cy="256032"/>
          </a:xfrm>
          <a:prstGeom prst="rect">
            <a:avLst/>
          </a:prstGeom>
          <a:solidFill>
            <a:srgbClr val="5B595A"/>
          </a:solidFill>
          <a:ln w="3810">
            <a:solidFill>
              <a:srgbClr val="CCCCCC"/>
            </a:solidFill>
            <a:prstDash val="solid"/>
          </a:ln>
        </p:spPr>
        <p:txBody>
          <a:bodyPr/>
          <a:lstStyle/>
          <a:p>
            <a:endParaRPr lang="en-GB"/>
          </a:p>
        </p:txBody>
      </p:sp>
      <p:sp>
        <p:nvSpPr>
          <p:cNvPr id="19" name="Text 15"/>
          <p:cNvSpPr/>
          <p:nvPr/>
        </p:nvSpPr>
        <p:spPr>
          <a:xfrm>
            <a:off x="3749040" y="2395728"/>
            <a:ext cx="2176272" cy="256032"/>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Available Time</a:t>
            </a:r>
            <a:endParaRPr lang="en-US" sz="850" dirty="0"/>
          </a:p>
        </p:txBody>
      </p:sp>
      <p:sp>
        <p:nvSpPr>
          <p:cNvPr id="20" name="Shape 16"/>
          <p:cNvSpPr/>
          <p:nvPr/>
        </p:nvSpPr>
        <p:spPr>
          <a:xfrm>
            <a:off x="5989320" y="2395728"/>
            <a:ext cx="1901952" cy="256032"/>
          </a:xfrm>
          <a:prstGeom prst="rect">
            <a:avLst/>
          </a:prstGeom>
          <a:solidFill>
            <a:srgbClr val="5B595A"/>
          </a:solidFill>
          <a:ln w="3810">
            <a:solidFill>
              <a:srgbClr val="CCCCCC"/>
            </a:solidFill>
            <a:prstDash val="solid"/>
          </a:ln>
        </p:spPr>
        <p:txBody>
          <a:bodyPr/>
          <a:lstStyle/>
          <a:p>
            <a:endParaRPr lang="en-GB"/>
          </a:p>
        </p:txBody>
      </p:sp>
      <p:sp>
        <p:nvSpPr>
          <p:cNvPr id="21" name="Text 17"/>
          <p:cNvSpPr/>
          <p:nvPr/>
        </p:nvSpPr>
        <p:spPr>
          <a:xfrm>
            <a:off x="6035040" y="2395728"/>
            <a:ext cx="1810512" cy="256032"/>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Takt Time</a:t>
            </a:r>
            <a:endParaRPr lang="en-US" sz="850" dirty="0"/>
          </a:p>
        </p:txBody>
      </p:sp>
      <p:sp>
        <p:nvSpPr>
          <p:cNvPr id="22" name="Shape 18"/>
          <p:cNvSpPr/>
          <p:nvPr/>
        </p:nvSpPr>
        <p:spPr>
          <a:xfrm>
            <a:off x="7909560" y="2395728"/>
            <a:ext cx="3840480" cy="256032"/>
          </a:xfrm>
          <a:prstGeom prst="rect">
            <a:avLst/>
          </a:prstGeom>
          <a:solidFill>
            <a:srgbClr val="5B595A"/>
          </a:solidFill>
          <a:ln w="3810">
            <a:solidFill>
              <a:srgbClr val="CCCCCC"/>
            </a:solidFill>
            <a:prstDash val="solid"/>
          </a:ln>
        </p:spPr>
        <p:txBody>
          <a:bodyPr/>
          <a:lstStyle/>
          <a:p>
            <a:endParaRPr lang="en-GB"/>
          </a:p>
        </p:txBody>
      </p:sp>
      <p:sp>
        <p:nvSpPr>
          <p:cNvPr id="23" name="Text 19"/>
          <p:cNvSpPr/>
          <p:nvPr/>
        </p:nvSpPr>
        <p:spPr>
          <a:xfrm>
            <a:off x="7955280" y="2395728"/>
            <a:ext cx="3749040" cy="256032"/>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What This Means</a:t>
            </a:r>
            <a:endParaRPr lang="en-US" sz="850" dirty="0"/>
          </a:p>
        </p:txBody>
      </p:sp>
      <p:sp>
        <p:nvSpPr>
          <p:cNvPr id="24" name="Shape 20"/>
          <p:cNvSpPr/>
          <p:nvPr/>
        </p:nvSpPr>
        <p:spPr>
          <a:xfrm>
            <a:off x="228600" y="2670048"/>
            <a:ext cx="1719072" cy="475488"/>
          </a:xfrm>
          <a:prstGeom prst="rect">
            <a:avLst/>
          </a:prstGeom>
          <a:solidFill>
            <a:srgbClr val="FFFFFF"/>
          </a:solidFill>
          <a:ln w="2540">
            <a:solidFill>
              <a:srgbClr val="DDDDDD"/>
            </a:solidFill>
            <a:prstDash val="solid"/>
          </a:ln>
        </p:spPr>
        <p:txBody>
          <a:bodyPr/>
          <a:lstStyle/>
          <a:p>
            <a:endParaRPr lang="en-GB"/>
          </a:p>
        </p:txBody>
      </p:sp>
      <p:sp>
        <p:nvSpPr>
          <p:cNvPr id="25" name="Text 21"/>
          <p:cNvSpPr/>
          <p:nvPr/>
        </p:nvSpPr>
        <p:spPr>
          <a:xfrm>
            <a:off x="274320" y="2706624"/>
            <a:ext cx="1627632" cy="402336"/>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Single shift</a:t>
            </a:r>
            <a:endParaRPr lang="en-US" sz="900" dirty="0"/>
          </a:p>
          <a:p>
            <a:pPr marL="0" indent="0" algn="ctr">
              <a:buNone/>
            </a:pPr>
            <a:r>
              <a:rPr lang="en-US" sz="900" dirty="0">
                <a:solidFill>
                  <a:srgbClr val="5B595A"/>
                </a:solidFill>
                <a:latin typeface="Arial" pitchFamily="34" charset="0"/>
                <a:ea typeface="Arial" pitchFamily="34" charset="-122"/>
                <a:cs typeface="Arial" pitchFamily="34" charset="-120"/>
              </a:rPr>
              <a:t>(7.5 hr day)</a:t>
            </a:r>
            <a:endParaRPr lang="en-US" sz="900" dirty="0"/>
          </a:p>
        </p:txBody>
      </p:sp>
      <p:sp>
        <p:nvSpPr>
          <p:cNvPr id="26" name="Shape 22"/>
          <p:cNvSpPr/>
          <p:nvPr/>
        </p:nvSpPr>
        <p:spPr>
          <a:xfrm>
            <a:off x="1965960" y="2670048"/>
            <a:ext cx="1719072" cy="475488"/>
          </a:xfrm>
          <a:prstGeom prst="rect">
            <a:avLst/>
          </a:prstGeom>
          <a:solidFill>
            <a:srgbClr val="FFFFFF"/>
          </a:solidFill>
          <a:ln w="2540">
            <a:solidFill>
              <a:srgbClr val="DDDDDD"/>
            </a:solidFill>
            <a:prstDash val="solid"/>
          </a:ln>
        </p:spPr>
        <p:txBody>
          <a:bodyPr/>
          <a:lstStyle/>
          <a:p>
            <a:endParaRPr lang="en-GB"/>
          </a:p>
        </p:txBody>
      </p:sp>
      <p:sp>
        <p:nvSpPr>
          <p:cNvPr id="27" name="Text 23"/>
          <p:cNvSpPr/>
          <p:nvPr/>
        </p:nvSpPr>
        <p:spPr>
          <a:xfrm>
            <a:off x="2011680" y="2706624"/>
            <a:ext cx="1627632" cy="402336"/>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60 units/day</a:t>
            </a:r>
            <a:endParaRPr lang="en-US" sz="900" dirty="0"/>
          </a:p>
        </p:txBody>
      </p:sp>
      <p:sp>
        <p:nvSpPr>
          <p:cNvPr id="28" name="Shape 24"/>
          <p:cNvSpPr/>
          <p:nvPr/>
        </p:nvSpPr>
        <p:spPr>
          <a:xfrm>
            <a:off x="3703320" y="2670048"/>
            <a:ext cx="2267712" cy="475488"/>
          </a:xfrm>
          <a:prstGeom prst="rect">
            <a:avLst/>
          </a:prstGeom>
          <a:solidFill>
            <a:srgbClr val="FFFFFF"/>
          </a:solidFill>
          <a:ln w="2540">
            <a:solidFill>
              <a:srgbClr val="DDDDDD"/>
            </a:solidFill>
            <a:prstDash val="solid"/>
          </a:ln>
        </p:spPr>
        <p:txBody>
          <a:bodyPr/>
          <a:lstStyle/>
          <a:p>
            <a:endParaRPr lang="en-GB"/>
          </a:p>
        </p:txBody>
      </p:sp>
      <p:sp>
        <p:nvSpPr>
          <p:cNvPr id="29" name="Text 25"/>
          <p:cNvSpPr/>
          <p:nvPr/>
        </p:nvSpPr>
        <p:spPr>
          <a:xfrm>
            <a:off x="3749040" y="2706624"/>
            <a:ext cx="2176272" cy="402336"/>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7.5 hrs × 60 mins = 450 mins</a:t>
            </a:r>
            <a:endParaRPr lang="en-US" sz="900" dirty="0"/>
          </a:p>
        </p:txBody>
      </p:sp>
      <p:sp>
        <p:nvSpPr>
          <p:cNvPr id="30" name="Shape 26"/>
          <p:cNvSpPr/>
          <p:nvPr/>
        </p:nvSpPr>
        <p:spPr>
          <a:xfrm>
            <a:off x="5989320" y="2670048"/>
            <a:ext cx="1901952" cy="475488"/>
          </a:xfrm>
          <a:prstGeom prst="rect">
            <a:avLst/>
          </a:prstGeom>
          <a:solidFill>
            <a:srgbClr val="E0F4FD"/>
          </a:solidFill>
          <a:ln w="2540">
            <a:solidFill>
              <a:srgbClr val="DDDDDD"/>
            </a:solidFill>
            <a:prstDash val="solid"/>
          </a:ln>
        </p:spPr>
        <p:txBody>
          <a:bodyPr/>
          <a:lstStyle/>
          <a:p>
            <a:endParaRPr lang="en-GB"/>
          </a:p>
        </p:txBody>
      </p:sp>
      <p:sp>
        <p:nvSpPr>
          <p:cNvPr id="31" name="Text 27"/>
          <p:cNvSpPr/>
          <p:nvPr/>
        </p:nvSpPr>
        <p:spPr>
          <a:xfrm>
            <a:off x="6035040" y="2706624"/>
            <a:ext cx="1810512" cy="402336"/>
          </a:xfrm>
          <a:prstGeom prst="rect">
            <a:avLst/>
          </a:prstGeom>
          <a:noFill/>
          <a:ln/>
        </p:spPr>
        <p:txBody>
          <a:bodyPr wrap="square" rtlCol="0" anchor="ctr"/>
          <a:lstStyle/>
          <a:p>
            <a:pPr marL="0" indent="0" algn="ctr">
              <a:buNone/>
            </a:pPr>
            <a:r>
              <a:rPr lang="en-US" sz="900" b="1" dirty="0">
                <a:solidFill>
                  <a:srgbClr val="1E3A5F"/>
                </a:solidFill>
                <a:latin typeface="Arial" pitchFamily="34" charset="0"/>
                <a:ea typeface="Arial" pitchFamily="34" charset="-122"/>
                <a:cs typeface="Arial" pitchFamily="34" charset="-120"/>
              </a:rPr>
              <a:t>450 ÷ 60 = 7.5 mins per unit</a:t>
            </a:r>
            <a:endParaRPr lang="en-US" sz="900" dirty="0"/>
          </a:p>
        </p:txBody>
      </p:sp>
      <p:sp>
        <p:nvSpPr>
          <p:cNvPr id="32" name="Shape 28"/>
          <p:cNvSpPr/>
          <p:nvPr/>
        </p:nvSpPr>
        <p:spPr>
          <a:xfrm>
            <a:off x="7909560" y="2670048"/>
            <a:ext cx="3840480" cy="475488"/>
          </a:xfrm>
          <a:prstGeom prst="rect">
            <a:avLst/>
          </a:prstGeom>
          <a:solidFill>
            <a:srgbClr val="FFFFFF"/>
          </a:solidFill>
          <a:ln w="2540">
            <a:solidFill>
              <a:srgbClr val="DDDDDD"/>
            </a:solidFill>
            <a:prstDash val="solid"/>
          </a:ln>
        </p:spPr>
        <p:txBody>
          <a:bodyPr/>
          <a:lstStyle/>
          <a:p>
            <a:endParaRPr lang="en-GB"/>
          </a:p>
        </p:txBody>
      </p:sp>
      <p:sp>
        <p:nvSpPr>
          <p:cNvPr id="33" name="Text 29"/>
          <p:cNvSpPr/>
          <p:nvPr/>
        </p:nvSpPr>
        <p:spPr>
          <a:xfrm>
            <a:off x="7955280" y="2706624"/>
            <a:ext cx="3749040" cy="402336"/>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Must complete one unit every 7.5 minutes</a:t>
            </a:r>
            <a:endParaRPr lang="en-US" sz="900" dirty="0"/>
          </a:p>
        </p:txBody>
      </p:sp>
      <p:sp>
        <p:nvSpPr>
          <p:cNvPr id="34" name="Shape 30"/>
          <p:cNvSpPr/>
          <p:nvPr/>
        </p:nvSpPr>
        <p:spPr>
          <a:xfrm>
            <a:off x="228600" y="3182112"/>
            <a:ext cx="1719072" cy="475488"/>
          </a:xfrm>
          <a:prstGeom prst="rect">
            <a:avLst/>
          </a:prstGeom>
          <a:solidFill>
            <a:srgbClr val="F2F2F2"/>
          </a:solidFill>
          <a:ln w="2540">
            <a:solidFill>
              <a:srgbClr val="DDDDDD"/>
            </a:solidFill>
            <a:prstDash val="solid"/>
          </a:ln>
        </p:spPr>
        <p:txBody>
          <a:bodyPr/>
          <a:lstStyle/>
          <a:p>
            <a:endParaRPr lang="en-GB"/>
          </a:p>
        </p:txBody>
      </p:sp>
      <p:sp>
        <p:nvSpPr>
          <p:cNvPr id="35" name="Text 31"/>
          <p:cNvSpPr/>
          <p:nvPr/>
        </p:nvSpPr>
        <p:spPr>
          <a:xfrm>
            <a:off x="274320" y="3218688"/>
            <a:ext cx="1627632" cy="402336"/>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Two shifts</a:t>
            </a:r>
            <a:endParaRPr lang="en-US" sz="900" dirty="0"/>
          </a:p>
          <a:p>
            <a:pPr marL="0" indent="0" algn="ctr">
              <a:buNone/>
            </a:pPr>
            <a:r>
              <a:rPr lang="en-US" sz="900" dirty="0">
                <a:solidFill>
                  <a:srgbClr val="5B595A"/>
                </a:solidFill>
                <a:latin typeface="Arial" pitchFamily="34" charset="0"/>
                <a:ea typeface="Arial" pitchFamily="34" charset="-122"/>
                <a:cs typeface="Arial" pitchFamily="34" charset="-120"/>
              </a:rPr>
              <a:t>(15 hr day)</a:t>
            </a:r>
            <a:endParaRPr lang="en-US" sz="900" dirty="0"/>
          </a:p>
        </p:txBody>
      </p:sp>
      <p:sp>
        <p:nvSpPr>
          <p:cNvPr id="36" name="Shape 32"/>
          <p:cNvSpPr/>
          <p:nvPr/>
        </p:nvSpPr>
        <p:spPr>
          <a:xfrm>
            <a:off x="1965960" y="3182112"/>
            <a:ext cx="1719072" cy="475488"/>
          </a:xfrm>
          <a:prstGeom prst="rect">
            <a:avLst/>
          </a:prstGeom>
          <a:solidFill>
            <a:srgbClr val="F2F2F2"/>
          </a:solidFill>
          <a:ln w="2540">
            <a:solidFill>
              <a:srgbClr val="DDDDDD"/>
            </a:solidFill>
            <a:prstDash val="solid"/>
          </a:ln>
        </p:spPr>
        <p:txBody>
          <a:bodyPr/>
          <a:lstStyle/>
          <a:p>
            <a:endParaRPr lang="en-GB"/>
          </a:p>
        </p:txBody>
      </p:sp>
      <p:sp>
        <p:nvSpPr>
          <p:cNvPr id="37" name="Text 33"/>
          <p:cNvSpPr/>
          <p:nvPr/>
        </p:nvSpPr>
        <p:spPr>
          <a:xfrm>
            <a:off x="2011680" y="3218688"/>
            <a:ext cx="1627632" cy="402336"/>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120 units/day</a:t>
            </a:r>
            <a:endParaRPr lang="en-US" sz="900" dirty="0"/>
          </a:p>
        </p:txBody>
      </p:sp>
      <p:sp>
        <p:nvSpPr>
          <p:cNvPr id="38" name="Shape 34"/>
          <p:cNvSpPr/>
          <p:nvPr/>
        </p:nvSpPr>
        <p:spPr>
          <a:xfrm>
            <a:off x="3703320" y="3182112"/>
            <a:ext cx="2267712" cy="475488"/>
          </a:xfrm>
          <a:prstGeom prst="rect">
            <a:avLst/>
          </a:prstGeom>
          <a:solidFill>
            <a:srgbClr val="F2F2F2"/>
          </a:solidFill>
          <a:ln w="2540">
            <a:solidFill>
              <a:srgbClr val="DDDDDD"/>
            </a:solidFill>
            <a:prstDash val="solid"/>
          </a:ln>
        </p:spPr>
        <p:txBody>
          <a:bodyPr/>
          <a:lstStyle/>
          <a:p>
            <a:endParaRPr lang="en-GB"/>
          </a:p>
        </p:txBody>
      </p:sp>
      <p:sp>
        <p:nvSpPr>
          <p:cNvPr id="39" name="Text 35"/>
          <p:cNvSpPr/>
          <p:nvPr/>
        </p:nvSpPr>
        <p:spPr>
          <a:xfrm>
            <a:off x="3749040" y="3218688"/>
            <a:ext cx="2176272" cy="402336"/>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15 hrs × 60 mins = 900 mins</a:t>
            </a:r>
            <a:endParaRPr lang="en-US" sz="900" dirty="0"/>
          </a:p>
        </p:txBody>
      </p:sp>
      <p:sp>
        <p:nvSpPr>
          <p:cNvPr id="40" name="Shape 36"/>
          <p:cNvSpPr/>
          <p:nvPr/>
        </p:nvSpPr>
        <p:spPr>
          <a:xfrm>
            <a:off x="5989320" y="3182112"/>
            <a:ext cx="1901952" cy="475488"/>
          </a:xfrm>
          <a:prstGeom prst="rect">
            <a:avLst/>
          </a:prstGeom>
          <a:solidFill>
            <a:srgbClr val="E0F4FD"/>
          </a:solidFill>
          <a:ln w="2540">
            <a:solidFill>
              <a:srgbClr val="DDDDDD"/>
            </a:solidFill>
            <a:prstDash val="solid"/>
          </a:ln>
        </p:spPr>
        <p:txBody>
          <a:bodyPr/>
          <a:lstStyle/>
          <a:p>
            <a:endParaRPr lang="en-GB"/>
          </a:p>
        </p:txBody>
      </p:sp>
      <p:sp>
        <p:nvSpPr>
          <p:cNvPr id="41" name="Text 37"/>
          <p:cNvSpPr/>
          <p:nvPr/>
        </p:nvSpPr>
        <p:spPr>
          <a:xfrm>
            <a:off x="6035040" y="3218688"/>
            <a:ext cx="1810512" cy="402336"/>
          </a:xfrm>
          <a:prstGeom prst="rect">
            <a:avLst/>
          </a:prstGeom>
          <a:noFill/>
          <a:ln/>
        </p:spPr>
        <p:txBody>
          <a:bodyPr wrap="square" rtlCol="0" anchor="ctr"/>
          <a:lstStyle/>
          <a:p>
            <a:pPr marL="0" indent="0" algn="ctr">
              <a:buNone/>
            </a:pPr>
            <a:r>
              <a:rPr lang="en-US" sz="900" b="1" dirty="0">
                <a:solidFill>
                  <a:srgbClr val="1E3A5F"/>
                </a:solidFill>
                <a:latin typeface="Arial" pitchFamily="34" charset="0"/>
                <a:ea typeface="Arial" pitchFamily="34" charset="-122"/>
                <a:cs typeface="Arial" pitchFamily="34" charset="-120"/>
              </a:rPr>
              <a:t>900 ÷ 120 = 7.5 mins per unit</a:t>
            </a:r>
            <a:endParaRPr lang="en-US" sz="900" dirty="0"/>
          </a:p>
        </p:txBody>
      </p:sp>
      <p:sp>
        <p:nvSpPr>
          <p:cNvPr id="42" name="Shape 38"/>
          <p:cNvSpPr/>
          <p:nvPr/>
        </p:nvSpPr>
        <p:spPr>
          <a:xfrm>
            <a:off x="7909560" y="3182112"/>
            <a:ext cx="3840480" cy="475488"/>
          </a:xfrm>
          <a:prstGeom prst="rect">
            <a:avLst/>
          </a:prstGeom>
          <a:solidFill>
            <a:srgbClr val="F2F2F2"/>
          </a:solidFill>
          <a:ln w="2540">
            <a:solidFill>
              <a:srgbClr val="DDDDDD"/>
            </a:solidFill>
            <a:prstDash val="solid"/>
          </a:ln>
        </p:spPr>
        <p:txBody>
          <a:bodyPr/>
          <a:lstStyle/>
          <a:p>
            <a:endParaRPr lang="en-GB"/>
          </a:p>
        </p:txBody>
      </p:sp>
      <p:sp>
        <p:nvSpPr>
          <p:cNvPr id="43" name="Text 39"/>
          <p:cNvSpPr/>
          <p:nvPr/>
        </p:nvSpPr>
        <p:spPr>
          <a:xfrm>
            <a:off x="7955280" y="3218688"/>
            <a:ext cx="3749040" cy="402336"/>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Same takt despite double the volume, both shifts needed</a:t>
            </a:r>
            <a:endParaRPr lang="en-US" sz="900" dirty="0"/>
          </a:p>
        </p:txBody>
      </p:sp>
      <p:sp>
        <p:nvSpPr>
          <p:cNvPr id="44" name="Shape 40"/>
          <p:cNvSpPr/>
          <p:nvPr/>
        </p:nvSpPr>
        <p:spPr>
          <a:xfrm>
            <a:off x="228600" y="3694176"/>
            <a:ext cx="1719072" cy="475488"/>
          </a:xfrm>
          <a:prstGeom prst="rect">
            <a:avLst/>
          </a:prstGeom>
          <a:solidFill>
            <a:srgbClr val="FFFFFF"/>
          </a:solidFill>
          <a:ln w="2540">
            <a:solidFill>
              <a:srgbClr val="DDDDDD"/>
            </a:solidFill>
            <a:prstDash val="solid"/>
          </a:ln>
        </p:spPr>
        <p:txBody>
          <a:bodyPr/>
          <a:lstStyle/>
          <a:p>
            <a:endParaRPr lang="en-GB"/>
          </a:p>
        </p:txBody>
      </p:sp>
      <p:sp>
        <p:nvSpPr>
          <p:cNvPr id="45" name="Text 41"/>
          <p:cNvSpPr/>
          <p:nvPr/>
        </p:nvSpPr>
        <p:spPr>
          <a:xfrm>
            <a:off x="274320" y="3730752"/>
            <a:ext cx="1627632" cy="402336"/>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37.5 hr week</a:t>
            </a:r>
            <a:endParaRPr lang="en-US" sz="900" dirty="0"/>
          </a:p>
        </p:txBody>
      </p:sp>
      <p:sp>
        <p:nvSpPr>
          <p:cNvPr id="46" name="Shape 42"/>
          <p:cNvSpPr/>
          <p:nvPr/>
        </p:nvSpPr>
        <p:spPr>
          <a:xfrm>
            <a:off x="1965960" y="3694176"/>
            <a:ext cx="1719072" cy="475488"/>
          </a:xfrm>
          <a:prstGeom prst="rect">
            <a:avLst/>
          </a:prstGeom>
          <a:solidFill>
            <a:srgbClr val="FFFFFF"/>
          </a:solidFill>
          <a:ln w="2540">
            <a:solidFill>
              <a:srgbClr val="DDDDDD"/>
            </a:solidFill>
            <a:prstDash val="solid"/>
          </a:ln>
        </p:spPr>
        <p:txBody>
          <a:bodyPr/>
          <a:lstStyle/>
          <a:p>
            <a:endParaRPr lang="en-GB"/>
          </a:p>
        </p:txBody>
      </p:sp>
      <p:sp>
        <p:nvSpPr>
          <p:cNvPr id="47" name="Text 43"/>
          <p:cNvSpPr/>
          <p:nvPr/>
        </p:nvSpPr>
        <p:spPr>
          <a:xfrm>
            <a:off x="2011680" y="3730752"/>
            <a:ext cx="1627632" cy="402336"/>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60 units/week</a:t>
            </a:r>
            <a:endParaRPr lang="en-US" sz="900" dirty="0"/>
          </a:p>
        </p:txBody>
      </p:sp>
      <p:sp>
        <p:nvSpPr>
          <p:cNvPr id="48" name="Shape 44"/>
          <p:cNvSpPr/>
          <p:nvPr/>
        </p:nvSpPr>
        <p:spPr>
          <a:xfrm>
            <a:off x="3703320" y="3694176"/>
            <a:ext cx="2267712" cy="475488"/>
          </a:xfrm>
          <a:prstGeom prst="rect">
            <a:avLst/>
          </a:prstGeom>
          <a:solidFill>
            <a:srgbClr val="FFFFFF"/>
          </a:solidFill>
          <a:ln w="2540">
            <a:solidFill>
              <a:srgbClr val="DDDDDD"/>
            </a:solidFill>
            <a:prstDash val="solid"/>
          </a:ln>
        </p:spPr>
        <p:txBody>
          <a:bodyPr/>
          <a:lstStyle/>
          <a:p>
            <a:endParaRPr lang="en-GB"/>
          </a:p>
        </p:txBody>
      </p:sp>
      <p:sp>
        <p:nvSpPr>
          <p:cNvPr id="49" name="Text 45"/>
          <p:cNvSpPr/>
          <p:nvPr/>
        </p:nvSpPr>
        <p:spPr>
          <a:xfrm>
            <a:off x="3749040" y="3730752"/>
            <a:ext cx="2176272" cy="402336"/>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37.5 hrs × 60 mins = 2,250 mins</a:t>
            </a:r>
            <a:endParaRPr lang="en-US" sz="900" dirty="0"/>
          </a:p>
        </p:txBody>
      </p:sp>
      <p:sp>
        <p:nvSpPr>
          <p:cNvPr id="50" name="Shape 46"/>
          <p:cNvSpPr/>
          <p:nvPr/>
        </p:nvSpPr>
        <p:spPr>
          <a:xfrm>
            <a:off x="5989320" y="3694176"/>
            <a:ext cx="1901952" cy="475488"/>
          </a:xfrm>
          <a:prstGeom prst="rect">
            <a:avLst/>
          </a:prstGeom>
          <a:solidFill>
            <a:srgbClr val="E0F4FD"/>
          </a:solidFill>
          <a:ln w="2540">
            <a:solidFill>
              <a:srgbClr val="DDDDDD"/>
            </a:solidFill>
            <a:prstDash val="solid"/>
          </a:ln>
        </p:spPr>
        <p:txBody>
          <a:bodyPr/>
          <a:lstStyle/>
          <a:p>
            <a:endParaRPr lang="en-GB"/>
          </a:p>
        </p:txBody>
      </p:sp>
      <p:sp>
        <p:nvSpPr>
          <p:cNvPr id="51" name="Text 47"/>
          <p:cNvSpPr/>
          <p:nvPr/>
        </p:nvSpPr>
        <p:spPr>
          <a:xfrm>
            <a:off x="6035040" y="3730752"/>
            <a:ext cx="1810512" cy="402336"/>
          </a:xfrm>
          <a:prstGeom prst="rect">
            <a:avLst/>
          </a:prstGeom>
          <a:noFill/>
          <a:ln/>
        </p:spPr>
        <p:txBody>
          <a:bodyPr wrap="square" rtlCol="0" anchor="ctr"/>
          <a:lstStyle/>
          <a:p>
            <a:pPr marL="0" indent="0" algn="ctr">
              <a:buNone/>
            </a:pPr>
            <a:r>
              <a:rPr lang="en-US" sz="900" b="1" dirty="0">
                <a:solidFill>
                  <a:srgbClr val="1E3A5F"/>
                </a:solidFill>
                <a:latin typeface="Arial" pitchFamily="34" charset="0"/>
                <a:ea typeface="Arial" pitchFamily="34" charset="-122"/>
                <a:cs typeface="Arial" pitchFamily="34" charset="-120"/>
              </a:rPr>
              <a:t>2,250 ÷ 60 = 37.5 mins per unit</a:t>
            </a:r>
            <a:endParaRPr lang="en-US" sz="900" dirty="0"/>
          </a:p>
        </p:txBody>
      </p:sp>
      <p:sp>
        <p:nvSpPr>
          <p:cNvPr id="52" name="Shape 48"/>
          <p:cNvSpPr/>
          <p:nvPr/>
        </p:nvSpPr>
        <p:spPr>
          <a:xfrm>
            <a:off x="7909560" y="3694176"/>
            <a:ext cx="3840480" cy="475488"/>
          </a:xfrm>
          <a:prstGeom prst="rect">
            <a:avLst/>
          </a:prstGeom>
          <a:solidFill>
            <a:srgbClr val="FFFFFF"/>
          </a:solidFill>
          <a:ln w="2540">
            <a:solidFill>
              <a:srgbClr val="DDDDDD"/>
            </a:solidFill>
            <a:prstDash val="solid"/>
          </a:ln>
        </p:spPr>
        <p:txBody>
          <a:bodyPr/>
          <a:lstStyle/>
          <a:p>
            <a:endParaRPr lang="en-GB"/>
          </a:p>
        </p:txBody>
      </p:sp>
      <p:sp>
        <p:nvSpPr>
          <p:cNvPr id="53" name="Text 49"/>
          <p:cNvSpPr/>
          <p:nvPr/>
        </p:nvSpPr>
        <p:spPr>
          <a:xfrm>
            <a:off x="7955280" y="3730752"/>
            <a:ext cx="3749040" cy="402336"/>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One housing every 37.5 minutes across the working week</a:t>
            </a:r>
            <a:endParaRPr lang="en-US" sz="900" dirty="0"/>
          </a:p>
        </p:txBody>
      </p:sp>
      <p:sp>
        <p:nvSpPr>
          <p:cNvPr id="54" name="Shape 50"/>
          <p:cNvSpPr/>
          <p:nvPr/>
        </p:nvSpPr>
        <p:spPr>
          <a:xfrm>
            <a:off x="228600" y="4206240"/>
            <a:ext cx="1719072" cy="475488"/>
          </a:xfrm>
          <a:prstGeom prst="rect">
            <a:avLst/>
          </a:prstGeom>
          <a:solidFill>
            <a:srgbClr val="F2F2F2"/>
          </a:solidFill>
          <a:ln w="2540">
            <a:solidFill>
              <a:srgbClr val="DDDDDD"/>
            </a:solidFill>
            <a:prstDash val="solid"/>
          </a:ln>
        </p:spPr>
        <p:txBody>
          <a:bodyPr/>
          <a:lstStyle/>
          <a:p>
            <a:endParaRPr lang="en-GB"/>
          </a:p>
        </p:txBody>
      </p:sp>
      <p:sp>
        <p:nvSpPr>
          <p:cNvPr id="55" name="Text 51"/>
          <p:cNvSpPr/>
          <p:nvPr/>
        </p:nvSpPr>
        <p:spPr>
          <a:xfrm>
            <a:off x="274320" y="4242816"/>
            <a:ext cx="1627632" cy="402336"/>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4-day week</a:t>
            </a:r>
            <a:endParaRPr lang="en-US" sz="900" dirty="0"/>
          </a:p>
          <a:p>
            <a:pPr marL="0" indent="0" algn="ctr">
              <a:buNone/>
            </a:pPr>
            <a:r>
              <a:rPr lang="en-US" sz="900" dirty="0">
                <a:solidFill>
                  <a:srgbClr val="5B595A"/>
                </a:solidFill>
                <a:latin typeface="Arial" pitchFamily="34" charset="0"/>
                <a:ea typeface="Arial" pitchFamily="34" charset="-122"/>
                <a:cs typeface="Arial" pitchFamily="34" charset="-120"/>
              </a:rPr>
              <a:t>(30 hr available)</a:t>
            </a:r>
            <a:endParaRPr lang="en-US" sz="900" dirty="0"/>
          </a:p>
        </p:txBody>
      </p:sp>
      <p:sp>
        <p:nvSpPr>
          <p:cNvPr id="56" name="Shape 52"/>
          <p:cNvSpPr/>
          <p:nvPr/>
        </p:nvSpPr>
        <p:spPr>
          <a:xfrm>
            <a:off x="1965960" y="4206240"/>
            <a:ext cx="1719072" cy="475488"/>
          </a:xfrm>
          <a:prstGeom prst="rect">
            <a:avLst/>
          </a:prstGeom>
          <a:solidFill>
            <a:srgbClr val="F2F2F2"/>
          </a:solidFill>
          <a:ln w="2540">
            <a:solidFill>
              <a:srgbClr val="DDDDDD"/>
            </a:solidFill>
            <a:prstDash val="solid"/>
          </a:ln>
        </p:spPr>
        <p:txBody>
          <a:bodyPr/>
          <a:lstStyle/>
          <a:p>
            <a:endParaRPr lang="en-GB"/>
          </a:p>
        </p:txBody>
      </p:sp>
      <p:sp>
        <p:nvSpPr>
          <p:cNvPr id="57" name="Text 53"/>
          <p:cNvSpPr/>
          <p:nvPr/>
        </p:nvSpPr>
        <p:spPr>
          <a:xfrm>
            <a:off x="2011680" y="4242816"/>
            <a:ext cx="1627632" cy="402336"/>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5 units/day</a:t>
            </a:r>
            <a:endParaRPr lang="en-US" sz="900" dirty="0"/>
          </a:p>
        </p:txBody>
      </p:sp>
      <p:sp>
        <p:nvSpPr>
          <p:cNvPr id="58" name="Shape 54"/>
          <p:cNvSpPr/>
          <p:nvPr/>
        </p:nvSpPr>
        <p:spPr>
          <a:xfrm>
            <a:off x="3703320" y="4206240"/>
            <a:ext cx="2267712" cy="475488"/>
          </a:xfrm>
          <a:prstGeom prst="rect">
            <a:avLst/>
          </a:prstGeom>
          <a:solidFill>
            <a:srgbClr val="F2F2F2"/>
          </a:solidFill>
          <a:ln w="2540">
            <a:solidFill>
              <a:srgbClr val="DDDDDD"/>
            </a:solidFill>
            <a:prstDash val="solid"/>
          </a:ln>
        </p:spPr>
        <p:txBody>
          <a:bodyPr/>
          <a:lstStyle/>
          <a:p>
            <a:endParaRPr lang="en-GB"/>
          </a:p>
        </p:txBody>
      </p:sp>
      <p:sp>
        <p:nvSpPr>
          <p:cNvPr id="59" name="Text 55"/>
          <p:cNvSpPr/>
          <p:nvPr/>
        </p:nvSpPr>
        <p:spPr>
          <a:xfrm>
            <a:off x="3749040" y="4242816"/>
            <a:ext cx="2176272" cy="402336"/>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30 hrs × 60 mins = 1,800 mins</a:t>
            </a:r>
            <a:endParaRPr lang="en-US" sz="900" dirty="0"/>
          </a:p>
        </p:txBody>
      </p:sp>
      <p:sp>
        <p:nvSpPr>
          <p:cNvPr id="60" name="Shape 56"/>
          <p:cNvSpPr/>
          <p:nvPr/>
        </p:nvSpPr>
        <p:spPr>
          <a:xfrm>
            <a:off x="5989320" y="4206240"/>
            <a:ext cx="1901952" cy="475488"/>
          </a:xfrm>
          <a:prstGeom prst="rect">
            <a:avLst/>
          </a:prstGeom>
          <a:solidFill>
            <a:srgbClr val="E0F4FD"/>
          </a:solidFill>
          <a:ln w="2540">
            <a:solidFill>
              <a:srgbClr val="DDDDDD"/>
            </a:solidFill>
            <a:prstDash val="solid"/>
          </a:ln>
        </p:spPr>
        <p:txBody>
          <a:bodyPr/>
          <a:lstStyle/>
          <a:p>
            <a:endParaRPr lang="en-GB"/>
          </a:p>
        </p:txBody>
      </p:sp>
      <p:sp>
        <p:nvSpPr>
          <p:cNvPr id="61" name="Text 57"/>
          <p:cNvSpPr/>
          <p:nvPr/>
        </p:nvSpPr>
        <p:spPr>
          <a:xfrm>
            <a:off x="6035040" y="4242816"/>
            <a:ext cx="1810512" cy="402336"/>
          </a:xfrm>
          <a:prstGeom prst="rect">
            <a:avLst/>
          </a:prstGeom>
          <a:noFill/>
          <a:ln/>
        </p:spPr>
        <p:txBody>
          <a:bodyPr wrap="square" rtlCol="0" anchor="ctr"/>
          <a:lstStyle/>
          <a:p>
            <a:pPr marL="0" indent="0" algn="ctr">
              <a:buNone/>
            </a:pPr>
            <a:r>
              <a:rPr lang="en-US" sz="900" b="1" dirty="0">
                <a:solidFill>
                  <a:srgbClr val="1E3A5F"/>
                </a:solidFill>
                <a:latin typeface="Arial" pitchFamily="34" charset="0"/>
                <a:ea typeface="Arial" pitchFamily="34" charset="-122"/>
                <a:cs typeface="Arial" pitchFamily="34" charset="-120"/>
              </a:rPr>
              <a:t>1,800 ÷ 5 = 360 mins per unit</a:t>
            </a:r>
            <a:endParaRPr lang="en-US" sz="900" dirty="0"/>
          </a:p>
        </p:txBody>
      </p:sp>
      <p:sp>
        <p:nvSpPr>
          <p:cNvPr id="62" name="Shape 58"/>
          <p:cNvSpPr/>
          <p:nvPr/>
        </p:nvSpPr>
        <p:spPr>
          <a:xfrm>
            <a:off x="7909560" y="4206240"/>
            <a:ext cx="3840480" cy="475488"/>
          </a:xfrm>
          <a:prstGeom prst="rect">
            <a:avLst/>
          </a:prstGeom>
          <a:solidFill>
            <a:srgbClr val="F2F2F2"/>
          </a:solidFill>
          <a:ln w="2540">
            <a:solidFill>
              <a:srgbClr val="DDDDDD"/>
            </a:solidFill>
            <a:prstDash val="solid"/>
          </a:ln>
        </p:spPr>
        <p:txBody>
          <a:bodyPr/>
          <a:lstStyle/>
          <a:p>
            <a:endParaRPr lang="en-GB"/>
          </a:p>
        </p:txBody>
      </p:sp>
      <p:sp>
        <p:nvSpPr>
          <p:cNvPr id="63" name="Text 59"/>
          <p:cNvSpPr/>
          <p:nvPr/>
        </p:nvSpPr>
        <p:spPr>
          <a:xfrm>
            <a:off x="7955280" y="4242816"/>
            <a:ext cx="3749040" cy="402336"/>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Low-volume, long-cycle product, 6 hours per unit</a:t>
            </a:r>
            <a:endParaRPr lang="en-US" sz="900" dirty="0"/>
          </a:p>
        </p:txBody>
      </p:sp>
      <p:sp>
        <p:nvSpPr>
          <p:cNvPr id="64" name="Shape 60"/>
          <p:cNvSpPr/>
          <p:nvPr/>
        </p:nvSpPr>
        <p:spPr>
          <a:xfrm>
            <a:off x="228600" y="4846320"/>
            <a:ext cx="11750040" cy="274320"/>
          </a:xfrm>
          <a:prstGeom prst="rect">
            <a:avLst/>
          </a:prstGeom>
          <a:solidFill>
            <a:srgbClr val="B91C1C"/>
          </a:solidFill>
          <a:ln/>
        </p:spPr>
        <p:txBody>
          <a:bodyPr/>
          <a:lstStyle/>
          <a:p>
            <a:endParaRPr lang="en-GB"/>
          </a:p>
        </p:txBody>
      </p:sp>
      <p:sp>
        <p:nvSpPr>
          <p:cNvPr id="65" name="Text 61"/>
          <p:cNvSpPr/>
          <p:nvPr/>
        </p:nvSpPr>
        <p:spPr>
          <a:xfrm>
            <a:off x="320040" y="4864608"/>
            <a:ext cx="11567160"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COMMON MISTAKES WITH TAKT TIME</a:t>
            </a:r>
            <a:endParaRPr lang="en-US" sz="1000" dirty="0"/>
          </a:p>
        </p:txBody>
      </p:sp>
      <p:sp>
        <p:nvSpPr>
          <p:cNvPr id="66" name="Shape 62"/>
          <p:cNvSpPr/>
          <p:nvPr/>
        </p:nvSpPr>
        <p:spPr>
          <a:xfrm>
            <a:off x="228600" y="5157216"/>
            <a:ext cx="5669280" cy="548640"/>
          </a:xfrm>
          <a:prstGeom prst="rect">
            <a:avLst/>
          </a:prstGeom>
          <a:solidFill>
            <a:srgbClr val="FEE2E2"/>
          </a:solidFill>
          <a:ln w="6350">
            <a:solidFill>
              <a:srgbClr val="B91C1C"/>
            </a:solidFill>
            <a:prstDash val="solid"/>
          </a:ln>
        </p:spPr>
        <p:txBody>
          <a:bodyPr/>
          <a:lstStyle/>
          <a:p>
            <a:endParaRPr lang="en-GB"/>
          </a:p>
        </p:txBody>
      </p:sp>
      <p:sp>
        <p:nvSpPr>
          <p:cNvPr id="67" name="Text 63"/>
          <p:cNvSpPr/>
          <p:nvPr/>
        </p:nvSpPr>
        <p:spPr>
          <a:xfrm>
            <a:off x="320040" y="5184648"/>
            <a:ext cx="5486400" cy="201168"/>
          </a:xfrm>
          <a:prstGeom prst="rect">
            <a:avLst/>
          </a:prstGeom>
          <a:noFill/>
          <a:ln/>
        </p:spPr>
        <p:txBody>
          <a:bodyPr wrap="square" rtlCol="0" anchor="ctr"/>
          <a:lstStyle/>
          <a:p>
            <a:pPr marL="0" indent="0">
              <a:buNone/>
            </a:pPr>
            <a:r>
              <a:rPr lang="en-US" sz="950" b="1" dirty="0">
                <a:solidFill>
                  <a:srgbClr val="B91C1C"/>
                </a:solidFill>
                <a:latin typeface="Arial" pitchFamily="34" charset="0"/>
                <a:ea typeface="Arial" pitchFamily="34" charset="-122"/>
                <a:cs typeface="Arial" pitchFamily="34" charset="-120"/>
              </a:rPr>
              <a:t>Using gross hours instead of available time</a:t>
            </a:r>
            <a:endParaRPr lang="en-US" sz="950" dirty="0"/>
          </a:p>
        </p:txBody>
      </p:sp>
      <p:sp>
        <p:nvSpPr>
          <p:cNvPr id="68" name="Text 64"/>
          <p:cNvSpPr/>
          <p:nvPr/>
        </p:nvSpPr>
        <p:spPr>
          <a:xfrm>
            <a:off x="320040" y="5404104"/>
            <a:ext cx="5486400" cy="274320"/>
          </a:xfrm>
          <a:prstGeom prst="rect">
            <a:avLst/>
          </a:prstGeom>
          <a:noFill/>
          <a:ln/>
        </p:spPr>
        <p:txBody>
          <a:bodyPr wrap="square" rtlCol="0" anchor="t"/>
          <a:lstStyle/>
          <a:p>
            <a:pPr marL="0" indent="0">
              <a:buNone/>
            </a:pPr>
            <a:r>
              <a:rPr lang="en-US" sz="900" dirty="0">
                <a:solidFill>
                  <a:srgbClr val="5B595A"/>
                </a:solidFill>
                <a:latin typeface="Arial" pitchFamily="34" charset="0"/>
                <a:ea typeface="Arial" pitchFamily="34" charset="-122"/>
                <a:cs typeface="Arial" pitchFamily="34" charset="-120"/>
              </a:rPr>
              <a:t>Planned breaks, shift handovers, and planned maintenance must be deducted. If a 7.5-hour shift has 30 minutes of breaks, available time is 7.0 hours.</a:t>
            </a:r>
            <a:endParaRPr lang="en-US" sz="900" dirty="0"/>
          </a:p>
        </p:txBody>
      </p:sp>
      <p:sp>
        <p:nvSpPr>
          <p:cNvPr id="69" name="Shape 65"/>
          <p:cNvSpPr/>
          <p:nvPr/>
        </p:nvSpPr>
        <p:spPr>
          <a:xfrm>
            <a:off x="6080760" y="5157216"/>
            <a:ext cx="5669280" cy="548640"/>
          </a:xfrm>
          <a:prstGeom prst="rect">
            <a:avLst/>
          </a:prstGeom>
          <a:solidFill>
            <a:srgbClr val="FEF3C7"/>
          </a:solidFill>
          <a:ln w="6350">
            <a:solidFill>
              <a:srgbClr val="D97706"/>
            </a:solidFill>
            <a:prstDash val="solid"/>
          </a:ln>
        </p:spPr>
        <p:txBody>
          <a:bodyPr/>
          <a:lstStyle/>
          <a:p>
            <a:endParaRPr lang="en-GB"/>
          </a:p>
        </p:txBody>
      </p:sp>
      <p:sp>
        <p:nvSpPr>
          <p:cNvPr id="70" name="Text 66"/>
          <p:cNvSpPr/>
          <p:nvPr/>
        </p:nvSpPr>
        <p:spPr>
          <a:xfrm>
            <a:off x="6172200" y="5184648"/>
            <a:ext cx="5486400" cy="201168"/>
          </a:xfrm>
          <a:prstGeom prst="rect">
            <a:avLst/>
          </a:prstGeom>
          <a:noFill/>
          <a:ln/>
        </p:spPr>
        <p:txBody>
          <a:bodyPr wrap="square" rtlCol="0" anchor="ctr"/>
          <a:lstStyle/>
          <a:p>
            <a:pPr marL="0" indent="0">
              <a:buNone/>
            </a:pPr>
            <a:r>
              <a:rPr lang="en-US" sz="950" b="1" dirty="0">
                <a:solidFill>
                  <a:srgbClr val="D97706"/>
                </a:solidFill>
                <a:latin typeface="Arial" pitchFamily="34" charset="0"/>
                <a:ea typeface="Arial" pitchFamily="34" charset="-122"/>
                <a:cs typeface="Arial" pitchFamily="34" charset="-120"/>
              </a:rPr>
              <a:t>Using average demand instead of peak demand</a:t>
            </a:r>
            <a:endParaRPr lang="en-US" sz="950" dirty="0"/>
          </a:p>
        </p:txBody>
      </p:sp>
      <p:sp>
        <p:nvSpPr>
          <p:cNvPr id="71" name="Text 67"/>
          <p:cNvSpPr/>
          <p:nvPr/>
        </p:nvSpPr>
        <p:spPr>
          <a:xfrm>
            <a:off x="6172200" y="5404104"/>
            <a:ext cx="5486400" cy="274320"/>
          </a:xfrm>
          <a:prstGeom prst="rect">
            <a:avLst/>
          </a:prstGeom>
          <a:noFill/>
          <a:ln/>
        </p:spPr>
        <p:txBody>
          <a:bodyPr wrap="square" rtlCol="0" anchor="t"/>
          <a:lstStyle/>
          <a:p>
            <a:pPr marL="0" indent="0">
              <a:buNone/>
            </a:pPr>
            <a:r>
              <a:rPr lang="en-US" sz="900" dirty="0">
                <a:solidFill>
                  <a:srgbClr val="5B595A"/>
                </a:solidFill>
                <a:latin typeface="Arial" pitchFamily="34" charset="0"/>
                <a:ea typeface="Arial" pitchFamily="34" charset="-122"/>
                <a:cs typeface="Arial" pitchFamily="34" charset="-120"/>
              </a:rPr>
              <a:t>If customer demand fluctuates significantly, design the future state around the typical peak, not the average. Average takt will lead to failure during high-demand periods.</a:t>
            </a:r>
            <a:endParaRPr lang="en-US" sz="900" dirty="0"/>
          </a:p>
        </p:txBody>
      </p:sp>
      <p:sp>
        <p:nvSpPr>
          <p:cNvPr id="72" name="Shape 68"/>
          <p:cNvSpPr/>
          <p:nvPr/>
        </p:nvSpPr>
        <p:spPr>
          <a:xfrm>
            <a:off x="228600" y="5742432"/>
            <a:ext cx="5669280" cy="548640"/>
          </a:xfrm>
          <a:prstGeom prst="rect">
            <a:avLst/>
          </a:prstGeom>
          <a:solidFill>
            <a:srgbClr val="FEE2E2"/>
          </a:solidFill>
          <a:ln w="6350">
            <a:solidFill>
              <a:srgbClr val="B91C1C"/>
            </a:solidFill>
            <a:prstDash val="solid"/>
          </a:ln>
        </p:spPr>
        <p:txBody>
          <a:bodyPr/>
          <a:lstStyle/>
          <a:p>
            <a:endParaRPr lang="en-GB"/>
          </a:p>
        </p:txBody>
      </p:sp>
      <p:sp>
        <p:nvSpPr>
          <p:cNvPr id="73" name="Text 69"/>
          <p:cNvSpPr/>
          <p:nvPr/>
        </p:nvSpPr>
        <p:spPr>
          <a:xfrm>
            <a:off x="320040" y="5769864"/>
            <a:ext cx="5486400" cy="201168"/>
          </a:xfrm>
          <a:prstGeom prst="rect">
            <a:avLst/>
          </a:prstGeom>
          <a:noFill/>
          <a:ln/>
        </p:spPr>
        <p:txBody>
          <a:bodyPr wrap="square" rtlCol="0" anchor="ctr"/>
          <a:lstStyle/>
          <a:p>
            <a:pPr marL="0" indent="0">
              <a:buNone/>
            </a:pPr>
            <a:r>
              <a:rPr lang="en-US" sz="950" b="1" dirty="0">
                <a:solidFill>
                  <a:srgbClr val="B91C1C"/>
                </a:solidFill>
                <a:latin typeface="Arial" pitchFamily="34" charset="0"/>
                <a:ea typeface="Arial" pitchFamily="34" charset="-122"/>
                <a:cs typeface="Arial" pitchFamily="34" charset="-120"/>
              </a:rPr>
              <a:t>Confusing takt with cycle time</a:t>
            </a:r>
            <a:endParaRPr lang="en-US" sz="950" dirty="0"/>
          </a:p>
        </p:txBody>
      </p:sp>
      <p:sp>
        <p:nvSpPr>
          <p:cNvPr id="74" name="Text 70"/>
          <p:cNvSpPr/>
          <p:nvPr/>
        </p:nvSpPr>
        <p:spPr>
          <a:xfrm>
            <a:off x="320040" y="5989320"/>
            <a:ext cx="5486400" cy="274320"/>
          </a:xfrm>
          <a:prstGeom prst="rect">
            <a:avLst/>
          </a:prstGeom>
          <a:noFill/>
          <a:ln/>
        </p:spPr>
        <p:txBody>
          <a:bodyPr wrap="square" rtlCol="0" anchor="t"/>
          <a:lstStyle/>
          <a:p>
            <a:pPr marL="0" indent="0">
              <a:buNone/>
            </a:pPr>
            <a:r>
              <a:rPr lang="en-US" sz="900" dirty="0">
                <a:solidFill>
                  <a:srgbClr val="5B595A"/>
                </a:solidFill>
                <a:latin typeface="Arial" pitchFamily="34" charset="0"/>
                <a:ea typeface="Arial" pitchFamily="34" charset="-122"/>
                <a:cs typeface="Arial" pitchFamily="34" charset="-120"/>
              </a:rPr>
              <a:t>Takt time is a customer requirement. Cycle time is what the process actually achieves. The goal is to get cycle time close to (but below) takt time, not to make them equal.</a:t>
            </a:r>
            <a:endParaRPr lang="en-US" sz="900" dirty="0"/>
          </a:p>
        </p:txBody>
      </p:sp>
      <p:sp>
        <p:nvSpPr>
          <p:cNvPr id="75" name="Shape 71"/>
          <p:cNvSpPr/>
          <p:nvPr/>
        </p:nvSpPr>
        <p:spPr>
          <a:xfrm>
            <a:off x="6080760" y="5742432"/>
            <a:ext cx="5669280" cy="548640"/>
          </a:xfrm>
          <a:prstGeom prst="rect">
            <a:avLst/>
          </a:prstGeom>
          <a:solidFill>
            <a:srgbClr val="FEF3C7"/>
          </a:solidFill>
          <a:ln w="6350">
            <a:solidFill>
              <a:srgbClr val="D97706"/>
            </a:solidFill>
            <a:prstDash val="solid"/>
          </a:ln>
        </p:spPr>
        <p:txBody>
          <a:bodyPr/>
          <a:lstStyle/>
          <a:p>
            <a:endParaRPr lang="en-GB"/>
          </a:p>
        </p:txBody>
      </p:sp>
      <p:sp>
        <p:nvSpPr>
          <p:cNvPr id="76" name="Text 72"/>
          <p:cNvSpPr/>
          <p:nvPr/>
        </p:nvSpPr>
        <p:spPr>
          <a:xfrm>
            <a:off x="6172200" y="5769864"/>
            <a:ext cx="5486400" cy="201168"/>
          </a:xfrm>
          <a:prstGeom prst="rect">
            <a:avLst/>
          </a:prstGeom>
          <a:noFill/>
          <a:ln/>
        </p:spPr>
        <p:txBody>
          <a:bodyPr wrap="square" rtlCol="0" anchor="ctr"/>
          <a:lstStyle/>
          <a:p>
            <a:pPr marL="0" indent="0">
              <a:buNone/>
            </a:pPr>
            <a:r>
              <a:rPr lang="en-US" sz="950" b="1" dirty="0">
                <a:solidFill>
                  <a:srgbClr val="D97706"/>
                </a:solidFill>
                <a:latin typeface="Arial" pitchFamily="34" charset="0"/>
                <a:ea typeface="Arial" pitchFamily="34" charset="-122"/>
                <a:cs typeface="Arial" pitchFamily="34" charset="-120"/>
              </a:rPr>
              <a:t>Not re-calculating when demand changes</a:t>
            </a:r>
            <a:endParaRPr lang="en-US" sz="950" dirty="0"/>
          </a:p>
        </p:txBody>
      </p:sp>
      <p:sp>
        <p:nvSpPr>
          <p:cNvPr id="77" name="Text 73"/>
          <p:cNvSpPr/>
          <p:nvPr/>
        </p:nvSpPr>
        <p:spPr>
          <a:xfrm>
            <a:off x="6172200" y="5989320"/>
            <a:ext cx="5486400" cy="274320"/>
          </a:xfrm>
          <a:prstGeom prst="rect">
            <a:avLst/>
          </a:prstGeom>
          <a:noFill/>
          <a:ln/>
        </p:spPr>
        <p:txBody>
          <a:bodyPr wrap="square" rtlCol="0" anchor="t"/>
          <a:lstStyle/>
          <a:p>
            <a:pPr marL="0" indent="0">
              <a:buNone/>
            </a:pPr>
            <a:r>
              <a:rPr lang="en-US" sz="900" dirty="0">
                <a:solidFill>
                  <a:srgbClr val="5B595A"/>
                </a:solidFill>
                <a:latin typeface="Arial" pitchFamily="34" charset="0"/>
                <a:ea typeface="Arial" pitchFamily="34" charset="-122"/>
                <a:cs typeface="Arial" pitchFamily="34" charset="-120"/>
              </a:rPr>
              <a:t>Takt time is not fixed. When volume changes, takt changes. Many organisations set a takt time once and never revisit it, then wonder why their flow system breaks down.</a:t>
            </a:r>
            <a:endParaRPr lang="en-US" sz="900" dirty="0"/>
          </a:p>
        </p:txBody>
      </p:sp>
      <p:sp>
        <p:nvSpPr>
          <p:cNvPr id="78" name="Rectangle 77"/>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9" name="Picture 78" descr="image.png"/>
          <p:cNvPicPr>
            <a:picLocks noChangeAspect="1"/>
          </p:cNvPicPr>
          <p:nvPr/>
        </p:nvPicPr>
        <p:blipFill>
          <a:blip r:embed="rId5"/>
          <a:stretch>
            <a:fillRect/>
          </a:stretch>
        </p:blipFill>
        <p:spPr>
          <a:xfrm>
            <a:off x="10610088" y="100584"/>
            <a:ext cx="566928" cy="347472"/>
          </a:xfrm>
          <a:prstGeom prst="rect">
            <a:avLst/>
          </a:prstGeom>
        </p:spPr>
      </p:pic>
      <p:pic>
        <p:nvPicPr>
          <p:cNvPr id="80" name="Picture 79" descr="image.png"/>
          <p:cNvPicPr>
            <a:picLocks noChangeAspect="1"/>
          </p:cNvPicPr>
          <p:nvPr/>
        </p:nvPicPr>
        <p:blipFill>
          <a:blip r:embed="rId4"/>
          <a:stretch>
            <a:fillRect/>
          </a:stretch>
        </p:blipFill>
        <p:spPr>
          <a:xfrm>
            <a:off x="11222736" y="100584"/>
            <a:ext cx="658368" cy="347472"/>
          </a:xfrm>
          <a:prstGeom prst="rect">
            <a:avLst/>
          </a:prstGeom>
        </p:spPr>
      </p:pic>
      <p:sp>
        <p:nvSpPr>
          <p:cNvPr id="81" name="Rectangle 80"/>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Reference</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Digital Waste: The 2025 Addition to Value Stream Mapping</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7" name="Text 3"/>
          <p:cNvSpPr/>
          <p:nvPr/>
        </p:nvSpPr>
        <p:spPr>
          <a:xfrm>
            <a:off x="274320" y="987552"/>
            <a:ext cx="11612880" cy="402336"/>
          </a:xfrm>
          <a:prstGeom prst="rect">
            <a:avLst/>
          </a:prstGeom>
          <a:noFill/>
          <a:ln/>
        </p:spPr>
        <p:txBody>
          <a:bodyPr wrap="square" rtlCol="0" anchor="ctr"/>
          <a:lstStyle/>
          <a:p>
            <a:pPr marL="0" indent="0">
              <a:buNone/>
            </a:pPr>
            <a:r>
              <a:rPr lang="en-US" sz="1050" dirty="0">
                <a:solidFill>
                  <a:srgbClr val="5B595A"/>
                </a:solidFill>
                <a:latin typeface="Arial" pitchFamily="34" charset="0"/>
                <a:ea typeface="Arial" pitchFamily="34" charset="-122"/>
                <a:cs typeface="Arial" pitchFamily="34" charset="-120"/>
              </a:rPr>
              <a:t>The original seven wastes (TIMWOOD) were defined in a pre-digital manufacturing world. Since 2020, digital waste has emerged as a formal additional category, and one that is increasingly relevant to UK manufacturers seeking entry to the nuclear supply chain.</a:t>
            </a:r>
            <a:endParaRPr lang="en-US" sz="1050" dirty="0"/>
          </a:p>
        </p:txBody>
      </p:sp>
      <p:sp>
        <p:nvSpPr>
          <p:cNvPr id="8" name="Text 4"/>
          <p:cNvSpPr/>
          <p:nvPr/>
        </p:nvSpPr>
        <p:spPr>
          <a:xfrm>
            <a:off x="274320" y="1463040"/>
            <a:ext cx="5760720" cy="256032"/>
          </a:xfrm>
          <a:prstGeom prst="rect">
            <a:avLst/>
          </a:prstGeom>
          <a:noFill/>
          <a:ln/>
        </p:spPr>
        <p:txBody>
          <a:bodyPr wrap="square" rtlCol="0" anchor="ctr"/>
          <a:lstStyle/>
          <a:p>
            <a:pPr marL="0" indent="0">
              <a:buNone/>
            </a:pPr>
            <a:r>
              <a:rPr lang="en-US" sz="1200" b="1" dirty="0">
                <a:solidFill>
                  <a:srgbClr val="1E3A5F"/>
                </a:solidFill>
                <a:latin typeface="Arial" pitchFamily="34" charset="0"/>
                <a:ea typeface="Arial" pitchFamily="34" charset="-122"/>
                <a:cs typeface="Arial" pitchFamily="34" charset="-120"/>
              </a:rPr>
              <a:t>What is digital waste?</a:t>
            </a:r>
            <a:endParaRPr lang="en-US" sz="1200" dirty="0"/>
          </a:p>
        </p:txBody>
      </p:sp>
      <p:sp>
        <p:nvSpPr>
          <p:cNvPr id="9" name="Shape 5"/>
          <p:cNvSpPr/>
          <p:nvPr/>
        </p:nvSpPr>
        <p:spPr>
          <a:xfrm>
            <a:off x="228600" y="1792224"/>
            <a:ext cx="5742432" cy="1517904"/>
          </a:xfrm>
          <a:prstGeom prst="rect">
            <a:avLst/>
          </a:prstGeom>
          <a:solidFill>
            <a:srgbClr val="E0F4FD"/>
          </a:solidFill>
          <a:ln w="10160">
            <a:solidFill>
              <a:srgbClr val="009FE3"/>
            </a:solidFill>
            <a:prstDash val="solid"/>
          </a:ln>
        </p:spPr>
        <p:txBody>
          <a:bodyPr/>
          <a:lstStyle/>
          <a:p>
            <a:endParaRPr lang="en-GB"/>
          </a:p>
        </p:txBody>
      </p:sp>
      <p:sp>
        <p:nvSpPr>
          <p:cNvPr id="10" name="Shape 6"/>
          <p:cNvSpPr/>
          <p:nvPr/>
        </p:nvSpPr>
        <p:spPr>
          <a:xfrm>
            <a:off x="228600" y="1792224"/>
            <a:ext cx="5742432" cy="256032"/>
          </a:xfrm>
          <a:prstGeom prst="rect">
            <a:avLst/>
          </a:prstGeom>
          <a:solidFill>
            <a:srgbClr val="009FE3"/>
          </a:solidFill>
          <a:ln/>
        </p:spPr>
        <p:txBody>
          <a:bodyPr/>
          <a:lstStyle/>
          <a:p>
            <a:endParaRPr lang="en-GB"/>
          </a:p>
        </p:txBody>
      </p:sp>
      <p:sp>
        <p:nvSpPr>
          <p:cNvPr id="11" name="Text 7"/>
          <p:cNvSpPr/>
          <p:nvPr/>
        </p:nvSpPr>
        <p:spPr>
          <a:xfrm>
            <a:off x="320040" y="1819656"/>
            <a:ext cx="5559552" cy="201168"/>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Duplicate data entry</a:t>
            </a:r>
            <a:endParaRPr lang="en-US" sz="1000" dirty="0"/>
          </a:p>
        </p:txBody>
      </p:sp>
      <p:sp>
        <p:nvSpPr>
          <p:cNvPr id="12" name="Text 8"/>
          <p:cNvSpPr/>
          <p:nvPr/>
        </p:nvSpPr>
        <p:spPr>
          <a:xfrm>
            <a:off x="320040" y="2103120"/>
            <a:ext cx="5559552" cy="493776"/>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The same information is entered into two or more systems, a paper traveller, an ERP system, and a quality database. Each re-entry is a waste of time and a new opportunity for error.</a:t>
            </a:r>
            <a:endParaRPr lang="en-US" sz="950" dirty="0"/>
          </a:p>
        </p:txBody>
      </p:sp>
      <p:sp>
        <p:nvSpPr>
          <p:cNvPr id="13" name="Shape 9"/>
          <p:cNvSpPr/>
          <p:nvPr/>
        </p:nvSpPr>
        <p:spPr>
          <a:xfrm>
            <a:off x="320040" y="2633472"/>
            <a:ext cx="5559552" cy="603504"/>
          </a:xfrm>
          <a:prstGeom prst="rect">
            <a:avLst/>
          </a:prstGeom>
          <a:solidFill>
            <a:srgbClr val="F3EAF4"/>
          </a:solidFill>
          <a:ln w="5080">
            <a:solidFill>
              <a:srgbClr val="83348F"/>
            </a:solidFill>
            <a:prstDash val="solid"/>
          </a:ln>
        </p:spPr>
        <p:txBody>
          <a:bodyPr/>
          <a:lstStyle/>
          <a:p>
            <a:endParaRPr lang="en-GB"/>
          </a:p>
        </p:txBody>
      </p:sp>
      <p:sp>
        <p:nvSpPr>
          <p:cNvPr id="14" name="Text 10"/>
          <p:cNvSpPr/>
          <p:nvPr/>
        </p:nvSpPr>
        <p:spPr>
          <a:xfrm>
            <a:off x="356616" y="2651760"/>
            <a:ext cx="1005840" cy="182880"/>
          </a:xfrm>
          <a:prstGeom prst="rect">
            <a:avLst/>
          </a:prstGeom>
          <a:noFill/>
          <a:ln/>
        </p:spPr>
        <p:txBody>
          <a:bodyPr wrap="square" rtlCol="0" anchor="ctr"/>
          <a:lstStyle/>
          <a:p>
            <a:pPr marL="0" indent="0">
              <a:buNone/>
            </a:pPr>
            <a:r>
              <a:rPr lang="en-US" sz="850" b="1" dirty="0">
                <a:solidFill>
                  <a:srgbClr val="83348F"/>
                </a:solidFill>
                <a:latin typeface="Arial" pitchFamily="34" charset="0"/>
                <a:ea typeface="Arial" pitchFamily="34" charset="-122"/>
                <a:cs typeface="Arial" pitchFamily="34" charset="-120"/>
              </a:rPr>
              <a:t>Nuclear context:</a:t>
            </a:r>
            <a:endParaRPr lang="en-US" sz="850" dirty="0"/>
          </a:p>
        </p:txBody>
      </p:sp>
      <p:sp>
        <p:nvSpPr>
          <p:cNvPr id="15" name="Text 11"/>
          <p:cNvSpPr/>
          <p:nvPr/>
        </p:nvSpPr>
        <p:spPr>
          <a:xfrm>
            <a:off x="356616" y="2834640"/>
            <a:ext cx="5394960" cy="384048"/>
          </a:xfrm>
          <a:prstGeom prst="rect">
            <a:avLst/>
          </a:prstGeom>
          <a:noFill/>
          <a:ln/>
        </p:spPr>
        <p:txBody>
          <a:bodyPr wrap="square" rtlCol="0" anchor="t"/>
          <a:lstStyle/>
          <a:p>
            <a:pPr marL="0" indent="0">
              <a:buNone/>
            </a:pPr>
            <a:r>
              <a:rPr lang="en-US" sz="850" dirty="0">
                <a:solidFill>
                  <a:srgbClr val="5B595A"/>
                </a:solidFill>
                <a:latin typeface="Arial" pitchFamily="34" charset="0"/>
                <a:ea typeface="Arial" pitchFamily="34" charset="-122"/>
                <a:cs typeface="Arial" pitchFamily="34" charset="-120"/>
              </a:rPr>
              <a:t>Every re-entry of data in a nuclear environment creates a new opportunity for transcription error on a quality record.</a:t>
            </a:r>
            <a:endParaRPr lang="en-US" sz="850" dirty="0"/>
          </a:p>
        </p:txBody>
      </p:sp>
      <p:sp>
        <p:nvSpPr>
          <p:cNvPr id="16" name="Shape 12"/>
          <p:cNvSpPr/>
          <p:nvPr/>
        </p:nvSpPr>
        <p:spPr>
          <a:xfrm>
            <a:off x="6263640" y="1792224"/>
            <a:ext cx="5742432" cy="1517904"/>
          </a:xfrm>
          <a:prstGeom prst="rect">
            <a:avLst/>
          </a:prstGeom>
          <a:solidFill>
            <a:srgbClr val="E0F4FD"/>
          </a:solidFill>
          <a:ln w="10160">
            <a:solidFill>
              <a:srgbClr val="009FE3"/>
            </a:solidFill>
            <a:prstDash val="solid"/>
          </a:ln>
        </p:spPr>
        <p:txBody>
          <a:bodyPr/>
          <a:lstStyle/>
          <a:p>
            <a:endParaRPr lang="en-GB"/>
          </a:p>
        </p:txBody>
      </p:sp>
      <p:sp>
        <p:nvSpPr>
          <p:cNvPr id="17" name="Shape 13"/>
          <p:cNvSpPr/>
          <p:nvPr/>
        </p:nvSpPr>
        <p:spPr>
          <a:xfrm>
            <a:off x="6263640" y="1792224"/>
            <a:ext cx="5742432" cy="256032"/>
          </a:xfrm>
          <a:prstGeom prst="rect">
            <a:avLst/>
          </a:prstGeom>
          <a:solidFill>
            <a:srgbClr val="009FE3"/>
          </a:solidFill>
          <a:ln/>
        </p:spPr>
        <p:txBody>
          <a:bodyPr/>
          <a:lstStyle/>
          <a:p>
            <a:endParaRPr lang="en-GB"/>
          </a:p>
        </p:txBody>
      </p:sp>
      <p:sp>
        <p:nvSpPr>
          <p:cNvPr id="18" name="Text 14"/>
          <p:cNvSpPr/>
          <p:nvPr/>
        </p:nvSpPr>
        <p:spPr>
          <a:xfrm>
            <a:off x="6355080" y="1819656"/>
            <a:ext cx="5559552" cy="201168"/>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Parallel systems</a:t>
            </a:r>
            <a:endParaRPr lang="en-US" sz="1000" dirty="0"/>
          </a:p>
        </p:txBody>
      </p:sp>
      <p:sp>
        <p:nvSpPr>
          <p:cNvPr id="19" name="Text 15"/>
          <p:cNvSpPr/>
          <p:nvPr/>
        </p:nvSpPr>
        <p:spPr>
          <a:xfrm>
            <a:off x="6355080" y="2103120"/>
            <a:ext cx="5559552" cy="493776"/>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The production schedule is managed in Excel, the quality system is separate, and the job card is on paper. None of them agree.</a:t>
            </a:r>
            <a:endParaRPr lang="en-US" sz="950" dirty="0"/>
          </a:p>
        </p:txBody>
      </p:sp>
      <p:sp>
        <p:nvSpPr>
          <p:cNvPr id="20" name="Shape 16"/>
          <p:cNvSpPr/>
          <p:nvPr/>
        </p:nvSpPr>
        <p:spPr>
          <a:xfrm>
            <a:off x="6355080" y="2633472"/>
            <a:ext cx="5559552" cy="603504"/>
          </a:xfrm>
          <a:prstGeom prst="rect">
            <a:avLst/>
          </a:prstGeom>
          <a:solidFill>
            <a:srgbClr val="F3EAF4"/>
          </a:solidFill>
          <a:ln w="5080">
            <a:solidFill>
              <a:srgbClr val="83348F"/>
            </a:solidFill>
            <a:prstDash val="solid"/>
          </a:ln>
        </p:spPr>
        <p:txBody>
          <a:bodyPr/>
          <a:lstStyle/>
          <a:p>
            <a:endParaRPr lang="en-GB"/>
          </a:p>
        </p:txBody>
      </p:sp>
      <p:sp>
        <p:nvSpPr>
          <p:cNvPr id="21" name="Text 17"/>
          <p:cNvSpPr/>
          <p:nvPr/>
        </p:nvSpPr>
        <p:spPr>
          <a:xfrm>
            <a:off x="6391656" y="2651760"/>
            <a:ext cx="1005840" cy="182880"/>
          </a:xfrm>
          <a:prstGeom prst="rect">
            <a:avLst/>
          </a:prstGeom>
          <a:noFill/>
          <a:ln/>
        </p:spPr>
        <p:txBody>
          <a:bodyPr wrap="square" rtlCol="0" anchor="ctr"/>
          <a:lstStyle/>
          <a:p>
            <a:pPr marL="0" indent="0">
              <a:buNone/>
            </a:pPr>
            <a:r>
              <a:rPr lang="en-US" sz="850" b="1" dirty="0">
                <a:solidFill>
                  <a:srgbClr val="83348F"/>
                </a:solidFill>
                <a:latin typeface="Arial" pitchFamily="34" charset="0"/>
                <a:ea typeface="Arial" pitchFamily="34" charset="-122"/>
                <a:cs typeface="Arial" pitchFamily="34" charset="-120"/>
              </a:rPr>
              <a:t>Nuclear context:</a:t>
            </a:r>
            <a:endParaRPr lang="en-US" sz="850" dirty="0"/>
          </a:p>
        </p:txBody>
      </p:sp>
      <p:sp>
        <p:nvSpPr>
          <p:cNvPr id="22" name="Text 18"/>
          <p:cNvSpPr/>
          <p:nvPr/>
        </p:nvSpPr>
        <p:spPr>
          <a:xfrm>
            <a:off x="6391656" y="2834640"/>
            <a:ext cx="5394960" cy="384048"/>
          </a:xfrm>
          <a:prstGeom prst="rect">
            <a:avLst/>
          </a:prstGeom>
          <a:noFill/>
          <a:ln/>
        </p:spPr>
        <p:txBody>
          <a:bodyPr wrap="square" rtlCol="0" anchor="t"/>
          <a:lstStyle/>
          <a:p>
            <a:pPr marL="0" indent="0">
              <a:buNone/>
            </a:pPr>
            <a:r>
              <a:rPr lang="en-US" sz="850" dirty="0">
                <a:solidFill>
                  <a:srgbClr val="5B595A"/>
                </a:solidFill>
                <a:latin typeface="Arial" pitchFamily="34" charset="0"/>
                <a:ea typeface="Arial" pitchFamily="34" charset="-122"/>
                <a:cs typeface="Arial" pitchFamily="34" charset="-120"/>
              </a:rPr>
              <a:t>Nuclear traceability requires a single source of truth. Three parallel systems create three versions of every record.</a:t>
            </a:r>
            <a:endParaRPr lang="en-US" sz="850" dirty="0"/>
          </a:p>
        </p:txBody>
      </p:sp>
      <p:sp>
        <p:nvSpPr>
          <p:cNvPr id="23" name="Shape 19"/>
          <p:cNvSpPr/>
          <p:nvPr/>
        </p:nvSpPr>
        <p:spPr>
          <a:xfrm>
            <a:off x="228600" y="3383280"/>
            <a:ext cx="5742432" cy="1517904"/>
          </a:xfrm>
          <a:prstGeom prst="rect">
            <a:avLst/>
          </a:prstGeom>
          <a:solidFill>
            <a:srgbClr val="F3EAF4"/>
          </a:solidFill>
          <a:ln w="10160">
            <a:solidFill>
              <a:srgbClr val="83348F"/>
            </a:solidFill>
            <a:prstDash val="solid"/>
          </a:ln>
        </p:spPr>
        <p:txBody>
          <a:bodyPr/>
          <a:lstStyle/>
          <a:p>
            <a:endParaRPr lang="en-GB"/>
          </a:p>
        </p:txBody>
      </p:sp>
      <p:sp>
        <p:nvSpPr>
          <p:cNvPr id="24" name="Shape 20"/>
          <p:cNvSpPr/>
          <p:nvPr/>
        </p:nvSpPr>
        <p:spPr>
          <a:xfrm>
            <a:off x="228600" y="3383280"/>
            <a:ext cx="5742432" cy="256032"/>
          </a:xfrm>
          <a:prstGeom prst="rect">
            <a:avLst/>
          </a:prstGeom>
          <a:solidFill>
            <a:srgbClr val="83348F"/>
          </a:solidFill>
          <a:ln/>
        </p:spPr>
        <p:txBody>
          <a:bodyPr/>
          <a:lstStyle/>
          <a:p>
            <a:endParaRPr lang="en-GB"/>
          </a:p>
        </p:txBody>
      </p:sp>
      <p:sp>
        <p:nvSpPr>
          <p:cNvPr id="25" name="Text 21"/>
          <p:cNvSpPr/>
          <p:nvPr/>
        </p:nvSpPr>
        <p:spPr>
          <a:xfrm>
            <a:off x="320040" y="3410712"/>
            <a:ext cx="5559552" cy="201168"/>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Unreceived information</a:t>
            </a:r>
            <a:endParaRPr lang="en-US" sz="1000" dirty="0"/>
          </a:p>
        </p:txBody>
      </p:sp>
      <p:sp>
        <p:nvSpPr>
          <p:cNvPr id="26" name="Text 22"/>
          <p:cNvSpPr/>
          <p:nvPr/>
        </p:nvSpPr>
        <p:spPr>
          <a:xfrm>
            <a:off x="320040" y="3694176"/>
            <a:ext cx="5559552" cy="493776"/>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Daily automated reports that nobody reads. Meeting minutes sent to distribution lists that were never updated.</a:t>
            </a:r>
            <a:endParaRPr lang="en-US" sz="950" dirty="0"/>
          </a:p>
        </p:txBody>
      </p:sp>
      <p:sp>
        <p:nvSpPr>
          <p:cNvPr id="27" name="Shape 23"/>
          <p:cNvSpPr/>
          <p:nvPr/>
        </p:nvSpPr>
        <p:spPr>
          <a:xfrm>
            <a:off x="320040" y="4224528"/>
            <a:ext cx="5559552" cy="603504"/>
          </a:xfrm>
          <a:prstGeom prst="rect">
            <a:avLst/>
          </a:prstGeom>
          <a:solidFill>
            <a:srgbClr val="F3EAF4"/>
          </a:solidFill>
          <a:ln w="5080">
            <a:solidFill>
              <a:srgbClr val="83348F"/>
            </a:solidFill>
            <a:prstDash val="solid"/>
          </a:ln>
        </p:spPr>
        <p:txBody>
          <a:bodyPr/>
          <a:lstStyle/>
          <a:p>
            <a:endParaRPr lang="en-GB"/>
          </a:p>
        </p:txBody>
      </p:sp>
      <p:sp>
        <p:nvSpPr>
          <p:cNvPr id="28" name="Text 24"/>
          <p:cNvSpPr/>
          <p:nvPr/>
        </p:nvSpPr>
        <p:spPr>
          <a:xfrm>
            <a:off x="356616" y="4242816"/>
            <a:ext cx="1005840" cy="182880"/>
          </a:xfrm>
          <a:prstGeom prst="rect">
            <a:avLst/>
          </a:prstGeom>
          <a:noFill/>
          <a:ln/>
        </p:spPr>
        <p:txBody>
          <a:bodyPr wrap="square" rtlCol="0" anchor="ctr"/>
          <a:lstStyle/>
          <a:p>
            <a:pPr marL="0" indent="0">
              <a:buNone/>
            </a:pPr>
            <a:r>
              <a:rPr lang="en-US" sz="850" b="1" dirty="0">
                <a:solidFill>
                  <a:srgbClr val="83348F"/>
                </a:solidFill>
                <a:latin typeface="Arial" pitchFamily="34" charset="0"/>
                <a:ea typeface="Arial" pitchFamily="34" charset="-122"/>
                <a:cs typeface="Arial" pitchFamily="34" charset="-120"/>
              </a:rPr>
              <a:t>Nuclear context:</a:t>
            </a:r>
            <a:endParaRPr lang="en-US" sz="850" dirty="0"/>
          </a:p>
        </p:txBody>
      </p:sp>
      <p:sp>
        <p:nvSpPr>
          <p:cNvPr id="29" name="Text 25"/>
          <p:cNvSpPr/>
          <p:nvPr/>
        </p:nvSpPr>
        <p:spPr>
          <a:xfrm>
            <a:off x="356616" y="4425696"/>
            <a:ext cx="5394960" cy="384048"/>
          </a:xfrm>
          <a:prstGeom prst="rect">
            <a:avLst/>
          </a:prstGeom>
          <a:noFill/>
          <a:ln/>
        </p:spPr>
        <p:txBody>
          <a:bodyPr wrap="square" rtlCol="0" anchor="t"/>
          <a:lstStyle/>
          <a:p>
            <a:pPr marL="0" indent="0">
              <a:buNone/>
            </a:pPr>
            <a:r>
              <a:rPr lang="en-US" sz="850" dirty="0">
                <a:solidFill>
                  <a:srgbClr val="5B595A"/>
                </a:solidFill>
                <a:latin typeface="Arial" pitchFamily="34" charset="0"/>
                <a:ea typeface="Arial" pitchFamily="34" charset="-122"/>
                <a:cs typeface="Arial" pitchFamily="34" charset="-120"/>
              </a:rPr>
              <a:t>Information that is never acted upon is not information. It is noise. In nuclear, unread records can conceal NCRs.</a:t>
            </a:r>
            <a:endParaRPr lang="en-US" sz="850" dirty="0"/>
          </a:p>
        </p:txBody>
      </p:sp>
      <p:sp>
        <p:nvSpPr>
          <p:cNvPr id="30" name="Shape 26"/>
          <p:cNvSpPr/>
          <p:nvPr/>
        </p:nvSpPr>
        <p:spPr>
          <a:xfrm>
            <a:off x="6263640" y="3383280"/>
            <a:ext cx="5742432" cy="1517904"/>
          </a:xfrm>
          <a:prstGeom prst="rect">
            <a:avLst/>
          </a:prstGeom>
          <a:solidFill>
            <a:srgbClr val="F3EAF4"/>
          </a:solidFill>
          <a:ln w="10160">
            <a:solidFill>
              <a:srgbClr val="83348F"/>
            </a:solidFill>
            <a:prstDash val="solid"/>
          </a:ln>
        </p:spPr>
        <p:txBody>
          <a:bodyPr/>
          <a:lstStyle/>
          <a:p>
            <a:endParaRPr lang="en-GB"/>
          </a:p>
        </p:txBody>
      </p:sp>
      <p:sp>
        <p:nvSpPr>
          <p:cNvPr id="31" name="Shape 27"/>
          <p:cNvSpPr/>
          <p:nvPr/>
        </p:nvSpPr>
        <p:spPr>
          <a:xfrm>
            <a:off x="6263640" y="3383280"/>
            <a:ext cx="5742432" cy="256032"/>
          </a:xfrm>
          <a:prstGeom prst="rect">
            <a:avLst/>
          </a:prstGeom>
          <a:solidFill>
            <a:srgbClr val="83348F"/>
          </a:solidFill>
          <a:ln/>
        </p:spPr>
        <p:txBody>
          <a:bodyPr/>
          <a:lstStyle/>
          <a:p>
            <a:endParaRPr lang="en-GB"/>
          </a:p>
        </p:txBody>
      </p:sp>
      <p:sp>
        <p:nvSpPr>
          <p:cNvPr id="32" name="Text 28"/>
          <p:cNvSpPr/>
          <p:nvPr/>
        </p:nvSpPr>
        <p:spPr>
          <a:xfrm>
            <a:off x="6355080" y="3410712"/>
            <a:ext cx="5559552" cy="201168"/>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Information delays</a:t>
            </a:r>
            <a:endParaRPr lang="en-US" sz="1000" dirty="0"/>
          </a:p>
        </p:txBody>
      </p:sp>
      <p:sp>
        <p:nvSpPr>
          <p:cNvPr id="33" name="Text 29"/>
          <p:cNvSpPr/>
          <p:nvPr/>
        </p:nvSpPr>
        <p:spPr>
          <a:xfrm>
            <a:off x="6355080" y="3694176"/>
            <a:ext cx="5559552" cy="493776"/>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A design change sits in an approvals queue for a week. Production continues on the old drawing.</a:t>
            </a:r>
            <a:endParaRPr lang="en-US" sz="950" dirty="0"/>
          </a:p>
        </p:txBody>
      </p:sp>
      <p:sp>
        <p:nvSpPr>
          <p:cNvPr id="34" name="Shape 30"/>
          <p:cNvSpPr/>
          <p:nvPr/>
        </p:nvSpPr>
        <p:spPr>
          <a:xfrm>
            <a:off x="6355080" y="4224528"/>
            <a:ext cx="5559552" cy="603504"/>
          </a:xfrm>
          <a:prstGeom prst="rect">
            <a:avLst/>
          </a:prstGeom>
          <a:solidFill>
            <a:srgbClr val="F3EAF4"/>
          </a:solidFill>
          <a:ln w="5080">
            <a:solidFill>
              <a:srgbClr val="83348F"/>
            </a:solidFill>
            <a:prstDash val="solid"/>
          </a:ln>
        </p:spPr>
        <p:txBody>
          <a:bodyPr/>
          <a:lstStyle/>
          <a:p>
            <a:endParaRPr lang="en-GB"/>
          </a:p>
        </p:txBody>
      </p:sp>
      <p:sp>
        <p:nvSpPr>
          <p:cNvPr id="35" name="Text 31"/>
          <p:cNvSpPr/>
          <p:nvPr/>
        </p:nvSpPr>
        <p:spPr>
          <a:xfrm>
            <a:off x="6391656" y="4242816"/>
            <a:ext cx="1005840" cy="182880"/>
          </a:xfrm>
          <a:prstGeom prst="rect">
            <a:avLst/>
          </a:prstGeom>
          <a:noFill/>
          <a:ln/>
        </p:spPr>
        <p:txBody>
          <a:bodyPr wrap="square" rtlCol="0" anchor="ctr"/>
          <a:lstStyle/>
          <a:p>
            <a:pPr marL="0" indent="0">
              <a:buNone/>
            </a:pPr>
            <a:r>
              <a:rPr lang="en-US" sz="850" b="1" dirty="0">
                <a:solidFill>
                  <a:srgbClr val="83348F"/>
                </a:solidFill>
                <a:latin typeface="Arial" pitchFamily="34" charset="0"/>
                <a:ea typeface="Arial" pitchFamily="34" charset="-122"/>
                <a:cs typeface="Arial" pitchFamily="34" charset="-120"/>
              </a:rPr>
              <a:t>Nuclear context:</a:t>
            </a:r>
            <a:endParaRPr lang="en-US" sz="850" dirty="0"/>
          </a:p>
        </p:txBody>
      </p:sp>
      <p:sp>
        <p:nvSpPr>
          <p:cNvPr id="36" name="Text 32"/>
          <p:cNvSpPr/>
          <p:nvPr/>
        </p:nvSpPr>
        <p:spPr>
          <a:xfrm>
            <a:off x="6391656" y="4425696"/>
            <a:ext cx="5394960" cy="384048"/>
          </a:xfrm>
          <a:prstGeom prst="rect">
            <a:avLst/>
          </a:prstGeom>
          <a:noFill/>
          <a:ln/>
        </p:spPr>
        <p:txBody>
          <a:bodyPr wrap="square" rtlCol="0" anchor="t"/>
          <a:lstStyle/>
          <a:p>
            <a:pPr marL="0" indent="0">
              <a:buNone/>
            </a:pPr>
            <a:r>
              <a:rPr lang="en-US" sz="850" dirty="0">
                <a:solidFill>
                  <a:srgbClr val="5B595A"/>
                </a:solidFill>
                <a:latin typeface="Arial" pitchFamily="34" charset="0"/>
                <a:ea typeface="Arial" pitchFamily="34" charset="-122"/>
                <a:cs typeface="Arial" pitchFamily="34" charset="-120"/>
              </a:rPr>
              <a:t>In nuclear manufacturing, any work on a superseded drawing is a non-conformance. Information delay is a quality risk.</a:t>
            </a:r>
            <a:endParaRPr lang="en-US" sz="850" dirty="0"/>
          </a:p>
        </p:txBody>
      </p:sp>
      <p:sp>
        <p:nvSpPr>
          <p:cNvPr id="37" name="Shape 33"/>
          <p:cNvSpPr/>
          <p:nvPr/>
        </p:nvSpPr>
        <p:spPr>
          <a:xfrm>
            <a:off x="228600" y="4974336"/>
            <a:ext cx="5742432" cy="1517904"/>
          </a:xfrm>
          <a:prstGeom prst="rect">
            <a:avLst/>
          </a:prstGeom>
          <a:solidFill>
            <a:srgbClr val="E0F7F7"/>
          </a:solidFill>
          <a:ln w="10160">
            <a:solidFill>
              <a:srgbClr val="0D7377"/>
            </a:solidFill>
            <a:prstDash val="solid"/>
          </a:ln>
        </p:spPr>
        <p:txBody>
          <a:bodyPr/>
          <a:lstStyle/>
          <a:p>
            <a:endParaRPr lang="en-GB"/>
          </a:p>
        </p:txBody>
      </p:sp>
      <p:sp>
        <p:nvSpPr>
          <p:cNvPr id="38" name="Shape 34"/>
          <p:cNvSpPr/>
          <p:nvPr/>
        </p:nvSpPr>
        <p:spPr>
          <a:xfrm>
            <a:off x="228600" y="4974336"/>
            <a:ext cx="5742432" cy="256032"/>
          </a:xfrm>
          <a:prstGeom prst="rect">
            <a:avLst/>
          </a:prstGeom>
          <a:solidFill>
            <a:srgbClr val="0D7377"/>
          </a:solidFill>
          <a:ln/>
        </p:spPr>
        <p:txBody>
          <a:bodyPr/>
          <a:lstStyle/>
          <a:p>
            <a:endParaRPr lang="en-GB"/>
          </a:p>
        </p:txBody>
      </p:sp>
      <p:sp>
        <p:nvSpPr>
          <p:cNvPr id="39" name="Text 35"/>
          <p:cNvSpPr/>
          <p:nvPr/>
        </p:nvSpPr>
        <p:spPr>
          <a:xfrm>
            <a:off x="320040" y="5001768"/>
            <a:ext cx="5559552" cy="201168"/>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Inaccessible records</a:t>
            </a:r>
            <a:endParaRPr lang="en-US" sz="1000" dirty="0"/>
          </a:p>
        </p:txBody>
      </p:sp>
      <p:sp>
        <p:nvSpPr>
          <p:cNvPr id="40" name="Text 36"/>
          <p:cNvSpPr/>
          <p:nvPr/>
        </p:nvSpPr>
        <p:spPr>
          <a:xfrm>
            <a:off x="320040" y="5285232"/>
            <a:ext cx="5559552" cy="493776"/>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Quality records stored on a retired server. Certificates filed in a folder nobody can find.</a:t>
            </a:r>
            <a:endParaRPr lang="en-US" sz="950" dirty="0"/>
          </a:p>
        </p:txBody>
      </p:sp>
      <p:sp>
        <p:nvSpPr>
          <p:cNvPr id="41" name="Shape 37"/>
          <p:cNvSpPr/>
          <p:nvPr/>
        </p:nvSpPr>
        <p:spPr>
          <a:xfrm>
            <a:off x="320040" y="5815584"/>
            <a:ext cx="5559552" cy="603504"/>
          </a:xfrm>
          <a:prstGeom prst="rect">
            <a:avLst/>
          </a:prstGeom>
          <a:solidFill>
            <a:srgbClr val="F3EAF4"/>
          </a:solidFill>
          <a:ln w="5080">
            <a:solidFill>
              <a:srgbClr val="83348F"/>
            </a:solidFill>
            <a:prstDash val="solid"/>
          </a:ln>
        </p:spPr>
        <p:txBody>
          <a:bodyPr/>
          <a:lstStyle/>
          <a:p>
            <a:endParaRPr lang="en-GB"/>
          </a:p>
        </p:txBody>
      </p:sp>
      <p:sp>
        <p:nvSpPr>
          <p:cNvPr id="42" name="Text 38"/>
          <p:cNvSpPr/>
          <p:nvPr/>
        </p:nvSpPr>
        <p:spPr>
          <a:xfrm>
            <a:off x="356616" y="5833872"/>
            <a:ext cx="1005840" cy="182880"/>
          </a:xfrm>
          <a:prstGeom prst="rect">
            <a:avLst/>
          </a:prstGeom>
          <a:noFill/>
          <a:ln/>
        </p:spPr>
        <p:txBody>
          <a:bodyPr wrap="square" rtlCol="0" anchor="ctr"/>
          <a:lstStyle/>
          <a:p>
            <a:pPr marL="0" indent="0">
              <a:buNone/>
            </a:pPr>
            <a:r>
              <a:rPr lang="en-US" sz="850" b="1" dirty="0">
                <a:solidFill>
                  <a:srgbClr val="83348F"/>
                </a:solidFill>
                <a:latin typeface="Arial" pitchFamily="34" charset="0"/>
                <a:ea typeface="Arial" pitchFamily="34" charset="-122"/>
                <a:cs typeface="Arial" pitchFamily="34" charset="-120"/>
              </a:rPr>
              <a:t>Nuclear context:</a:t>
            </a:r>
            <a:endParaRPr lang="en-US" sz="850" dirty="0"/>
          </a:p>
        </p:txBody>
      </p:sp>
      <p:sp>
        <p:nvSpPr>
          <p:cNvPr id="43" name="Text 39"/>
          <p:cNvSpPr/>
          <p:nvPr/>
        </p:nvSpPr>
        <p:spPr>
          <a:xfrm>
            <a:off x="356616" y="6016752"/>
            <a:ext cx="5394960" cy="384048"/>
          </a:xfrm>
          <a:prstGeom prst="rect">
            <a:avLst/>
          </a:prstGeom>
          <a:noFill/>
          <a:ln/>
        </p:spPr>
        <p:txBody>
          <a:bodyPr wrap="square" rtlCol="0" anchor="t"/>
          <a:lstStyle/>
          <a:p>
            <a:pPr marL="0" indent="0">
              <a:buNone/>
            </a:pPr>
            <a:r>
              <a:rPr lang="en-US" sz="850" dirty="0">
                <a:solidFill>
                  <a:srgbClr val="5B595A"/>
                </a:solidFill>
                <a:latin typeface="Arial" pitchFamily="34" charset="0"/>
                <a:ea typeface="Arial" pitchFamily="34" charset="-122"/>
                <a:cs typeface="Arial" pitchFamily="34" charset="-120"/>
              </a:rPr>
              <a:t>Nuclear customers require records to be retrievable for the life of the plant, 40 to 60 years in some cases.</a:t>
            </a:r>
            <a:endParaRPr lang="en-US" sz="850" dirty="0"/>
          </a:p>
        </p:txBody>
      </p:sp>
      <p:sp>
        <p:nvSpPr>
          <p:cNvPr id="44" name="Shape 40"/>
          <p:cNvSpPr/>
          <p:nvPr/>
        </p:nvSpPr>
        <p:spPr>
          <a:xfrm>
            <a:off x="6263640" y="4974336"/>
            <a:ext cx="5742432" cy="1517904"/>
          </a:xfrm>
          <a:prstGeom prst="rect">
            <a:avLst/>
          </a:prstGeom>
          <a:solidFill>
            <a:srgbClr val="E0F7F7"/>
          </a:solidFill>
          <a:ln w="10160">
            <a:solidFill>
              <a:srgbClr val="0D7377"/>
            </a:solidFill>
            <a:prstDash val="solid"/>
          </a:ln>
        </p:spPr>
        <p:txBody>
          <a:bodyPr/>
          <a:lstStyle/>
          <a:p>
            <a:endParaRPr lang="en-GB"/>
          </a:p>
        </p:txBody>
      </p:sp>
      <p:sp>
        <p:nvSpPr>
          <p:cNvPr id="45" name="Shape 41"/>
          <p:cNvSpPr/>
          <p:nvPr/>
        </p:nvSpPr>
        <p:spPr>
          <a:xfrm>
            <a:off x="6263640" y="4974336"/>
            <a:ext cx="5742432" cy="256032"/>
          </a:xfrm>
          <a:prstGeom prst="rect">
            <a:avLst/>
          </a:prstGeom>
          <a:solidFill>
            <a:srgbClr val="0D7377"/>
          </a:solidFill>
          <a:ln/>
        </p:spPr>
        <p:txBody>
          <a:bodyPr/>
          <a:lstStyle/>
          <a:p>
            <a:endParaRPr lang="en-GB"/>
          </a:p>
        </p:txBody>
      </p:sp>
      <p:sp>
        <p:nvSpPr>
          <p:cNvPr id="46" name="Text 42"/>
          <p:cNvSpPr/>
          <p:nvPr/>
        </p:nvSpPr>
        <p:spPr>
          <a:xfrm>
            <a:off x="6355080" y="5001768"/>
            <a:ext cx="5559552" cy="201168"/>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Digital overprocessing</a:t>
            </a:r>
            <a:endParaRPr lang="en-US" sz="1000" dirty="0"/>
          </a:p>
        </p:txBody>
      </p:sp>
      <p:sp>
        <p:nvSpPr>
          <p:cNvPr id="47" name="Text 43"/>
          <p:cNvSpPr/>
          <p:nvPr/>
        </p:nvSpPr>
        <p:spPr>
          <a:xfrm>
            <a:off x="6355080" y="5285232"/>
            <a:ext cx="5559552" cy="493776"/>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Using a full MRP system to schedule a 10-person workshop when a whiteboard kanban would work better.</a:t>
            </a:r>
            <a:endParaRPr lang="en-US" sz="950" dirty="0"/>
          </a:p>
        </p:txBody>
      </p:sp>
      <p:sp>
        <p:nvSpPr>
          <p:cNvPr id="48" name="Shape 44"/>
          <p:cNvSpPr/>
          <p:nvPr/>
        </p:nvSpPr>
        <p:spPr>
          <a:xfrm>
            <a:off x="6355080" y="5815584"/>
            <a:ext cx="5559552" cy="603504"/>
          </a:xfrm>
          <a:prstGeom prst="rect">
            <a:avLst/>
          </a:prstGeom>
          <a:solidFill>
            <a:srgbClr val="F3EAF4"/>
          </a:solidFill>
          <a:ln w="5080">
            <a:solidFill>
              <a:srgbClr val="83348F"/>
            </a:solidFill>
            <a:prstDash val="solid"/>
          </a:ln>
        </p:spPr>
        <p:txBody>
          <a:bodyPr/>
          <a:lstStyle/>
          <a:p>
            <a:endParaRPr lang="en-GB"/>
          </a:p>
        </p:txBody>
      </p:sp>
      <p:sp>
        <p:nvSpPr>
          <p:cNvPr id="49" name="Text 45"/>
          <p:cNvSpPr/>
          <p:nvPr/>
        </p:nvSpPr>
        <p:spPr>
          <a:xfrm>
            <a:off x="6391656" y="5833872"/>
            <a:ext cx="1005840" cy="182880"/>
          </a:xfrm>
          <a:prstGeom prst="rect">
            <a:avLst/>
          </a:prstGeom>
          <a:noFill/>
          <a:ln/>
        </p:spPr>
        <p:txBody>
          <a:bodyPr wrap="square" rtlCol="0" anchor="ctr"/>
          <a:lstStyle/>
          <a:p>
            <a:pPr marL="0" indent="0">
              <a:buNone/>
            </a:pPr>
            <a:r>
              <a:rPr lang="en-US" sz="850" b="1" dirty="0">
                <a:solidFill>
                  <a:srgbClr val="83348F"/>
                </a:solidFill>
                <a:latin typeface="Arial" pitchFamily="34" charset="0"/>
                <a:ea typeface="Arial" pitchFamily="34" charset="-122"/>
                <a:cs typeface="Arial" pitchFamily="34" charset="-120"/>
              </a:rPr>
              <a:t>Nuclear context:</a:t>
            </a:r>
            <a:endParaRPr lang="en-US" sz="850" dirty="0"/>
          </a:p>
        </p:txBody>
      </p:sp>
      <p:sp>
        <p:nvSpPr>
          <p:cNvPr id="50" name="Text 46"/>
          <p:cNvSpPr/>
          <p:nvPr/>
        </p:nvSpPr>
        <p:spPr>
          <a:xfrm>
            <a:off x="6391656" y="6016752"/>
            <a:ext cx="5394960" cy="384048"/>
          </a:xfrm>
          <a:prstGeom prst="rect">
            <a:avLst/>
          </a:prstGeom>
          <a:noFill/>
          <a:ln/>
        </p:spPr>
        <p:txBody>
          <a:bodyPr wrap="square" rtlCol="0" anchor="t"/>
          <a:lstStyle/>
          <a:p>
            <a:pPr marL="0" indent="0">
              <a:buNone/>
            </a:pPr>
            <a:r>
              <a:rPr lang="en-US" sz="850" dirty="0">
                <a:solidFill>
                  <a:srgbClr val="5B595A"/>
                </a:solidFill>
                <a:latin typeface="Arial" pitchFamily="34" charset="0"/>
                <a:ea typeface="Arial" pitchFamily="34" charset="-122"/>
                <a:cs typeface="Arial" pitchFamily="34" charset="-120"/>
              </a:rPr>
              <a:t>Over-complexity in information systems creates training overhead, system dependency, and cascading failure risk.</a:t>
            </a:r>
            <a:endParaRPr lang="en-US" sz="850" dirty="0"/>
          </a:p>
        </p:txBody>
      </p:sp>
      <p:sp>
        <p:nvSpPr>
          <p:cNvPr id="51" name="Rectangle 50"/>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mage.png"/>
          <p:cNvPicPr>
            <a:picLocks noChangeAspect="1"/>
          </p:cNvPicPr>
          <p:nvPr/>
        </p:nvPicPr>
        <p:blipFill>
          <a:blip r:embed="rId5"/>
          <a:stretch>
            <a:fillRect/>
          </a:stretch>
        </p:blipFill>
        <p:spPr>
          <a:xfrm>
            <a:off x="10610088" y="100584"/>
            <a:ext cx="566928" cy="347472"/>
          </a:xfrm>
          <a:prstGeom prst="rect">
            <a:avLst/>
          </a:prstGeom>
        </p:spPr>
      </p:pic>
      <p:pic>
        <p:nvPicPr>
          <p:cNvPr id="53" name="Picture 52" descr="image.png"/>
          <p:cNvPicPr>
            <a:picLocks noChangeAspect="1"/>
          </p:cNvPicPr>
          <p:nvPr/>
        </p:nvPicPr>
        <p:blipFill>
          <a:blip r:embed="rId4"/>
          <a:stretch>
            <a:fillRect/>
          </a:stretch>
        </p:blipFill>
        <p:spPr>
          <a:xfrm>
            <a:off x="11222736" y="100584"/>
            <a:ext cx="658368" cy="347472"/>
          </a:xfrm>
          <a:prstGeom prst="rect">
            <a:avLst/>
          </a:prstGeom>
        </p:spPr>
      </p:pic>
      <p:sp>
        <p:nvSpPr>
          <p:cNvPr id="54" name="Rectangle 53"/>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p:nvPr/>
        </p:nvSpPr>
        <p:spPr>
          <a:xfrm>
            <a:off x="274320" y="91440"/>
            <a:ext cx="10058400" cy="411480"/>
          </a:xfrm>
          <a:prstGeom prst="rect">
            <a:avLst/>
          </a:prstGeom>
          <a:noFill/>
          <a:ln/>
        </p:spPr>
        <p:txBody>
          <a:bodyPr wrap="square" rtlCol="0" anchor="ctr"/>
          <a:lstStyle/>
          <a:p>
            <a:pPr marL="0" indent="0">
              <a:buNone/>
            </a:pPr>
            <a:r>
              <a:rPr lang="en-US" sz="1300" b="1" dirty="0">
                <a:solidFill>
                  <a:srgbClr val="009FE3"/>
                </a:solidFill>
                <a:latin typeface="Arial" pitchFamily="34" charset="0"/>
                <a:ea typeface="Arial" pitchFamily="34" charset="-122"/>
                <a:cs typeface="Arial" pitchFamily="34" charset="-120"/>
              </a:rPr>
              <a:t>Reference</a:t>
            </a:r>
            <a:endParaRPr lang="en-US" sz="1300" dirty="0"/>
          </a:p>
        </p:txBody>
      </p:sp>
      <p:sp>
        <p:nvSpPr>
          <p:cNvPr id="4" name="Text 1"/>
          <p:cNvSpPr/>
          <p:nvPr/>
        </p:nvSpPr>
        <p:spPr>
          <a:xfrm>
            <a:off x="274320" y="475488"/>
            <a:ext cx="9875520" cy="438912"/>
          </a:xfrm>
          <a:prstGeom prst="rect">
            <a:avLst/>
          </a:prstGeom>
          <a:noFill/>
          <a:ln/>
        </p:spPr>
        <p:txBody>
          <a:bodyPr wrap="square" rtlCol="0" anchor="ctr"/>
          <a:lstStyle/>
          <a:p>
            <a:pPr marL="0" indent="0">
              <a:buNone/>
            </a:pPr>
            <a:r>
              <a:rPr lang="en-US" sz="2200" b="1" dirty="0">
                <a:solidFill>
                  <a:srgbClr val="1E3A5F"/>
                </a:solidFill>
                <a:latin typeface="Arial" pitchFamily="34" charset="0"/>
                <a:ea typeface="Arial" pitchFamily="34" charset="-122"/>
                <a:cs typeface="Arial" pitchFamily="34" charset="-120"/>
              </a:rPr>
              <a:t>VSM and the Nuclear Supply Chain: What Assessors Expect</a:t>
            </a:r>
            <a:endParaRPr lang="en-US" sz="2200" dirty="0"/>
          </a:p>
        </p:txBody>
      </p:sp>
      <p:sp>
        <p:nvSpPr>
          <p:cNvPr id="5" name="Shape 2"/>
          <p:cNvSpPr/>
          <p:nvPr/>
        </p:nvSpPr>
        <p:spPr>
          <a:xfrm>
            <a:off x="274320" y="896112"/>
            <a:ext cx="11612880" cy="36576"/>
          </a:xfrm>
          <a:prstGeom prst="rect">
            <a:avLst/>
          </a:prstGeom>
          <a:solidFill>
            <a:srgbClr val="009FE3"/>
          </a:solidFill>
          <a:ln/>
        </p:spPr>
        <p:txBody>
          <a:bodyPr/>
          <a:lstStyle/>
          <a:p>
            <a:endParaRPr lang="en-GB"/>
          </a:p>
        </p:txBody>
      </p:sp>
      <p:sp>
        <p:nvSpPr>
          <p:cNvPr id="7" name="Text 3"/>
          <p:cNvSpPr/>
          <p:nvPr/>
        </p:nvSpPr>
        <p:spPr>
          <a:xfrm>
            <a:off x="274320" y="987552"/>
            <a:ext cx="11612880" cy="402336"/>
          </a:xfrm>
          <a:prstGeom prst="rect">
            <a:avLst/>
          </a:prstGeom>
          <a:noFill/>
          <a:ln/>
        </p:spPr>
        <p:txBody>
          <a:bodyPr wrap="square" rtlCol="0" anchor="ctr"/>
          <a:lstStyle/>
          <a:p>
            <a:pPr marL="0" indent="0">
              <a:buNone/>
            </a:pPr>
            <a:r>
              <a:rPr lang="en-US" sz="1050" dirty="0">
                <a:solidFill>
                  <a:srgbClr val="5B595A"/>
                </a:solidFill>
                <a:latin typeface="Arial" pitchFamily="34" charset="0"/>
                <a:ea typeface="Arial" pitchFamily="34" charset="-122"/>
                <a:cs typeface="Arial" pitchFamily="34" charset="-120"/>
              </a:rPr>
              <a:t>The F4N Managing Value and Waste assessment question is asking a specific question: does this organisation have a structured, evidence-based approach to identifying and eliminating waste? A completed VSM exercise, with documentation, is the clearest possible answer.</a:t>
            </a:r>
            <a:endParaRPr lang="en-US" sz="1050" dirty="0"/>
          </a:p>
        </p:txBody>
      </p:sp>
      <p:sp>
        <p:nvSpPr>
          <p:cNvPr id="8" name="Shape 4"/>
          <p:cNvSpPr/>
          <p:nvPr/>
        </p:nvSpPr>
        <p:spPr>
          <a:xfrm>
            <a:off x="228600" y="1481328"/>
            <a:ext cx="3749040" cy="4023360"/>
          </a:xfrm>
          <a:prstGeom prst="rect">
            <a:avLst/>
          </a:prstGeom>
          <a:solidFill>
            <a:srgbClr val="FEE2E2"/>
          </a:solidFill>
          <a:ln w="12700">
            <a:solidFill>
              <a:srgbClr val="B91C1C"/>
            </a:solidFill>
            <a:prstDash val="solid"/>
          </a:ln>
        </p:spPr>
        <p:txBody>
          <a:bodyPr/>
          <a:lstStyle/>
          <a:p>
            <a:endParaRPr lang="en-GB"/>
          </a:p>
        </p:txBody>
      </p:sp>
      <p:sp>
        <p:nvSpPr>
          <p:cNvPr id="9" name="Shape 5"/>
          <p:cNvSpPr/>
          <p:nvPr/>
        </p:nvSpPr>
        <p:spPr>
          <a:xfrm>
            <a:off x="228600" y="1481328"/>
            <a:ext cx="3749040" cy="292608"/>
          </a:xfrm>
          <a:prstGeom prst="rect">
            <a:avLst/>
          </a:prstGeom>
          <a:solidFill>
            <a:srgbClr val="B91C1C"/>
          </a:solidFill>
          <a:ln/>
        </p:spPr>
        <p:txBody>
          <a:bodyPr/>
          <a:lstStyle/>
          <a:p>
            <a:endParaRPr lang="en-GB"/>
          </a:p>
        </p:txBody>
      </p:sp>
      <p:sp>
        <p:nvSpPr>
          <p:cNvPr id="10" name="Text 6"/>
          <p:cNvSpPr/>
          <p:nvPr/>
        </p:nvSpPr>
        <p:spPr>
          <a:xfrm>
            <a:off x="320040" y="1499616"/>
            <a:ext cx="3566160" cy="256032"/>
          </a:xfrm>
          <a:prstGeom prst="rect">
            <a:avLst/>
          </a:prstGeom>
          <a:noFill/>
          <a:ln/>
        </p:spPr>
        <p:txBody>
          <a:bodyPr wrap="square" rtlCol="0" anchor="ctr"/>
          <a:lstStyle/>
          <a:p>
            <a:pPr marL="0" indent="0">
              <a:buNone/>
            </a:pPr>
            <a:r>
              <a:rPr lang="en-US" sz="1050" b="1" dirty="0">
                <a:solidFill>
                  <a:srgbClr val="FFFFFF"/>
                </a:solidFill>
                <a:latin typeface="Arial" pitchFamily="34" charset="0"/>
                <a:ea typeface="Arial" pitchFamily="34" charset="-122"/>
                <a:cs typeface="Arial" pitchFamily="34" charset="-120"/>
              </a:rPr>
              <a:t>What assessors look for</a:t>
            </a:r>
            <a:endParaRPr lang="en-US" sz="1050" dirty="0"/>
          </a:p>
        </p:txBody>
      </p:sp>
      <p:sp>
        <p:nvSpPr>
          <p:cNvPr id="11" name="Text 7"/>
          <p:cNvSpPr/>
          <p:nvPr/>
        </p:nvSpPr>
        <p:spPr>
          <a:xfrm>
            <a:off x="320040" y="1828800"/>
            <a:ext cx="3566160" cy="3621024"/>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A current state map that shows the process as it actually operates, not an idealised version. Evidence that the team walked the process and gathered real data. Kaizen bursts that correspond to real, identified problems. A future state map that is realistic and achievable. An action plan where every item has an owner, a target, and a date. CSIP project entries that trace back to the VSM exercise.</a:t>
            </a:r>
            <a:endParaRPr lang="en-US" sz="1000" dirty="0"/>
          </a:p>
        </p:txBody>
      </p:sp>
      <p:sp>
        <p:nvSpPr>
          <p:cNvPr id="12" name="Shape 8"/>
          <p:cNvSpPr/>
          <p:nvPr/>
        </p:nvSpPr>
        <p:spPr>
          <a:xfrm>
            <a:off x="4142232" y="1481328"/>
            <a:ext cx="3749040" cy="4023360"/>
          </a:xfrm>
          <a:prstGeom prst="rect">
            <a:avLst/>
          </a:prstGeom>
          <a:solidFill>
            <a:srgbClr val="FEF3C7"/>
          </a:solidFill>
          <a:ln w="12700">
            <a:solidFill>
              <a:srgbClr val="D97706"/>
            </a:solidFill>
            <a:prstDash val="solid"/>
          </a:ln>
        </p:spPr>
        <p:txBody>
          <a:bodyPr/>
          <a:lstStyle/>
          <a:p>
            <a:endParaRPr lang="en-GB"/>
          </a:p>
        </p:txBody>
      </p:sp>
      <p:sp>
        <p:nvSpPr>
          <p:cNvPr id="13" name="Shape 9"/>
          <p:cNvSpPr/>
          <p:nvPr/>
        </p:nvSpPr>
        <p:spPr>
          <a:xfrm>
            <a:off x="4142232" y="1481328"/>
            <a:ext cx="3749040" cy="292608"/>
          </a:xfrm>
          <a:prstGeom prst="rect">
            <a:avLst/>
          </a:prstGeom>
          <a:solidFill>
            <a:srgbClr val="D97706"/>
          </a:solidFill>
          <a:ln/>
        </p:spPr>
        <p:txBody>
          <a:bodyPr/>
          <a:lstStyle/>
          <a:p>
            <a:endParaRPr lang="en-GB"/>
          </a:p>
        </p:txBody>
      </p:sp>
      <p:sp>
        <p:nvSpPr>
          <p:cNvPr id="14" name="Text 10"/>
          <p:cNvSpPr/>
          <p:nvPr/>
        </p:nvSpPr>
        <p:spPr>
          <a:xfrm>
            <a:off x="4233672" y="1499616"/>
            <a:ext cx="3566160" cy="256032"/>
          </a:xfrm>
          <a:prstGeom prst="rect">
            <a:avLst/>
          </a:prstGeom>
          <a:noFill/>
          <a:ln/>
        </p:spPr>
        <p:txBody>
          <a:bodyPr wrap="square" rtlCol="0" anchor="ctr"/>
          <a:lstStyle/>
          <a:p>
            <a:pPr marL="0" indent="0">
              <a:buNone/>
            </a:pPr>
            <a:r>
              <a:rPr lang="en-US" sz="1050" b="1" dirty="0">
                <a:solidFill>
                  <a:srgbClr val="FFFFFF"/>
                </a:solidFill>
                <a:latin typeface="Arial" pitchFamily="34" charset="0"/>
                <a:ea typeface="Arial" pitchFamily="34" charset="-122"/>
                <a:cs typeface="Arial" pitchFamily="34" charset="-120"/>
              </a:rPr>
              <a:t>What impresses a nuclear customer</a:t>
            </a:r>
            <a:endParaRPr lang="en-US" sz="1050" dirty="0"/>
          </a:p>
        </p:txBody>
      </p:sp>
      <p:sp>
        <p:nvSpPr>
          <p:cNvPr id="15" name="Text 11"/>
          <p:cNvSpPr/>
          <p:nvPr/>
        </p:nvSpPr>
        <p:spPr>
          <a:xfrm>
            <a:off x="4233672" y="1828800"/>
            <a:ext cx="3566160" cy="3621024"/>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A VSM exercise conducted as a team, including shop floor operators, not just management. Quantified waste: not just "we found some waiting" but "the inspection queue creates 5.2 days of lead time at a cost of £4,200 per month in missed OTIF penalties." A before-and-after comparison showing measurable improvement. Evidence that the VSM is repeated, that it is a regular management tool, not a one-off exercise.</a:t>
            </a:r>
            <a:endParaRPr lang="en-US" sz="1000" dirty="0"/>
          </a:p>
        </p:txBody>
      </p:sp>
      <p:sp>
        <p:nvSpPr>
          <p:cNvPr id="16" name="Shape 12"/>
          <p:cNvSpPr/>
          <p:nvPr/>
        </p:nvSpPr>
        <p:spPr>
          <a:xfrm>
            <a:off x="8055864" y="1481328"/>
            <a:ext cx="3749040" cy="4023360"/>
          </a:xfrm>
          <a:prstGeom prst="rect">
            <a:avLst/>
          </a:prstGeom>
          <a:solidFill>
            <a:srgbClr val="EAF4EE"/>
          </a:solidFill>
          <a:ln w="12700">
            <a:solidFill>
              <a:srgbClr val="217346"/>
            </a:solidFill>
            <a:prstDash val="solid"/>
          </a:ln>
        </p:spPr>
        <p:txBody>
          <a:bodyPr/>
          <a:lstStyle/>
          <a:p>
            <a:endParaRPr lang="en-GB"/>
          </a:p>
        </p:txBody>
      </p:sp>
      <p:sp>
        <p:nvSpPr>
          <p:cNvPr id="17" name="Shape 13"/>
          <p:cNvSpPr/>
          <p:nvPr/>
        </p:nvSpPr>
        <p:spPr>
          <a:xfrm>
            <a:off x="8055864" y="1481328"/>
            <a:ext cx="3749040" cy="292608"/>
          </a:xfrm>
          <a:prstGeom prst="rect">
            <a:avLst/>
          </a:prstGeom>
          <a:solidFill>
            <a:srgbClr val="217346"/>
          </a:solidFill>
          <a:ln/>
        </p:spPr>
        <p:txBody>
          <a:bodyPr/>
          <a:lstStyle/>
          <a:p>
            <a:endParaRPr lang="en-GB"/>
          </a:p>
        </p:txBody>
      </p:sp>
      <p:sp>
        <p:nvSpPr>
          <p:cNvPr id="18" name="Text 14"/>
          <p:cNvSpPr/>
          <p:nvPr/>
        </p:nvSpPr>
        <p:spPr>
          <a:xfrm>
            <a:off x="8147304" y="1499616"/>
            <a:ext cx="3566160" cy="256032"/>
          </a:xfrm>
          <a:prstGeom prst="rect">
            <a:avLst/>
          </a:prstGeom>
          <a:noFill/>
          <a:ln/>
        </p:spPr>
        <p:txBody>
          <a:bodyPr wrap="square" rtlCol="0" anchor="ctr"/>
          <a:lstStyle/>
          <a:p>
            <a:pPr marL="0" indent="0">
              <a:buNone/>
            </a:pPr>
            <a:r>
              <a:rPr lang="en-US" sz="1050" b="1" dirty="0">
                <a:solidFill>
                  <a:srgbClr val="FFFFFF"/>
                </a:solidFill>
                <a:latin typeface="Arial" pitchFamily="34" charset="0"/>
                <a:ea typeface="Arial" pitchFamily="34" charset="-122"/>
                <a:cs typeface="Arial" pitchFamily="34" charset="-120"/>
              </a:rPr>
              <a:t>What disqualifies an application</a:t>
            </a:r>
            <a:endParaRPr lang="en-US" sz="1050" dirty="0"/>
          </a:p>
        </p:txBody>
      </p:sp>
      <p:sp>
        <p:nvSpPr>
          <p:cNvPr id="19" name="Text 15"/>
          <p:cNvSpPr/>
          <p:nvPr/>
        </p:nvSpPr>
        <p:spPr>
          <a:xfrm>
            <a:off x="8147304" y="1828800"/>
            <a:ext cx="3566160" cy="3621024"/>
          </a:xfrm>
          <a:prstGeom prst="rect">
            <a:avLst/>
          </a:prstGeom>
          <a:noFill/>
          <a:ln/>
        </p:spPr>
        <p:txBody>
          <a:bodyPr wrap="square" rtlCol="0" anchor="t"/>
          <a:lstStyle/>
          <a:p>
            <a:pPr marL="0" indent="0">
              <a:buNone/>
            </a:pPr>
            <a:r>
              <a:rPr lang="en-US" sz="1000" dirty="0">
                <a:solidFill>
                  <a:srgbClr val="5B595A"/>
                </a:solidFill>
                <a:latin typeface="Arial" pitchFamily="34" charset="0"/>
                <a:ea typeface="Arial" pitchFamily="34" charset="-122"/>
                <a:cs typeface="Arial" pitchFamily="34" charset="-120"/>
              </a:rPr>
              <a:t>A VSM that was clearly drawn at a desk rather than walked. Process efficiency figures that are unrealistically high, if a company claims 30% process efficiency with no prior lean history, the assessor will investigate. Kaizen bursts with no corresponding actions. Action plans with items marked "complete" that show no measurable outcome. Maps that are months old with no evidence of any follow-up activity.</a:t>
            </a:r>
            <a:endParaRPr lang="en-US" sz="1000" dirty="0"/>
          </a:p>
        </p:txBody>
      </p:sp>
      <p:sp>
        <p:nvSpPr>
          <p:cNvPr id="20" name="Shape 16"/>
          <p:cNvSpPr/>
          <p:nvPr/>
        </p:nvSpPr>
        <p:spPr>
          <a:xfrm>
            <a:off x="228600" y="5596128"/>
            <a:ext cx="11750040" cy="749808"/>
          </a:xfrm>
          <a:prstGeom prst="rect">
            <a:avLst/>
          </a:prstGeom>
          <a:solidFill>
            <a:srgbClr val="E0F4FD"/>
          </a:solidFill>
          <a:ln w="10160">
            <a:solidFill>
              <a:srgbClr val="009FE3"/>
            </a:solidFill>
            <a:prstDash val="solid"/>
          </a:ln>
        </p:spPr>
        <p:txBody>
          <a:bodyPr/>
          <a:lstStyle/>
          <a:p>
            <a:endParaRPr lang="en-GB"/>
          </a:p>
        </p:txBody>
      </p:sp>
      <p:sp>
        <p:nvSpPr>
          <p:cNvPr id="21" name="Shape 17"/>
          <p:cNvSpPr/>
          <p:nvPr/>
        </p:nvSpPr>
        <p:spPr>
          <a:xfrm>
            <a:off x="228600" y="5596128"/>
            <a:ext cx="11750040" cy="274320"/>
          </a:xfrm>
          <a:prstGeom prst="rect">
            <a:avLst/>
          </a:prstGeom>
          <a:solidFill>
            <a:srgbClr val="009FE3"/>
          </a:solidFill>
          <a:ln/>
        </p:spPr>
        <p:txBody>
          <a:bodyPr/>
          <a:lstStyle/>
          <a:p>
            <a:endParaRPr lang="en-GB"/>
          </a:p>
        </p:txBody>
      </p:sp>
      <p:sp>
        <p:nvSpPr>
          <p:cNvPr id="22" name="Text 18"/>
          <p:cNvSpPr/>
          <p:nvPr/>
        </p:nvSpPr>
        <p:spPr>
          <a:xfrm>
            <a:off x="320040" y="5614416"/>
            <a:ext cx="11567160" cy="23774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REMEMBER: EVIDENCE MATTERS MORE THAN PERFECTION</a:t>
            </a:r>
            <a:endParaRPr lang="en-US" sz="1000" dirty="0"/>
          </a:p>
        </p:txBody>
      </p:sp>
      <p:sp>
        <p:nvSpPr>
          <p:cNvPr id="23" name="Text 19"/>
          <p:cNvSpPr/>
          <p:nvPr/>
        </p:nvSpPr>
        <p:spPr>
          <a:xfrm>
            <a:off x="320040" y="5907024"/>
            <a:ext cx="11567160" cy="402336"/>
          </a:xfrm>
          <a:prstGeom prst="rect">
            <a:avLst/>
          </a:prstGeom>
          <a:noFill/>
          <a:ln/>
        </p:spPr>
        <p:txBody>
          <a:bodyPr wrap="square" rtlCol="0" anchor="ctr"/>
          <a:lstStyle/>
          <a:p>
            <a:pPr marL="0" indent="0">
              <a:buNone/>
            </a:pPr>
            <a:r>
              <a:rPr lang="en-US" sz="1000" dirty="0">
                <a:solidFill>
                  <a:srgbClr val="1E3A5F"/>
                </a:solidFill>
                <a:latin typeface="Arial" pitchFamily="34" charset="0"/>
                <a:ea typeface="Arial" pitchFamily="34" charset="-122"/>
                <a:cs typeface="Arial" pitchFamily="34" charset="-120"/>
              </a:rPr>
              <a:t>A company that can show a current state map with 2% process efficiency, a future state map with a 6% target, and a CSIP with five active improvement projects will score better in a nuclear assessment than a company that claims to have already eliminated all waste but cannot produce any evidence. Structured honesty, backed by data and action, is exactly what nuclear customers are looking for.</a:t>
            </a:r>
            <a:endParaRPr lang="en-US" sz="1000" dirty="0"/>
          </a:p>
        </p:txBody>
      </p:sp>
      <p:sp>
        <p:nvSpPr>
          <p:cNvPr id="24" name="Rectangle 23"/>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5"/>
          <a:stretch>
            <a:fillRect/>
          </a:stretch>
        </p:blipFill>
        <p:spPr>
          <a:xfrm>
            <a:off x="10610088" y="100584"/>
            <a:ext cx="566928" cy="347472"/>
          </a:xfrm>
          <a:prstGeom prst="rect">
            <a:avLst/>
          </a:prstGeom>
        </p:spPr>
      </p:pic>
      <p:pic>
        <p:nvPicPr>
          <p:cNvPr id="26" name="Picture 25" descr="image.png"/>
          <p:cNvPicPr>
            <a:picLocks noChangeAspect="1"/>
          </p:cNvPicPr>
          <p:nvPr/>
        </p:nvPicPr>
        <p:blipFill>
          <a:blip r:embed="rId4"/>
          <a:stretch>
            <a:fillRect/>
          </a:stretch>
        </p:blipFill>
        <p:spPr>
          <a:xfrm>
            <a:off x="11222736" y="100584"/>
            <a:ext cx="658368" cy="347472"/>
          </a:xfrm>
          <a:prstGeom prst="rect">
            <a:avLst/>
          </a:prstGeom>
        </p:spPr>
      </p:pic>
      <p:sp>
        <p:nvSpPr>
          <p:cNvPr id="27" name="Rectangle 26"/>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29364E9-598E-47DC-AEB7-65ED28616006}"/>
</file>

<file path=customXml/itemProps2.xml><?xml version="1.0" encoding="utf-8"?>
<ds:datastoreItem xmlns:ds="http://schemas.openxmlformats.org/officeDocument/2006/customXml" ds:itemID="{9A3C316A-89DE-4D9B-8ACF-84642A450AB8}"/>
</file>

<file path=customXml/itemProps3.xml><?xml version="1.0" encoding="utf-8"?>
<ds:datastoreItem xmlns:ds="http://schemas.openxmlformats.org/officeDocument/2006/customXml" ds:itemID="{1AA38987-94D8-47AD-B9A6-7F2954E14959}"/>
</file>

<file path=docProps/app.xml><?xml version="1.0" encoding="utf-8"?>
<Properties xmlns="http://schemas.openxmlformats.org/officeDocument/2006/extended-properties" xmlns:vt="http://schemas.openxmlformats.org/officeDocument/2006/docPropsVTypes">
  <TotalTime>0</TotalTime>
  <Words>7499</Words>
  <Application>Microsoft Office PowerPoint</Application>
  <PresentationFormat>Widescreen</PresentationFormat>
  <Paragraphs>903</Paragraphs>
  <Slides>23</Slides>
  <Notes>23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23</vt:i4>
      </vt:variant>
    </vt:vector>
  </HeadingPairs>
  <TitlesOfParts>
    <vt:vector size="2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PE-02e How to Complete a Value Stream Map</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