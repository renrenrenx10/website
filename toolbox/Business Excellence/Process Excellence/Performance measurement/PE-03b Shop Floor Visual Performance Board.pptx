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media/image-1-1.jpg" ContentType="image/jpg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media/image-2-1.jpg" ContentType="image/jpg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5119604" cy="10692079"/>
  <p:notesSz cx="10692079" cy="15119604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openxmlformats.org/officeDocument/2006/relationships/customXml" Target="../customXml/item3.xml"/><Relationship Id="rId5" Type="http://schemas.openxmlformats.org/officeDocument/2006/relationships/presProps" Target="presProps.xml"/><Relationship Id="rId10" Type="http://schemas.openxmlformats.org/officeDocument/2006/relationships/customXml" Target="../customXml/item2.xml"/><Relationship Id="rId4" Type="http://schemas.openxmlformats.org/officeDocument/2006/relationships/notesMaster" Target="notesMasters/notesMaster1.xml"/><Relationship Id="rId9" Type="http://schemas.openxmlformats.org/officeDocument/2006/relationships/customXml" Target="../customXml/item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119604" cy="10692079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5119604" cy="502920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" y="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SQDCP PERFORMANCE BOARD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498080" y="0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CCE9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[Company Name]  |  [Cell / Area Name]  |  Month: ___________  |  Owner: ___________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91440" y="548640"/>
            <a:ext cx="2950769" cy="32004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8" name="Text 5"/>
          <p:cNvSpPr/>
          <p:nvPr/>
        </p:nvSpPr>
        <p:spPr>
          <a:xfrm>
            <a:off x="91440" y="548640"/>
            <a:ext cx="295076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S: SAFETY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91440" y="886968"/>
            <a:ext cx="2950769" cy="3612136"/>
          </a:xfrm>
          <a:prstGeom prst="rect">
            <a:avLst/>
          </a:prstGeom>
          <a:solidFill>
            <a:srgbClr val="F2F2F2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" y="886968"/>
            <a:ext cx="2950769" cy="292608"/>
          </a:xfrm>
          <a:prstGeom prst="rect">
            <a:avLst/>
          </a:prstGeom>
          <a:solidFill>
            <a:srgbClr val="C000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128016" y="1234440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8016" y="1234440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50" dirty="0"/>
          </a:p>
        </p:txBody>
      </p:sp>
      <p:sp>
        <p:nvSpPr>
          <p:cNvPr id="13" name="Shape 10"/>
          <p:cNvSpPr/>
          <p:nvPr/>
        </p:nvSpPr>
        <p:spPr>
          <a:xfrm>
            <a:off x="847420" y="1234440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47420" y="1234440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50" dirty="0"/>
          </a:p>
        </p:txBody>
      </p:sp>
      <p:sp>
        <p:nvSpPr>
          <p:cNvPr id="15" name="Shape 12"/>
          <p:cNvSpPr/>
          <p:nvPr/>
        </p:nvSpPr>
        <p:spPr>
          <a:xfrm>
            <a:off x="1566824" y="1234440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566824" y="1234440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50" dirty="0"/>
          </a:p>
        </p:txBody>
      </p:sp>
      <p:sp>
        <p:nvSpPr>
          <p:cNvPr id="17" name="Shape 14"/>
          <p:cNvSpPr/>
          <p:nvPr/>
        </p:nvSpPr>
        <p:spPr>
          <a:xfrm>
            <a:off x="2286229" y="1234440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286229" y="1234440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50" dirty="0"/>
          </a:p>
        </p:txBody>
      </p:sp>
      <p:sp>
        <p:nvSpPr>
          <p:cNvPr id="19" name="Shape 16"/>
          <p:cNvSpPr/>
          <p:nvPr/>
        </p:nvSpPr>
        <p:spPr>
          <a:xfrm>
            <a:off x="128016" y="1637951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28016" y="1637951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550" dirty="0"/>
          </a:p>
        </p:txBody>
      </p:sp>
      <p:sp>
        <p:nvSpPr>
          <p:cNvPr id="21" name="Shape 18"/>
          <p:cNvSpPr/>
          <p:nvPr/>
        </p:nvSpPr>
        <p:spPr>
          <a:xfrm>
            <a:off x="847420" y="1637951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47420" y="1637951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550" dirty="0"/>
          </a:p>
        </p:txBody>
      </p:sp>
      <p:sp>
        <p:nvSpPr>
          <p:cNvPr id="23" name="Shape 20"/>
          <p:cNvSpPr/>
          <p:nvPr/>
        </p:nvSpPr>
        <p:spPr>
          <a:xfrm>
            <a:off x="1566824" y="1637951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566824" y="1637951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550" dirty="0"/>
          </a:p>
        </p:txBody>
      </p:sp>
      <p:sp>
        <p:nvSpPr>
          <p:cNvPr id="25" name="Shape 22"/>
          <p:cNvSpPr/>
          <p:nvPr/>
        </p:nvSpPr>
        <p:spPr>
          <a:xfrm>
            <a:off x="2286229" y="1637951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286229" y="1637951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550" dirty="0"/>
          </a:p>
        </p:txBody>
      </p:sp>
      <p:sp>
        <p:nvSpPr>
          <p:cNvPr id="27" name="Shape 24"/>
          <p:cNvSpPr/>
          <p:nvPr/>
        </p:nvSpPr>
        <p:spPr>
          <a:xfrm>
            <a:off x="128016" y="2041462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28016" y="2041462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550" dirty="0"/>
          </a:p>
        </p:txBody>
      </p:sp>
      <p:sp>
        <p:nvSpPr>
          <p:cNvPr id="29" name="Shape 26"/>
          <p:cNvSpPr/>
          <p:nvPr/>
        </p:nvSpPr>
        <p:spPr>
          <a:xfrm>
            <a:off x="847420" y="2041462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47420" y="2041462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550" dirty="0"/>
          </a:p>
        </p:txBody>
      </p:sp>
      <p:sp>
        <p:nvSpPr>
          <p:cNvPr id="31" name="Shape 28"/>
          <p:cNvSpPr/>
          <p:nvPr/>
        </p:nvSpPr>
        <p:spPr>
          <a:xfrm>
            <a:off x="1566824" y="2041462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566824" y="2041462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550" dirty="0"/>
          </a:p>
        </p:txBody>
      </p:sp>
      <p:sp>
        <p:nvSpPr>
          <p:cNvPr id="33" name="Shape 30"/>
          <p:cNvSpPr/>
          <p:nvPr/>
        </p:nvSpPr>
        <p:spPr>
          <a:xfrm>
            <a:off x="2286229" y="2041462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286229" y="2041462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550" dirty="0"/>
          </a:p>
        </p:txBody>
      </p:sp>
      <p:sp>
        <p:nvSpPr>
          <p:cNvPr id="35" name="Shape 32"/>
          <p:cNvSpPr/>
          <p:nvPr/>
        </p:nvSpPr>
        <p:spPr>
          <a:xfrm>
            <a:off x="128016" y="2444973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28016" y="2444973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550" dirty="0"/>
          </a:p>
        </p:txBody>
      </p:sp>
      <p:sp>
        <p:nvSpPr>
          <p:cNvPr id="37" name="Shape 34"/>
          <p:cNvSpPr/>
          <p:nvPr/>
        </p:nvSpPr>
        <p:spPr>
          <a:xfrm>
            <a:off x="847420" y="2444973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47420" y="2444973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550" dirty="0"/>
          </a:p>
        </p:txBody>
      </p:sp>
      <p:sp>
        <p:nvSpPr>
          <p:cNvPr id="39" name="Shape 36"/>
          <p:cNvSpPr/>
          <p:nvPr/>
        </p:nvSpPr>
        <p:spPr>
          <a:xfrm>
            <a:off x="1566824" y="2444973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566824" y="2444973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550" dirty="0"/>
          </a:p>
        </p:txBody>
      </p:sp>
      <p:sp>
        <p:nvSpPr>
          <p:cNvPr id="41" name="Shape 38"/>
          <p:cNvSpPr/>
          <p:nvPr/>
        </p:nvSpPr>
        <p:spPr>
          <a:xfrm>
            <a:off x="2286229" y="2444973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2286229" y="2444973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550" dirty="0"/>
          </a:p>
        </p:txBody>
      </p:sp>
      <p:sp>
        <p:nvSpPr>
          <p:cNvPr id="43" name="Shape 40"/>
          <p:cNvSpPr/>
          <p:nvPr/>
        </p:nvSpPr>
        <p:spPr>
          <a:xfrm>
            <a:off x="128016" y="2848484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28016" y="2848484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550" dirty="0"/>
          </a:p>
        </p:txBody>
      </p:sp>
      <p:sp>
        <p:nvSpPr>
          <p:cNvPr id="45" name="Shape 42"/>
          <p:cNvSpPr/>
          <p:nvPr/>
        </p:nvSpPr>
        <p:spPr>
          <a:xfrm>
            <a:off x="847420" y="2848484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847420" y="2848484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550" dirty="0"/>
          </a:p>
        </p:txBody>
      </p:sp>
      <p:sp>
        <p:nvSpPr>
          <p:cNvPr id="47" name="Shape 44"/>
          <p:cNvSpPr/>
          <p:nvPr/>
        </p:nvSpPr>
        <p:spPr>
          <a:xfrm>
            <a:off x="1566824" y="2848484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566824" y="2848484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550" dirty="0"/>
          </a:p>
        </p:txBody>
      </p:sp>
      <p:sp>
        <p:nvSpPr>
          <p:cNvPr id="49" name="Shape 46"/>
          <p:cNvSpPr/>
          <p:nvPr/>
        </p:nvSpPr>
        <p:spPr>
          <a:xfrm>
            <a:off x="2286229" y="2848484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2286229" y="2848484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550" dirty="0"/>
          </a:p>
        </p:txBody>
      </p:sp>
      <p:sp>
        <p:nvSpPr>
          <p:cNvPr id="51" name="Shape 48"/>
          <p:cNvSpPr/>
          <p:nvPr/>
        </p:nvSpPr>
        <p:spPr>
          <a:xfrm>
            <a:off x="128016" y="3251995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128016" y="3251995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550" dirty="0"/>
          </a:p>
        </p:txBody>
      </p:sp>
      <p:sp>
        <p:nvSpPr>
          <p:cNvPr id="53" name="Shape 50"/>
          <p:cNvSpPr/>
          <p:nvPr/>
        </p:nvSpPr>
        <p:spPr>
          <a:xfrm>
            <a:off x="847420" y="3251995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847420" y="3251995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550" dirty="0"/>
          </a:p>
        </p:txBody>
      </p:sp>
      <p:sp>
        <p:nvSpPr>
          <p:cNvPr id="55" name="Shape 52"/>
          <p:cNvSpPr/>
          <p:nvPr/>
        </p:nvSpPr>
        <p:spPr>
          <a:xfrm>
            <a:off x="1566824" y="3251995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1566824" y="3251995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550" dirty="0"/>
          </a:p>
        </p:txBody>
      </p:sp>
      <p:sp>
        <p:nvSpPr>
          <p:cNvPr id="57" name="Shape 54"/>
          <p:cNvSpPr/>
          <p:nvPr/>
        </p:nvSpPr>
        <p:spPr>
          <a:xfrm>
            <a:off x="2286229" y="3251995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2286229" y="3251995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550" dirty="0"/>
          </a:p>
        </p:txBody>
      </p:sp>
      <p:sp>
        <p:nvSpPr>
          <p:cNvPr id="59" name="Shape 56"/>
          <p:cNvSpPr/>
          <p:nvPr/>
        </p:nvSpPr>
        <p:spPr>
          <a:xfrm>
            <a:off x="128016" y="3655506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128016" y="3655506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550" dirty="0"/>
          </a:p>
        </p:txBody>
      </p:sp>
      <p:sp>
        <p:nvSpPr>
          <p:cNvPr id="61" name="Shape 58"/>
          <p:cNvSpPr/>
          <p:nvPr/>
        </p:nvSpPr>
        <p:spPr>
          <a:xfrm>
            <a:off x="847420" y="3655506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847420" y="3655506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550" dirty="0"/>
          </a:p>
        </p:txBody>
      </p:sp>
      <p:sp>
        <p:nvSpPr>
          <p:cNvPr id="63" name="Shape 60"/>
          <p:cNvSpPr/>
          <p:nvPr/>
        </p:nvSpPr>
        <p:spPr>
          <a:xfrm>
            <a:off x="1566824" y="3655506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1566824" y="3655506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550" dirty="0"/>
          </a:p>
        </p:txBody>
      </p:sp>
      <p:sp>
        <p:nvSpPr>
          <p:cNvPr id="65" name="Shape 62"/>
          <p:cNvSpPr/>
          <p:nvPr/>
        </p:nvSpPr>
        <p:spPr>
          <a:xfrm>
            <a:off x="2286229" y="3655506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2286229" y="3655506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550" dirty="0"/>
          </a:p>
        </p:txBody>
      </p:sp>
      <p:sp>
        <p:nvSpPr>
          <p:cNvPr id="67" name="Shape 64"/>
          <p:cNvSpPr/>
          <p:nvPr/>
        </p:nvSpPr>
        <p:spPr>
          <a:xfrm>
            <a:off x="128016" y="4059017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128016" y="4059017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550" dirty="0"/>
          </a:p>
        </p:txBody>
      </p:sp>
      <p:sp>
        <p:nvSpPr>
          <p:cNvPr id="69" name="Shape 66"/>
          <p:cNvSpPr/>
          <p:nvPr/>
        </p:nvSpPr>
        <p:spPr>
          <a:xfrm>
            <a:off x="847420" y="4059017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847420" y="4059017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550" dirty="0"/>
          </a:p>
        </p:txBody>
      </p:sp>
      <p:sp>
        <p:nvSpPr>
          <p:cNvPr id="71" name="Shape 68"/>
          <p:cNvSpPr/>
          <p:nvPr/>
        </p:nvSpPr>
        <p:spPr>
          <a:xfrm>
            <a:off x="1566824" y="4059017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1566824" y="4059017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550" dirty="0"/>
          </a:p>
        </p:txBody>
      </p:sp>
      <p:sp>
        <p:nvSpPr>
          <p:cNvPr id="73" name="Shape 70"/>
          <p:cNvSpPr/>
          <p:nvPr/>
        </p:nvSpPr>
        <p:spPr>
          <a:xfrm>
            <a:off x="128016" y="4261360"/>
            <a:ext cx="146304" cy="128016"/>
          </a:xfrm>
          <a:prstGeom prst="rect">
            <a:avLst/>
          </a:prstGeom>
          <a:solidFill>
            <a:srgbClr val="217346"/>
          </a:solidFill>
          <a:ln/>
        </p:spPr>
      </p:sp>
      <p:sp>
        <p:nvSpPr>
          <p:cNvPr id="74" name="Text 71"/>
          <p:cNvSpPr/>
          <p:nvPr/>
        </p:nvSpPr>
        <p:spPr>
          <a:xfrm>
            <a:off x="292608" y="4261360"/>
            <a:ext cx="5486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issues</a:t>
            </a:r>
            <a:endParaRPr lang="en-US" sz="450" dirty="0"/>
          </a:p>
        </p:txBody>
      </p:sp>
      <p:sp>
        <p:nvSpPr>
          <p:cNvPr id="75" name="Shape 72"/>
          <p:cNvSpPr/>
          <p:nvPr/>
        </p:nvSpPr>
        <p:spPr>
          <a:xfrm>
            <a:off x="847716" y="4261360"/>
            <a:ext cx="146304" cy="12801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6" name="Text 73"/>
          <p:cNvSpPr/>
          <p:nvPr/>
        </p:nvSpPr>
        <p:spPr>
          <a:xfrm>
            <a:off x="1012308" y="4261360"/>
            <a:ext cx="5486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 miss</a:t>
            </a:r>
            <a:endParaRPr lang="en-US" sz="450" dirty="0"/>
          </a:p>
        </p:txBody>
      </p:sp>
      <p:sp>
        <p:nvSpPr>
          <p:cNvPr id="77" name="Shape 74"/>
          <p:cNvSpPr/>
          <p:nvPr/>
        </p:nvSpPr>
        <p:spPr>
          <a:xfrm>
            <a:off x="1567415" y="4261360"/>
            <a:ext cx="146304" cy="128016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78" name="Text 75"/>
          <p:cNvSpPr/>
          <p:nvPr/>
        </p:nvSpPr>
        <p:spPr>
          <a:xfrm>
            <a:off x="1732007" y="4261360"/>
            <a:ext cx="5486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</a:t>
            </a:r>
            <a:endParaRPr lang="en-US" sz="450" dirty="0"/>
          </a:p>
        </p:txBody>
      </p:sp>
      <p:sp>
        <p:nvSpPr>
          <p:cNvPr id="79" name="Shape 76"/>
          <p:cNvSpPr/>
          <p:nvPr/>
        </p:nvSpPr>
        <p:spPr>
          <a:xfrm>
            <a:off x="2287115" y="4261360"/>
            <a:ext cx="146304" cy="128016"/>
          </a:xfrm>
          <a:prstGeom prst="rect">
            <a:avLst/>
          </a:prstGeom>
          <a:solidFill>
            <a:srgbClr val="AAAAAA"/>
          </a:solidFill>
          <a:ln/>
        </p:spPr>
      </p:sp>
      <p:sp>
        <p:nvSpPr>
          <p:cNvPr id="80" name="Text 77"/>
          <p:cNvSpPr/>
          <p:nvPr/>
        </p:nvSpPr>
        <p:spPr>
          <a:xfrm>
            <a:off x="2451707" y="4261360"/>
            <a:ext cx="5486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Weekend</a:t>
            </a:r>
            <a:endParaRPr lang="en-US" sz="450" dirty="0"/>
          </a:p>
        </p:txBody>
      </p:sp>
      <p:sp>
        <p:nvSpPr>
          <p:cNvPr id="81" name="Shape 78"/>
          <p:cNvSpPr/>
          <p:nvPr/>
        </p:nvSpPr>
        <p:spPr>
          <a:xfrm>
            <a:off x="91440" y="4535680"/>
            <a:ext cx="2950769" cy="3210788"/>
          </a:xfrm>
          <a:prstGeom prst="rect">
            <a:avLst/>
          </a:prstGeom>
          <a:solidFill>
            <a:srgbClr val="FFFFFF"/>
          </a:solidFill>
          <a:ln w="15240">
            <a:solidFill>
              <a:srgbClr val="C00000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91440" y="4535680"/>
            <a:ext cx="2950769" cy="274320"/>
          </a:xfrm>
          <a:prstGeom prst="rect">
            <a:avLst/>
          </a:prstGeom>
          <a:solidFill>
            <a:srgbClr val="C000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INCIDENTS</a:t>
            </a:r>
            <a:endParaRPr lang="en-US" sz="750" dirty="0"/>
          </a:p>
        </p:txBody>
      </p:sp>
      <p:sp>
        <p:nvSpPr>
          <p:cNvPr id="83" name="Shape 80"/>
          <p:cNvSpPr/>
          <p:nvPr/>
        </p:nvSpPr>
        <p:spPr>
          <a:xfrm>
            <a:off x="347472" y="4828288"/>
            <a:ext cx="2658161" cy="0"/>
          </a:xfrm>
          <a:prstGeom prst="line">
            <a:avLst/>
          </a:prstGeom>
          <a:noFill/>
          <a:ln w="3810">
            <a:solidFill>
              <a:srgbClr val="DDDDDD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347472" y="5158770"/>
            <a:ext cx="2658161" cy="0"/>
          </a:xfrm>
          <a:prstGeom prst="line">
            <a:avLst/>
          </a:prstGeom>
          <a:noFill/>
          <a:ln w="3810">
            <a:solidFill>
              <a:srgbClr val="DDDDDD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347472" y="5489253"/>
            <a:ext cx="2658161" cy="0"/>
          </a:xfrm>
          <a:prstGeom prst="line">
            <a:avLst/>
          </a:prstGeom>
          <a:noFill/>
          <a:ln w="3810">
            <a:solidFill>
              <a:srgbClr val="DDDDDD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347472" y="5819735"/>
            <a:ext cx="2658161" cy="0"/>
          </a:xfrm>
          <a:prstGeom prst="line">
            <a:avLst/>
          </a:prstGeom>
          <a:noFill/>
          <a:ln w="3810">
            <a:solidFill>
              <a:srgbClr val="DDDDDD"/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347472" y="6150218"/>
            <a:ext cx="2658161" cy="0"/>
          </a:xfrm>
          <a:prstGeom prst="line">
            <a:avLst/>
          </a:prstGeom>
          <a:noFill/>
          <a:ln w="3810">
            <a:solidFill>
              <a:srgbClr val="DDDDDD"/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347472" y="6480700"/>
            <a:ext cx="2658161" cy="0"/>
          </a:xfrm>
          <a:prstGeom prst="line">
            <a:avLst/>
          </a:prstGeom>
          <a:noFill/>
          <a:ln w="3810">
            <a:solidFill>
              <a:srgbClr val="DDDDDD"/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347472" y="6811183"/>
            <a:ext cx="2658161" cy="0"/>
          </a:xfrm>
          <a:prstGeom prst="line">
            <a:avLst/>
          </a:prstGeom>
          <a:noFill/>
          <a:ln w="3810">
            <a:solidFill>
              <a:srgbClr val="DDDDDD"/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347472" y="7141665"/>
            <a:ext cx="2658161" cy="0"/>
          </a:xfrm>
          <a:prstGeom prst="line">
            <a:avLst/>
          </a:prstGeom>
          <a:noFill/>
          <a:ln w="3810">
            <a:solidFill>
              <a:srgbClr val="DDDDDD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347472" y="7472148"/>
            <a:ext cx="2658161" cy="0"/>
          </a:xfrm>
          <a:prstGeom prst="line">
            <a:avLst/>
          </a:prstGeom>
          <a:noFill/>
          <a:ln w="3810">
            <a:solidFill>
              <a:srgbClr val="DDDDDD"/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347472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463044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578616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694189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809761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925333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1040905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1156477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1272050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1387622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1503194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1618766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1734339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1849911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1965483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>
            <a:off x="2081055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2196627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109" name="Shape 106"/>
          <p:cNvSpPr/>
          <p:nvPr/>
        </p:nvSpPr>
        <p:spPr>
          <a:xfrm>
            <a:off x="2312200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2427772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>
            <a:off x="2543344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112" name="Shape 109"/>
          <p:cNvSpPr/>
          <p:nvPr/>
        </p:nvSpPr>
        <p:spPr>
          <a:xfrm>
            <a:off x="2658916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2774488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2890061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115" name="Shape 112"/>
          <p:cNvSpPr/>
          <p:nvPr/>
        </p:nvSpPr>
        <p:spPr>
          <a:xfrm>
            <a:off x="3005633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347472" y="5357060"/>
            <a:ext cx="2658161" cy="0"/>
          </a:xfrm>
          <a:prstGeom prst="line">
            <a:avLst/>
          </a:prstGeom>
          <a:noFill/>
          <a:ln w="12700">
            <a:solidFill>
              <a:srgbClr val="217346"/>
            </a:solidFill>
            <a:prstDash val="dash"/>
          </a:ln>
        </p:spPr>
      </p:sp>
      <p:sp>
        <p:nvSpPr>
          <p:cNvPr id="117" name="Text 114"/>
          <p:cNvSpPr/>
          <p:nvPr/>
        </p:nvSpPr>
        <p:spPr>
          <a:xfrm>
            <a:off x="347472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50" dirty="0"/>
          </a:p>
        </p:txBody>
      </p:sp>
      <p:sp>
        <p:nvSpPr>
          <p:cNvPr id="118" name="Text 115"/>
          <p:cNvSpPr/>
          <p:nvPr/>
        </p:nvSpPr>
        <p:spPr>
          <a:xfrm>
            <a:off x="463044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50" dirty="0"/>
          </a:p>
        </p:txBody>
      </p:sp>
      <p:sp>
        <p:nvSpPr>
          <p:cNvPr id="119" name="Text 116"/>
          <p:cNvSpPr/>
          <p:nvPr/>
        </p:nvSpPr>
        <p:spPr>
          <a:xfrm>
            <a:off x="578616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50" dirty="0"/>
          </a:p>
        </p:txBody>
      </p:sp>
      <p:sp>
        <p:nvSpPr>
          <p:cNvPr id="120" name="Text 117"/>
          <p:cNvSpPr/>
          <p:nvPr/>
        </p:nvSpPr>
        <p:spPr>
          <a:xfrm>
            <a:off x="694189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50" dirty="0"/>
          </a:p>
        </p:txBody>
      </p:sp>
      <p:sp>
        <p:nvSpPr>
          <p:cNvPr id="121" name="Text 118"/>
          <p:cNvSpPr/>
          <p:nvPr/>
        </p:nvSpPr>
        <p:spPr>
          <a:xfrm>
            <a:off x="809761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450" dirty="0"/>
          </a:p>
        </p:txBody>
      </p:sp>
      <p:sp>
        <p:nvSpPr>
          <p:cNvPr id="122" name="Text 119"/>
          <p:cNvSpPr/>
          <p:nvPr/>
        </p:nvSpPr>
        <p:spPr>
          <a:xfrm>
            <a:off x="925333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450" dirty="0"/>
          </a:p>
        </p:txBody>
      </p:sp>
      <p:sp>
        <p:nvSpPr>
          <p:cNvPr id="123" name="Text 120"/>
          <p:cNvSpPr/>
          <p:nvPr/>
        </p:nvSpPr>
        <p:spPr>
          <a:xfrm>
            <a:off x="1040905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450" dirty="0"/>
          </a:p>
        </p:txBody>
      </p:sp>
      <p:sp>
        <p:nvSpPr>
          <p:cNvPr id="124" name="Text 121"/>
          <p:cNvSpPr/>
          <p:nvPr/>
        </p:nvSpPr>
        <p:spPr>
          <a:xfrm>
            <a:off x="1156477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450" dirty="0"/>
          </a:p>
        </p:txBody>
      </p:sp>
      <p:sp>
        <p:nvSpPr>
          <p:cNvPr id="125" name="Text 122"/>
          <p:cNvSpPr/>
          <p:nvPr/>
        </p:nvSpPr>
        <p:spPr>
          <a:xfrm>
            <a:off x="1272050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450" dirty="0"/>
          </a:p>
        </p:txBody>
      </p:sp>
      <p:sp>
        <p:nvSpPr>
          <p:cNvPr id="126" name="Text 123"/>
          <p:cNvSpPr/>
          <p:nvPr/>
        </p:nvSpPr>
        <p:spPr>
          <a:xfrm>
            <a:off x="1387622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450" dirty="0"/>
          </a:p>
        </p:txBody>
      </p:sp>
      <p:sp>
        <p:nvSpPr>
          <p:cNvPr id="127" name="Text 124"/>
          <p:cNvSpPr/>
          <p:nvPr/>
        </p:nvSpPr>
        <p:spPr>
          <a:xfrm>
            <a:off x="1503194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450" dirty="0"/>
          </a:p>
        </p:txBody>
      </p:sp>
      <p:sp>
        <p:nvSpPr>
          <p:cNvPr id="128" name="Text 125"/>
          <p:cNvSpPr/>
          <p:nvPr/>
        </p:nvSpPr>
        <p:spPr>
          <a:xfrm>
            <a:off x="1618766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450" dirty="0"/>
          </a:p>
        </p:txBody>
      </p:sp>
      <p:sp>
        <p:nvSpPr>
          <p:cNvPr id="129" name="Text 126"/>
          <p:cNvSpPr/>
          <p:nvPr/>
        </p:nvSpPr>
        <p:spPr>
          <a:xfrm>
            <a:off x="1734339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450" dirty="0"/>
          </a:p>
        </p:txBody>
      </p:sp>
      <p:sp>
        <p:nvSpPr>
          <p:cNvPr id="130" name="Text 127"/>
          <p:cNvSpPr/>
          <p:nvPr/>
        </p:nvSpPr>
        <p:spPr>
          <a:xfrm>
            <a:off x="1849911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450" dirty="0"/>
          </a:p>
        </p:txBody>
      </p:sp>
      <p:sp>
        <p:nvSpPr>
          <p:cNvPr id="131" name="Text 128"/>
          <p:cNvSpPr/>
          <p:nvPr/>
        </p:nvSpPr>
        <p:spPr>
          <a:xfrm>
            <a:off x="1965483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450" dirty="0"/>
          </a:p>
        </p:txBody>
      </p:sp>
      <p:sp>
        <p:nvSpPr>
          <p:cNvPr id="132" name="Text 129"/>
          <p:cNvSpPr/>
          <p:nvPr/>
        </p:nvSpPr>
        <p:spPr>
          <a:xfrm>
            <a:off x="2081055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450" dirty="0"/>
          </a:p>
        </p:txBody>
      </p:sp>
      <p:sp>
        <p:nvSpPr>
          <p:cNvPr id="133" name="Text 130"/>
          <p:cNvSpPr/>
          <p:nvPr/>
        </p:nvSpPr>
        <p:spPr>
          <a:xfrm>
            <a:off x="2196627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450" dirty="0"/>
          </a:p>
        </p:txBody>
      </p:sp>
      <p:sp>
        <p:nvSpPr>
          <p:cNvPr id="134" name="Text 131"/>
          <p:cNvSpPr/>
          <p:nvPr/>
        </p:nvSpPr>
        <p:spPr>
          <a:xfrm>
            <a:off x="2312200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450" dirty="0"/>
          </a:p>
        </p:txBody>
      </p:sp>
      <p:sp>
        <p:nvSpPr>
          <p:cNvPr id="135" name="Text 132"/>
          <p:cNvSpPr/>
          <p:nvPr/>
        </p:nvSpPr>
        <p:spPr>
          <a:xfrm>
            <a:off x="2427772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450" dirty="0"/>
          </a:p>
        </p:txBody>
      </p:sp>
      <p:sp>
        <p:nvSpPr>
          <p:cNvPr id="136" name="Text 133"/>
          <p:cNvSpPr/>
          <p:nvPr/>
        </p:nvSpPr>
        <p:spPr>
          <a:xfrm>
            <a:off x="2543344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450" dirty="0"/>
          </a:p>
        </p:txBody>
      </p:sp>
      <p:sp>
        <p:nvSpPr>
          <p:cNvPr id="137" name="Text 134"/>
          <p:cNvSpPr/>
          <p:nvPr/>
        </p:nvSpPr>
        <p:spPr>
          <a:xfrm>
            <a:off x="2658916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450" dirty="0"/>
          </a:p>
        </p:txBody>
      </p:sp>
      <p:sp>
        <p:nvSpPr>
          <p:cNvPr id="138" name="Text 135"/>
          <p:cNvSpPr/>
          <p:nvPr/>
        </p:nvSpPr>
        <p:spPr>
          <a:xfrm>
            <a:off x="2774488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450" dirty="0"/>
          </a:p>
        </p:txBody>
      </p:sp>
      <p:sp>
        <p:nvSpPr>
          <p:cNvPr id="139" name="Text 136"/>
          <p:cNvSpPr/>
          <p:nvPr/>
        </p:nvSpPr>
        <p:spPr>
          <a:xfrm>
            <a:off x="2890061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450" dirty="0"/>
          </a:p>
        </p:txBody>
      </p:sp>
      <p:sp>
        <p:nvSpPr>
          <p:cNvPr id="140" name="Text 137"/>
          <p:cNvSpPr/>
          <p:nvPr/>
        </p:nvSpPr>
        <p:spPr>
          <a:xfrm>
            <a:off x="347472" y="7600164"/>
            <a:ext cx="2658161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DAYS</a:t>
            </a:r>
            <a:endParaRPr lang="en-US" sz="500" dirty="0"/>
          </a:p>
        </p:txBody>
      </p:sp>
      <p:sp>
        <p:nvSpPr>
          <p:cNvPr id="141" name="Shape 138"/>
          <p:cNvSpPr/>
          <p:nvPr/>
        </p:nvSpPr>
        <p:spPr>
          <a:xfrm>
            <a:off x="128016" y="7636740"/>
            <a:ext cx="274320" cy="0"/>
          </a:xfrm>
          <a:prstGeom prst="line">
            <a:avLst/>
          </a:prstGeom>
          <a:noFill/>
          <a:ln w="12700">
            <a:solidFill>
              <a:srgbClr val="217346"/>
            </a:solidFill>
            <a:prstDash val="dash"/>
          </a:ln>
        </p:spPr>
      </p:sp>
      <p:sp>
        <p:nvSpPr>
          <p:cNvPr id="142" name="Text 139"/>
          <p:cNvSpPr/>
          <p:nvPr/>
        </p:nvSpPr>
        <p:spPr>
          <a:xfrm>
            <a:off x="420624" y="7600164"/>
            <a:ext cx="5486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50" b="1" dirty="0">
                <a:solidFill>
                  <a:srgbClr val="217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450" dirty="0"/>
          </a:p>
        </p:txBody>
      </p:sp>
      <p:sp>
        <p:nvSpPr>
          <p:cNvPr id="143" name="Shape 140"/>
          <p:cNvSpPr/>
          <p:nvPr/>
        </p:nvSpPr>
        <p:spPr>
          <a:xfrm>
            <a:off x="1097280" y="7636740"/>
            <a:ext cx="274320" cy="0"/>
          </a:xfrm>
          <a:prstGeom prst="line">
            <a:avLst/>
          </a:prstGeom>
          <a:noFill/>
          <a:ln w="15240">
            <a:solidFill>
              <a:srgbClr val="C00000"/>
            </a:solidFill>
            <a:prstDash val="solid"/>
          </a:ln>
        </p:spPr>
      </p:sp>
      <p:sp>
        <p:nvSpPr>
          <p:cNvPr id="144" name="Text 141"/>
          <p:cNvSpPr/>
          <p:nvPr/>
        </p:nvSpPr>
        <p:spPr>
          <a:xfrm>
            <a:off x="1389888" y="7600164"/>
            <a:ext cx="5486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</a:t>
            </a:r>
            <a:endParaRPr lang="en-US" sz="450" dirty="0"/>
          </a:p>
        </p:txBody>
      </p:sp>
      <p:sp>
        <p:nvSpPr>
          <p:cNvPr id="145" name="Text 142"/>
          <p:cNvSpPr/>
          <p:nvPr/>
        </p:nvSpPr>
        <p:spPr>
          <a:xfrm>
            <a:off x="1944929" y="7600164"/>
            <a:ext cx="1051560" cy="128016"/>
          </a:xfrm>
          <a:prstGeom prst="rect">
            <a:avLst/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0 LTI</a:t>
            </a:r>
            <a:endParaRPr lang="en-US" sz="450" dirty="0"/>
          </a:p>
        </p:txBody>
      </p:sp>
      <p:sp>
        <p:nvSpPr>
          <p:cNvPr id="146" name="Shape 143"/>
          <p:cNvSpPr/>
          <p:nvPr/>
        </p:nvSpPr>
        <p:spPr>
          <a:xfrm>
            <a:off x="91440" y="7783044"/>
            <a:ext cx="1466240" cy="140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47" name="Text 144"/>
          <p:cNvSpPr/>
          <p:nvPr/>
        </p:nvSpPr>
        <p:spPr>
          <a:xfrm>
            <a:off x="91440" y="7783044"/>
            <a:ext cx="1466240" cy="201168"/>
          </a:xfrm>
          <a:prstGeom prst="rect">
            <a:avLst/>
          </a:prstGeom>
          <a:solidFill>
            <a:srgbClr val="C000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INCIDENTS</a:t>
            </a:r>
            <a:endParaRPr lang="en-US" sz="650" dirty="0"/>
          </a:p>
        </p:txBody>
      </p:sp>
      <p:sp>
        <p:nvSpPr>
          <p:cNvPr id="148" name="Shape 145"/>
          <p:cNvSpPr/>
          <p:nvPr/>
        </p:nvSpPr>
        <p:spPr>
          <a:xfrm>
            <a:off x="91440" y="7984212"/>
            <a:ext cx="1466240" cy="541598"/>
          </a:xfrm>
          <a:prstGeom prst="rect">
            <a:avLst/>
          </a:prstGeom>
          <a:solidFill>
            <a:srgbClr val="E8F5EE"/>
          </a:solidFill>
          <a:ln w="3175">
            <a:solidFill>
              <a:srgbClr val="D0D0D0"/>
            </a:solidFill>
            <a:prstDash val="solid"/>
          </a:ln>
        </p:spPr>
      </p:sp>
      <p:sp>
        <p:nvSpPr>
          <p:cNvPr id="149" name="Text 146"/>
          <p:cNvSpPr/>
          <p:nvPr/>
        </p:nvSpPr>
        <p:spPr>
          <a:xfrm>
            <a:off x="91440" y="7984212"/>
            <a:ext cx="1466240" cy="5415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17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217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LTI per month</a:t>
            </a:r>
            <a:endParaRPr lang="en-US" sz="600" dirty="0"/>
          </a:p>
        </p:txBody>
      </p:sp>
      <p:sp>
        <p:nvSpPr>
          <p:cNvPr id="150" name="Shape 147"/>
          <p:cNvSpPr/>
          <p:nvPr/>
        </p:nvSpPr>
        <p:spPr>
          <a:xfrm>
            <a:off x="91440" y="8525810"/>
            <a:ext cx="1466240" cy="661953"/>
          </a:xfrm>
          <a:prstGeom prst="rect">
            <a:avLst/>
          </a:prstGeom>
          <a:solidFill>
            <a:srgbClr val="F2F2F2"/>
          </a:solidFill>
          <a:ln w="3175">
            <a:solidFill>
              <a:srgbClr val="D0D0D0"/>
            </a:solidFill>
            <a:prstDash val="solid"/>
          </a:ln>
        </p:spPr>
      </p:sp>
      <p:sp>
        <p:nvSpPr>
          <p:cNvPr id="151" name="Text 148"/>
          <p:cNvSpPr/>
          <p:nvPr/>
        </p:nvSpPr>
        <p:spPr>
          <a:xfrm>
            <a:off x="91440" y="8525810"/>
            <a:ext cx="1466240" cy="661953"/>
          </a:xfrm>
          <a:prstGeom prst="rect">
            <a:avLst/>
          </a:prstGeom>
          <a:noFill/>
          <a:ln/>
        </p:spPr>
        <p:txBody>
          <a:bodyPr wrap="square" lIns="2540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
</a:t>
            </a:r>
            <a:endParaRPr lang="en-US" sz="600" dirty="0"/>
          </a:p>
        </p:txBody>
      </p:sp>
      <p:sp>
        <p:nvSpPr>
          <p:cNvPr id="152" name="Shape 149"/>
          <p:cNvSpPr/>
          <p:nvPr/>
        </p:nvSpPr>
        <p:spPr>
          <a:xfrm>
            <a:off x="1575968" y="7783044"/>
            <a:ext cx="1466240" cy="140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53" name="Text 150"/>
          <p:cNvSpPr/>
          <p:nvPr/>
        </p:nvSpPr>
        <p:spPr>
          <a:xfrm>
            <a:off x="1575968" y="7783044"/>
            <a:ext cx="1466240" cy="201168"/>
          </a:xfrm>
          <a:prstGeom prst="rect">
            <a:avLst/>
          </a:prstGeom>
          <a:solidFill>
            <a:srgbClr val="C000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 MISSES</a:t>
            </a:r>
            <a:endParaRPr lang="en-US" sz="650" dirty="0"/>
          </a:p>
        </p:txBody>
      </p:sp>
      <p:sp>
        <p:nvSpPr>
          <p:cNvPr id="154" name="Shape 151"/>
          <p:cNvSpPr/>
          <p:nvPr/>
        </p:nvSpPr>
        <p:spPr>
          <a:xfrm>
            <a:off x="1575968" y="7984212"/>
            <a:ext cx="1466240" cy="541598"/>
          </a:xfrm>
          <a:prstGeom prst="rect">
            <a:avLst/>
          </a:prstGeom>
          <a:solidFill>
            <a:srgbClr val="E8F5EE"/>
          </a:solidFill>
          <a:ln w="3175">
            <a:solidFill>
              <a:srgbClr val="D0D0D0"/>
            </a:solidFill>
            <a:prstDash val="solid"/>
          </a:ln>
        </p:spPr>
      </p:sp>
      <p:sp>
        <p:nvSpPr>
          <p:cNvPr id="155" name="Text 152"/>
          <p:cNvSpPr/>
          <p:nvPr/>
        </p:nvSpPr>
        <p:spPr>
          <a:xfrm>
            <a:off x="1575968" y="7984212"/>
            <a:ext cx="1466240" cy="5415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17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217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2/month</a:t>
            </a:r>
            <a:endParaRPr lang="en-US" sz="600" dirty="0"/>
          </a:p>
        </p:txBody>
      </p:sp>
      <p:sp>
        <p:nvSpPr>
          <p:cNvPr id="156" name="Shape 153"/>
          <p:cNvSpPr/>
          <p:nvPr/>
        </p:nvSpPr>
        <p:spPr>
          <a:xfrm>
            <a:off x="1575968" y="8525810"/>
            <a:ext cx="1466240" cy="661953"/>
          </a:xfrm>
          <a:prstGeom prst="rect">
            <a:avLst/>
          </a:prstGeom>
          <a:solidFill>
            <a:srgbClr val="F2F2F2"/>
          </a:solidFill>
          <a:ln w="3175">
            <a:solidFill>
              <a:srgbClr val="D0D0D0"/>
            </a:solidFill>
            <a:prstDash val="solid"/>
          </a:ln>
        </p:spPr>
      </p:sp>
      <p:sp>
        <p:nvSpPr>
          <p:cNvPr id="157" name="Text 154"/>
          <p:cNvSpPr/>
          <p:nvPr/>
        </p:nvSpPr>
        <p:spPr>
          <a:xfrm>
            <a:off x="1575968" y="8525810"/>
            <a:ext cx="1466240" cy="661953"/>
          </a:xfrm>
          <a:prstGeom prst="rect">
            <a:avLst/>
          </a:prstGeom>
          <a:noFill/>
          <a:ln/>
        </p:spPr>
        <p:txBody>
          <a:bodyPr wrap="square" lIns="2540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
</a:t>
            </a:r>
            <a:endParaRPr lang="en-US" sz="600" dirty="0"/>
          </a:p>
        </p:txBody>
      </p:sp>
      <p:sp>
        <p:nvSpPr>
          <p:cNvPr id="158" name="Shape 155"/>
          <p:cNvSpPr/>
          <p:nvPr/>
        </p:nvSpPr>
        <p:spPr>
          <a:xfrm>
            <a:off x="91440" y="9224339"/>
            <a:ext cx="2950769" cy="1358012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59" name="Text 156"/>
          <p:cNvSpPr/>
          <p:nvPr/>
        </p:nvSpPr>
        <p:spPr>
          <a:xfrm>
            <a:off x="91440" y="9224339"/>
            <a:ext cx="2950769" cy="201168"/>
          </a:xfrm>
          <a:prstGeom prst="rect">
            <a:avLst/>
          </a:prstGeom>
          <a:solidFill>
            <a:srgbClr val="C00000"/>
          </a:solidFill>
          <a:ln/>
        </p:spPr>
        <p:txBody>
          <a:bodyPr wrap="square" lIns="0" tIns="5080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IMPROVEMENT ACTIONS</a:t>
            </a:r>
            <a:endParaRPr lang="en-US" sz="650" dirty="0"/>
          </a:p>
        </p:txBody>
      </p:sp>
      <p:sp>
        <p:nvSpPr>
          <p:cNvPr id="161" name="Shape 158"/>
          <p:cNvSpPr/>
          <p:nvPr/>
        </p:nvSpPr>
        <p:spPr>
          <a:xfrm>
            <a:off x="91440" y="9443795"/>
            <a:ext cx="502920" cy="180615"/>
          </a:xfrm>
          <a:prstGeom prst="rect">
            <a:avLst/>
          </a:prstGeom>
          <a:solidFill>
            <a:srgbClr val="F2F2F2"/>
          </a:solidFill>
          <a:ln w="3175">
            <a:solidFill>
              <a:srgbClr val="D0D0D0"/>
            </a:solidFill>
            <a:prstDash val="solid"/>
          </a:ln>
        </p:spPr>
      </p:sp>
      <p:sp>
        <p:nvSpPr>
          <p:cNvPr id="163" name="Shape 160"/>
          <p:cNvSpPr/>
          <p:nvPr/>
        </p:nvSpPr>
        <p:spPr>
          <a:xfrm>
            <a:off x="91440" y="9633555"/>
            <a:ext cx="502920" cy="180615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  <a:prstDash val="solid"/>
          </a:ln>
        </p:spPr>
      </p:sp>
      <p:sp>
        <p:nvSpPr>
          <p:cNvPr id="165" name="Shape 162"/>
          <p:cNvSpPr/>
          <p:nvPr/>
        </p:nvSpPr>
        <p:spPr>
          <a:xfrm>
            <a:off x="91440" y="9823314"/>
            <a:ext cx="502920" cy="180615"/>
          </a:xfrm>
          <a:prstGeom prst="rect">
            <a:avLst/>
          </a:prstGeom>
          <a:solidFill>
            <a:srgbClr val="F2F2F2"/>
          </a:solidFill>
          <a:ln w="3175">
            <a:solidFill>
              <a:srgbClr val="D0D0D0"/>
            </a:solidFill>
            <a:prstDash val="solid"/>
          </a:ln>
        </p:spPr>
      </p:sp>
      <p:sp>
        <p:nvSpPr>
          <p:cNvPr id="167" name="Shape 164"/>
          <p:cNvSpPr/>
          <p:nvPr/>
        </p:nvSpPr>
        <p:spPr>
          <a:xfrm>
            <a:off x="91440" y="10013073"/>
            <a:ext cx="502920" cy="180615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  <a:prstDash val="solid"/>
          </a:ln>
        </p:spPr>
      </p:sp>
      <p:sp>
        <p:nvSpPr>
          <p:cNvPr id="169" name="Shape 166"/>
          <p:cNvSpPr/>
          <p:nvPr/>
        </p:nvSpPr>
        <p:spPr>
          <a:xfrm>
            <a:off x="91440" y="10202833"/>
            <a:ext cx="502920" cy="180615"/>
          </a:xfrm>
          <a:prstGeom prst="rect">
            <a:avLst/>
          </a:prstGeom>
          <a:solidFill>
            <a:srgbClr val="F2F2F2"/>
          </a:solidFill>
          <a:ln w="3175">
            <a:solidFill>
              <a:srgbClr val="D0D0D0"/>
            </a:solidFill>
            <a:prstDash val="solid"/>
          </a:ln>
        </p:spPr>
      </p:sp>
      <p:sp>
        <p:nvSpPr>
          <p:cNvPr id="171" name="Shape 168"/>
          <p:cNvSpPr/>
          <p:nvPr/>
        </p:nvSpPr>
        <p:spPr>
          <a:xfrm>
            <a:off x="91440" y="10392592"/>
            <a:ext cx="502920" cy="180615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  <a:prstDash val="solid"/>
          </a:ln>
        </p:spPr>
      </p:sp>
      <p:sp>
        <p:nvSpPr>
          <p:cNvPr id="172" name="Shape 169"/>
          <p:cNvSpPr/>
          <p:nvPr/>
        </p:nvSpPr>
        <p:spPr>
          <a:xfrm>
            <a:off x="3078785" y="548640"/>
            <a:ext cx="2950769" cy="320040"/>
          </a:xfrm>
          <a:prstGeom prst="rect">
            <a:avLst/>
          </a:prstGeom>
          <a:solidFill>
            <a:srgbClr val="5B595A"/>
          </a:solidFill>
          <a:ln/>
        </p:spPr>
      </p:sp>
      <p:sp>
        <p:nvSpPr>
          <p:cNvPr id="173" name="Text 170"/>
          <p:cNvSpPr/>
          <p:nvPr/>
        </p:nvSpPr>
        <p:spPr>
          <a:xfrm>
            <a:off x="3078785" y="548640"/>
            <a:ext cx="295076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QUALITY</a:t>
            </a:r>
            <a:endParaRPr lang="en-US" sz="1100" dirty="0"/>
          </a:p>
        </p:txBody>
      </p:sp>
      <p:sp>
        <p:nvSpPr>
          <p:cNvPr id="174" name="Shape 171"/>
          <p:cNvSpPr/>
          <p:nvPr/>
        </p:nvSpPr>
        <p:spPr>
          <a:xfrm>
            <a:off x="3078785" y="886968"/>
            <a:ext cx="2950769" cy="3612136"/>
          </a:xfrm>
          <a:prstGeom prst="rect">
            <a:avLst/>
          </a:prstGeom>
          <a:solidFill>
            <a:srgbClr val="F2F2F2"/>
          </a:solidFill>
          <a:ln w="19050">
            <a:solidFill>
              <a:srgbClr val="5B595A"/>
            </a:solidFill>
            <a:prstDash val="solid"/>
          </a:ln>
        </p:spPr>
      </p:sp>
      <p:sp>
        <p:nvSpPr>
          <p:cNvPr id="175" name="Text 172"/>
          <p:cNvSpPr/>
          <p:nvPr/>
        </p:nvSpPr>
        <p:spPr>
          <a:xfrm>
            <a:off x="3078785" y="886968"/>
            <a:ext cx="2950769" cy="292608"/>
          </a:xfrm>
          <a:prstGeom prst="rect">
            <a:avLst/>
          </a:prstGeom>
          <a:solidFill>
            <a:srgbClr val="5B595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</a:t>
            </a:r>
            <a:endParaRPr lang="en-US" sz="900" dirty="0"/>
          </a:p>
        </p:txBody>
      </p:sp>
      <p:sp>
        <p:nvSpPr>
          <p:cNvPr id="176" name="Shape 173"/>
          <p:cNvSpPr/>
          <p:nvPr/>
        </p:nvSpPr>
        <p:spPr>
          <a:xfrm>
            <a:off x="3115361" y="1234440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177" name="Text 174"/>
          <p:cNvSpPr/>
          <p:nvPr/>
        </p:nvSpPr>
        <p:spPr>
          <a:xfrm>
            <a:off x="3115361" y="1234440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50" dirty="0"/>
          </a:p>
        </p:txBody>
      </p:sp>
      <p:sp>
        <p:nvSpPr>
          <p:cNvPr id="178" name="Shape 175"/>
          <p:cNvSpPr/>
          <p:nvPr/>
        </p:nvSpPr>
        <p:spPr>
          <a:xfrm>
            <a:off x="3834765" y="1234440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179" name="Text 176"/>
          <p:cNvSpPr/>
          <p:nvPr/>
        </p:nvSpPr>
        <p:spPr>
          <a:xfrm>
            <a:off x="3834765" y="1234440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50" dirty="0"/>
          </a:p>
        </p:txBody>
      </p:sp>
      <p:sp>
        <p:nvSpPr>
          <p:cNvPr id="180" name="Shape 177"/>
          <p:cNvSpPr/>
          <p:nvPr/>
        </p:nvSpPr>
        <p:spPr>
          <a:xfrm>
            <a:off x="4554169" y="1234440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181" name="Text 178"/>
          <p:cNvSpPr/>
          <p:nvPr/>
        </p:nvSpPr>
        <p:spPr>
          <a:xfrm>
            <a:off x="4554169" y="1234440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50" dirty="0"/>
          </a:p>
        </p:txBody>
      </p:sp>
      <p:sp>
        <p:nvSpPr>
          <p:cNvPr id="182" name="Shape 179"/>
          <p:cNvSpPr/>
          <p:nvPr/>
        </p:nvSpPr>
        <p:spPr>
          <a:xfrm>
            <a:off x="5273573" y="1234440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183" name="Text 180"/>
          <p:cNvSpPr/>
          <p:nvPr/>
        </p:nvSpPr>
        <p:spPr>
          <a:xfrm>
            <a:off x="5273573" y="1234440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50" dirty="0"/>
          </a:p>
        </p:txBody>
      </p:sp>
      <p:sp>
        <p:nvSpPr>
          <p:cNvPr id="184" name="Shape 181"/>
          <p:cNvSpPr/>
          <p:nvPr/>
        </p:nvSpPr>
        <p:spPr>
          <a:xfrm>
            <a:off x="3115361" y="1637951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185" name="Text 182"/>
          <p:cNvSpPr/>
          <p:nvPr/>
        </p:nvSpPr>
        <p:spPr>
          <a:xfrm>
            <a:off x="3115361" y="1637951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550" dirty="0"/>
          </a:p>
        </p:txBody>
      </p:sp>
      <p:sp>
        <p:nvSpPr>
          <p:cNvPr id="186" name="Shape 183"/>
          <p:cNvSpPr/>
          <p:nvPr/>
        </p:nvSpPr>
        <p:spPr>
          <a:xfrm>
            <a:off x="3834765" y="1637951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187" name="Text 184"/>
          <p:cNvSpPr/>
          <p:nvPr/>
        </p:nvSpPr>
        <p:spPr>
          <a:xfrm>
            <a:off x="3834765" y="1637951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550" dirty="0"/>
          </a:p>
        </p:txBody>
      </p:sp>
      <p:sp>
        <p:nvSpPr>
          <p:cNvPr id="188" name="Shape 185"/>
          <p:cNvSpPr/>
          <p:nvPr/>
        </p:nvSpPr>
        <p:spPr>
          <a:xfrm>
            <a:off x="4554169" y="1637951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189" name="Text 186"/>
          <p:cNvSpPr/>
          <p:nvPr/>
        </p:nvSpPr>
        <p:spPr>
          <a:xfrm>
            <a:off x="4554169" y="1637951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550" dirty="0"/>
          </a:p>
        </p:txBody>
      </p:sp>
      <p:sp>
        <p:nvSpPr>
          <p:cNvPr id="190" name="Shape 187"/>
          <p:cNvSpPr/>
          <p:nvPr/>
        </p:nvSpPr>
        <p:spPr>
          <a:xfrm>
            <a:off x="5273573" y="1637951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191" name="Text 188"/>
          <p:cNvSpPr/>
          <p:nvPr/>
        </p:nvSpPr>
        <p:spPr>
          <a:xfrm>
            <a:off x="5273573" y="1637951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550" dirty="0"/>
          </a:p>
        </p:txBody>
      </p:sp>
      <p:sp>
        <p:nvSpPr>
          <p:cNvPr id="192" name="Shape 189"/>
          <p:cNvSpPr/>
          <p:nvPr/>
        </p:nvSpPr>
        <p:spPr>
          <a:xfrm>
            <a:off x="3115361" y="2041462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193" name="Text 190"/>
          <p:cNvSpPr/>
          <p:nvPr/>
        </p:nvSpPr>
        <p:spPr>
          <a:xfrm>
            <a:off x="3115361" y="2041462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550" dirty="0"/>
          </a:p>
        </p:txBody>
      </p:sp>
      <p:sp>
        <p:nvSpPr>
          <p:cNvPr id="194" name="Shape 191"/>
          <p:cNvSpPr/>
          <p:nvPr/>
        </p:nvSpPr>
        <p:spPr>
          <a:xfrm>
            <a:off x="3834765" y="2041462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195" name="Text 192"/>
          <p:cNvSpPr/>
          <p:nvPr/>
        </p:nvSpPr>
        <p:spPr>
          <a:xfrm>
            <a:off x="3834765" y="2041462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550" dirty="0"/>
          </a:p>
        </p:txBody>
      </p:sp>
      <p:sp>
        <p:nvSpPr>
          <p:cNvPr id="196" name="Shape 193"/>
          <p:cNvSpPr/>
          <p:nvPr/>
        </p:nvSpPr>
        <p:spPr>
          <a:xfrm>
            <a:off x="4554169" y="2041462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197" name="Text 194"/>
          <p:cNvSpPr/>
          <p:nvPr/>
        </p:nvSpPr>
        <p:spPr>
          <a:xfrm>
            <a:off x="4554169" y="2041462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550" dirty="0"/>
          </a:p>
        </p:txBody>
      </p:sp>
      <p:sp>
        <p:nvSpPr>
          <p:cNvPr id="198" name="Shape 195"/>
          <p:cNvSpPr/>
          <p:nvPr/>
        </p:nvSpPr>
        <p:spPr>
          <a:xfrm>
            <a:off x="5273573" y="2041462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199" name="Text 196"/>
          <p:cNvSpPr/>
          <p:nvPr/>
        </p:nvSpPr>
        <p:spPr>
          <a:xfrm>
            <a:off x="5273573" y="2041462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550" dirty="0"/>
          </a:p>
        </p:txBody>
      </p:sp>
      <p:sp>
        <p:nvSpPr>
          <p:cNvPr id="200" name="Shape 197"/>
          <p:cNvSpPr/>
          <p:nvPr/>
        </p:nvSpPr>
        <p:spPr>
          <a:xfrm>
            <a:off x="3115361" y="2444973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201" name="Text 198"/>
          <p:cNvSpPr/>
          <p:nvPr/>
        </p:nvSpPr>
        <p:spPr>
          <a:xfrm>
            <a:off x="3115361" y="2444973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550" dirty="0"/>
          </a:p>
        </p:txBody>
      </p:sp>
      <p:sp>
        <p:nvSpPr>
          <p:cNvPr id="202" name="Shape 199"/>
          <p:cNvSpPr/>
          <p:nvPr/>
        </p:nvSpPr>
        <p:spPr>
          <a:xfrm>
            <a:off x="3834765" y="2444973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203" name="Text 200"/>
          <p:cNvSpPr/>
          <p:nvPr/>
        </p:nvSpPr>
        <p:spPr>
          <a:xfrm>
            <a:off x="3834765" y="2444973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550" dirty="0"/>
          </a:p>
        </p:txBody>
      </p:sp>
      <p:sp>
        <p:nvSpPr>
          <p:cNvPr id="204" name="Shape 201"/>
          <p:cNvSpPr/>
          <p:nvPr/>
        </p:nvSpPr>
        <p:spPr>
          <a:xfrm>
            <a:off x="4554169" y="2444973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205" name="Text 202"/>
          <p:cNvSpPr/>
          <p:nvPr/>
        </p:nvSpPr>
        <p:spPr>
          <a:xfrm>
            <a:off x="4554169" y="2444973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550" dirty="0"/>
          </a:p>
        </p:txBody>
      </p:sp>
      <p:sp>
        <p:nvSpPr>
          <p:cNvPr id="206" name="Shape 203"/>
          <p:cNvSpPr/>
          <p:nvPr/>
        </p:nvSpPr>
        <p:spPr>
          <a:xfrm>
            <a:off x="5273573" y="2444973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207" name="Text 204"/>
          <p:cNvSpPr/>
          <p:nvPr/>
        </p:nvSpPr>
        <p:spPr>
          <a:xfrm>
            <a:off x="5273573" y="2444973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550" dirty="0"/>
          </a:p>
        </p:txBody>
      </p:sp>
      <p:sp>
        <p:nvSpPr>
          <p:cNvPr id="208" name="Shape 205"/>
          <p:cNvSpPr/>
          <p:nvPr/>
        </p:nvSpPr>
        <p:spPr>
          <a:xfrm>
            <a:off x="3115361" y="2848484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209" name="Text 206"/>
          <p:cNvSpPr/>
          <p:nvPr/>
        </p:nvSpPr>
        <p:spPr>
          <a:xfrm>
            <a:off x="3115361" y="2848484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550" dirty="0"/>
          </a:p>
        </p:txBody>
      </p:sp>
      <p:sp>
        <p:nvSpPr>
          <p:cNvPr id="210" name="Shape 207"/>
          <p:cNvSpPr/>
          <p:nvPr/>
        </p:nvSpPr>
        <p:spPr>
          <a:xfrm>
            <a:off x="3834765" y="2848484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211" name="Text 208"/>
          <p:cNvSpPr/>
          <p:nvPr/>
        </p:nvSpPr>
        <p:spPr>
          <a:xfrm>
            <a:off x="3834765" y="2848484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550" dirty="0"/>
          </a:p>
        </p:txBody>
      </p:sp>
      <p:sp>
        <p:nvSpPr>
          <p:cNvPr id="212" name="Shape 209"/>
          <p:cNvSpPr/>
          <p:nvPr/>
        </p:nvSpPr>
        <p:spPr>
          <a:xfrm>
            <a:off x="4554169" y="2848484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213" name="Text 210"/>
          <p:cNvSpPr/>
          <p:nvPr/>
        </p:nvSpPr>
        <p:spPr>
          <a:xfrm>
            <a:off x="4554169" y="2848484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550" dirty="0"/>
          </a:p>
        </p:txBody>
      </p:sp>
      <p:sp>
        <p:nvSpPr>
          <p:cNvPr id="214" name="Shape 211"/>
          <p:cNvSpPr/>
          <p:nvPr/>
        </p:nvSpPr>
        <p:spPr>
          <a:xfrm>
            <a:off x="5273573" y="2848484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215" name="Text 212"/>
          <p:cNvSpPr/>
          <p:nvPr/>
        </p:nvSpPr>
        <p:spPr>
          <a:xfrm>
            <a:off x="5273573" y="2848484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550" dirty="0"/>
          </a:p>
        </p:txBody>
      </p:sp>
      <p:sp>
        <p:nvSpPr>
          <p:cNvPr id="216" name="Shape 213"/>
          <p:cNvSpPr/>
          <p:nvPr/>
        </p:nvSpPr>
        <p:spPr>
          <a:xfrm>
            <a:off x="3115361" y="3251995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217" name="Text 214"/>
          <p:cNvSpPr/>
          <p:nvPr/>
        </p:nvSpPr>
        <p:spPr>
          <a:xfrm>
            <a:off x="3115361" y="3251995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550" dirty="0"/>
          </a:p>
        </p:txBody>
      </p:sp>
      <p:sp>
        <p:nvSpPr>
          <p:cNvPr id="218" name="Shape 215"/>
          <p:cNvSpPr/>
          <p:nvPr/>
        </p:nvSpPr>
        <p:spPr>
          <a:xfrm>
            <a:off x="3834765" y="3251995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219" name="Text 216"/>
          <p:cNvSpPr/>
          <p:nvPr/>
        </p:nvSpPr>
        <p:spPr>
          <a:xfrm>
            <a:off x="3834765" y="3251995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550" dirty="0"/>
          </a:p>
        </p:txBody>
      </p:sp>
      <p:sp>
        <p:nvSpPr>
          <p:cNvPr id="220" name="Shape 217"/>
          <p:cNvSpPr/>
          <p:nvPr/>
        </p:nvSpPr>
        <p:spPr>
          <a:xfrm>
            <a:off x="4554169" y="3251995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221" name="Text 218"/>
          <p:cNvSpPr/>
          <p:nvPr/>
        </p:nvSpPr>
        <p:spPr>
          <a:xfrm>
            <a:off x="4554169" y="3251995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550" dirty="0"/>
          </a:p>
        </p:txBody>
      </p:sp>
      <p:sp>
        <p:nvSpPr>
          <p:cNvPr id="222" name="Shape 219"/>
          <p:cNvSpPr/>
          <p:nvPr/>
        </p:nvSpPr>
        <p:spPr>
          <a:xfrm>
            <a:off x="5273573" y="3251995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223" name="Text 220"/>
          <p:cNvSpPr/>
          <p:nvPr/>
        </p:nvSpPr>
        <p:spPr>
          <a:xfrm>
            <a:off x="5273573" y="3251995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550" dirty="0"/>
          </a:p>
        </p:txBody>
      </p:sp>
      <p:sp>
        <p:nvSpPr>
          <p:cNvPr id="224" name="Shape 221"/>
          <p:cNvSpPr/>
          <p:nvPr/>
        </p:nvSpPr>
        <p:spPr>
          <a:xfrm>
            <a:off x="3115361" y="3655506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225" name="Text 222"/>
          <p:cNvSpPr/>
          <p:nvPr/>
        </p:nvSpPr>
        <p:spPr>
          <a:xfrm>
            <a:off x="3115361" y="3655506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550" dirty="0"/>
          </a:p>
        </p:txBody>
      </p:sp>
      <p:sp>
        <p:nvSpPr>
          <p:cNvPr id="226" name="Shape 223"/>
          <p:cNvSpPr/>
          <p:nvPr/>
        </p:nvSpPr>
        <p:spPr>
          <a:xfrm>
            <a:off x="3834765" y="3655506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227" name="Text 224"/>
          <p:cNvSpPr/>
          <p:nvPr/>
        </p:nvSpPr>
        <p:spPr>
          <a:xfrm>
            <a:off x="3834765" y="3655506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550" dirty="0"/>
          </a:p>
        </p:txBody>
      </p:sp>
      <p:sp>
        <p:nvSpPr>
          <p:cNvPr id="228" name="Shape 225"/>
          <p:cNvSpPr/>
          <p:nvPr/>
        </p:nvSpPr>
        <p:spPr>
          <a:xfrm>
            <a:off x="4554169" y="3655506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229" name="Text 226"/>
          <p:cNvSpPr/>
          <p:nvPr/>
        </p:nvSpPr>
        <p:spPr>
          <a:xfrm>
            <a:off x="4554169" y="3655506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550" dirty="0"/>
          </a:p>
        </p:txBody>
      </p:sp>
      <p:sp>
        <p:nvSpPr>
          <p:cNvPr id="230" name="Shape 227"/>
          <p:cNvSpPr/>
          <p:nvPr/>
        </p:nvSpPr>
        <p:spPr>
          <a:xfrm>
            <a:off x="5273573" y="3655506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231" name="Text 228"/>
          <p:cNvSpPr/>
          <p:nvPr/>
        </p:nvSpPr>
        <p:spPr>
          <a:xfrm>
            <a:off x="5273573" y="3655506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550" dirty="0"/>
          </a:p>
        </p:txBody>
      </p:sp>
      <p:sp>
        <p:nvSpPr>
          <p:cNvPr id="232" name="Shape 229"/>
          <p:cNvSpPr/>
          <p:nvPr/>
        </p:nvSpPr>
        <p:spPr>
          <a:xfrm>
            <a:off x="3115361" y="4059017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233" name="Text 230"/>
          <p:cNvSpPr/>
          <p:nvPr/>
        </p:nvSpPr>
        <p:spPr>
          <a:xfrm>
            <a:off x="3115361" y="4059017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550" dirty="0"/>
          </a:p>
        </p:txBody>
      </p:sp>
      <p:sp>
        <p:nvSpPr>
          <p:cNvPr id="234" name="Shape 231"/>
          <p:cNvSpPr/>
          <p:nvPr/>
        </p:nvSpPr>
        <p:spPr>
          <a:xfrm>
            <a:off x="3834765" y="4059017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235" name="Text 232"/>
          <p:cNvSpPr/>
          <p:nvPr/>
        </p:nvSpPr>
        <p:spPr>
          <a:xfrm>
            <a:off x="3834765" y="4059017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550" dirty="0"/>
          </a:p>
        </p:txBody>
      </p:sp>
      <p:sp>
        <p:nvSpPr>
          <p:cNvPr id="236" name="Shape 233"/>
          <p:cNvSpPr/>
          <p:nvPr/>
        </p:nvSpPr>
        <p:spPr>
          <a:xfrm>
            <a:off x="4554169" y="4059017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237" name="Text 234"/>
          <p:cNvSpPr/>
          <p:nvPr/>
        </p:nvSpPr>
        <p:spPr>
          <a:xfrm>
            <a:off x="4554169" y="4059017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550" dirty="0"/>
          </a:p>
        </p:txBody>
      </p:sp>
      <p:sp>
        <p:nvSpPr>
          <p:cNvPr id="238" name="Shape 235"/>
          <p:cNvSpPr/>
          <p:nvPr/>
        </p:nvSpPr>
        <p:spPr>
          <a:xfrm>
            <a:off x="3115361" y="4261360"/>
            <a:ext cx="146304" cy="128016"/>
          </a:xfrm>
          <a:prstGeom prst="rect">
            <a:avLst/>
          </a:prstGeom>
          <a:solidFill>
            <a:srgbClr val="217346"/>
          </a:solidFill>
          <a:ln/>
        </p:spPr>
      </p:sp>
      <p:sp>
        <p:nvSpPr>
          <p:cNvPr id="239" name="Text 236"/>
          <p:cNvSpPr/>
          <p:nvPr/>
        </p:nvSpPr>
        <p:spPr>
          <a:xfrm>
            <a:off x="3279953" y="4261360"/>
            <a:ext cx="5486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issues</a:t>
            </a:r>
            <a:endParaRPr lang="en-US" sz="450" dirty="0"/>
          </a:p>
        </p:txBody>
      </p:sp>
      <p:sp>
        <p:nvSpPr>
          <p:cNvPr id="240" name="Shape 237"/>
          <p:cNvSpPr/>
          <p:nvPr/>
        </p:nvSpPr>
        <p:spPr>
          <a:xfrm>
            <a:off x="3835061" y="4261360"/>
            <a:ext cx="146304" cy="12801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41" name="Text 238"/>
          <p:cNvSpPr/>
          <p:nvPr/>
        </p:nvSpPr>
        <p:spPr>
          <a:xfrm>
            <a:off x="3999653" y="4261360"/>
            <a:ext cx="5486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 miss</a:t>
            </a:r>
            <a:endParaRPr lang="en-US" sz="450" dirty="0"/>
          </a:p>
        </p:txBody>
      </p:sp>
      <p:sp>
        <p:nvSpPr>
          <p:cNvPr id="242" name="Shape 239"/>
          <p:cNvSpPr/>
          <p:nvPr/>
        </p:nvSpPr>
        <p:spPr>
          <a:xfrm>
            <a:off x="4554760" y="4261360"/>
            <a:ext cx="146304" cy="128016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243" name="Text 240"/>
          <p:cNvSpPr/>
          <p:nvPr/>
        </p:nvSpPr>
        <p:spPr>
          <a:xfrm>
            <a:off x="4719352" y="4261360"/>
            <a:ext cx="5486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</a:t>
            </a:r>
            <a:endParaRPr lang="en-US" sz="450" dirty="0"/>
          </a:p>
        </p:txBody>
      </p:sp>
      <p:sp>
        <p:nvSpPr>
          <p:cNvPr id="244" name="Shape 241"/>
          <p:cNvSpPr/>
          <p:nvPr/>
        </p:nvSpPr>
        <p:spPr>
          <a:xfrm>
            <a:off x="5274460" y="4261360"/>
            <a:ext cx="146304" cy="128016"/>
          </a:xfrm>
          <a:prstGeom prst="rect">
            <a:avLst/>
          </a:prstGeom>
          <a:solidFill>
            <a:srgbClr val="AAAAAA"/>
          </a:solidFill>
          <a:ln/>
        </p:spPr>
      </p:sp>
      <p:sp>
        <p:nvSpPr>
          <p:cNvPr id="245" name="Text 242"/>
          <p:cNvSpPr/>
          <p:nvPr/>
        </p:nvSpPr>
        <p:spPr>
          <a:xfrm>
            <a:off x="5439052" y="4261360"/>
            <a:ext cx="5486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Weekend</a:t>
            </a:r>
            <a:endParaRPr lang="en-US" sz="450" dirty="0"/>
          </a:p>
        </p:txBody>
      </p:sp>
      <p:sp>
        <p:nvSpPr>
          <p:cNvPr id="246" name="Shape 243"/>
          <p:cNvSpPr/>
          <p:nvPr/>
        </p:nvSpPr>
        <p:spPr>
          <a:xfrm>
            <a:off x="3078785" y="4535680"/>
            <a:ext cx="2950769" cy="3210788"/>
          </a:xfrm>
          <a:prstGeom prst="rect">
            <a:avLst/>
          </a:prstGeom>
          <a:solidFill>
            <a:srgbClr val="FFFFFF"/>
          </a:solidFill>
          <a:ln w="15240">
            <a:solidFill>
              <a:srgbClr val="5B595A"/>
            </a:solidFill>
            <a:prstDash val="solid"/>
          </a:ln>
        </p:spPr>
      </p:sp>
      <p:sp>
        <p:nvSpPr>
          <p:cNvPr id="247" name="Text 244"/>
          <p:cNvSpPr/>
          <p:nvPr/>
        </p:nvSpPr>
        <p:spPr>
          <a:xfrm>
            <a:off x="3078785" y="4535680"/>
            <a:ext cx="2950769" cy="274320"/>
          </a:xfrm>
          <a:prstGeom prst="rect">
            <a:avLst/>
          </a:prstGeom>
          <a:solidFill>
            <a:srgbClr val="5B595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QUALITY: FIRST PASS</a:t>
            </a:r>
            <a:endParaRPr lang="en-US" sz="750" dirty="0"/>
          </a:p>
        </p:txBody>
      </p:sp>
      <p:sp>
        <p:nvSpPr>
          <p:cNvPr id="248" name="Shape 245"/>
          <p:cNvSpPr/>
          <p:nvPr/>
        </p:nvSpPr>
        <p:spPr>
          <a:xfrm>
            <a:off x="3334817" y="4828288"/>
            <a:ext cx="2658161" cy="0"/>
          </a:xfrm>
          <a:prstGeom prst="line">
            <a:avLst/>
          </a:prstGeom>
          <a:noFill/>
          <a:ln w="3810">
            <a:solidFill>
              <a:srgbClr val="DDDDDD"/>
            </a:solidFill>
            <a:prstDash val="solid"/>
          </a:ln>
        </p:spPr>
      </p:sp>
      <p:sp>
        <p:nvSpPr>
          <p:cNvPr id="249" name="Shape 246"/>
          <p:cNvSpPr/>
          <p:nvPr/>
        </p:nvSpPr>
        <p:spPr>
          <a:xfrm>
            <a:off x="3334817" y="5158770"/>
            <a:ext cx="2658161" cy="0"/>
          </a:xfrm>
          <a:prstGeom prst="line">
            <a:avLst/>
          </a:prstGeom>
          <a:noFill/>
          <a:ln w="3810">
            <a:solidFill>
              <a:srgbClr val="DDDDDD"/>
            </a:solidFill>
            <a:prstDash val="solid"/>
          </a:ln>
        </p:spPr>
      </p:sp>
      <p:sp>
        <p:nvSpPr>
          <p:cNvPr id="250" name="Shape 247"/>
          <p:cNvSpPr/>
          <p:nvPr/>
        </p:nvSpPr>
        <p:spPr>
          <a:xfrm>
            <a:off x="3334817" y="5489253"/>
            <a:ext cx="2658161" cy="0"/>
          </a:xfrm>
          <a:prstGeom prst="line">
            <a:avLst/>
          </a:prstGeom>
          <a:noFill/>
          <a:ln w="3810">
            <a:solidFill>
              <a:srgbClr val="DDDDDD"/>
            </a:solidFill>
            <a:prstDash val="solid"/>
          </a:ln>
        </p:spPr>
      </p:sp>
      <p:sp>
        <p:nvSpPr>
          <p:cNvPr id="251" name="Shape 248"/>
          <p:cNvSpPr/>
          <p:nvPr/>
        </p:nvSpPr>
        <p:spPr>
          <a:xfrm>
            <a:off x="3334817" y="5819735"/>
            <a:ext cx="2658161" cy="0"/>
          </a:xfrm>
          <a:prstGeom prst="line">
            <a:avLst/>
          </a:prstGeom>
          <a:noFill/>
          <a:ln w="3810">
            <a:solidFill>
              <a:srgbClr val="DDDDDD"/>
            </a:solidFill>
            <a:prstDash val="solid"/>
          </a:ln>
        </p:spPr>
      </p:sp>
      <p:sp>
        <p:nvSpPr>
          <p:cNvPr id="252" name="Shape 249"/>
          <p:cNvSpPr/>
          <p:nvPr/>
        </p:nvSpPr>
        <p:spPr>
          <a:xfrm>
            <a:off x="3334817" y="6150218"/>
            <a:ext cx="2658161" cy="0"/>
          </a:xfrm>
          <a:prstGeom prst="line">
            <a:avLst/>
          </a:prstGeom>
          <a:noFill/>
          <a:ln w="3810">
            <a:solidFill>
              <a:srgbClr val="DDDDDD"/>
            </a:solidFill>
            <a:prstDash val="solid"/>
          </a:ln>
        </p:spPr>
      </p:sp>
      <p:sp>
        <p:nvSpPr>
          <p:cNvPr id="253" name="Shape 250"/>
          <p:cNvSpPr/>
          <p:nvPr/>
        </p:nvSpPr>
        <p:spPr>
          <a:xfrm>
            <a:off x="3334817" y="6480700"/>
            <a:ext cx="2658161" cy="0"/>
          </a:xfrm>
          <a:prstGeom prst="line">
            <a:avLst/>
          </a:prstGeom>
          <a:noFill/>
          <a:ln w="3810">
            <a:solidFill>
              <a:srgbClr val="DDDDDD"/>
            </a:solidFill>
            <a:prstDash val="solid"/>
          </a:ln>
        </p:spPr>
      </p:sp>
      <p:sp>
        <p:nvSpPr>
          <p:cNvPr id="254" name="Shape 251"/>
          <p:cNvSpPr/>
          <p:nvPr/>
        </p:nvSpPr>
        <p:spPr>
          <a:xfrm>
            <a:off x="3334817" y="6811183"/>
            <a:ext cx="2658161" cy="0"/>
          </a:xfrm>
          <a:prstGeom prst="line">
            <a:avLst/>
          </a:prstGeom>
          <a:noFill/>
          <a:ln w="3810">
            <a:solidFill>
              <a:srgbClr val="DDDDDD"/>
            </a:solidFill>
            <a:prstDash val="solid"/>
          </a:ln>
        </p:spPr>
      </p:sp>
      <p:sp>
        <p:nvSpPr>
          <p:cNvPr id="255" name="Shape 252"/>
          <p:cNvSpPr/>
          <p:nvPr/>
        </p:nvSpPr>
        <p:spPr>
          <a:xfrm>
            <a:off x="3334817" y="7141665"/>
            <a:ext cx="2658161" cy="0"/>
          </a:xfrm>
          <a:prstGeom prst="line">
            <a:avLst/>
          </a:prstGeom>
          <a:noFill/>
          <a:ln w="3810">
            <a:solidFill>
              <a:srgbClr val="DDDDDD"/>
            </a:solidFill>
            <a:prstDash val="solid"/>
          </a:ln>
        </p:spPr>
      </p:sp>
      <p:sp>
        <p:nvSpPr>
          <p:cNvPr id="256" name="Shape 253"/>
          <p:cNvSpPr/>
          <p:nvPr/>
        </p:nvSpPr>
        <p:spPr>
          <a:xfrm>
            <a:off x="3334817" y="7472148"/>
            <a:ext cx="2658161" cy="0"/>
          </a:xfrm>
          <a:prstGeom prst="line">
            <a:avLst/>
          </a:prstGeom>
          <a:noFill/>
          <a:ln w="3810">
            <a:solidFill>
              <a:srgbClr val="DDDDDD"/>
            </a:solidFill>
            <a:prstDash val="solid"/>
          </a:ln>
        </p:spPr>
      </p:sp>
      <p:sp>
        <p:nvSpPr>
          <p:cNvPr id="257" name="Shape 254"/>
          <p:cNvSpPr/>
          <p:nvPr/>
        </p:nvSpPr>
        <p:spPr>
          <a:xfrm>
            <a:off x="3334817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258" name="Shape 255"/>
          <p:cNvSpPr/>
          <p:nvPr/>
        </p:nvSpPr>
        <p:spPr>
          <a:xfrm>
            <a:off x="3450389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259" name="Shape 256"/>
          <p:cNvSpPr/>
          <p:nvPr/>
        </p:nvSpPr>
        <p:spPr>
          <a:xfrm>
            <a:off x="3565961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260" name="Shape 257"/>
          <p:cNvSpPr/>
          <p:nvPr/>
        </p:nvSpPr>
        <p:spPr>
          <a:xfrm>
            <a:off x="3681533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261" name="Shape 258"/>
          <p:cNvSpPr/>
          <p:nvPr/>
        </p:nvSpPr>
        <p:spPr>
          <a:xfrm>
            <a:off x="3797106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262" name="Shape 259"/>
          <p:cNvSpPr/>
          <p:nvPr/>
        </p:nvSpPr>
        <p:spPr>
          <a:xfrm>
            <a:off x="3912678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263" name="Shape 260"/>
          <p:cNvSpPr/>
          <p:nvPr/>
        </p:nvSpPr>
        <p:spPr>
          <a:xfrm>
            <a:off x="4028250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264" name="Shape 261"/>
          <p:cNvSpPr/>
          <p:nvPr/>
        </p:nvSpPr>
        <p:spPr>
          <a:xfrm>
            <a:off x="4143822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265" name="Shape 262"/>
          <p:cNvSpPr/>
          <p:nvPr/>
        </p:nvSpPr>
        <p:spPr>
          <a:xfrm>
            <a:off x="4259394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266" name="Shape 263"/>
          <p:cNvSpPr/>
          <p:nvPr/>
        </p:nvSpPr>
        <p:spPr>
          <a:xfrm>
            <a:off x="4374967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267" name="Shape 264"/>
          <p:cNvSpPr/>
          <p:nvPr/>
        </p:nvSpPr>
        <p:spPr>
          <a:xfrm>
            <a:off x="4490539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268" name="Shape 265"/>
          <p:cNvSpPr/>
          <p:nvPr/>
        </p:nvSpPr>
        <p:spPr>
          <a:xfrm>
            <a:off x="4606111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269" name="Shape 266"/>
          <p:cNvSpPr/>
          <p:nvPr/>
        </p:nvSpPr>
        <p:spPr>
          <a:xfrm>
            <a:off x="4721683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270" name="Shape 267"/>
          <p:cNvSpPr/>
          <p:nvPr/>
        </p:nvSpPr>
        <p:spPr>
          <a:xfrm>
            <a:off x="4837256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271" name="Shape 268"/>
          <p:cNvSpPr/>
          <p:nvPr/>
        </p:nvSpPr>
        <p:spPr>
          <a:xfrm>
            <a:off x="4952828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272" name="Shape 269"/>
          <p:cNvSpPr/>
          <p:nvPr/>
        </p:nvSpPr>
        <p:spPr>
          <a:xfrm>
            <a:off x="5068400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273" name="Shape 270"/>
          <p:cNvSpPr/>
          <p:nvPr/>
        </p:nvSpPr>
        <p:spPr>
          <a:xfrm>
            <a:off x="5183972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274" name="Shape 271"/>
          <p:cNvSpPr/>
          <p:nvPr/>
        </p:nvSpPr>
        <p:spPr>
          <a:xfrm>
            <a:off x="5299544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275" name="Shape 272"/>
          <p:cNvSpPr/>
          <p:nvPr/>
        </p:nvSpPr>
        <p:spPr>
          <a:xfrm>
            <a:off x="5415117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276" name="Shape 273"/>
          <p:cNvSpPr/>
          <p:nvPr/>
        </p:nvSpPr>
        <p:spPr>
          <a:xfrm>
            <a:off x="5530689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277" name="Shape 274"/>
          <p:cNvSpPr/>
          <p:nvPr/>
        </p:nvSpPr>
        <p:spPr>
          <a:xfrm>
            <a:off x="5646261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278" name="Shape 275"/>
          <p:cNvSpPr/>
          <p:nvPr/>
        </p:nvSpPr>
        <p:spPr>
          <a:xfrm>
            <a:off x="5761833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279" name="Shape 276"/>
          <p:cNvSpPr/>
          <p:nvPr/>
        </p:nvSpPr>
        <p:spPr>
          <a:xfrm>
            <a:off x="5877405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280" name="Shape 277"/>
          <p:cNvSpPr/>
          <p:nvPr/>
        </p:nvSpPr>
        <p:spPr>
          <a:xfrm>
            <a:off x="5992978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281" name="Shape 278"/>
          <p:cNvSpPr/>
          <p:nvPr/>
        </p:nvSpPr>
        <p:spPr>
          <a:xfrm>
            <a:off x="3334817" y="5357060"/>
            <a:ext cx="2658161" cy="0"/>
          </a:xfrm>
          <a:prstGeom prst="line">
            <a:avLst/>
          </a:prstGeom>
          <a:noFill/>
          <a:ln w="12700">
            <a:solidFill>
              <a:srgbClr val="217346"/>
            </a:solidFill>
            <a:prstDash val="dash"/>
          </a:ln>
        </p:spPr>
      </p:sp>
      <p:sp>
        <p:nvSpPr>
          <p:cNvPr id="282" name="Text 279"/>
          <p:cNvSpPr/>
          <p:nvPr/>
        </p:nvSpPr>
        <p:spPr>
          <a:xfrm>
            <a:off x="3334817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50" dirty="0"/>
          </a:p>
        </p:txBody>
      </p:sp>
      <p:sp>
        <p:nvSpPr>
          <p:cNvPr id="283" name="Text 280"/>
          <p:cNvSpPr/>
          <p:nvPr/>
        </p:nvSpPr>
        <p:spPr>
          <a:xfrm>
            <a:off x="3450389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50" dirty="0"/>
          </a:p>
        </p:txBody>
      </p:sp>
      <p:sp>
        <p:nvSpPr>
          <p:cNvPr id="284" name="Text 281"/>
          <p:cNvSpPr/>
          <p:nvPr/>
        </p:nvSpPr>
        <p:spPr>
          <a:xfrm>
            <a:off x="3565961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50" dirty="0"/>
          </a:p>
        </p:txBody>
      </p:sp>
      <p:sp>
        <p:nvSpPr>
          <p:cNvPr id="285" name="Text 282"/>
          <p:cNvSpPr/>
          <p:nvPr/>
        </p:nvSpPr>
        <p:spPr>
          <a:xfrm>
            <a:off x="3681533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50" dirty="0"/>
          </a:p>
        </p:txBody>
      </p:sp>
      <p:sp>
        <p:nvSpPr>
          <p:cNvPr id="286" name="Text 283"/>
          <p:cNvSpPr/>
          <p:nvPr/>
        </p:nvSpPr>
        <p:spPr>
          <a:xfrm>
            <a:off x="3797106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450" dirty="0"/>
          </a:p>
        </p:txBody>
      </p:sp>
      <p:sp>
        <p:nvSpPr>
          <p:cNvPr id="287" name="Text 284"/>
          <p:cNvSpPr/>
          <p:nvPr/>
        </p:nvSpPr>
        <p:spPr>
          <a:xfrm>
            <a:off x="3912678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450" dirty="0"/>
          </a:p>
        </p:txBody>
      </p:sp>
      <p:sp>
        <p:nvSpPr>
          <p:cNvPr id="288" name="Text 285"/>
          <p:cNvSpPr/>
          <p:nvPr/>
        </p:nvSpPr>
        <p:spPr>
          <a:xfrm>
            <a:off x="4028250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450" dirty="0"/>
          </a:p>
        </p:txBody>
      </p:sp>
      <p:sp>
        <p:nvSpPr>
          <p:cNvPr id="289" name="Text 286"/>
          <p:cNvSpPr/>
          <p:nvPr/>
        </p:nvSpPr>
        <p:spPr>
          <a:xfrm>
            <a:off x="4143822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450" dirty="0"/>
          </a:p>
        </p:txBody>
      </p:sp>
      <p:sp>
        <p:nvSpPr>
          <p:cNvPr id="290" name="Text 287"/>
          <p:cNvSpPr/>
          <p:nvPr/>
        </p:nvSpPr>
        <p:spPr>
          <a:xfrm>
            <a:off x="4259394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450" dirty="0"/>
          </a:p>
        </p:txBody>
      </p:sp>
      <p:sp>
        <p:nvSpPr>
          <p:cNvPr id="291" name="Text 288"/>
          <p:cNvSpPr/>
          <p:nvPr/>
        </p:nvSpPr>
        <p:spPr>
          <a:xfrm>
            <a:off x="4374967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450" dirty="0"/>
          </a:p>
        </p:txBody>
      </p:sp>
      <p:sp>
        <p:nvSpPr>
          <p:cNvPr id="292" name="Text 289"/>
          <p:cNvSpPr/>
          <p:nvPr/>
        </p:nvSpPr>
        <p:spPr>
          <a:xfrm>
            <a:off x="4490539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450" dirty="0"/>
          </a:p>
        </p:txBody>
      </p:sp>
      <p:sp>
        <p:nvSpPr>
          <p:cNvPr id="293" name="Text 290"/>
          <p:cNvSpPr/>
          <p:nvPr/>
        </p:nvSpPr>
        <p:spPr>
          <a:xfrm>
            <a:off x="4606111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450" dirty="0"/>
          </a:p>
        </p:txBody>
      </p:sp>
      <p:sp>
        <p:nvSpPr>
          <p:cNvPr id="294" name="Text 291"/>
          <p:cNvSpPr/>
          <p:nvPr/>
        </p:nvSpPr>
        <p:spPr>
          <a:xfrm>
            <a:off x="4721683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450" dirty="0"/>
          </a:p>
        </p:txBody>
      </p:sp>
      <p:sp>
        <p:nvSpPr>
          <p:cNvPr id="295" name="Text 292"/>
          <p:cNvSpPr/>
          <p:nvPr/>
        </p:nvSpPr>
        <p:spPr>
          <a:xfrm>
            <a:off x="4837256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450" dirty="0"/>
          </a:p>
        </p:txBody>
      </p:sp>
      <p:sp>
        <p:nvSpPr>
          <p:cNvPr id="296" name="Text 293"/>
          <p:cNvSpPr/>
          <p:nvPr/>
        </p:nvSpPr>
        <p:spPr>
          <a:xfrm>
            <a:off x="4952828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450" dirty="0"/>
          </a:p>
        </p:txBody>
      </p:sp>
      <p:sp>
        <p:nvSpPr>
          <p:cNvPr id="297" name="Text 294"/>
          <p:cNvSpPr/>
          <p:nvPr/>
        </p:nvSpPr>
        <p:spPr>
          <a:xfrm>
            <a:off x="5068400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450" dirty="0"/>
          </a:p>
        </p:txBody>
      </p:sp>
      <p:sp>
        <p:nvSpPr>
          <p:cNvPr id="298" name="Text 295"/>
          <p:cNvSpPr/>
          <p:nvPr/>
        </p:nvSpPr>
        <p:spPr>
          <a:xfrm>
            <a:off x="5183972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450" dirty="0"/>
          </a:p>
        </p:txBody>
      </p:sp>
      <p:sp>
        <p:nvSpPr>
          <p:cNvPr id="299" name="Text 296"/>
          <p:cNvSpPr/>
          <p:nvPr/>
        </p:nvSpPr>
        <p:spPr>
          <a:xfrm>
            <a:off x="5299544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450" dirty="0"/>
          </a:p>
        </p:txBody>
      </p:sp>
      <p:sp>
        <p:nvSpPr>
          <p:cNvPr id="300" name="Text 297"/>
          <p:cNvSpPr/>
          <p:nvPr/>
        </p:nvSpPr>
        <p:spPr>
          <a:xfrm>
            <a:off x="5415117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450" dirty="0"/>
          </a:p>
        </p:txBody>
      </p:sp>
      <p:sp>
        <p:nvSpPr>
          <p:cNvPr id="301" name="Text 298"/>
          <p:cNvSpPr/>
          <p:nvPr/>
        </p:nvSpPr>
        <p:spPr>
          <a:xfrm>
            <a:off x="5530689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450" dirty="0"/>
          </a:p>
        </p:txBody>
      </p:sp>
      <p:sp>
        <p:nvSpPr>
          <p:cNvPr id="302" name="Text 299"/>
          <p:cNvSpPr/>
          <p:nvPr/>
        </p:nvSpPr>
        <p:spPr>
          <a:xfrm>
            <a:off x="5646261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450" dirty="0"/>
          </a:p>
        </p:txBody>
      </p:sp>
      <p:sp>
        <p:nvSpPr>
          <p:cNvPr id="303" name="Text 300"/>
          <p:cNvSpPr/>
          <p:nvPr/>
        </p:nvSpPr>
        <p:spPr>
          <a:xfrm>
            <a:off x="5761833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450" dirty="0"/>
          </a:p>
        </p:txBody>
      </p:sp>
      <p:sp>
        <p:nvSpPr>
          <p:cNvPr id="304" name="Text 301"/>
          <p:cNvSpPr/>
          <p:nvPr/>
        </p:nvSpPr>
        <p:spPr>
          <a:xfrm>
            <a:off x="5877405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450" dirty="0"/>
          </a:p>
        </p:txBody>
      </p:sp>
      <p:sp>
        <p:nvSpPr>
          <p:cNvPr id="305" name="Text 302"/>
          <p:cNvSpPr/>
          <p:nvPr/>
        </p:nvSpPr>
        <p:spPr>
          <a:xfrm>
            <a:off x="3334817" y="7600164"/>
            <a:ext cx="2658161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DAYS</a:t>
            </a:r>
            <a:endParaRPr lang="en-US" sz="500" dirty="0"/>
          </a:p>
        </p:txBody>
      </p:sp>
      <p:sp>
        <p:nvSpPr>
          <p:cNvPr id="306" name="Shape 303"/>
          <p:cNvSpPr/>
          <p:nvPr/>
        </p:nvSpPr>
        <p:spPr>
          <a:xfrm>
            <a:off x="3115361" y="7636740"/>
            <a:ext cx="274320" cy="0"/>
          </a:xfrm>
          <a:prstGeom prst="line">
            <a:avLst/>
          </a:prstGeom>
          <a:noFill/>
          <a:ln w="12700">
            <a:solidFill>
              <a:srgbClr val="217346"/>
            </a:solidFill>
            <a:prstDash val="dash"/>
          </a:ln>
        </p:spPr>
      </p:sp>
      <p:sp>
        <p:nvSpPr>
          <p:cNvPr id="307" name="Text 304"/>
          <p:cNvSpPr/>
          <p:nvPr/>
        </p:nvSpPr>
        <p:spPr>
          <a:xfrm>
            <a:off x="3407969" y="7600164"/>
            <a:ext cx="5486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50" b="1" dirty="0">
                <a:solidFill>
                  <a:srgbClr val="217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450" dirty="0"/>
          </a:p>
        </p:txBody>
      </p:sp>
      <p:sp>
        <p:nvSpPr>
          <p:cNvPr id="308" name="Shape 305"/>
          <p:cNvSpPr/>
          <p:nvPr/>
        </p:nvSpPr>
        <p:spPr>
          <a:xfrm>
            <a:off x="4084625" y="7636740"/>
            <a:ext cx="274320" cy="0"/>
          </a:xfrm>
          <a:prstGeom prst="line">
            <a:avLst/>
          </a:prstGeom>
          <a:noFill/>
          <a:ln w="15240">
            <a:solidFill>
              <a:srgbClr val="C00000"/>
            </a:solidFill>
            <a:prstDash val="solid"/>
          </a:ln>
        </p:spPr>
      </p:sp>
      <p:sp>
        <p:nvSpPr>
          <p:cNvPr id="309" name="Text 306"/>
          <p:cNvSpPr/>
          <p:nvPr/>
        </p:nvSpPr>
        <p:spPr>
          <a:xfrm>
            <a:off x="4377233" y="7600164"/>
            <a:ext cx="5486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</a:t>
            </a:r>
            <a:endParaRPr lang="en-US" sz="450" dirty="0"/>
          </a:p>
        </p:txBody>
      </p:sp>
      <p:sp>
        <p:nvSpPr>
          <p:cNvPr id="310" name="Text 307"/>
          <p:cNvSpPr/>
          <p:nvPr/>
        </p:nvSpPr>
        <p:spPr>
          <a:xfrm>
            <a:off x="4932274" y="7600164"/>
            <a:ext cx="1051560" cy="128016"/>
          </a:xfrm>
          <a:prstGeom prst="rect">
            <a:avLst/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≥97%</a:t>
            </a:r>
            <a:endParaRPr lang="en-US" sz="450" dirty="0"/>
          </a:p>
        </p:txBody>
      </p:sp>
      <p:sp>
        <p:nvSpPr>
          <p:cNvPr id="311" name="Shape 308"/>
          <p:cNvSpPr/>
          <p:nvPr/>
        </p:nvSpPr>
        <p:spPr>
          <a:xfrm>
            <a:off x="3078785" y="7783044"/>
            <a:ext cx="1466240" cy="140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5B595A"/>
            </a:solidFill>
            <a:prstDash val="solid"/>
          </a:ln>
        </p:spPr>
      </p:sp>
      <p:sp>
        <p:nvSpPr>
          <p:cNvPr id="312" name="Text 309"/>
          <p:cNvSpPr/>
          <p:nvPr/>
        </p:nvSpPr>
        <p:spPr>
          <a:xfrm>
            <a:off x="3078785" y="7783044"/>
            <a:ext cx="1466240" cy="201168"/>
          </a:xfrm>
          <a:prstGeom prst="rect">
            <a:avLst/>
          </a:prstGeom>
          <a:solidFill>
            <a:srgbClr val="5B595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PASS YIELD</a:t>
            </a:r>
            <a:endParaRPr lang="en-US" sz="650" dirty="0"/>
          </a:p>
        </p:txBody>
      </p:sp>
      <p:sp>
        <p:nvSpPr>
          <p:cNvPr id="313" name="Shape 310"/>
          <p:cNvSpPr/>
          <p:nvPr/>
        </p:nvSpPr>
        <p:spPr>
          <a:xfrm>
            <a:off x="3078785" y="7984212"/>
            <a:ext cx="1466240" cy="541598"/>
          </a:xfrm>
          <a:prstGeom prst="rect">
            <a:avLst/>
          </a:prstGeom>
          <a:solidFill>
            <a:srgbClr val="E8F5EE"/>
          </a:solidFill>
          <a:ln w="3175">
            <a:solidFill>
              <a:srgbClr val="D0D0D0"/>
            </a:solidFill>
            <a:prstDash val="solid"/>
          </a:ln>
        </p:spPr>
      </p:sp>
      <p:sp>
        <p:nvSpPr>
          <p:cNvPr id="314" name="Text 311"/>
          <p:cNvSpPr/>
          <p:nvPr/>
        </p:nvSpPr>
        <p:spPr>
          <a:xfrm>
            <a:off x="3078785" y="7984212"/>
            <a:ext cx="1466240" cy="5415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17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217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97% first pass</a:t>
            </a:r>
            <a:endParaRPr lang="en-US" sz="600" dirty="0"/>
          </a:p>
        </p:txBody>
      </p:sp>
      <p:sp>
        <p:nvSpPr>
          <p:cNvPr id="315" name="Shape 312"/>
          <p:cNvSpPr/>
          <p:nvPr/>
        </p:nvSpPr>
        <p:spPr>
          <a:xfrm>
            <a:off x="3078785" y="8525810"/>
            <a:ext cx="1466240" cy="661953"/>
          </a:xfrm>
          <a:prstGeom prst="rect">
            <a:avLst/>
          </a:prstGeom>
          <a:solidFill>
            <a:srgbClr val="F2F2F2"/>
          </a:solidFill>
          <a:ln w="3175">
            <a:solidFill>
              <a:srgbClr val="D0D0D0"/>
            </a:solidFill>
            <a:prstDash val="solid"/>
          </a:ln>
        </p:spPr>
      </p:sp>
      <p:sp>
        <p:nvSpPr>
          <p:cNvPr id="316" name="Text 313"/>
          <p:cNvSpPr/>
          <p:nvPr/>
        </p:nvSpPr>
        <p:spPr>
          <a:xfrm>
            <a:off x="3078785" y="8525810"/>
            <a:ext cx="1466240" cy="661953"/>
          </a:xfrm>
          <a:prstGeom prst="rect">
            <a:avLst/>
          </a:prstGeom>
          <a:noFill/>
          <a:ln/>
        </p:spPr>
        <p:txBody>
          <a:bodyPr wrap="square" lIns="2540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
</a:t>
            </a:r>
            <a:endParaRPr lang="en-US" sz="600" dirty="0"/>
          </a:p>
        </p:txBody>
      </p:sp>
      <p:sp>
        <p:nvSpPr>
          <p:cNvPr id="317" name="Shape 314"/>
          <p:cNvSpPr/>
          <p:nvPr/>
        </p:nvSpPr>
        <p:spPr>
          <a:xfrm>
            <a:off x="4563313" y="7783044"/>
            <a:ext cx="1466240" cy="140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5B595A"/>
            </a:solidFill>
            <a:prstDash val="solid"/>
          </a:ln>
        </p:spPr>
      </p:sp>
      <p:sp>
        <p:nvSpPr>
          <p:cNvPr id="318" name="Text 315"/>
          <p:cNvSpPr/>
          <p:nvPr/>
        </p:nvSpPr>
        <p:spPr>
          <a:xfrm>
            <a:off x="4563313" y="7783044"/>
            <a:ext cx="1466240" cy="201168"/>
          </a:xfrm>
          <a:prstGeom prst="rect">
            <a:avLst/>
          </a:prstGeom>
          <a:solidFill>
            <a:srgbClr val="5B595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NCRs THIS MONTH</a:t>
            </a:r>
            <a:endParaRPr lang="en-US" sz="650" dirty="0"/>
          </a:p>
        </p:txBody>
      </p:sp>
      <p:sp>
        <p:nvSpPr>
          <p:cNvPr id="319" name="Shape 316"/>
          <p:cNvSpPr/>
          <p:nvPr/>
        </p:nvSpPr>
        <p:spPr>
          <a:xfrm>
            <a:off x="4563313" y="7984212"/>
            <a:ext cx="1466240" cy="541598"/>
          </a:xfrm>
          <a:prstGeom prst="rect">
            <a:avLst/>
          </a:prstGeom>
          <a:solidFill>
            <a:srgbClr val="E8F5EE"/>
          </a:solidFill>
          <a:ln w="3175">
            <a:solidFill>
              <a:srgbClr val="D0D0D0"/>
            </a:solidFill>
            <a:prstDash val="solid"/>
          </a:ln>
        </p:spPr>
      </p:sp>
      <p:sp>
        <p:nvSpPr>
          <p:cNvPr id="320" name="Text 317"/>
          <p:cNvSpPr/>
          <p:nvPr/>
        </p:nvSpPr>
        <p:spPr>
          <a:xfrm>
            <a:off x="4563313" y="7984212"/>
            <a:ext cx="1466240" cy="5415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17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217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 3/month</a:t>
            </a:r>
            <a:endParaRPr lang="en-US" sz="600" dirty="0"/>
          </a:p>
        </p:txBody>
      </p:sp>
      <p:sp>
        <p:nvSpPr>
          <p:cNvPr id="321" name="Shape 318"/>
          <p:cNvSpPr/>
          <p:nvPr/>
        </p:nvSpPr>
        <p:spPr>
          <a:xfrm>
            <a:off x="4563313" y="8525810"/>
            <a:ext cx="1466240" cy="661953"/>
          </a:xfrm>
          <a:prstGeom prst="rect">
            <a:avLst/>
          </a:prstGeom>
          <a:solidFill>
            <a:srgbClr val="F2F2F2"/>
          </a:solidFill>
          <a:ln w="3175">
            <a:solidFill>
              <a:srgbClr val="D0D0D0"/>
            </a:solidFill>
            <a:prstDash val="solid"/>
          </a:ln>
        </p:spPr>
      </p:sp>
      <p:sp>
        <p:nvSpPr>
          <p:cNvPr id="322" name="Text 319"/>
          <p:cNvSpPr/>
          <p:nvPr/>
        </p:nvSpPr>
        <p:spPr>
          <a:xfrm>
            <a:off x="4563313" y="8525810"/>
            <a:ext cx="1466240" cy="661953"/>
          </a:xfrm>
          <a:prstGeom prst="rect">
            <a:avLst/>
          </a:prstGeom>
          <a:noFill/>
          <a:ln/>
        </p:spPr>
        <p:txBody>
          <a:bodyPr wrap="square" lIns="2540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
</a:t>
            </a:r>
            <a:endParaRPr lang="en-US" sz="600" dirty="0"/>
          </a:p>
        </p:txBody>
      </p:sp>
      <p:sp>
        <p:nvSpPr>
          <p:cNvPr id="323" name="Shape 320"/>
          <p:cNvSpPr/>
          <p:nvPr/>
        </p:nvSpPr>
        <p:spPr>
          <a:xfrm>
            <a:off x="3078785" y="9224339"/>
            <a:ext cx="2950769" cy="1358012"/>
          </a:xfrm>
          <a:prstGeom prst="rect">
            <a:avLst/>
          </a:prstGeom>
          <a:solidFill>
            <a:srgbClr val="FFFFFF"/>
          </a:solidFill>
          <a:ln w="12700">
            <a:solidFill>
              <a:srgbClr val="5B595A"/>
            </a:solidFill>
            <a:prstDash val="solid"/>
          </a:ln>
        </p:spPr>
      </p:sp>
      <p:sp>
        <p:nvSpPr>
          <p:cNvPr id="324" name="Text 321"/>
          <p:cNvSpPr/>
          <p:nvPr/>
        </p:nvSpPr>
        <p:spPr>
          <a:xfrm>
            <a:off x="3078785" y="9224339"/>
            <a:ext cx="2950769" cy="201168"/>
          </a:xfrm>
          <a:prstGeom prst="rect">
            <a:avLst/>
          </a:prstGeom>
          <a:solidFill>
            <a:srgbClr val="5B595A"/>
          </a:solidFill>
          <a:ln/>
        </p:spPr>
        <p:txBody>
          <a:bodyPr wrap="square" lIns="0" tIns="5080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IMPROVEMENT ACTIONS</a:t>
            </a:r>
            <a:endParaRPr lang="en-US" sz="650" dirty="0"/>
          </a:p>
        </p:txBody>
      </p:sp>
      <p:sp>
        <p:nvSpPr>
          <p:cNvPr id="326" name="Shape 323"/>
          <p:cNvSpPr/>
          <p:nvPr/>
        </p:nvSpPr>
        <p:spPr>
          <a:xfrm>
            <a:off x="3078785" y="9443795"/>
            <a:ext cx="502920" cy="180615"/>
          </a:xfrm>
          <a:prstGeom prst="rect">
            <a:avLst/>
          </a:prstGeom>
          <a:solidFill>
            <a:srgbClr val="F2F2F2"/>
          </a:solidFill>
          <a:ln w="3175">
            <a:solidFill>
              <a:srgbClr val="D0D0D0"/>
            </a:solidFill>
            <a:prstDash val="solid"/>
          </a:ln>
        </p:spPr>
      </p:sp>
      <p:sp>
        <p:nvSpPr>
          <p:cNvPr id="328" name="Shape 325"/>
          <p:cNvSpPr/>
          <p:nvPr/>
        </p:nvSpPr>
        <p:spPr>
          <a:xfrm>
            <a:off x="3078785" y="9633555"/>
            <a:ext cx="502920" cy="180615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  <a:prstDash val="solid"/>
          </a:ln>
        </p:spPr>
      </p:sp>
      <p:sp>
        <p:nvSpPr>
          <p:cNvPr id="330" name="Shape 327"/>
          <p:cNvSpPr/>
          <p:nvPr/>
        </p:nvSpPr>
        <p:spPr>
          <a:xfrm>
            <a:off x="3078785" y="9823314"/>
            <a:ext cx="502920" cy="180615"/>
          </a:xfrm>
          <a:prstGeom prst="rect">
            <a:avLst/>
          </a:prstGeom>
          <a:solidFill>
            <a:srgbClr val="F2F2F2"/>
          </a:solidFill>
          <a:ln w="3175">
            <a:solidFill>
              <a:srgbClr val="D0D0D0"/>
            </a:solidFill>
            <a:prstDash val="solid"/>
          </a:ln>
        </p:spPr>
      </p:sp>
      <p:sp>
        <p:nvSpPr>
          <p:cNvPr id="332" name="Shape 329"/>
          <p:cNvSpPr/>
          <p:nvPr/>
        </p:nvSpPr>
        <p:spPr>
          <a:xfrm>
            <a:off x="3078785" y="10013073"/>
            <a:ext cx="502920" cy="180615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  <a:prstDash val="solid"/>
          </a:ln>
        </p:spPr>
      </p:sp>
      <p:sp>
        <p:nvSpPr>
          <p:cNvPr id="334" name="Shape 331"/>
          <p:cNvSpPr/>
          <p:nvPr/>
        </p:nvSpPr>
        <p:spPr>
          <a:xfrm>
            <a:off x="3078785" y="10202833"/>
            <a:ext cx="502920" cy="180615"/>
          </a:xfrm>
          <a:prstGeom prst="rect">
            <a:avLst/>
          </a:prstGeom>
          <a:solidFill>
            <a:srgbClr val="F2F2F2"/>
          </a:solidFill>
          <a:ln w="3175">
            <a:solidFill>
              <a:srgbClr val="D0D0D0"/>
            </a:solidFill>
            <a:prstDash val="solid"/>
          </a:ln>
        </p:spPr>
      </p:sp>
      <p:sp>
        <p:nvSpPr>
          <p:cNvPr id="336" name="Shape 333"/>
          <p:cNvSpPr/>
          <p:nvPr/>
        </p:nvSpPr>
        <p:spPr>
          <a:xfrm>
            <a:off x="3078785" y="10392592"/>
            <a:ext cx="502920" cy="180615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  <a:prstDash val="solid"/>
          </a:ln>
        </p:spPr>
      </p:sp>
      <p:sp>
        <p:nvSpPr>
          <p:cNvPr id="337" name="Shape 334"/>
          <p:cNvSpPr/>
          <p:nvPr/>
        </p:nvSpPr>
        <p:spPr>
          <a:xfrm>
            <a:off x="6066130" y="548640"/>
            <a:ext cx="2950769" cy="320040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338" name="Text 335"/>
          <p:cNvSpPr/>
          <p:nvPr/>
        </p:nvSpPr>
        <p:spPr>
          <a:xfrm>
            <a:off x="6066130" y="548640"/>
            <a:ext cx="295076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D: DELIVERY</a:t>
            </a:r>
            <a:endParaRPr lang="en-US" sz="1100" dirty="0"/>
          </a:p>
        </p:txBody>
      </p:sp>
      <p:sp>
        <p:nvSpPr>
          <p:cNvPr id="339" name="Shape 336"/>
          <p:cNvSpPr/>
          <p:nvPr/>
        </p:nvSpPr>
        <p:spPr>
          <a:xfrm>
            <a:off x="6066130" y="886968"/>
            <a:ext cx="2950769" cy="3612136"/>
          </a:xfrm>
          <a:prstGeom prst="rect">
            <a:avLst/>
          </a:prstGeom>
          <a:solidFill>
            <a:srgbClr val="F2F2F2"/>
          </a:solidFill>
          <a:ln w="19050">
            <a:solidFill>
              <a:srgbClr val="009FE3"/>
            </a:solidFill>
            <a:prstDash val="solid"/>
          </a:ln>
        </p:spPr>
      </p:sp>
      <p:sp>
        <p:nvSpPr>
          <p:cNvPr id="340" name="Text 337"/>
          <p:cNvSpPr/>
          <p:nvPr/>
        </p:nvSpPr>
        <p:spPr>
          <a:xfrm>
            <a:off x="6066130" y="886968"/>
            <a:ext cx="2950769" cy="292608"/>
          </a:xfrm>
          <a:prstGeom prst="rect">
            <a:avLst/>
          </a:prstGeom>
          <a:solidFill>
            <a:srgbClr val="009FE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</a:t>
            </a:r>
            <a:endParaRPr lang="en-US" sz="900" dirty="0"/>
          </a:p>
        </p:txBody>
      </p:sp>
      <p:sp>
        <p:nvSpPr>
          <p:cNvPr id="341" name="Shape 338"/>
          <p:cNvSpPr/>
          <p:nvPr/>
        </p:nvSpPr>
        <p:spPr>
          <a:xfrm>
            <a:off x="6102706" y="1234440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342" name="Text 339"/>
          <p:cNvSpPr/>
          <p:nvPr/>
        </p:nvSpPr>
        <p:spPr>
          <a:xfrm>
            <a:off x="6102706" y="1234440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50" dirty="0"/>
          </a:p>
        </p:txBody>
      </p:sp>
      <p:sp>
        <p:nvSpPr>
          <p:cNvPr id="343" name="Shape 340"/>
          <p:cNvSpPr/>
          <p:nvPr/>
        </p:nvSpPr>
        <p:spPr>
          <a:xfrm>
            <a:off x="6822110" y="1234440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344" name="Text 341"/>
          <p:cNvSpPr/>
          <p:nvPr/>
        </p:nvSpPr>
        <p:spPr>
          <a:xfrm>
            <a:off x="6822110" y="1234440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50" dirty="0"/>
          </a:p>
        </p:txBody>
      </p:sp>
      <p:sp>
        <p:nvSpPr>
          <p:cNvPr id="345" name="Shape 342"/>
          <p:cNvSpPr/>
          <p:nvPr/>
        </p:nvSpPr>
        <p:spPr>
          <a:xfrm>
            <a:off x="7541514" y="1234440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346" name="Text 343"/>
          <p:cNvSpPr/>
          <p:nvPr/>
        </p:nvSpPr>
        <p:spPr>
          <a:xfrm>
            <a:off x="7541514" y="1234440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50" dirty="0"/>
          </a:p>
        </p:txBody>
      </p:sp>
      <p:sp>
        <p:nvSpPr>
          <p:cNvPr id="347" name="Shape 344"/>
          <p:cNvSpPr/>
          <p:nvPr/>
        </p:nvSpPr>
        <p:spPr>
          <a:xfrm>
            <a:off x="8260918" y="1234440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348" name="Text 345"/>
          <p:cNvSpPr/>
          <p:nvPr/>
        </p:nvSpPr>
        <p:spPr>
          <a:xfrm>
            <a:off x="8260918" y="1234440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50" dirty="0"/>
          </a:p>
        </p:txBody>
      </p:sp>
      <p:sp>
        <p:nvSpPr>
          <p:cNvPr id="349" name="Shape 346"/>
          <p:cNvSpPr/>
          <p:nvPr/>
        </p:nvSpPr>
        <p:spPr>
          <a:xfrm>
            <a:off x="6102706" y="1637951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350" name="Text 347"/>
          <p:cNvSpPr/>
          <p:nvPr/>
        </p:nvSpPr>
        <p:spPr>
          <a:xfrm>
            <a:off x="6102706" y="1637951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550" dirty="0"/>
          </a:p>
        </p:txBody>
      </p:sp>
      <p:sp>
        <p:nvSpPr>
          <p:cNvPr id="351" name="Shape 348"/>
          <p:cNvSpPr/>
          <p:nvPr/>
        </p:nvSpPr>
        <p:spPr>
          <a:xfrm>
            <a:off x="6822110" y="1637951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352" name="Text 349"/>
          <p:cNvSpPr/>
          <p:nvPr/>
        </p:nvSpPr>
        <p:spPr>
          <a:xfrm>
            <a:off x="6822110" y="1637951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550" dirty="0"/>
          </a:p>
        </p:txBody>
      </p:sp>
      <p:sp>
        <p:nvSpPr>
          <p:cNvPr id="353" name="Shape 350"/>
          <p:cNvSpPr/>
          <p:nvPr/>
        </p:nvSpPr>
        <p:spPr>
          <a:xfrm>
            <a:off x="7541514" y="1637951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354" name="Text 351"/>
          <p:cNvSpPr/>
          <p:nvPr/>
        </p:nvSpPr>
        <p:spPr>
          <a:xfrm>
            <a:off x="7541514" y="1637951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550" dirty="0"/>
          </a:p>
        </p:txBody>
      </p:sp>
      <p:sp>
        <p:nvSpPr>
          <p:cNvPr id="355" name="Shape 352"/>
          <p:cNvSpPr/>
          <p:nvPr/>
        </p:nvSpPr>
        <p:spPr>
          <a:xfrm>
            <a:off x="8260918" y="1637951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356" name="Text 353"/>
          <p:cNvSpPr/>
          <p:nvPr/>
        </p:nvSpPr>
        <p:spPr>
          <a:xfrm>
            <a:off x="8260918" y="1637951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550" dirty="0"/>
          </a:p>
        </p:txBody>
      </p:sp>
      <p:sp>
        <p:nvSpPr>
          <p:cNvPr id="357" name="Shape 354"/>
          <p:cNvSpPr/>
          <p:nvPr/>
        </p:nvSpPr>
        <p:spPr>
          <a:xfrm>
            <a:off x="6102706" y="2041462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358" name="Text 355"/>
          <p:cNvSpPr/>
          <p:nvPr/>
        </p:nvSpPr>
        <p:spPr>
          <a:xfrm>
            <a:off x="6102706" y="2041462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550" dirty="0"/>
          </a:p>
        </p:txBody>
      </p:sp>
      <p:sp>
        <p:nvSpPr>
          <p:cNvPr id="359" name="Shape 356"/>
          <p:cNvSpPr/>
          <p:nvPr/>
        </p:nvSpPr>
        <p:spPr>
          <a:xfrm>
            <a:off x="6822110" y="2041462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360" name="Text 357"/>
          <p:cNvSpPr/>
          <p:nvPr/>
        </p:nvSpPr>
        <p:spPr>
          <a:xfrm>
            <a:off x="6822110" y="2041462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550" dirty="0"/>
          </a:p>
        </p:txBody>
      </p:sp>
      <p:sp>
        <p:nvSpPr>
          <p:cNvPr id="361" name="Shape 358"/>
          <p:cNvSpPr/>
          <p:nvPr/>
        </p:nvSpPr>
        <p:spPr>
          <a:xfrm>
            <a:off x="7541514" y="2041462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362" name="Text 359"/>
          <p:cNvSpPr/>
          <p:nvPr/>
        </p:nvSpPr>
        <p:spPr>
          <a:xfrm>
            <a:off x="7541514" y="2041462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550" dirty="0"/>
          </a:p>
        </p:txBody>
      </p:sp>
      <p:sp>
        <p:nvSpPr>
          <p:cNvPr id="363" name="Shape 360"/>
          <p:cNvSpPr/>
          <p:nvPr/>
        </p:nvSpPr>
        <p:spPr>
          <a:xfrm>
            <a:off x="8260918" y="2041462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364" name="Text 361"/>
          <p:cNvSpPr/>
          <p:nvPr/>
        </p:nvSpPr>
        <p:spPr>
          <a:xfrm>
            <a:off x="8260918" y="2041462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550" dirty="0"/>
          </a:p>
        </p:txBody>
      </p:sp>
      <p:sp>
        <p:nvSpPr>
          <p:cNvPr id="365" name="Shape 362"/>
          <p:cNvSpPr/>
          <p:nvPr/>
        </p:nvSpPr>
        <p:spPr>
          <a:xfrm>
            <a:off x="6102706" y="2444973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366" name="Text 363"/>
          <p:cNvSpPr/>
          <p:nvPr/>
        </p:nvSpPr>
        <p:spPr>
          <a:xfrm>
            <a:off x="6102706" y="2444973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550" dirty="0"/>
          </a:p>
        </p:txBody>
      </p:sp>
      <p:sp>
        <p:nvSpPr>
          <p:cNvPr id="367" name="Shape 364"/>
          <p:cNvSpPr/>
          <p:nvPr/>
        </p:nvSpPr>
        <p:spPr>
          <a:xfrm>
            <a:off x="6822110" y="2444973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368" name="Text 365"/>
          <p:cNvSpPr/>
          <p:nvPr/>
        </p:nvSpPr>
        <p:spPr>
          <a:xfrm>
            <a:off x="6822110" y="2444973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550" dirty="0"/>
          </a:p>
        </p:txBody>
      </p:sp>
      <p:sp>
        <p:nvSpPr>
          <p:cNvPr id="369" name="Shape 366"/>
          <p:cNvSpPr/>
          <p:nvPr/>
        </p:nvSpPr>
        <p:spPr>
          <a:xfrm>
            <a:off x="7541514" y="2444973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370" name="Text 367"/>
          <p:cNvSpPr/>
          <p:nvPr/>
        </p:nvSpPr>
        <p:spPr>
          <a:xfrm>
            <a:off x="7541514" y="2444973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550" dirty="0"/>
          </a:p>
        </p:txBody>
      </p:sp>
      <p:sp>
        <p:nvSpPr>
          <p:cNvPr id="371" name="Shape 368"/>
          <p:cNvSpPr/>
          <p:nvPr/>
        </p:nvSpPr>
        <p:spPr>
          <a:xfrm>
            <a:off x="8260918" y="2444973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372" name="Text 369"/>
          <p:cNvSpPr/>
          <p:nvPr/>
        </p:nvSpPr>
        <p:spPr>
          <a:xfrm>
            <a:off x="8260918" y="2444973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550" dirty="0"/>
          </a:p>
        </p:txBody>
      </p:sp>
      <p:sp>
        <p:nvSpPr>
          <p:cNvPr id="373" name="Shape 370"/>
          <p:cNvSpPr/>
          <p:nvPr/>
        </p:nvSpPr>
        <p:spPr>
          <a:xfrm>
            <a:off x="6102706" y="2848484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374" name="Text 371"/>
          <p:cNvSpPr/>
          <p:nvPr/>
        </p:nvSpPr>
        <p:spPr>
          <a:xfrm>
            <a:off x="6102706" y="2848484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550" dirty="0"/>
          </a:p>
        </p:txBody>
      </p:sp>
      <p:sp>
        <p:nvSpPr>
          <p:cNvPr id="375" name="Shape 372"/>
          <p:cNvSpPr/>
          <p:nvPr/>
        </p:nvSpPr>
        <p:spPr>
          <a:xfrm>
            <a:off x="6822110" y="2848484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376" name="Text 373"/>
          <p:cNvSpPr/>
          <p:nvPr/>
        </p:nvSpPr>
        <p:spPr>
          <a:xfrm>
            <a:off x="6822110" y="2848484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550" dirty="0"/>
          </a:p>
        </p:txBody>
      </p:sp>
      <p:sp>
        <p:nvSpPr>
          <p:cNvPr id="377" name="Shape 374"/>
          <p:cNvSpPr/>
          <p:nvPr/>
        </p:nvSpPr>
        <p:spPr>
          <a:xfrm>
            <a:off x="7541514" y="2848484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378" name="Text 375"/>
          <p:cNvSpPr/>
          <p:nvPr/>
        </p:nvSpPr>
        <p:spPr>
          <a:xfrm>
            <a:off x="7541514" y="2848484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550" dirty="0"/>
          </a:p>
        </p:txBody>
      </p:sp>
      <p:sp>
        <p:nvSpPr>
          <p:cNvPr id="379" name="Shape 376"/>
          <p:cNvSpPr/>
          <p:nvPr/>
        </p:nvSpPr>
        <p:spPr>
          <a:xfrm>
            <a:off x="8260918" y="2848484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380" name="Text 377"/>
          <p:cNvSpPr/>
          <p:nvPr/>
        </p:nvSpPr>
        <p:spPr>
          <a:xfrm>
            <a:off x="8260918" y="2848484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550" dirty="0"/>
          </a:p>
        </p:txBody>
      </p:sp>
      <p:sp>
        <p:nvSpPr>
          <p:cNvPr id="381" name="Shape 378"/>
          <p:cNvSpPr/>
          <p:nvPr/>
        </p:nvSpPr>
        <p:spPr>
          <a:xfrm>
            <a:off x="6102706" y="3251995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382" name="Text 379"/>
          <p:cNvSpPr/>
          <p:nvPr/>
        </p:nvSpPr>
        <p:spPr>
          <a:xfrm>
            <a:off x="6102706" y="3251995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550" dirty="0"/>
          </a:p>
        </p:txBody>
      </p:sp>
      <p:sp>
        <p:nvSpPr>
          <p:cNvPr id="383" name="Shape 380"/>
          <p:cNvSpPr/>
          <p:nvPr/>
        </p:nvSpPr>
        <p:spPr>
          <a:xfrm>
            <a:off x="6822110" y="3251995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384" name="Text 381"/>
          <p:cNvSpPr/>
          <p:nvPr/>
        </p:nvSpPr>
        <p:spPr>
          <a:xfrm>
            <a:off x="6822110" y="3251995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550" dirty="0"/>
          </a:p>
        </p:txBody>
      </p:sp>
      <p:sp>
        <p:nvSpPr>
          <p:cNvPr id="385" name="Shape 382"/>
          <p:cNvSpPr/>
          <p:nvPr/>
        </p:nvSpPr>
        <p:spPr>
          <a:xfrm>
            <a:off x="7541514" y="3251995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386" name="Text 383"/>
          <p:cNvSpPr/>
          <p:nvPr/>
        </p:nvSpPr>
        <p:spPr>
          <a:xfrm>
            <a:off x="7541514" y="3251995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550" dirty="0"/>
          </a:p>
        </p:txBody>
      </p:sp>
      <p:sp>
        <p:nvSpPr>
          <p:cNvPr id="387" name="Shape 384"/>
          <p:cNvSpPr/>
          <p:nvPr/>
        </p:nvSpPr>
        <p:spPr>
          <a:xfrm>
            <a:off x="8260918" y="3251995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388" name="Text 385"/>
          <p:cNvSpPr/>
          <p:nvPr/>
        </p:nvSpPr>
        <p:spPr>
          <a:xfrm>
            <a:off x="8260918" y="3251995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550" dirty="0"/>
          </a:p>
        </p:txBody>
      </p:sp>
      <p:sp>
        <p:nvSpPr>
          <p:cNvPr id="389" name="Shape 386"/>
          <p:cNvSpPr/>
          <p:nvPr/>
        </p:nvSpPr>
        <p:spPr>
          <a:xfrm>
            <a:off x="6102706" y="3655506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390" name="Text 387"/>
          <p:cNvSpPr/>
          <p:nvPr/>
        </p:nvSpPr>
        <p:spPr>
          <a:xfrm>
            <a:off x="6102706" y="3655506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550" dirty="0"/>
          </a:p>
        </p:txBody>
      </p:sp>
      <p:sp>
        <p:nvSpPr>
          <p:cNvPr id="391" name="Shape 388"/>
          <p:cNvSpPr/>
          <p:nvPr/>
        </p:nvSpPr>
        <p:spPr>
          <a:xfrm>
            <a:off x="6822110" y="3655506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392" name="Text 389"/>
          <p:cNvSpPr/>
          <p:nvPr/>
        </p:nvSpPr>
        <p:spPr>
          <a:xfrm>
            <a:off x="6822110" y="3655506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550" dirty="0"/>
          </a:p>
        </p:txBody>
      </p:sp>
      <p:sp>
        <p:nvSpPr>
          <p:cNvPr id="393" name="Shape 390"/>
          <p:cNvSpPr/>
          <p:nvPr/>
        </p:nvSpPr>
        <p:spPr>
          <a:xfrm>
            <a:off x="7541514" y="3655506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394" name="Text 391"/>
          <p:cNvSpPr/>
          <p:nvPr/>
        </p:nvSpPr>
        <p:spPr>
          <a:xfrm>
            <a:off x="7541514" y="3655506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550" dirty="0"/>
          </a:p>
        </p:txBody>
      </p:sp>
      <p:sp>
        <p:nvSpPr>
          <p:cNvPr id="395" name="Shape 392"/>
          <p:cNvSpPr/>
          <p:nvPr/>
        </p:nvSpPr>
        <p:spPr>
          <a:xfrm>
            <a:off x="8260918" y="3655506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396" name="Text 393"/>
          <p:cNvSpPr/>
          <p:nvPr/>
        </p:nvSpPr>
        <p:spPr>
          <a:xfrm>
            <a:off x="8260918" y="3655506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550" dirty="0"/>
          </a:p>
        </p:txBody>
      </p:sp>
      <p:sp>
        <p:nvSpPr>
          <p:cNvPr id="397" name="Shape 394"/>
          <p:cNvSpPr/>
          <p:nvPr/>
        </p:nvSpPr>
        <p:spPr>
          <a:xfrm>
            <a:off x="6102706" y="4059017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398" name="Text 395"/>
          <p:cNvSpPr/>
          <p:nvPr/>
        </p:nvSpPr>
        <p:spPr>
          <a:xfrm>
            <a:off x="6102706" y="4059017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550" dirty="0"/>
          </a:p>
        </p:txBody>
      </p:sp>
      <p:sp>
        <p:nvSpPr>
          <p:cNvPr id="399" name="Shape 396"/>
          <p:cNvSpPr/>
          <p:nvPr/>
        </p:nvSpPr>
        <p:spPr>
          <a:xfrm>
            <a:off x="6822110" y="4059017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400" name="Text 397"/>
          <p:cNvSpPr/>
          <p:nvPr/>
        </p:nvSpPr>
        <p:spPr>
          <a:xfrm>
            <a:off x="6822110" y="4059017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550" dirty="0"/>
          </a:p>
        </p:txBody>
      </p:sp>
      <p:sp>
        <p:nvSpPr>
          <p:cNvPr id="401" name="Shape 398"/>
          <p:cNvSpPr/>
          <p:nvPr/>
        </p:nvSpPr>
        <p:spPr>
          <a:xfrm>
            <a:off x="7541514" y="4059017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402" name="Text 399"/>
          <p:cNvSpPr/>
          <p:nvPr/>
        </p:nvSpPr>
        <p:spPr>
          <a:xfrm>
            <a:off x="7541514" y="4059017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550" dirty="0"/>
          </a:p>
        </p:txBody>
      </p:sp>
      <p:sp>
        <p:nvSpPr>
          <p:cNvPr id="403" name="Shape 400"/>
          <p:cNvSpPr/>
          <p:nvPr/>
        </p:nvSpPr>
        <p:spPr>
          <a:xfrm>
            <a:off x="6102706" y="4261360"/>
            <a:ext cx="146304" cy="128016"/>
          </a:xfrm>
          <a:prstGeom prst="rect">
            <a:avLst/>
          </a:prstGeom>
          <a:solidFill>
            <a:srgbClr val="217346"/>
          </a:solidFill>
          <a:ln/>
        </p:spPr>
      </p:sp>
      <p:sp>
        <p:nvSpPr>
          <p:cNvPr id="404" name="Text 401"/>
          <p:cNvSpPr/>
          <p:nvPr/>
        </p:nvSpPr>
        <p:spPr>
          <a:xfrm>
            <a:off x="6267298" y="4261360"/>
            <a:ext cx="5486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issues</a:t>
            </a:r>
            <a:endParaRPr lang="en-US" sz="450" dirty="0"/>
          </a:p>
        </p:txBody>
      </p:sp>
      <p:sp>
        <p:nvSpPr>
          <p:cNvPr id="405" name="Shape 402"/>
          <p:cNvSpPr/>
          <p:nvPr/>
        </p:nvSpPr>
        <p:spPr>
          <a:xfrm>
            <a:off x="6822405" y="4261360"/>
            <a:ext cx="146304" cy="12801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06" name="Text 403"/>
          <p:cNvSpPr/>
          <p:nvPr/>
        </p:nvSpPr>
        <p:spPr>
          <a:xfrm>
            <a:off x="6986997" y="4261360"/>
            <a:ext cx="5486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 miss</a:t>
            </a:r>
            <a:endParaRPr lang="en-US" sz="450" dirty="0"/>
          </a:p>
        </p:txBody>
      </p:sp>
      <p:sp>
        <p:nvSpPr>
          <p:cNvPr id="407" name="Shape 404"/>
          <p:cNvSpPr/>
          <p:nvPr/>
        </p:nvSpPr>
        <p:spPr>
          <a:xfrm>
            <a:off x="7542105" y="4261360"/>
            <a:ext cx="146304" cy="128016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408" name="Text 405"/>
          <p:cNvSpPr/>
          <p:nvPr/>
        </p:nvSpPr>
        <p:spPr>
          <a:xfrm>
            <a:off x="7706697" y="4261360"/>
            <a:ext cx="5486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</a:t>
            </a:r>
            <a:endParaRPr lang="en-US" sz="450" dirty="0"/>
          </a:p>
        </p:txBody>
      </p:sp>
      <p:sp>
        <p:nvSpPr>
          <p:cNvPr id="409" name="Shape 406"/>
          <p:cNvSpPr/>
          <p:nvPr/>
        </p:nvSpPr>
        <p:spPr>
          <a:xfrm>
            <a:off x="8261805" y="4261360"/>
            <a:ext cx="146304" cy="128016"/>
          </a:xfrm>
          <a:prstGeom prst="rect">
            <a:avLst/>
          </a:prstGeom>
          <a:solidFill>
            <a:srgbClr val="AAAAAA"/>
          </a:solidFill>
          <a:ln/>
        </p:spPr>
      </p:sp>
      <p:sp>
        <p:nvSpPr>
          <p:cNvPr id="410" name="Text 407"/>
          <p:cNvSpPr/>
          <p:nvPr/>
        </p:nvSpPr>
        <p:spPr>
          <a:xfrm>
            <a:off x="8426397" y="4261360"/>
            <a:ext cx="5486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Weekend</a:t>
            </a:r>
            <a:endParaRPr lang="en-US" sz="450" dirty="0"/>
          </a:p>
        </p:txBody>
      </p:sp>
      <p:sp>
        <p:nvSpPr>
          <p:cNvPr id="411" name="Shape 408"/>
          <p:cNvSpPr/>
          <p:nvPr/>
        </p:nvSpPr>
        <p:spPr>
          <a:xfrm>
            <a:off x="6066130" y="4535680"/>
            <a:ext cx="2950769" cy="3210788"/>
          </a:xfrm>
          <a:prstGeom prst="rect">
            <a:avLst/>
          </a:prstGeom>
          <a:solidFill>
            <a:srgbClr val="FFFFFF"/>
          </a:solidFill>
          <a:ln w="15240">
            <a:solidFill>
              <a:srgbClr val="009FE3"/>
            </a:solidFill>
            <a:prstDash val="solid"/>
          </a:ln>
        </p:spPr>
      </p:sp>
      <p:sp>
        <p:nvSpPr>
          <p:cNvPr id="412" name="Text 409"/>
          <p:cNvSpPr/>
          <p:nvPr/>
        </p:nvSpPr>
        <p:spPr>
          <a:xfrm>
            <a:off x="6066130" y="4535680"/>
            <a:ext cx="2950769" cy="274320"/>
          </a:xfrm>
          <a:prstGeom prst="rect">
            <a:avLst/>
          </a:prstGeom>
          <a:solidFill>
            <a:srgbClr val="009FE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DELIVERY: OTIF</a:t>
            </a:r>
            <a:endParaRPr lang="en-US" sz="750" dirty="0"/>
          </a:p>
        </p:txBody>
      </p:sp>
      <p:sp>
        <p:nvSpPr>
          <p:cNvPr id="413" name="Shape 410"/>
          <p:cNvSpPr/>
          <p:nvPr/>
        </p:nvSpPr>
        <p:spPr>
          <a:xfrm>
            <a:off x="6322162" y="4828288"/>
            <a:ext cx="2658161" cy="0"/>
          </a:xfrm>
          <a:prstGeom prst="line">
            <a:avLst/>
          </a:prstGeom>
          <a:noFill/>
          <a:ln w="3810">
            <a:solidFill>
              <a:srgbClr val="DDDDDD"/>
            </a:solidFill>
            <a:prstDash val="solid"/>
          </a:ln>
        </p:spPr>
      </p:sp>
      <p:sp>
        <p:nvSpPr>
          <p:cNvPr id="414" name="Shape 411"/>
          <p:cNvSpPr/>
          <p:nvPr/>
        </p:nvSpPr>
        <p:spPr>
          <a:xfrm>
            <a:off x="6322162" y="5158770"/>
            <a:ext cx="2658161" cy="0"/>
          </a:xfrm>
          <a:prstGeom prst="line">
            <a:avLst/>
          </a:prstGeom>
          <a:noFill/>
          <a:ln w="3810">
            <a:solidFill>
              <a:srgbClr val="DDDDDD"/>
            </a:solidFill>
            <a:prstDash val="solid"/>
          </a:ln>
        </p:spPr>
      </p:sp>
      <p:sp>
        <p:nvSpPr>
          <p:cNvPr id="415" name="Shape 412"/>
          <p:cNvSpPr/>
          <p:nvPr/>
        </p:nvSpPr>
        <p:spPr>
          <a:xfrm>
            <a:off x="6322162" y="5489253"/>
            <a:ext cx="2658161" cy="0"/>
          </a:xfrm>
          <a:prstGeom prst="line">
            <a:avLst/>
          </a:prstGeom>
          <a:noFill/>
          <a:ln w="3810">
            <a:solidFill>
              <a:srgbClr val="DDDDDD"/>
            </a:solidFill>
            <a:prstDash val="solid"/>
          </a:ln>
        </p:spPr>
      </p:sp>
      <p:sp>
        <p:nvSpPr>
          <p:cNvPr id="416" name="Shape 413"/>
          <p:cNvSpPr/>
          <p:nvPr/>
        </p:nvSpPr>
        <p:spPr>
          <a:xfrm>
            <a:off x="6322162" y="5819735"/>
            <a:ext cx="2658161" cy="0"/>
          </a:xfrm>
          <a:prstGeom prst="line">
            <a:avLst/>
          </a:prstGeom>
          <a:noFill/>
          <a:ln w="3810">
            <a:solidFill>
              <a:srgbClr val="DDDDDD"/>
            </a:solidFill>
            <a:prstDash val="solid"/>
          </a:ln>
        </p:spPr>
      </p:sp>
      <p:sp>
        <p:nvSpPr>
          <p:cNvPr id="417" name="Shape 414"/>
          <p:cNvSpPr/>
          <p:nvPr/>
        </p:nvSpPr>
        <p:spPr>
          <a:xfrm>
            <a:off x="6322162" y="6150218"/>
            <a:ext cx="2658161" cy="0"/>
          </a:xfrm>
          <a:prstGeom prst="line">
            <a:avLst/>
          </a:prstGeom>
          <a:noFill/>
          <a:ln w="3810">
            <a:solidFill>
              <a:srgbClr val="DDDDDD"/>
            </a:solidFill>
            <a:prstDash val="solid"/>
          </a:ln>
        </p:spPr>
      </p:sp>
      <p:sp>
        <p:nvSpPr>
          <p:cNvPr id="418" name="Shape 415"/>
          <p:cNvSpPr/>
          <p:nvPr/>
        </p:nvSpPr>
        <p:spPr>
          <a:xfrm>
            <a:off x="6322162" y="6480700"/>
            <a:ext cx="2658161" cy="0"/>
          </a:xfrm>
          <a:prstGeom prst="line">
            <a:avLst/>
          </a:prstGeom>
          <a:noFill/>
          <a:ln w="3810">
            <a:solidFill>
              <a:srgbClr val="DDDDDD"/>
            </a:solidFill>
            <a:prstDash val="solid"/>
          </a:ln>
        </p:spPr>
      </p:sp>
      <p:sp>
        <p:nvSpPr>
          <p:cNvPr id="419" name="Shape 416"/>
          <p:cNvSpPr/>
          <p:nvPr/>
        </p:nvSpPr>
        <p:spPr>
          <a:xfrm>
            <a:off x="6322162" y="6811183"/>
            <a:ext cx="2658161" cy="0"/>
          </a:xfrm>
          <a:prstGeom prst="line">
            <a:avLst/>
          </a:prstGeom>
          <a:noFill/>
          <a:ln w="3810">
            <a:solidFill>
              <a:srgbClr val="DDDDDD"/>
            </a:solidFill>
            <a:prstDash val="solid"/>
          </a:ln>
        </p:spPr>
      </p:sp>
      <p:sp>
        <p:nvSpPr>
          <p:cNvPr id="420" name="Shape 417"/>
          <p:cNvSpPr/>
          <p:nvPr/>
        </p:nvSpPr>
        <p:spPr>
          <a:xfrm>
            <a:off x="6322162" y="7141665"/>
            <a:ext cx="2658161" cy="0"/>
          </a:xfrm>
          <a:prstGeom prst="line">
            <a:avLst/>
          </a:prstGeom>
          <a:noFill/>
          <a:ln w="3810">
            <a:solidFill>
              <a:srgbClr val="DDDDDD"/>
            </a:solidFill>
            <a:prstDash val="solid"/>
          </a:ln>
        </p:spPr>
      </p:sp>
      <p:sp>
        <p:nvSpPr>
          <p:cNvPr id="421" name="Shape 418"/>
          <p:cNvSpPr/>
          <p:nvPr/>
        </p:nvSpPr>
        <p:spPr>
          <a:xfrm>
            <a:off x="6322162" y="7472148"/>
            <a:ext cx="2658161" cy="0"/>
          </a:xfrm>
          <a:prstGeom prst="line">
            <a:avLst/>
          </a:prstGeom>
          <a:noFill/>
          <a:ln w="3810">
            <a:solidFill>
              <a:srgbClr val="DDDDDD"/>
            </a:solidFill>
            <a:prstDash val="solid"/>
          </a:ln>
        </p:spPr>
      </p:sp>
      <p:sp>
        <p:nvSpPr>
          <p:cNvPr id="422" name="Shape 419"/>
          <p:cNvSpPr/>
          <p:nvPr/>
        </p:nvSpPr>
        <p:spPr>
          <a:xfrm>
            <a:off x="6322162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423" name="Shape 420"/>
          <p:cNvSpPr/>
          <p:nvPr/>
        </p:nvSpPr>
        <p:spPr>
          <a:xfrm>
            <a:off x="6437734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424" name="Shape 421"/>
          <p:cNvSpPr/>
          <p:nvPr/>
        </p:nvSpPr>
        <p:spPr>
          <a:xfrm>
            <a:off x="6553306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425" name="Shape 422"/>
          <p:cNvSpPr/>
          <p:nvPr/>
        </p:nvSpPr>
        <p:spPr>
          <a:xfrm>
            <a:off x="6668878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426" name="Shape 423"/>
          <p:cNvSpPr/>
          <p:nvPr/>
        </p:nvSpPr>
        <p:spPr>
          <a:xfrm>
            <a:off x="6784450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427" name="Shape 424"/>
          <p:cNvSpPr/>
          <p:nvPr/>
        </p:nvSpPr>
        <p:spPr>
          <a:xfrm>
            <a:off x="6900023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428" name="Shape 425"/>
          <p:cNvSpPr/>
          <p:nvPr/>
        </p:nvSpPr>
        <p:spPr>
          <a:xfrm>
            <a:off x="7015595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429" name="Shape 426"/>
          <p:cNvSpPr/>
          <p:nvPr/>
        </p:nvSpPr>
        <p:spPr>
          <a:xfrm>
            <a:off x="7131167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430" name="Shape 427"/>
          <p:cNvSpPr/>
          <p:nvPr/>
        </p:nvSpPr>
        <p:spPr>
          <a:xfrm>
            <a:off x="7246739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431" name="Shape 428"/>
          <p:cNvSpPr/>
          <p:nvPr/>
        </p:nvSpPr>
        <p:spPr>
          <a:xfrm>
            <a:off x="7362311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432" name="Shape 429"/>
          <p:cNvSpPr/>
          <p:nvPr/>
        </p:nvSpPr>
        <p:spPr>
          <a:xfrm>
            <a:off x="7477884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433" name="Shape 430"/>
          <p:cNvSpPr/>
          <p:nvPr/>
        </p:nvSpPr>
        <p:spPr>
          <a:xfrm>
            <a:off x="7593456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434" name="Shape 431"/>
          <p:cNvSpPr/>
          <p:nvPr/>
        </p:nvSpPr>
        <p:spPr>
          <a:xfrm>
            <a:off x="7709028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435" name="Shape 432"/>
          <p:cNvSpPr/>
          <p:nvPr/>
        </p:nvSpPr>
        <p:spPr>
          <a:xfrm>
            <a:off x="7824600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436" name="Shape 433"/>
          <p:cNvSpPr/>
          <p:nvPr/>
        </p:nvSpPr>
        <p:spPr>
          <a:xfrm>
            <a:off x="7940173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437" name="Shape 434"/>
          <p:cNvSpPr/>
          <p:nvPr/>
        </p:nvSpPr>
        <p:spPr>
          <a:xfrm>
            <a:off x="8055745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438" name="Shape 435"/>
          <p:cNvSpPr/>
          <p:nvPr/>
        </p:nvSpPr>
        <p:spPr>
          <a:xfrm>
            <a:off x="8171317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439" name="Shape 436"/>
          <p:cNvSpPr/>
          <p:nvPr/>
        </p:nvSpPr>
        <p:spPr>
          <a:xfrm>
            <a:off x="8286889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440" name="Shape 437"/>
          <p:cNvSpPr/>
          <p:nvPr/>
        </p:nvSpPr>
        <p:spPr>
          <a:xfrm>
            <a:off x="8402461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441" name="Shape 438"/>
          <p:cNvSpPr/>
          <p:nvPr/>
        </p:nvSpPr>
        <p:spPr>
          <a:xfrm>
            <a:off x="8518034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442" name="Shape 439"/>
          <p:cNvSpPr/>
          <p:nvPr/>
        </p:nvSpPr>
        <p:spPr>
          <a:xfrm>
            <a:off x="8633606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443" name="Shape 440"/>
          <p:cNvSpPr/>
          <p:nvPr/>
        </p:nvSpPr>
        <p:spPr>
          <a:xfrm>
            <a:off x="8749178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444" name="Shape 441"/>
          <p:cNvSpPr/>
          <p:nvPr/>
        </p:nvSpPr>
        <p:spPr>
          <a:xfrm>
            <a:off x="8864750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445" name="Shape 442"/>
          <p:cNvSpPr/>
          <p:nvPr/>
        </p:nvSpPr>
        <p:spPr>
          <a:xfrm>
            <a:off x="8980322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446" name="Shape 443"/>
          <p:cNvSpPr/>
          <p:nvPr/>
        </p:nvSpPr>
        <p:spPr>
          <a:xfrm>
            <a:off x="6322162" y="5357060"/>
            <a:ext cx="2658161" cy="0"/>
          </a:xfrm>
          <a:prstGeom prst="line">
            <a:avLst/>
          </a:prstGeom>
          <a:noFill/>
          <a:ln w="12700">
            <a:solidFill>
              <a:srgbClr val="217346"/>
            </a:solidFill>
            <a:prstDash val="dash"/>
          </a:ln>
        </p:spPr>
      </p:sp>
      <p:sp>
        <p:nvSpPr>
          <p:cNvPr id="447" name="Text 444"/>
          <p:cNvSpPr/>
          <p:nvPr/>
        </p:nvSpPr>
        <p:spPr>
          <a:xfrm>
            <a:off x="6322162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50" dirty="0"/>
          </a:p>
        </p:txBody>
      </p:sp>
      <p:sp>
        <p:nvSpPr>
          <p:cNvPr id="448" name="Text 445"/>
          <p:cNvSpPr/>
          <p:nvPr/>
        </p:nvSpPr>
        <p:spPr>
          <a:xfrm>
            <a:off x="6437734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50" dirty="0"/>
          </a:p>
        </p:txBody>
      </p:sp>
      <p:sp>
        <p:nvSpPr>
          <p:cNvPr id="449" name="Text 446"/>
          <p:cNvSpPr/>
          <p:nvPr/>
        </p:nvSpPr>
        <p:spPr>
          <a:xfrm>
            <a:off x="6553306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50" dirty="0"/>
          </a:p>
        </p:txBody>
      </p:sp>
      <p:sp>
        <p:nvSpPr>
          <p:cNvPr id="450" name="Text 447"/>
          <p:cNvSpPr/>
          <p:nvPr/>
        </p:nvSpPr>
        <p:spPr>
          <a:xfrm>
            <a:off x="6668878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50" dirty="0"/>
          </a:p>
        </p:txBody>
      </p:sp>
      <p:sp>
        <p:nvSpPr>
          <p:cNvPr id="451" name="Text 448"/>
          <p:cNvSpPr/>
          <p:nvPr/>
        </p:nvSpPr>
        <p:spPr>
          <a:xfrm>
            <a:off x="6784450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450" dirty="0"/>
          </a:p>
        </p:txBody>
      </p:sp>
      <p:sp>
        <p:nvSpPr>
          <p:cNvPr id="452" name="Text 449"/>
          <p:cNvSpPr/>
          <p:nvPr/>
        </p:nvSpPr>
        <p:spPr>
          <a:xfrm>
            <a:off x="6900023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450" dirty="0"/>
          </a:p>
        </p:txBody>
      </p:sp>
      <p:sp>
        <p:nvSpPr>
          <p:cNvPr id="453" name="Text 450"/>
          <p:cNvSpPr/>
          <p:nvPr/>
        </p:nvSpPr>
        <p:spPr>
          <a:xfrm>
            <a:off x="7015595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450" dirty="0"/>
          </a:p>
        </p:txBody>
      </p:sp>
      <p:sp>
        <p:nvSpPr>
          <p:cNvPr id="454" name="Text 451"/>
          <p:cNvSpPr/>
          <p:nvPr/>
        </p:nvSpPr>
        <p:spPr>
          <a:xfrm>
            <a:off x="7131167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450" dirty="0"/>
          </a:p>
        </p:txBody>
      </p:sp>
      <p:sp>
        <p:nvSpPr>
          <p:cNvPr id="455" name="Text 452"/>
          <p:cNvSpPr/>
          <p:nvPr/>
        </p:nvSpPr>
        <p:spPr>
          <a:xfrm>
            <a:off x="7246739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450" dirty="0"/>
          </a:p>
        </p:txBody>
      </p:sp>
      <p:sp>
        <p:nvSpPr>
          <p:cNvPr id="456" name="Text 453"/>
          <p:cNvSpPr/>
          <p:nvPr/>
        </p:nvSpPr>
        <p:spPr>
          <a:xfrm>
            <a:off x="7362311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450" dirty="0"/>
          </a:p>
        </p:txBody>
      </p:sp>
      <p:sp>
        <p:nvSpPr>
          <p:cNvPr id="457" name="Text 454"/>
          <p:cNvSpPr/>
          <p:nvPr/>
        </p:nvSpPr>
        <p:spPr>
          <a:xfrm>
            <a:off x="7477884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450" dirty="0"/>
          </a:p>
        </p:txBody>
      </p:sp>
      <p:sp>
        <p:nvSpPr>
          <p:cNvPr id="458" name="Text 455"/>
          <p:cNvSpPr/>
          <p:nvPr/>
        </p:nvSpPr>
        <p:spPr>
          <a:xfrm>
            <a:off x="7593456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450" dirty="0"/>
          </a:p>
        </p:txBody>
      </p:sp>
      <p:sp>
        <p:nvSpPr>
          <p:cNvPr id="459" name="Text 456"/>
          <p:cNvSpPr/>
          <p:nvPr/>
        </p:nvSpPr>
        <p:spPr>
          <a:xfrm>
            <a:off x="7709028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450" dirty="0"/>
          </a:p>
        </p:txBody>
      </p:sp>
      <p:sp>
        <p:nvSpPr>
          <p:cNvPr id="460" name="Text 457"/>
          <p:cNvSpPr/>
          <p:nvPr/>
        </p:nvSpPr>
        <p:spPr>
          <a:xfrm>
            <a:off x="7824600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450" dirty="0"/>
          </a:p>
        </p:txBody>
      </p:sp>
      <p:sp>
        <p:nvSpPr>
          <p:cNvPr id="461" name="Text 458"/>
          <p:cNvSpPr/>
          <p:nvPr/>
        </p:nvSpPr>
        <p:spPr>
          <a:xfrm>
            <a:off x="7940173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450" dirty="0"/>
          </a:p>
        </p:txBody>
      </p:sp>
      <p:sp>
        <p:nvSpPr>
          <p:cNvPr id="462" name="Text 459"/>
          <p:cNvSpPr/>
          <p:nvPr/>
        </p:nvSpPr>
        <p:spPr>
          <a:xfrm>
            <a:off x="8055745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450" dirty="0"/>
          </a:p>
        </p:txBody>
      </p:sp>
      <p:sp>
        <p:nvSpPr>
          <p:cNvPr id="463" name="Text 460"/>
          <p:cNvSpPr/>
          <p:nvPr/>
        </p:nvSpPr>
        <p:spPr>
          <a:xfrm>
            <a:off x="8171317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450" dirty="0"/>
          </a:p>
        </p:txBody>
      </p:sp>
      <p:sp>
        <p:nvSpPr>
          <p:cNvPr id="464" name="Text 461"/>
          <p:cNvSpPr/>
          <p:nvPr/>
        </p:nvSpPr>
        <p:spPr>
          <a:xfrm>
            <a:off x="8286889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450" dirty="0"/>
          </a:p>
        </p:txBody>
      </p:sp>
      <p:sp>
        <p:nvSpPr>
          <p:cNvPr id="465" name="Text 462"/>
          <p:cNvSpPr/>
          <p:nvPr/>
        </p:nvSpPr>
        <p:spPr>
          <a:xfrm>
            <a:off x="8402461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450" dirty="0"/>
          </a:p>
        </p:txBody>
      </p:sp>
      <p:sp>
        <p:nvSpPr>
          <p:cNvPr id="466" name="Text 463"/>
          <p:cNvSpPr/>
          <p:nvPr/>
        </p:nvSpPr>
        <p:spPr>
          <a:xfrm>
            <a:off x="8518034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450" dirty="0"/>
          </a:p>
        </p:txBody>
      </p:sp>
      <p:sp>
        <p:nvSpPr>
          <p:cNvPr id="467" name="Text 464"/>
          <p:cNvSpPr/>
          <p:nvPr/>
        </p:nvSpPr>
        <p:spPr>
          <a:xfrm>
            <a:off x="8633606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450" dirty="0"/>
          </a:p>
        </p:txBody>
      </p:sp>
      <p:sp>
        <p:nvSpPr>
          <p:cNvPr id="468" name="Text 465"/>
          <p:cNvSpPr/>
          <p:nvPr/>
        </p:nvSpPr>
        <p:spPr>
          <a:xfrm>
            <a:off x="8749178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450" dirty="0"/>
          </a:p>
        </p:txBody>
      </p:sp>
      <p:sp>
        <p:nvSpPr>
          <p:cNvPr id="469" name="Text 466"/>
          <p:cNvSpPr/>
          <p:nvPr/>
        </p:nvSpPr>
        <p:spPr>
          <a:xfrm>
            <a:off x="8864750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450" dirty="0"/>
          </a:p>
        </p:txBody>
      </p:sp>
      <p:sp>
        <p:nvSpPr>
          <p:cNvPr id="470" name="Text 467"/>
          <p:cNvSpPr/>
          <p:nvPr/>
        </p:nvSpPr>
        <p:spPr>
          <a:xfrm>
            <a:off x="6322162" y="7600164"/>
            <a:ext cx="2658161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DAYS</a:t>
            </a:r>
            <a:endParaRPr lang="en-US" sz="500" dirty="0"/>
          </a:p>
        </p:txBody>
      </p:sp>
      <p:sp>
        <p:nvSpPr>
          <p:cNvPr id="471" name="Shape 468"/>
          <p:cNvSpPr/>
          <p:nvPr/>
        </p:nvSpPr>
        <p:spPr>
          <a:xfrm>
            <a:off x="6102706" y="7636740"/>
            <a:ext cx="274320" cy="0"/>
          </a:xfrm>
          <a:prstGeom prst="line">
            <a:avLst/>
          </a:prstGeom>
          <a:noFill/>
          <a:ln w="12700">
            <a:solidFill>
              <a:srgbClr val="217346"/>
            </a:solidFill>
            <a:prstDash val="dash"/>
          </a:ln>
        </p:spPr>
      </p:sp>
      <p:sp>
        <p:nvSpPr>
          <p:cNvPr id="472" name="Text 469"/>
          <p:cNvSpPr/>
          <p:nvPr/>
        </p:nvSpPr>
        <p:spPr>
          <a:xfrm>
            <a:off x="6395314" y="7600164"/>
            <a:ext cx="5486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50" b="1" dirty="0">
                <a:solidFill>
                  <a:srgbClr val="217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450" dirty="0"/>
          </a:p>
        </p:txBody>
      </p:sp>
      <p:sp>
        <p:nvSpPr>
          <p:cNvPr id="473" name="Shape 470"/>
          <p:cNvSpPr/>
          <p:nvPr/>
        </p:nvSpPr>
        <p:spPr>
          <a:xfrm>
            <a:off x="7071970" y="7636740"/>
            <a:ext cx="274320" cy="0"/>
          </a:xfrm>
          <a:prstGeom prst="line">
            <a:avLst/>
          </a:prstGeom>
          <a:noFill/>
          <a:ln w="15240">
            <a:solidFill>
              <a:srgbClr val="C00000"/>
            </a:solidFill>
            <a:prstDash val="solid"/>
          </a:ln>
        </p:spPr>
      </p:sp>
      <p:sp>
        <p:nvSpPr>
          <p:cNvPr id="474" name="Text 471"/>
          <p:cNvSpPr/>
          <p:nvPr/>
        </p:nvSpPr>
        <p:spPr>
          <a:xfrm>
            <a:off x="7364578" y="7600164"/>
            <a:ext cx="5486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</a:t>
            </a:r>
            <a:endParaRPr lang="en-US" sz="450" dirty="0"/>
          </a:p>
        </p:txBody>
      </p:sp>
      <p:sp>
        <p:nvSpPr>
          <p:cNvPr id="475" name="Text 472"/>
          <p:cNvSpPr/>
          <p:nvPr/>
        </p:nvSpPr>
        <p:spPr>
          <a:xfrm>
            <a:off x="7919618" y="7600164"/>
            <a:ext cx="1051560" cy="128016"/>
          </a:xfrm>
          <a:prstGeom prst="rect">
            <a:avLst/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≥95%</a:t>
            </a:r>
            <a:endParaRPr lang="en-US" sz="450" dirty="0"/>
          </a:p>
        </p:txBody>
      </p:sp>
      <p:sp>
        <p:nvSpPr>
          <p:cNvPr id="476" name="Shape 473"/>
          <p:cNvSpPr/>
          <p:nvPr/>
        </p:nvSpPr>
        <p:spPr>
          <a:xfrm>
            <a:off x="6066130" y="7783044"/>
            <a:ext cx="1466240" cy="140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477" name="Text 474"/>
          <p:cNvSpPr/>
          <p:nvPr/>
        </p:nvSpPr>
        <p:spPr>
          <a:xfrm>
            <a:off x="6066130" y="7783044"/>
            <a:ext cx="1466240" cy="201168"/>
          </a:xfrm>
          <a:prstGeom prst="rect">
            <a:avLst/>
          </a:prstGeom>
          <a:solidFill>
            <a:srgbClr val="009FE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TIME IN FULL</a:t>
            </a:r>
            <a:endParaRPr lang="en-US" sz="650" dirty="0"/>
          </a:p>
        </p:txBody>
      </p:sp>
      <p:sp>
        <p:nvSpPr>
          <p:cNvPr id="478" name="Shape 475"/>
          <p:cNvSpPr/>
          <p:nvPr/>
        </p:nvSpPr>
        <p:spPr>
          <a:xfrm>
            <a:off x="6066130" y="7984212"/>
            <a:ext cx="1466240" cy="541598"/>
          </a:xfrm>
          <a:prstGeom prst="rect">
            <a:avLst/>
          </a:prstGeom>
          <a:solidFill>
            <a:srgbClr val="E8F5EE"/>
          </a:solidFill>
          <a:ln w="3175">
            <a:solidFill>
              <a:srgbClr val="D0D0D0"/>
            </a:solidFill>
            <a:prstDash val="solid"/>
          </a:ln>
        </p:spPr>
      </p:sp>
      <p:sp>
        <p:nvSpPr>
          <p:cNvPr id="479" name="Text 476"/>
          <p:cNvSpPr/>
          <p:nvPr/>
        </p:nvSpPr>
        <p:spPr>
          <a:xfrm>
            <a:off x="6066130" y="7984212"/>
            <a:ext cx="1466240" cy="5415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17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217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95% OTIF</a:t>
            </a:r>
            <a:endParaRPr lang="en-US" sz="600" dirty="0"/>
          </a:p>
        </p:txBody>
      </p:sp>
      <p:sp>
        <p:nvSpPr>
          <p:cNvPr id="480" name="Shape 477"/>
          <p:cNvSpPr/>
          <p:nvPr/>
        </p:nvSpPr>
        <p:spPr>
          <a:xfrm>
            <a:off x="6066130" y="8525810"/>
            <a:ext cx="1466240" cy="661953"/>
          </a:xfrm>
          <a:prstGeom prst="rect">
            <a:avLst/>
          </a:prstGeom>
          <a:solidFill>
            <a:srgbClr val="F2F2F2"/>
          </a:solidFill>
          <a:ln w="3175">
            <a:solidFill>
              <a:srgbClr val="D0D0D0"/>
            </a:solidFill>
            <a:prstDash val="solid"/>
          </a:ln>
        </p:spPr>
      </p:sp>
      <p:sp>
        <p:nvSpPr>
          <p:cNvPr id="481" name="Text 478"/>
          <p:cNvSpPr/>
          <p:nvPr/>
        </p:nvSpPr>
        <p:spPr>
          <a:xfrm>
            <a:off x="6066130" y="8525810"/>
            <a:ext cx="1466240" cy="661953"/>
          </a:xfrm>
          <a:prstGeom prst="rect">
            <a:avLst/>
          </a:prstGeom>
          <a:noFill/>
          <a:ln/>
        </p:spPr>
        <p:txBody>
          <a:bodyPr wrap="square" lIns="2540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
</a:t>
            </a:r>
            <a:endParaRPr lang="en-US" sz="600" dirty="0"/>
          </a:p>
        </p:txBody>
      </p:sp>
      <p:sp>
        <p:nvSpPr>
          <p:cNvPr id="482" name="Shape 479"/>
          <p:cNvSpPr/>
          <p:nvPr/>
        </p:nvSpPr>
        <p:spPr>
          <a:xfrm>
            <a:off x="7550658" y="7783044"/>
            <a:ext cx="1466240" cy="140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483" name="Text 480"/>
          <p:cNvSpPr/>
          <p:nvPr/>
        </p:nvSpPr>
        <p:spPr>
          <a:xfrm>
            <a:off x="7550658" y="7783044"/>
            <a:ext cx="1466240" cy="201168"/>
          </a:xfrm>
          <a:prstGeom prst="rect">
            <a:avLst/>
          </a:prstGeom>
          <a:solidFill>
            <a:srgbClr val="009FE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ADH.</a:t>
            </a:r>
            <a:endParaRPr lang="en-US" sz="650" dirty="0"/>
          </a:p>
        </p:txBody>
      </p:sp>
      <p:sp>
        <p:nvSpPr>
          <p:cNvPr id="484" name="Shape 481"/>
          <p:cNvSpPr/>
          <p:nvPr/>
        </p:nvSpPr>
        <p:spPr>
          <a:xfrm>
            <a:off x="7550658" y="7984212"/>
            <a:ext cx="1466240" cy="541598"/>
          </a:xfrm>
          <a:prstGeom prst="rect">
            <a:avLst/>
          </a:prstGeom>
          <a:solidFill>
            <a:srgbClr val="E8F5EE"/>
          </a:solidFill>
          <a:ln w="3175">
            <a:solidFill>
              <a:srgbClr val="D0D0D0"/>
            </a:solidFill>
            <a:prstDash val="solid"/>
          </a:ln>
        </p:spPr>
      </p:sp>
      <p:sp>
        <p:nvSpPr>
          <p:cNvPr id="485" name="Text 482"/>
          <p:cNvSpPr/>
          <p:nvPr/>
        </p:nvSpPr>
        <p:spPr>
          <a:xfrm>
            <a:off x="7550658" y="7984212"/>
            <a:ext cx="1466240" cy="5415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17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217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90%</a:t>
            </a:r>
            <a:endParaRPr lang="en-US" sz="600" dirty="0"/>
          </a:p>
        </p:txBody>
      </p:sp>
      <p:sp>
        <p:nvSpPr>
          <p:cNvPr id="486" name="Shape 483"/>
          <p:cNvSpPr/>
          <p:nvPr/>
        </p:nvSpPr>
        <p:spPr>
          <a:xfrm>
            <a:off x="7550658" y="8525810"/>
            <a:ext cx="1466240" cy="661953"/>
          </a:xfrm>
          <a:prstGeom prst="rect">
            <a:avLst/>
          </a:prstGeom>
          <a:solidFill>
            <a:srgbClr val="F2F2F2"/>
          </a:solidFill>
          <a:ln w="3175">
            <a:solidFill>
              <a:srgbClr val="D0D0D0"/>
            </a:solidFill>
            <a:prstDash val="solid"/>
          </a:ln>
        </p:spPr>
      </p:sp>
      <p:sp>
        <p:nvSpPr>
          <p:cNvPr id="487" name="Text 484"/>
          <p:cNvSpPr/>
          <p:nvPr/>
        </p:nvSpPr>
        <p:spPr>
          <a:xfrm>
            <a:off x="7550658" y="8525810"/>
            <a:ext cx="1466240" cy="661953"/>
          </a:xfrm>
          <a:prstGeom prst="rect">
            <a:avLst/>
          </a:prstGeom>
          <a:noFill/>
          <a:ln/>
        </p:spPr>
        <p:txBody>
          <a:bodyPr wrap="square" lIns="2540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
</a:t>
            </a:r>
            <a:endParaRPr lang="en-US" sz="600" dirty="0"/>
          </a:p>
        </p:txBody>
      </p:sp>
      <p:sp>
        <p:nvSpPr>
          <p:cNvPr id="488" name="Shape 485"/>
          <p:cNvSpPr/>
          <p:nvPr/>
        </p:nvSpPr>
        <p:spPr>
          <a:xfrm>
            <a:off x="6066130" y="9224339"/>
            <a:ext cx="2950769" cy="13580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489" name="Text 486"/>
          <p:cNvSpPr/>
          <p:nvPr/>
        </p:nvSpPr>
        <p:spPr>
          <a:xfrm>
            <a:off x="6066130" y="9224339"/>
            <a:ext cx="2950769" cy="201168"/>
          </a:xfrm>
          <a:prstGeom prst="rect">
            <a:avLst/>
          </a:prstGeom>
          <a:solidFill>
            <a:srgbClr val="009FE3"/>
          </a:solidFill>
          <a:ln/>
        </p:spPr>
        <p:txBody>
          <a:bodyPr wrap="square" lIns="0" tIns="5080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IMPROVEMENT ACTIONS</a:t>
            </a:r>
            <a:endParaRPr lang="en-US" sz="650" dirty="0"/>
          </a:p>
        </p:txBody>
      </p:sp>
      <p:sp>
        <p:nvSpPr>
          <p:cNvPr id="491" name="Shape 488"/>
          <p:cNvSpPr/>
          <p:nvPr/>
        </p:nvSpPr>
        <p:spPr>
          <a:xfrm>
            <a:off x="6066130" y="9443795"/>
            <a:ext cx="502920" cy="180615"/>
          </a:xfrm>
          <a:prstGeom prst="rect">
            <a:avLst/>
          </a:prstGeom>
          <a:solidFill>
            <a:srgbClr val="F2F2F2"/>
          </a:solidFill>
          <a:ln w="3175">
            <a:solidFill>
              <a:srgbClr val="D0D0D0"/>
            </a:solidFill>
            <a:prstDash val="solid"/>
          </a:ln>
        </p:spPr>
      </p:sp>
      <p:sp>
        <p:nvSpPr>
          <p:cNvPr id="493" name="Shape 490"/>
          <p:cNvSpPr/>
          <p:nvPr/>
        </p:nvSpPr>
        <p:spPr>
          <a:xfrm>
            <a:off x="6066130" y="9633555"/>
            <a:ext cx="502920" cy="180615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  <a:prstDash val="solid"/>
          </a:ln>
        </p:spPr>
      </p:sp>
      <p:sp>
        <p:nvSpPr>
          <p:cNvPr id="495" name="Shape 492"/>
          <p:cNvSpPr/>
          <p:nvPr/>
        </p:nvSpPr>
        <p:spPr>
          <a:xfrm>
            <a:off x="6066130" y="9823314"/>
            <a:ext cx="502920" cy="180615"/>
          </a:xfrm>
          <a:prstGeom prst="rect">
            <a:avLst/>
          </a:prstGeom>
          <a:solidFill>
            <a:srgbClr val="F2F2F2"/>
          </a:solidFill>
          <a:ln w="3175">
            <a:solidFill>
              <a:srgbClr val="D0D0D0"/>
            </a:solidFill>
            <a:prstDash val="solid"/>
          </a:ln>
        </p:spPr>
      </p:sp>
      <p:sp>
        <p:nvSpPr>
          <p:cNvPr id="497" name="Shape 494"/>
          <p:cNvSpPr/>
          <p:nvPr/>
        </p:nvSpPr>
        <p:spPr>
          <a:xfrm>
            <a:off x="6066130" y="10013073"/>
            <a:ext cx="502920" cy="180615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  <a:prstDash val="solid"/>
          </a:ln>
        </p:spPr>
      </p:sp>
      <p:sp>
        <p:nvSpPr>
          <p:cNvPr id="499" name="Shape 496"/>
          <p:cNvSpPr/>
          <p:nvPr/>
        </p:nvSpPr>
        <p:spPr>
          <a:xfrm>
            <a:off x="6066130" y="10202833"/>
            <a:ext cx="502920" cy="180615"/>
          </a:xfrm>
          <a:prstGeom prst="rect">
            <a:avLst/>
          </a:prstGeom>
          <a:solidFill>
            <a:srgbClr val="F2F2F2"/>
          </a:solidFill>
          <a:ln w="3175">
            <a:solidFill>
              <a:srgbClr val="D0D0D0"/>
            </a:solidFill>
            <a:prstDash val="solid"/>
          </a:ln>
        </p:spPr>
      </p:sp>
      <p:sp>
        <p:nvSpPr>
          <p:cNvPr id="501" name="Shape 498"/>
          <p:cNvSpPr/>
          <p:nvPr/>
        </p:nvSpPr>
        <p:spPr>
          <a:xfrm>
            <a:off x="6066130" y="10392592"/>
            <a:ext cx="502920" cy="180615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  <a:prstDash val="solid"/>
          </a:ln>
        </p:spPr>
      </p:sp>
      <p:sp>
        <p:nvSpPr>
          <p:cNvPr id="502" name="Shape 499"/>
          <p:cNvSpPr/>
          <p:nvPr/>
        </p:nvSpPr>
        <p:spPr>
          <a:xfrm>
            <a:off x="9053474" y="548640"/>
            <a:ext cx="2950769" cy="320040"/>
          </a:xfrm>
          <a:prstGeom prst="rect">
            <a:avLst/>
          </a:prstGeom>
          <a:solidFill>
            <a:srgbClr val="217346"/>
          </a:solidFill>
          <a:ln/>
        </p:spPr>
      </p:sp>
      <p:sp>
        <p:nvSpPr>
          <p:cNvPr id="503" name="Text 500"/>
          <p:cNvSpPr/>
          <p:nvPr/>
        </p:nvSpPr>
        <p:spPr>
          <a:xfrm>
            <a:off x="9053474" y="548640"/>
            <a:ext cx="295076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C: COST</a:t>
            </a:r>
            <a:endParaRPr lang="en-US" sz="1100" dirty="0"/>
          </a:p>
        </p:txBody>
      </p:sp>
      <p:sp>
        <p:nvSpPr>
          <p:cNvPr id="504" name="Shape 501"/>
          <p:cNvSpPr/>
          <p:nvPr/>
        </p:nvSpPr>
        <p:spPr>
          <a:xfrm>
            <a:off x="9053474" y="886968"/>
            <a:ext cx="2950769" cy="3612136"/>
          </a:xfrm>
          <a:prstGeom prst="rect">
            <a:avLst/>
          </a:prstGeom>
          <a:solidFill>
            <a:srgbClr val="F2F2F2"/>
          </a:solidFill>
          <a:ln w="19050">
            <a:solidFill>
              <a:srgbClr val="217346"/>
            </a:solidFill>
            <a:prstDash val="solid"/>
          </a:ln>
        </p:spPr>
      </p:sp>
      <p:sp>
        <p:nvSpPr>
          <p:cNvPr id="505" name="Text 502"/>
          <p:cNvSpPr/>
          <p:nvPr/>
        </p:nvSpPr>
        <p:spPr>
          <a:xfrm>
            <a:off x="9053474" y="886968"/>
            <a:ext cx="2950769" cy="292608"/>
          </a:xfrm>
          <a:prstGeom prst="rect">
            <a:avLst/>
          </a:prstGeom>
          <a:solidFill>
            <a:srgbClr val="21734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900" dirty="0"/>
          </a:p>
        </p:txBody>
      </p:sp>
      <p:sp>
        <p:nvSpPr>
          <p:cNvPr id="506" name="Shape 503"/>
          <p:cNvSpPr/>
          <p:nvPr/>
        </p:nvSpPr>
        <p:spPr>
          <a:xfrm>
            <a:off x="9090050" y="1234440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507" name="Text 504"/>
          <p:cNvSpPr/>
          <p:nvPr/>
        </p:nvSpPr>
        <p:spPr>
          <a:xfrm>
            <a:off x="9090050" y="1234440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50" dirty="0"/>
          </a:p>
        </p:txBody>
      </p:sp>
      <p:sp>
        <p:nvSpPr>
          <p:cNvPr id="508" name="Shape 505"/>
          <p:cNvSpPr/>
          <p:nvPr/>
        </p:nvSpPr>
        <p:spPr>
          <a:xfrm>
            <a:off x="9809455" y="1234440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509" name="Text 506"/>
          <p:cNvSpPr/>
          <p:nvPr/>
        </p:nvSpPr>
        <p:spPr>
          <a:xfrm>
            <a:off x="9809455" y="1234440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50" dirty="0"/>
          </a:p>
        </p:txBody>
      </p:sp>
      <p:sp>
        <p:nvSpPr>
          <p:cNvPr id="510" name="Shape 507"/>
          <p:cNvSpPr/>
          <p:nvPr/>
        </p:nvSpPr>
        <p:spPr>
          <a:xfrm>
            <a:off x="10528859" y="1234440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511" name="Text 508"/>
          <p:cNvSpPr/>
          <p:nvPr/>
        </p:nvSpPr>
        <p:spPr>
          <a:xfrm>
            <a:off x="10528859" y="1234440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50" dirty="0"/>
          </a:p>
        </p:txBody>
      </p:sp>
      <p:sp>
        <p:nvSpPr>
          <p:cNvPr id="512" name="Shape 509"/>
          <p:cNvSpPr/>
          <p:nvPr/>
        </p:nvSpPr>
        <p:spPr>
          <a:xfrm>
            <a:off x="11248263" y="1234440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513" name="Text 510"/>
          <p:cNvSpPr/>
          <p:nvPr/>
        </p:nvSpPr>
        <p:spPr>
          <a:xfrm>
            <a:off x="11248263" y="1234440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50" dirty="0"/>
          </a:p>
        </p:txBody>
      </p:sp>
      <p:sp>
        <p:nvSpPr>
          <p:cNvPr id="514" name="Shape 511"/>
          <p:cNvSpPr/>
          <p:nvPr/>
        </p:nvSpPr>
        <p:spPr>
          <a:xfrm>
            <a:off x="9090050" y="1637951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515" name="Text 512"/>
          <p:cNvSpPr/>
          <p:nvPr/>
        </p:nvSpPr>
        <p:spPr>
          <a:xfrm>
            <a:off x="9090050" y="1637951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550" dirty="0"/>
          </a:p>
        </p:txBody>
      </p:sp>
      <p:sp>
        <p:nvSpPr>
          <p:cNvPr id="516" name="Shape 513"/>
          <p:cNvSpPr/>
          <p:nvPr/>
        </p:nvSpPr>
        <p:spPr>
          <a:xfrm>
            <a:off x="9809455" y="1637951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517" name="Text 514"/>
          <p:cNvSpPr/>
          <p:nvPr/>
        </p:nvSpPr>
        <p:spPr>
          <a:xfrm>
            <a:off x="9809455" y="1637951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550" dirty="0"/>
          </a:p>
        </p:txBody>
      </p:sp>
      <p:sp>
        <p:nvSpPr>
          <p:cNvPr id="518" name="Shape 515"/>
          <p:cNvSpPr/>
          <p:nvPr/>
        </p:nvSpPr>
        <p:spPr>
          <a:xfrm>
            <a:off x="10528859" y="1637951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519" name="Text 516"/>
          <p:cNvSpPr/>
          <p:nvPr/>
        </p:nvSpPr>
        <p:spPr>
          <a:xfrm>
            <a:off x="10528859" y="1637951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550" dirty="0"/>
          </a:p>
        </p:txBody>
      </p:sp>
      <p:sp>
        <p:nvSpPr>
          <p:cNvPr id="520" name="Shape 517"/>
          <p:cNvSpPr/>
          <p:nvPr/>
        </p:nvSpPr>
        <p:spPr>
          <a:xfrm>
            <a:off x="11248263" y="1637951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521" name="Text 518"/>
          <p:cNvSpPr/>
          <p:nvPr/>
        </p:nvSpPr>
        <p:spPr>
          <a:xfrm>
            <a:off x="11248263" y="1637951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550" dirty="0"/>
          </a:p>
        </p:txBody>
      </p:sp>
      <p:sp>
        <p:nvSpPr>
          <p:cNvPr id="522" name="Shape 519"/>
          <p:cNvSpPr/>
          <p:nvPr/>
        </p:nvSpPr>
        <p:spPr>
          <a:xfrm>
            <a:off x="9090050" y="2041462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523" name="Text 520"/>
          <p:cNvSpPr/>
          <p:nvPr/>
        </p:nvSpPr>
        <p:spPr>
          <a:xfrm>
            <a:off x="9090050" y="2041462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550" dirty="0"/>
          </a:p>
        </p:txBody>
      </p:sp>
      <p:sp>
        <p:nvSpPr>
          <p:cNvPr id="524" name="Shape 521"/>
          <p:cNvSpPr/>
          <p:nvPr/>
        </p:nvSpPr>
        <p:spPr>
          <a:xfrm>
            <a:off x="9809455" y="2041462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525" name="Text 522"/>
          <p:cNvSpPr/>
          <p:nvPr/>
        </p:nvSpPr>
        <p:spPr>
          <a:xfrm>
            <a:off x="9809455" y="2041462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550" dirty="0"/>
          </a:p>
        </p:txBody>
      </p:sp>
      <p:sp>
        <p:nvSpPr>
          <p:cNvPr id="526" name="Shape 523"/>
          <p:cNvSpPr/>
          <p:nvPr/>
        </p:nvSpPr>
        <p:spPr>
          <a:xfrm>
            <a:off x="10528859" y="2041462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527" name="Text 524"/>
          <p:cNvSpPr/>
          <p:nvPr/>
        </p:nvSpPr>
        <p:spPr>
          <a:xfrm>
            <a:off x="10528859" y="2041462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550" dirty="0"/>
          </a:p>
        </p:txBody>
      </p:sp>
      <p:sp>
        <p:nvSpPr>
          <p:cNvPr id="528" name="Shape 525"/>
          <p:cNvSpPr/>
          <p:nvPr/>
        </p:nvSpPr>
        <p:spPr>
          <a:xfrm>
            <a:off x="11248263" y="2041462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529" name="Text 526"/>
          <p:cNvSpPr/>
          <p:nvPr/>
        </p:nvSpPr>
        <p:spPr>
          <a:xfrm>
            <a:off x="11248263" y="2041462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550" dirty="0"/>
          </a:p>
        </p:txBody>
      </p:sp>
      <p:sp>
        <p:nvSpPr>
          <p:cNvPr id="530" name="Shape 527"/>
          <p:cNvSpPr/>
          <p:nvPr/>
        </p:nvSpPr>
        <p:spPr>
          <a:xfrm>
            <a:off x="9090050" y="2444973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531" name="Text 528"/>
          <p:cNvSpPr/>
          <p:nvPr/>
        </p:nvSpPr>
        <p:spPr>
          <a:xfrm>
            <a:off x="9090050" y="2444973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550" dirty="0"/>
          </a:p>
        </p:txBody>
      </p:sp>
      <p:sp>
        <p:nvSpPr>
          <p:cNvPr id="532" name="Shape 529"/>
          <p:cNvSpPr/>
          <p:nvPr/>
        </p:nvSpPr>
        <p:spPr>
          <a:xfrm>
            <a:off x="9809455" y="2444973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533" name="Text 530"/>
          <p:cNvSpPr/>
          <p:nvPr/>
        </p:nvSpPr>
        <p:spPr>
          <a:xfrm>
            <a:off x="9809455" y="2444973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550" dirty="0"/>
          </a:p>
        </p:txBody>
      </p:sp>
      <p:sp>
        <p:nvSpPr>
          <p:cNvPr id="534" name="Shape 531"/>
          <p:cNvSpPr/>
          <p:nvPr/>
        </p:nvSpPr>
        <p:spPr>
          <a:xfrm>
            <a:off x="10528859" y="2444973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535" name="Text 532"/>
          <p:cNvSpPr/>
          <p:nvPr/>
        </p:nvSpPr>
        <p:spPr>
          <a:xfrm>
            <a:off x="10528859" y="2444973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550" dirty="0"/>
          </a:p>
        </p:txBody>
      </p:sp>
      <p:sp>
        <p:nvSpPr>
          <p:cNvPr id="536" name="Shape 533"/>
          <p:cNvSpPr/>
          <p:nvPr/>
        </p:nvSpPr>
        <p:spPr>
          <a:xfrm>
            <a:off x="11248263" y="2444973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537" name="Text 534"/>
          <p:cNvSpPr/>
          <p:nvPr/>
        </p:nvSpPr>
        <p:spPr>
          <a:xfrm>
            <a:off x="11248263" y="2444973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550" dirty="0"/>
          </a:p>
        </p:txBody>
      </p:sp>
      <p:sp>
        <p:nvSpPr>
          <p:cNvPr id="538" name="Shape 535"/>
          <p:cNvSpPr/>
          <p:nvPr/>
        </p:nvSpPr>
        <p:spPr>
          <a:xfrm>
            <a:off x="9090050" y="2848484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539" name="Text 536"/>
          <p:cNvSpPr/>
          <p:nvPr/>
        </p:nvSpPr>
        <p:spPr>
          <a:xfrm>
            <a:off x="9090050" y="2848484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550" dirty="0"/>
          </a:p>
        </p:txBody>
      </p:sp>
      <p:sp>
        <p:nvSpPr>
          <p:cNvPr id="540" name="Shape 537"/>
          <p:cNvSpPr/>
          <p:nvPr/>
        </p:nvSpPr>
        <p:spPr>
          <a:xfrm>
            <a:off x="9809455" y="2848484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541" name="Text 538"/>
          <p:cNvSpPr/>
          <p:nvPr/>
        </p:nvSpPr>
        <p:spPr>
          <a:xfrm>
            <a:off x="9809455" y="2848484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550" dirty="0"/>
          </a:p>
        </p:txBody>
      </p:sp>
      <p:sp>
        <p:nvSpPr>
          <p:cNvPr id="542" name="Shape 539"/>
          <p:cNvSpPr/>
          <p:nvPr/>
        </p:nvSpPr>
        <p:spPr>
          <a:xfrm>
            <a:off x="10528859" y="2848484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543" name="Text 540"/>
          <p:cNvSpPr/>
          <p:nvPr/>
        </p:nvSpPr>
        <p:spPr>
          <a:xfrm>
            <a:off x="10528859" y="2848484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550" dirty="0"/>
          </a:p>
        </p:txBody>
      </p:sp>
      <p:sp>
        <p:nvSpPr>
          <p:cNvPr id="544" name="Shape 541"/>
          <p:cNvSpPr/>
          <p:nvPr/>
        </p:nvSpPr>
        <p:spPr>
          <a:xfrm>
            <a:off x="11248263" y="2848484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545" name="Text 542"/>
          <p:cNvSpPr/>
          <p:nvPr/>
        </p:nvSpPr>
        <p:spPr>
          <a:xfrm>
            <a:off x="11248263" y="2848484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550" dirty="0"/>
          </a:p>
        </p:txBody>
      </p:sp>
      <p:sp>
        <p:nvSpPr>
          <p:cNvPr id="546" name="Shape 543"/>
          <p:cNvSpPr/>
          <p:nvPr/>
        </p:nvSpPr>
        <p:spPr>
          <a:xfrm>
            <a:off x="9090050" y="3251995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547" name="Text 544"/>
          <p:cNvSpPr/>
          <p:nvPr/>
        </p:nvSpPr>
        <p:spPr>
          <a:xfrm>
            <a:off x="9090050" y="3251995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550" dirty="0"/>
          </a:p>
        </p:txBody>
      </p:sp>
      <p:sp>
        <p:nvSpPr>
          <p:cNvPr id="548" name="Shape 545"/>
          <p:cNvSpPr/>
          <p:nvPr/>
        </p:nvSpPr>
        <p:spPr>
          <a:xfrm>
            <a:off x="9809455" y="3251995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549" name="Text 546"/>
          <p:cNvSpPr/>
          <p:nvPr/>
        </p:nvSpPr>
        <p:spPr>
          <a:xfrm>
            <a:off x="9809455" y="3251995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550" dirty="0"/>
          </a:p>
        </p:txBody>
      </p:sp>
      <p:sp>
        <p:nvSpPr>
          <p:cNvPr id="550" name="Shape 547"/>
          <p:cNvSpPr/>
          <p:nvPr/>
        </p:nvSpPr>
        <p:spPr>
          <a:xfrm>
            <a:off x="10528859" y="3251995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551" name="Text 548"/>
          <p:cNvSpPr/>
          <p:nvPr/>
        </p:nvSpPr>
        <p:spPr>
          <a:xfrm>
            <a:off x="10528859" y="3251995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550" dirty="0"/>
          </a:p>
        </p:txBody>
      </p:sp>
      <p:sp>
        <p:nvSpPr>
          <p:cNvPr id="552" name="Shape 549"/>
          <p:cNvSpPr/>
          <p:nvPr/>
        </p:nvSpPr>
        <p:spPr>
          <a:xfrm>
            <a:off x="11248263" y="3251995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553" name="Text 550"/>
          <p:cNvSpPr/>
          <p:nvPr/>
        </p:nvSpPr>
        <p:spPr>
          <a:xfrm>
            <a:off x="11248263" y="3251995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550" dirty="0"/>
          </a:p>
        </p:txBody>
      </p:sp>
      <p:sp>
        <p:nvSpPr>
          <p:cNvPr id="554" name="Shape 551"/>
          <p:cNvSpPr/>
          <p:nvPr/>
        </p:nvSpPr>
        <p:spPr>
          <a:xfrm>
            <a:off x="9090050" y="3655506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555" name="Text 552"/>
          <p:cNvSpPr/>
          <p:nvPr/>
        </p:nvSpPr>
        <p:spPr>
          <a:xfrm>
            <a:off x="9090050" y="3655506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550" dirty="0"/>
          </a:p>
        </p:txBody>
      </p:sp>
      <p:sp>
        <p:nvSpPr>
          <p:cNvPr id="556" name="Shape 553"/>
          <p:cNvSpPr/>
          <p:nvPr/>
        </p:nvSpPr>
        <p:spPr>
          <a:xfrm>
            <a:off x="9809455" y="3655506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557" name="Text 554"/>
          <p:cNvSpPr/>
          <p:nvPr/>
        </p:nvSpPr>
        <p:spPr>
          <a:xfrm>
            <a:off x="9809455" y="3655506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550" dirty="0"/>
          </a:p>
        </p:txBody>
      </p:sp>
      <p:sp>
        <p:nvSpPr>
          <p:cNvPr id="558" name="Shape 555"/>
          <p:cNvSpPr/>
          <p:nvPr/>
        </p:nvSpPr>
        <p:spPr>
          <a:xfrm>
            <a:off x="10528859" y="3655506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559" name="Text 556"/>
          <p:cNvSpPr/>
          <p:nvPr/>
        </p:nvSpPr>
        <p:spPr>
          <a:xfrm>
            <a:off x="10528859" y="3655506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550" dirty="0"/>
          </a:p>
        </p:txBody>
      </p:sp>
      <p:sp>
        <p:nvSpPr>
          <p:cNvPr id="560" name="Shape 557"/>
          <p:cNvSpPr/>
          <p:nvPr/>
        </p:nvSpPr>
        <p:spPr>
          <a:xfrm>
            <a:off x="11248263" y="3655506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561" name="Text 558"/>
          <p:cNvSpPr/>
          <p:nvPr/>
        </p:nvSpPr>
        <p:spPr>
          <a:xfrm>
            <a:off x="11248263" y="3655506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550" dirty="0"/>
          </a:p>
        </p:txBody>
      </p:sp>
      <p:sp>
        <p:nvSpPr>
          <p:cNvPr id="562" name="Shape 559"/>
          <p:cNvSpPr/>
          <p:nvPr/>
        </p:nvSpPr>
        <p:spPr>
          <a:xfrm>
            <a:off x="9090050" y="4059017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563" name="Text 560"/>
          <p:cNvSpPr/>
          <p:nvPr/>
        </p:nvSpPr>
        <p:spPr>
          <a:xfrm>
            <a:off x="9090050" y="4059017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550" dirty="0"/>
          </a:p>
        </p:txBody>
      </p:sp>
      <p:sp>
        <p:nvSpPr>
          <p:cNvPr id="564" name="Shape 561"/>
          <p:cNvSpPr/>
          <p:nvPr/>
        </p:nvSpPr>
        <p:spPr>
          <a:xfrm>
            <a:off x="9809455" y="4059017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565" name="Text 562"/>
          <p:cNvSpPr/>
          <p:nvPr/>
        </p:nvSpPr>
        <p:spPr>
          <a:xfrm>
            <a:off x="9809455" y="4059017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550" dirty="0"/>
          </a:p>
        </p:txBody>
      </p:sp>
      <p:sp>
        <p:nvSpPr>
          <p:cNvPr id="566" name="Shape 563"/>
          <p:cNvSpPr/>
          <p:nvPr/>
        </p:nvSpPr>
        <p:spPr>
          <a:xfrm>
            <a:off x="10528859" y="4059017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567" name="Text 564"/>
          <p:cNvSpPr/>
          <p:nvPr/>
        </p:nvSpPr>
        <p:spPr>
          <a:xfrm>
            <a:off x="10528859" y="4059017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550" dirty="0"/>
          </a:p>
        </p:txBody>
      </p:sp>
      <p:sp>
        <p:nvSpPr>
          <p:cNvPr id="568" name="Shape 565"/>
          <p:cNvSpPr/>
          <p:nvPr/>
        </p:nvSpPr>
        <p:spPr>
          <a:xfrm>
            <a:off x="9090050" y="4261360"/>
            <a:ext cx="146304" cy="128016"/>
          </a:xfrm>
          <a:prstGeom prst="rect">
            <a:avLst/>
          </a:prstGeom>
          <a:solidFill>
            <a:srgbClr val="217346"/>
          </a:solidFill>
          <a:ln/>
        </p:spPr>
      </p:sp>
      <p:sp>
        <p:nvSpPr>
          <p:cNvPr id="569" name="Text 566"/>
          <p:cNvSpPr/>
          <p:nvPr/>
        </p:nvSpPr>
        <p:spPr>
          <a:xfrm>
            <a:off x="9254642" y="4261360"/>
            <a:ext cx="5486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issues</a:t>
            </a:r>
            <a:endParaRPr lang="en-US" sz="450" dirty="0"/>
          </a:p>
        </p:txBody>
      </p:sp>
      <p:sp>
        <p:nvSpPr>
          <p:cNvPr id="570" name="Shape 567"/>
          <p:cNvSpPr/>
          <p:nvPr/>
        </p:nvSpPr>
        <p:spPr>
          <a:xfrm>
            <a:off x="9809750" y="4261360"/>
            <a:ext cx="146304" cy="12801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71" name="Text 568"/>
          <p:cNvSpPr/>
          <p:nvPr/>
        </p:nvSpPr>
        <p:spPr>
          <a:xfrm>
            <a:off x="9974342" y="4261360"/>
            <a:ext cx="5486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 miss</a:t>
            </a:r>
            <a:endParaRPr lang="en-US" sz="450" dirty="0"/>
          </a:p>
        </p:txBody>
      </p:sp>
      <p:sp>
        <p:nvSpPr>
          <p:cNvPr id="572" name="Shape 569"/>
          <p:cNvSpPr/>
          <p:nvPr/>
        </p:nvSpPr>
        <p:spPr>
          <a:xfrm>
            <a:off x="10529450" y="4261360"/>
            <a:ext cx="146304" cy="128016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573" name="Text 570"/>
          <p:cNvSpPr/>
          <p:nvPr/>
        </p:nvSpPr>
        <p:spPr>
          <a:xfrm>
            <a:off x="10694042" y="4261360"/>
            <a:ext cx="5486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</a:t>
            </a:r>
            <a:endParaRPr lang="en-US" sz="450" dirty="0"/>
          </a:p>
        </p:txBody>
      </p:sp>
      <p:sp>
        <p:nvSpPr>
          <p:cNvPr id="574" name="Shape 571"/>
          <p:cNvSpPr/>
          <p:nvPr/>
        </p:nvSpPr>
        <p:spPr>
          <a:xfrm>
            <a:off x="11249150" y="4261360"/>
            <a:ext cx="146304" cy="128016"/>
          </a:xfrm>
          <a:prstGeom prst="rect">
            <a:avLst/>
          </a:prstGeom>
          <a:solidFill>
            <a:srgbClr val="AAAAAA"/>
          </a:solidFill>
          <a:ln/>
        </p:spPr>
      </p:sp>
      <p:sp>
        <p:nvSpPr>
          <p:cNvPr id="575" name="Text 572"/>
          <p:cNvSpPr/>
          <p:nvPr/>
        </p:nvSpPr>
        <p:spPr>
          <a:xfrm>
            <a:off x="11413742" y="4261360"/>
            <a:ext cx="5486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Weekend</a:t>
            </a:r>
            <a:endParaRPr lang="en-US" sz="450" dirty="0"/>
          </a:p>
        </p:txBody>
      </p:sp>
      <p:sp>
        <p:nvSpPr>
          <p:cNvPr id="576" name="Shape 573"/>
          <p:cNvSpPr/>
          <p:nvPr/>
        </p:nvSpPr>
        <p:spPr>
          <a:xfrm>
            <a:off x="9053474" y="4535680"/>
            <a:ext cx="2950769" cy="3210788"/>
          </a:xfrm>
          <a:prstGeom prst="rect">
            <a:avLst/>
          </a:prstGeom>
          <a:solidFill>
            <a:srgbClr val="FFFFFF"/>
          </a:solidFill>
          <a:ln w="15240">
            <a:solidFill>
              <a:srgbClr val="217346"/>
            </a:solidFill>
            <a:prstDash val="solid"/>
          </a:ln>
        </p:spPr>
      </p:sp>
      <p:sp>
        <p:nvSpPr>
          <p:cNvPr id="577" name="Text 574"/>
          <p:cNvSpPr/>
          <p:nvPr/>
        </p:nvSpPr>
        <p:spPr>
          <a:xfrm>
            <a:off x="9053474" y="4535680"/>
            <a:ext cx="2950769" cy="274320"/>
          </a:xfrm>
          <a:prstGeom prst="rect">
            <a:avLst/>
          </a:prstGeom>
          <a:solidFill>
            <a:srgbClr val="21734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VS TARGET</a:t>
            </a:r>
            <a:endParaRPr lang="en-US" sz="750" dirty="0"/>
          </a:p>
        </p:txBody>
      </p:sp>
      <p:sp>
        <p:nvSpPr>
          <p:cNvPr id="578" name="Shape 575"/>
          <p:cNvSpPr/>
          <p:nvPr/>
        </p:nvSpPr>
        <p:spPr>
          <a:xfrm>
            <a:off x="9309506" y="4828288"/>
            <a:ext cx="2658161" cy="0"/>
          </a:xfrm>
          <a:prstGeom prst="line">
            <a:avLst/>
          </a:prstGeom>
          <a:noFill/>
          <a:ln w="3810">
            <a:solidFill>
              <a:srgbClr val="DDDDDD"/>
            </a:solidFill>
            <a:prstDash val="solid"/>
          </a:ln>
        </p:spPr>
      </p:sp>
      <p:sp>
        <p:nvSpPr>
          <p:cNvPr id="579" name="Shape 576"/>
          <p:cNvSpPr/>
          <p:nvPr/>
        </p:nvSpPr>
        <p:spPr>
          <a:xfrm>
            <a:off x="9309506" y="5158770"/>
            <a:ext cx="2658161" cy="0"/>
          </a:xfrm>
          <a:prstGeom prst="line">
            <a:avLst/>
          </a:prstGeom>
          <a:noFill/>
          <a:ln w="3810">
            <a:solidFill>
              <a:srgbClr val="DDDDDD"/>
            </a:solidFill>
            <a:prstDash val="solid"/>
          </a:ln>
        </p:spPr>
      </p:sp>
      <p:sp>
        <p:nvSpPr>
          <p:cNvPr id="580" name="Shape 577"/>
          <p:cNvSpPr/>
          <p:nvPr/>
        </p:nvSpPr>
        <p:spPr>
          <a:xfrm>
            <a:off x="9309506" y="5489253"/>
            <a:ext cx="2658161" cy="0"/>
          </a:xfrm>
          <a:prstGeom prst="line">
            <a:avLst/>
          </a:prstGeom>
          <a:noFill/>
          <a:ln w="3810">
            <a:solidFill>
              <a:srgbClr val="DDDDDD"/>
            </a:solidFill>
            <a:prstDash val="solid"/>
          </a:ln>
        </p:spPr>
      </p:sp>
      <p:sp>
        <p:nvSpPr>
          <p:cNvPr id="581" name="Shape 578"/>
          <p:cNvSpPr/>
          <p:nvPr/>
        </p:nvSpPr>
        <p:spPr>
          <a:xfrm>
            <a:off x="9309506" y="5819735"/>
            <a:ext cx="2658161" cy="0"/>
          </a:xfrm>
          <a:prstGeom prst="line">
            <a:avLst/>
          </a:prstGeom>
          <a:noFill/>
          <a:ln w="3810">
            <a:solidFill>
              <a:srgbClr val="DDDDDD"/>
            </a:solidFill>
            <a:prstDash val="solid"/>
          </a:ln>
        </p:spPr>
      </p:sp>
      <p:sp>
        <p:nvSpPr>
          <p:cNvPr id="582" name="Shape 579"/>
          <p:cNvSpPr/>
          <p:nvPr/>
        </p:nvSpPr>
        <p:spPr>
          <a:xfrm>
            <a:off x="9309506" y="6150218"/>
            <a:ext cx="2658161" cy="0"/>
          </a:xfrm>
          <a:prstGeom prst="line">
            <a:avLst/>
          </a:prstGeom>
          <a:noFill/>
          <a:ln w="3810">
            <a:solidFill>
              <a:srgbClr val="DDDDDD"/>
            </a:solidFill>
            <a:prstDash val="solid"/>
          </a:ln>
        </p:spPr>
      </p:sp>
      <p:sp>
        <p:nvSpPr>
          <p:cNvPr id="583" name="Shape 580"/>
          <p:cNvSpPr/>
          <p:nvPr/>
        </p:nvSpPr>
        <p:spPr>
          <a:xfrm>
            <a:off x="9309506" y="6480700"/>
            <a:ext cx="2658161" cy="0"/>
          </a:xfrm>
          <a:prstGeom prst="line">
            <a:avLst/>
          </a:prstGeom>
          <a:noFill/>
          <a:ln w="3810">
            <a:solidFill>
              <a:srgbClr val="DDDDDD"/>
            </a:solidFill>
            <a:prstDash val="solid"/>
          </a:ln>
        </p:spPr>
      </p:sp>
      <p:sp>
        <p:nvSpPr>
          <p:cNvPr id="584" name="Shape 581"/>
          <p:cNvSpPr/>
          <p:nvPr/>
        </p:nvSpPr>
        <p:spPr>
          <a:xfrm>
            <a:off x="9309506" y="6811183"/>
            <a:ext cx="2658161" cy="0"/>
          </a:xfrm>
          <a:prstGeom prst="line">
            <a:avLst/>
          </a:prstGeom>
          <a:noFill/>
          <a:ln w="3810">
            <a:solidFill>
              <a:srgbClr val="DDDDDD"/>
            </a:solidFill>
            <a:prstDash val="solid"/>
          </a:ln>
        </p:spPr>
      </p:sp>
      <p:sp>
        <p:nvSpPr>
          <p:cNvPr id="585" name="Shape 582"/>
          <p:cNvSpPr/>
          <p:nvPr/>
        </p:nvSpPr>
        <p:spPr>
          <a:xfrm>
            <a:off x="9309506" y="7141665"/>
            <a:ext cx="2658161" cy="0"/>
          </a:xfrm>
          <a:prstGeom prst="line">
            <a:avLst/>
          </a:prstGeom>
          <a:noFill/>
          <a:ln w="3810">
            <a:solidFill>
              <a:srgbClr val="DDDDDD"/>
            </a:solidFill>
            <a:prstDash val="solid"/>
          </a:ln>
        </p:spPr>
      </p:sp>
      <p:sp>
        <p:nvSpPr>
          <p:cNvPr id="586" name="Shape 583"/>
          <p:cNvSpPr/>
          <p:nvPr/>
        </p:nvSpPr>
        <p:spPr>
          <a:xfrm>
            <a:off x="9309506" y="7472148"/>
            <a:ext cx="2658161" cy="0"/>
          </a:xfrm>
          <a:prstGeom prst="line">
            <a:avLst/>
          </a:prstGeom>
          <a:noFill/>
          <a:ln w="3810">
            <a:solidFill>
              <a:srgbClr val="DDDDDD"/>
            </a:solidFill>
            <a:prstDash val="solid"/>
          </a:ln>
        </p:spPr>
      </p:sp>
      <p:sp>
        <p:nvSpPr>
          <p:cNvPr id="587" name="Shape 584"/>
          <p:cNvSpPr/>
          <p:nvPr/>
        </p:nvSpPr>
        <p:spPr>
          <a:xfrm>
            <a:off x="9309506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588" name="Shape 585"/>
          <p:cNvSpPr/>
          <p:nvPr/>
        </p:nvSpPr>
        <p:spPr>
          <a:xfrm>
            <a:off x="9425079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589" name="Shape 586"/>
          <p:cNvSpPr/>
          <p:nvPr/>
        </p:nvSpPr>
        <p:spPr>
          <a:xfrm>
            <a:off x="9540651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590" name="Shape 587"/>
          <p:cNvSpPr/>
          <p:nvPr/>
        </p:nvSpPr>
        <p:spPr>
          <a:xfrm>
            <a:off x="9656223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591" name="Shape 588"/>
          <p:cNvSpPr/>
          <p:nvPr/>
        </p:nvSpPr>
        <p:spPr>
          <a:xfrm>
            <a:off x="9771795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592" name="Shape 589"/>
          <p:cNvSpPr/>
          <p:nvPr/>
        </p:nvSpPr>
        <p:spPr>
          <a:xfrm>
            <a:off x="9887367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593" name="Shape 590"/>
          <p:cNvSpPr/>
          <p:nvPr/>
        </p:nvSpPr>
        <p:spPr>
          <a:xfrm>
            <a:off x="10002940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594" name="Shape 591"/>
          <p:cNvSpPr/>
          <p:nvPr/>
        </p:nvSpPr>
        <p:spPr>
          <a:xfrm>
            <a:off x="10118512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595" name="Shape 592"/>
          <p:cNvSpPr/>
          <p:nvPr/>
        </p:nvSpPr>
        <p:spPr>
          <a:xfrm>
            <a:off x="10234084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596" name="Shape 593"/>
          <p:cNvSpPr/>
          <p:nvPr/>
        </p:nvSpPr>
        <p:spPr>
          <a:xfrm>
            <a:off x="10349656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597" name="Shape 594"/>
          <p:cNvSpPr/>
          <p:nvPr/>
        </p:nvSpPr>
        <p:spPr>
          <a:xfrm>
            <a:off x="10465228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598" name="Shape 595"/>
          <p:cNvSpPr/>
          <p:nvPr/>
        </p:nvSpPr>
        <p:spPr>
          <a:xfrm>
            <a:off x="10580801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599" name="Shape 596"/>
          <p:cNvSpPr/>
          <p:nvPr/>
        </p:nvSpPr>
        <p:spPr>
          <a:xfrm>
            <a:off x="10696373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600" name="Shape 597"/>
          <p:cNvSpPr/>
          <p:nvPr/>
        </p:nvSpPr>
        <p:spPr>
          <a:xfrm>
            <a:off x="10811945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601" name="Shape 598"/>
          <p:cNvSpPr/>
          <p:nvPr/>
        </p:nvSpPr>
        <p:spPr>
          <a:xfrm>
            <a:off x="10927517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602" name="Shape 599"/>
          <p:cNvSpPr/>
          <p:nvPr/>
        </p:nvSpPr>
        <p:spPr>
          <a:xfrm>
            <a:off x="11043090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603" name="Shape 600"/>
          <p:cNvSpPr/>
          <p:nvPr/>
        </p:nvSpPr>
        <p:spPr>
          <a:xfrm>
            <a:off x="11158662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604" name="Shape 601"/>
          <p:cNvSpPr/>
          <p:nvPr/>
        </p:nvSpPr>
        <p:spPr>
          <a:xfrm>
            <a:off x="11274234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605" name="Shape 602"/>
          <p:cNvSpPr/>
          <p:nvPr/>
        </p:nvSpPr>
        <p:spPr>
          <a:xfrm>
            <a:off x="11389806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606" name="Shape 603"/>
          <p:cNvSpPr/>
          <p:nvPr/>
        </p:nvSpPr>
        <p:spPr>
          <a:xfrm>
            <a:off x="11505378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607" name="Shape 604"/>
          <p:cNvSpPr/>
          <p:nvPr/>
        </p:nvSpPr>
        <p:spPr>
          <a:xfrm>
            <a:off x="11620951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608" name="Shape 605"/>
          <p:cNvSpPr/>
          <p:nvPr/>
        </p:nvSpPr>
        <p:spPr>
          <a:xfrm>
            <a:off x="11736523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609" name="Shape 606"/>
          <p:cNvSpPr/>
          <p:nvPr/>
        </p:nvSpPr>
        <p:spPr>
          <a:xfrm>
            <a:off x="11852095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610" name="Shape 607"/>
          <p:cNvSpPr/>
          <p:nvPr/>
        </p:nvSpPr>
        <p:spPr>
          <a:xfrm>
            <a:off x="11967667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611" name="Shape 608"/>
          <p:cNvSpPr/>
          <p:nvPr/>
        </p:nvSpPr>
        <p:spPr>
          <a:xfrm>
            <a:off x="9309506" y="5357060"/>
            <a:ext cx="2658161" cy="0"/>
          </a:xfrm>
          <a:prstGeom prst="line">
            <a:avLst/>
          </a:prstGeom>
          <a:noFill/>
          <a:ln w="12700">
            <a:solidFill>
              <a:srgbClr val="217346"/>
            </a:solidFill>
            <a:prstDash val="dash"/>
          </a:ln>
        </p:spPr>
      </p:sp>
      <p:sp>
        <p:nvSpPr>
          <p:cNvPr id="612" name="Text 609"/>
          <p:cNvSpPr/>
          <p:nvPr/>
        </p:nvSpPr>
        <p:spPr>
          <a:xfrm>
            <a:off x="9309506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50" dirty="0"/>
          </a:p>
        </p:txBody>
      </p:sp>
      <p:sp>
        <p:nvSpPr>
          <p:cNvPr id="613" name="Text 610"/>
          <p:cNvSpPr/>
          <p:nvPr/>
        </p:nvSpPr>
        <p:spPr>
          <a:xfrm>
            <a:off x="9425079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50" dirty="0"/>
          </a:p>
        </p:txBody>
      </p:sp>
      <p:sp>
        <p:nvSpPr>
          <p:cNvPr id="614" name="Text 611"/>
          <p:cNvSpPr/>
          <p:nvPr/>
        </p:nvSpPr>
        <p:spPr>
          <a:xfrm>
            <a:off x="9540651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50" dirty="0"/>
          </a:p>
        </p:txBody>
      </p:sp>
      <p:sp>
        <p:nvSpPr>
          <p:cNvPr id="615" name="Text 612"/>
          <p:cNvSpPr/>
          <p:nvPr/>
        </p:nvSpPr>
        <p:spPr>
          <a:xfrm>
            <a:off x="9656223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50" dirty="0"/>
          </a:p>
        </p:txBody>
      </p:sp>
      <p:sp>
        <p:nvSpPr>
          <p:cNvPr id="616" name="Text 613"/>
          <p:cNvSpPr/>
          <p:nvPr/>
        </p:nvSpPr>
        <p:spPr>
          <a:xfrm>
            <a:off x="9771795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450" dirty="0"/>
          </a:p>
        </p:txBody>
      </p:sp>
      <p:sp>
        <p:nvSpPr>
          <p:cNvPr id="617" name="Text 614"/>
          <p:cNvSpPr/>
          <p:nvPr/>
        </p:nvSpPr>
        <p:spPr>
          <a:xfrm>
            <a:off x="9887367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450" dirty="0"/>
          </a:p>
        </p:txBody>
      </p:sp>
      <p:sp>
        <p:nvSpPr>
          <p:cNvPr id="618" name="Text 615"/>
          <p:cNvSpPr/>
          <p:nvPr/>
        </p:nvSpPr>
        <p:spPr>
          <a:xfrm>
            <a:off x="10002940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450" dirty="0"/>
          </a:p>
        </p:txBody>
      </p:sp>
      <p:sp>
        <p:nvSpPr>
          <p:cNvPr id="619" name="Text 616"/>
          <p:cNvSpPr/>
          <p:nvPr/>
        </p:nvSpPr>
        <p:spPr>
          <a:xfrm>
            <a:off x="10118512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450" dirty="0"/>
          </a:p>
        </p:txBody>
      </p:sp>
      <p:sp>
        <p:nvSpPr>
          <p:cNvPr id="620" name="Text 617"/>
          <p:cNvSpPr/>
          <p:nvPr/>
        </p:nvSpPr>
        <p:spPr>
          <a:xfrm>
            <a:off x="10234084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450" dirty="0"/>
          </a:p>
        </p:txBody>
      </p:sp>
      <p:sp>
        <p:nvSpPr>
          <p:cNvPr id="621" name="Text 618"/>
          <p:cNvSpPr/>
          <p:nvPr/>
        </p:nvSpPr>
        <p:spPr>
          <a:xfrm>
            <a:off x="10349656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450" dirty="0"/>
          </a:p>
        </p:txBody>
      </p:sp>
      <p:sp>
        <p:nvSpPr>
          <p:cNvPr id="622" name="Text 619"/>
          <p:cNvSpPr/>
          <p:nvPr/>
        </p:nvSpPr>
        <p:spPr>
          <a:xfrm>
            <a:off x="10465228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450" dirty="0"/>
          </a:p>
        </p:txBody>
      </p:sp>
      <p:sp>
        <p:nvSpPr>
          <p:cNvPr id="623" name="Text 620"/>
          <p:cNvSpPr/>
          <p:nvPr/>
        </p:nvSpPr>
        <p:spPr>
          <a:xfrm>
            <a:off x="10580801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450" dirty="0"/>
          </a:p>
        </p:txBody>
      </p:sp>
      <p:sp>
        <p:nvSpPr>
          <p:cNvPr id="624" name="Text 621"/>
          <p:cNvSpPr/>
          <p:nvPr/>
        </p:nvSpPr>
        <p:spPr>
          <a:xfrm>
            <a:off x="10696373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450" dirty="0"/>
          </a:p>
        </p:txBody>
      </p:sp>
      <p:sp>
        <p:nvSpPr>
          <p:cNvPr id="625" name="Text 622"/>
          <p:cNvSpPr/>
          <p:nvPr/>
        </p:nvSpPr>
        <p:spPr>
          <a:xfrm>
            <a:off x="10811945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450" dirty="0"/>
          </a:p>
        </p:txBody>
      </p:sp>
      <p:sp>
        <p:nvSpPr>
          <p:cNvPr id="626" name="Text 623"/>
          <p:cNvSpPr/>
          <p:nvPr/>
        </p:nvSpPr>
        <p:spPr>
          <a:xfrm>
            <a:off x="10927517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450" dirty="0"/>
          </a:p>
        </p:txBody>
      </p:sp>
      <p:sp>
        <p:nvSpPr>
          <p:cNvPr id="627" name="Text 624"/>
          <p:cNvSpPr/>
          <p:nvPr/>
        </p:nvSpPr>
        <p:spPr>
          <a:xfrm>
            <a:off x="11043090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450" dirty="0"/>
          </a:p>
        </p:txBody>
      </p:sp>
      <p:sp>
        <p:nvSpPr>
          <p:cNvPr id="628" name="Text 625"/>
          <p:cNvSpPr/>
          <p:nvPr/>
        </p:nvSpPr>
        <p:spPr>
          <a:xfrm>
            <a:off x="11158662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450" dirty="0"/>
          </a:p>
        </p:txBody>
      </p:sp>
      <p:sp>
        <p:nvSpPr>
          <p:cNvPr id="629" name="Text 626"/>
          <p:cNvSpPr/>
          <p:nvPr/>
        </p:nvSpPr>
        <p:spPr>
          <a:xfrm>
            <a:off x="11274234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450" dirty="0"/>
          </a:p>
        </p:txBody>
      </p:sp>
      <p:sp>
        <p:nvSpPr>
          <p:cNvPr id="630" name="Text 627"/>
          <p:cNvSpPr/>
          <p:nvPr/>
        </p:nvSpPr>
        <p:spPr>
          <a:xfrm>
            <a:off x="11389806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450" dirty="0"/>
          </a:p>
        </p:txBody>
      </p:sp>
      <p:sp>
        <p:nvSpPr>
          <p:cNvPr id="631" name="Text 628"/>
          <p:cNvSpPr/>
          <p:nvPr/>
        </p:nvSpPr>
        <p:spPr>
          <a:xfrm>
            <a:off x="11505378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450" dirty="0"/>
          </a:p>
        </p:txBody>
      </p:sp>
      <p:sp>
        <p:nvSpPr>
          <p:cNvPr id="632" name="Text 629"/>
          <p:cNvSpPr/>
          <p:nvPr/>
        </p:nvSpPr>
        <p:spPr>
          <a:xfrm>
            <a:off x="11620951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450" dirty="0"/>
          </a:p>
        </p:txBody>
      </p:sp>
      <p:sp>
        <p:nvSpPr>
          <p:cNvPr id="633" name="Text 630"/>
          <p:cNvSpPr/>
          <p:nvPr/>
        </p:nvSpPr>
        <p:spPr>
          <a:xfrm>
            <a:off x="11736523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450" dirty="0"/>
          </a:p>
        </p:txBody>
      </p:sp>
      <p:sp>
        <p:nvSpPr>
          <p:cNvPr id="634" name="Text 631"/>
          <p:cNvSpPr/>
          <p:nvPr/>
        </p:nvSpPr>
        <p:spPr>
          <a:xfrm>
            <a:off x="11852095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450" dirty="0"/>
          </a:p>
        </p:txBody>
      </p:sp>
      <p:sp>
        <p:nvSpPr>
          <p:cNvPr id="635" name="Text 632"/>
          <p:cNvSpPr/>
          <p:nvPr/>
        </p:nvSpPr>
        <p:spPr>
          <a:xfrm>
            <a:off x="9309506" y="7600164"/>
            <a:ext cx="2658161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DAYS</a:t>
            </a:r>
            <a:endParaRPr lang="en-US" sz="500" dirty="0"/>
          </a:p>
        </p:txBody>
      </p:sp>
      <p:sp>
        <p:nvSpPr>
          <p:cNvPr id="636" name="Shape 633"/>
          <p:cNvSpPr/>
          <p:nvPr/>
        </p:nvSpPr>
        <p:spPr>
          <a:xfrm>
            <a:off x="9090050" y="7636740"/>
            <a:ext cx="274320" cy="0"/>
          </a:xfrm>
          <a:prstGeom prst="line">
            <a:avLst/>
          </a:prstGeom>
          <a:noFill/>
          <a:ln w="12700">
            <a:solidFill>
              <a:srgbClr val="217346"/>
            </a:solidFill>
            <a:prstDash val="dash"/>
          </a:ln>
        </p:spPr>
      </p:sp>
      <p:sp>
        <p:nvSpPr>
          <p:cNvPr id="637" name="Text 634"/>
          <p:cNvSpPr/>
          <p:nvPr/>
        </p:nvSpPr>
        <p:spPr>
          <a:xfrm>
            <a:off x="9382658" y="7600164"/>
            <a:ext cx="5486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50" b="1" dirty="0">
                <a:solidFill>
                  <a:srgbClr val="217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450" dirty="0"/>
          </a:p>
        </p:txBody>
      </p:sp>
      <p:sp>
        <p:nvSpPr>
          <p:cNvPr id="638" name="Shape 635"/>
          <p:cNvSpPr/>
          <p:nvPr/>
        </p:nvSpPr>
        <p:spPr>
          <a:xfrm>
            <a:off x="10059314" y="7636740"/>
            <a:ext cx="274320" cy="0"/>
          </a:xfrm>
          <a:prstGeom prst="line">
            <a:avLst/>
          </a:prstGeom>
          <a:noFill/>
          <a:ln w="15240">
            <a:solidFill>
              <a:srgbClr val="C00000"/>
            </a:solidFill>
            <a:prstDash val="solid"/>
          </a:ln>
        </p:spPr>
      </p:sp>
      <p:sp>
        <p:nvSpPr>
          <p:cNvPr id="639" name="Text 636"/>
          <p:cNvSpPr/>
          <p:nvPr/>
        </p:nvSpPr>
        <p:spPr>
          <a:xfrm>
            <a:off x="10351922" y="7600164"/>
            <a:ext cx="5486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</a:t>
            </a:r>
            <a:endParaRPr lang="en-US" sz="450" dirty="0"/>
          </a:p>
        </p:txBody>
      </p:sp>
      <p:sp>
        <p:nvSpPr>
          <p:cNvPr id="640" name="Text 637"/>
          <p:cNvSpPr/>
          <p:nvPr/>
        </p:nvSpPr>
        <p:spPr>
          <a:xfrm>
            <a:off x="10906963" y="7600164"/>
            <a:ext cx="1051560" cy="128016"/>
          </a:xfrm>
          <a:prstGeom prst="rect">
            <a:avLst/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100%</a:t>
            </a:r>
            <a:endParaRPr lang="en-US" sz="450" dirty="0"/>
          </a:p>
        </p:txBody>
      </p:sp>
      <p:sp>
        <p:nvSpPr>
          <p:cNvPr id="641" name="Shape 638"/>
          <p:cNvSpPr/>
          <p:nvPr/>
        </p:nvSpPr>
        <p:spPr>
          <a:xfrm>
            <a:off x="9053474" y="7783044"/>
            <a:ext cx="1466240" cy="140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17346"/>
            </a:solidFill>
            <a:prstDash val="solid"/>
          </a:ln>
        </p:spPr>
      </p:sp>
      <p:sp>
        <p:nvSpPr>
          <p:cNvPr id="642" name="Text 639"/>
          <p:cNvSpPr/>
          <p:nvPr/>
        </p:nvSpPr>
        <p:spPr>
          <a:xfrm>
            <a:off x="9053474" y="7783044"/>
            <a:ext cx="1466240" cy="201168"/>
          </a:xfrm>
          <a:prstGeom prst="rect">
            <a:avLst/>
          </a:prstGeom>
          <a:solidFill>
            <a:srgbClr val="21734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VS TARGET</a:t>
            </a:r>
            <a:endParaRPr lang="en-US" sz="650" dirty="0"/>
          </a:p>
        </p:txBody>
      </p:sp>
      <p:sp>
        <p:nvSpPr>
          <p:cNvPr id="643" name="Shape 640"/>
          <p:cNvSpPr/>
          <p:nvPr/>
        </p:nvSpPr>
        <p:spPr>
          <a:xfrm>
            <a:off x="9053474" y="7984212"/>
            <a:ext cx="1466240" cy="541598"/>
          </a:xfrm>
          <a:prstGeom prst="rect">
            <a:avLst/>
          </a:prstGeom>
          <a:solidFill>
            <a:srgbClr val="E8F5EE"/>
          </a:solidFill>
          <a:ln w="3175">
            <a:solidFill>
              <a:srgbClr val="D0D0D0"/>
            </a:solidFill>
            <a:prstDash val="solid"/>
          </a:ln>
        </p:spPr>
      </p:sp>
      <p:sp>
        <p:nvSpPr>
          <p:cNvPr id="644" name="Text 641"/>
          <p:cNvSpPr/>
          <p:nvPr/>
        </p:nvSpPr>
        <p:spPr>
          <a:xfrm>
            <a:off x="9053474" y="7984212"/>
            <a:ext cx="1466240" cy="5415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17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217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100% of target</a:t>
            </a:r>
            <a:endParaRPr lang="en-US" sz="600" dirty="0"/>
          </a:p>
        </p:txBody>
      </p:sp>
      <p:sp>
        <p:nvSpPr>
          <p:cNvPr id="645" name="Shape 642"/>
          <p:cNvSpPr/>
          <p:nvPr/>
        </p:nvSpPr>
        <p:spPr>
          <a:xfrm>
            <a:off x="9053474" y="8525810"/>
            <a:ext cx="1466240" cy="661953"/>
          </a:xfrm>
          <a:prstGeom prst="rect">
            <a:avLst/>
          </a:prstGeom>
          <a:solidFill>
            <a:srgbClr val="F2F2F2"/>
          </a:solidFill>
          <a:ln w="3175">
            <a:solidFill>
              <a:srgbClr val="D0D0D0"/>
            </a:solidFill>
            <a:prstDash val="solid"/>
          </a:ln>
        </p:spPr>
      </p:sp>
      <p:sp>
        <p:nvSpPr>
          <p:cNvPr id="646" name="Text 643"/>
          <p:cNvSpPr/>
          <p:nvPr/>
        </p:nvSpPr>
        <p:spPr>
          <a:xfrm>
            <a:off x="9053474" y="8525810"/>
            <a:ext cx="1466240" cy="661953"/>
          </a:xfrm>
          <a:prstGeom prst="rect">
            <a:avLst/>
          </a:prstGeom>
          <a:noFill/>
          <a:ln/>
        </p:spPr>
        <p:txBody>
          <a:bodyPr wrap="square" lIns="2540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
</a:t>
            </a:r>
            <a:endParaRPr lang="en-US" sz="600" dirty="0"/>
          </a:p>
        </p:txBody>
      </p:sp>
      <p:sp>
        <p:nvSpPr>
          <p:cNvPr id="647" name="Shape 644"/>
          <p:cNvSpPr/>
          <p:nvPr/>
        </p:nvSpPr>
        <p:spPr>
          <a:xfrm>
            <a:off x="10538003" y="7783044"/>
            <a:ext cx="1466240" cy="140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17346"/>
            </a:solidFill>
            <a:prstDash val="solid"/>
          </a:ln>
        </p:spPr>
      </p:sp>
      <p:sp>
        <p:nvSpPr>
          <p:cNvPr id="648" name="Text 645"/>
          <p:cNvSpPr/>
          <p:nvPr/>
        </p:nvSpPr>
        <p:spPr>
          <a:xfrm>
            <a:off x="10538003" y="7783044"/>
            <a:ext cx="1466240" cy="201168"/>
          </a:xfrm>
          <a:prstGeom prst="rect">
            <a:avLst/>
          </a:prstGeom>
          <a:solidFill>
            <a:srgbClr val="21734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LABOUR EFF.</a:t>
            </a:r>
            <a:endParaRPr lang="en-US" sz="650" dirty="0"/>
          </a:p>
        </p:txBody>
      </p:sp>
      <p:sp>
        <p:nvSpPr>
          <p:cNvPr id="649" name="Shape 646"/>
          <p:cNvSpPr/>
          <p:nvPr/>
        </p:nvSpPr>
        <p:spPr>
          <a:xfrm>
            <a:off x="10538003" y="7984212"/>
            <a:ext cx="1466240" cy="541598"/>
          </a:xfrm>
          <a:prstGeom prst="rect">
            <a:avLst/>
          </a:prstGeom>
          <a:solidFill>
            <a:srgbClr val="E8F5EE"/>
          </a:solidFill>
          <a:ln w="3175">
            <a:solidFill>
              <a:srgbClr val="D0D0D0"/>
            </a:solidFill>
            <a:prstDash val="solid"/>
          </a:ln>
        </p:spPr>
      </p:sp>
      <p:sp>
        <p:nvSpPr>
          <p:cNvPr id="650" name="Text 647"/>
          <p:cNvSpPr/>
          <p:nvPr/>
        </p:nvSpPr>
        <p:spPr>
          <a:xfrm>
            <a:off x="10538003" y="7984212"/>
            <a:ext cx="1466240" cy="5415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17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217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85%</a:t>
            </a:r>
            <a:endParaRPr lang="en-US" sz="600" dirty="0"/>
          </a:p>
        </p:txBody>
      </p:sp>
      <p:sp>
        <p:nvSpPr>
          <p:cNvPr id="651" name="Shape 648"/>
          <p:cNvSpPr/>
          <p:nvPr/>
        </p:nvSpPr>
        <p:spPr>
          <a:xfrm>
            <a:off x="10538003" y="8525810"/>
            <a:ext cx="1466240" cy="661953"/>
          </a:xfrm>
          <a:prstGeom prst="rect">
            <a:avLst/>
          </a:prstGeom>
          <a:solidFill>
            <a:srgbClr val="F2F2F2"/>
          </a:solidFill>
          <a:ln w="3175">
            <a:solidFill>
              <a:srgbClr val="D0D0D0"/>
            </a:solidFill>
            <a:prstDash val="solid"/>
          </a:ln>
        </p:spPr>
      </p:sp>
      <p:sp>
        <p:nvSpPr>
          <p:cNvPr id="652" name="Text 649"/>
          <p:cNvSpPr/>
          <p:nvPr/>
        </p:nvSpPr>
        <p:spPr>
          <a:xfrm>
            <a:off x="10538003" y="8525810"/>
            <a:ext cx="1466240" cy="661953"/>
          </a:xfrm>
          <a:prstGeom prst="rect">
            <a:avLst/>
          </a:prstGeom>
          <a:noFill/>
          <a:ln/>
        </p:spPr>
        <p:txBody>
          <a:bodyPr wrap="square" lIns="2540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
</a:t>
            </a:r>
            <a:endParaRPr lang="en-US" sz="600" dirty="0"/>
          </a:p>
        </p:txBody>
      </p:sp>
      <p:sp>
        <p:nvSpPr>
          <p:cNvPr id="653" name="Shape 650"/>
          <p:cNvSpPr/>
          <p:nvPr/>
        </p:nvSpPr>
        <p:spPr>
          <a:xfrm>
            <a:off x="9053474" y="9224339"/>
            <a:ext cx="2950769" cy="1358012"/>
          </a:xfrm>
          <a:prstGeom prst="rect">
            <a:avLst/>
          </a:prstGeom>
          <a:solidFill>
            <a:srgbClr val="FFFFFF"/>
          </a:solidFill>
          <a:ln w="12700">
            <a:solidFill>
              <a:srgbClr val="217346"/>
            </a:solidFill>
            <a:prstDash val="solid"/>
          </a:ln>
        </p:spPr>
      </p:sp>
      <p:sp>
        <p:nvSpPr>
          <p:cNvPr id="654" name="Text 651"/>
          <p:cNvSpPr/>
          <p:nvPr/>
        </p:nvSpPr>
        <p:spPr>
          <a:xfrm>
            <a:off x="9053474" y="9224339"/>
            <a:ext cx="2950769" cy="201168"/>
          </a:xfrm>
          <a:prstGeom prst="rect">
            <a:avLst/>
          </a:prstGeom>
          <a:solidFill>
            <a:srgbClr val="217346"/>
          </a:solidFill>
          <a:ln/>
        </p:spPr>
        <p:txBody>
          <a:bodyPr wrap="square" lIns="0" tIns="5080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IMPROVEMENT ACTIONS</a:t>
            </a:r>
            <a:endParaRPr lang="en-US" sz="650" dirty="0"/>
          </a:p>
        </p:txBody>
      </p:sp>
      <p:sp>
        <p:nvSpPr>
          <p:cNvPr id="656" name="Shape 653"/>
          <p:cNvSpPr/>
          <p:nvPr/>
        </p:nvSpPr>
        <p:spPr>
          <a:xfrm>
            <a:off x="9053474" y="9443795"/>
            <a:ext cx="502920" cy="180615"/>
          </a:xfrm>
          <a:prstGeom prst="rect">
            <a:avLst/>
          </a:prstGeom>
          <a:solidFill>
            <a:srgbClr val="F2F2F2"/>
          </a:solidFill>
          <a:ln w="3175">
            <a:solidFill>
              <a:srgbClr val="D0D0D0"/>
            </a:solidFill>
            <a:prstDash val="solid"/>
          </a:ln>
        </p:spPr>
      </p:sp>
      <p:sp>
        <p:nvSpPr>
          <p:cNvPr id="658" name="Shape 655"/>
          <p:cNvSpPr/>
          <p:nvPr/>
        </p:nvSpPr>
        <p:spPr>
          <a:xfrm>
            <a:off x="9053474" y="9633555"/>
            <a:ext cx="502920" cy="180615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  <a:prstDash val="solid"/>
          </a:ln>
        </p:spPr>
      </p:sp>
      <p:sp>
        <p:nvSpPr>
          <p:cNvPr id="660" name="Shape 657"/>
          <p:cNvSpPr/>
          <p:nvPr/>
        </p:nvSpPr>
        <p:spPr>
          <a:xfrm>
            <a:off x="9053474" y="9823314"/>
            <a:ext cx="502920" cy="180615"/>
          </a:xfrm>
          <a:prstGeom prst="rect">
            <a:avLst/>
          </a:prstGeom>
          <a:solidFill>
            <a:srgbClr val="F2F2F2"/>
          </a:solidFill>
          <a:ln w="3175">
            <a:solidFill>
              <a:srgbClr val="D0D0D0"/>
            </a:solidFill>
            <a:prstDash val="solid"/>
          </a:ln>
        </p:spPr>
      </p:sp>
      <p:sp>
        <p:nvSpPr>
          <p:cNvPr id="662" name="Shape 659"/>
          <p:cNvSpPr/>
          <p:nvPr/>
        </p:nvSpPr>
        <p:spPr>
          <a:xfrm>
            <a:off x="9053474" y="10013073"/>
            <a:ext cx="502920" cy="180615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  <a:prstDash val="solid"/>
          </a:ln>
        </p:spPr>
      </p:sp>
      <p:sp>
        <p:nvSpPr>
          <p:cNvPr id="664" name="Shape 661"/>
          <p:cNvSpPr/>
          <p:nvPr/>
        </p:nvSpPr>
        <p:spPr>
          <a:xfrm>
            <a:off x="9053474" y="10202833"/>
            <a:ext cx="502920" cy="180615"/>
          </a:xfrm>
          <a:prstGeom prst="rect">
            <a:avLst/>
          </a:prstGeom>
          <a:solidFill>
            <a:srgbClr val="F2F2F2"/>
          </a:solidFill>
          <a:ln w="3175">
            <a:solidFill>
              <a:srgbClr val="D0D0D0"/>
            </a:solidFill>
            <a:prstDash val="solid"/>
          </a:ln>
        </p:spPr>
      </p:sp>
      <p:sp>
        <p:nvSpPr>
          <p:cNvPr id="666" name="Shape 663"/>
          <p:cNvSpPr/>
          <p:nvPr/>
        </p:nvSpPr>
        <p:spPr>
          <a:xfrm>
            <a:off x="9053474" y="10392592"/>
            <a:ext cx="502920" cy="180615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  <a:prstDash val="solid"/>
          </a:ln>
        </p:spPr>
      </p:sp>
      <p:sp>
        <p:nvSpPr>
          <p:cNvPr id="669" name="Shape 666"/>
          <p:cNvSpPr/>
          <p:nvPr/>
        </p:nvSpPr>
        <p:spPr>
          <a:xfrm>
            <a:off x="12040819" y="886968"/>
            <a:ext cx="2950769" cy="3612136"/>
          </a:xfrm>
          <a:prstGeom prst="rect">
            <a:avLst/>
          </a:prstGeom>
          <a:solidFill>
            <a:srgbClr val="F2F2F2"/>
          </a:solidFill>
          <a:ln w="19050">
            <a:solidFill>
              <a:srgbClr val="83348F"/>
            </a:solidFill>
            <a:prstDash val="solid"/>
          </a:ln>
        </p:spPr>
      </p:sp>
      <p:sp>
        <p:nvSpPr>
          <p:cNvPr id="670" name="Text 667"/>
          <p:cNvSpPr/>
          <p:nvPr/>
        </p:nvSpPr>
        <p:spPr>
          <a:xfrm>
            <a:off x="12040819" y="886968"/>
            <a:ext cx="2950769" cy="292608"/>
          </a:xfrm>
          <a:prstGeom prst="rect">
            <a:avLst/>
          </a:prstGeom>
          <a:solidFill>
            <a:srgbClr val="83348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</a:t>
            </a:r>
            <a:endParaRPr lang="en-US" sz="900" dirty="0"/>
          </a:p>
        </p:txBody>
      </p:sp>
      <p:sp>
        <p:nvSpPr>
          <p:cNvPr id="671" name="Shape 668"/>
          <p:cNvSpPr/>
          <p:nvPr/>
        </p:nvSpPr>
        <p:spPr>
          <a:xfrm>
            <a:off x="12077395" y="1234440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672" name="Text 669"/>
          <p:cNvSpPr/>
          <p:nvPr/>
        </p:nvSpPr>
        <p:spPr>
          <a:xfrm>
            <a:off x="12077395" y="1234440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50" dirty="0"/>
          </a:p>
        </p:txBody>
      </p:sp>
      <p:sp>
        <p:nvSpPr>
          <p:cNvPr id="673" name="Shape 670"/>
          <p:cNvSpPr/>
          <p:nvPr/>
        </p:nvSpPr>
        <p:spPr>
          <a:xfrm>
            <a:off x="12796799" y="1234440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674" name="Text 671"/>
          <p:cNvSpPr/>
          <p:nvPr/>
        </p:nvSpPr>
        <p:spPr>
          <a:xfrm>
            <a:off x="12796799" y="1234440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50" dirty="0"/>
          </a:p>
        </p:txBody>
      </p:sp>
      <p:sp>
        <p:nvSpPr>
          <p:cNvPr id="675" name="Shape 672"/>
          <p:cNvSpPr/>
          <p:nvPr/>
        </p:nvSpPr>
        <p:spPr>
          <a:xfrm>
            <a:off x="13516204" y="1234440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676" name="Text 673"/>
          <p:cNvSpPr/>
          <p:nvPr/>
        </p:nvSpPr>
        <p:spPr>
          <a:xfrm>
            <a:off x="13516204" y="1234440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50" dirty="0"/>
          </a:p>
        </p:txBody>
      </p:sp>
      <p:sp>
        <p:nvSpPr>
          <p:cNvPr id="677" name="Shape 674"/>
          <p:cNvSpPr/>
          <p:nvPr/>
        </p:nvSpPr>
        <p:spPr>
          <a:xfrm>
            <a:off x="14235608" y="1234440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678" name="Text 675"/>
          <p:cNvSpPr/>
          <p:nvPr/>
        </p:nvSpPr>
        <p:spPr>
          <a:xfrm>
            <a:off x="14235608" y="1234440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50" dirty="0"/>
          </a:p>
        </p:txBody>
      </p:sp>
      <p:sp>
        <p:nvSpPr>
          <p:cNvPr id="679" name="Shape 676"/>
          <p:cNvSpPr/>
          <p:nvPr/>
        </p:nvSpPr>
        <p:spPr>
          <a:xfrm>
            <a:off x="12077395" y="1637951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680" name="Text 677"/>
          <p:cNvSpPr/>
          <p:nvPr/>
        </p:nvSpPr>
        <p:spPr>
          <a:xfrm>
            <a:off x="12077395" y="1637951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550" dirty="0"/>
          </a:p>
        </p:txBody>
      </p:sp>
      <p:sp>
        <p:nvSpPr>
          <p:cNvPr id="681" name="Shape 678"/>
          <p:cNvSpPr/>
          <p:nvPr/>
        </p:nvSpPr>
        <p:spPr>
          <a:xfrm>
            <a:off x="12796799" y="1637951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682" name="Text 679"/>
          <p:cNvSpPr/>
          <p:nvPr/>
        </p:nvSpPr>
        <p:spPr>
          <a:xfrm>
            <a:off x="12796799" y="1637951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550" dirty="0"/>
          </a:p>
        </p:txBody>
      </p:sp>
      <p:sp>
        <p:nvSpPr>
          <p:cNvPr id="683" name="Shape 680"/>
          <p:cNvSpPr/>
          <p:nvPr/>
        </p:nvSpPr>
        <p:spPr>
          <a:xfrm>
            <a:off x="13516204" y="1637951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684" name="Text 681"/>
          <p:cNvSpPr/>
          <p:nvPr/>
        </p:nvSpPr>
        <p:spPr>
          <a:xfrm>
            <a:off x="13516204" y="1637951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550" dirty="0"/>
          </a:p>
        </p:txBody>
      </p:sp>
      <p:sp>
        <p:nvSpPr>
          <p:cNvPr id="685" name="Shape 682"/>
          <p:cNvSpPr/>
          <p:nvPr/>
        </p:nvSpPr>
        <p:spPr>
          <a:xfrm>
            <a:off x="14235608" y="1637951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686" name="Text 683"/>
          <p:cNvSpPr/>
          <p:nvPr/>
        </p:nvSpPr>
        <p:spPr>
          <a:xfrm>
            <a:off x="14235608" y="1637951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550" dirty="0"/>
          </a:p>
        </p:txBody>
      </p:sp>
      <p:sp>
        <p:nvSpPr>
          <p:cNvPr id="687" name="Shape 684"/>
          <p:cNvSpPr/>
          <p:nvPr/>
        </p:nvSpPr>
        <p:spPr>
          <a:xfrm>
            <a:off x="12077395" y="2041462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688" name="Text 685"/>
          <p:cNvSpPr/>
          <p:nvPr/>
        </p:nvSpPr>
        <p:spPr>
          <a:xfrm>
            <a:off x="12077395" y="2041462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550" dirty="0"/>
          </a:p>
        </p:txBody>
      </p:sp>
      <p:sp>
        <p:nvSpPr>
          <p:cNvPr id="689" name="Shape 686"/>
          <p:cNvSpPr/>
          <p:nvPr/>
        </p:nvSpPr>
        <p:spPr>
          <a:xfrm>
            <a:off x="12796799" y="2041462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690" name="Text 687"/>
          <p:cNvSpPr/>
          <p:nvPr/>
        </p:nvSpPr>
        <p:spPr>
          <a:xfrm>
            <a:off x="12796799" y="2041462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550" dirty="0"/>
          </a:p>
        </p:txBody>
      </p:sp>
      <p:sp>
        <p:nvSpPr>
          <p:cNvPr id="691" name="Shape 688"/>
          <p:cNvSpPr/>
          <p:nvPr/>
        </p:nvSpPr>
        <p:spPr>
          <a:xfrm>
            <a:off x="13516204" y="2041462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692" name="Text 689"/>
          <p:cNvSpPr/>
          <p:nvPr/>
        </p:nvSpPr>
        <p:spPr>
          <a:xfrm>
            <a:off x="13516204" y="2041462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550" dirty="0"/>
          </a:p>
        </p:txBody>
      </p:sp>
      <p:sp>
        <p:nvSpPr>
          <p:cNvPr id="693" name="Shape 690"/>
          <p:cNvSpPr/>
          <p:nvPr/>
        </p:nvSpPr>
        <p:spPr>
          <a:xfrm>
            <a:off x="14235608" y="2041462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694" name="Text 691"/>
          <p:cNvSpPr/>
          <p:nvPr/>
        </p:nvSpPr>
        <p:spPr>
          <a:xfrm>
            <a:off x="14235608" y="2041462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550" dirty="0"/>
          </a:p>
        </p:txBody>
      </p:sp>
      <p:sp>
        <p:nvSpPr>
          <p:cNvPr id="695" name="Shape 692"/>
          <p:cNvSpPr/>
          <p:nvPr/>
        </p:nvSpPr>
        <p:spPr>
          <a:xfrm>
            <a:off x="12077395" y="2444973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696" name="Text 693"/>
          <p:cNvSpPr/>
          <p:nvPr/>
        </p:nvSpPr>
        <p:spPr>
          <a:xfrm>
            <a:off x="12077395" y="2444973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550" dirty="0"/>
          </a:p>
        </p:txBody>
      </p:sp>
      <p:sp>
        <p:nvSpPr>
          <p:cNvPr id="697" name="Shape 694"/>
          <p:cNvSpPr/>
          <p:nvPr/>
        </p:nvSpPr>
        <p:spPr>
          <a:xfrm>
            <a:off x="12796799" y="2444973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698" name="Text 695"/>
          <p:cNvSpPr/>
          <p:nvPr/>
        </p:nvSpPr>
        <p:spPr>
          <a:xfrm>
            <a:off x="12796799" y="2444973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550" dirty="0"/>
          </a:p>
        </p:txBody>
      </p:sp>
      <p:sp>
        <p:nvSpPr>
          <p:cNvPr id="699" name="Shape 696"/>
          <p:cNvSpPr/>
          <p:nvPr/>
        </p:nvSpPr>
        <p:spPr>
          <a:xfrm>
            <a:off x="13516204" y="2444973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700" name="Text 697"/>
          <p:cNvSpPr/>
          <p:nvPr/>
        </p:nvSpPr>
        <p:spPr>
          <a:xfrm>
            <a:off x="13516204" y="2444973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550" dirty="0"/>
          </a:p>
        </p:txBody>
      </p:sp>
      <p:sp>
        <p:nvSpPr>
          <p:cNvPr id="701" name="Shape 698"/>
          <p:cNvSpPr/>
          <p:nvPr/>
        </p:nvSpPr>
        <p:spPr>
          <a:xfrm>
            <a:off x="14235608" y="2444973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702" name="Text 699"/>
          <p:cNvSpPr/>
          <p:nvPr/>
        </p:nvSpPr>
        <p:spPr>
          <a:xfrm>
            <a:off x="14235608" y="2444973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550" dirty="0"/>
          </a:p>
        </p:txBody>
      </p:sp>
      <p:sp>
        <p:nvSpPr>
          <p:cNvPr id="703" name="Shape 700"/>
          <p:cNvSpPr/>
          <p:nvPr/>
        </p:nvSpPr>
        <p:spPr>
          <a:xfrm>
            <a:off x="12077395" y="2848484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704" name="Text 701"/>
          <p:cNvSpPr/>
          <p:nvPr/>
        </p:nvSpPr>
        <p:spPr>
          <a:xfrm>
            <a:off x="12077395" y="2848484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550" dirty="0"/>
          </a:p>
        </p:txBody>
      </p:sp>
      <p:sp>
        <p:nvSpPr>
          <p:cNvPr id="705" name="Shape 702"/>
          <p:cNvSpPr/>
          <p:nvPr/>
        </p:nvSpPr>
        <p:spPr>
          <a:xfrm>
            <a:off x="12796799" y="2848484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706" name="Text 703"/>
          <p:cNvSpPr/>
          <p:nvPr/>
        </p:nvSpPr>
        <p:spPr>
          <a:xfrm>
            <a:off x="12796799" y="2848484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550" dirty="0"/>
          </a:p>
        </p:txBody>
      </p:sp>
      <p:sp>
        <p:nvSpPr>
          <p:cNvPr id="707" name="Shape 704"/>
          <p:cNvSpPr/>
          <p:nvPr/>
        </p:nvSpPr>
        <p:spPr>
          <a:xfrm>
            <a:off x="13516204" y="2848484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708" name="Text 705"/>
          <p:cNvSpPr/>
          <p:nvPr/>
        </p:nvSpPr>
        <p:spPr>
          <a:xfrm>
            <a:off x="13516204" y="2848484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550" dirty="0"/>
          </a:p>
        </p:txBody>
      </p:sp>
      <p:sp>
        <p:nvSpPr>
          <p:cNvPr id="709" name="Shape 706"/>
          <p:cNvSpPr/>
          <p:nvPr/>
        </p:nvSpPr>
        <p:spPr>
          <a:xfrm>
            <a:off x="14235608" y="2848484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710" name="Text 707"/>
          <p:cNvSpPr/>
          <p:nvPr/>
        </p:nvSpPr>
        <p:spPr>
          <a:xfrm>
            <a:off x="14235608" y="2848484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550" dirty="0"/>
          </a:p>
        </p:txBody>
      </p:sp>
      <p:sp>
        <p:nvSpPr>
          <p:cNvPr id="711" name="Shape 708"/>
          <p:cNvSpPr/>
          <p:nvPr/>
        </p:nvSpPr>
        <p:spPr>
          <a:xfrm>
            <a:off x="12077395" y="3251995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712" name="Text 709"/>
          <p:cNvSpPr/>
          <p:nvPr/>
        </p:nvSpPr>
        <p:spPr>
          <a:xfrm>
            <a:off x="12077395" y="3251995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550" dirty="0"/>
          </a:p>
        </p:txBody>
      </p:sp>
      <p:sp>
        <p:nvSpPr>
          <p:cNvPr id="713" name="Shape 710"/>
          <p:cNvSpPr/>
          <p:nvPr/>
        </p:nvSpPr>
        <p:spPr>
          <a:xfrm>
            <a:off x="12796799" y="3251995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714" name="Text 711"/>
          <p:cNvSpPr/>
          <p:nvPr/>
        </p:nvSpPr>
        <p:spPr>
          <a:xfrm>
            <a:off x="12796799" y="3251995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550" dirty="0"/>
          </a:p>
        </p:txBody>
      </p:sp>
      <p:sp>
        <p:nvSpPr>
          <p:cNvPr id="715" name="Shape 712"/>
          <p:cNvSpPr/>
          <p:nvPr/>
        </p:nvSpPr>
        <p:spPr>
          <a:xfrm>
            <a:off x="13516204" y="3251995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716" name="Text 713"/>
          <p:cNvSpPr/>
          <p:nvPr/>
        </p:nvSpPr>
        <p:spPr>
          <a:xfrm>
            <a:off x="13516204" y="3251995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550" dirty="0"/>
          </a:p>
        </p:txBody>
      </p:sp>
      <p:sp>
        <p:nvSpPr>
          <p:cNvPr id="717" name="Shape 714"/>
          <p:cNvSpPr/>
          <p:nvPr/>
        </p:nvSpPr>
        <p:spPr>
          <a:xfrm>
            <a:off x="14235608" y="3251995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718" name="Text 715"/>
          <p:cNvSpPr/>
          <p:nvPr/>
        </p:nvSpPr>
        <p:spPr>
          <a:xfrm>
            <a:off x="14235608" y="3251995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550" dirty="0"/>
          </a:p>
        </p:txBody>
      </p:sp>
      <p:sp>
        <p:nvSpPr>
          <p:cNvPr id="719" name="Shape 716"/>
          <p:cNvSpPr/>
          <p:nvPr/>
        </p:nvSpPr>
        <p:spPr>
          <a:xfrm>
            <a:off x="12077395" y="3655506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720" name="Text 717"/>
          <p:cNvSpPr/>
          <p:nvPr/>
        </p:nvSpPr>
        <p:spPr>
          <a:xfrm>
            <a:off x="12077395" y="3655506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550" dirty="0"/>
          </a:p>
        </p:txBody>
      </p:sp>
      <p:sp>
        <p:nvSpPr>
          <p:cNvPr id="721" name="Shape 718"/>
          <p:cNvSpPr/>
          <p:nvPr/>
        </p:nvSpPr>
        <p:spPr>
          <a:xfrm>
            <a:off x="12796799" y="3655506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722" name="Text 719"/>
          <p:cNvSpPr/>
          <p:nvPr/>
        </p:nvSpPr>
        <p:spPr>
          <a:xfrm>
            <a:off x="12796799" y="3655506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550" dirty="0"/>
          </a:p>
        </p:txBody>
      </p:sp>
      <p:sp>
        <p:nvSpPr>
          <p:cNvPr id="723" name="Shape 720"/>
          <p:cNvSpPr/>
          <p:nvPr/>
        </p:nvSpPr>
        <p:spPr>
          <a:xfrm>
            <a:off x="13516204" y="3655506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724" name="Text 721"/>
          <p:cNvSpPr/>
          <p:nvPr/>
        </p:nvSpPr>
        <p:spPr>
          <a:xfrm>
            <a:off x="13516204" y="3655506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550" dirty="0"/>
          </a:p>
        </p:txBody>
      </p:sp>
      <p:sp>
        <p:nvSpPr>
          <p:cNvPr id="725" name="Shape 722"/>
          <p:cNvSpPr/>
          <p:nvPr/>
        </p:nvSpPr>
        <p:spPr>
          <a:xfrm>
            <a:off x="14235608" y="3655506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726" name="Text 723"/>
          <p:cNvSpPr/>
          <p:nvPr/>
        </p:nvSpPr>
        <p:spPr>
          <a:xfrm>
            <a:off x="14235608" y="3655506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550" dirty="0"/>
          </a:p>
        </p:txBody>
      </p:sp>
      <p:sp>
        <p:nvSpPr>
          <p:cNvPr id="727" name="Shape 724"/>
          <p:cNvSpPr/>
          <p:nvPr/>
        </p:nvSpPr>
        <p:spPr>
          <a:xfrm>
            <a:off x="12077395" y="4059017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728" name="Text 725"/>
          <p:cNvSpPr/>
          <p:nvPr/>
        </p:nvSpPr>
        <p:spPr>
          <a:xfrm>
            <a:off x="12077395" y="4059017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550" dirty="0"/>
          </a:p>
        </p:txBody>
      </p:sp>
      <p:sp>
        <p:nvSpPr>
          <p:cNvPr id="729" name="Shape 726"/>
          <p:cNvSpPr/>
          <p:nvPr/>
        </p:nvSpPr>
        <p:spPr>
          <a:xfrm>
            <a:off x="12796799" y="4059017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730" name="Text 727"/>
          <p:cNvSpPr/>
          <p:nvPr/>
        </p:nvSpPr>
        <p:spPr>
          <a:xfrm>
            <a:off x="12796799" y="4059017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550" dirty="0"/>
          </a:p>
        </p:txBody>
      </p:sp>
      <p:sp>
        <p:nvSpPr>
          <p:cNvPr id="731" name="Shape 728"/>
          <p:cNvSpPr/>
          <p:nvPr/>
        </p:nvSpPr>
        <p:spPr>
          <a:xfrm>
            <a:off x="13516204" y="4059017"/>
            <a:ext cx="710260" cy="394367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  <a:prstDash val="solid"/>
          </a:ln>
        </p:spPr>
      </p:sp>
      <p:sp>
        <p:nvSpPr>
          <p:cNvPr id="732" name="Text 729"/>
          <p:cNvSpPr/>
          <p:nvPr/>
        </p:nvSpPr>
        <p:spPr>
          <a:xfrm>
            <a:off x="13516204" y="4059017"/>
            <a:ext cx="710260" cy="394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550" dirty="0"/>
          </a:p>
        </p:txBody>
      </p:sp>
      <p:sp>
        <p:nvSpPr>
          <p:cNvPr id="733" name="Shape 730"/>
          <p:cNvSpPr/>
          <p:nvPr/>
        </p:nvSpPr>
        <p:spPr>
          <a:xfrm>
            <a:off x="12077395" y="4261360"/>
            <a:ext cx="146304" cy="128016"/>
          </a:xfrm>
          <a:prstGeom prst="rect">
            <a:avLst/>
          </a:prstGeom>
          <a:solidFill>
            <a:srgbClr val="217346"/>
          </a:solidFill>
          <a:ln/>
        </p:spPr>
      </p:sp>
      <p:sp>
        <p:nvSpPr>
          <p:cNvPr id="734" name="Text 731"/>
          <p:cNvSpPr/>
          <p:nvPr/>
        </p:nvSpPr>
        <p:spPr>
          <a:xfrm>
            <a:off x="12241987" y="4261360"/>
            <a:ext cx="5486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issues</a:t>
            </a:r>
            <a:endParaRPr lang="en-US" sz="450" dirty="0"/>
          </a:p>
        </p:txBody>
      </p:sp>
      <p:sp>
        <p:nvSpPr>
          <p:cNvPr id="735" name="Shape 732"/>
          <p:cNvSpPr/>
          <p:nvPr/>
        </p:nvSpPr>
        <p:spPr>
          <a:xfrm>
            <a:off x="12797095" y="4261360"/>
            <a:ext cx="146304" cy="12801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36" name="Text 733"/>
          <p:cNvSpPr/>
          <p:nvPr/>
        </p:nvSpPr>
        <p:spPr>
          <a:xfrm>
            <a:off x="12961687" y="4261360"/>
            <a:ext cx="5486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 miss</a:t>
            </a:r>
            <a:endParaRPr lang="en-US" sz="450" dirty="0"/>
          </a:p>
        </p:txBody>
      </p:sp>
      <p:sp>
        <p:nvSpPr>
          <p:cNvPr id="737" name="Shape 734"/>
          <p:cNvSpPr/>
          <p:nvPr/>
        </p:nvSpPr>
        <p:spPr>
          <a:xfrm>
            <a:off x="13516795" y="4261360"/>
            <a:ext cx="146304" cy="128016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738" name="Text 735"/>
          <p:cNvSpPr/>
          <p:nvPr/>
        </p:nvSpPr>
        <p:spPr>
          <a:xfrm>
            <a:off x="13681387" y="4261360"/>
            <a:ext cx="5486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</a:t>
            </a:r>
            <a:endParaRPr lang="en-US" sz="450" dirty="0"/>
          </a:p>
        </p:txBody>
      </p:sp>
      <p:sp>
        <p:nvSpPr>
          <p:cNvPr id="739" name="Shape 736"/>
          <p:cNvSpPr/>
          <p:nvPr/>
        </p:nvSpPr>
        <p:spPr>
          <a:xfrm>
            <a:off x="14236494" y="4261360"/>
            <a:ext cx="146304" cy="128016"/>
          </a:xfrm>
          <a:prstGeom prst="rect">
            <a:avLst/>
          </a:prstGeom>
          <a:solidFill>
            <a:srgbClr val="AAAAAA"/>
          </a:solidFill>
          <a:ln/>
        </p:spPr>
      </p:sp>
      <p:sp>
        <p:nvSpPr>
          <p:cNvPr id="740" name="Text 737"/>
          <p:cNvSpPr/>
          <p:nvPr/>
        </p:nvSpPr>
        <p:spPr>
          <a:xfrm>
            <a:off x="14401086" y="4261360"/>
            <a:ext cx="5486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Weekend</a:t>
            </a:r>
            <a:endParaRPr lang="en-US" sz="450" dirty="0"/>
          </a:p>
        </p:txBody>
      </p:sp>
      <p:sp>
        <p:nvSpPr>
          <p:cNvPr id="741" name="Shape 738"/>
          <p:cNvSpPr/>
          <p:nvPr/>
        </p:nvSpPr>
        <p:spPr>
          <a:xfrm>
            <a:off x="12040819" y="4535680"/>
            <a:ext cx="2950769" cy="3210788"/>
          </a:xfrm>
          <a:prstGeom prst="rect">
            <a:avLst/>
          </a:prstGeom>
          <a:solidFill>
            <a:srgbClr val="FFFFFF"/>
          </a:solidFill>
          <a:ln w="15240">
            <a:solidFill>
              <a:srgbClr val="83348F"/>
            </a:solidFill>
            <a:prstDash val="solid"/>
          </a:ln>
        </p:spPr>
      </p:sp>
      <p:sp>
        <p:nvSpPr>
          <p:cNvPr id="742" name="Text 739"/>
          <p:cNvSpPr/>
          <p:nvPr/>
        </p:nvSpPr>
        <p:spPr>
          <a:xfrm>
            <a:off x="12040819" y="4535680"/>
            <a:ext cx="2950769" cy="274320"/>
          </a:xfrm>
          <a:prstGeom prst="rect">
            <a:avLst/>
          </a:prstGeom>
          <a:solidFill>
            <a:srgbClr val="83348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PEOPLE: ABSENCE RATE</a:t>
            </a:r>
            <a:endParaRPr lang="en-US" sz="750" dirty="0"/>
          </a:p>
        </p:txBody>
      </p:sp>
      <p:sp>
        <p:nvSpPr>
          <p:cNvPr id="743" name="Shape 740"/>
          <p:cNvSpPr/>
          <p:nvPr/>
        </p:nvSpPr>
        <p:spPr>
          <a:xfrm>
            <a:off x="12296851" y="4828288"/>
            <a:ext cx="2658161" cy="0"/>
          </a:xfrm>
          <a:prstGeom prst="line">
            <a:avLst/>
          </a:prstGeom>
          <a:noFill/>
          <a:ln w="3810">
            <a:solidFill>
              <a:srgbClr val="DDDDDD"/>
            </a:solidFill>
            <a:prstDash val="solid"/>
          </a:ln>
        </p:spPr>
      </p:sp>
      <p:sp>
        <p:nvSpPr>
          <p:cNvPr id="744" name="Shape 741"/>
          <p:cNvSpPr/>
          <p:nvPr/>
        </p:nvSpPr>
        <p:spPr>
          <a:xfrm>
            <a:off x="12296851" y="5158770"/>
            <a:ext cx="2658161" cy="0"/>
          </a:xfrm>
          <a:prstGeom prst="line">
            <a:avLst/>
          </a:prstGeom>
          <a:noFill/>
          <a:ln w="3810">
            <a:solidFill>
              <a:srgbClr val="DDDDDD"/>
            </a:solidFill>
            <a:prstDash val="solid"/>
          </a:ln>
        </p:spPr>
      </p:sp>
      <p:sp>
        <p:nvSpPr>
          <p:cNvPr id="745" name="Shape 742"/>
          <p:cNvSpPr/>
          <p:nvPr/>
        </p:nvSpPr>
        <p:spPr>
          <a:xfrm>
            <a:off x="12296851" y="5489253"/>
            <a:ext cx="2658161" cy="0"/>
          </a:xfrm>
          <a:prstGeom prst="line">
            <a:avLst/>
          </a:prstGeom>
          <a:noFill/>
          <a:ln w="3810">
            <a:solidFill>
              <a:srgbClr val="DDDDDD"/>
            </a:solidFill>
            <a:prstDash val="solid"/>
          </a:ln>
        </p:spPr>
      </p:sp>
      <p:sp>
        <p:nvSpPr>
          <p:cNvPr id="746" name="Shape 743"/>
          <p:cNvSpPr/>
          <p:nvPr/>
        </p:nvSpPr>
        <p:spPr>
          <a:xfrm>
            <a:off x="12296851" y="5819735"/>
            <a:ext cx="2658161" cy="0"/>
          </a:xfrm>
          <a:prstGeom prst="line">
            <a:avLst/>
          </a:prstGeom>
          <a:noFill/>
          <a:ln w="3810">
            <a:solidFill>
              <a:srgbClr val="DDDDDD"/>
            </a:solidFill>
            <a:prstDash val="solid"/>
          </a:ln>
        </p:spPr>
      </p:sp>
      <p:sp>
        <p:nvSpPr>
          <p:cNvPr id="747" name="Shape 744"/>
          <p:cNvSpPr/>
          <p:nvPr/>
        </p:nvSpPr>
        <p:spPr>
          <a:xfrm>
            <a:off x="12296851" y="6150218"/>
            <a:ext cx="2658161" cy="0"/>
          </a:xfrm>
          <a:prstGeom prst="line">
            <a:avLst/>
          </a:prstGeom>
          <a:noFill/>
          <a:ln w="3810">
            <a:solidFill>
              <a:srgbClr val="DDDDDD"/>
            </a:solidFill>
            <a:prstDash val="solid"/>
          </a:ln>
        </p:spPr>
      </p:sp>
      <p:sp>
        <p:nvSpPr>
          <p:cNvPr id="748" name="Shape 745"/>
          <p:cNvSpPr/>
          <p:nvPr/>
        </p:nvSpPr>
        <p:spPr>
          <a:xfrm>
            <a:off x="12296851" y="6480700"/>
            <a:ext cx="2658161" cy="0"/>
          </a:xfrm>
          <a:prstGeom prst="line">
            <a:avLst/>
          </a:prstGeom>
          <a:noFill/>
          <a:ln w="3810">
            <a:solidFill>
              <a:srgbClr val="DDDDDD"/>
            </a:solidFill>
            <a:prstDash val="solid"/>
          </a:ln>
        </p:spPr>
      </p:sp>
      <p:sp>
        <p:nvSpPr>
          <p:cNvPr id="749" name="Shape 746"/>
          <p:cNvSpPr/>
          <p:nvPr/>
        </p:nvSpPr>
        <p:spPr>
          <a:xfrm>
            <a:off x="12296851" y="6811183"/>
            <a:ext cx="2658161" cy="0"/>
          </a:xfrm>
          <a:prstGeom prst="line">
            <a:avLst/>
          </a:prstGeom>
          <a:noFill/>
          <a:ln w="3810">
            <a:solidFill>
              <a:srgbClr val="DDDDDD"/>
            </a:solidFill>
            <a:prstDash val="solid"/>
          </a:ln>
        </p:spPr>
      </p:sp>
      <p:sp>
        <p:nvSpPr>
          <p:cNvPr id="750" name="Shape 747"/>
          <p:cNvSpPr/>
          <p:nvPr/>
        </p:nvSpPr>
        <p:spPr>
          <a:xfrm>
            <a:off x="12296851" y="7141665"/>
            <a:ext cx="2658161" cy="0"/>
          </a:xfrm>
          <a:prstGeom prst="line">
            <a:avLst/>
          </a:prstGeom>
          <a:noFill/>
          <a:ln w="3810">
            <a:solidFill>
              <a:srgbClr val="DDDDDD"/>
            </a:solidFill>
            <a:prstDash val="solid"/>
          </a:ln>
        </p:spPr>
      </p:sp>
      <p:sp>
        <p:nvSpPr>
          <p:cNvPr id="751" name="Shape 748"/>
          <p:cNvSpPr/>
          <p:nvPr/>
        </p:nvSpPr>
        <p:spPr>
          <a:xfrm>
            <a:off x="12296851" y="7472148"/>
            <a:ext cx="2658161" cy="0"/>
          </a:xfrm>
          <a:prstGeom prst="line">
            <a:avLst/>
          </a:prstGeom>
          <a:noFill/>
          <a:ln w="3810">
            <a:solidFill>
              <a:srgbClr val="DDDDDD"/>
            </a:solidFill>
            <a:prstDash val="solid"/>
          </a:ln>
        </p:spPr>
      </p:sp>
      <p:sp>
        <p:nvSpPr>
          <p:cNvPr id="752" name="Shape 749"/>
          <p:cNvSpPr/>
          <p:nvPr/>
        </p:nvSpPr>
        <p:spPr>
          <a:xfrm>
            <a:off x="12296851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753" name="Shape 750"/>
          <p:cNvSpPr/>
          <p:nvPr/>
        </p:nvSpPr>
        <p:spPr>
          <a:xfrm>
            <a:off x="12412423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754" name="Shape 751"/>
          <p:cNvSpPr/>
          <p:nvPr/>
        </p:nvSpPr>
        <p:spPr>
          <a:xfrm>
            <a:off x="12527996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755" name="Shape 752"/>
          <p:cNvSpPr/>
          <p:nvPr/>
        </p:nvSpPr>
        <p:spPr>
          <a:xfrm>
            <a:off x="12643568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756" name="Shape 753"/>
          <p:cNvSpPr/>
          <p:nvPr/>
        </p:nvSpPr>
        <p:spPr>
          <a:xfrm>
            <a:off x="12759140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757" name="Shape 754"/>
          <p:cNvSpPr/>
          <p:nvPr/>
        </p:nvSpPr>
        <p:spPr>
          <a:xfrm>
            <a:off x="12874712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758" name="Shape 755"/>
          <p:cNvSpPr/>
          <p:nvPr/>
        </p:nvSpPr>
        <p:spPr>
          <a:xfrm>
            <a:off x="12990284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759" name="Shape 756"/>
          <p:cNvSpPr/>
          <p:nvPr/>
        </p:nvSpPr>
        <p:spPr>
          <a:xfrm>
            <a:off x="13105857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760" name="Shape 757"/>
          <p:cNvSpPr/>
          <p:nvPr/>
        </p:nvSpPr>
        <p:spPr>
          <a:xfrm>
            <a:off x="13221429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761" name="Shape 758"/>
          <p:cNvSpPr/>
          <p:nvPr/>
        </p:nvSpPr>
        <p:spPr>
          <a:xfrm>
            <a:off x="13337001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762" name="Shape 759"/>
          <p:cNvSpPr/>
          <p:nvPr/>
        </p:nvSpPr>
        <p:spPr>
          <a:xfrm>
            <a:off x="13452573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763" name="Shape 760"/>
          <p:cNvSpPr/>
          <p:nvPr/>
        </p:nvSpPr>
        <p:spPr>
          <a:xfrm>
            <a:off x="13568145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764" name="Shape 761"/>
          <p:cNvSpPr/>
          <p:nvPr/>
        </p:nvSpPr>
        <p:spPr>
          <a:xfrm>
            <a:off x="13683718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765" name="Shape 762"/>
          <p:cNvSpPr/>
          <p:nvPr/>
        </p:nvSpPr>
        <p:spPr>
          <a:xfrm>
            <a:off x="13799290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766" name="Shape 763"/>
          <p:cNvSpPr/>
          <p:nvPr/>
        </p:nvSpPr>
        <p:spPr>
          <a:xfrm>
            <a:off x="13914862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767" name="Shape 764"/>
          <p:cNvSpPr/>
          <p:nvPr/>
        </p:nvSpPr>
        <p:spPr>
          <a:xfrm>
            <a:off x="14030434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768" name="Shape 765"/>
          <p:cNvSpPr/>
          <p:nvPr/>
        </p:nvSpPr>
        <p:spPr>
          <a:xfrm>
            <a:off x="14146007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769" name="Shape 766"/>
          <p:cNvSpPr/>
          <p:nvPr/>
        </p:nvSpPr>
        <p:spPr>
          <a:xfrm>
            <a:off x="14261579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770" name="Shape 767"/>
          <p:cNvSpPr/>
          <p:nvPr/>
        </p:nvSpPr>
        <p:spPr>
          <a:xfrm>
            <a:off x="14377151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771" name="Shape 768"/>
          <p:cNvSpPr/>
          <p:nvPr/>
        </p:nvSpPr>
        <p:spPr>
          <a:xfrm>
            <a:off x="14492723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772" name="Shape 769"/>
          <p:cNvSpPr/>
          <p:nvPr/>
        </p:nvSpPr>
        <p:spPr>
          <a:xfrm>
            <a:off x="14608295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773" name="Shape 770"/>
          <p:cNvSpPr/>
          <p:nvPr/>
        </p:nvSpPr>
        <p:spPr>
          <a:xfrm>
            <a:off x="14723868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774" name="Shape 771"/>
          <p:cNvSpPr/>
          <p:nvPr/>
        </p:nvSpPr>
        <p:spPr>
          <a:xfrm>
            <a:off x="14839440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775" name="Shape 772"/>
          <p:cNvSpPr/>
          <p:nvPr/>
        </p:nvSpPr>
        <p:spPr>
          <a:xfrm>
            <a:off x="14955012" y="4828288"/>
            <a:ext cx="0" cy="2643860"/>
          </a:xfrm>
          <a:prstGeom prst="line">
            <a:avLst/>
          </a:prstGeom>
          <a:noFill/>
          <a:ln w="3175">
            <a:solidFill>
              <a:srgbClr val="EEEEEE"/>
            </a:solidFill>
            <a:prstDash val="solid"/>
          </a:ln>
        </p:spPr>
      </p:sp>
      <p:sp>
        <p:nvSpPr>
          <p:cNvPr id="776" name="Shape 773"/>
          <p:cNvSpPr/>
          <p:nvPr/>
        </p:nvSpPr>
        <p:spPr>
          <a:xfrm>
            <a:off x="12296851" y="5357060"/>
            <a:ext cx="2658161" cy="0"/>
          </a:xfrm>
          <a:prstGeom prst="line">
            <a:avLst/>
          </a:prstGeom>
          <a:noFill/>
          <a:ln w="12700">
            <a:solidFill>
              <a:srgbClr val="217346"/>
            </a:solidFill>
            <a:prstDash val="dash"/>
          </a:ln>
        </p:spPr>
      </p:sp>
      <p:sp>
        <p:nvSpPr>
          <p:cNvPr id="777" name="Text 774"/>
          <p:cNvSpPr/>
          <p:nvPr/>
        </p:nvSpPr>
        <p:spPr>
          <a:xfrm>
            <a:off x="12296851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50" dirty="0"/>
          </a:p>
        </p:txBody>
      </p:sp>
      <p:sp>
        <p:nvSpPr>
          <p:cNvPr id="778" name="Text 775"/>
          <p:cNvSpPr/>
          <p:nvPr/>
        </p:nvSpPr>
        <p:spPr>
          <a:xfrm>
            <a:off x="12412423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50" dirty="0"/>
          </a:p>
        </p:txBody>
      </p:sp>
      <p:sp>
        <p:nvSpPr>
          <p:cNvPr id="779" name="Text 776"/>
          <p:cNvSpPr/>
          <p:nvPr/>
        </p:nvSpPr>
        <p:spPr>
          <a:xfrm>
            <a:off x="12527996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50" dirty="0"/>
          </a:p>
        </p:txBody>
      </p:sp>
      <p:sp>
        <p:nvSpPr>
          <p:cNvPr id="780" name="Text 777"/>
          <p:cNvSpPr/>
          <p:nvPr/>
        </p:nvSpPr>
        <p:spPr>
          <a:xfrm>
            <a:off x="12643568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50" dirty="0"/>
          </a:p>
        </p:txBody>
      </p:sp>
      <p:sp>
        <p:nvSpPr>
          <p:cNvPr id="781" name="Text 778"/>
          <p:cNvSpPr/>
          <p:nvPr/>
        </p:nvSpPr>
        <p:spPr>
          <a:xfrm>
            <a:off x="12759140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450" dirty="0"/>
          </a:p>
        </p:txBody>
      </p:sp>
      <p:sp>
        <p:nvSpPr>
          <p:cNvPr id="782" name="Text 779"/>
          <p:cNvSpPr/>
          <p:nvPr/>
        </p:nvSpPr>
        <p:spPr>
          <a:xfrm>
            <a:off x="12874712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450" dirty="0"/>
          </a:p>
        </p:txBody>
      </p:sp>
      <p:sp>
        <p:nvSpPr>
          <p:cNvPr id="783" name="Text 780"/>
          <p:cNvSpPr/>
          <p:nvPr/>
        </p:nvSpPr>
        <p:spPr>
          <a:xfrm>
            <a:off x="12990284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450" dirty="0"/>
          </a:p>
        </p:txBody>
      </p:sp>
      <p:sp>
        <p:nvSpPr>
          <p:cNvPr id="784" name="Text 781"/>
          <p:cNvSpPr/>
          <p:nvPr/>
        </p:nvSpPr>
        <p:spPr>
          <a:xfrm>
            <a:off x="13105857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450" dirty="0"/>
          </a:p>
        </p:txBody>
      </p:sp>
      <p:sp>
        <p:nvSpPr>
          <p:cNvPr id="785" name="Text 782"/>
          <p:cNvSpPr/>
          <p:nvPr/>
        </p:nvSpPr>
        <p:spPr>
          <a:xfrm>
            <a:off x="13221429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450" dirty="0"/>
          </a:p>
        </p:txBody>
      </p:sp>
      <p:sp>
        <p:nvSpPr>
          <p:cNvPr id="786" name="Text 783"/>
          <p:cNvSpPr/>
          <p:nvPr/>
        </p:nvSpPr>
        <p:spPr>
          <a:xfrm>
            <a:off x="13337001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450" dirty="0"/>
          </a:p>
        </p:txBody>
      </p:sp>
      <p:sp>
        <p:nvSpPr>
          <p:cNvPr id="787" name="Text 784"/>
          <p:cNvSpPr/>
          <p:nvPr/>
        </p:nvSpPr>
        <p:spPr>
          <a:xfrm>
            <a:off x="13452573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450" dirty="0"/>
          </a:p>
        </p:txBody>
      </p:sp>
      <p:sp>
        <p:nvSpPr>
          <p:cNvPr id="788" name="Text 785"/>
          <p:cNvSpPr/>
          <p:nvPr/>
        </p:nvSpPr>
        <p:spPr>
          <a:xfrm>
            <a:off x="13568145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450" dirty="0"/>
          </a:p>
        </p:txBody>
      </p:sp>
      <p:sp>
        <p:nvSpPr>
          <p:cNvPr id="789" name="Text 786"/>
          <p:cNvSpPr/>
          <p:nvPr/>
        </p:nvSpPr>
        <p:spPr>
          <a:xfrm>
            <a:off x="13683718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450" dirty="0"/>
          </a:p>
        </p:txBody>
      </p:sp>
      <p:sp>
        <p:nvSpPr>
          <p:cNvPr id="790" name="Text 787"/>
          <p:cNvSpPr/>
          <p:nvPr/>
        </p:nvSpPr>
        <p:spPr>
          <a:xfrm>
            <a:off x="13799290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450" dirty="0"/>
          </a:p>
        </p:txBody>
      </p:sp>
      <p:sp>
        <p:nvSpPr>
          <p:cNvPr id="791" name="Text 788"/>
          <p:cNvSpPr/>
          <p:nvPr/>
        </p:nvSpPr>
        <p:spPr>
          <a:xfrm>
            <a:off x="13914862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450" dirty="0"/>
          </a:p>
        </p:txBody>
      </p:sp>
      <p:sp>
        <p:nvSpPr>
          <p:cNvPr id="792" name="Text 789"/>
          <p:cNvSpPr/>
          <p:nvPr/>
        </p:nvSpPr>
        <p:spPr>
          <a:xfrm>
            <a:off x="14030434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450" dirty="0"/>
          </a:p>
        </p:txBody>
      </p:sp>
      <p:sp>
        <p:nvSpPr>
          <p:cNvPr id="793" name="Text 790"/>
          <p:cNvSpPr/>
          <p:nvPr/>
        </p:nvSpPr>
        <p:spPr>
          <a:xfrm>
            <a:off x="14146007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450" dirty="0"/>
          </a:p>
        </p:txBody>
      </p:sp>
      <p:sp>
        <p:nvSpPr>
          <p:cNvPr id="794" name="Text 791"/>
          <p:cNvSpPr/>
          <p:nvPr/>
        </p:nvSpPr>
        <p:spPr>
          <a:xfrm>
            <a:off x="14261579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450" dirty="0"/>
          </a:p>
        </p:txBody>
      </p:sp>
      <p:sp>
        <p:nvSpPr>
          <p:cNvPr id="795" name="Text 792"/>
          <p:cNvSpPr/>
          <p:nvPr/>
        </p:nvSpPr>
        <p:spPr>
          <a:xfrm>
            <a:off x="14377151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450" dirty="0"/>
          </a:p>
        </p:txBody>
      </p:sp>
      <p:sp>
        <p:nvSpPr>
          <p:cNvPr id="796" name="Text 793"/>
          <p:cNvSpPr/>
          <p:nvPr/>
        </p:nvSpPr>
        <p:spPr>
          <a:xfrm>
            <a:off x="14492723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450" dirty="0"/>
          </a:p>
        </p:txBody>
      </p:sp>
      <p:sp>
        <p:nvSpPr>
          <p:cNvPr id="797" name="Text 794"/>
          <p:cNvSpPr/>
          <p:nvPr/>
        </p:nvSpPr>
        <p:spPr>
          <a:xfrm>
            <a:off x="14608295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450" dirty="0"/>
          </a:p>
        </p:txBody>
      </p:sp>
      <p:sp>
        <p:nvSpPr>
          <p:cNvPr id="798" name="Text 795"/>
          <p:cNvSpPr/>
          <p:nvPr/>
        </p:nvSpPr>
        <p:spPr>
          <a:xfrm>
            <a:off x="14723868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450" dirty="0"/>
          </a:p>
        </p:txBody>
      </p:sp>
      <p:sp>
        <p:nvSpPr>
          <p:cNvPr id="799" name="Text 796"/>
          <p:cNvSpPr/>
          <p:nvPr/>
        </p:nvSpPr>
        <p:spPr>
          <a:xfrm>
            <a:off x="14839440" y="7481292"/>
            <a:ext cx="1155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450" dirty="0"/>
          </a:p>
        </p:txBody>
      </p:sp>
      <p:sp>
        <p:nvSpPr>
          <p:cNvPr id="800" name="Text 797"/>
          <p:cNvSpPr/>
          <p:nvPr/>
        </p:nvSpPr>
        <p:spPr>
          <a:xfrm>
            <a:off x="12296851" y="7600164"/>
            <a:ext cx="2658161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DAYS</a:t>
            </a:r>
            <a:endParaRPr lang="en-US" sz="500" dirty="0"/>
          </a:p>
        </p:txBody>
      </p:sp>
      <p:sp>
        <p:nvSpPr>
          <p:cNvPr id="801" name="Shape 798"/>
          <p:cNvSpPr/>
          <p:nvPr/>
        </p:nvSpPr>
        <p:spPr>
          <a:xfrm>
            <a:off x="12077395" y="7636740"/>
            <a:ext cx="274320" cy="0"/>
          </a:xfrm>
          <a:prstGeom prst="line">
            <a:avLst/>
          </a:prstGeom>
          <a:noFill/>
          <a:ln w="12700">
            <a:solidFill>
              <a:srgbClr val="217346"/>
            </a:solidFill>
            <a:prstDash val="dash"/>
          </a:ln>
        </p:spPr>
      </p:sp>
      <p:sp>
        <p:nvSpPr>
          <p:cNvPr id="802" name="Text 799"/>
          <p:cNvSpPr/>
          <p:nvPr/>
        </p:nvSpPr>
        <p:spPr>
          <a:xfrm>
            <a:off x="12370003" y="7600164"/>
            <a:ext cx="5486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50" b="1" dirty="0">
                <a:solidFill>
                  <a:srgbClr val="217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450" dirty="0"/>
          </a:p>
        </p:txBody>
      </p:sp>
      <p:sp>
        <p:nvSpPr>
          <p:cNvPr id="803" name="Shape 800"/>
          <p:cNvSpPr/>
          <p:nvPr/>
        </p:nvSpPr>
        <p:spPr>
          <a:xfrm>
            <a:off x="13046659" y="7636740"/>
            <a:ext cx="274320" cy="0"/>
          </a:xfrm>
          <a:prstGeom prst="line">
            <a:avLst/>
          </a:prstGeom>
          <a:noFill/>
          <a:ln w="15240">
            <a:solidFill>
              <a:srgbClr val="C00000"/>
            </a:solidFill>
            <a:prstDash val="solid"/>
          </a:ln>
        </p:spPr>
      </p:sp>
      <p:sp>
        <p:nvSpPr>
          <p:cNvPr id="804" name="Text 801"/>
          <p:cNvSpPr/>
          <p:nvPr/>
        </p:nvSpPr>
        <p:spPr>
          <a:xfrm>
            <a:off x="13339267" y="7600164"/>
            <a:ext cx="5486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</a:t>
            </a:r>
            <a:endParaRPr lang="en-US" sz="450" dirty="0"/>
          </a:p>
        </p:txBody>
      </p:sp>
      <p:sp>
        <p:nvSpPr>
          <p:cNvPr id="805" name="Text 802"/>
          <p:cNvSpPr/>
          <p:nvPr/>
        </p:nvSpPr>
        <p:spPr>
          <a:xfrm>
            <a:off x="13894308" y="7600164"/>
            <a:ext cx="1051560" cy="128016"/>
          </a:xfrm>
          <a:prstGeom prst="rect">
            <a:avLst/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≤3%</a:t>
            </a:r>
            <a:endParaRPr lang="en-US" sz="450" dirty="0"/>
          </a:p>
        </p:txBody>
      </p:sp>
      <p:sp>
        <p:nvSpPr>
          <p:cNvPr id="806" name="Shape 803"/>
          <p:cNvSpPr/>
          <p:nvPr/>
        </p:nvSpPr>
        <p:spPr>
          <a:xfrm>
            <a:off x="12040819" y="7783044"/>
            <a:ext cx="1466240" cy="140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807" name="Text 804"/>
          <p:cNvSpPr/>
          <p:nvPr/>
        </p:nvSpPr>
        <p:spPr>
          <a:xfrm>
            <a:off x="12040819" y="7783044"/>
            <a:ext cx="1466240" cy="201168"/>
          </a:xfrm>
          <a:prstGeom prst="rect">
            <a:avLst/>
          </a:prstGeom>
          <a:solidFill>
            <a:srgbClr val="83348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ABSENCE RATE</a:t>
            </a:r>
            <a:endParaRPr lang="en-US" sz="650" dirty="0"/>
          </a:p>
        </p:txBody>
      </p:sp>
      <p:sp>
        <p:nvSpPr>
          <p:cNvPr id="808" name="Shape 805"/>
          <p:cNvSpPr/>
          <p:nvPr/>
        </p:nvSpPr>
        <p:spPr>
          <a:xfrm>
            <a:off x="12040819" y="7984212"/>
            <a:ext cx="1466240" cy="541598"/>
          </a:xfrm>
          <a:prstGeom prst="rect">
            <a:avLst/>
          </a:prstGeom>
          <a:solidFill>
            <a:srgbClr val="E8F5EE"/>
          </a:solidFill>
          <a:ln w="3175">
            <a:solidFill>
              <a:srgbClr val="D0D0D0"/>
            </a:solidFill>
            <a:prstDash val="solid"/>
          </a:ln>
        </p:spPr>
      </p:sp>
      <p:sp>
        <p:nvSpPr>
          <p:cNvPr id="809" name="Text 806"/>
          <p:cNvSpPr/>
          <p:nvPr/>
        </p:nvSpPr>
        <p:spPr>
          <a:xfrm>
            <a:off x="12040819" y="7984212"/>
            <a:ext cx="1466240" cy="5415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17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217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 3% per month</a:t>
            </a:r>
            <a:endParaRPr lang="en-US" sz="600" dirty="0"/>
          </a:p>
        </p:txBody>
      </p:sp>
      <p:sp>
        <p:nvSpPr>
          <p:cNvPr id="810" name="Shape 807"/>
          <p:cNvSpPr/>
          <p:nvPr/>
        </p:nvSpPr>
        <p:spPr>
          <a:xfrm>
            <a:off x="12040819" y="8525810"/>
            <a:ext cx="1466240" cy="661953"/>
          </a:xfrm>
          <a:prstGeom prst="rect">
            <a:avLst/>
          </a:prstGeom>
          <a:solidFill>
            <a:srgbClr val="F2F2F2"/>
          </a:solidFill>
          <a:ln w="3175">
            <a:solidFill>
              <a:srgbClr val="D0D0D0"/>
            </a:solidFill>
            <a:prstDash val="solid"/>
          </a:ln>
        </p:spPr>
      </p:sp>
      <p:sp>
        <p:nvSpPr>
          <p:cNvPr id="811" name="Text 808"/>
          <p:cNvSpPr/>
          <p:nvPr/>
        </p:nvSpPr>
        <p:spPr>
          <a:xfrm>
            <a:off x="12040819" y="8525810"/>
            <a:ext cx="1466240" cy="661953"/>
          </a:xfrm>
          <a:prstGeom prst="rect">
            <a:avLst/>
          </a:prstGeom>
          <a:noFill/>
          <a:ln/>
        </p:spPr>
        <p:txBody>
          <a:bodyPr wrap="square" lIns="2540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
</a:t>
            </a:r>
            <a:endParaRPr lang="en-US" sz="600" dirty="0"/>
          </a:p>
        </p:txBody>
      </p:sp>
      <p:sp>
        <p:nvSpPr>
          <p:cNvPr id="812" name="Shape 809"/>
          <p:cNvSpPr/>
          <p:nvPr/>
        </p:nvSpPr>
        <p:spPr>
          <a:xfrm>
            <a:off x="13525348" y="7783044"/>
            <a:ext cx="1466240" cy="140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813" name="Text 810"/>
          <p:cNvSpPr/>
          <p:nvPr/>
        </p:nvSpPr>
        <p:spPr>
          <a:xfrm>
            <a:off x="13525348" y="7783044"/>
            <a:ext cx="1466240" cy="201168"/>
          </a:xfrm>
          <a:prstGeom prst="rect">
            <a:avLst/>
          </a:prstGeom>
          <a:solidFill>
            <a:srgbClr val="83348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 SUBMITTED</a:t>
            </a:r>
            <a:endParaRPr lang="en-US" sz="650" dirty="0"/>
          </a:p>
        </p:txBody>
      </p:sp>
      <p:sp>
        <p:nvSpPr>
          <p:cNvPr id="814" name="Shape 811"/>
          <p:cNvSpPr/>
          <p:nvPr/>
        </p:nvSpPr>
        <p:spPr>
          <a:xfrm>
            <a:off x="13525348" y="7984212"/>
            <a:ext cx="1466240" cy="541598"/>
          </a:xfrm>
          <a:prstGeom prst="rect">
            <a:avLst/>
          </a:prstGeom>
          <a:solidFill>
            <a:srgbClr val="E8F5EE"/>
          </a:solidFill>
          <a:ln w="3175">
            <a:solidFill>
              <a:srgbClr val="D0D0D0"/>
            </a:solidFill>
            <a:prstDash val="solid"/>
          </a:ln>
        </p:spPr>
      </p:sp>
      <p:sp>
        <p:nvSpPr>
          <p:cNvPr id="815" name="Text 812"/>
          <p:cNvSpPr/>
          <p:nvPr/>
        </p:nvSpPr>
        <p:spPr>
          <a:xfrm>
            <a:off x="13525348" y="7984212"/>
            <a:ext cx="1466240" cy="5415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17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217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2/person</a:t>
            </a:r>
            <a:endParaRPr lang="en-US" sz="600" dirty="0"/>
          </a:p>
        </p:txBody>
      </p:sp>
      <p:sp>
        <p:nvSpPr>
          <p:cNvPr id="816" name="Shape 813"/>
          <p:cNvSpPr/>
          <p:nvPr/>
        </p:nvSpPr>
        <p:spPr>
          <a:xfrm>
            <a:off x="13525348" y="8525810"/>
            <a:ext cx="1466240" cy="661953"/>
          </a:xfrm>
          <a:prstGeom prst="rect">
            <a:avLst/>
          </a:prstGeom>
          <a:solidFill>
            <a:srgbClr val="F2F2F2"/>
          </a:solidFill>
          <a:ln w="3175">
            <a:solidFill>
              <a:srgbClr val="D0D0D0"/>
            </a:solidFill>
            <a:prstDash val="solid"/>
          </a:ln>
        </p:spPr>
      </p:sp>
      <p:sp>
        <p:nvSpPr>
          <p:cNvPr id="817" name="Text 814"/>
          <p:cNvSpPr/>
          <p:nvPr/>
        </p:nvSpPr>
        <p:spPr>
          <a:xfrm>
            <a:off x="13525348" y="8525810"/>
            <a:ext cx="1466240" cy="661953"/>
          </a:xfrm>
          <a:prstGeom prst="rect">
            <a:avLst/>
          </a:prstGeom>
          <a:noFill/>
          <a:ln/>
        </p:spPr>
        <p:txBody>
          <a:bodyPr wrap="square" lIns="2540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
</a:t>
            </a:r>
            <a:endParaRPr lang="en-US" sz="600" dirty="0"/>
          </a:p>
        </p:txBody>
      </p:sp>
      <p:sp>
        <p:nvSpPr>
          <p:cNvPr id="818" name="Shape 815"/>
          <p:cNvSpPr/>
          <p:nvPr/>
        </p:nvSpPr>
        <p:spPr>
          <a:xfrm>
            <a:off x="12040819" y="9224339"/>
            <a:ext cx="2950769" cy="1358012"/>
          </a:xfrm>
          <a:prstGeom prst="rect">
            <a:avLst/>
          </a:prstGeom>
          <a:solidFill>
            <a:srgbClr val="FFFFF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819" name="Text 816"/>
          <p:cNvSpPr/>
          <p:nvPr/>
        </p:nvSpPr>
        <p:spPr>
          <a:xfrm>
            <a:off x="12040819" y="9224339"/>
            <a:ext cx="2950769" cy="201168"/>
          </a:xfrm>
          <a:prstGeom prst="rect">
            <a:avLst/>
          </a:prstGeom>
          <a:solidFill>
            <a:srgbClr val="83348F"/>
          </a:solidFill>
          <a:ln/>
        </p:spPr>
        <p:txBody>
          <a:bodyPr wrap="square" lIns="0" tIns="5080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IMPROVEMENT ACTIONS</a:t>
            </a:r>
            <a:endParaRPr lang="en-US" sz="650" dirty="0"/>
          </a:p>
        </p:txBody>
      </p:sp>
      <p:sp>
        <p:nvSpPr>
          <p:cNvPr id="821" name="Shape 818"/>
          <p:cNvSpPr/>
          <p:nvPr/>
        </p:nvSpPr>
        <p:spPr>
          <a:xfrm>
            <a:off x="12040819" y="9443795"/>
            <a:ext cx="502920" cy="180615"/>
          </a:xfrm>
          <a:prstGeom prst="rect">
            <a:avLst/>
          </a:prstGeom>
          <a:solidFill>
            <a:srgbClr val="F2F2F2"/>
          </a:solidFill>
          <a:ln w="3175">
            <a:solidFill>
              <a:srgbClr val="D0D0D0"/>
            </a:solidFill>
            <a:prstDash val="solid"/>
          </a:ln>
        </p:spPr>
      </p:sp>
      <p:sp>
        <p:nvSpPr>
          <p:cNvPr id="823" name="Shape 820"/>
          <p:cNvSpPr/>
          <p:nvPr/>
        </p:nvSpPr>
        <p:spPr>
          <a:xfrm>
            <a:off x="12040819" y="9633555"/>
            <a:ext cx="502920" cy="180615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  <a:prstDash val="solid"/>
          </a:ln>
        </p:spPr>
      </p:sp>
      <p:sp>
        <p:nvSpPr>
          <p:cNvPr id="825" name="Shape 822"/>
          <p:cNvSpPr/>
          <p:nvPr/>
        </p:nvSpPr>
        <p:spPr>
          <a:xfrm>
            <a:off x="12040819" y="9823314"/>
            <a:ext cx="502920" cy="180615"/>
          </a:xfrm>
          <a:prstGeom prst="rect">
            <a:avLst/>
          </a:prstGeom>
          <a:solidFill>
            <a:srgbClr val="F2F2F2"/>
          </a:solidFill>
          <a:ln w="3175">
            <a:solidFill>
              <a:srgbClr val="D0D0D0"/>
            </a:solidFill>
            <a:prstDash val="solid"/>
          </a:ln>
        </p:spPr>
      </p:sp>
      <p:sp>
        <p:nvSpPr>
          <p:cNvPr id="827" name="Shape 824"/>
          <p:cNvSpPr/>
          <p:nvPr/>
        </p:nvSpPr>
        <p:spPr>
          <a:xfrm>
            <a:off x="12040819" y="10013073"/>
            <a:ext cx="502920" cy="180615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  <a:prstDash val="solid"/>
          </a:ln>
        </p:spPr>
      </p:sp>
      <p:sp>
        <p:nvSpPr>
          <p:cNvPr id="829" name="Shape 826"/>
          <p:cNvSpPr/>
          <p:nvPr/>
        </p:nvSpPr>
        <p:spPr>
          <a:xfrm>
            <a:off x="12040819" y="10202833"/>
            <a:ext cx="502920" cy="180615"/>
          </a:xfrm>
          <a:prstGeom prst="rect">
            <a:avLst/>
          </a:prstGeom>
          <a:solidFill>
            <a:srgbClr val="F2F2F2"/>
          </a:solidFill>
          <a:ln w="3175">
            <a:solidFill>
              <a:srgbClr val="D0D0D0"/>
            </a:solidFill>
            <a:prstDash val="solid"/>
          </a:ln>
        </p:spPr>
      </p:sp>
      <p:sp>
        <p:nvSpPr>
          <p:cNvPr id="831" name="Shape 828"/>
          <p:cNvSpPr/>
          <p:nvPr/>
        </p:nvSpPr>
        <p:spPr>
          <a:xfrm>
            <a:off x="12040819" y="10392592"/>
            <a:ext cx="502920" cy="180615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  <a:prstDash val="solid"/>
          </a:ln>
        </p:spPr>
      </p:sp>
      <p:sp>
        <p:nvSpPr>
          <p:cNvPr id="832" name="Rectangle 831"/>
          <p:cNvSpPr/>
          <p:nvPr/>
        </p:nvSpPr>
        <p:spPr>
          <a:xfrm>
            <a:off x="13491972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33" name="Picture 83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37692" y="100584"/>
            <a:ext cx="566928" cy="347472"/>
          </a:xfrm>
          <a:prstGeom prst="rect">
            <a:avLst/>
          </a:prstGeom>
        </p:spPr>
      </p:pic>
      <p:pic>
        <p:nvPicPr>
          <p:cNvPr id="834" name="Picture 83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50340" y="100584"/>
            <a:ext cx="658368" cy="347472"/>
          </a:xfrm>
          <a:prstGeom prst="rect">
            <a:avLst/>
          </a:prstGeom>
        </p:spPr>
      </p:pic>
      <p:sp>
        <p:nvSpPr>
          <p:cNvPr id="835" name="Rectangle 834"/>
          <p:cNvSpPr/>
          <p:nvPr/>
        </p:nvSpPr>
        <p:spPr>
          <a:xfrm>
            <a:off x="0" y="10463479"/>
            <a:ext cx="15119604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119604" cy="10692079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5119604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KPI REVIEW MEETING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37160" y="29260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CE9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Structure, Purpose, and Good Practice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37160" y="640080"/>
            <a:ext cx="7132320" cy="1051560"/>
          </a:xfrm>
          <a:prstGeom prst="rect">
            <a:avLst/>
          </a:prstGeom>
          <a:solidFill>
            <a:srgbClr val="FFFFFF"/>
          </a:solidFill>
          <a:ln w="10160">
            <a:solidFill>
              <a:srgbClr val="009FE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37160" y="640080"/>
            <a:ext cx="7132320" cy="274320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9" name="Text 6"/>
          <p:cNvSpPr/>
          <p:nvPr/>
        </p:nvSpPr>
        <p:spPr>
          <a:xfrm>
            <a:off x="182880" y="658368"/>
            <a:ext cx="7040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 (2 min)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82880" y="950976"/>
            <a:ext cx="694944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Chair opens the meeting. Confirm attendees. State the purpose: review last month performance, identify actions, and update the board.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137160" y="1755648"/>
            <a:ext cx="7132320" cy="1051560"/>
          </a:xfrm>
          <a:prstGeom prst="rect">
            <a:avLst/>
          </a:prstGeom>
          <a:solidFill>
            <a:srgbClr val="FFFFFF"/>
          </a:solidFill>
          <a:ln w="10160">
            <a:solidFill>
              <a:srgbClr val="C000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37160" y="1755648"/>
            <a:ext cx="7132320" cy="27432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3" name="Text 10"/>
          <p:cNvSpPr/>
          <p:nvPr/>
        </p:nvSpPr>
        <p:spPr>
          <a:xfrm>
            <a:off x="182880" y="1773936"/>
            <a:ext cx="7040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(S): 5 min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82880" y="2066544"/>
            <a:ext cx="694944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LTI count, near miss reports, and toolbox talks completed. Any incidents since last meeting? Status of open safety actions.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137160" y="2871216"/>
            <a:ext cx="7132320" cy="1051560"/>
          </a:xfrm>
          <a:prstGeom prst="rect">
            <a:avLst/>
          </a:prstGeom>
          <a:solidFill>
            <a:srgbClr val="FFFFFF"/>
          </a:solidFill>
          <a:ln w="10160">
            <a:solidFill>
              <a:srgbClr val="5B595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37160" y="2871216"/>
            <a:ext cx="7132320" cy="274320"/>
          </a:xfrm>
          <a:prstGeom prst="rect">
            <a:avLst/>
          </a:prstGeom>
          <a:solidFill>
            <a:srgbClr val="5B595A"/>
          </a:solidFill>
          <a:ln/>
        </p:spPr>
      </p:sp>
      <p:sp>
        <p:nvSpPr>
          <p:cNvPr id="17" name="Text 14"/>
          <p:cNvSpPr/>
          <p:nvPr/>
        </p:nvSpPr>
        <p:spPr>
          <a:xfrm>
            <a:off x="182880" y="2889504"/>
            <a:ext cx="7040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(Q): 10 min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82880" y="3182112"/>
            <a:ext cx="694944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FPY, NCR count, customer complaints, and scrap cost. Discuss any open NCRs. Root cause confirmed for any recurrences? CSIP actions update.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137160" y="3986784"/>
            <a:ext cx="7132320" cy="1051560"/>
          </a:xfrm>
          <a:prstGeom prst="rect">
            <a:avLst/>
          </a:prstGeom>
          <a:solidFill>
            <a:srgbClr val="FFFFFF"/>
          </a:solidFill>
          <a:ln w="10160">
            <a:solidFill>
              <a:srgbClr val="009FE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37160" y="3986784"/>
            <a:ext cx="7132320" cy="274320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21" name="Text 18"/>
          <p:cNvSpPr/>
          <p:nvPr/>
        </p:nvSpPr>
        <p:spPr>
          <a:xfrm>
            <a:off x="182880" y="4005072"/>
            <a:ext cx="7040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(D): 10 min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82880" y="4297680"/>
            <a:ext cx="694944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OTIF, schedule adherence, and customer feedback. Any late deliveries to explain? What is the plan to recover if behind target?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137160" y="5102352"/>
            <a:ext cx="7132320" cy="1051560"/>
          </a:xfrm>
          <a:prstGeom prst="rect">
            <a:avLst/>
          </a:prstGeom>
          <a:solidFill>
            <a:srgbClr val="FFFFFF"/>
          </a:solidFill>
          <a:ln w="10160">
            <a:solidFill>
              <a:srgbClr val="21734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37160" y="5102352"/>
            <a:ext cx="7132320" cy="274320"/>
          </a:xfrm>
          <a:prstGeom prst="rect">
            <a:avLst/>
          </a:prstGeom>
          <a:solidFill>
            <a:srgbClr val="217346"/>
          </a:solidFill>
          <a:ln/>
        </p:spPr>
      </p:sp>
      <p:sp>
        <p:nvSpPr>
          <p:cNvPr id="25" name="Text 22"/>
          <p:cNvSpPr/>
          <p:nvPr/>
        </p:nvSpPr>
        <p:spPr>
          <a:xfrm>
            <a:off x="182880" y="5120640"/>
            <a:ext cx="7040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(C): 5 min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82880" y="5413248"/>
            <a:ext cx="694944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revenue vs target, labour efficiency, and cost of poor quality. Key variances explained. Any corrective action required?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137160" y="6217920"/>
            <a:ext cx="7132320" cy="1051560"/>
          </a:xfrm>
          <a:prstGeom prst="rect">
            <a:avLst/>
          </a:prstGeom>
          <a:solidFill>
            <a:srgbClr val="FFFFFF"/>
          </a:solidFill>
          <a:ln w="10160">
            <a:solidFill>
              <a:srgbClr val="83348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37160" y="6217920"/>
            <a:ext cx="7132320" cy="274320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29" name="Text 26"/>
          <p:cNvSpPr/>
          <p:nvPr/>
        </p:nvSpPr>
        <p:spPr>
          <a:xfrm>
            <a:off x="182880" y="6236208"/>
            <a:ext cx="7040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(P): 5 min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182880" y="6528816"/>
            <a:ext cx="694944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absence, improvement ideas submitted, and training hours. Any welfare concerns? Update on open HR actions.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137160" y="7333488"/>
            <a:ext cx="7132320" cy="1051560"/>
          </a:xfrm>
          <a:prstGeom prst="rect">
            <a:avLst/>
          </a:prstGeom>
          <a:solidFill>
            <a:srgbClr val="FFFFFF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37160" y="7333488"/>
            <a:ext cx="7132320" cy="2743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3" name="Text 30"/>
          <p:cNvSpPr/>
          <p:nvPr/>
        </p:nvSpPr>
        <p:spPr>
          <a:xfrm>
            <a:off x="182880" y="7351776"/>
            <a:ext cx="7040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CSIP Review: 5 min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182880" y="7644384"/>
            <a:ext cx="694944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update on all open CSIP projects. Any projects completed this month? Any projects at risk? New CSIP items to raise from today's discussion?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137160" y="8449056"/>
            <a:ext cx="7132320" cy="1051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9770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137160" y="8449056"/>
            <a:ext cx="7132320" cy="2743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7" name="Text 34"/>
          <p:cNvSpPr/>
          <p:nvPr/>
        </p:nvSpPr>
        <p:spPr>
          <a:xfrm>
            <a:off x="182880" y="8467344"/>
            <a:ext cx="7040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Actions: 3 min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182880" y="8759952"/>
            <a:ext cx="694944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all actions from this meeting: owner, deadline, and CSIP reference where applicable. Date next review meeting.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7589520" y="640080"/>
            <a:ext cx="7223760" cy="29260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40" name="Text 37"/>
          <p:cNvSpPr/>
          <p:nvPr/>
        </p:nvSpPr>
        <p:spPr>
          <a:xfrm>
            <a:off x="7635240" y="658368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FOR AN EFFECTIVE KPI REVIEW MEETING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7589520" y="1005840"/>
            <a:ext cx="7223760" cy="1024128"/>
          </a:xfrm>
          <a:prstGeom prst="rect">
            <a:avLst/>
          </a:prstGeom>
          <a:solidFill>
            <a:srgbClr val="E0F4FD"/>
          </a:solidFill>
          <a:ln w="5080">
            <a:solidFill>
              <a:srgbClr val="009FE3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7589520" y="1005840"/>
            <a:ext cx="457200" cy="102412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43" name="Text 40"/>
          <p:cNvSpPr/>
          <p:nvPr/>
        </p:nvSpPr>
        <p:spPr>
          <a:xfrm>
            <a:off x="7589520" y="1005840"/>
            <a:ext cx="4572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092440" y="1042416"/>
            <a:ext cx="6675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time, same day, every month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8092440" y="1298448"/>
            <a:ext cx="667512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meeting on the same day of the month at the same time. Consistency signals that performance matters to leadership. Rescheduling it sends the opposite message.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7589520" y="2103120"/>
            <a:ext cx="7223760" cy="1024128"/>
          </a:xfrm>
          <a:prstGeom prst="rect">
            <a:avLst/>
          </a:prstGeom>
          <a:solidFill>
            <a:srgbClr val="FFFFFF"/>
          </a:solidFill>
          <a:ln w="5080">
            <a:solidFill>
              <a:srgbClr val="009FE3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7589520" y="2103120"/>
            <a:ext cx="457200" cy="102412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48" name="Text 45"/>
          <p:cNvSpPr/>
          <p:nvPr/>
        </p:nvSpPr>
        <p:spPr>
          <a:xfrm>
            <a:off x="7589520" y="2103120"/>
            <a:ext cx="4572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8092440" y="2139696"/>
            <a:ext cx="6675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 at the board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8092440" y="2395728"/>
            <a:ext cx="667512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KPI board should be physically present in the room or projected on screen. The meeting is a review of what is on the board, not a separate presentation. Any gap between the board and the meeting discussion means the board is not being maintained.</a:t>
            </a:r>
            <a:endParaRPr lang="en-US" sz="950" dirty="0"/>
          </a:p>
        </p:txBody>
      </p:sp>
      <p:sp>
        <p:nvSpPr>
          <p:cNvPr id="51" name="Shape 48"/>
          <p:cNvSpPr/>
          <p:nvPr/>
        </p:nvSpPr>
        <p:spPr>
          <a:xfrm>
            <a:off x="7589520" y="3200400"/>
            <a:ext cx="7223760" cy="1024128"/>
          </a:xfrm>
          <a:prstGeom prst="rect">
            <a:avLst/>
          </a:prstGeom>
          <a:solidFill>
            <a:srgbClr val="E0F4FD"/>
          </a:solidFill>
          <a:ln w="5080">
            <a:solidFill>
              <a:srgbClr val="009FE3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7589520" y="3200400"/>
            <a:ext cx="457200" cy="102412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53" name="Text 50"/>
          <p:cNvSpPr/>
          <p:nvPr/>
        </p:nvSpPr>
        <p:spPr>
          <a:xfrm>
            <a:off x="7589520" y="3200400"/>
            <a:ext cx="4572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54" name="Text 51"/>
          <p:cNvSpPr/>
          <p:nvPr/>
        </p:nvSpPr>
        <p:spPr>
          <a:xfrm>
            <a:off x="8092440" y="3236976"/>
            <a:ext cx="6675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before the meeting</a:t>
            </a:r>
            <a:endParaRPr lang="en-US" sz="1000" dirty="0"/>
          </a:p>
        </p:txBody>
      </p:sp>
      <p:sp>
        <p:nvSpPr>
          <p:cNvPr id="55" name="Text 52"/>
          <p:cNvSpPr/>
          <p:nvPr/>
        </p:nvSpPr>
        <p:spPr>
          <a:xfrm>
            <a:off x="8092440" y="3493008"/>
            <a:ext cx="667512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owners must update their KPI figures before the meeting starts. The meeting is for discussion and decision, not for reading out numbers that could have been read in advance.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>
            <a:off x="7589520" y="4297680"/>
            <a:ext cx="7223760" cy="1024128"/>
          </a:xfrm>
          <a:prstGeom prst="rect">
            <a:avLst/>
          </a:prstGeom>
          <a:solidFill>
            <a:srgbClr val="FFFFFF"/>
          </a:solidFill>
          <a:ln w="5080">
            <a:solidFill>
              <a:srgbClr val="009FE3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7589520" y="4297680"/>
            <a:ext cx="457200" cy="102412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58" name="Text 55"/>
          <p:cNvSpPr/>
          <p:nvPr/>
        </p:nvSpPr>
        <p:spPr>
          <a:xfrm>
            <a:off x="7589520" y="4297680"/>
            <a:ext cx="4572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59" name="Text 56"/>
          <p:cNvSpPr/>
          <p:nvPr/>
        </p:nvSpPr>
        <p:spPr>
          <a:xfrm>
            <a:off x="8092440" y="4334256"/>
            <a:ext cx="6675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pillar owner without an update</a:t>
            </a:r>
            <a:endParaRPr lang="en-US" sz="1000" dirty="0"/>
          </a:p>
        </p:txBody>
      </p:sp>
      <p:sp>
        <p:nvSpPr>
          <p:cNvPr id="60" name="Text 57"/>
          <p:cNvSpPr/>
          <p:nvPr/>
        </p:nvSpPr>
        <p:spPr>
          <a:xfrm>
            <a:off x="8092440" y="4590288"/>
            <a:ext cx="667512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pillar represented must have an update. If a pillar owner cannot attend, they must send a prepared written update. Absent pillars are not skipped.</a:t>
            </a:r>
            <a:endParaRPr lang="en-US" sz="950" dirty="0"/>
          </a:p>
        </p:txBody>
      </p:sp>
      <p:sp>
        <p:nvSpPr>
          <p:cNvPr id="61" name="Shape 58"/>
          <p:cNvSpPr/>
          <p:nvPr/>
        </p:nvSpPr>
        <p:spPr>
          <a:xfrm>
            <a:off x="7589520" y="5394960"/>
            <a:ext cx="7223760" cy="1024128"/>
          </a:xfrm>
          <a:prstGeom prst="rect">
            <a:avLst/>
          </a:prstGeom>
          <a:solidFill>
            <a:srgbClr val="E0F4FD"/>
          </a:solidFill>
          <a:ln w="5080">
            <a:solidFill>
              <a:srgbClr val="009FE3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7589520" y="5394960"/>
            <a:ext cx="457200" cy="102412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63" name="Text 60"/>
          <p:cNvSpPr/>
          <p:nvPr/>
        </p:nvSpPr>
        <p:spPr>
          <a:xfrm>
            <a:off x="7589520" y="5394960"/>
            <a:ext cx="4572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64" name="Text 61"/>
          <p:cNvSpPr/>
          <p:nvPr/>
        </p:nvSpPr>
        <p:spPr>
          <a:xfrm>
            <a:off x="8092440" y="5431536"/>
            <a:ext cx="6675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miss has an action</a:t>
            </a:r>
            <a:endParaRPr lang="en-US" sz="1000" dirty="0"/>
          </a:p>
        </p:txBody>
      </p:sp>
      <p:sp>
        <p:nvSpPr>
          <p:cNvPr id="65" name="Text 62"/>
          <p:cNvSpPr/>
          <p:nvPr/>
        </p:nvSpPr>
        <p:spPr>
          <a:xfrm>
            <a:off x="8092440" y="5687568"/>
            <a:ext cx="667512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KPI that missed target must result in an action, an owner, and a due date before the meeting closes. "We are looking into it" is not an action.</a:t>
            </a:r>
            <a:endParaRPr lang="en-US" sz="950" dirty="0"/>
          </a:p>
        </p:txBody>
      </p:sp>
      <p:sp>
        <p:nvSpPr>
          <p:cNvPr id="66" name="Shape 63"/>
          <p:cNvSpPr/>
          <p:nvPr/>
        </p:nvSpPr>
        <p:spPr>
          <a:xfrm>
            <a:off x="7589520" y="6492240"/>
            <a:ext cx="7223760" cy="1024128"/>
          </a:xfrm>
          <a:prstGeom prst="rect">
            <a:avLst/>
          </a:prstGeom>
          <a:solidFill>
            <a:srgbClr val="FFFFFF"/>
          </a:solidFill>
          <a:ln w="5080">
            <a:solidFill>
              <a:srgbClr val="009FE3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7589520" y="6492240"/>
            <a:ext cx="457200" cy="102412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68" name="Text 65"/>
          <p:cNvSpPr/>
          <p:nvPr/>
        </p:nvSpPr>
        <p:spPr>
          <a:xfrm>
            <a:off x="7589520" y="6492240"/>
            <a:ext cx="4572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69" name="Text 66"/>
          <p:cNvSpPr/>
          <p:nvPr/>
        </p:nvSpPr>
        <p:spPr>
          <a:xfrm>
            <a:off x="8092440" y="6528816"/>
            <a:ext cx="6675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 reviewed at the next meeting</a:t>
            </a:r>
            <a:endParaRPr lang="en-US" sz="1000" dirty="0"/>
          </a:p>
        </p:txBody>
      </p:sp>
      <p:sp>
        <p:nvSpPr>
          <p:cNvPr id="70" name="Text 67"/>
          <p:cNvSpPr/>
          <p:nvPr/>
        </p:nvSpPr>
        <p:spPr>
          <a:xfrm>
            <a:off x="8092440" y="6784848"/>
            <a:ext cx="667512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item of business at each meeting is the status of all actions from the previous meeting. Actions that are not reviewed do not get completed.</a:t>
            </a:r>
            <a:endParaRPr lang="en-US" sz="950" dirty="0"/>
          </a:p>
        </p:txBody>
      </p:sp>
      <p:sp>
        <p:nvSpPr>
          <p:cNvPr id="71" name="Shape 68"/>
          <p:cNvSpPr/>
          <p:nvPr/>
        </p:nvSpPr>
        <p:spPr>
          <a:xfrm>
            <a:off x="7589520" y="7589520"/>
            <a:ext cx="7223760" cy="1024128"/>
          </a:xfrm>
          <a:prstGeom prst="rect">
            <a:avLst/>
          </a:prstGeom>
          <a:solidFill>
            <a:srgbClr val="E0F4FD"/>
          </a:solidFill>
          <a:ln w="5080">
            <a:solidFill>
              <a:srgbClr val="009FE3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7589520" y="7589520"/>
            <a:ext cx="457200" cy="102412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73" name="Text 70"/>
          <p:cNvSpPr/>
          <p:nvPr/>
        </p:nvSpPr>
        <p:spPr>
          <a:xfrm>
            <a:off x="7589520" y="7589520"/>
            <a:ext cx="4572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74" name="Text 71"/>
          <p:cNvSpPr/>
          <p:nvPr/>
        </p:nvSpPr>
        <p:spPr>
          <a:xfrm>
            <a:off x="8092440" y="7626096"/>
            <a:ext cx="6675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poor performance to the CSIP</a:t>
            </a:r>
            <a:endParaRPr lang="en-US" sz="1000" dirty="0"/>
          </a:p>
        </p:txBody>
      </p:sp>
      <p:sp>
        <p:nvSpPr>
          <p:cNvPr id="75" name="Text 72"/>
          <p:cNvSpPr/>
          <p:nvPr/>
        </p:nvSpPr>
        <p:spPr>
          <a:xfrm>
            <a:off x="8092440" y="7882128"/>
            <a:ext cx="667512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recurring miss (the same KPI missing target for two consecutive months) should generate a CSIP project. Performance review meetings that never generate CSIP projects are not driving improvement.</a:t>
            </a:r>
            <a:endParaRPr lang="en-US" sz="950" dirty="0"/>
          </a:p>
        </p:txBody>
      </p:sp>
      <p:sp>
        <p:nvSpPr>
          <p:cNvPr id="76" name="Shape 73"/>
          <p:cNvSpPr/>
          <p:nvPr/>
        </p:nvSpPr>
        <p:spPr>
          <a:xfrm>
            <a:off x="7589520" y="8686800"/>
            <a:ext cx="7223760" cy="1024128"/>
          </a:xfrm>
          <a:prstGeom prst="rect">
            <a:avLst/>
          </a:prstGeom>
          <a:solidFill>
            <a:srgbClr val="FFFFFF"/>
          </a:solidFill>
          <a:ln w="5080">
            <a:solidFill>
              <a:srgbClr val="009FE3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7589520" y="8686800"/>
            <a:ext cx="457200" cy="102412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78" name="Text 75"/>
          <p:cNvSpPr/>
          <p:nvPr/>
        </p:nvSpPr>
        <p:spPr>
          <a:xfrm>
            <a:off x="7589520" y="8686800"/>
            <a:ext cx="4572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600" dirty="0"/>
          </a:p>
        </p:txBody>
      </p:sp>
      <p:sp>
        <p:nvSpPr>
          <p:cNvPr id="79" name="Text 76"/>
          <p:cNvSpPr/>
          <p:nvPr/>
        </p:nvSpPr>
        <p:spPr>
          <a:xfrm>
            <a:off x="8092440" y="8723376"/>
            <a:ext cx="6675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Nuclear assessors will ask operators</a:t>
            </a:r>
            <a:endParaRPr lang="en-US" sz="1000" dirty="0"/>
          </a:p>
        </p:txBody>
      </p:sp>
      <p:sp>
        <p:nvSpPr>
          <p:cNvPr id="80" name="Text 77"/>
          <p:cNvSpPr/>
          <p:nvPr/>
        </p:nvSpPr>
        <p:spPr>
          <a:xfrm>
            <a:off x="8092440" y="8979408"/>
            <a:ext cx="667512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During a verification visit, the assessor may speak directly to shopfloor operators and ask them to explain a KPI on the board. If operators cannot explain it, the company will score poorly on employee engagement regardless of what the data shows.</a:t>
            </a:r>
            <a:endParaRPr lang="en-US" sz="950" dirty="0"/>
          </a:p>
        </p:txBody>
      </p:sp>
      <p:sp>
        <p:nvSpPr>
          <p:cNvPr id="81" name="Rectangle 80"/>
          <p:cNvSpPr/>
          <p:nvPr/>
        </p:nvSpPr>
        <p:spPr>
          <a:xfrm>
            <a:off x="13491972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2" name="Picture 8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37692" y="100584"/>
            <a:ext cx="566928" cy="347472"/>
          </a:xfrm>
          <a:prstGeom prst="rect">
            <a:avLst/>
          </a:prstGeom>
        </p:spPr>
      </p:pic>
      <p:pic>
        <p:nvPicPr>
          <p:cNvPr id="83" name="Picture 8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50340" y="100584"/>
            <a:ext cx="658368" cy="347472"/>
          </a:xfrm>
          <a:prstGeom prst="rect">
            <a:avLst/>
          </a:prstGeom>
        </p:spPr>
      </p:pic>
      <p:sp>
        <p:nvSpPr>
          <p:cNvPr id="84" name="Rectangle 83"/>
          <p:cNvSpPr/>
          <p:nvPr/>
        </p:nvSpPr>
        <p:spPr>
          <a:xfrm>
            <a:off x="0" y="10463479"/>
            <a:ext cx="15119604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53F6056AA6464A99729F79B34ECED9" ma:contentTypeVersion="15" ma:contentTypeDescription="Create a new document." ma:contentTypeScope="" ma:versionID="5f61f7f6e9ac7af992ae58f204f4a905">
  <xsd:schema xmlns:xsd="http://www.w3.org/2001/XMLSchema" xmlns:xs="http://www.w3.org/2001/XMLSchema" xmlns:p="http://schemas.microsoft.com/office/2006/metadata/properties" xmlns:ns2="ecb9c8fd-b149-4da5-ae47-4cb2a6f921f7" xmlns:ns3="a57c75ee-0d51-4c06-b83a-21883992ef88" targetNamespace="http://schemas.microsoft.com/office/2006/metadata/properties" ma:root="true" ma:fieldsID="5bd49160a10d99efc7c2a57519ff9fe8" ns2:_="" ns3:_="">
    <xsd:import namespace="ecb9c8fd-b149-4da5-ae47-4cb2a6f921f7"/>
    <xsd:import namespace="a57c75ee-0d51-4c06-b83a-21883992ef88"/>
    <xsd:element name="properties">
      <xsd:complexType>
        <xsd:sequence>
          <xsd:element name="documentManagement">
            <xsd:complexType>
              <xsd:all>
                <xsd:element ref="ns2:MigrationSourceID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BillingMetadata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b9c8fd-b149-4da5-ae47-4cb2a6f921f7" elementFormDefault="qualified">
    <xsd:import namespace="http://schemas.microsoft.com/office/2006/documentManagement/types"/>
    <xsd:import namespace="http://schemas.microsoft.com/office/infopath/2007/PartnerControls"/>
    <xsd:element name="MigrationSourceID" ma:index="8" nillable="true" ma:displayName="MigrationSourceID" ma:internalName="MigrationSourceID" ma:readOnly="true">
      <xsd:simpleType>
        <xsd:restriction base="dms:Text"/>
      </xsd:simpleType>
    </xsd:element>
    <xsd:element name="TaxCatchAll" ma:index="20" nillable="true" ma:displayName="Taxonomy Catch All Column" ma:hidden="true" ma:list="{3bbffa37-1fb4-4f8b-a66f-2651692f13f0}" ma:internalName="TaxCatchAll" ma:showField="CatchAllData" ma:web="ecb9c8fd-b149-4da5-ae47-4cb2a6f921f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7c75ee-0d51-4c06-b83a-21883992ef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323488a-041b-479c-b98c-53326eeb9fc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cb9c8fd-b149-4da5-ae47-4cb2a6f921f7" xsi:nil="true"/>
    <lcf76f155ced4ddcb4097134ff3c332f xmlns="a57c75ee-0d51-4c06-b83a-21883992ef8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1260D9E-B613-4BED-A6CF-49BBCDD4B13E}"/>
</file>

<file path=customXml/itemProps2.xml><?xml version="1.0" encoding="utf-8"?>
<ds:datastoreItem xmlns:ds="http://schemas.openxmlformats.org/officeDocument/2006/customXml" ds:itemID="{D328B107-2821-452B-8AE4-1C38FEE2396D}"/>
</file>

<file path=customXml/itemProps3.xml><?xml version="1.0" encoding="utf-8"?>
<ds:datastoreItem xmlns:ds="http://schemas.openxmlformats.org/officeDocument/2006/customXml" ds:itemID="{DB7905D7-B078-476E-82EC-25A98F45460F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PE-03b Shop Floor Visual Performance Board</dc:title>
  <dc:creator>John Hilton-Brammer</dc:creator>
  <cp:lastModifiedBy>John Hilton-Brammer</cp:lastModifiedBy>
  <dcterms:created xsi:type="dcterms:W3CDTF">2026-07-01T07:45:32Z</dcterms:created>
  <dcterms:modified xsi:type="dcterms:W3CDTF">2026-07-01T07:45:32Z</dcterms:modified>
  <cp:category>Fit For Nuclear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0x0101002453F6056AA6464A99729F79B34ECED9</vt:lpwstr>
  </property>
</Properties>
</file>