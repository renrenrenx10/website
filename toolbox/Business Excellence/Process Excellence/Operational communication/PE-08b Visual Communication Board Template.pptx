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media/image-1-1.jpg" ContentType="image/jpg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media/image-2-1.jpg" ContentType="image/jpg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media/image-3-1.jpg" ContentType="image/jpg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media/image-4-1.jpg" ContentType="image/jpg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media/image-5-1.jpg" ContentType="image/jpg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Relationship Id="rId10" Type="http://schemas.openxmlformats.org/officeDocument/2006/relationships/image" Target="../media/image1.png"/><Relationship Id="rId11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Relationship Id="rId10" Type="http://schemas.openxmlformats.org/officeDocument/2006/relationships/image" Target="../media/image1.png"/><Relationship Id="rId11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Relationship Id="rId10" Type="http://schemas.openxmlformats.org/officeDocument/2006/relationships/image" Target="../media/image1.png"/><Relationship Id="rId11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Relationship Id="rId10" Type="http://schemas.openxmlformats.org/officeDocument/2006/relationships/image" Target="../media/image1.png"/><Relationship Id="rId1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118872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Communication Board Template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548640" y="2331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Tool  |  PE-08b  |  Process Excellence  |  Fit For Nuclear Toolkit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48640" y="2880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A3 daily team communication board for cascading information, capturing feedback, and closing the loop with the shopfloor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4572000"/>
            <a:ext cx="11091672" cy="1554480"/>
          </a:xfrm>
          <a:prstGeom prst="roundRect">
            <a:avLst>
              <a:gd name="adj" fmla="val 3529"/>
            </a:avLst>
          </a:prstGeom>
          <a:solidFill>
            <a:srgbClr val="EAF8FE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48006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A1A1A"/>
                </a:solidFill>
              </a:rPr>
              <a:t>What this board is for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595A"/>
                </a:solidFill>
              </a:rPr>
              <a:t>A printable A3 board for use at team briefing points, on shopfloor noticeboards, or as a digital screen layout. It carries cascaded messages down from management, gathers questions and suggestions back up, and gives every team a consistent place to find out what is happening today and this week.</a:t>
            </a:r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This Board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at A3 for a noticeboard, or recreate as a digital screen. Update at the start of each day or shift.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3657600" cy="2194560"/>
          </a:xfrm>
          <a:prstGeom prst="roundRect">
            <a:avLst>
              <a:gd name="adj" fmla="val 25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627632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5819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 daily rhythm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21792" y="1965960"/>
            <a:ext cx="33284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the board at the start of each shift or working day, ideally during the team briefing itself so the team sees it happen.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343400" y="1463040"/>
            <a:ext cx="3657600" cy="2194560"/>
          </a:xfrm>
          <a:prstGeom prst="roundRect">
            <a:avLst>
              <a:gd name="adj" fmla="val 25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1627632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83480" y="15819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 from above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4507992" y="1965960"/>
            <a:ext cx="33284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agreed at Tier 2, Tier 3 or management briefings that affects this team goes in the Cascade panel, in the team's own words.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8229600" y="1463040"/>
            <a:ext cx="3657600" cy="2194560"/>
          </a:xfrm>
          <a:prstGeom prst="roundRect">
            <a:avLst>
              <a:gd name="adj" fmla="val 25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1627632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869680" y="15819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briefing around it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8394192" y="1965960"/>
            <a:ext cx="33284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board as the agenda for the daily team briefing. Work through each panel in the same order every time so it becomes routine.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57200" y="3886200"/>
            <a:ext cx="3657600" cy="2194560"/>
          </a:xfrm>
          <a:prstGeom prst="roundRect">
            <a:avLst>
              <a:gd name="adj" fmla="val 25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050792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97280" y="40050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feedback both ways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621792" y="4389120"/>
            <a:ext cx="33284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Questions, suggestions and concerns raised by the team go on the board, with an owner and a target date for a response.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4343400" y="3886200"/>
            <a:ext cx="3657600" cy="2194560"/>
          </a:xfrm>
          <a:prstGeom prst="roundRect">
            <a:avLst>
              <a:gd name="adj" fmla="val 25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7992" y="4050792"/>
            <a:ext cx="365760" cy="3657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983480" y="40050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loop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4507992" y="4389120"/>
            <a:ext cx="33284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question or suggestion is answered, move it to the 'You Said, We Did' panel so the team can see their input made a difference.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8229600" y="3886200"/>
            <a:ext cx="3657600" cy="2194560"/>
          </a:xfrm>
          <a:prstGeom prst="roundRect">
            <a:avLst>
              <a:gd name="adj" fmla="val 25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4192" y="4050792"/>
            <a:ext cx="365760" cy="36576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869680" y="40050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current</a:t>
            </a:r>
            <a:endParaRPr lang="en-US" sz="1400" dirty="0"/>
          </a:p>
        </p:txBody>
      </p:sp>
      <p:sp>
        <p:nvSpPr>
          <p:cNvPr id="29" name="Text 20"/>
          <p:cNvSpPr/>
          <p:nvPr/>
        </p:nvSpPr>
        <p:spPr>
          <a:xfrm>
            <a:off x="8394192" y="4389120"/>
            <a:ext cx="33284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anything that is no longer relevant. A board with old, stale information loses credibility quickly.</a:t>
            </a:r>
            <a:endParaRPr lang="en-US" sz="1100" dirty="0"/>
          </a:p>
        </p:txBody>
      </p:sp>
      <p:sp>
        <p:nvSpPr>
          <p:cNvPr id="30" name="Rectangle 29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Communication Board, Template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/ Team: </a:t>
            </a:r>
            <a:pPr indent="0" marL="0">
              <a:buNone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     </a:t>
            </a:r>
            <a:pPr indent="0" marL="0">
              <a:buNone/>
            </a:pPr>
            <a:r>
              <a:rPr lang="en-US" sz="12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</a:t>
            </a:r>
            <a:pPr indent="0" marL="0">
              <a:buNone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     </a:t>
            </a:r>
            <a:pPr indent="0" marL="0">
              <a:buNone/>
            </a:pPr>
            <a:r>
              <a:rPr lang="en-US" sz="12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by: </a:t>
            </a:r>
            <a:pPr indent="0" marL="0">
              <a:buNone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5669280" cy="1828800"/>
          </a:xfrm>
          <a:prstGeom prst="roundRect">
            <a:avLst>
              <a:gd name="adj" fmla="val 3000"/>
            </a:avLst>
          </a:prstGeom>
          <a:solidFill>
            <a:srgbClr val="EAF8FE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89888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1371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Cascade: What's Coming Down From Above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94360" y="1737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messages from management briefings, Tier 2/3 meetings, company announcements. Write in plain language for the team.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94360" y="2148840"/>
            <a:ext cx="53949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94360" y="2514600"/>
            <a:ext cx="53949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4360" y="2880360"/>
            <a:ext cx="53949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7200" y="3246120"/>
            <a:ext cx="566928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355848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3337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Focus: Safety, Quality, Delivery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94360" y="3703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topic / hazard of the day: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94360" y="4005072"/>
            <a:ext cx="53949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94360" y="405079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focus / recent issue to watch: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94360" y="4352544"/>
            <a:ext cx="53949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94360" y="439826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priority for today: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94360" y="4700016"/>
            <a:ext cx="53949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57200" y="4846320"/>
            <a:ext cx="5669280" cy="1554480"/>
          </a:xfrm>
          <a:prstGeom prst="roundRect">
            <a:avLst>
              <a:gd name="adj" fmla="val 3529"/>
            </a:avLst>
          </a:prstGeom>
          <a:solidFill>
            <a:srgbClr val="EAF8FE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956048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05840" y="4937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Happening This Week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94360" y="5303520"/>
            <a:ext cx="10332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94360" y="5321808"/>
            <a:ext cx="1033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1673352" y="5303520"/>
            <a:ext cx="10332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1673352" y="5321808"/>
            <a:ext cx="1033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2752344" y="5303520"/>
            <a:ext cx="10332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2752344" y="5321808"/>
            <a:ext cx="1033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3831336" y="5303520"/>
            <a:ext cx="10332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3831336" y="5321808"/>
            <a:ext cx="1033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4910328" y="5303520"/>
            <a:ext cx="10332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4910328" y="5321808"/>
            <a:ext cx="1033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6400800" y="1280160"/>
            <a:ext cx="5303520" cy="2194560"/>
          </a:xfrm>
          <a:prstGeom prst="roundRect">
            <a:avLst>
              <a:gd name="adj" fmla="val 25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389888"/>
            <a:ext cx="320040" cy="32004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949440" y="13716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Your Say: Questions, Suggestions, Concerns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6537960" y="1737360"/>
            <a:ext cx="2112264" cy="274320"/>
          </a:xfrm>
          <a:prstGeom prst="rect">
            <a:avLst/>
          </a:prstGeom>
          <a:solidFill>
            <a:srgbClr val="009FE3"/>
          </a:solidFill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raised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8650224" y="1737360"/>
            <a:ext cx="905256" cy="274320"/>
          </a:xfrm>
          <a:prstGeom prst="rect">
            <a:avLst/>
          </a:prstGeom>
          <a:solidFill>
            <a:srgbClr val="009FE3"/>
          </a:solidFill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Raised by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9555480" y="1737360"/>
            <a:ext cx="2011680" cy="274320"/>
          </a:xfrm>
          <a:prstGeom prst="rect">
            <a:avLst/>
          </a:prstGeom>
          <a:solidFill>
            <a:srgbClr val="009FE3"/>
          </a:solidFill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/ response by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6537960" y="2011680"/>
            <a:ext cx="2112264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8650224" y="2011680"/>
            <a:ext cx="905256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9555480" y="2011680"/>
            <a:ext cx="201168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6537960" y="2350008"/>
            <a:ext cx="2112264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8650224" y="2350008"/>
            <a:ext cx="905256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9555480" y="2350008"/>
            <a:ext cx="201168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6537960" y="2688336"/>
            <a:ext cx="2112264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8650224" y="2688336"/>
            <a:ext cx="905256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9555480" y="2688336"/>
            <a:ext cx="201168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6537960" y="3026664"/>
            <a:ext cx="2112264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8650224" y="3026664"/>
            <a:ext cx="905256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9555480" y="3026664"/>
            <a:ext cx="201168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6400800" y="365760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EAF8FE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pic>
        <p:nvPicPr>
          <p:cNvPr id="5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767328"/>
            <a:ext cx="320040" cy="320040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6949440" y="3749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Said, We Did</a:t>
            </a:r>
            <a:endParaRPr lang="en-US" sz="1400" dirty="0"/>
          </a:p>
        </p:txBody>
      </p:sp>
      <p:sp>
        <p:nvSpPr>
          <p:cNvPr id="56" name="Text 48"/>
          <p:cNvSpPr/>
          <p:nvPr/>
        </p:nvSpPr>
        <p:spPr>
          <a:xfrm>
            <a:off x="6537960" y="4114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items here from the feedback panel once they have been actioned, so the team can see the response.</a:t>
            </a:r>
            <a:endParaRPr lang="en-US" sz="1000" dirty="0"/>
          </a:p>
        </p:txBody>
      </p:sp>
      <p:sp>
        <p:nvSpPr>
          <p:cNvPr id="57" name="Shape 49"/>
          <p:cNvSpPr/>
          <p:nvPr/>
        </p:nvSpPr>
        <p:spPr>
          <a:xfrm>
            <a:off x="6537960" y="4434840"/>
            <a:ext cx="50292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58" name="Shape 50"/>
          <p:cNvSpPr/>
          <p:nvPr/>
        </p:nvSpPr>
        <p:spPr>
          <a:xfrm>
            <a:off x="6537960" y="4727448"/>
            <a:ext cx="50292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59" name="Shape 51"/>
          <p:cNvSpPr/>
          <p:nvPr/>
        </p:nvSpPr>
        <p:spPr>
          <a:xfrm>
            <a:off x="6400800" y="521208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5321808"/>
            <a:ext cx="320040" cy="320040"/>
          </a:xfrm>
          <a:prstGeom prst="rect">
            <a:avLst/>
          </a:prstGeom>
        </p:spPr>
      </p:pic>
      <p:sp>
        <p:nvSpPr>
          <p:cNvPr id="61" name="Text 52"/>
          <p:cNvSpPr/>
          <p:nvPr/>
        </p:nvSpPr>
        <p:spPr>
          <a:xfrm>
            <a:off x="6949440" y="53035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Recognition: Well Done This Week</a:t>
            </a:r>
            <a:endParaRPr lang="en-US" sz="1400" dirty="0"/>
          </a:p>
        </p:txBody>
      </p:sp>
      <p:sp>
        <p:nvSpPr>
          <p:cNvPr id="62" name="Shape 53"/>
          <p:cNvSpPr/>
          <p:nvPr/>
        </p:nvSpPr>
        <p:spPr>
          <a:xfrm>
            <a:off x="6537960" y="5669280"/>
            <a:ext cx="50292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63" name="Rectangle 62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66" name="Rectangle 65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Communication Board, Completed Example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/ Team: </a:t>
            </a:r>
            <a:pPr indent="0" marL="0">
              <a:buNone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Machining Cell 2     </a:t>
            </a:r>
            <a:pPr indent="0" marL="0">
              <a:buNone/>
            </a:pPr>
            <a:r>
              <a:rPr lang="en-US" sz="12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</a:t>
            </a:r>
            <a:pPr indent="0" marL="0">
              <a:buNone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15 June     </a:t>
            </a:r>
            <a:pPr indent="0" marL="0">
              <a:buNone/>
            </a:pPr>
            <a:r>
              <a:rPr lang="en-US" sz="12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by: </a:t>
            </a:r>
            <a:pPr indent="0" marL="0">
              <a:buNone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Whitmore, Team Leader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5669280" cy="1828800"/>
          </a:xfrm>
          <a:prstGeom prst="roundRect">
            <a:avLst>
              <a:gd name="adj" fmla="val 3000"/>
            </a:avLst>
          </a:prstGeom>
          <a:solidFill>
            <a:srgbClr val="EAF8FE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89888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1371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Cascade: What's Coming Down From Above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94360" y="1737360"/>
            <a:ext cx="5394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Site leadership confirmed the new arc welding bay opens for trial use from next Monday. Booking sheet on the quality noticeboard from Wednesday.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94360" y="2148840"/>
            <a:ext cx="5394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 audit for the SMR-300 bracket order is now scheduled for the week of 29 June. Housekeeping standards to be at audit level from this Friday.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94360" y="2560320"/>
            <a:ext cx="5394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Reminder from HR: annual leave requests for the summer shutdown period close this Friday.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" y="3246120"/>
            <a:ext cx="566928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355848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3337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Focus: Safety, Quality, Delivery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94360" y="370332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topic: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handling reminder. Two near misses logged last week lifting fixture plates without the hoist.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594360" y="405079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focus: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first-off measurements against the updated drawing issue C before running the batch.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94360" y="439826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priority: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4471 (bracket set, 40 off) to ship by 16:00. Cell 2 to prioritise after first-off check.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57200" y="4846320"/>
            <a:ext cx="5669280" cy="1554480"/>
          </a:xfrm>
          <a:prstGeom prst="roundRect">
            <a:avLst>
              <a:gd name="adj" fmla="val 3529"/>
            </a:avLst>
          </a:prstGeom>
          <a:solidFill>
            <a:srgbClr val="EAF8FE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956048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05840" y="4937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Happening This Week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594360" y="5303520"/>
            <a:ext cx="10332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94360" y="5321808"/>
            <a:ext cx="1033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40080" y="5559552"/>
            <a:ext cx="941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4471 ships 16:00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1673352" y="5303520"/>
            <a:ext cx="10332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1673352" y="5321808"/>
            <a:ext cx="1033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1719072" y="5559552"/>
            <a:ext cx="941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5S audit, Cell 2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2752344" y="5303520"/>
            <a:ext cx="10332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2752344" y="5321808"/>
            <a:ext cx="1033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2798064" y="5559552"/>
            <a:ext cx="941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weld bay opens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3831336" y="5303520"/>
            <a:ext cx="10332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831336" y="5321808"/>
            <a:ext cx="1033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3877056" y="5559552"/>
            <a:ext cx="941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Toolbox talk: lifting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4910328" y="5303520"/>
            <a:ext cx="10332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4910328" y="5321808"/>
            <a:ext cx="1033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4956048" y="5559552"/>
            <a:ext cx="941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requests close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6400800" y="1280160"/>
            <a:ext cx="5303520" cy="2194560"/>
          </a:xfrm>
          <a:prstGeom prst="roundRect">
            <a:avLst>
              <a:gd name="adj" fmla="val 25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389888"/>
            <a:ext cx="320040" cy="32004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949440" y="13716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Your Say: Questions, Suggestions, Concerns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6537960" y="1737360"/>
            <a:ext cx="2112264" cy="274320"/>
          </a:xfrm>
          <a:prstGeom prst="rect">
            <a:avLst/>
          </a:prstGeom>
          <a:solidFill>
            <a:srgbClr val="009FE3"/>
          </a:solidFill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raised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8650224" y="1737360"/>
            <a:ext cx="905256" cy="274320"/>
          </a:xfrm>
          <a:prstGeom prst="rect">
            <a:avLst/>
          </a:prstGeom>
          <a:solidFill>
            <a:srgbClr val="009FE3"/>
          </a:solidFill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Raised by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9555480" y="1737360"/>
            <a:ext cx="2011680" cy="274320"/>
          </a:xfrm>
          <a:prstGeom prst="rect">
            <a:avLst/>
          </a:prstGeom>
          <a:solidFill>
            <a:srgbClr val="009FE3"/>
          </a:solidFill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/ response by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6537960" y="2011680"/>
            <a:ext cx="2112264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6565392" y="2011680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we get a second hoist for Cell 2? Sharing with Cell 1 causes delays.</a:t>
            </a:r>
            <a:endParaRPr lang="en-US" sz="800" dirty="0"/>
          </a:p>
        </p:txBody>
      </p:sp>
      <p:sp>
        <p:nvSpPr>
          <p:cNvPr id="44" name="Shape 37"/>
          <p:cNvSpPr/>
          <p:nvPr/>
        </p:nvSpPr>
        <p:spPr>
          <a:xfrm>
            <a:off x="8650224" y="2011680"/>
            <a:ext cx="905256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8677656" y="2011680"/>
            <a:ext cx="8503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 Patel</a:t>
            </a:r>
            <a:endParaRPr lang="en-US" sz="800" dirty="0"/>
          </a:p>
        </p:txBody>
      </p:sp>
      <p:sp>
        <p:nvSpPr>
          <p:cNvPr id="46" name="Shape 39"/>
          <p:cNvSpPr/>
          <p:nvPr/>
        </p:nvSpPr>
        <p:spPr>
          <a:xfrm>
            <a:off x="9555480" y="2011680"/>
            <a:ext cx="201168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9582912" y="2011680"/>
            <a:ext cx="1956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Lead, Fri</a:t>
            </a:r>
            <a:endParaRPr lang="en-US" sz="800" dirty="0"/>
          </a:p>
        </p:txBody>
      </p:sp>
      <p:sp>
        <p:nvSpPr>
          <p:cNvPr id="48" name="Shape 41"/>
          <p:cNvSpPr/>
          <p:nvPr/>
        </p:nvSpPr>
        <p:spPr>
          <a:xfrm>
            <a:off x="6537960" y="2350008"/>
            <a:ext cx="2112264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6565392" y="2350008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drawing issue C not yet printed at the station.</a:t>
            </a:r>
            <a:endParaRPr lang="en-US" sz="800" dirty="0"/>
          </a:p>
        </p:txBody>
      </p:sp>
      <p:sp>
        <p:nvSpPr>
          <p:cNvPr id="50" name="Shape 43"/>
          <p:cNvSpPr/>
          <p:nvPr/>
        </p:nvSpPr>
        <p:spPr>
          <a:xfrm>
            <a:off x="8650224" y="2350008"/>
            <a:ext cx="905256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8677656" y="2350008"/>
            <a:ext cx="8503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Coombes</a:t>
            </a:r>
            <a:endParaRPr lang="en-US" sz="800" dirty="0"/>
          </a:p>
        </p:txBody>
      </p:sp>
      <p:sp>
        <p:nvSpPr>
          <p:cNvPr id="52" name="Shape 45"/>
          <p:cNvSpPr/>
          <p:nvPr/>
        </p:nvSpPr>
        <p:spPr>
          <a:xfrm>
            <a:off x="9555480" y="2350008"/>
            <a:ext cx="201168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9582912" y="2350008"/>
            <a:ext cx="1956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Quality, tomorrow</a:t>
            </a:r>
            <a:endParaRPr lang="en-US" sz="800" dirty="0"/>
          </a:p>
        </p:txBody>
      </p:sp>
      <p:sp>
        <p:nvSpPr>
          <p:cNvPr id="54" name="Shape 47"/>
          <p:cNvSpPr/>
          <p:nvPr/>
        </p:nvSpPr>
        <p:spPr>
          <a:xfrm>
            <a:off x="6537960" y="2688336"/>
            <a:ext cx="2112264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6565392" y="2688336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the 5S audit checklist be laminated?</a:t>
            </a:r>
            <a:endParaRPr lang="en-US" sz="800" dirty="0"/>
          </a:p>
        </p:txBody>
      </p:sp>
      <p:sp>
        <p:nvSpPr>
          <p:cNvPr id="56" name="Shape 49"/>
          <p:cNvSpPr/>
          <p:nvPr/>
        </p:nvSpPr>
        <p:spPr>
          <a:xfrm>
            <a:off x="8650224" y="2688336"/>
            <a:ext cx="905256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57" name="Text 50"/>
          <p:cNvSpPr/>
          <p:nvPr/>
        </p:nvSpPr>
        <p:spPr>
          <a:xfrm>
            <a:off x="8677656" y="2688336"/>
            <a:ext cx="8503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 Adeyemi</a:t>
            </a:r>
            <a:endParaRPr lang="en-US" sz="800" dirty="0"/>
          </a:p>
        </p:txBody>
      </p:sp>
      <p:sp>
        <p:nvSpPr>
          <p:cNvPr id="58" name="Shape 51"/>
          <p:cNvSpPr/>
          <p:nvPr/>
        </p:nvSpPr>
        <p:spPr>
          <a:xfrm>
            <a:off x="9555480" y="2688336"/>
            <a:ext cx="201168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59" name="Text 52"/>
          <p:cNvSpPr/>
          <p:nvPr/>
        </p:nvSpPr>
        <p:spPr>
          <a:xfrm>
            <a:off x="9582912" y="2688336"/>
            <a:ext cx="1956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Lead, Fri</a:t>
            </a:r>
            <a:endParaRPr lang="en-US" sz="800" dirty="0"/>
          </a:p>
        </p:txBody>
      </p:sp>
      <p:sp>
        <p:nvSpPr>
          <p:cNvPr id="60" name="Shape 53"/>
          <p:cNvSpPr/>
          <p:nvPr/>
        </p:nvSpPr>
        <p:spPr>
          <a:xfrm>
            <a:off x="6400800" y="3657600"/>
            <a:ext cx="5303520" cy="1371600"/>
          </a:xfrm>
          <a:prstGeom prst="roundRect">
            <a:avLst>
              <a:gd name="adj" fmla="val 4000"/>
            </a:avLst>
          </a:prstGeom>
          <a:solidFill>
            <a:srgbClr val="EAF8FE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pic>
        <p:nvPicPr>
          <p:cNvPr id="6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767328"/>
            <a:ext cx="320040" cy="320040"/>
          </a:xfrm>
          <a:prstGeom prst="rect">
            <a:avLst/>
          </a:prstGeom>
        </p:spPr>
      </p:pic>
      <p:sp>
        <p:nvSpPr>
          <p:cNvPr id="62" name="Text 54"/>
          <p:cNvSpPr/>
          <p:nvPr/>
        </p:nvSpPr>
        <p:spPr>
          <a:xfrm>
            <a:off x="6949440" y="3749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Said, We Did</a:t>
            </a:r>
            <a:endParaRPr lang="en-US" sz="1400" dirty="0"/>
          </a:p>
        </p:txBody>
      </p:sp>
      <p:sp>
        <p:nvSpPr>
          <p:cNvPr id="63" name="Shape 55"/>
          <p:cNvSpPr/>
          <p:nvPr/>
        </p:nvSpPr>
        <p:spPr>
          <a:xfrm>
            <a:off x="6537960" y="4114800"/>
            <a:ext cx="502920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64" name="Text 56"/>
          <p:cNvSpPr/>
          <p:nvPr/>
        </p:nvSpPr>
        <p:spPr>
          <a:xfrm>
            <a:off x="6583680" y="4114800"/>
            <a:ext cx="4937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said the goods-in trolley was hard to manoeuvre. We fitted new castors on 10 June.</a:t>
            </a:r>
            <a:endParaRPr lang="en-US" sz="900" dirty="0"/>
          </a:p>
        </p:txBody>
      </p:sp>
      <p:sp>
        <p:nvSpPr>
          <p:cNvPr id="65" name="Shape 57"/>
          <p:cNvSpPr/>
          <p:nvPr/>
        </p:nvSpPr>
        <p:spPr>
          <a:xfrm>
            <a:off x="6537960" y="4535424"/>
            <a:ext cx="502920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66" name="Text 58"/>
          <p:cNvSpPr/>
          <p:nvPr/>
        </p:nvSpPr>
        <p:spPr>
          <a:xfrm>
            <a:off x="6583680" y="4535424"/>
            <a:ext cx="4937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asked for clearer labelling on the scrap bins. New labels fitted last week.</a:t>
            </a:r>
            <a:endParaRPr lang="en-US" sz="900" dirty="0"/>
          </a:p>
        </p:txBody>
      </p:sp>
      <p:sp>
        <p:nvSpPr>
          <p:cNvPr id="67" name="Shape 59"/>
          <p:cNvSpPr/>
          <p:nvPr/>
        </p:nvSpPr>
        <p:spPr>
          <a:xfrm>
            <a:off x="6400800" y="521208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pic>
        <p:nvPicPr>
          <p:cNvPr id="6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5321808"/>
            <a:ext cx="320040" cy="320040"/>
          </a:xfrm>
          <a:prstGeom prst="rect">
            <a:avLst/>
          </a:prstGeom>
        </p:spPr>
      </p:pic>
      <p:sp>
        <p:nvSpPr>
          <p:cNvPr id="69" name="Text 60"/>
          <p:cNvSpPr/>
          <p:nvPr/>
        </p:nvSpPr>
        <p:spPr>
          <a:xfrm>
            <a:off x="6949440" y="53035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Recognition: Well Done This Week</a:t>
            </a:r>
            <a:endParaRPr lang="en-US" sz="1400" dirty="0"/>
          </a:p>
        </p:txBody>
      </p:sp>
      <p:sp>
        <p:nvSpPr>
          <p:cNvPr id="70" name="Shape 61"/>
          <p:cNvSpPr/>
          <p:nvPr/>
        </p:nvSpPr>
        <p:spPr>
          <a:xfrm>
            <a:off x="6537960" y="5669280"/>
            <a:ext cx="50292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71" name="Text 62"/>
          <p:cNvSpPr/>
          <p:nvPr/>
        </p:nvSpPr>
        <p:spPr>
          <a:xfrm>
            <a:off x="6583680" y="56692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 team for spotting and correcting a tooling fault before it caused scrap, saving an estimated 12 parts.</a:t>
            </a:r>
            <a:endParaRPr lang="en-US" sz="900" dirty="0"/>
          </a:p>
        </p:txBody>
      </p:sp>
      <p:sp>
        <p:nvSpPr>
          <p:cNvPr id="72" name="Rectangle 71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75" name="Rectangle 7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the Board Work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5394960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1536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owns the board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0080" y="19659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 leader or shift supervisor owns it day to day. Updating it is part of their standard work, not an extra task.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57200" y="3154680"/>
            <a:ext cx="5394960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3756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33192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there's nothing to add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40080" y="37490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'Nothing new today' rather than leaving a panel blank. A blank panel looks neglected and the team stops trusting the board.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57200" y="4937760"/>
            <a:ext cx="5394960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12064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51023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to the cascade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640080" y="55321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Cascade panel is the local end of the tiered meeting structure described in the operational communication training guide. What goes up from Tier 1 should come back down here once decided.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309360" y="1371600"/>
            <a:ext cx="5394960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554480"/>
            <a:ext cx="411480" cy="4114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040880" y="1536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the loop matters most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492240" y="19659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disengage fastest when they raise something and never hear back. The 'You Said, We Did' panel is the single most important part of this board.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6309360" y="3154680"/>
            <a:ext cx="5394960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337560"/>
            <a:ext cx="411480" cy="4114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040880" y="33192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entries short</a:t>
            </a:r>
            <a:endParaRPr lang="en-US" sz="1600" dirty="0"/>
          </a:p>
        </p:txBody>
      </p:sp>
      <p:sp>
        <p:nvSpPr>
          <p:cNvPr id="24" name="Text 16"/>
          <p:cNvSpPr/>
          <p:nvPr/>
        </p:nvSpPr>
        <p:spPr>
          <a:xfrm>
            <a:off x="6492240" y="37490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or two sentences per item. If something needs more explanation, refer to a separate document or meeting rather than filling the board with text.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6309360" y="4937760"/>
            <a:ext cx="5394960" cy="16002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5120640"/>
            <a:ext cx="411480" cy="4114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040880" y="51023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weekly</a:t>
            </a:r>
            <a:endParaRPr lang="en-US" sz="1600" dirty="0"/>
          </a:p>
        </p:txBody>
      </p:sp>
      <p:sp>
        <p:nvSpPr>
          <p:cNvPr id="28" name="Text 19"/>
          <p:cNvSpPr/>
          <p:nvPr/>
        </p:nvSpPr>
        <p:spPr>
          <a:xfrm>
            <a:off x="6492240" y="55321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end of each week, archive the week's board (photo or saved file) and start fresh. This builds a simple record of communication over time without the board becoming cluttered.</a:t>
            </a:r>
            <a:endParaRPr lang="en-US" sz="1200" dirty="0"/>
          </a:p>
        </p:txBody>
      </p:sp>
      <p:sp>
        <p:nvSpPr>
          <p:cNvPr id="29" name="Rectangle 28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FE51B17-9FC5-4449-88ED-02DBDBA84DE9}"/>
</file>

<file path=customXml/itemProps2.xml><?xml version="1.0" encoding="utf-8"?>
<ds:datastoreItem xmlns:ds="http://schemas.openxmlformats.org/officeDocument/2006/customXml" ds:itemID="{8CFD9CB6-68C4-447F-ABAF-317F25658884}"/>
</file>

<file path=customXml/itemProps3.xml><?xml version="1.0" encoding="utf-8"?>
<ds:datastoreItem xmlns:ds="http://schemas.openxmlformats.org/officeDocument/2006/customXml" ds:itemID="{B3449DF5-5D12-48CF-B20E-9D6A98F4EF8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PE-08b Visual Communication Board Template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