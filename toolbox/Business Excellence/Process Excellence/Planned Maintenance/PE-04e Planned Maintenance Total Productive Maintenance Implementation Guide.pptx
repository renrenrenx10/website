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media/image-3-1.jpg" ContentType="image/jpg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media/image-4-1.jpg" ContentType="image/jpg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media/image-5-1.jpg" ContentType="image/jpg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media/image-6-1.jpg" ContentType="image/jpg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media/image-7-1.jpg" ContentType="image/jpg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media/image-8-1.jpg" ContentType="image/jpg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media/image-9-1.jpg" ContentType="image/jpg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media/image-10-1.jpg" ContentType="image/jpg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media/image-11-1.jpg" ContentType="image/jpg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media/image-12-1.jpg" ContentType="image/jpg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media/image-13-1.jpg" ContentType="image/jpg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media/image-14-1.jpg" ContentType="image/jpg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media/image-15-1.jpg" ContentType="image/jpg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media/image-16-1.jpg" ContentType="image/jpg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media/image-17-1.jpg" ContentType="image/jpg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media/image-18-1.jpg" ContentType="image/jpg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media/image-19-1.jpg" ContentType="image/jpg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media/image-20-1.jpg" ContentType="image/jpg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media/image-21-1.jpg" ContentType="image/jpg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media/image-22-1.jpg" ContentType="image/jpg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media/image-23-1.jpg" ContentType="image/jpg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0"/>
            <a:ext cx="12191695" cy="10972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19456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Maintenance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 Implementation Guide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840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step-by-step guide to Total Productive Maintenance, OEE and Autonomous Maintenance for the nuclear supply chain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Process Excellence Toolkit | Reference: PE-04e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1</a:t>
            </a:r>
            <a:endParaRPr lang="en-US" sz="900" dirty="0"/>
          </a:p>
        </p:txBody>
      </p:sp>
      <p:sp>
        <p:nvSpPr>
          <p:cNvPr id="10" name="Rectangle 9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Total Productive Maintenance (TPM)?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9728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Productive Maintenance (TPM) is a structured approach to maintaining and improving the integrity of production equipment through the involvement of everyone who operates, maintains, supports and manages it.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24688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 in attitude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292608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Attitude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operate, you fix.”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fix, you design.”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design, you operate.”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94760" y="292608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EAF6FD"/>
          </a:solidFill>
          <a:ln/>
        </p:spPr>
      </p:sp>
      <p:sp>
        <p:nvSpPr>
          <p:cNvPr id="11" name="Text 8"/>
          <p:cNvSpPr/>
          <p:nvPr/>
        </p:nvSpPr>
        <p:spPr>
          <a:xfrm>
            <a:off x="3977640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 Attitude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977640" y="3520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are all responsible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equipment.”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46177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in the nuclear supply chain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65760" y="502920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equipment failure can directly affect product quality, on-time delivery and the ability to demonstrate a controlled, capable process: all core expectations of the F4N Planned Maintenance / Machine Availability assessment.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406640" y="1097280"/>
            <a:ext cx="4389120" cy="5120640"/>
          </a:xfrm>
          <a:prstGeom prst="roundRect">
            <a:avLst>
              <a:gd name="adj" fmla="val 2083"/>
            </a:avLst>
          </a:prstGeom>
          <a:solidFill>
            <a:srgbClr val="F5E9F7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 delivers: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26680" y="1874520"/>
            <a:ext cx="201168" cy="20116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machine availability and OEE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26680" y="2587752"/>
            <a:ext cx="201168" cy="20116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0" y="24963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unplanned breakdowns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726680" y="3300984"/>
            <a:ext cx="201168" cy="20116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22" name="Text 19"/>
          <p:cNvSpPr/>
          <p:nvPr/>
        </p:nvSpPr>
        <p:spPr>
          <a:xfrm>
            <a:off x="8046720" y="32095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repair and spares costs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726680" y="4014216"/>
            <a:ext cx="201168" cy="20116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0" y="39227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detection of developing faults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726680" y="4727448"/>
            <a:ext cx="201168" cy="20116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26" name="Text 23"/>
          <p:cNvSpPr/>
          <p:nvPr/>
        </p:nvSpPr>
        <p:spPr>
          <a:xfrm>
            <a:off x="8046720" y="46360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evidence base for F4N assessment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726680" y="5440680"/>
            <a:ext cx="201168" cy="20116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28" name="Text 25"/>
          <p:cNvSpPr/>
          <p:nvPr/>
        </p:nvSpPr>
        <p:spPr>
          <a:xfrm>
            <a:off x="8046720" y="5349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operator ownership and skills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2</a:t>
            </a:r>
            <a:endParaRPr lang="en-US" sz="900" dirty="0"/>
          </a:p>
        </p:txBody>
      </p:sp>
      <p:sp>
        <p:nvSpPr>
          <p:cNvPr id="31" name="Rectangle 30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 Pillars of TPM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 is built on eight supporting pillars. This guide focuses on the pillars most directly relevant to Planned Maintenance / Machine Availability: Autonomous Maintenance, Planned Maintenance, and OEE-driven Focused Improvement.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009FE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4360" y="24231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Maintenance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009FE3"/>
          </a:solidFill>
          <a:ln/>
        </p:spPr>
      </p:sp>
      <p:sp>
        <p:nvSpPr>
          <p:cNvPr id="10" name="Text 7"/>
          <p:cNvSpPr/>
          <p:nvPr/>
        </p:nvSpPr>
        <p:spPr>
          <a:xfrm>
            <a:off x="352044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520440" y="24231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Maintenance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19202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009FE3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46520" y="24231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Improvement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235440" y="19202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937260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372600" y="24231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Maintenance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94360" y="40690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Equipment Management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83280" y="35661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22" name="Text 19"/>
          <p:cNvSpPr/>
          <p:nvPr/>
        </p:nvSpPr>
        <p:spPr>
          <a:xfrm>
            <a:off x="352044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3520440" y="40690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Education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09360" y="35661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446520" y="40690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Safety, Health &amp; Environment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235440" y="35661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28" name="Text 25"/>
          <p:cNvSpPr/>
          <p:nvPr/>
        </p:nvSpPr>
        <p:spPr>
          <a:xfrm>
            <a:off x="937260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372600" y="40690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 in Administration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pillars are covered in this guide and in PE-04a to PE-04d.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3</a:t>
            </a:r>
            <a:endParaRPr lang="en-US" sz="900" dirty="0"/>
          </a:p>
        </p:txBody>
      </p:sp>
      <p:sp>
        <p:nvSpPr>
          <p:cNvPr id="33" name="Rectangle 32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Performance: Overall Equipment Effectiveness (OEE)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combines three factors into a single percentage that shows how effectively equipment is being used.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AF6F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Run Time ÷ Planned Production Time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it run when it should have?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58768" y="2377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160520" y="17373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AF6FD"/>
          </a:solidFill>
          <a:ln/>
        </p:spPr>
      </p:sp>
      <p:sp>
        <p:nvSpPr>
          <p:cNvPr id="12" name="Text 9"/>
          <p:cNvSpPr/>
          <p:nvPr/>
        </p:nvSpPr>
        <p:spPr>
          <a:xfrm>
            <a:off x="43434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4340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Rate vs Ideal (Design) Rate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34340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it run at the right speed?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62088" y="2377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863840" y="17373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AF6FD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04672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Output ÷ Total Output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04672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it produce good parts?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= Availability  x  Performance  x  Quality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World-class benchmark: 85%. Typical unimproved batch manufacturing: 40-60%.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used in PE-04b OEE Dashboard and PE-04c KPI Tracker: 85%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4</a:t>
            </a:r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Calculating OEE – Step 1, Availability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A CNC turning centre is planned to run for 160 hours this month. 3.5 hours were lost to an unplanned breakdown.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53949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828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Production Time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0" y="1828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hrs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53949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377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 (unplanned)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0" y="2377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hrs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53949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Run Time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57600" y="2926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160 − 3.5 = 156.5 hrs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182880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EAF6FD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=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66560" y="2423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Run Time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766560" y="2834640"/>
            <a:ext cx="4206240" cy="0"/>
          </a:xfrm>
          <a:prstGeom prst="line">
            <a:avLst/>
          </a:prstGeom>
          <a:noFill/>
          <a:ln w="19050">
            <a:solidFill>
              <a:srgbClr val="5B59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2880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Production Time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17920" y="3337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156.5 ÷ 160 = 97.8%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of 97.8% means the asset ran for almost all of its planned time. Downtime is logged in the Breakdown &amp; Downtime Log (PE-04b), which feeds this figure automatically.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5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Calculating OEE – Step 2, Performance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continued: The ideal cycle time means this machine should produce parts equivalent to 140 hours of output during the 156.5 hours it actually ran.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54864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Run Time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06240" y="18288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156.5 hrs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54864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377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Cycle Time x Output Achieved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06240" y="2377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hrs equivalent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6FD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=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4944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Cycle Time x Output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949440" y="2834640"/>
            <a:ext cx="4023360" cy="0"/>
          </a:xfrm>
          <a:prstGeom prst="line">
            <a:avLst/>
          </a:prstGeom>
          <a:noFill/>
          <a:ln w="19050">
            <a:solidFill>
              <a:srgbClr val="5B59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0" y="2880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Run Time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140 ÷ 156.5 = 89.5%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below 100% often points to minor stops, reduced speed running, or setup/adjustment time not captured as full breakdowns. These are good targets for Focused Improvement activity.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6</a:t>
            </a:r>
            <a:endParaRPr lang="en-US" sz="900" dirty="0"/>
          </a:p>
        </p:txBody>
      </p:sp>
      <p:sp>
        <p:nvSpPr>
          <p:cNvPr id="21" name="Rectangle 20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Calculating OEE – Step 3, Quality and Overall Result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Output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06240" y="1188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1,240 units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54864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737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Output (passed inspection)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0624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1,198 units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11887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EAF6FD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371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= 1,198 ÷ 1,240 = 96.6%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9224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output divided by total output produced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83348F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OEE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= Availability x Performance x Quality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97.8% x 89.5% x 96.6%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84.6%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result (84.6%) is just below the 85% target – close to world class. The breakdown above shows Performance (89.5%) is the area with most room for improvement.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7</a:t>
            </a:r>
            <a:endParaRPr lang="en-US" sz="900" dirty="0"/>
          </a:p>
        </p:txBody>
      </p:sp>
      <p:sp>
        <p:nvSpPr>
          <p:cNvPr id="20" name="Rectangle 19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OEE Dashboard (PE-04b)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OEE Dashboard in PE-04b automates the calculation shown on the previous slides. You only need to enter four figures per asset, per month.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640080" cy="64008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80160" y="173736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Planned Production Time and Downtime (hrs)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21488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production plan and the Breakdown &amp; Downtime Log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640080" cy="64008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80160" y="27889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Ideal Cycle Time x Output (hrs equivalent)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32004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standard/design cycle time for the part being run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886200"/>
            <a:ext cx="640080" cy="64008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280160" y="38404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Total Output and Good Output (units)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80160" y="42519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production records and quality inspection results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937760"/>
            <a:ext cx="640080" cy="64008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280160" y="4892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%, breakdown and RAG status calculate automatically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80160" y="53035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result to the 85% target and colours Green / Amber / Red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thresholds: Green ≥ 85% | Amber 70-84% | Red &lt; 70%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8</a:t>
            </a:r>
            <a:endParaRPr lang="en-US" sz="900" dirty="0"/>
          </a:p>
        </p:txBody>
      </p:sp>
      <p:sp>
        <p:nvSpPr>
          <p:cNvPr id="25" name="Rectangle 24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Build Your Asset Register (PE-04b)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planned maintenance programme starts with knowing what equipment you have, how critical it is, and how often it needs attention.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asset, record: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6771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194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ID, name and location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77063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697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Manufacturer, model and serial number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27355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004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installed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77647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703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Criticality rating (High / Medium / Low)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27939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2062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frequency (Daily to Annual)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478231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709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person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528523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52120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PM date (Next PM Due calculates automatically)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309360" y="17373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6FD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Criticality drives PM frequency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37960" y="2423160"/>
            <a:ext cx="1005840" cy="822960"/>
          </a:xfrm>
          <a:prstGeom prst="rect">
            <a:avLst/>
          </a:prstGeom>
          <a:solidFill>
            <a:srgbClr val="FFC7CE"/>
          </a:solidFill>
          <a:ln/>
        </p:spPr>
      </p:sp>
      <p:sp>
        <p:nvSpPr>
          <p:cNvPr id="24" name="Text 21"/>
          <p:cNvSpPr/>
          <p:nvPr/>
        </p:nvSpPr>
        <p:spPr>
          <a:xfrm>
            <a:off x="6537960" y="24231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680960" y="2423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stops production, creates a safety risk, or affects product quality / nuclear safety case requirements.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537960" y="3383280"/>
            <a:ext cx="1005840" cy="822960"/>
          </a:xfrm>
          <a:prstGeom prst="rect">
            <a:avLst/>
          </a:prstGeom>
          <a:solidFill>
            <a:srgbClr val="FFEB9C"/>
          </a:solidFill>
          <a:ln/>
        </p:spPr>
      </p:sp>
      <p:sp>
        <p:nvSpPr>
          <p:cNvPr id="27" name="Text 24"/>
          <p:cNvSpPr/>
          <p:nvPr/>
        </p:nvSpPr>
        <p:spPr>
          <a:xfrm>
            <a:off x="6537960" y="33832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680960" y="33832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causes significant but contained disruption.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537960" y="4343400"/>
            <a:ext cx="1005840" cy="822960"/>
          </a:xfrm>
          <a:prstGeom prst="rect">
            <a:avLst/>
          </a:prstGeom>
          <a:solidFill>
            <a:srgbClr val="C6EFCE"/>
          </a:solidFill>
          <a:ln/>
        </p:spPr>
      </p:sp>
      <p:sp>
        <p:nvSpPr>
          <p:cNvPr id="30" name="Text 27"/>
          <p:cNvSpPr/>
          <p:nvPr/>
        </p:nvSpPr>
        <p:spPr>
          <a:xfrm>
            <a:off x="6537960" y="4343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680960" y="4343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has minimal operational impact.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53796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frequency bands: Daily, Weekly, Monthly, Quarterly, 6-Monthly, Annual – see PE-04a Section 6 for typical activities at each frequency.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9</a:t>
            </a:r>
            <a:endParaRPr lang="en-US" sz="900" dirty="0"/>
          </a:p>
        </p:txBody>
      </p:sp>
      <p:sp>
        <p:nvSpPr>
          <p:cNvPr id="35" name="Rectangle 34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Generate Your 12-Month PM Calendar (PE-04b)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PM frequencies are set in the Asset Register, the PM Calendar gives a 12-month view of when planned maintenance is due for every asset.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828800"/>
            <a:ext cx="2651760" cy="4572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08960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8960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22192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22192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35424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35424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48656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48656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61888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61888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75120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88352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88352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01584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01584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814816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14816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528048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28048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241280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241280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954512" y="1828800"/>
            <a:ext cx="713232" cy="457200"/>
          </a:xfrm>
          <a:prstGeom prst="rect">
            <a:avLst/>
          </a:prstGeom>
          <a:solidFill>
            <a:srgbClr val="009F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954512" y="18288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65760" y="2286000"/>
            <a:ext cx="26517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 Turning Centre 1 (Weekly)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108960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108960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822192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22192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535424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35424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248656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48656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961888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61888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675120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75120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388352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388352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101584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101584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8814816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814816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9528048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528048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0241280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241280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10954512" y="22860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954512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365760" y="2743200"/>
            <a:ext cx="26517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Compressor (Monthly)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3108960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108960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3822192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822192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4535424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535424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5248656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248656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5961888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961888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6675120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675120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7388352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388352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8101584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101584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76" name="Shape 73"/>
          <p:cNvSpPr/>
          <p:nvPr/>
        </p:nvSpPr>
        <p:spPr>
          <a:xfrm>
            <a:off x="8814816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814816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9528048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9528048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10241280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0241280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82" name="Shape 79"/>
          <p:cNvSpPr/>
          <p:nvPr/>
        </p:nvSpPr>
        <p:spPr>
          <a:xfrm>
            <a:off x="10954512" y="27432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0954512" y="2743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365760" y="3200400"/>
            <a:ext cx="26517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 Crane (Quarterly)</a:t>
            </a:r>
            <a:endParaRPr lang="en-US" sz="1100" dirty="0"/>
          </a:p>
        </p:txBody>
      </p:sp>
      <p:sp>
        <p:nvSpPr>
          <p:cNvPr id="86" name="Shape 83"/>
          <p:cNvSpPr/>
          <p:nvPr/>
        </p:nvSpPr>
        <p:spPr>
          <a:xfrm>
            <a:off x="3108960" y="3200400"/>
            <a:ext cx="7132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822192" y="3200400"/>
            <a:ext cx="7132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535424" y="32004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535424" y="32004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5248656" y="3200400"/>
            <a:ext cx="7132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961888" y="3200400"/>
            <a:ext cx="7132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675120" y="32004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6675120" y="32004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>
            <a:off x="7388352" y="3200400"/>
            <a:ext cx="7132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8101584" y="3200400"/>
            <a:ext cx="7132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814816" y="32004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8814816" y="32004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98" name="Shape 95"/>
          <p:cNvSpPr/>
          <p:nvPr/>
        </p:nvSpPr>
        <p:spPr>
          <a:xfrm>
            <a:off x="9528048" y="3200400"/>
            <a:ext cx="7132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0241280" y="3200400"/>
            <a:ext cx="7132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0954512" y="3200400"/>
            <a:ext cx="713232" cy="457200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0954512" y="32004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102" name="Text 99"/>
          <p:cNvSpPr/>
          <p:nvPr/>
        </p:nvSpPr>
        <p:spPr>
          <a:xfrm>
            <a:off x="36576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  P = Planned PM due   |   C = Completed (green)   |   M = Missed / overdue (red)</a:t>
            </a:r>
            <a:endParaRPr lang="en-US" sz="1300" dirty="0"/>
          </a:p>
        </p:txBody>
      </p:sp>
      <p:sp>
        <p:nvSpPr>
          <p:cNvPr id="103" name="Text 100"/>
          <p:cNvSpPr/>
          <p:nvPr/>
        </p:nvSpPr>
        <p:spPr>
          <a:xfrm>
            <a:off x="365760" y="4434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calendar weekly. Mark tasks ‘C’ when complete – this updates the Last PM Date and rolls the Next PM Due forward automatically.</a:t>
            </a:r>
            <a:endParaRPr lang="en-US" sz="1400" dirty="0"/>
          </a:p>
        </p:txBody>
      </p:sp>
      <p:sp>
        <p:nvSpPr>
          <p:cNvPr id="105" name="Text 102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10</a:t>
            </a:r>
            <a:endParaRPr lang="en-US" sz="900" dirty="0"/>
          </a:p>
        </p:txBody>
      </p:sp>
      <p:sp>
        <p:nvSpPr>
          <p:cNvPr id="106" name="Rectangle 105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109" name="Rectangle 10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Introduce Autonomous Maintenance (PE-04d)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Maintenance gives operators ownership of basic checks on their own equipment: cleaning, inspecting, lubricating and tightening. This catches developing problems early, before they cause a breakdown.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daily operator checks include: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54203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468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clear of hazards and debris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04495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971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Guards, interlocks and emergency stops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54787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474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levels (oil, coolant, lubrication)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05079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977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Air/hydraulic pressure within range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55371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480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Unusual noise, vibration or smell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505663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983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and fixtures secure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555955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54864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panel free of fault codes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30936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6FD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2194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PE-04d provides ready-to-use check sheets for: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537960" y="283464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2834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Production Machine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537960" y="342900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75120" y="34290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 Machining Centre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537960" y="402336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0" y="4023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Lifting Equipment (Crane / Hoist)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537960" y="461772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5120" y="4617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Air System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537960" y="521208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75120" y="52120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Extended Equipment Check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537960" y="58521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sheet includes a weekly sign-off record (Mon-Sun) and a training record to track who is authorised to carry out checks.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11</a:t>
            </a:r>
            <a:endParaRPr lang="en-US" sz="900" dirty="0"/>
          </a:p>
        </p:txBody>
      </p:sp>
      <p:sp>
        <p:nvSpPr>
          <p:cNvPr id="36" name="Rectangle 35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 of Autonomous Maintenance (Jishu Hozen)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Maintenance is typically introduced through a series of steps, building operator skills and equipment condition progressively.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5577840" cy="1143000"/>
          </a:xfrm>
          <a:prstGeom prst="roundRect">
            <a:avLst>
              <a:gd name="adj" fmla="val 4800"/>
            </a:avLst>
          </a:prstGeom>
          <a:solidFill>
            <a:srgbClr val="EAF6FD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1673352"/>
            <a:ext cx="457200" cy="45720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8992" y="162763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Cleaning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78992" y="1938528"/>
            <a:ext cx="4709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equipment thoroughly; cleaning is inspection – identify and tag any defects found.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554480"/>
            <a:ext cx="5577840" cy="1143000"/>
          </a:xfrm>
          <a:prstGeom prst="roundRect">
            <a:avLst>
              <a:gd name="adj" fmla="val 4800"/>
            </a:avLst>
          </a:prstGeom>
          <a:solidFill>
            <a:srgbClr val="F5E9F7"/>
          </a:solidFill>
          <a:ln/>
        </p:spPr>
      </p:sp>
      <p:sp>
        <p:nvSpPr>
          <p:cNvPr id="12" name="Shape 9"/>
          <p:cNvSpPr/>
          <p:nvPr/>
        </p:nvSpPr>
        <p:spPr>
          <a:xfrm>
            <a:off x="6263640" y="1673352"/>
            <a:ext cx="457200" cy="457200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39712" y="162763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Sources of Contamination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39712" y="1938528"/>
            <a:ext cx="4709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address causes of dirt, leaks and difficult-to-access areas.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2788920"/>
            <a:ext cx="5577840" cy="1143000"/>
          </a:xfrm>
          <a:prstGeom prst="roundRect">
            <a:avLst>
              <a:gd name="adj" fmla="val 4800"/>
            </a:avLst>
          </a:prstGeom>
          <a:solidFill>
            <a:srgbClr val="EAF6FD"/>
          </a:solidFill>
          <a:ln/>
        </p:spPr>
      </p:sp>
      <p:sp>
        <p:nvSpPr>
          <p:cNvPr id="17" name="Shape 14"/>
          <p:cNvSpPr/>
          <p:nvPr/>
        </p:nvSpPr>
        <p:spPr>
          <a:xfrm>
            <a:off x="502920" y="2907792"/>
            <a:ext cx="457200" cy="45720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78992" y="286207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Cleaning &amp; Lubrication Standards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78992" y="3172968"/>
            <a:ext cx="4709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standards and visual controls so checks are quick and consistent.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26480" y="2788920"/>
            <a:ext cx="5577840" cy="1143000"/>
          </a:xfrm>
          <a:prstGeom prst="roundRect">
            <a:avLst>
              <a:gd name="adj" fmla="val 4800"/>
            </a:avLst>
          </a:prstGeom>
          <a:solidFill>
            <a:srgbClr val="F5E9F7"/>
          </a:solidFill>
          <a:ln/>
        </p:spPr>
      </p:sp>
      <p:sp>
        <p:nvSpPr>
          <p:cNvPr id="22" name="Shape 19"/>
          <p:cNvSpPr/>
          <p:nvPr/>
        </p:nvSpPr>
        <p:spPr>
          <a:xfrm>
            <a:off x="6263640" y="2907792"/>
            <a:ext cx="457200" cy="457200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839712" y="286207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Inspection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39712" y="3172968"/>
            <a:ext cx="4709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operators to inspect components: bolts, belts, sensors, wiring.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4023360"/>
            <a:ext cx="5577840" cy="1143000"/>
          </a:xfrm>
          <a:prstGeom prst="roundRect">
            <a:avLst>
              <a:gd name="adj" fmla="val 4800"/>
            </a:avLst>
          </a:prstGeom>
          <a:solidFill>
            <a:srgbClr val="EAF6FD"/>
          </a:solidFill>
          <a:ln/>
        </p:spPr>
      </p:sp>
      <p:sp>
        <p:nvSpPr>
          <p:cNvPr id="27" name="Shape 24"/>
          <p:cNvSpPr/>
          <p:nvPr/>
        </p:nvSpPr>
        <p:spPr>
          <a:xfrm>
            <a:off x="502920" y="4142232"/>
            <a:ext cx="457200" cy="45720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78992" y="40965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Inspection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78992" y="4407408"/>
            <a:ext cx="4709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carry out routine checks independently using the standards developed.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26480" y="4023360"/>
            <a:ext cx="5577840" cy="1143000"/>
          </a:xfrm>
          <a:prstGeom prst="roundRect">
            <a:avLst>
              <a:gd name="adj" fmla="val 4800"/>
            </a:avLst>
          </a:prstGeom>
          <a:solidFill>
            <a:srgbClr val="F5E9F7"/>
          </a:solidFill>
          <a:ln/>
        </p:spPr>
      </p:sp>
      <p:sp>
        <p:nvSpPr>
          <p:cNvPr id="32" name="Shape 29"/>
          <p:cNvSpPr/>
          <p:nvPr/>
        </p:nvSpPr>
        <p:spPr>
          <a:xfrm>
            <a:off x="6263640" y="4142232"/>
            <a:ext cx="457200" cy="457200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33" name="Text 30"/>
          <p:cNvSpPr/>
          <p:nvPr/>
        </p:nvSpPr>
        <p:spPr>
          <a:xfrm>
            <a:off x="626364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839712" y="40965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 Workplace Management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839712" y="4407408"/>
            <a:ext cx="4709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checks into standard work; align with 5S and visual management.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65760" y="5257800"/>
            <a:ext cx="5577840" cy="1143000"/>
          </a:xfrm>
          <a:prstGeom prst="roundRect">
            <a:avLst>
              <a:gd name="adj" fmla="val 4800"/>
            </a:avLst>
          </a:prstGeom>
          <a:solidFill>
            <a:srgbClr val="EAF6FD"/>
          </a:solidFill>
          <a:ln/>
        </p:spPr>
      </p:sp>
      <p:sp>
        <p:nvSpPr>
          <p:cNvPr id="37" name="Shape 34"/>
          <p:cNvSpPr/>
          <p:nvPr/>
        </p:nvSpPr>
        <p:spPr>
          <a:xfrm>
            <a:off x="502920" y="5376672"/>
            <a:ext cx="457200" cy="45720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38" name="Text 35"/>
          <p:cNvSpPr/>
          <p:nvPr/>
        </p:nvSpPr>
        <p:spPr>
          <a:xfrm>
            <a:off x="502920" y="5376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078992" y="53309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Autonomous Maintenance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078992" y="5641848"/>
            <a:ext cx="4709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take full ownership; continuously improve equipment performance.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12</a:t>
            </a:r>
            <a:endParaRPr lang="en-US" sz="900" dirty="0"/>
          </a:p>
        </p:txBody>
      </p:sp>
      <p:sp>
        <p:nvSpPr>
          <p:cNvPr id="43" name="Rectangle 42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Record Breakdowns Consistently (PE-04b)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unplanned stoppage, however short, should be recorded in the Breakdown &amp; Downtime Log. This data drives OEE, MTBF, MTTR and root cause analysis.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for each breakdown: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6771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194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time down and time back up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81635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7432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affected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36499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description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91363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840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of failure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46227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3891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taken / repair carried out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5010912"/>
            <a:ext cx="164592" cy="164592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937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logging the entry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0936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6FD"/>
          </a:solidFill>
          <a:ln/>
        </p:spPr>
      </p:sp>
      <p:sp>
        <p:nvSpPr>
          <p:cNvPr id="20" name="Text 17"/>
          <p:cNvSpPr/>
          <p:nvPr/>
        </p:nvSpPr>
        <p:spPr>
          <a:xfrm>
            <a:off x="653796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categories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537960" y="242316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5120" y="2423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37960" y="288036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2880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537960" y="333756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75120" y="3337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/ PLC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537960" y="379476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0" y="3794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537960" y="425196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5120" y="4251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Error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537960" y="470916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75120" y="4709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Shortage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37960" y="516636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75120" y="5166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537960" y="5715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 hours calculate automatically from time down/up, and totals by category feed a Pareto-style summary to focus improvement effort.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13</a:t>
            </a:r>
            <a:endParaRPr lang="en-US" sz="900" dirty="0"/>
          </a:p>
        </p:txBody>
      </p:sp>
      <p:sp>
        <p:nvSpPr>
          <p:cNvPr id="38" name="Rectangle 37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Investigate Repeat Failures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same equipment fails in the same way more than twice within a rolling 3-month period, carry out a root cause analysis using established Process Improvement tools.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92024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EAF6FD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057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Whys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‘why’ repeatedly to move from the symptom to the underlying root cause.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F5E9F7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2057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Fishbone Diagram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09360" y="25603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potential causes under Human, Method, Machine, Materials, Equipment &amp; Environment, and Administration.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tracking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5760" y="44805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corrective actions arising from root cause analysis in the Maintenance Improvement Action Log (PE-04c), with an owner, target date and status (Open / In Progress / Complete). Review at the monthly maintenance KPI review.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14</a:t>
            </a:r>
            <a:endParaRPr lang="en-US" sz="900" dirty="0"/>
          </a:p>
        </p:txBody>
      </p:sp>
      <p:sp>
        <p:nvSpPr>
          <p:cNvPr id="16" name="Rectangle 15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Track KPIs Monthly (PE-04c)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Maintenance KPI Trend Dashboard summarises performance across the site, for review at the monthly management meeting and Daily Management System (SQDCP).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365760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874520"/>
            <a:ext cx="109728" cy="1554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Compliance 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95%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is better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874520"/>
            <a:ext cx="365760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4297680" y="1874520"/>
            <a:ext cx="109728" cy="1554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OEE 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85%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7200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is better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38160" y="1874520"/>
            <a:ext cx="365760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/>
        </p:spPr>
      </p:sp>
      <p:sp>
        <p:nvSpPr>
          <p:cNvPr id="17" name="Shape 14"/>
          <p:cNvSpPr/>
          <p:nvPr/>
        </p:nvSpPr>
        <p:spPr>
          <a:xfrm>
            <a:off x="8138160" y="1874520"/>
            <a:ext cx="109728" cy="1554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Downtime (hrs)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41248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20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41248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611880"/>
            <a:ext cx="365760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3611880"/>
            <a:ext cx="109728" cy="1554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MTBF (hrs)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200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31520" y="4754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is better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97680" y="3611880"/>
            <a:ext cx="365760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/>
        </p:spPr>
      </p:sp>
      <p:sp>
        <p:nvSpPr>
          <p:cNvPr id="27" name="Shape 24"/>
          <p:cNvSpPr/>
          <p:nvPr/>
        </p:nvSpPr>
        <p:spPr>
          <a:xfrm>
            <a:off x="4297680" y="3611880"/>
            <a:ext cx="109728" cy="1554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 (hrs)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57200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572000" y="4754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138160" y="3611880"/>
            <a:ext cx="365760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8138160" y="3611880"/>
            <a:ext cx="109728" cy="1554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3" name="Text 30"/>
          <p:cNvSpPr/>
          <p:nvPr/>
        </p:nvSpPr>
        <p:spPr>
          <a:xfrm>
            <a:off x="841248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Cost (£)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841248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2,000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412480" y="4754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status: Green = on target | Amber = within 10% of target | Red = off target. Trend charts show the last 12 months for each KPI.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15</a:t>
            </a:r>
            <a:endParaRPr lang="en-US" sz="900" dirty="0"/>
          </a:p>
        </p:txBody>
      </p:sp>
      <p:sp>
        <p:nvSpPr>
          <p:cNvPr id="39" name="Rectangle 38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Manage Critical Spares (PE-04b)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maintenance task cannot be completed on time if the right spare part is not available. The Spares &amp; Consumables tracker helps avoid delays.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993392"/>
            <a:ext cx="182880" cy="18288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critical spares for High criticality assets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587752"/>
            <a:ext cx="182880" cy="18288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current stock and minimum stock level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182112"/>
            <a:ext cx="182880" cy="18288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Status flags automatically when stock ≤ minimum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776472"/>
            <a:ext cx="182880" cy="18288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supplier, lead time and last order date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4370832"/>
            <a:ext cx="182880" cy="182880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monthly: are lead times realistic given criticality?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503920" y="1920240"/>
            <a:ext cx="3200400" cy="3108960"/>
          </a:xfrm>
          <a:prstGeom prst="roundRect">
            <a:avLst>
              <a:gd name="adj" fmla="val 2941"/>
            </a:avLst>
          </a:prstGeom>
          <a:solidFill>
            <a:srgbClr val="EAF6FD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Status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686800" y="2606040"/>
            <a:ext cx="2834640" cy="457200"/>
          </a:xfrm>
          <a:prstGeom prst="rect">
            <a:avLst/>
          </a:prstGeom>
          <a:solidFill>
            <a:srgbClr val="C6EFCE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– Stock above minimum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0" y="3154680"/>
            <a:ext cx="2834640" cy="457200"/>
          </a:xfrm>
          <a:prstGeom prst="rect">
            <a:avLst/>
          </a:prstGeom>
          <a:solidFill>
            <a:srgbClr val="FFC7CE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– At or below minimum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0" y="37947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to Asset ID, so spares can be cross-referenced to the equipment they support.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16</a:t>
            </a:r>
            <a:endParaRPr lang="en-US" sz="900" dirty="0"/>
          </a:p>
        </p:txBody>
      </p:sp>
      <p:sp>
        <p:nvSpPr>
          <p:cNvPr id="25" name="Rectangle 24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and Responsibilities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 is essential for a planned maintenance programme to succeed. PE-04a defines responsibilities using a RACI model.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926080" cy="7132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69164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Operator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29000" y="1691640"/>
            <a:ext cx="83210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1880" y="1691640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autonomous maintenance checks; report abnormalities immediately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478024"/>
            <a:ext cx="2926080" cy="7132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478024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Technician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29000" y="2478024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2478024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out scheduled PM tasks; respond to breakdowns; manage spares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264408"/>
            <a:ext cx="2926080" cy="7132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264408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Manager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429000" y="3264408"/>
            <a:ext cx="83210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11880" y="3264408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PM schedule, OEE/KPI reporting and root cause investigations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4050792"/>
            <a:ext cx="2926080" cy="7132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050792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Manager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429000" y="405079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11880" y="4050792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and prioritise PM activity; review KPIs monthly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837176"/>
            <a:ext cx="2926080" cy="7132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37176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/ General Manager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429000" y="4837176"/>
            <a:ext cx="83210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11880" y="4837176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capital replacement and Early Equipment Management decisions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RACI table covering all key activities is provided in PE-04a, Section 4.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17</a:t>
            </a:r>
            <a:endParaRPr lang="en-US" sz="900" dirty="0"/>
          </a:p>
        </p:txBody>
      </p:sp>
      <p:sp>
        <p:nvSpPr>
          <p:cNvPr id="29" name="Rectangle 28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to Proactive: The Improvement Journey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maintenance is not a one-off implementation. Data from breakdowns, OEE and KPIs should drive ongoing improvement.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965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24231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to failure. High unplanned downtime. No data captured.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72968" y="3337560"/>
            <a:ext cx="146304" cy="274320"/>
          </a:xfrm>
          <a:prstGeom prst="rightArrow">
            <a:avLst/>
          </a:prstGeom>
          <a:solidFill>
            <a:srgbClr val="83348F"/>
          </a:solidFill>
          <a:ln/>
        </p:spPr>
      </p:sp>
      <p:sp>
        <p:nvSpPr>
          <p:cNvPr id="10" name="Shape 7"/>
          <p:cNvSpPr/>
          <p:nvPr/>
        </p:nvSpPr>
        <p:spPr>
          <a:xfrm>
            <a:off x="333756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AF6FD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1965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474720" y="2560320"/>
            <a:ext cx="24231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schedule in place. Breakdowns logged. OEE measured.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3337560"/>
            <a:ext cx="146304" cy="274320"/>
          </a:xfrm>
          <a:prstGeom prst="rightArrow">
            <a:avLst/>
          </a:prstGeom>
          <a:solidFill>
            <a:srgbClr val="83348F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792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AF6FD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1965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55080" y="2560320"/>
            <a:ext cx="24231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involved (Autonomous Maintenance). Root cause analysis on repeat failures.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933688" y="3337560"/>
            <a:ext cx="146304" cy="274320"/>
          </a:xfrm>
          <a:prstGeom prst="rightArrow">
            <a:avLst/>
          </a:prstGeom>
          <a:solidFill>
            <a:srgbClr val="83348F"/>
          </a:solidFill>
          <a:ln/>
        </p:spPr>
      </p:sp>
      <p:sp>
        <p:nvSpPr>
          <p:cNvPr id="18" name="Shape 15"/>
          <p:cNvSpPr/>
          <p:nvPr/>
        </p:nvSpPr>
        <p:spPr>
          <a:xfrm>
            <a:off x="909828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9235440" y="1965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/ Optimised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235440" y="2560320"/>
            <a:ext cx="24231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monitoring. PM frequencies tuned from data. Early Equipment Management informs new equipment specs.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PE-04b and PE-04c data each month to identify where your site sits on this journey, and what the next priority should be.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18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This Toolkit to F4N Assessment Evidence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515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Populated and used over time, the PE-04 toolkit provides direct evidence for the Planned Maintenance / Machine Availability question in the F4N Business Excellence assessment.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6035040" cy="777240"/>
          </a:xfrm>
          <a:prstGeom prst="rect">
            <a:avLst/>
          </a:prstGeom>
          <a:solidFill>
            <a:srgbClr val="EAF6F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schedules and PM records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1828800"/>
            <a:ext cx="512064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18288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PE-04a, PE-04b (Asset Register &amp; PM Calendar)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603504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69748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 programme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0" y="2697480"/>
            <a:ext cx="5120640" cy="777240"/>
          </a:xfrm>
          <a:prstGeom prst="rect">
            <a:avLst/>
          </a:prstGeom>
          <a:solidFill>
            <a:srgbClr val="EAF6FD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26974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PE-04a Policy, PE-04b PM Calendar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566160"/>
            <a:ext cx="6035040" cy="777240"/>
          </a:xfrm>
          <a:prstGeom prst="rect">
            <a:avLst/>
          </a:prstGeom>
          <a:solidFill>
            <a:srgbClr val="EAF6F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5661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downtime and availability reporting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83680" y="3566160"/>
            <a:ext cx="512064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6766560" y="35661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PE-04b (Downtime Log &amp; OEE Dashboard), PE-04c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4434840"/>
            <a:ext cx="603504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4348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corrective action following failure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83680" y="4434840"/>
            <a:ext cx="5120640" cy="777240"/>
          </a:xfrm>
          <a:prstGeom prst="rect">
            <a:avLst/>
          </a:prstGeom>
          <a:solidFill>
            <a:srgbClr val="EAF6FD"/>
          </a:solidFill>
          <a:ln/>
        </p:spPr>
      </p:sp>
      <p:sp>
        <p:nvSpPr>
          <p:cNvPr id="21" name="Text 18"/>
          <p:cNvSpPr/>
          <p:nvPr/>
        </p:nvSpPr>
        <p:spPr>
          <a:xfrm>
            <a:off x="6766560" y="44348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PE-04c Action Log, root cause records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5303520"/>
            <a:ext cx="6035040" cy="777240"/>
          </a:xfrm>
          <a:prstGeom prst="rect">
            <a:avLst/>
          </a:prstGeom>
          <a:solidFill>
            <a:srgbClr val="EAF6FD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53035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involvement in equipment care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583680" y="5303520"/>
            <a:ext cx="512064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2"/>
          <p:cNvSpPr/>
          <p:nvPr/>
        </p:nvSpPr>
        <p:spPr>
          <a:xfrm>
            <a:off x="676656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PE-04d Autonomous Maintenance Toolkit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19</a:t>
            </a:r>
            <a:endParaRPr lang="en-US" sz="900" dirty="0"/>
          </a:p>
        </p:txBody>
      </p:sp>
      <p:sp>
        <p:nvSpPr>
          <p:cNvPr id="28" name="Rectangle 27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PE-04 Toolkit at a Glance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009FE3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0972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103120" y="1097280"/>
            <a:ext cx="38404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10972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Procedure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1097280"/>
            <a:ext cx="56692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0972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planned maintenance approach, roles and responsibilities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009FE3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103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PE-04b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103120" y="210312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Schedule &amp; Asset Register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35040" y="2103120"/>
            <a:ext cx="5669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1031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register, PM calendar, downtime log, OEE dashboard, spares tracker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1089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PE-04c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103120" y="3108960"/>
            <a:ext cx="38404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0" y="31089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KPI Trend Dashboard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35040" y="3108960"/>
            <a:ext cx="56692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1089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KPI trends, RAG status and improvement action log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41148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009FE3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1148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PE-04d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2103120" y="411480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86000" y="4114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Maintenance Toolkit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035040" y="4114800"/>
            <a:ext cx="5669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41148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Daily/weekly/monthly operator check sheets and training record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512064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009FE3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5120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2103120" y="5120640"/>
            <a:ext cx="38404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286000" y="51206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Implementation Guide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035040" y="5120640"/>
            <a:ext cx="56692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17920" y="51206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guide to applying TPM, OEE and Autonomous Maintenance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20</a:t>
            </a:r>
            <a:endParaRPr lang="en-US" sz="900" dirty="0"/>
          </a:p>
        </p:txBody>
      </p:sp>
      <p:sp>
        <p:nvSpPr>
          <p:cNvPr id="37" name="Rectangle 36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Started: First 30 Days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43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9FE3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11155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scope: list all production, inspection, lifting and utility equipment to include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76479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17373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the Asset Register (PE-04b) with criticality ratings and PM frequencies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3865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9FE3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386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7280" y="23591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12-month PM Calendar and assign responsibility for each PM task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300837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9FE3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7280" y="298094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daily Autonomous Maintenance checks using PE-04d, starting with one or two pilot areas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363016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83348F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97280" y="360273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logging all breakdowns in the Downtime Log, even minor stoppages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42519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97280" y="42245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baseline OEE for your most critical assets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57200" y="487375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97280" y="4846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monthly KPI review using PE-04c and agree RAG thresholds with the team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57200" y="549554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83348F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5495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97280" y="546811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progress after 30 days and expand Autonomous Maintenance to further areas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21</a:t>
            </a:r>
            <a:endParaRPr lang="en-US" sz="900" dirty="0"/>
          </a:p>
        </p:txBody>
      </p:sp>
      <p:sp>
        <p:nvSpPr>
          <p:cNvPr id="31" name="Rectangle 30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64592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 and How to Avoid Them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960120"/>
            <a:ext cx="11460175" cy="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097280"/>
            <a:ext cx="5577840" cy="150876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097280"/>
            <a:ext cx="109728" cy="150876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070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Skipping the Asset Register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criticality ratings, PM effort gets spread evenly instead of focused on what matters most.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097280"/>
            <a:ext cx="5577840" cy="150876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6126480" y="1097280"/>
            <a:ext cx="109728" cy="150876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2070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only major breakdowns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0" y="16459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stoppages add up. Logging everything gives accurate OEE and reveals patterns.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2788920"/>
            <a:ext cx="5577840" cy="150876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" y="2788920"/>
            <a:ext cx="109728" cy="150876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8986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Maintenance without training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33375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need clear standards and training before checks become reliable.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26480" y="2788920"/>
            <a:ext cx="5577840" cy="150876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6126480" y="2788920"/>
            <a:ext cx="109728" cy="150876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28986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Calendar not reviewed regularly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33375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calendar that isn't reviewed weekly quickly falls out of date and loses credibility.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65760" y="4480560"/>
            <a:ext cx="5577840" cy="150876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4480560"/>
            <a:ext cx="109728" cy="150876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59028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reviewed but no actions taken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0080" y="502920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status alone doesn't improve performance – use the Action Log (PE-04c) to close the loop.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26480" y="4480560"/>
            <a:ext cx="5577840" cy="150876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26" name="Shape 23"/>
          <p:cNvSpPr/>
          <p:nvPr/>
        </p:nvSpPr>
        <p:spPr>
          <a:xfrm>
            <a:off x="6126480" y="4480560"/>
            <a:ext cx="109728" cy="150876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0" y="459028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Spares not linked to criticality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0" y="502920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Stock-outs on critical spares cause the longest, most costly downtime.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728655" y="6537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22</a:t>
            </a:r>
            <a:endParaRPr lang="en-US" sz="900" dirty="0"/>
          </a:p>
        </p:txBody>
      </p:sp>
      <p:sp>
        <p:nvSpPr>
          <p:cNvPr id="31" name="Rectangle 30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9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4008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182880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17373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Maintenance moves equipment care from reactive to proactive, improving availability, quality and delivery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269748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6060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(Availability x Performance x Quality) gives a single measure of equipment effectiveness against an 85% target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356616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474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Maintenance gives operators ownership of daily checks, catching issues early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1520" y="443484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3434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PE-04a to PE-04e provide a complete, working toolkit: policy, asset register, KPI dashboard, operator checklists and this guide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31520" y="530352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52120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Asset Register and a small Autonomous Maintenance pilot, then build out from there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PE-04e | 23</a:t>
            </a:r>
            <a:endParaRPr lang="en-US" sz="1100" dirty="0"/>
          </a:p>
        </p:txBody>
      </p:sp>
      <p:sp>
        <p:nvSpPr>
          <p:cNvPr id="17" name="Rectangle 16"/>
          <p:cNvSpPr/>
          <p:nvPr/>
        </p:nvSpPr>
        <p:spPr>
          <a:xfrm>
            <a:off x="10564063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00584"/>
            <a:ext cx="566928" cy="34747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431" y="100584"/>
            <a:ext cx="658368" cy="34747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BCD5471-4449-46F9-9509-A1B42E1B4567}"/>
</file>

<file path=customXml/itemProps2.xml><?xml version="1.0" encoding="utf-8"?>
<ds:datastoreItem xmlns:ds="http://schemas.openxmlformats.org/officeDocument/2006/customXml" ds:itemID="{A8E755B2-0C4B-4A8E-B92E-4705D6694C41}"/>
</file>

<file path=customXml/itemProps3.xml><?xml version="1.0" encoding="utf-8"?>
<ds:datastoreItem xmlns:ds="http://schemas.openxmlformats.org/officeDocument/2006/customXml" ds:itemID="{14F6D2BA-CD19-42FF-A659-75A53B02A2D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PE-04e Planned Maintenance Total Productive Maintenance Implementation Guide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