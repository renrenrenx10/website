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media/image-9-1.jpg" ContentType="image/jpg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media/image-10-1.jpg" ContentType="image/jpg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media/image-11-1.jpg" ContentType="image/jpg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media/image-12-1.jpg" ContentType="image/jpg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media/image-13-1.jpg" ContentType="image/jpg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media/image-14-1.jpg" ContentType="image/jpg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-15-1.jpg" ContentType="image/jpg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media/image-16-1.jpg" ContentType="image/jpg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media/image-17-1.jpg" ContentType="image/jpg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media/image-18-1.jpg" ContentType="image/jpg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media/image-19-1.jpg" ContentType="image/jpg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-20-1.jpg" ContentType="image/jpg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media/image-21-1.jpg" ContentType="image/jpg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media/image-22-1.jpg" ContentType="image/jpg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media/image-23-1.jpg" ContentType="image/jpg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ucc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208" y="822960"/>
            <a:ext cx="2011680" cy="1956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1546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Methods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Guide  |  PE-07c  |  Process Excellence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6177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 |  5 Whys  |  Fishbone  |  8D  |  A3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51206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cause, not the symptom, and the problem never comes back.</a:t>
            </a:r>
            <a:endParaRPr lang="en-US" sz="1300" dirty="0"/>
          </a:p>
        </p:txBody>
      </p:sp>
      <p:sp>
        <p:nvSpPr>
          <p:cNvPr id="7" name="Rectangle 6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structured problem solving matters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Firefighting feels productive. It is the most expensive way to run a factory.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root cause thinking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problems return week after week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depend on who is on shift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goes into rework, sorting and expediting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Blame replaces analysis; people hide problems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stays in a few heads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234440"/>
            <a:ext cx="5486400" cy="3931920"/>
          </a:xfrm>
          <a:prstGeom prst="roundRect">
            <a:avLst>
              <a:gd name="adj" fmla="val 1628"/>
            </a:avLst>
          </a:prstGeom>
          <a:solidFill>
            <a:srgbClr val="E5F5FD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root cause thinking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92240" y="192024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are solved once and stay solved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uses the same simple methods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shifts from rework to improvement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are surfaced early, without blame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is captured and shared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culture of structured problem solving is one of the clearest signs of a nuclear-ready supplier: it shows control of your processes and an appetite to improve them.</a:t>
            </a:r>
            <a:endParaRPr lang="en-US" sz="1250" dirty="0"/>
          </a:p>
        </p:txBody>
      </p:sp>
      <p:sp>
        <p:nvSpPr>
          <p:cNvPr id="14" name="Rectangle 13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F4N verification looks for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improvement, problem-solving skills and root cause analysis training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F4N assessor wants to see that a culture of continuous improvement is supported by trained, engaged employees. Specifically: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E5F5FD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96596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70432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carried out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" y="2377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teams have been trained in structured problem solving: 5 Whys, fishbone diagrams and 8D. Training records and your skills matrix (see People Excellence) are the proof.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3E9F5"/>
          </a:solidFill>
          <a:ln/>
        </p:spPr>
      </p:sp>
      <p:sp>
        <p:nvSpPr>
          <p:cNvPr id="14" name="Shape 11"/>
          <p:cNvSpPr/>
          <p:nvPr/>
        </p:nvSpPr>
        <p:spPr>
          <a:xfrm>
            <a:off x="6419088" y="196596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5" name="Text 12"/>
          <p:cNvSpPr/>
          <p:nvPr/>
        </p:nvSpPr>
        <p:spPr>
          <a:xfrm>
            <a:off x="6419088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31152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Effectively deployed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73952" y="2377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methods are used in the real workplace, not just taught. Completed 3C charts, 5 Whys worksheets, fishbones and 8D reports in PE-04a are exactly this evidence.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E5F5FD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" y="393192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0432" y="3913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empowered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3232" y="4343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raise a problem and join in solving it. Problems are visible on boards, owned at the right level, and the raiser confirms closure.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374904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3E9F5"/>
          </a:solidFill>
          <a:ln/>
        </p:spPr>
      </p:sp>
      <p:sp>
        <p:nvSpPr>
          <p:cNvPr id="24" name="Shape 21"/>
          <p:cNvSpPr/>
          <p:nvPr/>
        </p:nvSpPr>
        <p:spPr>
          <a:xfrm>
            <a:off x="6419088" y="393192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641908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31152" y="3913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improvement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73952" y="4343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 links to your KPIs (PE-03), feeds the CSIP, and the results are shared and standardised into SOPs (PE-06).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guide gives you the methods. PE-04a gives you the working tool. Use them together and the evidence builds itself.</a:t>
            </a:r>
            <a:endParaRPr lang="en-US" sz="1250" dirty="0"/>
          </a:p>
        </p:txBody>
      </p:sp>
      <p:sp>
        <p:nvSpPr>
          <p:cNvPr id="29" name="Rectangle 28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 of response to every problem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needed. Most organisations stop after the first.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703320" cy="4023360"/>
          </a:xfrm>
          <a:prstGeom prst="roundRect">
            <a:avLst>
              <a:gd name="adj" fmla="val 1728"/>
            </a:avLst>
          </a:prstGeom>
          <a:solidFill>
            <a:srgbClr val="E5F5FD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91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5727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action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194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customer and the team right now.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the batch. Make the area safe. Inform the manager. 100% inspect work in progress. Containment buys time; it fixes nothing.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78808" y="3246120"/>
            <a:ext cx="237744" cy="237744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4840" y="1371600"/>
            <a:ext cx="3703320" cy="4023360"/>
          </a:xfrm>
          <a:prstGeom prst="roundRect">
            <a:avLst>
              <a:gd name="adj" fmla="val 1728"/>
            </a:avLst>
          </a:prstGeom>
          <a:solidFill>
            <a:srgbClr val="F3E9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160020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1591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66360" y="15727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09160" y="2194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what actually caused the incident.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09160" y="29260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and see. Gather facts. Use 5 Whys or a fishbone to trace the cause chain. Verify the cause with evidence before acting on it.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56448" y="3246120"/>
            <a:ext cx="237744" cy="237744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21" name="Shape 18"/>
          <p:cNvSpPr/>
          <p:nvPr/>
        </p:nvSpPr>
        <p:spPr>
          <a:xfrm>
            <a:off x="8412480" y="1371600"/>
            <a:ext cx="3703320" cy="4023360"/>
          </a:xfrm>
          <a:prstGeom prst="roundRect">
            <a:avLst>
              <a:gd name="adj" fmla="val 1728"/>
            </a:avLst>
          </a:prstGeom>
          <a:solidFill>
            <a:srgbClr val="E5F5FD"/>
          </a:solidFill>
          <a:ln/>
        </p:spPr>
      </p:sp>
      <p:sp>
        <p:nvSpPr>
          <p:cNvPr id="22" name="Shape 19"/>
          <p:cNvSpPr/>
          <p:nvPr/>
        </p:nvSpPr>
        <p:spPr>
          <a:xfrm>
            <a:off x="8641080" y="160020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3" name="Text 20"/>
          <p:cNvSpPr/>
          <p:nvPr/>
        </p:nvSpPr>
        <p:spPr>
          <a:xfrm>
            <a:off x="8641080" y="1591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00" y="15727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Preventative action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86800" y="2194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it ever happening again.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0" y="29260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or error proof the root cause. Update SOPs, PM schedules and training. Read across to similar processes. Confirm with the raiser that it worked.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problem log shows containment actions only, problems will keep returning. The value is in levels 2 and 3.</a:t>
            </a:r>
            <a:endParaRPr lang="en-US" sz="1250" dirty="0"/>
          </a:p>
        </p:txBody>
      </p:sp>
      <p:sp>
        <p:nvSpPr>
          <p:cNvPr id="28" name="Rectangle 27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are visible. Causes are not.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symptoms is like cutting a weed at ground level: it grows back.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8016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on the shop floor (a reject, a stoppage, a late delivery) is a symptom. The cause sits below the surface, in the way the process is designed, maintained, measured or managed.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is simply digging down, level by level, until you reach a cause that is within your control and that, once fixed, prevents recurrence.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test of any proposed root cause: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fix this, will the problem stop and stay stopped?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018520" y="1371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325880"/>
            <a:ext cx="4572000" cy="7315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6263640" y="1325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SYMPTOM: reject, stoppage, complaint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4800600" cy="731520"/>
          </a:xfrm>
          <a:prstGeom prst="rect">
            <a:avLst/>
          </a:prstGeom>
          <a:solidFill>
            <a:srgbClr val="5B595A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14884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cause: worn tool, wrong setting, missed check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971800"/>
            <a:ext cx="5029200" cy="7315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971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cause: rule, method or checklist gap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3794760"/>
            <a:ext cx="5257800" cy="731520"/>
          </a:xfrm>
          <a:prstGeom prst="rect">
            <a:avLst/>
          </a:prstGeom>
          <a:solidFill>
            <a:srgbClr val="5E2566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79476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cause: how rules are set, reviewed and trained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057400"/>
            <a:ext cx="5760720" cy="0"/>
          </a:xfrm>
          <a:prstGeom prst="line">
            <a:avLst/>
          </a:prstGeom>
          <a:noFill/>
          <a:ln w="19050">
            <a:solidFill>
              <a:srgbClr val="5B595A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1264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Hidden: where the real fix lives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55680" y="27432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 deeper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deeper the cause you fix, the more problems disappear with it.</a:t>
            </a:r>
            <a:endParaRPr lang="en-US" sz="1250" dirty="0"/>
          </a:p>
        </p:txBody>
      </p:sp>
      <p:sp>
        <p:nvSpPr>
          <p:cNvPr id="21" name="Rectangle 20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good problem statement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problem well stated is half solved. Use 5W2H.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937760"/>
                <a:gridCol w="49377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5W2H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Worked 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exactly is wrong? Which defect, which failure mode?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Bore diameter 0.04 mm oversize on flange housings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is it found? Which machine, line, site, feature?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CNC Cell 2, found at final inspection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does it occur? Shift, batch, season, since when?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Morning shift, 06 Jan, harder material batches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detected it? Who is affected? (Not who is to blame)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inspector; nuclear customer shipment at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trend or pattern? Increasing, random, repeating?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5th incident in 12 weeks, all on the same material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was it detected? How does it differ from standard?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Bore gauge at final; in-process check does not exist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parts, how often, how much cost?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of 25 parts; 14 hours rework; one delayed shipment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statement in facts and numbers. 'Quality is poor on Cell 2' invites debate; the table above invites analysis.</a:t>
            </a:r>
            <a:endParaRPr lang="en-US" sz="1250" dirty="0"/>
          </a:p>
        </p:txBody>
      </p:sp>
      <p:sp>
        <p:nvSpPr>
          <p:cNvPr id="9" name="Rectangle 8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and see before you analyse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are solved at the workplace, not in the meeting room.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E5F5F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527048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517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actual place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13232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where the problem happens. Watch the process run. Most causes reveal themselves to a careful observer within minutes.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32588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F3E9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19088" y="1527048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6419088" y="1517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actual thing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473952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the reject, the worn tool, the failed component. Keep physical evidence; do not let it be scrapped before analysis.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E5F5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3630168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70432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the actual people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13232" y="4069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who runs the process every day usually knows more about it than anyone. Ask what changed. Listen without judging.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F3E9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9088" y="3630168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6419088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31152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actual data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473952" y="4069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check sheets, machine logs, inspection records and KPI charts (PE-03). Opinions start arguments; data ends them.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rules for the visit: no blame, and no solutions yet. You are there to understand, not to fix.</a:t>
            </a:r>
            <a:endParaRPr lang="en-US" sz="1250" dirty="0"/>
          </a:p>
        </p:txBody>
      </p:sp>
      <p:sp>
        <p:nvSpPr>
          <p:cNvPr id="28" name="Rectangle 27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problem-solving toolbox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tools, one logic: define, find the cause, fix it, prove 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121408" cy="3977640"/>
          </a:xfrm>
          <a:prstGeom prst="roundRect">
            <a:avLst>
              <a:gd name="adj" fmla="val 3017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0876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Chart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Concern, Cause, Countermeasure on one line. The everyday tool for simple, single-cause problems raised at daily meetings.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4526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effort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477316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1325880"/>
            <a:ext cx="2121408" cy="3977640"/>
          </a:xfrm>
          <a:prstGeom prst="roundRect">
            <a:avLst>
              <a:gd name="adj" fmla="val 3017"/>
            </a:avLst>
          </a:prstGeom>
          <a:solidFill>
            <a:srgbClr val="F3E9F5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150876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80360" y="2011680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why repeatedly to trace the cause chain from symptom to root. Fast, needs no forms, works anywhere.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880360" y="4526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effort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880360" y="477316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 an hour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1325880"/>
            <a:ext cx="2121408" cy="3977640"/>
          </a:xfrm>
          <a:prstGeom prst="roundRect">
            <a:avLst>
              <a:gd name="adj" fmla="val 3017"/>
            </a:avLst>
          </a:prstGeom>
          <a:solidFill>
            <a:srgbClr val="E5F5FD"/>
          </a:solidFill>
          <a:ln/>
        </p:spPr>
      </p:sp>
      <p:sp>
        <p:nvSpPr>
          <p:cNvPr id="18" name="Text 15"/>
          <p:cNvSpPr/>
          <p:nvPr/>
        </p:nvSpPr>
        <p:spPr>
          <a:xfrm>
            <a:off x="5166360" y="150876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011680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brainstorm of possible causes across 6 categories, then narrow down with evidence. Best when the cause is unclear.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66360" y="4526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effort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166360" y="477316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workshop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0" y="1325880"/>
            <a:ext cx="2121408" cy="3977640"/>
          </a:xfrm>
          <a:prstGeom prst="roundRect">
            <a:avLst>
              <a:gd name="adj" fmla="val 3017"/>
            </a:avLst>
          </a:prstGeom>
          <a:solidFill>
            <a:srgbClr val="F3E9F5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150876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52360" y="2011680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disciplines, team-based, for major or customer-facing failures. Containment through to prevention with full records.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4526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effort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52360" y="477316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weeks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01200" y="1325880"/>
            <a:ext cx="2121408" cy="3977640"/>
          </a:xfrm>
          <a:prstGeom prst="roundRect">
            <a:avLst>
              <a:gd name="adj" fmla="val 3017"/>
            </a:avLst>
          </a:prstGeom>
          <a:solidFill>
            <a:srgbClr val="E5F5FD"/>
          </a:solidFill>
          <a:ln/>
        </p:spPr>
      </p:sp>
      <p:sp>
        <p:nvSpPr>
          <p:cNvPr id="28" name="Text 25"/>
          <p:cNvSpPr/>
          <p:nvPr/>
        </p:nvSpPr>
        <p:spPr>
          <a:xfrm>
            <a:off x="9738360" y="150876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738360" y="2011680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problem story on one page: ideal for recurring issues and improvement projects. See PE-04b.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738360" y="4526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effort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738360" y="4773168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updated live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live as ready-to-use working sheets in PE-04a (3C, 5 Whys, Fishbone, 8D) and PE-04b (A3).</a:t>
            </a:r>
            <a:endParaRPr lang="en-US" sz="1250" dirty="0"/>
          </a:p>
        </p:txBody>
      </p:sp>
      <p:sp>
        <p:nvSpPr>
          <p:cNvPr id="33" name="Rectangle 32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3C: Concern, Cause, Countermeasure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 everyday tool. One line per problem, reviewed at the daily meeting.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wrong, in facts. A short description or a sketch.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78808" y="1874520"/>
            <a:ext cx="219456" cy="219456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128016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F3E9F5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1417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17720" y="1828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cause if it is obvious, or the immediate containment if not.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56448" y="1874520"/>
            <a:ext cx="219456" cy="219456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15" name="Shape 12"/>
          <p:cNvSpPr/>
          <p:nvPr/>
        </p:nvSpPr>
        <p:spPr>
          <a:xfrm>
            <a:off x="8412480" y="1280160"/>
            <a:ext cx="3703320" cy="1417320"/>
          </a:xfrm>
          <a:prstGeom prst="roundRect">
            <a:avLst>
              <a:gd name="adj" fmla="val 4516"/>
            </a:avLst>
          </a:prstGeom>
          <a:solidFill>
            <a:srgbClr val="E5F5FD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0" y="1417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COUNTERMEASURE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95360" y="182880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steps, the champion who owns them, and the date.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2971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3C entry carries a category and a status: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47120" cy="914400"/>
        </p:xfrm>
        <a:graphic>
          <a:graphicData uri="http://schemas.openxmlformats.org/drawingml/2006/table">
            <a:tbl>
              <a:tblPr/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(priority)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(lifecycle)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 Do now, at the point of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  Problem identified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 Within 1 week, the team can resolve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  Countermeasure proposed and agreed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 Within 1 week, needs external resource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  In progress, owners and targets agreed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 Mid-term activity, plan into the CSIP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  Solved and confirmed by the raiser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chart visible at the workplace. A 3C that nobody walks past daily is a 3C that quietly dies. If a 3C entry will not close, or the cause is not obvious, escalate it to 5 Whys or a fishbone.</a:t>
            </a:r>
            <a:endParaRPr lang="en-US" sz="1250" dirty="0"/>
          </a:p>
        </p:txBody>
      </p:sp>
      <p:sp>
        <p:nvSpPr>
          <p:cNvPr id="21" name="Rectangle 20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Whys: trace the cause chain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becomes the next question. Stop when you reach a fixable process cause.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32588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137160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bore was machined oversize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24128" y="2167128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216712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95728" y="221284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insert was worn beyond limit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591056" y="3008376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1591056" y="300837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62656" y="3054096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not changed at the right point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57984" y="3849624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2157984" y="3849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29584" y="3895344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change is set by time, not parts count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724912" y="4690872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2724912" y="469087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5?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096512" y="4736592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life rules never reviewed; no in-process check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2743200" y="56509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29600" y="1325880"/>
            <a:ext cx="3502152" cy="4160520"/>
          </a:xfrm>
          <a:prstGeom prst="roundRect">
            <a:avLst>
              <a:gd name="adj" fmla="val 1828"/>
            </a:avLst>
          </a:prstGeom>
          <a:solidFill>
            <a:srgbClr val="F2F2F2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rules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458200" y="192024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is a guide, not a rule: stop at the fixable process cause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must be a fact you can check, not a guess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why the process allowed it, never who is to blame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if there is more than one answer to a why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at the workplace with the people involved</a:t>
            </a:r>
            <a:endParaRPr lang="en-US" sz="1150" dirty="0"/>
          </a:p>
        </p:txBody>
      </p:sp>
      <p:sp>
        <p:nvSpPr>
          <p:cNvPr id="26" name="Rectangle 25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Whys: where it goes wrong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is simple. The discipline is not.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at 'operator error'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part of the process. If a person could make the error, the process let them. Ask why the process allowed it: missing check, unclear SOP, poor layout, inadequate training.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3E9F5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too early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46520" y="187452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insert was worn' is true and useless: changing the insert fixes one part. Keep asking why until the answer changes a rule, a method or a system.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E5F5F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639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Guessing instead of checking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406908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why must be answered with evidence: measure the part, check the record, watch the process. A 5 Whys built on guesses produces a confident wrong answer.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347472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3E9F5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639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chain when there are two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46520" y="4069080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problems have a cause of occurrence and a cause of escape (why it was not detected). Run a why chain for each: fix occurrence, strengthen detection.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test before you act: read the chain backwards using 'therefore'. If it does not flow logically, a link is missing.</a:t>
            </a:r>
            <a:endParaRPr lang="en-US" sz="1250" dirty="0"/>
          </a:p>
        </p:txBody>
      </p:sp>
      <p:sp>
        <p:nvSpPr>
          <p:cNvPr id="20" name="Rectangle 1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Fishbone: map the possible causes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called Ishikawa or cause and effect diagram. Six branches, one effect.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400" y="3566160"/>
            <a:ext cx="9326880" cy="0"/>
          </a:xfrm>
          <a:prstGeom prst="line">
            <a:avLst/>
          </a:prstGeom>
          <a:noFill/>
          <a:ln w="38100">
            <a:solidFill>
              <a:srgbClr val="5B59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241280" y="30632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0" y="30632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problem)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28800" y="178308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13716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(people)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78308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94760" y="13716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37947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0" y="178308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13716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28800" y="356616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1560" y="54406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21" name="Text 18"/>
          <p:cNvSpPr/>
          <p:nvPr/>
        </p:nvSpPr>
        <p:spPr>
          <a:xfrm>
            <a:off x="105156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356616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94760" y="54406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379476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315200" y="3566160"/>
            <a:ext cx="1188720" cy="1783080"/>
          </a:xfrm>
          <a:prstGeom prst="line">
            <a:avLst/>
          </a:prstGeom>
          <a:noFill/>
          <a:ln w="28575">
            <a:solidFill>
              <a:srgbClr val="009F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37960" y="54406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9FE3"/>
          </a:solidFill>
          <a:ln/>
        </p:spPr>
      </p:sp>
      <p:sp>
        <p:nvSpPr>
          <p:cNvPr id="27" name="Text 24"/>
          <p:cNvSpPr/>
          <p:nvPr/>
        </p:nvSpPr>
        <p:spPr>
          <a:xfrm>
            <a:off x="6537960" y="5440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Mother Nature (environment)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32520" y="4434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bones = individual potential causes, added by the team along each branch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the cause is genuinely unclear, when opinions differ, or when a 5 Whys keeps branching. The structure stops the team fixating on the first idea.</a:t>
            </a:r>
            <a:endParaRPr lang="en-US" sz="1200" dirty="0"/>
          </a:p>
        </p:txBody>
      </p:sp>
      <p:sp>
        <p:nvSpPr>
          <p:cNvPr id="30" name="Rectangle 2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fishbone session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hour with the right people beats a week of solo analysis.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44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200400" y="12801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problem statement (5W2H) in the head of the fish. Cross-functional team of 4 to 8, at or near the workplace, flipchart or board.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49424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1762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200400" y="2176272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branch by branch. Every idea goes up; no debating yet. Quiet voices often hold the answer: ask everyone in turn.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145536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0723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down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200400" y="3072384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votes or scores likelihood (High / Medium / Low). Strike out causes the data already rules out.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evidence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3200400" y="3968496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likely cause agree how to verify it: measure, inspect, trial, check records. Assign who and by when.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97280" y="48646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3200400" y="486460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causes go to the Problem Register (PE-04a) with countermeasures, owners and dates. Photograph the fishbone and attach it.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Fishbone sheet in PE-04a captures the output in a structured table, with likelihood, evidence and selection columns.</a:t>
            </a:r>
            <a:endParaRPr lang="en-US" sz="1250" dirty="0"/>
          </a:p>
        </p:txBody>
      </p:sp>
      <p:sp>
        <p:nvSpPr>
          <p:cNvPr id="28" name="Rectangle 27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you act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root cause is a hypothesis until the evidence agrees.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874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turn the problem on and off? Run the process with and without the suspected cause. If the problem follows the cause, you have 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history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46520" y="1874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cause explain the pattern? If the cause is 'harder material', rejects should align with harder batches in the records. If they do not, dig again.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593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evidence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40233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worn insert, the misaligned sensor, the wrong-revision label. Physical evidence either supports the cause or it does not.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593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whole problem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46520" y="40233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 cause must account for what, where, when and how many. A cause that explains half the facts is half a cause.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nuclear supply chain this discipline matters doubly: corrective actions, NCR responses and 8D reports may be reviewed by your customer. Evidence-backed causes survive that review.</a:t>
            </a:r>
            <a:endParaRPr lang="en-US" sz="1250" dirty="0"/>
          </a:p>
        </p:txBody>
      </p:sp>
      <p:sp>
        <p:nvSpPr>
          <p:cNvPr id="20" name="Rectangle 1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8D: team-based problem solving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major, complex or customer-facing failures. Eight disciplines, full records.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6459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6459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1508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and plan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97096" y="18470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13716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16459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6459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0" y="1508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the team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29016" y="18470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17" name="Shape 14"/>
          <p:cNvSpPr/>
          <p:nvPr/>
        </p:nvSpPr>
        <p:spPr>
          <a:xfrm>
            <a:off x="8412480" y="13716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18" name="Shape 15"/>
          <p:cNvSpPr/>
          <p:nvPr/>
        </p:nvSpPr>
        <p:spPr>
          <a:xfrm>
            <a:off x="8549640" y="16459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8549640" y="16459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418320" y="1508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problem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27432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3E9F5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0175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83348F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54480" y="28803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containment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197096" y="32186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26" name="Shape 23"/>
          <p:cNvSpPr/>
          <p:nvPr/>
        </p:nvSpPr>
        <p:spPr>
          <a:xfrm>
            <a:off x="4480560" y="27432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3E9F5"/>
          </a:solidFill>
          <a:ln/>
        </p:spPr>
      </p:sp>
      <p:sp>
        <p:nvSpPr>
          <p:cNvPr id="27" name="Shape 24"/>
          <p:cNvSpPr/>
          <p:nvPr/>
        </p:nvSpPr>
        <p:spPr>
          <a:xfrm>
            <a:off x="4617720" y="30175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461772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486400" y="28803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29016" y="32186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31" name="Shape 28"/>
          <p:cNvSpPr/>
          <p:nvPr/>
        </p:nvSpPr>
        <p:spPr>
          <a:xfrm>
            <a:off x="8412480" y="27432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F3E9F5"/>
          </a:solidFill>
          <a:ln/>
        </p:spPr>
      </p:sp>
      <p:sp>
        <p:nvSpPr>
          <p:cNvPr id="32" name="Shape 29"/>
          <p:cNvSpPr/>
          <p:nvPr/>
        </p:nvSpPr>
        <p:spPr>
          <a:xfrm>
            <a:off x="8549640" y="30175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83348F"/>
          </a:solidFill>
          <a:ln/>
        </p:spPr>
      </p:sp>
      <p:sp>
        <p:nvSpPr>
          <p:cNvPr id="33" name="Text 30"/>
          <p:cNvSpPr/>
          <p:nvPr/>
        </p:nvSpPr>
        <p:spPr>
          <a:xfrm>
            <a:off x="854964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418320" y="28803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corrective actions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41148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43891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4389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554480" y="4251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and validate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197096" y="45902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40" name="Shape 37"/>
          <p:cNvSpPr/>
          <p:nvPr/>
        </p:nvSpPr>
        <p:spPr>
          <a:xfrm>
            <a:off x="4480560" y="41148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41" name="Shape 38"/>
          <p:cNvSpPr/>
          <p:nvPr/>
        </p:nvSpPr>
        <p:spPr>
          <a:xfrm>
            <a:off x="4617720" y="43891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42" name="Text 39"/>
          <p:cNvSpPr/>
          <p:nvPr/>
        </p:nvSpPr>
        <p:spPr>
          <a:xfrm>
            <a:off x="4617720" y="4389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5486400" y="4251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recurrence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129016" y="4590288"/>
            <a:ext cx="201168" cy="201168"/>
          </a:xfrm>
          <a:prstGeom prst="rightArrow">
            <a:avLst/>
          </a:prstGeom>
          <a:solidFill>
            <a:srgbClr val="5B595A"/>
          </a:solidFill>
          <a:ln/>
        </p:spPr>
      </p:sp>
      <p:sp>
        <p:nvSpPr>
          <p:cNvPr id="45" name="Shape 42"/>
          <p:cNvSpPr/>
          <p:nvPr/>
        </p:nvSpPr>
        <p:spPr>
          <a:xfrm>
            <a:off x="8412480" y="4114800"/>
            <a:ext cx="3611880" cy="1143000"/>
          </a:xfrm>
          <a:prstGeom prst="roundRect">
            <a:avLst>
              <a:gd name="adj" fmla="val 5600"/>
            </a:avLst>
          </a:prstGeom>
          <a:solidFill>
            <a:srgbClr val="E5F5FD"/>
          </a:solidFill>
          <a:ln/>
        </p:spPr>
      </p:sp>
      <p:sp>
        <p:nvSpPr>
          <p:cNvPr id="46" name="Shape 43"/>
          <p:cNvSpPr/>
          <p:nvPr/>
        </p:nvSpPr>
        <p:spPr>
          <a:xfrm>
            <a:off x="8549640" y="4389120"/>
            <a:ext cx="777240" cy="548640"/>
          </a:xfrm>
          <a:prstGeom prst="roundRect">
            <a:avLst>
              <a:gd name="adj" fmla="val 11667"/>
            </a:avLst>
          </a:prstGeom>
          <a:solidFill>
            <a:srgbClr val="009FE3"/>
          </a:solidFill>
          <a:ln/>
        </p:spPr>
      </p:sp>
      <p:sp>
        <p:nvSpPr>
          <p:cNvPr id="47" name="Text 44"/>
          <p:cNvSpPr/>
          <p:nvPr/>
        </p:nvSpPr>
        <p:spPr>
          <a:xfrm>
            <a:off x="8549640" y="4389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9418320" y="42519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the team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8D: customer complaints and returns, safety-related failures, recurring problems that resisted simpler tools, and any nonconformance your customer asks you to formally answer. Many nuclear customers expect corrective action responses in exactly this structure.</a:t>
            </a:r>
            <a:endParaRPr lang="en-US" sz="1250" dirty="0"/>
          </a:p>
        </p:txBody>
      </p:sp>
      <p:sp>
        <p:nvSpPr>
          <p:cNvPr id="50" name="Rectangle 4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 in practice: D0 to D4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and contain before you cure.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2344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  Prepare and plan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2070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8D is justified: significant, complex or customer-facing. Record the symptom, when first reported, and any emergency action already taken.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83348F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148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 Form the team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21214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empowered, cross-functional. A leader with authority to act, plus people who know the process, the product and the data. Name them on the report.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063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 Describe the problem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30358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5W2H plus Is / Is Not: where it occurs and where it does not, when and when not. The sharper the description, the shorter the search for the cause.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9776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977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 Interim containment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39502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customer immediately: quarantine, sort, 100% inspection, certified stock only. Verify containment actually works, and track its cost: that cost justifies the cure.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892040"/>
            <a:ext cx="2651760" cy="777240"/>
          </a:xfrm>
          <a:prstGeom prst="roundRect">
            <a:avLst>
              <a:gd name="adj" fmla="val 8235"/>
            </a:avLst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48920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  Root cause analysis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91840" y="48646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5 Whys and the fishbone. Find both the cause of occurrence and the cause of escape (why detection missed it). Verify each with evidence.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let containment become the fix. Sorting and 100% inspection are a cost of failure, not a countermeasure.</a:t>
            </a:r>
            <a:endParaRPr lang="en-US" sz="1250" dirty="0"/>
          </a:p>
        </p:txBody>
      </p:sp>
      <p:sp>
        <p:nvSpPr>
          <p:cNvPr id="23" name="Rectangle 22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 in practice: D5 to D8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Cure, prevent and learn.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280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  Choose corrective actions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2801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permanent actions that remove the verified root causes. Prefer error proofing. Prove by trial that each action works and creates no new problems.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83348F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331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  Implement and validate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23317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actions in place, then measure: has the problem stopped at the customer and in-house? Only then remove the interim containment from D3.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3832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009FE3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3832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 Prevent recurrence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33832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SOPs (PE-06), control plans, FMEAs, PM schedules (PE-07) and training. Read across to similar parts, processes and sites: where else could this bite?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4348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4348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  Recognise the team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44348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report, capture the lessons, thank the team publicly. Recognition is what makes people volunteer for the next problem.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8D Report sheet in PE-04a walks through all nine disciplines with guidance beside every entry box, plus a sign-off section.</a:t>
            </a:r>
            <a:endParaRPr lang="en-US" sz="1250" dirty="0"/>
          </a:p>
        </p:txBody>
      </p:sp>
      <p:sp>
        <p:nvSpPr>
          <p:cNvPr id="20" name="Rectangle 1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tool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effort to the problem. Most problems need the simplest tool.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103120"/>
                <a:gridCol w="42976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4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problem, cause fairly obvious, raised day to 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3C Chart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line, visible at the workplace, closed in days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 unclear but the problem is contained to one 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Whys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cause-chain tracing with the people involved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 genuinely unknown, opinions differ, several factors possible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Fishbone + 5 Whys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team brainstorm, then trace the verified branch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issue or improvement project needing a managed story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page holds the analysis, plan and follow-up together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failure, customer complaint, or formal response 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9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59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Team-based, fully documented, customer-recognised format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Escalate, do not restart: a 3C that will not close becomes a 5 Whys; a 5 Whys that keeps branching becomes a fishbone; a fishbone on a customer issue becomes an 8D. The work done so far carries forward.</a:t>
            </a:r>
            <a:endParaRPr lang="en-US" sz="1250" dirty="0"/>
          </a:p>
        </p:txBody>
      </p:sp>
      <p:sp>
        <p:nvSpPr>
          <p:cNvPr id="20" name="Rectangle 1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countermeasures are equal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further down this list, the more your fix depends on people remembering.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8778240" cy="749808"/>
          </a:xfrm>
          <a:prstGeom prst="roundRect">
            <a:avLst>
              <a:gd name="adj" fmla="val 7317"/>
            </a:avLst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8016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Eliminate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46120" y="1280160"/>
            <a:ext cx="5852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failure opportunity entirely: redesign the part, remove the step, single bin per live revision.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16712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Error proof (poka-yoke)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246120" y="2167128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error physically impossible or immediately obvious: fixtures that only fit one way, interlocks, counters.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054096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83348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054096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Detect early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246120" y="3054096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it at the point of creation, not at final inspection: in-process checks, gauges at the machine, andon signals.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941064"/>
            <a:ext cx="6858000" cy="749808"/>
          </a:xfrm>
          <a:prstGeom prst="roundRect">
            <a:avLst>
              <a:gd name="adj" fmla="val 7317"/>
            </a:avLst>
          </a:prstGeom>
          <a:solidFill>
            <a:srgbClr val="83348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41064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Warn and standardise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246120" y="394106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controls, labels, updated SOPs and checklists. Useful, but relies on attention.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828032"/>
            <a:ext cx="6217920" cy="749808"/>
          </a:xfrm>
          <a:prstGeom prst="roundRect">
            <a:avLst>
              <a:gd name="adj" fmla="val 7317"/>
            </a:avLst>
          </a:prstGeom>
          <a:solidFill>
            <a:srgbClr val="5B595A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82803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Train and remind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246120" y="482803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Briefings and retraining. Necessary to support every fix above, but never sufficient alone.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92640" y="50109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standard countermeasure is 'operator briefed', expect the problem back. Aim at least one level higher every time.</a:t>
            </a:r>
            <a:endParaRPr lang="en-US" sz="1250" dirty="0"/>
          </a:p>
        </p:txBody>
      </p:sp>
      <p:sp>
        <p:nvSpPr>
          <p:cNvPr id="25" name="Rectangle 24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problem is not solved because an action is complete. It is solved when the result is confirmed.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effectiveness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190195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after the fix: did the reject rate, downtime or complaint actually stop? Compare against the target you set. Watch long enough to trust the trend.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19088" y="146304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6419088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Raiser confirms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73952" y="190195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 in PE-04a needs the person who raised the problem to agree it is gone. This protects against paper closures and builds trust in the system.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361188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70432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3232" y="405079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fix into SOPs (PE-06), control plans, PM schedules (PE-07) and training. An unstandardised fix lasts until the next staff change.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9088" y="361188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641908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31152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learning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73952" y="405079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across to similar processes, brief it at the communication board, log it as a lesson learned. One problem solved well can prevent ten.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in PE-04a tracks open items, ageing and confirmation status so nothing closes quietly.</a:t>
            </a:r>
            <a:endParaRPr lang="en-US" sz="1250" dirty="0"/>
          </a:p>
        </p:txBody>
      </p:sp>
      <p:sp>
        <p:nvSpPr>
          <p:cNvPr id="28" name="Rectangle 27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more in nuclear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problem-solving culture is part of your nuclear safety culture.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447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Nonconformance reporting (NCR)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customers expect every nonconformance to be reported, contained, root-caused and answered with evidence. Weak RCA in an NCR response damages credibility fast.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3E9F5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4447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and fraudulent items (CFSI)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46520" y="19202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 documentation or markings must trigger structured investigation, never a workaround. The Goods Inwards example in PE-04a shows the pattern: quarantine, investigate, fix the system gap.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E5F5F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639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questioning attitude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85800" y="41148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culture asks everyone to challenge anomalies and raise concerns. A no-blame problem-solving system is the practical machinery that makes a questioning attitude safe to have.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3474720"/>
            <a:ext cx="5486400" cy="2011680"/>
          </a:xfrm>
          <a:prstGeom prst="roundRect">
            <a:avLst>
              <a:gd name="adj" fmla="val 3182"/>
            </a:avLst>
          </a:prstGeom>
          <a:solidFill>
            <a:srgbClr val="F3E9F5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639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decision making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46520" y="41148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cause is uncertain, contain and investigate; never assume and ship. Documented RCA gives you the evidence base for sound, defensible decisions.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Nuclear Awareness category of the toolkit for full guidance on safety culture and CFSI.</a:t>
            </a:r>
            <a:endParaRPr lang="en-US" sz="1250" dirty="0"/>
          </a:p>
        </p:txBody>
      </p:sp>
      <p:sp>
        <p:nvSpPr>
          <p:cNvPr id="20" name="Rectangle 19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problem solving in daily life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sit in drawers. Routines change cultures.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6304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SQDCP meeting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190195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 day on the board gets a 3C entry before the meeting ends. The board surfaces the problem; the 3C makes someone own it. (See PE-03.)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28016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19088" y="146304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6419088" y="1453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1444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quality clinic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73952" y="190195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standing review of open problems: ageing items, repeat causes, stuck countermeasures. The Dashboard in PE-04a is the agenda.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E5F5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3611880"/>
            <a:ext cx="384048" cy="384048"/>
          </a:xfrm>
          <a:prstGeom prst="ellipse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70432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through doing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3232" y="405079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first 5 Whys and fishbones with a facilitator, on real problems. Record who has taken part in your skills matrix so coverage is visible.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486400" cy="1965960"/>
          </a:xfrm>
          <a:prstGeom prst="roundRect">
            <a:avLst>
              <a:gd name="adj" fmla="val 3256"/>
            </a:avLst>
          </a:prstGeom>
          <a:solidFill>
            <a:srgbClr val="F3E9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9088" y="3611880"/>
            <a:ext cx="384048" cy="384048"/>
          </a:xfrm>
          <a:prstGeom prst="ellipse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6419088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31152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safe to raise problems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73952" y="4050792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the raiser publicly. Track time-to-close, not number-raised. The moment raising a problem becomes a risk, the problems go underground.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rhythm over heroics: a steady flow of small problems solved beats an annual improvement blitz.</a:t>
            </a:r>
            <a:endParaRPr lang="en-US" sz="1250" dirty="0"/>
          </a:p>
        </p:txBody>
      </p:sp>
      <p:sp>
        <p:nvSpPr>
          <p:cNvPr id="28" name="Rectangle 27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getting started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is in PE-04a and PE-04b. Start this week.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360152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PE-07c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6035040" cy="4572000"/>
          </a:xfrm>
          <a:prstGeom prst="roundRect">
            <a:avLst>
              <a:gd name="adj" fmla="val 1400"/>
            </a:avLst>
          </a:prstGeom>
          <a:solidFill>
            <a:srgbClr val="E5F5F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habits of root cause thinking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1920240"/>
            <a:ext cx="5486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problem gets three responses: contain, root cause, prevent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problem with 5W2H, in facts and numbers, before analysing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and see: place, thing, people, data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tool to the problem: 3C, 5 Whys, Fishbone, A3, 8D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root cause with evidence before acting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countermeasures high on the hierarchy: error proof, do not remind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loop: confirm with the raiser, standardise, share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1234440"/>
            <a:ext cx="4965192" cy="4572000"/>
          </a:xfrm>
          <a:prstGeom prst="roundRect">
            <a:avLst>
              <a:gd name="adj" fmla="val 1400"/>
            </a:avLst>
          </a:prstGeom>
          <a:solidFill>
            <a:srgbClr val="F3E9F5"/>
          </a:solidFill>
          <a:ln/>
        </p:spPr>
      </p:sp>
      <p:sp>
        <p:nvSpPr>
          <p:cNvPr id="11" name="Text 8"/>
          <p:cNvSpPr/>
          <p:nvPr/>
        </p:nvSpPr>
        <p:spPr>
          <a:xfrm>
            <a:off x="6995160" y="1417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steps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1920240"/>
            <a:ext cx="4434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PE-04a and log your five most recent problems in the Problem Register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 3C chart up at one workplace and review it at the daily meeting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facilitated 5 Whys on a real, current problem with the team involved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recurring problem and run it as a fishbone workshop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Dashboard at your next management meeting and agree owners for anything ageing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the problem once, learn from it forever.</a:t>
            </a:r>
            <a:endParaRPr 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10561320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688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93C11D-0379-4F6F-9157-521CEB278DD6}"/>
</file>

<file path=customXml/itemProps2.xml><?xml version="1.0" encoding="utf-8"?>
<ds:datastoreItem xmlns:ds="http://schemas.openxmlformats.org/officeDocument/2006/customXml" ds:itemID="{87E2D420-8195-49A8-8BFB-BB0A9DD4D8DA}"/>
</file>

<file path=customXml/itemProps3.xml><?xml version="1.0" encoding="utf-8"?>
<ds:datastoreItem xmlns:ds="http://schemas.openxmlformats.org/officeDocument/2006/customXml" ds:itemID="{78BD63DA-6205-4877-894F-3CA97114849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PE-07c Training Guide Root Cause Analysis Methods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