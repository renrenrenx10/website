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Layouts/slideLayout1.xml" ContentType="application/vnd.openxmlformats-officedocument.presentationml.slideLayout+xml"/>
  <Override PartName="/ppt/theme/theme1.xml" ContentType="application/vnd.openxmlformats-officedocument.theme+xml"/>
  <Override PartName="/ppt/slides/slide1.xml" ContentType="application/vnd.openxmlformats-officedocument.presentationml.slide+xml"/>
  <Override PartName="/ppt/media/image-1-1.jpg" ContentType="image/jpg"/>
  <Override PartName="/ppt/notesSlides/notesSlide1.xml" ContentType="application/vnd.openxmlformats-officedocument.presentationml.notesSlide+xml"/>
  <Override PartName="/ppt/notesMasters/notesMaster1.xml" ContentType="application/vnd.openxmlformats-officedocument.presentationml.notesMaster+xml"/>
  <Override PartName="/ppt/slides/slide2.xml" ContentType="application/vnd.openxmlformats-officedocument.presentationml.slide+xml"/>
  <Override PartName="/ppt/media/image-2-1.jpg" ContentType="image/jpg"/>
  <Override PartName="/ppt/notesSlides/notesSlide2.xml" ContentType="application/vnd.openxmlformats-officedocument.presentationml.notesSlide+xml"/>
  <Override PartName="/ppt/slides/slide3.xml" ContentType="application/vnd.openxmlformats-officedocument.presentationml.slide+xml"/>
  <Override PartName="/ppt/media/image-3-1.jpg" ContentType="image/jpg"/>
  <Override PartName="/ppt/notesSlides/notesSlide3.xml" ContentType="application/vnd.openxmlformats-officedocument.presentationml.notesSlide+xml"/>
  <Override PartName="/ppt/slides/slide4.xml" ContentType="application/vnd.openxmlformats-officedocument.presentationml.slide+xml"/>
  <Override PartName="/ppt/media/image-4-1.jpg" ContentType="image/jpg"/>
  <Override PartName="/ppt/notesSlides/notesSlide4.xml" ContentType="application/vnd.openxmlformats-officedocument.presentationml.notes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officeDocument" Target="ppt/presentation.xml"/><Relationship Id="rId2" Type="http://schemas.openxmlformats.org/package/2006/relationships/metadata/core-properties" Target="docProps/core.xml"/><Relationship Id="rId1"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13" Type="http://schemas.openxmlformats.org/officeDocument/2006/relationships/customXml" Target="../customXml/item3.xml"/><Relationship Id="rId3" Type="http://schemas.openxmlformats.org/officeDocument/2006/relationships/slide" Target="slides/slide2.xml"/><Relationship Id="rId7" Type="http://schemas.openxmlformats.org/officeDocument/2006/relationships/presProps" Target="presProps.xml"/><Relationship Id="rId12" Type="http://schemas.openxmlformats.org/officeDocument/2006/relationships/customXml" Target="../customXml/item2.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customXml" Target="../customXml/item1.xml"/><Relationship Id="rId5" Type="http://schemas.openxmlformats.org/officeDocument/2006/relationships/slide" Target="slides/slide4.xml"/><Relationship Id="rId10"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 Id="rId4" Type="http://schemas.openxmlformats.org/officeDocument/2006/relationships/image" Target="../media/image1.png"/><Relationship Id="rId5"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 Id="rId4" Type="http://schemas.openxmlformats.org/officeDocument/2006/relationships/image" Target="../media/image1.png"/><Relationship Id="rId5"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 Id="rId4" Type="http://schemas.openxmlformats.org/officeDocument/2006/relationships/image" Target="../media/image1.png"/><Relationship Id="rId5"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 Id="rId4" Type="http://schemas.openxmlformats.org/officeDocument/2006/relationships/image" Target="../media/image1.png"/><Relationship Id="rId5"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home/claude/nuccol_logo.jpg">    </p:cNvPr>
          <p:cNvPicPr>
            <a:picLocks noChangeAspect="1"/>
          </p:cNvPicPr>
          <p:nvPr/>
        </p:nvPicPr>
        <p:blipFill>
          <a:blip r:embed="rId1"/>
          <a:stretch>
            <a:fillRect/>
          </a:stretch>
        </p:blipFill>
        <p:spPr>
          <a:xfrm>
            <a:off x="5093208" y="1005840"/>
            <a:ext cx="2011680" cy="1956816"/>
          </a:xfrm>
          <a:prstGeom prst="rect">
            <a:avLst/>
          </a:prstGeom>
        </p:spPr>
      </p:pic>
      <p:sp>
        <p:nvSpPr>
          <p:cNvPr id="3" name="Text 0"/>
          <p:cNvSpPr/>
          <p:nvPr/>
        </p:nvSpPr>
        <p:spPr>
          <a:xfrm>
            <a:off x="914400" y="3383280"/>
            <a:ext cx="10360152" cy="822960"/>
          </a:xfrm>
          <a:prstGeom prst="rect">
            <a:avLst/>
          </a:prstGeom>
          <a:noFill/>
          <a:ln/>
        </p:spPr>
        <p:txBody>
          <a:bodyPr wrap="square" rtlCol="0" anchor="ctr"/>
          <a:lstStyle/>
          <a:p>
            <a:pPr algn="ctr" indent="0" marL="0">
              <a:buNone/>
            </a:pPr>
            <a:r>
              <a:rPr lang="en-US" sz="4000" b="1" dirty="0">
                <a:solidFill>
                  <a:srgbClr val="009FE3"/>
                </a:solidFill>
                <a:latin typeface="Arial" pitchFamily="34" charset="0"/>
                <a:ea typeface="Arial" pitchFamily="34" charset="-122"/>
                <a:cs typeface="Arial" pitchFamily="34" charset="-120"/>
              </a:rPr>
              <a:t>A3 Problem-Solving Template</a:t>
            </a:r>
            <a:endParaRPr lang="en-US" sz="4000" dirty="0"/>
          </a:p>
        </p:txBody>
      </p:sp>
      <p:sp>
        <p:nvSpPr>
          <p:cNvPr id="4" name="Text 1"/>
          <p:cNvSpPr/>
          <p:nvPr/>
        </p:nvSpPr>
        <p:spPr>
          <a:xfrm>
            <a:off x="914400" y="4251960"/>
            <a:ext cx="10360152" cy="457200"/>
          </a:xfrm>
          <a:prstGeom prst="rect">
            <a:avLst/>
          </a:prstGeom>
          <a:noFill/>
          <a:ln/>
        </p:spPr>
        <p:txBody>
          <a:bodyPr wrap="square" rtlCol="0" anchor="ctr"/>
          <a:lstStyle/>
          <a:p>
            <a:pPr algn="ctr" indent="0" marL="0">
              <a:buNone/>
            </a:pPr>
            <a:r>
              <a:rPr lang="en-US" sz="1800" dirty="0">
                <a:solidFill>
                  <a:srgbClr val="83348F"/>
                </a:solidFill>
                <a:latin typeface="Arial" pitchFamily="34" charset="0"/>
                <a:ea typeface="Arial" pitchFamily="34" charset="-122"/>
                <a:cs typeface="Arial" pitchFamily="34" charset="-120"/>
              </a:rPr>
              <a:t>PE-07b  |  Process Excellence  |  Fit For Nuclear Toolkit</a:t>
            </a:r>
            <a:endParaRPr lang="en-US" sz="1800" dirty="0"/>
          </a:p>
        </p:txBody>
      </p:sp>
      <p:sp>
        <p:nvSpPr>
          <p:cNvPr id="5" name="Text 2"/>
          <p:cNvSpPr/>
          <p:nvPr/>
        </p:nvSpPr>
        <p:spPr>
          <a:xfrm>
            <a:off x="914400" y="4846320"/>
            <a:ext cx="10360152" cy="411480"/>
          </a:xfrm>
          <a:prstGeom prst="rect">
            <a:avLst/>
          </a:prstGeom>
          <a:noFill/>
          <a:ln/>
        </p:spPr>
        <p:txBody>
          <a:bodyPr wrap="square" rtlCol="0" anchor="ctr"/>
          <a:lstStyle/>
          <a:p>
            <a:pPr algn="ctr" indent="0" marL="0">
              <a:buNone/>
            </a:pPr>
            <a:r>
              <a:rPr lang="en-US" sz="1400" i="1" dirty="0">
                <a:solidFill>
                  <a:srgbClr val="5B595A"/>
                </a:solidFill>
                <a:latin typeface="Arial" pitchFamily="34" charset="0"/>
                <a:ea typeface="Arial" pitchFamily="34" charset="-122"/>
                <a:cs typeface="Arial" pitchFamily="34" charset="-120"/>
              </a:rPr>
              <a:t>One page. The whole story. Problem to confirmed countermeasure.</a:t>
            </a:r>
            <a:endParaRPr lang="en-US" sz="1400" dirty="0"/>
          </a:p>
        </p:txBody>
      </p:sp>
      <p:sp>
        <p:nvSpPr>
          <p:cNvPr id="6" name="Rectangle 5"/>
          <p:cNvSpPr/>
          <p:nvPr/>
        </p:nvSpPr>
        <p:spPr>
          <a:xfrm>
            <a:off x="10561320"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image.png"/>
          <p:cNvPicPr>
            <a:picLocks noChangeAspect="1"/>
          </p:cNvPicPr>
          <p:nvPr/>
        </p:nvPicPr>
        <p:blipFill>
          <a:blip r:embed="rId5"/>
          <a:stretch>
            <a:fillRect/>
          </a:stretch>
        </p:blipFill>
        <p:spPr>
          <a:xfrm>
            <a:off x="10607040" y="100584"/>
            <a:ext cx="566928" cy="347472"/>
          </a:xfrm>
          <a:prstGeom prst="rect">
            <a:avLst/>
          </a:prstGeom>
        </p:spPr>
      </p:pic>
      <p:pic>
        <p:nvPicPr>
          <p:cNvPr id="8" name="Picture 7" descr="image.png"/>
          <p:cNvPicPr>
            <a:picLocks noChangeAspect="1"/>
          </p:cNvPicPr>
          <p:nvPr/>
        </p:nvPicPr>
        <p:blipFill>
          <a:blip r:embed="rId4"/>
          <a:stretch>
            <a:fillRect/>
          </a:stretch>
        </p:blipFill>
        <p:spPr>
          <a:xfrm>
            <a:off x="11219688" y="100584"/>
            <a:ext cx="658368" cy="347472"/>
          </a:xfrm>
          <a:prstGeom prst="rect">
            <a:avLst/>
          </a:prstGeom>
        </p:spPr>
      </p:pic>
      <p:sp>
        <p:nvSpPr>
          <p:cNvPr id="9" name="Rectangle 8"/>
          <p:cNvSpPr/>
          <p:nvPr/>
        </p:nvSpPr>
        <p:spPr>
          <a:xfrm>
            <a:off x="0" y="6629400"/>
            <a:ext cx="12188952"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1</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164592"/>
            <a:ext cx="10607040" cy="548640"/>
          </a:xfrm>
          <a:prstGeom prst="rect">
            <a:avLst/>
          </a:prstGeom>
          <a:noFill/>
          <a:ln/>
        </p:spPr>
        <p:txBody>
          <a:bodyPr wrap="square" rtlCol="0" anchor="ctr"/>
          <a:lstStyle/>
          <a:p>
            <a:pPr indent="0" marL="0">
              <a:buNone/>
            </a:pPr>
            <a:r>
              <a:rPr lang="en-US" sz="2600" b="1" dirty="0">
                <a:solidFill>
                  <a:srgbClr val="83348F"/>
                </a:solidFill>
                <a:latin typeface="Arial" pitchFamily="34" charset="0"/>
                <a:ea typeface="Arial" pitchFamily="34" charset="-122"/>
                <a:cs typeface="Arial" pitchFamily="34" charset="-120"/>
              </a:rPr>
              <a:t>What is A3 thinking?</a:t>
            </a:r>
            <a:endParaRPr lang="en-US" sz="2600" dirty="0"/>
          </a:p>
        </p:txBody>
      </p:sp>
      <p:sp>
        <p:nvSpPr>
          <p:cNvPr id="5" name="Text 2"/>
          <p:cNvSpPr/>
          <p:nvPr/>
        </p:nvSpPr>
        <p:spPr>
          <a:xfrm>
            <a:off x="10725912" y="6510528"/>
            <a:ext cx="1005840" cy="274320"/>
          </a:xfrm>
          <a:prstGeom prst="rect">
            <a:avLst/>
          </a:prstGeom>
          <a:noFill/>
          <a:ln/>
        </p:spPr>
        <p:txBody>
          <a:bodyPr wrap="square" rtlCol="0" anchor="ctr"/>
          <a:lstStyle/>
          <a:p>
            <a:pPr algn="r" indent="0" marL="0">
              <a:buNone/>
            </a:pPr>
            <a:r>
              <a:rPr lang="en-US" sz="900" dirty="0">
                <a:solidFill>
                  <a:srgbClr val="5B595A"/>
                </a:solidFill>
                <a:latin typeface="Arial" pitchFamily="34" charset="0"/>
                <a:ea typeface="Arial" pitchFamily="34" charset="-122"/>
                <a:cs typeface="Arial" pitchFamily="34" charset="-120"/>
              </a:rPr>
              <a:t>PE-07b</a:t>
            </a:r>
            <a:endParaRPr lang="en-US" sz="900" dirty="0"/>
          </a:p>
        </p:txBody>
      </p:sp>
      <p:sp>
        <p:nvSpPr>
          <p:cNvPr id="6" name="Text 3"/>
          <p:cNvSpPr/>
          <p:nvPr/>
        </p:nvSpPr>
        <p:spPr>
          <a:xfrm>
            <a:off x="457200" y="1005840"/>
            <a:ext cx="5303520" cy="4206240"/>
          </a:xfrm>
          <a:prstGeom prst="rect">
            <a:avLst/>
          </a:prstGeom>
          <a:noFill/>
          <a:ln/>
        </p:spPr>
        <p:txBody>
          <a:bodyPr wrap="square" rtlCol="0" anchor="t"/>
          <a:lstStyle/>
          <a:p>
            <a:pPr indent="0" marL="0">
              <a:lnSpc>
                <a:spcPts val="2000"/>
              </a:lnSpc>
              <a:buNone/>
            </a:pPr>
            <a:r>
              <a:rPr lang="en-US" sz="1400" dirty="0">
                <a:solidFill>
                  <a:srgbClr val="5B595A"/>
                </a:solidFill>
                <a:latin typeface="Arial" pitchFamily="34" charset="0"/>
                <a:ea typeface="Arial" pitchFamily="34" charset="-122"/>
                <a:cs typeface="Arial" pitchFamily="34" charset="-120"/>
              </a:rPr>
              <a:t>The A3 is a one-page problem-solving story, named after the paper size it was designed to fit. It forces clarity: if the problem, analysis and plan cannot be told on one page, the thinking is not yet finished.
</a:t>
            </a:r>
            <a:pPr indent="0" marL="0">
              <a:lnSpc>
                <a:spcPts val="2000"/>
              </a:lnSpc>
              <a:buNone/>
            </a:pPr>
            <a:r>
              <a:rPr lang="en-US" sz="1400" dirty="0">
                <a:solidFill>
                  <a:srgbClr val="5B595A"/>
                </a:solidFill>
                <a:latin typeface="Arial" pitchFamily="34" charset="0"/>
                <a:ea typeface="Arial" pitchFamily="34" charset="-122"/>
                <a:cs typeface="Arial" pitchFamily="34" charset="-120"/>
              </a:rPr>
              <a:t>It is not a form to fill in. It is a conversation tool: the owner builds it section by section, reviews it with the team and their manager, and updates it as understanding grows.
</a:t>
            </a:r>
            <a:pPr indent="0" marL="0">
              <a:lnSpc>
                <a:spcPts val="2000"/>
              </a:lnSpc>
              <a:buNone/>
            </a:pPr>
            <a:r>
              <a:rPr lang="en-US" sz="1400" dirty="0">
                <a:solidFill>
                  <a:srgbClr val="5B595A"/>
                </a:solidFill>
                <a:latin typeface="Arial" pitchFamily="34" charset="0"/>
                <a:ea typeface="Arial" pitchFamily="34" charset="-122"/>
                <a:cs typeface="Arial" pitchFamily="34" charset="-120"/>
              </a:rPr>
              <a:t>Use the A3 when a problem deserves more than a 3C entry but a full 8D would be heavyweight: recurring issues, cross-functional problems, and improvement projects.</a:t>
            </a:r>
            <a:endParaRPr lang="en-US" sz="1400" dirty="0"/>
          </a:p>
        </p:txBody>
      </p:sp>
      <p:sp>
        <p:nvSpPr>
          <p:cNvPr id="7" name="Text 4"/>
          <p:cNvSpPr/>
          <p:nvPr/>
        </p:nvSpPr>
        <p:spPr>
          <a:xfrm>
            <a:off x="6126480" y="1005840"/>
            <a:ext cx="5486400" cy="365760"/>
          </a:xfrm>
          <a:prstGeom prst="rect">
            <a:avLst/>
          </a:prstGeom>
          <a:noFill/>
          <a:ln/>
        </p:spPr>
        <p:txBody>
          <a:bodyPr wrap="square" rtlCol="0" anchor="ctr"/>
          <a:lstStyle/>
          <a:p>
            <a:pPr indent="0" marL="0">
              <a:buNone/>
            </a:pPr>
            <a:r>
              <a:rPr lang="en-US" sz="1600" b="1" dirty="0">
                <a:solidFill>
                  <a:srgbClr val="009FE3"/>
                </a:solidFill>
                <a:latin typeface="Arial" pitchFamily="34" charset="0"/>
                <a:ea typeface="Arial" pitchFamily="34" charset="-122"/>
                <a:cs typeface="Arial" pitchFamily="34" charset="-120"/>
              </a:rPr>
              <a:t>The A3 is PDCA on a page</a:t>
            </a:r>
            <a:endParaRPr lang="en-US" sz="1600" dirty="0"/>
          </a:p>
        </p:txBody>
      </p:sp>
      <p:sp>
        <p:nvSpPr>
          <p:cNvPr id="8" name="Shape 5"/>
          <p:cNvSpPr/>
          <p:nvPr/>
        </p:nvSpPr>
        <p:spPr>
          <a:xfrm>
            <a:off x="6126480" y="1554480"/>
            <a:ext cx="1371600" cy="914400"/>
          </a:xfrm>
          <a:prstGeom prst="roundRect">
            <a:avLst>
              <a:gd name="adj" fmla="val 8000"/>
            </a:avLst>
          </a:prstGeom>
          <a:solidFill>
            <a:srgbClr val="009FE3"/>
          </a:solidFill>
          <a:ln/>
        </p:spPr>
      </p:sp>
      <p:sp>
        <p:nvSpPr>
          <p:cNvPr id="9" name="Text 6"/>
          <p:cNvSpPr/>
          <p:nvPr/>
        </p:nvSpPr>
        <p:spPr>
          <a:xfrm>
            <a:off x="6126480" y="1554480"/>
            <a:ext cx="1371600" cy="9144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PLAN</a:t>
            </a:r>
            <a:endParaRPr lang="en-US" sz="1500" dirty="0"/>
          </a:p>
        </p:txBody>
      </p:sp>
      <p:sp>
        <p:nvSpPr>
          <p:cNvPr id="10" name="Shape 7"/>
          <p:cNvSpPr/>
          <p:nvPr/>
        </p:nvSpPr>
        <p:spPr>
          <a:xfrm>
            <a:off x="7635240" y="1554480"/>
            <a:ext cx="4023360" cy="914400"/>
          </a:xfrm>
          <a:prstGeom prst="roundRect">
            <a:avLst>
              <a:gd name="adj" fmla="val 8000"/>
            </a:avLst>
          </a:prstGeom>
          <a:solidFill>
            <a:srgbClr val="E5F5FD"/>
          </a:solidFill>
          <a:ln/>
        </p:spPr>
      </p:sp>
      <p:sp>
        <p:nvSpPr>
          <p:cNvPr id="11" name="Text 8"/>
          <p:cNvSpPr/>
          <p:nvPr/>
        </p:nvSpPr>
        <p:spPr>
          <a:xfrm>
            <a:off x="7726680" y="1554480"/>
            <a:ext cx="3840480" cy="914400"/>
          </a:xfrm>
          <a:prstGeom prst="rect">
            <a:avLst/>
          </a:prstGeom>
          <a:noFill/>
          <a:ln/>
        </p:spPr>
        <p:txBody>
          <a:bodyPr wrap="square" rtlCol="0" anchor="ctr"/>
          <a:lstStyle/>
          <a:p>
            <a:pPr indent="0" marL="0">
              <a:buNone/>
            </a:pPr>
            <a:r>
              <a:rPr lang="en-US" sz="1150" dirty="0">
                <a:solidFill>
                  <a:srgbClr val="5B595A"/>
                </a:solidFill>
                <a:latin typeface="Arial" pitchFamily="34" charset="0"/>
                <a:ea typeface="Arial" pitchFamily="34" charset="-122"/>
                <a:cs typeface="Arial" pitchFamily="34" charset="-120"/>
              </a:rPr>
              <a:t>Sections 1 to 4: background, current condition, target, root cause</a:t>
            </a:r>
            <a:endParaRPr lang="en-US" sz="1150" dirty="0"/>
          </a:p>
        </p:txBody>
      </p:sp>
      <p:sp>
        <p:nvSpPr>
          <p:cNvPr id="12" name="Shape 9"/>
          <p:cNvSpPr/>
          <p:nvPr/>
        </p:nvSpPr>
        <p:spPr>
          <a:xfrm>
            <a:off x="6126480" y="2633472"/>
            <a:ext cx="1371600" cy="914400"/>
          </a:xfrm>
          <a:prstGeom prst="roundRect">
            <a:avLst>
              <a:gd name="adj" fmla="val 8000"/>
            </a:avLst>
          </a:prstGeom>
          <a:solidFill>
            <a:srgbClr val="83348F"/>
          </a:solidFill>
          <a:ln/>
        </p:spPr>
      </p:sp>
      <p:sp>
        <p:nvSpPr>
          <p:cNvPr id="13" name="Text 10"/>
          <p:cNvSpPr/>
          <p:nvPr/>
        </p:nvSpPr>
        <p:spPr>
          <a:xfrm>
            <a:off x="6126480" y="2633472"/>
            <a:ext cx="1371600" cy="9144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DO</a:t>
            </a:r>
            <a:endParaRPr lang="en-US" sz="1500" dirty="0"/>
          </a:p>
        </p:txBody>
      </p:sp>
      <p:sp>
        <p:nvSpPr>
          <p:cNvPr id="14" name="Shape 11"/>
          <p:cNvSpPr/>
          <p:nvPr/>
        </p:nvSpPr>
        <p:spPr>
          <a:xfrm>
            <a:off x="7635240" y="2633472"/>
            <a:ext cx="4023360" cy="914400"/>
          </a:xfrm>
          <a:prstGeom prst="roundRect">
            <a:avLst>
              <a:gd name="adj" fmla="val 8000"/>
            </a:avLst>
          </a:prstGeom>
          <a:solidFill>
            <a:srgbClr val="F3E9F5"/>
          </a:solidFill>
          <a:ln/>
        </p:spPr>
      </p:sp>
      <p:sp>
        <p:nvSpPr>
          <p:cNvPr id="15" name="Text 12"/>
          <p:cNvSpPr/>
          <p:nvPr/>
        </p:nvSpPr>
        <p:spPr>
          <a:xfrm>
            <a:off x="7726680" y="2633472"/>
            <a:ext cx="3840480" cy="914400"/>
          </a:xfrm>
          <a:prstGeom prst="rect">
            <a:avLst/>
          </a:prstGeom>
          <a:noFill/>
          <a:ln/>
        </p:spPr>
        <p:txBody>
          <a:bodyPr wrap="square" rtlCol="0" anchor="ctr"/>
          <a:lstStyle/>
          <a:p>
            <a:pPr indent="0" marL="0">
              <a:buNone/>
            </a:pPr>
            <a:r>
              <a:rPr lang="en-US" sz="1150" dirty="0">
                <a:solidFill>
                  <a:srgbClr val="5B595A"/>
                </a:solidFill>
                <a:latin typeface="Arial" pitchFamily="34" charset="0"/>
                <a:ea typeface="Arial" pitchFamily="34" charset="-122"/>
                <a:cs typeface="Arial" pitchFamily="34" charset="-120"/>
              </a:rPr>
              <a:t>Section 5 and 6: countermeasures and implementation plan</a:t>
            </a:r>
            <a:endParaRPr lang="en-US" sz="1150" dirty="0"/>
          </a:p>
        </p:txBody>
      </p:sp>
      <p:sp>
        <p:nvSpPr>
          <p:cNvPr id="16" name="Shape 13"/>
          <p:cNvSpPr/>
          <p:nvPr/>
        </p:nvSpPr>
        <p:spPr>
          <a:xfrm>
            <a:off x="6126480" y="3712464"/>
            <a:ext cx="1371600" cy="914400"/>
          </a:xfrm>
          <a:prstGeom prst="roundRect">
            <a:avLst>
              <a:gd name="adj" fmla="val 8000"/>
            </a:avLst>
          </a:prstGeom>
          <a:solidFill>
            <a:srgbClr val="009FE3"/>
          </a:solidFill>
          <a:ln/>
        </p:spPr>
      </p:sp>
      <p:sp>
        <p:nvSpPr>
          <p:cNvPr id="17" name="Text 14"/>
          <p:cNvSpPr/>
          <p:nvPr/>
        </p:nvSpPr>
        <p:spPr>
          <a:xfrm>
            <a:off x="6126480" y="3712464"/>
            <a:ext cx="1371600" cy="9144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CHECK</a:t>
            </a:r>
            <a:endParaRPr lang="en-US" sz="1500" dirty="0"/>
          </a:p>
        </p:txBody>
      </p:sp>
      <p:sp>
        <p:nvSpPr>
          <p:cNvPr id="18" name="Shape 15"/>
          <p:cNvSpPr/>
          <p:nvPr/>
        </p:nvSpPr>
        <p:spPr>
          <a:xfrm>
            <a:off x="7635240" y="3712464"/>
            <a:ext cx="4023360" cy="914400"/>
          </a:xfrm>
          <a:prstGeom prst="roundRect">
            <a:avLst>
              <a:gd name="adj" fmla="val 8000"/>
            </a:avLst>
          </a:prstGeom>
          <a:solidFill>
            <a:srgbClr val="E5F5FD"/>
          </a:solidFill>
          <a:ln/>
        </p:spPr>
      </p:sp>
      <p:sp>
        <p:nvSpPr>
          <p:cNvPr id="19" name="Text 16"/>
          <p:cNvSpPr/>
          <p:nvPr/>
        </p:nvSpPr>
        <p:spPr>
          <a:xfrm>
            <a:off x="7726680" y="3712464"/>
            <a:ext cx="3840480" cy="914400"/>
          </a:xfrm>
          <a:prstGeom prst="rect">
            <a:avLst/>
          </a:prstGeom>
          <a:noFill/>
          <a:ln/>
        </p:spPr>
        <p:txBody>
          <a:bodyPr wrap="square" rtlCol="0" anchor="ctr"/>
          <a:lstStyle/>
          <a:p>
            <a:pPr indent="0" marL="0">
              <a:buNone/>
            </a:pPr>
            <a:r>
              <a:rPr lang="en-US" sz="1150" dirty="0">
                <a:solidFill>
                  <a:srgbClr val="5B595A"/>
                </a:solidFill>
                <a:latin typeface="Arial" pitchFamily="34" charset="0"/>
                <a:ea typeface="Arial" pitchFamily="34" charset="-122"/>
                <a:cs typeface="Arial" pitchFamily="34" charset="-120"/>
              </a:rPr>
              <a:t>Section 7: follow up, measure results against the target</a:t>
            </a:r>
            <a:endParaRPr lang="en-US" sz="1150" dirty="0"/>
          </a:p>
        </p:txBody>
      </p:sp>
      <p:sp>
        <p:nvSpPr>
          <p:cNvPr id="20" name="Shape 17"/>
          <p:cNvSpPr/>
          <p:nvPr/>
        </p:nvSpPr>
        <p:spPr>
          <a:xfrm>
            <a:off x="6126480" y="4791456"/>
            <a:ext cx="1371600" cy="914400"/>
          </a:xfrm>
          <a:prstGeom prst="roundRect">
            <a:avLst>
              <a:gd name="adj" fmla="val 8000"/>
            </a:avLst>
          </a:prstGeom>
          <a:solidFill>
            <a:srgbClr val="83348F"/>
          </a:solidFill>
          <a:ln/>
        </p:spPr>
      </p:sp>
      <p:sp>
        <p:nvSpPr>
          <p:cNvPr id="21" name="Text 18"/>
          <p:cNvSpPr/>
          <p:nvPr/>
        </p:nvSpPr>
        <p:spPr>
          <a:xfrm>
            <a:off x="6126480" y="4791456"/>
            <a:ext cx="1371600" cy="914400"/>
          </a:xfrm>
          <a:prstGeom prst="rect">
            <a:avLst/>
          </a:prstGeom>
          <a:noFill/>
          <a:ln/>
        </p:spPr>
        <p:txBody>
          <a:bodyPr wrap="square"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ACT</a:t>
            </a:r>
            <a:endParaRPr lang="en-US" sz="1500" dirty="0"/>
          </a:p>
        </p:txBody>
      </p:sp>
      <p:sp>
        <p:nvSpPr>
          <p:cNvPr id="22" name="Shape 19"/>
          <p:cNvSpPr/>
          <p:nvPr/>
        </p:nvSpPr>
        <p:spPr>
          <a:xfrm>
            <a:off x="7635240" y="4791456"/>
            <a:ext cx="4023360" cy="914400"/>
          </a:xfrm>
          <a:prstGeom prst="roundRect">
            <a:avLst>
              <a:gd name="adj" fmla="val 8000"/>
            </a:avLst>
          </a:prstGeom>
          <a:solidFill>
            <a:srgbClr val="F3E9F5"/>
          </a:solidFill>
          <a:ln/>
        </p:spPr>
      </p:sp>
      <p:sp>
        <p:nvSpPr>
          <p:cNvPr id="23" name="Text 20"/>
          <p:cNvSpPr/>
          <p:nvPr/>
        </p:nvSpPr>
        <p:spPr>
          <a:xfrm>
            <a:off x="7726680" y="4791456"/>
            <a:ext cx="3840480" cy="914400"/>
          </a:xfrm>
          <a:prstGeom prst="rect">
            <a:avLst/>
          </a:prstGeom>
          <a:noFill/>
          <a:ln/>
        </p:spPr>
        <p:txBody>
          <a:bodyPr wrap="square" rtlCol="0" anchor="ctr"/>
          <a:lstStyle/>
          <a:p>
            <a:pPr indent="0" marL="0">
              <a:buNone/>
            </a:pPr>
            <a:r>
              <a:rPr lang="en-US" sz="1150" dirty="0">
                <a:solidFill>
                  <a:srgbClr val="5B595A"/>
                </a:solidFill>
                <a:latin typeface="Arial" pitchFamily="34" charset="0"/>
                <a:ea typeface="Arial" pitchFamily="34" charset="-122"/>
                <a:cs typeface="Arial" pitchFamily="34" charset="-120"/>
              </a:rPr>
              <a:t>Standardise what works into SOPs, share the learning</a:t>
            </a:r>
            <a:endParaRPr lang="en-US" sz="1150" dirty="0"/>
          </a:p>
        </p:txBody>
      </p:sp>
      <p:sp>
        <p:nvSpPr>
          <p:cNvPr id="24" name="Text 21"/>
          <p:cNvSpPr/>
          <p:nvPr/>
        </p:nvSpPr>
        <p:spPr>
          <a:xfrm>
            <a:off x="457200" y="5623560"/>
            <a:ext cx="11155680" cy="640080"/>
          </a:xfrm>
          <a:prstGeom prst="rect">
            <a:avLst/>
          </a:prstGeom>
          <a:noFill/>
          <a:ln/>
        </p:spPr>
        <p:txBody>
          <a:bodyPr wrap="square" rtlCol="0" anchor="ctr"/>
          <a:lstStyle/>
          <a:p>
            <a:pPr indent="0" marL="0">
              <a:buNone/>
            </a:pPr>
            <a:r>
              <a:rPr lang="en-US" sz="1200" i="1" dirty="0">
                <a:solidFill>
                  <a:srgbClr val="83348F"/>
                </a:solidFill>
                <a:latin typeface="Arial" pitchFamily="34" charset="0"/>
                <a:ea typeface="Arial" pitchFamily="34" charset="-122"/>
                <a:cs typeface="Arial" pitchFamily="34" charset="-120"/>
              </a:rPr>
              <a:t>Rule of thumb: spend most of your effort on the left side of the A3. A weak grasp of the problem makes every countermeasure a guess.</a:t>
            </a:r>
            <a:endParaRPr lang="en-US" sz="1200" dirty="0"/>
          </a:p>
        </p:txBody>
      </p:sp>
      <p:sp>
        <p:nvSpPr>
          <p:cNvPr id="25" name="Rectangle 24"/>
          <p:cNvSpPr/>
          <p:nvPr/>
        </p:nvSpPr>
        <p:spPr>
          <a:xfrm>
            <a:off x="10561320"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26" name="Picture 25" descr="image.png"/>
          <p:cNvPicPr>
            <a:picLocks noChangeAspect="1"/>
          </p:cNvPicPr>
          <p:nvPr/>
        </p:nvPicPr>
        <p:blipFill>
          <a:blip r:embed="rId5"/>
          <a:stretch>
            <a:fillRect/>
          </a:stretch>
        </p:blipFill>
        <p:spPr>
          <a:xfrm>
            <a:off x="10607040" y="100584"/>
            <a:ext cx="566928" cy="347472"/>
          </a:xfrm>
          <a:prstGeom prst="rect">
            <a:avLst/>
          </a:prstGeom>
        </p:spPr>
      </p:pic>
      <p:pic>
        <p:nvPicPr>
          <p:cNvPr id="27" name="Picture 26" descr="image.png"/>
          <p:cNvPicPr>
            <a:picLocks noChangeAspect="1"/>
          </p:cNvPicPr>
          <p:nvPr/>
        </p:nvPicPr>
        <p:blipFill>
          <a:blip r:embed="rId4"/>
          <a:stretch>
            <a:fillRect/>
          </a:stretch>
        </p:blipFill>
        <p:spPr>
          <a:xfrm>
            <a:off x="11219688" y="100584"/>
            <a:ext cx="658368" cy="347472"/>
          </a:xfrm>
          <a:prstGeom prst="rect">
            <a:avLst/>
          </a:prstGeom>
        </p:spPr>
      </p:pic>
      <p:sp>
        <p:nvSpPr>
          <p:cNvPr id="28" name="Rectangle 27"/>
          <p:cNvSpPr/>
          <p:nvPr/>
        </p:nvSpPr>
        <p:spPr>
          <a:xfrm>
            <a:off x="0" y="6629400"/>
            <a:ext cx="12188952"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2</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164592"/>
            <a:ext cx="10607040" cy="548640"/>
          </a:xfrm>
          <a:prstGeom prst="rect">
            <a:avLst/>
          </a:prstGeom>
          <a:noFill/>
          <a:ln/>
        </p:spPr>
        <p:txBody>
          <a:bodyPr wrap="square" rtlCol="0" anchor="ctr"/>
          <a:lstStyle/>
          <a:p>
            <a:pPr indent="0" marL="0">
              <a:buNone/>
            </a:pPr>
            <a:r>
              <a:rPr lang="en-US" sz="2600" b="1" dirty="0">
                <a:solidFill>
                  <a:srgbClr val="83348F"/>
                </a:solidFill>
                <a:latin typeface="Arial" pitchFamily="34" charset="0"/>
                <a:ea typeface="Arial" pitchFamily="34" charset="-122"/>
                <a:cs typeface="Arial" pitchFamily="34" charset="-120"/>
              </a:rPr>
              <a:t>A3 template</a:t>
            </a:r>
            <a:endParaRPr lang="en-US" sz="2600" dirty="0"/>
          </a:p>
        </p:txBody>
      </p:sp>
      <p:sp>
        <p:nvSpPr>
          <p:cNvPr id="5" name="Text 2"/>
          <p:cNvSpPr/>
          <p:nvPr/>
        </p:nvSpPr>
        <p:spPr>
          <a:xfrm>
            <a:off x="10725912" y="6510528"/>
            <a:ext cx="1005840" cy="274320"/>
          </a:xfrm>
          <a:prstGeom prst="rect">
            <a:avLst/>
          </a:prstGeom>
          <a:noFill/>
          <a:ln/>
        </p:spPr>
        <p:txBody>
          <a:bodyPr wrap="square" rtlCol="0" anchor="ctr"/>
          <a:lstStyle/>
          <a:p>
            <a:pPr algn="r" indent="0" marL="0">
              <a:buNone/>
            </a:pPr>
            <a:r>
              <a:rPr lang="en-US" sz="900" dirty="0">
                <a:solidFill>
                  <a:srgbClr val="5B595A"/>
                </a:solidFill>
                <a:latin typeface="Arial" pitchFamily="34" charset="0"/>
                <a:ea typeface="Arial" pitchFamily="34" charset="-122"/>
                <a:cs typeface="Arial" pitchFamily="34" charset="-120"/>
              </a:rPr>
              <a:t>PE-07b</a:t>
            </a:r>
            <a:endParaRPr lang="en-US" sz="900" dirty="0"/>
          </a:p>
        </p:txBody>
      </p:sp>
      <p:sp>
        <p:nvSpPr>
          <p:cNvPr id="6" name="Text 3"/>
          <p:cNvSpPr/>
          <p:nvPr/>
        </p:nvSpPr>
        <p:spPr>
          <a:xfrm>
            <a:off x="457200" y="786384"/>
            <a:ext cx="10698480" cy="27432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Title:                                                        Owner:                              Date:                      Status:</a:t>
            </a:r>
            <a:endParaRPr lang="en-US" sz="1100" dirty="0"/>
          </a:p>
        </p:txBody>
      </p:sp>
      <p:sp>
        <p:nvSpPr>
          <p:cNvPr id="7" name="Shape 4"/>
          <p:cNvSpPr/>
          <p:nvPr/>
        </p:nvSpPr>
        <p:spPr>
          <a:xfrm>
            <a:off x="457200" y="1143000"/>
            <a:ext cx="5532120" cy="868680"/>
          </a:xfrm>
          <a:prstGeom prst="rect">
            <a:avLst/>
          </a:prstGeom>
          <a:solidFill>
            <a:srgbClr val="FFFFFF"/>
          </a:solidFill>
          <a:ln w="15875">
            <a:solidFill>
              <a:srgbClr val="009FE3"/>
            </a:solidFill>
            <a:prstDash val="solid"/>
          </a:ln>
        </p:spPr>
      </p:sp>
      <p:sp>
        <p:nvSpPr>
          <p:cNvPr id="8" name="Shape 5"/>
          <p:cNvSpPr/>
          <p:nvPr/>
        </p:nvSpPr>
        <p:spPr>
          <a:xfrm>
            <a:off x="457200" y="1143000"/>
            <a:ext cx="5532120" cy="292608"/>
          </a:xfrm>
          <a:prstGeom prst="rect">
            <a:avLst/>
          </a:prstGeom>
          <a:solidFill>
            <a:srgbClr val="009FE3"/>
          </a:solidFill>
          <a:ln/>
        </p:spPr>
      </p:sp>
      <p:sp>
        <p:nvSpPr>
          <p:cNvPr id="9" name="Text 6"/>
          <p:cNvSpPr/>
          <p:nvPr/>
        </p:nvSpPr>
        <p:spPr>
          <a:xfrm>
            <a:off x="512064" y="114300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1. Background</a:t>
            </a:r>
            <a:endParaRPr lang="en-US" sz="1100" dirty="0"/>
          </a:p>
        </p:txBody>
      </p:sp>
      <p:sp>
        <p:nvSpPr>
          <p:cNvPr id="10" name="Text 7"/>
          <p:cNvSpPr/>
          <p:nvPr/>
        </p:nvSpPr>
        <p:spPr>
          <a:xfrm>
            <a:off x="530352" y="1472184"/>
            <a:ext cx="5385816" cy="484632"/>
          </a:xfrm>
          <a:prstGeom prst="rect">
            <a:avLst/>
          </a:prstGeom>
          <a:noFill/>
          <a:ln/>
        </p:spPr>
        <p:txBody>
          <a:bodyPr wrap="square" rtlCol="0" anchor="t"/>
          <a:lstStyle/>
          <a:p>
            <a:pPr indent="0" marL="0">
              <a:lnSpc>
                <a:spcPts val="1200"/>
              </a:lnSpc>
              <a:buNone/>
            </a:pPr>
            <a:r>
              <a:rPr lang="en-US" sz="950" i="1" dirty="0">
                <a:solidFill>
                  <a:srgbClr val="9AA0A6"/>
                </a:solidFill>
                <a:latin typeface="Arial" pitchFamily="34" charset="0"/>
                <a:ea typeface="Arial" pitchFamily="34" charset="-122"/>
                <a:cs typeface="Arial" pitchFamily="34" charset="-120"/>
              </a:rPr>
              <a:t>Why does this problem matter? Link to safety, quality, delivery, cost or the CSIP. One or two sentences.</a:t>
            </a:r>
            <a:endParaRPr lang="en-US" sz="950" dirty="0"/>
          </a:p>
        </p:txBody>
      </p:sp>
      <p:sp>
        <p:nvSpPr>
          <p:cNvPr id="11" name="Shape 8"/>
          <p:cNvSpPr/>
          <p:nvPr/>
        </p:nvSpPr>
        <p:spPr>
          <a:xfrm>
            <a:off x="457200" y="2103120"/>
            <a:ext cx="5532120" cy="1417320"/>
          </a:xfrm>
          <a:prstGeom prst="rect">
            <a:avLst/>
          </a:prstGeom>
          <a:solidFill>
            <a:srgbClr val="FFFFFF"/>
          </a:solidFill>
          <a:ln w="15875">
            <a:solidFill>
              <a:srgbClr val="009FE3"/>
            </a:solidFill>
            <a:prstDash val="solid"/>
          </a:ln>
        </p:spPr>
      </p:sp>
      <p:sp>
        <p:nvSpPr>
          <p:cNvPr id="12" name="Shape 9"/>
          <p:cNvSpPr/>
          <p:nvPr/>
        </p:nvSpPr>
        <p:spPr>
          <a:xfrm>
            <a:off x="457200" y="2103120"/>
            <a:ext cx="5532120" cy="292608"/>
          </a:xfrm>
          <a:prstGeom prst="rect">
            <a:avLst/>
          </a:prstGeom>
          <a:solidFill>
            <a:srgbClr val="009FE3"/>
          </a:solidFill>
          <a:ln/>
        </p:spPr>
      </p:sp>
      <p:sp>
        <p:nvSpPr>
          <p:cNvPr id="13" name="Text 10"/>
          <p:cNvSpPr/>
          <p:nvPr/>
        </p:nvSpPr>
        <p:spPr>
          <a:xfrm>
            <a:off x="512064" y="210312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2. Current condition</a:t>
            </a:r>
            <a:endParaRPr lang="en-US" sz="1100" dirty="0"/>
          </a:p>
        </p:txBody>
      </p:sp>
      <p:sp>
        <p:nvSpPr>
          <p:cNvPr id="14" name="Text 11"/>
          <p:cNvSpPr/>
          <p:nvPr/>
        </p:nvSpPr>
        <p:spPr>
          <a:xfrm>
            <a:off x="530352" y="2432304"/>
            <a:ext cx="5385816" cy="1033272"/>
          </a:xfrm>
          <a:prstGeom prst="rect">
            <a:avLst/>
          </a:prstGeom>
          <a:noFill/>
          <a:ln/>
        </p:spPr>
        <p:txBody>
          <a:bodyPr wrap="square" rtlCol="0" anchor="t"/>
          <a:lstStyle/>
          <a:p>
            <a:pPr indent="0" marL="0">
              <a:lnSpc>
                <a:spcPts val="1200"/>
              </a:lnSpc>
              <a:buNone/>
            </a:pPr>
            <a:r>
              <a:rPr lang="en-US" sz="950" i="1" dirty="0">
                <a:solidFill>
                  <a:srgbClr val="9AA0A6"/>
                </a:solidFill>
                <a:latin typeface="Arial" pitchFamily="34" charset="0"/>
                <a:ea typeface="Arial" pitchFamily="34" charset="-122"/>
                <a:cs typeface="Arial" pitchFamily="34" charset="-120"/>
              </a:rPr>
              <a:t>What is actually happening? Go and see. Show the facts: data, sketch of the process, where the problem appears, how often, how big. No causes yet, just evidence.</a:t>
            </a:r>
            <a:endParaRPr lang="en-US" sz="950" dirty="0"/>
          </a:p>
        </p:txBody>
      </p:sp>
      <p:sp>
        <p:nvSpPr>
          <p:cNvPr id="15" name="Shape 12"/>
          <p:cNvSpPr/>
          <p:nvPr/>
        </p:nvSpPr>
        <p:spPr>
          <a:xfrm>
            <a:off x="457200" y="3611880"/>
            <a:ext cx="5532120" cy="777240"/>
          </a:xfrm>
          <a:prstGeom prst="rect">
            <a:avLst/>
          </a:prstGeom>
          <a:solidFill>
            <a:srgbClr val="FFFFFF"/>
          </a:solidFill>
          <a:ln w="15875">
            <a:solidFill>
              <a:srgbClr val="009FE3"/>
            </a:solidFill>
            <a:prstDash val="solid"/>
          </a:ln>
        </p:spPr>
      </p:sp>
      <p:sp>
        <p:nvSpPr>
          <p:cNvPr id="16" name="Shape 13"/>
          <p:cNvSpPr/>
          <p:nvPr/>
        </p:nvSpPr>
        <p:spPr>
          <a:xfrm>
            <a:off x="457200" y="3611880"/>
            <a:ext cx="5532120" cy="292608"/>
          </a:xfrm>
          <a:prstGeom prst="rect">
            <a:avLst/>
          </a:prstGeom>
          <a:solidFill>
            <a:srgbClr val="009FE3"/>
          </a:solidFill>
          <a:ln/>
        </p:spPr>
      </p:sp>
      <p:sp>
        <p:nvSpPr>
          <p:cNvPr id="17" name="Text 14"/>
          <p:cNvSpPr/>
          <p:nvPr/>
        </p:nvSpPr>
        <p:spPr>
          <a:xfrm>
            <a:off x="512064" y="361188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3. Target condition / goal</a:t>
            </a:r>
            <a:endParaRPr lang="en-US" sz="1100" dirty="0"/>
          </a:p>
        </p:txBody>
      </p:sp>
      <p:sp>
        <p:nvSpPr>
          <p:cNvPr id="18" name="Text 15"/>
          <p:cNvSpPr/>
          <p:nvPr/>
        </p:nvSpPr>
        <p:spPr>
          <a:xfrm>
            <a:off x="530352" y="3941064"/>
            <a:ext cx="5385816" cy="393192"/>
          </a:xfrm>
          <a:prstGeom prst="rect">
            <a:avLst/>
          </a:prstGeom>
          <a:noFill/>
          <a:ln/>
        </p:spPr>
        <p:txBody>
          <a:bodyPr wrap="square" rtlCol="0" anchor="t"/>
          <a:lstStyle/>
          <a:p>
            <a:pPr indent="0" marL="0">
              <a:lnSpc>
                <a:spcPts val="1200"/>
              </a:lnSpc>
              <a:buNone/>
            </a:pPr>
            <a:r>
              <a:rPr lang="en-US" sz="950" i="1" dirty="0">
                <a:solidFill>
                  <a:srgbClr val="9AA0A6"/>
                </a:solidFill>
                <a:latin typeface="Arial" pitchFamily="34" charset="0"/>
                <a:ea typeface="Arial" pitchFamily="34" charset="-122"/>
                <a:cs typeface="Arial" pitchFamily="34" charset="-120"/>
              </a:rPr>
              <a:t>What does good look like, by when? Make it measurable: from X to Y by date.</a:t>
            </a:r>
            <a:endParaRPr lang="en-US" sz="950" dirty="0"/>
          </a:p>
        </p:txBody>
      </p:sp>
      <p:sp>
        <p:nvSpPr>
          <p:cNvPr id="19" name="Shape 16"/>
          <p:cNvSpPr/>
          <p:nvPr/>
        </p:nvSpPr>
        <p:spPr>
          <a:xfrm>
            <a:off x="457200" y="4480560"/>
            <a:ext cx="5532120" cy="1783080"/>
          </a:xfrm>
          <a:prstGeom prst="rect">
            <a:avLst/>
          </a:prstGeom>
          <a:solidFill>
            <a:srgbClr val="FFFFFF"/>
          </a:solidFill>
          <a:ln w="15875">
            <a:solidFill>
              <a:srgbClr val="009FE3"/>
            </a:solidFill>
            <a:prstDash val="solid"/>
          </a:ln>
        </p:spPr>
      </p:sp>
      <p:sp>
        <p:nvSpPr>
          <p:cNvPr id="20" name="Shape 17"/>
          <p:cNvSpPr/>
          <p:nvPr/>
        </p:nvSpPr>
        <p:spPr>
          <a:xfrm>
            <a:off x="457200" y="4480560"/>
            <a:ext cx="5532120" cy="292608"/>
          </a:xfrm>
          <a:prstGeom prst="rect">
            <a:avLst/>
          </a:prstGeom>
          <a:solidFill>
            <a:srgbClr val="009FE3"/>
          </a:solidFill>
          <a:ln/>
        </p:spPr>
      </p:sp>
      <p:sp>
        <p:nvSpPr>
          <p:cNvPr id="21" name="Text 18"/>
          <p:cNvSpPr/>
          <p:nvPr/>
        </p:nvSpPr>
        <p:spPr>
          <a:xfrm>
            <a:off x="512064" y="448056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4. Root cause analysis</a:t>
            </a:r>
            <a:endParaRPr lang="en-US" sz="1100" dirty="0"/>
          </a:p>
        </p:txBody>
      </p:sp>
      <p:sp>
        <p:nvSpPr>
          <p:cNvPr id="22" name="Text 19"/>
          <p:cNvSpPr/>
          <p:nvPr/>
        </p:nvSpPr>
        <p:spPr>
          <a:xfrm>
            <a:off x="530352" y="4809744"/>
            <a:ext cx="5385816" cy="1399032"/>
          </a:xfrm>
          <a:prstGeom prst="rect">
            <a:avLst/>
          </a:prstGeom>
          <a:noFill/>
          <a:ln/>
        </p:spPr>
        <p:txBody>
          <a:bodyPr wrap="square" rtlCol="0" anchor="t"/>
          <a:lstStyle/>
          <a:p>
            <a:pPr indent="0" marL="0">
              <a:lnSpc>
                <a:spcPts val="1200"/>
              </a:lnSpc>
              <a:buNone/>
            </a:pPr>
            <a:r>
              <a:rPr lang="en-US" sz="950" i="1" dirty="0">
                <a:solidFill>
                  <a:srgbClr val="9AA0A6"/>
                </a:solidFill>
                <a:latin typeface="Arial" pitchFamily="34" charset="0"/>
                <a:ea typeface="Arial" pitchFamily="34" charset="-122"/>
                <a:cs typeface="Arial" pitchFamily="34" charset="-120"/>
              </a:rPr>
              <a:t>Why does the gap exist? Use 5 Whys or a fishbone (PE-04a). Show the cause chain and the evidence that verifies the root cause. Stopping at a symptom here wastes the right side of the page.</a:t>
            </a:r>
            <a:endParaRPr lang="en-US" sz="950" dirty="0"/>
          </a:p>
        </p:txBody>
      </p:sp>
      <p:sp>
        <p:nvSpPr>
          <p:cNvPr id="23" name="Shape 20"/>
          <p:cNvSpPr/>
          <p:nvPr/>
        </p:nvSpPr>
        <p:spPr>
          <a:xfrm>
            <a:off x="6199632" y="1143000"/>
            <a:ext cx="5532120" cy="1417320"/>
          </a:xfrm>
          <a:prstGeom prst="rect">
            <a:avLst/>
          </a:prstGeom>
          <a:solidFill>
            <a:srgbClr val="FFFFFF"/>
          </a:solidFill>
          <a:ln w="15875">
            <a:solidFill>
              <a:srgbClr val="83348F"/>
            </a:solidFill>
            <a:prstDash val="solid"/>
          </a:ln>
        </p:spPr>
      </p:sp>
      <p:sp>
        <p:nvSpPr>
          <p:cNvPr id="24" name="Shape 21"/>
          <p:cNvSpPr/>
          <p:nvPr/>
        </p:nvSpPr>
        <p:spPr>
          <a:xfrm>
            <a:off x="6199632" y="1143000"/>
            <a:ext cx="5532120" cy="292608"/>
          </a:xfrm>
          <a:prstGeom prst="rect">
            <a:avLst/>
          </a:prstGeom>
          <a:solidFill>
            <a:srgbClr val="83348F"/>
          </a:solidFill>
          <a:ln/>
        </p:spPr>
      </p:sp>
      <p:sp>
        <p:nvSpPr>
          <p:cNvPr id="25" name="Text 22"/>
          <p:cNvSpPr/>
          <p:nvPr/>
        </p:nvSpPr>
        <p:spPr>
          <a:xfrm>
            <a:off x="6254496" y="114300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5. Countermeasures</a:t>
            </a:r>
            <a:endParaRPr lang="en-US" sz="1100" dirty="0"/>
          </a:p>
        </p:txBody>
      </p:sp>
      <p:sp>
        <p:nvSpPr>
          <p:cNvPr id="26" name="Text 23"/>
          <p:cNvSpPr/>
          <p:nvPr/>
        </p:nvSpPr>
        <p:spPr>
          <a:xfrm>
            <a:off x="6272784" y="1472184"/>
            <a:ext cx="5385816" cy="1033272"/>
          </a:xfrm>
          <a:prstGeom prst="rect">
            <a:avLst/>
          </a:prstGeom>
          <a:noFill/>
          <a:ln/>
        </p:spPr>
        <p:txBody>
          <a:bodyPr wrap="square" rtlCol="0" anchor="t"/>
          <a:lstStyle/>
          <a:p>
            <a:pPr indent="0" marL="0">
              <a:lnSpc>
                <a:spcPts val="1200"/>
              </a:lnSpc>
              <a:buNone/>
            </a:pPr>
            <a:r>
              <a:rPr lang="en-US" sz="950" i="1" dirty="0">
                <a:solidFill>
                  <a:srgbClr val="9AA0A6"/>
                </a:solidFill>
                <a:latin typeface="Arial" pitchFamily="34" charset="0"/>
                <a:ea typeface="Arial" pitchFamily="34" charset="-122"/>
                <a:cs typeface="Arial" pitchFamily="34" charset="-120"/>
              </a:rPr>
              <a:t>What will remove the verified root cause? Prefer error proofing over reminders. For each countermeasure: what, who, expected effect.</a:t>
            </a:r>
            <a:endParaRPr lang="en-US" sz="950" dirty="0"/>
          </a:p>
        </p:txBody>
      </p:sp>
      <p:sp>
        <p:nvSpPr>
          <p:cNvPr id="27" name="Shape 24"/>
          <p:cNvSpPr/>
          <p:nvPr/>
        </p:nvSpPr>
        <p:spPr>
          <a:xfrm>
            <a:off x="6199632" y="2651760"/>
            <a:ext cx="5532120" cy="1783080"/>
          </a:xfrm>
          <a:prstGeom prst="rect">
            <a:avLst/>
          </a:prstGeom>
          <a:solidFill>
            <a:srgbClr val="FFFFFF"/>
          </a:solidFill>
          <a:ln w="15875">
            <a:solidFill>
              <a:srgbClr val="83348F"/>
            </a:solidFill>
            <a:prstDash val="solid"/>
          </a:ln>
        </p:spPr>
      </p:sp>
      <p:sp>
        <p:nvSpPr>
          <p:cNvPr id="28" name="Shape 25"/>
          <p:cNvSpPr/>
          <p:nvPr/>
        </p:nvSpPr>
        <p:spPr>
          <a:xfrm>
            <a:off x="6199632" y="2651760"/>
            <a:ext cx="5532120" cy="292608"/>
          </a:xfrm>
          <a:prstGeom prst="rect">
            <a:avLst/>
          </a:prstGeom>
          <a:solidFill>
            <a:srgbClr val="83348F"/>
          </a:solidFill>
          <a:ln/>
        </p:spPr>
      </p:sp>
      <p:sp>
        <p:nvSpPr>
          <p:cNvPr id="29" name="Text 26"/>
          <p:cNvSpPr/>
          <p:nvPr/>
        </p:nvSpPr>
        <p:spPr>
          <a:xfrm>
            <a:off x="6254496" y="265176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6. Implementation plan</a:t>
            </a:r>
            <a:endParaRPr lang="en-US" sz="1100" dirty="0"/>
          </a:p>
        </p:txBody>
      </p:sp>
      <p:sp>
        <p:nvSpPr>
          <p:cNvPr id="30" name="Text 27"/>
          <p:cNvSpPr/>
          <p:nvPr/>
        </p:nvSpPr>
        <p:spPr>
          <a:xfrm>
            <a:off x="6272784" y="2980944"/>
            <a:ext cx="5385816" cy="1399032"/>
          </a:xfrm>
          <a:prstGeom prst="rect">
            <a:avLst/>
          </a:prstGeom>
          <a:noFill/>
          <a:ln/>
        </p:spPr>
        <p:txBody>
          <a:bodyPr wrap="square" rtlCol="0" anchor="t"/>
          <a:lstStyle/>
          <a:p>
            <a:pPr indent="0" marL="0">
              <a:lnSpc>
                <a:spcPts val="1200"/>
              </a:lnSpc>
              <a:buNone/>
            </a:pPr>
            <a:r>
              <a:rPr lang="en-US" sz="950" i="1" dirty="0">
                <a:solidFill>
                  <a:srgbClr val="9AA0A6"/>
                </a:solidFill>
                <a:latin typeface="Arial" pitchFamily="34" charset="0"/>
                <a:ea typeface="Arial" pitchFamily="34" charset="-122"/>
                <a:cs typeface="Arial" pitchFamily="34" charset="-120"/>
              </a:rPr>
              <a:t>Actions, owners, dates. Small table: action / who / when / done. Include how the change will be communicated and trained.</a:t>
            </a:r>
            <a:endParaRPr lang="en-US" sz="950" dirty="0"/>
          </a:p>
        </p:txBody>
      </p:sp>
      <p:sp>
        <p:nvSpPr>
          <p:cNvPr id="31" name="Shape 28"/>
          <p:cNvSpPr/>
          <p:nvPr/>
        </p:nvSpPr>
        <p:spPr>
          <a:xfrm>
            <a:off x="6199632" y="4526280"/>
            <a:ext cx="5532120" cy="1737360"/>
          </a:xfrm>
          <a:prstGeom prst="rect">
            <a:avLst/>
          </a:prstGeom>
          <a:solidFill>
            <a:srgbClr val="FFFFFF"/>
          </a:solidFill>
          <a:ln w="15875">
            <a:solidFill>
              <a:srgbClr val="83348F"/>
            </a:solidFill>
            <a:prstDash val="solid"/>
          </a:ln>
        </p:spPr>
      </p:sp>
      <p:sp>
        <p:nvSpPr>
          <p:cNvPr id="32" name="Shape 29"/>
          <p:cNvSpPr/>
          <p:nvPr/>
        </p:nvSpPr>
        <p:spPr>
          <a:xfrm>
            <a:off x="6199632" y="4526280"/>
            <a:ext cx="5532120" cy="292608"/>
          </a:xfrm>
          <a:prstGeom prst="rect">
            <a:avLst/>
          </a:prstGeom>
          <a:solidFill>
            <a:srgbClr val="83348F"/>
          </a:solidFill>
          <a:ln/>
        </p:spPr>
      </p:sp>
      <p:sp>
        <p:nvSpPr>
          <p:cNvPr id="33" name="Text 30"/>
          <p:cNvSpPr/>
          <p:nvPr/>
        </p:nvSpPr>
        <p:spPr>
          <a:xfrm>
            <a:off x="6254496" y="452628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7. Follow-up and confirmation</a:t>
            </a:r>
            <a:endParaRPr lang="en-US" sz="1100" dirty="0"/>
          </a:p>
        </p:txBody>
      </p:sp>
      <p:sp>
        <p:nvSpPr>
          <p:cNvPr id="34" name="Text 31"/>
          <p:cNvSpPr/>
          <p:nvPr/>
        </p:nvSpPr>
        <p:spPr>
          <a:xfrm>
            <a:off x="6272784" y="4855464"/>
            <a:ext cx="5385816" cy="1353312"/>
          </a:xfrm>
          <a:prstGeom prst="rect">
            <a:avLst/>
          </a:prstGeom>
          <a:noFill/>
          <a:ln/>
        </p:spPr>
        <p:txBody>
          <a:bodyPr wrap="square" rtlCol="0" anchor="t"/>
          <a:lstStyle/>
          <a:p>
            <a:pPr indent="0" marL="0">
              <a:lnSpc>
                <a:spcPts val="1200"/>
              </a:lnSpc>
              <a:buNone/>
            </a:pPr>
            <a:r>
              <a:rPr lang="en-US" sz="950" i="1" dirty="0">
                <a:solidFill>
                  <a:srgbClr val="9AA0A6"/>
                </a:solidFill>
                <a:latin typeface="Arial" pitchFamily="34" charset="0"/>
                <a:ea typeface="Arial" pitchFamily="34" charset="-122"/>
                <a:cs typeface="Arial" pitchFamily="34" charset="-120"/>
              </a:rPr>
              <a:t>How and when will results be checked against the target in section 3? What did we measure? Confirmed by whom? What will be standardised into SOPs, and what learning is shared across the business?</a:t>
            </a:r>
            <a:endParaRPr lang="en-US" sz="950" dirty="0"/>
          </a:p>
        </p:txBody>
      </p:sp>
      <p:sp>
        <p:nvSpPr>
          <p:cNvPr id="35" name="Rectangle 34"/>
          <p:cNvSpPr/>
          <p:nvPr/>
        </p:nvSpPr>
        <p:spPr>
          <a:xfrm>
            <a:off x="10561320"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5"/>
          <a:stretch>
            <a:fillRect/>
          </a:stretch>
        </p:blipFill>
        <p:spPr>
          <a:xfrm>
            <a:off x="10607040" y="100584"/>
            <a:ext cx="566928" cy="347472"/>
          </a:xfrm>
          <a:prstGeom prst="rect">
            <a:avLst/>
          </a:prstGeom>
        </p:spPr>
      </p:pic>
      <p:pic>
        <p:nvPicPr>
          <p:cNvPr id="37" name="Picture 36" descr="image.png"/>
          <p:cNvPicPr>
            <a:picLocks noChangeAspect="1"/>
          </p:cNvPicPr>
          <p:nvPr/>
        </p:nvPicPr>
        <p:blipFill>
          <a:blip r:embed="rId4"/>
          <a:stretch>
            <a:fillRect/>
          </a:stretch>
        </p:blipFill>
        <p:spPr>
          <a:xfrm>
            <a:off x="11219688" y="100584"/>
            <a:ext cx="658368" cy="347472"/>
          </a:xfrm>
          <a:prstGeom prst="rect">
            <a:avLst/>
          </a:prstGeom>
        </p:spPr>
      </p:pic>
      <p:sp>
        <p:nvSpPr>
          <p:cNvPr id="38" name="Rectangle 37"/>
          <p:cNvSpPr/>
          <p:nvPr/>
        </p:nvSpPr>
        <p:spPr>
          <a:xfrm>
            <a:off x="0" y="6629400"/>
            <a:ext cx="12188952"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3</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457200" y="164592"/>
            <a:ext cx="10607040" cy="548640"/>
          </a:xfrm>
          <a:prstGeom prst="rect">
            <a:avLst/>
          </a:prstGeom>
          <a:noFill/>
          <a:ln/>
        </p:spPr>
        <p:txBody>
          <a:bodyPr wrap="square" rtlCol="0" anchor="ctr"/>
          <a:lstStyle/>
          <a:p>
            <a:pPr indent="0" marL="0">
              <a:buNone/>
            </a:pPr>
            <a:r>
              <a:rPr lang="en-US" sz="2600" b="1" dirty="0">
                <a:solidFill>
                  <a:srgbClr val="83348F"/>
                </a:solidFill>
                <a:latin typeface="Arial" pitchFamily="34" charset="0"/>
                <a:ea typeface="Arial" pitchFamily="34" charset="-122"/>
                <a:cs typeface="Arial" pitchFamily="34" charset="-120"/>
              </a:rPr>
              <a:t>A3 worked example</a:t>
            </a:r>
            <a:endParaRPr lang="en-US" sz="2600" dirty="0"/>
          </a:p>
        </p:txBody>
      </p:sp>
      <p:sp>
        <p:nvSpPr>
          <p:cNvPr id="5" name="Text 2"/>
          <p:cNvSpPr/>
          <p:nvPr/>
        </p:nvSpPr>
        <p:spPr>
          <a:xfrm>
            <a:off x="10725912" y="6510528"/>
            <a:ext cx="1005840" cy="274320"/>
          </a:xfrm>
          <a:prstGeom prst="rect">
            <a:avLst/>
          </a:prstGeom>
          <a:noFill/>
          <a:ln/>
        </p:spPr>
        <p:txBody>
          <a:bodyPr wrap="square" rtlCol="0" anchor="ctr"/>
          <a:lstStyle/>
          <a:p>
            <a:pPr algn="r" indent="0" marL="0">
              <a:buNone/>
            </a:pPr>
            <a:r>
              <a:rPr lang="en-US" sz="900" dirty="0">
                <a:solidFill>
                  <a:srgbClr val="5B595A"/>
                </a:solidFill>
                <a:latin typeface="Arial" pitchFamily="34" charset="0"/>
                <a:ea typeface="Arial" pitchFamily="34" charset="-122"/>
                <a:cs typeface="Arial" pitchFamily="34" charset="-120"/>
              </a:rPr>
              <a:t>PE-07b</a:t>
            </a:r>
            <a:endParaRPr lang="en-US" sz="900" dirty="0"/>
          </a:p>
        </p:txBody>
      </p:sp>
      <p:sp>
        <p:nvSpPr>
          <p:cNvPr id="6" name="Text 3"/>
          <p:cNvSpPr/>
          <p:nvPr/>
        </p:nvSpPr>
        <p:spPr>
          <a:xfrm>
            <a:off x="457200" y="786384"/>
            <a:ext cx="11155680" cy="274320"/>
          </a:xfrm>
          <a:prstGeom prst="rect">
            <a:avLst/>
          </a:prstGeom>
          <a:noFill/>
          <a:ln/>
        </p:spPr>
        <p:txBody>
          <a:bodyPr wrap="square" rtlCol="0" anchor="ctr"/>
          <a:lstStyle/>
          <a:p>
            <a:pPr indent="0" marL="0">
              <a:buNone/>
            </a:pPr>
            <a:r>
              <a:rPr lang="en-US" sz="1100" b="1" dirty="0">
                <a:solidFill>
                  <a:srgbClr val="5B595A"/>
                </a:solidFill>
                <a:latin typeface="Arial" pitchFamily="34" charset="0"/>
                <a:ea typeface="Arial" pitchFamily="34" charset="-122"/>
                <a:cs typeface="Arial" pitchFamily="34" charset="-120"/>
              </a:rPr>
              <a:t>Title: Reduce final inspection bore rejects, CNC Cell 2     Owner: S. Patel     Date: 06 Jan 2026     Status: Closed</a:t>
            </a:r>
            <a:endParaRPr lang="en-US" sz="1100" dirty="0"/>
          </a:p>
        </p:txBody>
      </p:sp>
      <p:sp>
        <p:nvSpPr>
          <p:cNvPr id="7" name="Shape 4"/>
          <p:cNvSpPr/>
          <p:nvPr/>
        </p:nvSpPr>
        <p:spPr>
          <a:xfrm>
            <a:off x="457200" y="1143000"/>
            <a:ext cx="5532120" cy="868680"/>
          </a:xfrm>
          <a:prstGeom prst="rect">
            <a:avLst/>
          </a:prstGeom>
          <a:solidFill>
            <a:srgbClr val="FFFFFF"/>
          </a:solidFill>
          <a:ln w="15875">
            <a:solidFill>
              <a:srgbClr val="009FE3"/>
            </a:solidFill>
            <a:prstDash val="solid"/>
          </a:ln>
        </p:spPr>
      </p:sp>
      <p:sp>
        <p:nvSpPr>
          <p:cNvPr id="8" name="Shape 5"/>
          <p:cNvSpPr/>
          <p:nvPr/>
        </p:nvSpPr>
        <p:spPr>
          <a:xfrm>
            <a:off x="457200" y="1143000"/>
            <a:ext cx="5532120" cy="292608"/>
          </a:xfrm>
          <a:prstGeom prst="rect">
            <a:avLst/>
          </a:prstGeom>
          <a:solidFill>
            <a:srgbClr val="009FE3"/>
          </a:solidFill>
          <a:ln/>
        </p:spPr>
      </p:sp>
      <p:sp>
        <p:nvSpPr>
          <p:cNvPr id="9" name="Text 6"/>
          <p:cNvSpPr/>
          <p:nvPr/>
        </p:nvSpPr>
        <p:spPr>
          <a:xfrm>
            <a:off x="512064" y="114300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1. Background</a:t>
            </a:r>
            <a:endParaRPr lang="en-US" sz="1100" dirty="0"/>
          </a:p>
        </p:txBody>
      </p:sp>
      <p:sp>
        <p:nvSpPr>
          <p:cNvPr id="10" name="Text 7"/>
          <p:cNvSpPr/>
          <p:nvPr/>
        </p:nvSpPr>
        <p:spPr>
          <a:xfrm>
            <a:off x="530352" y="1472184"/>
            <a:ext cx="5385816" cy="484632"/>
          </a:xfrm>
          <a:prstGeom prst="rect">
            <a:avLst/>
          </a:prstGeom>
          <a:noFill/>
          <a:ln/>
        </p:spPr>
        <p:txBody>
          <a:bodyPr wrap="square" rtlCol="0" anchor="t"/>
          <a:lstStyle/>
          <a:p>
            <a:pPr indent="0" marL="0">
              <a:lnSpc>
                <a:spcPts val="1200"/>
              </a:lnSpc>
              <a:buNone/>
            </a:pPr>
            <a:r>
              <a:rPr lang="en-US" sz="950" dirty="0">
                <a:solidFill>
                  <a:srgbClr val="5B595A"/>
                </a:solidFill>
                <a:latin typeface="Arial" pitchFamily="34" charset="0"/>
                <a:ea typeface="Arial" pitchFamily="34" charset="-122"/>
                <a:cs typeface="Arial" pitchFamily="34" charset="-120"/>
              </a:rPr>
              <a:t>Bore diameter rejects on flange housings risk delivery to a nuclear customer and add inspection cost. Quality is a CSIP priority for 2026.</a:t>
            </a:r>
            <a:endParaRPr lang="en-US" sz="950" dirty="0"/>
          </a:p>
        </p:txBody>
      </p:sp>
      <p:sp>
        <p:nvSpPr>
          <p:cNvPr id="11" name="Shape 8"/>
          <p:cNvSpPr/>
          <p:nvPr/>
        </p:nvSpPr>
        <p:spPr>
          <a:xfrm>
            <a:off x="457200" y="2103120"/>
            <a:ext cx="5532120" cy="1417320"/>
          </a:xfrm>
          <a:prstGeom prst="rect">
            <a:avLst/>
          </a:prstGeom>
          <a:solidFill>
            <a:srgbClr val="FFFFFF"/>
          </a:solidFill>
          <a:ln w="15875">
            <a:solidFill>
              <a:srgbClr val="009FE3"/>
            </a:solidFill>
            <a:prstDash val="solid"/>
          </a:ln>
        </p:spPr>
      </p:sp>
      <p:sp>
        <p:nvSpPr>
          <p:cNvPr id="12" name="Shape 9"/>
          <p:cNvSpPr/>
          <p:nvPr/>
        </p:nvSpPr>
        <p:spPr>
          <a:xfrm>
            <a:off x="457200" y="2103120"/>
            <a:ext cx="5532120" cy="292608"/>
          </a:xfrm>
          <a:prstGeom prst="rect">
            <a:avLst/>
          </a:prstGeom>
          <a:solidFill>
            <a:srgbClr val="009FE3"/>
          </a:solidFill>
          <a:ln/>
        </p:spPr>
      </p:sp>
      <p:sp>
        <p:nvSpPr>
          <p:cNvPr id="13" name="Text 10"/>
          <p:cNvSpPr/>
          <p:nvPr/>
        </p:nvSpPr>
        <p:spPr>
          <a:xfrm>
            <a:off x="512064" y="210312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2. Current condition</a:t>
            </a:r>
            <a:endParaRPr lang="en-US" sz="1100" dirty="0"/>
          </a:p>
        </p:txBody>
      </p:sp>
      <p:sp>
        <p:nvSpPr>
          <p:cNvPr id="14" name="Text 11"/>
          <p:cNvSpPr/>
          <p:nvPr/>
        </p:nvSpPr>
        <p:spPr>
          <a:xfrm>
            <a:off x="530352" y="2432304"/>
            <a:ext cx="5385816" cy="1033272"/>
          </a:xfrm>
          <a:prstGeom prst="rect">
            <a:avLst/>
          </a:prstGeom>
          <a:noFill/>
          <a:ln/>
        </p:spPr>
        <p:txBody>
          <a:bodyPr wrap="square" rtlCol="0" anchor="t"/>
          <a:lstStyle/>
          <a:p>
            <a:pPr indent="0" marL="0">
              <a:lnSpc>
                <a:spcPts val="1200"/>
              </a:lnSpc>
              <a:buNone/>
            </a:pPr>
            <a:r>
              <a:rPr lang="en-US" sz="950" dirty="0">
                <a:solidFill>
                  <a:srgbClr val="5B595A"/>
                </a:solidFill>
                <a:latin typeface="Arial" pitchFamily="34" charset="0"/>
                <a:ea typeface="Arial" pitchFamily="34" charset="-122"/>
                <a:cs typeface="Arial" pitchFamily="34" charset="-120"/>
              </a:rPr>
              <a:t>3 of 25 parts rejected on 06 Jan, bore 0.04 mm oversize. Reject trend: 5 incidents in 12 weeks, all on harder material batches, all found at final inspection, none in-process. Cost so far: 14 hours rework and one delayed shipment.</a:t>
            </a:r>
            <a:endParaRPr lang="en-US" sz="950" dirty="0"/>
          </a:p>
        </p:txBody>
      </p:sp>
      <p:sp>
        <p:nvSpPr>
          <p:cNvPr id="15" name="Shape 12"/>
          <p:cNvSpPr/>
          <p:nvPr/>
        </p:nvSpPr>
        <p:spPr>
          <a:xfrm>
            <a:off x="457200" y="3611880"/>
            <a:ext cx="5532120" cy="777240"/>
          </a:xfrm>
          <a:prstGeom prst="rect">
            <a:avLst/>
          </a:prstGeom>
          <a:solidFill>
            <a:srgbClr val="FFFFFF"/>
          </a:solidFill>
          <a:ln w="15875">
            <a:solidFill>
              <a:srgbClr val="009FE3"/>
            </a:solidFill>
            <a:prstDash val="solid"/>
          </a:ln>
        </p:spPr>
      </p:sp>
      <p:sp>
        <p:nvSpPr>
          <p:cNvPr id="16" name="Shape 13"/>
          <p:cNvSpPr/>
          <p:nvPr/>
        </p:nvSpPr>
        <p:spPr>
          <a:xfrm>
            <a:off x="457200" y="3611880"/>
            <a:ext cx="5532120" cy="292608"/>
          </a:xfrm>
          <a:prstGeom prst="rect">
            <a:avLst/>
          </a:prstGeom>
          <a:solidFill>
            <a:srgbClr val="009FE3"/>
          </a:solidFill>
          <a:ln/>
        </p:spPr>
      </p:sp>
      <p:sp>
        <p:nvSpPr>
          <p:cNvPr id="17" name="Text 14"/>
          <p:cNvSpPr/>
          <p:nvPr/>
        </p:nvSpPr>
        <p:spPr>
          <a:xfrm>
            <a:off x="512064" y="361188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3. Target condition / goal</a:t>
            </a:r>
            <a:endParaRPr lang="en-US" sz="1100" dirty="0"/>
          </a:p>
        </p:txBody>
      </p:sp>
      <p:sp>
        <p:nvSpPr>
          <p:cNvPr id="18" name="Text 15"/>
          <p:cNvSpPr/>
          <p:nvPr/>
        </p:nvSpPr>
        <p:spPr>
          <a:xfrm>
            <a:off x="530352" y="3941064"/>
            <a:ext cx="5385816" cy="393192"/>
          </a:xfrm>
          <a:prstGeom prst="rect">
            <a:avLst/>
          </a:prstGeom>
          <a:noFill/>
          <a:ln/>
        </p:spPr>
        <p:txBody>
          <a:bodyPr wrap="square" rtlCol="0" anchor="t"/>
          <a:lstStyle/>
          <a:p>
            <a:pPr indent="0" marL="0">
              <a:lnSpc>
                <a:spcPts val="1200"/>
              </a:lnSpc>
              <a:buNone/>
            </a:pPr>
            <a:r>
              <a:rPr lang="en-US" sz="950" dirty="0">
                <a:solidFill>
                  <a:srgbClr val="5B595A"/>
                </a:solidFill>
                <a:latin typeface="Arial" pitchFamily="34" charset="0"/>
                <a:ea typeface="Arial" pitchFamily="34" charset="-122"/>
                <a:cs typeface="Arial" pitchFamily="34" charset="-120"/>
              </a:rPr>
              <a:t>Zero bore diameter rejects at final inspection within 8 weeks; any tool wear drift detected in-process, not at final.</a:t>
            </a:r>
            <a:endParaRPr lang="en-US" sz="950" dirty="0"/>
          </a:p>
        </p:txBody>
      </p:sp>
      <p:sp>
        <p:nvSpPr>
          <p:cNvPr id="19" name="Shape 16"/>
          <p:cNvSpPr/>
          <p:nvPr/>
        </p:nvSpPr>
        <p:spPr>
          <a:xfrm>
            <a:off x="457200" y="4480560"/>
            <a:ext cx="5532120" cy="1783080"/>
          </a:xfrm>
          <a:prstGeom prst="rect">
            <a:avLst/>
          </a:prstGeom>
          <a:solidFill>
            <a:srgbClr val="FFFFFF"/>
          </a:solidFill>
          <a:ln w="15875">
            <a:solidFill>
              <a:srgbClr val="009FE3"/>
            </a:solidFill>
            <a:prstDash val="solid"/>
          </a:ln>
        </p:spPr>
      </p:sp>
      <p:sp>
        <p:nvSpPr>
          <p:cNvPr id="20" name="Shape 17"/>
          <p:cNvSpPr/>
          <p:nvPr/>
        </p:nvSpPr>
        <p:spPr>
          <a:xfrm>
            <a:off x="457200" y="4480560"/>
            <a:ext cx="5532120" cy="292608"/>
          </a:xfrm>
          <a:prstGeom prst="rect">
            <a:avLst/>
          </a:prstGeom>
          <a:solidFill>
            <a:srgbClr val="009FE3"/>
          </a:solidFill>
          <a:ln/>
        </p:spPr>
      </p:sp>
      <p:sp>
        <p:nvSpPr>
          <p:cNvPr id="21" name="Text 18"/>
          <p:cNvSpPr/>
          <p:nvPr/>
        </p:nvSpPr>
        <p:spPr>
          <a:xfrm>
            <a:off x="512064" y="448056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4. Root cause analysis</a:t>
            </a:r>
            <a:endParaRPr lang="en-US" sz="1100" dirty="0"/>
          </a:p>
        </p:txBody>
      </p:sp>
      <p:sp>
        <p:nvSpPr>
          <p:cNvPr id="22" name="Text 19"/>
          <p:cNvSpPr/>
          <p:nvPr/>
        </p:nvSpPr>
        <p:spPr>
          <a:xfrm>
            <a:off x="530352" y="4809744"/>
            <a:ext cx="5385816" cy="1399032"/>
          </a:xfrm>
          <a:prstGeom prst="rect">
            <a:avLst/>
          </a:prstGeom>
          <a:noFill/>
          <a:ln/>
        </p:spPr>
        <p:txBody>
          <a:bodyPr wrap="square" rtlCol="0" anchor="t"/>
          <a:lstStyle/>
          <a:p>
            <a:pPr indent="0" marL="0">
              <a:lnSpc>
                <a:spcPts val="1200"/>
              </a:lnSpc>
              <a:buNone/>
            </a:pPr>
            <a:r>
              <a:rPr lang="en-US" sz="950" dirty="0">
                <a:solidFill>
                  <a:srgbClr val="5B595A"/>
                </a:solidFill>
                <a:latin typeface="Arial" pitchFamily="34" charset="0"/>
                <a:ea typeface="Arial" pitchFamily="34" charset="-122"/>
                <a:cs typeface="Arial" pitchFamily="34" charset="-120"/>
              </a:rPr>
              <a:t>Why oversize? Insert worn beyond limit. Why? Not changed at the right point. Why? Tool change set by elapsed time, not parts count, and harder material wears faster. Why? Tool life rules never reviewed when new materials introduced; no in-process check. Verified: worn insert from reject batch measured, wear 2x limit.</a:t>
            </a:r>
            <a:endParaRPr lang="en-US" sz="950" dirty="0"/>
          </a:p>
        </p:txBody>
      </p:sp>
      <p:sp>
        <p:nvSpPr>
          <p:cNvPr id="23" name="Shape 20"/>
          <p:cNvSpPr/>
          <p:nvPr/>
        </p:nvSpPr>
        <p:spPr>
          <a:xfrm>
            <a:off x="6199632" y="1143000"/>
            <a:ext cx="5532120" cy="1417320"/>
          </a:xfrm>
          <a:prstGeom prst="rect">
            <a:avLst/>
          </a:prstGeom>
          <a:solidFill>
            <a:srgbClr val="FFFFFF"/>
          </a:solidFill>
          <a:ln w="15875">
            <a:solidFill>
              <a:srgbClr val="83348F"/>
            </a:solidFill>
            <a:prstDash val="solid"/>
          </a:ln>
        </p:spPr>
      </p:sp>
      <p:sp>
        <p:nvSpPr>
          <p:cNvPr id="24" name="Shape 21"/>
          <p:cNvSpPr/>
          <p:nvPr/>
        </p:nvSpPr>
        <p:spPr>
          <a:xfrm>
            <a:off x="6199632" y="1143000"/>
            <a:ext cx="5532120" cy="292608"/>
          </a:xfrm>
          <a:prstGeom prst="rect">
            <a:avLst/>
          </a:prstGeom>
          <a:solidFill>
            <a:srgbClr val="83348F"/>
          </a:solidFill>
          <a:ln/>
        </p:spPr>
      </p:sp>
      <p:sp>
        <p:nvSpPr>
          <p:cNvPr id="25" name="Text 22"/>
          <p:cNvSpPr/>
          <p:nvPr/>
        </p:nvSpPr>
        <p:spPr>
          <a:xfrm>
            <a:off x="6254496" y="114300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5. Countermeasures</a:t>
            </a:r>
            <a:endParaRPr lang="en-US" sz="1100" dirty="0"/>
          </a:p>
        </p:txBody>
      </p:sp>
      <p:sp>
        <p:nvSpPr>
          <p:cNvPr id="26" name="Text 23"/>
          <p:cNvSpPr/>
          <p:nvPr/>
        </p:nvSpPr>
        <p:spPr>
          <a:xfrm>
            <a:off x="6272784" y="1472184"/>
            <a:ext cx="5385816" cy="1033272"/>
          </a:xfrm>
          <a:prstGeom prst="rect">
            <a:avLst/>
          </a:prstGeom>
          <a:noFill/>
          <a:ln/>
        </p:spPr>
        <p:txBody>
          <a:bodyPr wrap="square" rtlCol="0" anchor="t"/>
          <a:lstStyle/>
          <a:p>
            <a:pPr indent="0" marL="0">
              <a:lnSpc>
                <a:spcPts val="1200"/>
              </a:lnSpc>
              <a:buNone/>
            </a:pPr>
            <a:r>
              <a:rPr lang="en-US" sz="950" dirty="0">
                <a:solidFill>
                  <a:srgbClr val="5B595A"/>
                </a:solidFill>
                <a:latin typeface="Arial" pitchFamily="34" charset="0"/>
                <a:ea typeface="Arial" pitchFamily="34" charset="-122"/>
                <a:cs typeface="Arial" pitchFamily="34" charset="-120"/>
              </a:rPr>
              <a:t>1. Tool life by parts count per material grade (removes root cause).  2. In-process bore check at 50% of tool life (detects drift).  3. SOP-014 updated and setters briefed (sustains the change).</a:t>
            </a:r>
            <a:endParaRPr lang="en-US" sz="950" dirty="0"/>
          </a:p>
        </p:txBody>
      </p:sp>
      <p:sp>
        <p:nvSpPr>
          <p:cNvPr id="27" name="Shape 24"/>
          <p:cNvSpPr/>
          <p:nvPr/>
        </p:nvSpPr>
        <p:spPr>
          <a:xfrm>
            <a:off x="6199632" y="2651760"/>
            <a:ext cx="5532120" cy="1783080"/>
          </a:xfrm>
          <a:prstGeom prst="rect">
            <a:avLst/>
          </a:prstGeom>
          <a:solidFill>
            <a:srgbClr val="FFFFFF"/>
          </a:solidFill>
          <a:ln w="15875">
            <a:solidFill>
              <a:srgbClr val="83348F"/>
            </a:solidFill>
            <a:prstDash val="solid"/>
          </a:ln>
        </p:spPr>
      </p:sp>
      <p:sp>
        <p:nvSpPr>
          <p:cNvPr id="28" name="Shape 25"/>
          <p:cNvSpPr/>
          <p:nvPr/>
        </p:nvSpPr>
        <p:spPr>
          <a:xfrm>
            <a:off x="6199632" y="2651760"/>
            <a:ext cx="5532120" cy="292608"/>
          </a:xfrm>
          <a:prstGeom prst="rect">
            <a:avLst/>
          </a:prstGeom>
          <a:solidFill>
            <a:srgbClr val="83348F"/>
          </a:solidFill>
          <a:ln/>
        </p:spPr>
      </p:sp>
      <p:sp>
        <p:nvSpPr>
          <p:cNvPr id="29" name="Text 26"/>
          <p:cNvSpPr/>
          <p:nvPr/>
        </p:nvSpPr>
        <p:spPr>
          <a:xfrm>
            <a:off x="6254496" y="265176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6. Implementation plan</a:t>
            </a:r>
            <a:endParaRPr lang="en-US" sz="1100" dirty="0"/>
          </a:p>
        </p:txBody>
      </p:sp>
      <p:sp>
        <p:nvSpPr>
          <p:cNvPr id="30" name="Text 27"/>
          <p:cNvSpPr/>
          <p:nvPr/>
        </p:nvSpPr>
        <p:spPr>
          <a:xfrm>
            <a:off x="6272784" y="2980944"/>
            <a:ext cx="5385816" cy="1399032"/>
          </a:xfrm>
          <a:prstGeom prst="rect">
            <a:avLst/>
          </a:prstGeom>
          <a:noFill/>
          <a:ln/>
        </p:spPr>
        <p:txBody>
          <a:bodyPr wrap="square" rtlCol="0" anchor="t"/>
          <a:lstStyle/>
          <a:p>
            <a:pPr indent="0" marL="0">
              <a:lnSpc>
                <a:spcPts val="1200"/>
              </a:lnSpc>
              <a:buNone/>
            </a:pPr>
            <a:r>
              <a:rPr lang="en-US" sz="950" dirty="0">
                <a:solidFill>
                  <a:srgbClr val="5B595A"/>
                </a:solidFill>
                <a:latin typeface="Arial" pitchFamily="34" charset="0"/>
                <a:ea typeface="Arial" pitchFamily="34" charset="-122"/>
                <a:cs typeface="Arial" pitchFamily="34" charset="-120"/>
              </a:rPr>
              <a:t>Set parts-count limits per material: S. Patel, 10 Jan, done.  Gauge and check sheet at machine: M. Reid, 13 Jan, done.  SOP-014 revision and briefing: S. Patel, 15 Jan, done.  Read across to Cells 1 and 3: J. Whitfield, 31 Jan, done.</a:t>
            </a:r>
            <a:endParaRPr lang="en-US" sz="950" dirty="0"/>
          </a:p>
        </p:txBody>
      </p:sp>
      <p:sp>
        <p:nvSpPr>
          <p:cNvPr id="31" name="Shape 28"/>
          <p:cNvSpPr/>
          <p:nvPr/>
        </p:nvSpPr>
        <p:spPr>
          <a:xfrm>
            <a:off x="6199632" y="4526280"/>
            <a:ext cx="5532120" cy="1737360"/>
          </a:xfrm>
          <a:prstGeom prst="rect">
            <a:avLst/>
          </a:prstGeom>
          <a:solidFill>
            <a:srgbClr val="FFFFFF"/>
          </a:solidFill>
          <a:ln w="15875">
            <a:solidFill>
              <a:srgbClr val="83348F"/>
            </a:solidFill>
            <a:prstDash val="solid"/>
          </a:ln>
        </p:spPr>
      </p:sp>
      <p:sp>
        <p:nvSpPr>
          <p:cNvPr id="32" name="Shape 29"/>
          <p:cNvSpPr/>
          <p:nvPr/>
        </p:nvSpPr>
        <p:spPr>
          <a:xfrm>
            <a:off x="6199632" y="4526280"/>
            <a:ext cx="5532120" cy="292608"/>
          </a:xfrm>
          <a:prstGeom prst="rect">
            <a:avLst/>
          </a:prstGeom>
          <a:solidFill>
            <a:srgbClr val="83348F"/>
          </a:solidFill>
          <a:ln/>
        </p:spPr>
      </p:sp>
      <p:sp>
        <p:nvSpPr>
          <p:cNvPr id="33" name="Text 30"/>
          <p:cNvSpPr/>
          <p:nvPr/>
        </p:nvSpPr>
        <p:spPr>
          <a:xfrm>
            <a:off x="6254496" y="4526280"/>
            <a:ext cx="5422392" cy="292608"/>
          </a:xfrm>
          <a:prstGeom prst="rect">
            <a:avLst/>
          </a:prstGeom>
          <a:noFill/>
          <a:ln/>
        </p:spPr>
        <p:txBody>
          <a:bodyPr wrap="square" rtlCol="0" anchor="ctr"/>
          <a:lstStyle/>
          <a:p>
            <a:pPr indent="0" marL="0">
              <a:buNone/>
            </a:pPr>
            <a:r>
              <a:rPr lang="en-US" sz="1100" b="1" dirty="0">
                <a:solidFill>
                  <a:srgbClr val="FFFFFF"/>
                </a:solidFill>
                <a:latin typeface="Arial" pitchFamily="34" charset="0"/>
                <a:ea typeface="Arial" pitchFamily="34" charset="-122"/>
                <a:cs typeface="Arial" pitchFamily="34" charset="-120"/>
              </a:rPr>
              <a:t>7. Follow-up and confirmation</a:t>
            </a:r>
            <a:endParaRPr lang="en-US" sz="1100" dirty="0"/>
          </a:p>
        </p:txBody>
      </p:sp>
      <p:sp>
        <p:nvSpPr>
          <p:cNvPr id="34" name="Text 31"/>
          <p:cNvSpPr/>
          <p:nvPr/>
        </p:nvSpPr>
        <p:spPr>
          <a:xfrm>
            <a:off x="6272784" y="4855464"/>
            <a:ext cx="5385816" cy="1353312"/>
          </a:xfrm>
          <a:prstGeom prst="rect">
            <a:avLst/>
          </a:prstGeom>
          <a:noFill/>
          <a:ln/>
        </p:spPr>
        <p:txBody>
          <a:bodyPr wrap="square" rtlCol="0" anchor="t"/>
          <a:lstStyle/>
          <a:p>
            <a:pPr indent="0" marL="0">
              <a:lnSpc>
                <a:spcPts val="1200"/>
              </a:lnSpc>
              <a:buNone/>
            </a:pPr>
            <a:r>
              <a:rPr lang="en-US" sz="950" dirty="0">
                <a:solidFill>
                  <a:srgbClr val="5B595A"/>
                </a:solidFill>
                <a:latin typeface="Arial" pitchFamily="34" charset="0"/>
                <a:ea typeface="Arial" pitchFamily="34" charset="-122"/>
                <a:cs typeface="Arial" pitchFamily="34" charset="-120"/>
              </a:rPr>
              <a:t>Checked weekly for 5 batches: zero bore rejects, two inserts changed early on in-process check (drift caught as designed). Raiser confirmed closure 17 Jan. Tool life rule standardised across all cells; learning shared at the quality clinic and SQDCP board.</a:t>
            </a:r>
            <a:endParaRPr lang="en-US" sz="950" dirty="0"/>
          </a:p>
        </p:txBody>
      </p:sp>
      <p:sp>
        <p:nvSpPr>
          <p:cNvPr id="35" name="Rectangle 34"/>
          <p:cNvSpPr/>
          <p:nvPr/>
        </p:nvSpPr>
        <p:spPr>
          <a:xfrm>
            <a:off x="10561320" y="54864"/>
            <a:ext cx="1554480" cy="502920"/>
          </a:xfrm>
          <a:prstGeom prst="rect">
            <a:avLst/>
          </a:prstGeom>
          <a:solidFill>
            <a:srgbClr val="FFFFFF"/>
          </a:solidFill>
          <a:ln w="6350">
            <a:solidFill>
              <a:srgbClr val="DDDDD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6" name="Picture 35" descr="image.png"/>
          <p:cNvPicPr>
            <a:picLocks noChangeAspect="1"/>
          </p:cNvPicPr>
          <p:nvPr/>
        </p:nvPicPr>
        <p:blipFill>
          <a:blip r:embed="rId5"/>
          <a:stretch>
            <a:fillRect/>
          </a:stretch>
        </p:blipFill>
        <p:spPr>
          <a:xfrm>
            <a:off x="10607040" y="100584"/>
            <a:ext cx="566928" cy="347472"/>
          </a:xfrm>
          <a:prstGeom prst="rect">
            <a:avLst/>
          </a:prstGeom>
        </p:spPr>
      </p:pic>
      <p:pic>
        <p:nvPicPr>
          <p:cNvPr id="37" name="Picture 36" descr="image.png"/>
          <p:cNvPicPr>
            <a:picLocks noChangeAspect="1"/>
          </p:cNvPicPr>
          <p:nvPr/>
        </p:nvPicPr>
        <p:blipFill>
          <a:blip r:embed="rId4"/>
          <a:stretch>
            <a:fillRect/>
          </a:stretch>
        </p:blipFill>
        <p:spPr>
          <a:xfrm>
            <a:off x="11219688" y="100584"/>
            <a:ext cx="658368" cy="347472"/>
          </a:xfrm>
          <a:prstGeom prst="rect">
            <a:avLst/>
          </a:prstGeom>
        </p:spPr>
      </p:pic>
      <p:sp>
        <p:nvSpPr>
          <p:cNvPr id="38" name="Rectangle 37"/>
          <p:cNvSpPr/>
          <p:nvPr/>
        </p:nvSpPr>
        <p:spPr>
          <a:xfrm>
            <a:off x="0" y="6629400"/>
            <a:ext cx="12188952" cy="228600"/>
          </a:xfrm>
          <a:prstGeom prst="rect">
            <a:avLst/>
          </a:prstGeom>
          <a:solidFill>
            <a:srgbClr val="1F2D40"/>
          </a:solidFill>
          <a:ln>
            <a:noFill/>
          </a:ln>
        </p:spPr>
        <p:style>
          <a:lnRef idx="1">
            <a:schemeClr val="accent1"/>
          </a:lnRef>
          <a:fillRef idx="3">
            <a:schemeClr val="accent1"/>
          </a:fillRef>
          <a:effectRef idx="2">
            <a:schemeClr val="accent1"/>
          </a:effectRef>
          <a:fontRef idx="minor">
            <a:schemeClr val="lt1"/>
          </a:fontRef>
        </p:style>
        <p:txBody>
          <a:bodyPr rtlCol="0" anchor="ctr" wrap="none"/>
          <a:lstStyle/>
          <a:p>
            <a:pPr algn="ctr"/>
            <a:r>
              <a:rPr sz="700" b="0">
                <a:solidFill>
                  <a:srgbClr val="FFFFFF"/>
                </a:solidFill>
              </a:rPr>
              <a:t>NucCol | Nuclear Collaboration Ltd  ·  Fit For Nuclear Programme  ·  Commercial in Confidence  |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2453F6056AA6464A99729F79B34ECED9" ma:contentTypeVersion="15" ma:contentTypeDescription="Create a new document." ma:contentTypeScope="" ma:versionID="5f61f7f6e9ac7af992ae58f204f4a905">
  <xsd:schema xmlns:xsd="http://www.w3.org/2001/XMLSchema" xmlns:xs="http://www.w3.org/2001/XMLSchema" xmlns:p="http://schemas.microsoft.com/office/2006/metadata/properties" xmlns:ns2="ecb9c8fd-b149-4da5-ae47-4cb2a6f921f7" xmlns:ns3="a57c75ee-0d51-4c06-b83a-21883992ef88" targetNamespace="http://schemas.microsoft.com/office/2006/metadata/properties" ma:root="true" ma:fieldsID="5bd49160a10d99efc7c2a57519ff9fe8" ns2:_="" ns3:_="">
    <xsd:import namespace="ecb9c8fd-b149-4da5-ae47-4cb2a6f921f7"/>
    <xsd:import namespace="a57c75ee-0d51-4c06-b83a-21883992ef88"/>
    <xsd:element name="properties">
      <xsd:complexType>
        <xsd:sequence>
          <xsd:element name="documentManagement">
            <xsd:complexType>
              <xsd:all>
                <xsd:element ref="ns2:MigrationSourceID" minOccurs="0"/>
                <xsd:element ref="ns3:MediaServiceMetadata" minOccurs="0"/>
                <xsd:element ref="ns3:MediaServiceFastMetadata" minOccurs="0"/>
                <xsd:element ref="ns3:MediaServiceSearchProperties" minOccurs="0"/>
                <xsd:element ref="ns3:MediaServiceObjectDetectorVersions" minOccurs="0"/>
                <xsd:element ref="ns3:MediaServiceDateTaken" minOccurs="0"/>
                <xsd:element ref="ns3:MediaServiceGenerationTime" minOccurs="0"/>
                <xsd:element ref="ns3:MediaServiceEventHashCode" minOccurs="0"/>
                <xsd:element ref="ns3:MediaLengthInSeconds" minOccurs="0"/>
                <xsd:element ref="ns3:MediaServiceBillingMetadata" minOccurs="0"/>
                <xsd:element ref="ns3:lcf76f155ced4ddcb4097134ff3c332f" minOccurs="0"/>
                <xsd:element ref="ns2:TaxCatchAll" minOccurs="0"/>
                <xsd:element ref="ns3:MediaServiceOCR" minOccurs="0"/>
                <xsd:element ref="ns3: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cb9c8fd-b149-4da5-ae47-4cb2a6f921f7" elementFormDefault="qualified">
    <xsd:import namespace="http://schemas.microsoft.com/office/2006/documentManagement/types"/>
    <xsd:import namespace="http://schemas.microsoft.com/office/infopath/2007/PartnerControls"/>
    <xsd:element name="MigrationSourceID" ma:index="8" nillable="true" ma:displayName="MigrationSourceID" ma:internalName="MigrationSourceID" ma:readOnly="true">
      <xsd:simpleType>
        <xsd:restriction base="dms:Text"/>
      </xsd:simpleType>
    </xsd:element>
    <xsd:element name="TaxCatchAll" ma:index="20" nillable="true" ma:displayName="Taxonomy Catch All Column" ma:hidden="true" ma:list="{3bbffa37-1fb4-4f8b-a66f-2651692f13f0}" ma:internalName="TaxCatchAll" ma:showField="CatchAllData" ma:web="ecb9c8fd-b149-4da5-ae47-4cb2a6f921f7">
      <xsd:complexType>
        <xsd:complexContent>
          <xsd:extension base="dms:MultiChoiceLookup">
            <xsd:sequence>
              <xsd:element name="Value" type="dms:Lookup" maxOccurs="unbounded" minOccurs="0" nillable="true"/>
            </xsd:sequence>
          </xsd:extension>
        </xsd:complexContent>
      </xsd:complexType>
    </xsd:element>
  </xsd:schema>
  <xsd:schema xmlns:xsd="http://www.w3.org/2001/XMLSchema" xmlns:xs="http://www.w3.org/2001/XMLSchema" xmlns:dms="http://schemas.microsoft.com/office/2006/documentManagement/types" xmlns:pc="http://schemas.microsoft.com/office/infopath/2007/PartnerControls" targetNamespace="a57c75ee-0d51-4c06-b83a-21883992ef88" elementFormDefault="qualified">
    <xsd:import namespace="http://schemas.microsoft.com/office/2006/documentManagement/types"/>
    <xsd:import namespace="http://schemas.microsoft.com/office/infopath/2007/PartnerControls"/>
    <xsd:element name="MediaServiceMetadata" ma:index="9" nillable="true" ma:displayName="MediaServiceMetadata" ma:hidden="true" ma:internalName="MediaServiceMetadata" ma:readOnly="true">
      <xsd:simpleType>
        <xsd:restriction base="dms:Note"/>
      </xsd:simpleType>
    </xsd:element>
    <xsd:element name="MediaServiceFastMetadata" ma:index="10" nillable="true" ma:displayName="MediaServiceFastMetadata" ma:hidden="true" ma:internalName="MediaServiceFastMetadata" ma:readOnly="true">
      <xsd:simpleType>
        <xsd:restriction base="dms:Note"/>
      </xsd:simpleType>
    </xsd:element>
    <xsd:element name="MediaServiceSearchProperties" ma:index="11" nillable="true" ma:displayName="MediaServiceSearchProperties" ma:hidden="true" ma:internalName="MediaServiceSearchProperties" ma:readOnly="true">
      <xsd:simpleType>
        <xsd:restriction base="dms:Note"/>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lcf76f155ced4ddcb4097134ff3c332f" ma:index="19" nillable="true" ma:taxonomy="true" ma:internalName="lcf76f155ced4ddcb4097134ff3c332f" ma:taxonomyFieldName="MediaServiceImageTags" ma:displayName="Image Tags" ma:readOnly="false" ma:fieldId="{5cf76f15-5ced-4ddc-b409-7134ff3c332f}" ma:taxonomyMulti="true" ma:sspId="c323488a-041b-479c-b98c-53326eeb9fc5" ma:termSetId="09814cd3-568e-fe90-9814-8d621ff8fb84" ma:anchorId="fba54fb3-c3e1-fe81-a776-ca4b69148c4d" ma:open="true" ma:isKeyword="false">
      <xsd:complexType>
        <xsd:sequence>
          <xsd:element ref="pc:Terms" minOccurs="0" maxOccurs="1"/>
        </xsd:sequence>
      </xsd:complexType>
    </xsd:element>
    <xsd:element name="MediaServiceOCR" ma:index="21" nillable="true" ma:displayName="Extracted Text" ma:internalName="MediaServiceOCR" ma:readOnly="true">
      <xsd:simpleType>
        <xsd:restriction base="dms:Note">
          <xsd:maxLength value="255"/>
        </xsd:restriction>
      </xsd:simpleType>
    </xsd:element>
    <xsd:element name="MediaServiceLocation" ma:index="22" nillable="true" ma:displayName="Location" ma:indexed="true" ma:internalName="MediaServiceLocation"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TaxCatchAll xmlns="ecb9c8fd-b149-4da5-ae47-4cb2a6f921f7" xsi:nil="true"/>
    <lcf76f155ced4ddcb4097134ff3c332f xmlns="a57c75ee-0d51-4c06-b83a-21883992ef88">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9EB4D7AE-AC0E-4BF2-B43D-785FC2ED88B1}"/>
</file>

<file path=customXml/itemProps2.xml><?xml version="1.0" encoding="utf-8"?>
<ds:datastoreItem xmlns:ds="http://schemas.openxmlformats.org/officeDocument/2006/customXml" ds:itemID="{2DAF5358-262C-48DD-8291-C34232D502CF}"/>
</file>

<file path=customXml/itemProps3.xml><?xml version="1.0" encoding="utf-8"?>
<ds:datastoreItem xmlns:ds="http://schemas.openxmlformats.org/officeDocument/2006/customXml" ds:itemID="{5FAF2D78-03AA-4B93-B837-7B647BC0DFE3}"/>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PE-07b A3 Problem Solving Template</dc:title>
  <dc:creator>John Hilton-Brammer</dc:creator>
  <cp:lastModifiedBy>John Hilton-Brammer</cp:lastModifiedBy>
  <dcterms:created xsi:type="dcterms:W3CDTF">2026-07-01T07:45:32Z</dcterms:created>
  <dcterms:modified xsi:type="dcterms:W3CDTF">2026-07-01T07:45:32Z</dcterms:modified>
  <cp:category>Fit For Nuclear</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0x0101002453F6056AA6464A99729F79B34ECED9</vt:lpwstr>
  </property>
</Properties>
</file>