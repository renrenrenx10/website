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media/image1.jpg" ContentType="image/jpg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5124113" cy="10688638"/>
  <p:notesSz cx="10688638" cy="151241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13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77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uccol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188720"/>
            <a:ext cx="2377440" cy="23134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931920"/>
            <a:ext cx="123809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 Area Responsibility Board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371600" y="4937760"/>
            <a:ext cx="12380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PE-05d  |  Process Excellence  |  Fit For Nuclear Toolkit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6000" y="5943600"/>
            <a:ext cx="1055217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board
</a:t>
            </a:r>
            <a:r>
              <a:rPr lang="en-US" sz="15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the board slide at A3, laminate it, and mount it at the entrance to the area. Complete it with a whiteboard marker, or type into the template before printing. Slide 2 is the blank board; slide 3 is a completed example.
Update rhythm: team and zones when people change; cleaning routine ticks daily; audit score and trend after every audit (PE-05a); top three actions at the weekly review. Replace the standard photo whenever the standard improves.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12496" y="10277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PE-05d</a:t>
            </a:r>
            <a:endParaRPr lang="en-US" sz="1000" dirty="0"/>
          </a:p>
        </p:txBody>
      </p:sp>
      <p:sp>
        <p:nvSpPr>
          <p:cNvPr id="8" name="Rectangle 7"/>
          <p:cNvSpPr/>
          <p:nvPr/>
        </p:nvSpPr>
        <p:spPr>
          <a:xfrm>
            <a:off x="13496481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2201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4849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10460038"/>
            <a:ext cx="15124113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914400"/>
          </a:xfrm>
          <a:prstGeom prst="rect">
            <a:avLst/>
          </a:prstGeom>
          <a:solidFill>
            <a:srgbClr val="009F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412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 AREA RESPONSIBILITY 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73152"/>
            <a:ext cx="45720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AREA:  </a:t>
            </a:r>
            <a:r>
              <a:rPr lang="en-US" sz="22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66344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663440" cy="384048"/>
          </a:xfrm>
          <a:prstGeom prst="rect">
            <a:avLst/>
          </a:prstGeom>
          <a:solidFill>
            <a:srgbClr val="8334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48640" y="118872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TEAM &amp; ZONES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4389120" cy="23042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 leader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member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member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member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Deputy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94360" y="4251960"/>
            <a:ext cx="4389120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685800" y="42519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or sketch the zone plan here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349240" y="1188720"/>
            <a:ext cx="466344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5349240" y="1188720"/>
            <a:ext cx="4663440" cy="384048"/>
          </a:xfrm>
          <a:prstGeom prst="rect">
            <a:avLst/>
          </a:prstGeom>
          <a:solidFill>
            <a:srgbClr val="009F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5440680" y="118872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STANDARD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0" y="1691640"/>
            <a:ext cx="2148840" cy="2286000"/>
          </a:xfrm>
          <a:prstGeom prst="rect">
            <a:avLst/>
          </a:prstGeom>
          <a:solidFill>
            <a:srgbClr val="E5F5FD"/>
          </a:solidFill>
          <a:ln w="9525">
            <a:solidFill>
              <a:srgbClr val="BFBFBF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5486400" y="16916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CONDITION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(photo of the area at standard)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726680" y="1691640"/>
            <a:ext cx="2148840" cy="2286000"/>
          </a:xfrm>
          <a:prstGeom prst="rect">
            <a:avLst/>
          </a:prstGeom>
          <a:solidFill>
            <a:srgbClr val="E5F5FD"/>
          </a:solidFill>
          <a:ln w="9525">
            <a:solidFill>
              <a:srgbClr val="BFBFBF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7726680" y="16916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MONTH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(current photo, same viewpoint)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0" y="411480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photos at a glance: does today match the standard?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57200" y="5486400"/>
            <a:ext cx="95554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457200" y="5486400"/>
            <a:ext cx="9555480" cy="384048"/>
          </a:xfrm>
          <a:prstGeom prst="rect">
            <a:avLst/>
          </a:prstGeom>
          <a:solidFill>
            <a:srgbClr val="009F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548640" y="5486400"/>
            <a:ext cx="9372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&amp; 5S ROUTINE  (tick daily)</a:t>
            </a:r>
            <a:endParaRPr lang="en-US" sz="1400" dirty="0"/>
          </a:p>
        </p:txBody>
      </p:sp>
      <p:graphicFrame>
        <p:nvGraphicFramePr>
          <p:cNvPr id="2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5989320"/>
          <a:ext cx="9281160" cy="3200400"/>
        </p:xfrm>
        <a:graphic>
          <a:graphicData uri="http://schemas.openxmlformats.org/drawingml/2006/table">
            <a:tbl>
              <a:tblPr/>
              <a:tblGrid>
                <a:gridCol w="416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hape 20"/>
          <p:cNvSpPr/>
          <p:nvPr/>
        </p:nvSpPr>
        <p:spPr>
          <a:xfrm>
            <a:off x="10241280" y="1188720"/>
            <a:ext cx="443484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10241280" y="1188720"/>
            <a:ext cx="4434840" cy="384048"/>
          </a:xfrm>
          <a:prstGeom prst="rect">
            <a:avLst/>
          </a:prstGeom>
          <a:solidFill>
            <a:srgbClr val="8334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10332720" y="118872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AUDIT SCORE  (max 125)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10469880" y="17373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4"/>
          <p:cNvSpPr/>
          <p:nvPr/>
        </p:nvSpPr>
        <p:spPr>
          <a:xfrm>
            <a:off x="10469880" y="173736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30" name="Text 25"/>
          <p:cNvSpPr/>
          <p:nvPr/>
        </p:nvSpPr>
        <p:spPr>
          <a:xfrm>
            <a:off x="10469880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12573000" y="1737360"/>
            <a:ext cx="1965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________
Auditor: ________
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Bands: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105+ excellent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85+ good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developing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&lt;60 improve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10241280" y="4251960"/>
            <a:ext cx="443484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8"/>
          <p:cNvSpPr/>
          <p:nvPr/>
        </p:nvSpPr>
        <p:spPr>
          <a:xfrm>
            <a:off x="10241280" y="4251960"/>
            <a:ext cx="4434840" cy="384048"/>
          </a:xfrm>
          <a:prstGeom prst="rect">
            <a:avLst/>
          </a:prstGeom>
          <a:solidFill>
            <a:srgbClr val="009F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9"/>
          <p:cNvSpPr/>
          <p:nvPr/>
        </p:nvSpPr>
        <p:spPr>
          <a:xfrm>
            <a:off x="10332720" y="425196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TREND  (12 months)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104424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1"/>
          <p:cNvSpPr/>
          <p:nvPr/>
        </p:nvSpPr>
        <p:spPr>
          <a:xfrm>
            <a:off x="103967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107853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3"/>
          <p:cNvSpPr/>
          <p:nvPr/>
        </p:nvSpPr>
        <p:spPr>
          <a:xfrm>
            <a:off x="107396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111282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5"/>
          <p:cNvSpPr/>
          <p:nvPr/>
        </p:nvSpPr>
        <p:spPr>
          <a:xfrm>
            <a:off x="110825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114711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7"/>
          <p:cNvSpPr/>
          <p:nvPr/>
        </p:nvSpPr>
        <p:spPr>
          <a:xfrm>
            <a:off x="114254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118140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39"/>
          <p:cNvSpPr/>
          <p:nvPr/>
        </p:nvSpPr>
        <p:spPr>
          <a:xfrm>
            <a:off x="117683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121569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1"/>
          <p:cNvSpPr/>
          <p:nvPr/>
        </p:nvSpPr>
        <p:spPr>
          <a:xfrm>
            <a:off x="121112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124998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3"/>
          <p:cNvSpPr/>
          <p:nvPr/>
        </p:nvSpPr>
        <p:spPr>
          <a:xfrm>
            <a:off x="124541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128427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5"/>
          <p:cNvSpPr/>
          <p:nvPr/>
        </p:nvSpPr>
        <p:spPr>
          <a:xfrm>
            <a:off x="127970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131856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7"/>
          <p:cNvSpPr/>
          <p:nvPr/>
        </p:nvSpPr>
        <p:spPr>
          <a:xfrm>
            <a:off x="131399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135285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49"/>
          <p:cNvSpPr/>
          <p:nvPr/>
        </p:nvSpPr>
        <p:spPr>
          <a:xfrm>
            <a:off x="134828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138714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138257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2"/>
          <p:cNvSpPr/>
          <p:nvPr/>
        </p:nvSpPr>
        <p:spPr>
          <a:xfrm>
            <a:off x="142143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3"/>
          <p:cNvSpPr/>
          <p:nvPr/>
        </p:nvSpPr>
        <p:spPr>
          <a:xfrm>
            <a:off x="141686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10442448" y="63825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 each month's bar to the score height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10241280" y="6995160"/>
            <a:ext cx="443484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6"/>
          <p:cNvSpPr/>
          <p:nvPr/>
        </p:nvSpPr>
        <p:spPr>
          <a:xfrm>
            <a:off x="10241280" y="6995160"/>
            <a:ext cx="4434840" cy="384048"/>
          </a:xfrm>
          <a:prstGeom prst="rect">
            <a:avLst/>
          </a:prstGeom>
          <a:solidFill>
            <a:srgbClr val="8334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57"/>
          <p:cNvSpPr/>
          <p:nvPr/>
        </p:nvSpPr>
        <p:spPr>
          <a:xfrm>
            <a:off x="10332720" y="699516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ACTIONS THIS WEEK</a:t>
            </a:r>
            <a:endParaRPr lang="en-US" sz="1400" dirty="0"/>
          </a:p>
        </p:txBody>
      </p:sp>
      <p:graphicFrame>
        <p:nvGraphicFramePr>
          <p:cNvPr id="6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378440" y="7498080"/>
          <a:ext cx="4160520" cy="2267712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" name="Text 60"/>
          <p:cNvSpPr/>
          <p:nvPr/>
        </p:nvSpPr>
        <p:spPr>
          <a:xfrm>
            <a:off x="13112496" y="10277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PE-05d</a:t>
            </a:r>
            <a:endParaRPr lang="en-US" sz="1000" dirty="0"/>
          </a:p>
        </p:txBody>
      </p:sp>
      <p:sp>
        <p:nvSpPr>
          <p:cNvPr id="67" name="Rectangle 66"/>
          <p:cNvSpPr/>
          <p:nvPr/>
        </p:nvSpPr>
        <p:spPr>
          <a:xfrm>
            <a:off x="13496481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2201" y="100584"/>
            <a:ext cx="566928" cy="347472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4849" y="100584"/>
            <a:ext cx="658368" cy="347472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0" y="10460038"/>
            <a:ext cx="15124113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914400"/>
          </a:xfrm>
          <a:prstGeom prst="rect">
            <a:avLst/>
          </a:prstGeom>
          <a:solidFill>
            <a:srgbClr val="009F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412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 AREA RESPONSIBILITY 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73152"/>
            <a:ext cx="45720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AREA:  Machine Shop, Cell 2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66344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663440" cy="384048"/>
          </a:xfrm>
          <a:prstGeom prst="rect">
            <a:avLst/>
          </a:prstGeom>
          <a:solidFill>
            <a:srgbClr val="8334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48640" y="118872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TEAM &amp; ZONES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4389120" cy="23042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 leader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 Patel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/ Zone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member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K. Adams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 B: benches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member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R. Bryce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 C: machines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member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Hughes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 D: stores rack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Deputy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M. Reid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Cover, all zones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94360" y="4251960"/>
            <a:ext cx="4389120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685800" y="42519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sketch: A entrance &amp; walkway, B bench row, C machine line, D racking (attach plan)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349240" y="1188720"/>
            <a:ext cx="466344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5349240" y="1188720"/>
            <a:ext cx="4663440" cy="384048"/>
          </a:xfrm>
          <a:prstGeom prst="rect">
            <a:avLst/>
          </a:prstGeom>
          <a:solidFill>
            <a:srgbClr val="009F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5440680" y="118872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STANDARD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0" y="1691640"/>
            <a:ext cx="2148840" cy="2286000"/>
          </a:xfrm>
          <a:prstGeom prst="rect">
            <a:avLst/>
          </a:prstGeom>
          <a:solidFill>
            <a:srgbClr val="E5F5FD"/>
          </a:solidFill>
          <a:ln w="9525">
            <a:solidFill>
              <a:srgbClr val="BFBFBF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5486400" y="16916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CONDITION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(photo of the area at standard)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726680" y="1691640"/>
            <a:ext cx="2148840" cy="2286000"/>
          </a:xfrm>
          <a:prstGeom prst="rect">
            <a:avLst/>
          </a:prstGeom>
          <a:solidFill>
            <a:srgbClr val="E5F5FD"/>
          </a:solidFill>
          <a:ln w="9525">
            <a:solidFill>
              <a:srgbClr val="BFBFBF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7726680" y="16916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MONTH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(current photo, same viewpoint)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0" y="411480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photo taken 14 Apr after launch day. Compare monthly; investigate any drift.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57200" y="5486400"/>
            <a:ext cx="95554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457200" y="5486400"/>
            <a:ext cx="9555480" cy="384048"/>
          </a:xfrm>
          <a:prstGeom prst="rect">
            <a:avLst/>
          </a:prstGeom>
          <a:solidFill>
            <a:srgbClr val="009F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548640" y="5486400"/>
            <a:ext cx="9372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&amp; 5S ROUTINE  (tick daily)</a:t>
            </a:r>
            <a:endParaRPr lang="en-US" sz="140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5989320"/>
          <a:ext cx="9281160" cy="3200400"/>
        </p:xfrm>
        <a:graphic>
          <a:graphicData uri="http://schemas.openxmlformats.org/drawingml/2006/table">
            <a:tbl>
              <a:tblPr/>
              <a:tblGrid>
                <a:gridCol w="416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Benches clear, tools returned to shadow boards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Machine wipe-down; report leaks and abnormalities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swept; walkway clear of obstructions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Racking faced up; no items without a location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Bins emptied; consumables at min/max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WIP at agreed level; red tag anything homeless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hape 20"/>
          <p:cNvSpPr/>
          <p:nvPr/>
        </p:nvSpPr>
        <p:spPr>
          <a:xfrm>
            <a:off x="10241280" y="1188720"/>
            <a:ext cx="443484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10241280" y="1188720"/>
            <a:ext cx="4434840" cy="384048"/>
          </a:xfrm>
          <a:prstGeom prst="rect">
            <a:avLst/>
          </a:prstGeom>
          <a:solidFill>
            <a:srgbClr val="8334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10332720" y="118872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AUDIT SCORE  (max 125)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10469880" y="17373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4"/>
          <p:cNvSpPr/>
          <p:nvPr/>
        </p:nvSpPr>
        <p:spPr>
          <a:xfrm>
            <a:off x="10469880" y="173736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6000" dirty="0"/>
          </a:p>
        </p:txBody>
      </p:sp>
      <p:sp>
        <p:nvSpPr>
          <p:cNvPr id="30" name="Text 25"/>
          <p:cNvSpPr/>
          <p:nvPr/>
        </p:nvSpPr>
        <p:spPr>
          <a:xfrm>
            <a:off x="10469880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12573000" y="1737360"/>
            <a:ext cx="1965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12 Jun
Auditor: L. Okafor
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Bands: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105+ excellent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85+ good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developing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&lt;60 improve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10241280" y="4251960"/>
            <a:ext cx="443484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8"/>
          <p:cNvSpPr/>
          <p:nvPr/>
        </p:nvSpPr>
        <p:spPr>
          <a:xfrm>
            <a:off x="10241280" y="4251960"/>
            <a:ext cx="4434840" cy="384048"/>
          </a:xfrm>
          <a:prstGeom prst="rect">
            <a:avLst/>
          </a:prstGeom>
          <a:solidFill>
            <a:srgbClr val="009F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9"/>
          <p:cNvSpPr/>
          <p:nvPr/>
        </p:nvSpPr>
        <p:spPr>
          <a:xfrm>
            <a:off x="10332720" y="425196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TREND  (12 months)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104424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1"/>
          <p:cNvSpPr/>
          <p:nvPr/>
        </p:nvSpPr>
        <p:spPr>
          <a:xfrm>
            <a:off x="10442448" y="5445801"/>
            <a:ext cx="274320" cy="634959"/>
          </a:xfrm>
          <a:prstGeom prst="rect">
            <a:avLst/>
          </a:prstGeom>
          <a:solidFill>
            <a:srgbClr val="B589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103967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107853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4"/>
          <p:cNvSpPr/>
          <p:nvPr/>
        </p:nvSpPr>
        <p:spPr>
          <a:xfrm>
            <a:off x="10785348" y="5353629"/>
            <a:ext cx="274320" cy="727131"/>
          </a:xfrm>
          <a:prstGeom prst="rect">
            <a:avLst/>
          </a:prstGeom>
          <a:solidFill>
            <a:srgbClr val="B589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5"/>
          <p:cNvSpPr/>
          <p:nvPr/>
        </p:nvSpPr>
        <p:spPr>
          <a:xfrm>
            <a:off x="107396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111282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7"/>
          <p:cNvSpPr/>
          <p:nvPr/>
        </p:nvSpPr>
        <p:spPr>
          <a:xfrm>
            <a:off x="11128248" y="5281940"/>
            <a:ext cx="274320" cy="798820"/>
          </a:xfrm>
          <a:prstGeom prst="rect">
            <a:avLst/>
          </a:prstGeom>
          <a:solidFill>
            <a:srgbClr val="B589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110825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114711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0"/>
          <p:cNvSpPr/>
          <p:nvPr/>
        </p:nvSpPr>
        <p:spPr>
          <a:xfrm>
            <a:off x="11471148" y="5220492"/>
            <a:ext cx="274320" cy="860268"/>
          </a:xfrm>
          <a:prstGeom prst="rect">
            <a:avLst/>
          </a:prstGeom>
          <a:solidFill>
            <a:srgbClr val="B589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1"/>
          <p:cNvSpPr/>
          <p:nvPr/>
        </p:nvSpPr>
        <p:spPr>
          <a:xfrm>
            <a:off x="114254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118140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3"/>
          <p:cNvSpPr/>
          <p:nvPr/>
        </p:nvSpPr>
        <p:spPr>
          <a:xfrm>
            <a:off x="11814048" y="5200010"/>
            <a:ext cx="274320" cy="88075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17683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121569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6"/>
          <p:cNvSpPr/>
          <p:nvPr/>
        </p:nvSpPr>
        <p:spPr>
          <a:xfrm>
            <a:off x="12156948" y="5179527"/>
            <a:ext cx="274320" cy="901233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47"/>
          <p:cNvSpPr/>
          <p:nvPr/>
        </p:nvSpPr>
        <p:spPr>
          <a:xfrm>
            <a:off x="121112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124998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49"/>
          <p:cNvSpPr/>
          <p:nvPr/>
        </p:nvSpPr>
        <p:spPr>
          <a:xfrm>
            <a:off x="124541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128427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127970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57" name="Shape 52"/>
          <p:cNvSpPr/>
          <p:nvPr/>
        </p:nvSpPr>
        <p:spPr>
          <a:xfrm>
            <a:off x="131856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3"/>
          <p:cNvSpPr/>
          <p:nvPr/>
        </p:nvSpPr>
        <p:spPr>
          <a:xfrm>
            <a:off x="131399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135285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134828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00" dirty="0"/>
          </a:p>
        </p:txBody>
      </p:sp>
      <p:sp>
        <p:nvSpPr>
          <p:cNvPr id="61" name="Shape 56"/>
          <p:cNvSpPr/>
          <p:nvPr/>
        </p:nvSpPr>
        <p:spPr>
          <a:xfrm>
            <a:off x="138714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7"/>
          <p:cNvSpPr/>
          <p:nvPr/>
        </p:nvSpPr>
        <p:spPr>
          <a:xfrm>
            <a:off x="138257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900" dirty="0"/>
          </a:p>
        </p:txBody>
      </p:sp>
      <p:sp>
        <p:nvSpPr>
          <p:cNvPr id="63" name="Shape 58"/>
          <p:cNvSpPr/>
          <p:nvPr/>
        </p:nvSpPr>
        <p:spPr>
          <a:xfrm>
            <a:off x="14214348" y="4800600"/>
            <a:ext cx="274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14168628" y="6126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10442448" y="63825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score above each bar or shade to height</a:t>
            </a:r>
            <a:endParaRPr lang="en-US" sz="950" dirty="0"/>
          </a:p>
        </p:txBody>
      </p:sp>
      <p:sp>
        <p:nvSpPr>
          <p:cNvPr id="66" name="Shape 61"/>
          <p:cNvSpPr/>
          <p:nvPr/>
        </p:nvSpPr>
        <p:spPr>
          <a:xfrm>
            <a:off x="10241280" y="6995160"/>
            <a:ext cx="443484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2"/>
          <p:cNvSpPr/>
          <p:nvPr/>
        </p:nvSpPr>
        <p:spPr>
          <a:xfrm>
            <a:off x="10241280" y="6995160"/>
            <a:ext cx="4434840" cy="384048"/>
          </a:xfrm>
          <a:prstGeom prst="rect">
            <a:avLst/>
          </a:prstGeom>
          <a:solidFill>
            <a:srgbClr val="8334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3"/>
          <p:cNvSpPr/>
          <p:nvPr/>
        </p:nvSpPr>
        <p:spPr>
          <a:xfrm>
            <a:off x="10332720" y="699516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ACTIONS THIS WEEK</a:t>
            </a:r>
            <a:endParaRPr lang="en-US" sz="14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378440" y="7498080"/>
          <a:ext cx="4160520" cy="2267712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Foam cut-outs for the two homeless bench tools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cause coolant residue under Lathe 1 (PE-04a)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and min/max the consumables rack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2" name="Text 66"/>
          <p:cNvSpPr/>
          <p:nvPr/>
        </p:nvSpPr>
        <p:spPr>
          <a:xfrm>
            <a:off x="13112496" y="10277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PE-05d</a:t>
            </a:r>
            <a:endParaRPr lang="en-US" sz="1000" dirty="0"/>
          </a:p>
        </p:txBody>
      </p:sp>
      <p:sp>
        <p:nvSpPr>
          <p:cNvPr id="73" name="Rectangle 72"/>
          <p:cNvSpPr/>
          <p:nvPr/>
        </p:nvSpPr>
        <p:spPr>
          <a:xfrm>
            <a:off x="13496481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2201" y="100584"/>
            <a:ext cx="566928" cy="347472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4849" y="100584"/>
            <a:ext cx="658368" cy="347472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0" y="10460038"/>
            <a:ext cx="15124113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5A21F89-CC8F-498C-9EEB-07B39C812111}"/>
</file>

<file path=customXml/itemProps2.xml><?xml version="1.0" encoding="utf-8"?>
<ds:datastoreItem xmlns:ds="http://schemas.openxmlformats.org/officeDocument/2006/customXml" ds:itemID="{B82EA903-4B33-427D-96C9-3F6A10E280EF}"/>
</file>

<file path=customXml/itemProps3.xml><?xml version="1.0" encoding="utf-8"?>
<ds:datastoreItem xmlns:ds="http://schemas.openxmlformats.org/officeDocument/2006/customXml" ds:itemID="{C70AB2A7-D0A8-47E7-90F2-612FA991474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</Words>
  <Application>Microsoft Office PowerPoint</Application>
  <PresentationFormat>Custom</PresentationFormat>
  <Paragraphs>175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PE-05d 5S Area Responsibility Board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