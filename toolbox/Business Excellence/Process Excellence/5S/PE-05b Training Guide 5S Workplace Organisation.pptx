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000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nuccol_logo.jpg"/>
          <p:cNvPicPr>
            <a:picLocks noChangeAspect="1"/>
          </p:cNvPicPr>
          <p:nvPr/>
        </p:nvPicPr>
        <p:blipFill>
          <a:blip r:embed="rId3"/>
          <a:stretch>
            <a:fillRect/>
          </a:stretch>
        </p:blipFill>
        <p:spPr>
          <a:xfrm>
            <a:off x="5093208" y="822960"/>
            <a:ext cx="2011680" cy="1956816"/>
          </a:xfrm>
          <a:prstGeom prst="rect">
            <a:avLst/>
          </a:prstGeom>
        </p:spPr>
      </p:pic>
      <p:sp>
        <p:nvSpPr>
          <p:cNvPr id="3" name="Text 0"/>
          <p:cNvSpPr/>
          <p:nvPr/>
        </p:nvSpPr>
        <p:spPr>
          <a:xfrm>
            <a:off x="914400" y="3154680"/>
            <a:ext cx="10360152" cy="822960"/>
          </a:xfrm>
          <a:prstGeom prst="rect">
            <a:avLst/>
          </a:prstGeom>
          <a:noFill/>
          <a:ln/>
        </p:spPr>
        <p:txBody>
          <a:bodyPr wrap="square" rtlCol="0" anchor="ctr"/>
          <a:lstStyle/>
          <a:p>
            <a:pPr marL="0" indent="0" algn="ctr">
              <a:buNone/>
            </a:pPr>
            <a:r>
              <a:rPr lang="en-US" sz="4000" b="1" dirty="0">
                <a:solidFill>
                  <a:srgbClr val="009FE3"/>
                </a:solidFill>
                <a:latin typeface="Arial" pitchFamily="34" charset="0"/>
                <a:ea typeface="Arial" pitchFamily="34" charset="-122"/>
                <a:cs typeface="Arial" pitchFamily="34" charset="-120"/>
              </a:rPr>
              <a:t>5S Workplace Organisation</a:t>
            </a:r>
            <a:endParaRPr lang="en-US" sz="4000" dirty="0"/>
          </a:p>
        </p:txBody>
      </p:sp>
      <p:sp>
        <p:nvSpPr>
          <p:cNvPr id="4" name="Text 1"/>
          <p:cNvSpPr/>
          <p:nvPr/>
        </p:nvSpPr>
        <p:spPr>
          <a:xfrm>
            <a:off x="914400" y="4023360"/>
            <a:ext cx="10360152" cy="457200"/>
          </a:xfrm>
          <a:prstGeom prst="rect">
            <a:avLst/>
          </a:prstGeom>
          <a:noFill/>
          <a:ln/>
        </p:spPr>
        <p:txBody>
          <a:bodyPr wrap="square" rtlCol="0" anchor="ctr"/>
          <a:lstStyle/>
          <a:p>
            <a:pPr marL="0" indent="0" algn="ctr">
              <a:buNone/>
            </a:pPr>
            <a:r>
              <a:rPr lang="en-US" sz="1800" dirty="0">
                <a:solidFill>
                  <a:srgbClr val="83348F"/>
                </a:solidFill>
                <a:latin typeface="Arial" pitchFamily="34" charset="0"/>
                <a:ea typeface="Arial" pitchFamily="34" charset="-122"/>
                <a:cs typeface="Arial" pitchFamily="34" charset="-120"/>
              </a:rPr>
              <a:t>Training Guide  |  PE-05b  |  Process Excellence</a:t>
            </a:r>
            <a:endParaRPr lang="en-US" sz="1800" dirty="0"/>
          </a:p>
        </p:txBody>
      </p:sp>
      <p:sp>
        <p:nvSpPr>
          <p:cNvPr id="5" name="Text 2"/>
          <p:cNvSpPr/>
          <p:nvPr/>
        </p:nvSpPr>
        <p:spPr>
          <a:xfrm>
            <a:off x="914400" y="4617720"/>
            <a:ext cx="10360152" cy="411480"/>
          </a:xfrm>
          <a:prstGeom prst="rect">
            <a:avLst/>
          </a:prstGeom>
          <a:noFill/>
          <a:ln/>
        </p:spPr>
        <p:txBody>
          <a:bodyPr wrap="square" rtlCol="0" anchor="ctr"/>
          <a:lstStyle/>
          <a:p>
            <a:pPr marL="0" indent="0" algn="ctr">
              <a:buNone/>
            </a:pPr>
            <a:r>
              <a:rPr lang="en-US" sz="1500" b="1" dirty="0">
                <a:solidFill>
                  <a:srgbClr val="5B595A"/>
                </a:solidFill>
                <a:latin typeface="Arial" pitchFamily="34" charset="0"/>
                <a:ea typeface="Arial" pitchFamily="34" charset="-122"/>
                <a:cs typeface="Arial" pitchFamily="34" charset="-120"/>
              </a:rPr>
              <a:t>Sort  |  Set in Order  |  Shine  |  Standardise  |  Sustain</a:t>
            </a:r>
            <a:endParaRPr lang="en-US" sz="1500" dirty="0"/>
          </a:p>
        </p:txBody>
      </p:sp>
      <p:sp>
        <p:nvSpPr>
          <p:cNvPr id="6" name="Text 3"/>
          <p:cNvSpPr/>
          <p:nvPr/>
        </p:nvSpPr>
        <p:spPr>
          <a:xfrm>
            <a:off x="914400" y="5120640"/>
            <a:ext cx="10360152" cy="411480"/>
          </a:xfrm>
          <a:prstGeom prst="rect">
            <a:avLst/>
          </a:prstGeom>
          <a:noFill/>
          <a:ln/>
        </p:spPr>
        <p:txBody>
          <a:bodyPr wrap="square" rtlCol="0" anchor="ctr"/>
          <a:lstStyle/>
          <a:p>
            <a:pPr marL="0" indent="0" algn="ctr">
              <a:buNone/>
            </a:pPr>
            <a:r>
              <a:rPr lang="en-US" sz="1300" i="1" dirty="0">
                <a:solidFill>
                  <a:srgbClr val="5B595A"/>
                </a:solidFill>
                <a:latin typeface="Arial" pitchFamily="34" charset="0"/>
                <a:ea typeface="Arial" pitchFamily="34" charset="-122"/>
                <a:cs typeface="Arial" pitchFamily="34" charset="-120"/>
              </a:rPr>
              <a:t>A place for everything, everything in its place, and a problem visible the moment it appears.</a:t>
            </a:r>
            <a:endParaRPr lang="en-US" sz="1300" dirty="0"/>
          </a:p>
        </p:txBody>
      </p:sp>
      <p:sp>
        <p:nvSpPr>
          <p:cNvPr id="7" name="Rectangle 6"/>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5"/>
          <a:stretch>
            <a:fillRect/>
          </a:stretch>
        </p:blipFill>
        <p:spPr>
          <a:xfrm>
            <a:off x="10606913" y="100584"/>
            <a:ext cx="566928" cy="347472"/>
          </a:xfrm>
          <a:prstGeom prst="rect">
            <a:avLst/>
          </a:prstGeom>
        </p:spPr>
      </p:pic>
      <p:pic>
        <p:nvPicPr>
          <p:cNvPr id="9" name="Picture 8" descr="image.png"/>
          <p:cNvPicPr>
            <a:picLocks noChangeAspect="1"/>
          </p:cNvPicPr>
          <p:nvPr/>
        </p:nvPicPr>
        <p:blipFill>
          <a:blip r:embed="rId4"/>
          <a:stretch>
            <a:fillRect/>
          </a:stretch>
        </p:blipFill>
        <p:spPr>
          <a:xfrm>
            <a:off x="11219561" y="100584"/>
            <a:ext cx="658368" cy="347472"/>
          </a:xfrm>
          <a:prstGeom prst="rect">
            <a:avLst/>
          </a:prstGeom>
        </p:spPr>
      </p:pic>
      <p:sp>
        <p:nvSpPr>
          <p:cNvPr id="10" name="Rectangle 9"/>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What is 5S?</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Five Japanese words, one idea: an organised workplace where problems cannot hide.</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3730752"/>
        </p:xfrm>
        <a:graphic>
          <a:graphicData uri="http://schemas.openxmlformats.org/drawingml/2006/table">
            <a:tbl>
              <a:tblPr/>
              <a:tblGrid>
                <a:gridCol w="914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6126480">
                  <a:extLst>
                    <a:ext uri="{9D8B030D-6E8A-4147-A177-3AD203B41FA5}">
                      <a16:colId xmlns:a16="http://schemas.microsoft.com/office/drawing/2014/main" val="20003"/>
                    </a:ext>
                  </a:extLst>
                </a:gridCol>
              </a:tblGrid>
              <a:tr h="621792">
                <a:tc>
                  <a:txBody>
                    <a:bodyPr/>
                    <a:lstStyle/>
                    <a:p>
                      <a:pPr marL="0" indent="0">
                        <a:buNone/>
                      </a:pPr>
                      <a:endParaRPr lang="en-US" sz="12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Original</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Translation</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Objective</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extLst>
                  <a:ext uri="{0D108BD9-81ED-4DB2-BD59-A6C34878D82A}">
                    <a16:rowId xmlns:a16="http://schemas.microsoft.com/office/drawing/2014/main" val="10000"/>
                  </a:ext>
                </a:extLst>
              </a:tr>
              <a:tr h="6217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1S</a:t>
                      </a:r>
                      <a:endParaRPr lang="en-US" sz="14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9FE3"/>
                    </a:solidFill>
                  </a:tcPr>
                </a:tc>
                <a:tc>
                  <a:txBody>
                    <a:bodyPr/>
                    <a:lstStyle/>
                    <a:p>
                      <a:pPr marL="0" indent="0">
                        <a:buNone/>
                      </a:pPr>
                      <a:r>
                        <a:rPr lang="en-US" sz="1300" i="1" dirty="0">
                          <a:solidFill>
                            <a:srgbClr val="5B595A"/>
                          </a:solidFill>
                          <a:latin typeface="Arial" pitchFamily="34" charset="0"/>
                          <a:ea typeface="Arial" pitchFamily="34" charset="-122"/>
                          <a:cs typeface="Arial" pitchFamily="34" charset="-120"/>
                        </a:rPr>
                        <a:t>Seiri</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350" b="1" dirty="0">
                          <a:solidFill>
                            <a:srgbClr val="009FE3"/>
                          </a:solidFill>
                          <a:latin typeface="Arial" pitchFamily="34" charset="0"/>
                          <a:ea typeface="Arial" pitchFamily="34" charset="-122"/>
                          <a:cs typeface="Arial" pitchFamily="34" charset="-120"/>
                        </a:rPr>
                        <a:t>Sort</a:t>
                      </a:r>
                      <a:endParaRPr lang="en-US" sz="13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250" dirty="0">
                          <a:solidFill>
                            <a:srgbClr val="5B595A"/>
                          </a:solidFill>
                          <a:latin typeface="Arial" pitchFamily="34" charset="0"/>
                          <a:ea typeface="Arial" pitchFamily="34" charset="-122"/>
                          <a:cs typeface="Arial" pitchFamily="34" charset="-120"/>
                        </a:rPr>
                        <a:t>Clearly separate necessary things and eliminate the unnecessary ones</a:t>
                      </a:r>
                      <a:endParaRPr lang="en-US" sz="12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extLst>
                  <a:ext uri="{0D108BD9-81ED-4DB2-BD59-A6C34878D82A}">
                    <a16:rowId xmlns:a16="http://schemas.microsoft.com/office/drawing/2014/main" val="10001"/>
                  </a:ext>
                </a:extLst>
              </a:tr>
              <a:tr h="6217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2S</a:t>
                      </a:r>
                      <a:endParaRPr lang="en-US" sz="14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9FE3"/>
                    </a:solidFill>
                  </a:tcPr>
                </a:tc>
                <a:tc>
                  <a:txBody>
                    <a:bodyPr/>
                    <a:lstStyle/>
                    <a:p>
                      <a:pPr marL="0" indent="0">
                        <a:buNone/>
                      </a:pPr>
                      <a:r>
                        <a:rPr lang="en-US" sz="1300" i="1" dirty="0">
                          <a:solidFill>
                            <a:srgbClr val="5B595A"/>
                          </a:solidFill>
                          <a:latin typeface="Arial" pitchFamily="34" charset="0"/>
                          <a:ea typeface="Arial" pitchFamily="34" charset="-122"/>
                          <a:cs typeface="Arial" pitchFamily="34" charset="-120"/>
                        </a:rPr>
                        <a:t>Seiton</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50" b="1" dirty="0">
                          <a:solidFill>
                            <a:srgbClr val="009FE3"/>
                          </a:solidFill>
                          <a:latin typeface="Arial" pitchFamily="34" charset="0"/>
                          <a:ea typeface="Arial" pitchFamily="34" charset="-122"/>
                          <a:cs typeface="Arial" pitchFamily="34" charset="-120"/>
                        </a:rPr>
                        <a:t>Set in Order</a:t>
                      </a:r>
                      <a:endParaRPr lang="en-US" sz="13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50" dirty="0">
                          <a:solidFill>
                            <a:srgbClr val="5B595A"/>
                          </a:solidFill>
                          <a:latin typeface="Arial" pitchFamily="34" charset="0"/>
                          <a:ea typeface="Arial" pitchFamily="34" charset="-122"/>
                          <a:cs typeface="Arial" pitchFamily="34" charset="-120"/>
                        </a:rPr>
                        <a:t>Neatly arrange and identify things for ease of use</a:t>
                      </a:r>
                      <a:endParaRPr lang="en-US" sz="12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3S</a:t>
                      </a:r>
                      <a:endParaRPr lang="en-US" sz="14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9FE3"/>
                    </a:solidFill>
                  </a:tcPr>
                </a:tc>
                <a:tc>
                  <a:txBody>
                    <a:bodyPr/>
                    <a:lstStyle/>
                    <a:p>
                      <a:pPr marL="0" indent="0">
                        <a:buNone/>
                      </a:pPr>
                      <a:r>
                        <a:rPr lang="en-US" sz="1300" i="1" dirty="0">
                          <a:solidFill>
                            <a:srgbClr val="5B595A"/>
                          </a:solidFill>
                          <a:latin typeface="Arial" pitchFamily="34" charset="0"/>
                          <a:ea typeface="Arial" pitchFamily="34" charset="-122"/>
                          <a:cs typeface="Arial" pitchFamily="34" charset="-120"/>
                        </a:rPr>
                        <a:t>Seiso</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350" b="1" dirty="0">
                          <a:solidFill>
                            <a:srgbClr val="009FE3"/>
                          </a:solidFill>
                          <a:latin typeface="Arial" pitchFamily="34" charset="0"/>
                          <a:ea typeface="Arial" pitchFamily="34" charset="-122"/>
                          <a:cs typeface="Arial" pitchFamily="34" charset="-120"/>
                        </a:rPr>
                        <a:t>Shine</a:t>
                      </a:r>
                      <a:endParaRPr lang="en-US" sz="13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250" dirty="0">
                          <a:solidFill>
                            <a:srgbClr val="5B595A"/>
                          </a:solidFill>
                          <a:latin typeface="Arial" pitchFamily="34" charset="0"/>
                          <a:ea typeface="Arial" pitchFamily="34" charset="-122"/>
                          <a:cs typeface="Arial" pitchFamily="34" charset="-120"/>
                        </a:rPr>
                        <a:t>Maintain order and cleanliness; clean to inspect</a:t>
                      </a:r>
                      <a:endParaRPr lang="en-US" sz="12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extLst>
                  <a:ext uri="{0D108BD9-81ED-4DB2-BD59-A6C34878D82A}">
                    <a16:rowId xmlns:a16="http://schemas.microsoft.com/office/drawing/2014/main" val="10003"/>
                  </a:ext>
                </a:extLst>
              </a:tr>
              <a:tr h="6217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4S</a:t>
                      </a:r>
                      <a:endParaRPr lang="en-US" sz="14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tc>
                  <a:txBody>
                    <a:bodyPr/>
                    <a:lstStyle/>
                    <a:p>
                      <a:pPr marL="0" indent="0">
                        <a:buNone/>
                      </a:pPr>
                      <a:r>
                        <a:rPr lang="en-US" sz="1300" i="1" dirty="0">
                          <a:solidFill>
                            <a:srgbClr val="5B595A"/>
                          </a:solidFill>
                          <a:latin typeface="Arial" pitchFamily="34" charset="0"/>
                          <a:ea typeface="Arial" pitchFamily="34" charset="-122"/>
                          <a:cs typeface="Arial" pitchFamily="34" charset="-120"/>
                        </a:rPr>
                        <a:t>Seiketsu</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350" b="1" dirty="0">
                          <a:solidFill>
                            <a:srgbClr val="009FE3"/>
                          </a:solidFill>
                          <a:latin typeface="Arial" pitchFamily="34" charset="0"/>
                          <a:ea typeface="Arial" pitchFamily="34" charset="-122"/>
                          <a:cs typeface="Arial" pitchFamily="34" charset="-120"/>
                        </a:rPr>
                        <a:t>Standardise</a:t>
                      </a:r>
                      <a:endParaRPr lang="en-US" sz="13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50" dirty="0">
                          <a:solidFill>
                            <a:srgbClr val="5B595A"/>
                          </a:solidFill>
                          <a:latin typeface="Arial" pitchFamily="34" charset="0"/>
                          <a:ea typeface="Arial" pitchFamily="34" charset="-122"/>
                          <a:cs typeface="Arial" pitchFamily="34" charset="-120"/>
                        </a:rPr>
                        <a:t>Constantly maintain and reinforce the first three; make it the way of working</a:t>
                      </a:r>
                      <a:endParaRPr lang="en-US" sz="12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5S</a:t>
                      </a:r>
                      <a:endParaRPr lang="en-US" sz="14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83348F"/>
                    </a:solidFill>
                  </a:tcPr>
                </a:tc>
                <a:tc>
                  <a:txBody>
                    <a:bodyPr/>
                    <a:lstStyle/>
                    <a:p>
                      <a:pPr marL="0" indent="0">
                        <a:buNone/>
                      </a:pPr>
                      <a:r>
                        <a:rPr lang="en-US" sz="1300" i="1" dirty="0">
                          <a:solidFill>
                            <a:srgbClr val="5B595A"/>
                          </a:solidFill>
                          <a:latin typeface="Arial" pitchFamily="34" charset="0"/>
                          <a:ea typeface="Arial" pitchFamily="34" charset="-122"/>
                          <a:cs typeface="Arial" pitchFamily="34" charset="-120"/>
                        </a:rPr>
                        <a:t>Shitsuke</a:t>
                      </a:r>
                      <a:endParaRPr lang="en-US" sz="130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350" b="1" dirty="0">
                          <a:solidFill>
                            <a:srgbClr val="009FE3"/>
                          </a:solidFill>
                          <a:latin typeface="Arial" pitchFamily="34" charset="0"/>
                          <a:ea typeface="Arial" pitchFamily="34" charset="-122"/>
                          <a:cs typeface="Arial" pitchFamily="34" charset="-120"/>
                        </a:rPr>
                        <a:t>Sustain</a:t>
                      </a:r>
                      <a:endParaRPr lang="en-US" sz="13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250" dirty="0">
                          <a:solidFill>
                            <a:srgbClr val="5B595A"/>
                          </a:solidFill>
                          <a:latin typeface="Arial" pitchFamily="34" charset="0"/>
                          <a:ea typeface="Arial" pitchFamily="34" charset="-122"/>
                          <a:cs typeface="Arial" pitchFamily="34" charset="-120"/>
                        </a:rPr>
                        <a:t>Always conform to the rules; build the discipline and habit</a:t>
                      </a:r>
                      <a:endParaRPr lang="en-US" sz="12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extLst>
                  <a:ext uri="{0D108BD9-81ED-4DB2-BD59-A6C34878D82A}">
                    <a16:rowId xmlns:a16="http://schemas.microsoft.com/office/drawing/2014/main" val="10005"/>
                  </a:ext>
                </a:extLst>
              </a:tr>
            </a:tbl>
          </a:graphicData>
        </a:graphic>
      </p:graphicFrame>
      <p:sp>
        <p:nvSpPr>
          <p:cNvPr id="8" name="Text 4"/>
          <p:cNvSpPr/>
          <p:nvPr/>
        </p:nvSpPr>
        <p:spPr>
          <a:xfrm>
            <a:off x="457200" y="5532120"/>
            <a:ext cx="11247120" cy="640080"/>
          </a:xfrm>
          <a:prstGeom prst="rect">
            <a:avLst/>
          </a:prstGeom>
          <a:noFill/>
          <a:ln/>
        </p:spPr>
        <p:txBody>
          <a:bodyPr wrap="square" rtlCol="0" anchor="ctr"/>
          <a:lstStyle/>
          <a:p>
            <a:pPr marL="0" indent="0">
              <a:lnSpc>
                <a:spcPts val="1600"/>
              </a:lnSpc>
              <a:buNone/>
            </a:pPr>
            <a:r>
              <a:rPr lang="en-US" sz="1250" i="1" dirty="0">
                <a:solidFill>
                  <a:srgbClr val="83348F"/>
                </a:solidFill>
                <a:latin typeface="Arial" pitchFamily="34" charset="0"/>
                <a:ea typeface="Arial" pitchFamily="34" charset="-122"/>
                <a:cs typeface="Arial" pitchFamily="34" charset="-120"/>
              </a:rPr>
              <a:t>5S is not a clean-up campaign. It is the foundation discipline of lean: problems cannot be clearly seen when the workplace is disorganised, and making problems visible is the first step of improvement.</a:t>
            </a:r>
            <a:endParaRPr lang="en-US" sz="1250" dirty="0"/>
          </a:p>
        </p:txBody>
      </p:sp>
      <p:sp>
        <p:nvSpPr>
          <p:cNvPr id="9" name="Rectangle 8"/>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10606913"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11219561" y="100584"/>
            <a:ext cx="658368" cy="347472"/>
          </a:xfrm>
          <a:prstGeom prst="rect">
            <a:avLst/>
          </a:prstGeom>
        </p:spPr>
      </p:pic>
      <p:sp>
        <p:nvSpPr>
          <p:cNvPr id="12" name="Rectangle 11"/>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Why 5S works</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The payback is measured in safety, quality, time and morale.</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3</a:t>
            </a:r>
            <a:endParaRPr lang="en-US" sz="900" dirty="0"/>
          </a:p>
        </p:txBody>
      </p:sp>
      <p:sp>
        <p:nvSpPr>
          <p:cNvPr id="7" name="Shape 4"/>
          <p:cNvSpPr/>
          <p:nvPr/>
        </p:nvSpPr>
        <p:spPr>
          <a:xfrm>
            <a:off x="457200" y="1280160"/>
            <a:ext cx="3703320" cy="2057400"/>
          </a:xfrm>
          <a:prstGeom prst="roundRect">
            <a:avLst>
              <a:gd name="adj" fmla="val 3111"/>
            </a:avLst>
          </a:prstGeom>
          <a:solidFill>
            <a:srgbClr val="E5F5FD"/>
          </a:solidFill>
          <a:ln/>
        </p:spPr>
        <p:txBody>
          <a:bodyPr/>
          <a:lstStyle/>
          <a:p>
            <a:endParaRPr lang="en-GB"/>
          </a:p>
        </p:txBody>
      </p:sp>
      <p:sp>
        <p:nvSpPr>
          <p:cNvPr id="8" name="Text 5"/>
          <p:cNvSpPr/>
          <p:nvPr/>
        </p:nvSpPr>
        <p:spPr>
          <a:xfrm>
            <a:off x="658368" y="1426464"/>
            <a:ext cx="3291840" cy="365760"/>
          </a:xfrm>
          <a:prstGeom prst="rect">
            <a:avLst/>
          </a:prstGeom>
          <a:noFill/>
          <a:ln/>
        </p:spPr>
        <p:txBody>
          <a:bodyPr wrap="square" rtlCol="0" anchor="ctr"/>
          <a:lstStyle/>
          <a:p>
            <a:pPr marL="0" indent="0">
              <a:buNone/>
            </a:pPr>
            <a:r>
              <a:rPr lang="en-US" sz="1550" b="1" dirty="0">
                <a:solidFill>
                  <a:srgbClr val="009FE3"/>
                </a:solidFill>
                <a:latin typeface="Arial" pitchFamily="34" charset="0"/>
                <a:ea typeface="Arial" pitchFamily="34" charset="-122"/>
                <a:cs typeface="Arial" pitchFamily="34" charset="-120"/>
              </a:rPr>
              <a:t>Safety</a:t>
            </a:r>
            <a:endParaRPr lang="en-US" sz="1550" dirty="0"/>
          </a:p>
        </p:txBody>
      </p:sp>
      <p:sp>
        <p:nvSpPr>
          <p:cNvPr id="9" name="Text 6"/>
          <p:cNvSpPr/>
          <p:nvPr/>
        </p:nvSpPr>
        <p:spPr>
          <a:xfrm>
            <a:off x="658368" y="184708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Clear walkways, no trip hazards, no leaks underfoot, nothing stored overhead that should not be. Most sites see near misses fall first.</a:t>
            </a:r>
            <a:endParaRPr lang="en-US" sz="1100" dirty="0"/>
          </a:p>
        </p:txBody>
      </p:sp>
      <p:sp>
        <p:nvSpPr>
          <p:cNvPr id="10" name="Shape 7"/>
          <p:cNvSpPr/>
          <p:nvPr/>
        </p:nvSpPr>
        <p:spPr>
          <a:xfrm>
            <a:off x="4434840" y="1280160"/>
            <a:ext cx="3703320" cy="2057400"/>
          </a:xfrm>
          <a:prstGeom prst="roundRect">
            <a:avLst>
              <a:gd name="adj" fmla="val 3111"/>
            </a:avLst>
          </a:prstGeom>
          <a:solidFill>
            <a:srgbClr val="F3E9F5"/>
          </a:solidFill>
          <a:ln/>
        </p:spPr>
        <p:txBody>
          <a:bodyPr/>
          <a:lstStyle/>
          <a:p>
            <a:endParaRPr lang="en-GB"/>
          </a:p>
        </p:txBody>
      </p:sp>
      <p:sp>
        <p:nvSpPr>
          <p:cNvPr id="11" name="Text 8"/>
          <p:cNvSpPr/>
          <p:nvPr/>
        </p:nvSpPr>
        <p:spPr>
          <a:xfrm>
            <a:off x="4636008" y="1426464"/>
            <a:ext cx="3291840" cy="365760"/>
          </a:xfrm>
          <a:prstGeom prst="rect">
            <a:avLst/>
          </a:prstGeom>
          <a:noFill/>
          <a:ln/>
        </p:spPr>
        <p:txBody>
          <a:bodyPr wrap="square" rtlCol="0" anchor="ctr"/>
          <a:lstStyle/>
          <a:p>
            <a:pPr marL="0" indent="0">
              <a:buNone/>
            </a:pPr>
            <a:r>
              <a:rPr lang="en-US" sz="1550" b="1" dirty="0">
                <a:solidFill>
                  <a:srgbClr val="83348F"/>
                </a:solidFill>
                <a:latin typeface="Arial" pitchFamily="34" charset="0"/>
                <a:ea typeface="Arial" pitchFamily="34" charset="-122"/>
                <a:cs typeface="Arial" pitchFamily="34" charset="-120"/>
              </a:rPr>
              <a:t>Quality</a:t>
            </a:r>
            <a:endParaRPr lang="en-US" sz="1550" dirty="0"/>
          </a:p>
        </p:txBody>
      </p:sp>
      <p:sp>
        <p:nvSpPr>
          <p:cNvPr id="12" name="Text 9"/>
          <p:cNvSpPr/>
          <p:nvPr/>
        </p:nvSpPr>
        <p:spPr>
          <a:xfrm>
            <a:off x="4636008" y="184708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Right tool, right material, right revision, every time. Segregated stock and labelled locations remove whole families of mix-up defects.</a:t>
            </a:r>
            <a:endParaRPr lang="en-US" sz="1100" dirty="0"/>
          </a:p>
        </p:txBody>
      </p:sp>
      <p:sp>
        <p:nvSpPr>
          <p:cNvPr id="13" name="Shape 10"/>
          <p:cNvSpPr/>
          <p:nvPr/>
        </p:nvSpPr>
        <p:spPr>
          <a:xfrm>
            <a:off x="8412480" y="1280160"/>
            <a:ext cx="3703320" cy="2057400"/>
          </a:xfrm>
          <a:prstGeom prst="roundRect">
            <a:avLst>
              <a:gd name="adj" fmla="val 3111"/>
            </a:avLst>
          </a:prstGeom>
          <a:solidFill>
            <a:srgbClr val="E5F5FD"/>
          </a:solidFill>
          <a:ln/>
        </p:spPr>
        <p:txBody>
          <a:bodyPr/>
          <a:lstStyle/>
          <a:p>
            <a:endParaRPr lang="en-GB"/>
          </a:p>
        </p:txBody>
      </p:sp>
      <p:sp>
        <p:nvSpPr>
          <p:cNvPr id="14" name="Text 11"/>
          <p:cNvSpPr/>
          <p:nvPr/>
        </p:nvSpPr>
        <p:spPr>
          <a:xfrm>
            <a:off x="8613648" y="1426464"/>
            <a:ext cx="3291840" cy="365760"/>
          </a:xfrm>
          <a:prstGeom prst="rect">
            <a:avLst/>
          </a:prstGeom>
          <a:noFill/>
          <a:ln/>
        </p:spPr>
        <p:txBody>
          <a:bodyPr wrap="square" rtlCol="0" anchor="ctr"/>
          <a:lstStyle/>
          <a:p>
            <a:pPr marL="0" indent="0">
              <a:buNone/>
            </a:pPr>
            <a:r>
              <a:rPr lang="en-US" sz="1550" b="1" dirty="0">
                <a:solidFill>
                  <a:srgbClr val="009FE3"/>
                </a:solidFill>
                <a:latin typeface="Arial" pitchFamily="34" charset="0"/>
                <a:ea typeface="Arial" pitchFamily="34" charset="-122"/>
                <a:cs typeface="Arial" pitchFamily="34" charset="-120"/>
              </a:rPr>
              <a:t>Time</a:t>
            </a:r>
            <a:endParaRPr lang="en-US" sz="1550" dirty="0"/>
          </a:p>
        </p:txBody>
      </p:sp>
      <p:sp>
        <p:nvSpPr>
          <p:cNvPr id="15" name="Text 12"/>
          <p:cNvSpPr/>
          <p:nvPr/>
        </p:nvSpPr>
        <p:spPr>
          <a:xfrm>
            <a:off x="8613648" y="184708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No searching. A minute lost hunting for a tool, gauge or document, many times a day, across every person, is an enormous hidden cost.</a:t>
            </a:r>
            <a:endParaRPr lang="en-US" sz="1100" dirty="0"/>
          </a:p>
        </p:txBody>
      </p:sp>
      <p:sp>
        <p:nvSpPr>
          <p:cNvPr id="16" name="Shape 13"/>
          <p:cNvSpPr/>
          <p:nvPr/>
        </p:nvSpPr>
        <p:spPr>
          <a:xfrm>
            <a:off x="457200" y="3520440"/>
            <a:ext cx="3703320" cy="2057400"/>
          </a:xfrm>
          <a:prstGeom prst="roundRect">
            <a:avLst>
              <a:gd name="adj" fmla="val 3111"/>
            </a:avLst>
          </a:prstGeom>
          <a:solidFill>
            <a:srgbClr val="E5F5FD"/>
          </a:solidFill>
          <a:ln/>
        </p:spPr>
        <p:txBody>
          <a:bodyPr/>
          <a:lstStyle/>
          <a:p>
            <a:endParaRPr lang="en-GB"/>
          </a:p>
        </p:txBody>
      </p:sp>
      <p:sp>
        <p:nvSpPr>
          <p:cNvPr id="17" name="Text 14"/>
          <p:cNvSpPr/>
          <p:nvPr/>
        </p:nvSpPr>
        <p:spPr>
          <a:xfrm>
            <a:off x="658368" y="3666744"/>
            <a:ext cx="3291840" cy="365760"/>
          </a:xfrm>
          <a:prstGeom prst="rect">
            <a:avLst/>
          </a:prstGeom>
          <a:noFill/>
          <a:ln/>
        </p:spPr>
        <p:txBody>
          <a:bodyPr wrap="square" rtlCol="0" anchor="ctr"/>
          <a:lstStyle/>
          <a:p>
            <a:pPr marL="0" indent="0">
              <a:buNone/>
            </a:pPr>
            <a:r>
              <a:rPr lang="en-US" sz="1550" b="1" dirty="0">
                <a:solidFill>
                  <a:srgbClr val="009FE3"/>
                </a:solidFill>
                <a:latin typeface="Arial" pitchFamily="34" charset="0"/>
                <a:ea typeface="Arial" pitchFamily="34" charset="-122"/>
                <a:cs typeface="Arial" pitchFamily="34" charset="-120"/>
              </a:rPr>
              <a:t>Visibility</a:t>
            </a:r>
            <a:endParaRPr lang="en-US" sz="1550" dirty="0"/>
          </a:p>
        </p:txBody>
      </p:sp>
      <p:sp>
        <p:nvSpPr>
          <p:cNvPr id="18" name="Text 15"/>
          <p:cNvSpPr/>
          <p:nvPr/>
        </p:nvSpPr>
        <p:spPr>
          <a:xfrm>
            <a:off x="658368" y="408736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Abnormality stands out instantly: a missing tool, an overflowing bin, a leak. The workplace itself tells you when something is wrong.</a:t>
            </a:r>
            <a:endParaRPr lang="en-US" sz="1100" dirty="0"/>
          </a:p>
        </p:txBody>
      </p:sp>
      <p:sp>
        <p:nvSpPr>
          <p:cNvPr id="19" name="Shape 16"/>
          <p:cNvSpPr/>
          <p:nvPr/>
        </p:nvSpPr>
        <p:spPr>
          <a:xfrm>
            <a:off x="4434840" y="3520440"/>
            <a:ext cx="3703320" cy="2057400"/>
          </a:xfrm>
          <a:prstGeom prst="roundRect">
            <a:avLst>
              <a:gd name="adj" fmla="val 3111"/>
            </a:avLst>
          </a:prstGeom>
          <a:solidFill>
            <a:srgbClr val="F3E9F5"/>
          </a:solidFill>
          <a:ln/>
        </p:spPr>
        <p:txBody>
          <a:bodyPr/>
          <a:lstStyle/>
          <a:p>
            <a:endParaRPr lang="en-GB"/>
          </a:p>
        </p:txBody>
      </p:sp>
      <p:sp>
        <p:nvSpPr>
          <p:cNvPr id="20" name="Text 17"/>
          <p:cNvSpPr/>
          <p:nvPr/>
        </p:nvSpPr>
        <p:spPr>
          <a:xfrm>
            <a:off x="4636008" y="3666744"/>
            <a:ext cx="3291840" cy="365760"/>
          </a:xfrm>
          <a:prstGeom prst="rect">
            <a:avLst/>
          </a:prstGeom>
          <a:noFill/>
          <a:ln/>
        </p:spPr>
        <p:txBody>
          <a:bodyPr wrap="square" rtlCol="0" anchor="ctr"/>
          <a:lstStyle/>
          <a:p>
            <a:pPr marL="0" indent="0">
              <a:buNone/>
            </a:pPr>
            <a:r>
              <a:rPr lang="en-US" sz="1550" b="1" dirty="0">
                <a:solidFill>
                  <a:srgbClr val="83348F"/>
                </a:solidFill>
                <a:latin typeface="Arial" pitchFamily="34" charset="0"/>
                <a:ea typeface="Arial" pitchFamily="34" charset="-122"/>
                <a:cs typeface="Arial" pitchFamily="34" charset="-120"/>
              </a:rPr>
              <a:t>Morale</a:t>
            </a:r>
            <a:endParaRPr lang="en-US" sz="1550" dirty="0"/>
          </a:p>
        </p:txBody>
      </p:sp>
      <p:sp>
        <p:nvSpPr>
          <p:cNvPr id="21" name="Text 18"/>
          <p:cNvSpPr/>
          <p:nvPr/>
        </p:nvSpPr>
        <p:spPr>
          <a:xfrm>
            <a:off x="4636008" y="408736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People take pride in an area they organised themselves. Ownership of the workplace is the seed of ownership of improvement.</a:t>
            </a:r>
            <a:endParaRPr lang="en-US" sz="1100" dirty="0"/>
          </a:p>
        </p:txBody>
      </p:sp>
      <p:sp>
        <p:nvSpPr>
          <p:cNvPr id="22" name="Shape 19"/>
          <p:cNvSpPr/>
          <p:nvPr/>
        </p:nvSpPr>
        <p:spPr>
          <a:xfrm>
            <a:off x="8412480" y="3520440"/>
            <a:ext cx="3703320" cy="2057400"/>
          </a:xfrm>
          <a:prstGeom prst="roundRect">
            <a:avLst>
              <a:gd name="adj" fmla="val 3111"/>
            </a:avLst>
          </a:prstGeom>
          <a:solidFill>
            <a:srgbClr val="E5F5FD"/>
          </a:solidFill>
          <a:ln/>
        </p:spPr>
        <p:txBody>
          <a:bodyPr/>
          <a:lstStyle/>
          <a:p>
            <a:endParaRPr lang="en-GB"/>
          </a:p>
        </p:txBody>
      </p:sp>
      <p:sp>
        <p:nvSpPr>
          <p:cNvPr id="23" name="Text 20"/>
          <p:cNvSpPr/>
          <p:nvPr/>
        </p:nvSpPr>
        <p:spPr>
          <a:xfrm>
            <a:off x="8613648" y="3666744"/>
            <a:ext cx="3291840" cy="365760"/>
          </a:xfrm>
          <a:prstGeom prst="rect">
            <a:avLst/>
          </a:prstGeom>
          <a:noFill/>
          <a:ln/>
        </p:spPr>
        <p:txBody>
          <a:bodyPr wrap="square" rtlCol="0" anchor="ctr"/>
          <a:lstStyle/>
          <a:p>
            <a:pPr marL="0" indent="0">
              <a:buNone/>
            </a:pPr>
            <a:r>
              <a:rPr lang="en-US" sz="1550" b="1" dirty="0">
                <a:solidFill>
                  <a:srgbClr val="009FE3"/>
                </a:solidFill>
                <a:latin typeface="Arial" pitchFamily="34" charset="0"/>
                <a:ea typeface="Arial" pitchFamily="34" charset="-122"/>
                <a:cs typeface="Arial" pitchFamily="34" charset="-120"/>
              </a:rPr>
              <a:t>Credibility</a:t>
            </a:r>
            <a:endParaRPr lang="en-US" sz="1550" dirty="0"/>
          </a:p>
        </p:txBody>
      </p:sp>
      <p:sp>
        <p:nvSpPr>
          <p:cNvPr id="24" name="Text 21"/>
          <p:cNvSpPr/>
          <p:nvPr/>
        </p:nvSpPr>
        <p:spPr>
          <a:xfrm>
            <a:off x="8613648" y="4087368"/>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Customers and assessors read your shop floor in the first five minutes of a visit. An organised site signals a controlled process.</a:t>
            </a:r>
            <a:endParaRPr lang="en-US" sz="1100" dirty="0"/>
          </a:p>
        </p:txBody>
      </p:sp>
      <p:sp>
        <p:nvSpPr>
          <p:cNvPr id="25" name="Text 22"/>
          <p:cNvSpPr/>
          <p:nvPr/>
        </p:nvSpPr>
        <p:spPr>
          <a:xfrm>
            <a:off x="457200" y="5760720"/>
            <a:ext cx="11247120" cy="274320"/>
          </a:xfrm>
          <a:prstGeom prst="rect">
            <a:avLst/>
          </a:prstGeom>
          <a:noFill/>
          <a:ln/>
        </p:spPr>
        <p:txBody>
          <a:bodyPr wrap="square" rtlCol="0" anchor="ctr"/>
          <a:lstStyle/>
          <a:p>
            <a:pPr marL="0" indent="0">
              <a:buNone/>
            </a:pPr>
            <a:endParaRPr lang="en-US" dirty="0"/>
          </a:p>
        </p:txBody>
      </p:sp>
      <p:sp>
        <p:nvSpPr>
          <p:cNvPr id="26" name="Rectangle 25"/>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10606913" y="100584"/>
            <a:ext cx="566928" cy="347472"/>
          </a:xfrm>
          <a:prstGeom prst="rect">
            <a:avLst/>
          </a:prstGeom>
        </p:spPr>
      </p:pic>
      <p:pic>
        <p:nvPicPr>
          <p:cNvPr id="28" name="Picture 27" descr="image.png"/>
          <p:cNvPicPr>
            <a:picLocks noChangeAspect="1"/>
          </p:cNvPicPr>
          <p:nvPr/>
        </p:nvPicPr>
        <p:blipFill>
          <a:blip r:embed="rId4"/>
          <a:stretch>
            <a:fillRect/>
          </a:stretch>
        </p:blipFill>
        <p:spPr>
          <a:xfrm>
            <a:off x="11219561" y="100584"/>
            <a:ext cx="658368" cy="347472"/>
          </a:xfrm>
          <a:prstGeom prst="rect">
            <a:avLst/>
          </a:prstGeom>
        </p:spPr>
      </p:pic>
      <p:sp>
        <p:nvSpPr>
          <p:cNvPr id="29" name="Rectangle 28"/>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What F4N verification looks for</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A sustainable 5S process driving improvement as part of a CI strategy.</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4</a:t>
            </a:r>
            <a:endParaRPr lang="en-US" sz="900" dirty="0"/>
          </a:p>
        </p:txBody>
      </p:sp>
      <p:sp>
        <p:nvSpPr>
          <p:cNvPr id="7" name="Shape 4"/>
          <p:cNvSpPr/>
          <p:nvPr/>
        </p:nvSpPr>
        <p:spPr>
          <a:xfrm>
            <a:off x="457200" y="1280160"/>
            <a:ext cx="5486400" cy="1965960"/>
          </a:xfrm>
          <a:prstGeom prst="roundRect">
            <a:avLst>
              <a:gd name="adj" fmla="val 3256"/>
            </a:avLst>
          </a:prstGeom>
          <a:solidFill>
            <a:srgbClr val="E5F5FD"/>
          </a:solidFill>
          <a:ln/>
        </p:spPr>
        <p:txBody>
          <a:bodyPr/>
          <a:lstStyle/>
          <a:p>
            <a:endParaRPr lang="en-GB"/>
          </a:p>
        </p:txBody>
      </p:sp>
      <p:sp>
        <p:nvSpPr>
          <p:cNvPr id="8" name="Shape 5"/>
          <p:cNvSpPr/>
          <p:nvPr/>
        </p:nvSpPr>
        <p:spPr>
          <a:xfrm>
            <a:off x="658368" y="1463040"/>
            <a:ext cx="384048" cy="384048"/>
          </a:xfrm>
          <a:prstGeom prst="ellipse">
            <a:avLst/>
          </a:prstGeom>
          <a:solidFill>
            <a:srgbClr val="009FE3"/>
          </a:solidFill>
          <a:ln/>
        </p:spPr>
        <p:txBody>
          <a:bodyPr/>
          <a:lstStyle/>
          <a:p>
            <a:endParaRPr lang="en-GB"/>
          </a:p>
        </p:txBody>
      </p:sp>
      <p:sp>
        <p:nvSpPr>
          <p:cNvPr id="9" name="Text 6"/>
          <p:cNvSpPr/>
          <p:nvPr/>
        </p:nvSpPr>
        <p:spPr>
          <a:xfrm>
            <a:off x="65836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p:nvPr/>
        </p:nvSpPr>
        <p:spPr>
          <a:xfrm>
            <a:off x="1170432" y="144475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Introduced properly</a:t>
            </a:r>
            <a:endParaRPr lang="en-US" sz="1500" dirty="0"/>
          </a:p>
        </p:txBody>
      </p:sp>
      <p:sp>
        <p:nvSpPr>
          <p:cNvPr id="11" name="Text 8"/>
          <p:cNvSpPr/>
          <p:nvPr/>
        </p:nvSpPr>
        <p:spPr>
          <a:xfrm>
            <a:off x="71323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Evidence of how 5S was launched: implementation plan (PE-05e), trained teams, baseline photos, red tag events. A one-off blitz with no plan behind it scores poorly.</a:t>
            </a:r>
            <a:endParaRPr lang="en-US" sz="1150" dirty="0"/>
          </a:p>
        </p:txBody>
      </p:sp>
      <p:sp>
        <p:nvSpPr>
          <p:cNvPr id="12" name="Shape 9"/>
          <p:cNvSpPr/>
          <p:nvPr/>
        </p:nvSpPr>
        <p:spPr>
          <a:xfrm>
            <a:off x="6217920" y="1280160"/>
            <a:ext cx="5486400" cy="1965960"/>
          </a:xfrm>
          <a:prstGeom prst="roundRect">
            <a:avLst>
              <a:gd name="adj" fmla="val 3256"/>
            </a:avLst>
          </a:prstGeom>
          <a:solidFill>
            <a:srgbClr val="F3E9F5"/>
          </a:solidFill>
          <a:ln/>
        </p:spPr>
        <p:txBody>
          <a:bodyPr/>
          <a:lstStyle/>
          <a:p>
            <a:endParaRPr lang="en-GB"/>
          </a:p>
        </p:txBody>
      </p:sp>
      <p:sp>
        <p:nvSpPr>
          <p:cNvPr id="13" name="Shape 10"/>
          <p:cNvSpPr/>
          <p:nvPr/>
        </p:nvSpPr>
        <p:spPr>
          <a:xfrm>
            <a:off x="6419088" y="1463040"/>
            <a:ext cx="384048" cy="384048"/>
          </a:xfrm>
          <a:prstGeom prst="ellipse">
            <a:avLst/>
          </a:prstGeom>
          <a:solidFill>
            <a:srgbClr val="83348F"/>
          </a:solidFill>
          <a:ln/>
        </p:spPr>
        <p:txBody>
          <a:bodyPr/>
          <a:lstStyle/>
          <a:p>
            <a:endParaRPr lang="en-GB"/>
          </a:p>
        </p:txBody>
      </p:sp>
      <p:sp>
        <p:nvSpPr>
          <p:cNvPr id="14" name="Text 11"/>
          <p:cNvSpPr/>
          <p:nvPr/>
        </p:nvSpPr>
        <p:spPr>
          <a:xfrm>
            <a:off x="641908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6931152" y="144475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Sustained by audit</a:t>
            </a:r>
            <a:endParaRPr lang="en-US" sz="1500" dirty="0"/>
          </a:p>
        </p:txBody>
      </p:sp>
      <p:sp>
        <p:nvSpPr>
          <p:cNvPr id="16" name="Text 13"/>
          <p:cNvSpPr/>
          <p:nvPr/>
        </p:nvSpPr>
        <p:spPr>
          <a:xfrm>
            <a:off x="647395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 live audit system: who audits, how often, scored against what standard, and what happens to the findings. PE-05a is built to be that evidence.</a:t>
            </a:r>
            <a:endParaRPr lang="en-US" sz="1150" dirty="0"/>
          </a:p>
        </p:txBody>
      </p:sp>
      <p:sp>
        <p:nvSpPr>
          <p:cNvPr id="17" name="Shape 14"/>
          <p:cNvSpPr/>
          <p:nvPr/>
        </p:nvSpPr>
        <p:spPr>
          <a:xfrm>
            <a:off x="457200" y="3429000"/>
            <a:ext cx="5486400" cy="1965960"/>
          </a:xfrm>
          <a:prstGeom prst="roundRect">
            <a:avLst>
              <a:gd name="adj" fmla="val 3256"/>
            </a:avLst>
          </a:prstGeom>
          <a:solidFill>
            <a:srgbClr val="E5F5FD"/>
          </a:solidFill>
          <a:ln/>
        </p:spPr>
        <p:txBody>
          <a:bodyPr/>
          <a:lstStyle/>
          <a:p>
            <a:endParaRPr lang="en-GB"/>
          </a:p>
        </p:txBody>
      </p:sp>
      <p:sp>
        <p:nvSpPr>
          <p:cNvPr id="18" name="Shape 15"/>
          <p:cNvSpPr/>
          <p:nvPr/>
        </p:nvSpPr>
        <p:spPr>
          <a:xfrm>
            <a:off x="658368" y="3611880"/>
            <a:ext cx="384048" cy="384048"/>
          </a:xfrm>
          <a:prstGeom prst="ellipse">
            <a:avLst/>
          </a:prstGeom>
          <a:solidFill>
            <a:srgbClr val="009FE3"/>
          </a:solidFill>
          <a:ln/>
        </p:spPr>
        <p:txBody>
          <a:bodyPr/>
          <a:lstStyle/>
          <a:p>
            <a:endParaRPr lang="en-GB"/>
          </a:p>
        </p:txBody>
      </p:sp>
      <p:sp>
        <p:nvSpPr>
          <p:cNvPr id="19" name="Text 16"/>
          <p:cNvSpPr/>
          <p:nvPr/>
        </p:nvSpPr>
        <p:spPr>
          <a:xfrm>
            <a:off x="65836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70432" y="359359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Visible on the floor</a:t>
            </a:r>
            <a:endParaRPr lang="en-US" sz="1500" dirty="0"/>
          </a:p>
        </p:txBody>
      </p:sp>
      <p:sp>
        <p:nvSpPr>
          <p:cNvPr id="21" name="Text 18"/>
          <p:cNvSpPr/>
          <p:nvPr/>
        </p:nvSpPr>
        <p:spPr>
          <a:xfrm>
            <a:off x="71323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The assessor will see it on the site tour: floor markings, shadow boards, labelled locations, area boards with scores and trends (PE-05d).</a:t>
            </a:r>
            <a:endParaRPr lang="en-US" sz="1150" dirty="0"/>
          </a:p>
        </p:txBody>
      </p:sp>
      <p:sp>
        <p:nvSpPr>
          <p:cNvPr id="22" name="Shape 19"/>
          <p:cNvSpPr/>
          <p:nvPr/>
        </p:nvSpPr>
        <p:spPr>
          <a:xfrm>
            <a:off x="6217920" y="3429000"/>
            <a:ext cx="5486400" cy="1965960"/>
          </a:xfrm>
          <a:prstGeom prst="roundRect">
            <a:avLst>
              <a:gd name="adj" fmla="val 3256"/>
            </a:avLst>
          </a:prstGeom>
          <a:solidFill>
            <a:srgbClr val="F3E9F5"/>
          </a:solidFill>
          <a:ln/>
        </p:spPr>
        <p:txBody>
          <a:bodyPr/>
          <a:lstStyle/>
          <a:p>
            <a:endParaRPr lang="en-GB"/>
          </a:p>
        </p:txBody>
      </p:sp>
      <p:sp>
        <p:nvSpPr>
          <p:cNvPr id="23" name="Shape 20"/>
          <p:cNvSpPr/>
          <p:nvPr/>
        </p:nvSpPr>
        <p:spPr>
          <a:xfrm>
            <a:off x="6419088" y="3611880"/>
            <a:ext cx="384048" cy="384048"/>
          </a:xfrm>
          <a:prstGeom prst="ellipse">
            <a:avLst/>
          </a:prstGeom>
          <a:solidFill>
            <a:srgbClr val="83348F"/>
          </a:solidFill>
          <a:ln/>
        </p:spPr>
        <p:txBody>
          <a:bodyPr/>
          <a:lstStyle/>
          <a:p>
            <a:endParaRPr lang="en-GB"/>
          </a:p>
        </p:txBody>
      </p:sp>
      <p:sp>
        <p:nvSpPr>
          <p:cNvPr id="24" name="Text 21"/>
          <p:cNvSpPr/>
          <p:nvPr/>
        </p:nvSpPr>
        <p:spPr>
          <a:xfrm>
            <a:off x="641908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2"/>
          <p:cNvSpPr/>
          <p:nvPr/>
        </p:nvSpPr>
        <p:spPr>
          <a:xfrm>
            <a:off x="6931152" y="359359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Owned by the teams</a:t>
            </a:r>
            <a:endParaRPr lang="en-US" sz="1500" dirty="0"/>
          </a:p>
        </p:txBody>
      </p:sp>
      <p:sp>
        <p:nvSpPr>
          <p:cNvPr id="26" name="Text 23"/>
          <p:cNvSpPr/>
          <p:nvPr/>
        </p:nvSpPr>
        <p:spPr>
          <a:xfrm>
            <a:off x="647395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Employees engaged in their own areas: they can explain the standards, they raise the actions, and improvement examples trace back to 5S activity.</a:t>
            </a:r>
            <a:endParaRPr lang="en-US" sz="1150" dirty="0"/>
          </a:p>
        </p:txBody>
      </p:sp>
      <p:sp>
        <p:nvSpPr>
          <p:cNvPr id="27" name="Text 24"/>
          <p:cNvSpPr/>
          <p:nvPr/>
        </p:nvSpPr>
        <p:spPr>
          <a:xfrm>
            <a:off x="457200" y="562356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The question the assessor is really asking: is this a way of working, or was it tidied for my visit?</a:t>
            </a:r>
            <a:endParaRPr lang="en-US" sz="1250" dirty="0"/>
          </a:p>
        </p:txBody>
      </p:sp>
      <p:sp>
        <p:nvSpPr>
          <p:cNvPr id="28" name="Rectangle 27"/>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10606913"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11219561" y="100584"/>
            <a:ext cx="658368" cy="347472"/>
          </a:xfrm>
          <a:prstGeom prst="rect">
            <a:avLst/>
          </a:prstGeom>
        </p:spPr>
      </p:pic>
      <p:sp>
        <p:nvSpPr>
          <p:cNvPr id="31" name="Rectangle 30"/>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5S in a nuclear supply chain</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In nuclear work, workplace organisation is a quality and safety control, not housekeeping.</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5</a:t>
            </a:r>
            <a:endParaRPr lang="en-US" sz="900" dirty="0"/>
          </a:p>
        </p:txBody>
      </p:sp>
      <p:sp>
        <p:nvSpPr>
          <p:cNvPr id="7" name="Shape 4"/>
          <p:cNvSpPr/>
          <p:nvPr/>
        </p:nvSpPr>
        <p:spPr>
          <a:xfrm>
            <a:off x="457200" y="1280160"/>
            <a:ext cx="5486400" cy="2011680"/>
          </a:xfrm>
          <a:prstGeom prst="roundRect">
            <a:avLst>
              <a:gd name="adj" fmla="val 3182"/>
            </a:avLst>
          </a:prstGeom>
          <a:solidFill>
            <a:srgbClr val="E5F5FD"/>
          </a:solidFill>
          <a:ln/>
        </p:spPr>
        <p:txBody>
          <a:bodyPr/>
          <a:lstStyle/>
          <a:p>
            <a:endParaRPr lang="en-GB"/>
          </a:p>
        </p:txBody>
      </p:sp>
      <p:sp>
        <p:nvSpPr>
          <p:cNvPr id="8" name="Text 5"/>
          <p:cNvSpPr/>
          <p:nvPr/>
        </p:nvSpPr>
        <p:spPr>
          <a:xfrm>
            <a:off x="685800" y="1444752"/>
            <a:ext cx="5029200" cy="411480"/>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Material segregation</a:t>
            </a:r>
            <a:endParaRPr lang="en-US" sz="1450" dirty="0"/>
          </a:p>
        </p:txBody>
      </p:sp>
      <p:sp>
        <p:nvSpPr>
          <p:cNvPr id="9" name="Text 6"/>
          <p:cNvSpPr/>
          <p:nvPr/>
        </p:nvSpPr>
        <p:spPr>
          <a:xfrm>
            <a:off x="685800" y="1901952"/>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Nuclear-grade and commercial-grade material, certified and uncertified stock, conforming and quarantined parts: 5S locations and labelling make segregation physical, not procedural.</a:t>
            </a:r>
            <a:endParaRPr lang="en-US" sz="1150" dirty="0"/>
          </a:p>
        </p:txBody>
      </p:sp>
      <p:sp>
        <p:nvSpPr>
          <p:cNvPr id="10" name="Shape 7"/>
          <p:cNvSpPr/>
          <p:nvPr/>
        </p:nvSpPr>
        <p:spPr>
          <a:xfrm>
            <a:off x="6217920" y="1280160"/>
            <a:ext cx="5486400" cy="2011680"/>
          </a:xfrm>
          <a:prstGeom prst="roundRect">
            <a:avLst>
              <a:gd name="adj" fmla="val 3182"/>
            </a:avLst>
          </a:prstGeom>
          <a:solidFill>
            <a:srgbClr val="F3E9F5"/>
          </a:solidFill>
          <a:ln/>
        </p:spPr>
        <p:txBody>
          <a:bodyPr/>
          <a:lstStyle/>
          <a:p>
            <a:endParaRPr lang="en-GB"/>
          </a:p>
        </p:txBody>
      </p:sp>
      <p:sp>
        <p:nvSpPr>
          <p:cNvPr id="11" name="Text 8"/>
          <p:cNvSpPr/>
          <p:nvPr/>
        </p:nvSpPr>
        <p:spPr>
          <a:xfrm>
            <a:off x="6446520" y="1444752"/>
            <a:ext cx="5029200" cy="411480"/>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Foreign object prevention</a:t>
            </a:r>
            <a:endParaRPr lang="en-US" sz="1450" dirty="0"/>
          </a:p>
        </p:txBody>
      </p:sp>
      <p:sp>
        <p:nvSpPr>
          <p:cNvPr id="12" name="Text 9"/>
          <p:cNvSpPr/>
          <p:nvPr/>
        </p:nvSpPr>
        <p:spPr>
          <a:xfrm>
            <a:off x="6446520" y="1901952"/>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Loose fasteners, swarf, broken tooling and stray consumables are foreign object hazards in nuclear components. Shine routines and shadow boards are your FOD controls.</a:t>
            </a:r>
            <a:endParaRPr lang="en-US" sz="1150" dirty="0"/>
          </a:p>
        </p:txBody>
      </p:sp>
      <p:sp>
        <p:nvSpPr>
          <p:cNvPr id="13" name="Shape 10"/>
          <p:cNvSpPr/>
          <p:nvPr/>
        </p:nvSpPr>
        <p:spPr>
          <a:xfrm>
            <a:off x="457200" y="3474720"/>
            <a:ext cx="5486400" cy="2011680"/>
          </a:xfrm>
          <a:prstGeom prst="roundRect">
            <a:avLst>
              <a:gd name="adj" fmla="val 3182"/>
            </a:avLst>
          </a:prstGeom>
          <a:solidFill>
            <a:srgbClr val="E5F5FD"/>
          </a:solidFill>
          <a:ln/>
        </p:spPr>
        <p:txBody>
          <a:bodyPr/>
          <a:lstStyle/>
          <a:p>
            <a:endParaRPr lang="en-GB"/>
          </a:p>
        </p:txBody>
      </p:sp>
      <p:sp>
        <p:nvSpPr>
          <p:cNvPr id="14" name="Text 11"/>
          <p:cNvSpPr/>
          <p:nvPr/>
        </p:nvSpPr>
        <p:spPr>
          <a:xfrm>
            <a:off x="685800" y="3639312"/>
            <a:ext cx="5029200" cy="411480"/>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Traceability protection</a:t>
            </a:r>
            <a:endParaRPr lang="en-US" sz="1450" dirty="0"/>
          </a:p>
        </p:txBody>
      </p:sp>
      <p:sp>
        <p:nvSpPr>
          <p:cNvPr id="15" name="Text 12"/>
          <p:cNvSpPr/>
          <p:nvPr/>
        </p:nvSpPr>
        <p:spPr>
          <a:xfrm>
            <a:off x="685800" y="4096512"/>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Controlled documents, route cards and certificates each get a designated home. A drawing of the wrong revision left at a workstation is a nonconformance waiting to happen.</a:t>
            </a:r>
            <a:endParaRPr lang="en-US" sz="1150" dirty="0"/>
          </a:p>
        </p:txBody>
      </p:sp>
      <p:sp>
        <p:nvSpPr>
          <p:cNvPr id="16" name="Shape 13"/>
          <p:cNvSpPr/>
          <p:nvPr/>
        </p:nvSpPr>
        <p:spPr>
          <a:xfrm>
            <a:off x="6217920" y="3474720"/>
            <a:ext cx="5486400" cy="2011680"/>
          </a:xfrm>
          <a:prstGeom prst="roundRect">
            <a:avLst>
              <a:gd name="adj" fmla="val 3182"/>
            </a:avLst>
          </a:prstGeom>
          <a:solidFill>
            <a:srgbClr val="F3E9F5"/>
          </a:solidFill>
          <a:ln/>
        </p:spPr>
        <p:txBody>
          <a:bodyPr/>
          <a:lstStyle/>
          <a:p>
            <a:endParaRPr lang="en-GB"/>
          </a:p>
        </p:txBody>
      </p:sp>
      <p:sp>
        <p:nvSpPr>
          <p:cNvPr id="17" name="Text 14"/>
          <p:cNvSpPr/>
          <p:nvPr/>
        </p:nvSpPr>
        <p:spPr>
          <a:xfrm>
            <a:off x="6446520" y="3639312"/>
            <a:ext cx="5029200" cy="411480"/>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CFSI defence</a:t>
            </a:r>
            <a:endParaRPr lang="en-US" sz="1450" dirty="0"/>
          </a:p>
        </p:txBody>
      </p:sp>
      <p:sp>
        <p:nvSpPr>
          <p:cNvPr id="18" name="Text 15"/>
          <p:cNvSpPr/>
          <p:nvPr/>
        </p:nvSpPr>
        <p:spPr>
          <a:xfrm>
            <a:off x="6446520" y="4096512"/>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Counterfeit and suspect items thrive in cluttered stores. A sorted, labelled, quarantine-disciplined goods area is one of your strongest practical CFSI barriers.</a:t>
            </a:r>
            <a:endParaRPr lang="en-US" sz="1150" dirty="0"/>
          </a:p>
        </p:txBody>
      </p:sp>
      <p:sp>
        <p:nvSpPr>
          <p:cNvPr id="19" name="Text 16"/>
          <p:cNvSpPr/>
          <p:nvPr/>
        </p:nvSpPr>
        <p:spPr>
          <a:xfrm>
            <a:off x="457200" y="571500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See the Nuclear Awareness category of the toolkit for full guidance on safety culture and CFSI.</a:t>
            </a:r>
            <a:endParaRPr lang="en-US" sz="1250" dirty="0"/>
          </a:p>
        </p:txBody>
      </p:sp>
      <p:sp>
        <p:nvSpPr>
          <p:cNvPr id="20" name="Rectangle 19"/>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10606913"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11219561" y="100584"/>
            <a:ext cx="658368" cy="347472"/>
          </a:xfrm>
          <a:prstGeom prst="rect">
            <a:avLst/>
          </a:prstGeom>
        </p:spPr>
      </p:pic>
      <p:sp>
        <p:nvSpPr>
          <p:cNvPr id="23" name="Rectangle 22"/>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Before you start</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An hour of preparation saves a wasted launch.</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6</a:t>
            </a:r>
            <a:endParaRPr lang="en-US" sz="900" dirty="0"/>
          </a:p>
        </p:txBody>
      </p:sp>
      <p:sp>
        <p:nvSpPr>
          <p:cNvPr id="7" name="Shape 4"/>
          <p:cNvSpPr/>
          <p:nvPr/>
        </p:nvSpPr>
        <p:spPr>
          <a:xfrm>
            <a:off x="457200" y="1280160"/>
            <a:ext cx="5486400" cy="1965960"/>
          </a:xfrm>
          <a:prstGeom prst="roundRect">
            <a:avLst>
              <a:gd name="adj" fmla="val 3256"/>
            </a:avLst>
          </a:prstGeom>
          <a:solidFill>
            <a:srgbClr val="E5F5FD"/>
          </a:solidFill>
          <a:ln/>
        </p:spPr>
        <p:txBody>
          <a:bodyPr/>
          <a:lstStyle/>
          <a:p>
            <a:endParaRPr lang="en-GB"/>
          </a:p>
        </p:txBody>
      </p:sp>
      <p:sp>
        <p:nvSpPr>
          <p:cNvPr id="8" name="Shape 5"/>
          <p:cNvSpPr/>
          <p:nvPr/>
        </p:nvSpPr>
        <p:spPr>
          <a:xfrm>
            <a:off x="658368" y="1463040"/>
            <a:ext cx="384048" cy="384048"/>
          </a:xfrm>
          <a:prstGeom prst="ellipse">
            <a:avLst/>
          </a:prstGeom>
          <a:solidFill>
            <a:srgbClr val="009FE3"/>
          </a:solidFill>
          <a:ln/>
        </p:spPr>
        <p:txBody>
          <a:bodyPr/>
          <a:lstStyle/>
          <a:p>
            <a:endParaRPr lang="en-GB"/>
          </a:p>
        </p:txBody>
      </p:sp>
      <p:sp>
        <p:nvSpPr>
          <p:cNvPr id="9" name="Text 6"/>
          <p:cNvSpPr/>
          <p:nvPr/>
        </p:nvSpPr>
        <p:spPr>
          <a:xfrm>
            <a:off x="65836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p:nvPr/>
        </p:nvSpPr>
        <p:spPr>
          <a:xfrm>
            <a:off x="1170432" y="144475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Pick a pilot area</a:t>
            </a:r>
            <a:endParaRPr lang="en-US" sz="1500" dirty="0"/>
          </a:p>
        </p:txBody>
      </p:sp>
      <p:sp>
        <p:nvSpPr>
          <p:cNvPr id="11" name="Text 8"/>
          <p:cNvSpPr/>
          <p:nvPr/>
        </p:nvSpPr>
        <p:spPr>
          <a:xfrm>
            <a:off x="71323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Choose one area with a willing team and visible pain: a workshop bay, the stores pick face, a maintenance cage. Success here sells 5S to everyone else.</a:t>
            </a:r>
            <a:endParaRPr lang="en-US" sz="1150" dirty="0"/>
          </a:p>
        </p:txBody>
      </p:sp>
      <p:sp>
        <p:nvSpPr>
          <p:cNvPr id="12" name="Shape 9"/>
          <p:cNvSpPr/>
          <p:nvPr/>
        </p:nvSpPr>
        <p:spPr>
          <a:xfrm>
            <a:off x="6217920" y="1280160"/>
            <a:ext cx="5486400" cy="1965960"/>
          </a:xfrm>
          <a:prstGeom prst="roundRect">
            <a:avLst>
              <a:gd name="adj" fmla="val 3256"/>
            </a:avLst>
          </a:prstGeom>
          <a:solidFill>
            <a:srgbClr val="F3E9F5"/>
          </a:solidFill>
          <a:ln/>
        </p:spPr>
        <p:txBody>
          <a:bodyPr/>
          <a:lstStyle/>
          <a:p>
            <a:endParaRPr lang="en-GB"/>
          </a:p>
        </p:txBody>
      </p:sp>
      <p:sp>
        <p:nvSpPr>
          <p:cNvPr id="13" name="Shape 10"/>
          <p:cNvSpPr/>
          <p:nvPr/>
        </p:nvSpPr>
        <p:spPr>
          <a:xfrm>
            <a:off x="6419088" y="1463040"/>
            <a:ext cx="384048" cy="384048"/>
          </a:xfrm>
          <a:prstGeom prst="ellipse">
            <a:avLst/>
          </a:prstGeom>
          <a:solidFill>
            <a:srgbClr val="83348F"/>
          </a:solidFill>
          <a:ln/>
        </p:spPr>
        <p:txBody>
          <a:bodyPr/>
          <a:lstStyle/>
          <a:p>
            <a:endParaRPr lang="en-GB"/>
          </a:p>
        </p:txBody>
      </p:sp>
      <p:sp>
        <p:nvSpPr>
          <p:cNvPr id="14" name="Text 11"/>
          <p:cNvSpPr/>
          <p:nvPr/>
        </p:nvSpPr>
        <p:spPr>
          <a:xfrm>
            <a:off x="641908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6931152" y="144475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Take baseline photos</a:t>
            </a:r>
            <a:endParaRPr lang="en-US" sz="1500" dirty="0"/>
          </a:p>
        </p:txBody>
      </p:sp>
      <p:sp>
        <p:nvSpPr>
          <p:cNvPr id="16" name="Text 13"/>
          <p:cNvSpPr/>
          <p:nvPr/>
        </p:nvSpPr>
        <p:spPr>
          <a:xfrm>
            <a:off x="647395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Photograph the area exactly as it is, from fixed points you can repeat. Before-and-after photos are your most persuasive evidence, internally and at verification.</a:t>
            </a:r>
            <a:endParaRPr lang="en-US" sz="1150" dirty="0"/>
          </a:p>
        </p:txBody>
      </p:sp>
      <p:sp>
        <p:nvSpPr>
          <p:cNvPr id="17" name="Shape 14"/>
          <p:cNvSpPr/>
          <p:nvPr/>
        </p:nvSpPr>
        <p:spPr>
          <a:xfrm>
            <a:off x="457200" y="3429000"/>
            <a:ext cx="5486400" cy="1965960"/>
          </a:xfrm>
          <a:prstGeom prst="roundRect">
            <a:avLst>
              <a:gd name="adj" fmla="val 3256"/>
            </a:avLst>
          </a:prstGeom>
          <a:solidFill>
            <a:srgbClr val="E5F5FD"/>
          </a:solidFill>
          <a:ln/>
        </p:spPr>
        <p:txBody>
          <a:bodyPr/>
          <a:lstStyle/>
          <a:p>
            <a:endParaRPr lang="en-GB"/>
          </a:p>
        </p:txBody>
      </p:sp>
      <p:sp>
        <p:nvSpPr>
          <p:cNvPr id="18" name="Shape 15"/>
          <p:cNvSpPr/>
          <p:nvPr/>
        </p:nvSpPr>
        <p:spPr>
          <a:xfrm>
            <a:off x="658368" y="3611880"/>
            <a:ext cx="384048" cy="384048"/>
          </a:xfrm>
          <a:prstGeom prst="ellipse">
            <a:avLst/>
          </a:prstGeom>
          <a:solidFill>
            <a:srgbClr val="009FE3"/>
          </a:solidFill>
          <a:ln/>
        </p:spPr>
        <p:txBody>
          <a:bodyPr/>
          <a:lstStyle/>
          <a:p>
            <a:endParaRPr lang="en-GB"/>
          </a:p>
        </p:txBody>
      </p:sp>
      <p:sp>
        <p:nvSpPr>
          <p:cNvPr id="19" name="Text 16"/>
          <p:cNvSpPr/>
          <p:nvPr/>
        </p:nvSpPr>
        <p:spPr>
          <a:xfrm>
            <a:off x="65836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70432" y="359359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Form the area team</a:t>
            </a:r>
            <a:endParaRPr lang="en-US" sz="1500" dirty="0"/>
          </a:p>
        </p:txBody>
      </p:sp>
      <p:sp>
        <p:nvSpPr>
          <p:cNvPr id="21" name="Text 18"/>
          <p:cNvSpPr/>
          <p:nvPr/>
        </p:nvSpPr>
        <p:spPr>
          <a:xfrm>
            <a:off x="71323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The people who work in the area do the 5S, with a facilitator. 5S done to a team by outsiders does not survive the first week.</a:t>
            </a:r>
            <a:endParaRPr lang="en-US" sz="1150" dirty="0"/>
          </a:p>
        </p:txBody>
      </p:sp>
      <p:sp>
        <p:nvSpPr>
          <p:cNvPr id="22" name="Shape 19"/>
          <p:cNvSpPr/>
          <p:nvPr/>
        </p:nvSpPr>
        <p:spPr>
          <a:xfrm>
            <a:off x="6217920" y="3429000"/>
            <a:ext cx="5486400" cy="1965960"/>
          </a:xfrm>
          <a:prstGeom prst="roundRect">
            <a:avLst>
              <a:gd name="adj" fmla="val 3256"/>
            </a:avLst>
          </a:prstGeom>
          <a:solidFill>
            <a:srgbClr val="F3E9F5"/>
          </a:solidFill>
          <a:ln/>
        </p:spPr>
        <p:txBody>
          <a:bodyPr/>
          <a:lstStyle/>
          <a:p>
            <a:endParaRPr lang="en-GB"/>
          </a:p>
        </p:txBody>
      </p:sp>
      <p:sp>
        <p:nvSpPr>
          <p:cNvPr id="23" name="Shape 20"/>
          <p:cNvSpPr/>
          <p:nvPr/>
        </p:nvSpPr>
        <p:spPr>
          <a:xfrm>
            <a:off x="6419088" y="3611880"/>
            <a:ext cx="384048" cy="384048"/>
          </a:xfrm>
          <a:prstGeom prst="ellipse">
            <a:avLst/>
          </a:prstGeom>
          <a:solidFill>
            <a:srgbClr val="83348F"/>
          </a:solidFill>
          <a:ln/>
        </p:spPr>
        <p:txBody>
          <a:bodyPr/>
          <a:lstStyle/>
          <a:p>
            <a:endParaRPr lang="en-GB"/>
          </a:p>
        </p:txBody>
      </p:sp>
      <p:sp>
        <p:nvSpPr>
          <p:cNvPr id="24" name="Text 21"/>
          <p:cNvSpPr/>
          <p:nvPr/>
        </p:nvSpPr>
        <p:spPr>
          <a:xfrm>
            <a:off x="641908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2"/>
          <p:cNvSpPr/>
          <p:nvPr/>
        </p:nvSpPr>
        <p:spPr>
          <a:xfrm>
            <a:off x="6931152" y="359359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Set up the basics</a:t>
            </a:r>
            <a:endParaRPr lang="en-US" sz="1500" dirty="0"/>
          </a:p>
        </p:txBody>
      </p:sp>
      <p:sp>
        <p:nvSpPr>
          <p:cNvPr id="26" name="Text 23"/>
          <p:cNvSpPr/>
          <p:nvPr/>
        </p:nvSpPr>
        <p:spPr>
          <a:xfrm>
            <a:off x="647395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Red tags and a holding area (PE-05c), the audit sheet (PE-05a), camera, labels, floor tape, cleaning kit. Book the time: a focused day for the first three Ss.</a:t>
            </a:r>
            <a:endParaRPr lang="en-US" sz="1150" dirty="0"/>
          </a:p>
        </p:txBody>
      </p:sp>
      <p:sp>
        <p:nvSpPr>
          <p:cNvPr id="27" name="Text 24"/>
          <p:cNvSpPr/>
          <p:nvPr/>
        </p:nvSpPr>
        <p:spPr>
          <a:xfrm>
            <a:off x="457200" y="562356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The implementation roadmap (PE-05e) lays this out phase by phase for a full site roll-out.</a:t>
            </a:r>
            <a:endParaRPr lang="en-US" sz="1250" dirty="0"/>
          </a:p>
        </p:txBody>
      </p:sp>
      <p:sp>
        <p:nvSpPr>
          <p:cNvPr id="28" name="Rectangle 27"/>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10606913"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11219561" y="100584"/>
            <a:ext cx="658368" cy="347472"/>
          </a:xfrm>
          <a:prstGeom prst="rect">
            <a:avLst/>
          </a:prstGeom>
        </p:spPr>
      </p:pic>
      <p:sp>
        <p:nvSpPr>
          <p:cNvPr id="31" name="Rectangle 30"/>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1S  Sort: only what is needed</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If in doubt, move it out.</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7</a:t>
            </a:r>
            <a:endParaRPr lang="en-US" sz="900" dirty="0"/>
          </a:p>
        </p:txBody>
      </p:sp>
      <p:sp>
        <p:nvSpPr>
          <p:cNvPr id="7" name="Text 4"/>
          <p:cNvSpPr/>
          <p:nvPr/>
        </p:nvSpPr>
        <p:spPr>
          <a:xfrm>
            <a:off x="457200" y="1188720"/>
            <a:ext cx="5486400" cy="1554480"/>
          </a:xfrm>
          <a:prstGeom prst="rect">
            <a:avLst/>
          </a:prstGeom>
          <a:noFill/>
          <a:ln/>
        </p:spPr>
        <p:txBody>
          <a:bodyPr wrap="square" rtlCol="0" anchor="t"/>
          <a:lstStyle/>
          <a:p>
            <a:pPr marL="0" indent="0">
              <a:lnSpc>
                <a:spcPts val="1800"/>
              </a:lnSpc>
              <a:buNone/>
            </a:pPr>
            <a:r>
              <a:rPr lang="en-US" sz="1350" dirty="0">
                <a:solidFill>
                  <a:srgbClr val="5B595A"/>
                </a:solidFill>
                <a:latin typeface="Arial" pitchFamily="34" charset="0"/>
                <a:ea typeface="Arial" pitchFamily="34" charset="-122"/>
                <a:cs typeface="Arial" pitchFamily="34" charset="-120"/>
              </a:rPr>
              <a:t>Separate what the work actually needs from everything else. The test is use, not value: an expensive jig that has not been used in two years does not earn its place at the workstation.
</a:t>
            </a:r>
            <a:r>
              <a:rPr lang="en-US" sz="1350" b="1" dirty="0">
                <a:solidFill>
                  <a:srgbClr val="83348F"/>
                </a:solidFill>
                <a:latin typeface="Arial" pitchFamily="34" charset="0"/>
                <a:ea typeface="Arial" pitchFamily="34" charset="-122"/>
                <a:cs typeface="Arial" pitchFamily="34" charset="-120"/>
              </a:rPr>
              <a:t>Decide by frequency of use: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5486400" cy="25146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pPr marL="0" indent="0">
                        <a:buNone/>
                      </a:pPr>
                      <a:r>
                        <a:rPr lang="en-US" sz="1200" b="1" dirty="0">
                          <a:solidFill>
                            <a:srgbClr val="FFFFFF"/>
                          </a:solidFill>
                          <a:latin typeface="Arial" pitchFamily="34" charset="0"/>
                          <a:ea typeface="Arial" pitchFamily="34" charset="-122"/>
                          <a:cs typeface="Arial" pitchFamily="34" charset="-120"/>
                        </a:rPr>
                        <a:t>Frequency of use</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9FE3"/>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Where it lives</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9FE3"/>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5B595A"/>
                          </a:solidFill>
                          <a:latin typeface="Arial" pitchFamily="34" charset="0"/>
                          <a:ea typeface="Arial" pitchFamily="34" charset="-122"/>
                          <a:cs typeface="Arial" pitchFamily="34" charset="-120"/>
                        </a:rPr>
                        <a:t>Hourly or daily</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200" dirty="0">
                          <a:solidFill>
                            <a:srgbClr val="5B595A"/>
                          </a:solidFill>
                          <a:latin typeface="Arial" pitchFamily="34" charset="0"/>
                          <a:ea typeface="Arial" pitchFamily="34" charset="-122"/>
                          <a:cs typeface="Arial" pitchFamily="34" charset="-120"/>
                        </a:rPr>
                        <a:t>At the point of use, within reach</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5B595A"/>
                          </a:solidFill>
                          <a:latin typeface="Arial" pitchFamily="34" charset="0"/>
                          <a:ea typeface="Arial" pitchFamily="34" charset="-122"/>
                          <a:cs typeface="Arial" pitchFamily="34" charset="-120"/>
                        </a:rPr>
                        <a:t>Weekly or monthly</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dirty="0">
                          <a:solidFill>
                            <a:srgbClr val="5B595A"/>
                          </a:solidFill>
                          <a:latin typeface="Arial" pitchFamily="34" charset="0"/>
                          <a:ea typeface="Arial" pitchFamily="34" charset="-122"/>
                          <a:cs typeface="Arial" pitchFamily="34" charset="-120"/>
                        </a:rPr>
                        <a:t>In the area, but off the workstation</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5B595A"/>
                          </a:solidFill>
                          <a:latin typeface="Arial" pitchFamily="34" charset="0"/>
                          <a:ea typeface="Arial" pitchFamily="34" charset="-122"/>
                          <a:cs typeface="Arial" pitchFamily="34" charset="-120"/>
                        </a:rPr>
                        <a:t>Rarely (under once a year)</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tc>
                  <a:txBody>
                    <a:bodyPr/>
                    <a:lstStyle/>
                    <a:p>
                      <a:pPr marL="0" indent="0">
                        <a:buNone/>
                      </a:pPr>
                      <a:r>
                        <a:rPr lang="en-US" sz="1200" dirty="0">
                          <a:solidFill>
                            <a:srgbClr val="5B595A"/>
                          </a:solidFill>
                          <a:latin typeface="Arial" pitchFamily="34" charset="0"/>
                          <a:ea typeface="Arial" pitchFamily="34" charset="-122"/>
                          <a:cs typeface="Arial" pitchFamily="34" charset="-120"/>
                        </a:rPr>
                        <a:t>Central store, away from the workplace</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5F5FD"/>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5B595A"/>
                          </a:solidFill>
                          <a:latin typeface="Arial" pitchFamily="34" charset="0"/>
                          <a:ea typeface="Arial" pitchFamily="34" charset="-122"/>
                          <a:cs typeface="Arial" pitchFamily="34" charset="-120"/>
                        </a:rPr>
                        <a:t>Never / unknown</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buNone/>
                      </a:pPr>
                      <a:r>
                        <a:rPr lang="en-US" sz="1200" dirty="0">
                          <a:solidFill>
                            <a:srgbClr val="5B595A"/>
                          </a:solidFill>
                          <a:latin typeface="Arial" pitchFamily="34" charset="0"/>
                          <a:ea typeface="Arial" pitchFamily="34" charset="-122"/>
                          <a:cs typeface="Arial" pitchFamily="34" charset="-120"/>
                        </a:rPr>
                        <a:t>Red tag it: disposition decision required</a:t>
                      </a:r>
                      <a:endParaRPr lang="en-US" sz="1200" dirty="0">
                        <a:latin typeface="Arial" charset="0"/>
                        <a:ea typeface="Arial" charset="0"/>
                        <a:cs typeface="Arial" charset="0"/>
                      </a:endParaRPr>
                    </a:p>
                  </a:txBody>
                  <a:tcPr marL="64008" marR="64008" marT="64008" marB="64008"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5"/>
          <p:cNvSpPr/>
          <p:nvPr/>
        </p:nvSpPr>
        <p:spPr>
          <a:xfrm>
            <a:off x="6400800" y="1188720"/>
            <a:ext cx="5330952" cy="4297680"/>
          </a:xfrm>
          <a:prstGeom prst="roundRect">
            <a:avLst>
              <a:gd name="adj" fmla="val 1489"/>
            </a:avLst>
          </a:prstGeom>
          <a:solidFill>
            <a:srgbClr val="F2F2F2"/>
          </a:solidFill>
          <a:ln/>
        </p:spPr>
        <p:txBody>
          <a:bodyPr/>
          <a:lstStyle/>
          <a:p>
            <a:endParaRPr lang="en-GB"/>
          </a:p>
        </p:txBody>
      </p:sp>
      <p:sp>
        <p:nvSpPr>
          <p:cNvPr id="10" name="Text 6"/>
          <p:cNvSpPr/>
          <p:nvPr/>
        </p:nvSpPr>
        <p:spPr>
          <a:xfrm>
            <a:off x="6629400" y="1371600"/>
            <a:ext cx="4846320" cy="365760"/>
          </a:xfrm>
          <a:prstGeom prst="rect">
            <a:avLst/>
          </a:prstGeom>
          <a:noFill/>
          <a:ln/>
        </p:spPr>
        <p:txBody>
          <a:bodyPr wrap="square" rtlCol="0" anchor="ctr"/>
          <a:lstStyle/>
          <a:p>
            <a:pPr marL="0" indent="0">
              <a:buNone/>
            </a:pPr>
            <a:r>
              <a:rPr lang="en-US" sz="1500" b="1" dirty="0">
                <a:solidFill>
                  <a:srgbClr val="5B595A"/>
                </a:solidFill>
                <a:latin typeface="Arial" pitchFamily="34" charset="0"/>
                <a:ea typeface="Arial" pitchFamily="34" charset="-122"/>
                <a:cs typeface="Arial" pitchFamily="34" charset="-120"/>
              </a:rPr>
              <a:t>What to look for</a:t>
            </a:r>
            <a:endParaRPr lang="en-US" sz="1500" dirty="0"/>
          </a:p>
        </p:txBody>
      </p:sp>
      <p:sp>
        <p:nvSpPr>
          <p:cNvPr id="11" name="Text 7"/>
          <p:cNvSpPr/>
          <p:nvPr/>
        </p:nvSpPr>
        <p:spPr>
          <a:xfrm>
            <a:off x="6675120" y="1828800"/>
            <a:ext cx="4846320" cy="3566160"/>
          </a:xfrm>
          <a:prstGeom prst="rect">
            <a:avLst/>
          </a:prstGeom>
          <a:noFill/>
          <a:ln/>
        </p:spPr>
        <p:txBody>
          <a:bodyPr wrap="square" rtlCol="0" anchor="t"/>
          <a:lstStyle/>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Tools and gauges nobody has used in months</a:t>
            </a:r>
            <a:endParaRPr lang="en-US" sz="1150" dirty="0"/>
          </a:p>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Obsolete fixtures, patterns and tooling</a:t>
            </a:r>
            <a:endParaRPr lang="en-US" sz="1150" dirty="0"/>
          </a:p>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Out-of-date drawings, documents and labels</a:t>
            </a:r>
            <a:endParaRPr lang="en-US" sz="1150" dirty="0"/>
          </a:p>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Excess WIP and over-ordered consumables</a:t>
            </a:r>
            <a:endParaRPr lang="en-US" sz="1150" dirty="0"/>
          </a:p>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Broken equipment awaiting a repair that never comes</a:t>
            </a:r>
            <a:endParaRPr lang="en-US" sz="1150" dirty="0"/>
          </a:p>
          <a:p>
            <a:pPr marL="342900" indent="-342900">
              <a:lnSpc>
                <a:spcPts val="1500"/>
              </a:lnSpc>
              <a:spcAft>
                <a:spcPts val="900"/>
              </a:spcAft>
              <a:buSzPct val="100000"/>
              <a:buChar char="•"/>
            </a:pPr>
            <a:r>
              <a:rPr lang="en-US" sz="1150" dirty="0">
                <a:solidFill>
                  <a:srgbClr val="5B595A"/>
                </a:solidFill>
                <a:latin typeface="Arial" pitchFamily="34" charset="0"/>
                <a:ea typeface="Arial" pitchFamily="34" charset="-122"/>
                <a:cs typeface="Arial" pitchFamily="34" charset="-120"/>
              </a:rPr>
              <a:t>Personal accumulations: keep these reasonable and designated, and never red tag people's family photos or plants without conversation</a:t>
            </a:r>
            <a:endParaRPr lang="en-US" sz="1150" dirty="0"/>
          </a:p>
        </p:txBody>
      </p:sp>
      <p:sp>
        <p:nvSpPr>
          <p:cNvPr id="12" name="Text 8"/>
          <p:cNvSpPr/>
          <p:nvPr/>
        </p:nvSpPr>
        <p:spPr>
          <a:xfrm>
            <a:off x="457200" y="576072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Output of Sort: a visibly emptier workplace, a full red tag holding area, and a disposition list with dates.</a:t>
            </a:r>
            <a:endParaRPr lang="en-US" sz="1250" dirty="0"/>
          </a:p>
        </p:txBody>
      </p:sp>
      <p:sp>
        <p:nvSpPr>
          <p:cNvPr id="13" name="Rectangle 12"/>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10606913" y="100584"/>
            <a:ext cx="566928" cy="347472"/>
          </a:xfrm>
          <a:prstGeom prst="rect">
            <a:avLst/>
          </a:prstGeom>
        </p:spPr>
      </p:pic>
      <p:pic>
        <p:nvPicPr>
          <p:cNvPr id="15" name="Picture 14" descr="image.png"/>
          <p:cNvPicPr>
            <a:picLocks noChangeAspect="1"/>
          </p:cNvPicPr>
          <p:nvPr/>
        </p:nvPicPr>
        <p:blipFill>
          <a:blip r:embed="rId4"/>
          <a:stretch>
            <a:fillRect/>
          </a:stretch>
        </p:blipFill>
        <p:spPr>
          <a:xfrm>
            <a:off x="11219561" y="100584"/>
            <a:ext cx="658368" cy="347472"/>
          </a:xfrm>
          <a:prstGeom prst="rect">
            <a:avLst/>
          </a:prstGeom>
        </p:spPr>
      </p:pic>
      <p:sp>
        <p:nvSpPr>
          <p:cNvPr id="16" name="Rectangle 15"/>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The red tag process</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A fair, visible way to challenge every item's right to be there.</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8</a:t>
            </a:r>
            <a:endParaRPr lang="en-US" sz="900" dirty="0"/>
          </a:p>
        </p:txBody>
      </p:sp>
      <p:sp>
        <p:nvSpPr>
          <p:cNvPr id="7" name="Shape 4"/>
          <p:cNvSpPr/>
          <p:nvPr/>
        </p:nvSpPr>
        <p:spPr>
          <a:xfrm>
            <a:off x="457200" y="1280160"/>
            <a:ext cx="1828800" cy="914400"/>
          </a:xfrm>
          <a:prstGeom prst="roundRect">
            <a:avLst>
              <a:gd name="adj" fmla="val 7000"/>
            </a:avLst>
          </a:prstGeom>
          <a:solidFill>
            <a:srgbClr val="C62828"/>
          </a:solidFill>
          <a:ln/>
        </p:spPr>
        <p:txBody>
          <a:bodyPr/>
          <a:lstStyle/>
          <a:p>
            <a:endParaRPr lang="en-GB"/>
          </a:p>
        </p:txBody>
      </p:sp>
      <p:sp>
        <p:nvSpPr>
          <p:cNvPr id="8" name="Text 5"/>
          <p:cNvSpPr/>
          <p:nvPr/>
        </p:nvSpPr>
        <p:spPr>
          <a:xfrm>
            <a:off x="457200" y="1280160"/>
            <a:ext cx="1828800" cy="9144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Tag</a:t>
            </a:r>
            <a:endParaRPr lang="en-US" sz="1600" dirty="0"/>
          </a:p>
        </p:txBody>
      </p:sp>
      <p:sp>
        <p:nvSpPr>
          <p:cNvPr id="9" name="Text 6"/>
          <p:cNvSpPr/>
          <p:nvPr/>
        </p:nvSpPr>
        <p:spPr>
          <a:xfrm>
            <a:off x="2514600" y="1280160"/>
            <a:ext cx="9189720" cy="914400"/>
          </a:xfrm>
          <a:prstGeom prst="rect">
            <a:avLst/>
          </a:prstGeom>
          <a:noFill/>
          <a:ln/>
        </p:spPr>
        <p:txBody>
          <a:bodyPr wrap="square" rtlCol="0" anchor="ctr"/>
          <a:lstStyle/>
          <a:p>
            <a:pPr marL="0" indent="0">
              <a:lnSpc>
                <a:spcPts val="1500"/>
              </a:lnSpc>
              <a:buNone/>
            </a:pPr>
            <a:r>
              <a:rPr lang="en-US" sz="1150" dirty="0">
                <a:solidFill>
                  <a:srgbClr val="5B595A"/>
                </a:solidFill>
                <a:latin typeface="Arial" pitchFamily="34" charset="0"/>
                <a:ea typeface="Arial" pitchFamily="34" charset="-122"/>
                <a:cs typeface="Arial" pitchFamily="34" charset="-120"/>
              </a:rPr>
              <a:t>Anything not clearly needed gets a red tag (PE-05c): what it is, where found, why tagged, by whom. One tag per item; tag fairly across all areas; never tag people or reasonable personal items.</a:t>
            </a:r>
            <a:endParaRPr lang="en-US" sz="1150" dirty="0"/>
          </a:p>
        </p:txBody>
      </p:sp>
      <p:sp>
        <p:nvSpPr>
          <p:cNvPr id="10" name="Shape 7"/>
          <p:cNvSpPr/>
          <p:nvPr/>
        </p:nvSpPr>
        <p:spPr>
          <a:xfrm>
            <a:off x="457200" y="2359152"/>
            <a:ext cx="1828800" cy="914400"/>
          </a:xfrm>
          <a:prstGeom prst="roundRect">
            <a:avLst>
              <a:gd name="adj" fmla="val 7000"/>
            </a:avLst>
          </a:prstGeom>
          <a:solidFill>
            <a:srgbClr val="83348F"/>
          </a:solidFill>
          <a:ln/>
        </p:spPr>
        <p:txBody>
          <a:bodyPr/>
          <a:lstStyle/>
          <a:p>
            <a:endParaRPr lang="en-GB"/>
          </a:p>
        </p:txBody>
      </p:sp>
      <p:sp>
        <p:nvSpPr>
          <p:cNvPr id="11" name="Text 8"/>
          <p:cNvSpPr/>
          <p:nvPr/>
        </p:nvSpPr>
        <p:spPr>
          <a:xfrm>
            <a:off x="457200" y="2359152"/>
            <a:ext cx="1828800" cy="9144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Move</a:t>
            </a:r>
            <a:endParaRPr lang="en-US" sz="1600" dirty="0"/>
          </a:p>
        </p:txBody>
      </p:sp>
      <p:sp>
        <p:nvSpPr>
          <p:cNvPr id="12" name="Text 9"/>
          <p:cNvSpPr/>
          <p:nvPr/>
        </p:nvSpPr>
        <p:spPr>
          <a:xfrm>
            <a:off x="2514600" y="2359152"/>
            <a:ext cx="9189720" cy="914400"/>
          </a:xfrm>
          <a:prstGeom prst="rect">
            <a:avLst/>
          </a:prstGeom>
          <a:noFill/>
          <a:ln/>
        </p:spPr>
        <p:txBody>
          <a:bodyPr wrap="square" rtlCol="0" anchor="ctr"/>
          <a:lstStyle/>
          <a:p>
            <a:pPr marL="0" indent="0">
              <a:lnSpc>
                <a:spcPts val="1500"/>
              </a:lnSpc>
              <a:buNone/>
            </a:pPr>
            <a:r>
              <a:rPr lang="en-US" sz="1150" dirty="0">
                <a:solidFill>
                  <a:srgbClr val="5B595A"/>
                </a:solidFill>
                <a:latin typeface="Arial" pitchFamily="34" charset="0"/>
                <a:ea typeface="Arial" pitchFamily="34" charset="-122"/>
                <a:cs typeface="Arial" pitchFamily="34" charset="-120"/>
              </a:rPr>
              <a:t>Tagged items go to a designated red tag holding area, out of the workplace but visible. Remove obvious rubbish immediately; it needs a bin, not a tag.</a:t>
            </a:r>
            <a:endParaRPr lang="en-US" sz="1150" dirty="0"/>
          </a:p>
        </p:txBody>
      </p:sp>
      <p:sp>
        <p:nvSpPr>
          <p:cNvPr id="13" name="Shape 10"/>
          <p:cNvSpPr/>
          <p:nvPr/>
        </p:nvSpPr>
        <p:spPr>
          <a:xfrm>
            <a:off x="457200" y="3438144"/>
            <a:ext cx="1828800" cy="914400"/>
          </a:xfrm>
          <a:prstGeom prst="roundRect">
            <a:avLst>
              <a:gd name="adj" fmla="val 7000"/>
            </a:avLst>
          </a:prstGeom>
          <a:solidFill>
            <a:srgbClr val="C62828"/>
          </a:solidFill>
          <a:ln/>
        </p:spPr>
        <p:txBody>
          <a:bodyPr/>
          <a:lstStyle/>
          <a:p>
            <a:endParaRPr lang="en-GB"/>
          </a:p>
        </p:txBody>
      </p:sp>
      <p:sp>
        <p:nvSpPr>
          <p:cNvPr id="14" name="Text 11"/>
          <p:cNvSpPr/>
          <p:nvPr/>
        </p:nvSpPr>
        <p:spPr>
          <a:xfrm>
            <a:off x="457200" y="3438144"/>
            <a:ext cx="1828800" cy="9144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Decide</a:t>
            </a:r>
            <a:endParaRPr lang="en-US" sz="1600" dirty="0"/>
          </a:p>
        </p:txBody>
      </p:sp>
      <p:sp>
        <p:nvSpPr>
          <p:cNvPr id="15" name="Text 12"/>
          <p:cNvSpPr/>
          <p:nvPr/>
        </p:nvSpPr>
        <p:spPr>
          <a:xfrm>
            <a:off x="2514600" y="3438144"/>
            <a:ext cx="9189720" cy="914400"/>
          </a:xfrm>
          <a:prstGeom prst="rect">
            <a:avLst/>
          </a:prstGeom>
          <a:noFill/>
          <a:ln/>
        </p:spPr>
        <p:txBody>
          <a:bodyPr wrap="square" rtlCol="0" anchor="ctr"/>
          <a:lstStyle/>
          <a:p>
            <a:pPr marL="0" indent="0">
              <a:lnSpc>
                <a:spcPts val="1500"/>
              </a:lnSpc>
              <a:buNone/>
            </a:pPr>
            <a:r>
              <a:rPr lang="en-US" sz="1150" dirty="0">
                <a:solidFill>
                  <a:srgbClr val="5B595A"/>
                </a:solidFill>
                <a:latin typeface="Arial" pitchFamily="34" charset="0"/>
                <a:ea typeface="Arial" pitchFamily="34" charset="-122"/>
                <a:cs typeface="Arial" pitchFamily="34" charset="-120"/>
              </a:rPr>
              <a:t>Within an agreed period (one to two weeks works well), a named decision-maker dispositions every tag: return, relocate, store centrally, sell, scrap.</a:t>
            </a:r>
            <a:endParaRPr lang="en-US" sz="1150" dirty="0"/>
          </a:p>
        </p:txBody>
      </p:sp>
      <p:sp>
        <p:nvSpPr>
          <p:cNvPr id="16" name="Shape 13"/>
          <p:cNvSpPr/>
          <p:nvPr/>
        </p:nvSpPr>
        <p:spPr>
          <a:xfrm>
            <a:off x="457200" y="4517136"/>
            <a:ext cx="1828800" cy="914400"/>
          </a:xfrm>
          <a:prstGeom prst="roundRect">
            <a:avLst>
              <a:gd name="adj" fmla="val 7000"/>
            </a:avLst>
          </a:prstGeom>
          <a:solidFill>
            <a:srgbClr val="83348F"/>
          </a:solidFill>
          <a:ln/>
        </p:spPr>
        <p:txBody>
          <a:bodyPr/>
          <a:lstStyle/>
          <a:p>
            <a:endParaRPr lang="en-GB"/>
          </a:p>
        </p:txBody>
      </p:sp>
      <p:sp>
        <p:nvSpPr>
          <p:cNvPr id="17" name="Text 14"/>
          <p:cNvSpPr/>
          <p:nvPr/>
        </p:nvSpPr>
        <p:spPr>
          <a:xfrm>
            <a:off x="457200" y="4517136"/>
            <a:ext cx="1828800" cy="91440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Record</a:t>
            </a:r>
            <a:endParaRPr lang="en-US" sz="1600" dirty="0"/>
          </a:p>
        </p:txBody>
      </p:sp>
      <p:sp>
        <p:nvSpPr>
          <p:cNvPr id="18" name="Text 15"/>
          <p:cNvSpPr/>
          <p:nvPr/>
        </p:nvSpPr>
        <p:spPr>
          <a:xfrm>
            <a:off x="2514600" y="4517136"/>
            <a:ext cx="9189720" cy="914400"/>
          </a:xfrm>
          <a:prstGeom prst="rect">
            <a:avLst/>
          </a:prstGeom>
          <a:noFill/>
          <a:ln/>
        </p:spPr>
        <p:txBody>
          <a:bodyPr wrap="square" rtlCol="0" anchor="ctr"/>
          <a:lstStyle/>
          <a:p>
            <a:pPr marL="0" indent="0">
              <a:lnSpc>
                <a:spcPts val="1500"/>
              </a:lnSpc>
              <a:buNone/>
            </a:pPr>
            <a:r>
              <a:rPr lang="en-US" sz="1150" dirty="0">
                <a:solidFill>
                  <a:srgbClr val="5B595A"/>
                </a:solidFill>
                <a:latin typeface="Arial" pitchFamily="34" charset="0"/>
                <a:ea typeface="Arial" pitchFamily="34" charset="-122"/>
                <a:cs typeface="Arial" pitchFamily="34" charset="-120"/>
              </a:rPr>
              <a:t>Log the outcome on the tag and the disposition list. Space freed, items scrapped and value recovered make a powerful first improvement story.</a:t>
            </a:r>
            <a:endParaRPr lang="en-US" sz="1150" dirty="0"/>
          </a:p>
        </p:txBody>
      </p:sp>
      <p:sp>
        <p:nvSpPr>
          <p:cNvPr id="19" name="Text 16"/>
          <p:cNvSpPr/>
          <p:nvPr/>
        </p:nvSpPr>
        <p:spPr>
          <a:xfrm>
            <a:off x="457200" y="5760720"/>
            <a:ext cx="11247120" cy="548640"/>
          </a:xfrm>
          <a:prstGeom prst="rect">
            <a:avLst/>
          </a:prstGeom>
          <a:noFill/>
          <a:ln/>
        </p:spPr>
        <p:txBody>
          <a:bodyPr wrap="square" rtlCol="0" anchor="ctr"/>
          <a:lstStyle/>
          <a:p>
            <a:pPr marL="0" indent="0">
              <a:lnSpc>
                <a:spcPts val="1600"/>
              </a:lnSpc>
              <a:buNone/>
            </a:pPr>
            <a:r>
              <a:rPr lang="en-US" sz="1250" i="1" dirty="0">
                <a:solidFill>
                  <a:srgbClr val="83348F"/>
                </a:solidFill>
                <a:latin typeface="Arial" pitchFamily="34" charset="0"/>
                <a:ea typeface="Arial" pitchFamily="34" charset="-122"/>
                <a:cs typeface="Arial" pitchFamily="34" charset="-120"/>
              </a:rPr>
              <a:t>Rules that keep it honest: if in doubt, move it out; do not compromise; one decision date for every tag, and no tag quietly returning to the workplace without a decision.</a:t>
            </a:r>
            <a:endParaRPr lang="en-US" sz="1250" dirty="0"/>
          </a:p>
        </p:txBody>
      </p:sp>
      <p:sp>
        <p:nvSpPr>
          <p:cNvPr id="20" name="Rectangle 19"/>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10606913"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11219561" y="100584"/>
            <a:ext cx="658368" cy="347472"/>
          </a:xfrm>
          <a:prstGeom prst="rect">
            <a:avLst/>
          </a:prstGeom>
        </p:spPr>
      </p:pic>
      <p:sp>
        <p:nvSpPr>
          <p:cNvPr id="23" name="Rectangle 22"/>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2S  Set in Order: a place for everything</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Make the workplace self-explanatory: anyone can find anything, and a missing item is obvious.</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9</a:t>
            </a:r>
            <a:endParaRPr lang="en-US" sz="900" dirty="0"/>
          </a:p>
        </p:txBody>
      </p:sp>
      <p:sp>
        <p:nvSpPr>
          <p:cNvPr id="7" name="Shape 4"/>
          <p:cNvSpPr/>
          <p:nvPr/>
        </p:nvSpPr>
        <p:spPr>
          <a:xfrm>
            <a:off x="457200" y="1280160"/>
            <a:ext cx="3703320" cy="2057400"/>
          </a:xfrm>
          <a:prstGeom prst="roundRect">
            <a:avLst>
              <a:gd name="adj" fmla="val 3111"/>
            </a:avLst>
          </a:prstGeom>
          <a:solidFill>
            <a:srgbClr val="E5F5FD"/>
          </a:solidFill>
          <a:ln/>
        </p:spPr>
        <p:txBody>
          <a:bodyPr/>
          <a:lstStyle/>
          <a:p>
            <a:endParaRPr lang="en-GB"/>
          </a:p>
        </p:txBody>
      </p:sp>
      <p:sp>
        <p:nvSpPr>
          <p:cNvPr id="8" name="Text 5"/>
          <p:cNvSpPr/>
          <p:nvPr/>
        </p:nvSpPr>
        <p:spPr>
          <a:xfrm>
            <a:off x="658368" y="142646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Locate by frequency</a:t>
            </a:r>
            <a:endParaRPr lang="en-US" sz="1450" dirty="0"/>
          </a:p>
        </p:txBody>
      </p:sp>
      <p:sp>
        <p:nvSpPr>
          <p:cNvPr id="9" name="Text 6"/>
          <p:cNvSpPr/>
          <p:nvPr/>
        </p:nvSpPr>
        <p:spPr>
          <a:xfrm>
            <a:off x="658368" y="188366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The most-used items closest to the hands that use them. Heavy items at waist height; rarely used items further away.</a:t>
            </a:r>
            <a:endParaRPr lang="en-US" sz="1100" dirty="0"/>
          </a:p>
        </p:txBody>
      </p:sp>
      <p:sp>
        <p:nvSpPr>
          <p:cNvPr id="10" name="Shape 7"/>
          <p:cNvSpPr/>
          <p:nvPr/>
        </p:nvSpPr>
        <p:spPr>
          <a:xfrm>
            <a:off x="4434840" y="1280160"/>
            <a:ext cx="3703320" cy="2057400"/>
          </a:xfrm>
          <a:prstGeom prst="roundRect">
            <a:avLst>
              <a:gd name="adj" fmla="val 3111"/>
            </a:avLst>
          </a:prstGeom>
          <a:solidFill>
            <a:srgbClr val="F3E9F5"/>
          </a:solidFill>
          <a:ln/>
        </p:spPr>
        <p:txBody>
          <a:bodyPr/>
          <a:lstStyle/>
          <a:p>
            <a:endParaRPr lang="en-GB"/>
          </a:p>
        </p:txBody>
      </p:sp>
      <p:sp>
        <p:nvSpPr>
          <p:cNvPr id="11" name="Text 8"/>
          <p:cNvSpPr/>
          <p:nvPr/>
        </p:nvSpPr>
        <p:spPr>
          <a:xfrm>
            <a:off x="4636008" y="1426464"/>
            <a:ext cx="329184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Shadow boards</a:t>
            </a:r>
            <a:endParaRPr lang="en-US" sz="1450" dirty="0"/>
          </a:p>
        </p:txBody>
      </p:sp>
      <p:sp>
        <p:nvSpPr>
          <p:cNvPr id="12" name="Text 9"/>
          <p:cNvSpPr/>
          <p:nvPr/>
        </p:nvSpPr>
        <p:spPr>
          <a:xfrm>
            <a:off x="4636008" y="188366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Tool outlines or foam cut-outs: one glance shows what is present, what is missing, and where everything returns.</a:t>
            </a:r>
            <a:endParaRPr lang="en-US" sz="1100" dirty="0"/>
          </a:p>
        </p:txBody>
      </p:sp>
      <p:sp>
        <p:nvSpPr>
          <p:cNvPr id="13" name="Shape 10"/>
          <p:cNvSpPr/>
          <p:nvPr/>
        </p:nvSpPr>
        <p:spPr>
          <a:xfrm>
            <a:off x="8412480" y="1280160"/>
            <a:ext cx="3703320" cy="2057400"/>
          </a:xfrm>
          <a:prstGeom prst="roundRect">
            <a:avLst>
              <a:gd name="adj" fmla="val 3111"/>
            </a:avLst>
          </a:prstGeom>
          <a:solidFill>
            <a:srgbClr val="E5F5FD"/>
          </a:solidFill>
          <a:ln/>
        </p:spPr>
        <p:txBody>
          <a:bodyPr/>
          <a:lstStyle/>
          <a:p>
            <a:endParaRPr lang="en-GB"/>
          </a:p>
        </p:txBody>
      </p:sp>
      <p:sp>
        <p:nvSpPr>
          <p:cNvPr id="14" name="Text 11"/>
          <p:cNvSpPr/>
          <p:nvPr/>
        </p:nvSpPr>
        <p:spPr>
          <a:xfrm>
            <a:off x="8613648" y="142646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Floor marking</a:t>
            </a:r>
            <a:endParaRPr lang="en-US" sz="1450" dirty="0"/>
          </a:p>
        </p:txBody>
      </p:sp>
      <p:sp>
        <p:nvSpPr>
          <p:cNvPr id="15" name="Text 12"/>
          <p:cNvSpPr/>
          <p:nvPr/>
        </p:nvSpPr>
        <p:spPr>
          <a:xfrm>
            <a:off x="8613648" y="188366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Tape or paint walkways, equipment footprints, bin positions, pallet and trolley parking, quarantine and red tag zones.</a:t>
            </a:r>
            <a:endParaRPr lang="en-US" sz="1100" dirty="0"/>
          </a:p>
        </p:txBody>
      </p:sp>
      <p:sp>
        <p:nvSpPr>
          <p:cNvPr id="16" name="Shape 13"/>
          <p:cNvSpPr/>
          <p:nvPr/>
        </p:nvSpPr>
        <p:spPr>
          <a:xfrm>
            <a:off x="457200" y="3520440"/>
            <a:ext cx="3703320" cy="2057400"/>
          </a:xfrm>
          <a:prstGeom prst="roundRect">
            <a:avLst>
              <a:gd name="adj" fmla="val 3111"/>
            </a:avLst>
          </a:prstGeom>
          <a:solidFill>
            <a:srgbClr val="E5F5FD"/>
          </a:solidFill>
          <a:ln/>
        </p:spPr>
        <p:txBody>
          <a:bodyPr/>
          <a:lstStyle/>
          <a:p>
            <a:endParaRPr lang="en-GB"/>
          </a:p>
        </p:txBody>
      </p:sp>
      <p:sp>
        <p:nvSpPr>
          <p:cNvPr id="17" name="Text 14"/>
          <p:cNvSpPr/>
          <p:nvPr/>
        </p:nvSpPr>
        <p:spPr>
          <a:xfrm>
            <a:off x="658368" y="366674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Labels and addresses</a:t>
            </a:r>
            <a:endParaRPr lang="en-US" sz="1450" dirty="0"/>
          </a:p>
        </p:txBody>
      </p:sp>
      <p:sp>
        <p:nvSpPr>
          <p:cNvPr id="18" name="Text 15"/>
          <p:cNvSpPr/>
          <p:nvPr/>
        </p:nvSpPr>
        <p:spPr>
          <a:xfrm>
            <a:off x="658368" y="412394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Every rack, shelf, bin and drawer gets an address; every item gets a labelled home. Min/max marks on consumables make reordering visual.</a:t>
            </a:r>
            <a:endParaRPr lang="en-US" sz="1100" dirty="0"/>
          </a:p>
        </p:txBody>
      </p:sp>
      <p:sp>
        <p:nvSpPr>
          <p:cNvPr id="19" name="Shape 16"/>
          <p:cNvSpPr/>
          <p:nvPr/>
        </p:nvSpPr>
        <p:spPr>
          <a:xfrm>
            <a:off x="4434840" y="3520440"/>
            <a:ext cx="3703320" cy="2057400"/>
          </a:xfrm>
          <a:prstGeom prst="roundRect">
            <a:avLst>
              <a:gd name="adj" fmla="val 3111"/>
            </a:avLst>
          </a:prstGeom>
          <a:solidFill>
            <a:srgbClr val="F3E9F5"/>
          </a:solidFill>
          <a:ln/>
        </p:spPr>
        <p:txBody>
          <a:bodyPr/>
          <a:lstStyle/>
          <a:p>
            <a:endParaRPr lang="en-GB"/>
          </a:p>
        </p:txBody>
      </p:sp>
      <p:sp>
        <p:nvSpPr>
          <p:cNvPr id="20" name="Text 17"/>
          <p:cNvSpPr/>
          <p:nvPr/>
        </p:nvSpPr>
        <p:spPr>
          <a:xfrm>
            <a:off x="4636008" y="3666744"/>
            <a:ext cx="329184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Point-of-use storage</a:t>
            </a:r>
            <a:endParaRPr lang="en-US" sz="1450" dirty="0"/>
          </a:p>
        </p:txBody>
      </p:sp>
      <p:sp>
        <p:nvSpPr>
          <p:cNvPr id="21" name="Text 18"/>
          <p:cNvSpPr/>
          <p:nvPr/>
        </p:nvSpPr>
        <p:spPr>
          <a:xfrm>
            <a:off x="4636008" y="412394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Kits, fixtures and documents staged where the work happens, in the quantity the work needs: no more, no less.</a:t>
            </a:r>
            <a:endParaRPr lang="en-US" sz="1100" dirty="0"/>
          </a:p>
        </p:txBody>
      </p:sp>
      <p:sp>
        <p:nvSpPr>
          <p:cNvPr id="22" name="Shape 19"/>
          <p:cNvSpPr/>
          <p:nvPr/>
        </p:nvSpPr>
        <p:spPr>
          <a:xfrm>
            <a:off x="8412480" y="3520440"/>
            <a:ext cx="3703320" cy="2057400"/>
          </a:xfrm>
          <a:prstGeom prst="roundRect">
            <a:avLst>
              <a:gd name="adj" fmla="val 3111"/>
            </a:avLst>
          </a:prstGeom>
          <a:solidFill>
            <a:srgbClr val="E5F5FD"/>
          </a:solidFill>
          <a:ln/>
        </p:spPr>
        <p:txBody>
          <a:bodyPr/>
          <a:lstStyle/>
          <a:p>
            <a:endParaRPr lang="en-GB"/>
          </a:p>
        </p:txBody>
      </p:sp>
      <p:sp>
        <p:nvSpPr>
          <p:cNvPr id="23" name="Text 20"/>
          <p:cNvSpPr/>
          <p:nvPr/>
        </p:nvSpPr>
        <p:spPr>
          <a:xfrm>
            <a:off x="8613648" y="366674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Make return easy</a:t>
            </a:r>
            <a:endParaRPr lang="en-US" sz="1450" dirty="0"/>
          </a:p>
        </p:txBody>
      </p:sp>
      <p:sp>
        <p:nvSpPr>
          <p:cNvPr id="24" name="Text 21"/>
          <p:cNvSpPr/>
          <p:nvPr/>
        </p:nvSpPr>
        <p:spPr>
          <a:xfrm>
            <a:off x="8613648" y="4123944"/>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If putting something back takes longer than dumping it, it will be dumped. Design locations for the lazy moment, not the ideal one.</a:t>
            </a:r>
            <a:endParaRPr lang="en-US" sz="1100" dirty="0"/>
          </a:p>
        </p:txBody>
      </p:sp>
      <p:sp>
        <p:nvSpPr>
          <p:cNvPr id="25" name="Rectangle 24"/>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10606913"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11219561" y="100584"/>
            <a:ext cx="658368" cy="347472"/>
          </a:xfrm>
          <a:prstGeom prst="rect">
            <a:avLst/>
          </a:prstGeom>
        </p:spPr>
      </p:pic>
      <p:sp>
        <p:nvSpPr>
          <p:cNvPr id="28" name="Rectangle 27"/>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3S  Shine: clean to inspect</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Cleaning is inspection in disguise. The cloth finds the leak before the breakdown does.</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10</a:t>
            </a:r>
            <a:endParaRPr lang="en-US" sz="900" dirty="0"/>
          </a:p>
        </p:txBody>
      </p:sp>
      <p:sp>
        <p:nvSpPr>
          <p:cNvPr id="7" name="Text 4"/>
          <p:cNvSpPr/>
          <p:nvPr/>
        </p:nvSpPr>
        <p:spPr>
          <a:xfrm>
            <a:off x="457200" y="1234440"/>
            <a:ext cx="5577840" cy="4206240"/>
          </a:xfrm>
          <a:prstGeom prst="rect">
            <a:avLst/>
          </a:prstGeom>
          <a:noFill/>
          <a:ln/>
        </p:spPr>
        <p:txBody>
          <a:bodyPr wrap="square" rtlCol="0" anchor="t"/>
          <a:lstStyle/>
          <a:p>
            <a:pPr marL="0" indent="0">
              <a:lnSpc>
                <a:spcPts val="1800"/>
              </a:lnSpc>
              <a:buNone/>
            </a:pPr>
            <a:r>
              <a:rPr lang="en-US" sz="1300" dirty="0">
                <a:solidFill>
                  <a:srgbClr val="5B595A"/>
                </a:solidFill>
                <a:latin typeface="Arial" pitchFamily="34" charset="0"/>
                <a:ea typeface="Arial" pitchFamily="34" charset="-122"/>
                <a:cs typeface="Arial" pitchFamily="34" charset="-120"/>
              </a:rPr>
              <a:t>Shine restores the area to its proper condition and keeps it there: floors free of debris, machines free of grease build-up, no loose wires, no leaks left unexplained.
The deeper purpose is inspection. The person cleaning a machine is the first to feel the loose guard, see the weeping seal, smell the overheating motor. Every abnormality found during cleaning is raised, tagged or logged, never just wiped away.
Link Shine to your planned maintenance programme (PE-07): cleaning standards and operator care routines are the first layer of TPM.</a:t>
            </a:r>
            <a:endParaRPr lang="en-US" sz="1300" dirty="0"/>
          </a:p>
        </p:txBody>
      </p:sp>
      <p:sp>
        <p:nvSpPr>
          <p:cNvPr id="8" name="Shape 5"/>
          <p:cNvSpPr/>
          <p:nvPr/>
        </p:nvSpPr>
        <p:spPr>
          <a:xfrm>
            <a:off x="6400800" y="1234440"/>
            <a:ext cx="5330952" cy="4206240"/>
          </a:xfrm>
          <a:prstGeom prst="roundRect">
            <a:avLst>
              <a:gd name="adj" fmla="val 1522"/>
            </a:avLst>
          </a:prstGeom>
          <a:solidFill>
            <a:srgbClr val="E5F5FD"/>
          </a:solidFill>
          <a:ln/>
        </p:spPr>
        <p:txBody>
          <a:bodyPr/>
          <a:lstStyle/>
          <a:p>
            <a:endParaRPr lang="en-GB"/>
          </a:p>
        </p:txBody>
      </p:sp>
      <p:sp>
        <p:nvSpPr>
          <p:cNvPr id="9" name="Text 6"/>
          <p:cNvSpPr/>
          <p:nvPr/>
        </p:nvSpPr>
        <p:spPr>
          <a:xfrm>
            <a:off x="6629400" y="1417320"/>
            <a:ext cx="484632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Make Shine stick</a:t>
            </a:r>
            <a:endParaRPr lang="en-US" sz="1500" dirty="0"/>
          </a:p>
        </p:txBody>
      </p:sp>
      <p:sp>
        <p:nvSpPr>
          <p:cNvPr id="10" name="Text 7"/>
          <p:cNvSpPr/>
          <p:nvPr/>
        </p:nvSpPr>
        <p:spPr>
          <a:xfrm>
            <a:off x="6675120" y="1874520"/>
            <a:ext cx="4846320" cy="3383280"/>
          </a:xfrm>
          <a:prstGeom prst="rect">
            <a:avLst/>
          </a:prstGeom>
          <a:noFill/>
          <a:ln/>
        </p:spPr>
        <p:txBody>
          <a:bodyPr wrap="square" rtlCol="0" anchor="t"/>
          <a:lstStyle/>
          <a:p>
            <a:pPr marL="342900" indent="-342900">
              <a:lnSpc>
                <a:spcPts val="1550"/>
              </a:lnSpc>
              <a:spcAft>
                <a:spcPts val="1000"/>
              </a:spcAft>
              <a:buSzPct val="100000"/>
              <a:buChar char="•"/>
            </a:pPr>
            <a:r>
              <a:rPr lang="en-US" sz="1150" dirty="0">
                <a:solidFill>
                  <a:srgbClr val="5B595A"/>
                </a:solidFill>
                <a:latin typeface="Arial" pitchFamily="34" charset="0"/>
                <a:ea typeface="Arial" pitchFamily="34" charset="-122"/>
                <a:cs typeface="Arial" pitchFamily="34" charset="-120"/>
              </a:rPr>
              <a:t>Define what clean means per zone, with a photo of the standard</a:t>
            </a:r>
            <a:endParaRPr lang="en-US" sz="1150" dirty="0"/>
          </a:p>
          <a:p>
            <a:pPr marL="342900" indent="-342900">
              <a:lnSpc>
                <a:spcPts val="1550"/>
              </a:lnSpc>
              <a:spcAft>
                <a:spcPts val="1000"/>
              </a:spcAft>
              <a:buSzPct val="100000"/>
              <a:buChar char="•"/>
            </a:pPr>
            <a:r>
              <a:rPr lang="en-US" sz="1150" dirty="0">
                <a:solidFill>
                  <a:srgbClr val="5B595A"/>
                </a:solidFill>
                <a:latin typeface="Arial" pitchFamily="34" charset="0"/>
                <a:ea typeface="Arial" pitchFamily="34" charset="-122"/>
                <a:cs typeface="Arial" pitchFamily="34" charset="-120"/>
              </a:rPr>
              <a:t>Assign every zone to a named person or small team</a:t>
            </a:r>
            <a:endParaRPr lang="en-US" sz="1150" dirty="0"/>
          </a:p>
          <a:p>
            <a:pPr marL="342900" indent="-342900">
              <a:lnSpc>
                <a:spcPts val="1550"/>
              </a:lnSpc>
              <a:spcAft>
                <a:spcPts val="1000"/>
              </a:spcAft>
              <a:buSzPct val="100000"/>
              <a:buChar char="•"/>
            </a:pPr>
            <a:r>
              <a:rPr lang="en-US" sz="1150" dirty="0">
                <a:solidFill>
                  <a:srgbClr val="5B595A"/>
                </a:solidFill>
                <a:latin typeface="Arial" pitchFamily="34" charset="0"/>
                <a:ea typeface="Arial" pitchFamily="34" charset="-122"/>
                <a:cs typeface="Arial" pitchFamily="34" charset="-120"/>
              </a:rPr>
              <a:t>Set the routine: five to ten minutes at shift end beats an hour on Friday</a:t>
            </a:r>
            <a:endParaRPr lang="en-US" sz="1150" dirty="0"/>
          </a:p>
          <a:p>
            <a:pPr marL="342900" indent="-342900">
              <a:lnSpc>
                <a:spcPts val="1550"/>
              </a:lnSpc>
              <a:spcAft>
                <a:spcPts val="1000"/>
              </a:spcAft>
              <a:buSzPct val="100000"/>
              <a:buChar char="•"/>
            </a:pPr>
            <a:r>
              <a:rPr lang="en-US" sz="1150" dirty="0">
                <a:solidFill>
                  <a:srgbClr val="5B595A"/>
                </a:solidFill>
                <a:latin typeface="Arial" pitchFamily="34" charset="0"/>
                <a:ea typeface="Arial" pitchFamily="34" charset="-122"/>
                <a:cs typeface="Arial" pitchFamily="34" charset="-120"/>
              </a:rPr>
              <a:t>Keep cleaning kit designated, stocked and in its own 5S order</a:t>
            </a:r>
            <a:endParaRPr lang="en-US" sz="1150" dirty="0"/>
          </a:p>
          <a:p>
            <a:pPr marL="342900" indent="-342900">
              <a:lnSpc>
                <a:spcPts val="1550"/>
              </a:lnSpc>
              <a:spcAft>
                <a:spcPts val="1000"/>
              </a:spcAft>
              <a:buSzPct val="100000"/>
              <a:buChar char="•"/>
            </a:pPr>
            <a:r>
              <a:rPr lang="en-US" sz="1150" dirty="0">
                <a:solidFill>
                  <a:srgbClr val="5B595A"/>
                </a:solidFill>
                <a:latin typeface="Arial" pitchFamily="34" charset="0"/>
                <a:ea typeface="Arial" pitchFamily="34" charset="-122"/>
                <a:cs typeface="Arial" pitchFamily="34" charset="-120"/>
              </a:rPr>
              <a:t>Treat recurring contamination as a problem to solve at source (PE-04), not a fact of life to keep wiping</a:t>
            </a:r>
            <a:endParaRPr lang="en-US" sz="1150" dirty="0"/>
          </a:p>
        </p:txBody>
      </p:sp>
      <p:sp>
        <p:nvSpPr>
          <p:cNvPr id="11" name="Text 8"/>
          <p:cNvSpPr/>
          <p:nvPr/>
        </p:nvSpPr>
        <p:spPr>
          <a:xfrm>
            <a:off x="457200" y="566928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Goal: cleaning effort falls over time because the sources of dirt are eliminated, not because anyone stopped caring.</a:t>
            </a:r>
            <a:endParaRPr lang="en-US" sz="1250" dirty="0"/>
          </a:p>
        </p:txBody>
      </p:sp>
      <p:sp>
        <p:nvSpPr>
          <p:cNvPr id="12" name="Rectangle 11"/>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10606913" y="100584"/>
            <a:ext cx="566928" cy="347472"/>
          </a:xfrm>
          <a:prstGeom prst="rect">
            <a:avLst/>
          </a:prstGeom>
        </p:spPr>
      </p:pic>
      <p:pic>
        <p:nvPicPr>
          <p:cNvPr id="14" name="Picture 13" descr="image.png"/>
          <p:cNvPicPr>
            <a:picLocks noChangeAspect="1"/>
          </p:cNvPicPr>
          <p:nvPr/>
        </p:nvPicPr>
        <p:blipFill>
          <a:blip r:embed="rId4"/>
          <a:stretch>
            <a:fillRect/>
          </a:stretch>
        </p:blipFill>
        <p:spPr>
          <a:xfrm>
            <a:off x="11219561" y="100584"/>
            <a:ext cx="658368" cy="347472"/>
          </a:xfrm>
          <a:prstGeom prst="rect">
            <a:avLst/>
          </a:prstGeom>
        </p:spPr>
      </p:pic>
      <p:sp>
        <p:nvSpPr>
          <p:cNvPr id="15" name="Rectangle 14"/>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4S  Standardise: make it the way of working</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The method that keeps Sort, Set in Order and Shine from unravelling.</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11</a:t>
            </a:r>
            <a:endParaRPr lang="en-US" sz="900" dirty="0"/>
          </a:p>
        </p:txBody>
      </p:sp>
      <p:sp>
        <p:nvSpPr>
          <p:cNvPr id="7" name="Shape 4"/>
          <p:cNvSpPr/>
          <p:nvPr/>
        </p:nvSpPr>
        <p:spPr>
          <a:xfrm>
            <a:off x="457200" y="1280160"/>
            <a:ext cx="5486400" cy="1965960"/>
          </a:xfrm>
          <a:prstGeom prst="roundRect">
            <a:avLst>
              <a:gd name="adj" fmla="val 3256"/>
            </a:avLst>
          </a:prstGeom>
          <a:solidFill>
            <a:srgbClr val="E5F5FD"/>
          </a:solidFill>
          <a:ln/>
        </p:spPr>
        <p:txBody>
          <a:bodyPr/>
          <a:lstStyle/>
          <a:p>
            <a:endParaRPr lang="en-GB"/>
          </a:p>
        </p:txBody>
      </p:sp>
      <p:sp>
        <p:nvSpPr>
          <p:cNvPr id="8" name="Shape 5"/>
          <p:cNvSpPr/>
          <p:nvPr/>
        </p:nvSpPr>
        <p:spPr>
          <a:xfrm>
            <a:off x="658368" y="1463040"/>
            <a:ext cx="384048" cy="384048"/>
          </a:xfrm>
          <a:prstGeom prst="ellipse">
            <a:avLst/>
          </a:prstGeom>
          <a:solidFill>
            <a:srgbClr val="009FE3"/>
          </a:solidFill>
          <a:ln/>
        </p:spPr>
        <p:txBody>
          <a:bodyPr/>
          <a:lstStyle/>
          <a:p>
            <a:endParaRPr lang="en-GB"/>
          </a:p>
        </p:txBody>
      </p:sp>
      <p:sp>
        <p:nvSpPr>
          <p:cNvPr id="9" name="Text 6"/>
          <p:cNvSpPr/>
          <p:nvPr/>
        </p:nvSpPr>
        <p:spPr>
          <a:xfrm>
            <a:off x="65836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p:nvPr/>
        </p:nvSpPr>
        <p:spPr>
          <a:xfrm>
            <a:off x="1170432" y="144475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Photo standards</a:t>
            </a:r>
            <a:endParaRPr lang="en-US" sz="1500" dirty="0"/>
          </a:p>
        </p:txBody>
      </p:sp>
      <p:sp>
        <p:nvSpPr>
          <p:cNvPr id="11" name="Text 8"/>
          <p:cNvSpPr/>
          <p:nvPr/>
        </p:nvSpPr>
        <p:spPr>
          <a:xfrm>
            <a:off x="71323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 photograph of the area in its correct condition, posted in the area. The standard is visual: compare reality to the photo in seconds.</a:t>
            </a:r>
            <a:endParaRPr lang="en-US" sz="1150" dirty="0"/>
          </a:p>
        </p:txBody>
      </p:sp>
      <p:sp>
        <p:nvSpPr>
          <p:cNvPr id="12" name="Shape 9"/>
          <p:cNvSpPr/>
          <p:nvPr/>
        </p:nvSpPr>
        <p:spPr>
          <a:xfrm>
            <a:off x="6217920" y="1280160"/>
            <a:ext cx="5486400" cy="1965960"/>
          </a:xfrm>
          <a:prstGeom prst="roundRect">
            <a:avLst>
              <a:gd name="adj" fmla="val 3256"/>
            </a:avLst>
          </a:prstGeom>
          <a:solidFill>
            <a:srgbClr val="F3E9F5"/>
          </a:solidFill>
          <a:ln/>
        </p:spPr>
        <p:txBody>
          <a:bodyPr/>
          <a:lstStyle/>
          <a:p>
            <a:endParaRPr lang="en-GB"/>
          </a:p>
        </p:txBody>
      </p:sp>
      <p:sp>
        <p:nvSpPr>
          <p:cNvPr id="13" name="Shape 10"/>
          <p:cNvSpPr/>
          <p:nvPr/>
        </p:nvSpPr>
        <p:spPr>
          <a:xfrm>
            <a:off x="6419088" y="1463040"/>
            <a:ext cx="384048" cy="384048"/>
          </a:xfrm>
          <a:prstGeom prst="ellipse">
            <a:avLst/>
          </a:prstGeom>
          <a:solidFill>
            <a:srgbClr val="83348F"/>
          </a:solidFill>
          <a:ln/>
        </p:spPr>
        <p:txBody>
          <a:bodyPr/>
          <a:lstStyle/>
          <a:p>
            <a:endParaRPr lang="en-GB"/>
          </a:p>
        </p:txBody>
      </p:sp>
      <p:sp>
        <p:nvSpPr>
          <p:cNvPr id="14" name="Text 11"/>
          <p:cNvSpPr/>
          <p:nvPr/>
        </p:nvSpPr>
        <p:spPr>
          <a:xfrm>
            <a:off x="641908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6931152" y="144475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Checklists and routines</a:t>
            </a:r>
            <a:endParaRPr lang="en-US" sz="1500" dirty="0"/>
          </a:p>
        </p:txBody>
      </p:sp>
      <p:sp>
        <p:nvSpPr>
          <p:cNvPr id="16" name="Text 13"/>
          <p:cNvSpPr/>
          <p:nvPr/>
        </p:nvSpPr>
        <p:spPr>
          <a:xfrm>
            <a:off x="647395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Daily and weekly 5S routines built into the working day, with tick-off visible on the area board. What gets checked gets kept.</a:t>
            </a:r>
            <a:endParaRPr lang="en-US" sz="1150" dirty="0"/>
          </a:p>
        </p:txBody>
      </p:sp>
      <p:sp>
        <p:nvSpPr>
          <p:cNvPr id="17" name="Shape 14"/>
          <p:cNvSpPr/>
          <p:nvPr/>
        </p:nvSpPr>
        <p:spPr>
          <a:xfrm>
            <a:off x="457200" y="3429000"/>
            <a:ext cx="5486400" cy="1965960"/>
          </a:xfrm>
          <a:prstGeom prst="roundRect">
            <a:avLst>
              <a:gd name="adj" fmla="val 3256"/>
            </a:avLst>
          </a:prstGeom>
          <a:solidFill>
            <a:srgbClr val="E5F5FD"/>
          </a:solidFill>
          <a:ln/>
        </p:spPr>
        <p:txBody>
          <a:bodyPr/>
          <a:lstStyle/>
          <a:p>
            <a:endParaRPr lang="en-GB"/>
          </a:p>
        </p:txBody>
      </p:sp>
      <p:sp>
        <p:nvSpPr>
          <p:cNvPr id="18" name="Shape 15"/>
          <p:cNvSpPr/>
          <p:nvPr/>
        </p:nvSpPr>
        <p:spPr>
          <a:xfrm>
            <a:off x="658368" y="3611880"/>
            <a:ext cx="384048" cy="384048"/>
          </a:xfrm>
          <a:prstGeom prst="ellipse">
            <a:avLst/>
          </a:prstGeom>
          <a:solidFill>
            <a:srgbClr val="009FE3"/>
          </a:solidFill>
          <a:ln/>
        </p:spPr>
        <p:txBody>
          <a:bodyPr/>
          <a:lstStyle/>
          <a:p>
            <a:endParaRPr lang="en-GB"/>
          </a:p>
        </p:txBody>
      </p:sp>
      <p:sp>
        <p:nvSpPr>
          <p:cNvPr id="19" name="Text 16"/>
          <p:cNvSpPr/>
          <p:nvPr/>
        </p:nvSpPr>
        <p:spPr>
          <a:xfrm>
            <a:off x="65836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70432" y="359359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One site language</a:t>
            </a:r>
            <a:endParaRPr lang="en-US" sz="1500" dirty="0"/>
          </a:p>
        </p:txBody>
      </p:sp>
      <p:sp>
        <p:nvSpPr>
          <p:cNvPr id="21" name="Text 18"/>
          <p:cNvSpPr/>
          <p:nvPr/>
        </p:nvSpPr>
        <p:spPr>
          <a:xfrm>
            <a:off x="71323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Common colours, label formats, floor marking codes and min/max conventions everywhere, so anyone can read any area instantly.</a:t>
            </a:r>
            <a:endParaRPr lang="en-US" sz="1150" dirty="0"/>
          </a:p>
        </p:txBody>
      </p:sp>
      <p:sp>
        <p:nvSpPr>
          <p:cNvPr id="22" name="Shape 19"/>
          <p:cNvSpPr/>
          <p:nvPr/>
        </p:nvSpPr>
        <p:spPr>
          <a:xfrm>
            <a:off x="6217920" y="3429000"/>
            <a:ext cx="5486400" cy="1965960"/>
          </a:xfrm>
          <a:prstGeom prst="roundRect">
            <a:avLst>
              <a:gd name="adj" fmla="val 3256"/>
            </a:avLst>
          </a:prstGeom>
          <a:solidFill>
            <a:srgbClr val="F3E9F5"/>
          </a:solidFill>
          <a:ln/>
        </p:spPr>
        <p:txBody>
          <a:bodyPr/>
          <a:lstStyle/>
          <a:p>
            <a:endParaRPr lang="en-GB"/>
          </a:p>
        </p:txBody>
      </p:sp>
      <p:sp>
        <p:nvSpPr>
          <p:cNvPr id="23" name="Shape 20"/>
          <p:cNvSpPr/>
          <p:nvPr/>
        </p:nvSpPr>
        <p:spPr>
          <a:xfrm>
            <a:off x="6419088" y="3611880"/>
            <a:ext cx="384048" cy="384048"/>
          </a:xfrm>
          <a:prstGeom prst="ellipse">
            <a:avLst/>
          </a:prstGeom>
          <a:solidFill>
            <a:srgbClr val="83348F"/>
          </a:solidFill>
          <a:ln/>
        </p:spPr>
        <p:txBody>
          <a:bodyPr/>
          <a:lstStyle/>
          <a:p>
            <a:endParaRPr lang="en-GB"/>
          </a:p>
        </p:txBody>
      </p:sp>
      <p:sp>
        <p:nvSpPr>
          <p:cNvPr id="24" name="Text 21"/>
          <p:cNvSpPr/>
          <p:nvPr/>
        </p:nvSpPr>
        <p:spPr>
          <a:xfrm>
            <a:off x="641908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2"/>
          <p:cNvSpPr/>
          <p:nvPr/>
        </p:nvSpPr>
        <p:spPr>
          <a:xfrm>
            <a:off x="6931152" y="359359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Questions that test it</a:t>
            </a:r>
            <a:endParaRPr lang="en-US" sz="1500" dirty="0"/>
          </a:p>
        </p:txBody>
      </p:sp>
      <p:sp>
        <p:nvSpPr>
          <p:cNvPr id="26" name="Text 23"/>
          <p:cNvSpPr/>
          <p:nvPr/>
        </p:nvSpPr>
        <p:spPr>
          <a:xfrm>
            <a:off x="647395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Does everything have a specific place? Is it easy to use? Easy to return? Are cleanliness standards defined? Does the layout help or fight the standard?</a:t>
            </a:r>
            <a:endParaRPr lang="en-US" sz="1150" dirty="0"/>
          </a:p>
        </p:txBody>
      </p:sp>
      <p:sp>
        <p:nvSpPr>
          <p:cNvPr id="27" name="Text 24"/>
          <p:cNvSpPr/>
          <p:nvPr/>
        </p:nvSpPr>
        <p:spPr>
          <a:xfrm>
            <a:off x="457200" y="5623560"/>
            <a:ext cx="11247120" cy="548640"/>
          </a:xfrm>
          <a:prstGeom prst="rect">
            <a:avLst/>
          </a:prstGeom>
          <a:noFill/>
          <a:ln/>
        </p:spPr>
        <p:txBody>
          <a:bodyPr wrap="square" rtlCol="0" anchor="ctr"/>
          <a:lstStyle/>
          <a:p>
            <a:pPr marL="0" indent="0">
              <a:lnSpc>
                <a:spcPts val="1600"/>
              </a:lnSpc>
              <a:buNone/>
            </a:pPr>
            <a:r>
              <a:rPr lang="en-US" sz="1250" i="1" dirty="0">
                <a:solidFill>
                  <a:srgbClr val="83348F"/>
                </a:solidFill>
                <a:latin typeface="Arial" pitchFamily="34" charset="0"/>
                <a:ea typeface="Arial" pitchFamily="34" charset="-122"/>
                <a:cs typeface="Arial" pitchFamily="34" charset="-120"/>
              </a:rPr>
              <a:t>When an audit finds the same abnormality twice, the standard is the suspect: root cause it (PE-04) and fix the standard (PE-06), not just the symptom.</a:t>
            </a:r>
            <a:endParaRPr lang="en-US" sz="1250" dirty="0"/>
          </a:p>
        </p:txBody>
      </p:sp>
      <p:sp>
        <p:nvSpPr>
          <p:cNvPr id="28" name="Rectangle 27"/>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10606913"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11219561" y="100584"/>
            <a:ext cx="658368" cy="347472"/>
          </a:xfrm>
          <a:prstGeom prst="rect">
            <a:avLst/>
          </a:prstGeom>
        </p:spPr>
      </p:pic>
      <p:sp>
        <p:nvSpPr>
          <p:cNvPr id="31" name="Rectangle 30"/>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5S  Sustain: keep it alive</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Discipline beats enthusiasm. Build the habit into the rhythm of the site.</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12</a:t>
            </a:r>
            <a:endParaRPr lang="en-US" sz="900" dirty="0"/>
          </a:p>
        </p:txBody>
      </p:sp>
      <p:sp>
        <p:nvSpPr>
          <p:cNvPr id="7" name="Shape 4"/>
          <p:cNvSpPr/>
          <p:nvPr/>
        </p:nvSpPr>
        <p:spPr>
          <a:xfrm>
            <a:off x="457200" y="1280160"/>
            <a:ext cx="5486400" cy="1965960"/>
          </a:xfrm>
          <a:prstGeom prst="roundRect">
            <a:avLst>
              <a:gd name="adj" fmla="val 3256"/>
            </a:avLst>
          </a:prstGeom>
          <a:solidFill>
            <a:srgbClr val="E5F5FD"/>
          </a:solidFill>
          <a:ln/>
        </p:spPr>
        <p:txBody>
          <a:bodyPr/>
          <a:lstStyle/>
          <a:p>
            <a:endParaRPr lang="en-GB"/>
          </a:p>
        </p:txBody>
      </p:sp>
      <p:sp>
        <p:nvSpPr>
          <p:cNvPr id="8" name="Shape 5"/>
          <p:cNvSpPr/>
          <p:nvPr/>
        </p:nvSpPr>
        <p:spPr>
          <a:xfrm>
            <a:off x="658368" y="1463040"/>
            <a:ext cx="384048" cy="384048"/>
          </a:xfrm>
          <a:prstGeom prst="ellipse">
            <a:avLst/>
          </a:prstGeom>
          <a:solidFill>
            <a:srgbClr val="009FE3"/>
          </a:solidFill>
          <a:ln/>
        </p:spPr>
        <p:txBody>
          <a:bodyPr/>
          <a:lstStyle/>
          <a:p>
            <a:endParaRPr lang="en-GB"/>
          </a:p>
        </p:txBody>
      </p:sp>
      <p:sp>
        <p:nvSpPr>
          <p:cNvPr id="9" name="Text 6"/>
          <p:cNvSpPr/>
          <p:nvPr/>
        </p:nvSpPr>
        <p:spPr>
          <a:xfrm>
            <a:off x="65836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p:nvPr/>
        </p:nvSpPr>
        <p:spPr>
          <a:xfrm>
            <a:off x="1170432" y="144475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Audit rhythm</a:t>
            </a:r>
            <a:endParaRPr lang="en-US" sz="1500" dirty="0"/>
          </a:p>
        </p:txBody>
      </p:sp>
      <p:sp>
        <p:nvSpPr>
          <p:cNvPr id="11" name="Text 8"/>
          <p:cNvSpPr/>
          <p:nvPr/>
        </p:nvSpPr>
        <p:spPr>
          <a:xfrm>
            <a:off x="71323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Scored audits (PE-05a) weekly during roll-out, monthly once embedded. Rotate auditors; nobody audits their own area. Publish every score.</a:t>
            </a:r>
            <a:endParaRPr lang="en-US" sz="1150" dirty="0"/>
          </a:p>
        </p:txBody>
      </p:sp>
      <p:sp>
        <p:nvSpPr>
          <p:cNvPr id="12" name="Shape 9"/>
          <p:cNvSpPr/>
          <p:nvPr/>
        </p:nvSpPr>
        <p:spPr>
          <a:xfrm>
            <a:off x="6217920" y="1280160"/>
            <a:ext cx="5486400" cy="1965960"/>
          </a:xfrm>
          <a:prstGeom prst="roundRect">
            <a:avLst>
              <a:gd name="adj" fmla="val 3256"/>
            </a:avLst>
          </a:prstGeom>
          <a:solidFill>
            <a:srgbClr val="F3E9F5"/>
          </a:solidFill>
          <a:ln/>
        </p:spPr>
        <p:txBody>
          <a:bodyPr/>
          <a:lstStyle/>
          <a:p>
            <a:endParaRPr lang="en-GB"/>
          </a:p>
        </p:txBody>
      </p:sp>
      <p:sp>
        <p:nvSpPr>
          <p:cNvPr id="13" name="Shape 10"/>
          <p:cNvSpPr/>
          <p:nvPr/>
        </p:nvSpPr>
        <p:spPr>
          <a:xfrm>
            <a:off x="6419088" y="1463040"/>
            <a:ext cx="384048" cy="384048"/>
          </a:xfrm>
          <a:prstGeom prst="ellipse">
            <a:avLst/>
          </a:prstGeom>
          <a:solidFill>
            <a:srgbClr val="83348F"/>
          </a:solidFill>
          <a:ln/>
        </p:spPr>
        <p:txBody>
          <a:bodyPr/>
          <a:lstStyle/>
          <a:p>
            <a:endParaRPr lang="en-GB"/>
          </a:p>
        </p:txBody>
      </p:sp>
      <p:sp>
        <p:nvSpPr>
          <p:cNvPr id="14" name="Text 11"/>
          <p:cNvSpPr/>
          <p:nvPr/>
        </p:nvSpPr>
        <p:spPr>
          <a:xfrm>
            <a:off x="6419088" y="145389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p:nvPr/>
        </p:nvSpPr>
        <p:spPr>
          <a:xfrm>
            <a:off x="6931152" y="144475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Leadership walks</a:t>
            </a:r>
            <a:endParaRPr lang="en-US" sz="1500" dirty="0"/>
          </a:p>
        </p:txBody>
      </p:sp>
      <p:sp>
        <p:nvSpPr>
          <p:cNvPr id="16" name="Text 13"/>
          <p:cNvSpPr/>
          <p:nvPr/>
        </p:nvSpPr>
        <p:spPr>
          <a:xfrm>
            <a:off x="6473952"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Leaders walk the areas regularly, review the boards, ask the team about their standards, and thank people by name. Attention from the top sustains attention everywhere.</a:t>
            </a:r>
            <a:endParaRPr lang="en-US" sz="1150" dirty="0"/>
          </a:p>
        </p:txBody>
      </p:sp>
      <p:sp>
        <p:nvSpPr>
          <p:cNvPr id="17" name="Shape 14"/>
          <p:cNvSpPr/>
          <p:nvPr/>
        </p:nvSpPr>
        <p:spPr>
          <a:xfrm>
            <a:off x="457200" y="3429000"/>
            <a:ext cx="5486400" cy="1965960"/>
          </a:xfrm>
          <a:prstGeom prst="roundRect">
            <a:avLst>
              <a:gd name="adj" fmla="val 3256"/>
            </a:avLst>
          </a:prstGeom>
          <a:solidFill>
            <a:srgbClr val="E5F5FD"/>
          </a:solidFill>
          <a:ln/>
        </p:spPr>
        <p:txBody>
          <a:bodyPr/>
          <a:lstStyle/>
          <a:p>
            <a:endParaRPr lang="en-GB"/>
          </a:p>
        </p:txBody>
      </p:sp>
      <p:sp>
        <p:nvSpPr>
          <p:cNvPr id="18" name="Shape 15"/>
          <p:cNvSpPr/>
          <p:nvPr/>
        </p:nvSpPr>
        <p:spPr>
          <a:xfrm>
            <a:off x="658368" y="3611880"/>
            <a:ext cx="384048" cy="384048"/>
          </a:xfrm>
          <a:prstGeom prst="ellipse">
            <a:avLst/>
          </a:prstGeom>
          <a:solidFill>
            <a:srgbClr val="009FE3"/>
          </a:solidFill>
          <a:ln/>
        </p:spPr>
        <p:txBody>
          <a:bodyPr/>
          <a:lstStyle/>
          <a:p>
            <a:endParaRPr lang="en-GB"/>
          </a:p>
        </p:txBody>
      </p:sp>
      <p:sp>
        <p:nvSpPr>
          <p:cNvPr id="19" name="Text 16"/>
          <p:cNvSpPr/>
          <p:nvPr/>
        </p:nvSpPr>
        <p:spPr>
          <a:xfrm>
            <a:off x="65836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70432" y="3593592"/>
            <a:ext cx="4572000" cy="365760"/>
          </a:xfrm>
          <a:prstGeom prst="rect">
            <a:avLst/>
          </a:prstGeom>
          <a:noFill/>
          <a:ln/>
        </p:spPr>
        <p:txBody>
          <a:bodyPr wrap="square" rtlCol="0" anchor="ctr"/>
          <a:lstStyle/>
          <a:p>
            <a:pPr marL="0" indent="0">
              <a:buNone/>
            </a:pPr>
            <a:r>
              <a:rPr lang="en-US" sz="1500" b="1" dirty="0">
                <a:solidFill>
                  <a:srgbClr val="009FE3"/>
                </a:solidFill>
                <a:latin typeface="Arial" pitchFamily="34" charset="0"/>
                <a:ea typeface="Arial" pitchFamily="34" charset="-122"/>
                <a:cs typeface="Arial" pitchFamily="34" charset="-120"/>
              </a:rPr>
              <a:t>Visible ownership</a:t>
            </a:r>
            <a:endParaRPr lang="en-US" sz="1500" dirty="0"/>
          </a:p>
        </p:txBody>
      </p:sp>
      <p:sp>
        <p:nvSpPr>
          <p:cNvPr id="21" name="Text 18"/>
          <p:cNvSpPr/>
          <p:nvPr/>
        </p:nvSpPr>
        <p:spPr>
          <a:xfrm>
            <a:off x="71323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The Area Responsibility Board (PE-05d) names the team, the zones, the routines and the latest score. Anonymous areas decay; owned areas improve.</a:t>
            </a:r>
            <a:endParaRPr lang="en-US" sz="1150" dirty="0"/>
          </a:p>
        </p:txBody>
      </p:sp>
      <p:sp>
        <p:nvSpPr>
          <p:cNvPr id="22" name="Shape 19"/>
          <p:cNvSpPr/>
          <p:nvPr/>
        </p:nvSpPr>
        <p:spPr>
          <a:xfrm>
            <a:off x="6217920" y="3429000"/>
            <a:ext cx="5486400" cy="1965960"/>
          </a:xfrm>
          <a:prstGeom prst="roundRect">
            <a:avLst>
              <a:gd name="adj" fmla="val 3256"/>
            </a:avLst>
          </a:prstGeom>
          <a:solidFill>
            <a:srgbClr val="F3E9F5"/>
          </a:solidFill>
          <a:ln/>
        </p:spPr>
        <p:txBody>
          <a:bodyPr/>
          <a:lstStyle/>
          <a:p>
            <a:endParaRPr lang="en-GB"/>
          </a:p>
        </p:txBody>
      </p:sp>
      <p:sp>
        <p:nvSpPr>
          <p:cNvPr id="23" name="Shape 20"/>
          <p:cNvSpPr/>
          <p:nvPr/>
        </p:nvSpPr>
        <p:spPr>
          <a:xfrm>
            <a:off x="6419088" y="3611880"/>
            <a:ext cx="384048" cy="384048"/>
          </a:xfrm>
          <a:prstGeom prst="ellipse">
            <a:avLst/>
          </a:prstGeom>
          <a:solidFill>
            <a:srgbClr val="83348F"/>
          </a:solidFill>
          <a:ln/>
        </p:spPr>
        <p:txBody>
          <a:bodyPr/>
          <a:lstStyle/>
          <a:p>
            <a:endParaRPr lang="en-GB"/>
          </a:p>
        </p:txBody>
      </p:sp>
      <p:sp>
        <p:nvSpPr>
          <p:cNvPr id="24" name="Text 21"/>
          <p:cNvSpPr/>
          <p:nvPr/>
        </p:nvSpPr>
        <p:spPr>
          <a:xfrm>
            <a:off x="6419088" y="360273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2"/>
          <p:cNvSpPr/>
          <p:nvPr/>
        </p:nvSpPr>
        <p:spPr>
          <a:xfrm>
            <a:off x="6931152" y="3593592"/>
            <a:ext cx="45720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Recognition and competition</a:t>
            </a:r>
            <a:endParaRPr lang="en-US" sz="1500" dirty="0"/>
          </a:p>
        </p:txBody>
      </p:sp>
      <p:sp>
        <p:nvSpPr>
          <p:cNvPr id="26" name="Text 23"/>
          <p:cNvSpPr/>
          <p:nvPr/>
        </p:nvSpPr>
        <p:spPr>
          <a:xfrm>
            <a:off x="6473952"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Celebrate best area, most improved, best before-and-after. Light competition between areas keeps energy up long after the launch excitement fades.</a:t>
            </a:r>
            <a:endParaRPr lang="en-US" sz="1150" dirty="0"/>
          </a:p>
        </p:txBody>
      </p:sp>
      <p:sp>
        <p:nvSpPr>
          <p:cNvPr id="27" name="Text 24"/>
          <p:cNvSpPr/>
          <p:nvPr/>
        </p:nvSpPr>
        <p:spPr>
          <a:xfrm>
            <a:off x="457200" y="562356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Tie 5S to daily management: the audit score is a natural KPI for the S and Q pillars of your SQDCP boards (PE-03).</a:t>
            </a:r>
            <a:endParaRPr lang="en-US" sz="1250" dirty="0"/>
          </a:p>
        </p:txBody>
      </p:sp>
      <p:sp>
        <p:nvSpPr>
          <p:cNvPr id="28" name="Rectangle 27"/>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10606913"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11219561" y="100584"/>
            <a:ext cx="658368" cy="347472"/>
          </a:xfrm>
          <a:prstGeom prst="rect">
            <a:avLst/>
          </a:prstGeom>
        </p:spPr>
      </p:pic>
      <p:sp>
        <p:nvSpPr>
          <p:cNvPr id="31" name="Rectangle 30"/>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The 5S audit</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Twenty-five criteria, five per S, scored 1 to 5. Maximum 125.</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13</a:t>
            </a:r>
            <a:endParaRPr lang="en-US" sz="900" dirty="0"/>
          </a:p>
        </p:txBody>
      </p:sp>
      <p:sp>
        <p:nvSpPr>
          <p:cNvPr id="7" name="Text 4"/>
          <p:cNvSpPr/>
          <p:nvPr/>
        </p:nvSpPr>
        <p:spPr>
          <a:xfrm>
            <a:off x="457200" y="1188720"/>
            <a:ext cx="5486400" cy="1737360"/>
          </a:xfrm>
          <a:prstGeom prst="rect">
            <a:avLst/>
          </a:prstGeom>
          <a:noFill/>
          <a:ln/>
        </p:spPr>
        <p:txBody>
          <a:bodyPr wrap="square" rtlCol="0" anchor="t"/>
          <a:lstStyle/>
          <a:p>
            <a:pPr marL="0" indent="0">
              <a:lnSpc>
                <a:spcPts val="1800"/>
              </a:lnSpc>
              <a:buNone/>
            </a:pPr>
            <a:r>
              <a:rPr lang="en-US" sz="1300" dirty="0">
                <a:solidFill>
                  <a:srgbClr val="5B595A"/>
                </a:solidFill>
                <a:latin typeface="Arial" pitchFamily="34" charset="0"/>
                <a:ea typeface="Arial" pitchFamily="34" charset="-122"/>
                <a:cs typeface="Arial" pitchFamily="34" charset="-120"/>
              </a:rPr>
              <a:t>PE-05a contains the full audit system: the scored audit sheet, a scoring guide that defines what each level looks like (so two auditors give the same area the same score), the action log, a 12-month trend tracker per area, and the audit schedule with auditor rotation.
</a:t>
            </a:r>
            <a:r>
              <a:rPr lang="en-US" sz="1300" b="1" dirty="0">
                <a:solidFill>
                  <a:srgbClr val="83348F"/>
                </a:solidFill>
                <a:latin typeface="Arial" pitchFamily="34" charset="0"/>
                <a:ea typeface="Arial" pitchFamily="34" charset="-122"/>
                <a:cs typeface="Arial" pitchFamily="34" charset="-120"/>
              </a:rPr>
              <a:t>Audit rules that matter:</a:t>
            </a:r>
            <a:endParaRPr lang="en-US" sz="1300" dirty="0"/>
          </a:p>
        </p:txBody>
      </p:sp>
      <p:sp>
        <p:nvSpPr>
          <p:cNvPr id="8" name="Text 5"/>
          <p:cNvSpPr/>
          <p:nvPr/>
        </p:nvSpPr>
        <p:spPr>
          <a:xfrm>
            <a:off x="502920" y="3017520"/>
            <a:ext cx="5394960" cy="2286000"/>
          </a:xfrm>
          <a:prstGeom prst="rect">
            <a:avLst/>
          </a:prstGeom>
          <a:noFill/>
          <a:ln/>
        </p:spPr>
        <p:txBody>
          <a:bodyPr wrap="square" rtlCol="0" anchor="t"/>
          <a:lstStyle/>
          <a:p>
            <a:pPr marL="342900" indent="-342900">
              <a:spcAft>
                <a:spcPts val="800"/>
              </a:spcAft>
              <a:buSzPct val="100000"/>
              <a:buChar char="•"/>
            </a:pPr>
            <a:r>
              <a:rPr lang="en-US" sz="1200" dirty="0">
                <a:solidFill>
                  <a:srgbClr val="5B595A"/>
                </a:solidFill>
                <a:latin typeface="Arial" pitchFamily="34" charset="0"/>
                <a:ea typeface="Arial" pitchFamily="34" charset="-122"/>
                <a:cs typeface="Arial" pitchFamily="34" charset="-120"/>
              </a:rPr>
              <a:t>Score what you see, not what you are told</a:t>
            </a:r>
            <a:endParaRPr lang="en-US" sz="1200" dirty="0"/>
          </a:p>
          <a:p>
            <a:pPr marL="342900" indent="-342900">
              <a:spcAft>
                <a:spcPts val="800"/>
              </a:spcAft>
              <a:buSzPct val="100000"/>
              <a:buChar char="•"/>
            </a:pPr>
            <a:r>
              <a:rPr lang="en-US" sz="1200" dirty="0">
                <a:solidFill>
                  <a:srgbClr val="5B595A"/>
                </a:solidFill>
                <a:latin typeface="Arial" pitchFamily="34" charset="0"/>
                <a:ea typeface="Arial" pitchFamily="34" charset="-122"/>
                <a:cs typeface="Arial" pitchFamily="34" charset="-120"/>
              </a:rPr>
              <a:t>If torn between two scores, give the lower and say why</a:t>
            </a:r>
            <a:endParaRPr lang="en-US" sz="1200" dirty="0"/>
          </a:p>
          <a:p>
            <a:pPr marL="342900" indent="-342900">
              <a:spcAft>
                <a:spcPts val="800"/>
              </a:spcAft>
              <a:buSzPct val="100000"/>
              <a:buChar char="•"/>
            </a:pPr>
            <a:r>
              <a:rPr lang="en-US" sz="1200" dirty="0">
                <a:solidFill>
                  <a:srgbClr val="5B595A"/>
                </a:solidFill>
                <a:latin typeface="Arial" pitchFamily="34" charset="0"/>
                <a:ea typeface="Arial" pitchFamily="34" charset="-122"/>
                <a:cs typeface="Arial" pitchFamily="34" charset="-120"/>
              </a:rPr>
              <a:t>Every 1 or 2 becomes an action with an owner and a date</a:t>
            </a:r>
            <a:endParaRPr lang="en-US" sz="1200" dirty="0"/>
          </a:p>
          <a:p>
            <a:pPr marL="342900" indent="-342900">
              <a:spcAft>
                <a:spcPts val="800"/>
              </a:spcAft>
              <a:buSzPct val="100000"/>
              <a:buChar char="•"/>
            </a:pPr>
            <a:r>
              <a:rPr lang="en-US" sz="1200" dirty="0">
                <a:solidFill>
                  <a:srgbClr val="5B595A"/>
                </a:solidFill>
                <a:latin typeface="Arial" pitchFamily="34" charset="0"/>
                <a:ea typeface="Arial" pitchFamily="34" charset="-122"/>
                <a:cs typeface="Arial" pitchFamily="34" charset="-120"/>
              </a:rPr>
              <a:t>Audit the audit: are actions closing? Are scores honest?</a:t>
            </a:r>
            <a:endParaRPr lang="en-US" sz="1200" dirty="0"/>
          </a:p>
        </p:txBody>
      </p:sp>
      <p:sp>
        <p:nvSpPr>
          <p:cNvPr id="9" name="Text 6"/>
          <p:cNvSpPr/>
          <p:nvPr/>
        </p:nvSpPr>
        <p:spPr>
          <a:xfrm>
            <a:off x="6400800" y="1234440"/>
            <a:ext cx="5029200" cy="365760"/>
          </a:xfrm>
          <a:prstGeom prst="rect">
            <a:avLst/>
          </a:prstGeom>
          <a:noFill/>
          <a:ln/>
        </p:spPr>
        <p:txBody>
          <a:bodyPr wrap="square" rtlCol="0" anchor="ctr"/>
          <a:lstStyle/>
          <a:p>
            <a:pPr marL="0" indent="0">
              <a:buNone/>
            </a:pPr>
            <a:r>
              <a:rPr lang="en-US" sz="1500" b="1" dirty="0">
                <a:solidFill>
                  <a:srgbClr val="83348F"/>
                </a:solidFill>
                <a:latin typeface="Arial" pitchFamily="34" charset="0"/>
                <a:ea typeface="Arial" pitchFamily="34" charset="-122"/>
                <a:cs typeface="Arial" pitchFamily="34" charset="-120"/>
              </a:rPr>
              <a:t>Score bands (out of 125)</a:t>
            </a:r>
            <a:endParaRPr lang="en-US" sz="1500" dirty="0"/>
          </a:p>
        </p:txBody>
      </p:sp>
      <p:sp>
        <p:nvSpPr>
          <p:cNvPr id="10" name="Shape 7"/>
          <p:cNvSpPr/>
          <p:nvPr/>
        </p:nvSpPr>
        <p:spPr>
          <a:xfrm>
            <a:off x="6400800" y="1737360"/>
            <a:ext cx="1691640" cy="777240"/>
          </a:xfrm>
          <a:prstGeom prst="roundRect">
            <a:avLst>
              <a:gd name="adj" fmla="val 8235"/>
            </a:avLst>
          </a:prstGeom>
          <a:solidFill>
            <a:srgbClr val="2E7D32"/>
          </a:solidFill>
          <a:ln/>
        </p:spPr>
        <p:txBody>
          <a:bodyPr/>
          <a:lstStyle/>
          <a:p>
            <a:endParaRPr lang="en-GB"/>
          </a:p>
        </p:txBody>
      </p:sp>
      <p:sp>
        <p:nvSpPr>
          <p:cNvPr id="11" name="Text 8"/>
          <p:cNvSpPr/>
          <p:nvPr/>
        </p:nvSpPr>
        <p:spPr>
          <a:xfrm>
            <a:off x="6400800" y="1737360"/>
            <a:ext cx="1691640" cy="7772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105 to 125</a:t>
            </a:r>
            <a:endParaRPr lang="en-US" sz="1300" dirty="0"/>
          </a:p>
        </p:txBody>
      </p:sp>
      <p:sp>
        <p:nvSpPr>
          <p:cNvPr id="12" name="Text 9"/>
          <p:cNvSpPr/>
          <p:nvPr/>
        </p:nvSpPr>
        <p:spPr>
          <a:xfrm>
            <a:off x="8229600" y="1737360"/>
            <a:ext cx="3520440" cy="777240"/>
          </a:xfrm>
          <a:prstGeom prst="rect">
            <a:avLst/>
          </a:prstGeom>
          <a:noFill/>
          <a:ln/>
        </p:spPr>
        <p:txBody>
          <a:bodyPr wrap="square" rtlCol="0" anchor="ctr"/>
          <a:lstStyle/>
          <a:p>
            <a:pPr marL="0" indent="0">
              <a:lnSpc>
                <a:spcPts val="1400"/>
              </a:lnSpc>
              <a:buNone/>
            </a:pPr>
            <a:r>
              <a:rPr lang="en-US" sz="1150" dirty="0">
                <a:solidFill>
                  <a:srgbClr val="5B595A"/>
                </a:solidFill>
                <a:latin typeface="Arial" pitchFamily="34" charset="0"/>
                <a:ea typeface="Arial" pitchFamily="34" charset="-122"/>
                <a:cs typeface="Arial" pitchFamily="34" charset="-120"/>
              </a:rPr>
              <a:t>Excellent: a reference area for others</a:t>
            </a:r>
            <a:endParaRPr lang="en-US" sz="1150" dirty="0"/>
          </a:p>
        </p:txBody>
      </p:sp>
      <p:sp>
        <p:nvSpPr>
          <p:cNvPr id="13" name="Shape 10"/>
          <p:cNvSpPr/>
          <p:nvPr/>
        </p:nvSpPr>
        <p:spPr>
          <a:xfrm>
            <a:off x="6400800" y="2697480"/>
            <a:ext cx="1691640" cy="777240"/>
          </a:xfrm>
          <a:prstGeom prst="roundRect">
            <a:avLst>
              <a:gd name="adj" fmla="val 8235"/>
            </a:avLst>
          </a:prstGeom>
          <a:solidFill>
            <a:srgbClr val="5B8C3E"/>
          </a:solidFill>
          <a:ln/>
        </p:spPr>
        <p:txBody>
          <a:bodyPr/>
          <a:lstStyle/>
          <a:p>
            <a:endParaRPr lang="en-GB"/>
          </a:p>
        </p:txBody>
      </p:sp>
      <p:sp>
        <p:nvSpPr>
          <p:cNvPr id="14" name="Text 11"/>
          <p:cNvSpPr/>
          <p:nvPr/>
        </p:nvSpPr>
        <p:spPr>
          <a:xfrm>
            <a:off x="6400800" y="2697480"/>
            <a:ext cx="1691640" cy="7772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85 to 104</a:t>
            </a:r>
            <a:endParaRPr lang="en-US" sz="1300" dirty="0"/>
          </a:p>
        </p:txBody>
      </p:sp>
      <p:sp>
        <p:nvSpPr>
          <p:cNvPr id="15" name="Text 12"/>
          <p:cNvSpPr/>
          <p:nvPr/>
        </p:nvSpPr>
        <p:spPr>
          <a:xfrm>
            <a:off x="8229600" y="2697480"/>
            <a:ext cx="3520440" cy="777240"/>
          </a:xfrm>
          <a:prstGeom prst="rect">
            <a:avLst/>
          </a:prstGeom>
          <a:noFill/>
          <a:ln/>
        </p:spPr>
        <p:txBody>
          <a:bodyPr wrap="square" rtlCol="0" anchor="ctr"/>
          <a:lstStyle/>
          <a:p>
            <a:pPr marL="0" indent="0">
              <a:lnSpc>
                <a:spcPts val="1400"/>
              </a:lnSpc>
              <a:buNone/>
            </a:pPr>
            <a:r>
              <a:rPr lang="en-US" sz="1150" dirty="0">
                <a:solidFill>
                  <a:srgbClr val="5B595A"/>
                </a:solidFill>
                <a:latin typeface="Arial" pitchFamily="34" charset="0"/>
                <a:ea typeface="Arial" pitchFamily="34" charset="-122"/>
                <a:cs typeface="Arial" pitchFamily="34" charset="-120"/>
              </a:rPr>
              <a:t>Good: sustain and refine the standards</a:t>
            </a:r>
            <a:endParaRPr lang="en-US" sz="1150" dirty="0"/>
          </a:p>
        </p:txBody>
      </p:sp>
      <p:sp>
        <p:nvSpPr>
          <p:cNvPr id="16" name="Shape 13"/>
          <p:cNvSpPr/>
          <p:nvPr/>
        </p:nvSpPr>
        <p:spPr>
          <a:xfrm>
            <a:off x="6400800" y="3657600"/>
            <a:ext cx="1691640" cy="777240"/>
          </a:xfrm>
          <a:prstGeom prst="roundRect">
            <a:avLst>
              <a:gd name="adj" fmla="val 8235"/>
            </a:avLst>
          </a:prstGeom>
          <a:solidFill>
            <a:srgbClr val="B58900"/>
          </a:solidFill>
          <a:ln/>
        </p:spPr>
        <p:txBody>
          <a:bodyPr/>
          <a:lstStyle/>
          <a:p>
            <a:endParaRPr lang="en-GB"/>
          </a:p>
        </p:txBody>
      </p:sp>
      <p:sp>
        <p:nvSpPr>
          <p:cNvPr id="17" name="Text 14"/>
          <p:cNvSpPr/>
          <p:nvPr/>
        </p:nvSpPr>
        <p:spPr>
          <a:xfrm>
            <a:off x="6400800" y="3657600"/>
            <a:ext cx="1691640" cy="7772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60 to 84</a:t>
            </a:r>
            <a:endParaRPr lang="en-US" sz="1300" dirty="0"/>
          </a:p>
        </p:txBody>
      </p:sp>
      <p:sp>
        <p:nvSpPr>
          <p:cNvPr id="18" name="Text 15"/>
          <p:cNvSpPr/>
          <p:nvPr/>
        </p:nvSpPr>
        <p:spPr>
          <a:xfrm>
            <a:off x="8229600" y="3657600"/>
            <a:ext cx="3520440" cy="777240"/>
          </a:xfrm>
          <a:prstGeom prst="rect">
            <a:avLst/>
          </a:prstGeom>
          <a:noFill/>
          <a:ln/>
        </p:spPr>
        <p:txBody>
          <a:bodyPr wrap="square" rtlCol="0" anchor="ctr"/>
          <a:lstStyle/>
          <a:p>
            <a:pPr marL="0" indent="0">
              <a:lnSpc>
                <a:spcPts val="1400"/>
              </a:lnSpc>
              <a:buNone/>
            </a:pPr>
            <a:r>
              <a:rPr lang="en-US" sz="1150" dirty="0">
                <a:solidFill>
                  <a:srgbClr val="5B595A"/>
                </a:solidFill>
                <a:latin typeface="Arial" pitchFamily="34" charset="0"/>
                <a:ea typeface="Arial" pitchFamily="34" charset="-122"/>
                <a:cs typeface="Arial" pitchFamily="34" charset="-120"/>
              </a:rPr>
              <a:t>Developing: focus on standardise and sustain</a:t>
            </a:r>
            <a:endParaRPr lang="en-US" sz="1150" dirty="0"/>
          </a:p>
        </p:txBody>
      </p:sp>
      <p:sp>
        <p:nvSpPr>
          <p:cNvPr id="19" name="Shape 16"/>
          <p:cNvSpPr/>
          <p:nvPr/>
        </p:nvSpPr>
        <p:spPr>
          <a:xfrm>
            <a:off x="6400800" y="4617720"/>
            <a:ext cx="1691640" cy="777240"/>
          </a:xfrm>
          <a:prstGeom prst="roundRect">
            <a:avLst>
              <a:gd name="adj" fmla="val 8235"/>
            </a:avLst>
          </a:prstGeom>
          <a:solidFill>
            <a:srgbClr val="C62828"/>
          </a:solidFill>
          <a:ln/>
        </p:spPr>
        <p:txBody>
          <a:bodyPr/>
          <a:lstStyle/>
          <a:p>
            <a:endParaRPr lang="en-GB"/>
          </a:p>
        </p:txBody>
      </p:sp>
      <p:sp>
        <p:nvSpPr>
          <p:cNvPr id="20" name="Text 17"/>
          <p:cNvSpPr/>
          <p:nvPr/>
        </p:nvSpPr>
        <p:spPr>
          <a:xfrm>
            <a:off x="6400800" y="4617720"/>
            <a:ext cx="1691640" cy="7772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Below 60</a:t>
            </a:r>
            <a:endParaRPr lang="en-US" sz="1300" dirty="0"/>
          </a:p>
        </p:txBody>
      </p:sp>
      <p:sp>
        <p:nvSpPr>
          <p:cNvPr id="21" name="Text 18"/>
          <p:cNvSpPr/>
          <p:nvPr/>
        </p:nvSpPr>
        <p:spPr>
          <a:xfrm>
            <a:off x="8229600" y="4617720"/>
            <a:ext cx="3520440" cy="777240"/>
          </a:xfrm>
          <a:prstGeom prst="rect">
            <a:avLst/>
          </a:prstGeom>
          <a:noFill/>
          <a:ln/>
        </p:spPr>
        <p:txBody>
          <a:bodyPr wrap="square" rtlCol="0" anchor="ctr"/>
          <a:lstStyle/>
          <a:p>
            <a:pPr marL="0" indent="0">
              <a:lnSpc>
                <a:spcPts val="1400"/>
              </a:lnSpc>
              <a:buNone/>
            </a:pPr>
            <a:r>
              <a:rPr lang="en-US" sz="1150" dirty="0">
                <a:solidFill>
                  <a:srgbClr val="5B595A"/>
                </a:solidFill>
                <a:latin typeface="Arial" pitchFamily="34" charset="0"/>
                <a:ea typeface="Arial" pitchFamily="34" charset="-122"/>
                <a:cs typeface="Arial" pitchFamily="34" charset="-120"/>
              </a:rPr>
              <a:t>Needs improvement: re-run sort and set in order</a:t>
            </a:r>
            <a:endParaRPr lang="en-US" sz="1150" dirty="0"/>
          </a:p>
        </p:txBody>
      </p:sp>
      <p:sp>
        <p:nvSpPr>
          <p:cNvPr id="22" name="Text 19"/>
          <p:cNvSpPr/>
          <p:nvPr/>
        </p:nvSpPr>
        <p:spPr>
          <a:xfrm>
            <a:off x="457200" y="5715000"/>
            <a:ext cx="11247120" cy="548640"/>
          </a:xfrm>
          <a:prstGeom prst="rect">
            <a:avLst/>
          </a:prstGeom>
          <a:noFill/>
          <a:ln/>
        </p:spPr>
        <p:txBody>
          <a:bodyPr wrap="square" rtlCol="0" anchor="ctr"/>
          <a:lstStyle/>
          <a:p>
            <a:pPr marL="0" indent="0">
              <a:lnSpc>
                <a:spcPts val="1600"/>
              </a:lnSpc>
              <a:buNone/>
            </a:pPr>
            <a:r>
              <a:rPr lang="en-US" sz="1250" i="1" dirty="0">
                <a:solidFill>
                  <a:srgbClr val="83348F"/>
                </a:solidFill>
                <a:latin typeface="Arial" pitchFamily="34" charset="0"/>
                <a:ea typeface="Arial" pitchFamily="34" charset="-122"/>
                <a:cs typeface="Arial" pitchFamily="34" charset="-120"/>
              </a:rPr>
              <a:t>The score directs attention; the trend tells the truth. A falling trend is a sustain problem even if the absolute score still looks respectable.</a:t>
            </a:r>
            <a:endParaRPr lang="en-US" sz="1250" dirty="0"/>
          </a:p>
        </p:txBody>
      </p:sp>
      <p:sp>
        <p:nvSpPr>
          <p:cNvPr id="23" name="Rectangle 22"/>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10606913" y="100584"/>
            <a:ext cx="566928" cy="347472"/>
          </a:xfrm>
          <a:prstGeom prst="rect">
            <a:avLst/>
          </a:prstGeom>
        </p:spPr>
      </p:pic>
      <p:pic>
        <p:nvPicPr>
          <p:cNvPr id="25" name="Picture 24" descr="image.png"/>
          <p:cNvPicPr>
            <a:picLocks noChangeAspect="1"/>
          </p:cNvPicPr>
          <p:nvPr/>
        </p:nvPicPr>
        <p:blipFill>
          <a:blip r:embed="rId4"/>
          <a:stretch>
            <a:fillRect/>
          </a:stretch>
        </p:blipFill>
        <p:spPr>
          <a:xfrm>
            <a:off x="11219561" y="100584"/>
            <a:ext cx="658368" cy="347472"/>
          </a:xfrm>
          <a:prstGeom prst="rect">
            <a:avLst/>
          </a:prstGeom>
        </p:spPr>
      </p:pic>
      <p:sp>
        <p:nvSpPr>
          <p:cNvPr id="26" name="Rectangle 25"/>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Running a 5S launch day</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One focused day takes a pilot area through the first three Ss.</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14</a:t>
            </a:r>
            <a:endParaRPr lang="en-US" sz="900" dirty="0"/>
          </a:p>
        </p:txBody>
      </p:sp>
      <p:sp>
        <p:nvSpPr>
          <p:cNvPr id="7" name="Shape 4"/>
          <p:cNvSpPr/>
          <p:nvPr/>
        </p:nvSpPr>
        <p:spPr>
          <a:xfrm>
            <a:off x="548640" y="1353312"/>
            <a:ext cx="384048" cy="384048"/>
          </a:xfrm>
          <a:prstGeom prst="ellipse">
            <a:avLst/>
          </a:prstGeom>
          <a:solidFill>
            <a:srgbClr val="009FE3"/>
          </a:solidFill>
          <a:ln/>
        </p:spPr>
        <p:txBody>
          <a:bodyPr/>
          <a:lstStyle/>
          <a:p>
            <a:endParaRPr lang="en-GB"/>
          </a:p>
        </p:txBody>
      </p:sp>
      <p:sp>
        <p:nvSpPr>
          <p:cNvPr id="8" name="Text 5"/>
          <p:cNvSpPr/>
          <p:nvPr/>
        </p:nvSpPr>
        <p:spPr>
          <a:xfrm>
            <a:off x="548640" y="1344168"/>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p:nvPr/>
        </p:nvSpPr>
        <p:spPr>
          <a:xfrm>
            <a:off x="1097280" y="1280160"/>
            <a:ext cx="2011680" cy="548640"/>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Brief</a:t>
            </a:r>
            <a:endParaRPr lang="en-US" sz="1450" dirty="0"/>
          </a:p>
        </p:txBody>
      </p:sp>
      <p:sp>
        <p:nvSpPr>
          <p:cNvPr id="10" name="Text 7"/>
          <p:cNvSpPr/>
          <p:nvPr/>
        </p:nvSpPr>
        <p:spPr>
          <a:xfrm>
            <a:off x="3200400" y="1280160"/>
            <a:ext cx="8503920" cy="822960"/>
          </a:xfrm>
          <a:prstGeom prst="rect">
            <a:avLst/>
          </a:prstGeom>
          <a:noFill/>
          <a:ln/>
        </p:spPr>
        <p:txBody>
          <a:bodyPr wrap="square" rtlCol="0" anchor="ctr"/>
          <a:lstStyle/>
          <a:p>
            <a:pPr marL="0" indent="0">
              <a:lnSpc>
                <a:spcPts val="1500"/>
              </a:lnSpc>
              <a:buNone/>
            </a:pPr>
            <a:r>
              <a:rPr lang="en-US" sz="1200" dirty="0">
                <a:solidFill>
                  <a:srgbClr val="5B595A"/>
                </a:solidFill>
                <a:latin typeface="Arial" pitchFamily="34" charset="0"/>
                <a:ea typeface="Arial" pitchFamily="34" charset="-122"/>
                <a:cs typeface="Arial" pitchFamily="34" charset="-120"/>
              </a:rPr>
              <a:t>Train the area team on the five Ss and the red tag rules. Walk the area together; agree the boundaries and take the baseline photos.</a:t>
            </a:r>
            <a:endParaRPr lang="en-US" sz="1200" dirty="0"/>
          </a:p>
        </p:txBody>
      </p:sp>
      <p:sp>
        <p:nvSpPr>
          <p:cNvPr id="11" name="Shape 8"/>
          <p:cNvSpPr/>
          <p:nvPr/>
        </p:nvSpPr>
        <p:spPr>
          <a:xfrm>
            <a:off x="548640" y="2249424"/>
            <a:ext cx="384048" cy="384048"/>
          </a:xfrm>
          <a:prstGeom prst="ellipse">
            <a:avLst/>
          </a:prstGeom>
          <a:solidFill>
            <a:srgbClr val="83348F"/>
          </a:solidFill>
          <a:ln/>
        </p:spPr>
        <p:txBody>
          <a:bodyPr/>
          <a:lstStyle/>
          <a:p>
            <a:endParaRPr lang="en-GB"/>
          </a:p>
        </p:txBody>
      </p:sp>
      <p:sp>
        <p:nvSpPr>
          <p:cNvPr id="12" name="Text 9"/>
          <p:cNvSpPr/>
          <p:nvPr/>
        </p:nvSpPr>
        <p:spPr>
          <a:xfrm>
            <a:off x="548640" y="2240280"/>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p:nvPr/>
        </p:nvSpPr>
        <p:spPr>
          <a:xfrm>
            <a:off x="1097280" y="2176272"/>
            <a:ext cx="2011680" cy="548640"/>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Sort</a:t>
            </a:r>
            <a:endParaRPr lang="en-US" sz="1450" dirty="0"/>
          </a:p>
        </p:txBody>
      </p:sp>
      <p:sp>
        <p:nvSpPr>
          <p:cNvPr id="14" name="Text 11"/>
          <p:cNvSpPr/>
          <p:nvPr/>
        </p:nvSpPr>
        <p:spPr>
          <a:xfrm>
            <a:off x="3200400" y="2176272"/>
            <a:ext cx="8503920" cy="822960"/>
          </a:xfrm>
          <a:prstGeom prst="rect">
            <a:avLst/>
          </a:prstGeom>
          <a:noFill/>
          <a:ln/>
        </p:spPr>
        <p:txBody>
          <a:bodyPr wrap="square" rtlCol="0" anchor="ctr"/>
          <a:lstStyle/>
          <a:p>
            <a:pPr marL="0" indent="0">
              <a:lnSpc>
                <a:spcPts val="1500"/>
              </a:lnSpc>
              <a:buNone/>
            </a:pPr>
            <a:r>
              <a:rPr lang="en-US" sz="1200" dirty="0">
                <a:solidFill>
                  <a:srgbClr val="5B595A"/>
                </a:solidFill>
                <a:latin typeface="Arial" pitchFamily="34" charset="0"/>
                <a:ea typeface="Arial" pitchFamily="34" charset="-122"/>
                <a:cs typeface="Arial" pitchFamily="34" charset="-120"/>
              </a:rPr>
              <a:t>Red tag sweep of the whole area. Everything questionable is tagged and moved to the holding area. Rubbish goes straight out.</a:t>
            </a:r>
            <a:endParaRPr lang="en-US" sz="1200" dirty="0"/>
          </a:p>
        </p:txBody>
      </p:sp>
      <p:sp>
        <p:nvSpPr>
          <p:cNvPr id="15" name="Shape 12"/>
          <p:cNvSpPr/>
          <p:nvPr/>
        </p:nvSpPr>
        <p:spPr>
          <a:xfrm>
            <a:off x="548640" y="3145536"/>
            <a:ext cx="384048" cy="384048"/>
          </a:xfrm>
          <a:prstGeom prst="ellipse">
            <a:avLst/>
          </a:prstGeom>
          <a:solidFill>
            <a:srgbClr val="009FE3"/>
          </a:solidFill>
          <a:ln/>
        </p:spPr>
        <p:txBody>
          <a:bodyPr/>
          <a:lstStyle/>
          <a:p>
            <a:endParaRPr lang="en-GB"/>
          </a:p>
        </p:txBody>
      </p:sp>
      <p:sp>
        <p:nvSpPr>
          <p:cNvPr id="16" name="Text 13"/>
          <p:cNvSpPr/>
          <p:nvPr/>
        </p:nvSpPr>
        <p:spPr>
          <a:xfrm>
            <a:off x="548640" y="3136392"/>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4"/>
          <p:cNvSpPr/>
          <p:nvPr/>
        </p:nvSpPr>
        <p:spPr>
          <a:xfrm>
            <a:off x="1097280" y="3072384"/>
            <a:ext cx="2011680" cy="548640"/>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Set in Order</a:t>
            </a:r>
            <a:endParaRPr lang="en-US" sz="1450" dirty="0"/>
          </a:p>
        </p:txBody>
      </p:sp>
      <p:sp>
        <p:nvSpPr>
          <p:cNvPr id="18" name="Text 15"/>
          <p:cNvSpPr/>
          <p:nvPr/>
        </p:nvSpPr>
        <p:spPr>
          <a:xfrm>
            <a:off x="3200400" y="3072384"/>
            <a:ext cx="8503920" cy="822960"/>
          </a:xfrm>
          <a:prstGeom prst="rect">
            <a:avLst/>
          </a:prstGeom>
          <a:noFill/>
          <a:ln/>
        </p:spPr>
        <p:txBody>
          <a:bodyPr wrap="square" rtlCol="0" anchor="ctr"/>
          <a:lstStyle/>
          <a:p>
            <a:pPr marL="0" indent="0">
              <a:lnSpc>
                <a:spcPts val="1500"/>
              </a:lnSpc>
              <a:buNone/>
            </a:pPr>
            <a:r>
              <a:rPr lang="en-US" sz="1200" dirty="0">
                <a:solidFill>
                  <a:srgbClr val="5B595A"/>
                </a:solidFill>
                <a:latin typeface="Arial" pitchFamily="34" charset="0"/>
                <a:ea typeface="Arial" pitchFamily="34" charset="-122"/>
                <a:cs typeface="Arial" pitchFamily="34" charset="-120"/>
              </a:rPr>
              <a:t>Plan locations by frequency of use, then build: shadow boards, labels, floor marking, min/max marks. Photograph the new standard.</a:t>
            </a:r>
            <a:endParaRPr lang="en-US" sz="1200" dirty="0"/>
          </a:p>
        </p:txBody>
      </p:sp>
      <p:sp>
        <p:nvSpPr>
          <p:cNvPr id="19" name="Shape 16"/>
          <p:cNvSpPr/>
          <p:nvPr/>
        </p:nvSpPr>
        <p:spPr>
          <a:xfrm>
            <a:off x="548640" y="4041648"/>
            <a:ext cx="384048" cy="384048"/>
          </a:xfrm>
          <a:prstGeom prst="ellipse">
            <a:avLst/>
          </a:prstGeom>
          <a:solidFill>
            <a:srgbClr val="83348F"/>
          </a:solidFill>
          <a:ln/>
        </p:spPr>
        <p:txBody>
          <a:bodyPr/>
          <a:lstStyle/>
          <a:p>
            <a:endParaRPr lang="en-GB"/>
          </a:p>
        </p:txBody>
      </p:sp>
      <p:sp>
        <p:nvSpPr>
          <p:cNvPr id="20" name="Text 17"/>
          <p:cNvSpPr/>
          <p:nvPr/>
        </p:nvSpPr>
        <p:spPr>
          <a:xfrm>
            <a:off x="548640" y="4032504"/>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8"/>
          <p:cNvSpPr/>
          <p:nvPr/>
        </p:nvSpPr>
        <p:spPr>
          <a:xfrm>
            <a:off x="1097280" y="3968496"/>
            <a:ext cx="2011680" cy="548640"/>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Shine</a:t>
            </a:r>
            <a:endParaRPr lang="en-US" sz="1450" dirty="0"/>
          </a:p>
        </p:txBody>
      </p:sp>
      <p:sp>
        <p:nvSpPr>
          <p:cNvPr id="22" name="Text 19"/>
          <p:cNvSpPr/>
          <p:nvPr/>
        </p:nvSpPr>
        <p:spPr>
          <a:xfrm>
            <a:off x="3200400" y="3968496"/>
            <a:ext cx="8503920" cy="822960"/>
          </a:xfrm>
          <a:prstGeom prst="rect">
            <a:avLst/>
          </a:prstGeom>
          <a:noFill/>
          <a:ln/>
        </p:spPr>
        <p:txBody>
          <a:bodyPr wrap="square" rtlCol="0" anchor="ctr"/>
          <a:lstStyle/>
          <a:p>
            <a:pPr marL="0" indent="0">
              <a:lnSpc>
                <a:spcPts val="1500"/>
              </a:lnSpc>
              <a:buNone/>
            </a:pPr>
            <a:r>
              <a:rPr lang="en-US" sz="1200" dirty="0">
                <a:solidFill>
                  <a:srgbClr val="5B595A"/>
                </a:solidFill>
                <a:latin typeface="Arial" pitchFamily="34" charset="0"/>
                <a:ea typeface="Arial" pitchFamily="34" charset="-122"/>
                <a:cs typeface="Arial" pitchFamily="34" charset="-120"/>
              </a:rPr>
              <a:t>Deep clean to inspection standard. Log every abnormality found: leaks, damage, wear. Assign cleaning zones and routines.</a:t>
            </a:r>
            <a:endParaRPr lang="en-US" sz="1200" dirty="0"/>
          </a:p>
        </p:txBody>
      </p:sp>
      <p:sp>
        <p:nvSpPr>
          <p:cNvPr id="23" name="Shape 20"/>
          <p:cNvSpPr/>
          <p:nvPr/>
        </p:nvSpPr>
        <p:spPr>
          <a:xfrm>
            <a:off x="548640" y="4937760"/>
            <a:ext cx="384048" cy="384048"/>
          </a:xfrm>
          <a:prstGeom prst="ellipse">
            <a:avLst/>
          </a:prstGeom>
          <a:solidFill>
            <a:srgbClr val="009FE3"/>
          </a:solidFill>
          <a:ln/>
        </p:spPr>
        <p:txBody>
          <a:bodyPr/>
          <a:lstStyle/>
          <a:p>
            <a:endParaRPr lang="en-GB"/>
          </a:p>
        </p:txBody>
      </p:sp>
      <p:sp>
        <p:nvSpPr>
          <p:cNvPr id="24" name="Text 21"/>
          <p:cNvSpPr/>
          <p:nvPr/>
        </p:nvSpPr>
        <p:spPr>
          <a:xfrm>
            <a:off x="548640" y="4928616"/>
            <a:ext cx="384048" cy="38404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2"/>
          <p:cNvSpPr/>
          <p:nvPr/>
        </p:nvSpPr>
        <p:spPr>
          <a:xfrm>
            <a:off x="1097280" y="4864608"/>
            <a:ext cx="2011680" cy="548640"/>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Close</a:t>
            </a:r>
            <a:endParaRPr lang="en-US" sz="1450" dirty="0"/>
          </a:p>
        </p:txBody>
      </p:sp>
      <p:sp>
        <p:nvSpPr>
          <p:cNvPr id="26" name="Text 23"/>
          <p:cNvSpPr/>
          <p:nvPr/>
        </p:nvSpPr>
        <p:spPr>
          <a:xfrm>
            <a:off x="3200400" y="4864608"/>
            <a:ext cx="8503920" cy="822960"/>
          </a:xfrm>
          <a:prstGeom prst="rect">
            <a:avLst/>
          </a:prstGeom>
          <a:noFill/>
          <a:ln/>
        </p:spPr>
        <p:txBody>
          <a:bodyPr wrap="square" rtlCol="0" anchor="ctr"/>
          <a:lstStyle/>
          <a:p>
            <a:pPr marL="0" indent="0">
              <a:lnSpc>
                <a:spcPts val="1500"/>
              </a:lnSpc>
              <a:buNone/>
            </a:pPr>
            <a:r>
              <a:rPr lang="en-US" sz="1200" dirty="0">
                <a:solidFill>
                  <a:srgbClr val="5B595A"/>
                </a:solidFill>
                <a:latin typeface="Arial" pitchFamily="34" charset="0"/>
                <a:ea typeface="Arial" pitchFamily="34" charset="-122"/>
                <a:cs typeface="Arial" pitchFamily="34" charset="-120"/>
              </a:rPr>
              <a:t>Compare before-and-after photos, agree the photo standards and checklist, set the first audit date, and celebrate with the team.</a:t>
            </a:r>
            <a:endParaRPr lang="en-US" sz="1200" dirty="0"/>
          </a:p>
        </p:txBody>
      </p:sp>
      <p:sp>
        <p:nvSpPr>
          <p:cNvPr id="27" name="Text 24"/>
          <p:cNvSpPr/>
          <p:nvPr/>
        </p:nvSpPr>
        <p:spPr>
          <a:xfrm>
            <a:off x="457200" y="5806440"/>
            <a:ext cx="11247120" cy="548640"/>
          </a:xfrm>
          <a:prstGeom prst="rect">
            <a:avLst/>
          </a:prstGeom>
          <a:noFill/>
          <a:ln/>
        </p:spPr>
        <p:txBody>
          <a:bodyPr wrap="square" rtlCol="0" anchor="ctr"/>
          <a:lstStyle/>
          <a:p>
            <a:pPr marL="0" indent="0">
              <a:lnSpc>
                <a:spcPts val="1600"/>
              </a:lnSpc>
              <a:buNone/>
            </a:pPr>
            <a:r>
              <a:rPr lang="en-US" sz="1250" i="1" dirty="0">
                <a:solidFill>
                  <a:srgbClr val="83348F"/>
                </a:solidFill>
                <a:latin typeface="Arial" pitchFamily="34" charset="0"/>
                <a:ea typeface="Arial" pitchFamily="34" charset="-122"/>
                <a:cs typeface="Arial" pitchFamily="34" charset="-120"/>
              </a:rPr>
              <a:t>Standardise and Sustain start the next morning, not at the next event: the daily routine, the board and the audit calendar are what make the day permanent.</a:t>
            </a:r>
            <a:endParaRPr lang="en-US" sz="1250" dirty="0"/>
          </a:p>
        </p:txBody>
      </p:sp>
      <p:sp>
        <p:nvSpPr>
          <p:cNvPr id="28" name="Rectangle 27"/>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10606913"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11219561" y="100584"/>
            <a:ext cx="658368" cy="347472"/>
          </a:xfrm>
          <a:prstGeom prst="rect">
            <a:avLst/>
          </a:prstGeom>
        </p:spPr>
      </p:pic>
      <p:sp>
        <p:nvSpPr>
          <p:cNvPr id="31" name="Rectangle 30"/>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5S beyond the shop floor</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Offices, shared drives and inboxes hide as much waste as any workshop.</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15</a:t>
            </a:r>
            <a:endParaRPr lang="en-US" sz="900" dirty="0"/>
          </a:p>
        </p:txBody>
      </p:sp>
      <p:sp>
        <p:nvSpPr>
          <p:cNvPr id="7" name="Shape 4"/>
          <p:cNvSpPr/>
          <p:nvPr/>
        </p:nvSpPr>
        <p:spPr>
          <a:xfrm>
            <a:off x="457200" y="1280160"/>
            <a:ext cx="5486400" cy="1965960"/>
          </a:xfrm>
          <a:prstGeom prst="roundRect">
            <a:avLst>
              <a:gd name="adj" fmla="val 3256"/>
            </a:avLst>
          </a:prstGeom>
          <a:solidFill>
            <a:srgbClr val="E5F5FD"/>
          </a:solidFill>
          <a:ln/>
        </p:spPr>
        <p:txBody>
          <a:bodyPr/>
          <a:lstStyle/>
          <a:p>
            <a:endParaRPr lang="en-GB"/>
          </a:p>
        </p:txBody>
      </p:sp>
      <p:sp>
        <p:nvSpPr>
          <p:cNvPr id="8" name="Text 5"/>
          <p:cNvSpPr/>
          <p:nvPr/>
        </p:nvSpPr>
        <p:spPr>
          <a:xfrm>
            <a:off x="685800" y="1444752"/>
            <a:ext cx="502920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Office 5S</a:t>
            </a:r>
            <a:endParaRPr lang="en-US" sz="1450" dirty="0"/>
          </a:p>
        </p:txBody>
      </p:sp>
      <p:sp>
        <p:nvSpPr>
          <p:cNvPr id="9" name="Text 6"/>
          <p:cNvSpPr/>
          <p:nvPr/>
        </p:nvSpPr>
        <p:spPr>
          <a:xfrm>
            <a:off x="685800"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Apply the same five steps to desks, filing, stationery and meeting rooms: sort the paperwork, give supplies a labelled home, define the clear-desk standard, audit it like any other area.</a:t>
            </a:r>
            <a:endParaRPr lang="en-US" sz="1150" dirty="0"/>
          </a:p>
        </p:txBody>
      </p:sp>
      <p:sp>
        <p:nvSpPr>
          <p:cNvPr id="10" name="Shape 7"/>
          <p:cNvSpPr/>
          <p:nvPr/>
        </p:nvSpPr>
        <p:spPr>
          <a:xfrm>
            <a:off x="6217920" y="1280160"/>
            <a:ext cx="5486400" cy="1965960"/>
          </a:xfrm>
          <a:prstGeom prst="roundRect">
            <a:avLst>
              <a:gd name="adj" fmla="val 3256"/>
            </a:avLst>
          </a:prstGeom>
          <a:solidFill>
            <a:srgbClr val="F3E9F5"/>
          </a:solidFill>
          <a:ln/>
        </p:spPr>
        <p:txBody>
          <a:bodyPr/>
          <a:lstStyle/>
          <a:p>
            <a:endParaRPr lang="en-GB"/>
          </a:p>
        </p:txBody>
      </p:sp>
      <p:sp>
        <p:nvSpPr>
          <p:cNvPr id="11" name="Text 8"/>
          <p:cNvSpPr/>
          <p:nvPr/>
        </p:nvSpPr>
        <p:spPr>
          <a:xfrm>
            <a:off x="6446520" y="1444752"/>
            <a:ext cx="502920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Digital sort</a:t>
            </a:r>
            <a:endParaRPr lang="en-US" sz="1450" dirty="0"/>
          </a:p>
        </p:txBody>
      </p:sp>
      <p:sp>
        <p:nvSpPr>
          <p:cNvPr id="12" name="Text 9"/>
          <p:cNvSpPr/>
          <p:nvPr/>
        </p:nvSpPr>
        <p:spPr>
          <a:xfrm>
            <a:off x="6446520" y="188366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Shared drives accumulate digital clutter: obsolete versions, duplicate folders, personal copies of controlled documents. Archive or delete against agreed retention rules.</a:t>
            </a:r>
            <a:endParaRPr lang="en-US" sz="1150" dirty="0"/>
          </a:p>
        </p:txBody>
      </p:sp>
      <p:sp>
        <p:nvSpPr>
          <p:cNvPr id="13" name="Shape 10"/>
          <p:cNvSpPr/>
          <p:nvPr/>
        </p:nvSpPr>
        <p:spPr>
          <a:xfrm>
            <a:off x="457200" y="3429000"/>
            <a:ext cx="5486400" cy="1965960"/>
          </a:xfrm>
          <a:prstGeom prst="roundRect">
            <a:avLst>
              <a:gd name="adj" fmla="val 3256"/>
            </a:avLst>
          </a:prstGeom>
          <a:solidFill>
            <a:srgbClr val="E5F5FD"/>
          </a:solidFill>
          <a:ln/>
        </p:spPr>
        <p:txBody>
          <a:bodyPr/>
          <a:lstStyle/>
          <a:p>
            <a:endParaRPr lang="en-GB"/>
          </a:p>
        </p:txBody>
      </p:sp>
      <p:sp>
        <p:nvSpPr>
          <p:cNvPr id="14" name="Text 11"/>
          <p:cNvSpPr/>
          <p:nvPr/>
        </p:nvSpPr>
        <p:spPr>
          <a:xfrm>
            <a:off x="685800" y="3593592"/>
            <a:ext cx="502920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Digital set in order</a:t>
            </a:r>
            <a:endParaRPr lang="en-US" sz="1450" dirty="0"/>
          </a:p>
        </p:txBody>
      </p:sp>
      <p:sp>
        <p:nvSpPr>
          <p:cNvPr id="15" name="Text 12"/>
          <p:cNvSpPr/>
          <p:nvPr/>
        </p:nvSpPr>
        <p:spPr>
          <a:xfrm>
            <a:off x="685800"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One agreed folder structure and naming convention; controlled documents in one place with one live revision (supports your document control and PE-10).</a:t>
            </a:r>
            <a:endParaRPr lang="en-US" sz="1150" dirty="0"/>
          </a:p>
        </p:txBody>
      </p:sp>
      <p:sp>
        <p:nvSpPr>
          <p:cNvPr id="16" name="Shape 13"/>
          <p:cNvSpPr/>
          <p:nvPr/>
        </p:nvSpPr>
        <p:spPr>
          <a:xfrm>
            <a:off x="6217920" y="3429000"/>
            <a:ext cx="5486400" cy="1965960"/>
          </a:xfrm>
          <a:prstGeom prst="roundRect">
            <a:avLst>
              <a:gd name="adj" fmla="val 3256"/>
            </a:avLst>
          </a:prstGeom>
          <a:solidFill>
            <a:srgbClr val="F3E9F5"/>
          </a:solidFill>
          <a:ln/>
        </p:spPr>
        <p:txBody>
          <a:bodyPr/>
          <a:lstStyle/>
          <a:p>
            <a:endParaRPr lang="en-GB"/>
          </a:p>
        </p:txBody>
      </p:sp>
      <p:sp>
        <p:nvSpPr>
          <p:cNvPr id="17" name="Text 14"/>
          <p:cNvSpPr/>
          <p:nvPr/>
        </p:nvSpPr>
        <p:spPr>
          <a:xfrm>
            <a:off x="6446520" y="3593592"/>
            <a:ext cx="502920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Digital sustain</a:t>
            </a:r>
            <a:endParaRPr lang="en-US" sz="1450" dirty="0"/>
          </a:p>
        </p:txBody>
      </p:sp>
      <p:sp>
        <p:nvSpPr>
          <p:cNvPr id="18" name="Text 15"/>
          <p:cNvSpPr/>
          <p:nvPr/>
        </p:nvSpPr>
        <p:spPr>
          <a:xfrm>
            <a:off x="6446520" y="4032504"/>
            <a:ext cx="5029200" cy="128016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Quarterly digital audits: orphaned files, broken links, out-of-date templates. A cluttered drive causes wrong-revision errors just as surely as a cluttered bench.</a:t>
            </a:r>
            <a:endParaRPr lang="en-US" sz="1150" dirty="0"/>
          </a:p>
        </p:txBody>
      </p:sp>
      <p:sp>
        <p:nvSpPr>
          <p:cNvPr id="19" name="Text 16"/>
          <p:cNvSpPr/>
          <p:nvPr/>
        </p:nvSpPr>
        <p:spPr>
          <a:xfrm>
            <a:off x="457200" y="5623560"/>
            <a:ext cx="11247120" cy="365760"/>
          </a:xfrm>
          <a:prstGeom prst="rect">
            <a:avLst/>
          </a:prstGeom>
          <a:noFill/>
          <a:ln/>
        </p:spPr>
        <p:txBody>
          <a:bodyPr wrap="square" rtlCol="0" anchor="ctr"/>
          <a:lstStyle/>
          <a:p>
            <a:pPr marL="0" indent="0">
              <a:buNone/>
            </a:pPr>
            <a:r>
              <a:rPr lang="en-US" sz="1250" i="1" dirty="0">
                <a:solidFill>
                  <a:srgbClr val="83348F"/>
                </a:solidFill>
                <a:latin typeface="Arial" pitchFamily="34" charset="0"/>
                <a:ea typeface="Arial" pitchFamily="34" charset="-122"/>
                <a:cs typeface="Arial" pitchFamily="34" charset="-120"/>
              </a:rPr>
              <a:t>F4N's lean expectations now include digital waste; an organised information workplace is part of the same discipline.</a:t>
            </a:r>
            <a:endParaRPr lang="en-US" sz="1250" dirty="0"/>
          </a:p>
        </p:txBody>
      </p:sp>
      <p:sp>
        <p:nvSpPr>
          <p:cNvPr id="20" name="Rectangle 19"/>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10606913"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11219561" y="100584"/>
            <a:ext cx="658368" cy="347472"/>
          </a:xfrm>
          <a:prstGeom prst="rect">
            <a:avLst/>
          </a:prstGeom>
        </p:spPr>
      </p:pic>
      <p:sp>
        <p:nvSpPr>
          <p:cNvPr id="23" name="Rectangle 22"/>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Why 5S programmes fail</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Every failed 5S effort fails in one of a few familiar ways. Plan against them.</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16</a:t>
            </a:r>
            <a:endParaRPr lang="en-US" sz="900" dirty="0"/>
          </a:p>
        </p:txBody>
      </p:sp>
      <p:sp>
        <p:nvSpPr>
          <p:cNvPr id="7" name="Shape 4"/>
          <p:cNvSpPr/>
          <p:nvPr/>
        </p:nvSpPr>
        <p:spPr>
          <a:xfrm>
            <a:off x="457200" y="1280160"/>
            <a:ext cx="5486400" cy="2011680"/>
          </a:xfrm>
          <a:prstGeom prst="roundRect">
            <a:avLst>
              <a:gd name="adj" fmla="val 3182"/>
            </a:avLst>
          </a:prstGeom>
          <a:solidFill>
            <a:srgbClr val="E5F5FD"/>
          </a:solidFill>
          <a:ln/>
        </p:spPr>
        <p:txBody>
          <a:bodyPr/>
          <a:lstStyle/>
          <a:p>
            <a:endParaRPr lang="en-GB"/>
          </a:p>
        </p:txBody>
      </p:sp>
      <p:sp>
        <p:nvSpPr>
          <p:cNvPr id="8" name="Text 5"/>
          <p:cNvSpPr/>
          <p:nvPr/>
        </p:nvSpPr>
        <p:spPr>
          <a:xfrm>
            <a:off x="685800" y="1444752"/>
            <a:ext cx="502920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The blitz that faded</a:t>
            </a:r>
            <a:endParaRPr lang="en-US" sz="1450" dirty="0"/>
          </a:p>
        </p:txBody>
      </p:sp>
      <p:sp>
        <p:nvSpPr>
          <p:cNvPr id="9" name="Text 6"/>
          <p:cNvSpPr/>
          <p:nvPr/>
        </p:nvSpPr>
        <p:spPr>
          <a:xfrm>
            <a:off x="685800" y="1883664"/>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 big launch, impressive photos, then decay within months. Cause: no audit rhythm, no routines, no ownership. Fix: 4S and 5S were never actually started.</a:t>
            </a:r>
            <a:endParaRPr lang="en-US" sz="1150" dirty="0"/>
          </a:p>
        </p:txBody>
      </p:sp>
      <p:sp>
        <p:nvSpPr>
          <p:cNvPr id="10" name="Shape 7"/>
          <p:cNvSpPr/>
          <p:nvPr/>
        </p:nvSpPr>
        <p:spPr>
          <a:xfrm>
            <a:off x="6217920" y="1280160"/>
            <a:ext cx="5486400" cy="2011680"/>
          </a:xfrm>
          <a:prstGeom prst="roundRect">
            <a:avLst>
              <a:gd name="adj" fmla="val 3182"/>
            </a:avLst>
          </a:prstGeom>
          <a:solidFill>
            <a:srgbClr val="F3E9F5"/>
          </a:solidFill>
          <a:ln/>
        </p:spPr>
        <p:txBody>
          <a:bodyPr/>
          <a:lstStyle/>
          <a:p>
            <a:endParaRPr lang="en-GB"/>
          </a:p>
        </p:txBody>
      </p:sp>
      <p:sp>
        <p:nvSpPr>
          <p:cNvPr id="11" name="Text 8"/>
          <p:cNvSpPr/>
          <p:nvPr/>
        </p:nvSpPr>
        <p:spPr>
          <a:xfrm>
            <a:off x="6446520" y="1444752"/>
            <a:ext cx="502920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Done to, not done by</a:t>
            </a:r>
            <a:endParaRPr lang="en-US" sz="1450" dirty="0"/>
          </a:p>
        </p:txBody>
      </p:sp>
      <p:sp>
        <p:nvSpPr>
          <p:cNvPr id="12" name="Text 9"/>
          <p:cNvSpPr/>
          <p:nvPr/>
        </p:nvSpPr>
        <p:spPr>
          <a:xfrm>
            <a:off x="6446520" y="1883664"/>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An improvement team organises someone else's area. The team feels policed, not proud, and quietly restores the old chaos. Fix: the area team leads; facilitators support.</a:t>
            </a:r>
            <a:endParaRPr lang="en-US" sz="1150" dirty="0"/>
          </a:p>
        </p:txBody>
      </p:sp>
      <p:sp>
        <p:nvSpPr>
          <p:cNvPr id="13" name="Shape 10"/>
          <p:cNvSpPr/>
          <p:nvPr/>
        </p:nvSpPr>
        <p:spPr>
          <a:xfrm>
            <a:off x="457200" y="3474720"/>
            <a:ext cx="5486400" cy="2011680"/>
          </a:xfrm>
          <a:prstGeom prst="roundRect">
            <a:avLst>
              <a:gd name="adj" fmla="val 3182"/>
            </a:avLst>
          </a:prstGeom>
          <a:solidFill>
            <a:srgbClr val="E5F5FD"/>
          </a:solidFill>
          <a:ln/>
        </p:spPr>
        <p:txBody>
          <a:bodyPr/>
          <a:lstStyle/>
          <a:p>
            <a:endParaRPr lang="en-GB"/>
          </a:p>
        </p:txBody>
      </p:sp>
      <p:sp>
        <p:nvSpPr>
          <p:cNvPr id="14" name="Text 11"/>
          <p:cNvSpPr/>
          <p:nvPr/>
        </p:nvSpPr>
        <p:spPr>
          <a:xfrm>
            <a:off x="685800" y="3639312"/>
            <a:ext cx="502920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5S as cleaning</a:t>
            </a:r>
            <a:endParaRPr lang="en-US" sz="1450" dirty="0"/>
          </a:p>
        </p:txBody>
      </p:sp>
      <p:sp>
        <p:nvSpPr>
          <p:cNvPr id="15" name="Text 12"/>
          <p:cNvSpPr/>
          <p:nvPr/>
        </p:nvSpPr>
        <p:spPr>
          <a:xfrm>
            <a:off x="685800" y="4078224"/>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Treating 5S as housekeeping for visitors. The deeper purposes (visibility of abnormality, error prevention, inspection through cleaning) never engage. Fix: train the why, not just the what.</a:t>
            </a:r>
            <a:endParaRPr lang="en-US" sz="1150" dirty="0"/>
          </a:p>
        </p:txBody>
      </p:sp>
      <p:sp>
        <p:nvSpPr>
          <p:cNvPr id="16" name="Shape 13"/>
          <p:cNvSpPr/>
          <p:nvPr/>
        </p:nvSpPr>
        <p:spPr>
          <a:xfrm>
            <a:off x="6217920" y="3474720"/>
            <a:ext cx="5486400" cy="2011680"/>
          </a:xfrm>
          <a:prstGeom prst="roundRect">
            <a:avLst>
              <a:gd name="adj" fmla="val 3182"/>
            </a:avLst>
          </a:prstGeom>
          <a:solidFill>
            <a:srgbClr val="F3E9F5"/>
          </a:solidFill>
          <a:ln/>
        </p:spPr>
        <p:txBody>
          <a:bodyPr/>
          <a:lstStyle/>
          <a:p>
            <a:endParaRPr lang="en-GB"/>
          </a:p>
        </p:txBody>
      </p:sp>
      <p:sp>
        <p:nvSpPr>
          <p:cNvPr id="17" name="Text 14"/>
          <p:cNvSpPr/>
          <p:nvPr/>
        </p:nvSpPr>
        <p:spPr>
          <a:xfrm>
            <a:off x="6446520" y="3639312"/>
            <a:ext cx="502920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Scores without actions</a:t>
            </a:r>
            <a:endParaRPr lang="en-US" sz="1450" dirty="0"/>
          </a:p>
        </p:txBody>
      </p:sp>
      <p:sp>
        <p:nvSpPr>
          <p:cNvPr id="18" name="Text 15"/>
          <p:cNvSpPr/>
          <p:nvPr/>
        </p:nvSpPr>
        <p:spPr>
          <a:xfrm>
            <a:off x="6446520" y="4078224"/>
            <a:ext cx="5029200" cy="1325880"/>
          </a:xfrm>
          <a:prstGeom prst="rect">
            <a:avLst/>
          </a:prstGeom>
          <a:noFill/>
          <a:ln/>
        </p:spPr>
        <p:txBody>
          <a:bodyPr wrap="square" rtlCol="0" anchor="t"/>
          <a:lstStyle/>
          <a:p>
            <a:pPr marL="0" indent="0">
              <a:lnSpc>
                <a:spcPts val="1550"/>
              </a:lnSpc>
              <a:buNone/>
            </a:pPr>
            <a:r>
              <a:rPr lang="en-US" sz="1150" dirty="0">
                <a:solidFill>
                  <a:srgbClr val="5B595A"/>
                </a:solidFill>
                <a:latin typeface="Arial" pitchFamily="34" charset="0"/>
                <a:ea typeface="Arial" pitchFamily="34" charset="-122"/>
                <a:cs typeface="Arial" pitchFamily="34" charset="-120"/>
              </a:rPr>
              <a:t>Audits happen, scores are filed, nothing changes. The system becomes wallpaper. Fix: every low score becomes an owned action; leadership reviews the log, not just the number.</a:t>
            </a:r>
            <a:endParaRPr lang="en-US" sz="1150" dirty="0"/>
          </a:p>
        </p:txBody>
      </p:sp>
      <p:sp>
        <p:nvSpPr>
          <p:cNvPr id="19" name="Text 16"/>
          <p:cNvSpPr/>
          <p:nvPr/>
        </p:nvSpPr>
        <p:spPr>
          <a:xfrm>
            <a:off x="457200" y="5715000"/>
            <a:ext cx="11247120" cy="365760"/>
          </a:xfrm>
          <a:prstGeom prst="rect">
            <a:avLst/>
          </a:prstGeom>
          <a:noFill/>
          <a:ln/>
        </p:spPr>
        <p:txBody>
          <a:bodyPr wrap="square" rtlCol="0" anchor="ctr"/>
          <a:lstStyle/>
          <a:p>
            <a:pPr marL="0" indent="0">
              <a:buNone/>
            </a:pPr>
            <a:endParaRPr lang="en-US" dirty="0"/>
          </a:p>
        </p:txBody>
      </p:sp>
      <p:sp>
        <p:nvSpPr>
          <p:cNvPr id="20" name="Rectangle 19"/>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5"/>
          <a:stretch>
            <a:fillRect/>
          </a:stretch>
        </p:blipFill>
        <p:spPr>
          <a:xfrm>
            <a:off x="10606913" y="100584"/>
            <a:ext cx="566928" cy="347472"/>
          </a:xfrm>
          <a:prstGeom prst="rect">
            <a:avLst/>
          </a:prstGeom>
        </p:spPr>
      </p:pic>
      <p:pic>
        <p:nvPicPr>
          <p:cNvPr id="22" name="Picture 21" descr="image.png"/>
          <p:cNvPicPr>
            <a:picLocks noChangeAspect="1"/>
          </p:cNvPicPr>
          <p:nvPr/>
        </p:nvPicPr>
        <p:blipFill>
          <a:blip r:embed="rId4"/>
          <a:stretch>
            <a:fillRect/>
          </a:stretch>
        </p:blipFill>
        <p:spPr>
          <a:xfrm>
            <a:off x="11219561" y="100584"/>
            <a:ext cx="658368" cy="347472"/>
          </a:xfrm>
          <a:prstGeom prst="rect">
            <a:avLst/>
          </a:prstGeom>
        </p:spPr>
      </p:pic>
      <p:sp>
        <p:nvSpPr>
          <p:cNvPr id="23" name="Rectangle 22"/>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Measuring the impact</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5S should pay for itself visibly. Measure before and after, then keep measuring.</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17</a:t>
            </a:r>
            <a:endParaRPr lang="en-US" sz="900" dirty="0"/>
          </a:p>
        </p:txBody>
      </p:sp>
      <p:sp>
        <p:nvSpPr>
          <p:cNvPr id="7" name="Shape 4"/>
          <p:cNvSpPr/>
          <p:nvPr/>
        </p:nvSpPr>
        <p:spPr>
          <a:xfrm>
            <a:off x="457200" y="1280160"/>
            <a:ext cx="3703320" cy="2057400"/>
          </a:xfrm>
          <a:prstGeom prst="roundRect">
            <a:avLst>
              <a:gd name="adj" fmla="val 3111"/>
            </a:avLst>
          </a:prstGeom>
          <a:solidFill>
            <a:srgbClr val="E5F5FD"/>
          </a:solidFill>
          <a:ln/>
        </p:spPr>
        <p:txBody>
          <a:bodyPr/>
          <a:lstStyle/>
          <a:p>
            <a:endParaRPr lang="en-GB"/>
          </a:p>
        </p:txBody>
      </p:sp>
      <p:sp>
        <p:nvSpPr>
          <p:cNvPr id="8" name="Text 5"/>
          <p:cNvSpPr/>
          <p:nvPr/>
        </p:nvSpPr>
        <p:spPr>
          <a:xfrm>
            <a:off x="658368" y="142646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Audit score trend</a:t>
            </a:r>
            <a:endParaRPr lang="en-US" sz="1450" dirty="0"/>
          </a:p>
        </p:txBody>
      </p:sp>
      <p:sp>
        <p:nvSpPr>
          <p:cNvPr id="9" name="Text 6"/>
          <p:cNvSpPr/>
          <p:nvPr/>
        </p:nvSpPr>
        <p:spPr>
          <a:xfrm>
            <a:off x="658368" y="186537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The headline measure per area and for the site: out of 125, tracked monthly in PE-05a.</a:t>
            </a:r>
            <a:endParaRPr lang="en-US" sz="1100" dirty="0"/>
          </a:p>
        </p:txBody>
      </p:sp>
      <p:sp>
        <p:nvSpPr>
          <p:cNvPr id="10" name="Shape 7"/>
          <p:cNvSpPr/>
          <p:nvPr/>
        </p:nvSpPr>
        <p:spPr>
          <a:xfrm>
            <a:off x="4434840" y="1280160"/>
            <a:ext cx="3703320" cy="2057400"/>
          </a:xfrm>
          <a:prstGeom prst="roundRect">
            <a:avLst>
              <a:gd name="adj" fmla="val 3111"/>
            </a:avLst>
          </a:prstGeom>
          <a:solidFill>
            <a:srgbClr val="F3E9F5"/>
          </a:solidFill>
          <a:ln/>
        </p:spPr>
        <p:txBody>
          <a:bodyPr/>
          <a:lstStyle/>
          <a:p>
            <a:endParaRPr lang="en-GB"/>
          </a:p>
        </p:txBody>
      </p:sp>
      <p:sp>
        <p:nvSpPr>
          <p:cNvPr id="11" name="Text 8"/>
          <p:cNvSpPr/>
          <p:nvPr/>
        </p:nvSpPr>
        <p:spPr>
          <a:xfrm>
            <a:off x="4636008" y="1426464"/>
            <a:ext cx="329184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Search time</a:t>
            </a:r>
            <a:endParaRPr lang="en-US" sz="1450" dirty="0"/>
          </a:p>
        </p:txBody>
      </p:sp>
      <p:sp>
        <p:nvSpPr>
          <p:cNvPr id="12" name="Text 9"/>
          <p:cNvSpPr/>
          <p:nvPr/>
        </p:nvSpPr>
        <p:spPr>
          <a:xfrm>
            <a:off x="4636008" y="186537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Time five common retrieval tasks (a tool, a gauge, a document, a fixture, a consumable) before and after. The reduction is pure productivity.</a:t>
            </a:r>
            <a:endParaRPr lang="en-US" sz="1100" dirty="0"/>
          </a:p>
        </p:txBody>
      </p:sp>
      <p:sp>
        <p:nvSpPr>
          <p:cNvPr id="13" name="Shape 10"/>
          <p:cNvSpPr/>
          <p:nvPr/>
        </p:nvSpPr>
        <p:spPr>
          <a:xfrm>
            <a:off x="8412480" y="1280160"/>
            <a:ext cx="3703320" cy="2057400"/>
          </a:xfrm>
          <a:prstGeom prst="roundRect">
            <a:avLst>
              <a:gd name="adj" fmla="val 3111"/>
            </a:avLst>
          </a:prstGeom>
          <a:solidFill>
            <a:srgbClr val="E5F5FD"/>
          </a:solidFill>
          <a:ln/>
        </p:spPr>
        <p:txBody>
          <a:bodyPr/>
          <a:lstStyle/>
          <a:p>
            <a:endParaRPr lang="en-GB"/>
          </a:p>
        </p:txBody>
      </p:sp>
      <p:sp>
        <p:nvSpPr>
          <p:cNvPr id="14" name="Text 11"/>
          <p:cNvSpPr/>
          <p:nvPr/>
        </p:nvSpPr>
        <p:spPr>
          <a:xfrm>
            <a:off x="8613648" y="142646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Space freed</a:t>
            </a:r>
            <a:endParaRPr lang="en-US" sz="1450" dirty="0"/>
          </a:p>
        </p:txBody>
      </p:sp>
      <p:sp>
        <p:nvSpPr>
          <p:cNvPr id="15" name="Text 12"/>
          <p:cNvSpPr/>
          <p:nvPr/>
        </p:nvSpPr>
        <p:spPr>
          <a:xfrm>
            <a:off x="8613648" y="186537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Square metres recovered by Sort: freed racking, cleared floor, emptied cupboards. Often enough to defer an expansion.</a:t>
            </a:r>
            <a:endParaRPr lang="en-US" sz="1100" dirty="0"/>
          </a:p>
        </p:txBody>
      </p:sp>
      <p:sp>
        <p:nvSpPr>
          <p:cNvPr id="16" name="Shape 13"/>
          <p:cNvSpPr/>
          <p:nvPr/>
        </p:nvSpPr>
        <p:spPr>
          <a:xfrm>
            <a:off x="457200" y="3520440"/>
            <a:ext cx="3703320" cy="2057400"/>
          </a:xfrm>
          <a:prstGeom prst="roundRect">
            <a:avLst>
              <a:gd name="adj" fmla="val 3111"/>
            </a:avLst>
          </a:prstGeom>
          <a:solidFill>
            <a:srgbClr val="E5F5FD"/>
          </a:solidFill>
          <a:ln/>
        </p:spPr>
        <p:txBody>
          <a:bodyPr/>
          <a:lstStyle/>
          <a:p>
            <a:endParaRPr lang="en-GB"/>
          </a:p>
        </p:txBody>
      </p:sp>
      <p:sp>
        <p:nvSpPr>
          <p:cNvPr id="17" name="Text 14"/>
          <p:cNvSpPr/>
          <p:nvPr/>
        </p:nvSpPr>
        <p:spPr>
          <a:xfrm>
            <a:off x="658368" y="366674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Safety signals</a:t>
            </a:r>
            <a:endParaRPr lang="en-US" sz="1450" dirty="0"/>
          </a:p>
        </p:txBody>
      </p:sp>
      <p:sp>
        <p:nvSpPr>
          <p:cNvPr id="18" name="Text 15"/>
          <p:cNvSpPr/>
          <p:nvPr/>
        </p:nvSpPr>
        <p:spPr>
          <a:xfrm>
            <a:off x="658368" y="410565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Near misses, slip/trip reports and workplace inspection findings (link to your H&amp;S programme): these usually move first and fastest.</a:t>
            </a:r>
            <a:endParaRPr lang="en-US" sz="1100" dirty="0"/>
          </a:p>
        </p:txBody>
      </p:sp>
      <p:sp>
        <p:nvSpPr>
          <p:cNvPr id="19" name="Shape 16"/>
          <p:cNvSpPr/>
          <p:nvPr/>
        </p:nvSpPr>
        <p:spPr>
          <a:xfrm>
            <a:off x="4434840" y="3520440"/>
            <a:ext cx="3703320" cy="2057400"/>
          </a:xfrm>
          <a:prstGeom prst="roundRect">
            <a:avLst>
              <a:gd name="adj" fmla="val 3111"/>
            </a:avLst>
          </a:prstGeom>
          <a:solidFill>
            <a:srgbClr val="F3E9F5"/>
          </a:solidFill>
          <a:ln/>
        </p:spPr>
        <p:txBody>
          <a:bodyPr/>
          <a:lstStyle/>
          <a:p>
            <a:endParaRPr lang="en-GB"/>
          </a:p>
        </p:txBody>
      </p:sp>
      <p:sp>
        <p:nvSpPr>
          <p:cNvPr id="20" name="Text 17"/>
          <p:cNvSpPr/>
          <p:nvPr/>
        </p:nvSpPr>
        <p:spPr>
          <a:xfrm>
            <a:off x="4636008" y="3666744"/>
            <a:ext cx="3291840" cy="384048"/>
          </a:xfrm>
          <a:prstGeom prst="rect">
            <a:avLst/>
          </a:prstGeom>
          <a:noFill/>
          <a:ln/>
        </p:spPr>
        <p:txBody>
          <a:bodyPr wrap="square" rtlCol="0" anchor="ctr"/>
          <a:lstStyle/>
          <a:p>
            <a:pPr marL="0" indent="0">
              <a:buNone/>
            </a:pPr>
            <a:r>
              <a:rPr lang="en-US" sz="1450" b="1" dirty="0">
                <a:solidFill>
                  <a:srgbClr val="83348F"/>
                </a:solidFill>
                <a:latin typeface="Arial" pitchFamily="34" charset="0"/>
                <a:ea typeface="Arial" pitchFamily="34" charset="-122"/>
                <a:cs typeface="Arial" pitchFamily="34" charset="-120"/>
              </a:rPr>
              <a:t>Value recovered</a:t>
            </a:r>
            <a:endParaRPr lang="en-US" sz="1450" dirty="0"/>
          </a:p>
        </p:txBody>
      </p:sp>
      <p:sp>
        <p:nvSpPr>
          <p:cNvPr id="21" name="Text 18"/>
          <p:cNvSpPr/>
          <p:nvPr/>
        </p:nvSpPr>
        <p:spPr>
          <a:xfrm>
            <a:off x="4636008" y="410565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Scrap value, sold equipment, returned stock and avoided purchases from the red tag dispositions.</a:t>
            </a:r>
            <a:endParaRPr lang="en-US" sz="1100" dirty="0"/>
          </a:p>
        </p:txBody>
      </p:sp>
      <p:sp>
        <p:nvSpPr>
          <p:cNvPr id="22" name="Shape 19"/>
          <p:cNvSpPr/>
          <p:nvPr/>
        </p:nvSpPr>
        <p:spPr>
          <a:xfrm>
            <a:off x="8412480" y="3520440"/>
            <a:ext cx="3703320" cy="2057400"/>
          </a:xfrm>
          <a:prstGeom prst="roundRect">
            <a:avLst>
              <a:gd name="adj" fmla="val 3111"/>
            </a:avLst>
          </a:prstGeom>
          <a:solidFill>
            <a:srgbClr val="E5F5FD"/>
          </a:solidFill>
          <a:ln/>
        </p:spPr>
        <p:txBody>
          <a:bodyPr/>
          <a:lstStyle/>
          <a:p>
            <a:endParaRPr lang="en-GB"/>
          </a:p>
        </p:txBody>
      </p:sp>
      <p:sp>
        <p:nvSpPr>
          <p:cNvPr id="23" name="Text 20"/>
          <p:cNvSpPr/>
          <p:nvPr/>
        </p:nvSpPr>
        <p:spPr>
          <a:xfrm>
            <a:off x="8613648" y="3666744"/>
            <a:ext cx="3291840" cy="384048"/>
          </a:xfrm>
          <a:prstGeom prst="rect">
            <a:avLst/>
          </a:prstGeom>
          <a:noFill/>
          <a:ln/>
        </p:spPr>
        <p:txBody>
          <a:bodyPr wrap="square" rtlCol="0" anchor="ctr"/>
          <a:lstStyle/>
          <a:p>
            <a:pPr marL="0" indent="0">
              <a:buNone/>
            </a:pPr>
            <a:r>
              <a:rPr lang="en-US" sz="1450" b="1" dirty="0">
                <a:solidFill>
                  <a:srgbClr val="009FE3"/>
                </a:solidFill>
                <a:latin typeface="Arial" pitchFamily="34" charset="0"/>
                <a:ea typeface="Arial" pitchFamily="34" charset="-122"/>
                <a:cs typeface="Arial" pitchFamily="34" charset="-120"/>
              </a:rPr>
              <a:t>Defect families</a:t>
            </a:r>
            <a:endParaRPr lang="en-US" sz="1450" dirty="0"/>
          </a:p>
        </p:txBody>
      </p:sp>
      <p:sp>
        <p:nvSpPr>
          <p:cNvPr id="24" name="Text 21"/>
          <p:cNvSpPr/>
          <p:nvPr/>
        </p:nvSpPr>
        <p:spPr>
          <a:xfrm>
            <a:off x="8613648" y="4105656"/>
            <a:ext cx="3291840" cy="1371600"/>
          </a:xfrm>
          <a:prstGeom prst="rect">
            <a:avLst/>
          </a:prstGeom>
          <a:noFill/>
          <a:ln/>
        </p:spPr>
        <p:txBody>
          <a:bodyPr wrap="square" rtlCol="0" anchor="t"/>
          <a:lstStyle/>
          <a:p>
            <a:pPr marL="0" indent="0">
              <a:lnSpc>
                <a:spcPts val="1500"/>
              </a:lnSpc>
              <a:buNone/>
            </a:pPr>
            <a:r>
              <a:rPr lang="en-US" sz="1100" dirty="0">
                <a:solidFill>
                  <a:srgbClr val="5B595A"/>
                </a:solidFill>
                <a:latin typeface="Arial" pitchFamily="34" charset="0"/>
                <a:ea typeface="Arial" pitchFamily="34" charset="-122"/>
                <a:cs typeface="Arial" pitchFamily="34" charset="-120"/>
              </a:rPr>
              <a:t>Mix-up, wrong-revision and missing-part defects, before and after: the quality dividend of Set in Order.</a:t>
            </a:r>
            <a:endParaRPr lang="en-US" sz="1100" dirty="0"/>
          </a:p>
        </p:txBody>
      </p:sp>
      <p:sp>
        <p:nvSpPr>
          <p:cNvPr id="25" name="Rectangle 24"/>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10606913"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11219561" y="100584"/>
            <a:ext cx="658368" cy="347472"/>
          </a:xfrm>
          <a:prstGeom prst="rect">
            <a:avLst/>
          </a:prstGeom>
        </p:spPr>
      </p:pic>
      <p:sp>
        <p:nvSpPr>
          <p:cNvPr id="28" name="Rectangle 27"/>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57200" y="164592"/>
            <a:ext cx="10607040" cy="502920"/>
          </a:xfrm>
          <a:prstGeom prst="rect">
            <a:avLst/>
          </a:prstGeom>
          <a:noFill/>
          <a:ln/>
        </p:spPr>
        <p:txBody>
          <a:bodyPr wrap="square" rtlCol="0" anchor="ctr"/>
          <a:lstStyle/>
          <a:p>
            <a:pPr marL="0" indent="0">
              <a:buNone/>
            </a:pPr>
            <a:r>
              <a:rPr lang="en-US" sz="2600" b="1" dirty="0">
                <a:solidFill>
                  <a:srgbClr val="83348F"/>
                </a:solidFill>
                <a:latin typeface="Arial" pitchFamily="34" charset="0"/>
                <a:ea typeface="Arial" pitchFamily="34" charset="-122"/>
                <a:cs typeface="Arial" pitchFamily="34" charset="-120"/>
              </a:rPr>
              <a:t>Summary and getting started</a:t>
            </a:r>
            <a:endParaRPr lang="en-US" sz="2600" dirty="0"/>
          </a:p>
        </p:txBody>
      </p:sp>
      <p:sp>
        <p:nvSpPr>
          <p:cNvPr id="4" name="Text 1"/>
          <p:cNvSpPr/>
          <p:nvPr/>
        </p:nvSpPr>
        <p:spPr>
          <a:xfrm>
            <a:off x="457200" y="658368"/>
            <a:ext cx="10607040" cy="320040"/>
          </a:xfrm>
          <a:prstGeom prst="rect">
            <a:avLst/>
          </a:prstGeom>
          <a:noFill/>
          <a:ln/>
        </p:spPr>
        <p:txBody>
          <a:bodyPr wrap="square" rtlCol="0" anchor="ctr"/>
          <a:lstStyle/>
          <a:p>
            <a:pPr marL="0" indent="0">
              <a:buNone/>
            </a:pPr>
            <a:r>
              <a:rPr lang="en-US" sz="1300" i="1" dirty="0">
                <a:solidFill>
                  <a:srgbClr val="009FE3"/>
                </a:solidFill>
                <a:latin typeface="Arial" pitchFamily="34" charset="0"/>
                <a:ea typeface="Arial" pitchFamily="34" charset="-122"/>
                <a:cs typeface="Arial" pitchFamily="34" charset="-120"/>
              </a:rPr>
              <a:t>The whole 5S toolkit: PE-05a to PE-05e. Start with one area, this month.</a:t>
            </a:r>
            <a:endParaRPr lang="en-US" sz="1300" dirty="0"/>
          </a:p>
        </p:txBody>
      </p:sp>
      <p:sp>
        <p:nvSpPr>
          <p:cNvPr id="6" name="Text 3"/>
          <p:cNvSpPr/>
          <p:nvPr/>
        </p:nvSpPr>
        <p:spPr>
          <a:xfrm>
            <a:off x="10360152" y="6510528"/>
            <a:ext cx="1371600" cy="274320"/>
          </a:xfrm>
          <a:prstGeom prst="rect">
            <a:avLst/>
          </a:prstGeom>
          <a:noFill/>
          <a:ln/>
        </p:spPr>
        <p:txBody>
          <a:bodyPr wrap="square" rtlCol="0" anchor="ctr"/>
          <a:lstStyle/>
          <a:p>
            <a:pPr marL="0" indent="0" algn="r">
              <a:buNone/>
            </a:pPr>
            <a:r>
              <a:rPr lang="en-US" sz="900" dirty="0">
                <a:solidFill>
                  <a:srgbClr val="5B595A"/>
                </a:solidFill>
                <a:latin typeface="Arial" pitchFamily="34" charset="0"/>
                <a:ea typeface="Arial" pitchFamily="34" charset="-122"/>
                <a:cs typeface="Arial" pitchFamily="34" charset="-120"/>
              </a:rPr>
              <a:t>PE-05b  |  18</a:t>
            </a:r>
            <a:endParaRPr lang="en-US" sz="900" dirty="0"/>
          </a:p>
        </p:txBody>
      </p:sp>
      <p:sp>
        <p:nvSpPr>
          <p:cNvPr id="7" name="Shape 4"/>
          <p:cNvSpPr/>
          <p:nvPr/>
        </p:nvSpPr>
        <p:spPr>
          <a:xfrm>
            <a:off x="457200" y="1234440"/>
            <a:ext cx="6035040" cy="4572000"/>
          </a:xfrm>
          <a:prstGeom prst="roundRect">
            <a:avLst>
              <a:gd name="adj" fmla="val 1400"/>
            </a:avLst>
          </a:prstGeom>
          <a:solidFill>
            <a:srgbClr val="E5F5FD"/>
          </a:solidFill>
          <a:ln/>
        </p:spPr>
        <p:txBody>
          <a:bodyPr/>
          <a:lstStyle/>
          <a:p>
            <a:endParaRPr lang="en-GB"/>
          </a:p>
        </p:txBody>
      </p:sp>
      <p:sp>
        <p:nvSpPr>
          <p:cNvPr id="8" name="Text 5"/>
          <p:cNvSpPr/>
          <p:nvPr/>
        </p:nvSpPr>
        <p:spPr>
          <a:xfrm>
            <a:off x="685800" y="1417320"/>
            <a:ext cx="5577840" cy="365760"/>
          </a:xfrm>
          <a:prstGeom prst="rect">
            <a:avLst/>
          </a:prstGeom>
          <a:noFill/>
          <a:ln/>
        </p:spPr>
        <p:txBody>
          <a:bodyPr wrap="square" rtlCol="0" anchor="ctr"/>
          <a:lstStyle/>
          <a:p>
            <a:pPr marL="0" indent="0">
              <a:buNone/>
            </a:pPr>
            <a:r>
              <a:rPr lang="en-US" sz="1600" b="1" dirty="0">
                <a:solidFill>
                  <a:srgbClr val="009FE3"/>
                </a:solidFill>
                <a:latin typeface="Arial" pitchFamily="34" charset="0"/>
                <a:ea typeface="Arial" pitchFamily="34" charset="-122"/>
                <a:cs typeface="Arial" pitchFamily="34" charset="-120"/>
              </a:rPr>
              <a:t>Remember</a:t>
            </a:r>
            <a:endParaRPr lang="en-US" sz="1600" dirty="0"/>
          </a:p>
        </p:txBody>
      </p:sp>
      <p:sp>
        <p:nvSpPr>
          <p:cNvPr id="9" name="Text 6"/>
          <p:cNvSpPr/>
          <p:nvPr/>
        </p:nvSpPr>
        <p:spPr>
          <a:xfrm>
            <a:off x="731520" y="1920240"/>
            <a:ext cx="5486400" cy="3749040"/>
          </a:xfrm>
          <a:prstGeom prst="rect">
            <a:avLst/>
          </a:prstGeom>
          <a:noFill/>
          <a:ln/>
        </p:spPr>
        <p:txBody>
          <a:bodyPr wrap="square" rtlCol="0" anchor="t"/>
          <a:lstStyle/>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5S makes problems visible; that is its real job</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Sort by frequency of use; if in doubt, move it out</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A place for everything, labelled, easy to return</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Cleaning is inspection: raise what you find</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Standards are visual: photos, checklists, one site language</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Audits with actions sustain it; scores alone do not</a:t>
            </a:r>
            <a:endParaRPr lang="en-US" sz="1250" dirty="0"/>
          </a:p>
          <a:p>
            <a:pPr marL="342900" indent="-342900">
              <a:spcAft>
                <a:spcPts val="1100"/>
              </a:spcAft>
              <a:buSzPct val="100000"/>
              <a:buChar char="•"/>
            </a:pPr>
            <a:r>
              <a:rPr lang="en-US" sz="1250" dirty="0">
                <a:solidFill>
                  <a:srgbClr val="5B595A"/>
                </a:solidFill>
                <a:latin typeface="Arial" pitchFamily="34" charset="0"/>
                <a:ea typeface="Arial" pitchFamily="34" charset="-122"/>
                <a:cs typeface="Arial" pitchFamily="34" charset="-120"/>
              </a:rPr>
              <a:t>The area team owns its area, always</a:t>
            </a:r>
            <a:endParaRPr lang="en-US" sz="1250" dirty="0"/>
          </a:p>
        </p:txBody>
      </p:sp>
      <p:sp>
        <p:nvSpPr>
          <p:cNvPr id="10" name="Shape 7"/>
          <p:cNvSpPr/>
          <p:nvPr/>
        </p:nvSpPr>
        <p:spPr>
          <a:xfrm>
            <a:off x="6766560" y="1234440"/>
            <a:ext cx="4965192" cy="4572000"/>
          </a:xfrm>
          <a:prstGeom prst="roundRect">
            <a:avLst>
              <a:gd name="adj" fmla="val 1400"/>
            </a:avLst>
          </a:prstGeom>
          <a:solidFill>
            <a:srgbClr val="F3E9F5"/>
          </a:solidFill>
          <a:ln/>
        </p:spPr>
        <p:txBody>
          <a:bodyPr/>
          <a:lstStyle/>
          <a:p>
            <a:endParaRPr lang="en-GB"/>
          </a:p>
        </p:txBody>
      </p:sp>
      <p:sp>
        <p:nvSpPr>
          <p:cNvPr id="11" name="Text 8"/>
          <p:cNvSpPr/>
          <p:nvPr/>
        </p:nvSpPr>
        <p:spPr>
          <a:xfrm>
            <a:off x="6995160" y="1417320"/>
            <a:ext cx="4480560" cy="365760"/>
          </a:xfrm>
          <a:prstGeom prst="rect">
            <a:avLst/>
          </a:prstGeom>
          <a:noFill/>
          <a:ln/>
        </p:spPr>
        <p:txBody>
          <a:bodyPr wrap="square" rtlCol="0" anchor="ctr"/>
          <a:lstStyle/>
          <a:p>
            <a:pPr marL="0" indent="0">
              <a:buNone/>
            </a:pPr>
            <a:r>
              <a:rPr lang="en-US" sz="1600" b="1" dirty="0">
                <a:solidFill>
                  <a:srgbClr val="83348F"/>
                </a:solidFill>
                <a:latin typeface="Arial" pitchFamily="34" charset="0"/>
                <a:ea typeface="Arial" pitchFamily="34" charset="-122"/>
                <a:cs typeface="Arial" pitchFamily="34" charset="-120"/>
              </a:rPr>
              <a:t>Your first steps</a:t>
            </a:r>
            <a:endParaRPr lang="en-US" sz="1600" dirty="0"/>
          </a:p>
        </p:txBody>
      </p:sp>
      <p:sp>
        <p:nvSpPr>
          <p:cNvPr id="12" name="Text 9"/>
          <p:cNvSpPr/>
          <p:nvPr/>
        </p:nvSpPr>
        <p:spPr>
          <a:xfrm>
            <a:off x="7040880" y="1920240"/>
            <a:ext cx="4434840" cy="3749040"/>
          </a:xfrm>
          <a:prstGeom prst="rect">
            <a:avLst/>
          </a:prstGeom>
          <a:noFill/>
          <a:ln/>
        </p:spPr>
        <p:txBody>
          <a:bodyPr wrap="square" rtlCol="0" anchor="t"/>
          <a:lstStyle/>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Choose a pilot area and take baseline photos</a:t>
            </a:r>
            <a:endParaRPr lang="en-US" sz="1200" dirty="0"/>
          </a:p>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Print red tags (PE-05c) and set up a holding area</a:t>
            </a:r>
            <a:endParaRPr lang="en-US" sz="1200" dirty="0"/>
          </a:p>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Run a launch day: Sort, Set in Order, Shine</a:t>
            </a:r>
            <a:endParaRPr lang="en-US" sz="1200" dirty="0"/>
          </a:p>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Put up the Area Responsibility Board (PE-05d)</a:t>
            </a:r>
            <a:endParaRPr lang="en-US" sz="1200" dirty="0"/>
          </a:p>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Book the first audit in PE-05a and publish the score</a:t>
            </a:r>
            <a:endParaRPr lang="en-US" sz="1200" dirty="0"/>
          </a:p>
          <a:p>
            <a:pPr marL="342900" indent="-342900">
              <a:spcAft>
                <a:spcPts val="1200"/>
              </a:spcAft>
              <a:buSzPct val="100000"/>
              <a:buChar char="•"/>
            </a:pPr>
            <a:r>
              <a:rPr lang="en-US" sz="1200" dirty="0">
                <a:solidFill>
                  <a:srgbClr val="5B595A"/>
                </a:solidFill>
                <a:latin typeface="Arial" pitchFamily="34" charset="0"/>
                <a:ea typeface="Arial" pitchFamily="34" charset="-122"/>
                <a:cs typeface="Arial" pitchFamily="34" charset="-120"/>
              </a:rPr>
              <a:t>Plan the site roll-out with the roadmap (PE-05e)</a:t>
            </a:r>
            <a:endParaRPr lang="en-US" sz="1200" dirty="0"/>
          </a:p>
        </p:txBody>
      </p:sp>
      <p:sp>
        <p:nvSpPr>
          <p:cNvPr id="13" name="Text 10"/>
          <p:cNvSpPr/>
          <p:nvPr/>
        </p:nvSpPr>
        <p:spPr>
          <a:xfrm>
            <a:off x="457200" y="6035040"/>
            <a:ext cx="11247120" cy="365760"/>
          </a:xfrm>
          <a:prstGeom prst="rect">
            <a:avLst/>
          </a:prstGeom>
          <a:noFill/>
          <a:ln/>
        </p:spPr>
        <p:txBody>
          <a:bodyPr wrap="square" rtlCol="0" anchor="ctr"/>
          <a:lstStyle/>
          <a:p>
            <a:pPr marL="0" indent="0" algn="ctr">
              <a:buNone/>
            </a:pPr>
            <a:r>
              <a:rPr lang="en-US" sz="1300" b="1" i="1" dirty="0">
                <a:solidFill>
                  <a:srgbClr val="83348F"/>
                </a:solidFill>
                <a:latin typeface="Arial" pitchFamily="34" charset="0"/>
                <a:ea typeface="Arial" pitchFamily="34" charset="-122"/>
                <a:cs typeface="Arial" pitchFamily="34" charset="-120"/>
              </a:rPr>
              <a:t>An organised workplace is not the goal. It is the platform everything else stands on.</a:t>
            </a:r>
            <a:endParaRPr lang="en-US" sz="1300" dirty="0"/>
          </a:p>
        </p:txBody>
      </p:sp>
      <p:sp>
        <p:nvSpPr>
          <p:cNvPr id="14" name="Rectangle 13"/>
          <p:cNvSpPr/>
          <p:nvPr/>
        </p:nvSpPr>
        <p:spPr>
          <a:xfrm>
            <a:off x="10561193"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10606913"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11219561" y="100584"/>
            <a:ext cx="658368" cy="347472"/>
          </a:xfrm>
          <a:prstGeom prst="rect">
            <a:avLst/>
          </a:prstGeom>
        </p:spPr>
      </p:pic>
      <p:sp>
        <p:nvSpPr>
          <p:cNvPr id="17" name="Rectangle 16"/>
          <p:cNvSpPr/>
          <p:nvPr/>
        </p:nvSpPr>
        <p:spPr>
          <a:xfrm>
            <a:off x="0" y="6629400"/>
            <a:ext cx="12188825"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28D92D1-CAA9-4960-9B7B-E19F81E1C684}"/>
</file>

<file path=customXml/itemProps2.xml><?xml version="1.0" encoding="utf-8"?>
<ds:datastoreItem xmlns:ds="http://schemas.openxmlformats.org/officeDocument/2006/customXml" ds:itemID="{FC41A5EB-20CC-4E69-847D-B2625B45E62E}"/>
</file>

<file path=customXml/itemProps3.xml><?xml version="1.0" encoding="utf-8"?>
<ds:datastoreItem xmlns:ds="http://schemas.openxmlformats.org/officeDocument/2006/customXml" ds:itemID="{7FAEF4D4-B210-4373-8C9B-6B7CFC2D11F5}"/>
</file>

<file path=docProps/app.xml><?xml version="1.0" encoding="utf-8"?>
<Properties xmlns="http://schemas.openxmlformats.org/officeDocument/2006/extended-properties" xmlns:vt="http://schemas.openxmlformats.org/officeDocument/2006/docPropsVTypes">
  <TotalTime>0</TotalTime>
  <Words>3186</Words>
  <Application>Microsoft Office PowerPoint</Application>
  <PresentationFormat>Custom</PresentationFormat>
  <Paragraphs>312</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PE-05b Training Guide 5S Workplace Organisation</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