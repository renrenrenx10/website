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media/image1.jpg" ContentType="image/jpg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3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openxmlformats.org/officeDocument/2006/relationships/customXml" Target="../customXml/item2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customXml" Target="../customXml/item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3486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nuccol_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822960"/>
            <a:ext cx="2651760" cy="2907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71600" y="393192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833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SQDCP Daily Management Meeting Guide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1828800" y="457200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009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guide for running an effective 15-minute daily stand-up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10149840" y="1280160"/>
            <a:ext cx="1645920" cy="1645920"/>
          </a:xfrm>
          <a:prstGeom prst="ellipse">
            <a:avLst/>
          </a:prstGeom>
          <a:solidFill>
            <a:srgbClr val="009FE3">
              <a:alpha val="85000"/>
            </a:srgbClr>
          </a:solidFill>
          <a:ln w="381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10149840" y="13716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10149840" y="22860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MINS</a:t>
            </a:r>
            <a:endParaRPr lang="en-US" sz="1100" dirty="0"/>
          </a:p>
        </p:txBody>
      </p:sp>
      <p:sp>
        <p:nvSpPr>
          <p:cNvPr id="8" name="Rectangle 7"/>
          <p:cNvSpPr/>
          <p:nvPr/>
        </p:nvSpPr>
        <p:spPr>
          <a:xfrm>
            <a:off x="10564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10088" y="100584"/>
            <a:ext cx="566928" cy="347472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2736" y="100584"/>
            <a:ext cx="658368" cy="34747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365760" y="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 Overview &amp; Principles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365760" y="713232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SQDCP stand-up is a short, structured, daily ritual. It is not a problem-solving meeting — it is a performance review meeting. Issues are identified here; solutions are agreed offline and logged in the Countermeasures Log.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65760" y="1371600"/>
            <a:ext cx="2103120" cy="1417320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5"/>
          <p:cNvSpPr/>
          <p:nvPr/>
        </p:nvSpPr>
        <p:spPr>
          <a:xfrm>
            <a:off x="365760" y="1371600"/>
            <a:ext cx="2103120" cy="411480"/>
          </a:xfrm>
          <a:prstGeom prst="rect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365760" y="1371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 Location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1810512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SQDCP board — standing up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651760" y="1371600"/>
            <a:ext cx="2103120" cy="1417320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2651760" y="1371600"/>
            <a:ext cx="2103120" cy="411480"/>
          </a:xfrm>
          <a:prstGeom prst="rect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2651760" y="1371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 Duration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743200" y="1810512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15 minutes — no exceptions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937760" y="1371600"/>
            <a:ext cx="2103120" cy="1417320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3"/>
          <p:cNvSpPr/>
          <p:nvPr/>
        </p:nvSpPr>
        <p:spPr>
          <a:xfrm>
            <a:off x="4937760" y="1371600"/>
            <a:ext cx="2103120" cy="411480"/>
          </a:xfrm>
          <a:prstGeom prst="rect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4937760" y="1371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  Frequency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029200" y="1810512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working day, same time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7223760" y="1371600"/>
            <a:ext cx="2103120" cy="1417320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7"/>
          <p:cNvSpPr/>
          <p:nvPr/>
        </p:nvSpPr>
        <p:spPr>
          <a:xfrm>
            <a:off x="7223760" y="1371600"/>
            <a:ext cx="2103120" cy="411480"/>
          </a:xfrm>
          <a:prstGeom prst="rect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8"/>
          <p:cNvSpPr/>
          <p:nvPr/>
        </p:nvSpPr>
        <p:spPr>
          <a:xfrm>
            <a:off x="7223760" y="1371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 Chair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315200" y="1810512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 / supervisor (rotatable)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9509760" y="1371600"/>
            <a:ext cx="2103120" cy="1417320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1"/>
          <p:cNvSpPr/>
          <p:nvPr/>
        </p:nvSpPr>
        <p:spPr>
          <a:xfrm>
            <a:off x="9509760" y="1371600"/>
            <a:ext cx="2103120" cy="411480"/>
          </a:xfrm>
          <a:prstGeom prst="rect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2"/>
          <p:cNvSpPr/>
          <p:nvPr/>
        </p:nvSpPr>
        <p:spPr>
          <a:xfrm>
            <a:off x="9509760" y="1371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  Attendees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9601200" y="1810512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team + any relevant support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65760" y="2926080"/>
            <a:ext cx="11430000" cy="347472"/>
          </a:xfrm>
          <a:prstGeom prst="rect">
            <a:avLst/>
          </a:prstGeom>
          <a:solidFill>
            <a:srgbClr val="5B595A"/>
          </a:solidFill>
          <a:ln w="12700">
            <a:solidFill>
              <a:srgbClr val="5B59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5"/>
          <p:cNvSpPr/>
          <p:nvPr/>
        </p:nvSpPr>
        <p:spPr>
          <a:xfrm>
            <a:off x="457200" y="2926080"/>
            <a:ext cx="11247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Golden Rules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365760" y="3438144"/>
            <a:ext cx="384048" cy="384048"/>
          </a:xfrm>
          <a:prstGeom prst="ellipse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7"/>
          <p:cNvSpPr/>
          <p:nvPr/>
        </p:nvSpPr>
        <p:spPr>
          <a:xfrm>
            <a:off x="365760" y="3438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457200" y="3364992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 up, always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1737360" y="3364992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Sitting down extends the meeting. Stay on your feet.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365760" y="4123944"/>
            <a:ext cx="384048" cy="384048"/>
          </a:xfrm>
          <a:prstGeom prst="ellipse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1"/>
          <p:cNvSpPr/>
          <p:nvPr/>
        </p:nvSpPr>
        <p:spPr>
          <a:xfrm>
            <a:off x="365760" y="4123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457200" y="4050792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laptops/phones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1737360" y="4050792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Phones down. Engage with the board and the team.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365760" y="4809744"/>
            <a:ext cx="384048" cy="384048"/>
          </a:xfrm>
          <a:prstGeom prst="ellipse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35"/>
          <p:cNvSpPr/>
          <p:nvPr/>
        </p:nvSpPr>
        <p:spPr>
          <a:xfrm>
            <a:off x="365760" y="4809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457200" y="4736592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Facts only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1737360" y="4736592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data. Opinions are for offline conversations.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6126480" y="3438144"/>
            <a:ext cx="384048" cy="384048"/>
          </a:xfrm>
          <a:prstGeom prst="ellipse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Text 39"/>
          <p:cNvSpPr/>
          <p:nvPr/>
        </p:nvSpPr>
        <p:spPr>
          <a:xfrm>
            <a:off x="6126480" y="3438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43" name="Text 40"/>
          <p:cNvSpPr/>
          <p:nvPr/>
        </p:nvSpPr>
        <p:spPr>
          <a:xfrm>
            <a:off x="6217920" y="3364992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voice at a time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7498080" y="3364992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chair controls the floor. Sidebar conversations wait.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6126480" y="4123944"/>
            <a:ext cx="384048" cy="384048"/>
          </a:xfrm>
          <a:prstGeom prst="ellipse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Text 43"/>
          <p:cNvSpPr/>
          <p:nvPr/>
        </p:nvSpPr>
        <p:spPr>
          <a:xfrm>
            <a:off x="6126480" y="4123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47" name="Text 44"/>
          <p:cNvSpPr/>
          <p:nvPr/>
        </p:nvSpPr>
        <p:spPr>
          <a:xfrm>
            <a:off x="6217920" y="4050792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= action today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7498080" y="4050792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red result must have a countermeasure logged before end of day.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6126480" y="4809744"/>
            <a:ext cx="384048" cy="384048"/>
          </a:xfrm>
          <a:prstGeom prst="ellipse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Text 47"/>
          <p:cNvSpPr/>
          <p:nvPr/>
        </p:nvSpPr>
        <p:spPr>
          <a:xfrm>
            <a:off x="6126480" y="4809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51" name="Text 48"/>
          <p:cNvSpPr/>
          <p:nvPr/>
        </p:nvSpPr>
        <p:spPr>
          <a:xfrm>
            <a:off x="6217920" y="4736592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Respect the 15 minutes</a:t>
            </a:r>
            <a:endParaRPr lang="en-US" sz="1000" dirty="0"/>
          </a:p>
        </p:txBody>
      </p:sp>
      <p:sp>
        <p:nvSpPr>
          <p:cNvPr id="52" name="Text 49"/>
          <p:cNvSpPr/>
          <p:nvPr/>
        </p:nvSpPr>
        <p:spPr>
          <a:xfrm>
            <a:off x="7498080" y="4736592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 anything that needs more time. Schedule it separately.</a:t>
            </a:r>
            <a:endParaRPr lang="en-US" sz="1000" dirty="0"/>
          </a:p>
        </p:txBody>
      </p:sp>
      <p:sp>
        <p:nvSpPr>
          <p:cNvPr id="53" name="Rectangle 52"/>
          <p:cNvSpPr/>
          <p:nvPr/>
        </p:nvSpPr>
        <p:spPr>
          <a:xfrm>
            <a:off x="10564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10088" y="100584"/>
            <a:ext cx="566928" cy="347472"/>
          </a:xfrm>
          <a:prstGeom prst="rect">
            <a:avLst/>
          </a:prstGeom>
        </p:spPr>
      </p:pic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2736" y="100584"/>
            <a:ext cx="658368" cy="347472"/>
          </a:xfrm>
          <a:prstGeom prst="rect">
            <a:avLst/>
          </a:prstGeom>
        </p:spPr>
      </p:pic>
      <p:sp>
        <p:nvSpPr>
          <p:cNvPr id="56" name="Rectangle 55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365760" y="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 Agenda — Running Order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274320" y="713232"/>
            <a:ext cx="1371600" cy="685800"/>
          </a:xfrm>
          <a:prstGeom prst="rect">
            <a:avLst/>
          </a:prstGeom>
          <a:solidFill>
            <a:srgbClr val="5B595A"/>
          </a:solidFill>
          <a:ln w="12700">
            <a:solidFill>
              <a:srgbClr val="5B59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274320" y="713232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0:00–0:02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691640" y="713232"/>
            <a:ext cx="2286000" cy="685800"/>
          </a:xfrm>
          <a:prstGeom prst="rect">
            <a:avLst/>
          </a:prstGeom>
          <a:solidFill>
            <a:srgbClr val="5B595A">
              <a:alpha val="15000"/>
            </a:srgbClr>
          </a:solidFill>
          <a:ln w="12700">
            <a:solidFill>
              <a:srgbClr val="5B59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1737360" y="713232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&amp; Yesterday's Actions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069080" y="749808"/>
            <a:ext cx="4754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 opens the meeting. Review countermeasures due from yesterday. Escalate anything still open.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8915400" y="713232"/>
            <a:ext cx="3017520" cy="685800"/>
          </a:xfrm>
          <a:prstGeom prst="rect">
            <a:avLst/>
          </a:prstGeom>
          <a:solidFill>
            <a:srgbClr val="F0F6FF"/>
          </a:solidFill>
          <a:ln w="12700">
            <a:solidFill>
              <a:srgbClr val="AACCE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9006840" y="749808"/>
            <a:ext cx="283464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3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"Are all actions from yesterday closed? Any escalations needed?"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74320" y="1508760"/>
            <a:ext cx="1371600" cy="6858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274320" y="150876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0:02–0:04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1691640" y="1508760"/>
            <a:ext cx="2286000" cy="685800"/>
          </a:xfrm>
          <a:prstGeom prst="rect">
            <a:avLst/>
          </a:prstGeom>
          <a:solidFill>
            <a:srgbClr val="E74C3C">
              <a:alpha val="15000"/>
            </a:srgbClr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1737360" y="150876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— Safety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069080" y="1545336"/>
            <a:ext cx="4754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safety KPIs vs target. Highlight near misses or incidents since last stand-up. Announce upcoming toolbox talks.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915400" y="1508760"/>
            <a:ext cx="3017520" cy="685800"/>
          </a:xfrm>
          <a:prstGeom prst="rect">
            <a:avLst/>
          </a:prstGeom>
          <a:solidFill>
            <a:srgbClr val="F0F6FF"/>
          </a:solidFill>
          <a:ln w="12700">
            <a:solidFill>
              <a:srgbClr val="AACCE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6"/>
          <p:cNvSpPr/>
          <p:nvPr/>
        </p:nvSpPr>
        <p:spPr>
          <a:xfrm>
            <a:off x="9006840" y="1545336"/>
            <a:ext cx="283464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3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"Any safety incidents or near misses since yesterday?"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274320" y="2304288"/>
            <a:ext cx="1371600" cy="6858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8"/>
          <p:cNvSpPr/>
          <p:nvPr/>
        </p:nvSpPr>
        <p:spPr>
          <a:xfrm>
            <a:off x="274320" y="2304288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0:04–0:07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1691640" y="2304288"/>
            <a:ext cx="2286000" cy="685800"/>
          </a:xfrm>
          <a:prstGeom prst="rect">
            <a:avLst/>
          </a:prstGeom>
          <a:solidFill>
            <a:srgbClr val="F39C12">
              <a:alpha val="15000"/>
            </a:srgbClr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0"/>
          <p:cNvSpPr/>
          <p:nvPr/>
        </p:nvSpPr>
        <p:spPr>
          <a:xfrm>
            <a:off x="1737360" y="2304288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— Quality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069080" y="2340864"/>
            <a:ext cx="4754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quality KPIs. Flag any non-conformances, customer issues, or CFSI concerns raised since last stand-up.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8915400" y="2304288"/>
            <a:ext cx="3017520" cy="685800"/>
          </a:xfrm>
          <a:prstGeom prst="rect">
            <a:avLst/>
          </a:prstGeom>
          <a:solidFill>
            <a:srgbClr val="F0F6FF"/>
          </a:solidFill>
          <a:ln w="12700">
            <a:solidFill>
              <a:srgbClr val="AACCE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3"/>
          <p:cNvSpPr/>
          <p:nvPr/>
        </p:nvSpPr>
        <p:spPr>
          <a:xfrm>
            <a:off x="9006840" y="2340864"/>
            <a:ext cx="283464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3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"Any quality issues or customer feedback since yesterday?"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274320" y="3099816"/>
            <a:ext cx="1371600" cy="685800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5"/>
          <p:cNvSpPr/>
          <p:nvPr/>
        </p:nvSpPr>
        <p:spPr>
          <a:xfrm>
            <a:off x="274320" y="3099816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0:07–0:09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1691640" y="3099816"/>
            <a:ext cx="2286000" cy="685800"/>
          </a:xfrm>
          <a:prstGeom prst="rect">
            <a:avLst/>
          </a:prstGeom>
          <a:solidFill>
            <a:srgbClr val="009FE3">
              <a:alpha val="15000"/>
            </a:srgbClr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7"/>
          <p:cNvSpPr/>
          <p:nvPr/>
        </p:nvSpPr>
        <p:spPr>
          <a:xfrm>
            <a:off x="1737360" y="3099816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— Delivery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4069080" y="3136392"/>
            <a:ext cx="4754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delivery performance and schedule. Flag jobs at risk of missing target. Highlight WIP concerns.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8915400" y="3099816"/>
            <a:ext cx="3017520" cy="685800"/>
          </a:xfrm>
          <a:prstGeom prst="rect">
            <a:avLst/>
          </a:prstGeom>
          <a:solidFill>
            <a:srgbClr val="F0F6FF"/>
          </a:solidFill>
          <a:ln w="12700">
            <a:solidFill>
              <a:srgbClr val="AACCE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0"/>
          <p:cNvSpPr/>
          <p:nvPr/>
        </p:nvSpPr>
        <p:spPr>
          <a:xfrm>
            <a:off x="9006840" y="3136392"/>
            <a:ext cx="283464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3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"Are we on schedule? Any delivery risks today?"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274320" y="3895344"/>
            <a:ext cx="1371600" cy="685800"/>
          </a:xfrm>
          <a:prstGeom prst="rect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2"/>
          <p:cNvSpPr/>
          <p:nvPr/>
        </p:nvSpPr>
        <p:spPr>
          <a:xfrm>
            <a:off x="274320" y="3895344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0:09–0:11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1691640" y="3895344"/>
            <a:ext cx="2286000" cy="685800"/>
          </a:xfrm>
          <a:prstGeom prst="rect">
            <a:avLst/>
          </a:prstGeom>
          <a:solidFill>
            <a:srgbClr val="83348F">
              <a:alpha val="15000"/>
            </a:srgbClr>
          </a:solidFill>
          <a:ln w="12700">
            <a:solidFill>
              <a:srgbClr val="83348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4"/>
          <p:cNvSpPr/>
          <p:nvPr/>
        </p:nvSpPr>
        <p:spPr>
          <a:xfrm>
            <a:off x="1737360" y="3895344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— Cost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4069080" y="3931920"/>
            <a:ext cx="4754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update on cost indicators — scrap, rework, efficiency. Flag trends and obvious waste.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8915400" y="3895344"/>
            <a:ext cx="3017520" cy="685800"/>
          </a:xfrm>
          <a:prstGeom prst="rect">
            <a:avLst/>
          </a:prstGeom>
          <a:solidFill>
            <a:srgbClr val="F0F6FF"/>
          </a:solidFill>
          <a:ln w="12700">
            <a:solidFill>
              <a:srgbClr val="AACCE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7"/>
          <p:cNvSpPr/>
          <p:nvPr/>
        </p:nvSpPr>
        <p:spPr>
          <a:xfrm>
            <a:off x="9006840" y="3931920"/>
            <a:ext cx="283464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3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"Any scrap, rework, or inefficiency to flag today?"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274320" y="4690872"/>
            <a:ext cx="1371600" cy="68580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Text 39"/>
          <p:cNvSpPr/>
          <p:nvPr/>
        </p:nvSpPr>
        <p:spPr>
          <a:xfrm>
            <a:off x="274320" y="4690872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0:11–0:13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1691640" y="4690872"/>
            <a:ext cx="2286000" cy="685800"/>
          </a:xfrm>
          <a:prstGeom prst="rect">
            <a:avLst/>
          </a:prstGeom>
          <a:solidFill>
            <a:srgbClr val="1E8449">
              <a:alpha val="15000"/>
            </a:srgbClr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Text 41"/>
          <p:cNvSpPr/>
          <p:nvPr/>
        </p:nvSpPr>
        <p:spPr>
          <a:xfrm>
            <a:off x="1737360" y="4690872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— People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4069080" y="4727448"/>
            <a:ext cx="4754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Attendance, cover arrangements, training completions, or ideas submitted since yesterday.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8915400" y="4690872"/>
            <a:ext cx="3017520" cy="685800"/>
          </a:xfrm>
          <a:prstGeom prst="rect">
            <a:avLst/>
          </a:prstGeom>
          <a:solidFill>
            <a:srgbClr val="F0F6FF"/>
          </a:solidFill>
          <a:ln w="12700">
            <a:solidFill>
              <a:srgbClr val="AACCE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Text 44"/>
          <p:cNvSpPr/>
          <p:nvPr/>
        </p:nvSpPr>
        <p:spPr>
          <a:xfrm>
            <a:off x="9006840" y="4727448"/>
            <a:ext cx="283464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3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"Any attendance issues? Training today? New ideas to share?"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274320" y="5486400"/>
            <a:ext cx="1371600" cy="685800"/>
          </a:xfrm>
          <a:prstGeom prst="rect">
            <a:avLst/>
          </a:prstGeom>
          <a:solidFill>
            <a:srgbClr val="5B595A"/>
          </a:solidFill>
          <a:ln w="12700">
            <a:solidFill>
              <a:srgbClr val="5B59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Text 46"/>
          <p:cNvSpPr/>
          <p:nvPr/>
        </p:nvSpPr>
        <p:spPr>
          <a:xfrm>
            <a:off x="274320" y="548640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0:13–0:15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1691640" y="5486400"/>
            <a:ext cx="2286000" cy="685800"/>
          </a:xfrm>
          <a:prstGeom prst="rect">
            <a:avLst/>
          </a:prstGeom>
          <a:solidFill>
            <a:srgbClr val="5B595A">
              <a:alpha val="15000"/>
            </a:srgbClr>
          </a:solidFill>
          <a:ln w="12700">
            <a:solidFill>
              <a:srgbClr val="5B59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Text 48"/>
          <p:cNvSpPr/>
          <p:nvPr/>
        </p:nvSpPr>
        <p:spPr>
          <a:xfrm>
            <a:off x="1737360" y="548640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&amp; Actions</a:t>
            </a:r>
            <a:endParaRPr lang="en-US" sz="1100" dirty="0"/>
          </a:p>
        </p:txBody>
      </p:sp>
      <p:sp>
        <p:nvSpPr>
          <p:cNvPr id="52" name="Text 49"/>
          <p:cNvSpPr/>
          <p:nvPr/>
        </p:nvSpPr>
        <p:spPr>
          <a:xfrm>
            <a:off x="4069080" y="5522976"/>
            <a:ext cx="4754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new countermeasures, assign owners and due dates. Close the meeting on time.</a:t>
            </a:r>
            <a:endParaRPr lang="en-US" sz="1000" dirty="0"/>
          </a:p>
        </p:txBody>
      </p:sp>
      <p:sp>
        <p:nvSpPr>
          <p:cNvPr id="53" name="Shape 50"/>
          <p:cNvSpPr/>
          <p:nvPr/>
        </p:nvSpPr>
        <p:spPr>
          <a:xfrm>
            <a:off x="8915400" y="5486400"/>
            <a:ext cx="3017520" cy="685800"/>
          </a:xfrm>
          <a:prstGeom prst="rect">
            <a:avLst/>
          </a:prstGeom>
          <a:solidFill>
            <a:srgbClr val="F0F6FF"/>
          </a:solidFill>
          <a:ln w="12700">
            <a:solidFill>
              <a:srgbClr val="AACCE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Text 51"/>
          <p:cNvSpPr/>
          <p:nvPr/>
        </p:nvSpPr>
        <p:spPr>
          <a:xfrm>
            <a:off x="9006840" y="5522976"/>
            <a:ext cx="283464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3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"Summary of actions — owner and due date confirmed. Meeting closed."</a:t>
            </a:r>
            <a:endParaRPr lang="en-US" sz="900" dirty="0"/>
          </a:p>
        </p:txBody>
      </p:sp>
      <p:sp>
        <p:nvSpPr>
          <p:cNvPr id="55" name="Rectangle 54"/>
          <p:cNvSpPr/>
          <p:nvPr/>
        </p:nvSpPr>
        <p:spPr>
          <a:xfrm>
            <a:off x="10564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10088" y="100584"/>
            <a:ext cx="566928" cy="347472"/>
          </a:xfrm>
          <a:prstGeom prst="rect">
            <a:avLst/>
          </a:prstGeom>
        </p:spPr>
      </p:pic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2736" y="100584"/>
            <a:ext cx="658368" cy="347472"/>
          </a:xfrm>
          <a:prstGeom prst="rect">
            <a:avLst/>
          </a:prstGeom>
        </p:spPr>
      </p:pic>
      <p:sp>
        <p:nvSpPr>
          <p:cNvPr id="58" name="Rectangle 57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365760" y="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Roles, Responsibilities &amp; Escalation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365760" y="71323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 Roles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69848"/>
          <a:ext cx="7315200" cy="146304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34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34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Responsibilities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34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B5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Chair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B5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Leader / Supervisor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B5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Open/close meeting, control pace, assign actions, ensure board is updated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B5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Board Owner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B5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Designated team member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B5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 KPI results before the meeting, maintain trend charts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B5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Scribe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B5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Rotated weekly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B5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 countermeasures during the meeting, update SQDCP-04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B5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Member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B5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attendees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B5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Attend on time, bring relevant data, flag issues, own assigned actions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B5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SLT Sponsor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B5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Manager / Director (weekly)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B5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Attend at least once per week, validate escalations, support action closure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365760" y="33832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Escalation Path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365760" y="3767328"/>
            <a:ext cx="3383280" cy="1097280"/>
          </a:xfrm>
          <a:prstGeom prst="rect">
            <a:avLst/>
          </a:prstGeom>
          <a:solidFill>
            <a:srgbClr val="2ECC71">
              <a:alpha val="12000"/>
            </a:srgbClr>
          </a:solidFill>
          <a:ln w="254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6"/>
          <p:cNvSpPr/>
          <p:nvPr/>
        </p:nvSpPr>
        <p:spPr>
          <a:xfrm>
            <a:off x="365760" y="3767328"/>
            <a:ext cx="3383280" cy="34747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7"/>
          <p:cNvSpPr/>
          <p:nvPr/>
        </p:nvSpPr>
        <p:spPr>
          <a:xfrm>
            <a:off x="365760" y="376732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1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57200" y="4151376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resolved within the team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457200" y="457200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Who: Team / Chair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3730752" y="4224528"/>
            <a:ext cx="292608" cy="292608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1"/>
          <p:cNvSpPr/>
          <p:nvPr/>
        </p:nvSpPr>
        <p:spPr>
          <a:xfrm>
            <a:off x="3730752" y="42245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▶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4023360" y="3767328"/>
            <a:ext cx="3383280" cy="1097280"/>
          </a:xfrm>
          <a:prstGeom prst="rect">
            <a:avLst/>
          </a:prstGeom>
          <a:solidFill>
            <a:srgbClr val="F39C12">
              <a:alpha val="12000"/>
            </a:srgbClr>
          </a:solidFill>
          <a:ln w="254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3"/>
          <p:cNvSpPr/>
          <p:nvPr/>
        </p:nvSpPr>
        <p:spPr>
          <a:xfrm>
            <a:off x="4023360" y="3767328"/>
            <a:ext cx="3383280" cy="34747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4"/>
          <p:cNvSpPr/>
          <p:nvPr/>
        </p:nvSpPr>
        <p:spPr>
          <a:xfrm>
            <a:off x="4023360" y="376732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2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4114800" y="4151376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requires cross-team support or resource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4114800" y="457200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Who: Team Leader → Manager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7388352" y="4224528"/>
            <a:ext cx="292608" cy="292608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18"/>
          <p:cNvSpPr/>
          <p:nvPr/>
        </p:nvSpPr>
        <p:spPr>
          <a:xfrm>
            <a:off x="7388352" y="42245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▶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7680960" y="3767328"/>
            <a:ext cx="3383280" cy="1097280"/>
          </a:xfrm>
          <a:prstGeom prst="rect">
            <a:avLst/>
          </a:prstGeom>
          <a:solidFill>
            <a:srgbClr val="E74C3C">
              <a:alpha val="12000"/>
            </a:srgbClr>
          </a:solidFill>
          <a:ln w="254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0"/>
          <p:cNvSpPr/>
          <p:nvPr/>
        </p:nvSpPr>
        <p:spPr>
          <a:xfrm>
            <a:off x="7680960" y="3767328"/>
            <a:ext cx="3383280" cy="34747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1"/>
          <p:cNvSpPr/>
          <p:nvPr/>
        </p:nvSpPr>
        <p:spPr>
          <a:xfrm>
            <a:off x="7680960" y="376732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3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7772400" y="4151376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impacts customer, safety, or strategic target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7772400" y="457200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Who: Manager → Director / SLT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7863840" y="1069848"/>
            <a:ext cx="4023360" cy="3794760"/>
          </a:xfrm>
          <a:prstGeom prst="rect">
            <a:avLst/>
          </a:prstGeom>
          <a:solidFill>
            <a:srgbClr val="EAF6FF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Shape 25"/>
          <p:cNvSpPr/>
          <p:nvPr/>
        </p:nvSpPr>
        <p:spPr>
          <a:xfrm>
            <a:off x="7863840" y="1069848"/>
            <a:ext cx="4023360" cy="347472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6"/>
          <p:cNvSpPr/>
          <p:nvPr/>
        </p:nvSpPr>
        <p:spPr>
          <a:xfrm>
            <a:off x="7955280" y="106984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F4N Evidence Tips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7909560" y="1481328"/>
            <a:ext cx="301752" cy="301752"/>
          </a:xfrm>
          <a:prstGeom prst="rect">
            <a:avLst/>
          </a:prstGeom>
          <a:solidFill>
            <a:srgbClr val="009FE3">
              <a:alpha val="70000"/>
            </a:srgbClr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28"/>
          <p:cNvSpPr/>
          <p:nvPr/>
        </p:nvSpPr>
        <p:spPr>
          <a:xfrm>
            <a:off x="7909560" y="1481328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8266176" y="1481328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photo of the board weekly — dated photos are strong visual evidence.</a:t>
            </a:r>
            <a:endParaRPr lang="en-US" sz="900" dirty="0"/>
          </a:p>
        </p:txBody>
      </p:sp>
      <p:sp>
        <p:nvSpPr>
          <p:cNvPr id="34" name="Shape 30"/>
          <p:cNvSpPr/>
          <p:nvPr/>
        </p:nvSpPr>
        <p:spPr>
          <a:xfrm>
            <a:off x="7909560" y="2002536"/>
            <a:ext cx="301752" cy="301752"/>
          </a:xfrm>
          <a:prstGeom prst="rect">
            <a:avLst/>
          </a:prstGeom>
          <a:solidFill>
            <a:srgbClr val="009FE3">
              <a:alpha val="70000"/>
            </a:srgbClr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1"/>
          <p:cNvSpPr/>
          <p:nvPr/>
        </p:nvSpPr>
        <p:spPr>
          <a:xfrm>
            <a:off x="7909560" y="2002536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8266176" y="2002536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 register of stand-up attendance — date, attendees, chair. One page per month.</a:t>
            </a:r>
            <a:endParaRPr lang="en-US" sz="900" dirty="0"/>
          </a:p>
        </p:txBody>
      </p:sp>
      <p:sp>
        <p:nvSpPr>
          <p:cNvPr id="37" name="Shape 33"/>
          <p:cNvSpPr/>
          <p:nvPr/>
        </p:nvSpPr>
        <p:spPr>
          <a:xfrm>
            <a:off x="7909560" y="2523744"/>
            <a:ext cx="301752" cy="301752"/>
          </a:xfrm>
          <a:prstGeom prst="rect">
            <a:avLst/>
          </a:prstGeom>
          <a:solidFill>
            <a:srgbClr val="009FE3">
              <a:alpha val="70000"/>
            </a:srgbClr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34"/>
          <p:cNvSpPr/>
          <p:nvPr/>
        </p:nvSpPr>
        <p:spPr>
          <a:xfrm>
            <a:off x="7909560" y="2523744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8266176" y="2523744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SLT attendance at least monthly demonstrates visible leadership engagement.</a:t>
            </a:r>
            <a:endParaRPr lang="en-US" sz="900" dirty="0"/>
          </a:p>
        </p:txBody>
      </p:sp>
      <p:sp>
        <p:nvSpPr>
          <p:cNvPr id="40" name="Shape 36"/>
          <p:cNvSpPr/>
          <p:nvPr/>
        </p:nvSpPr>
        <p:spPr>
          <a:xfrm>
            <a:off x="7909560" y="3044952"/>
            <a:ext cx="301752" cy="301752"/>
          </a:xfrm>
          <a:prstGeom prst="rect">
            <a:avLst/>
          </a:prstGeom>
          <a:solidFill>
            <a:srgbClr val="009FE3">
              <a:alpha val="70000"/>
            </a:srgbClr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37"/>
          <p:cNvSpPr/>
          <p:nvPr/>
        </p:nvSpPr>
        <p:spPr>
          <a:xfrm>
            <a:off x="7909560" y="3044952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42" name="Text 38"/>
          <p:cNvSpPr/>
          <p:nvPr/>
        </p:nvSpPr>
        <p:spPr>
          <a:xfrm>
            <a:off x="8266176" y="3044952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an escalation is raised, document it: issue, escalation date, who received it, resolution.</a:t>
            </a:r>
            <a:endParaRPr lang="en-US" sz="900" dirty="0"/>
          </a:p>
        </p:txBody>
      </p:sp>
      <p:sp>
        <p:nvSpPr>
          <p:cNvPr id="43" name="Shape 39"/>
          <p:cNvSpPr/>
          <p:nvPr/>
        </p:nvSpPr>
        <p:spPr>
          <a:xfrm>
            <a:off x="7909560" y="3566160"/>
            <a:ext cx="301752" cy="301752"/>
          </a:xfrm>
          <a:prstGeom prst="rect">
            <a:avLst/>
          </a:prstGeom>
          <a:solidFill>
            <a:srgbClr val="009FE3">
              <a:alpha val="70000"/>
            </a:srgbClr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Text 40"/>
          <p:cNvSpPr/>
          <p:nvPr/>
        </p:nvSpPr>
        <p:spPr>
          <a:xfrm>
            <a:off x="7909560" y="3566160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45" name="Text 41"/>
          <p:cNvSpPr/>
          <p:nvPr/>
        </p:nvSpPr>
        <p:spPr>
          <a:xfrm>
            <a:off x="8266176" y="3566160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countermeasures with measurable before/after results are gold-standard evidence.</a:t>
            </a:r>
            <a:endParaRPr lang="en-US" sz="900" dirty="0"/>
          </a:p>
        </p:txBody>
      </p:sp>
      <p:sp>
        <p:nvSpPr>
          <p:cNvPr id="46" name="Shape 42"/>
          <p:cNvSpPr/>
          <p:nvPr/>
        </p:nvSpPr>
        <p:spPr>
          <a:xfrm>
            <a:off x="7909560" y="4087368"/>
            <a:ext cx="301752" cy="301752"/>
          </a:xfrm>
          <a:prstGeom prst="rect">
            <a:avLst/>
          </a:prstGeom>
          <a:solidFill>
            <a:srgbClr val="009FE3">
              <a:alpha val="70000"/>
            </a:srgbClr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Text 43"/>
          <p:cNvSpPr/>
          <p:nvPr/>
        </p:nvSpPr>
        <p:spPr>
          <a:xfrm>
            <a:off x="7909560" y="4087368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48" name="Text 44"/>
          <p:cNvSpPr/>
          <p:nvPr/>
        </p:nvSpPr>
        <p:spPr>
          <a:xfrm>
            <a:off x="8266176" y="4087368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Assessors may ask team members if they understand the board — brief your team.</a:t>
            </a:r>
            <a:endParaRPr lang="en-US" sz="900" dirty="0"/>
          </a:p>
        </p:txBody>
      </p:sp>
      <p:sp>
        <p:nvSpPr>
          <p:cNvPr id="49" name="Rectangle 48"/>
          <p:cNvSpPr/>
          <p:nvPr/>
        </p:nvSpPr>
        <p:spPr>
          <a:xfrm>
            <a:off x="10564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10088" y="100584"/>
            <a:ext cx="566928" cy="347472"/>
          </a:xfrm>
          <a:prstGeom prst="rect">
            <a:avLst/>
          </a:prstGeom>
        </p:spPr>
      </p:pic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2736" y="100584"/>
            <a:ext cx="658368" cy="347472"/>
          </a:xfrm>
          <a:prstGeom prst="rect">
            <a:avLst/>
          </a:prstGeom>
        </p:spPr>
      </p:pic>
      <p:sp>
        <p:nvSpPr>
          <p:cNvPr id="52" name="Rectangle 51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453F6056AA6464A99729F79B34ECED9" ma:contentTypeVersion="15" ma:contentTypeDescription="Create a new document." ma:contentTypeScope="" ma:versionID="5f61f7f6e9ac7af992ae58f204f4a905">
  <xsd:schema xmlns:xsd="http://www.w3.org/2001/XMLSchema" xmlns:xs="http://www.w3.org/2001/XMLSchema" xmlns:p="http://schemas.microsoft.com/office/2006/metadata/properties" xmlns:ns2="ecb9c8fd-b149-4da5-ae47-4cb2a6f921f7" xmlns:ns3="a57c75ee-0d51-4c06-b83a-21883992ef88" targetNamespace="http://schemas.microsoft.com/office/2006/metadata/properties" ma:root="true" ma:fieldsID="5bd49160a10d99efc7c2a57519ff9fe8" ns2:_="" ns3:_="">
    <xsd:import namespace="ecb9c8fd-b149-4da5-ae47-4cb2a6f921f7"/>
    <xsd:import namespace="a57c75ee-0d51-4c06-b83a-21883992ef88"/>
    <xsd:element name="properties">
      <xsd:complexType>
        <xsd:sequence>
          <xsd:element name="documentManagement">
            <xsd:complexType>
              <xsd:all>
                <xsd:element ref="ns2:MigrationSourceID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BillingMetadata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b9c8fd-b149-4da5-ae47-4cb2a6f921f7" elementFormDefault="qualified">
    <xsd:import namespace="http://schemas.microsoft.com/office/2006/documentManagement/types"/>
    <xsd:import namespace="http://schemas.microsoft.com/office/infopath/2007/PartnerControls"/>
    <xsd:element name="MigrationSourceID" ma:index="8" nillable="true" ma:displayName="MigrationSourceID" ma:internalName="MigrationSourceID" ma:readOnly="true">
      <xsd:simpleType>
        <xsd:restriction base="dms:Text"/>
      </xsd:simpleType>
    </xsd:element>
    <xsd:element name="TaxCatchAll" ma:index="20" nillable="true" ma:displayName="Taxonomy Catch All Column" ma:hidden="true" ma:list="{3bbffa37-1fb4-4f8b-a66f-2651692f13f0}" ma:internalName="TaxCatchAll" ma:showField="CatchAllData" ma:web="ecb9c8fd-b149-4da5-ae47-4cb2a6f921f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7c75ee-0d51-4c06-b83a-21883992ef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7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323488a-041b-479c-b98c-53326eeb9fc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cb9c8fd-b149-4da5-ae47-4cb2a6f921f7" xsi:nil="true"/>
    <lcf76f155ced4ddcb4097134ff3c332f xmlns="a57c75ee-0d51-4c06-b83a-21883992ef8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FF78302B-CE15-4C07-B7B0-059C0325C728}"/>
</file>

<file path=customXml/itemProps2.xml><?xml version="1.0" encoding="utf-8"?>
<ds:datastoreItem xmlns:ds="http://schemas.openxmlformats.org/officeDocument/2006/customXml" ds:itemID="{D33F2C3A-FC90-40AD-93E2-4B8183E088E8}"/>
</file>

<file path=customXml/itemProps3.xml><?xml version="1.0" encoding="utf-8"?>
<ds:datastoreItem xmlns:ds="http://schemas.openxmlformats.org/officeDocument/2006/customXml" ds:itemID="{C22189AD-D2EE-48B4-BCA3-91213BE10D8E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875</Words>
  <Application>Microsoft Office PowerPoint</Application>
  <PresentationFormat>Widescreen</PresentationFormat>
  <Paragraphs>117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SQDCP-02 Daily Management Meeting Guide</dc:title>
  <dc:creator>John Hilton-Brammer</dc:creator>
  <cp:lastModifiedBy>John Hilton-Brammer</cp:lastModifiedBy>
  <dcterms:created xsi:type="dcterms:W3CDTF">2026-07-01T07:45:32Z</dcterms:created>
  <dcterms:modified xsi:type="dcterms:W3CDTF">2026-07-01T07:45:32Z</dcterms:modified>
  <cp:category>Fit For Nuclear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0x0101002453F6056AA6464A99729F79B34ECED9</vt:lpwstr>
  </property>
</Properties>
</file>