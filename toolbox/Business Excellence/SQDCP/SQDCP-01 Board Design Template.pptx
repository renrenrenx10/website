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media/image1.jpg" ContentType="image/jpg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A9-4EBD-870E-54AC1DC3B6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ln w="25400" cap="flat">
              <a:solidFill>
                <a:srgbClr val="33333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85</c:v>
                </c:pt>
                <c:pt idx="1">
                  <c:v>88</c:v>
                </c:pt>
                <c:pt idx="2">
                  <c:v>92</c:v>
                </c:pt>
                <c:pt idx="3">
                  <c:v>87</c:v>
                </c:pt>
                <c:pt idx="4">
                  <c:v>95</c:v>
                </c:pt>
                <c:pt idx="5">
                  <c:v>91</c:v>
                </c:pt>
                <c:pt idx="6">
                  <c:v>89</c:v>
                </c:pt>
                <c:pt idx="7">
                  <c:v>94</c:v>
                </c:pt>
                <c:pt idx="8">
                  <c:v>97</c:v>
                </c:pt>
                <c:pt idx="9">
                  <c:v>93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9A9-4EBD-870E-54AC1DC3B6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F5-4780-81E2-4A7CC3A0B8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ln w="25400" cap="flat">
              <a:solidFill>
                <a:srgbClr val="33333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85</c:v>
                </c:pt>
                <c:pt idx="1">
                  <c:v>88</c:v>
                </c:pt>
                <c:pt idx="2">
                  <c:v>92</c:v>
                </c:pt>
                <c:pt idx="3">
                  <c:v>87</c:v>
                </c:pt>
                <c:pt idx="4">
                  <c:v>95</c:v>
                </c:pt>
                <c:pt idx="5">
                  <c:v>91</c:v>
                </c:pt>
                <c:pt idx="6">
                  <c:v>89</c:v>
                </c:pt>
                <c:pt idx="7">
                  <c:v>94</c:v>
                </c:pt>
                <c:pt idx="8">
                  <c:v>97</c:v>
                </c:pt>
                <c:pt idx="9">
                  <c:v>93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F5-4780-81E2-4A7CC3A0B8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ln w="25400" cap="flat">
              <a:solidFill>
                <a:srgbClr val="009FE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9FE3"/>
              </a:solidFill>
              <a:ln w="9525" cap="flat">
                <a:solidFill>
                  <a:srgbClr val="009FE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A6-42E0-BD19-E6E40352C6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ln w="25400" cap="flat">
              <a:solidFill>
                <a:srgbClr val="33333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85</c:v>
                </c:pt>
                <c:pt idx="1">
                  <c:v>88</c:v>
                </c:pt>
                <c:pt idx="2">
                  <c:v>92</c:v>
                </c:pt>
                <c:pt idx="3">
                  <c:v>87</c:v>
                </c:pt>
                <c:pt idx="4">
                  <c:v>95</c:v>
                </c:pt>
                <c:pt idx="5">
                  <c:v>91</c:v>
                </c:pt>
                <c:pt idx="6">
                  <c:v>89</c:v>
                </c:pt>
                <c:pt idx="7">
                  <c:v>94</c:v>
                </c:pt>
                <c:pt idx="8">
                  <c:v>97</c:v>
                </c:pt>
                <c:pt idx="9">
                  <c:v>93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A6-42E0-BD19-E6E40352C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ln w="25400" cap="flat">
              <a:solidFill>
                <a:srgbClr val="83348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3348F"/>
              </a:solidFill>
              <a:ln w="9525" cap="flat">
                <a:solidFill>
                  <a:srgbClr val="83348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73-4C60-B12A-18645D2765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ln w="25400" cap="flat">
              <a:solidFill>
                <a:srgbClr val="33333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85</c:v>
                </c:pt>
                <c:pt idx="1">
                  <c:v>88</c:v>
                </c:pt>
                <c:pt idx="2">
                  <c:v>92</c:v>
                </c:pt>
                <c:pt idx="3">
                  <c:v>87</c:v>
                </c:pt>
                <c:pt idx="4">
                  <c:v>95</c:v>
                </c:pt>
                <c:pt idx="5">
                  <c:v>91</c:v>
                </c:pt>
                <c:pt idx="6">
                  <c:v>89</c:v>
                </c:pt>
                <c:pt idx="7">
                  <c:v>94</c:v>
                </c:pt>
                <c:pt idx="8">
                  <c:v>97</c:v>
                </c:pt>
                <c:pt idx="9">
                  <c:v>93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73-4C60-B12A-18645D2765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ln w="25400" cap="flat">
              <a:solidFill>
                <a:srgbClr val="1E844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449"/>
              </a:solidFill>
              <a:ln w="9525" cap="flat">
                <a:solidFill>
                  <a:srgbClr val="1E8449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85-46FA-8B74-3F673B0E6F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ln w="25400" cap="flat">
              <a:solidFill>
                <a:srgbClr val="33333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85</c:v>
                </c:pt>
                <c:pt idx="1">
                  <c:v>88</c:v>
                </c:pt>
                <c:pt idx="2">
                  <c:v>92</c:v>
                </c:pt>
                <c:pt idx="3">
                  <c:v>87</c:v>
                </c:pt>
                <c:pt idx="4">
                  <c:v>95</c:v>
                </c:pt>
                <c:pt idx="5">
                  <c:v>91</c:v>
                </c:pt>
                <c:pt idx="6">
                  <c:v>89</c:v>
                </c:pt>
                <c:pt idx="7">
                  <c:v>94</c:v>
                </c:pt>
                <c:pt idx="8">
                  <c:v>97</c:v>
                </c:pt>
                <c:pt idx="9">
                  <c:v>93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85-46FA-8B74-3F673B0E6F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936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chart" Target="../charts/chart1.xm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chart" Target="../charts/chart2.xm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chart" Target="../charts/chart3.xm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chart" Target="../charts/chart4.xm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chart" Target="../charts/chart5.xm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uccol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2651760" cy="2907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41605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3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SQDCP Board Design Template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828800" y="48006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9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Daily Management  |  NucCol Fit For Nuclear Programme  |  Process Excellence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Template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SQDCP board is the heartbeat of daily visual management. It provides a single, visible location where your team reviews performance daily across five critical pillars. Each subsequent slide in this deck represents one section of a physical or digital SQDCP board.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463040"/>
            <a:ext cx="2148840" cy="1737360"/>
          </a:xfrm>
          <a:prstGeom prst="rect">
            <a:avLst/>
          </a:prstGeom>
          <a:solidFill>
            <a:srgbClr val="E74C3C">
              <a:alpha val="12000"/>
            </a:srgbClr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274320" y="1463040"/>
            <a:ext cx="214884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74320" y="1463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Safety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920240"/>
            <a:ext cx="1965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misses, incidents, toolbox talks, audit scores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463040"/>
            <a:ext cx="2148840" cy="1737360"/>
          </a:xfrm>
          <a:prstGeom prst="rect">
            <a:avLst/>
          </a:prstGeom>
          <a:solidFill>
            <a:srgbClr val="F39C12">
              <a:alpha val="12000"/>
            </a:srgbClr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606040" y="1463040"/>
            <a:ext cx="214884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606040" y="1463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— Quality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97480" y="1920240"/>
            <a:ext cx="1965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pass yield, customer returns, NCRs, CFSI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1463040"/>
            <a:ext cx="2148840" cy="1737360"/>
          </a:xfrm>
          <a:prstGeom prst="rect">
            <a:avLst/>
          </a:prstGeom>
          <a:solidFill>
            <a:srgbClr val="009FE3">
              <a:alpha val="12000"/>
            </a:srgbClr>
          </a:solidFill>
          <a:ln w="254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937760" y="1463040"/>
            <a:ext cx="2148840" cy="41148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937760" y="1463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Delivery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0" y="1920240"/>
            <a:ext cx="1965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On-Time-In-Full (OTIF), schedule adherence, WIP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69480" y="1463040"/>
            <a:ext cx="2148840" cy="1737360"/>
          </a:xfrm>
          <a:prstGeom prst="rect">
            <a:avLst/>
          </a:prstGeom>
          <a:solidFill>
            <a:srgbClr val="83348F">
              <a:alpha val="12000"/>
            </a:srgbClr>
          </a:solidFill>
          <a:ln w="254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7269480" y="1463040"/>
            <a:ext cx="2148840" cy="4114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7269480" y="1463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Cost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60920" y="1920240"/>
            <a:ext cx="1965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Scrap/rework cost, CoNQ, budget vs actual, efficiency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601200" y="1463040"/>
            <a:ext cx="2148840" cy="1737360"/>
          </a:xfrm>
          <a:prstGeom prst="rect">
            <a:avLst/>
          </a:prstGeom>
          <a:solidFill>
            <a:srgbClr val="1E8449">
              <a:alpha val="12000"/>
            </a:srgbClr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9601200" y="1463040"/>
            <a:ext cx="214884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9601200" y="1463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— People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692640" y="1920240"/>
            <a:ext cx="1965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training hours, ideas submitted, morale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3337560"/>
            <a:ext cx="11612880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1051560" y="3474720"/>
            <a:ext cx="457200" cy="45720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10515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74320" y="400507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KPIs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74320" y="4343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2–3 measures per pillar. Keep them simple, visible, and meaningful to your team.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383280" y="3474720"/>
            <a:ext cx="457200" cy="45720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33832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2606040" y="400507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targets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606040" y="4343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monthly targets with your leadership team. Display prominently on each section.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715000" y="3474720"/>
            <a:ext cx="457200" cy="45720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57150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4937760" y="400507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daily results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937760" y="4343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actual results each morning before the stand-up. Use RAG colour to flag status.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046720" y="3474720"/>
            <a:ext cx="457200" cy="45720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80467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7269480" y="400507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stand-up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269480" y="4343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Daily Management Meeting Guide (SQDCP-02) to run a focused 15-minute review.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10378440" y="3474720"/>
            <a:ext cx="457200" cy="45720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103784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9601200" y="400507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countermeasures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9601200" y="4343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any RED issues immediately in the Countermeasures Log (SQDCP-04).</a:t>
            </a:r>
            <a:endParaRPr lang="en-US" sz="900" dirty="0"/>
          </a:p>
        </p:txBody>
      </p:sp>
      <p:sp>
        <p:nvSpPr>
          <p:cNvPr id="48" name="Rectangle 47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82296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0" y="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— SQDCP Board Section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713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Tracker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69848"/>
          <a:ext cx="3492500" cy="21336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/ Measure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Misses Reported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3/month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Time Incidents (LTI)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Toolbox Talks 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5S/Workplace Audit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Key: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188720" y="3108960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14356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On/above target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60320" y="310896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28072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5%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931920" y="310896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41788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852160" y="713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669280" y="1069848"/>
          <a:ext cx="39319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4"/>
          <p:cNvSpPr/>
          <p:nvPr/>
        </p:nvSpPr>
        <p:spPr>
          <a:xfrm>
            <a:off x="9829800" y="7132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&amp; Countermeasures</a:t>
            </a:r>
            <a:endParaRPr lang="en-US" sz="1100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29800" y="1069848"/>
          <a:ext cx="1524000" cy="173736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274320" y="3429000"/>
            <a:ext cx="11612880" cy="25146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274320" y="3429000"/>
            <a:ext cx="11612880" cy="34747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/>
          <p:nvPr/>
        </p:nvSpPr>
        <p:spPr>
          <a:xfrm>
            <a:off x="457200" y="342900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 Guidance — Safety Pillar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38404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Near miss reporting should be celebrated — it shows a healthy safety culture, not a failing one.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46227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LTI target is always zero. Any incident requires immediate root cause investigation via 3C or 8D.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50840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Display toolbox talk records on the board — topics, dates, and attendees as evidence for F4N assessors.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217920" y="38404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Audit scores should trend upward over time. A static score needs investigation.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217920" y="446227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Link safety KPIs to your QHSE policy and ISO 45001 objectives for F4N alignment.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217920" y="50840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Ensure SLT participates visibly in safety reviews — assessors look for leadership engagement.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82296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0" y="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— SQDCP Board Section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713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Tracker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69848"/>
          <a:ext cx="3492500" cy="210312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/ Measure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Pass Yield (FPY)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Returns / Complaints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Non-Conformance Reports (NCRs)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3/month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Inspection Closure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Key: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188720" y="3108960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14356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On/above target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60320" y="310896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28072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5%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931920" y="310896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41788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852160" y="713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669280" y="1069848"/>
          <a:ext cx="39319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4"/>
          <p:cNvSpPr/>
          <p:nvPr/>
        </p:nvSpPr>
        <p:spPr>
          <a:xfrm>
            <a:off x="9829800" y="7132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&amp; Countermeasures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29800" y="1069848"/>
          <a:ext cx="1524000" cy="173736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274320" y="3429000"/>
            <a:ext cx="11612880" cy="25146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274320" y="3429000"/>
            <a:ext cx="11612880" cy="34747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/>
          <p:nvPr/>
        </p:nvSpPr>
        <p:spPr>
          <a:xfrm>
            <a:off x="457200" y="342900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 Guidance — Quality Pillar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38404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First Pass Yield is your primary quality heartbeat — track it by product line if possible.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46227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Every customer return must trigger a formal 8D or 3C investigation before the next board review.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50840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NCRs should be aged — close within agreed timescales. Aged NCRs are a red flag for F4N assessors.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217920" y="38404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Connect quality KPIs to your Quality Plan and ISO 9001 / ISO 19443 obligations.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217920" y="446227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CFSI awareness should feature regularly in quality reviews.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217920" y="50840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Display quality trends over 12 months — assessors want to see sustained improvement.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82296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0" y="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— SQDCP Board Section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713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Tracker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69848"/>
          <a:ext cx="3492500" cy="188976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/ Measure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In-Full (OTIF)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Adherence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 Age &gt; 30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jobs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vs.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±5%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Key: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188720" y="3108960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14356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On/above target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60320" y="310896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28072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5%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931920" y="310896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41788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852160" y="713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669280" y="1069848"/>
          <a:ext cx="39319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4"/>
          <p:cNvSpPr/>
          <p:nvPr/>
        </p:nvSpPr>
        <p:spPr>
          <a:xfrm>
            <a:off x="9829800" y="7132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&amp; Countermeasures</a:t>
            </a:r>
            <a:endParaRPr lang="en-US" sz="1100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29800" y="1069848"/>
          <a:ext cx="1524000" cy="173736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274320" y="3429000"/>
            <a:ext cx="11612880" cy="25146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274320" y="3429000"/>
            <a:ext cx="11612880" cy="34747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/>
          <p:nvPr/>
        </p:nvSpPr>
        <p:spPr>
          <a:xfrm>
            <a:off x="457200" y="342900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 Guidance — Delivery Pillar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38404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OTIF is the headline delivery KPI. Set customer-specific targets where volumes allow.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46227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Schedule adherence measures internal planning effectiveness — a leading indicator for OTIF.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50840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Aged WIP signals planning or quality blockages. Review every job &gt;30 days in the stand-up.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217920" y="38404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Where delivery performance improves, capture the before/after data as F4N improvement evidence.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217920" y="446227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Link delivery performance to your customer communication plan and escalation procedure.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217920" y="50840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Connect to your Hoshin Kanri / X-Matrix breakthrough objectives for strategic alignment.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82296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0" y="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— SQDCP Board Section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713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Tracker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69848"/>
          <a:ext cx="3492500" cy="225552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/ Measure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Non-Quality (CoNQ)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£[X]/month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 &amp; Rework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£[X]/month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 Efficiency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[X]%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vs. Actual (Dept)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±3%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Key: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188720" y="3108960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14356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On/above target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60320" y="310896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28072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5%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931920" y="310896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41788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852160" y="713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669280" y="1069848"/>
          <a:ext cx="39319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4"/>
          <p:cNvSpPr/>
          <p:nvPr/>
        </p:nvSpPr>
        <p:spPr>
          <a:xfrm>
            <a:off x="9829800" y="7132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&amp; Countermeasures</a:t>
            </a:r>
            <a:endParaRPr lang="en-US" sz="1100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29800" y="1069848"/>
          <a:ext cx="1524000" cy="173736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274320" y="3429000"/>
            <a:ext cx="11612880" cy="25146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274320" y="3429000"/>
            <a:ext cx="11612880" cy="34747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/>
          <p:nvPr/>
        </p:nvSpPr>
        <p:spPr>
          <a:xfrm>
            <a:off x="457200" y="342900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 Guidance — Cost Pillar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38404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CoNQ includes scrap, rework, warranty, and inspection costs. Tracking it drives quality improvement.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46227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Labour efficiency measures productive hours vs. available hours — link to OEE and 5S maturity.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50840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Present cost data in trend form — assessors look for evidence that costs are reducing over time.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217920" y="38404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Link cost reduction projects (CSIPs) to the board — show what actions are driving improvement.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217920" y="446227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Budget variance should be reviewed monthly by the leadership team and signed off.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217920" y="50840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Cost KPIs should connect to your Manufacturing Strategy and process improvement priorities.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82296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0" y="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— SQDCP Board Section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713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Tracker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69848"/>
          <a:ext cx="3492500" cy="27432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/ Measure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/ Absence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Hours 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[X] hrs/person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Ideas / Suggestions Submitted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2/person/month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Vacancies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unfilled &gt; 30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DDDDD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Key: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188720" y="3108960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14356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On/above target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60320" y="310896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28072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5%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931920" y="310896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4178808" y="3090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852160" y="713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669280" y="1069848"/>
          <a:ext cx="39319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4"/>
          <p:cNvSpPr/>
          <p:nvPr/>
        </p:nvSpPr>
        <p:spPr>
          <a:xfrm>
            <a:off x="9829800" y="7132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&amp; Countermeasures</a:t>
            </a:r>
            <a:endParaRPr lang="en-US" sz="1100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29800" y="1069848"/>
          <a:ext cx="1524000" cy="173736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274320" y="3429000"/>
            <a:ext cx="11612880" cy="25146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274320" y="3429000"/>
            <a:ext cx="11612880" cy="34747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/>
          <p:nvPr/>
        </p:nvSpPr>
        <p:spPr>
          <a:xfrm>
            <a:off x="457200" y="342900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 Guidance — People Pillar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38404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Absence rate is a leading wellbeing indicator. Sustained high absence needs HR intervention.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46227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Training hours should link to your Skills Matrix and individual development plans (PDPs).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50840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Ideas submitted shows employee engagement — celebrate implementations visibly on the board.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217920" y="38404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Vacancy data connects to resource planning and succession planning obligations under F4N.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217920" y="446227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Include employee engagement survey scores on the board where available.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217920" y="50840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People metrics should link to your SLT-reviewed HR objectives and competency framework.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Completing Your SQDCP Board — Checklist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" y="749808"/>
            <a:ext cx="3657600" cy="3657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Setup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179576"/>
            <a:ext cx="3657600" cy="57607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365760" y="1179576"/>
            <a:ext cx="54864" cy="5760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57200" y="117957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KPIs selected for all five pillars (2–4 per pillar)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1819656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365760" y="1819656"/>
            <a:ext cx="54864" cy="5760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57200" y="181965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Targets agreed with SLT and displayed prominently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2459736"/>
            <a:ext cx="3657600" cy="57607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365760" y="2459736"/>
            <a:ext cx="54864" cy="5760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57200" y="245973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RAG colour coding applied consistently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099816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365760" y="3099816"/>
            <a:ext cx="54864" cy="5760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57200" y="309981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Board location accessible to all team members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97680" y="749808"/>
            <a:ext cx="3657600" cy="3657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297680" y="749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Operation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297680" y="1179576"/>
            <a:ext cx="3657600" cy="57607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4297680" y="1179576"/>
            <a:ext cx="54864" cy="5760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4389120" y="117957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Results updated before the daily stand-up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97680" y="1819656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4297680" y="1819656"/>
            <a:ext cx="54864" cy="5760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4389120" y="181965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Stand-up runs to time (15 minutes maximum)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297680" y="2459736"/>
            <a:ext cx="3657600" cy="57607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4297680" y="2459736"/>
            <a:ext cx="54864" cy="5760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4389120" y="245973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RED items logged immediately in countermeasures log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297680" y="3099816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4297680" y="3099816"/>
            <a:ext cx="54864" cy="5760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4389120" y="309981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Escalation path clear for issues beyond team control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229600" y="749808"/>
            <a:ext cx="3657600" cy="3657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8229600" y="749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Evidence Readiness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229600" y="1179576"/>
            <a:ext cx="3657600" cy="57607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8229600" y="1179576"/>
            <a:ext cx="54864" cy="5760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8321040" y="117957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12 months of trend data visible or available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29600" y="1819656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8229600" y="1819656"/>
            <a:ext cx="54864" cy="5760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8321040" y="181965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Countermeasures log shows closed actions with results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229600" y="2459736"/>
            <a:ext cx="3657600" cy="57607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8229600" y="2459736"/>
            <a:ext cx="54864" cy="5760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8321040" y="245973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SLT participation in reviews evidenced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229600" y="3099816"/>
            <a:ext cx="3657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8229600" y="3099816"/>
            <a:ext cx="54864" cy="5760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8321040" y="309981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Board links visible to CSIP, strategy, and training records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365760" y="3840480"/>
            <a:ext cx="11430000" cy="777240"/>
          </a:xfrm>
          <a:prstGeom prst="rect">
            <a:avLst/>
          </a:prstGeom>
          <a:solidFill>
            <a:srgbClr val="EAF6FF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548640" y="3886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F4N Assessor Tip: Your SQDCP board is primary evidence for the Process Excellence category. Assessors will look for active use — results that change, issues being logged, and actions being closed. A board that has never had a RED result is not credible. Show the journey, not just the destination.</a:t>
            </a:r>
            <a:endParaRPr lang="en-US" sz="1000" dirty="0"/>
          </a:p>
        </p:txBody>
      </p:sp>
      <p:sp>
        <p:nvSpPr>
          <p:cNvPr id="50" name="Rectangle 49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54E2CB7-DFFC-4E87-8399-DFFF35CFA77B}"/>
</file>

<file path=customXml/itemProps2.xml><?xml version="1.0" encoding="utf-8"?>
<ds:datastoreItem xmlns:ds="http://schemas.openxmlformats.org/officeDocument/2006/customXml" ds:itemID="{40BE9601-1F74-413C-A03E-52EE84D437F4}"/>
</file>

<file path=customXml/itemProps3.xml><?xml version="1.0" encoding="utf-8"?>
<ds:datastoreItem xmlns:ds="http://schemas.openxmlformats.org/officeDocument/2006/customXml" ds:itemID="{95540E2D-C3EE-45C0-92C4-6AEB25D005C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1759</Words>
  <Application>Microsoft Office PowerPoint</Application>
  <PresentationFormat>Widescreen</PresentationFormat>
  <Paragraphs>282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SQDCP-01 Board Design Template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