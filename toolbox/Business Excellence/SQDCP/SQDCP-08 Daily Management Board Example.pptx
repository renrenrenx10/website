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media/image1.jpg" ContentType="image/jpg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Misses Reported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1C-48E0-AC2C-5EA27064A2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Lost Time Incidents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1C-48E0-AC2C-5EA27064A2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Toolbox Talks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1C-48E0-AC2C-5EA27064A2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5S Audit Score</c:v>
                </c:pt>
              </c:strCache>
            </c:strRef>
          </c:tx>
          <c:spPr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82</c:v>
                </c:pt>
                <c:pt idx="1">
                  <c:v>84</c:v>
                </c:pt>
                <c:pt idx="2">
                  <c:v>83</c:v>
                </c:pt>
                <c:pt idx="3">
                  <c:v>86</c:v>
                </c:pt>
                <c:pt idx="4">
                  <c:v>87</c:v>
                </c:pt>
                <c:pt idx="5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1C-48E0-AC2C-5EA27064A2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First Pass Yield</c:v>
                </c:pt>
              </c:strCache>
            </c:strRef>
          </c:tx>
          <c:spPr>
            <a:ln w="25400" cap="flat">
              <a:solidFill>
                <a:srgbClr val="D4AC0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C0D"/>
              </a:solidFill>
              <a:ln w="9525" cap="flat">
                <a:solidFill>
                  <a:srgbClr val="D4AC0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97.5</c:v>
                </c:pt>
                <c:pt idx="1">
                  <c:v>98.1</c:v>
                </c:pt>
                <c:pt idx="2">
                  <c:v>97.8</c:v>
                </c:pt>
                <c:pt idx="3">
                  <c:v>98.3</c:v>
                </c:pt>
                <c:pt idx="4">
                  <c:v>97.9</c:v>
                </c:pt>
                <c:pt idx="5">
                  <c:v>96.2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05-4228-B177-C1BD7864D7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NCRs Raised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05-4228-B177-C1BD7864D7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Customer Returns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F05-4228-B177-C1BD7864D7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Inspection Closure</c:v>
                </c:pt>
              </c:strCache>
            </c:strRef>
          </c:tx>
          <c:spPr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F05-4228-B177-C1BD7864D7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Scrap &amp; Rework Cost</c:v>
                </c:pt>
              </c:strCache>
            </c:strRef>
          </c:tx>
          <c:spPr>
            <a:ln w="25400" cap="flat">
              <a:solidFill>
                <a:srgbClr val="8E44A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E44AD"/>
              </a:solidFill>
              <a:ln w="9525" cap="flat">
                <a:solidFill>
                  <a:srgbClr val="8E44A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</c:v>
                </c:pt>
                <c:pt idx="1">
                  <c:v>1500</c:v>
                </c:pt>
                <c:pt idx="2">
                  <c:v>2200</c:v>
                </c:pt>
                <c:pt idx="3">
                  <c:v>1900</c:v>
                </c:pt>
                <c:pt idx="4">
                  <c:v>2100</c:v>
                </c:pt>
                <c:pt idx="5">
                  <c:v>3450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33-4A8D-AF54-DD66EA7037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Labour Efficiency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</c:v>
                </c:pt>
                <c:pt idx="1">
                  <c:v>88</c:v>
                </c:pt>
                <c:pt idx="2">
                  <c:v>85</c:v>
                </c:pt>
                <c:pt idx="3">
                  <c:v>87</c:v>
                </c:pt>
                <c:pt idx="4">
                  <c:v>85</c:v>
                </c:pt>
                <c:pt idx="5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33-4A8D-AF54-DD66EA7037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Budget vs Actual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-1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33-4A8D-AF54-DD66EA7037B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CoNQ (Total)</c:v>
                </c:pt>
              </c:strCache>
            </c:strRef>
          </c:tx>
          <c:spPr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4200</c:v>
                </c:pt>
                <c:pt idx="1">
                  <c:v>3900</c:v>
                </c:pt>
                <c:pt idx="2">
                  <c:v>4800</c:v>
                </c:pt>
                <c:pt idx="3">
                  <c:v>4500</c:v>
                </c:pt>
                <c:pt idx="4">
                  <c:v>5100</c:v>
                </c:pt>
                <c:pt idx="5">
                  <c:v>6200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633-4A8D-AF54-DD66EA7037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In-Full (OTIF)</c:v>
                </c:pt>
              </c:strCache>
            </c:strRef>
          </c:tx>
          <c:spPr>
            <a:ln w="25400" cap="flat">
              <a:solidFill>
                <a:srgbClr val="2471A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471A3"/>
              </a:solidFill>
              <a:ln w="9525" cap="flat">
                <a:solidFill>
                  <a:srgbClr val="2471A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</c:v>
                </c:pt>
                <c:pt idx="1">
                  <c:v>97</c:v>
                </c:pt>
                <c:pt idx="2">
                  <c:v>95</c:v>
                </c:pt>
                <c:pt idx="3">
                  <c:v>94</c:v>
                </c:pt>
                <c:pt idx="4">
                  <c:v>96</c:v>
                </c:pt>
                <c:pt idx="5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27-4AEA-AF4F-987545169C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Schedule Adherence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92</c:v>
                </c:pt>
                <c:pt idx="1">
                  <c:v>91</c:v>
                </c:pt>
                <c:pt idx="2">
                  <c:v>90</c:v>
                </c:pt>
                <c:pt idx="3">
                  <c:v>93</c:v>
                </c:pt>
                <c:pt idx="4">
                  <c:v>91</c:v>
                </c:pt>
                <c:pt idx="5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27-4AEA-AF4F-987545169C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WIP Jobs &gt; 30 Days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027-4AEA-AF4F-987545169C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Lead Time vs Target</c:v>
                </c:pt>
              </c:strCache>
            </c:strRef>
          </c:tx>
          <c:spPr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</c:v>
                </c:pt>
                <c:pt idx="1">
                  <c:v>-1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027-4AEA-AF4F-987545169C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Rate</c:v>
                </c:pt>
              </c:strCache>
            </c:strRef>
          </c:tx>
          <c:spPr>
            <a:ln w="25400" cap="flat">
              <a:solidFill>
                <a:srgbClr val="1E844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97.5</c:v>
                </c:pt>
                <c:pt idx="1">
                  <c:v>98.2</c:v>
                </c:pt>
                <c:pt idx="2">
                  <c:v>97</c:v>
                </c:pt>
                <c:pt idx="3">
                  <c:v>96.8</c:v>
                </c:pt>
                <c:pt idx="4">
                  <c:v>97.2</c:v>
                </c:pt>
                <c:pt idx="5">
                  <c:v>95.8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94-4705-8C35-A7829947B3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 Hours/Person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2</c:v>
                </c:pt>
                <c:pt idx="2">
                  <c:v>2.2000000000000002</c:v>
                </c:pt>
                <c:pt idx="3">
                  <c:v>1.8</c:v>
                </c:pt>
                <c:pt idx="4">
                  <c:v>2.2999999999999998</c:v>
                </c:pt>
                <c:pt idx="5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94-4705-8C35-A7829947B38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Ideas Submitted</c:v>
                </c:pt>
              </c:strCache>
            </c:strRef>
          </c:tx>
          <c:spPr>
            <a:ln w="254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94-4705-8C35-A7829947B38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Open Vacancies &gt;30d</c:v>
                </c:pt>
              </c:strCache>
            </c:strRef>
          </c:tx>
          <c:spPr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D94-4705-8C35-A7829947B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4F4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48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chart" Target="../charts/chart1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chart" Target="../charts/chart2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chart" Target="../charts/chart3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chart" Target="../charts/chart4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chart" Target="../charts/chart5.xm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uccol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22960"/>
            <a:ext cx="2651760" cy="2907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39319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3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SQDCP Daily Management Board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371600" y="46177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9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NucCol Fit For Nuclear Programme  |  JUNE 2026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645920" y="5257800"/>
            <a:ext cx="777240" cy="7772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64592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554480" y="60807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74720" y="5257800"/>
            <a:ext cx="777240" cy="77724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47472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383280" y="60807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03520" y="5257800"/>
            <a:ext cx="777240" cy="7772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30352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212080" y="60807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32320" y="5257800"/>
            <a:ext cx="777240" cy="7772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13232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040880" y="60807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61120" y="5257800"/>
            <a:ext cx="777240" cy="7772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896112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8869680" y="608076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000" dirty="0"/>
          </a:p>
        </p:txBody>
      </p:sp>
      <p:sp>
        <p:nvSpPr>
          <p:cNvPr id="20" name="Rectangle 1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73152" y="457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3152" y="45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— Daily Performance  |  NucCol Fit For Nuclear Programme  |  JUNE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658368"/>
            <a:ext cx="8686800" cy="237744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71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1661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1950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240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2529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28194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6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1089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7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33985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8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6880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9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39776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10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2672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11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5567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12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8463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13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1358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14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4254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15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57150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16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60045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17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2941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18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65836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19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8732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20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71628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74523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22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7419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23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80314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24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83210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25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8610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26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8900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27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9189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28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9479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29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9768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30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45720" y="6583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720" y="8961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371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16611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19507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2240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2529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28194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1089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985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36880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3977640" y="896112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42672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45567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48463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513588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54254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57150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60045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62941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65836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687324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71628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74523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77419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80314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83210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8610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89001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91897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9479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9768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45720" y="1133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Gundrill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1371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16611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19507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40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2529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28194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31089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33985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36880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39776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42672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45567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48463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13588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54254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7150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5"/>
          <p:cNvSpPr/>
          <p:nvPr/>
        </p:nvSpPr>
        <p:spPr>
          <a:xfrm>
            <a:off x="60045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62941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65836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8"/>
          <p:cNvSpPr/>
          <p:nvPr/>
        </p:nvSpPr>
        <p:spPr>
          <a:xfrm>
            <a:off x="687324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89"/>
          <p:cNvSpPr/>
          <p:nvPr/>
        </p:nvSpPr>
        <p:spPr>
          <a:xfrm>
            <a:off x="71628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74523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77419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2"/>
          <p:cNvSpPr/>
          <p:nvPr/>
        </p:nvSpPr>
        <p:spPr>
          <a:xfrm>
            <a:off x="80314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3"/>
          <p:cNvSpPr/>
          <p:nvPr/>
        </p:nvSpPr>
        <p:spPr>
          <a:xfrm>
            <a:off x="83210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10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5"/>
          <p:cNvSpPr/>
          <p:nvPr/>
        </p:nvSpPr>
        <p:spPr>
          <a:xfrm>
            <a:off x="89001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6"/>
          <p:cNvSpPr/>
          <p:nvPr/>
        </p:nvSpPr>
        <p:spPr>
          <a:xfrm>
            <a:off x="91897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7"/>
          <p:cNvSpPr/>
          <p:nvPr/>
        </p:nvSpPr>
        <p:spPr>
          <a:xfrm>
            <a:off x="9479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9768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45720" y="13716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Honing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1371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1"/>
          <p:cNvSpPr/>
          <p:nvPr/>
        </p:nvSpPr>
        <p:spPr>
          <a:xfrm>
            <a:off x="16611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19507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3"/>
          <p:cNvSpPr/>
          <p:nvPr/>
        </p:nvSpPr>
        <p:spPr>
          <a:xfrm>
            <a:off x="2240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2529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5"/>
          <p:cNvSpPr/>
          <p:nvPr/>
        </p:nvSpPr>
        <p:spPr>
          <a:xfrm>
            <a:off x="28194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31089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7"/>
          <p:cNvSpPr/>
          <p:nvPr/>
        </p:nvSpPr>
        <p:spPr>
          <a:xfrm>
            <a:off x="33985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36880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09"/>
          <p:cNvSpPr/>
          <p:nvPr/>
        </p:nvSpPr>
        <p:spPr>
          <a:xfrm>
            <a:off x="39776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0"/>
          <p:cNvSpPr/>
          <p:nvPr/>
        </p:nvSpPr>
        <p:spPr>
          <a:xfrm>
            <a:off x="42672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1"/>
          <p:cNvSpPr/>
          <p:nvPr/>
        </p:nvSpPr>
        <p:spPr>
          <a:xfrm>
            <a:off x="45567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48463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3"/>
          <p:cNvSpPr/>
          <p:nvPr/>
        </p:nvSpPr>
        <p:spPr>
          <a:xfrm>
            <a:off x="513588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4"/>
          <p:cNvSpPr/>
          <p:nvPr/>
        </p:nvSpPr>
        <p:spPr>
          <a:xfrm>
            <a:off x="54254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5"/>
          <p:cNvSpPr/>
          <p:nvPr/>
        </p:nvSpPr>
        <p:spPr>
          <a:xfrm>
            <a:off x="57150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6"/>
          <p:cNvSpPr/>
          <p:nvPr/>
        </p:nvSpPr>
        <p:spPr>
          <a:xfrm>
            <a:off x="60045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7"/>
          <p:cNvSpPr/>
          <p:nvPr/>
        </p:nvSpPr>
        <p:spPr>
          <a:xfrm>
            <a:off x="62941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8"/>
          <p:cNvSpPr/>
          <p:nvPr/>
        </p:nvSpPr>
        <p:spPr>
          <a:xfrm>
            <a:off x="65836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19"/>
          <p:cNvSpPr/>
          <p:nvPr/>
        </p:nvSpPr>
        <p:spPr>
          <a:xfrm>
            <a:off x="687324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0"/>
          <p:cNvSpPr/>
          <p:nvPr/>
        </p:nvSpPr>
        <p:spPr>
          <a:xfrm>
            <a:off x="71628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1"/>
          <p:cNvSpPr/>
          <p:nvPr/>
        </p:nvSpPr>
        <p:spPr>
          <a:xfrm>
            <a:off x="74523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2"/>
          <p:cNvSpPr/>
          <p:nvPr/>
        </p:nvSpPr>
        <p:spPr>
          <a:xfrm>
            <a:off x="77419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3"/>
          <p:cNvSpPr/>
          <p:nvPr/>
        </p:nvSpPr>
        <p:spPr>
          <a:xfrm>
            <a:off x="80314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4"/>
          <p:cNvSpPr/>
          <p:nvPr/>
        </p:nvSpPr>
        <p:spPr>
          <a:xfrm>
            <a:off x="83210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5"/>
          <p:cNvSpPr/>
          <p:nvPr/>
        </p:nvSpPr>
        <p:spPr>
          <a:xfrm>
            <a:off x="8610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6"/>
          <p:cNvSpPr/>
          <p:nvPr/>
        </p:nvSpPr>
        <p:spPr>
          <a:xfrm>
            <a:off x="89001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7"/>
          <p:cNvSpPr/>
          <p:nvPr/>
        </p:nvSpPr>
        <p:spPr>
          <a:xfrm>
            <a:off x="91897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8"/>
          <p:cNvSpPr/>
          <p:nvPr/>
        </p:nvSpPr>
        <p:spPr>
          <a:xfrm>
            <a:off x="9479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29"/>
          <p:cNvSpPr/>
          <p:nvPr/>
        </p:nvSpPr>
        <p:spPr>
          <a:xfrm>
            <a:off x="9768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Text 130"/>
          <p:cNvSpPr/>
          <p:nvPr/>
        </p:nvSpPr>
        <p:spPr>
          <a:xfrm>
            <a:off x="45720" y="16093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750" dirty="0"/>
          </a:p>
        </p:txBody>
      </p:sp>
      <p:sp>
        <p:nvSpPr>
          <p:cNvPr id="134" name="Shape 131"/>
          <p:cNvSpPr/>
          <p:nvPr/>
        </p:nvSpPr>
        <p:spPr>
          <a:xfrm>
            <a:off x="1371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2"/>
          <p:cNvSpPr/>
          <p:nvPr/>
        </p:nvSpPr>
        <p:spPr>
          <a:xfrm>
            <a:off x="16611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3"/>
          <p:cNvSpPr/>
          <p:nvPr/>
        </p:nvSpPr>
        <p:spPr>
          <a:xfrm>
            <a:off x="19507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4"/>
          <p:cNvSpPr/>
          <p:nvPr/>
        </p:nvSpPr>
        <p:spPr>
          <a:xfrm>
            <a:off x="2240280" y="1609344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5"/>
          <p:cNvSpPr/>
          <p:nvPr/>
        </p:nvSpPr>
        <p:spPr>
          <a:xfrm>
            <a:off x="2529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6"/>
          <p:cNvSpPr/>
          <p:nvPr/>
        </p:nvSpPr>
        <p:spPr>
          <a:xfrm>
            <a:off x="28194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7"/>
          <p:cNvSpPr/>
          <p:nvPr/>
        </p:nvSpPr>
        <p:spPr>
          <a:xfrm>
            <a:off x="31089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8"/>
          <p:cNvSpPr/>
          <p:nvPr/>
        </p:nvSpPr>
        <p:spPr>
          <a:xfrm>
            <a:off x="33985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39"/>
          <p:cNvSpPr/>
          <p:nvPr/>
        </p:nvSpPr>
        <p:spPr>
          <a:xfrm>
            <a:off x="36880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0"/>
          <p:cNvSpPr/>
          <p:nvPr/>
        </p:nvSpPr>
        <p:spPr>
          <a:xfrm>
            <a:off x="39776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1"/>
          <p:cNvSpPr/>
          <p:nvPr/>
        </p:nvSpPr>
        <p:spPr>
          <a:xfrm>
            <a:off x="42672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2"/>
          <p:cNvSpPr/>
          <p:nvPr/>
        </p:nvSpPr>
        <p:spPr>
          <a:xfrm>
            <a:off x="45567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3"/>
          <p:cNvSpPr/>
          <p:nvPr/>
        </p:nvSpPr>
        <p:spPr>
          <a:xfrm>
            <a:off x="48463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4"/>
          <p:cNvSpPr/>
          <p:nvPr/>
        </p:nvSpPr>
        <p:spPr>
          <a:xfrm>
            <a:off x="513588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5"/>
          <p:cNvSpPr/>
          <p:nvPr/>
        </p:nvSpPr>
        <p:spPr>
          <a:xfrm>
            <a:off x="54254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Shape 146"/>
          <p:cNvSpPr/>
          <p:nvPr/>
        </p:nvSpPr>
        <p:spPr>
          <a:xfrm>
            <a:off x="57150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Shape 147"/>
          <p:cNvSpPr/>
          <p:nvPr/>
        </p:nvSpPr>
        <p:spPr>
          <a:xfrm>
            <a:off x="60045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Shape 148"/>
          <p:cNvSpPr/>
          <p:nvPr/>
        </p:nvSpPr>
        <p:spPr>
          <a:xfrm>
            <a:off x="62941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Shape 149"/>
          <p:cNvSpPr/>
          <p:nvPr/>
        </p:nvSpPr>
        <p:spPr>
          <a:xfrm>
            <a:off x="65836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Shape 150"/>
          <p:cNvSpPr/>
          <p:nvPr/>
        </p:nvSpPr>
        <p:spPr>
          <a:xfrm>
            <a:off x="687324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151"/>
          <p:cNvSpPr/>
          <p:nvPr/>
        </p:nvSpPr>
        <p:spPr>
          <a:xfrm>
            <a:off x="71628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Shape 152"/>
          <p:cNvSpPr/>
          <p:nvPr/>
        </p:nvSpPr>
        <p:spPr>
          <a:xfrm>
            <a:off x="74523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hape 153"/>
          <p:cNvSpPr/>
          <p:nvPr/>
        </p:nvSpPr>
        <p:spPr>
          <a:xfrm>
            <a:off x="77419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Shape 154"/>
          <p:cNvSpPr/>
          <p:nvPr/>
        </p:nvSpPr>
        <p:spPr>
          <a:xfrm>
            <a:off x="80314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Shape 155"/>
          <p:cNvSpPr/>
          <p:nvPr/>
        </p:nvSpPr>
        <p:spPr>
          <a:xfrm>
            <a:off x="83210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Shape 156"/>
          <p:cNvSpPr/>
          <p:nvPr/>
        </p:nvSpPr>
        <p:spPr>
          <a:xfrm>
            <a:off x="8610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Shape 157"/>
          <p:cNvSpPr/>
          <p:nvPr/>
        </p:nvSpPr>
        <p:spPr>
          <a:xfrm>
            <a:off x="89001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Shape 158"/>
          <p:cNvSpPr/>
          <p:nvPr/>
        </p:nvSpPr>
        <p:spPr>
          <a:xfrm>
            <a:off x="91897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Shape 159"/>
          <p:cNvSpPr/>
          <p:nvPr/>
        </p:nvSpPr>
        <p:spPr>
          <a:xfrm>
            <a:off x="9479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Shape 160"/>
          <p:cNvSpPr/>
          <p:nvPr/>
        </p:nvSpPr>
        <p:spPr>
          <a:xfrm>
            <a:off x="9768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Text 161"/>
          <p:cNvSpPr/>
          <p:nvPr/>
        </p:nvSpPr>
        <p:spPr>
          <a:xfrm>
            <a:off x="45720" y="1847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</a:t>
            </a:r>
            <a:endParaRPr lang="en-US" sz="750" dirty="0"/>
          </a:p>
        </p:txBody>
      </p:sp>
      <p:sp>
        <p:nvSpPr>
          <p:cNvPr id="165" name="Shape 162"/>
          <p:cNvSpPr/>
          <p:nvPr/>
        </p:nvSpPr>
        <p:spPr>
          <a:xfrm>
            <a:off x="1371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Shape 163"/>
          <p:cNvSpPr/>
          <p:nvPr/>
        </p:nvSpPr>
        <p:spPr>
          <a:xfrm>
            <a:off x="16611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7" name="Shape 164"/>
          <p:cNvSpPr/>
          <p:nvPr/>
        </p:nvSpPr>
        <p:spPr>
          <a:xfrm>
            <a:off x="19507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Shape 165"/>
          <p:cNvSpPr/>
          <p:nvPr/>
        </p:nvSpPr>
        <p:spPr>
          <a:xfrm>
            <a:off x="2240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9" name="Shape 166"/>
          <p:cNvSpPr/>
          <p:nvPr/>
        </p:nvSpPr>
        <p:spPr>
          <a:xfrm>
            <a:off x="2529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Shape 167"/>
          <p:cNvSpPr/>
          <p:nvPr/>
        </p:nvSpPr>
        <p:spPr>
          <a:xfrm>
            <a:off x="28194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Shape 168"/>
          <p:cNvSpPr/>
          <p:nvPr/>
        </p:nvSpPr>
        <p:spPr>
          <a:xfrm>
            <a:off x="31089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Shape 169"/>
          <p:cNvSpPr/>
          <p:nvPr/>
        </p:nvSpPr>
        <p:spPr>
          <a:xfrm>
            <a:off x="33985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Shape 170"/>
          <p:cNvSpPr/>
          <p:nvPr/>
        </p:nvSpPr>
        <p:spPr>
          <a:xfrm>
            <a:off x="36880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Shape 171"/>
          <p:cNvSpPr/>
          <p:nvPr/>
        </p:nvSpPr>
        <p:spPr>
          <a:xfrm>
            <a:off x="39776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Shape 172"/>
          <p:cNvSpPr/>
          <p:nvPr/>
        </p:nvSpPr>
        <p:spPr>
          <a:xfrm>
            <a:off x="42672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Shape 173"/>
          <p:cNvSpPr/>
          <p:nvPr/>
        </p:nvSpPr>
        <p:spPr>
          <a:xfrm>
            <a:off x="45567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7" name="Shape 174"/>
          <p:cNvSpPr/>
          <p:nvPr/>
        </p:nvSpPr>
        <p:spPr>
          <a:xfrm>
            <a:off x="48463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Shape 175"/>
          <p:cNvSpPr/>
          <p:nvPr/>
        </p:nvSpPr>
        <p:spPr>
          <a:xfrm>
            <a:off x="513588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Shape 176"/>
          <p:cNvSpPr/>
          <p:nvPr/>
        </p:nvSpPr>
        <p:spPr>
          <a:xfrm>
            <a:off x="54254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Shape 177"/>
          <p:cNvSpPr/>
          <p:nvPr/>
        </p:nvSpPr>
        <p:spPr>
          <a:xfrm>
            <a:off x="57150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1" name="Shape 178"/>
          <p:cNvSpPr/>
          <p:nvPr/>
        </p:nvSpPr>
        <p:spPr>
          <a:xfrm>
            <a:off x="60045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Shape 179"/>
          <p:cNvSpPr/>
          <p:nvPr/>
        </p:nvSpPr>
        <p:spPr>
          <a:xfrm>
            <a:off x="62941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3" name="Shape 180"/>
          <p:cNvSpPr/>
          <p:nvPr/>
        </p:nvSpPr>
        <p:spPr>
          <a:xfrm>
            <a:off x="65836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Shape 181"/>
          <p:cNvSpPr/>
          <p:nvPr/>
        </p:nvSpPr>
        <p:spPr>
          <a:xfrm>
            <a:off x="687324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Shape 182"/>
          <p:cNvSpPr/>
          <p:nvPr/>
        </p:nvSpPr>
        <p:spPr>
          <a:xfrm>
            <a:off x="71628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Shape 183"/>
          <p:cNvSpPr/>
          <p:nvPr/>
        </p:nvSpPr>
        <p:spPr>
          <a:xfrm>
            <a:off x="74523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7" name="Shape 184"/>
          <p:cNvSpPr/>
          <p:nvPr/>
        </p:nvSpPr>
        <p:spPr>
          <a:xfrm>
            <a:off x="77419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Shape 185"/>
          <p:cNvSpPr/>
          <p:nvPr/>
        </p:nvSpPr>
        <p:spPr>
          <a:xfrm>
            <a:off x="80314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Shape 186"/>
          <p:cNvSpPr/>
          <p:nvPr/>
        </p:nvSpPr>
        <p:spPr>
          <a:xfrm>
            <a:off x="83210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Shape 187"/>
          <p:cNvSpPr/>
          <p:nvPr/>
        </p:nvSpPr>
        <p:spPr>
          <a:xfrm>
            <a:off x="8610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Shape 188"/>
          <p:cNvSpPr/>
          <p:nvPr/>
        </p:nvSpPr>
        <p:spPr>
          <a:xfrm>
            <a:off x="89001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Shape 189"/>
          <p:cNvSpPr/>
          <p:nvPr/>
        </p:nvSpPr>
        <p:spPr>
          <a:xfrm>
            <a:off x="91897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Shape 190"/>
          <p:cNvSpPr/>
          <p:nvPr/>
        </p:nvSpPr>
        <p:spPr>
          <a:xfrm>
            <a:off x="9479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Shape 191"/>
          <p:cNvSpPr/>
          <p:nvPr/>
        </p:nvSpPr>
        <p:spPr>
          <a:xfrm>
            <a:off x="9768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Text 192"/>
          <p:cNvSpPr/>
          <p:nvPr/>
        </p:nvSpPr>
        <p:spPr>
          <a:xfrm>
            <a:off x="45720" y="20848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750" dirty="0"/>
          </a:p>
        </p:txBody>
      </p:sp>
      <p:sp>
        <p:nvSpPr>
          <p:cNvPr id="196" name="Shape 193"/>
          <p:cNvSpPr/>
          <p:nvPr/>
        </p:nvSpPr>
        <p:spPr>
          <a:xfrm>
            <a:off x="1371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7" name="Shape 194"/>
          <p:cNvSpPr/>
          <p:nvPr/>
        </p:nvSpPr>
        <p:spPr>
          <a:xfrm>
            <a:off x="16611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Shape 195"/>
          <p:cNvSpPr/>
          <p:nvPr/>
        </p:nvSpPr>
        <p:spPr>
          <a:xfrm>
            <a:off x="19507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9" name="Shape 196"/>
          <p:cNvSpPr/>
          <p:nvPr/>
        </p:nvSpPr>
        <p:spPr>
          <a:xfrm>
            <a:off x="2240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Shape 197"/>
          <p:cNvSpPr/>
          <p:nvPr/>
        </p:nvSpPr>
        <p:spPr>
          <a:xfrm>
            <a:off x="2529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Shape 198"/>
          <p:cNvSpPr/>
          <p:nvPr/>
        </p:nvSpPr>
        <p:spPr>
          <a:xfrm>
            <a:off x="28194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Shape 199"/>
          <p:cNvSpPr/>
          <p:nvPr/>
        </p:nvSpPr>
        <p:spPr>
          <a:xfrm>
            <a:off x="31089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3" name="Shape 200"/>
          <p:cNvSpPr/>
          <p:nvPr/>
        </p:nvSpPr>
        <p:spPr>
          <a:xfrm>
            <a:off x="33985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Shape 201"/>
          <p:cNvSpPr/>
          <p:nvPr/>
        </p:nvSpPr>
        <p:spPr>
          <a:xfrm>
            <a:off x="36880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5" name="Shape 202"/>
          <p:cNvSpPr/>
          <p:nvPr/>
        </p:nvSpPr>
        <p:spPr>
          <a:xfrm>
            <a:off x="39776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Shape 203"/>
          <p:cNvSpPr/>
          <p:nvPr/>
        </p:nvSpPr>
        <p:spPr>
          <a:xfrm>
            <a:off x="42672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7" name="Shape 204"/>
          <p:cNvSpPr/>
          <p:nvPr/>
        </p:nvSpPr>
        <p:spPr>
          <a:xfrm>
            <a:off x="45567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8" name="Shape 205"/>
          <p:cNvSpPr/>
          <p:nvPr/>
        </p:nvSpPr>
        <p:spPr>
          <a:xfrm>
            <a:off x="48463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9" name="Shape 206"/>
          <p:cNvSpPr/>
          <p:nvPr/>
        </p:nvSpPr>
        <p:spPr>
          <a:xfrm>
            <a:off x="513588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Shape 207"/>
          <p:cNvSpPr/>
          <p:nvPr/>
        </p:nvSpPr>
        <p:spPr>
          <a:xfrm>
            <a:off x="54254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Shape 208"/>
          <p:cNvSpPr/>
          <p:nvPr/>
        </p:nvSpPr>
        <p:spPr>
          <a:xfrm>
            <a:off x="57150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2" name="Shape 209"/>
          <p:cNvSpPr/>
          <p:nvPr/>
        </p:nvSpPr>
        <p:spPr>
          <a:xfrm>
            <a:off x="60045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3" name="Shape 210"/>
          <p:cNvSpPr/>
          <p:nvPr/>
        </p:nvSpPr>
        <p:spPr>
          <a:xfrm>
            <a:off x="62941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Shape 211"/>
          <p:cNvSpPr/>
          <p:nvPr/>
        </p:nvSpPr>
        <p:spPr>
          <a:xfrm>
            <a:off x="65836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5" name="Shape 212"/>
          <p:cNvSpPr/>
          <p:nvPr/>
        </p:nvSpPr>
        <p:spPr>
          <a:xfrm>
            <a:off x="687324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6" name="Shape 213"/>
          <p:cNvSpPr/>
          <p:nvPr/>
        </p:nvSpPr>
        <p:spPr>
          <a:xfrm>
            <a:off x="71628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Shape 214"/>
          <p:cNvSpPr/>
          <p:nvPr/>
        </p:nvSpPr>
        <p:spPr>
          <a:xfrm>
            <a:off x="74523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8" name="Shape 215"/>
          <p:cNvSpPr/>
          <p:nvPr/>
        </p:nvSpPr>
        <p:spPr>
          <a:xfrm>
            <a:off x="77419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9" name="Shape 216"/>
          <p:cNvSpPr/>
          <p:nvPr/>
        </p:nvSpPr>
        <p:spPr>
          <a:xfrm>
            <a:off x="80314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Shape 217"/>
          <p:cNvSpPr/>
          <p:nvPr/>
        </p:nvSpPr>
        <p:spPr>
          <a:xfrm>
            <a:off x="83210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1" name="Shape 218"/>
          <p:cNvSpPr/>
          <p:nvPr/>
        </p:nvSpPr>
        <p:spPr>
          <a:xfrm>
            <a:off x="8610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Shape 219"/>
          <p:cNvSpPr/>
          <p:nvPr/>
        </p:nvSpPr>
        <p:spPr>
          <a:xfrm>
            <a:off x="89001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3" name="Shape 220"/>
          <p:cNvSpPr/>
          <p:nvPr/>
        </p:nvSpPr>
        <p:spPr>
          <a:xfrm>
            <a:off x="91897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4" name="Shape 221"/>
          <p:cNvSpPr/>
          <p:nvPr/>
        </p:nvSpPr>
        <p:spPr>
          <a:xfrm>
            <a:off x="9479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5" name="Shape 222"/>
          <p:cNvSpPr/>
          <p:nvPr/>
        </p:nvSpPr>
        <p:spPr>
          <a:xfrm>
            <a:off x="9768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Text 223"/>
          <p:cNvSpPr/>
          <p:nvPr/>
        </p:nvSpPr>
        <p:spPr>
          <a:xfrm>
            <a:off x="1371600" y="23682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endParaRPr lang="en-US" sz="800" dirty="0"/>
          </a:p>
        </p:txBody>
      </p:sp>
      <p:sp>
        <p:nvSpPr>
          <p:cNvPr id="227" name="Shape 224"/>
          <p:cNvSpPr/>
          <p:nvPr/>
        </p:nvSpPr>
        <p:spPr>
          <a:xfrm>
            <a:off x="1828800" y="2395728"/>
            <a:ext cx="164592" cy="14630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8" name="Text 225"/>
          <p:cNvSpPr/>
          <p:nvPr/>
        </p:nvSpPr>
        <p:spPr>
          <a:xfrm>
            <a:off x="202996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No Incidents</a:t>
            </a:r>
            <a:endParaRPr lang="en-US" sz="800" dirty="0"/>
          </a:p>
        </p:txBody>
      </p:sp>
      <p:sp>
        <p:nvSpPr>
          <p:cNvPr id="229" name="Shape 226"/>
          <p:cNvSpPr/>
          <p:nvPr/>
        </p:nvSpPr>
        <p:spPr>
          <a:xfrm>
            <a:off x="3840480" y="2395728"/>
            <a:ext cx="16459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" name="Text 227"/>
          <p:cNvSpPr/>
          <p:nvPr/>
        </p:nvSpPr>
        <p:spPr>
          <a:xfrm>
            <a:off x="404164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Near Hit</a:t>
            </a:r>
            <a:endParaRPr lang="en-US" sz="800" dirty="0"/>
          </a:p>
        </p:txBody>
      </p:sp>
      <p:sp>
        <p:nvSpPr>
          <p:cNvPr id="231" name="Shape 228"/>
          <p:cNvSpPr/>
          <p:nvPr/>
        </p:nvSpPr>
        <p:spPr>
          <a:xfrm>
            <a:off x="5852160" y="2395728"/>
            <a:ext cx="164592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" name="Text 229"/>
          <p:cNvSpPr/>
          <p:nvPr/>
        </p:nvSpPr>
        <p:spPr>
          <a:xfrm>
            <a:off x="605332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Accident</a:t>
            </a:r>
            <a:endParaRPr lang="en-US" sz="800" dirty="0"/>
          </a:p>
        </p:txBody>
      </p:sp>
      <p:sp>
        <p:nvSpPr>
          <p:cNvPr id="233" name="Shape 230"/>
          <p:cNvSpPr/>
          <p:nvPr/>
        </p:nvSpPr>
        <p:spPr>
          <a:xfrm>
            <a:off x="7863840" y="2395728"/>
            <a:ext cx="164592" cy="14630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Text 231"/>
          <p:cNvSpPr/>
          <p:nvPr/>
        </p:nvSpPr>
        <p:spPr>
          <a:xfrm>
            <a:off x="806500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Weekend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1371600" y="2642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Trend</a:t>
            </a:r>
            <a:endParaRPr lang="en-US" sz="1100" dirty="0"/>
          </a:p>
        </p:txBody>
      </p:sp>
      <p:graphicFrame>
        <p:nvGraphicFramePr>
          <p:cNvPr id="236" name="Chart 0"/>
          <p:cNvGraphicFramePr/>
          <p:nvPr/>
        </p:nvGraphicFramePr>
        <p:xfrm>
          <a:off x="1371600" y="2916936"/>
          <a:ext cx="5029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7" name="Text 233"/>
          <p:cNvSpPr/>
          <p:nvPr/>
        </p:nvSpPr>
        <p:spPr>
          <a:xfrm>
            <a:off x="6583680" y="26426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Summary</a:t>
            </a:r>
            <a:endParaRPr lang="en-US" sz="1100" dirty="0"/>
          </a:p>
        </p:txBody>
      </p:sp>
      <p:graphicFrame>
        <p:nvGraphicFramePr>
          <p:cNvPr id="2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916936"/>
          <a:ext cx="4389120" cy="1447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Jun-26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Misses Reported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Time Incidents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CC7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Toolbox Talks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4/mth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5S Audit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CC7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" name="Shape 234"/>
          <p:cNvSpPr/>
          <p:nvPr/>
        </p:nvSpPr>
        <p:spPr>
          <a:xfrm>
            <a:off x="45720" y="4636008"/>
            <a:ext cx="12054535" cy="27432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" name="Text 235"/>
          <p:cNvSpPr/>
          <p:nvPr/>
        </p:nvSpPr>
        <p:spPr>
          <a:xfrm>
            <a:off x="182880" y="4636008"/>
            <a:ext cx="11825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 — Safety  |  JUNE 2026</a:t>
            </a:r>
            <a:endParaRPr lang="en-US" sz="1100" dirty="0"/>
          </a:p>
        </p:txBody>
      </p:sp>
      <p:graphicFrame>
        <p:nvGraphicFramePr>
          <p:cNvPr id="2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" y="4928616"/>
          <a:ext cx="10972800" cy="1104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Countermeasure /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Rectangle 24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245" name="Rectangle 24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73152" y="457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3152" y="45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C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— Daily Performance  |  NucCol Fit For Nuclear Programme  |  JUNE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658368"/>
            <a:ext cx="8686800" cy="237744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71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1661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1950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240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2529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28194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6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1089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7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33985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8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6880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9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39776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10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2672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11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5567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12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8463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13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1358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14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4254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15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57150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16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60045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17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2941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18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65836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19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8732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20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71628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74523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22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7419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23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80314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24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83210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25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8610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26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8900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27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9189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28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9479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29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9768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30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45720" y="6583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720" y="8961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371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16611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19507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2240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2529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28194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1089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985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36880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39776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42672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45567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48463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513588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54254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57150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60045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62941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65836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687324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71628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74523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77419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80314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83210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8610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89001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91897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9479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9768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45720" y="1133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Gundrill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1371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16611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19507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40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2529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28194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31089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33985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3688080" y="1133856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3977640" y="1133856"/>
            <a:ext cx="282245" cy="228600"/>
          </a:xfrm>
          <a:prstGeom prst="rect">
            <a:avLst/>
          </a:prstGeom>
          <a:solidFill>
            <a:srgbClr val="E74C3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4267200" y="1133856"/>
            <a:ext cx="282245" cy="228600"/>
          </a:xfrm>
          <a:prstGeom prst="rect">
            <a:avLst/>
          </a:prstGeom>
          <a:solidFill>
            <a:srgbClr val="E74C3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45567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48463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13588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54254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7150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5"/>
          <p:cNvSpPr/>
          <p:nvPr/>
        </p:nvSpPr>
        <p:spPr>
          <a:xfrm>
            <a:off x="60045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62941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65836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8"/>
          <p:cNvSpPr/>
          <p:nvPr/>
        </p:nvSpPr>
        <p:spPr>
          <a:xfrm>
            <a:off x="687324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89"/>
          <p:cNvSpPr/>
          <p:nvPr/>
        </p:nvSpPr>
        <p:spPr>
          <a:xfrm>
            <a:off x="71628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74523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77419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2"/>
          <p:cNvSpPr/>
          <p:nvPr/>
        </p:nvSpPr>
        <p:spPr>
          <a:xfrm>
            <a:off x="80314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3"/>
          <p:cNvSpPr/>
          <p:nvPr/>
        </p:nvSpPr>
        <p:spPr>
          <a:xfrm>
            <a:off x="83210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10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5"/>
          <p:cNvSpPr/>
          <p:nvPr/>
        </p:nvSpPr>
        <p:spPr>
          <a:xfrm>
            <a:off x="89001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6"/>
          <p:cNvSpPr/>
          <p:nvPr/>
        </p:nvSpPr>
        <p:spPr>
          <a:xfrm>
            <a:off x="91897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7"/>
          <p:cNvSpPr/>
          <p:nvPr/>
        </p:nvSpPr>
        <p:spPr>
          <a:xfrm>
            <a:off x="9479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9768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45720" y="13716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Honing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1371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1"/>
          <p:cNvSpPr/>
          <p:nvPr/>
        </p:nvSpPr>
        <p:spPr>
          <a:xfrm>
            <a:off x="16611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19507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3"/>
          <p:cNvSpPr/>
          <p:nvPr/>
        </p:nvSpPr>
        <p:spPr>
          <a:xfrm>
            <a:off x="2240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2529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5"/>
          <p:cNvSpPr/>
          <p:nvPr/>
        </p:nvSpPr>
        <p:spPr>
          <a:xfrm>
            <a:off x="28194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31089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7"/>
          <p:cNvSpPr/>
          <p:nvPr/>
        </p:nvSpPr>
        <p:spPr>
          <a:xfrm>
            <a:off x="33985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36880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09"/>
          <p:cNvSpPr/>
          <p:nvPr/>
        </p:nvSpPr>
        <p:spPr>
          <a:xfrm>
            <a:off x="39776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0"/>
          <p:cNvSpPr/>
          <p:nvPr/>
        </p:nvSpPr>
        <p:spPr>
          <a:xfrm>
            <a:off x="42672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1"/>
          <p:cNvSpPr/>
          <p:nvPr/>
        </p:nvSpPr>
        <p:spPr>
          <a:xfrm>
            <a:off x="45567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48463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3"/>
          <p:cNvSpPr/>
          <p:nvPr/>
        </p:nvSpPr>
        <p:spPr>
          <a:xfrm>
            <a:off x="513588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4"/>
          <p:cNvSpPr/>
          <p:nvPr/>
        </p:nvSpPr>
        <p:spPr>
          <a:xfrm>
            <a:off x="54254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5"/>
          <p:cNvSpPr/>
          <p:nvPr/>
        </p:nvSpPr>
        <p:spPr>
          <a:xfrm>
            <a:off x="57150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6"/>
          <p:cNvSpPr/>
          <p:nvPr/>
        </p:nvSpPr>
        <p:spPr>
          <a:xfrm>
            <a:off x="60045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7"/>
          <p:cNvSpPr/>
          <p:nvPr/>
        </p:nvSpPr>
        <p:spPr>
          <a:xfrm>
            <a:off x="62941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8"/>
          <p:cNvSpPr/>
          <p:nvPr/>
        </p:nvSpPr>
        <p:spPr>
          <a:xfrm>
            <a:off x="65836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19"/>
          <p:cNvSpPr/>
          <p:nvPr/>
        </p:nvSpPr>
        <p:spPr>
          <a:xfrm>
            <a:off x="687324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0"/>
          <p:cNvSpPr/>
          <p:nvPr/>
        </p:nvSpPr>
        <p:spPr>
          <a:xfrm>
            <a:off x="71628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1"/>
          <p:cNvSpPr/>
          <p:nvPr/>
        </p:nvSpPr>
        <p:spPr>
          <a:xfrm>
            <a:off x="74523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2"/>
          <p:cNvSpPr/>
          <p:nvPr/>
        </p:nvSpPr>
        <p:spPr>
          <a:xfrm>
            <a:off x="77419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3"/>
          <p:cNvSpPr/>
          <p:nvPr/>
        </p:nvSpPr>
        <p:spPr>
          <a:xfrm>
            <a:off x="80314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4"/>
          <p:cNvSpPr/>
          <p:nvPr/>
        </p:nvSpPr>
        <p:spPr>
          <a:xfrm>
            <a:off x="83210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5"/>
          <p:cNvSpPr/>
          <p:nvPr/>
        </p:nvSpPr>
        <p:spPr>
          <a:xfrm>
            <a:off x="8610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6"/>
          <p:cNvSpPr/>
          <p:nvPr/>
        </p:nvSpPr>
        <p:spPr>
          <a:xfrm>
            <a:off x="89001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7"/>
          <p:cNvSpPr/>
          <p:nvPr/>
        </p:nvSpPr>
        <p:spPr>
          <a:xfrm>
            <a:off x="91897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8"/>
          <p:cNvSpPr/>
          <p:nvPr/>
        </p:nvSpPr>
        <p:spPr>
          <a:xfrm>
            <a:off x="9479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29"/>
          <p:cNvSpPr/>
          <p:nvPr/>
        </p:nvSpPr>
        <p:spPr>
          <a:xfrm>
            <a:off x="9768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Text 130"/>
          <p:cNvSpPr/>
          <p:nvPr/>
        </p:nvSpPr>
        <p:spPr>
          <a:xfrm>
            <a:off x="45720" y="16093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750" dirty="0"/>
          </a:p>
        </p:txBody>
      </p:sp>
      <p:sp>
        <p:nvSpPr>
          <p:cNvPr id="134" name="Shape 131"/>
          <p:cNvSpPr/>
          <p:nvPr/>
        </p:nvSpPr>
        <p:spPr>
          <a:xfrm>
            <a:off x="1371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2"/>
          <p:cNvSpPr/>
          <p:nvPr/>
        </p:nvSpPr>
        <p:spPr>
          <a:xfrm>
            <a:off x="16611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3"/>
          <p:cNvSpPr/>
          <p:nvPr/>
        </p:nvSpPr>
        <p:spPr>
          <a:xfrm>
            <a:off x="1950720" y="1609344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4"/>
          <p:cNvSpPr/>
          <p:nvPr/>
        </p:nvSpPr>
        <p:spPr>
          <a:xfrm>
            <a:off x="2240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5"/>
          <p:cNvSpPr/>
          <p:nvPr/>
        </p:nvSpPr>
        <p:spPr>
          <a:xfrm>
            <a:off x="2529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6"/>
          <p:cNvSpPr/>
          <p:nvPr/>
        </p:nvSpPr>
        <p:spPr>
          <a:xfrm>
            <a:off x="28194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7"/>
          <p:cNvSpPr/>
          <p:nvPr/>
        </p:nvSpPr>
        <p:spPr>
          <a:xfrm>
            <a:off x="31089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8"/>
          <p:cNvSpPr/>
          <p:nvPr/>
        </p:nvSpPr>
        <p:spPr>
          <a:xfrm>
            <a:off x="33985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39"/>
          <p:cNvSpPr/>
          <p:nvPr/>
        </p:nvSpPr>
        <p:spPr>
          <a:xfrm>
            <a:off x="36880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0"/>
          <p:cNvSpPr/>
          <p:nvPr/>
        </p:nvSpPr>
        <p:spPr>
          <a:xfrm>
            <a:off x="39776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1"/>
          <p:cNvSpPr/>
          <p:nvPr/>
        </p:nvSpPr>
        <p:spPr>
          <a:xfrm>
            <a:off x="42672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2"/>
          <p:cNvSpPr/>
          <p:nvPr/>
        </p:nvSpPr>
        <p:spPr>
          <a:xfrm>
            <a:off x="45567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3"/>
          <p:cNvSpPr/>
          <p:nvPr/>
        </p:nvSpPr>
        <p:spPr>
          <a:xfrm>
            <a:off x="48463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4"/>
          <p:cNvSpPr/>
          <p:nvPr/>
        </p:nvSpPr>
        <p:spPr>
          <a:xfrm>
            <a:off x="513588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5"/>
          <p:cNvSpPr/>
          <p:nvPr/>
        </p:nvSpPr>
        <p:spPr>
          <a:xfrm>
            <a:off x="54254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Shape 146"/>
          <p:cNvSpPr/>
          <p:nvPr/>
        </p:nvSpPr>
        <p:spPr>
          <a:xfrm>
            <a:off x="57150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Shape 147"/>
          <p:cNvSpPr/>
          <p:nvPr/>
        </p:nvSpPr>
        <p:spPr>
          <a:xfrm>
            <a:off x="60045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Shape 148"/>
          <p:cNvSpPr/>
          <p:nvPr/>
        </p:nvSpPr>
        <p:spPr>
          <a:xfrm>
            <a:off x="62941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Shape 149"/>
          <p:cNvSpPr/>
          <p:nvPr/>
        </p:nvSpPr>
        <p:spPr>
          <a:xfrm>
            <a:off x="65836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Shape 150"/>
          <p:cNvSpPr/>
          <p:nvPr/>
        </p:nvSpPr>
        <p:spPr>
          <a:xfrm>
            <a:off x="687324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151"/>
          <p:cNvSpPr/>
          <p:nvPr/>
        </p:nvSpPr>
        <p:spPr>
          <a:xfrm>
            <a:off x="71628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Shape 152"/>
          <p:cNvSpPr/>
          <p:nvPr/>
        </p:nvSpPr>
        <p:spPr>
          <a:xfrm>
            <a:off x="74523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hape 153"/>
          <p:cNvSpPr/>
          <p:nvPr/>
        </p:nvSpPr>
        <p:spPr>
          <a:xfrm>
            <a:off x="77419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Shape 154"/>
          <p:cNvSpPr/>
          <p:nvPr/>
        </p:nvSpPr>
        <p:spPr>
          <a:xfrm>
            <a:off x="80314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Shape 155"/>
          <p:cNvSpPr/>
          <p:nvPr/>
        </p:nvSpPr>
        <p:spPr>
          <a:xfrm>
            <a:off x="83210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Shape 156"/>
          <p:cNvSpPr/>
          <p:nvPr/>
        </p:nvSpPr>
        <p:spPr>
          <a:xfrm>
            <a:off x="8610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Shape 157"/>
          <p:cNvSpPr/>
          <p:nvPr/>
        </p:nvSpPr>
        <p:spPr>
          <a:xfrm>
            <a:off x="89001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Shape 158"/>
          <p:cNvSpPr/>
          <p:nvPr/>
        </p:nvSpPr>
        <p:spPr>
          <a:xfrm>
            <a:off x="91897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Shape 159"/>
          <p:cNvSpPr/>
          <p:nvPr/>
        </p:nvSpPr>
        <p:spPr>
          <a:xfrm>
            <a:off x="9479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Shape 160"/>
          <p:cNvSpPr/>
          <p:nvPr/>
        </p:nvSpPr>
        <p:spPr>
          <a:xfrm>
            <a:off x="9768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Text 161"/>
          <p:cNvSpPr/>
          <p:nvPr/>
        </p:nvSpPr>
        <p:spPr>
          <a:xfrm>
            <a:off x="45720" y="1847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</a:t>
            </a:r>
            <a:endParaRPr lang="en-US" sz="750" dirty="0"/>
          </a:p>
        </p:txBody>
      </p:sp>
      <p:sp>
        <p:nvSpPr>
          <p:cNvPr id="165" name="Shape 162"/>
          <p:cNvSpPr/>
          <p:nvPr/>
        </p:nvSpPr>
        <p:spPr>
          <a:xfrm>
            <a:off x="1371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Shape 163"/>
          <p:cNvSpPr/>
          <p:nvPr/>
        </p:nvSpPr>
        <p:spPr>
          <a:xfrm>
            <a:off x="16611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7" name="Shape 164"/>
          <p:cNvSpPr/>
          <p:nvPr/>
        </p:nvSpPr>
        <p:spPr>
          <a:xfrm>
            <a:off x="19507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Shape 165"/>
          <p:cNvSpPr/>
          <p:nvPr/>
        </p:nvSpPr>
        <p:spPr>
          <a:xfrm>
            <a:off x="2240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9" name="Shape 166"/>
          <p:cNvSpPr/>
          <p:nvPr/>
        </p:nvSpPr>
        <p:spPr>
          <a:xfrm>
            <a:off x="2529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Shape 167"/>
          <p:cNvSpPr/>
          <p:nvPr/>
        </p:nvSpPr>
        <p:spPr>
          <a:xfrm>
            <a:off x="28194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Shape 168"/>
          <p:cNvSpPr/>
          <p:nvPr/>
        </p:nvSpPr>
        <p:spPr>
          <a:xfrm>
            <a:off x="31089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Shape 169"/>
          <p:cNvSpPr/>
          <p:nvPr/>
        </p:nvSpPr>
        <p:spPr>
          <a:xfrm>
            <a:off x="33985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Shape 170"/>
          <p:cNvSpPr/>
          <p:nvPr/>
        </p:nvSpPr>
        <p:spPr>
          <a:xfrm>
            <a:off x="36880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Shape 171"/>
          <p:cNvSpPr/>
          <p:nvPr/>
        </p:nvSpPr>
        <p:spPr>
          <a:xfrm>
            <a:off x="39776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Shape 172"/>
          <p:cNvSpPr/>
          <p:nvPr/>
        </p:nvSpPr>
        <p:spPr>
          <a:xfrm>
            <a:off x="42672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Shape 173"/>
          <p:cNvSpPr/>
          <p:nvPr/>
        </p:nvSpPr>
        <p:spPr>
          <a:xfrm>
            <a:off x="45567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7" name="Shape 174"/>
          <p:cNvSpPr/>
          <p:nvPr/>
        </p:nvSpPr>
        <p:spPr>
          <a:xfrm>
            <a:off x="48463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Shape 175"/>
          <p:cNvSpPr/>
          <p:nvPr/>
        </p:nvSpPr>
        <p:spPr>
          <a:xfrm>
            <a:off x="513588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Shape 176"/>
          <p:cNvSpPr/>
          <p:nvPr/>
        </p:nvSpPr>
        <p:spPr>
          <a:xfrm>
            <a:off x="54254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Shape 177"/>
          <p:cNvSpPr/>
          <p:nvPr/>
        </p:nvSpPr>
        <p:spPr>
          <a:xfrm>
            <a:off x="57150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1" name="Shape 178"/>
          <p:cNvSpPr/>
          <p:nvPr/>
        </p:nvSpPr>
        <p:spPr>
          <a:xfrm>
            <a:off x="60045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Shape 179"/>
          <p:cNvSpPr/>
          <p:nvPr/>
        </p:nvSpPr>
        <p:spPr>
          <a:xfrm>
            <a:off x="62941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3" name="Shape 180"/>
          <p:cNvSpPr/>
          <p:nvPr/>
        </p:nvSpPr>
        <p:spPr>
          <a:xfrm>
            <a:off x="65836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Shape 181"/>
          <p:cNvSpPr/>
          <p:nvPr/>
        </p:nvSpPr>
        <p:spPr>
          <a:xfrm>
            <a:off x="687324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Shape 182"/>
          <p:cNvSpPr/>
          <p:nvPr/>
        </p:nvSpPr>
        <p:spPr>
          <a:xfrm>
            <a:off x="71628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Shape 183"/>
          <p:cNvSpPr/>
          <p:nvPr/>
        </p:nvSpPr>
        <p:spPr>
          <a:xfrm>
            <a:off x="74523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7" name="Shape 184"/>
          <p:cNvSpPr/>
          <p:nvPr/>
        </p:nvSpPr>
        <p:spPr>
          <a:xfrm>
            <a:off x="77419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Shape 185"/>
          <p:cNvSpPr/>
          <p:nvPr/>
        </p:nvSpPr>
        <p:spPr>
          <a:xfrm>
            <a:off x="80314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Shape 186"/>
          <p:cNvSpPr/>
          <p:nvPr/>
        </p:nvSpPr>
        <p:spPr>
          <a:xfrm>
            <a:off x="83210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Shape 187"/>
          <p:cNvSpPr/>
          <p:nvPr/>
        </p:nvSpPr>
        <p:spPr>
          <a:xfrm>
            <a:off x="8610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Shape 188"/>
          <p:cNvSpPr/>
          <p:nvPr/>
        </p:nvSpPr>
        <p:spPr>
          <a:xfrm>
            <a:off x="89001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Shape 189"/>
          <p:cNvSpPr/>
          <p:nvPr/>
        </p:nvSpPr>
        <p:spPr>
          <a:xfrm>
            <a:off x="91897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Shape 190"/>
          <p:cNvSpPr/>
          <p:nvPr/>
        </p:nvSpPr>
        <p:spPr>
          <a:xfrm>
            <a:off x="9479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Shape 191"/>
          <p:cNvSpPr/>
          <p:nvPr/>
        </p:nvSpPr>
        <p:spPr>
          <a:xfrm>
            <a:off x="9768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Text 192"/>
          <p:cNvSpPr/>
          <p:nvPr/>
        </p:nvSpPr>
        <p:spPr>
          <a:xfrm>
            <a:off x="45720" y="20848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750" dirty="0"/>
          </a:p>
        </p:txBody>
      </p:sp>
      <p:sp>
        <p:nvSpPr>
          <p:cNvPr id="196" name="Shape 193"/>
          <p:cNvSpPr/>
          <p:nvPr/>
        </p:nvSpPr>
        <p:spPr>
          <a:xfrm>
            <a:off x="1371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7" name="Shape 194"/>
          <p:cNvSpPr/>
          <p:nvPr/>
        </p:nvSpPr>
        <p:spPr>
          <a:xfrm>
            <a:off x="16611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Shape 195"/>
          <p:cNvSpPr/>
          <p:nvPr/>
        </p:nvSpPr>
        <p:spPr>
          <a:xfrm>
            <a:off x="19507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9" name="Shape 196"/>
          <p:cNvSpPr/>
          <p:nvPr/>
        </p:nvSpPr>
        <p:spPr>
          <a:xfrm>
            <a:off x="2240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Shape 197"/>
          <p:cNvSpPr/>
          <p:nvPr/>
        </p:nvSpPr>
        <p:spPr>
          <a:xfrm>
            <a:off x="2529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Shape 198"/>
          <p:cNvSpPr/>
          <p:nvPr/>
        </p:nvSpPr>
        <p:spPr>
          <a:xfrm>
            <a:off x="28194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Shape 199"/>
          <p:cNvSpPr/>
          <p:nvPr/>
        </p:nvSpPr>
        <p:spPr>
          <a:xfrm>
            <a:off x="31089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3" name="Shape 200"/>
          <p:cNvSpPr/>
          <p:nvPr/>
        </p:nvSpPr>
        <p:spPr>
          <a:xfrm>
            <a:off x="33985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Shape 201"/>
          <p:cNvSpPr/>
          <p:nvPr/>
        </p:nvSpPr>
        <p:spPr>
          <a:xfrm>
            <a:off x="36880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5" name="Shape 202"/>
          <p:cNvSpPr/>
          <p:nvPr/>
        </p:nvSpPr>
        <p:spPr>
          <a:xfrm>
            <a:off x="39776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Shape 203"/>
          <p:cNvSpPr/>
          <p:nvPr/>
        </p:nvSpPr>
        <p:spPr>
          <a:xfrm>
            <a:off x="42672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7" name="Shape 204"/>
          <p:cNvSpPr/>
          <p:nvPr/>
        </p:nvSpPr>
        <p:spPr>
          <a:xfrm>
            <a:off x="45567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8" name="Shape 205"/>
          <p:cNvSpPr/>
          <p:nvPr/>
        </p:nvSpPr>
        <p:spPr>
          <a:xfrm>
            <a:off x="48463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9" name="Shape 206"/>
          <p:cNvSpPr/>
          <p:nvPr/>
        </p:nvSpPr>
        <p:spPr>
          <a:xfrm>
            <a:off x="513588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Shape 207"/>
          <p:cNvSpPr/>
          <p:nvPr/>
        </p:nvSpPr>
        <p:spPr>
          <a:xfrm>
            <a:off x="54254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Shape 208"/>
          <p:cNvSpPr/>
          <p:nvPr/>
        </p:nvSpPr>
        <p:spPr>
          <a:xfrm>
            <a:off x="57150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2" name="Shape 209"/>
          <p:cNvSpPr/>
          <p:nvPr/>
        </p:nvSpPr>
        <p:spPr>
          <a:xfrm>
            <a:off x="60045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3" name="Shape 210"/>
          <p:cNvSpPr/>
          <p:nvPr/>
        </p:nvSpPr>
        <p:spPr>
          <a:xfrm>
            <a:off x="62941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Shape 211"/>
          <p:cNvSpPr/>
          <p:nvPr/>
        </p:nvSpPr>
        <p:spPr>
          <a:xfrm>
            <a:off x="65836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5" name="Shape 212"/>
          <p:cNvSpPr/>
          <p:nvPr/>
        </p:nvSpPr>
        <p:spPr>
          <a:xfrm>
            <a:off x="687324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6" name="Shape 213"/>
          <p:cNvSpPr/>
          <p:nvPr/>
        </p:nvSpPr>
        <p:spPr>
          <a:xfrm>
            <a:off x="71628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Shape 214"/>
          <p:cNvSpPr/>
          <p:nvPr/>
        </p:nvSpPr>
        <p:spPr>
          <a:xfrm>
            <a:off x="74523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8" name="Shape 215"/>
          <p:cNvSpPr/>
          <p:nvPr/>
        </p:nvSpPr>
        <p:spPr>
          <a:xfrm>
            <a:off x="77419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9" name="Shape 216"/>
          <p:cNvSpPr/>
          <p:nvPr/>
        </p:nvSpPr>
        <p:spPr>
          <a:xfrm>
            <a:off x="80314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Shape 217"/>
          <p:cNvSpPr/>
          <p:nvPr/>
        </p:nvSpPr>
        <p:spPr>
          <a:xfrm>
            <a:off x="83210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1" name="Shape 218"/>
          <p:cNvSpPr/>
          <p:nvPr/>
        </p:nvSpPr>
        <p:spPr>
          <a:xfrm>
            <a:off x="8610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Shape 219"/>
          <p:cNvSpPr/>
          <p:nvPr/>
        </p:nvSpPr>
        <p:spPr>
          <a:xfrm>
            <a:off x="89001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3" name="Shape 220"/>
          <p:cNvSpPr/>
          <p:nvPr/>
        </p:nvSpPr>
        <p:spPr>
          <a:xfrm>
            <a:off x="91897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4" name="Shape 221"/>
          <p:cNvSpPr/>
          <p:nvPr/>
        </p:nvSpPr>
        <p:spPr>
          <a:xfrm>
            <a:off x="9479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5" name="Shape 222"/>
          <p:cNvSpPr/>
          <p:nvPr/>
        </p:nvSpPr>
        <p:spPr>
          <a:xfrm>
            <a:off x="9768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Text 223"/>
          <p:cNvSpPr/>
          <p:nvPr/>
        </p:nvSpPr>
        <p:spPr>
          <a:xfrm>
            <a:off x="1371600" y="23682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endParaRPr lang="en-US" sz="800" dirty="0"/>
          </a:p>
        </p:txBody>
      </p:sp>
      <p:sp>
        <p:nvSpPr>
          <p:cNvPr id="227" name="Shape 224"/>
          <p:cNvSpPr/>
          <p:nvPr/>
        </p:nvSpPr>
        <p:spPr>
          <a:xfrm>
            <a:off x="1828800" y="2395728"/>
            <a:ext cx="164592" cy="14630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8" name="Text 225"/>
          <p:cNvSpPr/>
          <p:nvPr/>
        </p:nvSpPr>
        <p:spPr>
          <a:xfrm>
            <a:off x="202996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No NCRs</a:t>
            </a:r>
            <a:endParaRPr lang="en-US" sz="800" dirty="0"/>
          </a:p>
        </p:txBody>
      </p:sp>
      <p:sp>
        <p:nvSpPr>
          <p:cNvPr id="229" name="Shape 226"/>
          <p:cNvSpPr/>
          <p:nvPr/>
        </p:nvSpPr>
        <p:spPr>
          <a:xfrm>
            <a:off x="3840480" y="2395728"/>
            <a:ext cx="16459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" name="Text 227"/>
          <p:cNvSpPr/>
          <p:nvPr/>
        </p:nvSpPr>
        <p:spPr>
          <a:xfrm>
            <a:off x="404164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Near Miss Quality</a:t>
            </a:r>
            <a:endParaRPr lang="en-US" sz="800" dirty="0"/>
          </a:p>
        </p:txBody>
      </p:sp>
      <p:sp>
        <p:nvSpPr>
          <p:cNvPr id="231" name="Shape 228"/>
          <p:cNvSpPr/>
          <p:nvPr/>
        </p:nvSpPr>
        <p:spPr>
          <a:xfrm>
            <a:off x="5852160" y="2395728"/>
            <a:ext cx="164592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" name="Text 229"/>
          <p:cNvSpPr/>
          <p:nvPr/>
        </p:nvSpPr>
        <p:spPr>
          <a:xfrm>
            <a:off x="605332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NCR Raised</a:t>
            </a:r>
            <a:endParaRPr lang="en-US" sz="800" dirty="0"/>
          </a:p>
        </p:txBody>
      </p:sp>
      <p:sp>
        <p:nvSpPr>
          <p:cNvPr id="233" name="Shape 230"/>
          <p:cNvSpPr/>
          <p:nvPr/>
        </p:nvSpPr>
        <p:spPr>
          <a:xfrm>
            <a:off x="7863840" y="2395728"/>
            <a:ext cx="164592" cy="14630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Text 231"/>
          <p:cNvSpPr/>
          <p:nvPr/>
        </p:nvSpPr>
        <p:spPr>
          <a:xfrm>
            <a:off x="806500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Weekend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1371600" y="2642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Trend</a:t>
            </a:r>
            <a:endParaRPr lang="en-US" sz="1100" dirty="0"/>
          </a:p>
        </p:txBody>
      </p:sp>
      <p:graphicFrame>
        <p:nvGraphicFramePr>
          <p:cNvPr id="236" name="Chart 0"/>
          <p:cNvGraphicFramePr/>
          <p:nvPr/>
        </p:nvGraphicFramePr>
        <p:xfrm>
          <a:off x="1371600" y="2916936"/>
          <a:ext cx="5029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7" name="Text 233"/>
          <p:cNvSpPr/>
          <p:nvPr/>
        </p:nvSpPr>
        <p:spPr>
          <a:xfrm>
            <a:off x="6583680" y="26426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Summary</a:t>
            </a:r>
            <a:endParaRPr lang="en-US" sz="1100" dirty="0"/>
          </a:p>
        </p:txBody>
      </p:sp>
      <p:graphicFrame>
        <p:nvGraphicFramePr>
          <p:cNvPr id="2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916936"/>
          <a:ext cx="4389120" cy="1447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Jun-26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Pass Yield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NCRs Raised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3/mth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Returns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CC7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 Closure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CC71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" name="Shape 234"/>
          <p:cNvSpPr/>
          <p:nvPr/>
        </p:nvSpPr>
        <p:spPr>
          <a:xfrm>
            <a:off x="45720" y="4636008"/>
            <a:ext cx="12054535" cy="27432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" name="Text 235"/>
          <p:cNvSpPr/>
          <p:nvPr/>
        </p:nvSpPr>
        <p:spPr>
          <a:xfrm>
            <a:off x="182880" y="4636008"/>
            <a:ext cx="11825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 — Quality  |  JUNE 2026</a:t>
            </a:r>
            <a:endParaRPr lang="en-US" sz="1100" dirty="0"/>
          </a:p>
        </p:txBody>
      </p:sp>
      <p:graphicFrame>
        <p:nvGraphicFramePr>
          <p:cNvPr id="2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" y="4928616"/>
          <a:ext cx="10972800" cy="1104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Countermeasure /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Rectangle 24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245" name="Rectangle 24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73152" y="457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3152" y="45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— Daily Performance  |  NucCol Fit For Nuclear Programme  |  JUNE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658368"/>
            <a:ext cx="8686800" cy="237744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71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1661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1950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240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2529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28194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6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1089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7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33985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8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6880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9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39776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10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2672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11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5567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12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8463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13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1358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14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4254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15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57150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16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60045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17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2941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18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65836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19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8732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20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71628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74523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22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7419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23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80314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24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83210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25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8610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26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8900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27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9189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28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9479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29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9768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30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45720" y="6583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720" y="8961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371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16611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19507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2240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2529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28194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1089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985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36880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39776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42672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45567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48463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513588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54254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57150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60045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62941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65836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687324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71628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74523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77419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80314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83210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8610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89001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91897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9479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9768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45720" y="1133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Gundrill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1371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16611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19507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40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2529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28194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31089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33985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36880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39776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42672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45567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48463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13588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54254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7150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5"/>
          <p:cNvSpPr/>
          <p:nvPr/>
        </p:nvSpPr>
        <p:spPr>
          <a:xfrm>
            <a:off x="60045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62941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65836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8"/>
          <p:cNvSpPr/>
          <p:nvPr/>
        </p:nvSpPr>
        <p:spPr>
          <a:xfrm>
            <a:off x="687324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89"/>
          <p:cNvSpPr/>
          <p:nvPr/>
        </p:nvSpPr>
        <p:spPr>
          <a:xfrm>
            <a:off x="71628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74523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77419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2"/>
          <p:cNvSpPr/>
          <p:nvPr/>
        </p:nvSpPr>
        <p:spPr>
          <a:xfrm>
            <a:off x="80314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3"/>
          <p:cNvSpPr/>
          <p:nvPr/>
        </p:nvSpPr>
        <p:spPr>
          <a:xfrm>
            <a:off x="83210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10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5"/>
          <p:cNvSpPr/>
          <p:nvPr/>
        </p:nvSpPr>
        <p:spPr>
          <a:xfrm>
            <a:off x="89001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6"/>
          <p:cNvSpPr/>
          <p:nvPr/>
        </p:nvSpPr>
        <p:spPr>
          <a:xfrm>
            <a:off x="91897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7"/>
          <p:cNvSpPr/>
          <p:nvPr/>
        </p:nvSpPr>
        <p:spPr>
          <a:xfrm>
            <a:off x="9479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9768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45720" y="13716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Honing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1371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1"/>
          <p:cNvSpPr/>
          <p:nvPr/>
        </p:nvSpPr>
        <p:spPr>
          <a:xfrm>
            <a:off x="16611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19507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3"/>
          <p:cNvSpPr/>
          <p:nvPr/>
        </p:nvSpPr>
        <p:spPr>
          <a:xfrm>
            <a:off x="2240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2529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5"/>
          <p:cNvSpPr/>
          <p:nvPr/>
        </p:nvSpPr>
        <p:spPr>
          <a:xfrm>
            <a:off x="28194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31089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7"/>
          <p:cNvSpPr/>
          <p:nvPr/>
        </p:nvSpPr>
        <p:spPr>
          <a:xfrm>
            <a:off x="33985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36880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09"/>
          <p:cNvSpPr/>
          <p:nvPr/>
        </p:nvSpPr>
        <p:spPr>
          <a:xfrm>
            <a:off x="39776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0"/>
          <p:cNvSpPr/>
          <p:nvPr/>
        </p:nvSpPr>
        <p:spPr>
          <a:xfrm>
            <a:off x="42672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1"/>
          <p:cNvSpPr/>
          <p:nvPr/>
        </p:nvSpPr>
        <p:spPr>
          <a:xfrm>
            <a:off x="45567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48463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3"/>
          <p:cNvSpPr/>
          <p:nvPr/>
        </p:nvSpPr>
        <p:spPr>
          <a:xfrm>
            <a:off x="513588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4"/>
          <p:cNvSpPr/>
          <p:nvPr/>
        </p:nvSpPr>
        <p:spPr>
          <a:xfrm>
            <a:off x="5425440" y="1371600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5"/>
          <p:cNvSpPr/>
          <p:nvPr/>
        </p:nvSpPr>
        <p:spPr>
          <a:xfrm>
            <a:off x="5715000" y="1371600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6"/>
          <p:cNvSpPr/>
          <p:nvPr/>
        </p:nvSpPr>
        <p:spPr>
          <a:xfrm>
            <a:off x="60045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7"/>
          <p:cNvSpPr/>
          <p:nvPr/>
        </p:nvSpPr>
        <p:spPr>
          <a:xfrm>
            <a:off x="62941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8"/>
          <p:cNvSpPr/>
          <p:nvPr/>
        </p:nvSpPr>
        <p:spPr>
          <a:xfrm>
            <a:off x="65836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19"/>
          <p:cNvSpPr/>
          <p:nvPr/>
        </p:nvSpPr>
        <p:spPr>
          <a:xfrm>
            <a:off x="687324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0"/>
          <p:cNvSpPr/>
          <p:nvPr/>
        </p:nvSpPr>
        <p:spPr>
          <a:xfrm>
            <a:off x="71628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1"/>
          <p:cNvSpPr/>
          <p:nvPr/>
        </p:nvSpPr>
        <p:spPr>
          <a:xfrm>
            <a:off x="74523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2"/>
          <p:cNvSpPr/>
          <p:nvPr/>
        </p:nvSpPr>
        <p:spPr>
          <a:xfrm>
            <a:off x="77419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3"/>
          <p:cNvSpPr/>
          <p:nvPr/>
        </p:nvSpPr>
        <p:spPr>
          <a:xfrm>
            <a:off x="80314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4"/>
          <p:cNvSpPr/>
          <p:nvPr/>
        </p:nvSpPr>
        <p:spPr>
          <a:xfrm>
            <a:off x="83210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5"/>
          <p:cNvSpPr/>
          <p:nvPr/>
        </p:nvSpPr>
        <p:spPr>
          <a:xfrm>
            <a:off x="8610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6"/>
          <p:cNvSpPr/>
          <p:nvPr/>
        </p:nvSpPr>
        <p:spPr>
          <a:xfrm>
            <a:off x="89001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7"/>
          <p:cNvSpPr/>
          <p:nvPr/>
        </p:nvSpPr>
        <p:spPr>
          <a:xfrm>
            <a:off x="91897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8"/>
          <p:cNvSpPr/>
          <p:nvPr/>
        </p:nvSpPr>
        <p:spPr>
          <a:xfrm>
            <a:off x="9479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29"/>
          <p:cNvSpPr/>
          <p:nvPr/>
        </p:nvSpPr>
        <p:spPr>
          <a:xfrm>
            <a:off x="9768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Text 130"/>
          <p:cNvSpPr/>
          <p:nvPr/>
        </p:nvSpPr>
        <p:spPr>
          <a:xfrm>
            <a:off x="45720" y="16093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750" dirty="0"/>
          </a:p>
        </p:txBody>
      </p:sp>
      <p:sp>
        <p:nvSpPr>
          <p:cNvPr id="134" name="Shape 131"/>
          <p:cNvSpPr/>
          <p:nvPr/>
        </p:nvSpPr>
        <p:spPr>
          <a:xfrm>
            <a:off x="1371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2"/>
          <p:cNvSpPr/>
          <p:nvPr/>
        </p:nvSpPr>
        <p:spPr>
          <a:xfrm>
            <a:off x="16611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3"/>
          <p:cNvSpPr/>
          <p:nvPr/>
        </p:nvSpPr>
        <p:spPr>
          <a:xfrm>
            <a:off x="19507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4"/>
          <p:cNvSpPr/>
          <p:nvPr/>
        </p:nvSpPr>
        <p:spPr>
          <a:xfrm>
            <a:off x="2240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5"/>
          <p:cNvSpPr/>
          <p:nvPr/>
        </p:nvSpPr>
        <p:spPr>
          <a:xfrm>
            <a:off x="2529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6"/>
          <p:cNvSpPr/>
          <p:nvPr/>
        </p:nvSpPr>
        <p:spPr>
          <a:xfrm>
            <a:off x="28194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7"/>
          <p:cNvSpPr/>
          <p:nvPr/>
        </p:nvSpPr>
        <p:spPr>
          <a:xfrm>
            <a:off x="31089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8"/>
          <p:cNvSpPr/>
          <p:nvPr/>
        </p:nvSpPr>
        <p:spPr>
          <a:xfrm>
            <a:off x="33985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39"/>
          <p:cNvSpPr/>
          <p:nvPr/>
        </p:nvSpPr>
        <p:spPr>
          <a:xfrm>
            <a:off x="36880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0"/>
          <p:cNvSpPr/>
          <p:nvPr/>
        </p:nvSpPr>
        <p:spPr>
          <a:xfrm>
            <a:off x="39776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1"/>
          <p:cNvSpPr/>
          <p:nvPr/>
        </p:nvSpPr>
        <p:spPr>
          <a:xfrm>
            <a:off x="42672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2"/>
          <p:cNvSpPr/>
          <p:nvPr/>
        </p:nvSpPr>
        <p:spPr>
          <a:xfrm>
            <a:off x="45567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3"/>
          <p:cNvSpPr/>
          <p:nvPr/>
        </p:nvSpPr>
        <p:spPr>
          <a:xfrm>
            <a:off x="48463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4"/>
          <p:cNvSpPr/>
          <p:nvPr/>
        </p:nvSpPr>
        <p:spPr>
          <a:xfrm>
            <a:off x="513588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5"/>
          <p:cNvSpPr/>
          <p:nvPr/>
        </p:nvSpPr>
        <p:spPr>
          <a:xfrm>
            <a:off x="54254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Shape 146"/>
          <p:cNvSpPr/>
          <p:nvPr/>
        </p:nvSpPr>
        <p:spPr>
          <a:xfrm>
            <a:off x="57150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Shape 147"/>
          <p:cNvSpPr/>
          <p:nvPr/>
        </p:nvSpPr>
        <p:spPr>
          <a:xfrm>
            <a:off x="60045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Shape 148"/>
          <p:cNvSpPr/>
          <p:nvPr/>
        </p:nvSpPr>
        <p:spPr>
          <a:xfrm>
            <a:off x="62941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Shape 149"/>
          <p:cNvSpPr/>
          <p:nvPr/>
        </p:nvSpPr>
        <p:spPr>
          <a:xfrm>
            <a:off x="65836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Shape 150"/>
          <p:cNvSpPr/>
          <p:nvPr/>
        </p:nvSpPr>
        <p:spPr>
          <a:xfrm>
            <a:off x="687324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151"/>
          <p:cNvSpPr/>
          <p:nvPr/>
        </p:nvSpPr>
        <p:spPr>
          <a:xfrm>
            <a:off x="71628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Shape 152"/>
          <p:cNvSpPr/>
          <p:nvPr/>
        </p:nvSpPr>
        <p:spPr>
          <a:xfrm>
            <a:off x="74523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hape 153"/>
          <p:cNvSpPr/>
          <p:nvPr/>
        </p:nvSpPr>
        <p:spPr>
          <a:xfrm>
            <a:off x="77419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Shape 154"/>
          <p:cNvSpPr/>
          <p:nvPr/>
        </p:nvSpPr>
        <p:spPr>
          <a:xfrm>
            <a:off x="80314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Shape 155"/>
          <p:cNvSpPr/>
          <p:nvPr/>
        </p:nvSpPr>
        <p:spPr>
          <a:xfrm>
            <a:off x="83210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Shape 156"/>
          <p:cNvSpPr/>
          <p:nvPr/>
        </p:nvSpPr>
        <p:spPr>
          <a:xfrm>
            <a:off x="8610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Shape 157"/>
          <p:cNvSpPr/>
          <p:nvPr/>
        </p:nvSpPr>
        <p:spPr>
          <a:xfrm>
            <a:off x="89001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Shape 158"/>
          <p:cNvSpPr/>
          <p:nvPr/>
        </p:nvSpPr>
        <p:spPr>
          <a:xfrm>
            <a:off x="91897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Shape 159"/>
          <p:cNvSpPr/>
          <p:nvPr/>
        </p:nvSpPr>
        <p:spPr>
          <a:xfrm>
            <a:off x="9479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Shape 160"/>
          <p:cNvSpPr/>
          <p:nvPr/>
        </p:nvSpPr>
        <p:spPr>
          <a:xfrm>
            <a:off x="9768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Text 161"/>
          <p:cNvSpPr/>
          <p:nvPr/>
        </p:nvSpPr>
        <p:spPr>
          <a:xfrm>
            <a:off x="45720" y="1847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</a:t>
            </a:r>
            <a:endParaRPr lang="en-US" sz="750" dirty="0"/>
          </a:p>
        </p:txBody>
      </p:sp>
      <p:sp>
        <p:nvSpPr>
          <p:cNvPr id="165" name="Shape 162"/>
          <p:cNvSpPr/>
          <p:nvPr/>
        </p:nvSpPr>
        <p:spPr>
          <a:xfrm>
            <a:off x="1371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Shape 163"/>
          <p:cNvSpPr/>
          <p:nvPr/>
        </p:nvSpPr>
        <p:spPr>
          <a:xfrm>
            <a:off x="16611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7" name="Shape 164"/>
          <p:cNvSpPr/>
          <p:nvPr/>
        </p:nvSpPr>
        <p:spPr>
          <a:xfrm>
            <a:off x="19507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Shape 165"/>
          <p:cNvSpPr/>
          <p:nvPr/>
        </p:nvSpPr>
        <p:spPr>
          <a:xfrm>
            <a:off x="2240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9" name="Shape 166"/>
          <p:cNvSpPr/>
          <p:nvPr/>
        </p:nvSpPr>
        <p:spPr>
          <a:xfrm>
            <a:off x="2529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Shape 167"/>
          <p:cNvSpPr/>
          <p:nvPr/>
        </p:nvSpPr>
        <p:spPr>
          <a:xfrm>
            <a:off x="28194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Shape 168"/>
          <p:cNvSpPr/>
          <p:nvPr/>
        </p:nvSpPr>
        <p:spPr>
          <a:xfrm>
            <a:off x="31089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Shape 169"/>
          <p:cNvSpPr/>
          <p:nvPr/>
        </p:nvSpPr>
        <p:spPr>
          <a:xfrm>
            <a:off x="33985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Shape 170"/>
          <p:cNvSpPr/>
          <p:nvPr/>
        </p:nvSpPr>
        <p:spPr>
          <a:xfrm>
            <a:off x="36880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Shape 171"/>
          <p:cNvSpPr/>
          <p:nvPr/>
        </p:nvSpPr>
        <p:spPr>
          <a:xfrm>
            <a:off x="39776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Shape 172"/>
          <p:cNvSpPr/>
          <p:nvPr/>
        </p:nvSpPr>
        <p:spPr>
          <a:xfrm>
            <a:off x="42672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Shape 173"/>
          <p:cNvSpPr/>
          <p:nvPr/>
        </p:nvSpPr>
        <p:spPr>
          <a:xfrm>
            <a:off x="45567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7" name="Shape 174"/>
          <p:cNvSpPr/>
          <p:nvPr/>
        </p:nvSpPr>
        <p:spPr>
          <a:xfrm>
            <a:off x="48463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Shape 175"/>
          <p:cNvSpPr/>
          <p:nvPr/>
        </p:nvSpPr>
        <p:spPr>
          <a:xfrm>
            <a:off x="513588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Shape 176"/>
          <p:cNvSpPr/>
          <p:nvPr/>
        </p:nvSpPr>
        <p:spPr>
          <a:xfrm>
            <a:off x="5425440" y="1847088"/>
            <a:ext cx="282245" cy="228600"/>
          </a:xfrm>
          <a:prstGeom prst="rect">
            <a:avLst/>
          </a:prstGeom>
          <a:solidFill>
            <a:srgbClr val="E74C3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Shape 177"/>
          <p:cNvSpPr/>
          <p:nvPr/>
        </p:nvSpPr>
        <p:spPr>
          <a:xfrm>
            <a:off x="5715000" y="1847088"/>
            <a:ext cx="282245" cy="228600"/>
          </a:xfrm>
          <a:prstGeom prst="rect">
            <a:avLst/>
          </a:prstGeom>
          <a:solidFill>
            <a:srgbClr val="E74C3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1" name="Shape 178"/>
          <p:cNvSpPr/>
          <p:nvPr/>
        </p:nvSpPr>
        <p:spPr>
          <a:xfrm>
            <a:off x="6004560" y="1847088"/>
            <a:ext cx="282245" cy="228600"/>
          </a:xfrm>
          <a:prstGeom prst="rect">
            <a:avLst/>
          </a:prstGeom>
          <a:solidFill>
            <a:srgbClr val="E74C3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Shape 179"/>
          <p:cNvSpPr/>
          <p:nvPr/>
        </p:nvSpPr>
        <p:spPr>
          <a:xfrm>
            <a:off x="6294120" y="1847088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3" name="Shape 180"/>
          <p:cNvSpPr/>
          <p:nvPr/>
        </p:nvSpPr>
        <p:spPr>
          <a:xfrm>
            <a:off x="65836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Shape 181"/>
          <p:cNvSpPr/>
          <p:nvPr/>
        </p:nvSpPr>
        <p:spPr>
          <a:xfrm>
            <a:off x="687324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Shape 182"/>
          <p:cNvSpPr/>
          <p:nvPr/>
        </p:nvSpPr>
        <p:spPr>
          <a:xfrm>
            <a:off x="71628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Shape 183"/>
          <p:cNvSpPr/>
          <p:nvPr/>
        </p:nvSpPr>
        <p:spPr>
          <a:xfrm>
            <a:off x="74523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7" name="Shape 184"/>
          <p:cNvSpPr/>
          <p:nvPr/>
        </p:nvSpPr>
        <p:spPr>
          <a:xfrm>
            <a:off x="77419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Shape 185"/>
          <p:cNvSpPr/>
          <p:nvPr/>
        </p:nvSpPr>
        <p:spPr>
          <a:xfrm>
            <a:off x="80314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Shape 186"/>
          <p:cNvSpPr/>
          <p:nvPr/>
        </p:nvSpPr>
        <p:spPr>
          <a:xfrm>
            <a:off x="83210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Shape 187"/>
          <p:cNvSpPr/>
          <p:nvPr/>
        </p:nvSpPr>
        <p:spPr>
          <a:xfrm>
            <a:off x="8610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Shape 188"/>
          <p:cNvSpPr/>
          <p:nvPr/>
        </p:nvSpPr>
        <p:spPr>
          <a:xfrm>
            <a:off x="89001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Shape 189"/>
          <p:cNvSpPr/>
          <p:nvPr/>
        </p:nvSpPr>
        <p:spPr>
          <a:xfrm>
            <a:off x="91897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Shape 190"/>
          <p:cNvSpPr/>
          <p:nvPr/>
        </p:nvSpPr>
        <p:spPr>
          <a:xfrm>
            <a:off x="9479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Shape 191"/>
          <p:cNvSpPr/>
          <p:nvPr/>
        </p:nvSpPr>
        <p:spPr>
          <a:xfrm>
            <a:off x="9768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Text 192"/>
          <p:cNvSpPr/>
          <p:nvPr/>
        </p:nvSpPr>
        <p:spPr>
          <a:xfrm>
            <a:off x="45720" y="20848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750" dirty="0"/>
          </a:p>
        </p:txBody>
      </p:sp>
      <p:sp>
        <p:nvSpPr>
          <p:cNvPr id="196" name="Shape 193"/>
          <p:cNvSpPr/>
          <p:nvPr/>
        </p:nvSpPr>
        <p:spPr>
          <a:xfrm>
            <a:off x="1371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7" name="Shape 194"/>
          <p:cNvSpPr/>
          <p:nvPr/>
        </p:nvSpPr>
        <p:spPr>
          <a:xfrm>
            <a:off x="16611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Shape 195"/>
          <p:cNvSpPr/>
          <p:nvPr/>
        </p:nvSpPr>
        <p:spPr>
          <a:xfrm>
            <a:off x="19507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9" name="Shape 196"/>
          <p:cNvSpPr/>
          <p:nvPr/>
        </p:nvSpPr>
        <p:spPr>
          <a:xfrm>
            <a:off x="2240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Shape 197"/>
          <p:cNvSpPr/>
          <p:nvPr/>
        </p:nvSpPr>
        <p:spPr>
          <a:xfrm>
            <a:off x="2529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Shape 198"/>
          <p:cNvSpPr/>
          <p:nvPr/>
        </p:nvSpPr>
        <p:spPr>
          <a:xfrm>
            <a:off x="28194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Shape 199"/>
          <p:cNvSpPr/>
          <p:nvPr/>
        </p:nvSpPr>
        <p:spPr>
          <a:xfrm>
            <a:off x="31089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3" name="Shape 200"/>
          <p:cNvSpPr/>
          <p:nvPr/>
        </p:nvSpPr>
        <p:spPr>
          <a:xfrm>
            <a:off x="33985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Shape 201"/>
          <p:cNvSpPr/>
          <p:nvPr/>
        </p:nvSpPr>
        <p:spPr>
          <a:xfrm>
            <a:off x="36880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5" name="Shape 202"/>
          <p:cNvSpPr/>
          <p:nvPr/>
        </p:nvSpPr>
        <p:spPr>
          <a:xfrm>
            <a:off x="39776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Shape 203"/>
          <p:cNvSpPr/>
          <p:nvPr/>
        </p:nvSpPr>
        <p:spPr>
          <a:xfrm>
            <a:off x="42672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7" name="Shape 204"/>
          <p:cNvSpPr/>
          <p:nvPr/>
        </p:nvSpPr>
        <p:spPr>
          <a:xfrm>
            <a:off x="45567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8" name="Shape 205"/>
          <p:cNvSpPr/>
          <p:nvPr/>
        </p:nvSpPr>
        <p:spPr>
          <a:xfrm>
            <a:off x="48463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9" name="Shape 206"/>
          <p:cNvSpPr/>
          <p:nvPr/>
        </p:nvSpPr>
        <p:spPr>
          <a:xfrm>
            <a:off x="513588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Shape 207"/>
          <p:cNvSpPr/>
          <p:nvPr/>
        </p:nvSpPr>
        <p:spPr>
          <a:xfrm>
            <a:off x="54254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Shape 208"/>
          <p:cNvSpPr/>
          <p:nvPr/>
        </p:nvSpPr>
        <p:spPr>
          <a:xfrm>
            <a:off x="57150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2" name="Shape 209"/>
          <p:cNvSpPr/>
          <p:nvPr/>
        </p:nvSpPr>
        <p:spPr>
          <a:xfrm>
            <a:off x="60045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3" name="Shape 210"/>
          <p:cNvSpPr/>
          <p:nvPr/>
        </p:nvSpPr>
        <p:spPr>
          <a:xfrm>
            <a:off x="62941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Shape 211"/>
          <p:cNvSpPr/>
          <p:nvPr/>
        </p:nvSpPr>
        <p:spPr>
          <a:xfrm>
            <a:off x="65836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5" name="Shape 212"/>
          <p:cNvSpPr/>
          <p:nvPr/>
        </p:nvSpPr>
        <p:spPr>
          <a:xfrm>
            <a:off x="687324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6" name="Shape 213"/>
          <p:cNvSpPr/>
          <p:nvPr/>
        </p:nvSpPr>
        <p:spPr>
          <a:xfrm>
            <a:off x="71628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Shape 214"/>
          <p:cNvSpPr/>
          <p:nvPr/>
        </p:nvSpPr>
        <p:spPr>
          <a:xfrm>
            <a:off x="74523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8" name="Shape 215"/>
          <p:cNvSpPr/>
          <p:nvPr/>
        </p:nvSpPr>
        <p:spPr>
          <a:xfrm>
            <a:off x="77419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9" name="Shape 216"/>
          <p:cNvSpPr/>
          <p:nvPr/>
        </p:nvSpPr>
        <p:spPr>
          <a:xfrm>
            <a:off x="80314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Shape 217"/>
          <p:cNvSpPr/>
          <p:nvPr/>
        </p:nvSpPr>
        <p:spPr>
          <a:xfrm>
            <a:off x="83210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1" name="Shape 218"/>
          <p:cNvSpPr/>
          <p:nvPr/>
        </p:nvSpPr>
        <p:spPr>
          <a:xfrm>
            <a:off x="8610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Shape 219"/>
          <p:cNvSpPr/>
          <p:nvPr/>
        </p:nvSpPr>
        <p:spPr>
          <a:xfrm>
            <a:off x="89001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3" name="Shape 220"/>
          <p:cNvSpPr/>
          <p:nvPr/>
        </p:nvSpPr>
        <p:spPr>
          <a:xfrm>
            <a:off x="91897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4" name="Shape 221"/>
          <p:cNvSpPr/>
          <p:nvPr/>
        </p:nvSpPr>
        <p:spPr>
          <a:xfrm>
            <a:off x="9479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5" name="Shape 222"/>
          <p:cNvSpPr/>
          <p:nvPr/>
        </p:nvSpPr>
        <p:spPr>
          <a:xfrm>
            <a:off x="9768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Text 223"/>
          <p:cNvSpPr/>
          <p:nvPr/>
        </p:nvSpPr>
        <p:spPr>
          <a:xfrm>
            <a:off x="1371600" y="23682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endParaRPr lang="en-US" sz="800" dirty="0"/>
          </a:p>
        </p:txBody>
      </p:sp>
      <p:sp>
        <p:nvSpPr>
          <p:cNvPr id="227" name="Shape 224"/>
          <p:cNvSpPr/>
          <p:nvPr/>
        </p:nvSpPr>
        <p:spPr>
          <a:xfrm>
            <a:off x="1828800" y="2395728"/>
            <a:ext cx="164592" cy="14630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8" name="Text 225"/>
          <p:cNvSpPr/>
          <p:nvPr/>
        </p:nvSpPr>
        <p:spPr>
          <a:xfrm>
            <a:off x="202996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Below Target</a:t>
            </a:r>
            <a:endParaRPr lang="en-US" sz="800" dirty="0"/>
          </a:p>
        </p:txBody>
      </p:sp>
      <p:sp>
        <p:nvSpPr>
          <p:cNvPr id="229" name="Shape 226"/>
          <p:cNvSpPr/>
          <p:nvPr/>
        </p:nvSpPr>
        <p:spPr>
          <a:xfrm>
            <a:off x="3840480" y="2395728"/>
            <a:ext cx="16459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" name="Text 227"/>
          <p:cNvSpPr/>
          <p:nvPr/>
        </p:nvSpPr>
        <p:spPr>
          <a:xfrm>
            <a:off x="404164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Within 5% of Target</a:t>
            </a:r>
            <a:endParaRPr lang="en-US" sz="800" dirty="0"/>
          </a:p>
        </p:txBody>
      </p:sp>
      <p:sp>
        <p:nvSpPr>
          <p:cNvPr id="231" name="Shape 228"/>
          <p:cNvSpPr/>
          <p:nvPr/>
        </p:nvSpPr>
        <p:spPr>
          <a:xfrm>
            <a:off x="5852160" y="2395728"/>
            <a:ext cx="164592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" name="Text 229"/>
          <p:cNvSpPr/>
          <p:nvPr/>
        </p:nvSpPr>
        <p:spPr>
          <a:xfrm>
            <a:off x="605332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&gt;5% Over Target</a:t>
            </a:r>
            <a:endParaRPr lang="en-US" sz="800" dirty="0"/>
          </a:p>
        </p:txBody>
      </p:sp>
      <p:sp>
        <p:nvSpPr>
          <p:cNvPr id="233" name="Shape 230"/>
          <p:cNvSpPr/>
          <p:nvPr/>
        </p:nvSpPr>
        <p:spPr>
          <a:xfrm>
            <a:off x="7863840" y="2395728"/>
            <a:ext cx="164592" cy="14630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Text 231"/>
          <p:cNvSpPr/>
          <p:nvPr/>
        </p:nvSpPr>
        <p:spPr>
          <a:xfrm>
            <a:off x="806500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Weekend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1371600" y="2642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Trend</a:t>
            </a:r>
            <a:endParaRPr lang="en-US" sz="1100" dirty="0"/>
          </a:p>
        </p:txBody>
      </p:sp>
      <p:graphicFrame>
        <p:nvGraphicFramePr>
          <p:cNvPr id="236" name="Chart 0"/>
          <p:cNvGraphicFramePr/>
          <p:nvPr/>
        </p:nvGraphicFramePr>
        <p:xfrm>
          <a:off x="1371600" y="2916936"/>
          <a:ext cx="5029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7" name="Text 233"/>
          <p:cNvSpPr/>
          <p:nvPr/>
        </p:nvSpPr>
        <p:spPr>
          <a:xfrm>
            <a:off x="6583680" y="26426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Summary</a:t>
            </a:r>
            <a:endParaRPr lang="en-US" sz="1100" dirty="0"/>
          </a:p>
        </p:txBody>
      </p:sp>
      <p:graphicFrame>
        <p:nvGraphicFramePr>
          <p:cNvPr id="2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916936"/>
          <a:ext cx="4389120" cy="1447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Jun-26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 &amp; Rework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£2,000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£3,450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vs Actual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±3%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CoNQ (Total)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£5,000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£6,200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" name="Shape 234"/>
          <p:cNvSpPr/>
          <p:nvPr/>
        </p:nvSpPr>
        <p:spPr>
          <a:xfrm>
            <a:off x="45720" y="4636008"/>
            <a:ext cx="12054535" cy="27432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" name="Text 235"/>
          <p:cNvSpPr/>
          <p:nvPr/>
        </p:nvSpPr>
        <p:spPr>
          <a:xfrm>
            <a:off x="182880" y="4636008"/>
            <a:ext cx="11825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 — Cost  |  JUNE 2026</a:t>
            </a:r>
            <a:endParaRPr lang="en-US" sz="1100" dirty="0"/>
          </a:p>
        </p:txBody>
      </p:sp>
      <p:graphicFrame>
        <p:nvGraphicFramePr>
          <p:cNvPr id="2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" y="4928616"/>
          <a:ext cx="10972800" cy="1104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Countermeasure /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44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Rectangle 24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245" name="Rectangle 24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73152" y="457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3152" y="45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71A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— Daily Performance  |  NucCol Fit For Nuclear Programme  |  JUNE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658368"/>
            <a:ext cx="8686800" cy="237744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71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1661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1950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240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2529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28194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6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1089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7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33985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8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6880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9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39776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10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2672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11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5567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12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8463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13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1358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14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4254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15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57150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16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60045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17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2941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18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65836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19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8732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20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71628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74523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22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7419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23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80314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24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83210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25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8610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26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8900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27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9189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28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9479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29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9768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30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45720" y="6583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720" y="8961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371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16611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19507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2240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2529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28194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1089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985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36880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39776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42672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45567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48463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513588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54254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57150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60045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62941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65836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687324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71628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7452360" y="896112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7741920" y="896112"/>
            <a:ext cx="282245" cy="228600"/>
          </a:xfrm>
          <a:prstGeom prst="rect">
            <a:avLst/>
          </a:prstGeom>
          <a:solidFill>
            <a:srgbClr val="E74C3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8031480" y="896112"/>
            <a:ext cx="282245" cy="228600"/>
          </a:xfrm>
          <a:prstGeom prst="rect">
            <a:avLst/>
          </a:prstGeom>
          <a:solidFill>
            <a:srgbClr val="E74C3C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8321040" y="896112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8610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89001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91897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9479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9768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45720" y="1133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Gundrill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1371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16611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19507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40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2529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28194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31089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33985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36880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39776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42672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45567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48463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13588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54254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7150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5"/>
          <p:cNvSpPr/>
          <p:nvPr/>
        </p:nvSpPr>
        <p:spPr>
          <a:xfrm>
            <a:off x="60045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62941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65836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8"/>
          <p:cNvSpPr/>
          <p:nvPr/>
        </p:nvSpPr>
        <p:spPr>
          <a:xfrm>
            <a:off x="687324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89"/>
          <p:cNvSpPr/>
          <p:nvPr/>
        </p:nvSpPr>
        <p:spPr>
          <a:xfrm>
            <a:off x="71628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74523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77419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2"/>
          <p:cNvSpPr/>
          <p:nvPr/>
        </p:nvSpPr>
        <p:spPr>
          <a:xfrm>
            <a:off x="80314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3"/>
          <p:cNvSpPr/>
          <p:nvPr/>
        </p:nvSpPr>
        <p:spPr>
          <a:xfrm>
            <a:off x="83210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10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5"/>
          <p:cNvSpPr/>
          <p:nvPr/>
        </p:nvSpPr>
        <p:spPr>
          <a:xfrm>
            <a:off x="89001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6"/>
          <p:cNvSpPr/>
          <p:nvPr/>
        </p:nvSpPr>
        <p:spPr>
          <a:xfrm>
            <a:off x="91897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7"/>
          <p:cNvSpPr/>
          <p:nvPr/>
        </p:nvSpPr>
        <p:spPr>
          <a:xfrm>
            <a:off x="9479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9768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45720" y="13716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Honing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1371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1"/>
          <p:cNvSpPr/>
          <p:nvPr/>
        </p:nvSpPr>
        <p:spPr>
          <a:xfrm>
            <a:off x="16611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19507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3"/>
          <p:cNvSpPr/>
          <p:nvPr/>
        </p:nvSpPr>
        <p:spPr>
          <a:xfrm>
            <a:off x="2240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2529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5"/>
          <p:cNvSpPr/>
          <p:nvPr/>
        </p:nvSpPr>
        <p:spPr>
          <a:xfrm>
            <a:off x="28194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31089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7"/>
          <p:cNvSpPr/>
          <p:nvPr/>
        </p:nvSpPr>
        <p:spPr>
          <a:xfrm>
            <a:off x="33985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36880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09"/>
          <p:cNvSpPr/>
          <p:nvPr/>
        </p:nvSpPr>
        <p:spPr>
          <a:xfrm>
            <a:off x="39776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0"/>
          <p:cNvSpPr/>
          <p:nvPr/>
        </p:nvSpPr>
        <p:spPr>
          <a:xfrm>
            <a:off x="42672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1"/>
          <p:cNvSpPr/>
          <p:nvPr/>
        </p:nvSpPr>
        <p:spPr>
          <a:xfrm>
            <a:off x="45567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48463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3"/>
          <p:cNvSpPr/>
          <p:nvPr/>
        </p:nvSpPr>
        <p:spPr>
          <a:xfrm>
            <a:off x="513588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4"/>
          <p:cNvSpPr/>
          <p:nvPr/>
        </p:nvSpPr>
        <p:spPr>
          <a:xfrm>
            <a:off x="54254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5"/>
          <p:cNvSpPr/>
          <p:nvPr/>
        </p:nvSpPr>
        <p:spPr>
          <a:xfrm>
            <a:off x="57150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6"/>
          <p:cNvSpPr/>
          <p:nvPr/>
        </p:nvSpPr>
        <p:spPr>
          <a:xfrm>
            <a:off x="60045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7"/>
          <p:cNvSpPr/>
          <p:nvPr/>
        </p:nvSpPr>
        <p:spPr>
          <a:xfrm>
            <a:off x="62941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8"/>
          <p:cNvSpPr/>
          <p:nvPr/>
        </p:nvSpPr>
        <p:spPr>
          <a:xfrm>
            <a:off x="65836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19"/>
          <p:cNvSpPr/>
          <p:nvPr/>
        </p:nvSpPr>
        <p:spPr>
          <a:xfrm>
            <a:off x="687324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0"/>
          <p:cNvSpPr/>
          <p:nvPr/>
        </p:nvSpPr>
        <p:spPr>
          <a:xfrm>
            <a:off x="71628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1"/>
          <p:cNvSpPr/>
          <p:nvPr/>
        </p:nvSpPr>
        <p:spPr>
          <a:xfrm>
            <a:off x="74523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2"/>
          <p:cNvSpPr/>
          <p:nvPr/>
        </p:nvSpPr>
        <p:spPr>
          <a:xfrm>
            <a:off x="77419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3"/>
          <p:cNvSpPr/>
          <p:nvPr/>
        </p:nvSpPr>
        <p:spPr>
          <a:xfrm>
            <a:off x="80314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4"/>
          <p:cNvSpPr/>
          <p:nvPr/>
        </p:nvSpPr>
        <p:spPr>
          <a:xfrm>
            <a:off x="83210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5"/>
          <p:cNvSpPr/>
          <p:nvPr/>
        </p:nvSpPr>
        <p:spPr>
          <a:xfrm>
            <a:off x="8610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6"/>
          <p:cNvSpPr/>
          <p:nvPr/>
        </p:nvSpPr>
        <p:spPr>
          <a:xfrm>
            <a:off x="89001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7"/>
          <p:cNvSpPr/>
          <p:nvPr/>
        </p:nvSpPr>
        <p:spPr>
          <a:xfrm>
            <a:off x="91897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8"/>
          <p:cNvSpPr/>
          <p:nvPr/>
        </p:nvSpPr>
        <p:spPr>
          <a:xfrm>
            <a:off x="9479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29"/>
          <p:cNvSpPr/>
          <p:nvPr/>
        </p:nvSpPr>
        <p:spPr>
          <a:xfrm>
            <a:off x="9768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Text 130"/>
          <p:cNvSpPr/>
          <p:nvPr/>
        </p:nvSpPr>
        <p:spPr>
          <a:xfrm>
            <a:off x="45720" y="16093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750" dirty="0"/>
          </a:p>
        </p:txBody>
      </p:sp>
      <p:sp>
        <p:nvSpPr>
          <p:cNvPr id="134" name="Shape 131"/>
          <p:cNvSpPr/>
          <p:nvPr/>
        </p:nvSpPr>
        <p:spPr>
          <a:xfrm>
            <a:off x="1371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2"/>
          <p:cNvSpPr/>
          <p:nvPr/>
        </p:nvSpPr>
        <p:spPr>
          <a:xfrm>
            <a:off x="16611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3"/>
          <p:cNvSpPr/>
          <p:nvPr/>
        </p:nvSpPr>
        <p:spPr>
          <a:xfrm>
            <a:off x="19507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4"/>
          <p:cNvSpPr/>
          <p:nvPr/>
        </p:nvSpPr>
        <p:spPr>
          <a:xfrm>
            <a:off x="2240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5"/>
          <p:cNvSpPr/>
          <p:nvPr/>
        </p:nvSpPr>
        <p:spPr>
          <a:xfrm>
            <a:off x="2529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6"/>
          <p:cNvSpPr/>
          <p:nvPr/>
        </p:nvSpPr>
        <p:spPr>
          <a:xfrm>
            <a:off x="28194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7"/>
          <p:cNvSpPr/>
          <p:nvPr/>
        </p:nvSpPr>
        <p:spPr>
          <a:xfrm>
            <a:off x="31089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8"/>
          <p:cNvSpPr/>
          <p:nvPr/>
        </p:nvSpPr>
        <p:spPr>
          <a:xfrm>
            <a:off x="33985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39"/>
          <p:cNvSpPr/>
          <p:nvPr/>
        </p:nvSpPr>
        <p:spPr>
          <a:xfrm>
            <a:off x="36880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0"/>
          <p:cNvSpPr/>
          <p:nvPr/>
        </p:nvSpPr>
        <p:spPr>
          <a:xfrm>
            <a:off x="39776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1"/>
          <p:cNvSpPr/>
          <p:nvPr/>
        </p:nvSpPr>
        <p:spPr>
          <a:xfrm>
            <a:off x="42672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2"/>
          <p:cNvSpPr/>
          <p:nvPr/>
        </p:nvSpPr>
        <p:spPr>
          <a:xfrm>
            <a:off x="45567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3"/>
          <p:cNvSpPr/>
          <p:nvPr/>
        </p:nvSpPr>
        <p:spPr>
          <a:xfrm>
            <a:off x="48463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4"/>
          <p:cNvSpPr/>
          <p:nvPr/>
        </p:nvSpPr>
        <p:spPr>
          <a:xfrm>
            <a:off x="513588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5"/>
          <p:cNvSpPr/>
          <p:nvPr/>
        </p:nvSpPr>
        <p:spPr>
          <a:xfrm>
            <a:off x="54254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Shape 146"/>
          <p:cNvSpPr/>
          <p:nvPr/>
        </p:nvSpPr>
        <p:spPr>
          <a:xfrm>
            <a:off x="57150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Shape 147"/>
          <p:cNvSpPr/>
          <p:nvPr/>
        </p:nvSpPr>
        <p:spPr>
          <a:xfrm>
            <a:off x="60045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Shape 148"/>
          <p:cNvSpPr/>
          <p:nvPr/>
        </p:nvSpPr>
        <p:spPr>
          <a:xfrm>
            <a:off x="62941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Shape 149"/>
          <p:cNvSpPr/>
          <p:nvPr/>
        </p:nvSpPr>
        <p:spPr>
          <a:xfrm>
            <a:off x="65836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Shape 150"/>
          <p:cNvSpPr/>
          <p:nvPr/>
        </p:nvSpPr>
        <p:spPr>
          <a:xfrm>
            <a:off x="687324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151"/>
          <p:cNvSpPr/>
          <p:nvPr/>
        </p:nvSpPr>
        <p:spPr>
          <a:xfrm>
            <a:off x="71628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Shape 152"/>
          <p:cNvSpPr/>
          <p:nvPr/>
        </p:nvSpPr>
        <p:spPr>
          <a:xfrm>
            <a:off x="74523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hape 153"/>
          <p:cNvSpPr/>
          <p:nvPr/>
        </p:nvSpPr>
        <p:spPr>
          <a:xfrm>
            <a:off x="77419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Shape 154"/>
          <p:cNvSpPr/>
          <p:nvPr/>
        </p:nvSpPr>
        <p:spPr>
          <a:xfrm>
            <a:off x="80314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Shape 155"/>
          <p:cNvSpPr/>
          <p:nvPr/>
        </p:nvSpPr>
        <p:spPr>
          <a:xfrm>
            <a:off x="83210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Shape 156"/>
          <p:cNvSpPr/>
          <p:nvPr/>
        </p:nvSpPr>
        <p:spPr>
          <a:xfrm>
            <a:off x="8610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Shape 157"/>
          <p:cNvSpPr/>
          <p:nvPr/>
        </p:nvSpPr>
        <p:spPr>
          <a:xfrm>
            <a:off x="89001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Shape 158"/>
          <p:cNvSpPr/>
          <p:nvPr/>
        </p:nvSpPr>
        <p:spPr>
          <a:xfrm>
            <a:off x="91897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Shape 159"/>
          <p:cNvSpPr/>
          <p:nvPr/>
        </p:nvSpPr>
        <p:spPr>
          <a:xfrm>
            <a:off x="9479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Shape 160"/>
          <p:cNvSpPr/>
          <p:nvPr/>
        </p:nvSpPr>
        <p:spPr>
          <a:xfrm>
            <a:off x="9768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Text 161"/>
          <p:cNvSpPr/>
          <p:nvPr/>
        </p:nvSpPr>
        <p:spPr>
          <a:xfrm>
            <a:off x="45720" y="1847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</a:t>
            </a:r>
            <a:endParaRPr lang="en-US" sz="750" dirty="0"/>
          </a:p>
        </p:txBody>
      </p:sp>
      <p:sp>
        <p:nvSpPr>
          <p:cNvPr id="165" name="Shape 162"/>
          <p:cNvSpPr/>
          <p:nvPr/>
        </p:nvSpPr>
        <p:spPr>
          <a:xfrm>
            <a:off x="1371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Shape 163"/>
          <p:cNvSpPr/>
          <p:nvPr/>
        </p:nvSpPr>
        <p:spPr>
          <a:xfrm>
            <a:off x="16611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7" name="Shape 164"/>
          <p:cNvSpPr/>
          <p:nvPr/>
        </p:nvSpPr>
        <p:spPr>
          <a:xfrm>
            <a:off x="19507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Shape 165"/>
          <p:cNvSpPr/>
          <p:nvPr/>
        </p:nvSpPr>
        <p:spPr>
          <a:xfrm>
            <a:off x="2240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9" name="Shape 166"/>
          <p:cNvSpPr/>
          <p:nvPr/>
        </p:nvSpPr>
        <p:spPr>
          <a:xfrm>
            <a:off x="2529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Shape 167"/>
          <p:cNvSpPr/>
          <p:nvPr/>
        </p:nvSpPr>
        <p:spPr>
          <a:xfrm>
            <a:off x="28194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Shape 168"/>
          <p:cNvSpPr/>
          <p:nvPr/>
        </p:nvSpPr>
        <p:spPr>
          <a:xfrm>
            <a:off x="31089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Shape 169"/>
          <p:cNvSpPr/>
          <p:nvPr/>
        </p:nvSpPr>
        <p:spPr>
          <a:xfrm>
            <a:off x="33985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Shape 170"/>
          <p:cNvSpPr/>
          <p:nvPr/>
        </p:nvSpPr>
        <p:spPr>
          <a:xfrm>
            <a:off x="36880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Shape 171"/>
          <p:cNvSpPr/>
          <p:nvPr/>
        </p:nvSpPr>
        <p:spPr>
          <a:xfrm>
            <a:off x="39776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Shape 172"/>
          <p:cNvSpPr/>
          <p:nvPr/>
        </p:nvSpPr>
        <p:spPr>
          <a:xfrm>
            <a:off x="42672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Shape 173"/>
          <p:cNvSpPr/>
          <p:nvPr/>
        </p:nvSpPr>
        <p:spPr>
          <a:xfrm>
            <a:off x="45567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7" name="Shape 174"/>
          <p:cNvSpPr/>
          <p:nvPr/>
        </p:nvSpPr>
        <p:spPr>
          <a:xfrm>
            <a:off x="48463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Shape 175"/>
          <p:cNvSpPr/>
          <p:nvPr/>
        </p:nvSpPr>
        <p:spPr>
          <a:xfrm>
            <a:off x="513588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Shape 176"/>
          <p:cNvSpPr/>
          <p:nvPr/>
        </p:nvSpPr>
        <p:spPr>
          <a:xfrm>
            <a:off x="54254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Shape 177"/>
          <p:cNvSpPr/>
          <p:nvPr/>
        </p:nvSpPr>
        <p:spPr>
          <a:xfrm>
            <a:off x="57150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1" name="Shape 178"/>
          <p:cNvSpPr/>
          <p:nvPr/>
        </p:nvSpPr>
        <p:spPr>
          <a:xfrm>
            <a:off x="60045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Shape 179"/>
          <p:cNvSpPr/>
          <p:nvPr/>
        </p:nvSpPr>
        <p:spPr>
          <a:xfrm>
            <a:off x="62941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3" name="Shape 180"/>
          <p:cNvSpPr/>
          <p:nvPr/>
        </p:nvSpPr>
        <p:spPr>
          <a:xfrm>
            <a:off x="65836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Shape 181"/>
          <p:cNvSpPr/>
          <p:nvPr/>
        </p:nvSpPr>
        <p:spPr>
          <a:xfrm>
            <a:off x="687324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Shape 182"/>
          <p:cNvSpPr/>
          <p:nvPr/>
        </p:nvSpPr>
        <p:spPr>
          <a:xfrm>
            <a:off x="71628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Shape 183"/>
          <p:cNvSpPr/>
          <p:nvPr/>
        </p:nvSpPr>
        <p:spPr>
          <a:xfrm>
            <a:off x="74523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7" name="Shape 184"/>
          <p:cNvSpPr/>
          <p:nvPr/>
        </p:nvSpPr>
        <p:spPr>
          <a:xfrm>
            <a:off x="77419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Shape 185"/>
          <p:cNvSpPr/>
          <p:nvPr/>
        </p:nvSpPr>
        <p:spPr>
          <a:xfrm>
            <a:off x="80314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Shape 186"/>
          <p:cNvSpPr/>
          <p:nvPr/>
        </p:nvSpPr>
        <p:spPr>
          <a:xfrm>
            <a:off x="83210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Shape 187"/>
          <p:cNvSpPr/>
          <p:nvPr/>
        </p:nvSpPr>
        <p:spPr>
          <a:xfrm>
            <a:off x="8610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Shape 188"/>
          <p:cNvSpPr/>
          <p:nvPr/>
        </p:nvSpPr>
        <p:spPr>
          <a:xfrm>
            <a:off x="89001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Shape 189"/>
          <p:cNvSpPr/>
          <p:nvPr/>
        </p:nvSpPr>
        <p:spPr>
          <a:xfrm>
            <a:off x="91897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Shape 190"/>
          <p:cNvSpPr/>
          <p:nvPr/>
        </p:nvSpPr>
        <p:spPr>
          <a:xfrm>
            <a:off x="9479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Shape 191"/>
          <p:cNvSpPr/>
          <p:nvPr/>
        </p:nvSpPr>
        <p:spPr>
          <a:xfrm>
            <a:off x="9768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Text 192"/>
          <p:cNvSpPr/>
          <p:nvPr/>
        </p:nvSpPr>
        <p:spPr>
          <a:xfrm>
            <a:off x="45720" y="20848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750" dirty="0"/>
          </a:p>
        </p:txBody>
      </p:sp>
      <p:sp>
        <p:nvSpPr>
          <p:cNvPr id="196" name="Shape 193"/>
          <p:cNvSpPr/>
          <p:nvPr/>
        </p:nvSpPr>
        <p:spPr>
          <a:xfrm>
            <a:off x="1371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7" name="Shape 194"/>
          <p:cNvSpPr/>
          <p:nvPr/>
        </p:nvSpPr>
        <p:spPr>
          <a:xfrm>
            <a:off x="16611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Shape 195"/>
          <p:cNvSpPr/>
          <p:nvPr/>
        </p:nvSpPr>
        <p:spPr>
          <a:xfrm>
            <a:off x="19507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9" name="Shape 196"/>
          <p:cNvSpPr/>
          <p:nvPr/>
        </p:nvSpPr>
        <p:spPr>
          <a:xfrm>
            <a:off x="2240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Shape 197"/>
          <p:cNvSpPr/>
          <p:nvPr/>
        </p:nvSpPr>
        <p:spPr>
          <a:xfrm>
            <a:off x="2529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Shape 198"/>
          <p:cNvSpPr/>
          <p:nvPr/>
        </p:nvSpPr>
        <p:spPr>
          <a:xfrm>
            <a:off x="28194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Shape 199"/>
          <p:cNvSpPr/>
          <p:nvPr/>
        </p:nvSpPr>
        <p:spPr>
          <a:xfrm>
            <a:off x="31089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3" name="Shape 200"/>
          <p:cNvSpPr/>
          <p:nvPr/>
        </p:nvSpPr>
        <p:spPr>
          <a:xfrm>
            <a:off x="33985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Shape 201"/>
          <p:cNvSpPr/>
          <p:nvPr/>
        </p:nvSpPr>
        <p:spPr>
          <a:xfrm>
            <a:off x="36880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5" name="Shape 202"/>
          <p:cNvSpPr/>
          <p:nvPr/>
        </p:nvSpPr>
        <p:spPr>
          <a:xfrm>
            <a:off x="39776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Shape 203"/>
          <p:cNvSpPr/>
          <p:nvPr/>
        </p:nvSpPr>
        <p:spPr>
          <a:xfrm>
            <a:off x="42672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7" name="Shape 204"/>
          <p:cNvSpPr/>
          <p:nvPr/>
        </p:nvSpPr>
        <p:spPr>
          <a:xfrm>
            <a:off x="45567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8" name="Shape 205"/>
          <p:cNvSpPr/>
          <p:nvPr/>
        </p:nvSpPr>
        <p:spPr>
          <a:xfrm>
            <a:off x="48463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9" name="Shape 206"/>
          <p:cNvSpPr/>
          <p:nvPr/>
        </p:nvSpPr>
        <p:spPr>
          <a:xfrm>
            <a:off x="513588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Shape 207"/>
          <p:cNvSpPr/>
          <p:nvPr/>
        </p:nvSpPr>
        <p:spPr>
          <a:xfrm>
            <a:off x="54254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Shape 208"/>
          <p:cNvSpPr/>
          <p:nvPr/>
        </p:nvSpPr>
        <p:spPr>
          <a:xfrm>
            <a:off x="57150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2" name="Shape 209"/>
          <p:cNvSpPr/>
          <p:nvPr/>
        </p:nvSpPr>
        <p:spPr>
          <a:xfrm>
            <a:off x="60045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3" name="Shape 210"/>
          <p:cNvSpPr/>
          <p:nvPr/>
        </p:nvSpPr>
        <p:spPr>
          <a:xfrm>
            <a:off x="62941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Shape 211"/>
          <p:cNvSpPr/>
          <p:nvPr/>
        </p:nvSpPr>
        <p:spPr>
          <a:xfrm>
            <a:off x="65836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5" name="Shape 212"/>
          <p:cNvSpPr/>
          <p:nvPr/>
        </p:nvSpPr>
        <p:spPr>
          <a:xfrm>
            <a:off x="687324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6" name="Shape 213"/>
          <p:cNvSpPr/>
          <p:nvPr/>
        </p:nvSpPr>
        <p:spPr>
          <a:xfrm>
            <a:off x="71628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Shape 214"/>
          <p:cNvSpPr/>
          <p:nvPr/>
        </p:nvSpPr>
        <p:spPr>
          <a:xfrm>
            <a:off x="74523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8" name="Shape 215"/>
          <p:cNvSpPr/>
          <p:nvPr/>
        </p:nvSpPr>
        <p:spPr>
          <a:xfrm>
            <a:off x="77419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9" name="Shape 216"/>
          <p:cNvSpPr/>
          <p:nvPr/>
        </p:nvSpPr>
        <p:spPr>
          <a:xfrm>
            <a:off x="80314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Shape 217"/>
          <p:cNvSpPr/>
          <p:nvPr/>
        </p:nvSpPr>
        <p:spPr>
          <a:xfrm>
            <a:off x="83210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1" name="Shape 218"/>
          <p:cNvSpPr/>
          <p:nvPr/>
        </p:nvSpPr>
        <p:spPr>
          <a:xfrm>
            <a:off x="8610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Shape 219"/>
          <p:cNvSpPr/>
          <p:nvPr/>
        </p:nvSpPr>
        <p:spPr>
          <a:xfrm>
            <a:off x="89001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3" name="Shape 220"/>
          <p:cNvSpPr/>
          <p:nvPr/>
        </p:nvSpPr>
        <p:spPr>
          <a:xfrm>
            <a:off x="91897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4" name="Shape 221"/>
          <p:cNvSpPr/>
          <p:nvPr/>
        </p:nvSpPr>
        <p:spPr>
          <a:xfrm>
            <a:off x="9479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5" name="Shape 222"/>
          <p:cNvSpPr/>
          <p:nvPr/>
        </p:nvSpPr>
        <p:spPr>
          <a:xfrm>
            <a:off x="9768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Text 223"/>
          <p:cNvSpPr/>
          <p:nvPr/>
        </p:nvSpPr>
        <p:spPr>
          <a:xfrm>
            <a:off x="1371600" y="23682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endParaRPr lang="en-US" sz="800" dirty="0"/>
          </a:p>
        </p:txBody>
      </p:sp>
      <p:sp>
        <p:nvSpPr>
          <p:cNvPr id="227" name="Shape 224"/>
          <p:cNvSpPr/>
          <p:nvPr/>
        </p:nvSpPr>
        <p:spPr>
          <a:xfrm>
            <a:off x="1828800" y="2395728"/>
            <a:ext cx="164592" cy="14630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8" name="Text 225"/>
          <p:cNvSpPr/>
          <p:nvPr/>
        </p:nvSpPr>
        <p:spPr>
          <a:xfrm>
            <a:off x="202996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100% Target Achieved</a:t>
            </a:r>
            <a:endParaRPr lang="en-US" sz="800" dirty="0"/>
          </a:p>
        </p:txBody>
      </p:sp>
      <p:sp>
        <p:nvSpPr>
          <p:cNvPr id="229" name="Shape 226"/>
          <p:cNvSpPr/>
          <p:nvPr/>
        </p:nvSpPr>
        <p:spPr>
          <a:xfrm>
            <a:off x="3840480" y="2395728"/>
            <a:ext cx="16459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" name="Text 227"/>
          <p:cNvSpPr/>
          <p:nvPr/>
        </p:nvSpPr>
        <p:spPr>
          <a:xfrm>
            <a:off x="404164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95–99% Target Achieved</a:t>
            </a:r>
            <a:endParaRPr lang="en-US" sz="800" dirty="0"/>
          </a:p>
        </p:txBody>
      </p:sp>
      <p:sp>
        <p:nvSpPr>
          <p:cNvPr id="231" name="Shape 228"/>
          <p:cNvSpPr/>
          <p:nvPr/>
        </p:nvSpPr>
        <p:spPr>
          <a:xfrm>
            <a:off x="5852160" y="2395728"/>
            <a:ext cx="164592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" name="Text 229"/>
          <p:cNvSpPr/>
          <p:nvPr/>
        </p:nvSpPr>
        <p:spPr>
          <a:xfrm>
            <a:off x="605332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&lt;95% Target Achieved</a:t>
            </a:r>
            <a:endParaRPr lang="en-US" sz="800" dirty="0"/>
          </a:p>
        </p:txBody>
      </p:sp>
      <p:sp>
        <p:nvSpPr>
          <p:cNvPr id="233" name="Shape 230"/>
          <p:cNvSpPr/>
          <p:nvPr/>
        </p:nvSpPr>
        <p:spPr>
          <a:xfrm>
            <a:off x="7863840" y="2395728"/>
            <a:ext cx="164592" cy="14630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Text 231"/>
          <p:cNvSpPr/>
          <p:nvPr/>
        </p:nvSpPr>
        <p:spPr>
          <a:xfrm>
            <a:off x="806500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Weekend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1371600" y="2642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Trend</a:t>
            </a:r>
            <a:endParaRPr lang="en-US" sz="1100" dirty="0"/>
          </a:p>
        </p:txBody>
      </p:sp>
      <p:graphicFrame>
        <p:nvGraphicFramePr>
          <p:cNvPr id="236" name="Chart 0"/>
          <p:cNvGraphicFramePr/>
          <p:nvPr/>
        </p:nvGraphicFramePr>
        <p:xfrm>
          <a:off x="1371600" y="2916936"/>
          <a:ext cx="5029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7" name="Text 233"/>
          <p:cNvSpPr/>
          <p:nvPr/>
        </p:nvSpPr>
        <p:spPr>
          <a:xfrm>
            <a:off x="6583680" y="26426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Summary</a:t>
            </a:r>
            <a:endParaRPr lang="en-US" sz="1100" dirty="0"/>
          </a:p>
        </p:txBody>
      </p:sp>
      <p:graphicFrame>
        <p:nvGraphicFramePr>
          <p:cNvPr id="2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916936"/>
          <a:ext cx="4389120" cy="1447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Jun-26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In-Full (OTIF)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Adherence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 Jobs &gt; 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 vs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" name="Shape 234"/>
          <p:cNvSpPr/>
          <p:nvPr/>
        </p:nvSpPr>
        <p:spPr>
          <a:xfrm>
            <a:off x="45720" y="4636008"/>
            <a:ext cx="12054535" cy="27432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" name="Text 235"/>
          <p:cNvSpPr/>
          <p:nvPr/>
        </p:nvSpPr>
        <p:spPr>
          <a:xfrm>
            <a:off x="182880" y="4636008"/>
            <a:ext cx="11825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 — Delivery  |  JUNE 2026</a:t>
            </a:r>
            <a:endParaRPr lang="en-US" sz="1100" dirty="0"/>
          </a:p>
        </p:txBody>
      </p:sp>
      <p:graphicFrame>
        <p:nvGraphicFramePr>
          <p:cNvPr id="2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" y="4928616"/>
          <a:ext cx="10972800" cy="1104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Countermeasure /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71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Rectangle 24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245" name="Rectangle 24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73152" y="457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3152" y="45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4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— Daily Performance  |  NucCol Fit For Nuclear Programme  |  JUNE 2026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658368"/>
            <a:ext cx="8686800" cy="237744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71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1661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1950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240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4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2529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5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28194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6</a:t>
            </a:r>
            <a:endParaRPr lang="en-US" sz="550" dirty="0"/>
          </a:p>
        </p:txBody>
      </p:sp>
      <p:sp>
        <p:nvSpPr>
          <p:cNvPr id="15" name="Text 12"/>
          <p:cNvSpPr/>
          <p:nvPr/>
        </p:nvSpPr>
        <p:spPr>
          <a:xfrm>
            <a:off x="31089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7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33985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8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36880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9</a:t>
            </a:r>
            <a:endParaRPr lang="en-US" sz="550" dirty="0"/>
          </a:p>
        </p:txBody>
      </p:sp>
      <p:sp>
        <p:nvSpPr>
          <p:cNvPr id="18" name="Text 15"/>
          <p:cNvSpPr/>
          <p:nvPr/>
        </p:nvSpPr>
        <p:spPr>
          <a:xfrm>
            <a:off x="39776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10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42672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11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5567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12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48463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13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1358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14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54254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15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57150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16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60045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17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62941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18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65836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19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8732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20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71628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74523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22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77419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23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80314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24</a:t>
            </a: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83210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25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861060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26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890016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27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918972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1C40F"/>
                </a:solidFill>
              </a:rPr>
              <a:t>28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947928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29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9768840" y="658368"/>
            <a:ext cx="28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</a:rPr>
              <a:t>30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45720" y="6583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720" y="8961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371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16611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19507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2240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2529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28194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4"/>
          <p:cNvSpPr/>
          <p:nvPr/>
        </p:nvSpPr>
        <p:spPr>
          <a:xfrm>
            <a:off x="31089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33985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36880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7"/>
          <p:cNvSpPr/>
          <p:nvPr/>
        </p:nvSpPr>
        <p:spPr>
          <a:xfrm>
            <a:off x="39776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42672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49"/>
          <p:cNvSpPr/>
          <p:nvPr/>
        </p:nvSpPr>
        <p:spPr>
          <a:xfrm>
            <a:off x="45567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48463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513588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2"/>
          <p:cNvSpPr/>
          <p:nvPr/>
        </p:nvSpPr>
        <p:spPr>
          <a:xfrm>
            <a:off x="54254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3"/>
          <p:cNvSpPr/>
          <p:nvPr/>
        </p:nvSpPr>
        <p:spPr>
          <a:xfrm>
            <a:off x="57150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60045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5"/>
          <p:cNvSpPr/>
          <p:nvPr/>
        </p:nvSpPr>
        <p:spPr>
          <a:xfrm>
            <a:off x="62941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6"/>
          <p:cNvSpPr/>
          <p:nvPr/>
        </p:nvSpPr>
        <p:spPr>
          <a:xfrm>
            <a:off x="65836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687324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716280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59"/>
          <p:cNvSpPr/>
          <p:nvPr/>
        </p:nvSpPr>
        <p:spPr>
          <a:xfrm>
            <a:off x="745236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774192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1"/>
          <p:cNvSpPr/>
          <p:nvPr/>
        </p:nvSpPr>
        <p:spPr>
          <a:xfrm>
            <a:off x="80314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83210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3"/>
          <p:cNvSpPr/>
          <p:nvPr/>
        </p:nvSpPr>
        <p:spPr>
          <a:xfrm>
            <a:off x="861060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890016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5"/>
          <p:cNvSpPr/>
          <p:nvPr/>
        </p:nvSpPr>
        <p:spPr>
          <a:xfrm>
            <a:off x="9189720" y="89611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947928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7"/>
          <p:cNvSpPr/>
          <p:nvPr/>
        </p:nvSpPr>
        <p:spPr>
          <a:xfrm>
            <a:off x="9768840" y="89611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8"/>
          <p:cNvSpPr/>
          <p:nvPr/>
        </p:nvSpPr>
        <p:spPr>
          <a:xfrm>
            <a:off x="45720" y="113385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Gundrill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1371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16611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1"/>
          <p:cNvSpPr/>
          <p:nvPr/>
        </p:nvSpPr>
        <p:spPr>
          <a:xfrm>
            <a:off x="19507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40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3"/>
          <p:cNvSpPr/>
          <p:nvPr/>
        </p:nvSpPr>
        <p:spPr>
          <a:xfrm>
            <a:off x="2529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4"/>
          <p:cNvSpPr/>
          <p:nvPr/>
        </p:nvSpPr>
        <p:spPr>
          <a:xfrm>
            <a:off x="28194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5"/>
          <p:cNvSpPr/>
          <p:nvPr/>
        </p:nvSpPr>
        <p:spPr>
          <a:xfrm>
            <a:off x="31089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33985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7"/>
          <p:cNvSpPr/>
          <p:nvPr/>
        </p:nvSpPr>
        <p:spPr>
          <a:xfrm>
            <a:off x="36880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8"/>
          <p:cNvSpPr/>
          <p:nvPr/>
        </p:nvSpPr>
        <p:spPr>
          <a:xfrm>
            <a:off x="39776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79"/>
          <p:cNvSpPr/>
          <p:nvPr/>
        </p:nvSpPr>
        <p:spPr>
          <a:xfrm>
            <a:off x="42672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45567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1"/>
          <p:cNvSpPr/>
          <p:nvPr/>
        </p:nvSpPr>
        <p:spPr>
          <a:xfrm>
            <a:off x="48463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13588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83"/>
          <p:cNvSpPr/>
          <p:nvPr/>
        </p:nvSpPr>
        <p:spPr>
          <a:xfrm>
            <a:off x="54254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7150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5"/>
          <p:cNvSpPr/>
          <p:nvPr/>
        </p:nvSpPr>
        <p:spPr>
          <a:xfrm>
            <a:off x="60045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62941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87"/>
          <p:cNvSpPr/>
          <p:nvPr/>
        </p:nvSpPr>
        <p:spPr>
          <a:xfrm>
            <a:off x="65836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8"/>
          <p:cNvSpPr/>
          <p:nvPr/>
        </p:nvSpPr>
        <p:spPr>
          <a:xfrm>
            <a:off x="687324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89"/>
          <p:cNvSpPr/>
          <p:nvPr/>
        </p:nvSpPr>
        <p:spPr>
          <a:xfrm>
            <a:off x="716280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745236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Shape 91"/>
          <p:cNvSpPr/>
          <p:nvPr/>
        </p:nvSpPr>
        <p:spPr>
          <a:xfrm>
            <a:off x="774192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2"/>
          <p:cNvSpPr/>
          <p:nvPr/>
        </p:nvSpPr>
        <p:spPr>
          <a:xfrm>
            <a:off x="80314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Shape 93"/>
          <p:cNvSpPr/>
          <p:nvPr/>
        </p:nvSpPr>
        <p:spPr>
          <a:xfrm>
            <a:off x="83210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1060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5"/>
          <p:cNvSpPr/>
          <p:nvPr/>
        </p:nvSpPr>
        <p:spPr>
          <a:xfrm>
            <a:off x="890016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6"/>
          <p:cNvSpPr/>
          <p:nvPr/>
        </p:nvSpPr>
        <p:spPr>
          <a:xfrm>
            <a:off x="9189720" y="1133856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7"/>
          <p:cNvSpPr/>
          <p:nvPr/>
        </p:nvSpPr>
        <p:spPr>
          <a:xfrm>
            <a:off x="947928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9768840" y="1133856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/>
          <p:nvPr/>
        </p:nvSpPr>
        <p:spPr>
          <a:xfrm>
            <a:off x="45720" y="137160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Honing</a:t>
            </a:r>
            <a:endParaRPr lang="en-US" sz="750" dirty="0"/>
          </a:p>
        </p:txBody>
      </p:sp>
      <p:sp>
        <p:nvSpPr>
          <p:cNvPr id="103" name="Shape 100"/>
          <p:cNvSpPr/>
          <p:nvPr/>
        </p:nvSpPr>
        <p:spPr>
          <a:xfrm>
            <a:off x="1371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1"/>
          <p:cNvSpPr/>
          <p:nvPr/>
        </p:nvSpPr>
        <p:spPr>
          <a:xfrm>
            <a:off x="16611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19507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103"/>
          <p:cNvSpPr/>
          <p:nvPr/>
        </p:nvSpPr>
        <p:spPr>
          <a:xfrm>
            <a:off x="2240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2529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5"/>
          <p:cNvSpPr/>
          <p:nvPr/>
        </p:nvSpPr>
        <p:spPr>
          <a:xfrm>
            <a:off x="28194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31089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7"/>
          <p:cNvSpPr/>
          <p:nvPr/>
        </p:nvSpPr>
        <p:spPr>
          <a:xfrm>
            <a:off x="33985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36880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109"/>
          <p:cNvSpPr/>
          <p:nvPr/>
        </p:nvSpPr>
        <p:spPr>
          <a:xfrm>
            <a:off x="39776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0"/>
          <p:cNvSpPr/>
          <p:nvPr/>
        </p:nvSpPr>
        <p:spPr>
          <a:xfrm>
            <a:off x="42672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1"/>
          <p:cNvSpPr/>
          <p:nvPr/>
        </p:nvSpPr>
        <p:spPr>
          <a:xfrm>
            <a:off x="45567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2"/>
          <p:cNvSpPr/>
          <p:nvPr/>
        </p:nvSpPr>
        <p:spPr>
          <a:xfrm>
            <a:off x="48463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3"/>
          <p:cNvSpPr/>
          <p:nvPr/>
        </p:nvSpPr>
        <p:spPr>
          <a:xfrm>
            <a:off x="513588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Shape 114"/>
          <p:cNvSpPr/>
          <p:nvPr/>
        </p:nvSpPr>
        <p:spPr>
          <a:xfrm>
            <a:off x="54254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8" name="Shape 115"/>
          <p:cNvSpPr/>
          <p:nvPr/>
        </p:nvSpPr>
        <p:spPr>
          <a:xfrm>
            <a:off x="57150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Shape 116"/>
          <p:cNvSpPr/>
          <p:nvPr/>
        </p:nvSpPr>
        <p:spPr>
          <a:xfrm>
            <a:off x="60045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0" name="Shape 117"/>
          <p:cNvSpPr/>
          <p:nvPr/>
        </p:nvSpPr>
        <p:spPr>
          <a:xfrm>
            <a:off x="62941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Shape 118"/>
          <p:cNvSpPr/>
          <p:nvPr/>
        </p:nvSpPr>
        <p:spPr>
          <a:xfrm>
            <a:off x="65836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2" name="Shape 119"/>
          <p:cNvSpPr/>
          <p:nvPr/>
        </p:nvSpPr>
        <p:spPr>
          <a:xfrm>
            <a:off x="687324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3" name="Shape 120"/>
          <p:cNvSpPr/>
          <p:nvPr/>
        </p:nvSpPr>
        <p:spPr>
          <a:xfrm>
            <a:off x="716280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4" name="Shape 121"/>
          <p:cNvSpPr/>
          <p:nvPr/>
        </p:nvSpPr>
        <p:spPr>
          <a:xfrm>
            <a:off x="745236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5" name="Shape 122"/>
          <p:cNvSpPr/>
          <p:nvPr/>
        </p:nvSpPr>
        <p:spPr>
          <a:xfrm>
            <a:off x="774192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6" name="Shape 123"/>
          <p:cNvSpPr/>
          <p:nvPr/>
        </p:nvSpPr>
        <p:spPr>
          <a:xfrm>
            <a:off x="80314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7" name="Shape 124"/>
          <p:cNvSpPr/>
          <p:nvPr/>
        </p:nvSpPr>
        <p:spPr>
          <a:xfrm>
            <a:off x="83210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8" name="Shape 125"/>
          <p:cNvSpPr/>
          <p:nvPr/>
        </p:nvSpPr>
        <p:spPr>
          <a:xfrm>
            <a:off x="861060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9" name="Shape 126"/>
          <p:cNvSpPr/>
          <p:nvPr/>
        </p:nvSpPr>
        <p:spPr>
          <a:xfrm>
            <a:off x="890016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0" name="Shape 127"/>
          <p:cNvSpPr/>
          <p:nvPr/>
        </p:nvSpPr>
        <p:spPr>
          <a:xfrm>
            <a:off x="9189720" y="1371600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1" name="Shape 128"/>
          <p:cNvSpPr/>
          <p:nvPr/>
        </p:nvSpPr>
        <p:spPr>
          <a:xfrm>
            <a:off x="947928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2" name="Shape 129"/>
          <p:cNvSpPr/>
          <p:nvPr/>
        </p:nvSpPr>
        <p:spPr>
          <a:xfrm>
            <a:off x="9768840" y="1371600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3" name="Text 130"/>
          <p:cNvSpPr/>
          <p:nvPr/>
        </p:nvSpPr>
        <p:spPr>
          <a:xfrm>
            <a:off x="45720" y="160934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750" dirty="0"/>
          </a:p>
        </p:txBody>
      </p:sp>
      <p:sp>
        <p:nvSpPr>
          <p:cNvPr id="134" name="Shape 131"/>
          <p:cNvSpPr/>
          <p:nvPr/>
        </p:nvSpPr>
        <p:spPr>
          <a:xfrm>
            <a:off x="1371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5" name="Shape 132"/>
          <p:cNvSpPr/>
          <p:nvPr/>
        </p:nvSpPr>
        <p:spPr>
          <a:xfrm>
            <a:off x="16611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6" name="Shape 133"/>
          <p:cNvSpPr/>
          <p:nvPr/>
        </p:nvSpPr>
        <p:spPr>
          <a:xfrm>
            <a:off x="19507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Shape 134"/>
          <p:cNvSpPr/>
          <p:nvPr/>
        </p:nvSpPr>
        <p:spPr>
          <a:xfrm>
            <a:off x="2240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8" name="Shape 135"/>
          <p:cNvSpPr/>
          <p:nvPr/>
        </p:nvSpPr>
        <p:spPr>
          <a:xfrm>
            <a:off x="2529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9" name="Shape 136"/>
          <p:cNvSpPr/>
          <p:nvPr/>
        </p:nvSpPr>
        <p:spPr>
          <a:xfrm>
            <a:off x="28194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0" name="Shape 137"/>
          <p:cNvSpPr/>
          <p:nvPr/>
        </p:nvSpPr>
        <p:spPr>
          <a:xfrm>
            <a:off x="31089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1" name="Shape 138"/>
          <p:cNvSpPr/>
          <p:nvPr/>
        </p:nvSpPr>
        <p:spPr>
          <a:xfrm>
            <a:off x="33985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2" name="Shape 139"/>
          <p:cNvSpPr/>
          <p:nvPr/>
        </p:nvSpPr>
        <p:spPr>
          <a:xfrm>
            <a:off x="36880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3" name="Shape 140"/>
          <p:cNvSpPr/>
          <p:nvPr/>
        </p:nvSpPr>
        <p:spPr>
          <a:xfrm>
            <a:off x="39776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4" name="Shape 141"/>
          <p:cNvSpPr/>
          <p:nvPr/>
        </p:nvSpPr>
        <p:spPr>
          <a:xfrm>
            <a:off x="42672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5" name="Shape 142"/>
          <p:cNvSpPr/>
          <p:nvPr/>
        </p:nvSpPr>
        <p:spPr>
          <a:xfrm>
            <a:off x="45567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6" name="Shape 143"/>
          <p:cNvSpPr/>
          <p:nvPr/>
        </p:nvSpPr>
        <p:spPr>
          <a:xfrm>
            <a:off x="48463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7" name="Shape 144"/>
          <p:cNvSpPr/>
          <p:nvPr/>
        </p:nvSpPr>
        <p:spPr>
          <a:xfrm>
            <a:off x="513588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8" name="Shape 145"/>
          <p:cNvSpPr/>
          <p:nvPr/>
        </p:nvSpPr>
        <p:spPr>
          <a:xfrm>
            <a:off x="54254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9" name="Shape 146"/>
          <p:cNvSpPr/>
          <p:nvPr/>
        </p:nvSpPr>
        <p:spPr>
          <a:xfrm>
            <a:off x="57150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0" name="Shape 147"/>
          <p:cNvSpPr/>
          <p:nvPr/>
        </p:nvSpPr>
        <p:spPr>
          <a:xfrm>
            <a:off x="60045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1" name="Shape 148"/>
          <p:cNvSpPr/>
          <p:nvPr/>
        </p:nvSpPr>
        <p:spPr>
          <a:xfrm>
            <a:off x="62941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Shape 149"/>
          <p:cNvSpPr/>
          <p:nvPr/>
        </p:nvSpPr>
        <p:spPr>
          <a:xfrm>
            <a:off x="65836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3" name="Shape 150"/>
          <p:cNvSpPr/>
          <p:nvPr/>
        </p:nvSpPr>
        <p:spPr>
          <a:xfrm>
            <a:off x="687324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hape 151"/>
          <p:cNvSpPr/>
          <p:nvPr/>
        </p:nvSpPr>
        <p:spPr>
          <a:xfrm>
            <a:off x="716280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Shape 152"/>
          <p:cNvSpPr/>
          <p:nvPr/>
        </p:nvSpPr>
        <p:spPr>
          <a:xfrm>
            <a:off x="745236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hape 153"/>
          <p:cNvSpPr/>
          <p:nvPr/>
        </p:nvSpPr>
        <p:spPr>
          <a:xfrm>
            <a:off x="774192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7" name="Shape 154"/>
          <p:cNvSpPr/>
          <p:nvPr/>
        </p:nvSpPr>
        <p:spPr>
          <a:xfrm>
            <a:off x="80314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8" name="Shape 155"/>
          <p:cNvSpPr/>
          <p:nvPr/>
        </p:nvSpPr>
        <p:spPr>
          <a:xfrm>
            <a:off x="83210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9" name="Shape 156"/>
          <p:cNvSpPr/>
          <p:nvPr/>
        </p:nvSpPr>
        <p:spPr>
          <a:xfrm>
            <a:off x="861060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0" name="Shape 157"/>
          <p:cNvSpPr/>
          <p:nvPr/>
        </p:nvSpPr>
        <p:spPr>
          <a:xfrm>
            <a:off x="890016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1" name="Shape 158"/>
          <p:cNvSpPr/>
          <p:nvPr/>
        </p:nvSpPr>
        <p:spPr>
          <a:xfrm>
            <a:off x="9189720" y="1609344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2" name="Shape 159"/>
          <p:cNvSpPr/>
          <p:nvPr/>
        </p:nvSpPr>
        <p:spPr>
          <a:xfrm>
            <a:off x="947928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3" name="Shape 160"/>
          <p:cNvSpPr/>
          <p:nvPr/>
        </p:nvSpPr>
        <p:spPr>
          <a:xfrm>
            <a:off x="9768840" y="1609344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Text 161"/>
          <p:cNvSpPr/>
          <p:nvPr/>
        </p:nvSpPr>
        <p:spPr>
          <a:xfrm>
            <a:off x="45720" y="18470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</a:t>
            </a:r>
            <a:endParaRPr lang="en-US" sz="750" dirty="0"/>
          </a:p>
        </p:txBody>
      </p:sp>
      <p:sp>
        <p:nvSpPr>
          <p:cNvPr id="165" name="Shape 162"/>
          <p:cNvSpPr/>
          <p:nvPr/>
        </p:nvSpPr>
        <p:spPr>
          <a:xfrm>
            <a:off x="1371600" y="1847088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6" name="Shape 163"/>
          <p:cNvSpPr/>
          <p:nvPr/>
        </p:nvSpPr>
        <p:spPr>
          <a:xfrm>
            <a:off x="1661160" y="1847088"/>
            <a:ext cx="282245" cy="228600"/>
          </a:xfrm>
          <a:prstGeom prst="rect">
            <a:avLst/>
          </a:prstGeom>
          <a:solidFill>
            <a:srgbClr val="F39C12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7" name="Shape 164"/>
          <p:cNvSpPr/>
          <p:nvPr/>
        </p:nvSpPr>
        <p:spPr>
          <a:xfrm>
            <a:off x="19507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8" name="Shape 165"/>
          <p:cNvSpPr/>
          <p:nvPr/>
        </p:nvSpPr>
        <p:spPr>
          <a:xfrm>
            <a:off x="2240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9" name="Shape 166"/>
          <p:cNvSpPr/>
          <p:nvPr/>
        </p:nvSpPr>
        <p:spPr>
          <a:xfrm>
            <a:off x="2529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0" name="Shape 167"/>
          <p:cNvSpPr/>
          <p:nvPr/>
        </p:nvSpPr>
        <p:spPr>
          <a:xfrm>
            <a:off x="28194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1" name="Shape 168"/>
          <p:cNvSpPr/>
          <p:nvPr/>
        </p:nvSpPr>
        <p:spPr>
          <a:xfrm>
            <a:off x="31089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2" name="Shape 169"/>
          <p:cNvSpPr/>
          <p:nvPr/>
        </p:nvSpPr>
        <p:spPr>
          <a:xfrm>
            <a:off x="33985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3" name="Shape 170"/>
          <p:cNvSpPr/>
          <p:nvPr/>
        </p:nvSpPr>
        <p:spPr>
          <a:xfrm>
            <a:off x="36880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4" name="Shape 171"/>
          <p:cNvSpPr/>
          <p:nvPr/>
        </p:nvSpPr>
        <p:spPr>
          <a:xfrm>
            <a:off x="39776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5" name="Shape 172"/>
          <p:cNvSpPr/>
          <p:nvPr/>
        </p:nvSpPr>
        <p:spPr>
          <a:xfrm>
            <a:off x="42672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6" name="Shape 173"/>
          <p:cNvSpPr/>
          <p:nvPr/>
        </p:nvSpPr>
        <p:spPr>
          <a:xfrm>
            <a:off x="45567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7" name="Shape 174"/>
          <p:cNvSpPr/>
          <p:nvPr/>
        </p:nvSpPr>
        <p:spPr>
          <a:xfrm>
            <a:off x="48463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8" name="Shape 175"/>
          <p:cNvSpPr/>
          <p:nvPr/>
        </p:nvSpPr>
        <p:spPr>
          <a:xfrm>
            <a:off x="513588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9" name="Shape 176"/>
          <p:cNvSpPr/>
          <p:nvPr/>
        </p:nvSpPr>
        <p:spPr>
          <a:xfrm>
            <a:off x="54254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0" name="Shape 177"/>
          <p:cNvSpPr/>
          <p:nvPr/>
        </p:nvSpPr>
        <p:spPr>
          <a:xfrm>
            <a:off x="57150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1" name="Shape 178"/>
          <p:cNvSpPr/>
          <p:nvPr/>
        </p:nvSpPr>
        <p:spPr>
          <a:xfrm>
            <a:off x="60045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2" name="Shape 179"/>
          <p:cNvSpPr/>
          <p:nvPr/>
        </p:nvSpPr>
        <p:spPr>
          <a:xfrm>
            <a:off x="62941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3" name="Shape 180"/>
          <p:cNvSpPr/>
          <p:nvPr/>
        </p:nvSpPr>
        <p:spPr>
          <a:xfrm>
            <a:off x="65836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4" name="Shape 181"/>
          <p:cNvSpPr/>
          <p:nvPr/>
        </p:nvSpPr>
        <p:spPr>
          <a:xfrm>
            <a:off x="687324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5" name="Shape 182"/>
          <p:cNvSpPr/>
          <p:nvPr/>
        </p:nvSpPr>
        <p:spPr>
          <a:xfrm>
            <a:off x="716280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6" name="Shape 183"/>
          <p:cNvSpPr/>
          <p:nvPr/>
        </p:nvSpPr>
        <p:spPr>
          <a:xfrm>
            <a:off x="745236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7" name="Shape 184"/>
          <p:cNvSpPr/>
          <p:nvPr/>
        </p:nvSpPr>
        <p:spPr>
          <a:xfrm>
            <a:off x="774192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8" name="Shape 185"/>
          <p:cNvSpPr/>
          <p:nvPr/>
        </p:nvSpPr>
        <p:spPr>
          <a:xfrm>
            <a:off x="80314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9" name="Shape 186"/>
          <p:cNvSpPr/>
          <p:nvPr/>
        </p:nvSpPr>
        <p:spPr>
          <a:xfrm>
            <a:off x="83210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0" name="Shape 187"/>
          <p:cNvSpPr/>
          <p:nvPr/>
        </p:nvSpPr>
        <p:spPr>
          <a:xfrm>
            <a:off x="861060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Shape 188"/>
          <p:cNvSpPr/>
          <p:nvPr/>
        </p:nvSpPr>
        <p:spPr>
          <a:xfrm>
            <a:off x="890016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2" name="Shape 189"/>
          <p:cNvSpPr/>
          <p:nvPr/>
        </p:nvSpPr>
        <p:spPr>
          <a:xfrm>
            <a:off x="9189720" y="1847088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3" name="Shape 190"/>
          <p:cNvSpPr/>
          <p:nvPr/>
        </p:nvSpPr>
        <p:spPr>
          <a:xfrm>
            <a:off x="947928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4" name="Shape 191"/>
          <p:cNvSpPr/>
          <p:nvPr/>
        </p:nvSpPr>
        <p:spPr>
          <a:xfrm>
            <a:off x="9768840" y="1847088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5" name="Text 192"/>
          <p:cNvSpPr/>
          <p:nvPr/>
        </p:nvSpPr>
        <p:spPr>
          <a:xfrm>
            <a:off x="45720" y="20848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750" dirty="0"/>
          </a:p>
        </p:txBody>
      </p:sp>
      <p:sp>
        <p:nvSpPr>
          <p:cNvPr id="196" name="Shape 193"/>
          <p:cNvSpPr/>
          <p:nvPr/>
        </p:nvSpPr>
        <p:spPr>
          <a:xfrm>
            <a:off x="1371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7" name="Shape 194"/>
          <p:cNvSpPr/>
          <p:nvPr/>
        </p:nvSpPr>
        <p:spPr>
          <a:xfrm>
            <a:off x="16611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8" name="Shape 195"/>
          <p:cNvSpPr/>
          <p:nvPr/>
        </p:nvSpPr>
        <p:spPr>
          <a:xfrm>
            <a:off x="19507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9" name="Shape 196"/>
          <p:cNvSpPr/>
          <p:nvPr/>
        </p:nvSpPr>
        <p:spPr>
          <a:xfrm>
            <a:off x="2240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0" name="Shape 197"/>
          <p:cNvSpPr/>
          <p:nvPr/>
        </p:nvSpPr>
        <p:spPr>
          <a:xfrm>
            <a:off x="2529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1" name="Shape 198"/>
          <p:cNvSpPr/>
          <p:nvPr/>
        </p:nvSpPr>
        <p:spPr>
          <a:xfrm>
            <a:off x="28194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2" name="Shape 199"/>
          <p:cNvSpPr/>
          <p:nvPr/>
        </p:nvSpPr>
        <p:spPr>
          <a:xfrm>
            <a:off x="31089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3" name="Shape 200"/>
          <p:cNvSpPr/>
          <p:nvPr/>
        </p:nvSpPr>
        <p:spPr>
          <a:xfrm>
            <a:off x="33985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4" name="Shape 201"/>
          <p:cNvSpPr/>
          <p:nvPr/>
        </p:nvSpPr>
        <p:spPr>
          <a:xfrm>
            <a:off x="36880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5" name="Shape 202"/>
          <p:cNvSpPr/>
          <p:nvPr/>
        </p:nvSpPr>
        <p:spPr>
          <a:xfrm>
            <a:off x="39776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6" name="Shape 203"/>
          <p:cNvSpPr/>
          <p:nvPr/>
        </p:nvSpPr>
        <p:spPr>
          <a:xfrm>
            <a:off x="42672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7" name="Shape 204"/>
          <p:cNvSpPr/>
          <p:nvPr/>
        </p:nvSpPr>
        <p:spPr>
          <a:xfrm>
            <a:off x="45567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8" name="Shape 205"/>
          <p:cNvSpPr/>
          <p:nvPr/>
        </p:nvSpPr>
        <p:spPr>
          <a:xfrm>
            <a:off x="48463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9" name="Shape 206"/>
          <p:cNvSpPr/>
          <p:nvPr/>
        </p:nvSpPr>
        <p:spPr>
          <a:xfrm>
            <a:off x="513588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0" name="Shape 207"/>
          <p:cNvSpPr/>
          <p:nvPr/>
        </p:nvSpPr>
        <p:spPr>
          <a:xfrm>
            <a:off x="54254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1" name="Shape 208"/>
          <p:cNvSpPr/>
          <p:nvPr/>
        </p:nvSpPr>
        <p:spPr>
          <a:xfrm>
            <a:off x="57150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2" name="Shape 209"/>
          <p:cNvSpPr/>
          <p:nvPr/>
        </p:nvSpPr>
        <p:spPr>
          <a:xfrm>
            <a:off x="60045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3" name="Shape 210"/>
          <p:cNvSpPr/>
          <p:nvPr/>
        </p:nvSpPr>
        <p:spPr>
          <a:xfrm>
            <a:off x="62941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4" name="Shape 211"/>
          <p:cNvSpPr/>
          <p:nvPr/>
        </p:nvSpPr>
        <p:spPr>
          <a:xfrm>
            <a:off x="65836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5" name="Shape 212"/>
          <p:cNvSpPr/>
          <p:nvPr/>
        </p:nvSpPr>
        <p:spPr>
          <a:xfrm>
            <a:off x="687324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6" name="Shape 213"/>
          <p:cNvSpPr/>
          <p:nvPr/>
        </p:nvSpPr>
        <p:spPr>
          <a:xfrm>
            <a:off x="716280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7" name="Shape 214"/>
          <p:cNvSpPr/>
          <p:nvPr/>
        </p:nvSpPr>
        <p:spPr>
          <a:xfrm>
            <a:off x="745236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8" name="Shape 215"/>
          <p:cNvSpPr/>
          <p:nvPr/>
        </p:nvSpPr>
        <p:spPr>
          <a:xfrm>
            <a:off x="774192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9" name="Shape 216"/>
          <p:cNvSpPr/>
          <p:nvPr/>
        </p:nvSpPr>
        <p:spPr>
          <a:xfrm>
            <a:off x="80314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0" name="Shape 217"/>
          <p:cNvSpPr/>
          <p:nvPr/>
        </p:nvSpPr>
        <p:spPr>
          <a:xfrm>
            <a:off x="83210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1" name="Shape 218"/>
          <p:cNvSpPr/>
          <p:nvPr/>
        </p:nvSpPr>
        <p:spPr>
          <a:xfrm>
            <a:off x="861060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2" name="Shape 219"/>
          <p:cNvSpPr/>
          <p:nvPr/>
        </p:nvSpPr>
        <p:spPr>
          <a:xfrm>
            <a:off x="890016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3" name="Shape 220"/>
          <p:cNvSpPr/>
          <p:nvPr/>
        </p:nvSpPr>
        <p:spPr>
          <a:xfrm>
            <a:off x="9189720" y="2084832"/>
            <a:ext cx="282245" cy="228600"/>
          </a:xfrm>
          <a:prstGeom prst="rect">
            <a:avLst/>
          </a:prstGeom>
          <a:solidFill>
            <a:srgbClr val="F1C40F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4" name="Shape 221"/>
          <p:cNvSpPr/>
          <p:nvPr/>
        </p:nvSpPr>
        <p:spPr>
          <a:xfrm>
            <a:off x="947928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5" name="Shape 222"/>
          <p:cNvSpPr/>
          <p:nvPr/>
        </p:nvSpPr>
        <p:spPr>
          <a:xfrm>
            <a:off x="9768840" y="2084832"/>
            <a:ext cx="282245" cy="228600"/>
          </a:xfrm>
          <a:prstGeom prst="rect">
            <a:avLst/>
          </a:prstGeom>
          <a:solidFill>
            <a:srgbClr val="2ECC71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6" name="Text 223"/>
          <p:cNvSpPr/>
          <p:nvPr/>
        </p:nvSpPr>
        <p:spPr>
          <a:xfrm>
            <a:off x="1371600" y="23682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</a:t>
            </a:r>
            <a:endParaRPr lang="en-US" sz="800" dirty="0"/>
          </a:p>
        </p:txBody>
      </p:sp>
      <p:sp>
        <p:nvSpPr>
          <p:cNvPr id="227" name="Shape 224"/>
          <p:cNvSpPr/>
          <p:nvPr/>
        </p:nvSpPr>
        <p:spPr>
          <a:xfrm>
            <a:off x="1828800" y="2395728"/>
            <a:ext cx="164592" cy="14630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8" name="Text 225"/>
          <p:cNvSpPr/>
          <p:nvPr/>
        </p:nvSpPr>
        <p:spPr>
          <a:xfrm>
            <a:off x="202996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Target Met</a:t>
            </a:r>
            <a:endParaRPr lang="en-US" sz="800" dirty="0"/>
          </a:p>
        </p:txBody>
      </p:sp>
      <p:sp>
        <p:nvSpPr>
          <p:cNvPr id="229" name="Shape 226"/>
          <p:cNvSpPr/>
          <p:nvPr/>
        </p:nvSpPr>
        <p:spPr>
          <a:xfrm>
            <a:off x="3840480" y="2395728"/>
            <a:ext cx="164592" cy="14630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0" name="Text 227"/>
          <p:cNvSpPr/>
          <p:nvPr/>
        </p:nvSpPr>
        <p:spPr>
          <a:xfrm>
            <a:off x="404164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Monitored / Absence</a:t>
            </a:r>
            <a:endParaRPr lang="en-US" sz="800" dirty="0"/>
          </a:p>
        </p:txBody>
      </p:sp>
      <p:sp>
        <p:nvSpPr>
          <p:cNvPr id="231" name="Shape 228"/>
          <p:cNvSpPr/>
          <p:nvPr/>
        </p:nvSpPr>
        <p:spPr>
          <a:xfrm>
            <a:off x="5852160" y="2395728"/>
            <a:ext cx="164592" cy="14630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2" name="Text 229"/>
          <p:cNvSpPr/>
          <p:nvPr/>
        </p:nvSpPr>
        <p:spPr>
          <a:xfrm>
            <a:off x="605332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Target Missed</a:t>
            </a:r>
            <a:endParaRPr lang="en-US" sz="800" dirty="0"/>
          </a:p>
        </p:txBody>
      </p:sp>
      <p:sp>
        <p:nvSpPr>
          <p:cNvPr id="233" name="Shape 230"/>
          <p:cNvSpPr/>
          <p:nvPr/>
        </p:nvSpPr>
        <p:spPr>
          <a:xfrm>
            <a:off x="7863840" y="2395728"/>
            <a:ext cx="164592" cy="14630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4" name="Text 231"/>
          <p:cNvSpPr/>
          <p:nvPr/>
        </p:nvSpPr>
        <p:spPr>
          <a:xfrm>
            <a:off x="8065008" y="23682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5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= Weekend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1371600" y="2642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Trend</a:t>
            </a:r>
            <a:endParaRPr lang="en-US" sz="1100" dirty="0"/>
          </a:p>
        </p:txBody>
      </p:sp>
      <p:graphicFrame>
        <p:nvGraphicFramePr>
          <p:cNvPr id="236" name="Chart 0"/>
          <p:cNvGraphicFramePr/>
          <p:nvPr/>
        </p:nvGraphicFramePr>
        <p:xfrm>
          <a:off x="1371600" y="2916936"/>
          <a:ext cx="50292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7" name="Text 233"/>
          <p:cNvSpPr/>
          <p:nvPr/>
        </p:nvSpPr>
        <p:spPr>
          <a:xfrm>
            <a:off x="6583680" y="26426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KPI Summary</a:t>
            </a:r>
            <a:endParaRPr lang="en-US" sz="1100" dirty="0"/>
          </a:p>
        </p:txBody>
      </p:sp>
      <p:graphicFrame>
        <p:nvGraphicFramePr>
          <p:cNvPr id="2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916936"/>
          <a:ext cx="4389120" cy="1447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Jun-26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Hours/Person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Ideas Submitted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2/person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Vacancies &gt;30d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B59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39C12"/>
                          </a:solidFill>
                        </a:rPr>
                        <a:t>●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9" name="Shape 234"/>
          <p:cNvSpPr/>
          <p:nvPr/>
        </p:nvSpPr>
        <p:spPr>
          <a:xfrm>
            <a:off x="45720" y="4636008"/>
            <a:ext cx="12054535" cy="274320"/>
          </a:xfrm>
          <a:prstGeom prst="rect">
            <a:avLst/>
          </a:prstGeom>
          <a:solidFill>
            <a:srgbClr val="5B595A"/>
          </a:solidFill>
          <a:ln w="12700">
            <a:solidFill>
              <a:srgbClr val="5B59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0" name="Text 235"/>
          <p:cNvSpPr/>
          <p:nvPr/>
        </p:nvSpPr>
        <p:spPr>
          <a:xfrm>
            <a:off x="182880" y="4636008"/>
            <a:ext cx="11825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&amp; Countermeasures — People  |  JUNE 2026</a:t>
            </a:r>
            <a:endParaRPr lang="en-US" sz="1100" dirty="0"/>
          </a:p>
        </p:txBody>
      </p:sp>
      <p:graphicFrame>
        <p:nvGraphicFramePr>
          <p:cNvPr id="2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" y="4928616"/>
          <a:ext cx="10972800" cy="11049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Countermeasure /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2" name="Rectangle 24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244" name="Picture 2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245" name="Rectangle 24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183C32-FD24-44DE-B546-36347B7FF61E}"/>
</file>

<file path=customXml/itemProps2.xml><?xml version="1.0" encoding="utf-8"?>
<ds:datastoreItem xmlns:ds="http://schemas.openxmlformats.org/officeDocument/2006/customXml" ds:itemID="{4DEFE1CC-3157-470B-A323-D7501C654AEE}"/>
</file>

<file path=customXml/itemProps3.xml><?xml version="1.0" encoding="utf-8"?>
<ds:datastoreItem xmlns:ds="http://schemas.openxmlformats.org/officeDocument/2006/customXml" ds:itemID="{EA3B570A-A4EE-4E1C-88D8-731ECB0AABB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Widescreen</PresentationFormat>
  <Paragraphs>394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SQDCP-08 Daily Management Board Example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