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029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JANUARY Safety Message
Theme: Reset Your Safety Mindset
Key Points:
1. Review your risk assessments — have shortcuts crept in?
2. Check your PPE is in good condition and the right spec
3. Look at your work area with fresh eyes today
4. Commit to reporting every near miss this year
Action: Speak to your manager about one safety improvement in your area.
Stat: 600,000+ — non-fatal workplace injuries in the UK each year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FEBRUARY Safety Message
Theme: Protect Your Back For Life
Key Points:
1. Plan every lift — know the weight, route, and destination
2. Use mechanical aids whenever they are available
3. Keep the load close to your body throughout
4. Never twist your spine while carrying — turn with your feet
Action: Identify one task that could be improved with a mechanical aid. Raise it today.
Stat: 20% — of all non-fatal workplace injuries involve manual handling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MARCH Safety Message
Theme: Clear It. Clean It. Prevent It.
Key Points:
1. Clean up spills immediately — or make safe and get help
2. Keep walkways and emergency routes completely clear
3. Route cables away from floor traffic routes
4. Report damaged flooring or poor lighting straight away
Action: Do a 5-minute walkway inspection in your area right now.
Stat: 30% — of all non-fatal injuries are caused by slips, trips and falls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APRIL Safety Message
Theme: Never Take a Shortcut at Height
Key Points:
1. Inspect access equipment before every use — no exceptions
2. Set ladders at the correct angle and secure them at the top
3. Maintain three points of contact at all times
4. Barrier off the area below overhead work to protect others
Action: Check all access equipment in your area is within its inspection date.
Stat: 40 — workers killed by falls from height in Great Britain last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Safety Message
Theme: The Damage You Cannot See or Hear
Key Points:
1. Wear hearing protection in ALL designated zones — no exceptions
2. Know the safe use time for every vibrating tool you use
3. Take regular breaks from high-vibration tasks
4. Report tingling, numbness, or ringing in the ears immediately
Action: Check you know the safe use times for every vibrating tool you operate.
Stat: 17,000 — UK workers suffer occupational deafness or tinnitus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JUNE Safety Message
Theme: Know What You Are Working With
Key Points:
1. Read the COSHH assessment before using any substance
2. Use LEV and extraction systems correctly — never bypass them
3. Wash hands before eating, drinking, or using the toilet
4. Report skin irritation or respiratory symptoms immediately
Action: Read the COSHH assessment for one substance you use regularly today.
Stat: 1 in 5 — cases of occupational asthma are caused by metalworking fluids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JULY Safety Message
Theme: Guards Are Not Optional
Key Points:
1. Check guards and interlocks before every single shift
2. Never remove, bypass, or defeat a guard or interlock
3. Isolate before making adjustments, clearing blockages, or cleaning
4. Only operate machines you are trained and authorised to use
Action: Confirm every machine pre-use inspection in your area is up to date.
Stat: NO. — No job is worth removing a machine guard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Safety Message
Theme: Know Your Plan Before You Need It
Key Points:
1. Know every fire exit and your assembly point — walk the route
2. Never wedge open fire doors. Not even briefly.
3. Follow the hot work permit for all welding, grinding, cutting
4. When the alarm sounds — LEAVE. Do not stop for anything.
Action: Walk your evacuation route and time it. Check for obstructions.
Stat: 30 min — a closed fire door can hold back a fire for up to 30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SEPTEMBER Safety Message
Theme: Treat Every Cable as Live
Key Points:
1. Inspect portable electrical equipment before every use
2. Remove and label defective equipment immediately — do not use it
3. Use RCDs with portable equipment where not built into the supply
4. Never carry out electrical work unless you are authorised
Action: Visually check all portable electrical equipment in your area today.
Stat: 25+ — electrical deaths in UK workplaces every year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Safety Message
Theme: Report It. Learn From It. Prevent It.
Key Points:
1. Report every near miss, no matter how minor it seems
2. Be specific — detail enables investigation and real action
3. Support colleagues who report. It builds a safer culture.
4. Near misses include unsafe conditions, not just incidents
Action: Review near miss reports from the last three months in your area.
Stat: 300:29:1 — near misses : minor injuries : serious injury — Heinrich's Triangle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NOVEMBER Safety Message
Theme: Look Out for Each Other
Key Points:
1. Look for changes: withdrawal, irritability, reduced concentration
2. Ask a direct question if you are concerned. Listen without judgement.
3. Know the mental health support available through the company
4. Speak to your manager early if pressures feel unmanageable
Action: Check in with at least one colleague you have not spoken to properly recently.
Stat: 50%+ — of working days lost to ill health are due to stress, depression or anxiety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DECEMBER Safety Message
Theme: Close the Year Safely
Key Points:
1. Maintain all safety checks even under year-end pressure
2. Ensure outstanding near miss reports are closed out
3. Check PPE and lifting gear inspection dates going into January
4. Recognise team members who have championed safety this year
Action: Use your team briefing to reflect on the safety year. What do we do differently next year?
Stat: FINISH
STRONG — Accident rates rise under production pressure. Do not let deadlines drive shortcuts.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9.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jp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jp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jpg"/><Relationship Id="rId5" Type="http://schemas.openxmlformats.org/officeDocument/2006/relationships/image" Target="../media/image9.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a:effectLst/>
      </p:bgPr>
    </p:bg>
    <p:spTree>
      <p:nvGrpSpPr>
        <p:cNvPr id="1" name=""/>
        <p:cNvGrpSpPr/>
        <p:nvPr/>
      </p:nvGrpSpPr>
      <p:grpSpPr>
        <a:xfrm>
          <a:off x="0" y="0"/>
          <a:ext cx="0" cy="0"/>
          <a:chOff x="0" y="0"/>
          <a:chExt cx="0" cy="0"/>
        </a:xfrm>
      </p:grpSpPr>
      <p:sp>
        <p:nvSpPr>
          <p:cNvPr id="3" name="Shape 0"/>
          <p:cNvSpPr/>
          <p:nvPr/>
        </p:nvSpPr>
        <p:spPr>
          <a:xfrm>
            <a:off x="0" y="0"/>
            <a:ext cx="3840480" cy="5143500"/>
          </a:xfrm>
          <a:prstGeom prst="rect">
            <a:avLst/>
          </a:prstGeom>
          <a:solidFill>
            <a:srgbClr val="009FE3">
              <a:alpha val="85000"/>
            </a:srgbClr>
          </a:solidFill>
          <a:ln w="12700">
            <a:solidFill>
              <a:srgbClr val="009FE3"/>
            </a:solidFill>
            <a:prstDash val="solid"/>
          </a:ln>
        </p:spPr>
        <p:txBody>
          <a:bodyPr/>
          <a:lstStyle/>
          <a:p>
            <a:endParaRPr lang="en-GB"/>
          </a:p>
        </p:txBody>
      </p:sp>
      <p:sp>
        <p:nvSpPr>
          <p:cNvPr id="4" name="Text 1"/>
          <p:cNvSpPr/>
          <p:nvPr/>
        </p:nvSpPr>
        <p:spPr>
          <a:xfrm>
            <a:off x="164592" y="914400"/>
            <a:ext cx="347472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600,000+</a:t>
            </a:r>
            <a:endParaRPr lang="en-US" sz="7200" dirty="0"/>
          </a:p>
        </p:txBody>
      </p:sp>
      <p:sp>
        <p:nvSpPr>
          <p:cNvPr id="5" name="Text 2"/>
          <p:cNvSpPr/>
          <p:nvPr/>
        </p:nvSpPr>
        <p:spPr>
          <a:xfrm>
            <a:off x="182880" y="2651760"/>
            <a:ext cx="3429000" cy="91440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non-fatal workplace injuries in the UK each year</a:t>
            </a:r>
            <a:endParaRPr lang="en-US" sz="1200" dirty="0"/>
          </a:p>
        </p:txBody>
      </p:sp>
      <p:sp>
        <p:nvSpPr>
          <p:cNvPr id="6" name="Text 3"/>
          <p:cNvSpPr/>
          <p:nvPr/>
        </p:nvSpPr>
        <p:spPr>
          <a:xfrm>
            <a:off x="164592" y="4160520"/>
            <a:ext cx="3474720" cy="640080"/>
          </a:xfrm>
          <a:prstGeom prst="rect">
            <a:avLst/>
          </a:prstGeom>
          <a:noFill/>
          <a:ln/>
        </p:spPr>
        <p:txBody>
          <a:bodyPr wrap="square" lIns="0" tIns="0" rIns="0" bIns="0"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JANUARY</a:t>
            </a:r>
            <a:endParaRPr lang="en-US" sz="1300" dirty="0"/>
          </a:p>
        </p:txBody>
      </p:sp>
      <p:sp>
        <p:nvSpPr>
          <p:cNvPr id="7" name="Text 4"/>
          <p:cNvSpPr/>
          <p:nvPr/>
        </p:nvSpPr>
        <p:spPr>
          <a:xfrm>
            <a:off x="4114800" y="228600"/>
            <a:ext cx="4754880" cy="82296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Reset Your Safety Mindset</a:t>
            </a:r>
            <a:endParaRPr lang="en-US" sz="2800" dirty="0"/>
          </a:p>
        </p:txBody>
      </p:sp>
      <p:sp>
        <p:nvSpPr>
          <p:cNvPr id="8" name="Text 5"/>
          <p:cNvSpPr/>
          <p:nvPr/>
        </p:nvSpPr>
        <p:spPr>
          <a:xfrm>
            <a:off x="4114800" y="960120"/>
            <a:ext cx="4754880" cy="411480"/>
          </a:xfrm>
          <a:prstGeom prst="rect">
            <a:avLst/>
          </a:prstGeom>
          <a:noFill/>
          <a:ln/>
        </p:spPr>
        <p:txBody>
          <a:bodyPr wrap="square" lIns="0" tIns="0" rIns="0" bIns="0" rtlCol="0" anchor="t"/>
          <a:lstStyle/>
          <a:p>
            <a:pPr marL="0" indent="0" algn="l">
              <a:buNone/>
            </a:pPr>
            <a:r>
              <a:rPr lang="en-US" sz="1300" i="1" dirty="0">
                <a:solidFill>
                  <a:srgbClr val="009FE3"/>
                </a:solidFill>
                <a:latin typeface="Arial" pitchFamily="34" charset="0"/>
                <a:ea typeface="Arial" pitchFamily="34" charset="-122"/>
                <a:cs typeface="Arial" pitchFamily="34" charset="-120"/>
              </a:rPr>
              <a:t>New Year. Fresh Eyes. Zero Complacency.</a:t>
            </a:r>
            <a:endParaRPr lang="en-US" sz="1300" dirty="0"/>
          </a:p>
        </p:txBody>
      </p:sp>
      <p:sp>
        <p:nvSpPr>
          <p:cNvPr id="9" name="Shape 6"/>
          <p:cNvSpPr/>
          <p:nvPr/>
        </p:nvSpPr>
        <p:spPr>
          <a:xfrm>
            <a:off x="4114800" y="1417320"/>
            <a:ext cx="4663440" cy="0"/>
          </a:xfrm>
          <a:prstGeom prst="line">
            <a:avLst/>
          </a:prstGeom>
          <a:noFill/>
          <a:ln w="19050">
            <a:solidFill>
              <a:srgbClr val="009FE3"/>
            </a:solidFill>
            <a:prstDash val="solid"/>
          </a:ln>
        </p:spPr>
        <p:txBody>
          <a:bodyPr/>
          <a:lstStyle/>
          <a:p>
            <a:endParaRPr lang="en-GB"/>
          </a:p>
        </p:txBody>
      </p:sp>
      <p:sp>
        <p:nvSpPr>
          <p:cNvPr id="10" name="Shape 7"/>
          <p:cNvSpPr/>
          <p:nvPr/>
        </p:nvSpPr>
        <p:spPr>
          <a:xfrm>
            <a:off x="4114800" y="1563624"/>
            <a:ext cx="292608" cy="292608"/>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4114800" y="1554480"/>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p:nvPr/>
        </p:nvSpPr>
        <p:spPr>
          <a:xfrm>
            <a:off x="4498848" y="1563624"/>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Review your risk assessments — have shortcuts crept in?</a:t>
            </a:r>
            <a:endParaRPr lang="en-US" sz="1250" dirty="0"/>
          </a:p>
        </p:txBody>
      </p:sp>
      <p:sp>
        <p:nvSpPr>
          <p:cNvPr id="13" name="Shape 10"/>
          <p:cNvSpPr/>
          <p:nvPr/>
        </p:nvSpPr>
        <p:spPr>
          <a:xfrm>
            <a:off x="4114800" y="2093976"/>
            <a:ext cx="292608" cy="292608"/>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4114800" y="2084832"/>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p:nvPr/>
        </p:nvSpPr>
        <p:spPr>
          <a:xfrm>
            <a:off x="4498848" y="2093976"/>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Check your PPE is in good condition and the right spec</a:t>
            </a:r>
            <a:endParaRPr lang="en-US" sz="1250" dirty="0"/>
          </a:p>
        </p:txBody>
      </p:sp>
      <p:sp>
        <p:nvSpPr>
          <p:cNvPr id="16" name="Shape 13"/>
          <p:cNvSpPr/>
          <p:nvPr/>
        </p:nvSpPr>
        <p:spPr>
          <a:xfrm>
            <a:off x="4114800" y="2624328"/>
            <a:ext cx="292608" cy="292608"/>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4114800" y="2615184"/>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p:nvPr/>
        </p:nvSpPr>
        <p:spPr>
          <a:xfrm>
            <a:off x="4498848" y="2624328"/>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Look at your work area with fresh eyes today</a:t>
            </a:r>
            <a:endParaRPr lang="en-US" sz="1250" dirty="0"/>
          </a:p>
        </p:txBody>
      </p:sp>
      <p:sp>
        <p:nvSpPr>
          <p:cNvPr id="19" name="Shape 16"/>
          <p:cNvSpPr/>
          <p:nvPr/>
        </p:nvSpPr>
        <p:spPr>
          <a:xfrm>
            <a:off x="4114800" y="3154680"/>
            <a:ext cx="292608" cy="292608"/>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4114800" y="3145536"/>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8"/>
          <p:cNvSpPr/>
          <p:nvPr/>
        </p:nvSpPr>
        <p:spPr>
          <a:xfrm>
            <a:off x="4498848" y="3154680"/>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Commit to reporting every near miss this year</a:t>
            </a:r>
            <a:endParaRPr lang="en-US" sz="1250" dirty="0"/>
          </a:p>
        </p:txBody>
      </p:sp>
      <p:sp>
        <p:nvSpPr>
          <p:cNvPr id="22" name="Shape 19"/>
          <p:cNvSpPr/>
          <p:nvPr/>
        </p:nvSpPr>
        <p:spPr>
          <a:xfrm>
            <a:off x="4114800" y="3840480"/>
            <a:ext cx="4709160" cy="868680"/>
          </a:xfrm>
          <a:prstGeom prst="roundRect">
            <a:avLst>
              <a:gd name="adj" fmla="val 8421"/>
            </a:avLst>
          </a:prstGeom>
          <a:solidFill>
            <a:srgbClr val="0A2540"/>
          </a:solidFill>
          <a:ln w="19050">
            <a:solidFill>
              <a:srgbClr val="009FE3"/>
            </a:solidFill>
            <a:prstDash val="solid"/>
          </a:ln>
        </p:spPr>
        <p:txBody>
          <a:bodyPr/>
          <a:lstStyle/>
          <a:p>
            <a:endParaRPr lang="en-GB"/>
          </a:p>
        </p:txBody>
      </p:sp>
      <p:sp>
        <p:nvSpPr>
          <p:cNvPr id="23" name="Text 20"/>
          <p:cNvSpPr/>
          <p:nvPr/>
        </p:nvSpPr>
        <p:spPr>
          <a:xfrm>
            <a:off x="4224528" y="3886200"/>
            <a:ext cx="4480560" cy="77724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YOUR ACTION: </a:t>
            </a:r>
            <a:r>
              <a:rPr lang="en-US" sz="1150" dirty="0">
                <a:solidFill>
                  <a:srgbClr val="FFFFFF"/>
                </a:solidFill>
                <a:latin typeface="Arial" pitchFamily="34" charset="0"/>
                <a:ea typeface="Arial" pitchFamily="34" charset="-122"/>
                <a:cs typeface="Arial" pitchFamily="34" charset="-120"/>
              </a:rPr>
              <a:t>Speak to your manager about one safety improvement in your area.</a:t>
            </a:r>
            <a:endParaRPr lang="en-US" sz="1150" dirty="0"/>
          </a:p>
        </p:txBody>
      </p:sp>
      <p:pic>
        <p:nvPicPr>
          <p:cNvPr id="24" name="Image 0" descr="/home/claude/nuccol_logo.jpg"/>
          <p:cNvPicPr>
            <a:picLocks noChangeAspect="1"/>
          </p:cNvPicPr>
          <p:nvPr/>
        </p:nvPicPr>
        <p:blipFill>
          <a:blip r:embed="rId3"/>
          <a:stretch>
            <a:fillRect/>
          </a:stretch>
        </p:blipFill>
        <p:spPr>
          <a:xfrm>
            <a:off x="201168" y="128016"/>
            <a:ext cx="1280160" cy="612648"/>
          </a:xfrm>
          <a:prstGeom prst="rect">
            <a:avLst/>
          </a:prstGeom>
        </p:spPr>
      </p:pic>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A00"/>
        </a:solidFill>
        <a:effectLst/>
      </p:bgPr>
    </p:bg>
    <p:spTree>
      <p:nvGrpSpPr>
        <p:cNvPr id="1" name=""/>
        <p:cNvGrpSpPr/>
        <p:nvPr/>
      </p:nvGrpSpPr>
      <p:grpSpPr>
        <a:xfrm>
          <a:off x="0" y="0"/>
          <a:ext cx="0" cy="0"/>
          <a:chOff x="0" y="0"/>
          <a:chExt cx="0" cy="0"/>
        </a:xfrm>
      </p:grpSpPr>
      <p:sp>
        <p:nvSpPr>
          <p:cNvPr id="3" name="Shape 0"/>
          <p:cNvSpPr/>
          <p:nvPr/>
        </p:nvSpPr>
        <p:spPr>
          <a:xfrm>
            <a:off x="5669280" y="0"/>
            <a:ext cx="3474720" cy="5143500"/>
          </a:xfrm>
          <a:prstGeom prst="rect">
            <a:avLst/>
          </a:prstGeom>
          <a:solidFill>
            <a:srgbClr val="E05A00">
              <a:alpha val="80000"/>
            </a:srgbClr>
          </a:solidFill>
          <a:ln w="12700">
            <a:solidFill>
              <a:srgbClr val="E05A00"/>
            </a:solidFill>
            <a:prstDash val="solid"/>
          </a:ln>
        </p:spPr>
        <p:txBody>
          <a:bodyPr/>
          <a:lstStyle/>
          <a:p>
            <a:endParaRPr lang="en-GB"/>
          </a:p>
        </p:txBody>
      </p:sp>
      <p:sp>
        <p:nvSpPr>
          <p:cNvPr id="4" name="Shape 1"/>
          <p:cNvSpPr/>
          <p:nvPr/>
        </p:nvSpPr>
        <p:spPr>
          <a:xfrm>
            <a:off x="6355080" y="1097280"/>
            <a:ext cx="2103120" cy="2103120"/>
          </a:xfrm>
          <a:prstGeom prst="ellipse">
            <a:avLst/>
          </a:prstGeom>
          <a:solidFill>
            <a:srgbClr val="E05A00">
              <a:alpha val="70000"/>
            </a:srgbClr>
          </a:solidFill>
          <a:ln w="25400">
            <a:solidFill>
              <a:srgbClr val="FFFFFF"/>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6583680" y="1325880"/>
            <a:ext cx="1645920" cy="1645920"/>
          </a:xfrm>
          <a:prstGeom prst="rect">
            <a:avLst/>
          </a:prstGeom>
        </p:spPr>
      </p:pic>
      <p:sp>
        <p:nvSpPr>
          <p:cNvPr id="6" name="Text 2"/>
          <p:cNvSpPr/>
          <p:nvPr/>
        </p:nvSpPr>
        <p:spPr>
          <a:xfrm>
            <a:off x="5687568" y="3383280"/>
            <a:ext cx="3429000" cy="457200"/>
          </a:xfrm>
          <a:prstGeom prst="rect">
            <a:avLst/>
          </a:prstGeom>
          <a:noFill/>
          <a:ln/>
        </p:spPr>
        <p:txBody>
          <a:bodyPr wrap="square" lIns="0" tIns="0" rIns="0" bIns="0" rtlCol="0" anchor="ctr"/>
          <a:lstStyle/>
          <a:p>
            <a:pPr marL="0" indent="0" algn="ctr">
              <a:buNone/>
            </a:pPr>
            <a:r>
              <a:rPr lang="en-US" sz="1300" b="1" kern="0" spc="500" dirty="0">
                <a:solidFill>
                  <a:srgbClr val="FFFFFF"/>
                </a:solidFill>
                <a:latin typeface="Arial" pitchFamily="34" charset="0"/>
                <a:ea typeface="Arial" pitchFamily="34" charset="-122"/>
                <a:cs typeface="Arial" pitchFamily="34" charset="-120"/>
              </a:rPr>
              <a:t>FEBRUARY</a:t>
            </a:r>
            <a:endParaRPr lang="en-US" sz="1300" dirty="0"/>
          </a:p>
        </p:txBody>
      </p:sp>
      <p:sp>
        <p:nvSpPr>
          <p:cNvPr id="7" name="Shape 3"/>
          <p:cNvSpPr/>
          <p:nvPr/>
        </p:nvSpPr>
        <p:spPr>
          <a:xfrm>
            <a:off x="6217920" y="3858768"/>
            <a:ext cx="2331720" cy="0"/>
          </a:xfrm>
          <a:prstGeom prst="line">
            <a:avLst/>
          </a:prstGeom>
          <a:noFill/>
          <a:ln w="10160">
            <a:solidFill>
              <a:srgbClr val="FFFFFF"/>
            </a:solidFill>
            <a:prstDash val="solid"/>
          </a:ln>
        </p:spPr>
        <p:txBody>
          <a:bodyPr/>
          <a:lstStyle/>
          <a:p>
            <a:endParaRPr lang="en-GB"/>
          </a:p>
        </p:txBody>
      </p:sp>
      <p:sp>
        <p:nvSpPr>
          <p:cNvPr id="8" name="Text 4"/>
          <p:cNvSpPr/>
          <p:nvPr/>
        </p:nvSpPr>
        <p:spPr>
          <a:xfrm>
            <a:off x="5687568" y="3913632"/>
            <a:ext cx="34290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NucCol Safety</a:t>
            </a:r>
            <a:endParaRPr lang="en-US" sz="1000" dirty="0"/>
          </a:p>
        </p:txBody>
      </p:sp>
      <p:pic>
        <p:nvPicPr>
          <p:cNvPr id="9" name="Image 1" descr="/home/claude/nuccol_logo.jpg"/>
          <p:cNvPicPr>
            <a:picLocks noChangeAspect="1"/>
          </p:cNvPicPr>
          <p:nvPr/>
        </p:nvPicPr>
        <p:blipFill>
          <a:blip r:embed="rId4"/>
          <a:stretch>
            <a:fillRect/>
          </a:stretch>
        </p:blipFill>
        <p:spPr>
          <a:xfrm>
            <a:off x="274320" y="109728"/>
            <a:ext cx="1188720" cy="576072"/>
          </a:xfrm>
          <a:prstGeom prst="rect">
            <a:avLst/>
          </a:prstGeom>
        </p:spPr>
      </p:pic>
      <p:sp>
        <p:nvSpPr>
          <p:cNvPr id="10" name="Text 5"/>
          <p:cNvSpPr/>
          <p:nvPr/>
        </p:nvSpPr>
        <p:spPr>
          <a:xfrm>
            <a:off x="274320" y="804672"/>
            <a:ext cx="5120640" cy="7772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Protect Your Back For Life</a:t>
            </a:r>
            <a:endParaRPr lang="en-US" sz="3000" dirty="0"/>
          </a:p>
        </p:txBody>
      </p:sp>
      <p:sp>
        <p:nvSpPr>
          <p:cNvPr id="11" name="Text 6"/>
          <p:cNvSpPr/>
          <p:nvPr/>
        </p:nvSpPr>
        <p:spPr>
          <a:xfrm>
            <a:off x="274320" y="1572768"/>
            <a:ext cx="5120640" cy="347472"/>
          </a:xfrm>
          <a:prstGeom prst="rect">
            <a:avLst/>
          </a:prstGeom>
          <a:noFill/>
          <a:ln/>
        </p:spPr>
        <p:txBody>
          <a:bodyPr wrap="square" lIns="0" tIns="0" rIns="0" bIns="0" rtlCol="0" anchor="ctr"/>
          <a:lstStyle/>
          <a:p>
            <a:pPr marL="0" indent="0" algn="l">
              <a:buNone/>
            </a:pPr>
            <a:r>
              <a:rPr lang="en-US" sz="1250" i="1" dirty="0">
                <a:solidFill>
                  <a:srgbClr val="E05A00"/>
                </a:solidFill>
                <a:latin typeface="Arial" pitchFamily="34" charset="0"/>
                <a:ea typeface="Arial" pitchFamily="34" charset="-122"/>
                <a:cs typeface="Arial" pitchFamily="34" charset="-120"/>
              </a:rPr>
              <a:t>Manual Handling: The Damage Builds Before You Feel It</a:t>
            </a:r>
            <a:endParaRPr lang="en-US" sz="1250" dirty="0"/>
          </a:p>
        </p:txBody>
      </p:sp>
      <p:sp>
        <p:nvSpPr>
          <p:cNvPr id="12" name="Shape 7"/>
          <p:cNvSpPr/>
          <p:nvPr/>
        </p:nvSpPr>
        <p:spPr>
          <a:xfrm>
            <a:off x="274320" y="1956816"/>
            <a:ext cx="5029200" cy="0"/>
          </a:xfrm>
          <a:prstGeom prst="line">
            <a:avLst/>
          </a:prstGeom>
          <a:noFill/>
          <a:ln w="19050">
            <a:solidFill>
              <a:srgbClr val="E05A00"/>
            </a:solidFill>
            <a:prstDash val="solid"/>
          </a:ln>
        </p:spPr>
        <p:txBody>
          <a:bodyPr/>
          <a:lstStyle/>
          <a:p>
            <a:endParaRPr lang="en-GB"/>
          </a:p>
        </p:txBody>
      </p:sp>
      <p:sp>
        <p:nvSpPr>
          <p:cNvPr id="13" name="Shape 8"/>
          <p:cNvSpPr/>
          <p:nvPr/>
        </p:nvSpPr>
        <p:spPr>
          <a:xfrm>
            <a:off x="274320" y="2048256"/>
            <a:ext cx="274320" cy="274320"/>
          </a:xfrm>
          <a:prstGeom prst="ellipse">
            <a:avLst/>
          </a:prstGeom>
          <a:solidFill>
            <a:srgbClr val="E05A00"/>
          </a:solidFill>
          <a:ln w="12700">
            <a:solidFill>
              <a:srgbClr val="E05A00"/>
            </a:solidFill>
            <a:prstDash val="solid"/>
          </a:ln>
        </p:spPr>
        <p:txBody>
          <a:bodyPr/>
          <a:lstStyle/>
          <a:p>
            <a:endParaRPr lang="en-GB"/>
          </a:p>
        </p:txBody>
      </p:sp>
      <p:sp>
        <p:nvSpPr>
          <p:cNvPr id="14" name="Text 9"/>
          <p:cNvSpPr/>
          <p:nvPr/>
        </p:nvSpPr>
        <p:spPr>
          <a:xfrm>
            <a:off x="274320" y="2029968"/>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0"/>
          <p:cNvSpPr/>
          <p:nvPr/>
        </p:nvSpPr>
        <p:spPr>
          <a:xfrm>
            <a:off x="640080" y="2048256"/>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Plan every lift — know the weight, route, and destination</a:t>
            </a:r>
            <a:endParaRPr lang="en-US" sz="1250" dirty="0"/>
          </a:p>
        </p:txBody>
      </p:sp>
      <p:sp>
        <p:nvSpPr>
          <p:cNvPr id="16" name="Shape 11"/>
          <p:cNvSpPr/>
          <p:nvPr/>
        </p:nvSpPr>
        <p:spPr>
          <a:xfrm>
            <a:off x="274320" y="2560320"/>
            <a:ext cx="274320" cy="274320"/>
          </a:xfrm>
          <a:prstGeom prst="ellipse">
            <a:avLst/>
          </a:prstGeom>
          <a:solidFill>
            <a:srgbClr val="E05A00"/>
          </a:solidFill>
          <a:ln w="12700">
            <a:solidFill>
              <a:srgbClr val="E05A00"/>
            </a:solidFill>
            <a:prstDash val="solid"/>
          </a:ln>
        </p:spPr>
        <p:txBody>
          <a:bodyPr/>
          <a:lstStyle/>
          <a:p>
            <a:endParaRPr lang="en-GB"/>
          </a:p>
        </p:txBody>
      </p:sp>
      <p:sp>
        <p:nvSpPr>
          <p:cNvPr id="17" name="Text 12"/>
          <p:cNvSpPr/>
          <p:nvPr/>
        </p:nvSpPr>
        <p:spPr>
          <a:xfrm>
            <a:off x="274320" y="2542032"/>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3"/>
          <p:cNvSpPr/>
          <p:nvPr/>
        </p:nvSpPr>
        <p:spPr>
          <a:xfrm>
            <a:off x="640080" y="2560320"/>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Use mechanical aids whenever they are available</a:t>
            </a:r>
            <a:endParaRPr lang="en-US" sz="1250" dirty="0"/>
          </a:p>
        </p:txBody>
      </p:sp>
      <p:sp>
        <p:nvSpPr>
          <p:cNvPr id="19" name="Shape 14"/>
          <p:cNvSpPr/>
          <p:nvPr/>
        </p:nvSpPr>
        <p:spPr>
          <a:xfrm>
            <a:off x="274320" y="3072384"/>
            <a:ext cx="274320" cy="274320"/>
          </a:xfrm>
          <a:prstGeom prst="ellipse">
            <a:avLst/>
          </a:prstGeom>
          <a:solidFill>
            <a:srgbClr val="E05A00"/>
          </a:solidFill>
          <a:ln w="12700">
            <a:solidFill>
              <a:srgbClr val="E05A00"/>
            </a:solidFill>
            <a:prstDash val="solid"/>
          </a:ln>
        </p:spPr>
        <p:txBody>
          <a:bodyPr/>
          <a:lstStyle/>
          <a:p>
            <a:endParaRPr lang="en-GB"/>
          </a:p>
        </p:txBody>
      </p:sp>
      <p:sp>
        <p:nvSpPr>
          <p:cNvPr id="20" name="Text 15"/>
          <p:cNvSpPr/>
          <p:nvPr/>
        </p:nvSpPr>
        <p:spPr>
          <a:xfrm>
            <a:off x="274320" y="3054096"/>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6"/>
          <p:cNvSpPr/>
          <p:nvPr/>
        </p:nvSpPr>
        <p:spPr>
          <a:xfrm>
            <a:off x="640080" y="3072384"/>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Keep the load close to your body throughout</a:t>
            </a:r>
            <a:endParaRPr lang="en-US" sz="1250" dirty="0"/>
          </a:p>
        </p:txBody>
      </p:sp>
      <p:sp>
        <p:nvSpPr>
          <p:cNvPr id="22" name="Shape 17"/>
          <p:cNvSpPr/>
          <p:nvPr/>
        </p:nvSpPr>
        <p:spPr>
          <a:xfrm>
            <a:off x="274320" y="3584448"/>
            <a:ext cx="274320" cy="274320"/>
          </a:xfrm>
          <a:prstGeom prst="ellipse">
            <a:avLst/>
          </a:prstGeom>
          <a:solidFill>
            <a:srgbClr val="E05A00"/>
          </a:solidFill>
          <a:ln w="12700">
            <a:solidFill>
              <a:srgbClr val="E05A00"/>
            </a:solidFill>
            <a:prstDash val="solid"/>
          </a:ln>
        </p:spPr>
        <p:txBody>
          <a:bodyPr/>
          <a:lstStyle/>
          <a:p>
            <a:endParaRPr lang="en-GB"/>
          </a:p>
        </p:txBody>
      </p:sp>
      <p:sp>
        <p:nvSpPr>
          <p:cNvPr id="23" name="Text 18"/>
          <p:cNvSpPr/>
          <p:nvPr/>
        </p:nvSpPr>
        <p:spPr>
          <a:xfrm>
            <a:off x="274320" y="3566160"/>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19"/>
          <p:cNvSpPr/>
          <p:nvPr/>
        </p:nvSpPr>
        <p:spPr>
          <a:xfrm>
            <a:off x="640080" y="3584448"/>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Never twist your spine while carrying — turn with your feet</a:t>
            </a:r>
            <a:endParaRPr lang="en-US" sz="1250" dirty="0"/>
          </a:p>
        </p:txBody>
      </p:sp>
      <p:sp>
        <p:nvSpPr>
          <p:cNvPr id="25" name="Shape 20"/>
          <p:cNvSpPr/>
          <p:nvPr/>
        </p:nvSpPr>
        <p:spPr>
          <a:xfrm>
            <a:off x="274320" y="4224528"/>
            <a:ext cx="5166360" cy="685800"/>
          </a:xfrm>
          <a:prstGeom prst="roundRect">
            <a:avLst>
              <a:gd name="adj" fmla="val 10667"/>
            </a:avLst>
          </a:prstGeom>
          <a:solidFill>
            <a:srgbClr val="0A2540"/>
          </a:solidFill>
          <a:ln w="19050">
            <a:solidFill>
              <a:srgbClr val="E05A00"/>
            </a:solidFill>
            <a:prstDash val="solid"/>
          </a:ln>
        </p:spPr>
        <p:txBody>
          <a:bodyPr/>
          <a:lstStyle/>
          <a:p>
            <a:endParaRPr lang="en-GB"/>
          </a:p>
        </p:txBody>
      </p:sp>
      <p:sp>
        <p:nvSpPr>
          <p:cNvPr id="26" name="Text 21"/>
          <p:cNvSpPr/>
          <p:nvPr/>
        </p:nvSpPr>
        <p:spPr>
          <a:xfrm>
            <a:off x="384048" y="4270248"/>
            <a:ext cx="4937760" cy="594360"/>
          </a:xfrm>
          <a:prstGeom prst="rect">
            <a:avLst/>
          </a:prstGeom>
          <a:noFill/>
          <a:ln/>
        </p:spPr>
        <p:txBody>
          <a:bodyPr wrap="square" lIns="0" tIns="0" rIns="0" bIns="0" rtlCol="0" anchor="ctr"/>
          <a:lstStyle/>
          <a:p>
            <a:pPr marL="0" indent="0">
              <a:buNone/>
            </a:pPr>
            <a:r>
              <a:rPr lang="en-US" sz="1100" b="1" dirty="0">
                <a:solidFill>
                  <a:srgbClr val="E05A00"/>
                </a:solidFill>
                <a:latin typeface="Arial" pitchFamily="34" charset="0"/>
                <a:ea typeface="Arial" pitchFamily="34" charset="-122"/>
                <a:cs typeface="Arial" pitchFamily="34" charset="-120"/>
              </a:rPr>
              <a:t>YOUR ACTION: </a:t>
            </a:r>
            <a:r>
              <a:rPr lang="en-US" sz="1100" dirty="0">
                <a:solidFill>
                  <a:srgbClr val="FFFFFF"/>
                </a:solidFill>
                <a:latin typeface="Arial" pitchFamily="34" charset="0"/>
                <a:ea typeface="Arial" pitchFamily="34" charset="-122"/>
                <a:cs typeface="Arial" pitchFamily="34" charset="-120"/>
              </a:rPr>
              <a:t>Identify one task that could be improved with a mechanical aid. Raise it today.</a:t>
            </a:r>
            <a:endParaRPr lang="en-US" sz="11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A40"/>
        </a:solidFill>
        <a:effectLst/>
      </p:bgPr>
    </p:bg>
    <p:spTree>
      <p:nvGrpSpPr>
        <p:cNvPr id="1" name=""/>
        <p:cNvGrpSpPr/>
        <p:nvPr/>
      </p:nvGrpSpPr>
      <p:grpSpPr>
        <a:xfrm>
          <a:off x="0" y="0"/>
          <a:ext cx="0" cy="0"/>
          <a:chOff x="0" y="0"/>
          <a:chExt cx="0" cy="0"/>
        </a:xfrm>
      </p:grpSpPr>
      <p:sp>
        <p:nvSpPr>
          <p:cNvPr id="3" name="Shape 0"/>
          <p:cNvSpPr/>
          <p:nvPr/>
        </p:nvSpPr>
        <p:spPr>
          <a:xfrm>
            <a:off x="0" y="0"/>
            <a:ext cx="3840480" cy="5143500"/>
          </a:xfrm>
          <a:prstGeom prst="rect">
            <a:avLst/>
          </a:prstGeom>
          <a:solidFill>
            <a:srgbClr val="009FE3">
              <a:alpha val="85000"/>
            </a:srgbClr>
          </a:solidFill>
          <a:ln w="12700">
            <a:solidFill>
              <a:srgbClr val="009FE3"/>
            </a:solidFill>
            <a:prstDash val="solid"/>
          </a:ln>
        </p:spPr>
        <p:txBody>
          <a:bodyPr/>
          <a:lstStyle/>
          <a:p>
            <a:endParaRPr lang="en-GB"/>
          </a:p>
        </p:txBody>
      </p:sp>
      <p:sp>
        <p:nvSpPr>
          <p:cNvPr id="4" name="Text 1"/>
          <p:cNvSpPr/>
          <p:nvPr/>
        </p:nvSpPr>
        <p:spPr>
          <a:xfrm>
            <a:off x="164592" y="914400"/>
            <a:ext cx="347472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30%</a:t>
            </a:r>
            <a:endParaRPr lang="en-US" sz="7200" dirty="0"/>
          </a:p>
        </p:txBody>
      </p:sp>
      <p:sp>
        <p:nvSpPr>
          <p:cNvPr id="5" name="Text 2"/>
          <p:cNvSpPr/>
          <p:nvPr/>
        </p:nvSpPr>
        <p:spPr>
          <a:xfrm>
            <a:off x="182880" y="2651760"/>
            <a:ext cx="3429000" cy="91440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of all non-fatal injuries are caused by slips, trips and falls</a:t>
            </a:r>
            <a:endParaRPr lang="en-US" sz="1200" dirty="0"/>
          </a:p>
        </p:txBody>
      </p:sp>
      <p:sp>
        <p:nvSpPr>
          <p:cNvPr id="6" name="Text 3"/>
          <p:cNvSpPr/>
          <p:nvPr/>
        </p:nvSpPr>
        <p:spPr>
          <a:xfrm>
            <a:off x="164592" y="4160520"/>
            <a:ext cx="3474720" cy="640080"/>
          </a:xfrm>
          <a:prstGeom prst="rect">
            <a:avLst/>
          </a:prstGeom>
          <a:noFill/>
          <a:ln/>
        </p:spPr>
        <p:txBody>
          <a:bodyPr wrap="square" lIns="0" tIns="0" rIns="0" bIns="0"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MARCH</a:t>
            </a:r>
            <a:endParaRPr lang="en-US" sz="1300" dirty="0"/>
          </a:p>
        </p:txBody>
      </p:sp>
      <p:sp>
        <p:nvSpPr>
          <p:cNvPr id="7" name="Text 4"/>
          <p:cNvSpPr/>
          <p:nvPr/>
        </p:nvSpPr>
        <p:spPr>
          <a:xfrm>
            <a:off x="4114800" y="228600"/>
            <a:ext cx="4754880" cy="82296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Clear It. Clean It. Prevent It.</a:t>
            </a:r>
            <a:endParaRPr lang="en-US" sz="2800" dirty="0"/>
          </a:p>
        </p:txBody>
      </p:sp>
      <p:sp>
        <p:nvSpPr>
          <p:cNvPr id="8" name="Text 5"/>
          <p:cNvSpPr/>
          <p:nvPr/>
        </p:nvSpPr>
        <p:spPr>
          <a:xfrm>
            <a:off x="4114800" y="960120"/>
            <a:ext cx="4754880" cy="411480"/>
          </a:xfrm>
          <a:prstGeom prst="rect">
            <a:avLst/>
          </a:prstGeom>
          <a:noFill/>
          <a:ln/>
        </p:spPr>
        <p:txBody>
          <a:bodyPr wrap="square" lIns="0" tIns="0" rIns="0" bIns="0" rtlCol="0" anchor="t"/>
          <a:lstStyle/>
          <a:p>
            <a:pPr marL="0" indent="0" algn="l">
              <a:buNone/>
            </a:pPr>
            <a:r>
              <a:rPr lang="en-US" sz="1300" i="1" dirty="0">
                <a:solidFill>
                  <a:srgbClr val="009FE3"/>
                </a:solidFill>
                <a:latin typeface="Arial" pitchFamily="34" charset="0"/>
                <a:ea typeface="Arial" pitchFamily="34" charset="-122"/>
                <a:cs typeface="Arial" pitchFamily="34" charset="-120"/>
              </a:rPr>
              <a:t>Slips, Trips &amp; Falls: The Most Common Preventable Injuries</a:t>
            </a:r>
            <a:endParaRPr lang="en-US" sz="1300" dirty="0"/>
          </a:p>
        </p:txBody>
      </p:sp>
      <p:sp>
        <p:nvSpPr>
          <p:cNvPr id="9" name="Shape 6"/>
          <p:cNvSpPr/>
          <p:nvPr/>
        </p:nvSpPr>
        <p:spPr>
          <a:xfrm>
            <a:off x="4114800" y="1417320"/>
            <a:ext cx="4663440" cy="0"/>
          </a:xfrm>
          <a:prstGeom prst="line">
            <a:avLst/>
          </a:prstGeom>
          <a:noFill/>
          <a:ln w="19050">
            <a:solidFill>
              <a:srgbClr val="009FE3"/>
            </a:solidFill>
            <a:prstDash val="solid"/>
          </a:ln>
        </p:spPr>
        <p:txBody>
          <a:bodyPr/>
          <a:lstStyle/>
          <a:p>
            <a:endParaRPr lang="en-GB"/>
          </a:p>
        </p:txBody>
      </p:sp>
      <p:sp>
        <p:nvSpPr>
          <p:cNvPr id="10" name="Shape 7"/>
          <p:cNvSpPr/>
          <p:nvPr/>
        </p:nvSpPr>
        <p:spPr>
          <a:xfrm>
            <a:off x="4114800" y="1563624"/>
            <a:ext cx="292608" cy="292608"/>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4114800" y="1554480"/>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p:nvPr/>
        </p:nvSpPr>
        <p:spPr>
          <a:xfrm>
            <a:off x="4498848" y="1563624"/>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Clean up spills immediately — or make safe and get help</a:t>
            </a:r>
            <a:endParaRPr lang="en-US" sz="1250" dirty="0"/>
          </a:p>
        </p:txBody>
      </p:sp>
      <p:sp>
        <p:nvSpPr>
          <p:cNvPr id="13" name="Shape 10"/>
          <p:cNvSpPr/>
          <p:nvPr/>
        </p:nvSpPr>
        <p:spPr>
          <a:xfrm>
            <a:off x="4114800" y="2093976"/>
            <a:ext cx="292608" cy="292608"/>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4114800" y="2084832"/>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p:nvPr/>
        </p:nvSpPr>
        <p:spPr>
          <a:xfrm>
            <a:off x="4498848" y="2093976"/>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Keep walkways and emergency routes completely clear</a:t>
            </a:r>
            <a:endParaRPr lang="en-US" sz="1250" dirty="0"/>
          </a:p>
        </p:txBody>
      </p:sp>
      <p:sp>
        <p:nvSpPr>
          <p:cNvPr id="16" name="Shape 13"/>
          <p:cNvSpPr/>
          <p:nvPr/>
        </p:nvSpPr>
        <p:spPr>
          <a:xfrm>
            <a:off x="4114800" y="2624328"/>
            <a:ext cx="292608" cy="292608"/>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4114800" y="2615184"/>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p:nvPr/>
        </p:nvSpPr>
        <p:spPr>
          <a:xfrm>
            <a:off x="4498848" y="2624328"/>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Route cables away from floor traffic routes</a:t>
            </a:r>
            <a:endParaRPr lang="en-US" sz="1250" dirty="0"/>
          </a:p>
        </p:txBody>
      </p:sp>
      <p:sp>
        <p:nvSpPr>
          <p:cNvPr id="19" name="Shape 16"/>
          <p:cNvSpPr/>
          <p:nvPr/>
        </p:nvSpPr>
        <p:spPr>
          <a:xfrm>
            <a:off x="4114800" y="3154680"/>
            <a:ext cx="292608" cy="292608"/>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4114800" y="3145536"/>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8"/>
          <p:cNvSpPr/>
          <p:nvPr/>
        </p:nvSpPr>
        <p:spPr>
          <a:xfrm>
            <a:off x="4498848" y="3154680"/>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Report damaged flooring or poor lighting straight away</a:t>
            </a:r>
            <a:endParaRPr lang="en-US" sz="1250" dirty="0"/>
          </a:p>
        </p:txBody>
      </p:sp>
      <p:sp>
        <p:nvSpPr>
          <p:cNvPr id="22" name="Shape 19"/>
          <p:cNvSpPr/>
          <p:nvPr/>
        </p:nvSpPr>
        <p:spPr>
          <a:xfrm>
            <a:off x="4114800" y="3840480"/>
            <a:ext cx="4709160" cy="868680"/>
          </a:xfrm>
          <a:prstGeom prst="roundRect">
            <a:avLst>
              <a:gd name="adj" fmla="val 8421"/>
            </a:avLst>
          </a:prstGeom>
          <a:solidFill>
            <a:srgbClr val="0A2540"/>
          </a:solidFill>
          <a:ln w="19050">
            <a:solidFill>
              <a:srgbClr val="009FE3"/>
            </a:solidFill>
            <a:prstDash val="solid"/>
          </a:ln>
        </p:spPr>
        <p:txBody>
          <a:bodyPr/>
          <a:lstStyle/>
          <a:p>
            <a:endParaRPr lang="en-GB"/>
          </a:p>
        </p:txBody>
      </p:sp>
      <p:sp>
        <p:nvSpPr>
          <p:cNvPr id="23" name="Text 20"/>
          <p:cNvSpPr/>
          <p:nvPr/>
        </p:nvSpPr>
        <p:spPr>
          <a:xfrm>
            <a:off x="4224528" y="3886200"/>
            <a:ext cx="4480560" cy="77724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YOUR ACTION: </a:t>
            </a:r>
            <a:r>
              <a:rPr lang="en-US" sz="1150" dirty="0">
                <a:solidFill>
                  <a:srgbClr val="FFFFFF"/>
                </a:solidFill>
                <a:latin typeface="Arial" pitchFamily="34" charset="0"/>
                <a:ea typeface="Arial" pitchFamily="34" charset="-122"/>
                <a:cs typeface="Arial" pitchFamily="34" charset="-120"/>
              </a:rPr>
              <a:t>Do a 5-minute walkway inspection in your area right now.</a:t>
            </a:r>
            <a:endParaRPr lang="en-US" sz="1150" dirty="0"/>
          </a:p>
        </p:txBody>
      </p:sp>
      <p:pic>
        <p:nvPicPr>
          <p:cNvPr id="24" name="Image 0" descr="/home/claude/nuccol_logo.jpg"/>
          <p:cNvPicPr>
            <a:picLocks noChangeAspect="1"/>
          </p:cNvPicPr>
          <p:nvPr/>
        </p:nvPicPr>
        <p:blipFill>
          <a:blip r:embed="rId3"/>
          <a:stretch>
            <a:fillRect/>
          </a:stretch>
        </p:blipFill>
        <p:spPr>
          <a:xfrm>
            <a:off x="201168" y="128016"/>
            <a:ext cx="1280160" cy="612648"/>
          </a:xfrm>
          <a:prstGeom prst="rect">
            <a:avLst/>
          </a:prstGeom>
        </p:spPr>
      </p:pic>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200"/>
        </a:solidFill>
        <a:effectLst/>
      </p:bgPr>
    </p:bg>
    <p:spTree>
      <p:nvGrpSpPr>
        <p:cNvPr id="1" name=""/>
        <p:cNvGrpSpPr/>
        <p:nvPr/>
      </p:nvGrpSpPr>
      <p:grpSpPr>
        <a:xfrm>
          <a:off x="0" y="0"/>
          <a:ext cx="0" cy="0"/>
          <a:chOff x="0" y="0"/>
          <a:chExt cx="0" cy="0"/>
        </a:xfrm>
      </p:grpSpPr>
      <p:sp>
        <p:nvSpPr>
          <p:cNvPr id="3" name="Shape 0"/>
          <p:cNvSpPr/>
          <p:nvPr/>
        </p:nvSpPr>
        <p:spPr>
          <a:xfrm>
            <a:off x="5669280" y="0"/>
            <a:ext cx="3474720" cy="5143500"/>
          </a:xfrm>
          <a:prstGeom prst="rect">
            <a:avLst/>
          </a:prstGeom>
          <a:solidFill>
            <a:srgbClr val="D4A017">
              <a:alpha val="80000"/>
            </a:srgbClr>
          </a:solidFill>
          <a:ln w="12700">
            <a:solidFill>
              <a:srgbClr val="D4A017"/>
            </a:solidFill>
            <a:prstDash val="solid"/>
          </a:ln>
        </p:spPr>
        <p:txBody>
          <a:bodyPr/>
          <a:lstStyle/>
          <a:p>
            <a:endParaRPr lang="en-GB"/>
          </a:p>
        </p:txBody>
      </p:sp>
      <p:sp>
        <p:nvSpPr>
          <p:cNvPr id="4" name="Shape 1"/>
          <p:cNvSpPr/>
          <p:nvPr/>
        </p:nvSpPr>
        <p:spPr>
          <a:xfrm>
            <a:off x="6355080" y="1097280"/>
            <a:ext cx="2103120" cy="2103120"/>
          </a:xfrm>
          <a:prstGeom prst="ellipse">
            <a:avLst/>
          </a:prstGeom>
          <a:solidFill>
            <a:srgbClr val="D4A017">
              <a:alpha val="70000"/>
            </a:srgbClr>
          </a:solidFill>
          <a:ln w="25400">
            <a:solidFill>
              <a:srgbClr val="FFFFFF"/>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6583680" y="1325880"/>
            <a:ext cx="1645920" cy="1645920"/>
          </a:xfrm>
          <a:prstGeom prst="rect">
            <a:avLst/>
          </a:prstGeom>
        </p:spPr>
      </p:pic>
      <p:sp>
        <p:nvSpPr>
          <p:cNvPr id="6" name="Text 2"/>
          <p:cNvSpPr/>
          <p:nvPr/>
        </p:nvSpPr>
        <p:spPr>
          <a:xfrm>
            <a:off x="5687568" y="3383280"/>
            <a:ext cx="3429000" cy="457200"/>
          </a:xfrm>
          <a:prstGeom prst="rect">
            <a:avLst/>
          </a:prstGeom>
          <a:noFill/>
          <a:ln/>
        </p:spPr>
        <p:txBody>
          <a:bodyPr wrap="square" lIns="0" tIns="0" rIns="0" bIns="0" rtlCol="0" anchor="ctr"/>
          <a:lstStyle/>
          <a:p>
            <a:pPr marL="0" indent="0" algn="ctr">
              <a:buNone/>
            </a:pPr>
            <a:r>
              <a:rPr lang="en-US" sz="1300" b="1" kern="0" spc="500" dirty="0">
                <a:solidFill>
                  <a:srgbClr val="FFFFFF"/>
                </a:solidFill>
                <a:latin typeface="Arial" pitchFamily="34" charset="0"/>
                <a:ea typeface="Arial" pitchFamily="34" charset="-122"/>
                <a:cs typeface="Arial" pitchFamily="34" charset="-120"/>
              </a:rPr>
              <a:t>APRIL</a:t>
            </a:r>
            <a:endParaRPr lang="en-US" sz="1300" dirty="0"/>
          </a:p>
        </p:txBody>
      </p:sp>
      <p:sp>
        <p:nvSpPr>
          <p:cNvPr id="7" name="Shape 3"/>
          <p:cNvSpPr/>
          <p:nvPr/>
        </p:nvSpPr>
        <p:spPr>
          <a:xfrm>
            <a:off x="6217920" y="3858768"/>
            <a:ext cx="2331720" cy="0"/>
          </a:xfrm>
          <a:prstGeom prst="line">
            <a:avLst/>
          </a:prstGeom>
          <a:noFill/>
          <a:ln w="10160">
            <a:solidFill>
              <a:srgbClr val="FFFFFF"/>
            </a:solidFill>
            <a:prstDash val="solid"/>
          </a:ln>
        </p:spPr>
        <p:txBody>
          <a:bodyPr/>
          <a:lstStyle/>
          <a:p>
            <a:endParaRPr lang="en-GB"/>
          </a:p>
        </p:txBody>
      </p:sp>
      <p:sp>
        <p:nvSpPr>
          <p:cNvPr id="8" name="Text 4"/>
          <p:cNvSpPr/>
          <p:nvPr/>
        </p:nvSpPr>
        <p:spPr>
          <a:xfrm>
            <a:off x="5687568" y="3913632"/>
            <a:ext cx="34290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NucCol Safety</a:t>
            </a:r>
            <a:endParaRPr lang="en-US" sz="1000" dirty="0"/>
          </a:p>
        </p:txBody>
      </p:sp>
      <p:pic>
        <p:nvPicPr>
          <p:cNvPr id="9" name="Image 1" descr="/home/claude/nuccol_logo.jpg"/>
          <p:cNvPicPr>
            <a:picLocks noChangeAspect="1"/>
          </p:cNvPicPr>
          <p:nvPr/>
        </p:nvPicPr>
        <p:blipFill>
          <a:blip r:embed="rId4"/>
          <a:stretch>
            <a:fillRect/>
          </a:stretch>
        </p:blipFill>
        <p:spPr>
          <a:xfrm>
            <a:off x="274320" y="109728"/>
            <a:ext cx="1188720" cy="576072"/>
          </a:xfrm>
          <a:prstGeom prst="rect">
            <a:avLst/>
          </a:prstGeom>
        </p:spPr>
      </p:pic>
      <p:sp>
        <p:nvSpPr>
          <p:cNvPr id="10" name="Text 5"/>
          <p:cNvSpPr/>
          <p:nvPr/>
        </p:nvSpPr>
        <p:spPr>
          <a:xfrm>
            <a:off x="274320" y="804672"/>
            <a:ext cx="5120640" cy="7772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Never Take a Shortcut at Height</a:t>
            </a:r>
            <a:endParaRPr lang="en-US" sz="3000" dirty="0"/>
          </a:p>
        </p:txBody>
      </p:sp>
      <p:sp>
        <p:nvSpPr>
          <p:cNvPr id="11" name="Text 6"/>
          <p:cNvSpPr/>
          <p:nvPr/>
        </p:nvSpPr>
        <p:spPr>
          <a:xfrm>
            <a:off x="274320" y="1572768"/>
            <a:ext cx="5120640" cy="347472"/>
          </a:xfrm>
          <a:prstGeom prst="rect">
            <a:avLst/>
          </a:prstGeom>
          <a:noFill/>
          <a:ln/>
        </p:spPr>
        <p:txBody>
          <a:bodyPr wrap="square" lIns="0" tIns="0" rIns="0" bIns="0" rtlCol="0" anchor="ctr"/>
          <a:lstStyle/>
          <a:p>
            <a:pPr marL="0" indent="0" algn="l">
              <a:buNone/>
            </a:pPr>
            <a:r>
              <a:rPr lang="en-US" sz="1250" i="1" dirty="0">
                <a:solidFill>
                  <a:srgbClr val="D4A017"/>
                </a:solidFill>
                <a:latin typeface="Arial" pitchFamily="34" charset="0"/>
                <a:ea typeface="Arial" pitchFamily="34" charset="-122"/>
                <a:cs typeface="Arial" pitchFamily="34" charset="-120"/>
              </a:rPr>
              <a:t>Working at Height: Falls Kill</a:t>
            </a:r>
            <a:endParaRPr lang="en-US" sz="1250" dirty="0"/>
          </a:p>
        </p:txBody>
      </p:sp>
      <p:sp>
        <p:nvSpPr>
          <p:cNvPr id="12" name="Shape 7"/>
          <p:cNvSpPr/>
          <p:nvPr/>
        </p:nvSpPr>
        <p:spPr>
          <a:xfrm>
            <a:off x="274320" y="1956816"/>
            <a:ext cx="5029200" cy="0"/>
          </a:xfrm>
          <a:prstGeom prst="line">
            <a:avLst/>
          </a:prstGeom>
          <a:noFill/>
          <a:ln w="19050">
            <a:solidFill>
              <a:srgbClr val="D4A017"/>
            </a:solidFill>
            <a:prstDash val="solid"/>
          </a:ln>
        </p:spPr>
        <p:txBody>
          <a:bodyPr/>
          <a:lstStyle/>
          <a:p>
            <a:endParaRPr lang="en-GB"/>
          </a:p>
        </p:txBody>
      </p:sp>
      <p:sp>
        <p:nvSpPr>
          <p:cNvPr id="13" name="Shape 8"/>
          <p:cNvSpPr/>
          <p:nvPr/>
        </p:nvSpPr>
        <p:spPr>
          <a:xfrm>
            <a:off x="274320" y="2048256"/>
            <a:ext cx="274320" cy="274320"/>
          </a:xfrm>
          <a:prstGeom prst="ellipse">
            <a:avLst/>
          </a:prstGeom>
          <a:solidFill>
            <a:srgbClr val="D4A017"/>
          </a:solidFill>
          <a:ln w="12700">
            <a:solidFill>
              <a:srgbClr val="D4A017"/>
            </a:solidFill>
            <a:prstDash val="solid"/>
          </a:ln>
        </p:spPr>
        <p:txBody>
          <a:bodyPr/>
          <a:lstStyle/>
          <a:p>
            <a:endParaRPr lang="en-GB"/>
          </a:p>
        </p:txBody>
      </p:sp>
      <p:sp>
        <p:nvSpPr>
          <p:cNvPr id="14" name="Text 9"/>
          <p:cNvSpPr/>
          <p:nvPr/>
        </p:nvSpPr>
        <p:spPr>
          <a:xfrm>
            <a:off x="274320" y="2029968"/>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0"/>
          <p:cNvSpPr/>
          <p:nvPr/>
        </p:nvSpPr>
        <p:spPr>
          <a:xfrm>
            <a:off x="640080" y="2048256"/>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Inspect access equipment before every use — no exceptions</a:t>
            </a:r>
            <a:endParaRPr lang="en-US" sz="1250" dirty="0"/>
          </a:p>
        </p:txBody>
      </p:sp>
      <p:sp>
        <p:nvSpPr>
          <p:cNvPr id="16" name="Shape 11"/>
          <p:cNvSpPr/>
          <p:nvPr/>
        </p:nvSpPr>
        <p:spPr>
          <a:xfrm>
            <a:off x="274320" y="2560320"/>
            <a:ext cx="274320" cy="274320"/>
          </a:xfrm>
          <a:prstGeom prst="ellipse">
            <a:avLst/>
          </a:prstGeom>
          <a:solidFill>
            <a:srgbClr val="D4A017"/>
          </a:solidFill>
          <a:ln w="12700">
            <a:solidFill>
              <a:srgbClr val="D4A017"/>
            </a:solidFill>
            <a:prstDash val="solid"/>
          </a:ln>
        </p:spPr>
        <p:txBody>
          <a:bodyPr/>
          <a:lstStyle/>
          <a:p>
            <a:endParaRPr lang="en-GB"/>
          </a:p>
        </p:txBody>
      </p:sp>
      <p:sp>
        <p:nvSpPr>
          <p:cNvPr id="17" name="Text 12"/>
          <p:cNvSpPr/>
          <p:nvPr/>
        </p:nvSpPr>
        <p:spPr>
          <a:xfrm>
            <a:off x="274320" y="2542032"/>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3"/>
          <p:cNvSpPr/>
          <p:nvPr/>
        </p:nvSpPr>
        <p:spPr>
          <a:xfrm>
            <a:off x="640080" y="2560320"/>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Set ladders at the correct angle and secure them at the top</a:t>
            </a:r>
            <a:endParaRPr lang="en-US" sz="1250" dirty="0"/>
          </a:p>
        </p:txBody>
      </p:sp>
      <p:sp>
        <p:nvSpPr>
          <p:cNvPr id="19" name="Shape 14"/>
          <p:cNvSpPr/>
          <p:nvPr/>
        </p:nvSpPr>
        <p:spPr>
          <a:xfrm>
            <a:off x="274320" y="3072384"/>
            <a:ext cx="274320" cy="274320"/>
          </a:xfrm>
          <a:prstGeom prst="ellipse">
            <a:avLst/>
          </a:prstGeom>
          <a:solidFill>
            <a:srgbClr val="D4A017"/>
          </a:solidFill>
          <a:ln w="12700">
            <a:solidFill>
              <a:srgbClr val="D4A017"/>
            </a:solidFill>
            <a:prstDash val="solid"/>
          </a:ln>
        </p:spPr>
        <p:txBody>
          <a:bodyPr/>
          <a:lstStyle/>
          <a:p>
            <a:endParaRPr lang="en-GB"/>
          </a:p>
        </p:txBody>
      </p:sp>
      <p:sp>
        <p:nvSpPr>
          <p:cNvPr id="20" name="Text 15"/>
          <p:cNvSpPr/>
          <p:nvPr/>
        </p:nvSpPr>
        <p:spPr>
          <a:xfrm>
            <a:off x="274320" y="3054096"/>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6"/>
          <p:cNvSpPr/>
          <p:nvPr/>
        </p:nvSpPr>
        <p:spPr>
          <a:xfrm>
            <a:off x="640080" y="3072384"/>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Maintain three points of contact at all times</a:t>
            </a:r>
            <a:endParaRPr lang="en-US" sz="1250" dirty="0"/>
          </a:p>
        </p:txBody>
      </p:sp>
      <p:sp>
        <p:nvSpPr>
          <p:cNvPr id="22" name="Shape 17"/>
          <p:cNvSpPr/>
          <p:nvPr/>
        </p:nvSpPr>
        <p:spPr>
          <a:xfrm>
            <a:off x="274320" y="3584448"/>
            <a:ext cx="274320" cy="274320"/>
          </a:xfrm>
          <a:prstGeom prst="ellipse">
            <a:avLst/>
          </a:prstGeom>
          <a:solidFill>
            <a:srgbClr val="D4A017"/>
          </a:solidFill>
          <a:ln w="12700">
            <a:solidFill>
              <a:srgbClr val="D4A017"/>
            </a:solidFill>
            <a:prstDash val="solid"/>
          </a:ln>
        </p:spPr>
        <p:txBody>
          <a:bodyPr/>
          <a:lstStyle/>
          <a:p>
            <a:endParaRPr lang="en-GB"/>
          </a:p>
        </p:txBody>
      </p:sp>
      <p:sp>
        <p:nvSpPr>
          <p:cNvPr id="23" name="Text 18"/>
          <p:cNvSpPr/>
          <p:nvPr/>
        </p:nvSpPr>
        <p:spPr>
          <a:xfrm>
            <a:off x="274320" y="3566160"/>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19"/>
          <p:cNvSpPr/>
          <p:nvPr/>
        </p:nvSpPr>
        <p:spPr>
          <a:xfrm>
            <a:off x="640080" y="3584448"/>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Barrier off the area below overhead work to protect others</a:t>
            </a:r>
            <a:endParaRPr lang="en-US" sz="1250" dirty="0"/>
          </a:p>
        </p:txBody>
      </p:sp>
      <p:sp>
        <p:nvSpPr>
          <p:cNvPr id="25" name="Shape 20"/>
          <p:cNvSpPr/>
          <p:nvPr/>
        </p:nvSpPr>
        <p:spPr>
          <a:xfrm>
            <a:off x="274320" y="4224528"/>
            <a:ext cx="5166360" cy="685800"/>
          </a:xfrm>
          <a:prstGeom prst="roundRect">
            <a:avLst>
              <a:gd name="adj" fmla="val 10667"/>
            </a:avLst>
          </a:prstGeom>
          <a:solidFill>
            <a:srgbClr val="0A2540"/>
          </a:solidFill>
          <a:ln w="19050">
            <a:solidFill>
              <a:srgbClr val="D4A017"/>
            </a:solidFill>
            <a:prstDash val="solid"/>
          </a:ln>
        </p:spPr>
        <p:txBody>
          <a:bodyPr/>
          <a:lstStyle/>
          <a:p>
            <a:endParaRPr lang="en-GB"/>
          </a:p>
        </p:txBody>
      </p:sp>
      <p:sp>
        <p:nvSpPr>
          <p:cNvPr id="26" name="Text 21"/>
          <p:cNvSpPr/>
          <p:nvPr/>
        </p:nvSpPr>
        <p:spPr>
          <a:xfrm>
            <a:off x="384048" y="4270248"/>
            <a:ext cx="4937760" cy="594360"/>
          </a:xfrm>
          <a:prstGeom prst="rect">
            <a:avLst/>
          </a:prstGeom>
          <a:noFill/>
          <a:ln/>
        </p:spPr>
        <p:txBody>
          <a:bodyPr wrap="square" lIns="0" tIns="0" rIns="0" bIns="0" rtlCol="0" anchor="ctr"/>
          <a:lstStyle/>
          <a:p>
            <a:pPr marL="0" indent="0">
              <a:buNone/>
            </a:pPr>
            <a:r>
              <a:rPr lang="en-US" sz="1100" b="1" dirty="0">
                <a:solidFill>
                  <a:srgbClr val="D4A017"/>
                </a:solidFill>
                <a:latin typeface="Arial" pitchFamily="34" charset="0"/>
                <a:ea typeface="Arial" pitchFamily="34" charset="-122"/>
                <a:cs typeface="Arial" pitchFamily="34" charset="-120"/>
              </a:rPr>
              <a:t>YOUR ACTION: </a:t>
            </a:r>
            <a:r>
              <a:rPr lang="en-US" sz="1100" dirty="0">
                <a:solidFill>
                  <a:srgbClr val="FFFFFF"/>
                </a:solidFill>
                <a:latin typeface="Arial" pitchFamily="34" charset="0"/>
                <a:ea typeface="Arial" pitchFamily="34" charset="-122"/>
                <a:cs typeface="Arial" pitchFamily="34" charset="-120"/>
              </a:rPr>
              <a:t>Check all access equipment in your area is within its inspection date.</a:t>
            </a:r>
            <a:endParaRPr lang="en-US" sz="11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01E"/>
        </a:solidFill>
        <a:effectLst/>
      </p:bgPr>
    </p:bg>
    <p:spTree>
      <p:nvGrpSpPr>
        <p:cNvPr id="1" name=""/>
        <p:cNvGrpSpPr/>
        <p:nvPr/>
      </p:nvGrpSpPr>
      <p:grpSpPr>
        <a:xfrm>
          <a:off x="0" y="0"/>
          <a:ext cx="0" cy="0"/>
          <a:chOff x="0" y="0"/>
          <a:chExt cx="0" cy="0"/>
        </a:xfrm>
      </p:grpSpPr>
      <p:sp>
        <p:nvSpPr>
          <p:cNvPr id="3" name="Shape 0"/>
          <p:cNvSpPr/>
          <p:nvPr/>
        </p:nvSpPr>
        <p:spPr>
          <a:xfrm>
            <a:off x="0" y="0"/>
            <a:ext cx="9144000" cy="1005840"/>
          </a:xfrm>
          <a:prstGeom prst="rect">
            <a:avLst/>
          </a:prstGeom>
          <a:solidFill>
            <a:srgbClr val="83348F"/>
          </a:solidFill>
          <a:ln w="12700">
            <a:solidFill>
              <a:srgbClr val="83348F"/>
            </a:solidFill>
            <a:prstDash val="solid"/>
          </a:ln>
        </p:spPr>
        <p:txBody>
          <a:bodyPr/>
          <a:lstStyle/>
          <a:p>
            <a:endParaRPr lang="en-GB"/>
          </a:p>
        </p:txBody>
      </p:sp>
      <p:pic>
        <p:nvPicPr>
          <p:cNvPr id="4" name="Image 0" descr="/home/claude/nuccol_logo.jpg"/>
          <p:cNvPicPr>
            <a:picLocks noChangeAspect="1"/>
          </p:cNvPicPr>
          <p:nvPr/>
        </p:nvPicPr>
        <p:blipFill>
          <a:blip r:embed="rId3"/>
          <a:stretch>
            <a:fillRect/>
          </a:stretch>
        </p:blipFill>
        <p:spPr>
          <a:xfrm>
            <a:off x="228600" y="182880"/>
            <a:ext cx="1097280" cy="530352"/>
          </a:xfrm>
          <a:prstGeom prst="rect">
            <a:avLst/>
          </a:prstGeom>
        </p:spPr>
      </p:pic>
      <p:sp>
        <p:nvSpPr>
          <p:cNvPr id="5" name="Text 1"/>
          <p:cNvSpPr/>
          <p:nvPr/>
        </p:nvSpPr>
        <p:spPr>
          <a:xfrm>
            <a:off x="1508760" y="109728"/>
            <a:ext cx="2011680" cy="384048"/>
          </a:xfrm>
          <a:prstGeom prst="rect">
            <a:avLst/>
          </a:prstGeom>
          <a:noFill/>
          <a:ln/>
        </p:spPr>
        <p:txBody>
          <a:bodyPr wrap="square" lIns="0" tIns="0" rIns="0" bIns="0" rtlCol="0" anchor="ctr"/>
          <a:lstStyle/>
          <a:p>
            <a:pPr marL="0" indent="0" algn="l">
              <a:buNone/>
            </a:pPr>
            <a:r>
              <a:rPr lang="en-US" sz="1400" b="1" kern="0" spc="400" dirty="0">
                <a:solidFill>
                  <a:srgbClr val="FFFFFF"/>
                </a:solidFill>
                <a:latin typeface="Arial" pitchFamily="34" charset="0"/>
                <a:ea typeface="Arial" pitchFamily="34" charset="-122"/>
                <a:cs typeface="Arial" pitchFamily="34" charset="-120"/>
              </a:rPr>
              <a:t>MAY</a:t>
            </a:r>
            <a:endParaRPr lang="en-US" sz="1400" dirty="0"/>
          </a:p>
        </p:txBody>
      </p:sp>
      <p:sp>
        <p:nvSpPr>
          <p:cNvPr id="6" name="Text 2"/>
          <p:cNvSpPr/>
          <p:nvPr/>
        </p:nvSpPr>
        <p:spPr>
          <a:xfrm>
            <a:off x="1508760" y="512064"/>
            <a:ext cx="2286000" cy="274320"/>
          </a:xfrm>
          <a:prstGeom prst="rect">
            <a:avLst/>
          </a:prstGeom>
          <a:noFill/>
          <a:ln/>
        </p:spPr>
        <p:txBody>
          <a:bodyPr wrap="square" lIns="0" tIns="0" rIns="0" bIns="0" rtlCol="0" anchor="ctr"/>
          <a:lstStyle/>
          <a:p>
            <a:pPr marL="0" indent="0" algn="l">
              <a:buNone/>
            </a:pPr>
            <a:r>
              <a:rPr lang="en-US" sz="1000" dirty="0">
                <a:solidFill>
                  <a:srgbClr val="FFFFFF"/>
                </a:solidFill>
                <a:latin typeface="Arial" pitchFamily="34" charset="0"/>
                <a:ea typeface="Arial" pitchFamily="34" charset="-122"/>
                <a:cs typeface="Arial" pitchFamily="34" charset="-120"/>
              </a:rPr>
              <a:t>Monthly Safety Message</a:t>
            </a:r>
            <a:endParaRPr lang="en-US" sz="1000" dirty="0"/>
          </a:p>
        </p:txBody>
      </p:sp>
      <p:sp>
        <p:nvSpPr>
          <p:cNvPr id="8" name="Shape 3"/>
          <p:cNvSpPr/>
          <p:nvPr/>
        </p:nvSpPr>
        <p:spPr>
          <a:xfrm>
            <a:off x="274320" y="1188720"/>
            <a:ext cx="2560320" cy="2011680"/>
          </a:xfrm>
          <a:prstGeom prst="roundRect">
            <a:avLst>
              <a:gd name="adj" fmla="val 4545"/>
            </a:avLst>
          </a:prstGeom>
          <a:solidFill>
            <a:srgbClr val="83348F">
              <a:alpha val="82000"/>
            </a:srgbClr>
          </a:solidFill>
          <a:ln w="19050">
            <a:solidFill>
              <a:srgbClr val="83348F"/>
            </a:solidFill>
            <a:prstDash val="solid"/>
          </a:ln>
          <a:effectLst>
            <a:outerShdw blurRad="127000" dist="38100" dir="8100000" algn="bl" rotWithShape="0">
              <a:srgbClr val="000000">
                <a:alpha val="30000"/>
              </a:srgbClr>
            </a:outerShdw>
          </a:effectLst>
        </p:spPr>
        <p:txBody>
          <a:bodyPr/>
          <a:lstStyle/>
          <a:p>
            <a:endParaRPr lang="en-GB"/>
          </a:p>
        </p:txBody>
      </p:sp>
      <p:sp>
        <p:nvSpPr>
          <p:cNvPr id="9" name="Text 4"/>
          <p:cNvSpPr/>
          <p:nvPr/>
        </p:nvSpPr>
        <p:spPr>
          <a:xfrm>
            <a:off x="292608" y="1280160"/>
            <a:ext cx="2523744"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17,000</a:t>
            </a:r>
            <a:endParaRPr lang="en-US" sz="4400" dirty="0"/>
          </a:p>
        </p:txBody>
      </p:sp>
      <p:sp>
        <p:nvSpPr>
          <p:cNvPr id="10" name="Text 5"/>
          <p:cNvSpPr/>
          <p:nvPr/>
        </p:nvSpPr>
        <p:spPr>
          <a:xfrm>
            <a:off x="320040" y="2286000"/>
            <a:ext cx="2468880" cy="822960"/>
          </a:xfrm>
          <a:prstGeom prst="rect">
            <a:avLst/>
          </a:prstGeom>
          <a:noFill/>
          <a:ln/>
        </p:spPr>
        <p:txBody>
          <a:bodyPr wrap="square" lIns="0" tIns="0" rIns="0" bIns="0" rtlCol="0" anchor="t"/>
          <a:lstStyle/>
          <a:p>
            <a:pPr marL="0" indent="0" algn="ctr">
              <a:buNone/>
            </a:pPr>
            <a:r>
              <a:rPr lang="en-US" sz="1050" dirty="0">
                <a:solidFill>
                  <a:srgbClr val="FFFFFF"/>
                </a:solidFill>
                <a:latin typeface="Arial" pitchFamily="34" charset="0"/>
                <a:ea typeface="Arial" pitchFamily="34" charset="-122"/>
                <a:cs typeface="Arial" pitchFamily="34" charset="-120"/>
              </a:rPr>
              <a:t>UK workers suffer occupational deafness or tinnitus</a:t>
            </a:r>
            <a:endParaRPr lang="en-US" sz="1050" dirty="0"/>
          </a:p>
        </p:txBody>
      </p:sp>
      <p:sp>
        <p:nvSpPr>
          <p:cNvPr id="11" name="Text 6"/>
          <p:cNvSpPr/>
          <p:nvPr/>
        </p:nvSpPr>
        <p:spPr>
          <a:xfrm>
            <a:off x="3108960" y="1170432"/>
            <a:ext cx="5760720" cy="731520"/>
          </a:xfrm>
          <a:prstGeom prst="rect">
            <a:avLst/>
          </a:prstGeom>
          <a:noFill/>
          <a:ln/>
        </p:spPr>
        <p:txBody>
          <a:bodyPr wrap="square" lIns="0" tIns="0" rIns="0" bIns="0" rtlCol="0" anchor="t"/>
          <a:lstStyle/>
          <a:p>
            <a:pPr marL="0" indent="0" algn="l">
              <a:buNone/>
            </a:pPr>
            <a:r>
              <a:rPr lang="en-US" sz="2600" b="1" dirty="0">
                <a:solidFill>
                  <a:srgbClr val="FFFFFF"/>
                </a:solidFill>
                <a:latin typeface="Cambria" pitchFamily="34" charset="0"/>
                <a:ea typeface="Cambria" pitchFamily="34" charset="-122"/>
                <a:cs typeface="Cambria" pitchFamily="34" charset="-120"/>
              </a:rPr>
              <a:t>The Damage You Cannot See or Hear</a:t>
            </a:r>
            <a:endParaRPr lang="en-US" sz="2600" dirty="0"/>
          </a:p>
        </p:txBody>
      </p:sp>
      <p:sp>
        <p:nvSpPr>
          <p:cNvPr id="12" name="Text 7"/>
          <p:cNvSpPr/>
          <p:nvPr/>
        </p:nvSpPr>
        <p:spPr>
          <a:xfrm>
            <a:off x="3108960" y="1901952"/>
            <a:ext cx="5760720" cy="347472"/>
          </a:xfrm>
          <a:prstGeom prst="rect">
            <a:avLst/>
          </a:prstGeom>
          <a:noFill/>
          <a:ln/>
        </p:spPr>
        <p:txBody>
          <a:bodyPr wrap="square" lIns="0" tIns="0" rIns="0" bIns="0" rtlCol="0" anchor="ctr"/>
          <a:lstStyle/>
          <a:p>
            <a:pPr marL="0" indent="0" algn="l">
              <a:buNone/>
            </a:pPr>
            <a:r>
              <a:rPr lang="en-US" sz="1200" i="1" dirty="0">
                <a:solidFill>
                  <a:srgbClr val="83348F"/>
                </a:solidFill>
                <a:latin typeface="Arial" pitchFamily="34" charset="0"/>
                <a:ea typeface="Arial" pitchFamily="34" charset="-122"/>
                <a:cs typeface="Arial" pitchFamily="34" charset="-120"/>
              </a:rPr>
              <a:t>Noise &amp; Vibration: Permanent. Preventable.</a:t>
            </a:r>
            <a:endParaRPr lang="en-US" sz="1200" dirty="0"/>
          </a:p>
        </p:txBody>
      </p:sp>
      <p:sp>
        <p:nvSpPr>
          <p:cNvPr id="13" name="Shape 8"/>
          <p:cNvSpPr/>
          <p:nvPr/>
        </p:nvSpPr>
        <p:spPr>
          <a:xfrm>
            <a:off x="3108960" y="2350008"/>
            <a:ext cx="256032" cy="256032"/>
          </a:xfrm>
          <a:prstGeom prst="ellipse">
            <a:avLst/>
          </a:prstGeom>
          <a:solidFill>
            <a:srgbClr val="83348F"/>
          </a:solidFill>
          <a:ln w="12700">
            <a:solidFill>
              <a:srgbClr val="83348F"/>
            </a:solidFill>
            <a:prstDash val="solid"/>
          </a:ln>
        </p:spPr>
        <p:txBody>
          <a:bodyPr/>
          <a:lstStyle/>
          <a:p>
            <a:endParaRPr lang="en-GB"/>
          </a:p>
        </p:txBody>
      </p:sp>
      <p:sp>
        <p:nvSpPr>
          <p:cNvPr id="14" name="Text 9"/>
          <p:cNvSpPr/>
          <p:nvPr/>
        </p:nvSpPr>
        <p:spPr>
          <a:xfrm>
            <a:off x="3108960" y="2331720"/>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Text 10"/>
          <p:cNvSpPr/>
          <p:nvPr/>
        </p:nvSpPr>
        <p:spPr>
          <a:xfrm>
            <a:off x="3456432" y="2350008"/>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Wear hearing protection in ALL designated zones — no exceptions</a:t>
            </a:r>
            <a:endParaRPr lang="en-US" sz="1250" dirty="0"/>
          </a:p>
        </p:txBody>
      </p:sp>
      <p:sp>
        <p:nvSpPr>
          <p:cNvPr id="16" name="Shape 11"/>
          <p:cNvSpPr/>
          <p:nvPr/>
        </p:nvSpPr>
        <p:spPr>
          <a:xfrm>
            <a:off x="3108960" y="2779776"/>
            <a:ext cx="256032" cy="256032"/>
          </a:xfrm>
          <a:prstGeom prst="ellipse">
            <a:avLst/>
          </a:prstGeom>
          <a:solidFill>
            <a:srgbClr val="83348F"/>
          </a:solidFill>
          <a:ln w="12700">
            <a:solidFill>
              <a:srgbClr val="83348F"/>
            </a:solidFill>
            <a:prstDash val="solid"/>
          </a:ln>
        </p:spPr>
        <p:txBody>
          <a:bodyPr/>
          <a:lstStyle/>
          <a:p>
            <a:endParaRPr lang="en-GB"/>
          </a:p>
        </p:txBody>
      </p:sp>
      <p:sp>
        <p:nvSpPr>
          <p:cNvPr id="17" name="Text 12"/>
          <p:cNvSpPr/>
          <p:nvPr/>
        </p:nvSpPr>
        <p:spPr>
          <a:xfrm>
            <a:off x="3108960" y="2761488"/>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8" name="Text 13"/>
          <p:cNvSpPr/>
          <p:nvPr/>
        </p:nvSpPr>
        <p:spPr>
          <a:xfrm>
            <a:off x="3456432" y="2779776"/>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Know the safe use time for every vibrating tool you use</a:t>
            </a:r>
            <a:endParaRPr lang="en-US" sz="1250" dirty="0"/>
          </a:p>
        </p:txBody>
      </p:sp>
      <p:sp>
        <p:nvSpPr>
          <p:cNvPr id="19" name="Shape 14"/>
          <p:cNvSpPr/>
          <p:nvPr/>
        </p:nvSpPr>
        <p:spPr>
          <a:xfrm>
            <a:off x="3108960" y="3209544"/>
            <a:ext cx="256032" cy="256032"/>
          </a:xfrm>
          <a:prstGeom prst="ellipse">
            <a:avLst/>
          </a:prstGeom>
          <a:solidFill>
            <a:srgbClr val="83348F"/>
          </a:solidFill>
          <a:ln w="12700">
            <a:solidFill>
              <a:srgbClr val="83348F"/>
            </a:solidFill>
            <a:prstDash val="solid"/>
          </a:ln>
        </p:spPr>
        <p:txBody>
          <a:bodyPr/>
          <a:lstStyle/>
          <a:p>
            <a:endParaRPr lang="en-GB"/>
          </a:p>
        </p:txBody>
      </p:sp>
      <p:sp>
        <p:nvSpPr>
          <p:cNvPr id="20" name="Text 15"/>
          <p:cNvSpPr/>
          <p:nvPr/>
        </p:nvSpPr>
        <p:spPr>
          <a:xfrm>
            <a:off x="3108960" y="3191256"/>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6"/>
          <p:cNvSpPr/>
          <p:nvPr/>
        </p:nvSpPr>
        <p:spPr>
          <a:xfrm>
            <a:off x="3456432" y="3209544"/>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Take regular breaks from high-vibration tasks</a:t>
            </a:r>
            <a:endParaRPr lang="en-US" sz="1250" dirty="0"/>
          </a:p>
        </p:txBody>
      </p:sp>
      <p:sp>
        <p:nvSpPr>
          <p:cNvPr id="22" name="Shape 17"/>
          <p:cNvSpPr/>
          <p:nvPr/>
        </p:nvSpPr>
        <p:spPr>
          <a:xfrm>
            <a:off x="3108960" y="3639312"/>
            <a:ext cx="256032" cy="256032"/>
          </a:xfrm>
          <a:prstGeom prst="ellipse">
            <a:avLst/>
          </a:prstGeom>
          <a:solidFill>
            <a:srgbClr val="83348F"/>
          </a:solidFill>
          <a:ln w="12700">
            <a:solidFill>
              <a:srgbClr val="83348F"/>
            </a:solidFill>
            <a:prstDash val="solid"/>
          </a:ln>
        </p:spPr>
        <p:txBody>
          <a:bodyPr/>
          <a:lstStyle/>
          <a:p>
            <a:endParaRPr lang="en-GB"/>
          </a:p>
        </p:txBody>
      </p:sp>
      <p:sp>
        <p:nvSpPr>
          <p:cNvPr id="23" name="Text 18"/>
          <p:cNvSpPr/>
          <p:nvPr/>
        </p:nvSpPr>
        <p:spPr>
          <a:xfrm>
            <a:off x="3108960" y="3621024"/>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4" name="Text 19"/>
          <p:cNvSpPr/>
          <p:nvPr/>
        </p:nvSpPr>
        <p:spPr>
          <a:xfrm>
            <a:off x="3456432" y="3639312"/>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Report tingling, numbness, or ringing in the ears immediately</a:t>
            </a:r>
            <a:endParaRPr lang="en-US" sz="1250" dirty="0"/>
          </a:p>
        </p:txBody>
      </p:sp>
      <p:sp>
        <p:nvSpPr>
          <p:cNvPr id="25" name="Shape 20"/>
          <p:cNvSpPr/>
          <p:nvPr/>
        </p:nvSpPr>
        <p:spPr>
          <a:xfrm>
            <a:off x="0" y="4187952"/>
            <a:ext cx="9144000" cy="731520"/>
          </a:xfrm>
          <a:prstGeom prst="rect">
            <a:avLst/>
          </a:prstGeom>
          <a:solidFill>
            <a:srgbClr val="83348F">
              <a:alpha val="75000"/>
            </a:srgbClr>
          </a:solidFill>
          <a:ln w="12700">
            <a:solidFill>
              <a:srgbClr val="83348F"/>
            </a:solidFill>
            <a:prstDash val="solid"/>
          </a:ln>
        </p:spPr>
        <p:txBody>
          <a:bodyPr/>
          <a:lstStyle/>
          <a:p>
            <a:endParaRPr lang="en-GB"/>
          </a:p>
        </p:txBody>
      </p:sp>
      <p:sp>
        <p:nvSpPr>
          <p:cNvPr id="26" name="Text 21"/>
          <p:cNvSpPr/>
          <p:nvPr/>
        </p:nvSpPr>
        <p:spPr>
          <a:xfrm>
            <a:off x="274320" y="4224528"/>
            <a:ext cx="8595360" cy="640080"/>
          </a:xfrm>
          <a:prstGeom prst="rect">
            <a:avLst/>
          </a:prstGeom>
          <a:noFill/>
          <a:ln/>
        </p:spPr>
        <p:txBody>
          <a:bodyPr wrap="square" lIns="0" tIns="0" rIns="0" bIns="0" rtlCol="0" anchor="ctr"/>
          <a:lstStyle/>
          <a:p>
            <a:pPr marL="0" indent="0">
              <a:buNone/>
            </a:pPr>
            <a:r>
              <a:rPr lang="en-US" sz="1150" b="1" dirty="0">
                <a:solidFill>
                  <a:srgbClr val="83348F"/>
                </a:solidFill>
                <a:latin typeface="Arial" pitchFamily="34" charset="0"/>
                <a:ea typeface="Arial" pitchFamily="34" charset="-122"/>
                <a:cs typeface="Arial" pitchFamily="34" charset="-120"/>
              </a:rPr>
              <a:t>YOUR ACTION THIS MONTH: </a:t>
            </a:r>
            <a:r>
              <a:rPr lang="en-US" sz="1150" dirty="0">
                <a:solidFill>
                  <a:srgbClr val="FFFFFF"/>
                </a:solidFill>
                <a:latin typeface="Arial" pitchFamily="34" charset="0"/>
                <a:ea typeface="Arial" pitchFamily="34" charset="-122"/>
                <a:cs typeface="Arial" pitchFamily="34" charset="-120"/>
              </a:rPr>
              <a:t>Check you know the safe use times for every vibrating tool you operate.</a:t>
            </a:r>
            <a:endParaRPr lang="en-US" sz="115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2233"/>
        </a:solidFill>
        <a:effectLst/>
      </p:bgPr>
    </p:bg>
    <p:spTree>
      <p:nvGrpSpPr>
        <p:cNvPr id="1" name=""/>
        <p:cNvGrpSpPr/>
        <p:nvPr/>
      </p:nvGrpSpPr>
      <p:grpSpPr>
        <a:xfrm>
          <a:off x="0" y="0"/>
          <a:ext cx="0" cy="0"/>
          <a:chOff x="0" y="0"/>
          <a:chExt cx="0" cy="0"/>
        </a:xfrm>
      </p:grpSpPr>
      <p:sp>
        <p:nvSpPr>
          <p:cNvPr id="3" name="Shape 0"/>
          <p:cNvSpPr/>
          <p:nvPr/>
        </p:nvSpPr>
        <p:spPr>
          <a:xfrm>
            <a:off x="0" y="0"/>
            <a:ext cx="3840480" cy="5143500"/>
          </a:xfrm>
          <a:prstGeom prst="rect">
            <a:avLst/>
          </a:prstGeom>
          <a:solidFill>
            <a:srgbClr val="009FE3">
              <a:alpha val="85000"/>
            </a:srgbClr>
          </a:solidFill>
          <a:ln w="12700">
            <a:solidFill>
              <a:srgbClr val="009FE3"/>
            </a:solidFill>
            <a:prstDash val="solid"/>
          </a:ln>
        </p:spPr>
        <p:txBody>
          <a:bodyPr/>
          <a:lstStyle/>
          <a:p>
            <a:endParaRPr lang="en-GB"/>
          </a:p>
        </p:txBody>
      </p:sp>
      <p:sp>
        <p:nvSpPr>
          <p:cNvPr id="4" name="Text 1"/>
          <p:cNvSpPr/>
          <p:nvPr/>
        </p:nvSpPr>
        <p:spPr>
          <a:xfrm>
            <a:off x="164592" y="914400"/>
            <a:ext cx="347472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1 in 5</a:t>
            </a:r>
            <a:endParaRPr lang="en-US" sz="7200" dirty="0"/>
          </a:p>
        </p:txBody>
      </p:sp>
      <p:sp>
        <p:nvSpPr>
          <p:cNvPr id="5" name="Text 2"/>
          <p:cNvSpPr/>
          <p:nvPr/>
        </p:nvSpPr>
        <p:spPr>
          <a:xfrm>
            <a:off x="182880" y="2651760"/>
            <a:ext cx="3429000" cy="91440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cases of occupational asthma are caused by metalworking fluids</a:t>
            </a:r>
            <a:endParaRPr lang="en-US" sz="1200" dirty="0"/>
          </a:p>
        </p:txBody>
      </p:sp>
      <p:sp>
        <p:nvSpPr>
          <p:cNvPr id="6" name="Text 3"/>
          <p:cNvSpPr/>
          <p:nvPr/>
        </p:nvSpPr>
        <p:spPr>
          <a:xfrm>
            <a:off x="164592" y="4160520"/>
            <a:ext cx="3474720" cy="640080"/>
          </a:xfrm>
          <a:prstGeom prst="rect">
            <a:avLst/>
          </a:prstGeom>
          <a:noFill/>
          <a:ln/>
        </p:spPr>
        <p:txBody>
          <a:bodyPr wrap="square" lIns="0" tIns="0" rIns="0" bIns="0"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JUNE</a:t>
            </a:r>
            <a:endParaRPr lang="en-US" sz="1300" dirty="0"/>
          </a:p>
        </p:txBody>
      </p:sp>
      <p:sp>
        <p:nvSpPr>
          <p:cNvPr id="7" name="Text 4"/>
          <p:cNvSpPr/>
          <p:nvPr/>
        </p:nvSpPr>
        <p:spPr>
          <a:xfrm>
            <a:off x="4114800" y="228600"/>
            <a:ext cx="4754880" cy="82296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Know What You Are Working With</a:t>
            </a:r>
            <a:endParaRPr lang="en-US" sz="2800" dirty="0"/>
          </a:p>
        </p:txBody>
      </p:sp>
      <p:sp>
        <p:nvSpPr>
          <p:cNvPr id="8" name="Text 5"/>
          <p:cNvSpPr/>
          <p:nvPr/>
        </p:nvSpPr>
        <p:spPr>
          <a:xfrm>
            <a:off x="4114800" y="960120"/>
            <a:ext cx="4754880" cy="411480"/>
          </a:xfrm>
          <a:prstGeom prst="rect">
            <a:avLst/>
          </a:prstGeom>
          <a:noFill/>
          <a:ln/>
        </p:spPr>
        <p:txBody>
          <a:bodyPr wrap="square" lIns="0" tIns="0" rIns="0" bIns="0" rtlCol="0" anchor="t"/>
          <a:lstStyle/>
          <a:p>
            <a:pPr marL="0" indent="0" algn="l">
              <a:buNone/>
            </a:pPr>
            <a:r>
              <a:rPr lang="en-US" sz="1300" i="1" dirty="0">
                <a:solidFill>
                  <a:srgbClr val="009FE3"/>
                </a:solidFill>
                <a:latin typeface="Arial" pitchFamily="34" charset="0"/>
                <a:ea typeface="Arial" pitchFamily="34" charset="-122"/>
                <a:cs typeface="Arial" pitchFamily="34" charset="-120"/>
              </a:rPr>
              <a:t>Hazardous Substances: Read the COSHH Assessment</a:t>
            </a:r>
            <a:endParaRPr lang="en-US" sz="1300" dirty="0"/>
          </a:p>
        </p:txBody>
      </p:sp>
      <p:sp>
        <p:nvSpPr>
          <p:cNvPr id="9" name="Shape 6"/>
          <p:cNvSpPr/>
          <p:nvPr/>
        </p:nvSpPr>
        <p:spPr>
          <a:xfrm>
            <a:off x="4114800" y="1417320"/>
            <a:ext cx="4663440" cy="0"/>
          </a:xfrm>
          <a:prstGeom prst="line">
            <a:avLst/>
          </a:prstGeom>
          <a:noFill/>
          <a:ln w="19050">
            <a:solidFill>
              <a:srgbClr val="009FE3"/>
            </a:solidFill>
            <a:prstDash val="solid"/>
          </a:ln>
        </p:spPr>
        <p:txBody>
          <a:bodyPr/>
          <a:lstStyle/>
          <a:p>
            <a:endParaRPr lang="en-GB"/>
          </a:p>
        </p:txBody>
      </p:sp>
      <p:sp>
        <p:nvSpPr>
          <p:cNvPr id="10" name="Shape 7"/>
          <p:cNvSpPr/>
          <p:nvPr/>
        </p:nvSpPr>
        <p:spPr>
          <a:xfrm>
            <a:off x="4114800" y="1563624"/>
            <a:ext cx="292608" cy="292608"/>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4114800" y="1554480"/>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p:nvPr/>
        </p:nvSpPr>
        <p:spPr>
          <a:xfrm>
            <a:off x="4498848" y="1563624"/>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Read the COSHH assessment before using any substance</a:t>
            </a:r>
            <a:endParaRPr lang="en-US" sz="1250" dirty="0"/>
          </a:p>
        </p:txBody>
      </p:sp>
      <p:sp>
        <p:nvSpPr>
          <p:cNvPr id="13" name="Shape 10"/>
          <p:cNvSpPr/>
          <p:nvPr/>
        </p:nvSpPr>
        <p:spPr>
          <a:xfrm>
            <a:off x="4114800" y="2093976"/>
            <a:ext cx="292608" cy="292608"/>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4114800" y="2084832"/>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p:nvPr/>
        </p:nvSpPr>
        <p:spPr>
          <a:xfrm>
            <a:off x="4498848" y="2093976"/>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Use LEV and extraction systems correctly — never bypass them</a:t>
            </a:r>
            <a:endParaRPr lang="en-US" sz="1250" dirty="0"/>
          </a:p>
        </p:txBody>
      </p:sp>
      <p:sp>
        <p:nvSpPr>
          <p:cNvPr id="16" name="Shape 13"/>
          <p:cNvSpPr/>
          <p:nvPr/>
        </p:nvSpPr>
        <p:spPr>
          <a:xfrm>
            <a:off x="4114800" y="2624328"/>
            <a:ext cx="292608" cy="292608"/>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4114800" y="2615184"/>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p:nvPr/>
        </p:nvSpPr>
        <p:spPr>
          <a:xfrm>
            <a:off x="4498848" y="2624328"/>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Wash hands before eating, drinking, or using the toilet</a:t>
            </a:r>
            <a:endParaRPr lang="en-US" sz="1250" dirty="0"/>
          </a:p>
        </p:txBody>
      </p:sp>
      <p:sp>
        <p:nvSpPr>
          <p:cNvPr id="19" name="Shape 16"/>
          <p:cNvSpPr/>
          <p:nvPr/>
        </p:nvSpPr>
        <p:spPr>
          <a:xfrm>
            <a:off x="4114800" y="3154680"/>
            <a:ext cx="292608" cy="292608"/>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4114800" y="3145536"/>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8"/>
          <p:cNvSpPr/>
          <p:nvPr/>
        </p:nvSpPr>
        <p:spPr>
          <a:xfrm>
            <a:off x="4498848" y="3154680"/>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Report skin irritation or respiratory symptoms immediately</a:t>
            </a:r>
            <a:endParaRPr lang="en-US" sz="1250" dirty="0"/>
          </a:p>
        </p:txBody>
      </p:sp>
      <p:sp>
        <p:nvSpPr>
          <p:cNvPr id="22" name="Shape 19"/>
          <p:cNvSpPr/>
          <p:nvPr/>
        </p:nvSpPr>
        <p:spPr>
          <a:xfrm>
            <a:off x="4114800" y="3840480"/>
            <a:ext cx="4709160" cy="868680"/>
          </a:xfrm>
          <a:prstGeom prst="roundRect">
            <a:avLst>
              <a:gd name="adj" fmla="val 8421"/>
            </a:avLst>
          </a:prstGeom>
          <a:solidFill>
            <a:srgbClr val="0A2540"/>
          </a:solidFill>
          <a:ln w="19050">
            <a:solidFill>
              <a:srgbClr val="009FE3"/>
            </a:solidFill>
            <a:prstDash val="solid"/>
          </a:ln>
        </p:spPr>
        <p:txBody>
          <a:bodyPr/>
          <a:lstStyle/>
          <a:p>
            <a:endParaRPr lang="en-GB"/>
          </a:p>
        </p:txBody>
      </p:sp>
      <p:sp>
        <p:nvSpPr>
          <p:cNvPr id="23" name="Text 20"/>
          <p:cNvSpPr/>
          <p:nvPr/>
        </p:nvSpPr>
        <p:spPr>
          <a:xfrm>
            <a:off x="4224528" y="3886200"/>
            <a:ext cx="4480560" cy="77724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YOUR ACTION: </a:t>
            </a:r>
            <a:r>
              <a:rPr lang="en-US" sz="1150" dirty="0">
                <a:solidFill>
                  <a:srgbClr val="FFFFFF"/>
                </a:solidFill>
                <a:latin typeface="Arial" pitchFamily="34" charset="0"/>
                <a:ea typeface="Arial" pitchFamily="34" charset="-122"/>
                <a:cs typeface="Arial" pitchFamily="34" charset="-120"/>
              </a:rPr>
              <a:t>Read the COSHH assessment for one substance you use regularly today.</a:t>
            </a:r>
            <a:endParaRPr lang="en-US" sz="1150" dirty="0"/>
          </a:p>
        </p:txBody>
      </p:sp>
      <p:pic>
        <p:nvPicPr>
          <p:cNvPr id="24" name="Image 0" descr="/home/claude/nuccol_logo.jpg"/>
          <p:cNvPicPr>
            <a:picLocks noChangeAspect="1"/>
          </p:cNvPicPr>
          <p:nvPr/>
        </p:nvPicPr>
        <p:blipFill>
          <a:blip r:embed="rId3"/>
          <a:stretch>
            <a:fillRect/>
          </a:stretch>
        </p:blipFill>
        <p:spPr>
          <a:xfrm>
            <a:off x="201168" y="128016"/>
            <a:ext cx="1280160" cy="612648"/>
          </a:xfrm>
          <a:prstGeom prst="rect">
            <a:avLst/>
          </a:prstGeom>
        </p:spPr>
      </p:pic>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000"/>
        </a:solidFill>
        <a:effectLst/>
      </p:bgPr>
    </p:bg>
    <p:spTree>
      <p:nvGrpSpPr>
        <p:cNvPr id="1" name=""/>
        <p:cNvGrpSpPr/>
        <p:nvPr/>
      </p:nvGrpSpPr>
      <p:grpSpPr>
        <a:xfrm>
          <a:off x="0" y="0"/>
          <a:ext cx="0" cy="0"/>
          <a:chOff x="0" y="0"/>
          <a:chExt cx="0" cy="0"/>
        </a:xfrm>
      </p:grpSpPr>
      <p:sp>
        <p:nvSpPr>
          <p:cNvPr id="3" name="Shape 0"/>
          <p:cNvSpPr/>
          <p:nvPr/>
        </p:nvSpPr>
        <p:spPr>
          <a:xfrm>
            <a:off x="5669280" y="0"/>
            <a:ext cx="3474720" cy="5143500"/>
          </a:xfrm>
          <a:prstGeom prst="rect">
            <a:avLst/>
          </a:prstGeom>
          <a:solidFill>
            <a:srgbClr val="C0392B">
              <a:alpha val="80000"/>
            </a:srgbClr>
          </a:solidFill>
          <a:ln w="12700">
            <a:solidFill>
              <a:srgbClr val="C0392B"/>
            </a:solidFill>
            <a:prstDash val="solid"/>
          </a:ln>
        </p:spPr>
        <p:txBody>
          <a:bodyPr/>
          <a:lstStyle/>
          <a:p>
            <a:endParaRPr lang="en-GB"/>
          </a:p>
        </p:txBody>
      </p:sp>
      <p:sp>
        <p:nvSpPr>
          <p:cNvPr id="4" name="Shape 1"/>
          <p:cNvSpPr/>
          <p:nvPr/>
        </p:nvSpPr>
        <p:spPr>
          <a:xfrm>
            <a:off x="6355080" y="1097280"/>
            <a:ext cx="2103120" cy="2103120"/>
          </a:xfrm>
          <a:prstGeom prst="ellipse">
            <a:avLst/>
          </a:prstGeom>
          <a:solidFill>
            <a:srgbClr val="C0392B">
              <a:alpha val="70000"/>
            </a:srgbClr>
          </a:solidFill>
          <a:ln w="25400">
            <a:solidFill>
              <a:srgbClr val="FFFFFF"/>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6583680" y="1325880"/>
            <a:ext cx="1645920" cy="1645920"/>
          </a:xfrm>
          <a:prstGeom prst="rect">
            <a:avLst/>
          </a:prstGeom>
        </p:spPr>
      </p:pic>
      <p:sp>
        <p:nvSpPr>
          <p:cNvPr id="6" name="Text 2"/>
          <p:cNvSpPr/>
          <p:nvPr/>
        </p:nvSpPr>
        <p:spPr>
          <a:xfrm>
            <a:off x="5687568" y="3383280"/>
            <a:ext cx="3429000" cy="457200"/>
          </a:xfrm>
          <a:prstGeom prst="rect">
            <a:avLst/>
          </a:prstGeom>
          <a:noFill/>
          <a:ln/>
        </p:spPr>
        <p:txBody>
          <a:bodyPr wrap="square" lIns="0" tIns="0" rIns="0" bIns="0" rtlCol="0" anchor="ctr"/>
          <a:lstStyle/>
          <a:p>
            <a:pPr marL="0" indent="0" algn="ctr">
              <a:buNone/>
            </a:pPr>
            <a:r>
              <a:rPr lang="en-US" sz="1300" b="1" kern="0" spc="500" dirty="0">
                <a:solidFill>
                  <a:srgbClr val="FFFFFF"/>
                </a:solidFill>
                <a:latin typeface="Arial" pitchFamily="34" charset="0"/>
                <a:ea typeface="Arial" pitchFamily="34" charset="-122"/>
                <a:cs typeface="Arial" pitchFamily="34" charset="-120"/>
              </a:rPr>
              <a:t>JULY</a:t>
            </a:r>
            <a:endParaRPr lang="en-US" sz="1300" dirty="0"/>
          </a:p>
        </p:txBody>
      </p:sp>
      <p:sp>
        <p:nvSpPr>
          <p:cNvPr id="7" name="Shape 3"/>
          <p:cNvSpPr/>
          <p:nvPr/>
        </p:nvSpPr>
        <p:spPr>
          <a:xfrm>
            <a:off x="6217920" y="3858768"/>
            <a:ext cx="2331720" cy="0"/>
          </a:xfrm>
          <a:prstGeom prst="line">
            <a:avLst/>
          </a:prstGeom>
          <a:noFill/>
          <a:ln w="10160">
            <a:solidFill>
              <a:srgbClr val="FFFFFF"/>
            </a:solidFill>
            <a:prstDash val="solid"/>
          </a:ln>
        </p:spPr>
        <p:txBody>
          <a:bodyPr/>
          <a:lstStyle/>
          <a:p>
            <a:endParaRPr lang="en-GB"/>
          </a:p>
        </p:txBody>
      </p:sp>
      <p:sp>
        <p:nvSpPr>
          <p:cNvPr id="8" name="Text 4"/>
          <p:cNvSpPr/>
          <p:nvPr/>
        </p:nvSpPr>
        <p:spPr>
          <a:xfrm>
            <a:off x="5687568" y="3913632"/>
            <a:ext cx="34290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NucCol Safety</a:t>
            </a:r>
            <a:endParaRPr lang="en-US" sz="1000" dirty="0"/>
          </a:p>
        </p:txBody>
      </p:sp>
      <p:pic>
        <p:nvPicPr>
          <p:cNvPr id="9" name="Image 1" descr="/home/claude/nuccol_logo.jpg"/>
          <p:cNvPicPr>
            <a:picLocks noChangeAspect="1"/>
          </p:cNvPicPr>
          <p:nvPr/>
        </p:nvPicPr>
        <p:blipFill>
          <a:blip r:embed="rId4"/>
          <a:stretch>
            <a:fillRect/>
          </a:stretch>
        </p:blipFill>
        <p:spPr>
          <a:xfrm>
            <a:off x="274320" y="109728"/>
            <a:ext cx="1188720" cy="576072"/>
          </a:xfrm>
          <a:prstGeom prst="rect">
            <a:avLst/>
          </a:prstGeom>
        </p:spPr>
      </p:pic>
      <p:sp>
        <p:nvSpPr>
          <p:cNvPr id="10" name="Text 5"/>
          <p:cNvSpPr/>
          <p:nvPr/>
        </p:nvSpPr>
        <p:spPr>
          <a:xfrm>
            <a:off x="274320" y="804672"/>
            <a:ext cx="5120640" cy="7772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Guards Are Not Optional</a:t>
            </a:r>
            <a:endParaRPr lang="en-US" sz="3000" dirty="0"/>
          </a:p>
        </p:txBody>
      </p:sp>
      <p:sp>
        <p:nvSpPr>
          <p:cNvPr id="11" name="Text 6"/>
          <p:cNvSpPr/>
          <p:nvPr/>
        </p:nvSpPr>
        <p:spPr>
          <a:xfrm>
            <a:off x="274320" y="1572768"/>
            <a:ext cx="5120640" cy="347472"/>
          </a:xfrm>
          <a:prstGeom prst="rect">
            <a:avLst/>
          </a:prstGeom>
          <a:noFill/>
          <a:ln/>
        </p:spPr>
        <p:txBody>
          <a:bodyPr wrap="square" lIns="0" tIns="0" rIns="0" bIns="0" rtlCol="0" anchor="ctr"/>
          <a:lstStyle/>
          <a:p>
            <a:pPr marL="0" indent="0" algn="l">
              <a:buNone/>
            </a:pPr>
            <a:r>
              <a:rPr lang="en-US" sz="1250" i="1" dirty="0">
                <a:solidFill>
                  <a:srgbClr val="C0392B"/>
                </a:solidFill>
                <a:latin typeface="Arial" pitchFamily="34" charset="0"/>
                <a:ea typeface="Arial" pitchFamily="34" charset="-122"/>
                <a:cs typeface="Arial" pitchFamily="34" charset="-120"/>
              </a:rPr>
              <a:t>Machine Safety: A Fraction of a Second Can Change Everything</a:t>
            </a:r>
            <a:endParaRPr lang="en-US" sz="1250" dirty="0"/>
          </a:p>
        </p:txBody>
      </p:sp>
      <p:sp>
        <p:nvSpPr>
          <p:cNvPr id="12" name="Shape 7"/>
          <p:cNvSpPr/>
          <p:nvPr/>
        </p:nvSpPr>
        <p:spPr>
          <a:xfrm>
            <a:off x="274320" y="1956816"/>
            <a:ext cx="5029200" cy="0"/>
          </a:xfrm>
          <a:prstGeom prst="line">
            <a:avLst/>
          </a:prstGeom>
          <a:noFill/>
          <a:ln w="19050">
            <a:solidFill>
              <a:srgbClr val="C0392B"/>
            </a:solidFill>
            <a:prstDash val="solid"/>
          </a:ln>
        </p:spPr>
        <p:txBody>
          <a:bodyPr/>
          <a:lstStyle/>
          <a:p>
            <a:endParaRPr lang="en-GB"/>
          </a:p>
        </p:txBody>
      </p:sp>
      <p:sp>
        <p:nvSpPr>
          <p:cNvPr id="13" name="Shape 8"/>
          <p:cNvSpPr/>
          <p:nvPr/>
        </p:nvSpPr>
        <p:spPr>
          <a:xfrm>
            <a:off x="274320" y="2048256"/>
            <a:ext cx="274320" cy="274320"/>
          </a:xfrm>
          <a:prstGeom prst="ellipse">
            <a:avLst/>
          </a:prstGeom>
          <a:solidFill>
            <a:srgbClr val="C0392B"/>
          </a:solidFill>
          <a:ln w="12700">
            <a:solidFill>
              <a:srgbClr val="C0392B"/>
            </a:solidFill>
            <a:prstDash val="solid"/>
          </a:ln>
        </p:spPr>
        <p:txBody>
          <a:bodyPr/>
          <a:lstStyle/>
          <a:p>
            <a:endParaRPr lang="en-GB"/>
          </a:p>
        </p:txBody>
      </p:sp>
      <p:sp>
        <p:nvSpPr>
          <p:cNvPr id="14" name="Text 9"/>
          <p:cNvSpPr/>
          <p:nvPr/>
        </p:nvSpPr>
        <p:spPr>
          <a:xfrm>
            <a:off x="274320" y="2029968"/>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0"/>
          <p:cNvSpPr/>
          <p:nvPr/>
        </p:nvSpPr>
        <p:spPr>
          <a:xfrm>
            <a:off x="640080" y="2048256"/>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Check guards and interlocks before every single shift</a:t>
            </a:r>
            <a:endParaRPr lang="en-US" sz="1250" dirty="0"/>
          </a:p>
        </p:txBody>
      </p:sp>
      <p:sp>
        <p:nvSpPr>
          <p:cNvPr id="16" name="Shape 11"/>
          <p:cNvSpPr/>
          <p:nvPr/>
        </p:nvSpPr>
        <p:spPr>
          <a:xfrm>
            <a:off x="274320" y="2560320"/>
            <a:ext cx="274320" cy="274320"/>
          </a:xfrm>
          <a:prstGeom prst="ellipse">
            <a:avLst/>
          </a:prstGeom>
          <a:solidFill>
            <a:srgbClr val="C0392B"/>
          </a:solidFill>
          <a:ln w="12700">
            <a:solidFill>
              <a:srgbClr val="C0392B"/>
            </a:solidFill>
            <a:prstDash val="solid"/>
          </a:ln>
        </p:spPr>
        <p:txBody>
          <a:bodyPr/>
          <a:lstStyle/>
          <a:p>
            <a:endParaRPr lang="en-GB"/>
          </a:p>
        </p:txBody>
      </p:sp>
      <p:sp>
        <p:nvSpPr>
          <p:cNvPr id="17" name="Text 12"/>
          <p:cNvSpPr/>
          <p:nvPr/>
        </p:nvSpPr>
        <p:spPr>
          <a:xfrm>
            <a:off x="274320" y="2542032"/>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3"/>
          <p:cNvSpPr/>
          <p:nvPr/>
        </p:nvSpPr>
        <p:spPr>
          <a:xfrm>
            <a:off x="640080" y="2560320"/>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Never remove, bypass, or defeat a guard or interlock</a:t>
            </a:r>
            <a:endParaRPr lang="en-US" sz="1250" dirty="0"/>
          </a:p>
        </p:txBody>
      </p:sp>
      <p:sp>
        <p:nvSpPr>
          <p:cNvPr id="19" name="Shape 14"/>
          <p:cNvSpPr/>
          <p:nvPr/>
        </p:nvSpPr>
        <p:spPr>
          <a:xfrm>
            <a:off x="274320" y="3072384"/>
            <a:ext cx="274320" cy="274320"/>
          </a:xfrm>
          <a:prstGeom prst="ellipse">
            <a:avLst/>
          </a:prstGeom>
          <a:solidFill>
            <a:srgbClr val="C0392B"/>
          </a:solidFill>
          <a:ln w="12700">
            <a:solidFill>
              <a:srgbClr val="C0392B"/>
            </a:solidFill>
            <a:prstDash val="solid"/>
          </a:ln>
        </p:spPr>
        <p:txBody>
          <a:bodyPr/>
          <a:lstStyle/>
          <a:p>
            <a:endParaRPr lang="en-GB"/>
          </a:p>
        </p:txBody>
      </p:sp>
      <p:sp>
        <p:nvSpPr>
          <p:cNvPr id="20" name="Text 15"/>
          <p:cNvSpPr/>
          <p:nvPr/>
        </p:nvSpPr>
        <p:spPr>
          <a:xfrm>
            <a:off x="274320" y="3054096"/>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6"/>
          <p:cNvSpPr/>
          <p:nvPr/>
        </p:nvSpPr>
        <p:spPr>
          <a:xfrm>
            <a:off x="640080" y="3072384"/>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Isolate before making adjustments, clearing blockages, or cleaning</a:t>
            </a:r>
            <a:endParaRPr lang="en-US" sz="1250" dirty="0"/>
          </a:p>
        </p:txBody>
      </p:sp>
      <p:sp>
        <p:nvSpPr>
          <p:cNvPr id="22" name="Shape 17"/>
          <p:cNvSpPr/>
          <p:nvPr/>
        </p:nvSpPr>
        <p:spPr>
          <a:xfrm>
            <a:off x="274320" y="3584448"/>
            <a:ext cx="274320" cy="274320"/>
          </a:xfrm>
          <a:prstGeom prst="ellipse">
            <a:avLst/>
          </a:prstGeom>
          <a:solidFill>
            <a:srgbClr val="C0392B"/>
          </a:solidFill>
          <a:ln w="12700">
            <a:solidFill>
              <a:srgbClr val="C0392B"/>
            </a:solidFill>
            <a:prstDash val="solid"/>
          </a:ln>
        </p:spPr>
        <p:txBody>
          <a:bodyPr/>
          <a:lstStyle/>
          <a:p>
            <a:endParaRPr lang="en-GB"/>
          </a:p>
        </p:txBody>
      </p:sp>
      <p:sp>
        <p:nvSpPr>
          <p:cNvPr id="23" name="Text 18"/>
          <p:cNvSpPr/>
          <p:nvPr/>
        </p:nvSpPr>
        <p:spPr>
          <a:xfrm>
            <a:off x="274320" y="3566160"/>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19"/>
          <p:cNvSpPr/>
          <p:nvPr/>
        </p:nvSpPr>
        <p:spPr>
          <a:xfrm>
            <a:off x="640080" y="3584448"/>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Only operate machines you are trained and authorised to use</a:t>
            </a:r>
            <a:endParaRPr lang="en-US" sz="1250" dirty="0"/>
          </a:p>
        </p:txBody>
      </p:sp>
      <p:sp>
        <p:nvSpPr>
          <p:cNvPr id="25" name="Shape 20"/>
          <p:cNvSpPr/>
          <p:nvPr/>
        </p:nvSpPr>
        <p:spPr>
          <a:xfrm>
            <a:off x="274320" y="4224528"/>
            <a:ext cx="5166360" cy="685800"/>
          </a:xfrm>
          <a:prstGeom prst="roundRect">
            <a:avLst>
              <a:gd name="adj" fmla="val 10667"/>
            </a:avLst>
          </a:prstGeom>
          <a:solidFill>
            <a:srgbClr val="0A2540"/>
          </a:solidFill>
          <a:ln w="19050">
            <a:solidFill>
              <a:srgbClr val="C0392B"/>
            </a:solidFill>
            <a:prstDash val="solid"/>
          </a:ln>
        </p:spPr>
        <p:txBody>
          <a:bodyPr/>
          <a:lstStyle/>
          <a:p>
            <a:endParaRPr lang="en-GB"/>
          </a:p>
        </p:txBody>
      </p:sp>
      <p:sp>
        <p:nvSpPr>
          <p:cNvPr id="26" name="Text 21"/>
          <p:cNvSpPr/>
          <p:nvPr/>
        </p:nvSpPr>
        <p:spPr>
          <a:xfrm>
            <a:off x="384048" y="4270248"/>
            <a:ext cx="4937760" cy="594360"/>
          </a:xfrm>
          <a:prstGeom prst="rect">
            <a:avLst/>
          </a:prstGeom>
          <a:noFill/>
          <a:ln/>
        </p:spPr>
        <p:txBody>
          <a:bodyPr wrap="square" lIns="0" tIns="0" rIns="0" bIns="0" rtlCol="0" anchor="ctr"/>
          <a:lstStyle/>
          <a:p>
            <a:pPr marL="0" indent="0">
              <a:buNone/>
            </a:pPr>
            <a:r>
              <a:rPr lang="en-US" sz="1100" b="1" dirty="0">
                <a:solidFill>
                  <a:srgbClr val="C0392B"/>
                </a:solidFill>
                <a:latin typeface="Arial" pitchFamily="34" charset="0"/>
                <a:ea typeface="Arial" pitchFamily="34" charset="-122"/>
                <a:cs typeface="Arial" pitchFamily="34" charset="-120"/>
              </a:rPr>
              <a:t>YOUR ACTION: </a:t>
            </a:r>
            <a:r>
              <a:rPr lang="en-US" sz="1100" dirty="0">
                <a:solidFill>
                  <a:srgbClr val="FFFFFF"/>
                </a:solidFill>
                <a:latin typeface="Arial" pitchFamily="34" charset="0"/>
                <a:ea typeface="Arial" pitchFamily="34" charset="-122"/>
                <a:cs typeface="Arial" pitchFamily="34" charset="-120"/>
              </a:rPr>
              <a:t>Confirm every machine pre-use inspection in your area is up to date.</a:t>
            </a:r>
            <a:endParaRPr lang="en-US" sz="11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800"/>
        </a:solidFill>
        <a:effectLst/>
      </p:bgPr>
    </p:bg>
    <p:spTree>
      <p:nvGrpSpPr>
        <p:cNvPr id="1" name=""/>
        <p:cNvGrpSpPr/>
        <p:nvPr/>
      </p:nvGrpSpPr>
      <p:grpSpPr>
        <a:xfrm>
          <a:off x="0" y="0"/>
          <a:ext cx="0" cy="0"/>
          <a:chOff x="0" y="0"/>
          <a:chExt cx="0" cy="0"/>
        </a:xfrm>
      </p:grpSpPr>
      <p:sp>
        <p:nvSpPr>
          <p:cNvPr id="3" name="Shape 0"/>
          <p:cNvSpPr/>
          <p:nvPr/>
        </p:nvSpPr>
        <p:spPr>
          <a:xfrm>
            <a:off x="0" y="0"/>
            <a:ext cx="9144000" cy="1005840"/>
          </a:xfrm>
          <a:prstGeom prst="rect">
            <a:avLst/>
          </a:prstGeom>
          <a:solidFill>
            <a:srgbClr val="E05A00"/>
          </a:solidFill>
          <a:ln w="12700">
            <a:solidFill>
              <a:srgbClr val="E05A00"/>
            </a:solidFill>
            <a:prstDash val="solid"/>
          </a:ln>
        </p:spPr>
        <p:txBody>
          <a:bodyPr/>
          <a:lstStyle/>
          <a:p>
            <a:endParaRPr lang="en-GB"/>
          </a:p>
        </p:txBody>
      </p:sp>
      <p:pic>
        <p:nvPicPr>
          <p:cNvPr id="4" name="Image 0" descr="/home/claude/nuccol_logo.jpg"/>
          <p:cNvPicPr>
            <a:picLocks noChangeAspect="1"/>
          </p:cNvPicPr>
          <p:nvPr/>
        </p:nvPicPr>
        <p:blipFill>
          <a:blip r:embed="rId3"/>
          <a:stretch>
            <a:fillRect/>
          </a:stretch>
        </p:blipFill>
        <p:spPr>
          <a:xfrm>
            <a:off x="228600" y="182880"/>
            <a:ext cx="1097280" cy="530352"/>
          </a:xfrm>
          <a:prstGeom prst="rect">
            <a:avLst/>
          </a:prstGeom>
        </p:spPr>
      </p:pic>
      <p:sp>
        <p:nvSpPr>
          <p:cNvPr id="5" name="Text 1"/>
          <p:cNvSpPr/>
          <p:nvPr/>
        </p:nvSpPr>
        <p:spPr>
          <a:xfrm>
            <a:off x="1508760" y="109728"/>
            <a:ext cx="2011680" cy="384048"/>
          </a:xfrm>
          <a:prstGeom prst="rect">
            <a:avLst/>
          </a:prstGeom>
          <a:noFill/>
          <a:ln/>
        </p:spPr>
        <p:txBody>
          <a:bodyPr wrap="square" lIns="0" tIns="0" rIns="0" bIns="0" rtlCol="0" anchor="ctr"/>
          <a:lstStyle/>
          <a:p>
            <a:pPr marL="0" indent="0" algn="l">
              <a:buNone/>
            </a:pPr>
            <a:r>
              <a:rPr lang="en-US" sz="1400" b="1" kern="0" spc="400" dirty="0">
                <a:solidFill>
                  <a:srgbClr val="FFFFFF"/>
                </a:solidFill>
                <a:latin typeface="Arial" pitchFamily="34" charset="0"/>
                <a:ea typeface="Arial" pitchFamily="34" charset="-122"/>
                <a:cs typeface="Arial" pitchFamily="34" charset="-120"/>
              </a:rPr>
              <a:t>AUGUST</a:t>
            </a:r>
            <a:endParaRPr lang="en-US" sz="1400" dirty="0"/>
          </a:p>
        </p:txBody>
      </p:sp>
      <p:sp>
        <p:nvSpPr>
          <p:cNvPr id="6" name="Text 2"/>
          <p:cNvSpPr/>
          <p:nvPr/>
        </p:nvSpPr>
        <p:spPr>
          <a:xfrm>
            <a:off x="1508760" y="512064"/>
            <a:ext cx="2286000" cy="274320"/>
          </a:xfrm>
          <a:prstGeom prst="rect">
            <a:avLst/>
          </a:prstGeom>
          <a:noFill/>
          <a:ln/>
        </p:spPr>
        <p:txBody>
          <a:bodyPr wrap="square" lIns="0" tIns="0" rIns="0" bIns="0" rtlCol="0" anchor="ctr"/>
          <a:lstStyle/>
          <a:p>
            <a:pPr marL="0" indent="0" algn="l">
              <a:buNone/>
            </a:pPr>
            <a:r>
              <a:rPr lang="en-US" sz="1000" dirty="0">
                <a:solidFill>
                  <a:srgbClr val="FFFFFF"/>
                </a:solidFill>
                <a:latin typeface="Arial" pitchFamily="34" charset="0"/>
                <a:ea typeface="Arial" pitchFamily="34" charset="-122"/>
                <a:cs typeface="Arial" pitchFamily="34" charset="-120"/>
              </a:rPr>
              <a:t>Monthly Safety Message</a:t>
            </a:r>
            <a:endParaRPr lang="en-US" sz="1000" dirty="0"/>
          </a:p>
        </p:txBody>
      </p:sp>
      <p:sp>
        <p:nvSpPr>
          <p:cNvPr id="8" name="Shape 3"/>
          <p:cNvSpPr/>
          <p:nvPr/>
        </p:nvSpPr>
        <p:spPr>
          <a:xfrm>
            <a:off x="274320" y="1188720"/>
            <a:ext cx="2560320" cy="2011680"/>
          </a:xfrm>
          <a:prstGeom prst="roundRect">
            <a:avLst>
              <a:gd name="adj" fmla="val 4545"/>
            </a:avLst>
          </a:prstGeom>
          <a:solidFill>
            <a:srgbClr val="E05A00">
              <a:alpha val="82000"/>
            </a:srgbClr>
          </a:solidFill>
          <a:ln w="19050">
            <a:solidFill>
              <a:srgbClr val="E05A00"/>
            </a:solidFill>
            <a:prstDash val="solid"/>
          </a:ln>
          <a:effectLst>
            <a:outerShdw blurRad="127000" dist="38100" dir="8100000" algn="bl" rotWithShape="0">
              <a:srgbClr val="000000">
                <a:alpha val="30000"/>
              </a:srgbClr>
            </a:outerShdw>
          </a:effectLst>
        </p:spPr>
        <p:txBody>
          <a:bodyPr/>
          <a:lstStyle/>
          <a:p>
            <a:endParaRPr lang="en-GB"/>
          </a:p>
        </p:txBody>
      </p:sp>
      <p:sp>
        <p:nvSpPr>
          <p:cNvPr id="9" name="Text 4"/>
          <p:cNvSpPr/>
          <p:nvPr/>
        </p:nvSpPr>
        <p:spPr>
          <a:xfrm>
            <a:off x="292608" y="1280160"/>
            <a:ext cx="2523744"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30 min</a:t>
            </a:r>
            <a:endParaRPr lang="en-US" sz="4400" dirty="0"/>
          </a:p>
        </p:txBody>
      </p:sp>
      <p:sp>
        <p:nvSpPr>
          <p:cNvPr id="10" name="Text 5"/>
          <p:cNvSpPr/>
          <p:nvPr/>
        </p:nvSpPr>
        <p:spPr>
          <a:xfrm>
            <a:off x="320040" y="2286000"/>
            <a:ext cx="2468880" cy="822960"/>
          </a:xfrm>
          <a:prstGeom prst="rect">
            <a:avLst/>
          </a:prstGeom>
          <a:noFill/>
          <a:ln/>
        </p:spPr>
        <p:txBody>
          <a:bodyPr wrap="square" lIns="0" tIns="0" rIns="0" bIns="0" rtlCol="0" anchor="t"/>
          <a:lstStyle/>
          <a:p>
            <a:pPr marL="0" indent="0" algn="ctr">
              <a:buNone/>
            </a:pPr>
            <a:r>
              <a:rPr lang="en-US" sz="1050" dirty="0">
                <a:solidFill>
                  <a:srgbClr val="FFFFFF"/>
                </a:solidFill>
                <a:latin typeface="Arial" pitchFamily="34" charset="0"/>
                <a:ea typeface="Arial" pitchFamily="34" charset="-122"/>
                <a:cs typeface="Arial" pitchFamily="34" charset="-120"/>
              </a:rPr>
              <a:t>a closed fire door can hold back a fire for up to 30 minutes</a:t>
            </a:r>
            <a:endParaRPr lang="en-US" sz="1050" dirty="0"/>
          </a:p>
        </p:txBody>
      </p:sp>
      <p:sp>
        <p:nvSpPr>
          <p:cNvPr id="11" name="Text 6"/>
          <p:cNvSpPr/>
          <p:nvPr/>
        </p:nvSpPr>
        <p:spPr>
          <a:xfrm>
            <a:off x="3108960" y="1170432"/>
            <a:ext cx="5760720" cy="731520"/>
          </a:xfrm>
          <a:prstGeom prst="rect">
            <a:avLst/>
          </a:prstGeom>
          <a:noFill/>
          <a:ln/>
        </p:spPr>
        <p:txBody>
          <a:bodyPr wrap="square" lIns="0" tIns="0" rIns="0" bIns="0" rtlCol="0" anchor="t"/>
          <a:lstStyle/>
          <a:p>
            <a:pPr marL="0" indent="0" algn="l">
              <a:buNone/>
            </a:pPr>
            <a:r>
              <a:rPr lang="en-US" sz="2600" b="1" dirty="0">
                <a:solidFill>
                  <a:srgbClr val="FFFFFF"/>
                </a:solidFill>
                <a:latin typeface="Cambria" pitchFamily="34" charset="0"/>
                <a:ea typeface="Cambria" pitchFamily="34" charset="-122"/>
                <a:cs typeface="Cambria" pitchFamily="34" charset="-120"/>
              </a:rPr>
              <a:t>Know Your Plan Before You Need It</a:t>
            </a:r>
            <a:endParaRPr lang="en-US" sz="2600" dirty="0"/>
          </a:p>
        </p:txBody>
      </p:sp>
      <p:sp>
        <p:nvSpPr>
          <p:cNvPr id="12" name="Text 7"/>
          <p:cNvSpPr/>
          <p:nvPr/>
        </p:nvSpPr>
        <p:spPr>
          <a:xfrm>
            <a:off x="3108960" y="1901952"/>
            <a:ext cx="5760720" cy="347472"/>
          </a:xfrm>
          <a:prstGeom prst="rect">
            <a:avLst/>
          </a:prstGeom>
          <a:noFill/>
          <a:ln/>
        </p:spPr>
        <p:txBody>
          <a:bodyPr wrap="square" lIns="0" tIns="0" rIns="0" bIns="0" rtlCol="0" anchor="ctr"/>
          <a:lstStyle/>
          <a:p>
            <a:pPr marL="0" indent="0" algn="l">
              <a:buNone/>
            </a:pPr>
            <a:r>
              <a:rPr lang="en-US" sz="1200" i="1" dirty="0">
                <a:solidFill>
                  <a:srgbClr val="E05A00"/>
                </a:solidFill>
                <a:latin typeface="Arial" pitchFamily="34" charset="0"/>
                <a:ea typeface="Arial" pitchFamily="34" charset="-122"/>
                <a:cs typeface="Arial" pitchFamily="34" charset="-120"/>
              </a:rPr>
              <a:t>Fire Safety: A Fire Can Double in Size Every Minute</a:t>
            </a:r>
            <a:endParaRPr lang="en-US" sz="1200" dirty="0"/>
          </a:p>
        </p:txBody>
      </p:sp>
      <p:sp>
        <p:nvSpPr>
          <p:cNvPr id="13" name="Shape 8"/>
          <p:cNvSpPr/>
          <p:nvPr/>
        </p:nvSpPr>
        <p:spPr>
          <a:xfrm>
            <a:off x="3108960" y="2350008"/>
            <a:ext cx="256032" cy="256032"/>
          </a:xfrm>
          <a:prstGeom prst="ellipse">
            <a:avLst/>
          </a:prstGeom>
          <a:solidFill>
            <a:srgbClr val="E05A00"/>
          </a:solidFill>
          <a:ln w="12700">
            <a:solidFill>
              <a:srgbClr val="E05A00"/>
            </a:solidFill>
            <a:prstDash val="solid"/>
          </a:ln>
        </p:spPr>
        <p:txBody>
          <a:bodyPr/>
          <a:lstStyle/>
          <a:p>
            <a:endParaRPr lang="en-GB"/>
          </a:p>
        </p:txBody>
      </p:sp>
      <p:sp>
        <p:nvSpPr>
          <p:cNvPr id="14" name="Text 9"/>
          <p:cNvSpPr/>
          <p:nvPr/>
        </p:nvSpPr>
        <p:spPr>
          <a:xfrm>
            <a:off x="3108960" y="2331720"/>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Text 10"/>
          <p:cNvSpPr/>
          <p:nvPr/>
        </p:nvSpPr>
        <p:spPr>
          <a:xfrm>
            <a:off x="3456432" y="2350008"/>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Know every fire exit and your assembly point — walk the route</a:t>
            </a:r>
            <a:endParaRPr lang="en-US" sz="1250" dirty="0"/>
          </a:p>
        </p:txBody>
      </p:sp>
      <p:sp>
        <p:nvSpPr>
          <p:cNvPr id="16" name="Shape 11"/>
          <p:cNvSpPr/>
          <p:nvPr/>
        </p:nvSpPr>
        <p:spPr>
          <a:xfrm>
            <a:off x="3108960" y="2779776"/>
            <a:ext cx="256032" cy="256032"/>
          </a:xfrm>
          <a:prstGeom prst="ellipse">
            <a:avLst/>
          </a:prstGeom>
          <a:solidFill>
            <a:srgbClr val="E05A00"/>
          </a:solidFill>
          <a:ln w="12700">
            <a:solidFill>
              <a:srgbClr val="E05A00"/>
            </a:solidFill>
            <a:prstDash val="solid"/>
          </a:ln>
        </p:spPr>
        <p:txBody>
          <a:bodyPr/>
          <a:lstStyle/>
          <a:p>
            <a:endParaRPr lang="en-GB"/>
          </a:p>
        </p:txBody>
      </p:sp>
      <p:sp>
        <p:nvSpPr>
          <p:cNvPr id="17" name="Text 12"/>
          <p:cNvSpPr/>
          <p:nvPr/>
        </p:nvSpPr>
        <p:spPr>
          <a:xfrm>
            <a:off x="3108960" y="2761488"/>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8" name="Text 13"/>
          <p:cNvSpPr/>
          <p:nvPr/>
        </p:nvSpPr>
        <p:spPr>
          <a:xfrm>
            <a:off x="3456432" y="2779776"/>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Never wedge open fire doors. Not even briefly.</a:t>
            </a:r>
            <a:endParaRPr lang="en-US" sz="1250" dirty="0"/>
          </a:p>
        </p:txBody>
      </p:sp>
      <p:sp>
        <p:nvSpPr>
          <p:cNvPr id="19" name="Shape 14"/>
          <p:cNvSpPr/>
          <p:nvPr/>
        </p:nvSpPr>
        <p:spPr>
          <a:xfrm>
            <a:off x="3108960" y="3209544"/>
            <a:ext cx="256032" cy="256032"/>
          </a:xfrm>
          <a:prstGeom prst="ellipse">
            <a:avLst/>
          </a:prstGeom>
          <a:solidFill>
            <a:srgbClr val="E05A00"/>
          </a:solidFill>
          <a:ln w="12700">
            <a:solidFill>
              <a:srgbClr val="E05A00"/>
            </a:solidFill>
            <a:prstDash val="solid"/>
          </a:ln>
        </p:spPr>
        <p:txBody>
          <a:bodyPr/>
          <a:lstStyle/>
          <a:p>
            <a:endParaRPr lang="en-GB"/>
          </a:p>
        </p:txBody>
      </p:sp>
      <p:sp>
        <p:nvSpPr>
          <p:cNvPr id="20" name="Text 15"/>
          <p:cNvSpPr/>
          <p:nvPr/>
        </p:nvSpPr>
        <p:spPr>
          <a:xfrm>
            <a:off x="3108960" y="3191256"/>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6"/>
          <p:cNvSpPr/>
          <p:nvPr/>
        </p:nvSpPr>
        <p:spPr>
          <a:xfrm>
            <a:off x="3456432" y="3209544"/>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Follow the hot work permit for all welding, grinding, cutting</a:t>
            </a:r>
            <a:endParaRPr lang="en-US" sz="1250" dirty="0"/>
          </a:p>
        </p:txBody>
      </p:sp>
      <p:sp>
        <p:nvSpPr>
          <p:cNvPr id="22" name="Shape 17"/>
          <p:cNvSpPr/>
          <p:nvPr/>
        </p:nvSpPr>
        <p:spPr>
          <a:xfrm>
            <a:off x="3108960" y="3639312"/>
            <a:ext cx="256032" cy="256032"/>
          </a:xfrm>
          <a:prstGeom prst="ellipse">
            <a:avLst/>
          </a:prstGeom>
          <a:solidFill>
            <a:srgbClr val="E05A00"/>
          </a:solidFill>
          <a:ln w="12700">
            <a:solidFill>
              <a:srgbClr val="E05A00"/>
            </a:solidFill>
            <a:prstDash val="solid"/>
          </a:ln>
        </p:spPr>
        <p:txBody>
          <a:bodyPr/>
          <a:lstStyle/>
          <a:p>
            <a:endParaRPr lang="en-GB"/>
          </a:p>
        </p:txBody>
      </p:sp>
      <p:sp>
        <p:nvSpPr>
          <p:cNvPr id="23" name="Text 18"/>
          <p:cNvSpPr/>
          <p:nvPr/>
        </p:nvSpPr>
        <p:spPr>
          <a:xfrm>
            <a:off x="3108960" y="3621024"/>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4" name="Text 19"/>
          <p:cNvSpPr/>
          <p:nvPr/>
        </p:nvSpPr>
        <p:spPr>
          <a:xfrm>
            <a:off x="3456432" y="3639312"/>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When the alarm sounds — LEAVE. Do not stop for anything.</a:t>
            </a:r>
            <a:endParaRPr lang="en-US" sz="1250" dirty="0"/>
          </a:p>
        </p:txBody>
      </p:sp>
      <p:sp>
        <p:nvSpPr>
          <p:cNvPr id="25" name="Shape 20"/>
          <p:cNvSpPr/>
          <p:nvPr/>
        </p:nvSpPr>
        <p:spPr>
          <a:xfrm>
            <a:off x="0" y="4187952"/>
            <a:ext cx="9144000" cy="731520"/>
          </a:xfrm>
          <a:prstGeom prst="rect">
            <a:avLst/>
          </a:prstGeom>
          <a:solidFill>
            <a:srgbClr val="E05A00">
              <a:alpha val="75000"/>
            </a:srgbClr>
          </a:solidFill>
          <a:ln w="12700">
            <a:solidFill>
              <a:srgbClr val="E05A00"/>
            </a:solidFill>
            <a:prstDash val="solid"/>
          </a:ln>
        </p:spPr>
        <p:txBody>
          <a:bodyPr/>
          <a:lstStyle/>
          <a:p>
            <a:endParaRPr lang="en-GB"/>
          </a:p>
        </p:txBody>
      </p:sp>
      <p:sp>
        <p:nvSpPr>
          <p:cNvPr id="26" name="Text 21"/>
          <p:cNvSpPr/>
          <p:nvPr/>
        </p:nvSpPr>
        <p:spPr>
          <a:xfrm>
            <a:off x="274320" y="4224528"/>
            <a:ext cx="8595360" cy="640080"/>
          </a:xfrm>
          <a:prstGeom prst="rect">
            <a:avLst/>
          </a:prstGeom>
          <a:noFill/>
          <a:ln/>
        </p:spPr>
        <p:txBody>
          <a:bodyPr wrap="square" lIns="0" tIns="0" rIns="0" bIns="0" rtlCol="0" anchor="ctr"/>
          <a:lstStyle/>
          <a:p>
            <a:pPr marL="0" indent="0">
              <a:buNone/>
            </a:pPr>
            <a:r>
              <a:rPr lang="en-US" sz="1150" b="1" dirty="0">
                <a:solidFill>
                  <a:srgbClr val="E05A00"/>
                </a:solidFill>
                <a:latin typeface="Arial" pitchFamily="34" charset="0"/>
                <a:ea typeface="Arial" pitchFamily="34" charset="-122"/>
                <a:cs typeface="Arial" pitchFamily="34" charset="-120"/>
              </a:rPr>
              <a:t>YOUR ACTION THIS MONTH: </a:t>
            </a:r>
            <a:r>
              <a:rPr lang="en-US" sz="1150" dirty="0">
                <a:solidFill>
                  <a:srgbClr val="FFFFFF"/>
                </a:solidFill>
                <a:latin typeface="Arial" pitchFamily="34" charset="0"/>
                <a:ea typeface="Arial" pitchFamily="34" charset="-122"/>
                <a:cs typeface="Arial" pitchFamily="34" charset="-120"/>
              </a:rPr>
              <a:t>Walk your evacuation route and time it. Check for obstructions.</a:t>
            </a:r>
            <a:endParaRPr lang="en-US" sz="115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0"/>
        </a:solidFill>
        <a:effectLst/>
      </p:bgPr>
    </p:bg>
    <p:spTree>
      <p:nvGrpSpPr>
        <p:cNvPr id="1" name=""/>
        <p:cNvGrpSpPr/>
        <p:nvPr/>
      </p:nvGrpSpPr>
      <p:grpSpPr>
        <a:xfrm>
          <a:off x="0" y="0"/>
          <a:ext cx="0" cy="0"/>
          <a:chOff x="0" y="0"/>
          <a:chExt cx="0" cy="0"/>
        </a:xfrm>
      </p:grpSpPr>
      <p:sp>
        <p:nvSpPr>
          <p:cNvPr id="3" name="Shape 0"/>
          <p:cNvSpPr/>
          <p:nvPr/>
        </p:nvSpPr>
        <p:spPr>
          <a:xfrm>
            <a:off x="0" y="0"/>
            <a:ext cx="3840480" cy="5143500"/>
          </a:xfrm>
          <a:prstGeom prst="rect">
            <a:avLst/>
          </a:prstGeom>
          <a:solidFill>
            <a:srgbClr val="F4D03F">
              <a:alpha val="85000"/>
            </a:srgbClr>
          </a:solidFill>
          <a:ln w="12700">
            <a:solidFill>
              <a:srgbClr val="F4D03F"/>
            </a:solidFill>
            <a:prstDash val="solid"/>
          </a:ln>
        </p:spPr>
        <p:txBody>
          <a:bodyPr/>
          <a:lstStyle/>
          <a:p>
            <a:endParaRPr lang="en-GB"/>
          </a:p>
        </p:txBody>
      </p:sp>
      <p:sp>
        <p:nvSpPr>
          <p:cNvPr id="4" name="Text 1"/>
          <p:cNvSpPr/>
          <p:nvPr/>
        </p:nvSpPr>
        <p:spPr>
          <a:xfrm>
            <a:off x="164592" y="914400"/>
            <a:ext cx="3474720" cy="1645920"/>
          </a:xfrm>
          <a:prstGeom prst="rect">
            <a:avLst/>
          </a:prstGeom>
          <a:noFill/>
          <a:ln/>
        </p:spPr>
        <p:txBody>
          <a:bodyPr wrap="square" lIns="0" tIns="0" rIns="0" bIns="0" rtlCol="0" anchor="ctr"/>
          <a:lstStyle/>
          <a:p>
            <a:pPr marL="0" indent="0" algn="ctr">
              <a:buNone/>
            </a:pPr>
            <a:r>
              <a:rPr lang="en-US" sz="7200" b="1" dirty="0">
                <a:solidFill>
                  <a:srgbClr val="FFFFFF"/>
                </a:solidFill>
                <a:latin typeface="Cambria" pitchFamily="34" charset="0"/>
                <a:ea typeface="Cambria" pitchFamily="34" charset="-122"/>
                <a:cs typeface="Cambria" pitchFamily="34" charset="-120"/>
              </a:rPr>
              <a:t>25+</a:t>
            </a:r>
            <a:endParaRPr lang="en-US" sz="7200" dirty="0"/>
          </a:p>
        </p:txBody>
      </p:sp>
      <p:sp>
        <p:nvSpPr>
          <p:cNvPr id="5" name="Text 2"/>
          <p:cNvSpPr/>
          <p:nvPr/>
        </p:nvSpPr>
        <p:spPr>
          <a:xfrm>
            <a:off x="182880" y="2651760"/>
            <a:ext cx="3429000" cy="91440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electrical deaths in UK workplaces every year</a:t>
            </a:r>
            <a:endParaRPr lang="en-US" sz="1200" dirty="0"/>
          </a:p>
        </p:txBody>
      </p:sp>
      <p:sp>
        <p:nvSpPr>
          <p:cNvPr id="6" name="Text 3"/>
          <p:cNvSpPr/>
          <p:nvPr/>
        </p:nvSpPr>
        <p:spPr>
          <a:xfrm>
            <a:off x="164592" y="4160520"/>
            <a:ext cx="3474720" cy="640080"/>
          </a:xfrm>
          <a:prstGeom prst="rect">
            <a:avLst/>
          </a:prstGeom>
          <a:noFill/>
          <a:ln/>
        </p:spPr>
        <p:txBody>
          <a:bodyPr wrap="square" lIns="0" tIns="0" rIns="0" bIns="0"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SEPTEMBER</a:t>
            </a:r>
            <a:endParaRPr lang="en-US" sz="1300" dirty="0"/>
          </a:p>
        </p:txBody>
      </p:sp>
      <p:sp>
        <p:nvSpPr>
          <p:cNvPr id="7" name="Text 4"/>
          <p:cNvSpPr/>
          <p:nvPr/>
        </p:nvSpPr>
        <p:spPr>
          <a:xfrm>
            <a:off x="4114800" y="228600"/>
            <a:ext cx="4754880" cy="82296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Treat Every Cable as Live</a:t>
            </a:r>
            <a:endParaRPr lang="en-US" sz="2800" dirty="0"/>
          </a:p>
        </p:txBody>
      </p:sp>
      <p:sp>
        <p:nvSpPr>
          <p:cNvPr id="8" name="Text 5"/>
          <p:cNvSpPr/>
          <p:nvPr/>
        </p:nvSpPr>
        <p:spPr>
          <a:xfrm>
            <a:off x="4114800" y="960120"/>
            <a:ext cx="4754880" cy="411480"/>
          </a:xfrm>
          <a:prstGeom prst="rect">
            <a:avLst/>
          </a:prstGeom>
          <a:noFill/>
          <a:ln/>
        </p:spPr>
        <p:txBody>
          <a:bodyPr wrap="square" lIns="0" tIns="0" rIns="0" bIns="0" rtlCol="0" anchor="t"/>
          <a:lstStyle/>
          <a:p>
            <a:pPr marL="0" indent="0" algn="l">
              <a:buNone/>
            </a:pPr>
            <a:r>
              <a:rPr lang="en-US" sz="1300" i="1" dirty="0">
                <a:solidFill>
                  <a:srgbClr val="F4D03F"/>
                </a:solidFill>
                <a:latin typeface="Arial" pitchFamily="34" charset="0"/>
                <a:ea typeface="Arial" pitchFamily="34" charset="-122"/>
                <a:cs typeface="Arial" pitchFamily="34" charset="-120"/>
              </a:rPr>
              <a:t>Electrical Safety: Faults You Cannot See</a:t>
            </a:r>
            <a:endParaRPr lang="en-US" sz="1300" dirty="0"/>
          </a:p>
        </p:txBody>
      </p:sp>
      <p:sp>
        <p:nvSpPr>
          <p:cNvPr id="9" name="Shape 6"/>
          <p:cNvSpPr/>
          <p:nvPr/>
        </p:nvSpPr>
        <p:spPr>
          <a:xfrm>
            <a:off x="4114800" y="1417320"/>
            <a:ext cx="4663440" cy="0"/>
          </a:xfrm>
          <a:prstGeom prst="line">
            <a:avLst/>
          </a:prstGeom>
          <a:noFill/>
          <a:ln w="19050">
            <a:solidFill>
              <a:srgbClr val="F4D03F"/>
            </a:solidFill>
            <a:prstDash val="solid"/>
          </a:ln>
        </p:spPr>
        <p:txBody>
          <a:bodyPr/>
          <a:lstStyle/>
          <a:p>
            <a:endParaRPr lang="en-GB"/>
          </a:p>
        </p:txBody>
      </p:sp>
      <p:sp>
        <p:nvSpPr>
          <p:cNvPr id="10" name="Shape 7"/>
          <p:cNvSpPr/>
          <p:nvPr/>
        </p:nvSpPr>
        <p:spPr>
          <a:xfrm>
            <a:off x="4114800" y="1563624"/>
            <a:ext cx="292608" cy="292608"/>
          </a:xfrm>
          <a:prstGeom prst="ellipse">
            <a:avLst/>
          </a:prstGeom>
          <a:solidFill>
            <a:srgbClr val="F4D03F"/>
          </a:solidFill>
          <a:ln w="12700">
            <a:solidFill>
              <a:srgbClr val="F4D03F"/>
            </a:solidFill>
            <a:prstDash val="solid"/>
          </a:ln>
        </p:spPr>
        <p:txBody>
          <a:bodyPr/>
          <a:lstStyle/>
          <a:p>
            <a:endParaRPr lang="en-GB"/>
          </a:p>
        </p:txBody>
      </p:sp>
      <p:sp>
        <p:nvSpPr>
          <p:cNvPr id="11" name="Text 8"/>
          <p:cNvSpPr/>
          <p:nvPr/>
        </p:nvSpPr>
        <p:spPr>
          <a:xfrm>
            <a:off x="4114800" y="1554480"/>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p:nvPr/>
        </p:nvSpPr>
        <p:spPr>
          <a:xfrm>
            <a:off x="4498848" y="1563624"/>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Inspect portable electrical equipment before every use</a:t>
            </a:r>
            <a:endParaRPr lang="en-US" sz="1250" dirty="0"/>
          </a:p>
        </p:txBody>
      </p:sp>
      <p:sp>
        <p:nvSpPr>
          <p:cNvPr id="13" name="Shape 10"/>
          <p:cNvSpPr/>
          <p:nvPr/>
        </p:nvSpPr>
        <p:spPr>
          <a:xfrm>
            <a:off x="4114800" y="2093976"/>
            <a:ext cx="292608" cy="292608"/>
          </a:xfrm>
          <a:prstGeom prst="ellipse">
            <a:avLst/>
          </a:prstGeom>
          <a:solidFill>
            <a:srgbClr val="F4D03F"/>
          </a:solidFill>
          <a:ln w="12700">
            <a:solidFill>
              <a:srgbClr val="F4D03F"/>
            </a:solidFill>
            <a:prstDash val="solid"/>
          </a:ln>
        </p:spPr>
        <p:txBody>
          <a:bodyPr/>
          <a:lstStyle/>
          <a:p>
            <a:endParaRPr lang="en-GB"/>
          </a:p>
        </p:txBody>
      </p:sp>
      <p:sp>
        <p:nvSpPr>
          <p:cNvPr id="14" name="Text 11"/>
          <p:cNvSpPr/>
          <p:nvPr/>
        </p:nvSpPr>
        <p:spPr>
          <a:xfrm>
            <a:off x="4114800" y="2084832"/>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p:nvPr/>
        </p:nvSpPr>
        <p:spPr>
          <a:xfrm>
            <a:off x="4498848" y="2093976"/>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Remove and label defective equipment immediately — do not use it</a:t>
            </a:r>
            <a:endParaRPr lang="en-US" sz="1250" dirty="0"/>
          </a:p>
        </p:txBody>
      </p:sp>
      <p:sp>
        <p:nvSpPr>
          <p:cNvPr id="16" name="Shape 13"/>
          <p:cNvSpPr/>
          <p:nvPr/>
        </p:nvSpPr>
        <p:spPr>
          <a:xfrm>
            <a:off x="4114800" y="2624328"/>
            <a:ext cx="292608" cy="292608"/>
          </a:xfrm>
          <a:prstGeom prst="ellipse">
            <a:avLst/>
          </a:prstGeom>
          <a:solidFill>
            <a:srgbClr val="F4D03F"/>
          </a:solidFill>
          <a:ln w="12700">
            <a:solidFill>
              <a:srgbClr val="F4D03F"/>
            </a:solidFill>
            <a:prstDash val="solid"/>
          </a:ln>
        </p:spPr>
        <p:txBody>
          <a:bodyPr/>
          <a:lstStyle/>
          <a:p>
            <a:endParaRPr lang="en-GB"/>
          </a:p>
        </p:txBody>
      </p:sp>
      <p:sp>
        <p:nvSpPr>
          <p:cNvPr id="17" name="Text 14"/>
          <p:cNvSpPr/>
          <p:nvPr/>
        </p:nvSpPr>
        <p:spPr>
          <a:xfrm>
            <a:off x="4114800" y="2615184"/>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p:nvPr/>
        </p:nvSpPr>
        <p:spPr>
          <a:xfrm>
            <a:off x="4498848" y="2624328"/>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Use RCDs with portable equipment where not built into the supply</a:t>
            </a:r>
            <a:endParaRPr lang="en-US" sz="1250" dirty="0"/>
          </a:p>
        </p:txBody>
      </p:sp>
      <p:sp>
        <p:nvSpPr>
          <p:cNvPr id="19" name="Shape 16"/>
          <p:cNvSpPr/>
          <p:nvPr/>
        </p:nvSpPr>
        <p:spPr>
          <a:xfrm>
            <a:off x="4114800" y="3154680"/>
            <a:ext cx="292608" cy="292608"/>
          </a:xfrm>
          <a:prstGeom prst="ellipse">
            <a:avLst/>
          </a:prstGeom>
          <a:solidFill>
            <a:srgbClr val="F4D03F"/>
          </a:solidFill>
          <a:ln w="12700">
            <a:solidFill>
              <a:srgbClr val="F4D03F"/>
            </a:solidFill>
            <a:prstDash val="solid"/>
          </a:ln>
        </p:spPr>
        <p:txBody>
          <a:bodyPr/>
          <a:lstStyle/>
          <a:p>
            <a:endParaRPr lang="en-GB"/>
          </a:p>
        </p:txBody>
      </p:sp>
      <p:sp>
        <p:nvSpPr>
          <p:cNvPr id="20" name="Text 17"/>
          <p:cNvSpPr/>
          <p:nvPr/>
        </p:nvSpPr>
        <p:spPr>
          <a:xfrm>
            <a:off x="4114800" y="3145536"/>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8"/>
          <p:cNvSpPr/>
          <p:nvPr/>
        </p:nvSpPr>
        <p:spPr>
          <a:xfrm>
            <a:off x="4498848" y="3154680"/>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Never carry out electrical work unless you are authorised</a:t>
            </a:r>
            <a:endParaRPr lang="en-US" sz="1250" dirty="0"/>
          </a:p>
        </p:txBody>
      </p:sp>
      <p:sp>
        <p:nvSpPr>
          <p:cNvPr id="22" name="Shape 19"/>
          <p:cNvSpPr/>
          <p:nvPr/>
        </p:nvSpPr>
        <p:spPr>
          <a:xfrm>
            <a:off x="4114800" y="3840480"/>
            <a:ext cx="4709160" cy="868680"/>
          </a:xfrm>
          <a:prstGeom prst="roundRect">
            <a:avLst>
              <a:gd name="adj" fmla="val 8421"/>
            </a:avLst>
          </a:prstGeom>
          <a:solidFill>
            <a:srgbClr val="0A2540"/>
          </a:solidFill>
          <a:ln w="19050">
            <a:solidFill>
              <a:srgbClr val="F4D03F"/>
            </a:solidFill>
            <a:prstDash val="solid"/>
          </a:ln>
        </p:spPr>
        <p:txBody>
          <a:bodyPr/>
          <a:lstStyle/>
          <a:p>
            <a:endParaRPr lang="en-GB"/>
          </a:p>
        </p:txBody>
      </p:sp>
      <p:sp>
        <p:nvSpPr>
          <p:cNvPr id="23" name="Text 20"/>
          <p:cNvSpPr/>
          <p:nvPr/>
        </p:nvSpPr>
        <p:spPr>
          <a:xfrm>
            <a:off x="4224528" y="3886200"/>
            <a:ext cx="4480560" cy="777240"/>
          </a:xfrm>
          <a:prstGeom prst="rect">
            <a:avLst/>
          </a:prstGeom>
          <a:noFill/>
          <a:ln/>
        </p:spPr>
        <p:txBody>
          <a:bodyPr wrap="square" lIns="0" tIns="0" rIns="0" bIns="0" rtlCol="0" anchor="ctr"/>
          <a:lstStyle/>
          <a:p>
            <a:pPr marL="0" indent="0">
              <a:buNone/>
            </a:pPr>
            <a:r>
              <a:rPr lang="en-US" sz="1150" b="1" dirty="0">
                <a:solidFill>
                  <a:srgbClr val="F4D03F"/>
                </a:solidFill>
                <a:latin typeface="Arial" pitchFamily="34" charset="0"/>
                <a:ea typeface="Arial" pitchFamily="34" charset="-122"/>
                <a:cs typeface="Arial" pitchFamily="34" charset="-120"/>
              </a:rPr>
              <a:t>YOUR ACTION: </a:t>
            </a:r>
            <a:r>
              <a:rPr lang="en-US" sz="1150" dirty="0">
                <a:solidFill>
                  <a:srgbClr val="FFFFFF"/>
                </a:solidFill>
                <a:latin typeface="Arial" pitchFamily="34" charset="0"/>
                <a:ea typeface="Arial" pitchFamily="34" charset="-122"/>
                <a:cs typeface="Arial" pitchFamily="34" charset="-120"/>
              </a:rPr>
              <a:t>Visually check all portable electrical equipment in your area today.</a:t>
            </a:r>
            <a:endParaRPr lang="en-US" sz="1150" dirty="0"/>
          </a:p>
        </p:txBody>
      </p:sp>
      <p:pic>
        <p:nvPicPr>
          <p:cNvPr id="24" name="Image 0" descr="/home/claude/nuccol_logo.jpg"/>
          <p:cNvPicPr>
            <a:picLocks noChangeAspect="1"/>
          </p:cNvPicPr>
          <p:nvPr/>
        </p:nvPicPr>
        <p:blipFill>
          <a:blip r:embed="rId3"/>
          <a:stretch>
            <a:fillRect/>
          </a:stretch>
        </p:blipFill>
        <p:spPr>
          <a:xfrm>
            <a:off x="201168" y="128016"/>
            <a:ext cx="1280160" cy="612648"/>
          </a:xfrm>
          <a:prstGeom prst="rect">
            <a:avLst/>
          </a:prstGeom>
        </p:spPr>
      </p:pic>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014"/>
        </a:solidFill>
        <a:effectLst/>
      </p:bgPr>
    </p:bg>
    <p:spTree>
      <p:nvGrpSpPr>
        <p:cNvPr id="1" name=""/>
        <p:cNvGrpSpPr/>
        <p:nvPr/>
      </p:nvGrpSpPr>
      <p:grpSpPr>
        <a:xfrm>
          <a:off x="0" y="0"/>
          <a:ext cx="0" cy="0"/>
          <a:chOff x="0" y="0"/>
          <a:chExt cx="0" cy="0"/>
        </a:xfrm>
      </p:grpSpPr>
      <p:sp>
        <p:nvSpPr>
          <p:cNvPr id="3" name="Shape 0"/>
          <p:cNvSpPr/>
          <p:nvPr/>
        </p:nvSpPr>
        <p:spPr>
          <a:xfrm>
            <a:off x="5669280" y="0"/>
            <a:ext cx="3474720" cy="5143500"/>
          </a:xfrm>
          <a:prstGeom prst="rect">
            <a:avLst/>
          </a:prstGeom>
          <a:solidFill>
            <a:srgbClr val="83348F">
              <a:alpha val="80000"/>
            </a:srgbClr>
          </a:solidFill>
          <a:ln w="12700">
            <a:solidFill>
              <a:srgbClr val="83348F"/>
            </a:solidFill>
            <a:prstDash val="solid"/>
          </a:ln>
        </p:spPr>
        <p:txBody>
          <a:bodyPr/>
          <a:lstStyle/>
          <a:p>
            <a:endParaRPr lang="en-GB"/>
          </a:p>
        </p:txBody>
      </p:sp>
      <p:sp>
        <p:nvSpPr>
          <p:cNvPr id="4" name="Shape 1"/>
          <p:cNvSpPr/>
          <p:nvPr/>
        </p:nvSpPr>
        <p:spPr>
          <a:xfrm>
            <a:off x="6355080" y="1097280"/>
            <a:ext cx="2103120" cy="2103120"/>
          </a:xfrm>
          <a:prstGeom prst="ellipse">
            <a:avLst/>
          </a:prstGeom>
          <a:solidFill>
            <a:srgbClr val="83348F">
              <a:alpha val="70000"/>
            </a:srgbClr>
          </a:solidFill>
          <a:ln w="25400">
            <a:solidFill>
              <a:srgbClr val="FFFFFF"/>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6583680" y="1325880"/>
            <a:ext cx="1645920" cy="1645920"/>
          </a:xfrm>
          <a:prstGeom prst="rect">
            <a:avLst/>
          </a:prstGeom>
        </p:spPr>
      </p:pic>
      <p:sp>
        <p:nvSpPr>
          <p:cNvPr id="6" name="Text 2"/>
          <p:cNvSpPr/>
          <p:nvPr/>
        </p:nvSpPr>
        <p:spPr>
          <a:xfrm>
            <a:off x="5687568" y="3383280"/>
            <a:ext cx="3429000" cy="457200"/>
          </a:xfrm>
          <a:prstGeom prst="rect">
            <a:avLst/>
          </a:prstGeom>
          <a:noFill/>
          <a:ln/>
        </p:spPr>
        <p:txBody>
          <a:bodyPr wrap="square" lIns="0" tIns="0" rIns="0" bIns="0" rtlCol="0" anchor="ctr"/>
          <a:lstStyle/>
          <a:p>
            <a:pPr marL="0" indent="0" algn="ctr">
              <a:buNone/>
            </a:pPr>
            <a:r>
              <a:rPr lang="en-US" sz="1300" b="1" kern="0" spc="500" dirty="0">
                <a:solidFill>
                  <a:srgbClr val="FFFFFF"/>
                </a:solidFill>
                <a:latin typeface="Arial" pitchFamily="34" charset="0"/>
                <a:ea typeface="Arial" pitchFamily="34" charset="-122"/>
                <a:cs typeface="Arial" pitchFamily="34" charset="-120"/>
              </a:rPr>
              <a:t>OCTOBER</a:t>
            </a:r>
            <a:endParaRPr lang="en-US" sz="1300" dirty="0"/>
          </a:p>
        </p:txBody>
      </p:sp>
      <p:sp>
        <p:nvSpPr>
          <p:cNvPr id="7" name="Shape 3"/>
          <p:cNvSpPr/>
          <p:nvPr/>
        </p:nvSpPr>
        <p:spPr>
          <a:xfrm>
            <a:off x="6217920" y="3858768"/>
            <a:ext cx="2331720" cy="0"/>
          </a:xfrm>
          <a:prstGeom prst="line">
            <a:avLst/>
          </a:prstGeom>
          <a:noFill/>
          <a:ln w="10160">
            <a:solidFill>
              <a:srgbClr val="FFFFFF"/>
            </a:solidFill>
            <a:prstDash val="solid"/>
          </a:ln>
        </p:spPr>
        <p:txBody>
          <a:bodyPr/>
          <a:lstStyle/>
          <a:p>
            <a:endParaRPr lang="en-GB"/>
          </a:p>
        </p:txBody>
      </p:sp>
      <p:sp>
        <p:nvSpPr>
          <p:cNvPr id="8" name="Text 4"/>
          <p:cNvSpPr/>
          <p:nvPr/>
        </p:nvSpPr>
        <p:spPr>
          <a:xfrm>
            <a:off x="5687568" y="3913632"/>
            <a:ext cx="34290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NucCol Safety</a:t>
            </a:r>
            <a:endParaRPr lang="en-US" sz="1000" dirty="0"/>
          </a:p>
        </p:txBody>
      </p:sp>
      <p:pic>
        <p:nvPicPr>
          <p:cNvPr id="9" name="Image 1" descr="/home/claude/nuccol_logo.jpg"/>
          <p:cNvPicPr>
            <a:picLocks noChangeAspect="1"/>
          </p:cNvPicPr>
          <p:nvPr/>
        </p:nvPicPr>
        <p:blipFill>
          <a:blip r:embed="rId4"/>
          <a:stretch>
            <a:fillRect/>
          </a:stretch>
        </p:blipFill>
        <p:spPr>
          <a:xfrm>
            <a:off x="274320" y="109728"/>
            <a:ext cx="1188720" cy="576072"/>
          </a:xfrm>
          <a:prstGeom prst="rect">
            <a:avLst/>
          </a:prstGeom>
        </p:spPr>
      </p:pic>
      <p:sp>
        <p:nvSpPr>
          <p:cNvPr id="10" name="Text 5"/>
          <p:cNvSpPr/>
          <p:nvPr/>
        </p:nvSpPr>
        <p:spPr>
          <a:xfrm>
            <a:off x="274320" y="804672"/>
            <a:ext cx="5120640" cy="777240"/>
          </a:xfrm>
          <a:prstGeom prst="rect">
            <a:avLst/>
          </a:prstGeom>
          <a:noFill/>
          <a:ln/>
        </p:spPr>
        <p:txBody>
          <a:bodyPr wrap="square" lIns="0" tIns="0" rIns="0" bIns="0" rtlCol="0" anchor="t"/>
          <a:lstStyle/>
          <a:p>
            <a:pPr marL="0" indent="0" algn="l">
              <a:buNone/>
            </a:pPr>
            <a:r>
              <a:rPr lang="en-US" sz="3000" b="1" dirty="0">
                <a:solidFill>
                  <a:srgbClr val="FFFFFF"/>
                </a:solidFill>
                <a:latin typeface="Cambria" pitchFamily="34" charset="0"/>
                <a:ea typeface="Cambria" pitchFamily="34" charset="-122"/>
                <a:cs typeface="Cambria" pitchFamily="34" charset="-120"/>
              </a:rPr>
              <a:t>Report It. Learn From It. Prevent It.</a:t>
            </a:r>
            <a:endParaRPr lang="en-US" sz="3000" dirty="0"/>
          </a:p>
        </p:txBody>
      </p:sp>
      <p:sp>
        <p:nvSpPr>
          <p:cNvPr id="11" name="Text 6"/>
          <p:cNvSpPr/>
          <p:nvPr/>
        </p:nvSpPr>
        <p:spPr>
          <a:xfrm>
            <a:off x="274320" y="1572768"/>
            <a:ext cx="5120640" cy="347472"/>
          </a:xfrm>
          <a:prstGeom prst="rect">
            <a:avLst/>
          </a:prstGeom>
          <a:noFill/>
          <a:ln/>
        </p:spPr>
        <p:txBody>
          <a:bodyPr wrap="square" lIns="0" tIns="0" rIns="0" bIns="0" rtlCol="0" anchor="ctr"/>
          <a:lstStyle/>
          <a:p>
            <a:pPr marL="0" indent="0" algn="l">
              <a:buNone/>
            </a:pPr>
            <a:r>
              <a:rPr lang="en-US" sz="1250" i="1" dirty="0">
                <a:solidFill>
                  <a:srgbClr val="83348F"/>
                </a:solidFill>
                <a:latin typeface="Arial" pitchFamily="34" charset="0"/>
                <a:ea typeface="Arial" pitchFamily="34" charset="-122"/>
                <a:cs typeface="Arial" pitchFamily="34" charset="-120"/>
              </a:rPr>
              <a:t>Near Miss Reporting: Every Report Has the Potential to Save a Life</a:t>
            </a:r>
            <a:endParaRPr lang="en-US" sz="1250" dirty="0"/>
          </a:p>
        </p:txBody>
      </p:sp>
      <p:sp>
        <p:nvSpPr>
          <p:cNvPr id="12" name="Shape 7"/>
          <p:cNvSpPr/>
          <p:nvPr/>
        </p:nvSpPr>
        <p:spPr>
          <a:xfrm>
            <a:off x="274320" y="1956816"/>
            <a:ext cx="5029200" cy="0"/>
          </a:xfrm>
          <a:prstGeom prst="line">
            <a:avLst/>
          </a:prstGeom>
          <a:noFill/>
          <a:ln w="19050">
            <a:solidFill>
              <a:srgbClr val="83348F"/>
            </a:solidFill>
            <a:prstDash val="solid"/>
          </a:ln>
        </p:spPr>
        <p:txBody>
          <a:bodyPr/>
          <a:lstStyle/>
          <a:p>
            <a:endParaRPr lang="en-GB"/>
          </a:p>
        </p:txBody>
      </p:sp>
      <p:sp>
        <p:nvSpPr>
          <p:cNvPr id="13" name="Shape 8"/>
          <p:cNvSpPr/>
          <p:nvPr/>
        </p:nvSpPr>
        <p:spPr>
          <a:xfrm>
            <a:off x="274320" y="2048256"/>
            <a:ext cx="274320" cy="274320"/>
          </a:xfrm>
          <a:prstGeom prst="ellipse">
            <a:avLst/>
          </a:prstGeom>
          <a:solidFill>
            <a:srgbClr val="83348F"/>
          </a:solidFill>
          <a:ln w="12700">
            <a:solidFill>
              <a:srgbClr val="83348F"/>
            </a:solidFill>
            <a:prstDash val="solid"/>
          </a:ln>
        </p:spPr>
        <p:txBody>
          <a:bodyPr/>
          <a:lstStyle/>
          <a:p>
            <a:endParaRPr lang="en-GB"/>
          </a:p>
        </p:txBody>
      </p:sp>
      <p:sp>
        <p:nvSpPr>
          <p:cNvPr id="14" name="Text 9"/>
          <p:cNvSpPr/>
          <p:nvPr/>
        </p:nvSpPr>
        <p:spPr>
          <a:xfrm>
            <a:off x="274320" y="2029968"/>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0"/>
          <p:cNvSpPr/>
          <p:nvPr/>
        </p:nvSpPr>
        <p:spPr>
          <a:xfrm>
            <a:off x="640080" y="2048256"/>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Report every near miss, no matter how minor it seems</a:t>
            </a:r>
            <a:endParaRPr lang="en-US" sz="1250" dirty="0"/>
          </a:p>
        </p:txBody>
      </p:sp>
      <p:sp>
        <p:nvSpPr>
          <p:cNvPr id="16" name="Shape 11"/>
          <p:cNvSpPr/>
          <p:nvPr/>
        </p:nvSpPr>
        <p:spPr>
          <a:xfrm>
            <a:off x="274320" y="2560320"/>
            <a:ext cx="274320" cy="274320"/>
          </a:xfrm>
          <a:prstGeom prst="ellipse">
            <a:avLst/>
          </a:prstGeom>
          <a:solidFill>
            <a:srgbClr val="83348F"/>
          </a:solidFill>
          <a:ln w="12700">
            <a:solidFill>
              <a:srgbClr val="83348F"/>
            </a:solidFill>
            <a:prstDash val="solid"/>
          </a:ln>
        </p:spPr>
        <p:txBody>
          <a:bodyPr/>
          <a:lstStyle/>
          <a:p>
            <a:endParaRPr lang="en-GB"/>
          </a:p>
        </p:txBody>
      </p:sp>
      <p:sp>
        <p:nvSpPr>
          <p:cNvPr id="17" name="Text 12"/>
          <p:cNvSpPr/>
          <p:nvPr/>
        </p:nvSpPr>
        <p:spPr>
          <a:xfrm>
            <a:off x="274320" y="2542032"/>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3"/>
          <p:cNvSpPr/>
          <p:nvPr/>
        </p:nvSpPr>
        <p:spPr>
          <a:xfrm>
            <a:off x="640080" y="2560320"/>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Be specific — detail enables investigation and real action</a:t>
            </a:r>
            <a:endParaRPr lang="en-US" sz="1250" dirty="0"/>
          </a:p>
        </p:txBody>
      </p:sp>
      <p:sp>
        <p:nvSpPr>
          <p:cNvPr id="19" name="Shape 14"/>
          <p:cNvSpPr/>
          <p:nvPr/>
        </p:nvSpPr>
        <p:spPr>
          <a:xfrm>
            <a:off x="274320" y="3072384"/>
            <a:ext cx="274320" cy="274320"/>
          </a:xfrm>
          <a:prstGeom prst="ellipse">
            <a:avLst/>
          </a:prstGeom>
          <a:solidFill>
            <a:srgbClr val="83348F"/>
          </a:solidFill>
          <a:ln w="12700">
            <a:solidFill>
              <a:srgbClr val="83348F"/>
            </a:solidFill>
            <a:prstDash val="solid"/>
          </a:ln>
        </p:spPr>
        <p:txBody>
          <a:bodyPr/>
          <a:lstStyle/>
          <a:p>
            <a:endParaRPr lang="en-GB"/>
          </a:p>
        </p:txBody>
      </p:sp>
      <p:sp>
        <p:nvSpPr>
          <p:cNvPr id="20" name="Text 15"/>
          <p:cNvSpPr/>
          <p:nvPr/>
        </p:nvSpPr>
        <p:spPr>
          <a:xfrm>
            <a:off x="274320" y="3054096"/>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6"/>
          <p:cNvSpPr/>
          <p:nvPr/>
        </p:nvSpPr>
        <p:spPr>
          <a:xfrm>
            <a:off x="640080" y="3072384"/>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Support colleagues who report. It builds a safer culture.</a:t>
            </a:r>
            <a:endParaRPr lang="en-US" sz="1250" dirty="0"/>
          </a:p>
        </p:txBody>
      </p:sp>
      <p:sp>
        <p:nvSpPr>
          <p:cNvPr id="22" name="Shape 17"/>
          <p:cNvSpPr/>
          <p:nvPr/>
        </p:nvSpPr>
        <p:spPr>
          <a:xfrm>
            <a:off x="274320" y="3584448"/>
            <a:ext cx="274320" cy="274320"/>
          </a:xfrm>
          <a:prstGeom prst="ellipse">
            <a:avLst/>
          </a:prstGeom>
          <a:solidFill>
            <a:srgbClr val="83348F"/>
          </a:solidFill>
          <a:ln w="12700">
            <a:solidFill>
              <a:srgbClr val="83348F"/>
            </a:solidFill>
            <a:prstDash val="solid"/>
          </a:ln>
        </p:spPr>
        <p:txBody>
          <a:bodyPr/>
          <a:lstStyle/>
          <a:p>
            <a:endParaRPr lang="en-GB"/>
          </a:p>
        </p:txBody>
      </p:sp>
      <p:sp>
        <p:nvSpPr>
          <p:cNvPr id="23" name="Text 18"/>
          <p:cNvSpPr/>
          <p:nvPr/>
        </p:nvSpPr>
        <p:spPr>
          <a:xfrm>
            <a:off x="274320" y="3566160"/>
            <a:ext cx="27432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19"/>
          <p:cNvSpPr/>
          <p:nvPr/>
        </p:nvSpPr>
        <p:spPr>
          <a:xfrm>
            <a:off x="640080" y="3584448"/>
            <a:ext cx="475488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Near misses include unsafe conditions, not just incidents</a:t>
            </a:r>
            <a:endParaRPr lang="en-US" sz="1250" dirty="0"/>
          </a:p>
        </p:txBody>
      </p:sp>
      <p:sp>
        <p:nvSpPr>
          <p:cNvPr id="25" name="Shape 20"/>
          <p:cNvSpPr/>
          <p:nvPr/>
        </p:nvSpPr>
        <p:spPr>
          <a:xfrm>
            <a:off x="274320" y="4224528"/>
            <a:ext cx="5166360" cy="685800"/>
          </a:xfrm>
          <a:prstGeom prst="roundRect">
            <a:avLst>
              <a:gd name="adj" fmla="val 10667"/>
            </a:avLst>
          </a:prstGeom>
          <a:solidFill>
            <a:srgbClr val="0A2540"/>
          </a:solidFill>
          <a:ln w="19050">
            <a:solidFill>
              <a:srgbClr val="83348F"/>
            </a:solidFill>
            <a:prstDash val="solid"/>
          </a:ln>
        </p:spPr>
        <p:txBody>
          <a:bodyPr/>
          <a:lstStyle/>
          <a:p>
            <a:endParaRPr lang="en-GB"/>
          </a:p>
        </p:txBody>
      </p:sp>
      <p:sp>
        <p:nvSpPr>
          <p:cNvPr id="26" name="Text 21"/>
          <p:cNvSpPr/>
          <p:nvPr/>
        </p:nvSpPr>
        <p:spPr>
          <a:xfrm>
            <a:off x="384048" y="4270248"/>
            <a:ext cx="4937760" cy="594360"/>
          </a:xfrm>
          <a:prstGeom prst="rect">
            <a:avLst/>
          </a:prstGeom>
          <a:noFill/>
          <a:ln/>
        </p:spPr>
        <p:txBody>
          <a:bodyPr wrap="square" lIns="0" tIns="0" rIns="0" bIns="0" rtlCol="0" anchor="ctr"/>
          <a:lstStyle/>
          <a:p>
            <a:pPr marL="0" indent="0">
              <a:buNone/>
            </a:pPr>
            <a:r>
              <a:rPr lang="en-US" sz="1100" b="1" dirty="0">
                <a:solidFill>
                  <a:srgbClr val="83348F"/>
                </a:solidFill>
                <a:latin typeface="Arial" pitchFamily="34" charset="0"/>
                <a:ea typeface="Arial" pitchFamily="34" charset="-122"/>
                <a:cs typeface="Arial" pitchFamily="34" charset="-120"/>
              </a:rPr>
              <a:t>YOUR ACTION: </a:t>
            </a:r>
            <a:r>
              <a:rPr lang="en-US" sz="1100" dirty="0">
                <a:solidFill>
                  <a:srgbClr val="FFFFFF"/>
                </a:solidFill>
                <a:latin typeface="Arial" pitchFamily="34" charset="0"/>
                <a:ea typeface="Arial" pitchFamily="34" charset="-122"/>
                <a:cs typeface="Arial" pitchFamily="34" charset="-120"/>
              </a:rPr>
              <a:t>Review near miss reports from the last three months in your area.</a:t>
            </a:r>
            <a:endParaRPr lang="en-US" sz="110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1020"/>
        </a:solidFill>
        <a:effectLst/>
      </p:bgPr>
    </p:bg>
    <p:spTree>
      <p:nvGrpSpPr>
        <p:cNvPr id="1" name=""/>
        <p:cNvGrpSpPr/>
        <p:nvPr/>
      </p:nvGrpSpPr>
      <p:grpSpPr>
        <a:xfrm>
          <a:off x="0" y="0"/>
          <a:ext cx="0" cy="0"/>
          <a:chOff x="0" y="0"/>
          <a:chExt cx="0" cy="0"/>
        </a:xfrm>
      </p:grpSpPr>
      <p:sp>
        <p:nvSpPr>
          <p:cNvPr id="3" name="Shape 0"/>
          <p:cNvSpPr/>
          <p:nvPr/>
        </p:nvSpPr>
        <p:spPr>
          <a:xfrm>
            <a:off x="0" y="0"/>
            <a:ext cx="9144000" cy="1005840"/>
          </a:xfrm>
          <a:prstGeom prst="rect">
            <a:avLst/>
          </a:prstGeom>
          <a:solidFill>
            <a:srgbClr val="009FE3"/>
          </a:solidFill>
          <a:ln w="12700">
            <a:solidFill>
              <a:srgbClr val="009FE3"/>
            </a:solidFill>
            <a:prstDash val="solid"/>
          </a:ln>
        </p:spPr>
        <p:txBody>
          <a:bodyPr/>
          <a:lstStyle/>
          <a:p>
            <a:endParaRPr lang="en-GB"/>
          </a:p>
        </p:txBody>
      </p:sp>
      <p:pic>
        <p:nvPicPr>
          <p:cNvPr id="4" name="Image 0" descr="/home/claude/nuccol_logo.jpg"/>
          <p:cNvPicPr>
            <a:picLocks noChangeAspect="1"/>
          </p:cNvPicPr>
          <p:nvPr/>
        </p:nvPicPr>
        <p:blipFill>
          <a:blip r:embed="rId3"/>
          <a:stretch>
            <a:fillRect/>
          </a:stretch>
        </p:blipFill>
        <p:spPr>
          <a:xfrm>
            <a:off x="228600" y="182880"/>
            <a:ext cx="1097280" cy="530352"/>
          </a:xfrm>
          <a:prstGeom prst="rect">
            <a:avLst/>
          </a:prstGeom>
        </p:spPr>
      </p:pic>
      <p:sp>
        <p:nvSpPr>
          <p:cNvPr id="5" name="Text 1"/>
          <p:cNvSpPr/>
          <p:nvPr/>
        </p:nvSpPr>
        <p:spPr>
          <a:xfrm>
            <a:off x="1508760" y="109728"/>
            <a:ext cx="2011680" cy="384048"/>
          </a:xfrm>
          <a:prstGeom prst="rect">
            <a:avLst/>
          </a:prstGeom>
          <a:noFill/>
          <a:ln/>
        </p:spPr>
        <p:txBody>
          <a:bodyPr wrap="square" lIns="0" tIns="0" rIns="0" bIns="0" rtlCol="0" anchor="ctr"/>
          <a:lstStyle/>
          <a:p>
            <a:pPr marL="0" indent="0" algn="l">
              <a:buNone/>
            </a:pPr>
            <a:r>
              <a:rPr lang="en-US" sz="1400" b="1" kern="0" spc="400" dirty="0">
                <a:solidFill>
                  <a:srgbClr val="FFFFFF"/>
                </a:solidFill>
                <a:latin typeface="Arial" pitchFamily="34" charset="0"/>
                <a:ea typeface="Arial" pitchFamily="34" charset="-122"/>
                <a:cs typeface="Arial" pitchFamily="34" charset="-120"/>
              </a:rPr>
              <a:t>NOVEMBER</a:t>
            </a:r>
            <a:endParaRPr lang="en-US" sz="1400" dirty="0"/>
          </a:p>
        </p:txBody>
      </p:sp>
      <p:sp>
        <p:nvSpPr>
          <p:cNvPr id="6" name="Text 2"/>
          <p:cNvSpPr/>
          <p:nvPr/>
        </p:nvSpPr>
        <p:spPr>
          <a:xfrm>
            <a:off x="1508760" y="512064"/>
            <a:ext cx="2286000" cy="274320"/>
          </a:xfrm>
          <a:prstGeom prst="rect">
            <a:avLst/>
          </a:prstGeom>
          <a:noFill/>
          <a:ln/>
        </p:spPr>
        <p:txBody>
          <a:bodyPr wrap="square" lIns="0" tIns="0" rIns="0" bIns="0" rtlCol="0" anchor="ctr"/>
          <a:lstStyle/>
          <a:p>
            <a:pPr marL="0" indent="0" algn="l">
              <a:buNone/>
            </a:pPr>
            <a:r>
              <a:rPr lang="en-US" sz="1000" dirty="0">
                <a:solidFill>
                  <a:srgbClr val="FFFFFF"/>
                </a:solidFill>
                <a:latin typeface="Arial" pitchFamily="34" charset="0"/>
                <a:ea typeface="Arial" pitchFamily="34" charset="-122"/>
                <a:cs typeface="Arial" pitchFamily="34" charset="-120"/>
              </a:rPr>
              <a:t>Monthly Safety Message</a:t>
            </a:r>
            <a:endParaRPr lang="en-US" sz="1000" dirty="0"/>
          </a:p>
        </p:txBody>
      </p:sp>
      <p:sp>
        <p:nvSpPr>
          <p:cNvPr id="8" name="Shape 3"/>
          <p:cNvSpPr/>
          <p:nvPr/>
        </p:nvSpPr>
        <p:spPr>
          <a:xfrm>
            <a:off x="274320" y="1188720"/>
            <a:ext cx="2560320" cy="2011680"/>
          </a:xfrm>
          <a:prstGeom prst="roundRect">
            <a:avLst>
              <a:gd name="adj" fmla="val 4545"/>
            </a:avLst>
          </a:prstGeom>
          <a:solidFill>
            <a:srgbClr val="009FE3">
              <a:alpha val="82000"/>
            </a:srgbClr>
          </a:solidFill>
          <a:ln w="19050">
            <a:solidFill>
              <a:srgbClr val="009FE3"/>
            </a:solidFill>
            <a:prstDash val="solid"/>
          </a:ln>
          <a:effectLst>
            <a:outerShdw blurRad="127000" dist="38100" dir="8100000" algn="bl" rotWithShape="0">
              <a:srgbClr val="000000">
                <a:alpha val="30000"/>
              </a:srgbClr>
            </a:outerShdw>
          </a:effectLst>
        </p:spPr>
        <p:txBody>
          <a:bodyPr/>
          <a:lstStyle/>
          <a:p>
            <a:endParaRPr lang="en-GB"/>
          </a:p>
        </p:txBody>
      </p:sp>
      <p:sp>
        <p:nvSpPr>
          <p:cNvPr id="9" name="Text 4"/>
          <p:cNvSpPr/>
          <p:nvPr/>
        </p:nvSpPr>
        <p:spPr>
          <a:xfrm>
            <a:off x="292608" y="1280160"/>
            <a:ext cx="2523744"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50%+</a:t>
            </a:r>
            <a:endParaRPr lang="en-US" sz="4400" dirty="0"/>
          </a:p>
        </p:txBody>
      </p:sp>
      <p:sp>
        <p:nvSpPr>
          <p:cNvPr id="10" name="Text 5"/>
          <p:cNvSpPr/>
          <p:nvPr/>
        </p:nvSpPr>
        <p:spPr>
          <a:xfrm>
            <a:off x="320040" y="2286000"/>
            <a:ext cx="2468880" cy="822960"/>
          </a:xfrm>
          <a:prstGeom prst="rect">
            <a:avLst/>
          </a:prstGeom>
          <a:noFill/>
          <a:ln/>
        </p:spPr>
        <p:txBody>
          <a:bodyPr wrap="square" lIns="0" tIns="0" rIns="0" bIns="0" rtlCol="0" anchor="t"/>
          <a:lstStyle/>
          <a:p>
            <a:pPr marL="0" indent="0" algn="ctr">
              <a:buNone/>
            </a:pPr>
            <a:r>
              <a:rPr lang="en-US" sz="1050" dirty="0">
                <a:solidFill>
                  <a:srgbClr val="FFFFFF"/>
                </a:solidFill>
                <a:latin typeface="Arial" pitchFamily="34" charset="0"/>
                <a:ea typeface="Arial" pitchFamily="34" charset="-122"/>
                <a:cs typeface="Arial" pitchFamily="34" charset="-120"/>
              </a:rPr>
              <a:t>of working days lost to ill health are due to stress, depression or anxiety</a:t>
            </a:r>
            <a:endParaRPr lang="en-US" sz="1050" dirty="0"/>
          </a:p>
        </p:txBody>
      </p:sp>
      <p:sp>
        <p:nvSpPr>
          <p:cNvPr id="11" name="Text 6"/>
          <p:cNvSpPr/>
          <p:nvPr/>
        </p:nvSpPr>
        <p:spPr>
          <a:xfrm>
            <a:off x="3108960" y="1170432"/>
            <a:ext cx="5760720" cy="731520"/>
          </a:xfrm>
          <a:prstGeom prst="rect">
            <a:avLst/>
          </a:prstGeom>
          <a:noFill/>
          <a:ln/>
        </p:spPr>
        <p:txBody>
          <a:bodyPr wrap="square" lIns="0" tIns="0" rIns="0" bIns="0" rtlCol="0" anchor="t"/>
          <a:lstStyle/>
          <a:p>
            <a:pPr marL="0" indent="0" algn="l">
              <a:buNone/>
            </a:pPr>
            <a:r>
              <a:rPr lang="en-US" sz="2600" b="1" dirty="0">
                <a:solidFill>
                  <a:srgbClr val="FFFFFF"/>
                </a:solidFill>
                <a:latin typeface="Cambria" pitchFamily="34" charset="0"/>
                <a:ea typeface="Cambria" pitchFamily="34" charset="-122"/>
                <a:cs typeface="Cambria" pitchFamily="34" charset="-120"/>
              </a:rPr>
              <a:t>Look Out for Each Other</a:t>
            </a:r>
            <a:endParaRPr lang="en-US" sz="2600" dirty="0"/>
          </a:p>
        </p:txBody>
      </p:sp>
      <p:sp>
        <p:nvSpPr>
          <p:cNvPr id="12" name="Text 7"/>
          <p:cNvSpPr/>
          <p:nvPr/>
        </p:nvSpPr>
        <p:spPr>
          <a:xfrm>
            <a:off x="3108960" y="1901952"/>
            <a:ext cx="5760720" cy="347472"/>
          </a:xfrm>
          <a:prstGeom prst="rect">
            <a:avLst/>
          </a:prstGeom>
          <a:noFill/>
          <a:ln/>
        </p:spPr>
        <p:txBody>
          <a:bodyPr wrap="square" lIns="0" tIns="0" rIns="0" bIns="0" rtlCol="0" anchor="ctr"/>
          <a:lstStyle/>
          <a:p>
            <a:pPr marL="0" indent="0" algn="l">
              <a:buNone/>
            </a:pPr>
            <a:r>
              <a:rPr lang="en-US" sz="1200" i="1" dirty="0">
                <a:solidFill>
                  <a:srgbClr val="009FE3"/>
                </a:solidFill>
                <a:latin typeface="Arial" pitchFamily="34" charset="0"/>
                <a:ea typeface="Arial" pitchFamily="34" charset="-122"/>
                <a:cs typeface="Arial" pitchFamily="34" charset="-120"/>
              </a:rPr>
              <a:t>Mental Health at Work: 1 in 4 People Are Affected</a:t>
            </a:r>
            <a:endParaRPr lang="en-US" sz="1200" dirty="0"/>
          </a:p>
        </p:txBody>
      </p:sp>
      <p:sp>
        <p:nvSpPr>
          <p:cNvPr id="13" name="Shape 8"/>
          <p:cNvSpPr/>
          <p:nvPr/>
        </p:nvSpPr>
        <p:spPr>
          <a:xfrm>
            <a:off x="3108960" y="2350008"/>
            <a:ext cx="256032" cy="256032"/>
          </a:xfrm>
          <a:prstGeom prst="ellipse">
            <a:avLst/>
          </a:prstGeom>
          <a:solidFill>
            <a:srgbClr val="009FE3"/>
          </a:solidFill>
          <a:ln w="12700">
            <a:solidFill>
              <a:srgbClr val="009FE3"/>
            </a:solidFill>
            <a:prstDash val="solid"/>
          </a:ln>
        </p:spPr>
        <p:txBody>
          <a:bodyPr/>
          <a:lstStyle/>
          <a:p>
            <a:endParaRPr lang="en-GB"/>
          </a:p>
        </p:txBody>
      </p:sp>
      <p:sp>
        <p:nvSpPr>
          <p:cNvPr id="14" name="Text 9"/>
          <p:cNvSpPr/>
          <p:nvPr/>
        </p:nvSpPr>
        <p:spPr>
          <a:xfrm>
            <a:off x="3108960" y="2331720"/>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Text 10"/>
          <p:cNvSpPr/>
          <p:nvPr/>
        </p:nvSpPr>
        <p:spPr>
          <a:xfrm>
            <a:off x="3456432" y="2350008"/>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Look for changes: withdrawal, irritability, reduced concentration</a:t>
            </a:r>
            <a:endParaRPr lang="en-US" sz="1250" dirty="0"/>
          </a:p>
        </p:txBody>
      </p:sp>
      <p:sp>
        <p:nvSpPr>
          <p:cNvPr id="16" name="Shape 11"/>
          <p:cNvSpPr/>
          <p:nvPr/>
        </p:nvSpPr>
        <p:spPr>
          <a:xfrm>
            <a:off x="3108960" y="2779776"/>
            <a:ext cx="256032" cy="256032"/>
          </a:xfrm>
          <a:prstGeom prst="ellipse">
            <a:avLst/>
          </a:prstGeom>
          <a:solidFill>
            <a:srgbClr val="009FE3"/>
          </a:solidFill>
          <a:ln w="12700">
            <a:solidFill>
              <a:srgbClr val="009FE3"/>
            </a:solidFill>
            <a:prstDash val="solid"/>
          </a:ln>
        </p:spPr>
        <p:txBody>
          <a:bodyPr/>
          <a:lstStyle/>
          <a:p>
            <a:endParaRPr lang="en-GB"/>
          </a:p>
        </p:txBody>
      </p:sp>
      <p:sp>
        <p:nvSpPr>
          <p:cNvPr id="17" name="Text 12"/>
          <p:cNvSpPr/>
          <p:nvPr/>
        </p:nvSpPr>
        <p:spPr>
          <a:xfrm>
            <a:off x="3108960" y="2761488"/>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8" name="Text 13"/>
          <p:cNvSpPr/>
          <p:nvPr/>
        </p:nvSpPr>
        <p:spPr>
          <a:xfrm>
            <a:off x="3456432" y="2779776"/>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Ask a direct question if you are concerned. Listen without judgement.</a:t>
            </a:r>
            <a:endParaRPr lang="en-US" sz="1250" dirty="0"/>
          </a:p>
        </p:txBody>
      </p:sp>
      <p:sp>
        <p:nvSpPr>
          <p:cNvPr id="19" name="Shape 14"/>
          <p:cNvSpPr/>
          <p:nvPr/>
        </p:nvSpPr>
        <p:spPr>
          <a:xfrm>
            <a:off x="3108960" y="3209544"/>
            <a:ext cx="256032" cy="256032"/>
          </a:xfrm>
          <a:prstGeom prst="ellipse">
            <a:avLst/>
          </a:prstGeom>
          <a:solidFill>
            <a:srgbClr val="009FE3"/>
          </a:solidFill>
          <a:ln w="12700">
            <a:solidFill>
              <a:srgbClr val="009FE3"/>
            </a:solidFill>
            <a:prstDash val="solid"/>
          </a:ln>
        </p:spPr>
        <p:txBody>
          <a:bodyPr/>
          <a:lstStyle/>
          <a:p>
            <a:endParaRPr lang="en-GB"/>
          </a:p>
        </p:txBody>
      </p:sp>
      <p:sp>
        <p:nvSpPr>
          <p:cNvPr id="20" name="Text 15"/>
          <p:cNvSpPr/>
          <p:nvPr/>
        </p:nvSpPr>
        <p:spPr>
          <a:xfrm>
            <a:off x="3108960" y="3191256"/>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1" name="Text 16"/>
          <p:cNvSpPr/>
          <p:nvPr/>
        </p:nvSpPr>
        <p:spPr>
          <a:xfrm>
            <a:off x="3456432" y="3209544"/>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Know the mental health support available through the company</a:t>
            </a:r>
            <a:endParaRPr lang="en-US" sz="1250" dirty="0"/>
          </a:p>
        </p:txBody>
      </p:sp>
      <p:sp>
        <p:nvSpPr>
          <p:cNvPr id="22" name="Shape 17"/>
          <p:cNvSpPr/>
          <p:nvPr/>
        </p:nvSpPr>
        <p:spPr>
          <a:xfrm>
            <a:off x="3108960" y="3639312"/>
            <a:ext cx="256032" cy="256032"/>
          </a:xfrm>
          <a:prstGeom prst="ellipse">
            <a:avLst/>
          </a:prstGeom>
          <a:solidFill>
            <a:srgbClr val="009FE3"/>
          </a:solidFill>
          <a:ln w="12700">
            <a:solidFill>
              <a:srgbClr val="009FE3"/>
            </a:solidFill>
            <a:prstDash val="solid"/>
          </a:ln>
        </p:spPr>
        <p:txBody>
          <a:bodyPr/>
          <a:lstStyle/>
          <a:p>
            <a:endParaRPr lang="en-GB"/>
          </a:p>
        </p:txBody>
      </p:sp>
      <p:sp>
        <p:nvSpPr>
          <p:cNvPr id="23" name="Text 18"/>
          <p:cNvSpPr/>
          <p:nvPr/>
        </p:nvSpPr>
        <p:spPr>
          <a:xfrm>
            <a:off x="3108960" y="3621024"/>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4" name="Text 19"/>
          <p:cNvSpPr/>
          <p:nvPr/>
        </p:nvSpPr>
        <p:spPr>
          <a:xfrm>
            <a:off x="3456432" y="3639312"/>
            <a:ext cx="5413248" cy="329184"/>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Speak to your manager early if pressures feel unmanageable</a:t>
            </a:r>
            <a:endParaRPr lang="en-US" sz="1250" dirty="0"/>
          </a:p>
        </p:txBody>
      </p:sp>
      <p:sp>
        <p:nvSpPr>
          <p:cNvPr id="25" name="Shape 20"/>
          <p:cNvSpPr/>
          <p:nvPr/>
        </p:nvSpPr>
        <p:spPr>
          <a:xfrm>
            <a:off x="0" y="4187952"/>
            <a:ext cx="9144000" cy="731520"/>
          </a:xfrm>
          <a:prstGeom prst="rect">
            <a:avLst/>
          </a:prstGeom>
          <a:solidFill>
            <a:srgbClr val="009FE3">
              <a:alpha val="75000"/>
            </a:srgbClr>
          </a:solidFill>
          <a:ln w="12700">
            <a:solidFill>
              <a:srgbClr val="009FE3"/>
            </a:solidFill>
            <a:prstDash val="solid"/>
          </a:ln>
        </p:spPr>
        <p:txBody>
          <a:bodyPr/>
          <a:lstStyle/>
          <a:p>
            <a:endParaRPr lang="en-GB"/>
          </a:p>
        </p:txBody>
      </p:sp>
      <p:sp>
        <p:nvSpPr>
          <p:cNvPr id="26" name="Text 21"/>
          <p:cNvSpPr/>
          <p:nvPr/>
        </p:nvSpPr>
        <p:spPr>
          <a:xfrm>
            <a:off x="274320" y="4224528"/>
            <a:ext cx="8595360" cy="64008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YOUR ACTION THIS MONTH: </a:t>
            </a:r>
            <a:r>
              <a:rPr lang="en-US" sz="1150" dirty="0">
                <a:solidFill>
                  <a:srgbClr val="FFFFFF"/>
                </a:solidFill>
                <a:latin typeface="Arial" pitchFamily="34" charset="0"/>
                <a:ea typeface="Arial" pitchFamily="34" charset="-122"/>
                <a:cs typeface="Arial" pitchFamily="34" charset="-120"/>
              </a:rPr>
              <a:t>Check in with at least one colleague you have not spoken to properly recently.</a:t>
            </a:r>
            <a:endParaRPr lang="en-US" sz="1150" dirty="0"/>
          </a:p>
        </p:txBody>
      </p:sp>
      <p:sp>
        <p:nvSpPr>
          <p:cNvPr id="27" name="Rectangle 2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6"/>
          <a:stretch>
            <a:fillRect/>
          </a:stretch>
        </p:blipFill>
        <p:spPr>
          <a:xfrm>
            <a:off x="7562088" y="100584"/>
            <a:ext cx="566928" cy="347472"/>
          </a:xfrm>
          <a:prstGeom prst="rect">
            <a:avLst/>
          </a:prstGeom>
        </p:spPr>
      </p:pic>
      <p:pic>
        <p:nvPicPr>
          <p:cNvPr id="29" name="Picture 28" descr="image.png"/>
          <p:cNvPicPr>
            <a:picLocks noChangeAspect="1"/>
          </p:cNvPicPr>
          <p:nvPr/>
        </p:nvPicPr>
        <p:blipFill>
          <a:blip r:embed="rId5"/>
          <a:stretch>
            <a:fillRect/>
          </a:stretch>
        </p:blipFill>
        <p:spPr>
          <a:xfrm>
            <a:off x="8174736" y="100584"/>
            <a:ext cx="658368" cy="347472"/>
          </a:xfrm>
          <a:prstGeom prst="rect">
            <a:avLst/>
          </a:prstGeom>
        </p:spPr>
      </p:pic>
      <p:sp>
        <p:nvSpPr>
          <p:cNvPr id="30" name="Rectangle 2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428"/>
        </a:solidFill>
        <a:effectLst/>
      </p:bgPr>
    </p:bg>
    <p:spTree>
      <p:nvGrpSpPr>
        <p:cNvPr id="1" name=""/>
        <p:cNvGrpSpPr/>
        <p:nvPr/>
      </p:nvGrpSpPr>
      <p:grpSpPr>
        <a:xfrm>
          <a:off x="0" y="0"/>
          <a:ext cx="0" cy="0"/>
          <a:chOff x="0" y="0"/>
          <a:chExt cx="0" cy="0"/>
        </a:xfrm>
      </p:grpSpPr>
      <p:sp>
        <p:nvSpPr>
          <p:cNvPr id="3" name="Shape 0"/>
          <p:cNvSpPr/>
          <p:nvPr/>
        </p:nvSpPr>
        <p:spPr>
          <a:xfrm>
            <a:off x="0" y="0"/>
            <a:ext cx="3840480" cy="5143500"/>
          </a:xfrm>
          <a:prstGeom prst="rect">
            <a:avLst/>
          </a:prstGeom>
          <a:solidFill>
            <a:srgbClr val="009FE3">
              <a:alpha val="85000"/>
            </a:srgbClr>
          </a:solidFill>
          <a:ln w="12700">
            <a:solidFill>
              <a:srgbClr val="009FE3"/>
            </a:solidFill>
            <a:prstDash val="solid"/>
          </a:ln>
        </p:spPr>
        <p:txBody>
          <a:bodyPr/>
          <a:lstStyle/>
          <a:p>
            <a:endParaRPr lang="en-GB"/>
          </a:p>
        </p:txBody>
      </p:sp>
      <p:sp>
        <p:nvSpPr>
          <p:cNvPr id="4" name="Text 1"/>
          <p:cNvSpPr/>
          <p:nvPr/>
        </p:nvSpPr>
        <p:spPr>
          <a:xfrm>
            <a:off x="164592" y="822960"/>
            <a:ext cx="3474720" cy="182880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FINISH</a:t>
            </a:r>
            <a:endParaRPr lang="en-US" sz="5200" dirty="0"/>
          </a:p>
          <a:p>
            <a:pPr marL="0" indent="0" algn="ctr">
              <a:buNone/>
            </a:pPr>
            <a:r>
              <a:rPr lang="en-US" sz="5200" b="1" dirty="0">
                <a:solidFill>
                  <a:srgbClr val="FFFFFF"/>
                </a:solidFill>
                <a:latin typeface="Cambria" pitchFamily="34" charset="0"/>
                <a:ea typeface="Cambria" pitchFamily="34" charset="-122"/>
                <a:cs typeface="Cambria" pitchFamily="34" charset="-120"/>
              </a:rPr>
              <a:t>STRONG</a:t>
            </a:r>
            <a:endParaRPr lang="en-US" sz="5200" dirty="0"/>
          </a:p>
        </p:txBody>
      </p:sp>
      <p:sp>
        <p:nvSpPr>
          <p:cNvPr id="5" name="Text 2"/>
          <p:cNvSpPr/>
          <p:nvPr/>
        </p:nvSpPr>
        <p:spPr>
          <a:xfrm>
            <a:off x="182880" y="2651760"/>
            <a:ext cx="3429000" cy="914400"/>
          </a:xfrm>
          <a:prstGeom prst="rect">
            <a:avLst/>
          </a:prstGeom>
          <a:noFill/>
          <a:ln/>
        </p:spPr>
        <p:txBody>
          <a:bodyPr wrap="square" lIns="0" tIns="0" rIns="0" bIns="0" rtlCol="0" anchor="t"/>
          <a:lstStyle/>
          <a:p>
            <a:pPr marL="0" indent="0" algn="ctr">
              <a:buNone/>
            </a:pPr>
            <a:r>
              <a:rPr lang="en-US" sz="1200" dirty="0">
                <a:solidFill>
                  <a:srgbClr val="FFFFFF"/>
                </a:solidFill>
                <a:latin typeface="Arial" pitchFamily="34" charset="0"/>
                <a:ea typeface="Arial" pitchFamily="34" charset="-122"/>
                <a:cs typeface="Arial" pitchFamily="34" charset="-120"/>
              </a:rPr>
              <a:t>Accident rates rise under production pressure. Do not let deadlines drive shortcuts.</a:t>
            </a:r>
            <a:endParaRPr lang="en-US" sz="1200" dirty="0"/>
          </a:p>
        </p:txBody>
      </p:sp>
      <p:sp>
        <p:nvSpPr>
          <p:cNvPr id="6" name="Text 3"/>
          <p:cNvSpPr/>
          <p:nvPr/>
        </p:nvSpPr>
        <p:spPr>
          <a:xfrm>
            <a:off x="164592" y="4160520"/>
            <a:ext cx="3474720" cy="640080"/>
          </a:xfrm>
          <a:prstGeom prst="rect">
            <a:avLst/>
          </a:prstGeom>
          <a:noFill/>
          <a:ln/>
        </p:spPr>
        <p:txBody>
          <a:bodyPr wrap="square" lIns="0" tIns="0" rIns="0" bIns="0" rtlCol="0" anchor="ctr"/>
          <a:lstStyle/>
          <a:p>
            <a:pPr marL="0" indent="0" algn="ctr">
              <a:buNone/>
            </a:pPr>
            <a:r>
              <a:rPr lang="en-US" sz="1300" b="1" kern="0" spc="600" dirty="0">
                <a:solidFill>
                  <a:srgbClr val="FFFFFF"/>
                </a:solidFill>
                <a:latin typeface="Arial" pitchFamily="34" charset="0"/>
                <a:ea typeface="Arial" pitchFamily="34" charset="-122"/>
                <a:cs typeface="Arial" pitchFamily="34" charset="-120"/>
              </a:rPr>
              <a:t>DECEMBER</a:t>
            </a:r>
            <a:endParaRPr lang="en-US" sz="1300" dirty="0"/>
          </a:p>
        </p:txBody>
      </p:sp>
      <p:sp>
        <p:nvSpPr>
          <p:cNvPr id="7" name="Text 4"/>
          <p:cNvSpPr/>
          <p:nvPr/>
        </p:nvSpPr>
        <p:spPr>
          <a:xfrm>
            <a:off x="4114800" y="228600"/>
            <a:ext cx="4754880" cy="82296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Close the Year Safely</a:t>
            </a:r>
            <a:endParaRPr lang="en-US" sz="2800" dirty="0"/>
          </a:p>
        </p:txBody>
      </p:sp>
      <p:sp>
        <p:nvSpPr>
          <p:cNvPr id="8" name="Text 5"/>
          <p:cNvSpPr/>
          <p:nvPr/>
        </p:nvSpPr>
        <p:spPr>
          <a:xfrm>
            <a:off x="4114800" y="960120"/>
            <a:ext cx="4754880" cy="411480"/>
          </a:xfrm>
          <a:prstGeom prst="rect">
            <a:avLst/>
          </a:prstGeom>
          <a:noFill/>
          <a:ln/>
        </p:spPr>
        <p:txBody>
          <a:bodyPr wrap="square" lIns="0" tIns="0" rIns="0" bIns="0" rtlCol="0" anchor="t"/>
          <a:lstStyle/>
          <a:p>
            <a:pPr marL="0" indent="0" algn="l">
              <a:buNone/>
            </a:pPr>
            <a:r>
              <a:rPr lang="en-US" sz="1300" i="1" dirty="0">
                <a:solidFill>
                  <a:srgbClr val="009FE3"/>
                </a:solidFill>
                <a:latin typeface="Arial" pitchFamily="34" charset="0"/>
                <a:ea typeface="Arial" pitchFamily="34" charset="-122"/>
                <a:cs typeface="Arial" pitchFamily="34" charset="-120"/>
              </a:rPr>
              <a:t>End of Year: Pressure Is When Discipline Matters Most</a:t>
            </a:r>
            <a:endParaRPr lang="en-US" sz="1300" dirty="0"/>
          </a:p>
        </p:txBody>
      </p:sp>
      <p:sp>
        <p:nvSpPr>
          <p:cNvPr id="9" name="Shape 6"/>
          <p:cNvSpPr/>
          <p:nvPr/>
        </p:nvSpPr>
        <p:spPr>
          <a:xfrm>
            <a:off x="4114800" y="1417320"/>
            <a:ext cx="4663440" cy="0"/>
          </a:xfrm>
          <a:prstGeom prst="line">
            <a:avLst/>
          </a:prstGeom>
          <a:noFill/>
          <a:ln w="19050">
            <a:solidFill>
              <a:srgbClr val="009FE3"/>
            </a:solidFill>
            <a:prstDash val="solid"/>
          </a:ln>
        </p:spPr>
        <p:txBody>
          <a:bodyPr/>
          <a:lstStyle/>
          <a:p>
            <a:endParaRPr lang="en-GB"/>
          </a:p>
        </p:txBody>
      </p:sp>
      <p:sp>
        <p:nvSpPr>
          <p:cNvPr id="10" name="Shape 7"/>
          <p:cNvSpPr/>
          <p:nvPr/>
        </p:nvSpPr>
        <p:spPr>
          <a:xfrm>
            <a:off x="4114800" y="1563624"/>
            <a:ext cx="292608" cy="292608"/>
          </a:xfrm>
          <a:prstGeom prst="ellipse">
            <a:avLst/>
          </a:prstGeom>
          <a:solidFill>
            <a:srgbClr val="009FE3"/>
          </a:solidFill>
          <a:ln w="12700">
            <a:solidFill>
              <a:srgbClr val="009FE3"/>
            </a:solidFill>
            <a:prstDash val="solid"/>
          </a:ln>
        </p:spPr>
        <p:txBody>
          <a:bodyPr/>
          <a:lstStyle/>
          <a:p>
            <a:endParaRPr lang="en-GB"/>
          </a:p>
        </p:txBody>
      </p:sp>
      <p:sp>
        <p:nvSpPr>
          <p:cNvPr id="11" name="Text 8"/>
          <p:cNvSpPr/>
          <p:nvPr/>
        </p:nvSpPr>
        <p:spPr>
          <a:xfrm>
            <a:off x="4114800" y="1554480"/>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p:nvPr/>
        </p:nvSpPr>
        <p:spPr>
          <a:xfrm>
            <a:off x="4498848" y="1563624"/>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Maintain all safety checks even under year-end pressure</a:t>
            </a:r>
            <a:endParaRPr lang="en-US" sz="1250" dirty="0"/>
          </a:p>
        </p:txBody>
      </p:sp>
      <p:sp>
        <p:nvSpPr>
          <p:cNvPr id="13" name="Shape 10"/>
          <p:cNvSpPr/>
          <p:nvPr/>
        </p:nvSpPr>
        <p:spPr>
          <a:xfrm>
            <a:off x="4114800" y="2093976"/>
            <a:ext cx="292608" cy="292608"/>
          </a:xfrm>
          <a:prstGeom prst="ellipse">
            <a:avLst/>
          </a:prstGeom>
          <a:solidFill>
            <a:srgbClr val="009FE3"/>
          </a:solidFill>
          <a:ln w="12700">
            <a:solidFill>
              <a:srgbClr val="009FE3"/>
            </a:solidFill>
            <a:prstDash val="solid"/>
          </a:ln>
        </p:spPr>
        <p:txBody>
          <a:bodyPr/>
          <a:lstStyle/>
          <a:p>
            <a:endParaRPr lang="en-GB"/>
          </a:p>
        </p:txBody>
      </p:sp>
      <p:sp>
        <p:nvSpPr>
          <p:cNvPr id="14" name="Text 11"/>
          <p:cNvSpPr/>
          <p:nvPr/>
        </p:nvSpPr>
        <p:spPr>
          <a:xfrm>
            <a:off x="4114800" y="2084832"/>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5" name="Text 12"/>
          <p:cNvSpPr/>
          <p:nvPr/>
        </p:nvSpPr>
        <p:spPr>
          <a:xfrm>
            <a:off x="4498848" y="2093976"/>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Ensure outstanding near miss reports are closed out</a:t>
            </a:r>
            <a:endParaRPr lang="en-US" sz="1250" dirty="0"/>
          </a:p>
        </p:txBody>
      </p:sp>
      <p:sp>
        <p:nvSpPr>
          <p:cNvPr id="16" name="Shape 13"/>
          <p:cNvSpPr/>
          <p:nvPr/>
        </p:nvSpPr>
        <p:spPr>
          <a:xfrm>
            <a:off x="4114800" y="2624328"/>
            <a:ext cx="292608" cy="292608"/>
          </a:xfrm>
          <a:prstGeom prst="ellipse">
            <a:avLst/>
          </a:prstGeom>
          <a:solidFill>
            <a:srgbClr val="009FE3"/>
          </a:solidFill>
          <a:ln w="12700">
            <a:solidFill>
              <a:srgbClr val="009FE3"/>
            </a:solidFill>
            <a:prstDash val="solid"/>
          </a:ln>
        </p:spPr>
        <p:txBody>
          <a:bodyPr/>
          <a:lstStyle/>
          <a:p>
            <a:endParaRPr lang="en-GB"/>
          </a:p>
        </p:txBody>
      </p:sp>
      <p:sp>
        <p:nvSpPr>
          <p:cNvPr id="17" name="Text 14"/>
          <p:cNvSpPr/>
          <p:nvPr/>
        </p:nvSpPr>
        <p:spPr>
          <a:xfrm>
            <a:off x="4114800" y="2615184"/>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5"/>
          <p:cNvSpPr/>
          <p:nvPr/>
        </p:nvSpPr>
        <p:spPr>
          <a:xfrm>
            <a:off x="4498848" y="2624328"/>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Check PPE and lifting gear inspection dates going into January</a:t>
            </a:r>
            <a:endParaRPr lang="en-US" sz="1250" dirty="0"/>
          </a:p>
        </p:txBody>
      </p:sp>
      <p:sp>
        <p:nvSpPr>
          <p:cNvPr id="19" name="Shape 16"/>
          <p:cNvSpPr/>
          <p:nvPr/>
        </p:nvSpPr>
        <p:spPr>
          <a:xfrm>
            <a:off x="4114800" y="3154680"/>
            <a:ext cx="292608" cy="292608"/>
          </a:xfrm>
          <a:prstGeom prst="ellipse">
            <a:avLst/>
          </a:prstGeom>
          <a:solidFill>
            <a:srgbClr val="009FE3"/>
          </a:solidFill>
          <a:ln w="12700">
            <a:solidFill>
              <a:srgbClr val="009FE3"/>
            </a:solidFill>
            <a:prstDash val="solid"/>
          </a:ln>
        </p:spPr>
        <p:txBody>
          <a:bodyPr/>
          <a:lstStyle/>
          <a:p>
            <a:endParaRPr lang="en-GB"/>
          </a:p>
        </p:txBody>
      </p:sp>
      <p:sp>
        <p:nvSpPr>
          <p:cNvPr id="20" name="Text 17"/>
          <p:cNvSpPr/>
          <p:nvPr/>
        </p:nvSpPr>
        <p:spPr>
          <a:xfrm>
            <a:off x="4114800" y="3145536"/>
            <a:ext cx="292608"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1" name="Text 18"/>
          <p:cNvSpPr/>
          <p:nvPr/>
        </p:nvSpPr>
        <p:spPr>
          <a:xfrm>
            <a:off x="4498848" y="3154680"/>
            <a:ext cx="4389120" cy="347472"/>
          </a:xfrm>
          <a:prstGeom prst="rect">
            <a:avLst/>
          </a:prstGeom>
          <a:noFill/>
          <a:ln/>
        </p:spPr>
        <p:txBody>
          <a:bodyPr wrap="square" lIns="0" tIns="0" rIns="0" bIns="0" rtlCol="0" anchor="t"/>
          <a:lstStyle/>
          <a:p>
            <a:pPr marL="0" indent="0" algn="l">
              <a:buNone/>
            </a:pPr>
            <a:r>
              <a:rPr lang="en-US" sz="1250" dirty="0">
                <a:solidFill>
                  <a:srgbClr val="FFFFFF"/>
                </a:solidFill>
                <a:latin typeface="Arial" pitchFamily="34" charset="0"/>
                <a:ea typeface="Arial" pitchFamily="34" charset="-122"/>
                <a:cs typeface="Arial" pitchFamily="34" charset="-120"/>
              </a:rPr>
              <a:t>Recognise team members who have championed safety this year</a:t>
            </a:r>
            <a:endParaRPr lang="en-US" sz="1250" dirty="0"/>
          </a:p>
        </p:txBody>
      </p:sp>
      <p:sp>
        <p:nvSpPr>
          <p:cNvPr id="22" name="Shape 19"/>
          <p:cNvSpPr/>
          <p:nvPr/>
        </p:nvSpPr>
        <p:spPr>
          <a:xfrm>
            <a:off x="4114800" y="3840480"/>
            <a:ext cx="4709160" cy="868680"/>
          </a:xfrm>
          <a:prstGeom prst="roundRect">
            <a:avLst>
              <a:gd name="adj" fmla="val 8421"/>
            </a:avLst>
          </a:prstGeom>
          <a:solidFill>
            <a:srgbClr val="0A2540"/>
          </a:solidFill>
          <a:ln w="19050">
            <a:solidFill>
              <a:srgbClr val="009FE3"/>
            </a:solidFill>
            <a:prstDash val="solid"/>
          </a:ln>
        </p:spPr>
        <p:txBody>
          <a:bodyPr/>
          <a:lstStyle/>
          <a:p>
            <a:endParaRPr lang="en-GB"/>
          </a:p>
        </p:txBody>
      </p:sp>
      <p:sp>
        <p:nvSpPr>
          <p:cNvPr id="23" name="Text 20"/>
          <p:cNvSpPr/>
          <p:nvPr/>
        </p:nvSpPr>
        <p:spPr>
          <a:xfrm>
            <a:off x="4224528" y="3886200"/>
            <a:ext cx="4480560" cy="777240"/>
          </a:xfrm>
          <a:prstGeom prst="rect">
            <a:avLst/>
          </a:prstGeom>
          <a:noFill/>
          <a:ln/>
        </p:spPr>
        <p:txBody>
          <a:bodyPr wrap="square" lIns="0" tIns="0" rIns="0" bIns="0" rtlCol="0" anchor="ctr"/>
          <a:lstStyle/>
          <a:p>
            <a:pPr marL="0" indent="0">
              <a:buNone/>
            </a:pPr>
            <a:r>
              <a:rPr lang="en-US" sz="1150" b="1" dirty="0">
                <a:solidFill>
                  <a:srgbClr val="009FE3"/>
                </a:solidFill>
                <a:latin typeface="Arial" pitchFamily="34" charset="0"/>
                <a:ea typeface="Arial" pitchFamily="34" charset="-122"/>
                <a:cs typeface="Arial" pitchFamily="34" charset="-120"/>
              </a:rPr>
              <a:t>YOUR ACTION: </a:t>
            </a:r>
            <a:r>
              <a:rPr lang="en-US" sz="1150" dirty="0">
                <a:solidFill>
                  <a:srgbClr val="FFFFFF"/>
                </a:solidFill>
                <a:latin typeface="Arial" pitchFamily="34" charset="0"/>
                <a:ea typeface="Arial" pitchFamily="34" charset="-122"/>
                <a:cs typeface="Arial" pitchFamily="34" charset="-120"/>
              </a:rPr>
              <a:t>Use your team briefing to reflect on the safety year. What do we do differently next year?</a:t>
            </a:r>
            <a:endParaRPr lang="en-US" sz="1150" dirty="0"/>
          </a:p>
        </p:txBody>
      </p:sp>
      <p:pic>
        <p:nvPicPr>
          <p:cNvPr id="24" name="Image 0" descr="/home/claude/nuccol_logo.jpg"/>
          <p:cNvPicPr>
            <a:picLocks noChangeAspect="1"/>
          </p:cNvPicPr>
          <p:nvPr/>
        </p:nvPicPr>
        <p:blipFill>
          <a:blip r:embed="rId3"/>
          <a:stretch>
            <a:fillRect/>
          </a:stretch>
        </p:blipFill>
        <p:spPr>
          <a:xfrm>
            <a:off x="201168" y="128016"/>
            <a:ext cx="1280160" cy="612648"/>
          </a:xfrm>
          <a:prstGeom prst="rect">
            <a:avLst/>
          </a:prstGeom>
        </p:spPr>
      </p:pic>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9D22E65-C1D2-4A12-832B-F36BFC043A0E}"/>
</file>

<file path=customXml/itemProps2.xml><?xml version="1.0" encoding="utf-8"?>
<ds:datastoreItem xmlns:ds="http://schemas.openxmlformats.org/officeDocument/2006/customXml" ds:itemID="{086B4F08-57F8-4D0D-8D53-74F2FCE9108E}"/>
</file>

<file path=customXml/itemProps3.xml><?xml version="1.0" encoding="utf-8"?>
<ds:datastoreItem xmlns:ds="http://schemas.openxmlformats.org/officeDocument/2006/customXml" ds:itemID="{C502B262-919A-43D0-9BCA-A7A73D65E698}"/>
</file>

<file path=docProps/app.xml><?xml version="1.0" encoding="utf-8"?>
<Properties xmlns="http://schemas.openxmlformats.org/officeDocument/2006/extended-properties" xmlns:vt="http://schemas.openxmlformats.org/officeDocument/2006/docPropsVTypes">
  <TotalTime>0</TotalTime>
  <Words>2436</Words>
  <Application>Microsoft Office PowerPoint</Application>
  <PresentationFormat>On-screen Show (16:9)</PresentationFormat>
  <Paragraphs>204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Safety Messages</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