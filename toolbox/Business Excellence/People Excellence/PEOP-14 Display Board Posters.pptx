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officeDocument" Target="ppt/presentation.xml"/><Relationship Id="rId2" Type="http://schemas.openxmlformats.org/package/2006/relationships/metadata/core-properties" Target="docProps/core.xml"/><Relationship Id="rId1"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openxmlformats.org/officeDocument/2006/relationships/customXml" Target="../customXml/item2.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customXml" Target="../customXml/item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 Id="rId14"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 Id="rId4" Type="http://schemas.openxmlformats.org/officeDocument/2006/relationships/image" Target="../media/image1.png"/><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 Id="rId4" Type="http://schemas.openxmlformats.org/officeDocument/2006/relationships/image" Target="../media/image1.pn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 Id="rId4" Type="http://schemas.openxmlformats.org/officeDocument/2006/relationships/image" Target="../media/image1.png"/><Relationship Id="rId5"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 Id="rId4" Type="http://schemas.openxmlformats.org/officeDocument/2006/relationships/image" Target="../media/image1.png"/><Relationship Id="rId5"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 Id="rId4" Type="http://schemas.openxmlformats.org/officeDocument/2006/relationships/image" Target="../media/image1.png"/><Relationship Id="rId5"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FFFFF"/>
          </a:solidFill>
          <a:ln/>
        </p:spPr>
      </p:sp>
      <p:sp>
        <p:nvSpPr>
          <p:cNvPr id="3" name="Shape 1"/>
          <p:cNvSpPr/>
          <p:nvPr/>
        </p:nvSpPr>
        <p:spPr>
          <a:xfrm>
            <a:off x="0" y="0"/>
            <a:ext cx="12161520" cy="1188720"/>
          </a:xfrm>
          <a:prstGeom prst="rect">
            <a:avLst/>
          </a:prstGeom>
          <a:solidFill>
            <a:srgbClr val="009FE3"/>
          </a:solidFill>
          <a:ln/>
        </p:spPr>
      </p:sp>
      <p:pic>
        <p:nvPicPr>
          <p:cNvPr id="4" name="Image 0" descr="preencoded.png">    </p:cNvPr>
          <p:cNvPicPr>
            <a:picLocks noChangeAspect="1"/>
          </p:cNvPicPr>
          <p:nvPr/>
        </p:nvPicPr>
        <p:blipFill>
          <a:blip r:embed="rId1"/>
          <a:stretch>
            <a:fillRect/>
          </a:stretch>
        </p:blipFill>
        <p:spPr>
          <a:xfrm>
            <a:off x="274320" y="228600"/>
            <a:ext cx="1463040" cy="484632"/>
          </a:xfrm>
          <a:prstGeom prst="rect">
            <a:avLst/>
          </a:prstGeom>
        </p:spPr>
      </p:pic>
      <p:sp>
        <p:nvSpPr>
          <p:cNvPr id="5" name="Text 2"/>
          <p:cNvSpPr/>
          <p:nvPr/>
        </p:nvSpPr>
        <p:spPr>
          <a:xfrm>
            <a:off x="2011680" y="73152"/>
            <a:ext cx="8138160" cy="658368"/>
          </a:xfrm>
          <a:prstGeom prst="rect">
            <a:avLst/>
          </a:prstGeom>
          <a:noFill/>
          <a:ln/>
        </p:spPr>
        <p:txBody>
          <a:bodyPr wrap="square" rtlCol="0" anchor="ctr"/>
          <a:lstStyle/>
          <a:p>
            <a:pPr algn="ctr" indent="0" marL="0">
              <a:buNone/>
            </a:pPr>
            <a:r>
              <a:rPr lang="en-US" sz="3800" b="1" dirty="0">
                <a:solidFill>
                  <a:srgbClr val="FFFFFF"/>
                </a:solidFill>
                <a:latin typeface="Arial" pitchFamily="34" charset="0"/>
                <a:ea typeface="Arial" pitchFamily="34" charset="-122"/>
                <a:cs typeface="Arial" pitchFamily="34" charset="-120"/>
              </a:rPr>
              <a:t>OUR VALUES</a:t>
            </a:r>
            <a:endParaRPr lang="en-US" sz="3800" dirty="0"/>
          </a:p>
        </p:txBody>
      </p:sp>
      <p:sp>
        <p:nvSpPr>
          <p:cNvPr id="6" name="Text 3"/>
          <p:cNvSpPr/>
          <p:nvPr/>
        </p:nvSpPr>
        <p:spPr>
          <a:xfrm>
            <a:off x="2011680" y="713232"/>
            <a:ext cx="8138160" cy="347472"/>
          </a:xfrm>
          <a:prstGeom prst="rect">
            <a:avLst/>
          </a:prstGeom>
          <a:noFill/>
          <a:ln/>
        </p:spPr>
        <p:txBody>
          <a:bodyPr wrap="square" rtlCol="0" anchor="ctr"/>
          <a:lstStyle/>
          <a:p>
            <a:pPr algn="ctr" indent="0" marL="0">
              <a:buNone/>
            </a:pPr>
            <a:r>
              <a:rPr lang="en-US" sz="1300" dirty="0">
                <a:solidFill>
                  <a:srgbClr val="DDEEFF"/>
                </a:solidFill>
                <a:latin typeface="Arial" pitchFamily="34" charset="0"/>
                <a:ea typeface="Arial" pitchFamily="34" charset="-122"/>
                <a:cs typeface="Arial" pitchFamily="34" charset="-120"/>
              </a:rPr>
              <a:t>These are the principles that guide everything we do — every job, every day.</a:t>
            </a:r>
            <a:endParaRPr lang="en-US" sz="1300" dirty="0"/>
          </a:p>
        </p:txBody>
      </p:sp>
      <p:sp>
        <p:nvSpPr>
          <p:cNvPr id="7" name="Shape 4"/>
          <p:cNvSpPr/>
          <p:nvPr/>
        </p:nvSpPr>
        <p:spPr>
          <a:xfrm>
            <a:off x="182880" y="1280160"/>
            <a:ext cx="3794760" cy="2560320"/>
          </a:xfrm>
          <a:prstGeom prst="rect">
            <a:avLst/>
          </a:prstGeom>
          <a:solidFill>
            <a:srgbClr val="FFFFFF"/>
          </a:solidFill>
          <a:ln w="38100">
            <a:solidFill>
              <a:srgbClr val="CC0000"/>
            </a:solidFill>
            <a:prstDash val="solid"/>
          </a:ln>
        </p:spPr>
      </p:sp>
      <p:sp>
        <p:nvSpPr>
          <p:cNvPr id="8" name="Shape 5"/>
          <p:cNvSpPr/>
          <p:nvPr/>
        </p:nvSpPr>
        <p:spPr>
          <a:xfrm>
            <a:off x="182880" y="1280160"/>
            <a:ext cx="3794760" cy="621792"/>
          </a:xfrm>
          <a:prstGeom prst="rect">
            <a:avLst/>
          </a:prstGeom>
          <a:solidFill>
            <a:srgbClr val="CC0000"/>
          </a:solidFill>
          <a:ln/>
        </p:spPr>
      </p:sp>
      <p:sp>
        <p:nvSpPr>
          <p:cNvPr id="9" name="Text 6"/>
          <p:cNvSpPr/>
          <p:nvPr/>
        </p:nvSpPr>
        <p:spPr>
          <a:xfrm>
            <a:off x="274320" y="1335024"/>
            <a:ext cx="502920" cy="502920"/>
          </a:xfrm>
          <a:prstGeom prst="rect">
            <a:avLst/>
          </a:prstGeom>
          <a:noFill/>
          <a:ln/>
        </p:spPr>
        <p:txBody>
          <a:bodyPr wrap="square" rtlCol="0" anchor="ctr"/>
          <a:lstStyle/>
          <a:p>
            <a:pPr algn="ctr" indent="0" marL="0">
              <a:buNone/>
            </a:pPr>
            <a:r>
              <a:rPr lang="en-US" sz="2400" dirty="0">
                <a:solidFill>
                  <a:srgbClr val="FFFFFF"/>
                </a:solidFill>
                <a:latin typeface="Arial" pitchFamily="34" charset="0"/>
                <a:ea typeface="Arial" pitchFamily="34" charset="-122"/>
                <a:cs typeface="Arial" pitchFamily="34" charset="-120"/>
              </a:rPr>
              <a:t>⚑</a:t>
            </a:r>
            <a:endParaRPr lang="en-US" sz="2400" dirty="0"/>
          </a:p>
        </p:txBody>
      </p:sp>
      <p:sp>
        <p:nvSpPr>
          <p:cNvPr id="10" name="Text 7"/>
          <p:cNvSpPr/>
          <p:nvPr/>
        </p:nvSpPr>
        <p:spPr>
          <a:xfrm>
            <a:off x="841248" y="1353312"/>
            <a:ext cx="3026664" cy="475488"/>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SAFETY FIRST</a:t>
            </a:r>
            <a:endParaRPr lang="en-US" sz="1300" dirty="0"/>
          </a:p>
        </p:txBody>
      </p:sp>
      <p:sp>
        <p:nvSpPr>
          <p:cNvPr id="11" name="Text 8"/>
          <p:cNvSpPr/>
          <p:nvPr/>
        </p:nvSpPr>
        <p:spPr>
          <a:xfrm>
            <a:off x="347472" y="2029968"/>
            <a:ext cx="3465576" cy="1664208"/>
          </a:xfrm>
          <a:prstGeom prst="rect">
            <a:avLst/>
          </a:prstGeom>
          <a:noFill/>
          <a:ln/>
        </p:spPr>
        <p:txBody>
          <a:bodyPr wrap="square" rtlCol="0" anchor="t"/>
          <a:lstStyle/>
          <a:p>
            <a:pPr indent="0" marL="0">
              <a:buNone/>
            </a:pPr>
            <a:r>
              <a:rPr lang="en-US" sz="1150" dirty="0">
                <a:solidFill>
                  <a:srgbClr val="5B595A"/>
                </a:solidFill>
                <a:latin typeface="Arial" pitchFamily="34" charset="0"/>
                <a:ea typeface="Arial" pitchFamily="34" charset="-122"/>
                <a:cs typeface="Arial" pitchFamily="34" charset="-120"/>
              </a:rPr>
              <a:t>No job is so important and no deadline so urgent that we cannot take the time to do it safely. Safety is never compromised.</a:t>
            </a:r>
            <a:endParaRPr lang="en-US" sz="1150" dirty="0"/>
          </a:p>
        </p:txBody>
      </p:sp>
      <p:sp>
        <p:nvSpPr>
          <p:cNvPr id="12" name="Shape 9"/>
          <p:cNvSpPr/>
          <p:nvPr/>
        </p:nvSpPr>
        <p:spPr>
          <a:xfrm>
            <a:off x="4160520" y="1280160"/>
            <a:ext cx="3794760" cy="2560320"/>
          </a:xfrm>
          <a:prstGeom prst="rect">
            <a:avLst/>
          </a:prstGeom>
          <a:solidFill>
            <a:srgbClr val="FFFFFF"/>
          </a:solidFill>
          <a:ln w="38100">
            <a:solidFill>
              <a:srgbClr val="83348F"/>
            </a:solidFill>
            <a:prstDash val="solid"/>
          </a:ln>
        </p:spPr>
      </p:sp>
      <p:sp>
        <p:nvSpPr>
          <p:cNvPr id="13" name="Shape 10"/>
          <p:cNvSpPr/>
          <p:nvPr/>
        </p:nvSpPr>
        <p:spPr>
          <a:xfrm>
            <a:off x="4160520" y="1280160"/>
            <a:ext cx="3794760" cy="621792"/>
          </a:xfrm>
          <a:prstGeom prst="rect">
            <a:avLst/>
          </a:prstGeom>
          <a:solidFill>
            <a:srgbClr val="83348F"/>
          </a:solidFill>
          <a:ln/>
        </p:spPr>
      </p:sp>
      <p:sp>
        <p:nvSpPr>
          <p:cNvPr id="14" name="Text 11"/>
          <p:cNvSpPr/>
          <p:nvPr/>
        </p:nvSpPr>
        <p:spPr>
          <a:xfrm>
            <a:off x="4251960" y="1335024"/>
            <a:ext cx="502920" cy="502920"/>
          </a:xfrm>
          <a:prstGeom prst="rect">
            <a:avLst/>
          </a:prstGeom>
          <a:noFill/>
          <a:ln/>
        </p:spPr>
        <p:txBody>
          <a:bodyPr wrap="square" rtlCol="0" anchor="ctr"/>
          <a:lstStyle/>
          <a:p>
            <a:pPr algn="ctr" indent="0" marL="0">
              <a:buNone/>
            </a:pPr>
            <a:r>
              <a:rPr lang="en-US" sz="2400" dirty="0">
                <a:solidFill>
                  <a:srgbClr val="FFFFFF"/>
                </a:solidFill>
                <a:latin typeface="Arial" pitchFamily="34" charset="0"/>
                <a:ea typeface="Arial" pitchFamily="34" charset="-122"/>
                <a:cs typeface="Arial" pitchFamily="34" charset="-120"/>
              </a:rPr>
              <a:t>★</a:t>
            </a:r>
            <a:endParaRPr lang="en-US" sz="2400" dirty="0"/>
          </a:p>
        </p:txBody>
      </p:sp>
      <p:sp>
        <p:nvSpPr>
          <p:cNvPr id="15" name="Text 12"/>
          <p:cNvSpPr/>
          <p:nvPr/>
        </p:nvSpPr>
        <p:spPr>
          <a:xfrm>
            <a:off x="4818888" y="1353312"/>
            <a:ext cx="3026664" cy="475488"/>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QUALITY WITHOUT COMPROMISE</a:t>
            </a:r>
            <a:endParaRPr lang="en-US" sz="1300" dirty="0"/>
          </a:p>
        </p:txBody>
      </p:sp>
      <p:sp>
        <p:nvSpPr>
          <p:cNvPr id="16" name="Text 13"/>
          <p:cNvSpPr/>
          <p:nvPr/>
        </p:nvSpPr>
        <p:spPr>
          <a:xfrm>
            <a:off x="4325112" y="2029968"/>
            <a:ext cx="3465576" cy="1664208"/>
          </a:xfrm>
          <a:prstGeom prst="rect">
            <a:avLst/>
          </a:prstGeom>
          <a:noFill/>
          <a:ln/>
        </p:spPr>
        <p:txBody>
          <a:bodyPr wrap="square" rtlCol="0" anchor="t"/>
          <a:lstStyle/>
          <a:p>
            <a:pPr indent="0" marL="0">
              <a:buNone/>
            </a:pPr>
            <a:r>
              <a:rPr lang="en-US" sz="1150" dirty="0">
                <a:solidFill>
                  <a:srgbClr val="5B595A"/>
                </a:solidFill>
                <a:latin typeface="Arial" pitchFamily="34" charset="0"/>
                <a:ea typeface="Arial" pitchFamily="34" charset="-122"/>
                <a:cs typeface="Arial" pitchFamily="34" charset="-120"/>
              </a:rPr>
              <a:t>In nuclear, quality is not a nice-to-have. We get it right first time, every time. Our customers and the public depend on it.</a:t>
            </a:r>
            <a:endParaRPr lang="en-US" sz="1150" dirty="0"/>
          </a:p>
        </p:txBody>
      </p:sp>
      <p:sp>
        <p:nvSpPr>
          <p:cNvPr id="17" name="Shape 14"/>
          <p:cNvSpPr/>
          <p:nvPr/>
        </p:nvSpPr>
        <p:spPr>
          <a:xfrm>
            <a:off x="8138160" y="1280160"/>
            <a:ext cx="3794760" cy="2560320"/>
          </a:xfrm>
          <a:prstGeom prst="rect">
            <a:avLst/>
          </a:prstGeom>
          <a:solidFill>
            <a:srgbClr val="FFFFFF"/>
          </a:solidFill>
          <a:ln w="38100">
            <a:solidFill>
              <a:srgbClr val="009FE3"/>
            </a:solidFill>
            <a:prstDash val="solid"/>
          </a:ln>
        </p:spPr>
      </p:sp>
      <p:sp>
        <p:nvSpPr>
          <p:cNvPr id="18" name="Shape 15"/>
          <p:cNvSpPr/>
          <p:nvPr/>
        </p:nvSpPr>
        <p:spPr>
          <a:xfrm>
            <a:off x="8138160" y="1280160"/>
            <a:ext cx="3794760" cy="621792"/>
          </a:xfrm>
          <a:prstGeom prst="rect">
            <a:avLst/>
          </a:prstGeom>
          <a:solidFill>
            <a:srgbClr val="009FE3"/>
          </a:solidFill>
          <a:ln/>
        </p:spPr>
      </p:sp>
      <p:sp>
        <p:nvSpPr>
          <p:cNvPr id="19" name="Text 16"/>
          <p:cNvSpPr/>
          <p:nvPr/>
        </p:nvSpPr>
        <p:spPr>
          <a:xfrm>
            <a:off x="8229600" y="1335024"/>
            <a:ext cx="502920" cy="502920"/>
          </a:xfrm>
          <a:prstGeom prst="rect">
            <a:avLst/>
          </a:prstGeom>
          <a:noFill/>
          <a:ln/>
        </p:spPr>
        <p:txBody>
          <a:bodyPr wrap="square" rtlCol="0" anchor="ctr"/>
          <a:lstStyle/>
          <a:p>
            <a:pPr algn="ctr" indent="0" marL="0">
              <a:buNone/>
            </a:pPr>
            <a:r>
              <a:rPr lang="en-US" sz="2400" dirty="0">
                <a:solidFill>
                  <a:srgbClr val="FFFFFF"/>
                </a:solidFill>
                <a:latin typeface="Arial" pitchFamily="34" charset="0"/>
                <a:ea typeface="Arial" pitchFamily="34" charset="-122"/>
                <a:cs typeface="Arial" pitchFamily="34" charset="-120"/>
              </a:rPr>
              <a:t>✓</a:t>
            </a:r>
            <a:endParaRPr lang="en-US" sz="2400" dirty="0"/>
          </a:p>
        </p:txBody>
      </p:sp>
      <p:sp>
        <p:nvSpPr>
          <p:cNvPr id="20" name="Text 17"/>
          <p:cNvSpPr/>
          <p:nvPr/>
        </p:nvSpPr>
        <p:spPr>
          <a:xfrm>
            <a:off x="8796528" y="1353312"/>
            <a:ext cx="3026664" cy="475488"/>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HONESTY AND INTEGRITY</a:t>
            </a:r>
            <a:endParaRPr lang="en-US" sz="1300" dirty="0"/>
          </a:p>
        </p:txBody>
      </p:sp>
      <p:sp>
        <p:nvSpPr>
          <p:cNvPr id="21" name="Text 18"/>
          <p:cNvSpPr/>
          <p:nvPr/>
        </p:nvSpPr>
        <p:spPr>
          <a:xfrm>
            <a:off x="8302752" y="2029968"/>
            <a:ext cx="3465576" cy="1664208"/>
          </a:xfrm>
          <a:prstGeom prst="rect">
            <a:avLst/>
          </a:prstGeom>
          <a:noFill/>
          <a:ln/>
        </p:spPr>
        <p:txBody>
          <a:bodyPr wrap="square" rtlCol="0" anchor="t"/>
          <a:lstStyle/>
          <a:p>
            <a:pPr indent="0" marL="0">
              <a:buNone/>
            </a:pPr>
            <a:r>
              <a:rPr lang="en-US" sz="1150" dirty="0">
                <a:solidFill>
                  <a:srgbClr val="5B595A"/>
                </a:solidFill>
                <a:latin typeface="Arial" pitchFamily="34" charset="0"/>
                <a:ea typeface="Arial" pitchFamily="34" charset="-122"/>
                <a:cs typeface="Arial" pitchFamily="34" charset="-120"/>
              </a:rPr>
              <a:t>We are straight with each other and with our customers. We raise problems rather than hide them. We do what we say we will do.</a:t>
            </a:r>
            <a:endParaRPr lang="en-US" sz="1150" dirty="0"/>
          </a:p>
        </p:txBody>
      </p:sp>
      <p:sp>
        <p:nvSpPr>
          <p:cNvPr id="22" name="Shape 19"/>
          <p:cNvSpPr/>
          <p:nvPr/>
        </p:nvSpPr>
        <p:spPr>
          <a:xfrm>
            <a:off x="182880" y="3977640"/>
            <a:ext cx="3794760" cy="2560320"/>
          </a:xfrm>
          <a:prstGeom prst="rect">
            <a:avLst/>
          </a:prstGeom>
          <a:solidFill>
            <a:srgbClr val="FFFFFF"/>
          </a:solidFill>
          <a:ln w="38100">
            <a:solidFill>
              <a:srgbClr val="2E7D32"/>
            </a:solidFill>
            <a:prstDash val="solid"/>
          </a:ln>
        </p:spPr>
      </p:sp>
      <p:sp>
        <p:nvSpPr>
          <p:cNvPr id="23" name="Shape 20"/>
          <p:cNvSpPr/>
          <p:nvPr/>
        </p:nvSpPr>
        <p:spPr>
          <a:xfrm>
            <a:off x="182880" y="3977640"/>
            <a:ext cx="3794760" cy="621792"/>
          </a:xfrm>
          <a:prstGeom prst="rect">
            <a:avLst/>
          </a:prstGeom>
          <a:solidFill>
            <a:srgbClr val="2E7D32"/>
          </a:solidFill>
          <a:ln/>
        </p:spPr>
      </p:sp>
      <p:sp>
        <p:nvSpPr>
          <p:cNvPr id="24" name="Text 21"/>
          <p:cNvSpPr/>
          <p:nvPr/>
        </p:nvSpPr>
        <p:spPr>
          <a:xfrm>
            <a:off x="274320" y="4032504"/>
            <a:ext cx="502920" cy="502920"/>
          </a:xfrm>
          <a:prstGeom prst="rect">
            <a:avLst/>
          </a:prstGeom>
          <a:noFill/>
          <a:ln/>
        </p:spPr>
        <p:txBody>
          <a:bodyPr wrap="square" rtlCol="0" anchor="ctr"/>
          <a:lstStyle/>
          <a:p>
            <a:pPr algn="ctr" indent="0" marL="0">
              <a:buNone/>
            </a:pPr>
            <a:r>
              <a:rPr lang="en-US" sz="2400" dirty="0">
                <a:solidFill>
                  <a:srgbClr val="FFFFFF"/>
                </a:solidFill>
                <a:latin typeface="Arial" pitchFamily="34" charset="0"/>
                <a:ea typeface="Arial" pitchFamily="34" charset="-122"/>
                <a:cs typeface="Arial" pitchFamily="34" charset="-120"/>
              </a:rPr>
              <a:t>↑</a:t>
            </a:r>
            <a:endParaRPr lang="en-US" sz="2400" dirty="0"/>
          </a:p>
        </p:txBody>
      </p:sp>
      <p:sp>
        <p:nvSpPr>
          <p:cNvPr id="25" name="Text 22"/>
          <p:cNvSpPr/>
          <p:nvPr/>
        </p:nvSpPr>
        <p:spPr>
          <a:xfrm>
            <a:off x="841248" y="4050792"/>
            <a:ext cx="3026664" cy="475488"/>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CONTINUOUS IMPROVEMENT</a:t>
            </a:r>
            <a:endParaRPr lang="en-US" sz="1300" dirty="0"/>
          </a:p>
        </p:txBody>
      </p:sp>
      <p:sp>
        <p:nvSpPr>
          <p:cNvPr id="26" name="Text 23"/>
          <p:cNvSpPr/>
          <p:nvPr/>
        </p:nvSpPr>
        <p:spPr>
          <a:xfrm>
            <a:off x="347472" y="4727448"/>
            <a:ext cx="3465576" cy="1664208"/>
          </a:xfrm>
          <a:prstGeom prst="rect">
            <a:avLst/>
          </a:prstGeom>
          <a:noFill/>
          <a:ln/>
        </p:spPr>
        <p:txBody>
          <a:bodyPr wrap="square" rtlCol="0" anchor="t"/>
          <a:lstStyle/>
          <a:p>
            <a:pPr indent="0" marL="0">
              <a:buNone/>
            </a:pPr>
            <a:r>
              <a:rPr lang="en-US" sz="1150" dirty="0">
                <a:solidFill>
                  <a:srgbClr val="5B595A"/>
                </a:solidFill>
                <a:latin typeface="Arial" pitchFamily="34" charset="0"/>
                <a:ea typeface="Arial" pitchFamily="34" charset="-122"/>
                <a:cs typeface="Arial" pitchFamily="34" charset="-120"/>
              </a:rPr>
              <a:t>We never stop looking for a better way. Every person has the ability and the responsibility to improve the way we work.</a:t>
            </a:r>
            <a:endParaRPr lang="en-US" sz="1150" dirty="0"/>
          </a:p>
        </p:txBody>
      </p:sp>
      <p:sp>
        <p:nvSpPr>
          <p:cNvPr id="27" name="Shape 24"/>
          <p:cNvSpPr/>
          <p:nvPr/>
        </p:nvSpPr>
        <p:spPr>
          <a:xfrm>
            <a:off x="4160520" y="3977640"/>
            <a:ext cx="3794760" cy="2560320"/>
          </a:xfrm>
          <a:prstGeom prst="rect">
            <a:avLst/>
          </a:prstGeom>
          <a:solidFill>
            <a:srgbClr val="FFFFFF"/>
          </a:solidFill>
          <a:ln w="38100">
            <a:solidFill>
              <a:srgbClr val="B8860B"/>
            </a:solidFill>
            <a:prstDash val="solid"/>
          </a:ln>
        </p:spPr>
      </p:sp>
      <p:sp>
        <p:nvSpPr>
          <p:cNvPr id="28" name="Shape 25"/>
          <p:cNvSpPr/>
          <p:nvPr/>
        </p:nvSpPr>
        <p:spPr>
          <a:xfrm>
            <a:off x="4160520" y="3977640"/>
            <a:ext cx="3794760" cy="621792"/>
          </a:xfrm>
          <a:prstGeom prst="rect">
            <a:avLst/>
          </a:prstGeom>
          <a:solidFill>
            <a:srgbClr val="B8860B"/>
          </a:solidFill>
          <a:ln/>
        </p:spPr>
      </p:sp>
      <p:sp>
        <p:nvSpPr>
          <p:cNvPr id="29" name="Text 26"/>
          <p:cNvSpPr/>
          <p:nvPr/>
        </p:nvSpPr>
        <p:spPr>
          <a:xfrm>
            <a:off x="4251960" y="4032504"/>
            <a:ext cx="502920" cy="502920"/>
          </a:xfrm>
          <a:prstGeom prst="rect">
            <a:avLst/>
          </a:prstGeom>
          <a:noFill/>
          <a:ln/>
        </p:spPr>
        <p:txBody>
          <a:bodyPr wrap="square" rtlCol="0" anchor="ctr"/>
          <a:lstStyle/>
          <a:p>
            <a:pPr algn="ctr" indent="0" marL="0">
              <a:buNone/>
            </a:pPr>
            <a:r>
              <a:rPr lang="en-US" sz="2400" dirty="0">
                <a:solidFill>
                  <a:srgbClr val="FFFFFF"/>
                </a:solidFill>
                <a:latin typeface="Arial" pitchFamily="34" charset="0"/>
                <a:ea typeface="Arial" pitchFamily="34" charset="-122"/>
                <a:cs typeface="Arial" pitchFamily="34" charset="-120"/>
              </a:rPr>
              <a:t>♦</a:t>
            </a:r>
            <a:endParaRPr lang="en-US" sz="2400" dirty="0"/>
          </a:p>
        </p:txBody>
      </p:sp>
      <p:sp>
        <p:nvSpPr>
          <p:cNvPr id="30" name="Text 27"/>
          <p:cNvSpPr/>
          <p:nvPr/>
        </p:nvSpPr>
        <p:spPr>
          <a:xfrm>
            <a:off x="4818888" y="4050792"/>
            <a:ext cx="3026664" cy="475488"/>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RESPECT FOR PEOPLE</a:t>
            </a:r>
            <a:endParaRPr lang="en-US" sz="1300" dirty="0"/>
          </a:p>
        </p:txBody>
      </p:sp>
      <p:sp>
        <p:nvSpPr>
          <p:cNvPr id="31" name="Text 28"/>
          <p:cNvSpPr/>
          <p:nvPr/>
        </p:nvSpPr>
        <p:spPr>
          <a:xfrm>
            <a:off x="4325112" y="4727448"/>
            <a:ext cx="3465576" cy="1664208"/>
          </a:xfrm>
          <a:prstGeom prst="rect">
            <a:avLst/>
          </a:prstGeom>
          <a:noFill/>
          <a:ln/>
        </p:spPr>
        <p:txBody>
          <a:bodyPr wrap="square" rtlCol="0" anchor="t"/>
          <a:lstStyle/>
          <a:p>
            <a:pPr indent="0" marL="0">
              <a:buNone/>
            </a:pPr>
            <a:r>
              <a:rPr lang="en-US" sz="1150" dirty="0">
                <a:solidFill>
                  <a:srgbClr val="5B595A"/>
                </a:solidFill>
                <a:latin typeface="Arial" pitchFamily="34" charset="0"/>
                <a:ea typeface="Arial" pitchFamily="34" charset="-122"/>
                <a:cs typeface="Arial" pitchFamily="34" charset="-120"/>
              </a:rPr>
              <a:t>We treat everyone with dignity and respect. We value different perspectives. We look out for each other.</a:t>
            </a:r>
            <a:endParaRPr lang="en-US" sz="1150" dirty="0"/>
          </a:p>
        </p:txBody>
      </p:sp>
      <p:sp>
        <p:nvSpPr>
          <p:cNvPr id="32" name="Shape 29"/>
          <p:cNvSpPr/>
          <p:nvPr/>
        </p:nvSpPr>
        <p:spPr>
          <a:xfrm>
            <a:off x="8138160" y="3977640"/>
            <a:ext cx="3794760" cy="2560320"/>
          </a:xfrm>
          <a:prstGeom prst="rect">
            <a:avLst/>
          </a:prstGeom>
          <a:solidFill>
            <a:srgbClr val="FFFFFF"/>
          </a:solidFill>
          <a:ln w="38100">
            <a:solidFill>
              <a:srgbClr val="83348F"/>
            </a:solidFill>
            <a:prstDash val="solid"/>
          </a:ln>
        </p:spPr>
      </p:sp>
      <p:sp>
        <p:nvSpPr>
          <p:cNvPr id="33" name="Shape 30"/>
          <p:cNvSpPr/>
          <p:nvPr/>
        </p:nvSpPr>
        <p:spPr>
          <a:xfrm>
            <a:off x="8138160" y="3977640"/>
            <a:ext cx="3794760" cy="621792"/>
          </a:xfrm>
          <a:prstGeom prst="rect">
            <a:avLst/>
          </a:prstGeom>
          <a:solidFill>
            <a:srgbClr val="83348F"/>
          </a:solidFill>
          <a:ln/>
        </p:spPr>
      </p:sp>
      <p:sp>
        <p:nvSpPr>
          <p:cNvPr id="34" name="Text 31"/>
          <p:cNvSpPr/>
          <p:nvPr/>
        </p:nvSpPr>
        <p:spPr>
          <a:xfrm>
            <a:off x="8229600" y="4032504"/>
            <a:ext cx="502920" cy="502920"/>
          </a:xfrm>
          <a:prstGeom prst="rect">
            <a:avLst/>
          </a:prstGeom>
          <a:noFill/>
          <a:ln/>
        </p:spPr>
        <p:txBody>
          <a:bodyPr wrap="square" rtlCol="0" anchor="ctr"/>
          <a:lstStyle/>
          <a:p>
            <a:pPr algn="ctr" indent="0" marL="0">
              <a:buNone/>
            </a:pPr>
            <a:r>
              <a:rPr lang="en-US" sz="2400" dirty="0">
                <a:solidFill>
                  <a:srgbClr val="FFFFFF"/>
                </a:solidFill>
                <a:latin typeface="Arial" pitchFamily="34" charset="0"/>
                <a:ea typeface="Arial" pitchFamily="34" charset="-122"/>
                <a:cs typeface="Arial" pitchFamily="34" charset="-120"/>
              </a:rPr>
              <a:t>◉</a:t>
            </a:r>
            <a:endParaRPr lang="en-US" sz="2400" dirty="0"/>
          </a:p>
        </p:txBody>
      </p:sp>
      <p:sp>
        <p:nvSpPr>
          <p:cNvPr id="35" name="Text 32"/>
          <p:cNvSpPr/>
          <p:nvPr/>
        </p:nvSpPr>
        <p:spPr>
          <a:xfrm>
            <a:off x="8796528" y="4050792"/>
            <a:ext cx="3026664" cy="475488"/>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NUCLEAR AWARENESS</a:t>
            </a:r>
            <a:endParaRPr lang="en-US" sz="1300" dirty="0"/>
          </a:p>
        </p:txBody>
      </p:sp>
      <p:sp>
        <p:nvSpPr>
          <p:cNvPr id="36" name="Text 33"/>
          <p:cNvSpPr/>
          <p:nvPr/>
        </p:nvSpPr>
        <p:spPr>
          <a:xfrm>
            <a:off x="8302752" y="4727448"/>
            <a:ext cx="3465576" cy="1664208"/>
          </a:xfrm>
          <a:prstGeom prst="rect">
            <a:avLst/>
          </a:prstGeom>
          <a:noFill/>
          <a:ln/>
        </p:spPr>
        <p:txBody>
          <a:bodyPr wrap="square" rtlCol="0" anchor="t"/>
          <a:lstStyle/>
          <a:p>
            <a:pPr indent="0" marL="0">
              <a:buNone/>
            </a:pPr>
            <a:r>
              <a:rPr lang="en-US" sz="1150" dirty="0">
                <a:solidFill>
                  <a:srgbClr val="5B595A"/>
                </a:solidFill>
                <a:latin typeface="Arial" pitchFamily="34" charset="0"/>
                <a:ea typeface="Arial" pitchFamily="34" charset="-122"/>
                <a:cs typeface="Arial" pitchFamily="34" charset="-120"/>
              </a:rPr>
              <a:t>We understand the unique responsibilities that come with working in the nuclear supply chain and we take them seriously.</a:t>
            </a:r>
            <a:endParaRPr lang="en-US" sz="1150" dirty="0"/>
          </a:p>
        </p:txBody>
      </p:sp>
      <p:pic>
        <p:nvPicPr>
          <p:cNvPr id="37" name="Picture 36" descr="nuccol_logo.png"/>
          <p:cNvPicPr>
            <a:picLocks noChangeAspect="1"/>
          </p:cNvPicPr>
          <p:nvPr/>
        </p:nvPicPr>
        <p:blipFill>
          <a:blip r:embed="rId4"/>
          <a:stretch>
            <a:fillRect/>
          </a:stretch>
        </p:blipFill>
        <p:spPr>
          <a:xfrm>
            <a:off x="11515344" y="109728"/>
            <a:ext cx="566928" cy="566928"/>
          </a:xfrm>
          <a:prstGeom prst="rect">
            <a:avLst/>
          </a:prstGeom>
        </p:spPr>
      </p:pic>
      <p:pic>
        <p:nvPicPr>
          <p:cNvPr id="38" name="Picture 37" descr="f4n_logo.png"/>
          <p:cNvPicPr>
            <a:picLocks noChangeAspect="1"/>
          </p:cNvPicPr>
          <p:nvPr/>
        </p:nvPicPr>
        <p:blipFill>
          <a:blip r:embed="rId5"/>
          <a:stretch>
            <a:fillRect/>
          </a:stretch>
        </p:blipFill>
        <p:spPr>
          <a:xfrm>
            <a:off x="10755819" y="210312"/>
            <a:ext cx="540070" cy="365760"/>
          </a:xfrm>
          <a:prstGeom prst="rect">
            <a:avLst/>
          </a:prstGeom>
        </p:spPr>
      </p:pic>
      <p:sp>
        <p:nvSpPr>
          <p:cNvPr id="39" name="TextBox 38"/>
          <p:cNvSpPr txBox="1"/>
          <p:nvPr/>
        </p:nvSpPr>
        <p:spPr>
          <a:xfrm>
            <a:off x="0" y="6556248"/>
            <a:ext cx="12192000" cy="301752"/>
          </a:xfrm>
          <a:prstGeom prst="rect">
            <a:avLst/>
          </a:prstGeom>
          <a:solidFill>
            <a:srgbClr val="1C1C3A"/>
          </a:solidFill>
        </p:spPr>
        <p:txBody>
          <a:bodyPr wrap="none">
            <a:spAutoFit/>
          </a:bodyPr>
          <a:lstStyle/>
          <a:p>
            <a:pPr algn="ctr"/>
            <a:r>
              <a:rPr sz="600">
                <a:solidFill>
                  <a:srgbClr val="FFFFFF"/>
                </a:solidFill>
                <a:latin typeface="Calibri"/>
              </a:rPr>
              <a:t>NucCol | Nuclear Collaboration Ltd  ·  Fit For Nuclear Programme  ·  Commercial in Confidence    |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FFFFF"/>
          </a:solidFill>
          <a:ln/>
        </p:spPr>
      </p:sp>
      <p:sp>
        <p:nvSpPr>
          <p:cNvPr id="3" name="Shape 1"/>
          <p:cNvSpPr/>
          <p:nvPr/>
        </p:nvSpPr>
        <p:spPr>
          <a:xfrm>
            <a:off x="0" y="0"/>
            <a:ext cx="12161520" cy="1115568"/>
          </a:xfrm>
          <a:prstGeom prst="rect">
            <a:avLst/>
          </a:prstGeom>
          <a:solidFill>
            <a:srgbClr val="CC0000"/>
          </a:solidFill>
          <a:ln/>
        </p:spPr>
      </p:sp>
      <p:pic>
        <p:nvPicPr>
          <p:cNvPr id="4" name="Image 0" descr="preencoded.png">    </p:cNvPr>
          <p:cNvPicPr>
            <a:picLocks noChangeAspect="1"/>
          </p:cNvPicPr>
          <p:nvPr/>
        </p:nvPicPr>
        <p:blipFill>
          <a:blip r:embed="rId1"/>
          <a:stretch>
            <a:fillRect/>
          </a:stretch>
        </p:blipFill>
        <p:spPr>
          <a:xfrm>
            <a:off x="274320" y="219456"/>
            <a:ext cx="1371600" cy="457200"/>
          </a:xfrm>
          <a:prstGeom prst="rect">
            <a:avLst/>
          </a:prstGeom>
        </p:spPr>
      </p:pic>
      <p:sp>
        <p:nvSpPr>
          <p:cNvPr id="5" name="Text 2"/>
          <p:cNvSpPr/>
          <p:nvPr/>
        </p:nvSpPr>
        <p:spPr>
          <a:xfrm>
            <a:off x="1828800" y="73152"/>
            <a:ext cx="8503920" cy="621792"/>
          </a:xfrm>
          <a:prstGeom prst="rect">
            <a:avLst/>
          </a:prstGeom>
          <a:noFill/>
          <a:ln/>
        </p:spPr>
        <p:txBody>
          <a:bodyPr wrap="square"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SAFETY IS EVERYONE'S RESPONSIBILITY</a:t>
            </a:r>
            <a:endParaRPr lang="en-US" sz="2800" dirty="0"/>
          </a:p>
        </p:txBody>
      </p:sp>
      <p:sp>
        <p:nvSpPr>
          <p:cNvPr id="6" name="Text 3"/>
          <p:cNvSpPr/>
          <p:nvPr/>
        </p:nvSpPr>
        <p:spPr>
          <a:xfrm>
            <a:off x="1828800" y="694944"/>
            <a:ext cx="8503920" cy="310896"/>
          </a:xfrm>
          <a:prstGeom prst="rect">
            <a:avLst/>
          </a:prstGeom>
          <a:noFill/>
          <a:ln/>
        </p:spPr>
        <p:txBody>
          <a:bodyPr wrap="square" rtlCol="0" anchor="ctr"/>
          <a:lstStyle/>
          <a:p>
            <a:pPr algn="ctr" indent="0" marL="0">
              <a:buNone/>
            </a:pPr>
            <a:r>
              <a:rPr lang="en-US" sz="1400" dirty="0">
                <a:solidFill>
                  <a:srgbClr val="FFDDDD"/>
                </a:solidFill>
                <a:latin typeface="Arial" pitchFamily="34" charset="0"/>
                <a:ea typeface="Arial" pitchFamily="34" charset="-122"/>
                <a:cs typeface="Arial" pitchFamily="34" charset="-120"/>
              </a:rPr>
              <a:t>Stop. Think. Act Safely. Every time.</a:t>
            </a:r>
            <a:endParaRPr lang="en-US" sz="1400" dirty="0"/>
          </a:p>
        </p:txBody>
      </p:sp>
      <p:sp>
        <p:nvSpPr>
          <p:cNvPr id="7" name="Shape 4"/>
          <p:cNvSpPr/>
          <p:nvPr/>
        </p:nvSpPr>
        <p:spPr>
          <a:xfrm>
            <a:off x="182880" y="1207008"/>
            <a:ext cx="5806440" cy="566928"/>
          </a:xfrm>
          <a:prstGeom prst="rect">
            <a:avLst/>
          </a:prstGeom>
          <a:solidFill>
            <a:srgbClr val="CC0000"/>
          </a:solidFill>
          <a:ln/>
        </p:spPr>
      </p:sp>
      <p:sp>
        <p:nvSpPr>
          <p:cNvPr id="8" name="Text 5"/>
          <p:cNvSpPr/>
          <p:nvPr/>
        </p:nvSpPr>
        <p:spPr>
          <a:xfrm>
            <a:off x="292608" y="1207008"/>
            <a:ext cx="5586984" cy="566928"/>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YOU HAVE THE RIGHT TO STOP WORK</a:t>
            </a:r>
            <a:endParaRPr lang="en-US" sz="1400" dirty="0"/>
          </a:p>
        </p:txBody>
      </p:sp>
      <p:sp>
        <p:nvSpPr>
          <p:cNvPr id="9" name="Shape 6"/>
          <p:cNvSpPr/>
          <p:nvPr/>
        </p:nvSpPr>
        <p:spPr>
          <a:xfrm>
            <a:off x="182880" y="1773936"/>
            <a:ext cx="5806440" cy="1975104"/>
          </a:xfrm>
          <a:prstGeom prst="rect">
            <a:avLst/>
          </a:prstGeom>
          <a:solidFill>
            <a:srgbClr val="F5F5F5"/>
          </a:solidFill>
          <a:ln w="6350">
            <a:solidFill>
              <a:srgbClr val="DDDDDD"/>
            </a:solidFill>
            <a:prstDash val="solid"/>
          </a:ln>
        </p:spPr>
      </p:sp>
      <p:sp>
        <p:nvSpPr>
          <p:cNvPr id="10" name="Text 7"/>
          <p:cNvSpPr/>
          <p:nvPr/>
        </p:nvSpPr>
        <p:spPr>
          <a:xfrm>
            <a:off x="347472" y="1865376"/>
            <a:ext cx="5477256" cy="1792224"/>
          </a:xfrm>
          <a:prstGeom prst="rect">
            <a:avLst/>
          </a:prstGeom>
          <a:noFill/>
          <a:ln/>
        </p:spPr>
        <p:txBody>
          <a:bodyPr wrap="square" rtlCol="0" anchor="t"/>
          <a:lstStyle/>
          <a:p>
            <a:pPr indent="0" marL="0">
              <a:buNone/>
            </a:pPr>
            <a:r>
              <a:rPr lang="en-US" sz="1200" dirty="0">
                <a:solidFill>
                  <a:srgbClr val="5B595A"/>
                </a:solidFill>
                <a:latin typeface="Arial" pitchFamily="34" charset="0"/>
                <a:ea typeface="Arial" pitchFamily="34" charset="-122"/>
                <a:cs typeface="Arial" pitchFamily="34" charset="-120"/>
              </a:rPr>
              <a:t>If you are not sure it is safe, stop. You will never be penalised for raising a safety concern. Stopping to check is always the right decision.</a:t>
            </a:r>
            <a:endParaRPr lang="en-US" sz="1200" dirty="0"/>
          </a:p>
        </p:txBody>
      </p:sp>
      <p:sp>
        <p:nvSpPr>
          <p:cNvPr id="11" name="Shape 8"/>
          <p:cNvSpPr/>
          <p:nvPr/>
        </p:nvSpPr>
        <p:spPr>
          <a:xfrm>
            <a:off x="6172200" y="1207008"/>
            <a:ext cx="5806440" cy="566928"/>
          </a:xfrm>
          <a:prstGeom prst="rect">
            <a:avLst/>
          </a:prstGeom>
          <a:solidFill>
            <a:srgbClr val="FFC000"/>
          </a:solidFill>
          <a:ln/>
        </p:spPr>
      </p:sp>
      <p:sp>
        <p:nvSpPr>
          <p:cNvPr id="12" name="Text 9"/>
          <p:cNvSpPr/>
          <p:nvPr/>
        </p:nvSpPr>
        <p:spPr>
          <a:xfrm>
            <a:off x="6281928" y="1207008"/>
            <a:ext cx="5586984" cy="566928"/>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REPORT EVERY NEAR MISS</a:t>
            </a:r>
            <a:endParaRPr lang="en-US" sz="1400" dirty="0"/>
          </a:p>
        </p:txBody>
      </p:sp>
      <p:sp>
        <p:nvSpPr>
          <p:cNvPr id="13" name="Shape 10"/>
          <p:cNvSpPr/>
          <p:nvPr/>
        </p:nvSpPr>
        <p:spPr>
          <a:xfrm>
            <a:off x="6172200" y="1773936"/>
            <a:ext cx="5806440" cy="1975104"/>
          </a:xfrm>
          <a:prstGeom prst="rect">
            <a:avLst/>
          </a:prstGeom>
          <a:solidFill>
            <a:srgbClr val="F5F5F5"/>
          </a:solidFill>
          <a:ln w="6350">
            <a:solidFill>
              <a:srgbClr val="DDDDDD"/>
            </a:solidFill>
            <a:prstDash val="solid"/>
          </a:ln>
        </p:spPr>
      </p:sp>
      <p:sp>
        <p:nvSpPr>
          <p:cNvPr id="14" name="Text 11"/>
          <p:cNvSpPr/>
          <p:nvPr/>
        </p:nvSpPr>
        <p:spPr>
          <a:xfrm>
            <a:off x="6336792" y="1865376"/>
            <a:ext cx="5477256" cy="1792224"/>
          </a:xfrm>
          <a:prstGeom prst="rect">
            <a:avLst/>
          </a:prstGeom>
          <a:noFill/>
          <a:ln/>
        </p:spPr>
        <p:txBody>
          <a:bodyPr wrap="square" rtlCol="0" anchor="t"/>
          <a:lstStyle/>
          <a:p>
            <a:pPr indent="0" marL="0">
              <a:buNone/>
            </a:pPr>
            <a:r>
              <a:rPr lang="en-US" sz="1200" dirty="0">
                <a:solidFill>
                  <a:srgbClr val="5B595A"/>
                </a:solidFill>
                <a:latin typeface="Arial" pitchFamily="34" charset="0"/>
                <a:ea typeface="Arial" pitchFamily="34" charset="-122"/>
                <a:cs typeface="Arial" pitchFamily="34" charset="-120"/>
              </a:rPr>
              <a:t>Near misses are warnings. Every one reported is an accident prevented. There are no silly reports. If it nearly went wrong, we need to know.</a:t>
            </a:r>
            <a:endParaRPr lang="en-US" sz="1200" dirty="0"/>
          </a:p>
        </p:txBody>
      </p:sp>
      <p:sp>
        <p:nvSpPr>
          <p:cNvPr id="15" name="Shape 12"/>
          <p:cNvSpPr/>
          <p:nvPr/>
        </p:nvSpPr>
        <p:spPr>
          <a:xfrm>
            <a:off x="182880" y="3904488"/>
            <a:ext cx="5806440" cy="566928"/>
          </a:xfrm>
          <a:prstGeom prst="rect">
            <a:avLst/>
          </a:prstGeom>
          <a:solidFill>
            <a:srgbClr val="83348F"/>
          </a:solidFill>
          <a:ln/>
        </p:spPr>
      </p:sp>
      <p:sp>
        <p:nvSpPr>
          <p:cNvPr id="16" name="Text 13"/>
          <p:cNvSpPr/>
          <p:nvPr/>
        </p:nvSpPr>
        <p:spPr>
          <a:xfrm>
            <a:off x="292608" y="3904488"/>
            <a:ext cx="5586984" cy="566928"/>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FOLLOW THE SAFE SYSTEM OF WORK</a:t>
            </a:r>
            <a:endParaRPr lang="en-US" sz="1400" dirty="0"/>
          </a:p>
        </p:txBody>
      </p:sp>
      <p:sp>
        <p:nvSpPr>
          <p:cNvPr id="17" name="Shape 14"/>
          <p:cNvSpPr/>
          <p:nvPr/>
        </p:nvSpPr>
        <p:spPr>
          <a:xfrm>
            <a:off x="182880" y="4471416"/>
            <a:ext cx="5806440" cy="1975104"/>
          </a:xfrm>
          <a:prstGeom prst="rect">
            <a:avLst/>
          </a:prstGeom>
          <a:solidFill>
            <a:srgbClr val="F5F5F5"/>
          </a:solidFill>
          <a:ln w="6350">
            <a:solidFill>
              <a:srgbClr val="DDDDDD"/>
            </a:solidFill>
            <a:prstDash val="solid"/>
          </a:ln>
        </p:spPr>
      </p:sp>
      <p:sp>
        <p:nvSpPr>
          <p:cNvPr id="18" name="Text 15"/>
          <p:cNvSpPr/>
          <p:nvPr/>
        </p:nvSpPr>
        <p:spPr>
          <a:xfrm>
            <a:off x="347472" y="4562856"/>
            <a:ext cx="5477256" cy="1792224"/>
          </a:xfrm>
          <a:prstGeom prst="rect">
            <a:avLst/>
          </a:prstGeom>
          <a:noFill/>
          <a:ln/>
        </p:spPr>
        <p:txBody>
          <a:bodyPr wrap="square" rtlCol="0" anchor="t"/>
          <a:lstStyle/>
          <a:p>
            <a:pPr indent="0" marL="0">
              <a:buNone/>
            </a:pPr>
            <a:r>
              <a:rPr lang="en-US" sz="1200" dirty="0">
                <a:solidFill>
                  <a:srgbClr val="5B595A"/>
                </a:solidFill>
                <a:latin typeface="Arial" pitchFamily="34" charset="0"/>
                <a:ea typeface="Arial" pitchFamily="34" charset="-122"/>
                <a:cs typeface="Arial" pitchFamily="34" charset="-120"/>
              </a:rPr>
              <a:t>Risk assessments and Safe Systems of Work exist for a reason. They are not optional. Do not take shortcuts with safety procedures.</a:t>
            </a:r>
            <a:endParaRPr lang="en-US" sz="1200" dirty="0"/>
          </a:p>
        </p:txBody>
      </p:sp>
      <p:sp>
        <p:nvSpPr>
          <p:cNvPr id="19" name="Shape 16"/>
          <p:cNvSpPr/>
          <p:nvPr/>
        </p:nvSpPr>
        <p:spPr>
          <a:xfrm>
            <a:off x="6172200" y="3904488"/>
            <a:ext cx="5806440" cy="566928"/>
          </a:xfrm>
          <a:prstGeom prst="rect">
            <a:avLst/>
          </a:prstGeom>
          <a:solidFill>
            <a:srgbClr val="009FE3"/>
          </a:solidFill>
          <a:ln/>
        </p:spPr>
      </p:sp>
      <p:sp>
        <p:nvSpPr>
          <p:cNvPr id="20" name="Text 17"/>
          <p:cNvSpPr/>
          <p:nvPr/>
        </p:nvSpPr>
        <p:spPr>
          <a:xfrm>
            <a:off x="6281928" y="3904488"/>
            <a:ext cx="5586984" cy="566928"/>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LOOK OUT FOR EACH OTHER</a:t>
            </a:r>
            <a:endParaRPr lang="en-US" sz="1400" dirty="0"/>
          </a:p>
        </p:txBody>
      </p:sp>
      <p:sp>
        <p:nvSpPr>
          <p:cNvPr id="21" name="Shape 18"/>
          <p:cNvSpPr/>
          <p:nvPr/>
        </p:nvSpPr>
        <p:spPr>
          <a:xfrm>
            <a:off x="6172200" y="4471416"/>
            <a:ext cx="5806440" cy="1975104"/>
          </a:xfrm>
          <a:prstGeom prst="rect">
            <a:avLst/>
          </a:prstGeom>
          <a:solidFill>
            <a:srgbClr val="F5F5F5"/>
          </a:solidFill>
          <a:ln w="6350">
            <a:solidFill>
              <a:srgbClr val="DDDDDD"/>
            </a:solidFill>
            <a:prstDash val="solid"/>
          </a:ln>
        </p:spPr>
      </p:sp>
      <p:sp>
        <p:nvSpPr>
          <p:cNvPr id="22" name="Text 19"/>
          <p:cNvSpPr/>
          <p:nvPr/>
        </p:nvSpPr>
        <p:spPr>
          <a:xfrm>
            <a:off x="6336792" y="4562856"/>
            <a:ext cx="5477256" cy="1792224"/>
          </a:xfrm>
          <a:prstGeom prst="rect">
            <a:avLst/>
          </a:prstGeom>
          <a:noFill/>
          <a:ln/>
        </p:spPr>
        <p:txBody>
          <a:bodyPr wrap="square" rtlCol="0" anchor="t"/>
          <a:lstStyle/>
          <a:p>
            <a:pPr indent="0" marL="0">
              <a:buNone/>
            </a:pPr>
            <a:r>
              <a:rPr lang="en-US" sz="1200" dirty="0">
                <a:solidFill>
                  <a:srgbClr val="5B595A"/>
                </a:solidFill>
                <a:latin typeface="Arial" pitchFamily="34" charset="0"/>
                <a:ea typeface="Arial" pitchFamily="34" charset="-122"/>
                <a:cs typeface="Arial" pitchFamily="34" charset="-120"/>
              </a:rPr>
              <a:t>If you see a colleague about to do something unsafe, speak up. We all go home in the same condition we arrived in.</a:t>
            </a:r>
            <a:endParaRPr lang="en-US" sz="1200" dirty="0"/>
          </a:p>
        </p:txBody>
      </p:sp>
      <p:sp>
        <p:nvSpPr>
          <p:cNvPr id="23" name="Shape 20"/>
          <p:cNvSpPr/>
          <p:nvPr/>
        </p:nvSpPr>
        <p:spPr>
          <a:xfrm>
            <a:off x="0" y="6473952"/>
            <a:ext cx="12161520" cy="384048"/>
          </a:xfrm>
          <a:prstGeom prst="rect">
            <a:avLst/>
          </a:prstGeom>
          <a:solidFill>
            <a:srgbClr val="CC0000"/>
          </a:solidFill>
          <a:ln/>
        </p:spPr>
      </p:sp>
      <p:sp>
        <p:nvSpPr>
          <p:cNvPr id="24" name="Text 21"/>
          <p:cNvSpPr/>
          <p:nvPr/>
        </p:nvSpPr>
        <p:spPr>
          <a:xfrm>
            <a:off x="182880" y="6492240"/>
            <a:ext cx="11795760" cy="347472"/>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Emergency: 999  |  First Aider: [Name] [Location]  |  Assembly Point: [Location]  |  Near Miss Reports: [System / location]</a:t>
            </a:r>
            <a:endParaRPr lang="en-US" sz="1100" dirty="0"/>
          </a:p>
        </p:txBody>
      </p:sp>
      <p:pic>
        <p:nvPicPr>
          <p:cNvPr id="25" name="Picture 24" descr="nuccol_logo.png"/>
          <p:cNvPicPr>
            <a:picLocks noChangeAspect="1"/>
          </p:cNvPicPr>
          <p:nvPr/>
        </p:nvPicPr>
        <p:blipFill>
          <a:blip r:embed="rId4"/>
          <a:stretch>
            <a:fillRect/>
          </a:stretch>
        </p:blipFill>
        <p:spPr>
          <a:xfrm>
            <a:off x="11515344" y="109728"/>
            <a:ext cx="566928" cy="566928"/>
          </a:xfrm>
          <a:prstGeom prst="rect">
            <a:avLst/>
          </a:prstGeom>
        </p:spPr>
      </p:pic>
      <p:pic>
        <p:nvPicPr>
          <p:cNvPr id="26" name="Picture 25" descr="f4n_logo.png"/>
          <p:cNvPicPr>
            <a:picLocks noChangeAspect="1"/>
          </p:cNvPicPr>
          <p:nvPr/>
        </p:nvPicPr>
        <p:blipFill>
          <a:blip r:embed="rId5"/>
          <a:stretch>
            <a:fillRect/>
          </a:stretch>
        </p:blipFill>
        <p:spPr>
          <a:xfrm>
            <a:off x="10755819" y="210312"/>
            <a:ext cx="540070" cy="365760"/>
          </a:xfrm>
          <a:prstGeom prst="rect">
            <a:avLst/>
          </a:prstGeom>
        </p:spPr>
      </p:pic>
      <p:sp>
        <p:nvSpPr>
          <p:cNvPr id="27" name="TextBox 26"/>
          <p:cNvSpPr txBox="1"/>
          <p:nvPr/>
        </p:nvSpPr>
        <p:spPr>
          <a:xfrm>
            <a:off x="0" y="6556248"/>
            <a:ext cx="12192000" cy="301752"/>
          </a:xfrm>
          <a:prstGeom prst="rect">
            <a:avLst/>
          </a:prstGeom>
          <a:solidFill>
            <a:srgbClr val="1C1C3A"/>
          </a:solidFill>
        </p:spPr>
        <p:txBody>
          <a:bodyPr wrap="none">
            <a:spAutoFit/>
          </a:bodyPr>
          <a:lstStyle/>
          <a:p>
            <a:pPr algn="ctr"/>
            <a:r>
              <a:rPr sz="600">
                <a:solidFill>
                  <a:srgbClr val="FFFFFF"/>
                </a:solidFill>
                <a:latin typeface="Calibri"/>
              </a:rPr>
              <a:t>NucCol | Nuclear Collaboration Ltd  ·  Fit For Nuclear Programme  ·  Commercial in Confidence    |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FFFFF"/>
          </a:solidFill>
          <a:ln/>
        </p:spPr>
      </p:sp>
      <p:sp>
        <p:nvSpPr>
          <p:cNvPr id="3" name="Shape 1"/>
          <p:cNvSpPr/>
          <p:nvPr/>
        </p:nvSpPr>
        <p:spPr>
          <a:xfrm>
            <a:off x="0" y="0"/>
            <a:ext cx="12161520" cy="1115568"/>
          </a:xfrm>
          <a:prstGeom prst="rect">
            <a:avLst/>
          </a:prstGeom>
          <a:solidFill>
            <a:srgbClr val="83348F"/>
          </a:solidFill>
          <a:ln/>
        </p:spPr>
      </p:sp>
      <p:pic>
        <p:nvPicPr>
          <p:cNvPr id="4" name="Image 0" descr="preencoded.png">    </p:cNvPr>
          <p:cNvPicPr>
            <a:picLocks noChangeAspect="1"/>
          </p:cNvPicPr>
          <p:nvPr/>
        </p:nvPicPr>
        <p:blipFill>
          <a:blip r:embed="rId1"/>
          <a:stretch>
            <a:fillRect/>
          </a:stretch>
        </p:blipFill>
        <p:spPr>
          <a:xfrm>
            <a:off x="274320" y="219456"/>
            <a:ext cx="1371600" cy="457200"/>
          </a:xfrm>
          <a:prstGeom prst="rect">
            <a:avLst/>
          </a:prstGeom>
        </p:spPr>
      </p:pic>
      <p:sp>
        <p:nvSpPr>
          <p:cNvPr id="5" name="Text 2"/>
          <p:cNvSpPr/>
          <p:nvPr/>
        </p:nvSpPr>
        <p:spPr>
          <a:xfrm>
            <a:off x="1828800" y="73152"/>
            <a:ext cx="8503920" cy="621792"/>
          </a:xfrm>
          <a:prstGeom prst="rect">
            <a:avLst/>
          </a:prstGeom>
          <a:noFill/>
          <a:ln/>
        </p:spPr>
        <p:txBody>
          <a:bodyPr wrap="square"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QUALITY: RIGHT FIRST TIME, EVERY TIME</a:t>
            </a:r>
            <a:endParaRPr lang="en-US" sz="2600" dirty="0"/>
          </a:p>
        </p:txBody>
      </p:sp>
      <p:sp>
        <p:nvSpPr>
          <p:cNvPr id="6" name="Text 3"/>
          <p:cNvSpPr/>
          <p:nvPr/>
        </p:nvSpPr>
        <p:spPr>
          <a:xfrm>
            <a:off x="1828800" y="694944"/>
            <a:ext cx="8503920" cy="310896"/>
          </a:xfrm>
          <a:prstGeom prst="rect">
            <a:avLst/>
          </a:prstGeom>
          <a:noFill/>
          <a:ln/>
        </p:spPr>
        <p:txBody>
          <a:bodyPr wrap="square" rtlCol="0" anchor="ctr"/>
          <a:lstStyle/>
          <a:p>
            <a:pPr algn="ctr" indent="0" marL="0">
              <a:buNone/>
            </a:pPr>
            <a:r>
              <a:rPr lang="en-US" sz="1300" dirty="0">
                <a:solidFill>
                  <a:srgbClr val="DDBBFF"/>
                </a:solidFill>
                <a:latin typeface="Arial" pitchFamily="34" charset="0"/>
                <a:ea typeface="Arial" pitchFamily="34" charset="-122"/>
                <a:cs typeface="Arial" pitchFamily="34" charset="-120"/>
              </a:rPr>
              <a:t>In nuclear, there is no room for 'good enough'. Our customers depend on precision.</a:t>
            </a:r>
            <a:endParaRPr lang="en-US" sz="1300" dirty="0"/>
          </a:p>
        </p:txBody>
      </p:sp>
      <p:sp>
        <p:nvSpPr>
          <p:cNvPr id="7" name="Shape 4"/>
          <p:cNvSpPr/>
          <p:nvPr/>
        </p:nvSpPr>
        <p:spPr>
          <a:xfrm>
            <a:off x="182880" y="1207008"/>
            <a:ext cx="3794760" cy="2542032"/>
          </a:xfrm>
          <a:prstGeom prst="rect">
            <a:avLst/>
          </a:prstGeom>
          <a:solidFill>
            <a:srgbClr val="FFFFFF"/>
          </a:solidFill>
          <a:ln w="25400">
            <a:solidFill>
              <a:srgbClr val="83348F"/>
            </a:solidFill>
            <a:prstDash val="solid"/>
          </a:ln>
        </p:spPr>
      </p:sp>
      <p:sp>
        <p:nvSpPr>
          <p:cNvPr id="8" name="Shape 5"/>
          <p:cNvSpPr/>
          <p:nvPr/>
        </p:nvSpPr>
        <p:spPr>
          <a:xfrm>
            <a:off x="182880" y="1207008"/>
            <a:ext cx="3794760" cy="502920"/>
          </a:xfrm>
          <a:prstGeom prst="rect">
            <a:avLst/>
          </a:prstGeom>
          <a:solidFill>
            <a:srgbClr val="83348F"/>
          </a:solidFill>
          <a:ln/>
        </p:spPr>
      </p:sp>
      <p:sp>
        <p:nvSpPr>
          <p:cNvPr id="9" name="Text 6"/>
          <p:cNvSpPr/>
          <p:nvPr/>
        </p:nvSpPr>
        <p:spPr>
          <a:xfrm>
            <a:off x="274320" y="1261872"/>
            <a:ext cx="384048" cy="38404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10" name="Text 7"/>
          <p:cNvSpPr/>
          <p:nvPr/>
        </p:nvSpPr>
        <p:spPr>
          <a:xfrm>
            <a:off x="731520" y="1280160"/>
            <a:ext cx="3136392" cy="365760"/>
          </a:xfrm>
          <a:prstGeom prst="rect">
            <a:avLst/>
          </a:prstGeom>
          <a:noFill/>
          <a:ln/>
        </p:spPr>
        <p:txBody>
          <a:bodyPr wrap="square" rtlCol="0" anchor="ctr"/>
          <a:lstStyle/>
          <a:p>
            <a:pPr indent="0" marL="0">
              <a:buNone/>
            </a:pPr>
            <a:r>
              <a:rPr lang="en-US" sz="1150" b="1" dirty="0">
                <a:solidFill>
                  <a:srgbClr val="FFFFFF"/>
                </a:solidFill>
                <a:latin typeface="Arial" pitchFamily="34" charset="0"/>
                <a:ea typeface="Arial" pitchFamily="34" charset="-122"/>
                <a:cs typeface="Arial" pitchFamily="34" charset="-120"/>
              </a:rPr>
              <a:t>FOLLOW THE DRAWING</a:t>
            </a:r>
            <a:endParaRPr lang="en-US" sz="1150" dirty="0"/>
          </a:p>
        </p:txBody>
      </p:sp>
      <p:sp>
        <p:nvSpPr>
          <p:cNvPr id="11" name="Text 8"/>
          <p:cNvSpPr/>
          <p:nvPr/>
        </p:nvSpPr>
        <p:spPr>
          <a:xfrm>
            <a:off x="347472" y="1828800"/>
            <a:ext cx="3465576" cy="1773936"/>
          </a:xfrm>
          <a:prstGeom prst="rect">
            <a:avLst/>
          </a:prstGeom>
          <a:noFill/>
          <a:ln/>
        </p:spPr>
        <p:txBody>
          <a:bodyPr wrap="square" rtlCol="0" anchor="t"/>
          <a:lstStyle/>
          <a:p>
            <a:pPr indent="0" marL="0">
              <a:buNone/>
            </a:pPr>
            <a:r>
              <a:rPr lang="en-US" sz="1100" dirty="0">
                <a:solidFill>
                  <a:srgbClr val="5B595A"/>
                </a:solidFill>
                <a:latin typeface="Arial" pitchFamily="34" charset="0"/>
                <a:ea typeface="Arial" pitchFamily="34" charset="-122"/>
                <a:cs typeface="Arial" pitchFamily="34" charset="-120"/>
              </a:rPr>
              <a:t>Work to the drawing. If you are unsure, ask before you start. Never assume dimensions or tolerances.</a:t>
            </a:r>
            <a:endParaRPr lang="en-US" sz="1100" dirty="0"/>
          </a:p>
        </p:txBody>
      </p:sp>
      <p:sp>
        <p:nvSpPr>
          <p:cNvPr id="12" name="Shape 9"/>
          <p:cNvSpPr/>
          <p:nvPr/>
        </p:nvSpPr>
        <p:spPr>
          <a:xfrm>
            <a:off x="4160520" y="1207008"/>
            <a:ext cx="3794760" cy="2542032"/>
          </a:xfrm>
          <a:prstGeom prst="rect">
            <a:avLst/>
          </a:prstGeom>
          <a:solidFill>
            <a:srgbClr val="FFFFFF"/>
          </a:solidFill>
          <a:ln w="25400">
            <a:solidFill>
              <a:srgbClr val="83348F"/>
            </a:solidFill>
            <a:prstDash val="solid"/>
          </a:ln>
        </p:spPr>
      </p:sp>
      <p:sp>
        <p:nvSpPr>
          <p:cNvPr id="13" name="Shape 10"/>
          <p:cNvSpPr/>
          <p:nvPr/>
        </p:nvSpPr>
        <p:spPr>
          <a:xfrm>
            <a:off x="4160520" y="1207008"/>
            <a:ext cx="3794760" cy="502920"/>
          </a:xfrm>
          <a:prstGeom prst="rect">
            <a:avLst/>
          </a:prstGeom>
          <a:solidFill>
            <a:srgbClr val="83348F"/>
          </a:solidFill>
          <a:ln/>
        </p:spPr>
      </p:sp>
      <p:sp>
        <p:nvSpPr>
          <p:cNvPr id="14" name="Text 11"/>
          <p:cNvSpPr/>
          <p:nvPr/>
        </p:nvSpPr>
        <p:spPr>
          <a:xfrm>
            <a:off x="4251960" y="1261872"/>
            <a:ext cx="384048" cy="38404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5" name="Text 12"/>
          <p:cNvSpPr/>
          <p:nvPr/>
        </p:nvSpPr>
        <p:spPr>
          <a:xfrm>
            <a:off x="4709160" y="1280160"/>
            <a:ext cx="3136392" cy="365760"/>
          </a:xfrm>
          <a:prstGeom prst="rect">
            <a:avLst/>
          </a:prstGeom>
          <a:noFill/>
          <a:ln/>
        </p:spPr>
        <p:txBody>
          <a:bodyPr wrap="square" rtlCol="0" anchor="ctr"/>
          <a:lstStyle/>
          <a:p>
            <a:pPr indent="0" marL="0">
              <a:buNone/>
            </a:pPr>
            <a:r>
              <a:rPr lang="en-US" sz="1150" b="1" dirty="0">
                <a:solidFill>
                  <a:srgbClr val="FFFFFF"/>
                </a:solidFill>
                <a:latin typeface="Arial" pitchFamily="34" charset="0"/>
                <a:ea typeface="Arial" pitchFamily="34" charset="-122"/>
                <a:cs typeface="Arial" pitchFamily="34" charset="-120"/>
              </a:rPr>
              <a:t>MAINTAIN TRACEABILITY</a:t>
            </a:r>
            <a:endParaRPr lang="en-US" sz="1150" dirty="0"/>
          </a:p>
        </p:txBody>
      </p:sp>
      <p:sp>
        <p:nvSpPr>
          <p:cNvPr id="16" name="Text 13"/>
          <p:cNvSpPr/>
          <p:nvPr/>
        </p:nvSpPr>
        <p:spPr>
          <a:xfrm>
            <a:off x="4325112" y="1828800"/>
            <a:ext cx="3465576" cy="1773936"/>
          </a:xfrm>
          <a:prstGeom prst="rect">
            <a:avLst/>
          </a:prstGeom>
          <a:noFill/>
          <a:ln/>
        </p:spPr>
        <p:txBody>
          <a:bodyPr wrap="square" rtlCol="0" anchor="t"/>
          <a:lstStyle/>
          <a:p>
            <a:pPr indent="0" marL="0">
              <a:buNone/>
            </a:pPr>
            <a:r>
              <a:rPr lang="en-US" sz="1100" dirty="0">
                <a:solidFill>
                  <a:srgbClr val="5B595A"/>
                </a:solidFill>
                <a:latin typeface="Arial" pitchFamily="34" charset="0"/>
                <a:ea typeface="Arial" pitchFamily="34" charset="-122"/>
                <a:cs typeface="Arial" pitchFamily="34" charset="-120"/>
              </a:rPr>
              <a:t>Material identification must be maintained at all times. Never remove markings. Tag offcuts before moving them.</a:t>
            </a:r>
            <a:endParaRPr lang="en-US" sz="1100" dirty="0"/>
          </a:p>
        </p:txBody>
      </p:sp>
      <p:sp>
        <p:nvSpPr>
          <p:cNvPr id="17" name="Shape 14"/>
          <p:cNvSpPr/>
          <p:nvPr/>
        </p:nvSpPr>
        <p:spPr>
          <a:xfrm>
            <a:off x="8138160" y="1207008"/>
            <a:ext cx="3794760" cy="2542032"/>
          </a:xfrm>
          <a:prstGeom prst="rect">
            <a:avLst/>
          </a:prstGeom>
          <a:solidFill>
            <a:srgbClr val="FFFFFF"/>
          </a:solidFill>
          <a:ln w="25400">
            <a:solidFill>
              <a:srgbClr val="83348F"/>
            </a:solidFill>
            <a:prstDash val="solid"/>
          </a:ln>
        </p:spPr>
      </p:sp>
      <p:sp>
        <p:nvSpPr>
          <p:cNvPr id="18" name="Shape 15"/>
          <p:cNvSpPr/>
          <p:nvPr/>
        </p:nvSpPr>
        <p:spPr>
          <a:xfrm>
            <a:off x="8138160" y="1207008"/>
            <a:ext cx="3794760" cy="502920"/>
          </a:xfrm>
          <a:prstGeom prst="rect">
            <a:avLst/>
          </a:prstGeom>
          <a:solidFill>
            <a:srgbClr val="83348F"/>
          </a:solidFill>
          <a:ln/>
        </p:spPr>
      </p:sp>
      <p:sp>
        <p:nvSpPr>
          <p:cNvPr id="19" name="Text 16"/>
          <p:cNvSpPr/>
          <p:nvPr/>
        </p:nvSpPr>
        <p:spPr>
          <a:xfrm>
            <a:off x="8229600" y="1261872"/>
            <a:ext cx="384048" cy="38404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20" name="Text 17"/>
          <p:cNvSpPr/>
          <p:nvPr/>
        </p:nvSpPr>
        <p:spPr>
          <a:xfrm>
            <a:off x="8686800" y="1280160"/>
            <a:ext cx="3136392" cy="365760"/>
          </a:xfrm>
          <a:prstGeom prst="rect">
            <a:avLst/>
          </a:prstGeom>
          <a:noFill/>
          <a:ln/>
        </p:spPr>
        <p:txBody>
          <a:bodyPr wrap="square" rtlCol="0" anchor="ctr"/>
          <a:lstStyle/>
          <a:p>
            <a:pPr indent="0" marL="0">
              <a:buNone/>
            </a:pPr>
            <a:r>
              <a:rPr lang="en-US" sz="1150" b="1" dirty="0">
                <a:solidFill>
                  <a:srgbClr val="FFFFFF"/>
                </a:solidFill>
                <a:latin typeface="Arial" pitchFamily="34" charset="0"/>
                <a:ea typeface="Arial" pitchFamily="34" charset="-122"/>
                <a:cs typeface="Arial" pitchFamily="34" charset="-120"/>
              </a:rPr>
              <a:t>RAISE AN NCR</a:t>
            </a:r>
            <a:endParaRPr lang="en-US" sz="1150" dirty="0"/>
          </a:p>
        </p:txBody>
      </p:sp>
      <p:sp>
        <p:nvSpPr>
          <p:cNvPr id="21" name="Text 18"/>
          <p:cNvSpPr/>
          <p:nvPr/>
        </p:nvSpPr>
        <p:spPr>
          <a:xfrm>
            <a:off x="8302752" y="1828800"/>
            <a:ext cx="3465576" cy="1773936"/>
          </a:xfrm>
          <a:prstGeom prst="rect">
            <a:avLst/>
          </a:prstGeom>
          <a:noFill/>
          <a:ln/>
        </p:spPr>
        <p:txBody>
          <a:bodyPr wrap="square" rtlCol="0" anchor="t"/>
          <a:lstStyle/>
          <a:p>
            <a:pPr indent="0" marL="0">
              <a:buNone/>
            </a:pPr>
            <a:r>
              <a:rPr lang="en-US" sz="1100" dirty="0">
                <a:solidFill>
                  <a:srgbClr val="5B595A"/>
                </a:solidFill>
                <a:latin typeface="Arial" pitchFamily="34" charset="0"/>
                <a:ea typeface="Arial" pitchFamily="34" charset="-122"/>
                <a:cs typeface="Arial" pitchFamily="34" charset="-120"/>
              </a:rPr>
              <a:t>If something is wrong, raise a Non-Conformance Report immediately. Do not pass on defective work.</a:t>
            </a:r>
            <a:endParaRPr lang="en-US" sz="1100" dirty="0"/>
          </a:p>
        </p:txBody>
      </p:sp>
      <p:sp>
        <p:nvSpPr>
          <p:cNvPr id="22" name="Shape 19"/>
          <p:cNvSpPr/>
          <p:nvPr/>
        </p:nvSpPr>
        <p:spPr>
          <a:xfrm>
            <a:off x="182880" y="3904488"/>
            <a:ext cx="3794760" cy="2542032"/>
          </a:xfrm>
          <a:prstGeom prst="rect">
            <a:avLst/>
          </a:prstGeom>
          <a:solidFill>
            <a:srgbClr val="FFFFFF"/>
          </a:solidFill>
          <a:ln w="25400">
            <a:solidFill>
              <a:srgbClr val="83348F"/>
            </a:solidFill>
            <a:prstDash val="solid"/>
          </a:ln>
        </p:spPr>
      </p:sp>
      <p:sp>
        <p:nvSpPr>
          <p:cNvPr id="23" name="Shape 20"/>
          <p:cNvSpPr/>
          <p:nvPr/>
        </p:nvSpPr>
        <p:spPr>
          <a:xfrm>
            <a:off x="182880" y="3904488"/>
            <a:ext cx="3794760" cy="502920"/>
          </a:xfrm>
          <a:prstGeom prst="rect">
            <a:avLst/>
          </a:prstGeom>
          <a:solidFill>
            <a:srgbClr val="83348F"/>
          </a:solidFill>
          <a:ln/>
        </p:spPr>
      </p:sp>
      <p:sp>
        <p:nvSpPr>
          <p:cNvPr id="24" name="Text 21"/>
          <p:cNvSpPr/>
          <p:nvPr/>
        </p:nvSpPr>
        <p:spPr>
          <a:xfrm>
            <a:off x="274320" y="3959352"/>
            <a:ext cx="384048" cy="38404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5" name="Text 22"/>
          <p:cNvSpPr/>
          <p:nvPr/>
        </p:nvSpPr>
        <p:spPr>
          <a:xfrm>
            <a:off x="731520" y="3977640"/>
            <a:ext cx="3136392" cy="365760"/>
          </a:xfrm>
          <a:prstGeom prst="rect">
            <a:avLst/>
          </a:prstGeom>
          <a:noFill/>
          <a:ln/>
        </p:spPr>
        <p:txBody>
          <a:bodyPr wrap="square" rtlCol="0" anchor="ctr"/>
          <a:lstStyle/>
          <a:p>
            <a:pPr indent="0" marL="0">
              <a:buNone/>
            </a:pPr>
            <a:r>
              <a:rPr lang="en-US" sz="1150" b="1" dirty="0">
                <a:solidFill>
                  <a:srgbClr val="FFFFFF"/>
                </a:solidFill>
                <a:latin typeface="Arial" pitchFamily="34" charset="0"/>
                <a:ea typeface="Arial" pitchFamily="34" charset="-122"/>
                <a:cs typeface="Arial" pitchFamily="34" charset="-120"/>
              </a:rPr>
              <a:t>COMPLETE YOUR PAPERWORK</a:t>
            </a:r>
            <a:endParaRPr lang="en-US" sz="1150" dirty="0"/>
          </a:p>
        </p:txBody>
      </p:sp>
      <p:sp>
        <p:nvSpPr>
          <p:cNvPr id="26" name="Text 23"/>
          <p:cNvSpPr/>
          <p:nvPr/>
        </p:nvSpPr>
        <p:spPr>
          <a:xfrm>
            <a:off x="347472" y="4526280"/>
            <a:ext cx="3465576" cy="1773936"/>
          </a:xfrm>
          <a:prstGeom prst="rect">
            <a:avLst/>
          </a:prstGeom>
          <a:noFill/>
          <a:ln/>
        </p:spPr>
        <p:txBody>
          <a:bodyPr wrap="square" rtlCol="0" anchor="t"/>
          <a:lstStyle/>
          <a:p>
            <a:pPr indent="0" marL="0">
              <a:buNone/>
            </a:pPr>
            <a:r>
              <a:rPr lang="en-US" sz="1100" dirty="0">
                <a:solidFill>
                  <a:srgbClr val="5B595A"/>
                </a:solidFill>
                <a:latin typeface="Arial" pitchFamily="34" charset="0"/>
                <a:ea typeface="Arial" pitchFamily="34" charset="-122"/>
                <a:cs typeface="Arial" pitchFamily="34" charset="-120"/>
              </a:rPr>
              <a:t>Sign the traveller at every stage. Your signature is your personal confirmation the work is correct.</a:t>
            </a:r>
            <a:endParaRPr lang="en-US" sz="1100" dirty="0"/>
          </a:p>
        </p:txBody>
      </p:sp>
      <p:sp>
        <p:nvSpPr>
          <p:cNvPr id="27" name="Shape 24"/>
          <p:cNvSpPr/>
          <p:nvPr/>
        </p:nvSpPr>
        <p:spPr>
          <a:xfrm>
            <a:off x="4160520" y="3904488"/>
            <a:ext cx="3794760" cy="2542032"/>
          </a:xfrm>
          <a:prstGeom prst="rect">
            <a:avLst/>
          </a:prstGeom>
          <a:solidFill>
            <a:srgbClr val="FFFFFF"/>
          </a:solidFill>
          <a:ln w="25400">
            <a:solidFill>
              <a:srgbClr val="83348F"/>
            </a:solidFill>
            <a:prstDash val="solid"/>
          </a:ln>
        </p:spPr>
      </p:sp>
      <p:sp>
        <p:nvSpPr>
          <p:cNvPr id="28" name="Shape 25"/>
          <p:cNvSpPr/>
          <p:nvPr/>
        </p:nvSpPr>
        <p:spPr>
          <a:xfrm>
            <a:off x="4160520" y="3904488"/>
            <a:ext cx="3794760" cy="502920"/>
          </a:xfrm>
          <a:prstGeom prst="rect">
            <a:avLst/>
          </a:prstGeom>
          <a:solidFill>
            <a:srgbClr val="83348F"/>
          </a:solidFill>
          <a:ln/>
        </p:spPr>
      </p:sp>
      <p:sp>
        <p:nvSpPr>
          <p:cNvPr id="29" name="Text 26"/>
          <p:cNvSpPr/>
          <p:nvPr/>
        </p:nvSpPr>
        <p:spPr>
          <a:xfrm>
            <a:off x="4251960" y="3959352"/>
            <a:ext cx="384048" cy="38404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5</a:t>
            </a:r>
            <a:endParaRPr lang="en-US" sz="1800" dirty="0"/>
          </a:p>
        </p:txBody>
      </p:sp>
      <p:sp>
        <p:nvSpPr>
          <p:cNvPr id="30" name="Text 27"/>
          <p:cNvSpPr/>
          <p:nvPr/>
        </p:nvSpPr>
        <p:spPr>
          <a:xfrm>
            <a:off x="4709160" y="3977640"/>
            <a:ext cx="3136392" cy="365760"/>
          </a:xfrm>
          <a:prstGeom prst="rect">
            <a:avLst/>
          </a:prstGeom>
          <a:noFill/>
          <a:ln/>
        </p:spPr>
        <p:txBody>
          <a:bodyPr wrap="square" rtlCol="0" anchor="ctr"/>
          <a:lstStyle/>
          <a:p>
            <a:pPr indent="0" marL="0">
              <a:buNone/>
            </a:pPr>
            <a:r>
              <a:rPr lang="en-US" sz="1150" b="1" dirty="0">
                <a:solidFill>
                  <a:srgbClr val="FFFFFF"/>
                </a:solidFill>
                <a:latin typeface="Arial" pitchFamily="34" charset="0"/>
                <a:ea typeface="Arial" pitchFamily="34" charset="-122"/>
                <a:cs typeface="Arial" pitchFamily="34" charset="-120"/>
              </a:rPr>
              <a:t>CFSI VIGILANCE</a:t>
            </a:r>
            <a:endParaRPr lang="en-US" sz="1150" dirty="0"/>
          </a:p>
        </p:txBody>
      </p:sp>
      <p:sp>
        <p:nvSpPr>
          <p:cNvPr id="31" name="Text 28"/>
          <p:cNvSpPr/>
          <p:nvPr/>
        </p:nvSpPr>
        <p:spPr>
          <a:xfrm>
            <a:off x="4325112" y="4526280"/>
            <a:ext cx="3465576" cy="1773936"/>
          </a:xfrm>
          <a:prstGeom prst="rect">
            <a:avLst/>
          </a:prstGeom>
          <a:noFill/>
          <a:ln/>
        </p:spPr>
        <p:txBody>
          <a:bodyPr wrap="square" rtlCol="0" anchor="t"/>
          <a:lstStyle/>
          <a:p>
            <a:pPr indent="0" marL="0">
              <a:buNone/>
            </a:pPr>
            <a:r>
              <a:rPr lang="en-US" sz="1100" dirty="0">
                <a:solidFill>
                  <a:srgbClr val="5B595A"/>
                </a:solidFill>
                <a:latin typeface="Arial" pitchFamily="34" charset="0"/>
                <a:ea typeface="Arial" pitchFamily="34" charset="-122"/>
                <a:cs typeface="Arial" pitchFamily="34" charset="-120"/>
              </a:rPr>
              <a:t>Check every delivery for signs of counterfeit or suspect items. If in doubt, quarantine and tell the Quality Manager.</a:t>
            </a:r>
            <a:endParaRPr lang="en-US" sz="1100" dirty="0"/>
          </a:p>
        </p:txBody>
      </p:sp>
      <p:sp>
        <p:nvSpPr>
          <p:cNvPr id="32" name="Shape 29"/>
          <p:cNvSpPr/>
          <p:nvPr/>
        </p:nvSpPr>
        <p:spPr>
          <a:xfrm>
            <a:off x="8138160" y="3904488"/>
            <a:ext cx="3794760" cy="2542032"/>
          </a:xfrm>
          <a:prstGeom prst="rect">
            <a:avLst/>
          </a:prstGeom>
          <a:solidFill>
            <a:srgbClr val="FFFFFF"/>
          </a:solidFill>
          <a:ln w="25400">
            <a:solidFill>
              <a:srgbClr val="83348F"/>
            </a:solidFill>
            <a:prstDash val="solid"/>
          </a:ln>
        </p:spPr>
      </p:sp>
      <p:sp>
        <p:nvSpPr>
          <p:cNvPr id="33" name="Shape 30"/>
          <p:cNvSpPr/>
          <p:nvPr/>
        </p:nvSpPr>
        <p:spPr>
          <a:xfrm>
            <a:off x="8138160" y="3904488"/>
            <a:ext cx="3794760" cy="502920"/>
          </a:xfrm>
          <a:prstGeom prst="rect">
            <a:avLst/>
          </a:prstGeom>
          <a:solidFill>
            <a:srgbClr val="83348F"/>
          </a:solidFill>
          <a:ln/>
        </p:spPr>
      </p:sp>
      <p:sp>
        <p:nvSpPr>
          <p:cNvPr id="34" name="Text 31"/>
          <p:cNvSpPr/>
          <p:nvPr/>
        </p:nvSpPr>
        <p:spPr>
          <a:xfrm>
            <a:off x="8229600" y="3959352"/>
            <a:ext cx="384048" cy="38404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6</a:t>
            </a:r>
            <a:endParaRPr lang="en-US" sz="1800" dirty="0"/>
          </a:p>
        </p:txBody>
      </p:sp>
      <p:sp>
        <p:nvSpPr>
          <p:cNvPr id="35" name="Text 32"/>
          <p:cNvSpPr/>
          <p:nvPr/>
        </p:nvSpPr>
        <p:spPr>
          <a:xfrm>
            <a:off x="8686800" y="3977640"/>
            <a:ext cx="3136392" cy="365760"/>
          </a:xfrm>
          <a:prstGeom prst="rect">
            <a:avLst/>
          </a:prstGeom>
          <a:noFill/>
          <a:ln/>
        </p:spPr>
        <p:txBody>
          <a:bodyPr wrap="square" rtlCol="0" anchor="ctr"/>
          <a:lstStyle/>
          <a:p>
            <a:pPr indent="0" marL="0">
              <a:buNone/>
            </a:pPr>
            <a:r>
              <a:rPr lang="en-US" sz="1150" b="1" dirty="0">
                <a:solidFill>
                  <a:srgbClr val="FFFFFF"/>
                </a:solidFill>
                <a:latin typeface="Arial" pitchFamily="34" charset="0"/>
                <a:ea typeface="Arial" pitchFamily="34" charset="-122"/>
                <a:cs typeface="Arial" pitchFamily="34" charset="-120"/>
              </a:rPr>
              <a:t>CONSERVATIVE DECISIONS</a:t>
            </a:r>
            <a:endParaRPr lang="en-US" sz="1150" dirty="0"/>
          </a:p>
        </p:txBody>
      </p:sp>
      <p:sp>
        <p:nvSpPr>
          <p:cNvPr id="36" name="Text 33"/>
          <p:cNvSpPr/>
          <p:nvPr/>
        </p:nvSpPr>
        <p:spPr>
          <a:xfrm>
            <a:off x="8302752" y="4526280"/>
            <a:ext cx="3465576" cy="1773936"/>
          </a:xfrm>
          <a:prstGeom prst="rect">
            <a:avLst/>
          </a:prstGeom>
          <a:noFill/>
          <a:ln/>
        </p:spPr>
        <p:txBody>
          <a:bodyPr wrap="square" rtlCol="0" anchor="t"/>
          <a:lstStyle/>
          <a:p>
            <a:pPr indent="0" marL="0">
              <a:buNone/>
            </a:pPr>
            <a:r>
              <a:rPr lang="en-US" sz="1100" dirty="0">
                <a:solidFill>
                  <a:srgbClr val="5B595A"/>
                </a:solidFill>
                <a:latin typeface="Arial" pitchFamily="34" charset="0"/>
                <a:ea typeface="Arial" pitchFamily="34" charset="-122"/>
                <a:cs typeface="Arial" pitchFamily="34" charset="-120"/>
              </a:rPr>
              <a:t>When in doubt, stop. Ask. The cost of stopping is always less than the cost of getting it wrong in nuclear.</a:t>
            </a:r>
            <a:endParaRPr lang="en-US" sz="1100" dirty="0"/>
          </a:p>
        </p:txBody>
      </p:sp>
      <p:pic>
        <p:nvPicPr>
          <p:cNvPr id="37" name="Picture 36" descr="nuccol_logo.png"/>
          <p:cNvPicPr>
            <a:picLocks noChangeAspect="1"/>
          </p:cNvPicPr>
          <p:nvPr/>
        </p:nvPicPr>
        <p:blipFill>
          <a:blip r:embed="rId4"/>
          <a:stretch>
            <a:fillRect/>
          </a:stretch>
        </p:blipFill>
        <p:spPr>
          <a:xfrm>
            <a:off x="11515344" y="109728"/>
            <a:ext cx="566928" cy="566928"/>
          </a:xfrm>
          <a:prstGeom prst="rect">
            <a:avLst/>
          </a:prstGeom>
        </p:spPr>
      </p:pic>
      <p:pic>
        <p:nvPicPr>
          <p:cNvPr id="38" name="Picture 37" descr="f4n_logo.png"/>
          <p:cNvPicPr>
            <a:picLocks noChangeAspect="1"/>
          </p:cNvPicPr>
          <p:nvPr/>
        </p:nvPicPr>
        <p:blipFill>
          <a:blip r:embed="rId5"/>
          <a:stretch>
            <a:fillRect/>
          </a:stretch>
        </p:blipFill>
        <p:spPr>
          <a:xfrm>
            <a:off x="10755819" y="210312"/>
            <a:ext cx="540070" cy="365760"/>
          </a:xfrm>
          <a:prstGeom prst="rect">
            <a:avLst/>
          </a:prstGeom>
        </p:spPr>
      </p:pic>
      <p:sp>
        <p:nvSpPr>
          <p:cNvPr id="39" name="TextBox 38"/>
          <p:cNvSpPr txBox="1"/>
          <p:nvPr/>
        </p:nvSpPr>
        <p:spPr>
          <a:xfrm>
            <a:off x="0" y="6556248"/>
            <a:ext cx="12192000" cy="301752"/>
          </a:xfrm>
          <a:prstGeom prst="rect">
            <a:avLst/>
          </a:prstGeom>
          <a:solidFill>
            <a:srgbClr val="1C1C3A"/>
          </a:solidFill>
        </p:spPr>
        <p:txBody>
          <a:bodyPr wrap="none">
            <a:spAutoFit/>
          </a:bodyPr>
          <a:lstStyle/>
          <a:p>
            <a:pPr algn="ctr"/>
            <a:r>
              <a:rPr sz="600">
                <a:solidFill>
                  <a:srgbClr val="FFFFFF"/>
                </a:solidFill>
                <a:latin typeface="Calibri"/>
              </a:rPr>
              <a:t>NucCol | Nuclear Collaboration Ltd  ·  Fit For Nuclear Programme  ·  Commercial in Confidence    |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FFFFF"/>
          </a:solidFill>
          <a:ln/>
        </p:spPr>
      </p:sp>
      <p:sp>
        <p:nvSpPr>
          <p:cNvPr id="3" name="Shape 1"/>
          <p:cNvSpPr/>
          <p:nvPr/>
        </p:nvSpPr>
        <p:spPr>
          <a:xfrm>
            <a:off x="0" y="0"/>
            <a:ext cx="12161520" cy="1024128"/>
          </a:xfrm>
          <a:prstGeom prst="rect">
            <a:avLst/>
          </a:prstGeom>
          <a:solidFill>
            <a:srgbClr val="009FE3"/>
          </a:solidFill>
          <a:ln/>
        </p:spPr>
      </p:sp>
      <p:pic>
        <p:nvPicPr>
          <p:cNvPr id="4" name="Image 0" descr="preencoded.png">    </p:cNvPr>
          <p:cNvPicPr>
            <a:picLocks noChangeAspect="1"/>
          </p:cNvPicPr>
          <p:nvPr/>
        </p:nvPicPr>
        <p:blipFill>
          <a:blip r:embed="rId1"/>
          <a:stretch>
            <a:fillRect/>
          </a:stretch>
        </p:blipFill>
        <p:spPr>
          <a:xfrm>
            <a:off x="274320" y="182880"/>
            <a:ext cx="1371600" cy="457200"/>
          </a:xfrm>
          <a:prstGeom prst="rect">
            <a:avLst/>
          </a:prstGeom>
        </p:spPr>
      </p:pic>
      <p:sp>
        <p:nvSpPr>
          <p:cNvPr id="5" name="Text 2"/>
          <p:cNvSpPr/>
          <p:nvPr/>
        </p:nvSpPr>
        <p:spPr>
          <a:xfrm>
            <a:off x="1828800" y="54864"/>
            <a:ext cx="8503920" cy="566928"/>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OUR PERFORMANCE</a:t>
            </a:r>
            <a:endParaRPr lang="en-US" sz="3200" dirty="0"/>
          </a:p>
        </p:txBody>
      </p:sp>
      <p:sp>
        <p:nvSpPr>
          <p:cNvPr id="6" name="Text 3"/>
          <p:cNvSpPr/>
          <p:nvPr/>
        </p:nvSpPr>
        <p:spPr>
          <a:xfrm>
            <a:off x="1828800" y="621792"/>
            <a:ext cx="8503920" cy="292608"/>
          </a:xfrm>
          <a:prstGeom prst="rect">
            <a:avLst/>
          </a:prstGeom>
          <a:noFill/>
          <a:ln/>
        </p:spPr>
        <p:txBody>
          <a:bodyPr wrap="square" rtlCol="0" anchor="ctr"/>
          <a:lstStyle/>
          <a:p>
            <a:pPr algn="ctr" indent="0" marL="0">
              <a:buNone/>
            </a:pPr>
            <a:r>
              <a:rPr lang="en-US" sz="1200" dirty="0">
                <a:solidFill>
                  <a:srgbClr val="DDEEFF"/>
                </a:solidFill>
                <a:latin typeface="Arial" pitchFamily="34" charset="0"/>
                <a:ea typeface="Arial" pitchFamily="34" charset="-122"/>
                <a:cs typeface="Arial" pitchFamily="34" charset="-120"/>
              </a:rPr>
              <a:t>[Month / Week]  |  How we are doing against our key targets</a:t>
            </a:r>
            <a:endParaRPr lang="en-US" sz="1200" dirty="0"/>
          </a:p>
        </p:txBody>
      </p:sp>
      <p:sp>
        <p:nvSpPr>
          <p:cNvPr id="7" name="Shape 4"/>
          <p:cNvSpPr/>
          <p:nvPr/>
        </p:nvSpPr>
        <p:spPr>
          <a:xfrm>
            <a:off x="182880" y="1097280"/>
            <a:ext cx="3794760" cy="457200"/>
          </a:xfrm>
          <a:prstGeom prst="rect">
            <a:avLst/>
          </a:prstGeom>
          <a:solidFill>
            <a:srgbClr val="CC0000"/>
          </a:solidFill>
          <a:ln/>
        </p:spPr>
      </p:sp>
      <p:sp>
        <p:nvSpPr>
          <p:cNvPr id="8" name="Text 5"/>
          <p:cNvSpPr/>
          <p:nvPr/>
        </p:nvSpPr>
        <p:spPr>
          <a:xfrm>
            <a:off x="274320" y="1133856"/>
            <a:ext cx="361188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SAFETY</a:t>
            </a:r>
            <a:endParaRPr lang="en-US" sz="1000" dirty="0"/>
          </a:p>
          <a:p>
            <a:pPr algn="ctr" indent="0" marL="0">
              <a:buNone/>
            </a:pPr>
            <a:r>
              <a:rPr lang="en-US" sz="1000" b="1" dirty="0">
                <a:solidFill>
                  <a:srgbClr val="FFFFFF"/>
                </a:solidFill>
                <a:latin typeface="Arial" pitchFamily="34" charset="0"/>
                <a:ea typeface="Arial" pitchFamily="34" charset="-122"/>
                <a:cs typeface="Arial" pitchFamily="34" charset="-120"/>
              </a:rPr>
              <a:t>Near Misses Reported</a:t>
            </a:r>
            <a:endParaRPr lang="en-US" sz="1000" dirty="0"/>
          </a:p>
        </p:txBody>
      </p:sp>
      <p:sp>
        <p:nvSpPr>
          <p:cNvPr id="9" name="Shape 6"/>
          <p:cNvSpPr/>
          <p:nvPr/>
        </p:nvSpPr>
        <p:spPr>
          <a:xfrm>
            <a:off x="182880" y="1554480"/>
            <a:ext cx="3794760" cy="1051560"/>
          </a:xfrm>
          <a:prstGeom prst="rect">
            <a:avLst/>
          </a:prstGeom>
          <a:solidFill>
            <a:srgbClr val="F5F5F5"/>
          </a:solidFill>
          <a:ln w="6350">
            <a:solidFill>
              <a:srgbClr val="DDDDDD"/>
            </a:solidFill>
            <a:prstDash val="solid"/>
          </a:ln>
        </p:spPr>
      </p:sp>
      <p:sp>
        <p:nvSpPr>
          <p:cNvPr id="10" name="Text 7"/>
          <p:cNvSpPr/>
          <p:nvPr/>
        </p:nvSpPr>
        <p:spPr>
          <a:xfrm>
            <a:off x="274320" y="1600200"/>
            <a:ext cx="3611880" cy="658368"/>
          </a:xfrm>
          <a:prstGeom prst="rect">
            <a:avLst/>
          </a:prstGeom>
          <a:noFill/>
          <a:ln/>
        </p:spPr>
        <p:txBody>
          <a:bodyPr wrap="square" rtlCol="0" anchor="ctr"/>
          <a:lstStyle/>
          <a:p>
            <a:pPr algn="ctr" indent="0" marL="0">
              <a:buNone/>
            </a:pPr>
            <a:r>
              <a:rPr lang="en-US" sz="2800" b="1" dirty="0">
                <a:solidFill>
                  <a:srgbClr val="CC0000"/>
                </a:solidFill>
                <a:latin typeface="Arial" pitchFamily="34" charset="0"/>
                <a:ea typeface="Arial" pitchFamily="34" charset="-122"/>
                <a:cs typeface="Arial" pitchFamily="34" charset="-120"/>
              </a:rPr>
              <a:t>[X]</a:t>
            </a:r>
            <a:endParaRPr lang="en-US" sz="2800" dirty="0"/>
          </a:p>
        </p:txBody>
      </p:sp>
      <p:sp>
        <p:nvSpPr>
          <p:cNvPr id="11" name="Text 8"/>
          <p:cNvSpPr/>
          <p:nvPr/>
        </p:nvSpPr>
        <p:spPr>
          <a:xfrm>
            <a:off x="274320" y="2212848"/>
            <a:ext cx="3611880" cy="201168"/>
          </a:xfrm>
          <a:prstGeom prst="rect">
            <a:avLst/>
          </a:prstGeom>
          <a:noFill/>
          <a:ln/>
        </p:spPr>
        <p:txBody>
          <a:bodyPr wrap="square" rtlCol="0" anchor="ctr"/>
          <a:lstStyle/>
          <a:p>
            <a:pPr algn="ctr" indent="0" marL="0">
              <a:buNone/>
            </a:pPr>
            <a:r>
              <a:rPr lang="en-US" sz="900" dirty="0">
                <a:solidFill>
                  <a:srgbClr val="5B595A"/>
                </a:solidFill>
                <a:latin typeface="Arial" pitchFamily="34" charset="0"/>
                <a:ea typeface="Arial" pitchFamily="34" charset="-122"/>
                <a:cs typeface="Arial" pitchFamily="34" charset="-120"/>
              </a:rPr>
              <a:t>Target: [X]+</a:t>
            </a:r>
            <a:endParaRPr lang="en-US" sz="900" dirty="0"/>
          </a:p>
        </p:txBody>
      </p:sp>
      <p:sp>
        <p:nvSpPr>
          <p:cNvPr id="12" name="Text 9"/>
          <p:cNvSpPr/>
          <p:nvPr/>
        </p:nvSpPr>
        <p:spPr>
          <a:xfrm>
            <a:off x="274320" y="2395728"/>
            <a:ext cx="3611880" cy="164592"/>
          </a:xfrm>
          <a:prstGeom prst="rect">
            <a:avLst/>
          </a:prstGeom>
          <a:noFill/>
          <a:ln/>
        </p:spPr>
        <p:txBody>
          <a:bodyPr wrap="square" rtlCol="0" anchor="ctr"/>
          <a:lstStyle/>
          <a:p>
            <a:pPr algn="ctr" indent="0" marL="0">
              <a:buNone/>
            </a:pPr>
            <a:r>
              <a:rPr lang="en-US" sz="850" i="1" dirty="0">
                <a:solidFill>
                  <a:srgbClr val="5B595A"/>
                </a:solidFill>
                <a:latin typeface="Arial" pitchFamily="34" charset="0"/>
                <a:ea typeface="Arial" pitchFamily="34" charset="-122"/>
                <a:cs typeface="Arial" pitchFamily="34" charset="-120"/>
              </a:rPr>
              <a:t>↑ More reporting = stronger safety culture</a:t>
            </a:r>
            <a:endParaRPr lang="en-US" sz="850" dirty="0"/>
          </a:p>
        </p:txBody>
      </p:sp>
      <p:sp>
        <p:nvSpPr>
          <p:cNvPr id="13" name="Shape 10"/>
          <p:cNvSpPr/>
          <p:nvPr/>
        </p:nvSpPr>
        <p:spPr>
          <a:xfrm>
            <a:off x="4160520" y="1097280"/>
            <a:ext cx="3794760" cy="457200"/>
          </a:xfrm>
          <a:prstGeom prst="rect">
            <a:avLst/>
          </a:prstGeom>
          <a:solidFill>
            <a:srgbClr val="83348F"/>
          </a:solidFill>
          <a:ln/>
        </p:spPr>
      </p:sp>
      <p:sp>
        <p:nvSpPr>
          <p:cNvPr id="14" name="Text 11"/>
          <p:cNvSpPr/>
          <p:nvPr/>
        </p:nvSpPr>
        <p:spPr>
          <a:xfrm>
            <a:off x="4251960" y="1133856"/>
            <a:ext cx="361188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QUALITY</a:t>
            </a:r>
            <a:endParaRPr lang="en-US" sz="1000" dirty="0"/>
          </a:p>
          <a:p>
            <a:pPr algn="ctr" indent="0" marL="0">
              <a:buNone/>
            </a:pPr>
            <a:r>
              <a:rPr lang="en-US" sz="1000" b="1" dirty="0">
                <a:solidFill>
                  <a:srgbClr val="FFFFFF"/>
                </a:solidFill>
                <a:latin typeface="Arial" pitchFamily="34" charset="0"/>
                <a:ea typeface="Arial" pitchFamily="34" charset="-122"/>
                <a:cs typeface="Arial" pitchFamily="34" charset="-120"/>
              </a:rPr>
              <a:t>Right First Time %</a:t>
            </a:r>
            <a:endParaRPr lang="en-US" sz="1000" dirty="0"/>
          </a:p>
        </p:txBody>
      </p:sp>
      <p:sp>
        <p:nvSpPr>
          <p:cNvPr id="15" name="Shape 12"/>
          <p:cNvSpPr/>
          <p:nvPr/>
        </p:nvSpPr>
        <p:spPr>
          <a:xfrm>
            <a:off x="4160520" y="1554480"/>
            <a:ext cx="3794760" cy="1051560"/>
          </a:xfrm>
          <a:prstGeom prst="rect">
            <a:avLst/>
          </a:prstGeom>
          <a:solidFill>
            <a:srgbClr val="F5F5F5"/>
          </a:solidFill>
          <a:ln w="6350">
            <a:solidFill>
              <a:srgbClr val="DDDDDD"/>
            </a:solidFill>
            <a:prstDash val="solid"/>
          </a:ln>
        </p:spPr>
      </p:sp>
      <p:sp>
        <p:nvSpPr>
          <p:cNvPr id="16" name="Text 13"/>
          <p:cNvSpPr/>
          <p:nvPr/>
        </p:nvSpPr>
        <p:spPr>
          <a:xfrm>
            <a:off x="4251960" y="1600200"/>
            <a:ext cx="3611880" cy="658368"/>
          </a:xfrm>
          <a:prstGeom prst="rect">
            <a:avLst/>
          </a:prstGeom>
          <a:noFill/>
          <a:ln/>
        </p:spPr>
        <p:txBody>
          <a:bodyPr wrap="square" rtlCol="0" anchor="ctr"/>
          <a:lstStyle/>
          <a:p>
            <a:pPr algn="ctr" indent="0" marL="0">
              <a:buNone/>
            </a:pPr>
            <a:r>
              <a:rPr lang="en-US" sz="2800" b="1" dirty="0">
                <a:solidFill>
                  <a:srgbClr val="83348F"/>
                </a:solidFill>
                <a:latin typeface="Arial" pitchFamily="34" charset="0"/>
                <a:ea typeface="Arial" pitchFamily="34" charset="-122"/>
                <a:cs typeface="Arial" pitchFamily="34" charset="-120"/>
              </a:rPr>
              <a:t>[X%]</a:t>
            </a:r>
            <a:endParaRPr lang="en-US" sz="2800" dirty="0"/>
          </a:p>
        </p:txBody>
      </p:sp>
      <p:sp>
        <p:nvSpPr>
          <p:cNvPr id="17" name="Text 14"/>
          <p:cNvSpPr/>
          <p:nvPr/>
        </p:nvSpPr>
        <p:spPr>
          <a:xfrm>
            <a:off x="4251960" y="2212848"/>
            <a:ext cx="3611880" cy="201168"/>
          </a:xfrm>
          <a:prstGeom prst="rect">
            <a:avLst/>
          </a:prstGeom>
          <a:noFill/>
          <a:ln/>
        </p:spPr>
        <p:txBody>
          <a:bodyPr wrap="square" rtlCol="0" anchor="ctr"/>
          <a:lstStyle/>
          <a:p>
            <a:pPr algn="ctr" indent="0" marL="0">
              <a:buNone/>
            </a:pPr>
            <a:r>
              <a:rPr lang="en-US" sz="900" dirty="0">
                <a:solidFill>
                  <a:srgbClr val="5B595A"/>
                </a:solidFill>
                <a:latin typeface="Arial" pitchFamily="34" charset="0"/>
                <a:ea typeface="Arial" pitchFamily="34" charset="-122"/>
                <a:cs typeface="Arial" pitchFamily="34" charset="-120"/>
              </a:rPr>
              <a:t>Target: [X%]</a:t>
            </a:r>
            <a:endParaRPr lang="en-US" sz="900" dirty="0"/>
          </a:p>
        </p:txBody>
      </p:sp>
      <p:sp>
        <p:nvSpPr>
          <p:cNvPr id="18" name="Text 15"/>
          <p:cNvSpPr/>
          <p:nvPr/>
        </p:nvSpPr>
        <p:spPr>
          <a:xfrm>
            <a:off x="4251960" y="2395728"/>
            <a:ext cx="3611880" cy="164592"/>
          </a:xfrm>
          <a:prstGeom prst="rect">
            <a:avLst/>
          </a:prstGeom>
          <a:noFill/>
          <a:ln/>
        </p:spPr>
        <p:txBody>
          <a:bodyPr wrap="square" rtlCol="0" anchor="ctr"/>
          <a:lstStyle/>
          <a:p>
            <a:pPr algn="ctr" indent="0" marL="0">
              <a:buNone/>
            </a:pPr>
            <a:r>
              <a:rPr lang="en-US" sz="850" i="1" dirty="0">
                <a:solidFill>
                  <a:srgbClr val="5B595A"/>
                </a:solidFill>
                <a:latin typeface="Arial" pitchFamily="34" charset="0"/>
                <a:ea typeface="Arial" pitchFamily="34" charset="-122"/>
                <a:cs typeface="Arial" pitchFamily="34" charset="-120"/>
              </a:rPr>
              <a:t>↑ vs last month</a:t>
            </a:r>
            <a:endParaRPr lang="en-US" sz="850" dirty="0"/>
          </a:p>
        </p:txBody>
      </p:sp>
      <p:sp>
        <p:nvSpPr>
          <p:cNvPr id="19" name="Shape 16"/>
          <p:cNvSpPr/>
          <p:nvPr/>
        </p:nvSpPr>
        <p:spPr>
          <a:xfrm>
            <a:off x="8138160" y="1097280"/>
            <a:ext cx="3794760" cy="457200"/>
          </a:xfrm>
          <a:prstGeom prst="rect">
            <a:avLst/>
          </a:prstGeom>
          <a:solidFill>
            <a:srgbClr val="009FE3"/>
          </a:solidFill>
          <a:ln/>
        </p:spPr>
      </p:sp>
      <p:sp>
        <p:nvSpPr>
          <p:cNvPr id="20" name="Text 17"/>
          <p:cNvSpPr/>
          <p:nvPr/>
        </p:nvSpPr>
        <p:spPr>
          <a:xfrm>
            <a:off x="8229600" y="1133856"/>
            <a:ext cx="361188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DELIVERY</a:t>
            </a:r>
            <a:endParaRPr lang="en-US" sz="1000" dirty="0"/>
          </a:p>
          <a:p>
            <a:pPr algn="ctr" indent="0" marL="0">
              <a:buNone/>
            </a:pPr>
            <a:r>
              <a:rPr lang="en-US" sz="1000" b="1" dirty="0">
                <a:solidFill>
                  <a:srgbClr val="FFFFFF"/>
                </a:solidFill>
                <a:latin typeface="Arial" pitchFamily="34" charset="0"/>
                <a:ea typeface="Arial" pitchFamily="34" charset="-122"/>
                <a:cs typeface="Arial" pitchFamily="34" charset="-120"/>
              </a:rPr>
              <a:t>On Time In Full</a:t>
            </a:r>
            <a:endParaRPr lang="en-US" sz="1000" dirty="0"/>
          </a:p>
        </p:txBody>
      </p:sp>
      <p:sp>
        <p:nvSpPr>
          <p:cNvPr id="21" name="Shape 18"/>
          <p:cNvSpPr/>
          <p:nvPr/>
        </p:nvSpPr>
        <p:spPr>
          <a:xfrm>
            <a:off x="8138160" y="1554480"/>
            <a:ext cx="3794760" cy="1051560"/>
          </a:xfrm>
          <a:prstGeom prst="rect">
            <a:avLst/>
          </a:prstGeom>
          <a:solidFill>
            <a:srgbClr val="F5F5F5"/>
          </a:solidFill>
          <a:ln w="6350">
            <a:solidFill>
              <a:srgbClr val="DDDDDD"/>
            </a:solidFill>
            <a:prstDash val="solid"/>
          </a:ln>
        </p:spPr>
      </p:sp>
      <p:sp>
        <p:nvSpPr>
          <p:cNvPr id="22" name="Text 19"/>
          <p:cNvSpPr/>
          <p:nvPr/>
        </p:nvSpPr>
        <p:spPr>
          <a:xfrm>
            <a:off x="8229600" y="1600200"/>
            <a:ext cx="3611880" cy="658368"/>
          </a:xfrm>
          <a:prstGeom prst="rect">
            <a:avLst/>
          </a:prstGeom>
          <a:noFill/>
          <a:ln/>
        </p:spPr>
        <p:txBody>
          <a:bodyPr wrap="square" rtlCol="0" anchor="ctr"/>
          <a:lstStyle/>
          <a:p>
            <a:pPr algn="ctr" indent="0" marL="0">
              <a:buNone/>
            </a:pPr>
            <a:r>
              <a:rPr lang="en-US" sz="2800" b="1" dirty="0">
                <a:solidFill>
                  <a:srgbClr val="009FE3"/>
                </a:solidFill>
                <a:latin typeface="Arial" pitchFamily="34" charset="0"/>
                <a:ea typeface="Arial" pitchFamily="34" charset="-122"/>
                <a:cs typeface="Arial" pitchFamily="34" charset="-120"/>
              </a:rPr>
              <a:t>[X%]</a:t>
            </a:r>
            <a:endParaRPr lang="en-US" sz="2800" dirty="0"/>
          </a:p>
        </p:txBody>
      </p:sp>
      <p:sp>
        <p:nvSpPr>
          <p:cNvPr id="23" name="Text 20"/>
          <p:cNvSpPr/>
          <p:nvPr/>
        </p:nvSpPr>
        <p:spPr>
          <a:xfrm>
            <a:off x="8229600" y="2212848"/>
            <a:ext cx="3611880" cy="201168"/>
          </a:xfrm>
          <a:prstGeom prst="rect">
            <a:avLst/>
          </a:prstGeom>
          <a:noFill/>
          <a:ln/>
        </p:spPr>
        <p:txBody>
          <a:bodyPr wrap="square" rtlCol="0" anchor="ctr"/>
          <a:lstStyle/>
          <a:p>
            <a:pPr algn="ctr" indent="0" marL="0">
              <a:buNone/>
            </a:pPr>
            <a:r>
              <a:rPr lang="en-US" sz="900" dirty="0">
                <a:solidFill>
                  <a:srgbClr val="5B595A"/>
                </a:solidFill>
                <a:latin typeface="Arial" pitchFamily="34" charset="0"/>
                <a:ea typeface="Arial" pitchFamily="34" charset="-122"/>
                <a:cs typeface="Arial" pitchFamily="34" charset="-120"/>
              </a:rPr>
              <a:t>Target: 95%</a:t>
            </a:r>
            <a:endParaRPr lang="en-US" sz="900" dirty="0"/>
          </a:p>
        </p:txBody>
      </p:sp>
      <p:sp>
        <p:nvSpPr>
          <p:cNvPr id="24" name="Text 21"/>
          <p:cNvSpPr/>
          <p:nvPr/>
        </p:nvSpPr>
        <p:spPr>
          <a:xfrm>
            <a:off x="8229600" y="2395728"/>
            <a:ext cx="3611880" cy="164592"/>
          </a:xfrm>
          <a:prstGeom prst="rect">
            <a:avLst/>
          </a:prstGeom>
          <a:noFill/>
          <a:ln/>
        </p:spPr>
        <p:txBody>
          <a:bodyPr wrap="square" rtlCol="0" anchor="ctr"/>
          <a:lstStyle/>
          <a:p>
            <a:pPr algn="ctr" indent="0" marL="0">
              <a:buNone/>
            </a:pPr>
            <a:r>
              <a:rPr lang="en-US" sz="850" i="1" dirty="0">
                <a:solidFill>
                  <a:srgbClr val="5B595A"/>
                </a:solidFill>
                <a:latin typeface="Arial" pitchFamily="34" charset="0"/>
                <a:ea typeface="Arial" pitchFamily="34" charset="-122"/>
                <a:cs typeface="Arial" pitchFamily="34" charset="-120"/>
              </a:rPr>
              <a:t>→ vs last month</a:t>
            </a:r>
            <a:endParaRPr lang="en-US" sz="850" dirty="0"/>
          </a:p>
        </p:txBody>
      </p:sp>
      <p:sp>
        <p:nvSpPr>
          <p:cNvPr id="25" name="Shape 22"/>
          <p:cNvSpPr/>
          <p:nvPr/>
        </p:nvSpPr>
        <p:spPr>
          <a:xfrm>
            <a:off x="182880" y="2788920"/>
            <a:ext cx="3794760" cy="457200"/>
          </a:xfrm>
          <a:prstGeom prst="rect">
            <a:avLst/>
          </a:prstGeom>
          <a:solidFill>
            <a:srgbClr val="FFC000"/>
          </a:solidFill>
          <a:ln/>
        </p:spPr>
      </p:sp>
      <p:sp>
        <p:nvSpPr>
          <p:cNvPr id="26" name="Text 23"/>
          <p:cNvSpPr/>
          <p:nvPr/>
        </p:nvSpPr>
        <p:spPr>
          <a:xfrm>
            <a:off x="274320" y="2825496"/>
            <a:ext cx="361188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COST</a:t>
            </a:r>
            <a:endParaRPr lang="en-US" sz="1000" dirty="0"/>
          </a:p>
          <a:p>
            <a:pPr algn="ctr" indent="0" marL="0">
              <a:buNone/>
            </a:pPr>
            <a:r>
              <a:rPr lang="en-US" sz="1000" b="1" dirty="0">
                <a:solidFill>
                  <a:srgbClr val="FFFFFF"/>
                </a:solidFill>
                <a:latin typeface="Arial" pitchFamily="34" charset="0"/>
                <a:ea typeface="Arial" pitchFamily="34" charset="-122"/>
                <a:cs typeface="Arial" pitchFamily="34" charset="-120"/>
              </a:rPr>
              <a:t>Scrap and Rework</a:t>
            </a:r>
            <a:endParaRPr lang="en-US" sz="1000" dirty="0"/>
          </a:p>
        </p:txBody>
      </p:sp>
      <p:sp>
        <p:nvSpPr>
          <p:cNvPr id="27" name="Shape 24"/>
          <p:cNvSpPr/>
          <p:nvPr/>
        </p:nvSpPr>
        <p:spPr>
          <a:xfrm>
            <a:off x="182880" y="3246120"/>
            <a:ext cx="3794760" cy="1051560"/>
          </a:xfrm>
          <a:prstGeom prst="rect">
            <a:avLst/>
          </a:prstGeom>
          <a:solidFill>
            <a:srgbClr val="F5F5F5"/>
          </a:solidFill>
          <a:ln w="6350">
            <a:solidFill>
              <a:srgbClr val="DDDDDD"/>
            </a:solidFill>
            <a:prstDash val="solid"/>
          </a:ln>
        </p:spPr>
      </p:sp>
      <p:sp>
        <p:nvSpPr>
          <p:cNvPr id="28" name="Text 25"/>
          <p:cNvSpPr/>
          <p:nvPr/>
        </p:nvSpPr>
        <p:spPr>
          <a:xfrm>
            <a:off x="274320" y="3291840"/>
            <a:ext cx="3611880" cy="658368"/>
          </a:xfrm>
          <a:prstGeom prst="rect">
            <a:avLst/>
          </a:prstGeom>
          <a:noFill/>
          <a:ln/>
        </p:spPr>
        <p:txBody>
          <a:bodyPr wrap="square" rtlCol="0" anchor="ctr"/>
          <a:lstStyle/>
          <a:p>
            <a:pPr algn="ctr" indent="0" marL="0">
              <a:buNone/>
            </a:pPr>
            <a:r>
              <a:rPr lang="en-US" sz="2800" b="1" dirty="0">
                <a:solidFill>
                  <a:srgbClr val="FFC000"/>
                </a:solidFill>
                <a:latin typeface="Arial" pitchFamily="34" charset="0"/>
                <a:ea typeface="Arial" pitchFamily="34" charset="-122"/>
                <a:cs typeface="Arial" pitchFamily="34" charset="-120"/>
              </a:rPr>
              <a:t>£[X]</a:t>
            </a:r>
            <a:endParaRPr lang="en-US" sz="2800" dirty="0"/>
          </a:p>
        </p:txBody>
      </p:sp>
      <p:sp>
        <p:nvSpPr>
          <p:cNvPr id="29" name="Text 26"/>
          <p:cNvSpPr/>
          <p:nvPr/>
        </p:nvSpPr>
        <p:spPr>
          <a:xfrm>
            <a:off x="274320" y="3904488"/>
            <a:ext cx="3611880" cy="201168"/>
          </a:xfrm>
          <a:prstGeom prst="rect">
            <a:avLst/>
          </a:prstGeom>
          <a:noFill/>
          <a:ln/>
        </p:spPr>
        <p:txBody>
          <a:bodyPr wrap="square" rtlCol="0" anchor="ctr"/>
          <a:lstStyle/>
          <a:p>
            <a:pPr algn="ctr" indent="0" marL="0">
              <a:buNone/>
            </a:pPr>
            <a:r>
              <a:rPr lang="en-US" sz="900" dirty="0">
                <a:solidFill>
                  <a:srgbClr val="5B595A"/>
                </a:solidFill>
                <a:latin typeface="Arial" pitchFamily="34" charset="0"/>
                <a:ea typeface="Arial" pitchFamily="34" charset="-122"/>
                <a:cs typeface="Arial" pitchFamily="34" charset="-120"/>
              </a:rPr>
              <a:t>Target: &lt;£[X]</a:t>
            </a:r>
            <a:endParaRPr lang="en-US" sz="900" dirty="0"/>
          </a:p>
        </p:txBody>
      </p:sp>
      <p:sp>
        <p:nvSpPr>
          <p:cNvPr id="30" name="Text 27"/>
          <p:cNvSpPr/>
          <p:nvPr/>
        </p:nvSpPr>
        <p:spPr>
          <a:xfrm>
            <a:off x="274320" y="4087368"/>
            <a:ext cx="3611880" cy="164592"/>
          </a:xfrm>
          <a:prstGeom prst="rect">
            <a:avLst/>
          </a:prstGeom>
          <a:noFill/>
          <a:ln/>
        </p:spPr>
        <p:txBody>
          <a:bodyPr wrap="square" rtlCol="0" anchor="ctr"/>
          <a:lstStyle/>
          <a:p>
            <a:pPr algn="ctr" indent="0" marL="0">
              <a:buNone/>
            </a:pPr>
            <a:r>
              <a:rPr lang="en-US" sz="850" i="1" dirty="0">
                <a:solidFill>
                  <a:srgbClr val="5B595A"/>
                </a:solidFill>
                <a:latin typeface="Arial" pitchFamily="34" charset="0"/>
                <a:ea typeface="Arial" pitchFamily="34" charset="-122"/>
                <a:cs typeface="Arial" pitchFamily="34" charset="-120"/>
              </a:rPr>
              <a:t>↓ vs last month</a:t>
            </a:r>
            <a:endParaRPr lang="en-US" sz="850" dirty="0"/>
          </a:p>
        </p:txBody>
      </p:sp>
      <p:sp>
        <p:nvSpPr>
          <p:cNvPr id="31" name="Shape 28"/>
          <p:cNvSpPr/>
          <p:nvPr/>
        </p:nvSpPr>
        <p:spPr>
          <a:xfrm>
            <a:off x="4160520" y="2788920"/>
            <a:ext cx="3794760" cy="457200"/>
          </a:xfrm>
          <a:prstGeom prst="rect">
            <a:avLst/>
          </a:prstGeom>
          <a:solidFill>
            <a:srgbClr val="2E7D32"/>
          </a:solidFill>
          <a:ln/>
        </p:spPr>
      </p:sp>
      <p:sp>
        <p:nvSpPr>
          <p:cNvPr id="32" name="Text 29"/>
          <p:cNvSpPr/>
          <p:nvPr/>
        </p:nvSpPr>
        <p:spPr>
          <a:xfrm>
            <a:off x="4251960" y="2825496"/>
            <a:ext cx="361188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PEOPLE</a:t>
            </a:r>
            <a:endParaRPr lang="en-US" sz="1000" dirty="0"/>
          </a:p>
          <a:p>
            <a:pPr algn="ctr" indent="0" marL="0">
              <a:buNone/>
            </a:pPr>
            <a:r>
              <a:rPr lang="en-US" sz="1000" b="1" dirty="0">
                <a:solidFill>
                  <a:srgbClr val="FFFFFF"/>
                </a:solidFill>
                <a:latin typeface="Arial" pitchFamily="34" charset="0"/>
                <a:ea typeface="Arial" pitchFamily="34" charset="-122"/>
                <a:cs typeface="Arial" pitchFamily="34" charset="-120"/>
              </a:rPr>
              <a:t>Ideas Submitted</a:t>
            </a:r>
            <a:endParaRPr lang="en-US" sz="1000" dirty="0"/>
          </a:p>
        </p:txBody>
      </p:sp>
      <p:sp>
        <p:nvSpPr>
          <p:cNvPr id="33" name="Shape 30"/>
          <p:cNvSpPr/>
          <p:nvPr/>
        </p:nvSpPr>
        <p:spPr>
          <a:xfrm>
            <a:off x="4160520" y="3246120"/>
            <a:ext cx="3794760" cy="1051560"/>
          </a:xfrm>
          <a:prstGeom prst="rect">
            <a:avLst/>
          </a:prstGeom>
          <a:solidFill>
            <a:srgbClr val="F5F5F5"/>
          </a:solidFill>
          <a:ln w="6350">
            <a:solidFill>
              <a:srgbClr val="DDDDDD"/>
            </a:solidFill>
            <a:prstDash val="solid"/>
          </a:ln>
        </p:spPr>
      </p:sp>
      <p:sp>
        <p:nvSpPr>
          <p:cNvPr id="34" name="Text 31"/>
          <p:cNvSpPr/>
          <p:nvPr/>
        </p:nvSpPr>
        <p:spPr>
          <a:xfrm>
            <a:off x="4251960" y="3291840"/>
            <a:ext cx="3611880" cy="658368"/>
          </a:xfrm>
          <a:prstGeom prst="rect">
            <a:avLst/>
          </a:prstGeom>
          <a:noFill/>
          <a:ln/>
        </p:spPr>
        <p:txBody>
          <a:bodyPr wrap="square" rtlCol="0" anchor="ctr"/>
          <a:lstStyle/>
          <a:p>
            <a:pPr algn="ctr" indent="0" marL="0">
              <a:buNone/>
            </a:pPr>
            <a:r>
              <a:rPr lang="en-US" sz="2800" b="1" dirty="0">
                <a:solidFill>
                  <a:srgbClr val="2E7D32"/>
                </a:solidFill>
                <a:latin typeface="Arial" pitchFamily="34" charset="0"/>
                <a:ea typeface="Arial" pitchFamily="34" charset="-122"/>
                <a:cs typeface="Arial" pitchFamily="34" charset="-120"/>
              </a:rPr>
              <a:t>[X]</a:t>
            </a:r>
            <a:endParaRPr lang="en-US" sz="2800" dirty="0"/>
          </a:p>
        </p:txBody>
      </p:sp>
      <p:sp>
        <p:nvSpPr>
          <p:cNvPr id="35" name="Text 32"/>
          <p:cNvSpPr/>
          <p:nvPr/>
        </p:nvSpPr>
        <p:spPr>
          <a:xfrm>
            <a:off x="4251960" y="3904488"/>
            <a:ext cx="3611880" cy="201168"/>
          </a:xfrm>
          <a:prstGeom prst="rect">
            <a:avLst/>
          </a:prstGeom>
          <a:noFill/>
          <a:ln/>
        </p:spPr>
        <p:txBody>
          <a:bodyPr wrap="square" rtlCol="0" anchor="ctr"/>
          <a:lstStyle/>
          <a:p>
            <a:pPr algn="ctr" indent="0" marL="0">
              <a:buNone/>
            </a:pPr>
            <a:r>
              <a:rPr lang="en-US" sz="900" dirty="0">
                <a:solidFill>
                  <a:srgbClr val="5B595A"/>
                </a:solidFill>
                <a:latin typeface="Arial" pitchFamily="34" charset="0"/>
                <a:ea typeface="Arial" pitchFamily="34" charset="-122"/>
                <a:cs typeface="Arial" pitchFamily="34" charset="-120"/>
              </a:rPr>
              <a:t>Target: [X]+</a:t>
            </a:r>
            <a:endParaRPr lang="en-US" sz="900" dirty="0"/>
          </a:p>
        </p:txBody>
      </p:sp>
      <p:sp>
        <p:nvSpPr>
          <p:cNvPr id="36" name="Text 33"/>
          <p:cNvSpPr/>
          <p:nvPr/>
        </p:nvSpPr>
        <p:spPr>
          <a:xfrm>
            <a:off x="4251960" y="4087368"/>
            <a:ext cx="3611880" cy="164592"/>
          </a:xfrm>
          <a:prstGeom prst="rect">
            <a:avLst/>
          </a:prstGeom>
          <a:noFill/>
          <a:ln/>
        </p:spPr>
        <p:txBody>
          <a:bodyPr wrap="square" rtlCol="0" anchor="ctr"/>
          <a:lstStyle/>
          <a:p>
            <a:pPr algn="ctr" indent="0" marL="0">
              <a:buNone/>
            </a:pPr>
            <a:r>
              <a:rPr lang="en-US" sz="850" i="1" dirty="0">
                <a:solidFill>
                  <a:srgbClr val="5B595A"/>
                </a:solidFill>
                <a:latin typeface="Arial" pitchFamily="34" charset="0"/>
                <a:ea typeface="Arial" pitchFamily="34" charset="-122"/>
                <a:cs typeface="Arial" pitchFamily="34" charset="-120"/>
              </a:rPr>
              <a:t>[X] implemented this month</a:t>
            </a:r>
            <a:endParaRPr lang="en-US" sz="850" dirty="0"/>
          </a:p>
        </p:txBody>
      </p:sp>
      <p:sp>
        <p:nvSpPr>
          <p:cNvPr id="37" name="Shape 34"/>
          <p:cNvSpPr/>
          <p:nvPr/>
        </p:nvSpPr>
        <p:spPr>
          <a:xfrm>
            <a:off x="8138160" y="2788920"/>
            <a:ext cx="3794760" cy="457200"/>
          </a:xfrm>
          <a:prstGeom prst="rect">
            <a:avLst/>
          </a:prstGeom>
          <a:solidFill>
            <a:srgbClr val="83348F"/>
          </a:solidFill>
          <a:ln/>
        </p:spPr>
      </p:sp>
      <p:sp>
        <p:nvSpPr>
          <p:cNvPr id="38" name="Text 35"/>
          <p:cNvSpPr/>
          <p:nvPr/>
        </p:nvSpPr>
        <p:spPr>
          <a:xfrm>
            <a:off x="8229600" y="2825496"/>
            <a:ext cx="361188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NUCLEAR</a:t>
            </a:r>
            <a:endParaRPr lang="en-US" sz="1000" dirty="0"/>
          </a:p>
          <a:p>
            <a:pPr algn="ctr" indent="0" marL="0">
              <a:buNone/>
            </a:pPr>
            <a:r>
              <a:rPr lang="en-US" sz="1000" b="1" dirty="0">
                <a:solidFill>
                  <a:srgbClr val="FFFFFF"/>
                </a:solidFill>
                <a:latin typeface="Arial" pitchFamily="34" charset="0"/>
                <a:ea typeface="Arial" pitchFamily="34" charset="-122"/>
                <a:cs typeface="Arial" pitchFamily="34" charset="-120"/>
              </a:rPr>
              <a:t>NCR Rate</a:t>
            </a:r>
            <a:endParaRPr lang="en-US" sz="1000" dirty="0"/>
          </a:p>
        </p:txBody>
      </p:sp>
      <p:sp>
        <p:nvSpPr>
          <p:cNvPr id="39" name="Shape 36"/>
          <p:cNvSpPr/>
          <p:nvPr/>
        </p:nvSpPr>
        <p:spPr>
          <a:xfrm>
            <a:off x="8138160" y="3246120"/>
            <a:ext cx="3794760" cy="1051560"/>
          </a:xfrm>
          <a:prstGeom prst="rect">
            <a:avLst/>
          </a:prstGeom>
          <a:solidFill>
            <a:srgbClr val="F5F5F5"/>
          </a:solidFill>
          <a:ln w="6350">
            <a:solidFill>
              <a:srgbClr val="DDDDDD"/>
            </a:solidFill>
            <a:prstDash val="solid"/>
          </a:ln>
        </p:spPr>
      </p:sp>
      <p:sp>
        <p:nvSpPr>
          <p:cNvPr id="40" name="Text 37"/>
          <p:cNvSpPr/>
          <p:nvPr/>
        </p:nvSpPr>
        <p:spPr>
          <a:xfrm>
            <a:off x="8229600" y="3291840"/>
            <a:ext cx="3611880" cy="658368"/>
          </a:xfrm>
          <a:prstGeom prst="rect">
            <a:avLst/>
          </a:prstGeom>
          <a:noFill/>
          <a:ln/>
        </p:spPr>
        <p:txBody>
          <a:bodyPr wrap="square" rtlCol="0" anchor="ctr"/>
          <a:lstStyle/>
          <a:p>
            <a:pPr algn="ctr" indent="0" marL="0">
              <a:buNone/>
            </a:pPr>
            <a:r>
              <a:rPr lang="en-US" sz="2800" b="1" dirty="0">
                <a:solidFill>
                  <a:srgbClr val="83348F"/>
                </a:solidFill>
                <a:latin typeface="Arial" pitchFamily="34" charset="0"/>
                <a:ea typeface="Arial" pitchFamily="34" charset="-122"/>
                <a:cs typeface="Arial" pitchFamily="34" charset="-120"/>
              </a:rPr>
              <a:t>[X]</a:t>
            </a:r>
            <a:endParaRPr lang="en-US" sz="2800" dirty="0"/>
          </a:p>
        </p:txBody>
      </p:sp>
      <p:sp>
        <p:nvSpPr>
          <p:cNvPr id="41" name="Text 38"/>
          <p:cNvSpPr/>
          <p:nvPr/>
        </p:nvSpPr>
        <p:spPr>
          <a:xfrm>
            <a:off x="8229600" y="3904488"/>
            <a:ext cx="3611880" cy="201168"/>
          </a:xfrm>
          <a:prstGeom prst="rect">
            <a:avLst/>
          </a:prstGeom>
          <a:noFill/>
          <a:ln/>
        </p:spPr>
        <p:txBody>
          <a:bodyPr wrap="square" rtlCol="0" anchor="ctr"/>
          <a:lstStyle/>
          <a:p>
            <a:pPr algn="ctr" indent="0" marL="0">
              <a:buNone/>
            </a:pPr>
            <a:r>
              <a:rPr lang="en-US" sz="900" dirty="0">
                <a:solidFill>
                  <a:srgbClr val="5B595A"/>
                </a:solidFill>
                <a:latin typeface="Arial" pitchFamily="34" charset="0"/>
                <a:ea typeface="Arial" pitchFamily="34" charset="-122"/>
                <a:cs typeface="Arial" pitchFamily="34" charset="-120"/>
              </a:rPr>
              <a:t>Target: 0 on QC1/2</a:t>
            </a:r>
            <a:endParaRPr lang="en-US" sz="900" dirty="0"/>
          </a:p>
        </p:txBody>
      </p:sp>
      <p:sp>
        <p:nvSpPr>
          <p:cNvPr id="42" name="Text 39"/>
          <p:cNvSpPr/>
          <p:nvPr/>
        </p:nvSpPr>
        <p:spPr>
          <a:xfrm>
            <a:off x="8229600" y="4087368"/>
            <a:ext cx="3611880" cy="164592"/>
          </a:xfrm>
          <a:prstGeom prst="rect">
            <a:avLst/>
          </a:prstGeom>
          <a:noFill/>
          <a:ln/>
        </p:spPr>
        <p:txBody>
          <a:bodyPr wrap="square" rtlCol="0" anchor="ctr"/>
          <a:lstStyle/>
          <a:p>
            <a:pPr algn="ctr" indent="0" marL="0">
              <a:buNone/>
            </a:pPr>
            <a:r>
              <a:rPr lang="en-US" sz="850" i="1" dirty="0">
                <a:solidFill>
                  <a:srgbClr val="5B595A"/>
                </a:solidFill>
                <a:latin typeface="Arial" pitchFamily="34" charset="0"/>
                <a:ea typeface="Arial" pitchFamily="34" charset="-122"/>
                <a:cs typeface="Arial" pitchFamily="34" charset="-120"/>
              </a:rPr>
              <a:t>vs last month</a:t>
            </a:r>
            <a:endParaRPr lang="en-US" sz="850" dirty="0"/>
          </a:p>
        </p:txBody>
      </p:sp>
      <p:sp>
        <p:nvSpPr>
          <p:cNvPr id="43" name="Shape 40"/>
          <p:cNvSpPr/>
          <p:nvPr/>
        </p:nvSpPr>
        <p:spPr>
          <a:xfrm>
            <a:off x="182880" y="4572000"/>
            <a:ext cx="11795760" cy="475488"/>
          </a:xfrm>
          <a:prstGeom prst="rect">
            <a:avLst/>
          </a:prstGeom>
          <a:solidFill>
            <a:srgbClr val="E6F4FB"/>
          </a:solidFill>
          <a:ln w="12700">
            <a:solidFill>
              <a:srgbClr val="009FE3"/>
            </a:solidFill>
            <a:prstDash val="solid"/>
          </a:ln>
        </p:spPr>
      </p:sp>
      <p:sp>
        <p:nvSpPr>
          <p:cNvPr id="44" name="Text 41"/>
          <p:cNvSpPr/>
          <p:nvPr/>
        </p:nvSpPr>
        <p:spPr>
          <a:xfrm>
            <a:off x="274320" y="4590288"/>
            <a:ext cx="11612880" cy="438912"/>
          </a:xfrm>
          <a:prstGeom prst="rect">
            <a:avLst/>
          </a:prstGeom>
          <a:noFill/>
          <a:ln/>
        </p:spPr>
        <p:txBody>
          <a:bodyPr wrap="square" rtlCol="0" anchor="ctr"/>
          <a:lstStyle/>
          <a:p>
            <a:pPr indent="0" marL="0">
              <a:buNone/>
            </a:pPr>
            <a:r>
              <a:rPr lang="en-US" sz="1200" b="1" dirty="0">
                <a:solidFill>
                  <a:srgbClr val="009FE3"/>
                </a:solidFill>
                <a:latin typeface="Arial" pitchFamily="34" charset="0"/>
                <a:ea typeface="Arial" pitchFamily="34" charset="-122"/>
                <a:cs typeface="Arial" pitchFamily="34" charset="-120"/>
              </a:rPr>
              <a:t>THIS MONTH'S FOCUS: [Write the team's main priority for the month here]</a:t>
            </a:r>
            <a:endParaRPr lang="en-US" sz="1200" dirty="0"/>
          </a:p>
        </p:txBody>
      </p:sp>
      <p:sp>
        <p:nvSpPr>
          <p:cNvPr id="45" name="Text 42"/>
          <p:cNvSpPr/>
          <p:nvPr/>
        </p:nvSpPr>
        <p:spPr>
          <a:xfrm>
            <a:off x="182880" y="6565392"/>
            <a:ext cx="11795760" cy="228600"/>
          </a:xfrm>
          <a:prstGeom prst="rect">
            <a:avLst/>
          </a:prstGeom>
          <a:noFill/>
          <a:ln/>
        </p:spPr>
        <p:txBody>
          <a:bodyPr wrap="square" rtlCol="0" anchor="ctr"/>
          <a:lstStyle/>
          <a:p>
            <a:pPr algn="ctr" indent="0" marL="0">
              <a:buNone/>
            </a:pPr>
            <a:r>
              <a:rPr lang="en-US" sz="900" dirty="0">
                <a:solidFill>
                  <a:srgbClr val="888888"/>
                </a:solidFill>
                <a:latin typeface="Arial" pitchFamily="34" charset="0"/>
                <a:ea typeface="Arial" pitchFamily="34" charset="-122"/>
                <a:cs typeface="Arial" pitchFamily="34" charset="-120"/>
              </a:rPr>
              <a:t>Updated by: [Name]  |  Date: [Date]  |  Next update: [Date]</a:t>
            </a:r>
            <a:endParaRPr lang="en-US" sz="900" dirty="0"/>
          </a:p>
        </p:txBody>
      </p:sp>
      <p:pic>
        <p:nvPicPr>
          <p:cNvPr id="46" name="Picture 45" descr="nuccol_logo.png"/>
          <p:cNvPicPr>
            <a:picLocks noChangeAspect="1"/>
          </p:cNvPicPr>
          <p:nvPr/>
        </p:nvPicPr>
        <p:blipFill>
          <a:blip r:embed="rId4"/>
          <a:stretch>
            <a:fillRect/>
          </a:stretch>
        </p:blipFill>
        <p:spPr>
          <a:xfrm>
            <a:off x="11515344" y="109728"/>
            <a:ext cx="566928" cy="566928"/>
          </a:xfrm>
          <a:prstGeom prst="rect">
            <a:avLst/>
          </a:prstGeom>
        </p:spPr>
      </p:pic>
      <p:pic>
        <p:nvPicPr>
          <p:cNvPr id="47" name="Picture 46" descr="f4n_logo.png"/>
          <p:cNvPicPr>
            <a:picLocks noChangeAspect="1"/>
          </p:cNvPicPr>
          <p:nvPr/>
        </p:nvPicPr>
        <p:blipFill>
          <a:blip r:embed="rId5"/>
          <a:stretch>
            <a:fillRect/>
          </a:stretch>
        </p:blipFill>
        <p:spPr>
          <a:xfrm>
            <a:off x="10755819" y="210312"/>
            <a:ext cx="540070" cy="365760"/>
          </a:xfrm>
          <a:prstGeom prst="rect">
            <a:avLst/>
          </a:prstGeom>
        </p:spPr>
      </p:pic>
      <p:sp>
        <p:nvSpPr>
          <p:cNvPr id="48" name="TextBox 47"/>
          <p:cNvSpPr txBox="1"/>
          <p:nvPr/>
        </p:nvSpPr>
        <p:spPr>
          <a:xfrm>
            <a:off x="0" y="6556248"/>
            <a:ext cx="12192000" cy="301752"/>
          </a:xfrm>
          <a:prstGeom prst="rect">
            <a:avLst/>
          </a:prstGeom>
          <a:solidFill>
            <a:srgbClr val="1C1C3A"/>
          </a:solidFill>
        </p:spPr>
        <p:txBody>
          <a:bodyPr wrap="none">
            <a:spAutoFit/>
          </a:bodyPr>
          <a:lstStyle/>
          <a:p>
            <a:pPr algn="ctr"/>
            <a:r>
              <a:rPr sz="600">
                <a:solidFill>
                  <a:srgbClr val="FFFFFF"/>
                </a:solidFill>
                <a:latin typeface="Calibri"/>
              </a:rPr>
              <a:t>NucCol | Nuclear Collaboration Ltd  ·  Fit For Nuclear Programme  ·  Commercial in Confidence    |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FFFFF"/>
          </a:solidFill>
          <a:ln/>
        </p:spPr>
      </p:sp>
      <p:sp>
        <p:nvSpPr>
          <p:cNvPr id="3" name="Shape 1"/>
          <p:cNvSpPr/>
          <p:nvPr/>
        </p:nvSpPr>
        <p:spPr>
          <a:xfrm>
            <a:off x="0" y="0"/>
            <a:ext cx="12161520" cy="1115568"/>
          </a:xfrm>
          <a:prstGeom prst="rect">
            <a:avLst/>
          </a:prstGeom>
          <a:solidFill>
            <a:srgbClr val="009FE3"/>
          </a:solidFill>
          <a:ln/>
        </p:spPr>
      </p:sp>
      <p:pic>
        <p:nvPicPr>
          <p:cNvPr id="4" name="Image 0" descr="preencoded.png">    </p:cNvPr>
          <p:cNvPicPr>
            <a:picLocks noChangeAspect="1"/>
          </p:cNvPicPr>
          <p:nvPr/>
        </p:nvPicPr>
        <p:blipFill>
          <a:blip r:embed="rId1"/>
          <a:stretch>
            <a:fillRect/>
          </a:stretch>
        </p:blipFill>
        <p:spPr>
          <a:xfrm>
            <a:off x="274320" y="219456"/>
            <a:ext cx="1371600" cy="457200"/>
          </a:xfrm>
          <a:prstGeom prst="rect">
            <a:avLst/>
          </a:prstGeom>
        </p:spPr>
      </p:pic>
      <p:sp>
        <p:nvSpPr>
          <p:cNvPr id="5" name="Text 2"/>
          <p:cNvSpPr/>
          <p:nvPr/>
        </p:nvSpPr>
        <p:spPr>
          <a:xfrm>
            <a:off x="1828800" y="73152"/>
            <a:ext cx="8503920" cy="594360"/>
          </a:xfrm>
          <a:prstGeom prst="rect">
            <a:avLst/>
          </a:prstGeom>
          <a:noFill/>
          <a:ln/>
        </p:spPr>
        <p:txBody>
          <a:bodyPr wrap="square"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WORKING IN THE NUCLEAR SUPPLY CHAIN</a:t>
            </a:r>
            <a:endParaRPr lang="en-US" sz="2600" dirty="0"/>
          </a:p>
        </p:txBody>
      </p:sp>
      <p:sp>
        <p:nvSpPr>
          <p:cNvPr id="6" name="Text 3"/>
          <p:cNvSpPr/>
          <p:nvPr/>
        </p:nvSpPr>
        <p:spPr>
          <a:xfrm>
            <a:off x="1828800" y="658368"/>
            <a:ext cx="8503920" cy="329184"/>
          </a:xfrm>
          <a:prstGeom prst="rect">
            <a:avLst/>
          </a:prstGeom>
          <a:noFill/>
          <a:ln/>
        </p:spPr>
        <p:txBody>
          <a:bodyPr wrap="square" rtlCol="0" anchor="ctr"/>
          <a:lstStyle/>
          <a:p>
            <a:pPr algn="ctr" indent="0" marL="0">
              <a:buNone/>
            </a:pPr>
            <a:r>
              <a:rPr lang="en-US" sz="1400" dirty="0">
                <a:solidFill>
                  <a:srgbClr val="DDEEFF"/>
                </a:solidFill>
                <a:latin typeface="Arial" pitchFamily="34" charset="0"/>
                <a:ea typeface="Arial" pitchFamily="34" charset="-122"/>
                <a:cs typeface="Arial" pitchFamily="34" charset="-120"/>
              </a:rPr>
              <a:t>What makes us different. What makes us trusted.</a:t>
            </a:r>
            <a:endParaRPr lang="en-US" sz="1400" dirty="0"/>
          </a:p>
        </p:txBody>
      </p:sp>
      <p:sp>
        <p:nvSpPr>
          <p:cNvPr id="7" name="Shape 4"/>
          <p:cNvSpPr/>
          <p:nvPr/>
        </p:nvSpPr>
        <p:spPr>
          <a:xfrm>
            <a:off x="182880" y="1207008"/>
            <a:ext cx="438912" cy="1719072"/>
          </a:xfrm>
          <a:prstGeom prst="rect">
            <a:avLst/>
          </a:prstGeom>
          <a:solidFill>
            <a:srgbClr val="009FE3"/>
          </a:solidFill>
          <a:ln/>
        </p:spPr>
      </p:sp>
      <p:sp>
        <p:nvSpPr>
          <p:cNvPr id="8" name="Text 5"/>
          <p:cNvSpPr/>
          <p:nvPr/>
        </p:nvSpPr>
        <p:spPr>
          <a:xfrm>
            <a:off x="210312" y="1792224"/>
            <a:ext cx="384048" cy="54864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9" name="Shape 6"/>
          <p:cNvSpPr/>
          <p:nvPr/>
        </p:nvSpPr>
        <p:spPr>
          <a:xfrm>
            <a:off x="621792" y="1207008"/>
            <a:ext cx="5367528" cy="1719072"/>
          </a:xfrm>
          <a:prstGeom prst="rect">
            <a:avLst/>
          </a:prstGeom>
          <a:solidFill>
            <a:srgbClr val="F5F5F5"/>
          </a:solidFill>
          <a:ln w="6350">
            <a:solidFill>
              <a:srgbClr val="DDDDDD"/>
            </a:solidFill>
            <a:prstDash val="solid"/>
          </a:ln>
        </p:spPr>
      </p:sp>
      <p:sp>
        <p:nvSpPr>
          <p:cNvPr id="10" name="Text 7"/>
          <p:cNvSpPr/>
          <p:nvPr/>
        </p:nvSpPr>
        <p:spPr>
          <a:xfrm>
            <a:off x="731520" y="1298448"/>
            <a:ext cx="5148072" cy="384048"/>
          </a:xfrm>
          <a:prstGeom prst="rect">
            <a:avLst/>
          </a:prstGeom>
          <a:noFill/>
          <a:ln/>
        </p:spPr>
        <p:txBody>
          <a:bodyPr wrap="square" rtlCol="0" anchor="ctr"/>
          <a:lstStyle/>
          <a:p>
            <a:pPr indent="0" marL="0">
              <a:buNone/>
            </a:pPr>
            <a:r>
              <a:rPr lang="en-US" sz="1050" b="1" dirty="0">
                <a:solidFill>
                  <a:srgbClr val="009FE3"/>
                </a:solidFill>
                <a:latin typeface="Arial" pitchFamily="34" charset="0"/>
                <a:ea typeface="Arial" pitchFamily="34" charset="-122"/>
                <a:cs typeface="Arial" pitchFamily="34" charset="-120"/>
              </a:rPr>
              <a:t>Why does nuclear quality matter so much?</a:t>
            </a:r>
            <a:endParaRPr lang="en-US" sz="1050" dirty="0"/>
          </a:p>
        </p:txBody>
      </p:sp>
      <p:sp>
        <p:nvSpPr>
          <p:cNvPr id="11" name="Text 8"/>
          <p:cNvSpPr/>
          <p:nvPr/>
        </p:nvSpPr>
        <p:spPr>
          <a:xfrm>
            <a:off x="731520" y="1709928"/>
            <a:ext cx="5148072" cy="1097280"/>
          </a:xfrm>
          <a:prstGeom prst="rect">
            <a:avLst/>
          </a:prstGeom>
          <a:noFill/>
          <a:ln/>
        </p:spPr>
        <p:txBody>
          <a:bodyPr wrap="square" rtlCol="0" anchor="t"/>
          <a:lstStyle/>
          <a:p>
            <a:pPr indent="0" marL="0">
              <a:buNone/>
            </a:pPr>
            <a:r>
              <a:rPr lang="en-US" sz="1000" dirty="0">
                <a:solidFill>
                  <a:srgbClr val="5B595A"/>
                </a:solidFill>
                <a:latin typeface="Arial" pitchFamily="34" charset="0"/>
                <a:ea typeface="Arial" pitchFamily="34" charset="-122"/>
                <a:cs typeface="Arial" pitchFamily="34" charset="-120"/>
              </a:rPr>
              <a:t>Components in a nuclear facility can be in service for 60 years. The work you do today may be relied upon by people who have not yet been born. That is why we get it right.</a:t>
            </a:r>
            <a:endParaRPr lang="en-US" sz="1000" dirty="0"/>
          </a:p>
        </p:txBody>
      </p:sp>
      <p:sp>
        <p:nvSpPr>
          <p:cNvPr id="12" name="Shape 9"/>
          <p:cNvSpPr/>
          <p:nvPr/>
        </p:nvSpPr>
        <p:spPr>
          <a:xfrm>
            <a:off x="6172200" y="1207008"/>
            <a:ext cx="438912" cy="1719072"/>
          </a:xfrm>
          <a:prstGeom prst="rect">
            <a:avLst/>
          </a:prstGeom>
          <a:solidFill>
            <a:srgbClr val="83348F"/>
          </a:solidFill>
          <a:ln/>
        </p:spPr>
      </p:sp>
      <p:sp>
        <p:nvSpPr>
          <p:cNvPr id="13" name="Text 10"/>
          <p:cNvSpPr/>
          <p:nvPr/>
        </p:nvSpPr>
        <p:spPr>
          <a:xfrm>
            <a:off x="6199632" y="1792224"/>
            <a:ext cx="384048" cy="54864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4" name="Shape 11"/>
          <p:cNvSpPr/>
          <p:nvPr/>
        </p:nvSpPr>
        <p:spPr>
          <a:xfrm>
            <a:off x="6611112" y="1207008"/>
            <a:ext cx="5367528" cy="1719072"/>
          </a:xfrm>
          <a:prstGeom prst="rect">
            <a:avLst/>
          </a:prstGeom>
          <a:solidFill>
            <a:srgbClr val="F5F5F5"/>
          </a:solidFill>
          <a:ln w="6350">
            <a:solidFill>
              <a:srgbClr val="DDDDDD"/>
            </a:solidFill>
            <a:prstDash val="solid"/>
          </a:ln>
        </p:spPr>
      </p:sp>
      <p:sp>
        <p:nvSpPr>
          <p:cNvPr id="15" name="Text 12"/>
          <p:cNvSpPr/>
          <p:nvPr/>
        </p:nvSpPr>
        <p:spPr>
          <a:xfrm>
            <a:off x="6720840" y="1298448"/>
            <a:ext cx="5148072" cy="384048"/>
          </a:xfrm>
          <a:prstGeom prst="rect">
            <a:avLst/>
          </a:prstGeom>
          <a:noFill/>
          <a:ln/>
        </p:spPr>
        <p:txBody>
          <a:bodyPr wrap="square" rtlCol="0" anchor="ctr"/>
          <a:lstStyle/>
          <a:p>
            <a:pPr indent="0" marL="0">
              <a:buNone/>
            </a:pPr>
            <a:r>
              <a:rPr lang="en-US" sz="1050" b="1" dirty="0">
                <a:solidFill>
                  <a:srgbClr val="83348F"/>
                </a:solidFill>
                <a:latin typeface="Arial" pitchFamily="34" charset="0"/>
                <a:ea typeface="Arial" pitchFamily="34" charset="-122"/>
                <a:cs typeface="Arial" pitchFamily="34" charset="-120"/>
              </a:rPr>
              <a:t>What does conservative decision-making mean?</a:t>
            </a:r>
            <a:endParaRPr lang="en-US" sz="1050" dirty="0"/>
          </a:p>
        </p:txBody>
      </p:sp>
      <p:sp>
        <p:nvSpPr>
          <p:cNvPr id="16" name="Text 13"/>
          <p:cNvSpPr/>
          <p:nvPr/>
        </p:nvSpPr>
        <p:spPr>
          <a:xfrm>
            <a:off x="6720840" y="1709928"/>
            <a:ext cx="5148072" cy="1097280"/>
          </a:xfrm>
          <a:prstGeom prst="rect">
            <a:avLst/>
          </a:prstGeom>
          <a:noFill/>
          <a:ln/>
        </p:spPr>
        <p:txBody>
          <a:bodyPr wrap="square" rtlCol="0" anchor="t"/>
          <a:lstStyle/>
          <a:p>
            <a:pPr indent="0" marL="0">
              <a:buNone/>
            </a:pPr>
            <a:r>
              <a:rPr lang="en-US" sz="1000" dirty="0">
                <a:solidFill>
                  <a:srgbClr val="5B595A"/>
                </a:solidFill>
                <a:latin typeface="Arial" pitchFamily="34" charset="0"/>
                <a:ea typeface="Arial" pitchFamily="34" charset="-122"/>
                <a:cs typeface="Arial" pitchFamily="34" charset="-120"/>
              </a:rPr>
              <a:t>When in doubt, stop and ask. In nuclear, the cost of stopping to verify is always less than the cost of getting it wrong. You have the authority to stop your own work at any time.</a:t>
            </a:r>
            <a:endParaRPr lang="en-US" sz="1000" dirty="0"/>
          </a:p>
        </p:txBody>
      </p:sp>
      <p:sp>
        <p:nvSpPr>
          <p:cNvPr id="17" name="Shape 14"/>
          <p:cNvSpPr/>
          <p:nvPr/>
        </p:nvSpPr>
        <p:spPr>
          <a:xfrm>
            <a:off x="182880" y="3035808"/>
            <a:ext cx="438912" cy="1719072"/>
          </a:xfrm>
          <a:prstGeom prst="rect">
            <a:avLst/>
          </a:prstGeom>
          <a:solidFill>
            <a:srgbClr val="009FE3"/>
          </a:solidFill>
          <a:ln/>
        </p:spPr>
      </p:sp>
      <p:sp>
        <p:nvSpPr>
          <p:cNvPr id="18" name="Text 15"/>
          <p:cNvSpPr/>
          <p:nvPr/>
        </p:nvSpPr>
        <p:spPr>
          <a:xfrm>
            <a:off x="210312" y="3621024"/>
            <a:ext cx="384048" cy="54864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9" name="Shape 16"/>
          <p:cNvSpPr/>
          <p:nvPr/>
        </p:nvSpPr>
        <p:spPr>
          <a:xfrm>
            <a:off x="621792" y="3035808"/>
            <a:ext cx="5367528" cy="1719072"/>
          </a:xfrm>
          <a:prstGeom prst="rect">
            <a:avLst/>
          </a:prstGeom>
          <a:solidFill>
            <a:srgbClr val="F5F5F5"/>
          </a:solidFill>
          <a:ln w="6350">
            <a:solidFill>
              <a:srgbClr val="DDDDDD"/>
            </a:solidFill>
            <a:prstDash val="solid"/>
          </a:ln>
        </p:spPr>
      </p:sp>
      <p:sp>
        <p:nvSpPr>
          <p:cNvPr id="20" name="Text 17"/>
          <p:cNvSpPr/>
          <p:nvPr/>
        </p:nvSpPr>
        <p:spPr>
          <a:xfrm>
            <a:off x="731520" y="3127248"/>
            <a:ext cx="5148072" cy="384048"/>
          </a:xfrm>
          <a:prstGeom prst="rect">
            <a:avLst/>
          </a:prstGeom>
          <a:noFill/>
          <a:ln/>
        </p:spPr>
        <p:txBody>
          <a:bodyPr wrap="square" rtlCol="0" anchor="ctr"/>
          <a:lstStyle/>
          <a:p>
            <a:pPr indent="0" marL="0">
              <a:buNone/>
            </a:pPr>
            <a:r>
              <a:rPr lang="en-US" sz="1050" b="1" dirty="0">
                <a:solidFill>
                  <a:srgbClr val="009FE3"/>
                </a:solidFill>
                <a:latin typeface="Arial" pitchFamily="34" charset="0"/>
                <a:ea typeface="Arial" pitchFamily="34" charset="-122"/>
                <a:cs typeface="Arial" pitchFamily="34" charset="-120"/>
              </a:rPr>
              <a:t>What is graded quality?</a:t>
            </a:r>
            <a:endParaRPr lang="en-US" sz="1050" dirty="0"/>
          </a:p>
        </p:txBody>
      </p:sp>
      <p:sp>
        <p:nvSpPr>
          <p:cNvPr id="21" name="Text 18"/>
          <p:cNvSpPr/>
          <p:nvPr/>
        </p:nvSpPr>
        <p:spPr>
          <a:xfrm>
            <a:off x="731520" y="3538728"/>
            <a:ext cx="5148072" cy="1097280"/>
          </a:xfrm>
          <a:prstGeom prst="rect">
            <a:avLst/>
          </a:prstGeom>
          <a:noFill/>
          <a:ln/>
        </p:spPr>
        <p:txBody>
          <a:bodyPr wrap="square" rtlCol="0" anchor="t"/>
          <a:lstStyle/>
          <a:p>
            <a:pPr indent="0" marL="0">
              <a:buNone/>
            </a:pPr>
            <a:r>
              <a:rPr lang="en-US" sz="1000" dirty="0">
                <a:solidFill>
                  <a:srgbClr val="5B595A"/>
                </a:solidFill>
                <a:latin typeface="Arial" pitchFamily="34" charset="0"/>
                <a:ea typeface="Arial" pitchFamily="34" charset="-122"/>
                <a:cs typeface="Arial" pitchFamily="34" charset="-120"/>
              </a:rPr>
              <a:t>Not every component has the same safety significance. QC1 items are safety-critical and need 100% inspection. QC4 items are commercial standard. The classification determines how we work.</a:t>
            </a:r>
            <a:endParaRPr lang="en-US" sz="1000" dirty="0"/>
          </a:p>
        </p:txBody>
      </p:sp>
      <p:sp>
        <p:nvSpPr>
          <p:cNvPr id="22" name="Shape 19"/>
          <p:cNvSpPr/>
          <p:nvPr/>
        </p:nvSpPr>
        <p:spPr>
          <a:xfrm>
            <a:off x="6172200" y="3035808"/>
            <a:ext cx="438912" cy="1719072"/>
          </a:xfrm>
          <a:prstGeom prst="rect">
            <a:avLst/>
          </a:prstGeom>
          <a:solidFill>
            <a:srgbClr val="83348F"/>
          </a:solidFill>
          <a:ln/>
        </p:spPr>
      </p:sp>
      <p:sp>
        <p:nvSpPr>
          <p:cNvPr id="23" name="Text 20"/>
          <p:cNvSpPr/>
          <p:nvPr/>
        </p:nvSpPr>
        <p:spPr>
          <a:xfrm>
            <a:off x="6199632" y="3621024"/>
            <a:ext cx="384048" cy="54864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24" name="Shape 21"/>
          <p:cNvSpPr/>
          <p:nvPr/>
        </p:nvSpPr>
        <p:spPr>
          <a:xfrm>
            <a:off x="6611112" y="3035808"/>
            <a:ext cx="5367528" cy="1719072"/>
          </a:xfrm>
          <a:prstGeom prst="rect">
            <a:avLst/>
          </a:prstGeom>
          <a:solidFill>
            <a:srgbClr val="F5F5F5"/>
          </a:solidFill>
          <a:ln w="6350">
            <a:solidFill>
              <a:srgbClr val="DDDDDD"/>
            </a:solidFill>
            <a:prstDash val="solid"/>
          </a:ln>
        </p:spPr>
      </p:sp>
      <p:sp>
        <p:nvSpPr>
          <p:cNvPr id="25" name="Text 22"/>
          <p:cNvSpPr/>
          <p:nvPr/>
        </p:nvSpPr>
        <p:spPr>
          <a:xfrm>
            <a:off x="6720840" y="3127248"/>
            <a:ext cx="5148072" cy="384048"/>
          </a:xfrm>
          <a:prstGeom prst="rect">
            <a:avLst/>
          </a:prstGeom>
          <a:noFill/>
          <a:ln/>
        </p:spPr>
        <p:txBody>
          <a:bodyPr wrap="square" rtlCol="0" anchor="ctr"/>
          <a:lstStyle/>
          <a:p>
            <a:pPr indent="0" marL="0">
              <a:buNone/>
            </a:pPr>
            <a:r>
              <a:rPr lang="en-US" sz="1050" b="1" dirty="0">
                <a:solidFill>
                  <a:srgbClr val="83348F"/>
                </a:solidFill>
                <a:latin typeface="Arial" pitchFamily="34" charset="0"/>
                <a:ea typeface="Arial" pitchFamily="34" charset="-122"/>
                <a:cs typeface="Arial" pitchFamily="34" charset="-120"/>
              </a:rPr>
              <a:t>Why does traceability matter so much?</a:t>
            </a:r>
            <a:endParaRPr lang="en-US" sz="1050" dirty="0"/>
          </a:p>
        </p:txBody>
      </p:sp>
      <p:sp>
        <p:nvSpPr>
          <p:cNvPr id="26" name="Text 23"/>
          <p:cNvSpPr/>
          <p:nvPr/>
        </p:nvSpPr>
        <p:spPr>
          <a:xfrm>
            <a:off x="6720840" y="3538728"/>
            <a:ext cx="5148072" cy="1097280"/>
          </a:xfrm>
          <a:prstGeom prst="rect">
            <a:avLst/>
          </a:prstGeom>
          <a:noFill/>
          <a:ln/>
        </p:spPr>
        <p:txBody>
          <a:bodyPr wrap="square" rtlCol="0" anchor="t"/>
          <a:lstStyle/>
          <a:p>
            <a:pPr indent="0" marL="0">
              <a:buNone/>
            </a:pPr>
            <a:r>
              <a:rPr lang="en-US" sz="1000" dirty="0">
                <a:solidFill>
                  <a:srgbClr val="5B595A"/>
                </a:solidFill>
                <a:latin typeface="Arial" pitchFamily="34" charset="0"/>
                <a:ea typeface="Arial" pitchFamily="34" charset="-122"/>
                <a:cs typeface="Arial" pitchFamily="34" charset="-120"/>
              </a:rPr>
              <a:t>Nuclear facilities need to trace every component back to its raw material source, sometimes decades later. That is why we never remove identification marks and always complete our travellers.</a:t>
            </a:r>
            <a:endParaRPr lang="en-US" sz="1000" dirty="0"/>
          </a:p>
        </p:txBody>
      </p:sp>
      <p:sp>
        <p:nvSpPr>
          <p:cNvPr id="27" name="Shape 24"/>
          <p:cNvSpPr/>
          <p:nvPr/>
        </p:nvSpPr>
        <p:spPr>
          <a:xfrm>
            <a:off x="182880" y="4864608"/>
            <a:ext cx="438912" cy="1719072"/>
          </a:xfrm>
          <a:prstGeom prst="rect">
            <a:avLst/>
          </a:prstGeom>
          <a:solidFill>
            <a:srgbClr val="009FE3"/>
          </a:solidFill>
          <a:ln/>
        </p:spPr>
      </p:sp>
      <p:sp>
        <p:nvSpPr>
          <p:cNvPr id="28" name="Text 25"/>
          <p:cNvSpPr/>
          <p:nvPr/>
        </p:nvSpPr>
        <p:spPr>
          <a:xfrm>
            <a:off x="210312" y="5449824"/>
            <a:ext cx="384048" cy="54864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5</a:t>
            </a:r>
            <a:endParaRPr lang="en-US" sz="2000" dirty="0"/>
          </a:p>
        </p:txBody>
      </p:sp>
      <p:sp>
        <p:nvSpPr>
          <p:cNvPr id="29" name="Shape 26"/>
          <p:cNvSpPr/>
          <p:nvPr/>
        </p:nvSpPr>
        <p:spPr>
          <a:xfrm>
            <a:off x="621792" y="4864608"/>
            <a:ext cx="5367528" cy="1719072"/>
          </a:xfrm>
          <a:prstGeom prst="rect">
            <a:avLst/>
          </a:prstGeom>
          <a:solidFill>
            <a:srgbClr val="F5F5F5"/>
          </a:solidFill>
          <a:ln w="6350">
            <a:solidFill>
              <a:srgbClr val="DDDDDD"/>
            </a:solidFill>
            <a:prstDash val="solid"/>
          </a:ln>
        </p:spPr>
      </p:sp>
      <p:sp>
        <p:nvSpPr>
          <p:cNvPr id="30" name="Text 27"/>
          <p:cNvSpPr/>
          <p:nvPr/>
        </p:nvSpPr>
        <p:spPr>
          <a:xfrm>
            <a:off x="731520" y="4956048"/>
            <a:ext cx="5148072" cy="384048"/>
          </a:xfrm>
          <a:prstGeom prst="rect">
            <a:avLst/>
          </a:prstGeom>
          <a:noFill/>
          <a:ln/>
        </p:spPr>
        <p:txBody>
          <a:bodyPr wrap="square" rtlCol="0" anchor="ctr"/>
          <a:lstStyle/>
          <a:p>
            <a:pPr indent="0" marL="0">
              <a:buNone/>
            </a:pPr>
            <a:r>
              <a:rPr lang="en-US" sz="1050" b="1" dirty="0">
                <a:solidFill>
                  <a:srgbClr val="009FE3"/>
                </a:solidFill>
                <a:latin typeface="Arial" pitchFamily="34" charset="0"/>
                <a:ea typeface="Arial" pitchFamily="34" charset="-122"/>
                <a:cs typeface="Arial" pitchFamily="34" charset="-120"/>
              </a:rPr>
              <a:t>What is CFSI and why should I care?</a:t>
            </a:r>
            <a:endParaRPr lang="en-US" sz="1050" dirty="0"/>
          </a:p>
        </p:txBody>
      </p:sp>
      <p:sp>
        <p:nvSpPr>
          <p:cNvPr id="31" name="Text 28"/>
          <p:cNvSpPr/>
          <p:nvPr/>
        </p:nvSpPr>
        <p:spPr>
          <a:xfrm>
            <a:off x="731520" y="5367528"/>
            <a:ext cx="5148072" cy="1097280"/>
          </a:xfrm>
          <a:prstGeom prst="rect">
            <a:avLst/>
          </a:prstGeom>
          <a:noFill/>
          <a:ln/>
        </p:spPr>
        <p:txBody>
          <a:bodyPr wrap="square" rtlCol="0" anchor="t"/>
          <a:lstStyle/>
          <a:p>
            <a:pPr indent="0" marL="0">
              <a:buNone/>
            </a:pPr>
            <a:r>
              <a:rPr lang="en-US" sz="1000" dirty="0">
                <a:solidFill>
                  <a:srgbClr val="5B595A"/>
                </a:solidFill>
                <a:latin typeface="Arial" pitchFamily="34" charset="0"/>
                <a:ea typeface="Arial" pitchFamily="34" charset="-122"/>
                <a:cs typeface="Arial" pitchFamily="34" charset="-120"/>
              </a:rPr>
              <a:t>Counterfeit, Fraudulent, and Suspect Items are a real risk. A fake component in a nuclear plant could cause a safety event. At goods receipt, check every delivery. If it looks wrong, quarantine it.</a:t>
            </a:r>
            <a:endParaRPr lang="en-US" sz="1000" dirty="0"/>
          </a:p>
        </p:txBody>
      </p:sp>
      <p:sp>
        <p:nvSpPr>
          <p:cNvPr id="32" name="Shape 29"/>
          <p:cNvSpPr/>
          <p:nvPr/>
        </p:nvSpPr>
        <p:spPr>
          <a:xfrm>
            <a:off x="6172200" y="4864608"/>
            <a:ext cx="438912" cy="1719072"/>
          </a:xfrm>
          <a:prstGeom prst="rect">
            <a:avLst/>
          </a:prstGeom>
          <a:solidFill>
            <a:srgbClr val="83348F"/>
          </a:solidFill>
          <a:ln/>
        </p:spPr>
      </p:sp>
      <p:sp>
        <p:nvSpPr>
          <p:cNvPr id="33" name="Text 30"/>
          <p:cNvSpPr/>
          <p:nvPr/>
        </p:nvSpPr>
        <p:spPr>
          <a:xfrm>
            <a:off x="6199632" y="5449824"/>
            <a:ext cx="384048" cy="54864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6</a:t>
            </a:r>
            <a:endParaRPr lang="en-US" sz="2000" dirty="0"/>
          </a:p>
        </p:txBody>
      </p:sp>
      <p:sp>
        <p:nvSpPr>
          <p:cNvPr id="34" name="Shape 31"/>
          <p:cNvSpPr/>
          <p:nvPr/>
        </p:nvSpPr>
        <p:spPr>
          <a:xfrm>
            <a:off x="6611112" y="4864608"/>
            <a:ext cx="5367528" cy="1719072"/>
          </a:xfrm>
          <a:prstGeom prst="rect">
            <a:avLst/>
          </a:prstGeom>
          <a:solidFill>
            <a:srgbClr val="F5F5F5"/>
          </a:solidFill>
          <a:ln w="6350">
            <a:solidFill>
              <a:srgbClr val="DDDDDD"/>
            </a:solidFill>
            <a:prstDash val="solid"/>
          </a:ln>
        </p:spPr>
      </p:sp>
      <p:sp>
        <p:nvSpPr>
          <p:cNvPr id="35" name="Text 32"/>
          <p:cNvSpPr/>
          <p:nvPr/>
        </p:nvSpPr>
        <p:spPr>
          <a:xfrm>
            <a:off x="6720840" y="4956048"/>
            <a:ext cx="5148072" cy="384048"/>
          </a:xfrm>
          <a:prstGeom prst="rect">
            <a:avLst/>
          </a:prstGeom>
          <a:noFill/>
          <a:ln/>
        </p:spPr>
        <p:txBody>
          <a:bodyPr wrap="square" rtlCol="0" anchor="ctr"/>
          <a:lstStyle/>
          <a:p>
            <a:pPr indent="0" marL="0">
              <a:buNone/>
            </a:pPr>
            <a:r>
              <a:rPr lang="en-US" sz="1050" b="1" dirty="0">
                <a:solidFill>
                  <a:srgbClr val="83348F"/>
                </a:solidFill>
                <a:latin typeface="Arial" pitchFamily="34" charset="0"/>
                <a:ea typeface="Arial" pitchFamily="34" charset="-122"/>
                <a:cs typeface="Arial" pitchFamily="34" charset="-120"/>
              </a:rPr>
              <a:t>What is F4N?</a:t>
            </a:r>
            <a:endParaRPr lang="en-US" sz="1050" dirty="0"/>
          </a:p>
        </p:txBody>
      </p:sp>
      <p:sp>
        <p:nvSpPr>
          <p:cNvPr id="36" name="Text 33"/>
          <p:cNvSpPr/>
          <p:nvPr/>
        </p:nvSpPr>
        <p:spPr>
          <a:xfrm>
            <a:off x="6720840" y="5367528"/>
            <a:ext cx="5148072" cy="1097280"/>
          </a:xfrm>
          <a:prstGeom prst="rect">
            <a:avLst/>
          </a:prstGeom>
          <a:noFill/>
          <a:ln/>
        </p:spPr>
        <p:txBody>
          <a:bodyPr wrap="square" rtlCol="0" anchor="t"/>
          <a:lstStyle/>
          <a:p>
            <a:pPr indent="0" marL="0">
              <a:buNone/>
            </a:pPr>
            <a:r>
              <a:rPr lang="en-US" sz="1000" dirty="0">
                <a:solidFill>
                  <a:srgbClr val="5B595A"/>
                </a:solidFill>
                <a:latin typeface="Arial" pitchFamily="34" charset="0"/>
                <a:ea typeface="Arial" pitchFamily="34" charset="-122"/>
                <a:cs typeface="Arial" pitchFamily="34" charset="-120"/>
              </a:rPr>
              <a:t>Fit For Nuclear is how we demonstrate to nuclear customers that our quality, safety, and management systems are at the standard they require. Every one of us contributes to it every day.</a:t>
            </a:r>
            <a:endParaRPr lang="en-US" sz="1000" dirty="0"/>
          </a:p>
        </p:txBody>
      </p:sp>
      <p:pic>
        <p:nvPicPr>
          <p:cNvPr id="37" name="Picture 36" descr="nuccol_logo.png"/>
          <p:cNvPicPr>
            <a:picLocks noChangeAspect="1"/>
          </p:cNvPicPr>
          <p:nvPr/>
        </p:nvPicPr>
        <p:blipFill>
          <a:blip r:embed="rId4"/>
          <a:stretch>
            <a:fillRect/>
          </a:stretch>
        </p:blipFill>
        <p:spPr>
          <a:xfrm>
            <a:off x="11515344" y="109728"/>
            <a:ext cx="566928" cy="566928"/>
          </a:xfrm>
          <a:prstGeom prst="rect">
            <a:avLst/>
          </a:prstGeom>
        </p:spPr>
      </p:pic>
      <p:pic>
        <p:nvPicPr>
          <p:cNvPr id="38" name="Picture 37" descr="f4n_logo.png"/>
          <p:cNvPicPr>
            <a:picLocks noChangeAspect="1"/>
          </p:cNvPicPr>
          <p:nvPr/>
        </p:nvPicPr>
        <p:blipFill>
          <a:blip r:embed="rId5"/>
          <a:stretch>
            <a:fillRect/>
          </a:stretch>
        </p:blipFill>
        <p:spPr>
          <a:xfrm>
            <a:off x="10755819" y="210312"/>
            <a:ext cx="540070" cy="365760"/>
          </a:xfrm>
          <a:prstGeom prst="rect">
            <a:avLst/>
          </a:prstGeom>
        </p:spPr>
      </p:pic>
      <p:sp>
        <p:nvSpPr>
          <p:cNvPr id="39" name="TextBox 38"/>
          <p:cNvSpPr txBox="1"/>
          <p:nvPr/>
        </p:nvSpPr>
        <p:spPr>
          <a:xfrm>
            <a:off x="0" y="6556248"/>
            <a:ext cx="12192000" cy="301752"/>
          </a:xfrm>
          <a:prstGeom prst="rect">
            <a:avLst/>
          </a:prstGeom>
          <a:solidFill>
            <a:srgbClr val="1C1C3A"/>
          </a:solidFill>
        </p:spPr>
        <p:txBody>
          <a:bodyPr wrap="none">
            <a:spAutoFit/>
          </a:bodyPr>
          <a:lstStyle/>
          <a:p>
            <a:pPr algn="ctr"/>
            <a:r>
              <a:rPr sz="600">
                <a:solidFill>
                  <a:srgbClr val="FFFFFF"/>
                </a:solidFill>
                <a:latin typeface="Calibri"/>
              </a:rPr>
              <a:t>NucCol | Nuclear Collaboration Ltd  ·  Fit For Nuclear Programme  ·  Commercial in Confidence    |    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453F6056AA6464A99729F79B34ECED9" ma:contentTypeVersion="15" ma:contentTypeDescription="Create a new document." ma:contentTypeScope="" ma:versionID="5f61f7f6e9ac7af992ae58f204f4a905">
  <xsd:schema xmlns:xsd="http://www.w3.org/2001/XMLSchema" xmlns:xs="http://www.w3.org/2001/XMLSchema" xmlns:p="http://schemas.microsoft.com/office/2006/metadata/properties" xmlns:ns2="ecb9c8fd-b149-4da5-ae47-4cb2a6f921f7" xmlns:ns3="a57c75ee-0d51-4c06-b83a-21883992ef88" targetNamespace="http://schemas.microsoft.com/office/2006/metadata/properties" ma:root="true" ma:fieldsID="5bd49160a10d99efc7c2a57519ff9fe8" ns2:_="" ns3:_="">
    <xsd:import namespace="ecb9c8fd-b149-4da5-ae47-4cb2a6f921f7"/>
    <xsd:import namespace="a57c75ee-0d51-4c06-b83a-21883992ef88"/>
    <xsd:element name="properties">
      <xsd:complexType>
        <xsd:sequence>
          <xsd:element name="documentManagement">
            <xsd:complexType>
              <xsd:all>
                <xsd:element ref="ns2:MigrationSourceID" minOccurs="0"/>
                <xsd:element ref="ns3:MediaServiceMetadata" minOccurs="0"/>
                <xsd:element ref="ns3:MediaServiceFastMetadata" minOccurs="0"/>
                <xsd:element ref="ns3:MediaServiceSearchProperties" minOccurs="0"/>
                <xsd:element ref="ns3:MediaServiceObjectDetectorVersions" minOccurs="0"/>
                <xsd:element ref="ns3:MediaServiceDateTaken" minOccurs="0"/>
                <xsd:element ref="ns3:MediaServiceGenerationTime" minOccurs="0"/>
                <xsd:element ref="ns3:MediaServiceEventHashCode" minOccurs="0"/>
                <xsd:element ref="ns3:MediaLengthInSeconds" minOccurs="0"/>
                <xsd:element ref="ns3:MediaServiceBillingMetadata" minOccurs="0"/>
                <xsd:element ref="ns3:lcf76f155ced4ddcb4097134ff3c332f" minOccurs="0"/>
                <xsd:element ref="ns2:TaxCatchAll" minOccurs="0"/>
                <xsd:element ref="ns3:MediaServiceOCR"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cb9c8fd-b149-4da5-ae47-4cb2a6f921f7" elementFormDefault="qualified">
    <xsd:import namespace="http://schemas.microsoft.com/office/2006/documentManagement/types"/>
    <xsd:import namespace="http://schemas.microsoft.com/office/infopath/2007/PartnerControls"/>
    <xsd:element name="MigrationSourceID" ma:index="8" nillable="true" ma:displayName="MigrationSourceID" ma:internalName="MigrationSourceID" ma:readOnly="true">
      <xsd:simpleType>
        <xsd:restriction base="dms:Text"/>
      </xsd:simpleType>
    </xsd:element>
    <xsd:element name="TaxCatchAll" ma:index="20" nillable="true" ma:displayName="Taxonomy Catch All Column" ma:hidden="true" ma:list="{3bbffa37-1fb4-4f8b-a66f-2651692f13f0}" ma:internalName="TaxCatchAll" ma:showField="CatchAllData" ma:web="ecb9c8fd-b149-4da5-ae47-4cb2a6f921f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a57c75ee-0d51-4c06-b83a-21883992ef88" elementFormDefault="qualified">
    <xsd:import namespace="http://schemas.microsoft.com/office/2006/documentManagement/types"/>
    <xsd:import namespace="http://schemas.microsoft.com/office/infopath/2007/PartnerControls"/>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BillingMetadata" ma:index="17" nillable="true" ma:displayName="MediaServiceBillingMetadata" ma:hidden="true" ma:internalName="MediaServiceBillingMetadata" ma:readOnly="true">
      <xsd:simpleType>
        <xsd:restriction base="dms:Note"/>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323488a-041b-479c-b98c-53326eeb9fc5"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Location" ma:index="22"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ecb9c8fd-b149-4da5-ae47-4cb2a6f921f7" xsi:nil="true"/>
    <lcf76f155ced4ddcb4097134ff3c332f xmlns="a57c75ee-0d51-4c06-b83a-21883992ef88">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8F82A085-C3BB-4386-806A-B236E241F035}"/>
</file>

<file path=customXml/itemProps2.xml><?xml version="1.0" encoding="utf-8"?>
<ds:datastoreItem xmlns:ds="http://schemas.openxmlformats.org/officeDocument/2006/customXml" ds:itemID="{F32A612B-C6B4-446E-9179-0B20AA9D6942}"/>
</file>

<file path=customXml/itemProps3.xml><?xml version="1.0" encoding="utf-8"?>
<ds:datastoreItem xmlns:ds="http://schemas.openxmlformats.org/officeDocument/2006/customXml" ds:itemID="{52FF9469-E8CF-4203-B265-E0412B604F02}"/>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PEOP-14 Display Board Posters</dc:title>
  <dc:creator>John Hilton-Brammer</dc:creator>
  <cp:lastModifiedBy>John Hilton-Brammer</cp:lastModifiedBy>
  <dcterms:created xsi:type="dcterms:W3CDTF">2026-07-01T07:45:32Z</dcterms:created>
  <dcterms:modified xsi:type="dcterms:W3CDTF">2026-07-01T07:45:32Z</dcterms:modified>
  <cp:category>Fit For Nuclear</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0x0101002453F6056AA6464A99729F79B34ECED9</vt:lpwstr>
  </property>
</Properties>
</file>