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88720"/>
          </a:xfrm>
          <a:prstGeom prst="rect">
            <a:avLst/>
          </a:prstGeom>
          <a:solidFill>
            <a:srgbClr val="009FE3"/>
          </a:solidFill>
          <a:ln/>
        </p:spPr>
      </p:sp>
      <p:pic>
        <p:nvPicPr>
          <p:cNvPr id="4" name="Image 0" descr="preencoded.png">    </p:cNvPr>
          <p:cNvPicPr>
            <a:picLocks noChangeAspect="1"/>
          </p:cNvPicPr>
          <p:nvPr/>
        </p:nvPicPr>
        <p:blipFill>
          <a:blip r:embed="rId1"/>
          <a:stretch>
            <a:fillRect/>
          </a:stretch>
        </p:blipFill>
        <p:spPr>
          <a:xfrm>
            <a:off x="274320" y="228600"/>
            <a:ext cx="1463040" cy="484632"/>
          </a:xfrm>
          <a:prstGeom prst="rect">
            <a:avLst/>
          </a:prstGeom>
        </p:spPr>
      </p:pic>
      <p:sp>
        <p:nvSpPr>
          <p:cNvPr id="5" name="Text 2"/>
          <p:cNvSpPr/>
          <p:nvPr/>
        </p:nvSpPr>
        <p:spPr>
          <a:xfrm>
            <a:off x="2011680" y="73152"/>
            <a:ext cx="8138160" cy="658368"/>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OUR VALUES</a:t>
            </a:r>
            <a:endParaRPr lang="en-US" sz="3800" dirty="0"/>
          </a:p>
        </p:txBody>
      </p:sp>
      <p:sp>
        <p:nvSpPr>
          <p:cNvPr id="6" name="Text 3"/>
          <p:cNvSpPr/>
          <p:nvPr/>
        </p:nvSpPr>
        <p:spPr>
          <a:xfrm>
            <a:off x="2011680" y="713232"/>
            <a:ext cx="8138160" cy="347472"/>
          </a:xfrm>
          <a:prstGeom prst="rect">
            <a:avLst/>
          </a:prstGeom>
          <a:noFill/>
          <a:ln/>
        </p:spPr>
        <p:txBody>
          <a:bodyPr wrap="square" rtlCol="0" anchor="ctr"/>
          <a:lstStyle/>
          <a:p>
            <a:pPr algn="ctr" indent="0" marL="0">
              <a:buNone/>
            </a:pPr>
            <a:r>
              <a:rPr lang="en-US" sz="1300" dirty="0">
                <a:solidFill>
                  <a:srgbClr val="DDEEFF"/>
                </a:solidFill>
                <a:latin typeface="Arial" pitchFamily="34" charset="0"/>
                <a:ea typeface="Arial" pitchFamily="34" charset="-122"/>
                <a:cs typeface="Arial" pitchFamily="34" charset="-120"/>
              </a:rPr>
              <a:t>These are the principles that guide everything we do — every job, every day.</a:t>
            </a:r>
            <a:endParaRPr lang="en-US" sz="1300" dirty="0"/>
          </a:p>
        </p:txBody>
      </p:sp>
      <p:sp>
        <p:nvSpPr>
          <p:cNvPr id="7" name="Shape 4"/>
          <p:cNvSpPr/>
          <p:nvPr/>
        </p:nvSpPr>
        <p:spPr>
          <a:xfrm>
            <a:off x="182880" y="1280160"/>
            <a:ext cx="3794760" cy="2560320"/>
          </a:xfrm>
          <a:prstGeom prst="rect">
            <a:avLst/>
          </a:prstGeom>
          <a:solidFill>
            <a:srgbClr val="FFFFFF"/>
          </a:solidFill>
          <a:ln w="38100">
            <a:solidFill>
              <a:srgbClr val="CC0000"/>
            </a:solidFill>
            <a:prstDash val="solid"/>
          </a:ln>
        </p:spPr>
      </p:sp>
      <p:sp>
        <p:nvSpPr>
          <p:cNvPr id="8" name="Shape 5"/>
          <p:cNvSpPr/>
          <p:nvPr/>
        </p:nvSpPr>
        <p:spPr>
          <a:xfrm>
            <a:off x="182880" y="1280160"/>
            <a:ext cx="3794760" cy="621792"/>
          </a:xfrm>
          <a:prstGeom prst="rect">
            <a:avLst/>
          </a:prstGeom>
          <a:solidFill>
            <a:srgbClr val="CC0000"/>
          </a:solidFill>
          <a:ln/>
        </p:spPr>
      </p:sp>
      <p:sp>
        <p:nvSpPr>
          <p:cNvPr id="9" name="Text 6"/>
          <p:cNvSpPr/>
          <p:nvPr/>
        </p:nvSpPr>
        <p:spPr>
          <a:xfrm>
            <a:off x="274320" y="133502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841248" y="135331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SAFETY FIRST</a:t>
            </a:r>
            <a:endParaRPr lang="en-US" sz="1300" dirty="0"/>
          </a:p>
        </p:txBody>
      </p:sp>
      <p:sp>
        <p:nvSpPr>
          <p:cNvPr id="11" name="Text 8"/>
          <p:cNvSpPr/>
          <p:nvPr/>
        </p:nvSpPr>
        <p:spPr>
          <a:xfrm>
            <a:off x="347472" y="202996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No job is so important and no deadline so urgent that we cannot take the time to do it safely. Safety is never compromised.</a:t>
            </a:r>
            <a:endParaRPr lang="en-US" sz="1150" dirty="0"/>
          </a:p>
        </p:txBody>
      </p:sp>
      <p:sp>
        <p:nvSpPr>
          <p:cNvPr id="12" name="Shape 9"/>
          <p:cNvSpPr/>
          <p:nvPr/>
        </p:nvSpPr>
        <p:spPr>
          <a:xfrm>
            <a:off x="4160520" y="1280160"/>
            <a:ext cx="3794760" cy="2560320"/>
          </a:xfrm>
          <a:prstGeom prst="rect">
            <a:avLst/>
          </a:prstGeom>
          <a:solidFill>
            <a:srgbClr val="FFFFFF"/>
          </a:solidFill>
          <a:ln w="38100">
            <a:solidFill>
              <a:srgbClr val="83348F"/>
            </a:solidFill>
            <a:prstDash val="solid"/>
          </a:ln>
        </p:spPr>
      </p:sp>
      <p:sp>
        <p:nvSpPr>
          <p:cNvPr id="13" name="Shape 10"/>
          <p:cNvSpPr/>
          <p:nvPr/>
        </p:nvSpPr>
        <p:spPr>
          <a:xfrm>
            <a:off x="4160520" y="1280160"/>
            <a:ext cx="3794760" cy="621792"/>
          </a:xfrm>
          <a:prstGeom prst="rect">
            <a:avLst/>
          </a:prstGeom>
          <a:solidFill>
            <a:srgbClr val="83348F"/>
          </a:solidFill>
          <a:ln/>
        </p:spPr>
      </p:sp>
      <p:sp>
        <p:nvSpPr>
          <p:cNvPr id="14" name="Text 11"/>
          <p:cNvSpPr/>
          <p:nvPr/>
        </p:nvSpPr>
        <p:spPr>
          <a:xfrm>
            <a:off x="4251960" y="133502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5" name="Text 12"/>
          <p:cNvSpPr/>
          <p:nvPr/>
        </p:nvSpPr>
        <p:spPr>
          <a:xfrm>
            <a:off x="4818888" y="135331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QUALITY WITHOUT COMPROMISE</a:t>
            </a:r>
            <a:endParaRPr lang="en-US" sz="1300" dirty="0"/>
          </a:p>
        </p:txBody>
      </p:sp>
      <p:sp>
        <p:nvSpPr>
          <p:cNvPr id="16" name="Text 13"/>
          <p:cNvSpPr/>
          <p:nvPr/>
        </p:nvSpPr>
        <p:spPr>
          <a:xfrm>
            <a:off x="4325112" y="202996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In nuclear, quality is not a nice-to-have. We get it right first time, every time. Our customers and the public depend on it.</a:t>
            </a:r>
            <a:endParaRPr lang="en-US" sz="1150" dirty="0"/>
          </a:p>
        </p:txBody>
      </p:sp>
      <p:sp>
        <p:nvSpPr>
          <p:cNvPr id="17" name="Shape 14"/>
          <p:cNvSpPr/>
          <p:nvPr/>
        </p:nvSpPr>
        <p:spPr>
          <a:xfrm>
            <a:off x="8138160" y="1280160"/>
            <a:ext cx="3794760" cy="2560320"/>
          </a:xfrm>
          <a:prstGeom prst="rect">
            <a:avLst/>
          </a:prstGeom>
          <a:solidFill>
            <a:srgbClr val="FFFFFF"/>
          </a:solidFill>
          <a:ln w="38100">
            <a:solidFill>
              <a:srgbClr val="009FE3"/>
            </a:solidFill>
            <a:prstDash val="solid"/>
          </a:ln>
        </p:spPr>
      </p:sp>
      <p:sp>
        <p:nvSpPr>
          <p:cNvPr id="18" name="Shape 15"/>
          <p:cNvSpPr/>
          <p:nvPr/>
        </p:nvSpPr>
        <p:spPr>
          <a:xfrm>
            <a:off x="8138160" y="1280160"/>
            <a:ext cx="3794760" cy="621792"/>
          </a:xfrm>
          <a:prstGeom prst="rect">
            <a:avLst/>
          </a:prstGeom>
          <a:solidFill>
            <a:srgbClr val="009FE3"/>
          </a:solidFill>
          <a:ln/>
        </p:spPr>
      </p:sp>
      <p:sp>
        <p:nvSpPr>
          <p:cNvPr id="19" name="Text 16"/>
          <p:cNvSpPr/>
          <p:nvPr/>
        </p:nvSpPr>
        <p:spPr>
          <a:xfrm>
            <a:off x="8229600" y="133502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0" name="Text 17"/>
          <p:cNvSpPr/>
          <p:nvPr/>
        </p:nvSpPr>
        <p:spPr>
          <a:xfrm>
            <a:off x="8796528" y="135331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HONESTY AND INTEGRITY</a:t>
            </a:r>
            <a:endParaRPr lang="en-US" sz="1300" dirty="0"/>
          </a:p>
        </p:txBody>
      </p:sp>
      <p:sp>
        <p:nvSpPr>
          <p:cNvPr id="21" name="Text 18"/>
          <p:cNvSpPr/>
          <p:nvPr/>
        </p:nvSpPr>
        <p:spPr>
          <a:xfrm>
            <a:off x="8302752" y="202996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are straight with each other and with our customers. We raise problems rather than hide them. We do what we say we will do.</a:t>
            </a:r>
            <a:endParaRPr lang="en-US" sz="1150" dirty="0"/>
          </a:p>
        </p:txBody>
      </p:sp>
      <p:sp>
        <p:nvSpPr>
          <p:cNvPr id="22" name="Shape 19"/>
          <p:cNvSpPr/>
          <p:nvPr/>
        </p:nvSpPr>
        <p:spPr>
          <a:xfrm>
            <a:off x="182880" y="3977640"/>
            <a:ext cx="3794760" cy="2560320"/>
          </a:xfrm>
          <a:prstGeom prst="rect">
            <a:avLst/>
          </a:prstGeom>
          <a:solidFill>
            <a:srgbClr val="FFFFFF"/>
          </a:solidFill>
          <a:ln w="38100">
            <a:solidFill>
              <a:srgbClr val="2E7D32"/>
            </a:solidFill>
            <a:prstDash val="solid"/>
          </a:ln>
        </p:spPr>
      </p:sp>
      <p:sp>
        <p:nvSpPr>
          <p:cNvPr id="23" name="Shape 20"/>
          <p:cNvSpPr/>
          <p:nvPr/>
        </p:nvSpPr>
        <p:spPr>
          <a:xfrm>
            <a:off x="182880" y="3977640"/>
            <a:ext cx="3794760" cy="621792"/>
          </a:xfrm>
          <a:prstGeom prst="rect">
            <a:avLst/>
          </a:prstGeom>
          <a:solidFill>
            <a:srgbClr val="2E7D32"/>
          </a:solidFill>
          <a:ln/>
        </p:spPr>
      </p:sp>
      <p:sp>
        <p:nvSpPr>
          <p:cNvPr id="24" name="Text 21"/>
          <p:cNvSpPr/>
          <p:nvPr/>
        </p:nvSpPr>
        <p:spPr>
          <a:xfrm>
            <a:off x="274320" y="403250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5" name="Text 22"/>
          <p:cNvSpPr/>
          <p:nvPr/>
        </p:nvSpPr>
        <p:spPr>
          <a:xfrm>
            <a:off x="841248" y="405079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CONTINUOUS IMPROVEMENT</a:t>
            </a:r>
            <a:endParaRPr lang="en-US" sz="1300" dirty="0"/>
          </a:p>
        </p:txBody>
      </p:sp>
      <p:sp>
        <p:nvSpPr>
          <p:cNvPr id="26" name="Text 23"/>
          <p:cNvSpPr/>
          <p:nvPr/>
        </p:nvSpPr>
        <p:spPr>
          <a:xfrm>
            <a:off x="347472" y="472744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never stop looking for a better way. Every person has the ability and the responsibility to improve the way we work.</a:t>
            </a:r>
            <a:endParaRPr lang="en-US" sz="1150" dirty="0"/>
          </a:p>
        </p:txBody>
      </p:sp>
      <p:sp>
        <p:nvSpPr>
          <p:cNvPr id="27" name="Shape 24"/>
          <p:cNvSpPr/>
          <p:nvPr/>
        </p:nvSpPr>
        <p:spPr>
          <a:xfrm>
            <a:off x="4160520" y="3977640"/>
            <a:ext cx="3794760" cy="2560320"/>
          </a:xfrm>
          <a:prstGeom prst="rect">
            <a:avLst/>
          </a:prstGeom>
          <a:solidFill>
            <a:srgbClr val="FFFFFF"/>
          </a:solidFill>
          <a:ln w="38100">
            <a:solidFill>
              <a:srgbClr val="B8860B"/>
            </a:solidFill>
            <a:prstDash val="solid"/>
          </a:ln>
        </p:spPr>
      </p:sp>
      <p:sp>
        <p:nvSpPr>
          <p:cNvPr id="28" name="Shape 25"/>
          <p:cNvSpPr/>
          <p:nvPr/>
        </p:nvSpPr>
        <p:spPr>
          <a:xfrm>
            <a:off x="4160520" y="3977640"/>
            <a:ext cx="3794760" cy="621792"/>
          </a:xfrm>
          <a:prstGeom prst="rect">
            <a:avLst/>
          </a:prstGeom>
          <a:solidFill>
            <a:srgbClr val="B8860B"/>
          </a:solidFill>
          <a:ln/>
        </p:spPr>
      </p:sp>
      <p:sp>
        <p:nvSpPr>
          <p:cNvPr id="29" name="Text 26"/>
          <p:cNvSpPr/>
          <p:nvPr/>
        </p:nvSpPr>
        <p:spPr>
          <a:xfrm>
            <a:off x="4251960" y="403250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30" name="Text 27"/>
          <p:cNvSpPr/>
          <p:nvPr/>
        </p:nvSpPr>
        <p:spPr>
          <a:xfrm>
            <a:off x="4818888" y="405079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RESPECT FOR PEOPLE</a:t>
            </a:r>
            <a:endParaRPr lang="en-US" sz="1300" dirty="0"/>
          </a:p>
        </p:txBody>
      </p:sp>
      <p:sp>
        <p:nvSpPr>
          <p:cNvPr id="31" name="Text 28"/>
          <p:cNvSpPr/>
          <p:nvPr/>
        </p:nvSpPr>
        <p:spPr>
          <a:xfrm>
            <a:off x="4325112" y="472744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treat everyone with dignity and respect. We value different perspectives. We look out for each other.</a:t>
            </a:r>
            <a:endParaRPr lang="en-US" sz="1150" dirty="0"/>
          </a:p>
        </p:txBody>
      </p:sp>
      <p:sp>
        <p:nvSpPr>
          <p:cNvPr id="32" name="Shape 29"/>
          <p:cNvSpPr/>
          <p:nvPr/>
        </p:nvSpPr>
        <p:spPr>
          <a:xfrm>
            <a:off x="8138160" y="3977640"/>
            <a:ext cx="3794760" cy="2560320"/>
          </a:xfrm>
          <a:prstGeom prst="rect">
            <a:avLst/>
          </a:prstGeom>
          <a:solidFill>
            <a:srgbClr val="FFFFFF"/>
          </a:solidFill>
          <a:ln w="38100">
            <a:solidFill>
              <a:srgbClr val="83348F"/>
            </a:solidFill>
            <a:prstDash val="solid"/>
          </a:ln>
        </p:spPr>
      </p:sp>
      <p:sp>
        <p:nvSpPr>
          <p:cNvPr id="33" name="Shape 30"/>
          <p:cNvSpPr/>
          <p:nvPr/>
        </p:nvSpPr>
        <p:spPr>
          <a:xfrm>
            <a:off x="8138160" y="3977640"/>
            <a:ext cx="3794760" cy="621792"/>
          </a:xfrm>
          <a:prstGeom prst="rect">
            <a:avLst/>
          </a:prstGeom>
          <a:solidFill>
            <a:srgbClr val="83348F"/>
          </a:solidFill>
          <a:ln/>
        </p:spPr>
      </p:sp>
      <p:sp>
        <p:nvSpPr>
          <p:cNvPr id="34" name="Text 31"/>
          <p:cNvSpPr/>
          <p:nvPr/>
        </p:nvSpPr>
        <p:spPr>
          <a:xfrm>
            <a:off x="8229600" y="4032504"/>
            <a:ext cx="502920" cy="502920"/>
          </a:xfrm>
          <a:prstGeom prst="rect">
            <a:avLst/>
          </a:prstGeom>
          <a:noFill/>
          <a:ln/>
        </p:spPr>
        <p:txBody>
          <a:bodyPr wrap="square"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35" name="Text 32"/>
          <p:cNvSpPr/>
          <p:nvPr/>
        </p:nvSpPr>
        <p:spPr>
          <a:xfrm>
            <a:off x="8796528" y="4050792"/>
            <a:ext cx="3026664" cy="47548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NUCLEAR AWARENESS</a:t>
            </a:r>
            <a:endParaRPr lang="en-US" sz="1300" dirty="0"/>
          </a:p>
        </p:txBody>
      </p:sp>
      <p:sp>
        <p:nvSpPr>
          <p:cNvPr id="36" name="Text 33"/>
          <p:cNvSpPr/>
          <p:nvPr/>
        </p:nvSpPr>
        <p:spPr>
          <a:xfrm>
            <a:off x="8302752" y="4727448"/>
            <a:ext cx="3465576" cy="1664208"/>
          </a:xfrm>
          <a:prstGeom prst="rect">
            <a:avLst/>
          </a:prstGeom>
          <a:noFill/>
          <a:ln/>
        </p:spPr>
        <p:txBody>
          <a:bodyPr wrap="square" rtlCol="0" anchor="t"/>
          <a:lstStyle/>
          <a:p>
            <a:pPr indent="0" marL="0">
              <a:buNone/>
            </a:pPr>
            <a:r>
              <a:rPr lang="en-US" sz="1150" dirty="0">
                <a:solidFill>
                  <a:srgbClr val="5B595A"/>
                </a:solidFill>
                <a:latin typeface="Arial" pitchFamily="34" charset="0"/>
                <a:ea typeface="Arial" pitchFamily="34" charset="-122"/>
                <a:cs typeface="Arial" pitchFamily="34" charset="-120"/>
              </a:rPr>
              <a:t>We understand the unique responsibilities that come with working in the nuclear supply chain and we take them seriously.</a:t>
            </a:r>
            <a:endParaRPr lang="en-US" sz="1150" dirty="0"/>
          </a:p>
        </p:txBody>
      </p:sp>
      <p:sp>
        <p:nvSpPr>
          <p:cNvPr id="37" name="Rectangle 36"/>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4"/>
          <a:stretch>
            <a:fillRect/>
          </a:stretch>
        </p:blipFill>
        <p:spPr>
          <a:xfrm>
            <a:off x="10610088" y="100584"/>
            <a:ext cx="566928" cy="347472"/>
          </a:xfrm>
          <a:prstGeom prst="rect">
            <a:avLst/>
          </a:prstGeom>
        </p:spPr>
      </p:pic>
      <p:pic>
        <p:nvPicPr>
          <p:cNvPr id="39" name="Picture 38" descr="image.png"/>
          <p:cNvPicPr>
            <a:picLocks noChangeAspect="1"/>
          </p:cNvPicPr>
          <p:nvPr/>
        </p:nvPicPr>
        <p:blipFill>
          <a:blip r:embed="rId5"/>
          <a:stretch>
            <a:fillRect/>
          </a:stretch>
        </p:blipFill>
        <p:spPr>
          <a:xfrm>
            <a:off x="11222736" y="100584"/>
            <a:ext cx="658368" cy="347472"/>
          </a:xfrm>
          <a:prstGeom prst="rect">
            <a:avLst/>
          </a:prstGeom>
        </p:spPr>
      </p:pic>
      <p:sp>
        <p:nvSpPr>
          <p:cNvPr id="40" name="Rectangle 39"/>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15568"/>
          </a:xfrm>
          <a:prstGeom prst="rect">
            <a:avLst/>
          </a:prstGeom>
          <a:solidFill>
            <a:srgbClr val="CC0000"/>
          </a:solidFill>
          <a:ln/>
        </p:spPr>
      </p:sp>
      <p:pic>
        <p:nvPicPr>
          <p:cNvPr id="4" name="Image 0" descr="preencoded.png">    </p:cNvPr>
          <p:cNvPicPr>
            <a:picLocks noChangeAspect="1"/>
          </p:cNvPicPr>
          <p:nvPr/>
        </p:nvPicPr>
        <p:blipFill>
          <a:blip r:embed="rId1"/>
          <a:stretch>
            <a:fillRect/>
          </a:stretch>
        </p:blipFill>
        <p:spPr>
          <a:xfrm>
            <a:off x="274320" y="219456"/>
            <a:ext cx="1371600" cy="457200"/>
          </a:xfrm>
          <a:prstGeom prst="rect">
            <a:avLst/>
          </a:prstGeom>
        </p:spPr>
      </p:pic>
      <p:sp>
        <p:nvSpPr>
          <p:cNvPr id="5" name="Text 2"/>
          <p:cNvSpPr/>
          <p:nvPr/>
        </p:nvSpPr>
        <p:spPr>
          <a:xfrm>
            <a:off x="1828800" y="73152"/>
            <a:ext cx="8503920" cy="621792"/>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SAFETY IS EVERYONE'S RESPONSIBILITY</a:t>
            </a:r>
            <a:endParaRPr lang="en-US" sz="2800" dirty="0"/>
          </a:p>
        </p:txBody>
      </p:sp>
      <p:sp>
        <p:nvSpPr>
          <p:cNvPr id="6" name="Text 3"/>
          <p:cNvSpPr/>
          <p:nvPr/>
        </p:nvSpPr>
        <p:spPr>
          <a:xfrm>
            <a:off x="1828800" y="694944"/>
            <a:ext cx="8503920" cy="310896"/>
          </a:xfrm>
          <a:prstGeom prst="rect">
            <a:avLst/>
          </a:prstGeom>
          <a:noFill/>
          <a:ln/>
        </p:spPr>
        <p:txBody>
          <a:bodyPr wrap="square" rtlCol="0" anchor="ctr"/>
          <a:lstStyle/>
          <a:p>
            <a:pPr algn="ctr" indent="0" marL="0">
              <a:buNone/>
            </a:pPr>
            <a:r>
              <a:rPr lang="en-US" sz="1400" dirty="0">
                <a:solidFill>
                  <a:srgbClr val="FFDDDD"/>
                </a:solidFill>
                <a:latin typeface="Arial" pitchFamily="34" charset="0"/>
                <a:ea typeface="Arial" pitchFamily="34" charset="-122"/>
                <a:cs typeface="Arial" pitchFamily="34" charset="-120"/>
              </a:rPr>
              <a:t>Stop. Think. Act Safely. Every time.</a:t>
            </a:r>
            <a:endParaRPr lang="en-US" sz="1400" dirty="0"/>
          </a:p>
        </p:txBody>
      </p:sp>
      <p:sp>
        <p:nvSpPr>
          <p:cNvPr id="7" name="Shape 4"/>
          <p:cNvSpPr/>
          <p:nvPr/>
        </p:nvSpPr>
        <p:spPr>
          <a:xfrm>
            <a:off x="182880" y="1207008"/>
            <a:ext cx="5806440" cy="566928"/>
          </a:xfrm>
          <a:prstGeom prst="rect">
            <a:avLst/>
          </a:prstGeom>
          <a:solidFill>
            <a:srgbClr val="CC0000"/>
          </a:solidFill>
          <a:ln/>
        </p:spPr>
      </p:sp>
      <p:sp>
        <p:nvSpPr>
          <p:cNvPr id="8" name="Text 5"/>
          <p:cNvSpPr/>
          <p:nvPr/>
        </p:nvSpPr>
        <p:spPr>
          <a:xfrm>
            <a:off x="292608" y="120700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YOU HAVE THE RIGHT TO STOP WORK</a:t>
            </a:r>
            <a:endParaRPr lang="en-US" sz="1400" dirty="0"/>
          </a:p>
        </p:txBody>
      </p:sp>
      <p:sp>
        <p:nvSpPr>
          <p:cNvPr id="9" name="Shape 6"/>
          <p:cNvSpPr/>
          <p:nvPr/>
        </p:nvSpPr>
        <p:spPr>
          <a:xfrm>
            <a:off x="182880" y="1773936"/>
            <a:ext cx="5806440" cy="1975104"/>
          </a:xfrm>
          <a:prstGeom prst="rect">
            <a:avLst/>
          </a:prstGeom>
          <a:solidFill>
            <a:srgbClr val="F5F5F5"/>
          </a:solidFill>
          <a:ln w="6350">
            <a:solidFill>
              <a:srgbClr val="DDDDDD"/>
            </a:solidFill>
            <a:prstDash val="solid"/>
          </a:ln>
        </p:spPr>
      </p:sp>
      <p:sp>
        <p:nvSpPr>
          <p:cNvPr id="10" name="Text 7"/>
          <p:cNvSpPr/>
          <p:nvPr/>
        </p:nvSpPr>
        <p:spPr>
          <a:xfrm>
            <a:off x="347472" y="186537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If you are not sure it is safe, stop. You will never be penalised for raising a safety concern. Stopping to check is always the right decision.</a:t>
            </a:r>
            <a:endParaRPr lang="en-US" sz="1200" dirty="0"/>
          </a:p>
        </p:txBody>
      </p:sp>
      <p:sp>
        <p:nvSpPr>
          <p:cNvPr id="11" name="Shape 8"/>
          <p:cNvSpPr/>
          <p:nvPr/>
        </p:nvSpPr>
        <p:spPr>
          <a:xfrm>
            <a:off x="6172200" y="1207008"/>
            <a:ext cx="5806440" cy="566928"/>
          </a:xfrm>
          <a:prstGeom prst="rect">
            <a:avLst/>
          </a:prstGeom>
          <a:solidFill>
            <a:srgbClr val="FFC000"/>
          </a:solidFill>
          <a:ln/>
        </p:spPr>
      </p:sp>
      <p:sp>
        <p:nvSpPr>
          <p:cNvPr id="12" name="Text 9"/>
          <p:cNvSpPr/>
          <p:nvPr/>
        </p:nvSpPr>
        <p:spPr>
          <a:xfrm>
            <a:off x="6281928" y="120700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REPORT EVERY NEAR MISS</a:t>
            </a:r>
            <a:endParaRPr lang="en-US" sz="1400" dirty="0"/>
          </a:p>
        </p:txBody>
      </p:sp>
      <p:sp>
        <p:nvSpPr>
          <p:cNvPr id="13" name="Shape 10"/>
          <p:cNvSpPr/>
          <p:nvPr/>
        </p:nvSpPr>
        <p:spPr>
          <a:xfrm>
            <a:off x="6172200" y="1773936"/>
            <a:ext cx="5806440" cy="1975104"/>
          </a:xfrm>
          <a:prstGeom prst="rect">
            <a:avLst/>
          </a:prstGeom>
          <a:solidFill>
            <a:srgbClr val="F5F5F5"/>
          </a:solidFill>
          <a:ln w="6350">
            <a:solidFill>
              <a:srgbClr val="DDDDDD"/>
            </a:solidFill>
            <a:prstDash val="solid"/>
          </a:ln>
        </p:spPr>
      </p:sp>
      <p:sp>
        <p:nvSpPr>
          <p:cNvPr id="14" name="Text 11"/>
          <p:cNvSpPr/>
          <p:nvPr/>
        </p:nvSpPr>
        <p:spPr>
          <a:xfrm>
            <a:off x="6336792" y="186537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Near misses are warnings. Every one reported is an accident prevented. There are no silly reports. If it nearly went wrong, we need to know.</a:t>
            </a:r>
            <a:endParaRPr lang="en-US" sz="1200" dirty="0"/>
          </a:p>
        </p:txBody>
      </p:sp>
      <p:sp>
        <p:nvSpPr>
          <p:cNvPr id="15" name="Shape 12"/>
          <p:cNvSpPr/>
          <p:nvPr/>
        </p:nvSpPr>
        <p:spPr>
          <a:xfrm>
            <a:off x="182880" y="3904488"/>
            <a:ext cx="5806440" cy="566928"/>
          </a:xfrm>
          <a:prstGeom prst="rect">
            <a:avLst/>
          </a:prstGeom>
          <a:solidFill>
            <a:srgbClr val="83348F"/>
          </a:solidFill>
          <a:ln/>
        </p:spPr>
      </p:sp>
      <p:sp>
        <p:nvSpPr>
          <p:cNvPr id="16" name="Text 13"/>
          <p:cNvSpPr/>
          <p:nvPr/>
        </p:nvSpPr>
        <p:spPr>
          <a:xfrm>
            <a:off x="292608" y="390448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FOLLOW THE SAFE SYSTEM OF WORK</a:t>
            </a:r>
            <a:endParaRPr lang="en-US" sz="1400" dirty="0"/>
          </a:p>
        </p:txBody>
      </p:sp>
      <p:sp>
        <p:nvSpPr>
          <p:cNvPr id="17" name="Shape 14"/>
          <p:cNvSpPr/>
          <p:nvPr/>
        </p:nvSpPr>
        <p:spPr>
          <a:xfrm>
            <a:off x="182880" y="4471416"/>
            <a:ext cx="5806440" cy="1975104"/>
          </a:xfrm>
          <a:prstGeom prst="rect">
            <a:avLst/>
          </a:prstGeom>
          <a:solidFill>
            <a:srgbClr val="F5F5F5"/>
          </a:solidFill>
          <a:ln w="6350">
            <a:solidFill>
              <a:srgbClr val="DDDDDD"/>
            </a:solidFill>
            <a:prstDash val="solid"/>
          </a:ln>
        </p:spPr>
      </p:sp>
      <p:sp>
        <p:nvSpPr>
          <p:cNvPr id="18" name="Text 15"/>
          <p:cNvSpPr/>
          <p:nvPr/>
        </p:nvSpPr>
        <p:spPr>
          <a:xfrm>
            <a:off x="347472" y="456285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Risk assessments and Safe Systems of Work exist for a reason. They are not optional. Do not take shortcuts with safety procedures.</a:t>
            </a:r>
            <a:endParaRPr lang="en-US" sz="1200" dirty="0"/>
          </a:p>
        </p:txBody>
      </p:sp>
      <p:sp>
        <p:nvSpPr>
          <p:cNvPr id="19" name="Shape 16"/>
          <p:cNvSpPr/>
          <p:nvPr/>
        </p:nvSpPr>
        <p:spPr>
          <a:xfrm>
            <a:off x="6172200" y="3904488"/>
            <a:ext cx="5806440" cy="566928"/>
          </a:xfrm>
          <a:prstGeom prst="rect">
            <a:avLst/>
          </a:prstGeom>
          <a:solidFill>
            <a:srgbClr val="009FE3"/>
          </a:solidFill>
          <a:ln/>
        </p:spPr>
      </p:sp>
      <p:sp>
        <p:nvSpPr>
          <p:cNvPr id="20" name="Text 17"/>
          <p:cNvSpPr/>
          <p:nvPr/>
        </p:nvSpPr>
        <p:spPr>
          <a:xfrm>
            <a:off x="6281928" y="3904488"/>
            <a:ext cx="5586984" cy="566928"/>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LOOK OUT FOR EACH OTHER</a:t>
            </a:r>
            <a:endParaRPr lang="en-US" sz="1400" dirty="0"/>
          </a:p>
        </p:txBody>
      </p:sp>
      <p:sp>
        <p:nvSpPr>
          <p:cNvPr id="21" name="Shape 18"/>
          <p:cNvSpPr/>
          <p:nvPr/>
        </p:nvSpPr>
        <p:spPr>
          <a:xfrm>
            <a:off x="6172200" y="4471416"/>
            <a:ext cx="5806440" cy="1975104"/>
          </a:xfrm>
          <a:prstGeom prst="rect">
            <a:avLst/>
          </a:prstGeom>
          <a:solidFill>
            <a:srgbClr val="F5F5F5"/>
          </a:solidFill>
          <a:ln w="6350">
            <a:solidFill>
              <a:srgbClr val="DDDDDD"/>
            </a:solidFill>
            <a:prstDash val="solid"/>
          </a:ln>
        </p:spPr>
      </p:sp>
      <p:sp>
        <p:nvSpPr>
          <p:cNvPr id="22" name="Text 19"/>
          <p:cNvSpPr/>
          <p:nvPr/>
        </p:nvSpPr>
        <p:spPr>
          <a:xfrm>
            <a:off x="6336792" y="4562856"/>
            <a:ext cx="5477256" cy="1792224"/>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If you see a colleague about to do something unsafe, speak up. We all go home in the same condition we arrived in.</a:t>
            </a:r>
            <a:endParaRPr lang="en-US" sz="1200" dirty="0"/>
          </a:p>
        </p:txBody>
      </p:sp>
      <p:sp>
        <p:nvSpPr>
          <p:cNvPr id="23" name="Rectangle 22"/>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10610088" y="100584"/>
            <a:ext cx="566928" cy="347472"/>
          </a:xfrm>
          <a:prstGeom prst="rect">
            <a:avLst/>
          </a:prstGeom>
        </p:spPr>
      </p:pic>
      <p:pic>
        <p:nvPicPr>
          <p:cNvPr id="25" name="Picture 24" descr="image.png"/>
          <p:cNvPicPr>
            <a:picLocks noChangeAspect="1"/>
          </p:cNvPicPr>
          <p:nvPr/>
        </p:nvPicPr>
        <p:blipFill>
          <a:blip r:embed="rId5"/>
          <a:stretch>
            <a:fillRect/>
          </a:stretch>
        </p:blipFill>
        <p:spPr>
          <a:xfrm>
            <a:off x="11222736" y="100584"/>
            <a:ext cx="658368" cy="347472"/>
          </a:xfrm>
          <a:prstGeom prst="rect">
            <a:avLst/>
          </a:prstGeom>
        </p:spPr>
      </p:pic>
      <p:sp>
        <p:nvSpPr>
          <p:cNvPr id="26" name="Rectangle 25"/>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15568"/>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274320" y="219456"/>
            <a:ext cx="1371600" cy="457200"/>
          </a:xfrm>
          <a:prstGeom prst="rect">
            <a:avLst/>
          </a:prstGeom>
        </p:spPr>
      </p:pic>
      <p:sp>
        <p:nvSpPr>
          <p:cNvPr id="5" name="Text 2"/>
          <p:cNvSpPr/>
          <p:nvPr/>
        </p:nvSpPr>
        <p:spPr>
          <a:xfrm>
            <a:off x="1828800" y="73152"/>
            <a:ext cx="8503920" cy="621792"/>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QUALITY: RIGHT FIRST TIME, EVERY TIME</a:t>
            </a:r>
            <a:endParaRPr lang="en-US" sz="2600" dirty="0"/>
          </a:p>
        </p:txBody>
      </p:sp>
      <p:sp>
        <p:nvSpPr>
          <p:cNvPr id="6" name="Text 3"/>
          <p:cNvSpPr/>
          <p:nvPr/>
        </p:nvSpPr>
        <p:spPr>
          <a:xfrm>
            <a:off x="1828800" y="694944"/>
            <a:ext cx="8503920" cy="310896"/>
          </a:xfrm>
          <a:prstGeom prst="rect">
            <a:avLst/>
          </a:prstGeom>
          <a:noFill/>
          <a:ln/>
        </p:spPr>
        <p:txBody>
          <a:bodyPr wrap="square" rtlCol="0" anchor="ctr"/>
          <a:lstStyle/>
          <a:p>
            <a:pPr algn="ctr" indent="0" marL="0">
              <a:buNone/>
            </a:pPr>
            <a:r>
              <a:rPr lang="en-US" sz="1300" dirty="0">
                <a:solidFill>
                  <a:srgbClr val="DDBBFF"/>
                </a:solidFill>
                <a:latin typeface="Arial" pitchFamily="34" charset="0"/>
                <a:ea typeface="Arial" pitchFamily="34" charset="-122"/>
                <a:cs typeface="Arial" pitchFamily="34" charset="-120"/>
              </a:rPr>
              <a:t>In nuclear, there is no room for 'good enough'. Our customers depend on precision.</a:t>
            </a:r>
            <a:endParaRPr lang="en-US" sz="1300" dirty="0"/>
          </a:p>
        </p:txBody>
      </p:sp>
      <p:sp>
        <p:nvSpPr>
          <p:cNvPr id="7" name="Shape 4"/>
          <p:cNvSpPr/>
          <p:nvPr/>
        </p:nvSpPr>
        <p:spPr>
          <a:xfrm>
            <a:off x="182880" y="1207008"/>
            <a:ext cx="3794760" cy="2542032"/>
          </a:xfrm>
          <a:prstGeom prst="rect">
            <a:avLst/>
          </a:prstGeom>
          <a:solidFill>
            <a:srgbClr val="FFFFFF"/>
          </a:solidFill>
          <a:ln w="25400">
            <a:solidFill>
              <a:srgbClr val="83348F"/>
            </a:solidFill>
            <a:prstDash val="solid"/>
          </a:ln>
        </p:spPr>
      </p:sp>
      <p:sp>
        <p:nvSpPr>
          <p:cNvPr id="8" name="Shape 5"/>
          <p:cNvSpPr/>
          <p:nvPr/>
        </p:nvSpPr>
        <p:spPr>
          <a:xfrm>
            <a:off x="182880" y="1207008"/>
            <a:ext cx="3794760" cy="502920"/>
          </a:xfrm>
          <a:prstGeom prst="rect">
            <a:avLst/>
          </a:prstGeom>
          <a:solidFill>
            <a:srgbClr val="83348F"/>
          </a:solidFill>
          <a:ln/>
        </p:spPr>
      </p:sp>
      <p:sp>
        <p:nvSpPr>
          <p:cNvPr id="9" name="Text 6"/>
          <p:cNvSpPr/>
          <p:nvPr/>
        </p:nvSpPr>
        <p:spPr>
          <a:xfrm>
            <a:off x="274320" y="126187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7"/>
          <p:cNvSpPr/>
          <p:nvPr/>
        </p:nvSpPr>
        <p:spPr>
          <a:xfrm>
            <a:off x="731520" y="128016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FOLLOW THE DRAWING</a:t>
            </a:r>
            <a:endParaRPr lang="en-US" sz="1150" dirty="0"/>
          </a:p>
        </p:txBody>
      </p:sp>
      <p:sp>
        <p:nvSpPr>
          <p:cNvPr id="11" name="Text 8"/>
          <p:cNvSpPr/>
          <p:nvPr/>
        </p:nvSpPr>
        <p:spPr>
          <a:xfrm>
            <a:off x="347472" y="182880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Work to the drawing. If you are unsure, ask before you start. Never assume dimensions or tolerances.</a:t>
            </a:r>
            <a:endParaRPr lang="en-US" sz="1100" dirty="0"/>
          </a:p>
        </p:txBody>
      </p:sp>
      <p:sp>
        <p:nvSpPr>
          <p:cNvPr id="12" name="Shape 9"/>
          <p:cNvSpPr/>
          <p:nvPr/>
        </p:nvSpPr>
        <p:spPr>
          <a:xfrm>
            <a:off x="4160520" y="1207008"/>
            <a:ext cx="3794760" cy="2542032"/>
          </a:xfrm>
          <a:prstGeom prst="rect">
            <a:avLst/>
          </a:prstGeom>
          <a:solidFill>
            <a:srgbClr val="FFFFFF"/>
          </a:solidFill>
          <a:ln w="25400">
            <a:solidFill>
              <a:srgbClr val="83348F"/>
            </a:solidFill>
            <a:prstDash val="solid"/>
          </a:ln>
        </p:spPr>
      </p:sp>
      <p:sp>
        <p:nvSpPr>
          <p:cNvPr id="13" name="Shape 10"/>
          <p:cNvSpPr/>
          <p:nvPr/>
        </p:nvSpPr>
        <p:spPr>
          <a:xfrm>
            <a:off x="4160520" y="1207008"/>
            <a:ext cx="3794760" cy="502920"/>
          </a:xfrm>
          <a:prstGeom prst="rect">
            <a:avLst/>
          </a:prstGeom>
          <a:solidFill>
            <a:srgbClr val="83348F"/>
          </a:solidFill>
          <a:ln/>
        </p:spPr>
      </p:sp>
      <p:sp>
        <p:nvSpPr>
          <p:cNvPr id="14" name="Text 11"/>
          <p:cNvSpPr/>
          <p:nvPr/>
        </p:nvSpPr>
        <p:spPr>
          <a:xfrm>
            <a:off x="4251960" y="126187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2"/>
          <p:cNvSpPr/>
          <p:nvPr/>
        </p:nvSpPr>
        <p:spPr>
          <a:xfrm>
            <a:off x="4709160" y="128016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MAINTAIN TRACEABILITY</a:t>
            </a:r>
            <a:endParaRPr lang="en-US" sz="1150" dirty="0"/>
          </a:p>
        </p:txBody>
      </p:sp>
      <p:sp>
        <p:nvSpPr>
          <p:cNvPr id="16" name="Text 13"/>
          <p:cNvSpPr/>
          <p:nvPr/>
        </p:nvSpPr>
        <p:spPr>
          <a:xfrm>
            <a:off x="4325112" y="182880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Material identification must be maintained at all times. Never remove markings. Tag offcuts before moving them.</a:t>
            </a:r>
            <a:endParaRPr lang="en-US" sz="1100" dirty="0"/>
          </a:p>
        </p:txBody>
      </p:sp>
      <p:sp>
        <p:nvSpPr>
          <p:cNvPr id="17" name="Shape 14"/>
          <p:cNvSpPr/>
          <p:nvPr/>
        </p:nvSpPr>
        <p:spPr>
          <a:xfrm>
            <a:off x="8138160" y="1207008"/>
            <a:ext cx="3794760" cy="2542032"/>
          </a:xfrm>
          <a:prstGeom prst="rect">
            <a:avLst/>
          </a:prstGeom>
          <a:solidFill>
            <a:srgbClr val="FFFFFF"/>
          </a:solidFill>
          <a:ln w="25400">
            <a:solidFill>
              <a:srgbClr val="83348F"/>
            </a:solidFill>
            <a:prstDash val="solid"/>
          </a:ln>
        </p:spPr>
      </p:sp>
      <p:sp>
        <p:nvSpPr>
          <p:cNvPr id="18" name="Shape 15"/>
          <p:cNvSpPr/>
          <p:nvPr/>
        </p:nvSpPr>
        <p:spPr>
          <a:xfrm>
            <a:off x="8138160" y="1207008"/>
            <a:ext cx="3794760" cy="502920"/>
          </a:xfrm>
          <a:prstGeom prst="rect">
            <a:avLst/>
          </a:prstGeom>
          <a:solidFill>
            <a:srgbClr val="83348F"/>
          </a:solidFill>
          <a:ln/>
        </p:spPr>
      </p:sp>
      <p:sp>
        <p:nvSpPr>
          <p:cNvPr id="19" name="Text 16"/>
          <p:cNvSpPr/>
          <p:nvPr/>
        </p:nvSpPr>
        <p:spPr>
          <a:xfrm>
            <a:off x="8229600" y="126187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7"/>
          <p:cNvSpPr/>
          <p:nvPr/>
        </p:nvSpPr>
        <p:spPr>
          <a:xfrm>
            <a:off x="8686800" y="128016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RAISE AN NCR</a:t>
            </a:r>
            <a:endParaRPr lang="en-US" sz="1150" dirty="0"/>
          </a:p>
        </p:txBody>
      </p:sp>
      <p:sp>
        <p:nvSpPr>
          <p:cNvPr id="21" name="Text 18"/>
          <p:cNvSpPr/>
          <p:nvPr/>
        </p:nvSpPr>
        <p:spPr>
          <a:xfrm>
            <a:off x="8302752" y="182880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If something is wrong, raise a Non-Conformance Report immediately. Do not pass on defective work.</a:t>
            </a:r>
            <a:endParaRPr lang="en-US" sz="1100" dirty="0"/>
          </a:p>
        </p:txBody>
      </p:sp>
      <p:sp>
        <p:nvSpPr>
          <p:cNvPr id="22" name="Shape 19"/>
          <p:cNvSpPr/>
          <p:nvPr/>
        </p:nvSpPr>
        <p:spPr>
          <a:xfrm>
            <a:off x="182880" y="3904488"/>
            <a:ext cx="3794760" cy="2542032"/>
          </a:xfrm>
          <a:prstGeom prst="rect">
            <a:avLst/>
          </a:prstGeom>
          <a:solidFill>
            <a:srgbClr val="FFFFFF"/>
          </a:solidFill>
          <a:ln w="25400">
            <a:solidFill>
              <a:srgbClr val="83348F"/>
            </a:solidFill>
            <a:prstDash val="solid"/>
          </a:ln>
        </p:spPr>
      </p:sp>
      <p:sp>
        <p:nvSpPr>
          <p:cNvPr id="23" name="Shape 20"/>
          <p:cNvSpPr/>
          <p:nvPr/>
        </p:nvSpPr>
        <p:spPr>
          <a:xfrm>
            <a:off x="182880" y="3904488"/>
            <a:ext cx="3794760" cy="502920"/>
          </a:xfrm>
          <a:prstGeom prst="rect">
            <a:avLst/>
          </a:prstGeom>
          <a:solidFill>
            <a:srgbClr val="83348F"/>
          </a:solidFill>
          <a:ln/>
        </p:spPr>
      </p:sp>
      <p:sp>
        <p:nvSpPr>
          <p:cNvPr id="24" name="Text 21"/>
          <p:cNvSpPr/>
          <p:nvPr/>
        </p:nvSpPr>
        <p:spPr>
          <a:xfrm>
            <a:off x="274320" y="395935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2"/>
          <p:cNvSpPr/>
          <p:nvPr/>
        </p:nvSpPr>
        <p:spPr>
          <a:xfrm>
            <a:off x="731520" y="397764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COMPLETE YOUR PAPERWORK</a:t>
            </a:r>
            <a:endParaRPr lang="en-US" sz="1150" dirty="0"/>
          </a:p>
        </p:txBody>
      </p:sp>
      <p:sp>
        <p:nvSpPr>
          <p:cNvPr id="26" name="Text 23"/>
          <p:cNvSpPr/>
          <p:nvPr/>
        </p:nvSpPr>
        <p:spPr>
          <a:xfrm>
            <a:off x="347472" y="452628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Sign the traveller at every stage. Your signature is your personal confirmation the work is correct.</a:t>
            </a:r>
            <a:endParaRPr lang="en-US" sz="1100" dirty="0"/>
          </a:p>
        </p:txBody>
      </p:sp>
      <p:sp>
        <p:nvSpPr>
          <p:cNvPr id="27" name="Shape 24"/>
          <p:cNvSpPr/>
          <p:nvPr/>
        </p:nvSpPr>
        <p:spPr>
          <a:xfrm>
            <a:off x="4160520" y="3904488"/>
            <a:ext cx="3794760" cy="2542032"/>
          </a:xfrm>
          <a:prstGeom prst="rect">
            <a:avLst/>
          </a:prstGeom>
          <a:solidFill>
            <a:srgbClr val="FFFFFF"/>
          </a:solidFill>
          <a:ln w="25400">
            <a:solidFill>
              <a:srgbClr val="83348F"/>
            </a:solidFill>
            <a:prstDash val="solid"/>
          </a:ln>
        </p:spPr>
      </p:sp>
      <p:sp>
        <p:nvSpPr>
          <p:cNvPr id="28" name="Shape 25"/>
          <p:cNvSpPr/>
          <p:nvPr/>
        </p:nvSpPr>
        <p:spPr>
          <a:xfrm>
            <a:off x="4160520" y="3904488"/>
            <a:ext cx="3794760" cy="502920"/>
          </a:xfrm>
          <a:prstGeom prst="rect">
            <a:avLst/>
          </a:prstGeom>
          <a:solidFill>
            <a:srgbClr val="83348F"/>
          </a:solidFill>
          <a:ln/>
        </p:spPr>
      </p:sp>
      <p:sp>
        <p:nvSpPr>
          <p:cNvPr id="29" name="Text 26"/>
          <p:cNvSpPr/>
          <p:nvPr/>
        </p:nvSpPr>
        <p:spPr>
          <a:xfrm>
            <a:off x="4251960" y="395935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7"/>
          <p:cNvSpPr/>
          <p:nvPr/>
        </p:nvSpPr>
        <p:spPr>
          <a:xfrm>
            <a:off x="4709160" y="397764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CFSI VIGILANCE</a:t>
            </a:r>
            <a:endParaRPr lang="en-US" sz="1150" dirty="0"/>
          </a:p>
        </p:txBody>
      </p:sp>
      <p:sp>
        <p:nvSpPr>
          <p:cNvPr id="31" name="Text 28"/>
          <p:cNvSpPr/>
          <p:nvPr/>
        </p:nvSpPr>
        <p:spPr>
          <a:xfrm>
            <a:off x="4325112" y="452628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Check every delivery for signs of counterfeit or suspect items. If in doubt, quarantine and tell the Quality Manager.</a:t>
            </a:r>
            <a:endParaRPr lang="en-US" sz="1100" dirty="0"/>
          </a:p>
        </p:txBody>
      </p:sp>
      <p:sp>
        <p:nvSpPr>
          <p:cNvPr id="32" name="Shape 29"/>
          <p:cNvSpPr/>
          <p:nvPr/>
        </p:nvSpPr>
        <p:spPr>
          <a:xfrm>
            <a:off x="8138160" y="3904488"/>
            <a:ext cx="3794760" cy="2542032"/>
          </a:xfrm>
          <a:prstGeom prst="rect">
            <a:avLst/>
          </a:prstGeom>
          <a:solidFill>
            <a:srgbClr val="FFFFFF"/>
          </a:solidFill>
          <a:ln w="25400">
            <a:solidFill>
              <a:srgbClr val="83348F"/>
            </a:solidFill>
            <a:prstDash val="solid"/>
          </a:ln>
        </p:spPr>
      </p:sp>
      <p:sp>
        <p:nvSpPr>
          <p:cNvPr id="33" name="Shape 30"/>
          <p:cNvSpPr/>
          <p:nvPr/>
        </p:nvSpPr>
        <p:spPr>
          <a:xfrm>
            <a:off x="8138160" y="3904488"/>
            <a:ext cx="3794760" cy="502920"/>
          </a:xfrm>
          <a:prstGeom prst="rect">
            <a:avLst/>
          </a:prstGeom>
          <a:solidFill>
            <a:srgbClr val="83348F"/>
          </a:solidFill>
          <a:ln/>
        </p:spPr>
      </p:sp>
      <p:sp>
        <p:nvSpPr>
          <p:cNvPr id="34" name="Text 31"/>
          <p:cNvSpPr/>
          <p:nvPr/>
        </p:nvSpPr>
        <p:spPr>
          <a:xfrm>
            <a:off x="8229600" y="3959352"/>
            <a:ext cx="384048" cy="38404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5" name="Text 32"/>
          <p:cNvSpPr/>
          <p:nvPr/>
        </p:nvSpPr>
        <p:spPr>
          <a:xfrm>
            <a:off x="8686800" y="3977640"/>
            <a:ext cx="3136392" cy="36576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CONSERVATIVE DECISIONS</a:t>
            </a:r>
            <a:endParaRPr lang="en-US" sz="1150" dirty="0"/>
          </a:p>
        </p:txBody>
      </p:sp>
      <p:sp>
        <p:nvSpPr>
          <p:cNvPr id="36" name="Text 33"/>
          <p:cNvSpPr/>
          <p:nvPr/>
        </p:nvSpPr>
        <p:spPr>
          <a:xfrm>
            <a:off x="8302752" y="4526280"/>
            <a:ext cx="3465576" cy="1773936"/>
          </a:xfrm>
          <a:prstGeom prst="rect">
            <a:avLst/>
          </a:prstGeom>
          <a:noFill/>
          <a:ln/>
        </p:spPr>
        <p:txBody>
          <a:bodyPr wrap="square" rtlCol="0" anchor="t"/>
          <a:lstStyle/>
          <a:p>
            <a:pPr indent="0" marL="0">
              <a:buNone/>
            </a:pPr>
            <a:r>
              <a:rPr lang="en-US" sz="1100" dirty="0">
                <a:solidFill>
                  <a:srgbClr val="5B595A"/>
                </a:solidFill>
                <a:latin typeface="Arial" pitchFamily="34" charset="0"/>
                <a:ea typeface="Arial" pitchFamily="34" charset="-122"/>
                <a:cs typeface="Arial" pitchFamily="34" charset="-120"/>
              </a:rPr>
              <a:t>When in doubt, stop. Ask. The cost of stopping is always less than the cost of getting it wrong in nuclear.</a:t>
            </a:r>
            <a:endParaRPr lang="en-US" sz="1100" dirty="0"/>
          </a:p>
        </p:txBody>
      </p:sp>
      <p:sp>
        <p:nvSpPr>
          <p:cNvPr id="37" name="Rectangle 36"/>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4"/>
          <a:stretch>
            <a:fillRect/>
          </a:stretch>
        </p:blipFill>
        <p:spPr>
          <a:xfrm>
            <a:off x="10610088" y="100584"/>
            <a:ext cx="566928" cy="347472"/>
          </a:xfrm>
          <a:prstGeom prst="rect">
            <a:avLst/>
          </a:prstGeom>
        </p:spPr>
      </p:pic>
      <p:pic>
        <p:nvPicPr>
          <p:cNvPr id="39" name="Picture 38" descr="image.png"/>
          <p:cNvPicPr>
            <a:picLocks noChangeAspect="1"/>
          </p:cNvPicPr>
          <p:nvPr/>
        </p:nvPicPr>
        <p:blipFill>
          <a:blip r:embed="rId5"/>
          <a:stretch>
            <a:fillRect/>
          </a:stretch>
        </p:blipFill>
        <p:spPr>
          <a:xfrm>
            <a:off x="11222736" y="100584"/>
            <a:ext cx="658368" cy="347472"/>
          </a:xfrm>
          <a:prstGeom prst="rect">
            <a:avLst/>
          </a:prstGeom>
        </p:spPr>
      </p:pic>
      <p:sp>
        <p:nvSpPr>
          <p:cNvPr id="40" name="Rectangle 39"/>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24128"/>
          </a:xfrm>
          <a:prstGeom prst="rect">
            <a:avLst/>
          </a:prstGeom>
          <a:solidFill>
            <a:srgbClr val="009FE3"/>
          </a:solidFill>
          <a:ln/>
        </p:spPr>
      </p:sp>
      <p:pic>
        <p:nvPicPr>
          <p:cNvPr id="4" name="Image 0" descr="preencoded.png">    </p:cNvPr>
          <p:cNvPicPr>
            <a:picLocks noChangeAspect="1"/>
          </p:cNvPicPr>
          <p:nvPr/>
        </p:nvPicPr>
        <p:blipFill>
          <a:blip r:embed="rId1"/>
          <a:stretch>
            <a:fillRect/>
          </a:stretch>
        </p:blipFill>
        <p:spPr>
          <a:xfrm>
            <a:off x="274320" y="182880"/>
            <a:ext cx="1371600" cy="457200"/>
          </a:xfrm>
          <a:prstGeom prst="rect">
            <a:avLst/>
          </a:prstGeom>
        </p:spPr>
      </p:pic>
      <p:sp>
        <p:nvSpPr>
          <p:cNvPr id="5" name="Text 2"/>
          <p:cNvSpPr/>
          <p:nvPr/>
        </p:nvSpPr>
        <p:spPr>
          <a:xfrm>
            <a:off x="1828800" y="54864"/>
            <a:ext cx="8503920" cy="566928"/>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OUR PERFORMANCE</a:t>
            </a:r>
            <a:endParaRPr lang="en-US" sz="3200" dirty="0"/>
          </a:p>
        </p:txBody>
      </p:sp>
      <p:sp>
        <p:nvSpPr>
          <p:cNvPr id="6" name="Text 3"/>
          <p:cNvSpPr/>
          <p:nvPr/>
        </p:nvSpPr>
        <p:spPr>
          <a:xfrm>
            <a:off x="1828800" y="621792"/>
            <a:ext cx="8503920" cy="292608"/>
          </a:xfrm>
          <a:prstGeom prst="rect">
            <a:avLst/>
          </a:prstGeom>
          <a:noFill/>
          <a:ln/>
        </p:spPr>
        <p:txBody>
          <a:bodyPr wrap="square" rtlCol="0" anchor="ctr"/>
          <a:lstStyle/>
          <a:p>
            <a:pPr algn="ctr" indent="0" marL="0">
              <a:buNone/>
            </a:pPr>
            <a:r>
              <a:rPr lang="en-US" sz="1200" dirty="0">
                <a:solidFill>
                  <a:srgbClr val="DDEEFF"/>
                </a:solidFill>
                <a:latin typeface="Arial" pitchFamily="34" charset="0"/>
                <a:ea typeface="Arial" pitchFamily="34" charset="-122"/>
                <a:cs typeface="Arial" pitchFamily="34" charset="-120"/>
              </a:rPr>
              <a:t>[Month / Week]  |  How we are doing against our key targets</a:t>
            </a:r>
            <a:endParaRPr lang="en-US" sz="1200" dirty="0"/>
          </a:p>
        </p:txBody>
      </p:sp>
      <p:sp>
        <p:nvSpPr>
          <p:cNvPr id="7" name="Shape 4"/>
          <p:cNvSpPr/>
          <p:nvPr/>
        </p:nvSpPr>
        <p:spPr>
          <a:xfrm>
            <a:off x="182880" y="1097280"/>
            <a:ext cx="3794760" cy="457200"/>
          </a:xfrm>
          <a:prstGeom prst="rect">
            <a:avLst/>
          </a:prstGeom>
          <a:solidFill>
            <a:srgbClr val="CC0000"/>
          </a:solidFill>
          <a:ln/>
        </p:spPr>
      </p:sp>
      <p:sp>
        <p:nvSpPr>
          <p:cNvPr id="8" name="Text 5"/>
          <p:cNvSpPr/>
          <p:nvPr/>
        </p:nvSpPr>
        <p:spPr>
          <a:xfrm>
            <a:off x="274320" y="113385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SAFETY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Near Misses Reported</a:t>
            </a:r>
            <a:endParaRPr lang="en-US" sz="1000" dirty="0"/>
          </a:p>
        </p:txBody>
      </p:sp>
      <p:sp>
        <p:nvSpPr>
          <p:cNvPr id="9" name="Shape 6"/>
          <p:cNvSpPr/>
          <p:nvPr/>
        </p:nvSpPr>
        <p:spPr>
          <a:xfrm>
            <a:off x="182880" y="1554480"/>
            <a:ext cx="3794760" cy="1051560"/>
          </a:xfrm>
          <a:prstGeom prst="rect">
            <a:avLst/>
          </a:prstGeom>
          <a:solidFill>
            <a:srgbClr val="F5F5F5"/>
          </a:solidFill>
          <a:ln w="6350">
            <a:solidFill>
              <a:srgbClr val="DDDDDD"/>
            </a:solidFill>
            <a:prstDash val="solid"/>
          </a:ln>
        </p:spPr>
      </p:sp>
      <p:sp>
        <p:nvSpPr>
          <p:cNvPr id="10" name="Text 7"/>
          <p:cNvSpPr/>
          <p:nvPr/>
        </p:nvSpPr>
        <p:spPr>
          <a:xfrm>
            <a:off x="274320" y="1600200"/>
            <a:ext cx="3611880" cy="658368"/>
          </a:xfrm>
          <a:prstGeom prst="rect">
            <a:avLst/>
          </a:prstGeom>
          <a:noFill/>
          <a:ln/>
        </p:spPr>
        <p:txBody>
          <a:bodyPr wrap="square" rtlCol="0" anchor="ctr"/>
          <a:lstStyle/>
          <a:p>
            <a:pPr algn="ctr" indent="0" marL="0">
              <a:buNone/>
            </a:pPr>
            <a:r>
              <a:rPr lang="en-US" sz="2800" b="1" dirty="0">
                <a:solidFill>
                  <a:srgbClr val="CC0000"/>
                </a:solidFill>
                <a:latin typeface="Arial" pitchFamily="34" charset="0"/>
                <a:ea typeface="Arial" pitchFamily="34" charset="-122"/>
                <a:cs typeface="Arial" pitchFamily="34" charset="-120"/>
              </a:rPr>
              <a:t>[X]</a:t>
            </a:r>
            <a:endParaRPr lang="en-US" sz="2800" dirty="0"/>
          </a:p>
        </p:txBody>
      </p:sp>
      <p:sp>
        <p:nvSpPr>
          <p:cNvPr id="11" name="Text 8"/>
          <p:cNvSpPr/>
          <p:nvPr/>
        </p:nvSpPr>
        <p:spPr>
          <a:xfrm>
            <a:off x="274320" y="221284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[X]+</a:t>
            </a:r>
            <a:endParaRPr lang="en-US" sz="900" dirty="0"/>
          </a:p>
        </p:txBody>
      </p:sp>
      <p:sp>
        <p:nvSpPr>
          <p:cNvPr id="12" name="Text 9"/>
          <p:cNvSpPr/>
          <p:nvPr/>
        </p:nvSpPr>
        <p:spPr>
          <a:xfrm>
            <a:off x="274320" y="239572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More reporting = stronger safety culture</a:t>
            </a:r>
            <a:endParaRPr lang="en-US" sz="850" dirty="0"/>
          </a:p>
        </p:txBody>
      </p:sp>
      <p:sp>
        <p:nvSpPr>
          <p:cNvPr id="13" name="Shape 10"/>
          <p:cNvSpPr/>
          <p:nvPr/>
        </p:nvSpPr>
        <p:spPr>
          <a:xfrm>
            <a:off x="4160520" y="1097280"/>
            <a:ext cx="3794760" cy="457200"/>
          </a:xfrm>
          <a:prstGeom prst="rect">
            <a:avLst/>
          </a:prstGeom>
          <a:solidFill>
            <a:srgbClr val="83348F"/>
          </a:solidFill>
          <a:ln/>
        </p:spPr>
      </p:sp>
      <p:sp>
        <p:nvSpPr>
          <p:cNvPr id="14" name="Text 11"/>
          <p:cNvSpPr/>
          <p:nvPr/>
        </p:nvSpPr>
        <p:spPr>
          <a:xfrm>
            <a:off x="4251960" y="113385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QUALITY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Right First Time %</a:t>
            </a:r>
            <a:endParaRPr lang="en-US" sz="1000" dirty="0"/>
          </a:p>
        </p:txBody>
      </p:sp>
      <p:sp>
        <p:nvSpPr>
          <p:cNvPr id="15" name="Shape 12"/>
          <p:cNvSpPr/>
          <p:nvPr/>
        </p:nvSpPr>
        <p:spPr>
          <a:xfrm>
            <a:off x="4160520" y="1554480"/>
            <a:ext cx="3794760" cy="1051560"/>
          </a:xfrm>
          <a:prstGeom prst="rect">
            <a:avLst/>
          </a:prstGeom>
          <a:solidFill>
            <a:srgbClr val="F5F5F5"/>
          </a:solidFill>
          <a:ln w="6350">
            <a:solidFill>
              <a:srgbClr val="DDDDDD"/>
            </a:solidFill>
            <a:prstDash val="solid"/>
          </a:ln>
        </p:spPr>
      </p:sp>
      <p:sp>
        <p:nvSpPr>
          <p:cNvPr id="16" name="Text 13"/>
          <p:cNvSpPr/>
          <p:nvPr/>
        </p:nvSpPr>
        <p:spPr>
          <a:xfrm>
            <a:off x="4251960" y="1600200"/>
            <a:ext cx="3611880" cy="658368"/>
          </a:xfrm>
          <a:prstGeom prst="rect">
            <a:avLst/>
          </a:prstGeom>
          <a:noFill/>
          <a:ln/>
        </p:spPr>
        <p:txBody>
          <a:bodyPr wrap="square" rtlCol="0" anchor="ctr"/>
          <a:lstStyle/>
          <a:p>
            <a:pPr algn="ctr" indent="0" marL="0">
              <a:buNone/>
            </a:pPr>
            <a:r>
              <a:rPr lang="en-US" sz="2800" b="1" dirty="0">
                <a:solidFill>
                  <a:srgbClr val="83348F"/>
                </a:solidFill>
                <a:latin typeface="Arial" pitchFamily="34" charset="0"/>
                <a:ea typeface="Arial" pitchFamily="34" charset="-122"/>
                <a:cs typeface="Arial" pitchFamily="34" charset="-120"/>
              </a:rPr>
              <a:t>[X%]</a:t>
            </a:r>
            <a:endParaRPr lang="en-US" sz="2800" dirty="0"/>
          </a:p>
        </p:txBody>
      </p:sp>
      <p:sp>
        <p:nvSpPr>
          <p:cNvPr id="17" name="Text 14"/>
          <p:cNvSpPr/>
          <p:nvPr/>
        </p:nvSpPr>
        <p:spPr>
          <a:xfrm>
            <a:off x="4251960" y="221284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[X%]</a:t>
            </a:r>
            <a:endParaRPr lang="en-US" sz="900" dirty="0"/>
          </a:p>
        </p:txBody>
      </p:sp>
      <p:sp>
        <p:nvSpPr>
          <p:cNvPr id="18" name="Text 15"/>
          <p:cNvSpPr/>
          <p:nvPr/>
        </p:nvSpPr>
        <p:spPr>
          <a:xfrm>
            <a:off x="4251960" y="239572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vs last month</a:t>
            </a:r>
            <a:endParaRPr lang="en-US" sz="850" dirty="0"/>
          </a:p>
        </p:txBody>
      </p:sp>
      <p:sp>
        <p:nvSpPr>
          <p:cNvPr id="19" name="Shape 16"/>
          <p:cNvSpPr/>
          <p:nvPr/>
        </p:nvSpPr>
        <p:spPr>
          <a:xfrm>
            <a:off x="8138160" y="1097280"/>
            <a:ext cx="3794760" cy="457200"/>
          </a:xfrm>
          <a:prstGeom prst="rect">
            <a:avLst/>
          </a:prstGeom>
          <a:solidFill>
            <a:srgbClr val="009FE3"/>
          </a:solidFill>
          <a:ln/>
        </p:spPr>
      </p:sp>
      <p:sp>
        <p:nvSpPr>
          <p:cNvPr id="20" name="Text 17"/>
          <p:cNvSpPr/>
          <p:nvPr/>
        </p:nvSpPr>
        <p:spPr>
          <a:xfrm>
            <a:off x="8229600" y="113385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DELIVERY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On Time In Full</a:t>
            </a:r>
            <a:endParaRPr lang="en-US" sz="1000" dirty="0"/>
          </a:p>
        </p:txBody>
      </p:sp>
      <p:sp>
        <p:nvSpPr>
          <p:cNvPr id="21" name="Shape 18"/>
          <p:cNvSpPr/>
          <p:nvPr/>
        </p:nvSpPr>
        <p:spPr>
          <a:xfrm>
            <a:off x="8138160" y="1554480"/>
            <a:ext cx="3794760" cy="1051560"/>
          </a:xfrm>
          <a:prstGeom prst="rect">
            <a:avLst/>
          </a:prstGeom>
          <a:solidFill>
            <a:srgbClr val="F5F5F5"/>
          </a:solidFill>
          <a:ln w="6350">
            <a:solidFill>
              <a:srgbClr val="DDDDDD"/>
            </a:solidFill>
            <a:prstDash val="solid"/>
          </a:ln>
        </p:spPr>
      </p:sp>
      <p:sp>
        <p:nvSpPr>
          <p:cNvPr id="22" name="Text 19"/>
          <p:cNvSpPr/>
          <p:nvPr/>
        </p:nvSpPr>
        <p:spPr>
          <a:xfrm>
            <a:off x="8229600" y="1600200"/>
            <a:ext cx="3611880" cy="658368"/>
          </a:xfrm>
          <a:prstGeom prst="rect">
            <a:avLst/>
          </a:prstGeom>
          <a:noFill/>
          <a:ln/>
        </p:spPr>
        <p:txBody>
          <a:bodyPr wrap="square" rtlCol="0" anchor="ctr"/>
          <a:lstStyle/>
          <a:p>
            <a:pPr algn="ctr" indent="0" marL="0">
              <a:buNone/>
            </a:pPr>
            <a:r>
              <a:rPr lang="en-US" sz="2800" b="1" dirty="0">
                <a:solidFill>
                  <a:srgbClr val="009FE3"/>
                </a:solidFill>
                <a:latin typeface="Arial" pitchFamily="34" charset="0"/>
                <a:ea typeface="Arial" pitchFamily="34" charset="-122"/>
                <a:cs typeface="Arial" pitchFamily="34" charset="-120"/>
              </a:rPr>
              <a:t>[X%]</a:t>
            </a:r>
            <a:endParaRPr lang="en-US" sz="2800" dirty="0"/>
          </a:p>
        </p:txBody>
      </p:sp>
      <p:sp>
        <p:nvSpPr>
          <p:cNvPr id="23" name="Text 20"/>
          <p:cNvSpPr/>
          <p:nvPr/>
        </p:nvSpPr>
        <p:spPr>
          <a:xfrm>
            <a:off x="8229600" y="221284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95%</a:t>
            </a:r>
            <a:endParaRPr lang="en-US" sz="900" dirty="0"/>
          </a:p>
        </p:txBody>
      </p:sp>
      <p:sp>
        <p:nvSpPr>
          <p:cNvPr id="24" name="Text 21"/>
          <p:cNvSpPr/>
          <p:nvPr/>
        </p:nvSpPr>
        <p:spPr>
          <a:xfrm>
            <a:off x="8229600" y="239572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vs last month</a:t>
            </a:r>
            <a:endParaRPr lang="en-US" sz="850" dirty="0"/>
          </a:p>
        </p:txBody>
      </p:sp>
      <p:sp>
        <p:nvSpPr>
          <p:cNvPr id="25" name="Shape 22"/>
          <p:cNvSpPr/>
          <p:nvPr/>
        </p:nvSpPr>
        <p:spPr>
          <a:xfrm>
            <a:off x="182880" y="2788920"/>
            <a:ext cx="3794760" cy="457200"/>
          </a:xfrm>
          <a:prstGeom prst="rect">
            <a:avLst/>
          </a:prstGeom>
          <a:solidFill>
            <a:srgbClr val="FFC000"/>
          </a:solidFill>
          <a:ln/>
        </p:spPr>
      </p:sp>
      <p:sp>
        <p:nvSpPr>
          <p:cNvPr id="26" name="Text 23"/>
          <p:cNvSpPr/>
          <p:nvPr/>
        </p:nvSpPr>
        <p:spPr>
          <a:xfrm>
            <a:off x="274320" y="282549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COST</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Scrap and Rework</a:t>
            </a:r>
            <a:endParaRPr lang="en-US" sz="1000" dirty="0"/>
          </a:p>
        </p:txBody>
      </p:sp>
      <p:sp>
        <p:nvSpPr>
          <p:cNvPr id="27" name="Shape 24"/>
          <p:cNvSpPr/>
          <p:nvPr/>
        </p:nvSpPr>
        <p:spPr>
          <a:xfrm>
            <a:off x="182880" y="3246120"/>
            <a:ext cx="3794760" cy="1051560"/>
          </a:xfrm>
          <a:prstGeom prst="rect">
            <a:avLst/>
          </a:prstGeom>
          <a:solidFill>
            <a:srgbClr val="F5F5F5"/>
          </a:solidFill>
          <a:ln w="6350">
            <a:solidFill>
              <a:srgbClr val="DDDDDD"/>
            </a:solidFill>
            <a:prstDash val="solid"/>
          </a:ln>
        </p:spPr>
      </p:sp>
      <p:sp>
        <p:nvSpPr>
          <p:cNvPr id="28" name="Text 25"/>
          <p:cNvSpPr/>
          <p:nvPr/>
        </p:nvSpPr>
        <p:spPr>
          <a:xfrm>
            <a:off x="274320" y="3291840"/>
            <a:ext cx="3611880" cy="658368"/>
          </a:xfrm>
          <a:prstGeom prst="rect">
            <a:avLst/>
          </a:prstGeom>
          <a:noFill/>
          <a:ln/>
        </p:spPr>
        <p:txBody>
          <a:bodyPr wrap="square" rtlCol="0" anchor="ctr"/>
          <a:lstStyle/>
          <a:p>
            <a:pPr algn="ctr" indent="0" marL="0">
              <a:buNone/>
            </a:pPr>
            <a:r>
              <a:rPr lang="en-US" sz="2800" b="1" dirty="0">
                <a:solidFill>
                  <a:srgbClr val="FFC000"/>
                </a:solidFill>
                <a:latin typeface="Arial" pitchFamily="34" charset="0"/>
                <a:ea typeface="Arial" pitchFamily="34" charset="-122"/>
                <a:cs typeface="Arial" pitchFamily="34" charset="-120"/>
              </a:rPr>
              <a:t>£[X]</a:t>
            </a:r>
            <a:endParaRPr lang="en-US" sz="2800" dirty="0"/>
          </a:p>
        </p:txBody>
      </p:sp>
      <p:sp>
        <p:nvSpPr>
          <p:cNvPr id="29" name="Text 26"/>
          <p:cNvSpPr/>
          <p:nvPr/>
        </p:nvSpPr>
        <p:spPr>
          <a:xfrm>
            <a:off x="274320" y="390448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&lt;£[X]</a:t>
            </a:r>
            <a:endParaRPr lang="en-US" sz="900" dirty="0"/>
          </a:p>
        </p:txBody>
      </p:sp>
      <p:sp>
        <p:nvSpPr>
          <p:cNvPr id="30" name="Text 27"/>
          <p:cNvSpPr/>
          <p:nvPr/>
        </p:nvSpPr>
        <p:spPr>
          <a:xfrm>
            <a:off x="274320" y="408736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 vs last month</a:t>
            </a:r>
            <a:endParaRPr lang="en-US" sz="850" dirty="0"/>
          </a:p>
        </p:txBody>
      </p:sp>
      <p:sp>
        <p:nvSpPr>
          <p:cNvPr id="31" name="Shape 28"/>
          <p:cNvSpPr/>
          <p:nvPr/>
        </p:nvSpPr>
        <p:spPr>
          <a:xfrm>
            <a:off x="4160520" y="2788920"/>
            <a:ext cx="3794760" cy="457200"/>
          </a:xfrm>
          <a:prstGeom prst="rect">
            <a:avLst/>
          </a:prstGeom>
          <a:solidFill>
            <a:srgbClr val="2E7D32"/>
          </a:solidFill>
          <a:ln/>
        </p:spPr>
      </p:sp>
      <p:sp>
        <p:nvSpPr>
          <p:cNvPr id="32" name="Text 29"/>
          <p:cNvSpPr/>
          <p:nvPr/>
        </p:nvSpPr>
        <p:spPr>
          <a:xfrm>
            <a:off x="4251960" y="282549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PEOPLE</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Ideas Submitted</a:t>
            </a:r>
            <a:endParaRPr lang="en-US" sz="1000" dirty="0"/>
          </a:p>
        </p:txBody>
      </p:sp>
      <p:sp>
        <p:nvSpPr>
          <p:cNvPr id="33" name="Shape 30"/>
          <p:cNvSpPr/>
          <p:nvPr/>
        </p:nvSpPr>
        <p:spPr>
          <a:xfrm>
            <a:off x="4160520" y="3246120"/>
            <a:ext cx="3794760" cy="1051560"/>
          </a:xfrm>
          <a:prstGeom prst="rect">
            <a:avLst/>
          </a:prstGeom>
          <a:solidFill>
            <a:srgbClr val="F5F5F5"/>
          </a:solidFill>
          <a:ln w="6350">
            <a:solidFill>
              <a:srgbClr val="DDDDDD"/>
            </a:solidFill>
            <a:prstDash val="solid"/>
          </a:ln>
        </p:spPr>
      </p:sp>
      <p:sp>
        <p:nvSpPr>
          <p:cNvPr id="34" name="Text 31"/>
          <p:cNvSpPr/>
          <p:nvPr/>
        </p:nvSpPr>
        <p:spPr>
          <a:xfrm>
            <a:off x="4251960" y="3291840"/>
            <a:ext cx="3611880" cy="658368"/>
          </a:xfrm>
          <a:prstGeom prst="rect">
            <a:avLst/>
          </a:prstGeom>
          <a:noFill/>
          <a:ln/>
        </p:spPr>
        <p:txBody>
          <a:bodyPr wrap="square" rtlCol="0" anchor="ctr"/>
          <a:lstStyle/>
          <a:p>
            <a:pPr algn="ctr" indent="0" marL="0">
              <a:buNone/>
            </a:pPr>
            <a:r>
              <a:rPr lang="en-US" sz="2800" b="1" dirty="0">
                <a:solidFill>
                  <a:srgbClr val="2E7D32"/>
                </a:solidFill>
                <a:latin typeface="Arial" pitchFamily="34" charset="0"/>
                <a:ea typeface="Arial" pitchFamily="34" charset="-122"/>
                <a:cs typeface="Arial" pitchFamily="34" charset="-120"/>
              </a:rPr>
              <a:t>[X]</a:t>
            </a:r>
            <a:endParaRPr lang="en-US" sz="2800" dirty="0"/>
          </a:p>
        </p:txBody>
      </p:sp>
      <p:sp>
        <p:nvSpPr>
          <p:cNvPr id="35" name="Text 32"/>
          <p:cNvSpPr/>
          <p:nvPr/>
        </p:nvSpPr>
        <p:spPr>
          <a:xfrm>
            <a:off x="4251960" y="390448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[X]+</a:t>
            </a:r>
            <a:endParaRPr lang="en-US" sz="900" dirty="0"/>
          </a:p>
        </p:txBody>
      </p:sp>
      <p:sp>
        <p:nvSpPr>
          <p:cNvPr id="36" name="Text 33"/>
          <p:cNvSpPr/>
          <p:nvPr/>
        </p:nvSpPr>
        <p:spPr>
          <a:xfrm>
            <a:off x="4251960" y="408736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[X] implemented this month</a:t>
            </a:r>
            <a:endParaRPr lang="en-US" sz="850" dirty="0"/>
          </a:p>
        </p:txBody>
      </p:sp>
      <p:sp>
        <p:nvSpPr>
          <p:cNvPr id="37" name="Shape 34"/>
          <p:cNvSpPr/>
          <p:nvPr/>
        </p:nvSpPr>
        <p:spPr>
          <a:xfrm>
            <a:off x="8138160" y="2788920"/>
            <a:ext cx="3794760" cy="457200"/>
          </a:xfrm>
          <a:prstGeom prst="rect">
            <a:avLst/>
          </a:prstGeom>
          <a:solidFill>
            <a:srgbClr val="83348F"/>
          </a:solidFill>
          <a:ln/>
        </p:spPr>
      </p:sp>
      <p:sp>
        <p:nvSpPr>
          <p:cNvPr id="38" name="Text 35"/>
          <p:cNvSpPr/>
          <p:nvPr/>
        </p:nvSpPr>
        <p:spPr>
          <a:xfrm>
            <a:off x="8229600" y="2825496"/>
            <a:ext cx="36118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NUCLEAR</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NCR Rate</a:t>
            </a:r>
            <a:endParaRPr lang="en-US" sz="1000" dirty="0"/>
          </a:p>
        </p:txBody>
      </p:sp>
      <p:sp>
        <p:nvSpPr>
          <p:cNvPr id="39" name="Shape 36"/>
          <p:cNvSpPr/>
          <p:nvPr/>
        </p:nvSpPr>
        <p:spPr>
          <a:xfrm>
            <a:off x="8138160" y="3246120"/>
            <a:ext cx="3794760" cy="1051560"/>
          </a:xfrm>
          <a:prstGeom prst="rect">
            <a:avLst/>
          </a:prstGeom>
          <a:solidFill>
            <a:srgbClr val="F5F5F5"/>
          </a:solidFill>
          <a:ln w="6350">
            <a:solidFill>
              <a:srgbClr val="DDDDDD"/>
            </a:solidFill>
            <a:prstDash val="solid"/>
          </a:ln>
        </p:spPr>
      </p:sp>
      <p:sp>
        <p:nvSpPr>
          <p:cNvPr id="40" name="Text 37"/>
          <p:cNvSpPr/>
          <p:nvPr/>
        </p:nvSpPr>
        <p:spPr>
          <a:xfrm>
            <a:off x="8229600" y="3291840"/>
            <a:ext cx="3611880" cy="658368"/>
          </a:xfrm>
          <a:prstGeom prst="rect">
            <a:avLst/>
          </a:prstGeom>
          <a:noFill/>
          <a:ln/>
        </p:spPr>
        <p:txBody>
          <a:bodyPr wrap="square" rtlCol="0" anchor="ctr"/>
          <a:lstStyle/>
          <a:p>
            <a:pPr algn="ctr" indent="0" marL="0">
              <a:buNone/>
            </a:pPr>
            <a:r>
              <a:rPr lang="en-US" sz="2800" b="1" dirty="0">
                <a:solidFill>
                  <a:srgbClr val="83348F"/>
                </a:solidFill>
                <a:latin typeface="Arial" pitchFamily="34" charset="0"/>
                <a:ea typeface="Arial" pitchFamily="34" charset="-122"/>
                <a:cs typeface="Arial" pitchFamily="34" charset="-120"/>
              </a:rPr>
              <a:t>[X]</a:t>
            </a:r>
            <a:endParaRPr lang="en-US" sz="2800" dirty="0"/>
          </a:p>
        </p:txBody>
      </p:sp>
      <p:sp>
        <p:nvSpPr>
          <p:cNvPr id="41" name="Text 38"/>
          <p:cNvSpPr/>
          <p:nvPr/>
        </p:nvSpPr>
        <p:spPr>
          <a:xfrm>
            <a:off x="8229600" y="3904488"/>
            <a:ext cx="3611880" cy="201168"/>
          </a:xfrm>
          <a:prstGeom prst="rect">
            <a:avLst/>
          </a:prstGeom>
          <a:noFill/>
          <a:ln/>
        </p:spPr>
        <p:txBody>
          <a:bodyPr wrap="square" rtlCol="0" anchor="ctr"/>
          <a:lstStyle/>
          <a:p>
            <a:pPr algn="ctr" indent="0" marL="0">
              <a:buNone/>
            </a:pPr>
            <a:r>
              <a:rPr lang="en-US" sz="900" dirty="0">
                <a:solidFill>
                  <a:srgbClr val="5B595A"/>
                </a:solidFill>
                <a:latin typeface="Arial" pitchFamily="34" charset="0"/>
                <a:ea typeface="Arial" pitchFamily="34" charset="-122"/>
                <a:cs typeface="Arial" pitchFamily="34" charset="-120"/>
              </a:rPr>
              <a:t>Target: 0 on QC1/2</a:t>
            </a:r>
            <a:endParaRPr lang="en-US" sz="900" dirty="0"/>
          </a:p>
        </p:txBody>
      </p:sp>
      <p:sp>
        <p:nvSpPr>
          <p:cNvPr id="42" name="Text 39"/>
          <p:cNvSpPr/>
          <p:nvPr/>
        </p:nvSpPr>
        <p:spPr>
          <a:xfrm>
            <a:off x="8229600" y="4087368"/>
            <a:ext cx="3611880" cy="164592"/>
          </a:xfrm>
          <a:prstGeom prst="rect">
            <a:avLst/>
          </a:prstGeom>
          <a:noFill/>
          <a:ln/>
        </p:spPr>
        <p:txBody>
          <a:bodyPr wrap="square" rtlCol="0" anchor="ctr"/>
          <a:lstStyle/>
          <a:p>
            <a:pPr algn="ctr" indent="0" marL="0">
              <a:buNone/>
            </a:pPr>
            <a:r>
              <a:rPr lang="en-US" sz="850" i="1" dirty="0">
                <a:solidFill>
                  <a:srgbClr val="5B595A"/>
                </a:solidFill>
                <a:latin typeface="Arial" pitchFamily="34" charset="0"/>
                <a:ea typeface="Arial" pitchFamily="34" charset="-122"/>
                <a:cs typeface="Arial" pitchFamily="34" charset="-120"/>
              </a:rPr>
              <a:t>vs last month</a:t>
            </a:r>
            <a:endParaRPr lang="en-US" sz="850" dirty="0"/>
          </a:p>
        </p:txBody>
      </p:sp>
      <p:sp>
        <p:nvSpPr>
          <p:cNvPr id="43" name="Shape 40"/>
          <p:cNvSpPr/>
          <p:nvPr/>
        </p:nvSpPr>
        <p:spPr>
          <a:xfrm>
            <a:off x="182880" y="4572000"/>
            <a:ext cx="11795760" cy="475488"/>
          </a:xfrm>
          <a:prstGeom prst="rect">
            <a:avLst/>
          </a:prstGeom>
          <a:solidFill>
            <a:srgbClr val="E6F4FB"/>
          </a:solidFill>
          <a:ln w="12700">
            <a:solidFill>
              <a:srgbClr val="009FE3"/>
            </a:solidFill>
            <a:prstDash val="solid"/>
          </a:ln>
        </p:spPr>
      </p:sp>
      <p:sp>
        <p:nvSpPr>
          <p:cNvPr id="44" name="Text 41"/>
          <p:cNvSpPr/>
          <p:nvPr/>
        </p:nvSpPr>
        <p:spPr>
          <a:xfrm>
            <a:off x="274320" y="4590288"/>
            <a:ext cx="11612880" cy="438912"/>
          </a:xfrm>
          <a:prstGeom prst="rect">
            <a:avLst/>
          </a:prstGeom>
          <a:noFill/>
          <a:ln/>
        </p:spPr>
        <p:txBody>
          <a:bodyPr wrap="square" rtlCol="0" anchor="ctr"/>
          <a:lstStyle/>
          <a:p>
            <a:pPr indent="0" marL="0">
              <a:buNone/>
            </a:pPr>
            <a:r>
              <a:rPr lang="en-US" sz="1200" b="1" dirty="0">
                <a:solidFill>
                  <a:srgbClr val="009FE3"/>
                </a:solidFill>
                <a:latin typeface="Arial" pitchFamily="34" charset="0"/>
                <a:ea typeface="Arial" pitchFamily="34" charset="-122"/>
                <a:cs typeface="Arial" pitchFamily="34" charset="-120"/>
              </a:rPr>
              <a:t>THIS MONTH'S FOCUS: [Write the team's main priority for the month here]</a:t>
            </a:r>
            <a:endParaRPr lang="en-US" sz="1200" dirty="0"/>
          </a:p>
        </p:txBody>
      </p:sp>
      <p:sp>
        <p:nvSpPr>
          <p:cNvPr id="45" name="Rectangle 44"/>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4"/>
          <a:stretch>
            <a:fillRect/>
          </a:stretch>
        </p:blipFill>
        <p:spPr>
          <a:xfrm>
            <a:off x="10610088" y="100584"/>
            <a:ext cx="566928" cy="347472"/>
          </a:xfrm>
          <a:prstGeom prst="rect">
            <a:avLst/>
          </a:prstGeom>
        </p:spPr>
      </p:pic>
      <p:pic>
        <p:nvPicPr>
          <p:cNvPr id="47" name="Picture 46" descr="image.png"/>
          <p:cNvPicPr>
            <a:picLocks noChangeAspect="1"/>
          </p:cNvPicPr>
          <p:nvPr/>
        </p:nvPicPr>
        <p:blipFill>
          <a:blip r:embed="rId5"/>
          <a:stretch>
            <a:fillRect/>
          </a:stretch>
        </p:blipFill>
        <p:spPr>
          <a:xfrm>
            <a:off x="11222736" y="100584"/>
            <a:ext cx="658368" cy="347472"/>
          </a:xfrm>
          <a:prstGeom prst="rect">
            <a:avLst/>
          </a:prstGeom>
        </p:spPr>
      </p:pic>
      <p:sp>
        <p:nvSpPr>
          <p:cNvPr id="48" name="Rectangle 47"/>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115568"/>
          </a:xfrm>
          <a:prstGeom prst="rect">
            <a:avLst/>
          </a:prstGeom>
          <a:solidFill>
            <a:srgbClr val="009FE3"/>
          </a:solidFill>
          <a:ln/>
        </p:spPr>
      </p:sp>
      <p:pic>
        <p:nvPicPr>
          <p:cNvPr id="4" name="Image 0" descr="preencoded.png">    </p:cNvPr>
          <p:cNvPicPr>
            <a:picLocks noChangeAspect="1"/>
          </p:cNvPicPr>
          <p:nvPr/>
        </p:nvPicPr>
        <p:blipFill>
          <a:blip r:embed="rId1"/>
          <a:stretch>
            <a:fillRect/>
          </a:stretch>
        </p:blipFill>
        <p:spPr>
          <a:xfrm>
            <a:off x="274320" y="219456"/>
            <a:ext cx="1371600" cy="457200"/>
          </a:xfrm>
          <a:prstGeom prst="rect">
            <a:avLst/>
          </a:prstGeom>
        </p:spPr>
      </p:pic>
      <p:sp>
        <p:nvSpPr>
          <p:cNvPr id="5" name="Text 2"/>
          <p:cNvSpPr/>
          <p:nvPr/>
        </p:nvSpPr>
        <p:spPr>
          <a:xfrm>
            <a:off x="1828800" y="73152"/>
            <a:ext cx="8503920" cy="59436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WORKING IN THE NUCLEAR SUPPLY CHAIN</a:t>
            </a:r>
            <a:endParaRPr lang="en-US" sz="2600" dirty="0"/>
          </a:p>
        </p:txBody>
      </p:sp>
      <p:sp>
        <p:nvSpPr>
          <p:cNvPr id="6" name="Text 3"/>
          <p:cNvSpPr/>
          <p:nvPr/>
        </p:nvSpPr>
        <p:spPr>
          <a:xfrm>
            <a:off x="1828800" y="658368"/>
            <a:ext cx="8503920" cy="329184"/>
          </a:xfrm>
          <a:prstGeom prst="rect">
            <a:avLst/>
          </a:prstGeom>
          <a:noFill/>
          <a:ln/>
        </p:spPr>
        <p:txBody>
          <a:bodyPr wrap="square" rtlCol="0" anchor="ctr"/>
          <a:lstStyle/>
          <a:p>
            <a:pPr algn="ctr" indent="0" marL="0">
              <a:buNone/>
            </a:pPr>
            <a:r>
              <a:rPr lang="en-US" sz="1400" dirty="0">
                <a:solidFill>
                  <a:srgbClr val="DDEEFF"/>
                </a:solidFill>
                <a:latin typeface="Arial" pitchFamily="34" charset="0"/>
                <a:ea typeface="Arial" pitchFamily="34" charset="-122"/>
                <a:cs typeface="Arial" pitchFamily="34" charset="-120"/>
              </a:rPr>
              <a:t>What makes us different. What makes us trusted.</a:t>
            </a:r>
            <a:endParaRPr lang="en-US" sz="1400" dirty="0"/>
          </a:p>
        </p:txBody>
      </p:sp>
      <p:sp>
        <p:nvSpPr>
          <p:cNvPr id="7" name="Shape 4"/>
          <p:cNvSpPr/>
          <p:nvPr/>
        </p:nvSpPr>
        <p:spPr>
          <a:xfrm>
            <a:off x="182880" y="1207008"/>
            <a:ext cx="438912" cy="1719072"/>
          </a:xfrm>
          <a:prstGeom prst="rect">
            <a:avLst/>
          </a:prstGeom>
          <a:solidFill>
            <a:srgbClr val="009FE3"/>
          </a:solidFill>
          <a:ln/>
        </p:spPr>
      </p:sp>
      <p:sp>
        <p:nvSpPr>
          <p:cNvPr id="8" name="Text 5"/>
          <p:cNvSpPr/>
          <p:nvPr/>
        </p:nvSpPr>
        <p:spPr>
          <a:xfrm>
            <a:off x="210312" y="17922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Shape 6"/>
          <p:cNvSpPr/>
          <p:nvPr/>
        </p:nvSpPr>
        <p:spPr>
          <a:xfrm>
            <a:off x="621792" y="1207008"/>
            <a:ext cx="5367528" cy="1719072"/>
          </a:xfrm>
          <a:prstGeom prst="rect">
            <a:avLst/>
          </a:prstGeom>
          <a:solidFill>
            <a:srgbClr val="F5F5F5"/>
          </a:solidFill>
          <a:ln w="6350">
            <a:solidFill>
              <a:srgbClr val="DDDDDD"/>
            </a:solidFill>
            <a:prstDash val="solid"/>
          </a:ln>
        </p:spPr>
      </p:sp>
      <p:sp>
        <p:nvSpPr>
          <p:cNvPr id="10" name="Text 7"/>
          <p:cNvSpPr/>
          <p:nvPr/>
        </p:nvSpPr>
        <p:spPr>
          <a:xfrm>
            <a:off x="731520" y="1298448"/>
            <a:ext cx="5148072" cy="384048"/>
          </a:xfrm>
          <a:prstGeom prst="rect">
            <a:avLst/>
          </a:prstGeom>
          <a:noFill/>
          <a:ln/>
        </p:spPr>
        <p:txBody>
          <a:bodyPr wrap="square" rtlCol="0" anchor="ctr"/>
          <a:lstStyle/>
          <a:p>
            <a:pPr indent="0" marL="0">
              <a:buNone/>
            </a:pPr>
            <a:r>
              <a:rPr lang="en-US" sz="1050" b="1" dirty="0">
                <a:solidFill>
                  <a:srgbClr val="009FE3"/>
                </a:solidFill>
                <a:latin typeface="Arial" pitchFamily="34" charset="0"/>
                <a:ea typeface="Arial" pitchFamily="34" charset="-122"/>
                <a:cs typeface="Arial" pitchFamily="34" charset="-120"/>
              </a:rPr>
              <a:t>Why does nuclear quality matter so much?</a:t>
            </a:r>
            <a:endParaRPr lang="en-US" sz="1050" dirty="0"/>
          </a:p>
        </p:txBody>
      </p:sp>
      <p:sp>
        <p:nvSpPr>
          <p:cNvPr id="11" name="Text 8"/>
          <p:cNvSpPr/>
          <p:nvPr/>
        </p:nvSpPr>
        <p:spPr>
          <a:xfrm>
            <a:off x="731520" y="17099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Components in a nuclear facility can be in service for 60 years. The work you do today may be relied upon by people who have not yet been born. That is why we get it right.</a:t>
            </a:r>
            <a:endParaRPr lang="en-US" sz="1000" dirty="0"/>
          </a:p>
        </p:txBody>
      </p:sp>
      <p:sp>
        <p:nvSpPr>
          <p:cNvPr id="12" name="Shape 9"/>
          <p:cNvSpPr/>
          <p:nvPr/>
        </p:nvSpPr>
        <p:spPr>
          <a:xfrm>
            <a:off x="6172200" y="1207008"/>
            <a:ext cx="438912" cy="1719072"/>
          </a:xfrm>
          <a:prstGeom prst="rect">
            <a:avLst/>
          </a:prstGeom>
          <a:solidFill>
            <a:srgbClr val="83348F"/>
          </a:solidFill>
          <a:ln/>
        </p:spPr>
      </p:sp>
      <p:sp>
        <p:nvSpPr>
          <p:cNvPr id="13" name="Text 10"/>
          <p:cNvSpPr/>
          <p:nvPr/>
        </p:nvSpPr>
        <p:spPr>
          <a:xfrm>
            <a:off x="6199632" y="17922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4" name="Shape 11"/>
          <p:cNvSpPr/>
          <p:nvPr/>
        </p:nvSpPr>
        <p:spPr>
          <a:xfrm>
            <a:off x="6611112" y="1207008"/>
            <a:ext cx="5367528" cy="1719072"/>
          </a:xfrm>
          <a:prstGeom prst="rect">
            <a:avLst/>
          </a:prstGeom>
          <a:solidFill>
            <a:srgbClr val="F5F5F5"/>
          </a:solidFill>
          <a:ln w="6350">
            <a:solidFill>
              <a:srgbClr val="DDDDDD"/>
            </a:solidFill>
            <a:prstDash val="solid"/>
          </a:ln>
        </p:spPr>
      </p:sp>
      <p:sp>
        <p:nvSpPr>
          <p:cNvPr id="15" name="Text 12"/>
          <p:cNvSpPr/>
          <p:nvPr/>
        </p:nvSpPr>
        <p:spPr>
          <a:xfrm>
            <a:off x="6720840" y="1298448"/>
            <a:ext cx="5148072" cy="384048"/>
          </a:xfrm>
          <a:prstGeom prst="rect">
            <a:avLst/>
          </a:prstGeom>
          <a:noFill/>
          <a:ln/>
        </p:spPr>
        <p:txBody>
          <a:bodyPr wrap="square" rtlCol="0" anchor="ctr"/>
          <a:lstStyle/>
          <a:p>
            <a:pPr indent="0" marL="0">
              <a:buNone/>
            </a:pPr>
            <a:r>
              <a:rPr lang="en-US" sz="1050" b="1" dirty="0">
                <a:solidFill>
                  <a:srgbClr val="83348F"/>
                </a:solidFill>
                <a:latin typeface="Arial" pitchFamily="34" charset="0"/>
                <a:ea typeface="Arial" pitchFamily="34" charset="-122"/>
                <a:cs typeface="Arial" pitchFamily="34" charset="-120"/>
              </a:rPr>
              <a:t>What does conservative decision-making mean?</a:t>
            </a:r>
            <a:endParaRPr lang="en-US" sz="1050" dirty="0"/>
          </a:p>
        </p:txBody>
      </p:sp>
      <p:sp>
        <p:nvSpPr>
          <p:cNvPr id="16" name="Text 13"/>
          <p:cNvSpPr/>
          <p:nvPr/>
        </p:nvSpPr>
        <p:spPr>
          <a:xfrm>
            <a:off x="6720840" y="17099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When in doubt, stop and ask. In nuclear, the cost of stopping to verify is always less than the cost of getting it wrong. You have the authority to stop your own work at any time.</a:t>
            </a:r>
            <a:endParaRPr lang="en-US" sz="1000" dirty="0"/>
          </a:p>
        </p:txBody>
      </p:sp>
      <p:sp>
        <p:nvSpPr>
          <p:cNvPr id="17" name="Shape 14"/>
          <p:cNvSpPr/>
          <p:nvPr/>
        </p:nvSpPr>
        <p:spPr>
          <a:xfrm>
            <a:off x="182880" y="3035808"/>
            <a:ext cx="438912" cy="1719072"/>
          </a:xfrm>
          <a:prstGeom prst="rect">
            <a:avLst/>
          </a:prstGeom>
          <a:solidFill>
            <a:srgbClr val="009FE3"/>
          </a:solidFill>
          <a:ln/>
        </p:spPr>
      </p:sp>
      <p:sp>
        <p:nvSpPr>
          <p:cNvPr id="18" name="Text 15"/>
          <p:cNvSpPr/>
          <p:nvPr/>
        </p:nvSpPr>
        <p:spPr>
          <a:xfrm>
            <a:off x="210312" y="36210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Shape 16"/>
          <p:cNvSpPr/>
          <p:nvPr/>
        </p:nvSpPr>
        <p:spPr>
          <a:xfrm>
            <a:off x="621792" y="3035808"/>
            <a:ext cx="5367528" cy="1719072"/>
          </a:xfrm>
          <a:prstGeom prst="rect">
            <a:avLst/>
          </a:prstGeom>
          <a:solidFill>
            <a:srgbClr val="F5F5F5"/>
          </a:solidFill>
          <a:ln w="6350">
            <a:solidFill>
              <a:srgbClr val="DDDDDD"/>
            </a:solidFill>
            <a:prstDash val="solid"/>
          </a:ln>
        </p:spPr>
      </p:sp>
      <p:sp>
        <p:nvSpPr>
          <p:cNvPr id="20" name="Text 17"/>
          <p:cNvSpPr/>
          <p:nvPr/>
        </p:nvSpPr>
        <p:spPr>
          <a:xfrm>
            <a:off x="731520" y="3127248"/>
            <a:ext cx="5148072" cy="384048"/>
          </a:xfrm>
          <a:prstGeom prst="rect">
            <a:avLst/>
          </a:prstGeom>
          <a:noFill/>
          <a:ln/>
        </p:spPr>
        <p:txBody>
          <a:bodyPr wrap="square" rtlCol="0" anchor="ctr"/>
          <a:lstStyle/>
          <a:p>
            <a:pPr indent="0" marL="0">
              <a:buNone/>
            </a:pPr>
            <a:r>
              <a:rPr lang="en-US" sz="1050" b="1" dirty="0">
                <a:solidFill>
                  <a:srgbClr val="009FE3"/>
                </a:solidFill>
                <a:latin typeface="Arial" pitchFamily="34" charset="0"/>
                <a:ea typeface="Arial" pitchFamily="34" charset="-122"/>
                <a:cs typeface="Arial" pitchFamily="34" charset="-120"/>
              </a:rPr>
              <a:t>What is graded quality?</a:t>
            </a:r>
            <a:endParaRPr lang="en-US" sz="1050" dirty="0"/>
          </a:p>
        </p:txBody>
      </p:sp>
      <p:sp>
        <p:nvSpPr>
          <p:cNvPr id="21" name="Text 18"/>
          <p:cNvSpPr/>
          <p:nvPr/>
        </p:nvSpPr>
        <p:spPr>
          <a:xfrm>
            <a:off x="731520" y="35387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Not every component has the same safety significance. QC1 items are safety-critical and need 100% inspection. QC4 items are commercial standard. The classification determines how we work.</a:t>
            </a:r>
            <a:endParaRPr lang="en-US" sz="1000" dirty="0"/>
          </a:p>
        </p:txBody>
      </p:sp>
      <p:sp>
        <p:nvSpPr>
          <p:cNvPr id="22" name="Shape 19"/>
          <p:cNvSpPr/>
          <p:nvPr/>
        </p:nvSpPr>
        <p:spPr>
          <a:xfrm>
            <a:off x="6172200" y="3035808"/>
            <a:ext cx="438912" cy="1719072"/>
          </a:xfrm>
          <a:prstGeom prst="rect">
            <a:avLst/>
          </a:prstGeom>
          <a:solidFill>
            <a:srgbClr val="83348F"/>
          </a:solidFill>
          <a:ln/>
        </p:spPr>
      </p:sp>
      <p:sp>
        <p:nvSpPr>
          <p:cNvPr id="23" name="Text 20"/>
          <p:cNvSpPr/>
          <p:nvPr/>
        </p:nvSpPr>
        <p:spPr>
          <a:xfrm>
            <a:off x="6199632" y="36210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4" name="Shape 21"/>
          <p:cNvSpPr/>
          <p:nvPr/>
        </p:nvSpPr>
        <p:spPr>
          <a:xfrm>
            <a:off x="6611112" y="3035808"/>
            <a:ext cx="5367528" cy="1719072"/>
          </a:xfrm>
          <a:prstGeom prst="rect">
            <a:avLst/>
          </a:prstGeom>
          <a:solidFill>
            <a:srgbClr val="F5F5F5"/>
          </a:solidFill>
          <a:ln w="6350">
            <a:solidFill>
              <a:srgbClr val="DDDDDD"/>
            </a:solidFill>
            <a:prstDash val="solid"/>
          </a:ln>
        </p:spPr>
      </p:sp>
      <p:sp>
        <p:nvSpPr>
          <p:cNvPr id="25" name="Text 22"/>
          <p:cNvSpPr/>
          <p:nvPr/>
        </p:nvSpPr>
        <p:spPr>
          <a:xfrm>
            <a:off x="6720840" y="3127248"/>
            <a:ext cx="5148072" cy="384048"/>
          </a:xfrm>
          <a:prstGeom prst="rect">
            <a:avLst/>
          </a:prstGeom>
          <a:noFill/>
          <a:ln/>
        </p:spPr>
        <p:txBody>
          <a:bodyPr wrap="square" rtlCol="0" anchor="ctr"/>
          <a:lstStyle/>
          <a:p>
            <a:pPr indent="0" marL="0">
              <a:buNone/>
            </a:pPr>
            <a:r>
              <a:rPr lang="en-US" sz="1050" b="1" dirty="0">
                <a:solidFill>
                  <a:srgbClr val="83348F"/>
                </a:solidFill>
                <a:latin typeface="Arial" pitchFamily="34" charset="0"/>
                <a:ea typeface="Arial" pitchFamily="34" charset="-122"/>
                <a:cs typeface="Arial" pitchFamily="34" charset="-120"/>
              </a:rPr>
              <a:t>Why does traceability matter so much?</a:t>
            </a:r>
            <a:endParaRPr lang="en-US" sz="1050" dirty="0"/>
          </a:p>
        </p:txBody>
      </p:sp>
      <p:sp>
        <p:nvSpPr>
          <p:cNvPr id="26" name="Text 23"/>
          <p:cNvSpPr/>
          <p:nvPr/>
        </p:nvSpPr>
        <p:spPr>
          <a:xfrm>
            <a:off x="6720840" y="35387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Nuclear facilities need to trace every component back to its raw material source, sometimes decades later. That is why we never remove identification marks and always complete our travellers.</a:t>
            </a:r>
            <a:endParaRPr lang="en-US" sz="1000" dirty="0"/>
          </a:p>
        </p:txBody>
      </p:sp>
      <p:sp>
        <p:nvSpPr>
          <p:cNvPr id="27" name="Shape 24"/>
          <p:cNvSpPr/>
          <p:nvPr/>
        </p:nvSpPr>
        <p:spPr>
          <a:xfrm>
            <a:off x="182880" y="4864608"/>
            <a:ext cx="438912" cy="1719072"/>
          </a:xfrm>
          <a:prstGeom prst="rect">
            <a:avLst/>
          </a:prstGeom>
          <a:solidFill>
            <a:srgbClr val="009FE3"/>
          </a:solidFill>
          <a:ln/>
        </p:spPr>
      </p:sp>
      <p:sp>
        <p:nvSpPr>
          <p:cNvPr id="28" name="Text 25"/>
          <p:cNvSpPr/>
          <p:nvPr/>
        </p:nvSpPr>
        <p:spPr>
          <a:xfrm>
            <a:off x="210312" y="54498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9" name="Shape 26"/>
          <p:cNvSpPr/>
          <p:nvPr/>
        </p:nvSpPr>
        <p:spPr>
          <a:xfrm>
            <a:off x="621792" y="4864608"/>
            <a:ext cx="5367528" cy="1719072"/>
          </a:xfrm>
          <a:prstGeom prst="rect">
            <a:avLst/>
          </a:prstGeom>
          <a:solidFill>
            <a:srgbClr val="F5F5F5"/>
          </a:solidFill>
          <a:ln w="6350">
            <a:solidFill>
              <a:srgbClr val="DDDDDD"/>
            </a:solidFill>
            <a:prstDash val="solid"/>
          </a:ln>
        </p:spPr>
      </p:sp>
      <p:sp>
        <p:nvSpPr>
          <p:cNvPr id="30" name="Text 27"/>
          <p:cNvSpPr/>
          <p:nvPr/>
        </p:nvSpPr>
        <p:spPr>
          <a:xfrm>
            <a:off x="731520" y="4956048"/>
            <a:ext cx="5148072" cy="384048"/>
          </a:xfrm>
          <a:prstGeom prst="rect">
            <a:avLst/>
          </a:prstGeom>
          <a:noFill/>
          <a:ln/>
        </p:spPr>
        <p:txBody>
          <a:bodyPr wrap="square" rtlCol="0" anchor="ctr"/>
          <a:lstStyle/>
          <a:p>
            <a:pPr indent="0" marL="0">
              <a:buNone/>
            </a:pPr>
            <a:r>
              <a:rPr lang="en-US" sz="1050" b="1" dirty="0">
                <a:solidFill>
                  <a:srgbClr val="009FE3"/>
                </a:solidFill>
                <a:latin typeface="Arial" pitchFamily="34" charset="0"/>
                <a:ea typeface="Arial" pitchFamily="34" charset="-122"/>
                <a:cs typeface="Arial" pitchFamily="34" charset="-120"/>
              </a:rPr>
              <a:t>What is CFSI and why should I care?</a:t>
            </a:r>
            <a:endParaRPr lang="en-US" sz="1050" dirty="0"/>
          </a:p>
        </p:txBody>
      </p:sp>
      <p:sp>
        <p:nvSpPr>
          <p:cNvPr id="31" name="Text 28"/>
          <p:cNvSpPr/>
          <p:nvPr/>
        </p:nvSpPr>
        <p:spPr>
          <a:xfrm>
            <a:off x="731520" y="53675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Counterfeit, Fraudulent, and Suspect Items are a real risk. A fake component in a nuclear plant could cause a safety event. At goods receipt, check every delivery. If it looks wrong, quarantine it.</a:t>
            </a:r>
            <a:endParaRPr lang="en-US" sz="1000" dirty="0"/>
          </a:p>
        </p:txBody>
      </p:sp>
      <p:sp>
        <p:nvSpPr>
          <p:cNvPr id="32" name="Shape 29"/>
          <p:cNvSpPr/>
          <p:nvPr/>
        </p:nvSpPr>
        <p:spPr>
          <a:xfrm>
            <a:off x="6172200" y="4864608"/>
            <a:ext cx="438912" cy="1719072"/>
          </a:xfrm>
          <a:prstGeom prst="rect">
            <a:avLst/>
          </a:prstGeom>
          <a:solidFill>
            <a:srgbClr val="83348F"/>
          </a:solidFill>
          <a:ln/>
        </p:spPr>
      </p:sp>
      <p:sp>
        <p:nvSpPr>
          <p:cNvPr id="33" name="Text 30"/>
          <p:cNvSpPr/>
          <p:nvPr/>
        </p:nvSpPr>
        <p:spPr>
          <a:xfrm>
            <a:off x="6199632" y="5449824"/>
            <a:ext cx="384048"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4" name="Shape 31"/>
          <p:cNvSpPr/>
          <p:nvPr/>
        </p:nvSpPr>
        <p:spPr>
          <a:xfrm>
            <a:off x="6611112" y="4864608"/>
            <a:ext cx="5367528" cy="1719072"/>
          </a:xfrm>
          <a:prstGeom prst="rect">
            <a:avLst/>
          </a:prstGeom>
          <a:solidFill>
            <a:srgbClr val="F5F5F5"/>
          </a:solidFill>
          <a:ln w="6350">
            <a:solidFill>
              <a:srgbClr val="DDDDDD"/>
            </a:solidFill>
            <a:prstDash val="solid"/>
          </a:ln>
        </p:spPr>
      </p:sp>
      <p:sp>
        <p:nvSpPr>
          <p:cNvPr id="35" name="Text 32"/>
          <p:cNvSpPr/>
          <p:nvPr/>
        </p:nvSpPr>
        <p:spPr>
          <a:xfrm>
            <a:off x="6720840" y="4956048"/>
            <a:ext cx="5148072" cy="384048"/>
          </a:xfrm>
          <a:prstGeom prst="rect">
            <a:avLst/>
          </a:prstGeom>
          <a:noFill/>
          <a:ln/>
        </p:spPr>
        <p:txBody>
          <a:bodyPr wrap="square" rtlCol="0" anchor="ctr"/>
          <a:lstStyle/>
          <a:p>
            <a:pPr indent="0" marL="0">
              <a:buNone/>
            </a:pPr>
            <a:r>
              <a:rPr lang="en-US" sz="1050" b="1" dirty="0">
                <a:solidFill>
                  <a:srgbClr val="83348F"/>
                </a:solidFill>
                <a:latin typeface="Arial" pitchFamily="34" charset="0"/>
                <a:ea typeface="Arial" pitchFamily="34" charset="-122"/>
                <a:cs typeface="Arial" pitchFamily="34" charset="-120"/>
              </a:rPr>
              <a:t>What is F4N?</a:t>
            </a:r>
            <a:endParaRPr lang="en-US" sz="1050" dirty="0"/>
          </a:p>
        </p:txBody>
      </p:sp>
      <p:sp>
        <p:nvSpPr>
          <p:cNvPr id="36" name="Text 33"/>
          <p:cNvSpPr/>
          <p:nvPr/>
        </p:nvSpPr>
        <p:spPr>
          <a:xfrm>
            <a:off x="6720840" y="5367528"/>
            <a:ext cx="5148072" cy="1097280"/>
          </a:xfrm>
          <a:prstGeom prst="rect">
            <a:avLst/>
          </a:prstGeom>
          <a:noFill/>
          <a:ln/>
        </p:spPr>
        <p:txBody>
          <a:bodyPr wrap="square" rtlCol="0" anchor="t"/>
          <a:lstStyle/>
          <a:p>
            <a:pPr indent="0" marL="0">
              <a:buNone/>
            </a:pPr>
            <a:r>
              <a:rPr lang="en-US" sz="1000" dirty="0">
                <a:solidFill>
                  <a:srgbClr val="5B595A"/>
                </a:solidFill>
                <a:latin typeface="Arial" pitchFamily="34" charset="0"/>
                <a:ea typeface="Arial" pitchFamily="34" charset="-122"/>
                <a:cs typeface="Arial" pitchFamily="34" charset="-120"/>
              </a:rPr>
              <a:t>Fit For Nuclear is how we demonstrate to nuclear customers that our quality, safety, and management systems are at the standard they require. Every one of us contributes to it every day.</a:t>
            </a:r>
            <a:endParaRPr lang="en-US" sz="1000" dirty="0"/>
          </a:p>
        </p:txBody>
      </p:sp>
      <p:sp>
        <p:nvSpPr>
          <p:cNvPr id="37" name="Rectangle 36"/>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4"/>
          <a:stretch>
            <a:fillRect/>
          </a:stretch>
        </p:blipFill>
        <p:spPr>
          <a:xfrm>
            <a:off x="10610088" y="100584"/>
            <a:ext cx="566928" cy="347472"/>
          </a:xfrm>
          <a:prstGeom prst="rect">
            <a:avLst/>
          </a:prstGeom>
        </p:spPr>
      </p:pic>
      <p:pic>
        <p:nvPicPr>
          <p:cNvPr id="39" name="Picture 38" descr="image.png"/>
          <p:cNvPicPr>
            <a:picLocks noChangeAspect="1"/>
          </p:cNvPicPr>
          <p:nvPr/>
        </p:nvPicPr>
        <p:blipFill>
          <a:blip r:embed="rId5"/>
          <a:stretch>
            <a:fillRect/>
          </a:stretch>
        </p:blipFill>
        <p:spPr>
          <a:xfrm>
            <a:off x="11222736" y="100584"/>
            <a:ext cx="658368" cy="347472"/>
          </a:xfrm>
          <a:prstGeom prst="rect">
            <a:avLst/>
          </a:prstGeom>
        </p:spPr>
      </p:pic>
      <p:sp>
        <p:nvSpPr>
          <p:cNvPr id="40" name="Rectangle 39"/>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DD4F5A6-86B7-4254-B943-4C19BD8672FC}"/>
</file>

<file path=customXml/itemProps2.xml><?xml version="1.0" encoding="utf-8"?>
<ds:datastoreItem xmlns:ds="http://schemas.openxmlformats.org/officeDocument/2006/customXml" ds:itemID="{0596C8C8-33B3-4C5F-94BF-6DDDB0B3D82F}"/>
</file>

<file path=customXml/itemProps3.xml><?xml version="1.0" encoding="utf-8"?>
<ds:datastoreItem xmlns:ds="http://schemas.openxmlformats.org/officeDocument/2006/customXml" ds:itemID="{9B82A3A3-9708-48A7-A5A2-F042FBE586B7}"/>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PEOP-14_Display_Board_Posters</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