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078992"/>
          </a:xfrm>
          <a:prstGeom prst="rect">
            <a:avLst/>
          </a:prstGeom>
          <a:solidFill>
            <a:srgbClr val="83348F"/>
          </a:solidFill>
          <a:ln/>
        </p:spPr>
      </p:sp>
      <p:pic>
        <p:nvPicPr>
          <p:cNvPr id="4" name="Image 0" descr="preencoded.png">    </p:cNvPr>
          <p:cNvPicPr>
            <a:picLocks noChangeAspect="1"/>
          </p:cNvPicPr>
          <p:nvPr/>
        </p:nvPicPr>
        <p:blipFill>
          <a:blip r:embed="rId1"/>
          <a:stretch>
            <a:fillRect/>
          </a:stretch>
        </p:blipFill>
        <p:spPr>
          <a:xfrm>
            <a:off x="274320" y="201168"/>
            <a:ext cx="1371600" cy="457200"/>
          </a:xfrm>
          <a:prstGeom prst="rect">
            <a:avLst/>
          </a:prstGeom>
        </p:spPr>
      </p:pic>
      <p:sp>
        <p:nvSpPr>
          <p:cNvPr id="5" name="Text 2"/>
          <p:cNvSpPr/>
          <p:nvPr/>
        </p:nvSpPr>
        <p:spPr>
          <a:xfrm>
            <a:off x="1920240" y="54864"/>
            <a:ext cx="8321040" cy="59436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YOUR WELLBEING BENEFITS</a:t>
            </a:r>
            <a:endParaRPr lang="en-US" sz="3200" dirty="0"/>
          </a:p>
        </p:txBody>
      </p:sp>
      <p:sp>
        <p:nvSpPr>
          <p:cNvPr id="6" name="Text 3"/>
          <p:cNvSpPr/>
          <p:nvPr/>
        </p:nvSpPr>
        <p:spPr>
          <a:xfrm>
            <a:off x="1920240" y="640080"/>
            <a:ext cx="8321040" cy="329184"/>
          </a:xfrm>
          <a:prstGeom prst="rect">
            <a:avLst/>
          </a:prstGeom>
          <a:noFill/>
          <a:ln/>
        </p:spPr>
        <p:txBody>
          <a:bodyPr wrap="square" rtlCol="0" anchor="ctr"/>
          <a:lstStyle/>
          <a:p>
            <a:pPr algn="ctr" indent="0" marL="0">
              <a:buNone/>
            </a:pPr>
            <a:r>
              <a:rPr lang="en-US" sz="1200" dirty="0">
                <a:solidFill>
                  <a:srgbClr val="DDBBFF"/>
                </a:solidFill>
                <a:latin typeface="Arial" pitchFamily="34" charset="0"/>
                <a:ea typeface="Arial" pitchFamily="34" charset="-122"/>
                <a:cs typeface="Arial" pitchFamily="34" charset="-120"/>
              </a:rPr>
              <a:t>[Company Name] is committed to supporting every employee's health, mental wellbeing, and financial security.</a:t>
            </a:r>
            <a:endParaRPr lang="en-US" sz="1200" dirty="0"/>
          </a:p>
        </p:txBody>
      </p:sp>
      <p:sp>
        <p:nvSpPr>
          <p:cNvPr id="7" name="Shape 4"/>
          <p:cNvSpPr/>
          <p:nvPr/>
        </p:nvSpPr>
        <p:spPr>
          <a:xfrm>
            <a:off x="182880" y="1170432"/>
            <a:ext cx="5806440" cy="2606040"/>
          </a:xfrm>
          <a:prstGeom prst="rect">
            <a:avLst/>
          </a:prstGeom>
          <a:solidFill>
            <a:srgbClr val="FFFFFF"/>
          </a:solidFill>
          <a:ln w="25400">
            <a:solidFill>
              <a:srgbClr val="83348F"/>
            </a:solidFill>
            <a:prstDash val="solid"/>
          </a:ln>
        </p:spPr>
      </p:sp>
      <p:sp>
        <p:nvSpPr>
          <p:cNvPr id="8" name="Shape 5"/>
          <p:cNvSpPr/>
          <p:nvPr/>
        </p:nvSpPr>
        <p:spPr>
          <a:xfrm>
            <a:off x="182880" y="1170432"/>
            <a:ext cx="5806440" cy="548640"/>
          </a:xfrm>
          <a:prstGeom prst="rect">
            <a:avLst/>
          </a:prstGeom>
          <a:solidFill>
            <a:srgbClr val="83348F"/>
          </a:solidFill>
          <a:ln/>
        </p:spPr>
      </p:sp>
      <p:sp>
        <p:nvSpPr>
          <p:cNvPr id="9" name="Text 6"/>
          <p:cNvSpPr/>
          <p:nvPr/>
        </p:nvSpPr>
        <p:spPr>
          <a:xfrm>
            <a:off x="274320" y="1216152"/>
            <a:ext cx="475488"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0" name="Text 7"/>
          <p:cNvSpPr/>
          <p:nvPr/>
        </p:nvSpPr>
        <p:spPr>
          <a:xfrm>
            <a:off x="804672" y="1243584"/>
            <a:ext cx="5074920" cy="40233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MENTAL HEALTH</a:t>
            </a:r>
            <a:endParaRPr lang="en-US" sz="1400" dirty="0"/>
          </a:p>
        </p:txBody>
      </p:sp>
      <p:sp>
        <p:nvSpPr>
          <p:cNvPr id="11" name="Shape 8"/>
          <p:cNvSpPr/>
          <p:nvPr/>
        </p:nvSpPr>
        <p:spPr>
          <a:xfrm>
            <a:off x="310896" y="1856232"/>
            <a:ext cx="219456" cy="219456"/>
          </a:xfrm>
          <a:prstGeom prst="rect">
            <a:avLst/>
          </a:prstGeom>
          <a:solidFill>
            <a:srgbClr val="83348F"/>
          </a:solidFill>
          <a:ln/>
        </p:spPr>
      </p:sp>
      <p:sp>
        <p:nvSpPr>
          <p:cNvPr id="12" name="Text 9"/>
          <p:cNvSpPr/>
          <p:nvPr/>
        </p:nvSpPr>
        <p:spPr>
          <a:xfrm>
            <a:off x="585216" y="1810512"/>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Employee Assistance Programme (EAP): Free, confidential counselling 24/7</a:t>
            </a:r>
            <a:endParaRPr lang="en-US" sz="980" dirty="0"/>
          </a:p>
        </p:txBody>
      </p:sp>
      <p:sp>
        <p:nvSpPr>
          <p:cNvPr id="13" name="Shape 10"/>
          <p:cNvSpPr/>
          <p:nvPr/>
        </p:nvSpPr>
        <p:spPr>
          <a:xfrm>
            <a:off x="310896" y="2240280"/>
            <a:ext cx="219456" cy="219456"/>
          </a:xfrm>
          <a:prstGeom prst="rect">
            <a:avLst/>
          </a:prstGeom>
          <a:solidFill>
            <a:srgbClr val="83348F"/>
          </a:solidFill>
          <a:ln/>
        </p:spPr>
      </p:sp>
      <p:sp>
        <p:nvSpPr>
          <p:cNvPr id="14" name="Text 11"/>
          <p:cNvSpPr/>
          <p:nvPr/>
        </p:nvSpPr>
        <p:spPr>
          <a:xfrm>
            <a:off x="585216" y="2194560"/>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Mental Health First Aider on site: [Name]</a:t>
            </a:r>
            <a:endParaRPr lang="en-US" sz="980" dirty="0"/>
          </a:p>
        </p:txBody>
      </p:sp>
      <p:sp>
        <p:nvSpPr>
          <p:cNvPr id="15" name="Shape 12"/>
          <p:cNvSpPr/>
          <p:nvPr/>
        </p:nvSpPr>
        <p:spPr>
          <a:xfrm>
            <a:off x="310896" y="2624328"/>
            <a:ext cx="219456" cy="219456"/>
          </a:xfrm>
          <a:prstGeom prst="rect">
            <a:avLst/>
          </a:prstGeom>
          <a:solidFill>
            <a:srgbClr val="83348F"/>
          </a:solidFill>
          <a:ln/>
        </p:spPr>
      </p:sp>
      <p:sp>
        <p:nvSpPr>
          <p:cNvPr id="16" name="Text 13"/>
          <p:cNvSpPr/>
          <p:nvPr/>
        </p:nvSpPr>
        <p:spPr>
          <a:xfrm>
            <a:off x="585216" y="2578608"/>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Andy's Man Club: Free peer support groups — #ITSOKAYTOTALK</a:t>
            </a:r>
            <a:endParaRPr lang="en-US" sz="980" dirty="0"/>
          </a:p>
        </p:txBody>
      </p:sp>
      <p:sp>
        <p:nvSpPr>
          <p:cNvPr id="17" name="Shape 14"/>
          <p:cNvSpPr/>
          <p:nvPr/>
        </p:nvSpPr>
        <p:spPr>
          <a:xfrm>
            <a:off x="310896" y="3008376"/>
            <a:ext cx="219456" cy="219456"/>
          </a:xfrm>
          <a:prstGeom prst="rect">
            <a:avLst/>
          </a:prstGeom>
          <a:solidFill>
            <a:srgbClr val="83348F"/>
          </a:solidFill>
          <a:ln/>
        </p:spPr>
      </p:sp>
      <p:sp>
        <p:nvSpPr>
          <p:cNvPr id="18" name="Text 15"/>
          <p:cNvSpPr/>
          <p:nvPr/>
        </p:nvSpPr>
        <p:spPr>
          <a:xfrm>
            <a:off x="585216" y="2962656"/>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Mind: 0300 123 3393 | www.mind.org.uk</a:t>
            </a:r>
            <a:endParaRPr lang="en-US" sz="980" dirty="0"/>
          </a:p>
        </p:txBody>
      </p:sp>
      <p:sp>
        <p:nvSpPr>
          <p:cNvPr id="19" name="Shape 16"/>
          <p:cNvSpPr/>
          <p:nvPr/>
        </p:nvSpPr>
        <p:spPr>
          <a:xfrm>
            <a:off x="310896" y="3392424"/>
            <a:ext cx="219456" cy="219456"/>
          </a:xfrm>
          <a:prstGeom prst="rect">
            <a:avLst/>
          </a:prstGeom>
          <a:solidFill>
            <a:srgbClr val="83348F"/>
          </a:solidFill>
          <a:ln/>
        </p:spPr>
      </p:sp>
      <p:sp>
        <p:nvSpPr>
          <p:cNvPr id="20" name="Text 17"/>
          <p:cNvSpPr/>
          <p:nvPr/>
        </p:nvSpPr>
        <p:spPr>
          <a:xfrm>
            <a:off x="585216" y="3346704"/>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Samaritans: 116 123 (free, 24/7)</a:t>
            </a:r>
            <a:endParaRPr lang="en-US" sz="980" dirty="0"/>
          </a:p>
        </p:txBody>
      </p:sp>
      <p:sp>
        <p:nvSpPr>
          <p:cNvPr id="21" name="Shape 18"/>
          <p:cNvSpPr/>
          <p:nvPr/>
        </p:nvSpPr>
        <p:spPr>
          <a:xfrm>
            <a:off x="6172200" y="1170432"/>
            <a:ext cx="5806440" cy="2606040"/>
          </a:xfrm>
          <a:prstGeom prst="rect">
            <a:avLst/>
          </a:prstGeom>
          <a:solidFill>
            <a:srgbClr val="FFFFFF"/>
          </a:solidFill>
          <a:ln w="25400">
            <a:solidFill>
              <a:srgbClr val="00796B"/>
            </a:solidFill>
            <a:prstDash val="solid"/>
          </a:ln>
        </p:spPr>
      </p:sp>
      <p:sp>
        <p:nvSpPr>
          <p:cNvPr id="22" name="Shape 19"/>
          <p:cNvSpPr/>
          <p:nvPr/>
        </p:nvSpPr>
        <p:spPr>
          <a:xfrm>
            <a:off x="6172200" y="1170432"/>
            <a:ext cx="5806440" cy="548640"/>
          </a:xfrm>
          <a:prstGeom prst="rect">
            <a:avLst/>
          </a:prstGeom>
          <a:solidFill>
            <a:srgbClr val="00796B"/>
          </a:solidFill>
          <a:ln/>
        </p:spPr>
      </p:sp>
      <p:sp>
        <p:nvSpPr>
          <p:cNvPr id="23" name="Text 20"/>
          <p:cNvSpPr/>
          <p:nvPr/>
        </p:nvSpPr>
        <p:spPr>
          <a:xfrm>
            <a:off x="6263640" y="1216152"/>
            <a:ext cx="475488"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4" name="Text 21"/>
          <p:cNvSpPr/>
          <p:nvPr/>
        </p:nvSpPr>
        <p:spPr>
          <a:xfrm>
            <a:off x="6793992" y="1243584"/>
            <a:ext cx="5074920" cy="40233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PHYSICAL HEALTH</a:t>
            </a:r>
            <a:endParaRPr lang="en-US" sz="1400" dirty="0"/>
          </a:p>
        </p:txBody>
      </p:sp>
      <p:sp>
        <p:nvSpPr>
          <p:cNvPr id="25" name="Shape 22"/>
          <p:cNvSpPr/>
          <p:nvPr/>
        </p:nvSpPr>
        <p:spPr>
          <a:xfrm>
            <a:off x="6300216" y="1856232"/>
            <a:ext cx="219456" cy="219456"/>
          </a:xfrm>
          <a:prstGeom prst="rect">
            <a:avLst/>
          </a:prstGeom>
          <a:solidFill>
            <a:srgbClr val="00796B"/>
          </a:solidFill>
          <a:ln/>
        </p:spPr>
      </p:sp>
      <p:sp>
        <p:nvSpPr>
          <p:cNvPr id="26" name="Text 23"/>
          <p:cNvSpPr/>
          <p:nvPr/>
        </p:nvSpPr>
        <p:spPr>
          <a:xfrm>
            <a:off x="6574536" y="1810512"/>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Cycle to Work Scheme: Save 25-39% on a new bike via salary sacrifice</a:t>
            </a:r>
            <a:endParaRPr lang="en-US" sz="980" dirty="0"/>
          </a:p>
        </p:txBody>
      </p:sp>
      <p:sp>
        <p:nvSpPr>
          <p:cNvPr id="27" name="Shape 24"/>
          <p:cNvSpPr/>
          <p:nvPr/>
        </p:nvSpPr>
        <p:spPr>
          <a:xfrm>
            <a:off x="6300216" y="2240280"/>
            <a:ext cx="219456" cy="219456"/>
          </a:xfrm>
          <a:prstGeom prst="rect">
            <a:avLst/>
          </a:prstGeom>
          <a:solidFill>
            <a:srgbClr val="00796B"/>
          </a:solidFill>
          <a:ln/>
        </p:spPr>
      </p:sp>
      <p:sp>
        <p:nvSpPr>
          <p:cNvPr id="28" name="Text 25"/>
          <p:cNvSpPr/>
          <p:nvPr/>
        </p:nvSpPr>
        <p:spPr>
          <a:xfrm>
            <a:off x="6574536" y="2194560"/>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Gym / Fitness Discounts: [Company scheme or GymFlex / Hussle]</a:t>
            </a:r>
            <a:endParaRPr lang="en-US" sz="980" dirty="0"/>
          </a:p>
        </p:txBody>
      </p:sp>
      <p:sp>
        <p:nvSpPr>
          <p:cNvPr id="29" name="Shape 26"/>
          <p:cNvSpPr/>
          <p:nvPr/>
        </p:nvSpPr>
        <p:spPr>
          <a:xfrm>
            <a:off x="6300216" y="2624328"/>
            <a:ext cx="219456" cy="219456"/>
          </a:xfrm>
          <a:prstGeom prst="rect">
            <a:avLst/>
          </a:prstGeom>
          <a:solidFill>
            <a:srgbClr val="00796B"/>
          </a:solidFill>
          <a:ln/>
        </p:spPr>
      </p:sp>
      <p:sp>
        <p:nvSpPr>
          <p:cNvPr id="30" name="Text 27"/>
          <p:cNvSpPr/>
          <p:nvPr/>
        </p:nvSpPr>
        <p:spPr>
          <a:xfrm>
            <a:off x="6574536" y="2578608"/>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Eye Care: DSE eye test vouchers available — speak to HR</a:t>
            </a:r>
            <a:endParaRPr lang="en-US" sz="980" dirty="0"/>
          </a:p>
        </p:txBody>
      </p:sp>
      <p:sp>
        <p:nvSpPr>
          <p:cNvPr id="31" name="Shape 28"/>
          <p:cNvSpPr/>
          <p:nvPr/>
        </p:nvSpPr>
        <p:spPr>
          <a:xfrm>
            <a:off x="6300216" y="3008376"/>
            <a:ext cx="219456" cy="219456"/>
          </a:xfrm>
          <a:prstGeom prst="rect">
            <a:avLst/>
          </a:prstGeom>
          <a:solidFill>
            <a:srgbClr val="00796B"/>
          </a:solidFill>
          <a:ln/>
        </p:spPr>
      </p:sp>
      <p:sp>
        <p:nvSpPr>
          <p:cNvPr id="32" name="Text 29"/>
          <p:cNvSpPr/>
          <p:nvPr/>
        </p:nvSpPr>
        <p:spPr>
          <a:xfrm>
            <a:off x="6574536" y="2962656"/>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Occupational Health: Referral available for work-related health concerns</a:t>
            </a:r>
            <a:endParaRPr lang="en-US" sz="980" dirty="0"/>
          </a:p>
        </p:txBody>
      </p:sp>
      <p:sp>
        <p:nvSpPr>
          <p:cNvPr id="33" name="Shape 30"/>
          <p:cNvSpPr/>
          <p:nvPr/>
        </p:nvSpPr>
        <p:spPr>
          <a:xfrm>
            <a:off x="6300216" y="3392424"/>
            <a:ext cx="219456" cy="219456"/>
          </a:xfrm>
          <a:prstGeom prst="rect">
            <a:avLst/>
          </a:prstGeom>
          <a:solidFill>
            <a:srgbClr val="00796B"/>
          </a:solidFill>
          <a:ln/>
        </p:spPr>
      </p:sp>
      <p:sp>
        <p:nvSpPr>
          <p:cNvPr id="34" name="Text 31"/>
          <p:cNvSpPr/>
          <p:nvPr/>
        </p:nvSpPr>
        <p:spPr>
          <a:xfrm>
            <a:off x="6574536" y="3346704"/>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NHS Health Check: Available free for employees aged 40-74</a:t>
            </a:r>
            <a:endParaRPr lang="en-US" sz="980" dirty="0"/>
          </a:p>
        </p:txBody>
      </p:sp>
      <p:sp>
        <p:nvSpPr>
          <p:cNvPr id="35" name="Shape 32"/>
          <p:cNvSpPr/>
          <p:nvPr/>
        </p:nvSpPr>
        <p:spPr>
          <a:xfrm>
            <a:off x="182880" y="3895344"/>
            <a:ext cx="5806440" cy="2606040"/>
          </a:xfrm>
          <a:prstGeom prst="rect">
            <a:avLst/>
          </a:prstGeom>
          <a:solidFill>
            <a:srgbClr val="FFFFFF"/>
          </a:solidFill>
          <a:ln w="25400">
            <a:solidFill>
              <a:srgbClr val="1A237E"/>
            </a:solidFill>
            <a:prstDash val="solid"/>
          </a:ln>
        </p:spPr>
      </p:sp>
      <p:sp>
        <p:nvSpPr>
          <p:cNvPr id="36" name="Shape 33"/>
          <p:cNvSpPr/>
          <p:nvPr/>
        </p:nvSpPr>
        <p:spPr>
          <a:xfrm>
            <a:off x="182880" y="3895344"/>
            <a:ext cx="5806440" cy="548640"/>
          </a:xfrm>
          <a:prstGeom prst="rect">
            <a:avLst/>
          </a:prstGeom>
          <a:solidFill>
            <a:srgbClr val="1A237E"/>
          </a:solidFill>
          <a:ln/>
        </p:spPr>
      </p:sp>
      <p:sp>
        <p:nvSpPr>
          <p:cNvPr id="37" name="Text 34"/>
          <p:cNvSpPr/>
          <p:nvPr/>
        </p:nvSpPr>
        <p:spPr>
          <a:xfrm>
            <a:off x="274320" y="3941064"/>
            <a:ext cx="475488"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38" name="Text 35"/>
          <p:cNvSpPr/>
          <p:nvPr/>
        </p:nvSpPr>
        <p:spPr>
          <a:xfrm>
            <a:off x="804672" y="3968496"/>
            <a:ext cx="5074920" cy="40233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FINANCIAL WELLBEING</a:t>
            </a:r>
            <a:endParaRPr lang="en-US" sz="1400" dirty="0"/>
          </a:p>
        </p:txBody>
      </p:sp>
      <p:sp>
        <p:nvSpPr>
          <p:cNvPr id="39" name="Shape 36"/>
          <p:cNvSpPr/>
          <p:nvPr/>
        </p:nvSpPr>
        <p:spPr>
          <a:xfrm>
            <a:off x="310896" y="4581144"/>
            <a:ext cx="219456" cy="219456"/>
          </a:xfrm>
          <a:prstGeom prst="rect">
            <a:avLst/>
          </a:prstGeom>
          <a:solidFill>
            <a:srgbClr val="1A237E"/>
          </a:solidFill>
          <a:ln/>
        </p:spPr>
      </p:sp>
      <p:sp>
        <p:nvSpPr>
          <p:cNvPr id="40" name="Text 37"/>
          <p:cNvSpPr/>
          <p:nvPr/>
        </p:nvSpPr>
        <p:spPr>
          <a:xfrm>
            <a:off x="585216" y="4535424"/>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EAP Financial Advice: Free confidential financial guidance via EAP</a:t>
            </a:r>
            <a:endParaRPr lang="en-US" sz="980" dirty="0"/>
          </a:p>
        </p:txBody>
      </p:sp>
      <p:sp>
        <p:nvSpPr>
          <p:cNvPr id="41" name="Shape 38"/>
          <p:cNvSpPr/>
          <p:nvPr/>
        </p:nvSpPr>
        <p:spPr>
          <a:xfrm>
            <a:off x="310896" y="4965192"/>
            <a:ext cx="219456" cy="219456"/>
          </a:xfrm>
          <a:prstGeom prst="rect">
            <a:avLst/>
          </a:prstGeom>
          <a:solidFill>
            <a:srgbClr val="1A237E"/>
          </a:solidFill>
          <a:ln/>
        </p:spPr>
      </p:sp>
      <p:sp>
        <p:nvSpPr>
          <p:cNvPr id="42" name="Text 39"/>
          <p:cNvSpPr/>
          <p:nvPr/>
        </p:nvSpPr>
        <p:spPr>
          <a:xfrm>
            <a:off x="585216" y="4919472"/>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MoneyHelper: Free government-backed financial guidance — 0800 138 7777</a:t>
            </a:r>
            <a:endParaRPr lang="en-US" sz="980" dirty="0"/>
          </a:p>
        </p:txBody>
      </p:sp>
      <p:sp>
        <p:nvSpPr>
          <p:cNvPr id="43" name="Shape 40"/>
          <p:cNvSpPr/>
          <p:nvPr/>
        </p:nvSpPr>
        <p:spPr>
          <a:xfrm>
            <a:off x="310896" y="5349240"/>
            <a:ext cx="219456" cy="219456"/>
          </a:xfrm>
          <a:prstGeom prst="rect">
            <a:avLst/>
          </a:prstGeom>
          <a:solidFill>
            <a:srgbClr val="1A237E"/>
          </a:solidFill>
          <a:ln/>
        </p:spPr>
      </p:sp>
      <p:sp>
        <p:nvSpPr>
          <p:cNvPr id="44" name="Text 41"/>
          <p:cNvSpPr/>
          <p:nvPr/>
        </p:nvSpPr>
        <p:spPr>
          <a:xfrm>
            <a:off x="585216" y="5303520"/>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StepChange Debt Charity: Free debt advice — 0800 138 1111</a:t>
            </a:r>
            <a:endParaRPr lang="en-US" sz="980" dirty="0"/>
          </a:p>
        </p:txBody>
      </p:sp>
      <p:sp>
        <p:nvSpPr>
          <p:cNvPr id="45" name="Shape 42"/>
          <p:cNvSpPr/>
          <p:nvPr/>
        </p:nvSpPr>
        <p:spPr>
          <a:xfrm>
            <a:off x="310896" y="5733288"/>
            <a:ext cx="219456" cy="219456"/>
          </a:xfrm>
          <a:prstGeom prst="rect">
            <a:avLst/>
          </a:prstGeom>
          <a:solidFill>
            <a:srgbClr val="1A237E"/>
          </a:solidFill>
          <a:ln/>
        </p:spPr>
      </p:sp>
      <p:sp>
        <p:nvSpPr>
          <p:cNvPr id="46" name="Text 43"/>
          <p:cNvSpPr/>
          <p:nvPr/>
        </p:nvSpPr>
        <p:spPr>
          <a:xfrm>
            <a:off x="585216" y="5687568"/>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Citizens Advice: Free advice on benefits, debt, and housing</a:t>
            </a:r>
            <a:endParaRPr lang="en-US" sz="980" dirty="0"/>
          </a:p>
        </p:txBody>
      </p:sp>
      <p:sp>
        <p:nvSpPr>
          <p:cNvPr id="47" name="Shape 44"/>
          <p:cNvSpPr/>
          <p:nvPr/>
        </p:nvSpPr>
        <p:spPr>
          <a:xfrm>
            <a:off x="310896" y="6117336"/>
            <a:ext cx="219456" cy="219456"/>
          </a:xfrm>
          <a:prstGeom prst="rect">
            <a:avLst/>
          </a:prstGeom>
          <a:solidFill>
            <a:srgbClr val="1A237E"/>
          </a:solidFill>
          <a:ln/>
        </p:spPr>
      </p:sp>
      <p:sp>
        <p:nvSpPr>
          <p:cNvPr id="49" name="Shape 46"/>
          <p:cNvSpPr/>
          <p:nvPr/>
        </p:nvSpPr>
        <p:spPr>
          <a:xfrm>
            <a:off x="6172200" y="3895344"/>
            <a:ext cx="5806440" cy="2606040"/>
          </a:xfrm>
          <a:prstGeom prst="rect">
            <a:avLst/>
          </a:prstGeom>
          <a:solidFill>
            <a:srgbClr val="FFFFFF"/>
          </a:solidFill>
          <a:ln w="25400">
            <a:solidFill>
              <a:srgbClr val="70AD47"/>
            </a:solidFill>
            <a:prstDash val="solid"/>
          </a:ln>
        </p:spPr>
      </p:sp>
      <p:sp>
        <p:nvSpPr>
          <p:cNvPr id="50" name="Shape 47"/>
          <p:cNvSpPr/>
          <p:nvPr/>
        </p:nvSpPr>
        <p:spPr>
          <a:xfrm>
            <a:off x="6172200" y="3895344"/>
            <a:ext cx="5806440" cy="548640"/>
          </a:xfrm>
          <a:prstGeom prst="rect">
            <a:avLst/>
          </a:prstGeom>
          <a:solidFill>
            <a:srgbClr val="70AD47"/>
          </a:solidFill>
          <a:ln/>
        </p:spPr>
      </p:sp>
      <p:sp>
        <p:nvSpPr>
          <p:cNvPr id="51" name="Text 48"/>
          <p:cNvSpPr/>
          <p:nvPr/>
        </p:nvSpPr>
        <p:spPr>
          <a:xfrm>
            <a:off x="6263640" y="3941064"/>
            <a:ext cx="475488"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52" name="Text 49"/>
          <p:cNvSpPr/>
          <p:nvPr/>
        </p:nvSpPr>
        <p:spPr>
          <a:xfrm>
            <a:off x="6793992" y="3968496"/>
            <a:ext cx="5074920" cy="40233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WORK-LIFE BALANCE</a:t>
            </a:r>
            <a:endParaRPr lang="en-US" sz="1400" dirty="0"/>
          </a:p>
        </p:txBody>
      </p:sp>
      <p:sp>
        <p:nvSpPr>
          <p:cNvPr id="53" name="Shape 50"/>
          <p:cNvSpPr/>
          <p:nvPr/>
        </p:nvSpPr>
        <p:spPr>
          <a:xfrm>
            <a:off x="6300216" y="4581144"/>
            <a:ext cx="219456" cy="219456"/>
          </a:xfrm>
          <a:prstGeom prst="rect">
            <a:avLst/>
          </a:prstGeom>
          <a:solidFill>
            <a:srgbClr val="70AD47"/>
          </a:solidFill>
          <a:ln/>
        </p:spPr>
      </p:sp>
      <p:sp>
        <p:nvSpPr>
          <p:cNvPr id="54" name="Text 51"/>
          <p:cNvSpPr/>
          <p:nvPr/>
        </p:nvSpPr>
        <p:spPr>
          <a:xfrm>
            <a:off x="6574536" y="4535424"/>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Flexible Working: Requests considered fairly — speak to your manager</a:t>
            </a:r>
            <a:endParaRPr lang="en-US" sz="980" dirty="0"/>
          </a:p>
        </p:txBody>
      </p:sp>
      <p:sp>
        <p:nvSpPr>
          <p:cNvPr id="55" name="Shape 52"/>
          <p:cNvSpPr/>
          <p:nvPr/>
        </p:nvSpPr>
        <p:spPr>
          <a:xfrm>
            <a:off x="6300216" y="4965192"/>
            <a:ext cx="219456" cy="219456"/>
          </a:xfrm>
          <a:prstGeom prst="rect">
            <a:avLst/>
          </a:prstGeom>
          <a:solidFill>
            <a:srgbClr val="70AD47"/>
          </a:solidFill>
          <a:ln/>
        </p:spPr>
      </p:sp>
      <p:sp>
        <p:nvSpPr>
          <p:cNvPr id="56" name="Text 53"/>
          <p:cNvSpPr/>
          <p:nvPr/>
        </p:nvSpPr>
        <p:spPr>
          <a:xfrm>
            <a:off x="6574536" y="4919472"/>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Annual Leave: [X] days plus bank holidays</a:t>
            </a:r>
            <a:endParaRPr lang="en-US" sz="980" dirty="0"/>
          </a:p>
        </p:txBody>
      </p:sp>
      <p:sp>
        <p:nvSpPr>
          <p:cNvPr id="57" name="Shape 54"/>
          <p:cNvSpPr/>
          <p:nvPr/>
        </p:nvSpPr>
        <p:spPr>
          <a:xfrm>
            <a:off x="6300216" y="5349240"/>
            <a:ext cx="219456" cy="219456"/>
          </a:xfrm>
          <a:prstGeom prst="rect">
            <a:avLst/>
          </a:prstGeom>
          <a:solidFill>
            <a:srgbClr val="70AD47"/>
          </a:solidFill>
          <a:ln/>
        </p:spPr>
      </p:sp>
      <p:sp>
        <p:nvSpPr>
          <p:cNvPr id="58" name="Text 55"/>
          <p:cNvSpPr/>
          <p:nvPr/>
        </p:nvSpPr>
        <p:spPr>
          <a:xfrm>
            <a:off x="6574536" y="5303520"/>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Family-Friendly Policies: Maternity, paternity, adoption, and shared parental leave</a:t>
            </a:r>
            <a:endParaRPr lang="en-US" sz="980" dirty="0"/>
          </a:p>
        </p:txBody>
      </p:sp>
      <p:sp>
        <p:nvSpPr>
          <p:cNvPr id="59" name="Shape 56"/>
          <p:cNvSpPr/>
          <p:nvPr/>
        </p:nvSpPr>
        <p:spPr>
          <a:xfrm>
            <a:off x="6300216" y="5733288"/>
            <a:ext cx="219456" cy="219456"/>
          </a:xfrm>
          <a:prstGeom prst="rect">
            <a:avLst/>
          </a:prstGeom>
          <a:solidFill>
            <a:srgbClr val="70AD47"/>
          </a:solidFill>
          <a:ln/>
        </p:spPr>
      </p:sp>
      <p:sp>
        <p:nvSpPr>
          <p:cNvPr id="60" name="Text 57"/>
          <p:cNvSpPr/>
          <p:nvPr/>
        </p:nvSpPr>
        <p:spPr>
          <a:xfrm>
            <a:off x="6574536" y="5687568"/>
            <a:ext cx="5276088" cy="347472"/>
          </a:xfrm>
          <a:prstGeom prst="rect">
            <a:avLst/>
          </a:prstGeom>
          <a:noFill/>
          <a:ln/>
        </p:spPr>
        <p:txBody>
          <a:bodyPr wrap="square" rtlCol="0" anchor="ctr"/>
          <a:lstStyle/>
          <a:p>
            <a:pPr indent="0" marL="0">
              <a:buNone/>
            </a:pPr>
            <a:r>
              <a:rPr lang="en-US" sz="980" dirty="0">
                <a:solidFill>
                  <a:srgbClr val="5B595A"/>
                </a:solidFill>
                <a:latin typeface="Arial" pitchFamily="34" charset="0"/>
                <a:ea typeface="Arial" pitchFamily="34" charset="-122"/>
                <a:cs typeface="Arial" pitchFamily="34" charset="-120"/>
              </a:rPr>
              <a:t>Volunteering: [X paid day(s) per year] for community activities</a:t>
            </a:r>
            <a:endParaRPr lang="en-US" sz="980" dirty="0"/>
          </a:p>
        </p:txBody>
      </p:sp>
      <p:sp>
        <p:nvSpPr>
          <p:cNvPr id="61" name="Shape 58"/>
          <p:cNvSpPr/>
          <p:nvPr/>
        </p:nvSpPr>
        <p:spPr>
          <a:xfrm>
            <a:off x="6300216" y="6117336"/>
            <a:ext cx="219456" cy="219456"/>
          </a:xfrm>
          <a:prstGeom prst="rect">
            <a:avLst/>
          </a:prstGeom>
          <a:solidFill>
            <a:srgbClr val="70AD47"/>
          </a:solidFill>
          <a:ln/>
        </p:spPr>
      </p:sp>
      <p:sp>
        <p:nvSpPr>
          <p:cNvPr id="62" name="Rectangle 61"/>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png"/>
          <p:cNvPicPr>
            <a:picLocks noChangeAspect="1"/>
          </p:cNvPicPr>
          <p:nvPr/>
        </p:nvPicPr>
        <p:blipFill>
          <a:blip r:embed="rId5"/>
          <a:stretch>
            <a:fillRect/>
          </a:stretch>
        </p:blipFill>
        <p:spPr>
          <a:xfrm>
            <a:off x="10610088" y="100584"/>
            <a:ext cx="566928" cy="347472"/>
          </a:xfrm>
          <a:prstGeom prst="rect">
            <a:avLst/>
          </a:prstGeom>
        </p:spPr>
      </p:pic>
      <p:pic>
        <p:nvPicPr>
          <p:cNvPr id="64" name="Picture 63" descr="image.png"/>
          <p:cNvPicPr>
            <a:picLocks noChangeAspect="1"/>
          </p:cNvPicPr>
          <p:nvPr/>
        </p:nvPicPr>
        <p:blipFill>
          <a:blip r:embed="rId4"/>
          <a:stretch>
            <a:fillRect/>
          </a:stretch>
        </p:blipFill>
        <p:spPr>
          <a:xfrm>
            <a:off x="11222736" y="100584"/>
            <a:ext cx="658368" cy="347472"/>
          </a:xfrm>
          <a:prstGeom prst="rect">
            <a:avLst/>
          </a:prstGeom>
        </p:spPr>
      </p:pic>
      <p:sp>
        <p:nvSpPr>
          <p:cNvPr id="65" name="Rectangle 64"/>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024128"/>
          </a:xfrm>
          <a:prstGeom prst="rect">
            <a:avLst/>
          </a:prstGeom>
          <a:solidFill>
            <a:srgbClr val="1A1A2E"/>
          </a:solidFill>
          <a:ln/>
        </p:spPr>
      </p:sp>
      <p:pic>
        <p:nvPicPr>
          <p:cNvPr id="4" name="Image 0" descr="preencoded.png">    </p:cNvPr>
          <p:cNvPicPr>
            <a:picLocks noChangeAspect="1"/>
          </p:cNvPicPr>
          <p:nvPr/>
        </p:nvPicPr>
        <p:blipFill>
          <a:blip r:embed="rId1"/>
          <a:stretch>
            <a:fillRect/>
          </a:stretch>
        </p:blipFill>
        <p:spPr>
          <a:xfrm>
            <a:off x="274320" y="182880"/>
            <a:ext cx="1280160" cy="429768"/>
          </a:xfrm>
          <a:prstGeom prst="rect">
            <a:avLst/>
          </a:prstGeom>
        </p:spPr>
      </p:pic>
      <p:sp>
        <p:nvSpPr>
          <p:cNvPr id="5" name="Text 2"/>
          <p:cNvSpPr/>
          <p:nvPr/>
        </p:nvSpPr>
        <p:spPr>
          <a:xfrm>
            <a:off x="1828800" y="45720"/>
            <a:ext cx="8503920" cy="566928"/>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#ITSOKAYTOTALK</a:t>
            </a:r>
            <a:endParaRPr lang="en-US" sz="3400" dirty="0"/>
          </a:p>
        </p:txBody>
      </p:sp>
      <p:sp>
        <p:nvSpPr>
          <p:cNvPr id="6" name="Text 3"/>
          <p:cNvSpPr/>
          <p:nvPr/>
        </p:nvSpPr>
        <p:spPr>
          <a:xfrm>
            <a:off x="1828800" y="603504"/>
            <a:ext cx="8503920" cy="310896"/>
          </a:xfrm>
          <a:prstGeom prst="rect">
            <a:avLst/>
          </a:prstGeom>
          <a:noFill/>
          <a:ln/>
        </p:spPr>
        <p:txBody>
          <a:bodyPr wrap="square" rtlCol="0" anchor="ctr"/>
          <a:lstStyle/>
          <a:p>
            <a:pPr algn="ctr" indent="0" marL="0">
              <a:buNone/>
            </a:pPr>
            <a:r>
              <a:rPr lang="en-US" sz="1300" dirty="0">
                <a:solidFill>
                  <a:srgbClr val="AAAACC"/>
                </a:solidFill>
                <a:latin typeface="Arial" pitchFamily="34" charset="0"/>
                <a:ea typeface="Arial" pitchFamily="34" charset="-122"/>
                <a:cs typeface="Arial" pitchFamily="34" charset="-120"/>
              </a:rPr>
              <a:t>Mental health support for men — and everyone — at [Company Name]</a:t>
            </a:r>
            <a:endParaRPr lang="en-US" sz="1300" dirty="0"/>
          </a:p>
        </p:txBody>
      </p:sp>
      <p:sp>
        <p:nvSpPr>
          <p:cNvPr id="7" name="Shape 4"/>
          <p:cNvSpPr/>
          <p:nvPr/>
        </p:nvSpPr>
        <p:spPr>
          <a:xfrm>
            <a:off x="182880" y="1115568"/>
            <a:ext cx="5394960" cy="5358384"/>
          </a:xfrm>
          <a:prstGeom prst="rect">
            <a:avLst/>
          </a:prstGeom>
          <a:solidFill>
            <a:srgbClr val="FFFFFF"/>
          </a:solidFill>
          <a:ln w="38100">
            <a:solidFill>
              <a:srgbClr val="1A1A2E"/>
            </a:solidFill>
            <a:prstDash val="solid"/>
          </a:ln>
        </p:spPr>
      </p:sp>
      <p:sp>
        <p:nvSpPr>
          <p:cNvPr id="8" name="Shape 5"/>
          <p:cNvSpPr/>
          <p:nvPr/>
        </p:nvSpPr>
        <p:spPr>
          <a:xfrm>
            <a:off x="182880" y="1115568"/>
            <a:ext cx="5394960" cy="658368"/>
          </a:xfrm>
          <a:prstGeom prst="rect">
            <a:avLst/>
          </a:prstGeom>
          <a:solidFill>
            <a:srgbClr val="1A1A2E"/>
          </a:solidFill>
          <a:ln/>
        </p:spPr>
      </p:sp>
      <p:sp>
        <p:nvSpPr>
          <p:cNvPr id="9" name="Text 6"/>
          <p:cNvSpPr/>
          <p:nvPr/>
        </p:nvSpPr>
        <p:spPr>
          <a:xfrm>
            <a:off x="274320" y="1133856"/>
            <a:ext cx="5212080" cy="438912"/>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ANDY'S MAN CLUB</a:t>
            </a:r>
            <a:endParaRPr lang="en-US" sz="2200" dirty="0"/>
          </a:p>
        </p:txBody>
      </p:sp>
      <p:sp>
        <p:nvSpPr>
          <p:cNvPr id="10" name="Text 7"/>
          <p:cNvSpPr/>
          <p:nvPr/>
        </p:nvSpPr>
        <p:spPr>
          <a:xfrm>
            <a:off x="274320" y="1554480"/>
            <a:ext cx="5212080" cy="182880"/>
          </a:xfrm>
          <a:prstGeom prst="rect">
            <a:avLst/>
          </a:prstGeom>
          <a:noFill/>
          <a:ln/>
        </p:spPr>
        <p:txBody>
          <a:bodyPr wrap="square" rtlCol="0" anchor="ctr"/>
          <a:lstStyle/>
          <a:p>
            <a:pPr algn="ctr" indent="0" marL="0">
              <a:buNone/>
            </a:pPr>
            <a:r>
              <a:rPr lang="en-US" sz="1100" dirty="0">
                <a:solidFill>
                  <a:srgbClr val="AAAACC"/>
                </a:solidFill>
                <a:latin typeface="Arial" pitchFamily="34" charset="0"/>
                <a:ea typeface="Arial" pitchFamily="34" charset="-122"/>
                <a:cs typeface="Arial" pitchFamily="34" charset="-120"/>
              </a:rPr>
              <a:t>Free peer-to-peer support groups for men aged 18+</a:t>
            </a:r>
            <a:endParaRPr lang="en-US" sz="1100" dirty="0"/>
          </a:p>
        </p:txBody>
      </p:sp>
      <p:sp>
        <p:nvSpPr>
          <p:cNvPr id="11" name="Text 8"/>
          <p:cNvSpPr/>
          <p:nvPr/>
        </p:nvSpPr>
        <p:spPr>
          <a:xfrm>
            <a:off x="320040" y="1847088"/>
            <a:ext cx="5120640" cy="822960"/>
          </a:xfrm>
          <a:prstGeom prst="rect">
            <a:avLst/>
          </a:prstGeom>
          <a:noFill/>
          <a:ln/>
        </p:spPr>
        <p:txBody>
          <a:bodyPr wrap="square" rtlCol="0" anchor="ctr"/>
          <a:lstStyle/>
          <a:p>
            <a:pPr indent="0" marL="0">
              <a:buNone/>
            </a:pPr>
            <a:r>
              <a:rPr lang="en-US" sz="1200" b="1" dirty="0">
                <a:solidFill>
                  <a:srgbClr val="1A1A2E"/>
                </a:solidFill>
                <a:latin typeface="Arial" pitchFamily="34" charset="0"/>
                <a:ea typeface="Arial" pitchFamily="34" charset="-122"/>
                <a:cs typeface="Arial" pitchFamily="34" charset="-120"/>
              </a:rPr>
              <a:t>Andy's Man Club </a:t>
            </a:r>
            <a:pPr indent="0" marL="0">
              <a:buNone/>
            </a:pPr>
            <a:r>
              <a:rPr lang="en-US" sz="1200" dirty="0">
                <a:solidFill>
                  <a:srgbClr val="5B595A"/>
                </a:solidFill>
                <a:latin typeface="Arial" pitchFamily="34" charset="0"/>
                <a:ea typeface="Arial" pitchFamily="34" charset="-122"/>
                <a:cs typeface="Arial" pitchFamily="34" charset="-120"/>
              </a:rPr>
              <a:t>is a free, non-judgmental talking group for men. Groups meet every Monday evening (excluding bank holidays) at 7pm, in locations across the UK.</a:t>
            </a:r>
            <a:endParaRPr lang="en-US" sz="1200" dirty="0"/>
          </a:p>
        </p:txBody>
      </p:sp>
      <p:sp>
        <p:nvSpPr>
          <p:cNvPr id="12" name="Text 9"/>
          <p:cNvSpPr/>
          <p:nvPr/>
        </p:nvSpPr>
        <p:spPr>
          <a:xfrm>
            <a:off x="320040" y="2697480"/>
            <a:ext cx="5120640" cy="502920"/>
          </a:xfrm>
          <a:prstGeom prst="rect">
            <a:avLst/>
          </a:prstGeom>
          <a:noFill/>
          <a:ln/>
        </p:spPr>
        <p:txBody>
          <a:bodyPr wrap="square" rtlCol="0" anchor="ctr"/>
          <a:lstStyle/>
          <a:p>
            <a:pPr indent="0" marL="0">
              <a:buNone/>
            </a:pPr>
            <a:r>
              <a:rPr lang="en-US" sz="1100" i="1" dirty="0">
                <a:solidFill>
                  <a:srgbClr val="83348F"/>
                </a:solidFill>
                <a:latin typeface="Arial" pitchFamily="34" charset="0"/>
                <a:ea typeface="Arial" pitchFamily="34" charset="-122"/>
                <a:cs typeface="Arial" pitchFamily="34" charset="-120"/>
              </a:rPr>
              <a:t>You do not need to have a diagnosed mental health condition to attend. You just need to want to talk.</a:t>
            </a:r>
            <a:endParaRPr lang="en-US" sz="1100" dirty="0"/>
          </a:p>
        </p:txBody>
      </p:sp>
      <p:sp>
        <p:nvSpPr>
          <p:cNvPr id="13" name="Shape 10"/>
          <p:cNvSpPr/>
          <p:nvPr/>
        </p:nvSpPr>
        <p:spPr>
          <a:xfrm>
            <a:off x="320040" y="3273552"/>
            <a:ext cx="365760" cy="365760"/>
          </a:xfrm>
          <a:prstGeom prst="rect">
            <a:avLst/>
          </a:prstGeom>
          <a:solidFill>
            <a:srgbClr val="1A1A2E"/>
          </a:solidFill>
          <a:ln/>
        </p:spPr>
      </p:sp>
      <p:sp>
        <p:nvSpPr>
          <p:cNvPr id="14" name="Text 11"/>
          <p:cNvSpPr/>
          <p:nvPr/>
        </p:nvSpPr>
        <p:spPr>
          <a:xfrm>
            <a:off x="749808" y="3291840"/>
            <a:ext cx="2194560" cy="228600"/>
          </a:xfrm>
          <a:prstGeom prst="rect">
            <a:avLst/>
          </a:prstGeom>
          <a:noFill/>
          <a:ln/>
        </p:spPr>
        <p:txBody>
          <a:bodyPr wrap="square" rtlCol="0" anchor="ctr"/>
          <a:lstStyle/>
          <a:p>
            <a:pPr indent="0" marL="0">
              <a:buNone/>
            </a:pPr>
            <a:r>
              <a:rPr lang="en-US" sz="1000" b="1" dirty="0">
                <a:solidFill>
                  <a:srgbClr val="1A1A2E"/>
                </a:solidFill>
                <a:latin typeface="Arial" pitchFamily="34" charset="0"/>
                <a:ea typeface="Arial" pitchFamily="34" charset="-122"/>
                <a:cs typeface="Arial" pitchFamily="34" charset="-120"/>
              </a:rPr>
              <a:t>Every Monday, 7pm</a:t>
            </a:r>
            <a:endParaRPr lang="en-US" sz="1000" dirty="0"/>
          </a:p>
        </p:txBody>
      </p:sp>
      <p:sp>
        <p:nvSpPr>
          <p:cNvPr id="15" name="Text 12"/>
          <p:cNvSpPr/>
          <p:nvPr/>
        </p:nvSpPr>
        <p:spPr>
          <a:xfrm>
            <a:off x="749808" y="3511296"/>
            <a:ext cx="4663440" cy="201168"/>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Free to attend, no referral needed</a:t>
            </a:r>
            <a:endParaRPr lang="en-US" sz="950" dirty="0"/>
          </a:p>
        </p:txBody>
      </p:sp>
      <p:sp>
        <p:nvSpPr>
          <p:cNvPr id="16" name="Shape 13"/>
          <p:cNvSpPr/>
          <p:nvPr/>
        </p:nvSpPr>
        <p:spPr>
          <a:xfrm>
            <a:off x="320040" y="3776472"/>
            <a:ext cx="365760" cy="365760"/>
          </a:xfrm>
          <a:prstGeom prst="rect">
            <a:avLst/>
          </a:prstGeom>
          <a:solidFill>
            <a:srgbClr val="1A1A2E"/>
          </a:solidFill>
          <a:ln/>
        </p:spPr>
      </p:sp>
      <p:sp>
        <p:nvSpPr>
          <p:cNvPr id="17" name="Text 14"/>
          <p:cNvSpPr/>
          <p:nvPr/>
        </p:nvSpPr>
        <p:spPr>
          <a:xfrm>
            <a:off x="749808" y="3794760"/>
            <a:ext cx="2194560" cy="228600"/>
          </a:xfrm>
          <a:prstGeom prst="rect">
            <a:avLst/>
          </a:prstGeom>
          <a:noFill/>
          <a:ln/>
        </p:spPr>
        <p:txBody>
          <a:bodyPr wrap="square" rtlCol="0" anchor="ctr"/>
          <a:lstStyle/>
          <a:p>
            <a:pPr indent="0" marL="0">
              <a:buNone/>
            </a:pPr>
            <a:r>
              <a:rPr lang="en-US" sz="1000" b="1" dirty="0">
                <a:solidFill>
                  <a:srgbClr val="1A1A2E"/>
                </a:solidFill>
                <a:latin typeface="Arial" pitchFamily="34" charset="0"/>
                <a:ea typeface="Arial" pitchFamily="34" charset="-122"/>
                <a:cs typeface="Arial" pitchFamily="34" charset="-120"/>
              </a:rPr>
              <a:t>Groups across the UK</a:t>
            </a:r>
            <a:endParaRPr lang="en-US" sz="1000" dirty="0"/>
          </a:p>
        </p:txBody>
      </p:sp>
      <p:sp>
        <p:nvSpPr>
          <p:cNvPr id="18" name="Text 15"/>
          <p:cNvSpPr/>
          <p:nvPr/>
        </p:nvSpPr>
        <p:spPr>
          <a:xfrm>
            <a:off x="749808" y="4014216"/>
            <a:ext cx="4663440" cy="201168"/>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Find your nearest at andysmanclub.co.uk</a:t>
            </a:r>
            <a:endParaRPr lang="en-US" sz="950" dirty="0"/>
          </a:p>
        </p:txBody>
      </p:sp>
      <p:sp>
        <p:nvSpPr>
          <p:cNvPr id="19" name="Shape 16"/>
          <p:cNvSpPr/>
          <p:nvPr/>
        </p:nvSpPr>
        <p:spPr>
          <a:xfrm>
            <a:off x="320040" y="4279392"/>
            <a:ext cx="365760" cy="365760"/>
          </a:xfrm>
          <a:prstGeom prst="rect">
            <a:avLst/>
          </a:prstGeom>
          <a:solidFill>
            <a:srgbClr val="1A1A2E"/>
          </a:solidFill>
          <a:ln/>
        </p:spPr>
      </p:sp>
      <p:sp>
        <p:nvSpPr>
          <p:cNvPr id="20" name="Text 17"/>
          <p:cNvSpPr/>
          <p:nvPr/>
        </p:nvSpPr>
        <p:spPr>
          <a:xfrm>
            <a:off x="749808" y="4297680"/>
            <a:ext cx="2194560" cy="228600"/>
          </a:xfrm>
          <a:prstGeom prst="rect">
            <a:avLst/>
          </a:prstGeom>
          <a:noFill/>
          <a:ln/>
        </p:spPr>
        <p:txBody>
          <a:bodyPr wrap="square" rtlCol="0" anchor="ctr"/>
          <a:lstStyle/>
          <a:p>
            <a:pPr indent="0" marL="0">
              <a:buNone/>
            </a:pPr>
            <a:r>
              <a:rPr lang="en-US" sz="1000" b="1" dirty="0">
                <a:solidFill>
                  <a:srgbClr val="1A1A2E"/>
                </a:solidFill>
                <a:latin typeface="Arial" pitchFamily="34" charset="0"/>
                <a:ea typeface="Arial" pitchFamily="34" charset="-122"/>
                <a:cs typeface="Arial" pitchFamily="34" charset="-120"/>
              </a:rPr>
              <a:t>Safe, non-judgemental</a:t>
            </a:r>
            <a:endParaRPr lang="en-US" sz="1000" dirty="0"/>
          </a:p>
        </p:txBody>
      </p:sp>
      <p:sp>
        <p:nvSpPr>
          <p:cNvPr id="21" name="Text 18"/>
          <p:cNvSpPr/>
          <p:nvPr/>
        </p:nvSpPr>
        <p:spPr>
          <a:xfrm>
            <a:off x="749808" y="4517136"/>
            <a:ext cx="4663440" cy="201168"/>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Just men talking to men — no pressure</a:t>
            </a:r>
            <a:endParaRPr lang="en-US" sz="950" dirty="0"/>
          </a:p>
        </p:txBody>
      </p:sp>
      <p:sp>
        <p:nvSpPr>
          <p:cNvPr id="22" name="Shape 19"/>
          <p:cNvSpPr/>
          <p:nvPr/>
        </p:nvSpPr>
        <p:spPr>
          <a:xfrm>
            <a:off x="320040" y="4782312"/>
            <a:ext cx="365760" cy="365760"/>
          </a:xfrm>
          <a:prstGeom prst="rect">
            <a:avLst/>
          </a:prstGeom>
          <a:solidFill>
            <a:srgbClr val="1A1A2E"/>
          </a:solidFill>
          <a:ln/>
        </p:spPr>
      </p:sp>
      <p:sp>
        <p:nvSpPr>
          <p:cNvPr id="23" name="Text 20"/>
          <p:cNvSpPr/>
          <p:nvPr/>
        </p:nvSpPr>
        <p:spPr>
          <a:xfrm>
            <a:off x="749808" y="4800600"/>
            <a:ext cx="2194560" cy="228600"/>
          </a:xfrm>
          <a:prstGeom prst="rect">
            <a:avLst/>
          </a:prstGeom>
          <a:noFill/>
          <a:ln/>
        </p:spPr>
        <p:txBody>
          <a:bodyPr wrap="square" rtlCol="0" anchor="ctr"/>
          <a:lstStyle/>
          <a:p>
            <a:pPr indent="0" marL="0">
              <a:buNone/>
            </a:pPr>
            <a:r>
              <a:rPr lang="en-US" sz="1000" b="1" dirty="0">
                <a:solidFill>
                  <a:srgbClr val="1A1A2E"/>
                </a:solidFill>
                <a:latin typeface="Arial" pitchFamily="34" charset="0"/>
                <a:ea typeface="Arial" pitchFamily="34" charset="-122"/>
                <a:cs typeface="Arial" pitchFamily="34" charset="-120"/>
              </a:rPr>
              <a:t>#ITSOKAYTOTALK</a:t>
            </a:r>
            <a:endParaRPr lang="en-US" sz="1000" dirty="0"/>
          </a:p>
        </p:txBody>
      </p:sp>
      <p:sp>
        <p:nvSpPr>
          <p:cNvPr id="24" name="Text 21"/>
          <p:cNvSpPr/>
          <p:nvPr/>
        </p:nvSpPr>
        <p:spPr>
          <a:xfrm>
            <a:off x="749808" y="5020056"/>
            <a:ext cx="4663440" cy="201168"/>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Sharing how you feel is a sign of strength</a:t>
            </a:r>
            <a:endParaRPr lang="en-US" sz="950" dirty="0"/>
          </a:p>
        </p:txBody>
      </p:sp>
      <p:sp>
        <p:nvSpPr>
          <p:cNvPr id="25" name="Shape 22"/>
          <p:cNvSpPr/>
          <p:nvPr/>
        </p:nvSpPr>
        <p:spPr>
          <a:xfrm>
            <a:off x="182880" y="5321808"/>
            <a:ext cx="5394960" cy="987552"/>
          </a:xfrm>
          <a:prstGeom prst="rect">
            <a:avLst/>
          </a:prstGeom>
          <a:solidFill>
            <a:srgbClr val="1A1A2E"/>
          </a:solidFill>
          <a:ln/>
        </p:spPr>
      </p:sp>
      <p:sp>
        <p:nvSpPr>
          <p:cNvPr id="26" name="Text 23"/>
          <p:cNvSpPr/>
          <p:nvPr/>
        </p:nvSpPr>
        <p:spPr>
          <a:xfrm>
            <a:off x="274320" y="5358384"/>
            <a:ext cx="5212080" cy="438912"/>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andysmanclub.co.uk  |  Find your nearest group on the website or app</a:t>
            </a:r>
            <a:endParaRPr lang="en-US" sz="1300" dirty="0"/>
          </a:p>
        </p:txBody>
      </p:sp>
      <p:sp>
        <p:nvSpPr>
          <p:cNvPr id="27" name="Text 24"/>
          <p:cNvSpPr/>
          <p:nvPr/>
        </p:nvSpPr>
        <p:spPr>
          <a:xfrm>
            <a:off x="274320" y="5797296"/>
            <a:ext cx="5212080" cy="438912"/>
          </a:xfrm>
          <a:prstGeom prst="rect">
            <a:avLst/>
          </a:prstGeom>
          <a:noFill/>
          <a:ln/>
        </p:spPr>
        <p:txBody>
          <a:bodyPr wrap="square" rtlCol="0" anchor="ctr"/>
          <a:lstStyle/>
          <a:p>
            <a:pPr algn="ctr" indent="0" marL="0">
              <a:buNone/>
            </a:pPr>
            <a:r>
              <a:rPr lang="en-US" sz="1000" dirty="0">
                <a:solidFill>
                  <a:srgbClr val="AAAACC"/>
                </a:solidFill>
                <a:latin typeface="Arial" pitchFamily="34" charset="0"/>
                <a:ea typeface="Arial" pitchFamily="34" charset="-122"/>
                <a:cs typeface="Arial" pitchFamily="34" charset="-120"/>
              </a:rPr>
              <a:t>Also on Facebook, Instagram, and Twitter</a:t>
            </a:r>
            <a:endParaRPr lang="en-US" sz="1000" dirty="0"/>
          </a:p>
        </p:txBody>
      </p:sp>
      <p:sp>
        <p:nvSpPr>
          <p:cNvPr id="28" name="Shape 25"/>
          <p:cNvSpPr/>
          <p:nvPr/>
        </p:nvSpPr>
        <p:spPr>
          <a:xfrm>
            <a:off x="5897880" y="1115568"/>
            <a:ext cx="6080760" cy="5358384"/>
          </a:xfrm>
          <a:prstGeom prst="rect">
            <a:avLst/>
          </a:prstGeom>
          <a:solidFill>
            <a:srgbClr val="F5F5F5"/>
          </a:solidFill>
          <a:ln w="12700">
            <a:solidFill>
              <a:srgbClr val="CCCCCC"/>
            </a:solidFill>
            <a:prstDash val="solid"/>
          </a:ln>
        </p:spPr>
      </p:sp>
      <p:sp>
        <p:nvSpPr>
          <p:cNvPr id="29" name="Shape 26"/>
          <p:cNvSpPr/>
          <p:nvPr/>
        </p:nvSpPr>
        <p:spPr>
          <a:xfrm>
            <a:off x="5897880" y="1115568"/>
            <a:ext cx="6080760" cy="475488"/>
          </a:xfrm>
          <a:prstGeom prst="rect">
            <a:avLst/>
          </a:prstGeom>
          <a:solidFill>
            <a:srgbClr val="83348F"/>
          </a:solidFill>
          <a:ln/>
        </p:spPr>
      </p:sp>
      <p:sp>
        <p:nvSpPr>
          <p:cNvPr id="30" name="Text 27"/>
          <p:cNvSpPr/>
          <p:nvPr/>
        </p:nvSpPr>
        <p:spPr>
          <a:xfrm>
            <a:off x="5989320" y="1133856"/>
            <a:ext cx="5897880" cy="43891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MORE SUPPORT AVAILABLE</a:t>
            </a:r>
            <a:endParaRPr lang="en-US" sz="1400" dirty="0"/>
          </a:p>
        </p:txBody>
      </p:sp>
      <p:sp>
        <p:nvSpPr>
          <p:cNvPr id="31" name="Shape 28"/>
          <p:cNvSpPr/>
          <p:nvPr/>
        </p:nvSpPr>
        <p:spPr>
          <a:xfrm>
            <a:off x="5897880" y="1682496"/>
            <a:ext cx="6080760" cy="713232"/>
          </a:xfrm>
          <a:prstGeom prst="rect">
            <a:avLst/>
          </a:prstGeom>
          <a:solidFill>
            <a:srgbClr val="FFFFFF"/>
          </a:solidFill>
          <a:ln w="6350">
            <a:solidFill>
              <a:srgbClr val="DDDDDD"/>
            </a:solidFill>
            <a:prstDash val="solid"/>
          </a:ln>
        </p:spPr>
      </p:sp>
      <p:sp>
        <p:nvSpPr>
          <p:cNvPr id="32" name="Shape 29"/>
          <p:cNvSpPr/>
          <p:nvPr/>
        </p:nvSpPr>
        <p:spPr>
          <a:xfrm>
            <a:off x="5897880" y="1682496"/>
            <a:ext cx="256032" cy="713232"/>
          </a:xfrm>
          <a:prstGeom prst="rect">
            <a:avLst/>
          </a:prstGeom>
          <a:solidFill>
            <a:srgbClr val="83348F"/>
          </a:solidFill>
          <a:ln/>
        </p:spPr>
      </p:sp>
      <p:sp>
        <p:nvSpPr>
          <p:cNvPr id="33" name="Text 30"/>
          <p:cNvSpPr/>
          <p:nvPr/>
        </p:nvSpPr>
        <p:spPr>
          <a:xfrm>
            <a:off x="6199632" y="1719072"/>
            <a:ext cx="3474720" cy="274320"/>
          </a:xfrm>
          <a:prstGeom prst="rect">
            <a:avLst/>
          </a:prstGeom>
          <a:noFill/>
          <a:ln/>
        </p:spPr>
        <p:txBody>
          <a:bodyPr wrap="square" rtlCol="0" anchor="ctr"/>
          <a:lstStyle/>
          <a:p>
            <a:pPr indent="0" marL="0">
              <a:buNone/>
            </a:pPr>
            <a:r>
              <a:rPr lang="en-US" sz="950" b="1" dirty="0">
                <a:solidFill>
                  <a:srgbClr val="5B595A"/>
                </a:solidFill>
                <a:latin typeface="Arial" pitchFamily="34" charset="0"/>
                <a:ea typeface="Arial" pitchFamily="34" charset="-122"/>
                <a:cs typeface="Arial" pitchFamily="34" charset="-120"/>
              </a:rPr>
              <a:t>Employee Assistance Programme (EAP)</a:t>
            </a:r>
            <a:endParaRPr lang="en-US" sz="950" dirty="0"/>
          </a:p>
        </p:txBody>
      </p:sp>
      <p:sp>
        <p:nvSpPr>
          <p:cNvPr id="34" name="Text 31"/>
          <p:cNvSpPr/>
          <p:nvPr/>
        </p:nvSpPr>
        <p:spPr>
          <a:xfrm>
            <a:off x="6199632" y="2002536"/>
            <a:ext cx="3474720" cy="347472"/>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Free, confidential counselling and mental health support. Available 24/7.</a:t>
            </a:r>
            <a:endParaRPr lang="en-US" sz="900" dirty="0"/>
          </a:p>
        </p:txBody>
      </p:sp>
      <p:sp>
        <p:nvSpPr>
          <p:cNvPr id="35" name="Text 32"/>
          <p:cNvSpPr/>
          <p:nvPr/>
        </p:nvSpPr>
        <p:spPr>
          <a:xfrm>
            <a:off x="9710928" y="1737360"/>
            <a:ext cx="2194560" cy="594360"/>
          </a:xfrm>
          <a:prstGeom prst="rect">
            <a:avLst/>
          </a:prstGeom>
          <a:noFill/>
          <a:ln/>
        </p:spPr>
        <p:txBody>
          <a:bodyPr wrap="square" rtlCol="0" anchor="ctr"/>
          <a:lstStyle/>
          <a:p>
            <a:pPr indent="0" marL="0">
              <a:buNone/>
            </a:pPr>
            <a:r>
              <a:rPr lang="en-US" sz="900" b="1" dirty="0">
                <a:solidFill>
                  <a:srgbClr val="83348F"/>
                </a:solidFill>
                <a:latin typeface="Arial" pitchFamily="34" charset="0"/>
                <a:ea typeface="Arial" pitchFamily="34" charset="-122"/>
                <a:cs typeface="Arial" pitchFamily="34" charset="-120"/>
              </a:rPr>
              <a:t>[Freephone Number]</a:t>
            </a:r>
            <a:endParaRPr lang="en-US" sz="900" dirty="0"/>
          </a:p>
          <a:p>
            <a:pPr indent="0" marL="0">
              <a:buNone/>
            </a:pPr>
            <a:r>
              <a:rPr lang="en-US" sz="900" b="1" dirty="0">
                <a:solidFill>
                  <a:srgbClr val="83348F"/>
                </a:solidFill>
                <a:latin typeface="Arial" pitchFamily="34" charset="0"/>
                <a:ea typeface="Arial" pitchFamily="34" charset="-122"/>
                <a:cs typeface="Arial" pitchFamily="34" charset="-120"/>
              </a:rPr>
              <a:t>[Website]</a:t>
            </a:r>
            <a:endParaRPr lang="en-US" sz="900" dirty="0"/>
          </a:p>
        </p:txBody>
      </p:sp>
      <p:sp>
        <p:nvSpPr>
          <p:cNvPr id="36" name="Shape 33"/>
          <p:cNvSpPr/>
          <p:nvPr/>
        </p:nvSpPr>
        <p:spPr>
          <a:xfrm>
            <a:off x="5897880" y="2441448"/>
            <a:ext cx="6080760" cy="713232"/>
          </a:xfrm>
          <a:prstGeom prst="rect">
            <a:avLst/>
          </a:prstGeom>
          <a:solidFill>
            <a:srgbClr val="FFFFFF"/>
          </a:solidFill>
          <a:ln w="6350">
            <a:solidFill>
              <a:srgbClr val="DDDDDD"/>
            </a:solidFill>
            <a:prstDash val="solid"/>
          </a:ln>
        </p:spPr>
      </p:sp>
      <p:sp>
        <p:nvSpPr>
          <p:cNvPr id="37" name="Shape 34"/>
          <p:cNvSpPr/>
          <p:nvPr/>
        </p:nvSpPr>
        <p:spPr>
          <a:xfrm>
            <a:off x="5897880" y="2441448"/>
            <a:ext cx="256032" cy="713232"/>
          </a:xfrm>
          <a:prstGeom prst="rect">
            <a:avLst/>
          </a:prstGeom>
          <a:solidFill>
            <a:srgbClr val="009FE3"/>
          </a:solidFill>
          <a:ln/>
        </p:spPr>
      </p:sp>
      <p:sp>
        <p:nvSpPr>
          <p:cNvPr id="38" name="Text 35"/>
          <p:cNvSpPr/>
          <p:nvPr/>
        </p:nvSpPr>
        <p:spPr>
          <a:xfrm>
            <a:off x="6199632" y="2478024"/>
            <a:ext cx="3474720" cy="274320"/>
          </a:xfrm>
          <a:prstGeom prst="rect">
            <a:avLst/>
          </a:prstGeom>
          <a:noFill/>
          <a:ln/>
        </p:spPr>
        <p:txBody>
          <a:bodyPr wrap="square" rtlCol="0" anchor="ctr"/>
          <a:lstStyle/>
          <a:p>
            <a:pPr indent="0" marL="0">
              <a:buNone/>
            </a:pPr>
            <a:r>
              <a:rPr lang="en-US" sz="950" b="1" dirty="0">
                <a:solidFill>
                  <a:srgbClr val="5B595A"/>
                </a:solidFill>
                <a:latin typeface="Arial" pitchFamily="34" charset="0"/>
                <a:ea typeface="Arial" pitchFamily="34" charset="-122"/>
                <a:cs typeface="Arial" pitchFamily="34" charset="-120"/>
              </a:rPr>
              <a:t>Mind</a:t>
            </a:r>
            <a:endParaRPr lang="en-US" sz="950" dirty="0"/>
          </a:p>
        </p:txBody>
      </p:sp>
      <p:sp>
        <p:nvSpPr>
          <p:cNvPr id="39" name="Text 36"/>
          <p:cNvSpPr/>
          <p:nvPr/>
        </p:nvSpPr>
        <p:spPr>
          <a:xfrm>
            <a:off x="6199632" y="2761488"/>
            <a:ext cx="3474720" cy="347472"/>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Mental health charity. Information, local services, and online support.</a:t>
            </a:r>
            <a:endParaRPr lang="en-US" sz="900" dirty="0"/>
          </a:p>
        </p:txBody>
      </p:sp>
      <p:sp>
        <p:nvSpPr>
          <p:cNvPr id="40" name="Text 37"/>
          <p:cNvSpPr/>
          <p:nvPr/>
        </p:nvSpPr>
        <p:spPr>
          <a:xfrm>
            <a:off x="9710928" y="2496312"/>
            <a:ext cx="2194560" cy="594360"/>
          </a:xfrm>
          <a:prstGeom prst="rect">
            <a:avLst/>
          </a:prstGeom>
          <a:noFill/>
          <a:ln/>
        </p:spPr>
        <p:txBody>
          <a:bodyPr wrap="square" rtlCol="0" anchor="ctr"/>
          <a:lstStyle/>
          <a:p>
            <a:pPr indent="0" marL="0">
              <a:buNone/>
            </a:pPr>
            <a:r>
              <a:rPr lang="en-US" sz="900" b="1" dirty="0">
                <a:solidFill>
                  <a:srgbClr val="009FE3"/>
                </a:solidFill>
                <a:latin typeface="Arial" pitchFamily="34" charset="0"/>
                <a:ea typeface="Arial" pitchFamily="34" charset="-122"/>
                <a:cs typeface="Arial" pitchFamily="34" charset="-120"/>
              </a:rPr>
              <a:t>0300 123 3393</a:t>
            </a:r>
            <a:endParaRPr lang="en-US" sz="900" dirty="0"/>
          </a:p>
          <a:p>
            <a:pPr indent="0" marL="0">
              <a:buNone/>
            </a:pPr>
            <a:r>
              <a:rPr lang="en-US" sz="900" b="1" dirty="0">
                <a:solidFill>
                  <a:srgbClr val="009FE3"/>
                </a:solidFill>
                <a:latin typeface="Arial" pitchFamily="34" charset="0"/>
                <a:ea typeface="Arial" pitchFamily="34" charset="-122"/>
                <a:cs typeface="Arial" pitchFamily="34" charset="-120"/>
              </a:rPr>
              <a:t>www.mind.org.uk</a:t>
            </a:r>
            <a:endParaRPr lang="en-US" sz="900" dirty="0"/>
          </a:p>
        </p:txBody>
      </p:sp>
      <p:sp>
        <p:nvSpPr>
          <p:cNvPr id="41" name="Shape 38"/>
          <p:cNvSpPr/>
          <p:nvPr/>
        </p:nvSpPr>
        <p:spPr>
          <a:xfrm>
            <a:off x="5897880" y="3200400"/>
            <a:ext cx="6080760" cy="713232"/>
          </a:xfrm>
          <a:prstGeom prst="rect">
            <a:avLst/>
          </a:prstGeom>
          <a:solidFill>
            <a:srgbClr val="FFFFFF"/>
          </a:solidFill>
          <a:ln w="6350">
            <a:solidFill>
              <a:srgbClr val="DDDDDD"/>
            </a:solidFill>
            <a:prstDash val="solid"/>
          </a:ln>
        </p:spPr>
      </p:sp>
      <p:sp>
        <p:nvSpPr>
          <p:cNvPr id="42" name="Shape 39"/>
          <p:cNvSpPr/>
          <p:nvPr/>
        </p:nvSpPr>
        <p:spPr>
          <a:xfrm>
            <a:off x="5897880" y="3200400"/>
            <a:ext cx="256032" cy="713232"/>
          </a:xfrm>
          <a:prstGeom prst="rect">
            <a:avLst/>
          </a:prstGeom>
          <a:solidFill>
            <a:srgbClr val="CC0000"/>
          </a:solidFill>
          <a:ln/>
        </p:spPr>
      </p:sp>
      <p:sp>
        <p:nvSpPr>
          <p:cNvPr id="43" name="Text 40"/>
          <p:cNvSpPr/>
          <p:nvPr/>
        </p:nvSpPr>
        <p:spPr>
          <a:xfrm>
            <a:off x="6199632" y="3236976"/>
            <a:ext cx="3474720" cy="274320"/>
          </a:xfrm>
          <a:prstGeom prst="rect">
            <a:avLst/>
          </a:prstGeom>
          <a:noFill/>
          <a:ln/>
        </p:spPr>
        <p:txBody>
          <a:bodyPr wrap="square" rtlCol="0" anchor="ctr"/>
          <a:lstStyle/>
          <a:p>
            <a:pPr indent="0" marL="0">
              <a:buNone/>
            </a:pPr>
            <a:r>
              <a:rPr lang="en-US" sz="950" b="1" dirty="0">
                <a:solidFill>
                  <a:srgbClr val="5B595A"/>
                </a:solidFill>
                <a:latin typeface="Arial" pitchFamily="34" charset="0"/>
                <a:ea typeface="Arial" pitchFamily="34" charset="-122"/>
                <a:cs typeface="Arial" pitchFamily="34" charset="-120"/>
              </a:rPr>
              <a:t>Samaritans</a:t>
            </a:r>
            <a:endParaRPr lang="en-US" sz="950" dirty="0"/>
          </a:p>
        </p:txBody>
      </p:sp>
      <p:sp>
        <p:nvSpPr>
          <p:cNvPr id="44" name="Text 41"/>
          <p:cNvSpPr/>
          <p:nvPr/>
        </p:nvSpPr>
        <p:spPr>
          <a:xfrm>
            <a:off x="6199632" y="3520440"/>
            <a:ext cx="3474720" cy="347472"/>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If you need someone to talk to right now. Free, confidential, 24/7.</a:t>
            </a:r>
            <a:endParaRPr lang="en-US" sz="900" dirty="0"/>
          </a:p>
        </p:txBody>
      </p:sp>
      <p:sp>
        <p:nvSpPr>
          <p:cNvPr id="45" name="Text 42"/>
          <p:cNvSpPr/>
          <p:nvPr/>
        </p:nvSpPr>
        <p:spPr>
          <a:xfrm>
            <a:off x="9710928" y="3255264"/>
            <a:ext cx="2194560" cy="594360"/>
          </a:xfrm>
          <a:prstGeom prst="rect">
            <a:avLst/>
          </a:prstGeom>
          <a:noFill/>
          <a:ln/>
        </p:spPr>
        <p:txBody>
          <a:bodyPr wrap="square" rtlCol="0" anchor="ctr"/>
          <a:lstStyle/>
          <a:p>
            <a:pPr indent="0" marL="0">
              <a:buNone/>
            </a:pPr>
            <a:r>
              <a:rPr lang="en-US" sz="900" b="1" dirty="0">
                <a:solidFill>
                  <a:srgbClr val="CC0000"/>
                </a:solidFill>
                <a:latin typeface="Arial" pitchFamily="34" charset="0"/>
                <a:ea typeface="Arial" pitchFamily="34" charset="-122"/>
                <a:cs typeface="Arial" pitchFamily="34" charset="-120"/>
              </a:rPr>
              <a:t>116 123</a:t>
            </a:r>
            <a:endParaRPr lang="en-US" sz="900" dirty="0"/>
          </a:p>
          <a:p>
            <a:pPr indent="0" marL="0">
              <a:buNone/>
            </a:pPr>
            <a:r>
              <a:rPr lang="en-US" sz="900" b="1" dirty="0">
                <a:solidFill>
                  <a:srgbClr val="CC0000"/>
                </a:solidFill>
                <a:latin typeface="Arial" pitchFamily="34" charset="0"/>
                <a:ea typeface="Arial" pitchFamily="34" charset="-122"/>
                <a:cs typeface="Arial" pitchFamily="34" charset="-120"/>
              </a:rPr>
              <a:t>jo@samaritans.org</a:t>
            </a:r>
            <a:endParaRPr lang="en-US" sz="900" dirty="0"/>
          </a:p>
        </p:txBody>
      </p:sp>
      <p:sp>
        <p:nvSpPr>
          <p:cNvPr id="46" name="Shape 43"/>
          <p:cNvSpPr/>
          <p:nvPr/>
        </p:nvSpPr>
        <p:spPr>
          <a:xfrm>
            <a:off x="5897880" y="3959352"/>
            <a:ext cx="6080760" cy="713232"/>
          </a:xfrm>
          <a:prstGeom prst="rect">
            <a:avLst/>
          </a:prstGeom>
          <a:solidFill>
            <a:srgbClr val="FFFFFF"/>
          </a:solidFill>
          <a:ln w="6350">
            <a:solidFill>
              <a:srgbClr val="DDDDDD"/>
            </a:solidFill>
            <a:prstDash val="solid"/>
          </a:ln>
        </p:spPr>
      </p:sp>
      <p:sp>
        <p:nvSpPr>
          <p:cNvPr id="47" name="Shape 44"/>
          <p:cNvSpPr/>
          <p:nvPr/>
        </p:nvSpPr>
        <p:spPr>
          <a:xfrm>
            <a:off x="5897880" y="3959352"/>
            <a:ext cx="256032" cy="713232"/>
          </a:xfrm>
          <a:prstGeom prst="rect">
            <a:avLst/>
          </a:prstGeom>
          <a:solidFill>
            <a:srgbClr val="00796B"/>
          </a:solidFill>
          <a:ln/>
        </p:spPr>
      </p:sp>
      <p:sp>
        <p:nvSpPr>
          <p:cNvPr id="48" name="Text 45"/>
          <p:cNvSpPr/>
          <p:nvPr/>
        </p:nvSpPr>
        <p:spPr>
          <a:xfrm>
            <a:off x="6199632" y="3995928"/>
            <a:ext cx="3474720" cy="274320"/>
          </a:xfrm>
          <a:prstGeom prst="rect">
            <a:avLst/>
          </a:prstGeom>
          <a:noFill/>
          <a:ln/>
        </p:spPr>
        <p:txBody>
          <a:bodyPr wrap="square" rtlCol="0" anchor="ctr"/>
          <a:lstStyle/>
          <a:p>
            <a:pPr indent="0" marL="0">
              <a:buNone/>
            </a:pPr>
            <a:r>
              <a:rPr lang="en-US" sz="950" b="1" dirty="0">
                <a:solidFill>
                  <a:srgbClr val="5B595A"/>
                </a:solidFill>
                <a:latin typeface="Arial" pitchFamily="34" charset="0"/>
                <a:ea typeface="Arial" pitchFamily="34" charset="-122"/>
                <a:cs typeface="Arial" pitchFamily="34" charset="-120"/>
              </a:rPr>
              <a:t>Rethink Mental Illness</a:t>
            </a:r>
            <a:endParaRPr lang="en-US" sz="950" dirty="0"/>
          </a:p>
        </p:txBody>
      </p:sp>
      <p:sp>
        <p:nvSpPr>
          <p:cNvPr id="49" name="Text 46"/>
          <p:cNvSpPr/>
          <p:nvPr/>
        </p:nvSpPr>
        <p:spPr>
          <a:xfrm>
            <a:off x="6199632" y="4279392"/>
            <a:ext cx="3474720" cy="347472"/>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Advice and information for people affected by mental illness.</a:t>
            </a:r>
            <a:endParaRPr lang="en-US" sz="900" dirty="0"/>
          </a:p>
        </p:txBody>
      </p:sp>
      <p:sp>
        <p:nvSpPr>
          <p:cNvPr id="50" name="Text 47"/>
          <p:cNvSpPr/>
          <p:nvPr/>
        </p:nvSpPr>
        <p:spPr>
          <a:xfrm>
            <a:off x="9710928" y="4014216"/>
            <a:ext cx="2194560" cy="594360"/>
          </a:xfrm>
          <a:prstGeom prst="rect">
            <a:avLst/>
          </a:prstGeom>
          <a:noFill/>
          <a:ln/>
        </p:spPr>
        <p:txBody>
          <a:bodyPr wrap="square" rtlCol="0" anchor="ctr"/>
          <a:lstStyle/>
          <a:p>
            <a:pPr indent="0" marL="0">
              <a:buNone/>
            </a:pPr>
            <a:r>
              <a:rPr lang="en-US" sz="900" b="1" dirty="0">
                <a:solidFill>
                  <a:srgbClr val="00796B"/>
                </a:solidFill>
                <a:latin typeface="Arial" pitchFamily="34" charset="0"/>
                <a:ea typeface="Arial" pitchFamily="34" charset="-122"/>
                <a:cs typeface="Arial" pitchFamily="34" charset="-120"/>
              </a:rPr>
              <a:t>0300 5000 927</a:t>
            </a:r>
            <a:endParaRPr lang="en-US" sz="900" dirty="0"/>
          </a:p>
          <a:p>
            <a:pPr indent="0" marL="0">
              <a:buNone/>
            </a:pPr>
            <a:r>
              <a:rPr lang="en-US" sz="900" b="1" dirty="0">
                <a:solidFill>
                  <a:srgbClr val="00796B"/>
                </a:solidFill>
                <a:latin typeface="Arial" pitchFamily="34" charset="0"/>
                <a:ea typeface="Arial" pitchFamily="34" charset="-122"/>
                <a:cs typeface="Arial" pitchFamily="34" charset="-120"/>
              </a:rPr>
              <a:t>www.rethink.org</a:t>
            </a:r>
            <a:endParaRPr lang="en-US" sz="900" dirty="0"/>
          </a:p>
        </p:txBody>
      </p:sp>
      <p:sp>
        <p:nvSpPr>
          <p:cNvPr id="51" name="Shape 48"/>
          <p:cNvSpPr/>
          <p:nvPr/>
        </p:nvSpPr>
        <p:spPr>
          <a:xfrm>
            <a:off x="5897880" y="4718304"/>
            <a:ext cx="6080760" cy="713232"/>
          </a:xfrm>
          <a:prstGeom prst="rect">
            <a:avLst/>
          </a:prstGeom>
          <a:solidFill>
            <a:srgbClr val="FFFFFF"/>
          </a:solidFill>
          <a:ln w="6350">
            <a:solidFill>
              <a:srgbClr val="DDDDDD"/>
            </a:solidFill>
            <a:prstDash val="solid"/>
          </a:ln>
        </p:spPr>
      </p:sp>
      <p:sp>
        <p:nvSpPr>
          <p:cNvPr id="52" name="Shape 49"/>
          <p:cNvSpPr/>
          <p:nvPr/>
        </p:nvSpPr>
        <p:spPr>
          <a:xfrm>
            <a:off x="5897880" y="4718304"/>
            <a:ext cx="256032" cy="713232"/>
          </a:xfrm>
          <a:prstGeom prst="rect">
            <a:avLst/>
          </a:prstGeom>
          <a:solidFill>
            <a:srgbClr val="1A237E"/>
          </a:solidFill>
          <a:ln/>
        </p:spPr>
      </p:sp>
      <p:sp>
        <p:nvSpPr>
          <p:cNvPr id="53" name="Text 50"/>
          <p:cNvSpPr/>
          <p:nvPr/>
        </p:nvSpPr>
        <p:spPr>
          <a:xfrm>
            <a:off x="6199632" y="4754880"/>
            <a:ext cx="3474720" cy="274320"/>
          </a:xfrm>
          <a:prstGeom prst="rect">
            <a:avLst/>
          </a:prstGeom>
          <a:noFill/>
          <a:ln/>
        </p:spPr>
        <p:txBody>
          <a:bodyPr wrap="square" rtlCol="0" anchor="ctr"/>
          <a:lstStyle/>
          <a:p>
            <a:pPr indent="0" marL="0">
              <a:buNone/>
            </a:pPr>
            <a:r>
              <a:rPr lang="en-US" sz="950" b="1" dirty="0">
                <a:solidFill>
                  <a:srgbClr val="5B595A"/>
                </a:solidFill>
                <a:latin typeface="Arial" pitchFamily="34" charset="0"/>
                <a:ea typeface="Arial" pitchFamily="34" charset="-122"/>
                <a:cs typeface="Arial" pitchFamily="34" charset="-120"/>
              </a:rPr>
              <a:t>CALM (Campaign Against Living Miserably)</a:t>
            </a:r>
            <a:endParaRPr lang="en-US" sz="950" dirty="0"/>
          </a:p>
        </p:txBody>
      </p:sp>
      <p:sp>
        <p:nvSpPr>
          <p:cNvPr id="54" name="Text 51"/>
          <p:cNvSpPr/>
          <p:nvPr/>
        </p:nvSpPr>
        <p:spPr>
          <a:xfrm>
            <a:off x="6199632" y="5038344"/>
            <a:ext cx="3474720" cy="347472"/>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For men feeling low or in crisis. Helpline and webchat.</a:t>
            </a:r>
            <a:endParaRPr lang="en-US" sz="900" dirty="0"/>
          </a:p>
        </p:txBody>
      </p:sp>
      <p:sp>
        <p:nvSpPr>
          <p:cNvPr id="55" name="Text 52"/>
          <p:cNvSpPr/>
          <p:nvPr/>
        </p:nvSpPr>
        <p:spPr>
          <a:xfrm>
            <a:off x="9710928" y="4773168"/>
            <a:ext cx="2194560" cy="594360"/>
          </a:xfrm>
          <a:prstGeom prst="rect">
            <a:avLst/>
          </a:prstGeom>
          <a:noFill/>
          <a:ln/>
        </p:spPr>
        <p:txBody>
          <a:bodyPr wrap="square" rtlCol="0" anchor="ctr"/>
          <a:lstStyle/>
          <a:p>
            <a:pPr indent="0" marL="0">
              <a:buNone/>
            </a:pPr>
            <a:r>
              <a:rPr lang="en-US" sz="900" b="1" dirty="0">
                <a:solidFill>
                  <a:srgbClr val="1A237E"/>
                </a:solidFill>
                <a:latin typeface="Arial" pitchFamily="34" charset="0"/>
                <a:ea typeface="Arial" pitchFamily="34" charset="-122"/>
                <a:cs typeface="Arial" pitchFamily="34" charset="-120"/>
              </a:rPr>
              <a:t>0800 58 58 58</a:t>
            </a:r>
            <a:endParaRPr lang="en-US" sz="900" dirty="0"/>
          </a:p>
          <a:p>
            <a:pPr indent="0" marL="0">
              <a:buNone/>
            </a:pPr>
            <a:r>
              <a:rPr lang="en-US" sz="900" b="1" dirty="0">
                <a:solidFill>
                  <a:srgbClr val="1A237E"/>
                </a:solidFill>
                <a:latin typeface="Arial" pitchFamily="34" charset="0"/>
                <a:ea typeface="Arial" pitchFamily="34" charset="-122"/>
                <a:cs typeface="Arial" pitchFamily="34" charset="-120"/>
              </a:rPr>
              <a:t>5pm to midnight daily</a:t>
            </a:r>
            <a:endParaRPr lang="en-US" sz="900" dirty="0"/>
          </a:p>
        </p:txBody>
      </p:sp>
      <p:sp>
        <p:nvSpPr>
          <p:cNvPr id="56" name="Shape 53"/>
          <p:cNvSpPr/>
          <p:nvPr/>
        </p:nvSpPr>
        <p:spPr>
          <a:xfrm>
            <a:off x="5897880" y="5477256"/>
            <a:ext cx="6080760" cy="713232"/>
          </a:xfrm>
          <a:prstGeom prst="rect">
            <a:avLst/>
          </a:prstGeom>
          <a:solidFill>
            <a:srgbClr val="FFFFFF"/>
          </a:solidFill>
          <a:ln w="6350">
            <a:solidFill>
              <a:srgbClr val="DDDDDD"/>
            </a:solidFill>
            <a:prstDash val="solid"/>
          </a:ln>
        </p:spPr>
      </p:sp>
      <p:sp>
        <p:nvSpPr>
          <p:cNvPr id="57" name="Shape 54"/>
          <p:cNvSpPr/>
          <p:nvPr/>
        </p:nvSpPr>
        <p:spPr>
          <a:xfrm>
            <a:off x="5897880" y="5477256"/>
            <a:ext cx="256032" cy="713232"/>
          </a:xfrm>
          <a:prstGeom prst="rect">
            <a:avLst/>
          </a:prstGeom>
          <a:solidFill>
            <a:srgbClr val="70AD47"/>
          </a:solidFill>
          <a:ln/>
        </p:spPr>
      </p:sp>
      <p:sp>
        <p:nvSpPr>
          <p:cNvPr id="58" name="Text 55"/>
          <p:cNvSpPr/>
          <p:nvPr/>
        </p:nvSpPr>
        <p:spPr>
          <a:xfrm>
            <a:off x="6199632" y="5513832"/>
            <a:ext cx="3474720" cy="274320"/>
          </a:xfrm>
          <a:prstGeom prst="rect">
            <a:avLst/>
          </a:prstGeom>
          <a:noFill/>
          <a:ln/>
        </p:spPr>
        <p:txBody>
          <a:bodyPr wrap="square" rtlCol="0" anchor="ctr"/>
          <a:lstStyle/>
          <a:p>
            <a:pPr indent="0" marL="0">
              <a:buNone/>
            </a:pPr>
            <a:r>
              <a:rPr lang="en-US" sz="950" b="1" dirty="0">
                <a:solidFill>
                  <a:srgbClr val="5B595A"/>
                </a:solidFill>
                <a:latin typeface="Arial" pitchFamily="34" charset="0"/>
                <a:ea typeface="Arial" pitchFamily="34" charset="-122"/>
                <a:cs typeface="Arial" pitchFamily="34" charset="-120"/>
              </a:rPr>
              <a:t>Mental Health First Aider (on site)</a:t>
            </a:r>
            <a:endParaRPr lang="en-US" sz="950" dirty="0"/>
          </a:p>
        </p:txBody>
      </p:sp>
      <p:sp>
        <p:nvSpPr>
          <p:cNvPr id="59" name="Text 56"/>
          <p:cNvSpPr/>
          <p:nvPr/>
        </p:nvSpPr>
        <p:spPr>
          <a:xfrm>
            <a:off x="6199632" y="5797296"/>
            <a:ext cx="3474720" cy="347472"/>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Trained colleague you can talk to in confidence at work.</a:t>
            </a:r>
            <a:endParaRPr lang="en-US" sz="900" dirty="0"/>
          </a:p>
        </p:txBody>
      </p:sp>
      <p:sp>
        <p:nvSpPr>
          <p:cNvPr id="60" name="Text 57"/>
          <p:cNvSpPr/>
          <p:nvPr/>
        </p:nvSpPr>
        <p:spPr>
          <a:xfrm>
            <a:off x="9710928" y="5532120"/>
            <a:ext cx="2194560" cy="594360"/>
          </a:xfrm>
          <a:prstGeom prst="rect">
            <a:avLst/>
          </a:prstGeom>
          <a:noFill/>
          <a:ln/>
        </p:spPr>
        <p:txBody>
          <a:bodyPr wrap="square" rtlCol="0" anchor="ctr"/>
          <a:lstStyle/>
          <a:p>
            <a:pPr indent="0" marL="0">
              <a:buNone/>
            </a:pPr>
            <a:r>
              <a:rPr lang="en-US" sz="900" b="1" dirty="0">
                <a:solidFill>
                  <a:srgbClr val="70AD47"/>
                </a:solidFill>
                <a:latin typeface="Arial" pitchFamily="34" charset="0"/>
                <a:ea typeface="Arial" pitchFamily="34" charset="-122"/>
                <a:cs typeface="Arial" pitchFamily="34" charset="-120"/>
              </a:rPr>
              <a:t>[Name]</a:t>
            </a:r>
            <a:endParaRPr lang="en-US" sz="900" dirty="0"/>
          </a:p>
          <a:p>
            <a:pPr indent="0" marL="0">
              <a:buNone/>
            </a:pPr>
            <a:r>
              <a:rPr lang="en-US" sz="900" b="1" dirty="0">
                <a:solidFill>
                  <a:srgbClr val="70AD47"/>
                </a:solidFill>
                <a:latin typeface="Arial" pitchFamily="34" charset="0"/>
                <a:ea typeface="Arial" pitchFamily="34" charset="-122"/>
                <a:cs typeface="Arial" pitchFamily="34" charset="-120"/>
              </a:rPr>
              <a:t>[Contact details]</a:t>
            </a:r>
            <a:endParaRPr lang="en-US" sz="900" dirty="0"/>
          </a:p>
        </p:txBody>
      </p:sp>
      <p:sp>
        <p:nvSpPr>
          <p:cNvPr id="61" name="Rectangle 60"/>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image.png"/>
          <p:cNvPicPr>
            <a:picLocks noChangeAspect="1"/>
          </p:cNvPicPr>
          <p:nvPr/>
        </p:nvPicPr>
        <p:blipFill>
          <a:blip r:embed="rId5"/>
          <a:stretch>
            <a:fillRect/>
          </a:stretch>
        </p:blipFill>
        <p:spPr>
          <a:xfrm>
            <a:off x="10610088" y="100584"/>
            <a:ext cx="566928" cy="347472"/>
          </a:xfrm>
          <a:prstGeom prst="rect">
            <a:avLst/>
          </a:prstGeom>
        </p:spPr>
      </p:pic>
      <p:pic>
        <p:nvPicPr>
          <p:cNvPr id="63" name="Picture 62" descr="image.png"/>
          <p:cNvPicPr>
            <a:picLocks noChangeAspect="1"/>
          </p:cNvPicPr>
          <p:nvPr/>
        </p:nvPicPr>
        <p:blipFill>
          <a:blip r:embed="rId4"/>
          <a:stretch>
            <a:fillRect/>
          </a:stretch>
        </p:blipFill>
        <p:spPr>
          <a:xfrm>
            <a:off x="11222736" y="100584"/>
            <a:ext cx="658368" cy="347472"/>
          </a:xfrm>
          <a:prstGeom prst="rect">
            <a:avLst/>
          </a:prstGeom>
        </p:spPr>
      </p:pic>
      <p:sp>
        <p:nvSpPr>
          <p:cNvPr id="64" name="Rectangle 63"/>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024128"/>
          </a:xfrm>
          <a:prstGeom prst="rect">
            <a:avLst/>
          </a:prstGeom>
          <a:solidFill>
            <a:srgbClr val="00796B"/>
          </a:solidFill>
          <a:ln/>
        </p:spPr>
      </p:sp>
      <p:pic>
        <p:nvPicPr>
          <p:cNvPr id="4" name="Image 0" descr="preencoded.png">    </p:cNvPr>
          <p:cNvPicPr>
            <a:picLocks noChangeAspect="1"/>
          </p:cNvPicPr>
          <p:nvPr/>
        </p:nvPicPr>
        <p:blipFill>
          <a:blip r:embed="rId1"/>
          <a:stretch>
            <a:fillRect/>
          </a:stretch>
        </p:blipFill>
        <p:spPr>
          <a:xfrm>
            <a:off x="274320" y="182880"/>
            <a:ext cx="1280160" cy="429768"/>
          </a:xfrm>
          <a:prstGeom prst="rect">
            <a:avLst/>
          </a:prstGeom>
        </p:spPr>
      </p:pic>
      <p:sp>
        <p:nvSpPr>
          <p:cNvPr id="5" name="Text 2"/>
          <p:cNvSpPr/>
          <p:nvPr/>
        </p:nvSpPr>
        <p:spPr>
          <a:xfrm>
            <a:off x="1828800" y="54864"/>
            <a:ext cx="8503920" cy="566928"/>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FINANCIAL WELLBEING SUPPORT</a:t>
            </a:r>
            <a:endParaRPr lang="en-US" sz="3000" dirty="0"/>
          </a:p>
        </p:txBody>
      </p:sp>
      <p:sp>
        <p:nvSpPr>
          <p:cNvPr id="6" name="Text 3"/>
          <p:cNvSpPr/>
          <p:nvPr/>
        </p:nvSpPr>
        <p:spPr>
          <a:xfrm>
            <a:off x="1828800" y="621792"/>
            <a:ext cx="8503920" cy="292608"/>
          </a:xfrm>
          <a:prstGeom prst="rect">
            <a:avLst/>
          </a:prstGeom>
          <a:noFill/>
          <a:ln/>
        </p:spPr>
        <p:txBody>
          <a:bodyPr wrap="square" rtlCol="0" anchor="ctr"/>
          <a:lstStyle/>
          <a:p>
            <a:pPr algn="ctr" indent="0" marL="0">
              <a:buNone/>
            </a:pPr>
            <a:r>
              <a:rPr lang="en-US" sz="1200" dirty="0">
                <a:solidFill>
                  <a:srgbClr val="CCEEEE"/>
                </a:solidFill>
                <a:latin typeface="Arial" pitchFamily="34" charset="0"/>
                <a:ea typeface="Arial" pitchFamily="34" charset="-122"/>
                <a:cs typeface="Arial" pitchFamily="34" charset="-120"/>
              </a:rPr>
              <a:t>Financial stress affects mental health and performance. Free help is available.</a:t>
            </a:r>
            <a:endParaRPr lang="en-US" sz="1200" dirty="0"/>
          </a:p>
        </p:txBody>
      </p:sp>
      <p:sp>
        <p:nvSpPr>
          <p:cNvPr id="7" name="Shape 4"/>
          <p:cNvSpPr/>
          <p:nvPr/>
        </p:nvSpPr>
        <p:spPr>
          <a:xfrm>
            <a:off x="182880" y="1115568"/>
            <a:ext cx="3794760" cy="2578608"/>
          </a:xfrm>
          <a:prstGeom prst="rect">
            <a:avLst/>
          </a:prstGeom>
          <a:solidFill>
            <a:srgbClr val="FFFFFF"/>
          </a:solidFill>
          <a:ln w="25400">
            <a:solidFill>
              <a:srgbClr val="83348F"/>
            </a:solidFill>
            <a:prstDash val="solid"/>
          </a:ln>
        </p:spPr>
      </p:sp>
      <p:sp>
        <p:nvSpPr>
          <p:cNvPr id="8" name="Shape 5"/>
          <p:cNvSpPr/>
          <p:nvPr/>
        </p:nvSpPr>
        <p:spPr>
          <a:xfrm>
            <a:off x="182880" y="1115568"/>
            <a:ext cx="3794760" cy="594360"/>
          </a:xfrm>
          <a:prstGeom prst="rect">
            <a:avLst/>
          </a:prstGeom>
          <a:solidFill>
            <a:srgbClr val="83348F"/>
          </a:solidFill>
          <a:ln/>
        </p:spPr>
      </p:sp>
      <p:sp>
        <p:nvSpPr>
          <p:cNvPr id="9" name="Text 6"/>
          <p:cNvSpPr/>
          <p:nvPr/>
        </p:nvSpPr>
        <p:spPr>
          <a:xfrm>
            <a:off x="274320" y="1152144"/>
            <a:ext cx="3611880" cy="310896"/>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EMPLOYEE ASSISTANCE PROGRAMME</a:t>
            </a:r>
            <a:endParaRPr lang="en-US" sz="1050" dirty="0"/>
          </a:p>
        </p:txBody>
      </p:sp>
      <p:sp>
        <p:nvSpPr>
          <p:cNvPr id="10" name="Text 7"/>
          <p:cNvSpPr/>
          <p:nvPr/>
        </p:nvSpPr>
        <p:spPr>
          <a:xfrm>
            <a:off x="274320" y="1463040"/>
            <a:ext cx="3611880" cy="219456"/>
          </a:xfrm>
          <a:prstGeom prst="rect">
            <a:avLst/>
          </a:prstGeom>
          <a:noFill/>
          <a:ln/>
        </p:spPr>
        <p:txBody>
          <a:bodyPr wrap="square" rtlCol="0" anchor="ctr"/>
          <a:lstStyle/>
          <a:p>
            <a:pPr algn="ctr" indent="0" marL="0">
              <a:buNone/>
            </a:pPr>
            <a:r>
              <a:rPr lang="en-US" sz="950" dirty="0">
                <a:solidFill>
                  <a:srgbClr val="DDDDDD"/>
                </a:solidFill>
                <a:latin typeface="Arial" pitchFamily="34" charset="0"/>
                <a:ea typeface="Arial" pitchFamily="34" charset="-122"/>
                <a:cs typeface="Arial" pitchFamily="34" charset="-120"/>
              </a:rPr>
              <a:t>Free Financial Guidance</a:t>
            </a:r>
            <a:endParaRPr lang="en-US" sz="950" dirty="0"/>
          </a:p>
        </p:txBody>
      </p:sp>
      <p:sp>
        <p:nvSpPr>
          <p:cNvPr id="11" name="Shape 8"/>
          <p:cNvSpPr/>
          <p:nvPr/>
        </p:nvSpPr>
        <p:spPr>
          <a:xfrm>
            <a:off x="310896" y="1874520"/>
            <a:ext cx="201168" cy="201168"/>
          </a:xfrm>
          <a:prstGeom prst="rect">
            <a:avLst/>
          </a:prstGeom>
          <a:solidFill>
            <a:srgbClr val="83348F"/>
          </a:solidFill>
          <a:ln/>
        </p:spPr>
      </p:sp>
      <p:sp>
        <p:nvSpPr>
          <p:cNvPr id="12" name="Text 9"/>
          <p:cNvSpPr/>
          <p:nvPr/>
        </p:nvSpPr>
        <p:spPr>
          <a:xfrm>
            <a:off x="566928" y="18013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Free, confidential financial advice through our EAP</a:t>
            </a:r>
            <a:endParaRPr lang="en-US" sz="950" dirty="0"/>
          </a:p>
        </p:txBody>
      </p:sp>
      <p:sp>
        <p:nvSpPr>
          <p:cNvPr id="13" name="Shape 10"/>
          <p:cNvSpPr/>
          <p:nvPr/>
        </p:nvSpPr>
        <p:spPr>
          <a:xfrm>
            <a:off x="310896" y="2331720"/>
            <a:ext cx="201168" cy="201168"/>
          </a:xfrm>
          <a:prstGeom prst="rect">
            <a:avLst/>
          </a:prstGeom>
          <a:solidFill>
            <a:srgbClr val="83348F"/>
          </a:solidFill>
          <a:ln/>
        </p:spPr>
      </p:sp>
      <p:sp>
        <p:nvSpPr>
          <p:cNvPr id="14" name="Text 11"/>
          <p:cNvSpPr/>
          <p:nvPr/>
        </p:nvSpPr>
        <p:spPr>
          <a:xfrm>
            <a:off x="566928" y="22585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Guidance on debt, budgeting, savings, and benefits</a:t>
            </a:r>
            <a:endParaRPr lang="en-US" sz="950" dirty="0"/>
          </a:p>
        </p:txBody>
      </p:sp>
      <p:sp>
        <p:nvSpPr>
          <p:cNvPr id="15" name="Shape 12"/>
          <p:cNvSpPr/>
          <p:nvPr/>
        </p:nvSpPr>
        <p:spPr>
          <a:xfrm>
            <a:off x="310896" y="2788920"/>
            <a:ext cx="201168" cy="201168"/>
          </a:xfrm>
          <a:prstGeom prst="rect">
            <a:avLst/>
          </a:prstGeom>
          <a:solidFill>
            <a:srgbClr val="83348F"/>
          </a:solidFill>
          <a:ln/>
        </p:spPr>
      </p:sp>
      <p:sp>
        <p:nvSpPr>
          <p:cNvPr id="16" name="Text 13"/>
          <p:cNvSpPr/>
          <p:nvPr/>
        </p:nvSpPr>
        <p:spPr>
          <a:xfrm>
            <a:off x="566928" y="27157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Available 24/7 — completely confidential</a:t>
            </a:r>
            <a:endParaRPr lang="en-US" sz="950" dirty="0"/>
          </a:p>
        </p:txBody>
      </p:sp>
      <p:sp>
        <p:nvSpPr>
          <p:cNvPr id="17" name="Shape 14"/>
          <p:cNvSpPr/>
          <p:nvPr/>
        </p:nvSpPr>
        <p:spPr>
          <a:xfrm>
            <a:off x="310896" y="3246120"/>
            <a:ext cx="201168" cy="201168"/>
          </a:xfrm>
          <a:prstGeom prst="rect">
            <a:avLst/>
          </a:prstGeom>
          <a:solidFill>
            <a:srgbClr val="83348F"/>
          </a:solidFill>
          <a:ln/>
        </p:spPr>
      </p:sp>
      <p:sp>
        <p:nvSpPr>
          <p:cNvPr id="18" name="Text 15"/>
          <p:cNvSpPr/>
          <p:nvPr/>
        </p:nvSpPr>
        <p:spPr>
          <a:xfrm>
            <a:off x="566928" y="31729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Call [Number] or visit [Website]</a:t>
            </a:r>
            <a:endParaRPr lang="en-US" sz="950" dirty="0"/>
          </a:p>
        </p:txBody>
      </p:sp>
      <p:sp>
        <p:nvSpPr>
          <p:cNvPr id="19" name="Shape 16"/>
          <p:cNvSpPr/>
          <p:nvPr/>
        </p:nvSpPr>
        <p:spPr>
          <a:xfrm>
            <a:off x="4160520" y="1115568"/>
            <a:ext cx="3794760" cy="2578608"/>
          </a:xfrm>
          <a:prstGeom prst="rect">
            <a:avLst/>
          </a:prstGeom>
          <a:solidFill>
            <a:srgbClr val="FFFFFF"/>
          </a:solidFill>
          <a:ln w="25400">
            <a:solidFill>
              <a:srgbClr val="00796B"/>
            </a:solidFill>
            <a:prstDash val="solid"/>
          </a:ln>
        </p:spPr>
      </p:sp>
      <p:sp>
        <p:nvSpPr>
          <p:cNvPr id="20" name="Shape 17"/>
          <p:cNvSpPr/>
          <p:nvPr/>
        </p:nvSpPr>
        <p:spPr>
          <a:xfrm>
            <a:off x="4160520" y="1115568"/>
            <a:ext cx="3794760" cy="594360"/>
          </a:xfrm>
          <a:prstGeom prst="rect">
            <a:avLst/>
          </a:prstGeom>
          <a:solidFill>
            <a:srgbClr val="00796B"/>
          </a:solidFill>
          <a:ln/>
        </p:spPr>
      </p:sp>
      <p:sp>
        <p:nvSpPr>
          <p:cNvPr id="21" name="Text 18"/>
          <p:cNvSpPr/>
          <p:nvPr/>
        </p:nvSpPr>
        <p:spPr>
          <a:xfrm>
            <a:off x="4251960" y="1152144"/>
            <a:ext cx="3611880" cy="310896"/>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MONEYHELPER</a:t>
            </a:r>
            <a:endParaRPr lang="en-US" sz="1050" dirty="0"/>
          </a:p>
        </p:txBody>
      </p:sp>
      <p:sp>
        <p:nvSpPr>
          <p:cNvPr id="22" name="Text 19"/>
          <p:cNvSpPr/>
          <p:nvPr/>
        </p:nvSpPr>
        <p:spPr>
          <a:xfrm>
            <a:off x="4251960" y="1463040"/>
            <a:ext cx="3611880" cy="219456"/>
          </a:xfrm>
          <a:prstGeom prst="rect">
            <a:avLst/>
          </a:prstGeom>
          <a:noFill/>
          <a:ln/>
        </p:spPr>
        <p:txBody>
          <a:bodyPr wrap="square" rtlCol="0" anchor="ctr"/>
          <a:lstStyle/>
          <a:p>
            <a:pPr algn="ctr" indent="0" marL="0">
              <a:buNone/>
            </a:pPr>
            <a:r>
              <a:rPr lang="en-US" sz="950" dirty="0">
                <a:solidFill>
                  <a:srgbClr val="DDDDDD"/>
                </a:solidFill>
                <a:latin typeface="Arial" pitchFamily="34" charset="0"/>
                <a:ea typeface="Arial" pitchFamily="34" charset="-122"/>
                <a:cs typeface="Arial" pitchFamily="34" charset="-120"/>
              </a:rPr>
              <a:t>Free Government-Backed Guidance</a:t>
            </a:r>
            <a:endParaRPr lang="en-US" sz="950" dirty="0"/>
          </a:p>
        </p:txBody>
      </p:sp>
      <p:sp>
        <p:nvSpPr>
          <p:cNvPr id="23" name="Shape 20"/>
          <p:cNvSpPr/>
          <p:nvPr/>
        </p:nvSpPr>
        <p:spPr>
          <a:xfrm>
            <a:off x="4288536" y="1874520"/>
            <a:ext cx="201168" cy="201168"/>
          </a:xfrm>
          <a:prstGeom prst="rect">
            <a:avLst/>
          </a:prstGeom>
          <a:solidFill>
            <a:srgbClr val="00796B"/>
          </a:solidFill>
          <a:ln/>
        </p:spPr>
      </p:sp>
      <p:sp>
        <p:nvSpPr>
          <p:cNvPr id="24" name="Text 21"/>
          <p:cNvSpPr/>
          <p:nvPr/>
        </p:nvSpPr>
        <p:spPr>
          <a:xfrm>
            <a:off x="4544568" y="18013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Free, independent financial guidance service</a:t>
            </a:r>
            <a:endParaRPr lang="en-US" sz="950" dirty="0"/>
          </a:p>
        </p:txBody>
      </p:sp>
      <p:sp>
        <p:nvSpPr>
          <p:cNvPr id="25" name="Shape 22"/>
          <p:cNvSpPr/>
          <p:nvPr/>
        </p:nvSpPr>
        <p:spPr>
          <a:xfrm>
            <a:off x="4288536" y="2331720"/>
            <a:ext cx="201168" cy="201168"/>
          </a:xfrm>
          <a:prstGeom prst="rect">
            <a:avLst/>
          </a:prstGeom>
          <a:solidFill>
            <a:srgbClr val="00796B"/>
          </a:solidFill>
          <a:ln/>
        </p:spPr>
      </p:sp>
      <p:sp>
        <p:nvSpPr>
          <p:cNvPr id="26" name="Text 23"/>
          <p:cNvSpPr/>
          <p:nvPr/>
        </p:nvSpPr>
        <p:spPr>
          <a:xfrm>
            <a:off x="4544568" y="22585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Help with budgeting, pensions, and financial decisions</a:t>
            </a:r>
            <a:endParaRPr lang="en-US" sz="950" dirty="0"/>
          </a:p>
        </p:txBody>
      </p:sp>
      <p:sp>
        <p:nvSpPr>
          <p:cNvPr id="27" name="Shape 24"/>
          <p:cNvSpPr/>
          <p:nvPr/>
        </p:nvSpPr>
        <p:spPr>
          <a:xfrm>
            <a:off x="4288536" y="2788920"/>
            <a:ext cx="201168" cy="201168"/>
          </a:xfrm>
          <a:prstGeom prst="rect">
            <a:avLst/>
          </a:prstGeom>
          <a:solidFill>
            <a:srgbClr val="00796B"/>
          </a:solidFill>
          <a:ln/>
        </p:spPr>
      </p:sp>
      <p:sp>
        <p:nvSpPr>
          <p:cNvPr id="28" name="Text 25"/>
          <p:cNvSpPr/>
          <p:nvPr/>
        </p:nvSpPr>
        <p:spPr>
          <a:xfrm>
            <a:off x="4544568" y="27157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Not a lender — impartial advice only</a:t>
            </a:r>
            <a:endParaRPr lang="en-US" sz="950" dirty="0"/>
          </a:p>
        </p:txBody>
      </p:sp>
      <p:sp>
        <p:nvSpPr>
          <p:cNvPr id="29" name="Shape 26"/>
          <p:cNvSpPr/>
          <p:nvPr/>
        </p:nvSpPr>
        <p:spPr>
          <a:xfrm>
            <a:off x="4288536" y="3246120"/>
            <a:ext cx="201168" cy="201168"/>
          </a:xfrm>
          <a:prstGeom prst="rect">
            <a:avLst/>
          </a:prstGeom>
          <a:solidFill>
            <a:srgbClr val="00796B"/>
          </a:solidFill>
          <a:ln/>
        </p:spPr>
      </p:sp>
      <p:sp>
        <p:nvSpPr>
          <p:cNvPr id="30" name="Text 27"/>
          <p:cNvSpPr/>
          <p:nvPr/>
        </p:nvSpPr>
        <p:spPr>
          <a:xfrm>
            <a:off x="4544568" y="31729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0800 138 7777 | www.moneyhelper.org.uk</a:t>
            </a:r>
            <a:endParaRPr lang="en-US" sz="950" dirty="0"/>
          </a:p>
        </p:txBody>
      </p:sp>
      <p:sp>
        <p:nvSpPr>
          <p:cNvPr id="31" name="Shape 28"/>
          <p:cNvSpPr/>
          <p:nvPr/>
        </p:nvSpPr>
        <p:spPr>
          <a:xfrm>
            <a:off x="8138160" y="1115568"/>
            <a:ext cx="3794760" cy="2578608"/>
          </a:xfrm>
          <a:prstGeom prst="rect">
            <a:avLst/>
          </a:prstGeom>
          <a:solidFill>
            <a:srgbClr val="FFFFFF"/>
          </a:solidFill>
          <a:ln w="25400">
            <a:solidFill>
              <a:srgbClr val="1A237E"/>
            </a:solidFill>
            <a:prstDash val="solid"/>
          </a:ln>
        </p:spPr>
      </p:sp>
      <p:sp>
        <p:nvSpPr>
          <p:cNvPr id="32" name="Shape 29"/>
          <p:cNvSpPr/>
          <p:nvPr/>
        </p:nvSpPr>
        <p:spPr>
          <a:xfrm>
            <a:off x="8138160" y="1115568"/>
            <a:ext cx="3794760" cy="594360"/>
          </a:xfrm>
          <a:prstGeom prst="rect">
            <a:avLst/>
          </a:prstGeom>
          <a:solidFill>
            <a:srgbClr val="1A237E"/>
          </a:solidFill>
          <a:ln/>
        </p:spPr>
      </p:sp>
      <p:sp>
        <p:nvSpPr>
          <p:cNvPr id="33" name="Text 30"/>
          <p:cNvSpPr/>
          <p:nvPr/>
        </p:nvSpPr>
        <p:spPr>
          <a:xfrm>
            <a:off x="8229600" y="1152144"/>
            <a:ext cx="3611880" cy="310896"/>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STEPCHANGE DEBT CHARITY</a:t>
            </a:r>
            <a:endParaRPr lang="en-US" sz="1050" dirty="0"/>
          </a:p>
        </p:txBody>
      </p:sp>
      <p:sp>
        <p:nvSpPr>
          <p:cNvPr id="34" name="Text 31"/>
          <p:cNvSpPr/>
          <p:nvPr/>
        </p:nvSpPr>
        <p:spPr>
          <a:xfrm>
            <a:off x="8229600" y="1463040"/>
            <a:ext cx="3611880" cy="219456"/>
          </a:xfrm>
          <a:prstGeom prst="rect">
            <a:avLst/>
          </a:prstGeom>
          <a:noFill/>
          <a:ln/>
        </p:spPr>
        <p:txBody>
          <a:bodyPr wrap="square" rtlCol="0" anchor="ctr"/>
          <a:lstStyle/>
          <a:p>
            <a:pPr algn="ctr" indent="0" marL="0">
              <a:buNone/>
            </a:pPr>
            <a:r>
              <a:rPr lang="en-US" sz="950" dirty="0">
                <a:solidFill>
                  <a:srgbClr val="DDDDDD"/>
                </a:solidFill>
                <a:latin typeface="Arial" pitchFamily="34" charset="0"/>
                <a:ea typeface="Arial" pitchFamily="34" charset="-122"/>
                <a:cs typeface="Arial" pitchFamily="34" charset="-120"/>
              </a:rPr>
              <a:t>Free Debt Advice</a:t>
            </a:r>
            <a:endParaRPr lang="en-US" sz="950" dirty="0"/>
          </a:p>
        </p:txBody>
      </p:sp>
      <p:sp>
        <p:nvSpPr>
          <p:cNvPr id="35" name="Shape 32"/>
          <p:cNvSpPr/>
          <p:nvPr/>
        </p:nvSpPr>
        <p:spPr>
          <a:xfrm>
            <a:off x="8266176" y="1874520"/>
            <a:ext cx="201168" cy="201168"/>
          </a:xfrm>
          <a:prstGeom prst="rect">
            <a:avLst/>
          </a:prstGeom>
          <a:solidFill>
            <a:srgbClr val="1A237E"/>
          </a:solidFill>
          <a:ln/>
        </p:spPr>
      </p:sp>
      <p:sp>
        <p:nvSpPr>
          <p:cNvPr id="36" name="Text 33"/>
          <p:cNvSpPr/>
          <p:nvPr/>
        </p:nvSpPr>
        <p:spPr>
          <a:xfrm>
            <a:off x="8522208" y="18013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Free, expert debt advice with no judgement</a:t>
            </a:r>
            <a:endParaRPr lang="en-US" sz="950" dirty="0"/>
          </a:p>
        </p:txBody>
      </p:sp>
      <p:sp>
        <p:nvSpPr>
          <p:cNvPr id="37" name="Shape 34"/>
          <p:cNvSpPr/>
          <p:nvPr/>
        </p:nvSpPr>
        <p:spPr>
          <a:xfrm>
            <a:off x="8266176" y="2331720"/>
            <a:ext cx="201168" cy="201168"/>
          </a:xfrm>
          <a:prstGeom prst="rect">
            <a:avLst/>
          </a:prstGeom>
          <a:solidFill>
            <a:srgbClr val="1A237E"/>
          </a:solidFill>
          <a:ln/>
        </p:spPr>
      </p:sp>
      <p:sp>
        <p:nvSpPr>
          <p:cNvPr id="38" name="Text 35"/>
          <p:cNvSpPr/>
          <p:nvPr/>
        </p:nvSpPr>
        <p:spPr>
          <a:xfrm>
            <a:off x="8522208" y="22585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Help creating a personalised debt management plan</a:t>
            </a:r>
            <a:endParaRPr lang="en-US" sz="950" dirty="0"/>
          </a:p>
        </p:txBody>
      </p:sp>
      <p:sp>
        <p:nvSpPr>
          <p:cNvPr id="39" name="Shape 36"/>
          <p:cNvSpPr/>
          <p:nvPr/>
        </p:nvSpPr>
        <p:spPr>
          <a:xfrm>
            <a:off x="8266176" y="2788920"/>
            <a:ext cx="201168" cy="201168"/>
          </a:xfrm>
          <a:prstGeom prst="rect">
            <a:avLst/>
          </a:prstGeom>
          <a:solidFill>
            <a:srgbClr val="1A237E"/>
          </a:solidFill>
          <a:ln/>
        </p:spPr>
      </p:sp>
      <p:sp>
        <p:nvSpPr>
          <p:cNvPr id="40" name="Text 37"/>
          <p:cNvSpPr/>
          <p:nvPr/>
        </p:nvSpPr>
        <p:spPr>
          <a:xfrm>
            <a:off x="8522208" y="27157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Online debt advice tool available 24/7</a:t>
            </a:r>
            <a:endParaRPr lang="en-US" sz="950" dirty="0"/>
          </a:p>
        </p:txBody>
      </p:sp>
      <p:sp>
        <p:nvSpPr>
          <p:cNvPr id="41" name="Shape 38"/>
          <p:cNvSpPr/>
          <p:nvPr/>
        </p:nvSpPr>
        <p:spPr>
          <a:xfrm>
            <a:off x="8266176" y="3246120"/>
            <a:ext cx="201168" cy="201168"/>
          </a:xfrm>
          <a:prstGeom prst="rect">
            <a:avLst/>
          </a:prstGeom>
          <a:solidFill>
            <a:srgbClr val="1A237E"/>
          </a:solidFill>
          <a:ln/>
        </p:spPr>
      </p:sp>
      <p:sp>
        <p:nvSpPr>
          <p:cNvPr id="42" name="Text 39"/>
          <p:cNvSpPr/>
          <p:nvPr/>
        </p:nvSpPr>
        <p:spPr>
          <a:xfrm>
            <a:off x="8522208" y="3172968"/>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0800 138 1111 | www.stepchange.org</a:t>
            </a:r>
            <a:endParaRPr lang="en-US" sz="950" dirty="0"/>
          </a:p>
        </p:txBody>
      </p:sp>
      <p:sp>
        <p:nvSpPr>
          <p:cNvPr id="43" name="Shape 40"/>
          <p:cNvSpPr/>
          <p:nvPr/>
        </p:nvSpPr>
        <p:spPr>
          <a:xfrm>
            <a:off x="182880" y="3840480"/>
            <a:ext cx="3794760" cy="2578608"/>
          </a:xfrm>
          <a:prstGeom prst="rect">
            <a:avLst/>
          </a:prstGeom>
          <a:solidFill>
            <a:srgbClr val="FFFFFF"/>
          </a:solidFill>
          <a:ln w="25400">
            <a:solidFill>
              <a:srgbClr val="70AD47"/>
            </a:solidFill>
            <a:prstDash val="solid"/>
          </a:ln>
        </p:spPr>
      </p:sp>
      <p:sp>
        <p:nvSpPr>
          <p:cNvPr id="44" name="Shape 41"/>
          <p:cNvSpPr/>
          <p:nvPr/>
        </p:nvSpPr>
        <p:spPr>
          <a:xfrm>
            <a:off x="182880" y="3840480"/>
            <a:ext cx="3794760" cy="594360"/>
          </a:xfrm>
          <a:prstGeom prst="rect">
            <a:avLst/>
          </a:prstGeom>
          <a:solidFill>
            <a:srgbClr val="70AD47"/>
          </a:solidFill>
          <a:ln/>
        </p:spPr>
      </p:sp>
      <p:sp>
        <p:nvSpPr>
          <p:cNvPr id="45" name="Text 42"/>
          <p:cNvSpPr/>
          <p:nvPr/>
        </p:nvSpPr>
        <p:spPr>
          <a:xfrm>
            <a:off x="274320" y="3877056"/>
            <a:ext cx="3611880" cy="310896"/>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CITIZENS ADVICE</a:t>
            </a:r>
            <a:endParaRPr lang="en-US" sz="1050" dirty="0"/>
          </a:p>
        </p:txBody>
      </p:sp>
      <p:sp>
        <p:nvSpPr>
          <p:cNvPr id="46" name="Text 43"/>
          <p:cNvSpPr/>
          <p:nvPr/>
        </p:nvSpPr>
        <p:spPr>
          <a:xfrm>
            <a:off x="274320" y="4187952"/>
            <a:ext cx="3611880" cy="219456"/>
          </a:xfrm>
          <a:prstGeom prst="rect">
            <a:avLst/>
          </a:prstGeom>
          <a:noFill/>
          <a:ln/>
        </p:spPr>
        <p:txBody>
          <a:bodyPr wrap="square" rtlCol="0" anchor="ctr"/>
          <a:lstStyle/>
          <a:p>
            <a:pPr algn="ctr" indent="0" marL="0">
              <a:buNone/>
            </a:pPr>
            <a:r>
              <a:rPr lang="en-US" sz="950" dirty="0">
                <a:solidFill>
                  <a:srgbClr val="DDDDDD"/>
                </a:solidFill>
                <a:latin typeface="Arial" pitchFamily="34" charset="0"/>
                <a:ea typeface="Arial" pitchFamily="34" charset="-122"/>
                <a:cs typeface="Arial" pitchFamily="34" charset="-120"/>
              </a:rPr>
              <a:t>Free Advice on Any Issue</a:t>
            </a:r>
            <a:endParaRPr lang="en-US" sz="950" dirty="0"/>
          </a:p>
        </p:txBody>
      </p:sp>
      <p:sp>
        <p:nvSpPr>
          <p:cNvPr id="47" name="Shape 44"/>
          <p:cNvSpPr/>
          <p:nvPr/>
        </p:nvSpPr>
        <p:spPr>
          <a:xfrm>
            <a:off x="310896" y="4599432"/>
            <a:ext cx="201168" cy="201168"/>
          </a:xfrm>
          <a:prstGeom prst="rect">
            <a:avLst/>
          </a:prstGeom>
          <a:solidFill>
            <a:srgbClr val="70AD47"/>
          </a:solidFill>
          <a:ln/>
        </p:spPr>
      </p:sp>
      <p:sp>
        <p:nvSpPr>
          <p:cNvPr id="48" name="Text 45"/>
          <p:cNvSpPr/>
          <p:nvPr/>
        </p:nvSpPr>
        <p:spPr>
          <a:xfrm>
            <a:off x="566928" y="45262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Free advice on debt, housing, benefits, and employment</a:t>
            </a:r>
            <a:endParaRPr lang="en-US" sz="950" dirty="0"/>
          </a:p>
        </p:txBody>
      </p:sp>
      <p:sp>
        <p:nvSpPr>
          <p:cNvPr id="49" name="Shape 46"/>
          <p:cNvSpPr/>
          <p:nvPr/>
        </p:nvSpPr>
        <p:spPr>
          <a:xfrm>
            <a:off x="310896" y="5056632"/>
            <a:ext cx="201168" cy="201168"/>
          </a:xfrm>
          <a:prstGeom prst="rect">
            <a:avLst/>
          </a:prstGeom>
          <a:solidFill>
            <a:srgbClr val="70AD47"/>
          </a:solidFill>
          <a:ln/>
        </p:spPr>
      </p:sp>
      <p:sp>
        <p:nvSpPr>
          <p:cNvPr id="50" name="Text 47"/>
          <p:cNvSpPr/>
          <p:nvPr/>
        </p:nvSpPr>
        <p:spPr>
          <a:xfrm>
            <a:off x="566928" y="49834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Local offices and online chat available</a:t>
            </a:r>
            <a:endParaRPr lang="en-US" sz="950" dirty="0"/>
          </a:p>
        </p:txBody>
      </p:sp>
      <p:sp>
        <p:nvSpPr>
          <p:cNvPr id="51" name="Shape 48"/>
          <p:cNvSpPr/>
          <p:nvPr/>
        </p:nvSpPr>
        <p:spPr>
          <a:xfrm>
            <a:off x="310896" y="5513832"/>
            <a:ext cx="201168" cy="201168"/>
          </a:xfrm>
          <a:prstGeom prst="rect">
            <a:avLst/>
          </a:prstGeom>
          <a:solidFill>
            <a:srgbClr val="70AD47"/>
          </a:solidFill>
          <a:ln/>
        </p:spPr>
      </p:sp>
      <p:sp>
        <p:nvSpPr>
          <p:cNvPr id="52" name="Text 49"/>
          <p:cNvSpPr/>
          <p:nvPr/>
        </p:nvSpPr>
        <p:spPr>
          <a:xfrm>
            <a:off x="566928" y="54406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Available to everyone, no appointment always needed</a:t>
            </a:r>
            <a:endParaRPr lang="en-US" sz="950" dirty="0"/>
          </a:p>
        </p:txBody>
      </p:sp>
      <p:sp>
        <p:nvSpPr>
          <p:cNvPr id="53" name="Shape 50"/>
          <p:cNvSpPr/>
          <p:nvPr/>
        </p:nvSpPr>
        <p:spPr>
          <a:xfrm>
            <a:off x="310896" y="5971032"/>
            <a:ext cx="201168" cy="201168"/>
          </a:xfrm>
          <a:prstGeom prst="rect">
            <a:avLst/>
          </a:prstGeom>
          <a:solidFill>
            <a:srgbClr val="70AD47"/>
          </a:solidFill>
          <a:ln/>
        </p:spPr>
      </p:sp>
      <p:sp>
        <p:nvSpPr>
          <p:cNvPr id="54" name="Text 51"/>
          <p:cNvSpPr/>
          <p:nvPr/>
        </p:nvSpPr>
        <p:spPr>
          <a:xfrm>
            <a:off x="566928" y="58978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www.citizensadvice.org.uk</a:t>
            </a:r>
            <a:endParaRPr lang="en-US" sz="950" dirty="0"/>
          </a:p>
        </p:txBody>
      </p:sp>
      <p:sp>
        <p:nvSpPr>
          <p:cNvPr id="55" name="Shape 52"/>
          <p:cNvSpPr/>
          <p:nvPr/>
        </p:nvSpPr>
        <p:spPr>
          <a:xfrm>
            <a:off x="4160520" y="3840480"/>
            <a:ext cx="3794760" cy="2578608"/>
          </a:xfrm>
          <a:prstGeom prst="rect">
            <a:avLst/>
          </a:prstGeom>
          <a:solidFill>
            <a:srgbClr val="FFFFFF"/>
          </a:solidFill>
          <a:ln w="25400">
            <a:solidFill>
              <a:srgbClr val="009FE3"/>
            </a:solidFill>
            <a:prstDash val="solid"/>
          </a:ln>
        </p:spPr>
      </p:sp>
      <p:sp>
        <p:nvSpPr>
          <p:cNvPr id="56" name="Shape 53"/>
          <p:cNvSpPr/>
          <p:nvPr/>
        </p:nvSpPr>
        <p:spPr>
          <a:xfrm>
            <a:off x="4160520" y="3840480"/>
            <a:ext cx="3794760" cy="594360"/>
          </a:xfrm>
          <a:prstGeom prst="rect">
            <a:avLst/>
          </a:prstGeom>
          <a:solidFill>
            <a:srgbClr val="009FE3"/>
          </a:solidFill>
          <a:ln/>
        </p:spPr>
      </p:sp>
      <p:sp>
        <p:nvSpPr>
          <p:cNvPr id="57" name="Text 54"/>
          <p:cNvSpPr/>
          <p:nvPr/>
        </p:nvSpPr>
        <p:spPr>
          <a:xfrm>
            <a:off x="4251960" y="3877056"/>
            <a:ext cx="3611880" cy="310896"/>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YOUR PENSION SCHEME</a:t>
            </a:r>
            <a:endParaRPr lang="en-US" sz="1050" dirty="0"/>
          </a:p>
        </p:txBody>
      </p:sp>
      <p:sp>
        <p:nvSpPr>
          <p:cNvPr id="58" name="Text 55"/>
          <p:cNvSpPr/>
          <p:nvPr/>
        </p:nvSpPr>
        <p:spPr>
          <a:xfrm>
            <a:off x="4251960" y="4187952"/>
            <a:ext cx="3611880" cy="219456"/>
          </a:xfrm>
          <a:prstGeom prst="rect">
            <a:avLst/>
          </a:prstGeom>
          <a:noFill/>
          <a:ln/>
        </p:spPr>
        <p:txBody>
          <a:bodyPr wrap="square" rtlCol="0" anchor="ctr"/>
          <a:lstStyle/>
          <a:p>
            <a:pPr algn="ctr" indent="0" marL="0">
              <a:buNone/>
            </a:pPr>
            <a:r>
              <a:rPr lang="en-US" sz="950" dirty="0">
                <a:solidFill>
                  <a:srgbClr val="DDDDDD"/>
                </a:solidFill>
                <a:latin typeface="Arial" pitchFamily="34" charset="0"/>
                <a:ea typeface="Arial" pitchFamily="34" charset="-122"/>
                <a:cs typeface="Arial" pitchFamily="34" charset="-120"/>
              </a:rPr>
              <a:t>Planning for the Future</a:t>
            </a:r>
            <a:endParaRPr lang="en-US" sz="950" dirty="0"/>
          </a:p>
        </p:txBody>
      </p:sp>
      <p:sp>
        <p:nvSpPr>
          <p:cNvPr id="59" name="Shape 56"/>
          <p:cNvSpPr/>
          <p:nvPr/>
        </p:nvSpPr>
        <p:spPr>
          <a:xfrm>
            <a:off x="4288536" y="4599432"/>
            <a:ext cx="201168" cy="201168"/>
          </a:xfrm>
          <a:prstGeom prst="rect">
            <a:avLst/>
          </a:prstGeom>
          <a:solidFill>
            <a:srgbClr val="009FE3"/>
          </a:solidFill>
          <a:ln/>
        </p:spPr>
      </p:sp>
      <p:sp>
        <p:nvSpPr>
          <p:cNvPr id="60" name="Text 57"/>
          <p:cNvSpPr/>
          <p:nvPr/>
        </p:nvSpPr>
        <p:spPr>
          <a:xfrm>
            <a:off x="4544568" y="45262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[Pension scheme name] — enrolled automatically</a:t>
            </a:r>
            <a:endParaRPr lang="en-US" sz="950" dirty="0"/>
          </a:p>
        </p:txBody>
      </p:sp>
      <p:sp>
        <p:nvSpPr>
          <p:cNvPr id="61" name="Shape 58"/>
          <p:cNvSpPr/>
          <p:nvPr/>
        </p:nvSpPr>
        <p:spPr>
          <a:xfrm>
            <a:off x="4288536" y="5056632"/>
            <a:ext cx="201168" cy="201168"/>
          </a:xfrm>
          <a:prstGeom prst="rect">
            <a:avLst/>
          </a:prstGeom>
          <a:solidFill>
            <a:srgbClr val="009FE3"/>
          </a:solidFill>
          <a:ln/>
        </p:spPr>
      </p:sp>
      <p:sp>
        <p:nvSpPr>
          <p:cNvPr id="62" name="Text 59"/>
          <p:cNvSpPr/>
          <p:nvPr/>
        </p:nvSpPr>
        <p:spPr>
          <a:xfrm>
            <a:off x="4544568" y="49834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Employer contributes [X%] — you contribute [X%]</a:t>
            </a:r>
            <a:endParaRPr lang="en-US" sz="950" dirty="0"/>
          </a:p>
        </p:txBody>
      </p:sp>
      <p:sp>
        <p:nvSpPr>
          <p:cNvPr id="63" name="Shape 60"/>
          <p:cNvSpPr/>
          <p:nvPr/>
        </p:nvSpPr>
        <p:spPr>
          <a:xfrm>
            <a:off x="4288536" y="5513832"/>
            <a:ext cx="201168" cy="201168"/>
          </a:xfrm>
          <a:prstGeom prst="rect">
            <a:avLst/>
          </a:prstGeom>
          <a:solidFill>
            <a:srgbClr val="009FE3"/>
          </a:solidFill>
          <a:ln/>
        </p:spPr>
      </p:sp>
      <p:sp>
        <p:nvSpPr>
          <p:cNvPr id="64" name="Text 61"/>
          <p:cNvSpPr/>
          <p:nvPr/>
        </p:nvSpPr>
        <p:spPr>
          <a:xfrm>
            <a:off x="4544568" y="54406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Review your contributions and forecast anytime</a:t>
            </a:r>
            <a:endParaRPr lang="en-US" sz="950" dirty="0"/>
          </a:p>
        </p:txBody>
      </p:sp>
      <p:sp>
        <p:nvSpPr>
          <p:cNvPr id="65" name="Shape 62"/>
          <p:cNvSpPr/>
          <p:nvPr/>
        </p:nvSpPr>
        <p:spPr>
          <a:xfrm>
            <a:off x="4288536" y="5971032"/>
            <a:ext cx="201168" cy="201168"/>
          </a:xfrm>
          <a:prstGeom prst="rect">
            <a:avLst/>
          </a:prstGeom>
          <a:solidFill>
            <a:srgbClr val="009FE3"/>
          </a:solidFill>
          <a:ln/>
        </p:spPr>
      </p:sp>
      <p:sp>
        <p:nvSpPr>
          <p:cNvPr id="66" name="Text 63"/>
          <p:cNvSpPr/>
          <p:nvPr/>
        </p:nvSpPr>
        <p:spPr>
          <a:xfrm>
            <a:off x="4544568" y="58978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Contact HR: [Name / Email]</a:t>
            </a:r>
            <a:endParaRPr lang="en-US" sz="950" dirty="0"/>
          </a:p>
        </p:txBody>
      </p:sp>
      <p:sp>
        <p:nvSpPr>
          <p:cNvPr id="67" name="Shape 64"/>
          <p:cNvSpPr/>
          <p:nvPr/>
        </p:nvSpPr>
        <p:spPr>
          <a:xfrm>
            <a:off x="8138160" y="3840480"/>
            <a:ext cx="3794760" cy="2578608"/>
          </a:xfrm>
          <a:prstGeom prst="rect">
            <a:avLst/>
          </a:prstGeom>
          <a:solidFill>
            <a:srgbClr val="FFFFFF"/>
          </a:solidFill>
          <a:ln w="25400">
            <a:solidFill>
              <a:srgbClr val="83348F"/>
            </a:solidFill>
            <a:prstDash val="solid"/>
          </a:ln>
        </p:spPr>
      </p:sp>
      <p:sp>
        <p:nvSpPr>
          <p:cNvPr id="68" name="Shape 65"/>
          <p:cNvSpPr/>
          <p:nvPr/>
        </p:nvSpPr>
        <p:spPr>
          <a:xfrm>
            <a:off x="8138160" y="3840480"/>
            <a:ext cx="3794760" cy="594360"/>
          </a:xfrm>
          <a:prstGeom prst="rect">
            <a:avLst/>
          </a:prstGeom>
          <a:solidFill>
            <a:srgbClr val="83348F"/>
          </a:solidFill>
          <a:ln/>
        </p:spPr>
      </p:sp>
      <p:sp>
        <p:nvSpPr>
          <p:cNvPr id="69" name="Text 66"/>
          <p:cNvSpPr/>
          <p:nvPr/>
        </p:nvSpPr>
        <p:spPr>
          <a:xfrm>
            <a:off x="8229600" y="3877056"/>
            <a:ext cx="3611880" cy="310896"/>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BENEFITS AND ENTITLEMENTS</a:t>
            </a:r>
            <a:endParaRPr lang="en-US" sz="1050" dirty="0"/>
          </a:p>
        </p:txBody>
      </p:sp>
      <p:sp>
        <p:nvSpPr>
          <p:cNvPr id="70" name="Text 67"/>
          <p:cNvSpPr/>
          <p:nvPr/>
        </p:nvSpPr>
        <p:spPr>
          <a:xfrm>
            <a:off x="8229600" y="4187952"/>
            <a:ext cx="3611880" cy="219456"/>
          </a:xfrm>
          <a:prstGeom prst="rect">
            <a:avLst/>
          </a:prstGeom>
          <a:noFill/>
          <a:ln/>
        </p:spPr>
        <p:txBody>
          <a:bodyPr wrap="square" rtlCol="0" anchor="ctr"/>
          <a:lstStyle/>
          <a:p>
            <a:pPr algn="ctr" indent="0" marL="0">
              <a:buNone/>
            </a:pPr>
            <a:r>
              <a:rPr lang="en-US" sz="950" dirty="0">
                <a:solidFill>
                  <a:srgbClr val="DDDDDD"/>
                </a:solidFill>
                <a:latin typeface="Arial" pitchFamily="34" charset="0"/>
                <a:ea typeface="Arial" pitchFamily="34" charset="-122"/>
                <a:cs typeface="Arial" pitchFamily="34" charset="-120"/>
              </a:rPr>
              <a:t>Are You Getting What You're Entitled To?</a:t>
            </a:r>
            <a:endParaRPr lang="en-US" sz="950" dirty="0"/>
          </a:p>
        </p:txBody>
      </p:sp>
      <p:sp>
        <p:nvSpPr>
          <p:cNvPr id="71" name="Shape 68"/>
          <p:cNvSpPr/>
          <p:nvPr/>
        </p:nvSpPr>
        <p:spPr>
          <a:xfrm>
            <a:off x="8266176" y="4599432"/>
            <a:ext cx="201168" cy="201168"/>
          </a:xfrm>
          <a:prstGeom prst="rect">
            <a:avLst/>
          </a:prstGeom>
          <a:solidFill>
            <a:srgbClr val="83348F"/>
          </a:solidFill>
          <a:ln/>
        </p:spPr>
      </p:sp>
      <p:sp>
        <p:nvSpPr>
          <p:cNvPr id="72" name="Text 69"/>
          <p:cNvSpPr/>
          <p:nvPr/>
        </p:nvSpPr>
        <p:spPr>
          <a:xfrm>
            <a:off x="8522208" y="45262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Many people miss out on benefits they are entitled to</a:t>
            </a:r>
            <a:endParaRPr lang="en-US" sz="950" dirty="0"/>
          </a:p>
        </p:txBody>
      </p:sp>
      <p:sp>
        <p:nvSpPr>
          <p:cNvPr id="73" name="Shape 70"/>
          <p:cNvSpPr/>
          <p:nvPr/>
        </p:nvSpPr>
        <p:spPr>
          <a:xfrm>
            <a:off x="8266176" y="5056632"/>
            <a:ext cx="201168" cy="201168"/>
          </a:xfrm>
          <a:prstGeom prst="rect">
            <a:avLst/>
          </a:prstGeom>
          <a:solidFill>
            <a:srgbClr val="83348F"/>
          </a:solidFill>
          <a:ln/>
        </p:spPr>
      </p:sp>
      <p:sp>
        <p:nvSpPr>
          <p:cNvPr id="74" name="Text 71"/>
          <p:cNvSpPr/>
          <p:nvPr/>
        </p:nvSpPr>
        <p:spPr>
          <a:xfrm>
            <a:off x="8522208" y="49834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Check at www.entitledto.co.uk (benefits calculator)</a:t>
            </a:r>
            <a:endParaRPr lang="en-US" sz="950" dirty="0"/>
          </a:p>
        </p:txBody>
      </p:sp>
      <p:sp>
        <p:nvSpPr>
          <p:cNvPr id="75" name="Shape 72"/>
          <p:cNvSpPr/>
          <p:nvPr/>
        </p:nvSpPr>
        <p:spPr>
          <a:xfrm>
            <a:off x="8266176" y="5513832"/>
            <a:ext cx="201168" cy="201168"/>
          </a:xfrm>
          <a:prstGeom prst="rect">
            <a:avLst/>
          </a:prstGeom>
          <a:solidFill>
            <a:srgbClr val="83348F"/>
          </a:solidFill>
          <a:ln/>
        </p:spPr>
      </p:sp>
      <p:sp>
        <p:nvSpPr>
          <p:cNvPr id="76" name="Text 73"/>
          <p:cNvSpPr/>
          <p:nvPr/>
        </p:nvSpPr>
        <p:spPr>
          <a:xfrm>
            <a:off x="8522208" y="54406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Universal Credit, Child Benefit, Council Tax Reduction</a:t>
            </a:r>
            <a:endParaRPr lang="en-US" sz="950" dirty="0"/>
          </a:p>
        </p:txBody>
      </p:sp>
      <p:sp>
        <p:nvSpPr>
          <p:cNvPr id="77" name="Shape 74"/>
          <p:cNvSpPr/>
          <p:nvPr/>
        </p:nvSpPr>
        <p:spPr>
          <a:xfrm>
            <a:off x="8266176" y="5971032"/>
            <a:ext cx="201168" cy="201168"/>
          </a:xfrm>
          <a:prstGeom prst="rect">
            <a:avLst/>
          </a:prstGeom>
          <a:solidFill>
            <a:srgbClr val="83348F"/>
          </a:solidFill>
          <a:ln/>
        </p:spPr>
      </p:sp>
      <p:sp>
        <p:nvSpPr>
          <p:cNvPr id="78" name="Text 75"/>
          <p:cNvSpPr/>
          <p:nvPr/>
        </p:nvSpPr>
        <p:spPr>
          <a:xfrm>
            <a:off x="8522208" y="5897880"/>
            <a:ext cx="3282696" cy="402336"/>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Citizens Advice can help you apply</a:t>
            </a:r>
            <a:endParaRPr lang="en-US" sz="950" dirty="0"/>
          </a:p>
        </p:txBody>
      </p:sp>
      <p:sp>
        <p:nvSpPr>
          <p:cNvPr id="79" name="Rectangle 78"/>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Picture 79" descr="image.png"/>
          <p:cNvPicPr>
            <a:picLocks noChangeAspect="1"/>
          </p:cNvPicPr>
          <p:nvPr/>
        </p:nvPicPr>
        <p:blipFill>
          <a:blip r:embed="rId5"/>
          <a:stretch>
            <a:fillRect/>
          </a:stretch>
        </p:blipFill>
        <p:spPr>
          <a:xfrm>
            <a:off x="10610088" y="100584"/>
            <a:ext cx="566928" cy="347472"/>
          </a:xfrm>
          <a:prstGeom prst="rect">
            <a:avLst/>
          </a:prstGeom>
        </p:spPr>
      </p:pic>
      <p:pic>
        <p:nvPicPr>
          <p:cNvPr id="81" name="Picture 80" descr="image.png"/>
          <p:cNvPicPr>
            <a:picLocks noChangeAspect="1"/>
          </p:cNvPicPr>
          <p:nvPr/>
        </p:nvPicPr>
        <p:blipFill>
          <a:blip r:embed="rId4"/>
          <a:stretch>
            <a:fillRect/>
          </a:stretch>
        </p:blipFill>
        <p:spPr>
          <a:xfrm>
            <a:off x="11222736" y="100584"/>
            <a:ext cx="658368" cy="347472"/>
          </a:xfrm>
          <a:prstGeom prst="rect">
            <a:avLst/>
          </a:prstGeom>
        </p:spPr>
      </p:pic>
      <p:sp>
        <p:nvSpPr>
          <p:cNvPr id="82" name="Rectangle 81"/>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024128"/>
          </a:xfrm>
          <a:prstGeom prst="rect">
            <a:avLst/>
          </a:prstGeom>
          <a:solidFill>
            <a:srgbClr val="70AD47"/>
          </a:solidFill>
          <a:ln/>
        </p:spPr>
      </p:sp>
      <p:pic>
        <p:nvPicPr>
          <p:cNvPr id="4" name="Image 0" descr="preencoded.png">    </p:cNvPr>
          <p:cNvPicPr>
            <a:picLocks noChangeAspect="1"/>
          </p:cNvPicPr>
          <p:nvPr/>
        </p:nvPicPr>
        <p:blipFill>
          <a:blip r:embed="rId1"/>
          <a:stretch>
            <a:fillRect/>
          </a:stretch>
        </p:blipFill>
        <p:spPr>
          <a:xfrm>
            <a:off x="274320" y="182880"/>
            <a:ext cx="1280160" cy="429768"/>
          </a:xfrm>
          <a:prstGeom prst="rect">
            <a:avLst/>
          </a:prstGeom>
        </p:spPr>
      </p:pic>
      <p:sp>
        <p:nvSpPr>
          <p:cNvPr id="5" name="Text 2"/>
          <p:cNvSpPr/>
          <p:nvPr/>
        </p:nvSpPr>
        <p:spPr>
          <a:xfrm>
            <a:off x="1828800" y="54864"/>
            <a:ext cx="8503920" cy="566928"/>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PHYSICAL HEALTH AND ACTIVE LIVING</a:t>
            </a:r>
            <a:endParaRPr lang="en-US" sz="2800" dirty="0"/>
          </a:p>
        </p:txBody>
      </p:sp>
      <p:sp>
        <p:nvSpPr>
          <p:cNvPr id="6" name="Text 3"/>
          <p:cNvSpPr/>
          <p:nvPr/>
        </p:nvSpPr>
        <p:spPr>
          <a:xfrm>
            <a:off x="1828800" y="621792"/>
            <a:ext cx="8503920" cy="292608"/>
          </a:xfrm>
          <a:prstGeom prst="rect">
            <a:avLst/>
          </a:prstGeom>
          <a:noFill/>
          <a:ln/>
        </p:spPr>
        <p:txBody>
          <a:bodyPr wrap="square" rtlCol="0" anchor="ctr"/>
          <a:lstStyle/>
          <a:p>
            <a:pPr algn="ctr" indent="0" marL="0">
              <a:buNone/>
            </a:pPr>
            <a:r>
              <a:rPr lang="en-US" sz="1200" dirty="0">
                <a:solidFill>
                  <a:srgbClr val="CCFFCC"/>
                </a:solidFill>
                <a:latin typeface="Arial" pitchFamily="34" charset="0"/>
                <a:ea typeface="Arial" pitchFamily="34" charset="-122"/>
                <a:cs typeface="Arial" pitchFamily="34" charset="-120"/>
              </a:rPr>
              <a:t>Small changes make a big difference. Here are the ways we support your physical health.</a:t>
            </a:r>
            <a:endParaRPr lang="en-US" sz="1200" dirty="0"/>
          </a:p>
        </p:txBody>
      </p:sp>
      <p:sp>
        <p:nvSpPr>
          <p:cNvPr id="7" name="Shape 4"/>
          <p:cNvSpPr/>
          <p:nvPr/>
        </p:nvSpPr>
        <p:spPr>
          <a:xfrm>
            <a:off x="182880" y="1115568"/>
            <a:ext cx="3794760" cy="2578608"/>
          </a:xfrm>
          <a:prstGeom prst="rect">
            <a:avLst/>
          </a:prstGeom>
          <a:solidFill>
            <a:srgbClr val="FFFFFF"/>
          </a:solidFill>
          <a:ln w="25400">
            <a:solidFill>
              <a:srgbClr val="70AD47"/>
            </a:solidFill>
            <a:prstDash val="solid"/>
          </a:ln>
        </p:spPr>
      </p:sp>
      <p:sp>
        <p:nvSpPr>
          <p:cNvPr id="8" name="Shape 5"/>
          <p:cNvSpPr/>
          <p:nvPr/>
        </p:nvSpPr>
        <p:spPr>
          <a:xfrm>
            <a:off x="182880" y="1115568"/>
            <a:ext cx="3794760" cy="566928"/>
          </a:xfrm>
          <a:prstGeom prst="rect">
            <a:avLst/>
          </a:prstGeom>
          <a:solidFill>
            <a:srgbClr val="70AD47"/>
          </a:solidFill>
          <a:ln/>
        </p:spPr>
      </p:sp>
      <p:sp>
        <p:nvSpPr>
          <p:cNvPr id="9" name="Text 6"/>
          <p:cNvSpPr/>
          <p:nvPr/>
        </p:nvSpPr>
        <p:spPr>
          <a:xfrm>
            <a:off x="274320" y="1170432"/>
            <a:ext cx="438912" cy="438912"/>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0" name="Text 7"/>
          <p:cNvSpPr/>
          <p:nvPr/>
        </p:nvSpPr>
        <p:spPr>
          <a:xfrm>
            <a:off x="749808" y="1188720"/>
            <a:ext cx="3118104" cy="42062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CYCLE TO WORK SCHEME</a:t>
            </a:r>
            <a:endParaRPr lang="en-US" sz="1100" dirty="0"/>
          </a:p>
        </p:txBody>
      </p:sp>
      <p:sp>
        <p:nvSpPr>
          <p:cNvPr id="11" name="Text 8"/>
          <p:cNvSpPr/>
          <p:nvPr/>
        </p:nvSpPr>
        <p:spPr>
          <a:xfrm>
            <a:off x="292608" y="1755648"/>
            <a:ext cx="3575304" cy="1207008"/>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Save 25-39% on the cost of a new bike and cycling accessories through our government-backed Cycle to Work scheme. Payments are taken from your gross salary, reducing your tax and National Insurance contributions.</a:t>
            </a:r>
            <a:endParaRPr lang="en-US" sz="950" dirty="0"/>
          </a:p>
        </p:txBody>
      </p:sp>
      <p:sp>
        <p:nvSpPr>
          <p:cNvPr id="12" name="Shape 9"/>
          <p:cNvSpPr/>
          <p:nvPr/>
        </p:nvSpPr>
        <p:spPr>
          <a:xfrm>
            <a:off x="292608" y="3017520"/>
            <a:ext cx="3575304" cy="420624"/>
          </a:xfrm>
          <a:prstGeom prst="rect">
            <a:avLst/>
          </a:prstGeom>
          <a:solidFill>
            <a:srgbClr val="F5F5F5"/>
          </a:solidFill>
          <a:ln w="6350">
            <a:solidFill>
              <a:srgbClr val="DDDDDD"/>
            </a:solidFill>
            <a:prstDash val="solid"/>
          </a:ln>
        </p:spPr>
      </p:sp>
      <p:sp>
        <p:nvSpPr>
          <p:cNvPr id="13" name="Text 10"/>
          <p:cNvSpPr/>
          <p:nvPr/>
        </p:nvSpPr>
        <p:spPr>
          <a:xfrm>
            <a:off x="329184" y="3035808"/>
            <a:ext cx="3502152" cy="347472"/>
          </a:xfrm>
          <a:prstGeom prst="rect">
            <a:avLst/>
          </a:prstGeom>
          <a:noFill/>
          <a:ln/>
        </p:spPr>
        <p:txBody>
          <a:bodyPr wrap="square" rtlCol="0" anchor="ctr"/>
          <a:lstStyle/>
          <a:p>
            <a:pPr indent="0" marL="0">
              <a:buNone/>
            </a:pPr>
            <a:r>
              <a:rPr lang="en-US" sz="850" i="1" dirty="0">
                <a:solidFill>
                  <a:srgbClr val="70AD47"/>
                </a:solidFill>
                <a:latin typeface="Arial" pitchFamily="34" charset="0"/>
                <a:ea typeface="Arial" pitchFamily="34" charset="-122"/>
                <a:cs typeface="Arial" pitchFamily="34" charset="-120"/>
              </a:rPr>
              <a:t>How to apply: Speak to HR. Choose your bike (up to £[X] value). Monthly salary sacrifice payments spread the cost.</a:t>
            </a:r>
            <a:endParaRPr lang="en-US" sz="850" dirty="0"/>
          </a:p>
        </p:txBody>
      </p:sp>
      <p:sp>
        <p:nvSpPr>
          <p:cNvPr id="14" name="Text 11"/>
          <p:cNvSpPr/>
          <p:nvPr/>
        </p:nvSpPr>
        <p:spPr>
          <a:xfrm>
            <a:off x="292608" y="3493008"/>
            <a:ext cx="3575304" cy="182880"/>
          </a:xfrm>
          <a:prstGeom prst="rect">
            <a:avLst/>
          </a:prstGeom>
          <a:noFill/>
          <a:ln/>
        </p:spPr>
        <p:txBody>
          <a:bodyPr wrap="square" rtlCol="0" anchor="ctr"/>
          <a:lstStyle/>
          <a:p>
            <a:pPr indent="0" marL="0">
              <a:buNone/>
            </a:pPr>
            <a:r>
              <a:rPr lang="en-US" sz="850" b="1" dirty="0">
                <a:solidFill>
                  <a:srgbClr val="70AD47"/>
                </a:solidFill>
                <a:latin typeface="Arial" pitchFamily="34" charset="0"/>
                <a:ea typeface="Arial" pitchFamily="34" charset="-122"/>
                <a:cs typeface="Arial" pitchFamily="34" charset="-120"/>
              </a:rPr>
              <a:t>[Scheme provider website or HR contact]</a:t>
            </a:r>
            <a:endParaRPr lang="en-US" sz="850" dirty="0"/>
          </a:p>
        </p:txBody>
      </p:sp>
      <p:sp>
        <p:nvSpPr>
          <p:cNvPr id="15" name="Shape 12"/>
          <p:cNvSpPr/>
          <p:nvPr/>
        </p:nvSpPr>
        <p:spPr>
          <a:xfrm>
            <a:off x="4160520" y="1115568"/>
            <a:ext cx="3794760" cy="2578608"/>
          </a:xfrm>
          <a:prstGeom prst="rect">
            <a:avLst/>
          </a:prstGeom>
          <a:solidFill>
            <a:srgbClr val="FFFFFF"/>
          </a:solidFill>
          <a:ln w="25400">
            <a:solidFill>
              <a:srgbClr val="00796B"/>
            </a:solidFill>
            <a:prstDash val="solid"/>
          </a:ln>
        </p:spPr>
      </p:sp>
      <p:sp>
        <p:nvSpPr>
          <p:cNvPr id="16" name="Shape 13"/>
          <p:cNvSpPr/>
          <p:nvPr/>
        </p:nvSpPr>
        <p:spPr>
          <a:xfrm>
            <a:off x="4160520" y="1115568"/>
            <a:ext cx="3794760" cy="566928"/>
          </a:xfrm>
          <a:prstGeom prst="rect">
            <a:avLst/>
          </a:prstGeom>
          <a:solidFill>
            <a:srgbClr val="00796B"/>
          </a:solidFill>
          <a:ln/>
        </p:spPr>
      </p:sp>
      <p:sp>
        <p:nvSpPr>
          <p:cNvPr id="17" name="Text 14"/>
          <p:cNvSpPr/>
          <p:nvPr/>
        </p:nvSpPr>
        <p:spPr>
          <a:xfrm>
            <a:off x="4251960" y="1170432"/>
            <a:ext cx="438912" cy="438912"/>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8" name="Text 15"/>
          <p:cNvSpPr/>
          <p:nvPr/>
        </p:nvSpPr>
        <p:spPr>
          <a:xfrm>
            <a:off x="4727448" y="1188720"/>
            <a:ext cx="3118104" cy="42062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GYM AND FITNESS DISCOUNTS</a:t>
            </a:r>
            <a:endParaRPr lang="en-US" sz="1100" dirty="0"/>
          </a:p>
        </p:txBody>
      </p:sp>
      <p:sp>
        <p:nvSpPr>
          <p:cNvPr id="19" name="Text 16"/>
          <p:cNvSpPr/>
          <p:nvPr/>
        </p:nvSpPr>
        <p:spPr>
          <a:xfrm>
            <a:off x="4270248" y="1755648"/>
            <a:ext cx="3575304" cy="1207008"/>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[Company name] has arranged discounted gym membership through [Hussle / GymFlex / local gym name]. Access hundreds of gyms, pools, and fitness studios across the UK at a reduced rate.</a:t>
            </a:r>
            <a:endParaRPr lang="en-US" sz="950" dirty="0"/>
          </a:p>
        </p:txBody>
      </p:sp>
      <p:sp>
        <p:nvSpPr>
          <p:cNvPr id="20" name="Shape 17"/>
          <p:cNvSpPr/>
          <p:nvPr/>
        </p:nvSpPr>
        <p:spPr>
          <a:xfrm>
            <a:off x="4270248" y="3017520"/>
            <a:ext cx="3575304" cy="420624"/>
          </a:xfrm>
          <a:prstGeom prst="rect">
            <a:avLst/>
          </a:prstGeom>
          <a:solidFill>
            <a:srgbClr val="F5F5F5"/>
          </a:solidFill>
          <a:ln w="6350">
            <a:solidFill>
              <a:srgbClr val="DDDDDD"/>
            </a:solidFill>
            <a:prstDash val="solid"/>
          </a:ln>
        </p:spPr>
      </p:sp>
      <p:sp>
        <p:nvSpPr>
          <p:cNvPr id="21" name="Text 18"/>
          <p:cNvSpPr/>
          <p:nvPr/>
        </p:nvSpPr>
        <p:spPr>
          <a:xfrm>
            <a:off x="4306824" y="3035808"/>
            <a:ext cx="3502152" cy="347472"/>
          </a:xfrm>
          <a:prstGeom prst="rect">
            <a:avLst/>
          </a:prstGeom>
          <a:noFill/>
          <a:ln/>
        </p:spPr>
        <p:txBody>
          <a:bodyPr wrap="square" rtlCol="0" anchor="ctr"/>
          <a:lstStyle/>
          <a:p>
            <a:pPr indent="0" marL="0">
              <a:buNone/>
            </a:pPr>
            <a:r>
              <a:rPr lang="en-US" sz="850" i="1" dirty="0">
                <a:solidFill>
                  <a:srgbClr val="00796B"/>
                </a:solidFill>
                <a:latin typeface="Arial" pitchFamily="34" charset="0"/>
                <a:ea typeface="Arial" pitchFamily="34" charset="-122"/>
                <a:cs typeface="Arial" pitchFamily="34" charset="-120"/>
              </a:rPr>
              <a:t>How to access: [Visit [website] / Speak to HR / Use discount code [CODE]]</a:t>
            </a:r>
            <a:endParaRPr lang="en-US" sz="850" dirty="0"/>
          </a:p>
        </p:txBody>
      </p:sp>
      <p:sp>
        <p:nvSpPr>
          <p:cNvPr id="22" name="Text 19"/>
          <p:cNvSpPr/>
          <p:nvPr/>
        </p:nvSpPr>
        <p:spPr>
          <a:xfrm>
            <a:off x="4270248" y="3493008"/>
            <a:ext cx="3575304" cy="182880"/>
          </a:xfrm>
          <a:prstGeom prst="rect">
            <a:avLst/>
          </a:prstGeom>
          <a:noFill/>
          <a:ln/>
        </p:spPr>
        <p:txBody>
          <a:bodyPr wrap="square" rtlCol="0" anchor="ctr"/>
          <a:lstStyle/>
          <a:p>
            <a:pPr indent="0" marL="0">
              <a:buNone/>
            </a:pPr>
            <a:r>
              <a:rPr lang="en-US" sz="850" b="1" dirty="0">
                <a:solidFill>
                  <a:srgbClr val="00796B"/>
                </a:solidFill>
                <a:latin typeface="Arial" pitchFamily="34" charset="0"/>
                <a:ea typeface="Arial" pitchFamily="34" charset="-122"/>
                <a:cs typeface="Arial" pitchFamily="34" charset="-120"/>
              </a:rPr>
              <a:t>[Scheme website or HR contact]</a:t>
            </a:r>
            <a:endParaRPr lang="en-US" sz="850" dirty="0"/>
          </a:p>
        </p:txBody>
      </p:sp>
      <p:sp>
        <p:nvSpPr>
          <p:cNvPr id="23" name="Shape 20"/>
          <p:cNvSpPr/>
          <p:nvPr/>
        </p:nvSpPr>
        <p:spPr>
          <a:xfrm>
            <a:off x="8138160" y="1115568"/>
            <a:ext cx="3794760" cy="2578608"/>
          </a:xfrm>
          <a:prstGeom prst="rect">
            <a:avLst/>
          </a:prstGeom>
          <a:solidFill>
            <a:srgbClr val="FFFFFF"/>
          </a:solidFill>
          <a:ln w="25400">
            <a:solidFill>
              <a:srgbClr val="009FE3"/>
            </a:solidFill>
            <a:prstDash val="solid"/>
          </a:ln>
        </p:spPr>
      </p:sp>
      <p:sp>
        <p:nvSpPr>
          <p:cNvPr id="24" name="Shape 21"/>
          <p:cNvSpPr/>
          <p:nvPr/>
        </p:nvSpPr>
        <p:spPr>
          <a:xfrm>
            <a:off x="8138160" y="1115568"/>
            <a:ext cx="3794760" cy="566928"/>
          </a:xfrm>
          <a:prstGeom prst="rect">
            <a:avLst/>
          </a:prstGeom>
          <a:solidFill>
            <a:srgbClr val="009FE3"/>
          </a:solidFill>
          <a:ln/>
        </p:spPr>
      </p:sp>
      <p:sp>
        <p:nvSpPr>
          <p:cNvPr id="25" name="Text 22"/>
          <p:cNvSpPr/>
          <p:nvPr/>
        </p:nvSpPr>
        <p:spPr>
          <a:xfrm>
            <a:off x="8229600" y="1170432"/>
            <a:ext cx="438912" cy="438912"/>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6" name="Text 23"/>
          <p:cNvSpPr/>
          <p:nvPr/>
        </p:nvSpPr>
        <p:spPr>
          <a:xfrm>
            <a:off x="8705088" y="1188720"/>
            <a:ext cx="3118104" cy="42062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EYE CARE AND DSE</a:t>
            </a:r>
            <a:endParaRPr lang="en-US" sz="1100" dirty="0"/>
          </a:p>
        </p:txBody>
      </p:sp>
      <p:sp>
        <p:nvSpPr>
          <p:cNvPr id="27" name="Text 24"/>
          <p:cNvSpPr/>
          <p:nvPr/>
        </p:nvSpPr>
        <p:spPr>
          <a:xfrm>
            <a:off x="8247888" y="1755648"/>
            <a:ext cx="3575304" cy="1207008"/>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If you use a computer as part of your work, you are entitled to a free eye test under the Health and Safety (Display Screen Equipment) Regulations. We also contribute towards the cost of glasses needed specifically for DSE work.</a:t>
            </a:r>
            <a:endParaRPr lang="en-US" sz="950" dirty="0"/>
          </a:p>
        </p:txBody>
      </p:sp>
      <p:sp>
        <p:nvSpPr>
          <p:cNvPr id="28" name="Shape 25"/>
          <p:cNvSpPr/>
          <p:nvPr/>
        </p:nvSpPr>
        <p:spPr>
          <a:xfrm>
            <a:off x="8247888" y="3017520"/>
            <a:ext cx="3575304" cy="420624"/>
          </a:xfrm>
          <a:prstGeom prst="rect">
            <a:avLst/>
          </a:prstGeom>
          <a:solidFill>
            <a:srgbClr val="F5F5F5"/>
          </a:solidFill>
          <a:ln w="6350">
            <a:solidFill>
              <a:srgbClr val="DDDDDD"/>
            </a:solidFill>
            <a:prstDash val="solid"/>
          </a:ln>
        </p:spPr>
      </p:sp>
      <p:sp>
        <p:nvSpPr>
          <p:cNvPr id="29" name="Text 26"/>
          <p:cNvSpPr/>
          <p:nvPr/>
        </p:nvSpPr>
        <p:spPr>
          <a:xfrm>
            <a:off x="8284464" y="3035808"/>
            <a:ext cx="3502152" cy="347472"/>
          </a:xfrm>
          <a:prstGeom prst="rect">
            <a:avLst/>
          </a:prstGeom>
          <a:noFill/>
          <a:ln/>
        </p:spPr>
        <p:txBody>
          <a:bodyPr wrap="square" rtlCol="0" anchor="ctr"/>
          <a:lstStyle/>
          <a:p>
            <a:pPr indent="0" marL="0">
              <a:buNone/>
            </a:pPr>
            <a:r>
              <a:rPr lang="en-US" sz="850" i="1" dirty="0">
                <a:solidFill>
                  <a:srgbClr val="009FE3"/>
                </a:solidFill>
                <a:latin typeface="Arial" pitchFamily="34" charset="0"/>
                <a:ea typeface="Arial" pitchFamily="34" charset="-122"/>
                <a:cs typeface="Arial" pitchFamily="34" charset="-120"/>
              </a:rPr>
              <a:t>How to claim: Request a DSE eye care voucher from HR before booking your appointment.</a:t>
            </a:r>
            <a:endParaRPr lang="en-US" sz="850" dirty="0"/>
          </a:p>
        </p:txBody>
      </p:sp>
      <p:sp>
        <p:nvSpPr>
          <p:cNvPr id="30" name="Text 27"/>
          <p:cNvSpPr/>
          <p:nvPr/>
        </p:nvSpPr>
        <p:spPr>
          <a:xfrm>
            <a:off x="8247888" y="3493008"/>
            <a:ext cx="3575304" cy="182880"/>
          </a:xfrm>
          <a:prstGeom prst="rect">
            <a:avLst/>
          </a:prstGeom>
          <a:noFill/>
          <a:ln/>
        </p:spPr>
        <p:txBody>
          <a:bodyPr wrap="square" rtlCol="0" anchor="ctr"/>
          <a:lstStyle/>
          <a:p>
            <a:pPr indent="0" marL="0">
              <a:buNone/>
            </a:pPr>
            <a:r>
              <a:rPr lang="en-US" sz="850" b="1" dirty="0">
                <a:solidFill>
                  <a:srgbClr val="009FE3"/>
                </a:solidFill>
                <a:latin typeface="Arial" pitchFamily="34" charset="0"/>
                <a:ea typeface="Arial" pitchFamily="34" charset="-122"/>
                <a:cs typeface="Arial" pitchFamily="34" charset="-120"/>
              </a:rPr>
              <a:t>[Voucher provider or HR contact]</a:t>
            </a:r>
            <a:endParaRPr lang="en-US" sz="850" dirty="0"/>
          </a:p>
        </p:txBody>
      </p:sp>
      <p:sp>
        <p:nvSpPr>
          <p:cNvPr id="31" name="Shape 28"/>
          <p:cNvSpPr/>
          <p:nvPr/>
        </p:nvSpPr>
        <p:spPr>
          <a:xfrm>
            <a:off x="182880" y="3840480"/>
            <a:ext cx="3794760" cy="2578608"/>
          </a:xfrm>
          <a:prstGeom prst="rect">
            <a:avLst/>
          </a:prstGeom>
          <a:solidFill>
            <a:srgbClr val="FFFFFF"/>
          </a:solidFill>
          <a:ln w="25400">
            <a:solidFill>
              <a:srgbClr val="83348F"/>
            </a:solidFill>
            <a:prstDash val="solid"/>
          </a:ln>
        </p:spPr>
      </p:sp>
      <p:sp>
        <p:nvSpPr>
          <p:cNvPr id="32" name="Shape 29"/>
          <p:cNvSpPr/>
          <p:nvPr/>
        </p:nvSpPr>
        <p:spPr>
          <a:xfrm>
            <a:off x="182880" y="3840480"/>
            <a:ext cx="3794760" cy="566928"/>
          </a:xfrm>
          <a:prstGeom prst="rect">
            <a:avLst/>
          </a:prstGeom>
          <a:solidFill>
            <a:srgbClr val="83348F"/>
          </a:solidFill>
          <a:ln/>
        </p:spPr>
      </p:sp>
      <p:sp>
        <p:nvSpPr>
          <p:cNvPr id="33" name="Text 30"/>
          <p:cNvSpPr/>
          <p:nvPr/>
        </p:nvSpPr>
        <p:spPr>
          <a:xfrm>
            <a:off x="274320" y="3895344"/>
            <a:ext cx="438912" cy="438912"/>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34" name="Text 31"/>
          <p:cNvSpPr/>
          <p:nvPr/>
        </p:nvSpPr>
        <p:spPr>
          <a:xfrm>
            <a:off x="749808" y="3913632"/>
            <a:ext cx="3118104" cy="42062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OCCUPATIONAL HEALTH</a:t>
            </a:r>
            <a:endParaRPr lang="en-US" sz="1100" dirty="0"/>
          </a:p>
        </p:txBody>
      </p:sp>
      <p:sp>
        <p:nvSpPr>
          <p:cNvPr id="35" name="Text 32"/>
          <p:cNvSpPr/>
          <p:nvPr/>
        </p:nvSpPr>
        <p:spPr>
          <a:xfrm>
            <a:off x="292608" y="4480560"/>
            <a:ext cx="3575304" cy="1207008"/>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If you have a health condition that is affecting your work, or your work is affecting your health, you can be referred to our Occupational Health provider for confidential advice and support. Your manager or HR can make a referral.</a:t>
            </a:r>
            <a:endParaRPr lang="en-US" sz="950" dirty="0"/>
          </a:p>
        </p:txBody>
      </p:sp>
      <p:sp>
        <p:nvSpPr>
          <p:cNvPr id="36" name="Shape 33"/>
          <p:cNvSpPr/>
          <p:nvPr/>
        </p:nvSpPr>
        <p:spPr>
          <a:xfrm>
            <a:off x="292608" y="5742432"/>
            <a:ext cx="3575304" cy="420624"/>
          </a:xfrm>
          <a:prstGeom prst="rect">
            <a:avLst/>
          </a:prstGeom>
          <a:solidFill>
            <a:srgbClr val="F5F5F5"/>
          </a:solidFill>
          <a:ln w="6350">
            <a:solidFill>
              <a:srgbClr val="DDDDDD"/>
            </a:solidFill>
            <a:prstDash val="solid"/>
          </a:ln>
        </p:spPr>
      </p:sp>
      <p:sp>
        <p:nvSpPr>
          <p:cNvPr id="37" name="Text 34"/>
          <p:cNvSpPr/>
          <p:nvPr/>
        </p:nvSpPr>
        <p:spPr>
          <a:xfrm>
            <a:off x="329184" y="5760720"/>
            <a:ext cx="3502152" cy="347472"/>
          </a:xfrm>
          <a:prstGeom prst="rect">
            <a:avLst/>
          </a:prstGeom>
          <a:noFill/>
          <a:ln/>
        </p:spPr>
        <p:txBody>
          <a:bodyPr wrap="square" rtlCol="0" anchor="ctr"/>
          <a:lstStyle/>
          <a:p>
            <a:pPr indent="0" marL="0">
              <a:buNone/>
            </a:pPr>
            <a:r>
              <a:rPr lang="en-US" sz="850" i="1" dirty="0">
                <a:solidFill>
                  <a:srgbClr val="83348F"/>
                </a:solidFill>
                <a:latin typeface="Arial" pitchFamily="34" charset="0"/>
                <a:ea typeface="Arial" pitchFamily="34" charset="-122"/>
                <a:cs typeface="Arial" pitchFamily="34" charset="-120"/>
              </a:rPr>
              <a:t>How to access: Speak to your line manager or HR in confidence. Referral is straightforward and voluntary.</a:t>
            </a:r>
            <a:endParaRPr lang="en-US" sz="850" dirty="0"/>
          </a:p>
        </p:txBody>
      </p:sp>
      <p:sp>
        <p:nvSpPr>
          <p:cNvPr id="39" name="Shape 36"/>
          <p:cNvSpPr/>
          <p:nvPr/>
        </p:nvSpPr>
        <p:spPr>
          <a:xfrm>
            <a:off x="4160520" y="3840480"/>
            <a:ext cx="3794760" cy="2578608"/>
          </a:xfrm>
          <a:prstGeom prst="rect">
            <a:avLst/>
          </a:prstGeom>
          <a:solidFill>
            <a:srgbClr val="FFFFFF"/>
          </a:solidFill>
          <a:ln w="25400">
            <a:solidFill>
              <a:srgbClr val="CC0000"/>
            </a:solidFill>
            <a:prstDash val="solid"/>
          </a:ln>
        </p:spPr>
      </p:sp>
      <p:sp>
        <p:nvSpPr>
          <p:cNvPr id="40" name="Shape 37"/>
          <p:cNvSpPr/>
          <p:nvPr/>
        </p:nvSpPr>
        <p:spPr>
          <a:xfrm>
            <a:off x="4160520" y="3840480"/>
            <a:ext cx="3794760" cy="566928"/>
          </a:xfrm>
          <a:prstGeom prst="rect">
            <a:avLst/>
          </a:prstGeom>
          <a:solidFill>
            <a:srgbClr val="CC0000"/>
          </a:solidFill>
          <a:ln/>
        </p:spPr>
      </p:sp>
      <p:sp>
        <p:nvSpPr>
          <p:cNvPr id="41" name="Text 38"/>
          <p:cNvSpPr/>
          <p:nvPr/>
        </p:nvSpPr>
        <p:spPr>
          <a:xfrm>
            <a:off x="4251960" y="3895344"/>
            <a:ext cx="438912" cy="438912"/>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42" name="Text 39"/>
          <p:cNvSpPr/>
          <p:nvPr/>
        </p:nvSpPr>
        <p:spPr>
          <a:xfrm>
            <a:off x="4727448" y="3913632"/>
            <a:ext cx="3118104" cy="42062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NHS HEALTH CHECK</a:t>
            </a:r>
            <a:endParaRPr lang="en-US" sz="1100" dirty="0"/>
          </a:p>
        </p:txBody>
      </p:sp>
      <p:sp>
        <p:nvSpPr>
          <p:cNvPr id="43" name="Text 40"/>
          <p:cNvSpPr/>
          <p:nvPr/>
        </p:nvSpPr>
        <p:spPr>
          <a:xfrm>
            <a:off x="4270248" y="4480560"/>
            <a:ext cx="3575304" cy="1207008"/>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If you are aged 40-74 and do not have a pre-existing heart condition, you are entitled to a free NHS Health Check every 5 years. It checks your risk of heart disease, stroke, diabetes, and kidney disease.</a:t>
            </a:r>
            <a:endParaRPr lang="en-US" sz="950" dirty="0"/>
          </a:p>
        </p:txBody>
      </p:sp>
      <p:sp>
        <p:nvSpPr>
          <p:cNvPr id="44" name="Shape 41"/>
          <p:cNvSpPr/>
          <p:nvPr/>
        </p:nvSpPr>
        <p:spPr>
          <a:xfrm>
            <a:off x="4270248" y="5742432"/>
            <a:ext cx="3575304" cy="420624"/>
          </a:xfrm>
          <a:prstGeom prst="rect">
            <a:avLst/>
          </a:prstGeom>
          <a:solidFill>
            <a:srgbClr val="F5F5F5"/>
          </a:solidFill>
          <a:ln w="6350">
            <a:solidFill>
              <a:srgbClr val="DDDDDD"/>
            </a:solidFill>
            <a:prstDash val="solid"/>
          </a:ln>
        </p:spPr>
      </p:sp>
      <p:sp>
        <p:nvSpPr>
          <p:cNvPr id="45" name="Text 42"/>
          <p:cNvSpPr/>
          <p:nvPr/>
        </p:nvSpPr>
        <p:spPr>
          <a:xfrm>
            <a:off x="4306824" y="5760720"/>
            <a:ext cx="3502152" cy="347472"/>
          </a:xfrm>
          <a:prstGeom prst="rect">
            <a:avLst/>
          </a:prstGeom>
          <a:noFill/>
          <a:ln/>
        </p:spPr>
        <p:txBody>
          <a:bodyPr wrap="square" rtlCol="0" anchor="ctr"/>
          <a:lstStyle/>
          <a:p>
            <a:pPr indent="0" marL="0">
              <a:buNone/>
            </a:pPr>
            <a:r>
              <a:rPr lang="en-US" sz="850" i="1" dirty="0">
                <a:solidFill>
                  <a:srgbClr val="CC0000"/>
                </a:solidFill>
                <a:latin typeface="Arial" pitchFamily="34" charset="0"/>
                <a:ea typeface="Arial" pitchFamily="34" charset="-122"/>
                <a:cs typeface="Arial" pitchFamily="34" charset="-120"/>
              </a:rPr>
              <a:t>How to book: Contact your GP surgery or local pharmacy. It takes about 20-30 minutes.</a:t>
            </a:r>
            <a:endParaRPr lang="en-US" sz="850" dirty="0"/>
          </a:p>
        </p:txBody>
      </p:sp>
      <p:sp>
        <p:nvSpPr>
          <p:cNvPr id="47" name="Shape 44"/>
          <p:cNvSpPr/>
          <p:nvPr/>
        </p:nvSpPr>
        <p:spPr>
          <a:xfrm>
            <a:off x="8138160" y="3840480"/>
            <a:ext cx="3794760" cy="2578608"/>
          </a:xfrm>
          <a:prstGeom prst="rect">
            <a:avLst/>
          </a:prstGeom>
          <a:solidFill>
            <a:srgbClr val="FFFFFF"/>
          </a:solidFill>
          <a:ln w="25400">
            <a:solidFill>
              <a:srgbClr val="00796B"/>
            </a:solidFill>
            <a:prstDash val="solid"/>
          </a:ln>
        </p:spPr>
      </p:sp>
      <p:sp>
        <p:nvSpPr>
          <p:cNvPr id="48" name="Shape 45"/>
          <p:cNvSpPr/>
          <p:nvPr/>
        </p:nvSpPr>
        <p:spPr>
          <a:xfrm>
            <a:off x="8138160" y="3840480"/>
            <a:ext cx="3794760" cy="566928"/>
          </a:xfrm>
          <a:prstGeom prst="rect">
            <a:avLst/>
          </a:prstGeom>
          <a:solidFill>
            <a:srgbClr val="00796B"/>
          </a:solidFill>
          <a:ln/>
        </p:spPr>
      </p:sp>
      <p:sp>
        <p:nvSpPr>
          <p:cNvPr id="49" name="Text 46"/>
          <p:cNvSpPr/>
          <p:nvPr/>
        </p:nvSpPr>
        <p:spPr>
          <a:xfrm>
            <a:off x="8229600" y="3895344"/>
            <a:ext cx="438912" cy="438912"/>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50" name="Text 47"/>
          <p:cNvSpPr/>
          <p:nvPr/>
        </p:nvSpPr>
        <p:spPr>
          <a:xfrm>
            <a:off x="8705088" y="3913632"/>
            <a:ext cx="3118104" cy="42062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ACTIVE TRAVEL SUPPORT</a:t>
            </a:r>
            <a:endParaRPr lang="en-US" sz="1100" dirty="0"/>
          </a:p>
        </p:txBody>
      </p:sp>
      <p:sp>
        <p:nvSpPr>
          <p:cNvPr id="51" name="Text 48"/>
          <p:cNvSpPr/>
          <p:nvPr/>
        </p:nvSpPr>
        <p:spPr>
          <a:xfrm>
            <a:off x="8247888" y="4480560"/>
            <a:ext cx="3575304" cy="1207008"/>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Walking or cycling to work even part of the way has significant health benefits. Our Cycle to Work scheme supports cycling. Secure bike storage is available on site. Speak to HR about travel support options.</a:t>
            </a:r>
            <a:endParaRPr lang="en-US" sz="950" dirty="0"/>
          </a:p>
        </p:txBody>
      </p:sp>
      <p:sp>
        <p:nvSpPr>
          <p:cNvPr id="52" name="Shape 49"/>
          <p:cNvSpPr/>
          <p:nvPr/>
        </p:nvSpPr>
        <p:spPr>
          <a:xfrm>
            <a:off x="8247888" y="5742432"/>
            <a:ext cx="3575304" cy="420624"/>
          </a:xfrm>
          <a:prstGeom prst="rect">
            <a:avLst/>
          </a:prstGeom>
          <a:solidFill>
            <a:srgbClr val="F5F5F5"/>
          </a:solidFill>
          <a:ln w="6350">
            <a:solidFill>
              <a:srgbClr val="DDDDDD"/>
            </a:solidFill>
            <a:prstDash val="solid"/>
          </a:ln>
        </p:spPr>
      </p:sp>
      <p:sp>
        <p:nvSpPr>
          <p:cNvPr id="53" name="Text 50"/>
          <p:cNvSpPr/>
          <p:nvPr/>
        </p:nvSpPr>
        <p:spPr>
          <a:xfrm>
            <a:off x="8284464" y="5760720"/>
            <a:ext cx="3502152" cy="347472"/>
          </a:xfrm>
          <a:prstGeom prst="rect">
            <a:avLst/>
          </a:prstGeom>
          <a:noFill/>
          <a:ln/>
        </p:spPr>
        <p:txBody>
          <a:bodyPr wrap="square" rtlCol="0" anchor="ctr"/>
          <a:lstStyle/>
          <a:p>
            <a:pPr indent="0" marL="0">
              <a:buNone/>
            </a:pPr>
            <a:r>
              <a:rPr lang="en-US" sz="850" i="1" dirty="0">
                <a:solidFill>
                  <a:srgbClr val="00796B"/>
                </a:solidFill>
                <a:latin typeface="Arial" pitchFamily="34" charset="0"/>
                <a:ea typeface="Arial" pitchFamily="34" charset="-122"/>
                <a:cs typeface="Arial" pitchFamily="34" charset="-120"/>
              </a:rPr>
              <a:t>Secure bike storage: [Location on site]. Changing facilities: [Location]. Shower access: [Yes/No - location].</a:t>
            </a:r>
            <a:endParaRPr lang="en-US" sz="850" dirty="0"/>
          </a:p>
        </p:txBody>
      </p:sp>
      <p:sp>
        <p:nvSpPr>
          <p:cNvPr id="54" name="Rectangle 53"/>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image.png"/>
          <p:cNvPicPr>
            <a:picLocks noChangeAspect="1"/>
          </p:cNvPicPr>
          <p:nvPr/>
        </p:nvPicPr>
        <p:blipFill>
          <a:blip r:embed="rId5"/>
          <a:stretch>
            <a:fillRect/>
          </a:stretch>
        </p:blipFill>
        <p:spPr>
          <a:xfrm>
            <a:off x="10610088" y="100584"/>
            <a:ext cx="566928" cy="347472"/>
          </a:xfrm>
          <a:prstGeom prst="rect">
            <a:avLst/>
          </a:prstGeom>
        </p:spPr>
      </p:pic>
      <p:pic>
        <p:nvPicPr>
          <p:cNvPr id="56" name="Picture 55" descr="image.png"/>
          <p:cNvPicPr>
            <a:picLocks noChangeAspect="1"/>
          </p:cNvPicPr>
          <p:nvPr/>
        </p:nvPicPr>
        <p:blipFill>
          <a:blip r:embed="rId4"/>
          <a:stretch>
            <a:fillRect/>
          </a:stretch>
        </p:blipFill>
        <p:spPr>
          <a:xfrm>
            <a:off x="11222736" y="100584"/>
            <a:ext cx="658368" cy="347472"/>
          </a:xfrm>
          <a:prstGeom prst="rect">
            <a:avLst/>
          </a:prstGeom>
        </p:spPr>
      </p:pic>
      <p:sp>
        <p:nvSpPr>
          <p:cNvPr id="57" name="Rectangle 56"/>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0" y="0"/>
            <a:ext cx="12161520" cy="1024128"/>
          </a:xfrm>
          <a:prstGeom prst="rect">
            <a:avLst/>
          </a:prstGeom>
          <a:solidFill>
            <a:srgbClr val="83348F"/>
          </a:solidFill>
          <a:ln/>
        </p:spPr>
      </p:sp>
      <p:pic>
        <p:nvPicPr>
          <p:cNvPr id="4" name="Image 0" descr="preencoded.png">    </p:cNvPr>
          <p:cNvPicPr>
            <a:picLocks noChangeAspect="1"/>
          </p:cNvPicPr>
          <p:nvPr/>
        </p:nvPicPr>
        <p:blipFill>
          <a:blip r:embed="rId1"/>
          <a:stretch>
            <a:fillRect/>
          </a:stretch>
        </p:blipFill>
        <p:spPr>
          <a:xfrm>
            <a:off x="274320" y="182880"/>
            <a:ext cx="1280160" cy="429768"/>
          </a:xfrm>
          <a:prstGeom prst="rect">
            <a:avLst/>
          </a:prstGeom>
        </p:spPr>
      </p:pic>
      <p:sp>
        <p:nvSpPr>
          <p:cNvPr id="5" name="Text 2"/>
          <p:cNvSpPr/>
          <p:nvPr/>
        </p:nvSpPr>
        <p:spPr>
          <a:xfrm>
            <a:off x="1828800" y="54864"/>
            <a:ext cx="8503920" cy="566928"/>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YOUR WELLBEING CONTACTS AT [COMPANY NAME]</a:t>
            </a:r>
            <a:endParaRPr lang="en-US" sz="2400" dirty="0"/>
          </a:p>
        </p:txBody>
      </p:sp>
      <p:sp>
        <p:nvSpPr>
          <p:cNvPr id="6" name="Text 3"/>
          <p:cNvSpPr/>
          <p:nvPr/>
        </p:nvSpPr>
        <p:spPr>
          <a:xfrm>
            <a:off x="1828800" y="621792"/>
            <a:ext cx="8503920" cy="292608"/>
          </a:xfrm>
          <a:prstGeom prst="rect">
            <a:avLst/>
          </a:prstGeom>
          <a:noFill/>
          <a:ln/>
        </p:spPr>
        <p:txBody>
          <a:bodyPr wrap="square" rtlCol="0" anchor="ctr"/>
          <a:lstStyle/>
          <a:p>
            <a:pPr algn="ctr" indent="0" marL="0">
              <a:buNone/>
            </a:pPr>
            <a:r>
              <a:rPr lang="en-US" sz="1300" dirty="0">
                <a:solidFill>
                  <a:srgbClr val="DDBBFF"/>
                </a:solidFill>
                <a:latin typeface="Arial" pitchFamily="34" charset="0"/>
                <a:ea typeface="Arial" pitchFamily="34" charset="-122"/>
                <a:cs typeface="Arial" pitchFamily="34" charset="-120"/>
              </a:rPr>
              <a:t>You are not alone. Here is who to contact for support.</a:t>
            </a:r>
            <a:endParaRPr lang="en-US" sz="1300" dirty="0"/>
          </a:p>
        </p:txBody>
      </p:sp>
      <p:sp>
        <p:nvSpPr>
          <p:cNvPr id="7" name="Shape 4"/>
          <p:cNvSpPr/>
          <p:nvPr/>
        </p:nvSpPr>
        <p:spPr>
          <a:xfrm>
            <a:off x="137160" y="1115568"/>
            <a:ext cx="2834640" cy="2578608"/>
          </a:xfrm>
          <a:prstGeom prst="rect">
            <a:avLst/>
          </a:prstGeom>
          <a:solidFill>
            <a:srgbClr val="FFFFFF"/>
          </a:solidFill>
          <a:ln w="25400">
            <a:solidFill>
              <a:srgbClr val="83348F"/>
            </a:solidFill>
            <a:prstDash val="solid"/>
          </a:ln>
        </p:spPr>
      </p:sp>
      <p:sp>
        <p:nvSpPr>
          <p:cNvPr id="8" name="Shape 5"/>
          <p:cNvSpPr/>
          <p:nvPr/>
        </p:nvSpPr>
        <p:spPr>
          <a:xfrm>
            <a:off x="137160" y="1115568"/>
            <a:ext cx="2834640" cy="502920"/>
          </a:xfrm>
          <a:prstGeom prst="rect">
            <a:avLst/>
          </a:prstGeom>
          <a:solidFill>
            <a:srgbClr val="83348F"/>
          </a:solidFill>
          <a:ln/>
        </p:spPr>
      </p:sp>
      <p:sp>
        <p:nvSpPr>
          <p:cNvPr id="9" name="Text 6"/>
          <p:cNvSpPr/>
          <p:nvPr/>
        </p:nvSpPr>
        <p:spPr>
          <a:xfrm>
            <a:off x="228600" y="1170432"/>
            <a:ext cx="2651760" cy="38404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MENTAL HEALTH FIRST AIDER</a:t>
            </a:r>
            <a:endParaRPr lang="en-US" sz="950" dirty="0"/>
          </a:p>
        </p:txBody>
      </p:sp>
      <p:sp>
        <p:nvSpPr>
          <p:cNvPr id="10" name="Text 7"/>
          <p:cNvSpPr/>
          <p:nvPr/>
        </p:nvSpPr>
        <p:spPr>
          <a:xfrm>
            <a:off x="228600" y="1682496"/>
            <a:ext cx="2651760" cy="91440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Confidential, in-house support. No referral needed. Just approach them.</a:t>
            </a:r>
            <a:endParaRPr lang="en-US" sz="900" dirty="0"/>
          </a:p>
        </p:txBody>
      </p:sp>
      <p:sp>
        <p:nvSpPr>
          <p:cNvPr id="11" name="Shape 8"/>
          <p:cNvSpPr/>
          <p:nvPr/>
        </p:nvSpPr>
        <p:spPr>
          <a:xfrm>
            <a:off x="228600" y="2670048"/>
            <a:ext cx="2651760" cy="960120"/>
          </a:xfrm>
          <a:prstGeom prst="rect">
            <a:avLst/>
          </a:prstGeom>
          <a:solidFill>
            <a:srgbClr val="F5F5F5"/>
          </a:solidFill>
          <a:ln w="6350">
            <a:solidFill>
              <a:srgbClr val="DDDDDD"/>
            </a:solidFill>
            <a:prstDash val="solid"/>
          </a:ln>
        </p:spPr>
      </p:sp>
      <p:sp>
        <p:nvSpPr>
          <p:cNvPr id="12" name="Text 9"/>
          <p:cNvSpPr/>
          <p:nvPr/>
        </p:nvSpPr>
        <p:spPr>
          <a:xfrm>
            <a:off x="265176" y="2706624"/>
            <a:ext cx="2578608" cy="201168"/>
          </a:xfrm>
          <a:prstGeom prst="rect">
            <a:avLst/>
          </a:prstGeom>
          <a:noFill/>
          <a:ln/>
        </p:spPr>
        <p:txBody>
          <a:bodyPr wrap="square" rtlCol="0" anchor="ctr"/>
          <a:lstStyle/>
          <a:p>
            <a:pPr indent="0" marL="0">
              <a:buNone/>
            </a:pPr>
            <a:r>
              <a:rPr lang="en-US" sz="850" b="1" dirty="0">
                <a:solidFill>
                  <a:srgbClr val="83348F"/>
                </a:solidFill>
                <a:latin typeface="Arial" pitchFamily="34" charset="0"/>
                <a:ea typeface="Arial" pitchFamily="34" charset="-122"/>
                <a:cs typeface="Arial" pitchFamily="34" charset="-120"/>
              </a:rPr>
              <a:t>Name:</a:t>
            </a:r>
            <a:endParaRPr lang="en-US" sz="850" dirty="0"/>
          </a:p>
        </p:txBody>
      </p:sp>
      <p:sp>
        <p:nvSpPr>
          <p:cNvPr id="13" name="Shape 10"/>
          <p:cNvSpPr/>
          <p:nvPr/>
        </p:nvSpPr>
        <p:spPr>
          <a:xfrm>
            <a:off x="265176" y="2926080"/>
            <a:ext cx="2578608" cy="0"/>
          </a:xfrm>
          <a:prstGeom prst="line">
            <a:avLst/>
          </a:prstGeom>
          <a:noFill/>
          <a:ln w="9525">
            <a:solidFill>
              <a:srgbClr val="CCCCCC"/>
            </a:solidFill>
            <a:prstDash val="solid"/>
          </a:ln>
        </p:spPr>
      </p:sp>
      <p:sp>
        <p:nvSpPr>
          <p:cNvPr id="14" name="Text 11"/>
          <p:cNvSpPr/>
          <p:nvPr/>
        </p:nvSpPr>
        <p:spPr>
          <a:xfrm>
            <a:off x="265176" y="2962656"/>
            <a:ext cx="2578608" cy="201168"/>
          </a:xfrm>
          <a:prstGeom prst="rect">
            <a:avLst/>
          </a:prstGeom>
          <a:noFill/>
          <a:ln/>
        </p:spPr>
        <p:txBody>
          <a:bodyPr wrap="square" rtlCol="0" anchor="ctr"/>
          <a:lstStyle/>
          <a:p>
            <a:pPr indent="0" marL="0">
              <a:buNone/>
            </a:pPr>
            <a:r>
              <a:rPr lang="en-US" sz="850" b="1" dirty="0">
                <a:solidFill>
                  <a:srgbClr val="83348F"/>
                </a:solidFill>
                <a:latin typeface="Arial" pitchFamily="34" charset="0"/>
                <a:ea typeface="Arial" pitchFamily="34" charset="-122"/>
                <a:cs typeface="Arial" pitchFamily="34" charset="-120"/>
              </a:rPr>
              <a:t>Where to find them:</a:t>
            </a:r>
            <a:endParaRPr lang="en-US" sz="850" dirty="0"/>
          </a:p>
        </p:txBody>
      </p:sp>
      <p:sp>
        <p:nvSpPr>
          <p:cNvPr id="15" name="Shape 12"/>
          <p:cNvSpPr/>
          <p:nvPr/>
        </p:nvSpPr>
        <p:spPr>
          <a:xfrm>
            <a:off x="3108960" y="1115568"/>
            <a:ext cx="2834640" cy="2578608"/>
          </a:xfrm>
          <a:prstGeom prst="rect">
            <a:avLst/>
          </a:prstGeom>
          <a:solidFill>
            <a:srgbClr val="FFFFFF"/>
          </a:solidFill>
          <a:ln w="25400">
            <a:solidFill>
              <a:srgbClr val="009FE3"/>
            </a:solidFill>
            <a:prstDash val="solid"/>
          </a:ln>
        </p:spPr>
      </p:sp>
      <p:sp>
        <p:nvSpPr>
          <p:cNvPr id="16" name="Shape 13"/>
          <p:cNvSpPr/>
          <p:nvPr/>
        </p:nvSpPr>
        <p:spPr>
          <a:xfrm>
            <a:off x="3108960" y="1115568"/>
            <a:ext cx="2834640" cy="502920"/>
          </a:xfrm>
          <a:prstGeom prst="rect">
            <a:avLst/>
          </a:prstGeom>
          <a:solidFill>
            <a:srgbClr val="009FE3"/>
          </a:solidFill>
          <a:ln/>
        </p:spPr>
      </p:sp>
      <p:sp>
        <p:nvSpPr>
          <p:cNvPr id="17" name="Text 14"/>
          <p:cNvSpPr/>
          <p:nvPr/>
        </p:nvSpPr>
        <p:spPr>
          <a:xfrm>
            <a:off x="3200400" y="1170432"/>
            <a:ext cx="2651760" cy="38404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HR MANAGER</a:t>
            </a:r>
            <a:endParaRPr lang="en-US" sz="950" dirty="0"/>
          </a:p>
        </p:txBody>
      </p:sp>
      <p:sp>
        <p:nvSpPr>
          <p:cNvPr id="18" name="Text 15"/>
          <p:cNvSpPr/>
          <p:nvPr/>
        </p:nvSpPr>
        <p:spPr>
          <a:xfrm>
            <a:off x="3200400" y="1682496"/>
            <a:ext cx="2651760" cy="91440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For confidential conversations about health, wellbeing, flexible working, or any personal concern.</a:t>
            </a:r>
            <a:endParaRPr lang="en-US" sz="900" dirty="0"/>
          </a:p>
        </p:txBody>
      </p:sp>
      <p:sp>
        <p:nvSpPr>
          <p:cNvPr id="19" name="Shape 16"/>
          <p:cNvSpPr/>
          <p:nvPr/>
        </p:nvSpPr>
        <p:spPr>
          <a:xfrm>
            <a:off x="3200400" y="2670048"/>
            <a:ext cx="2651760" cy="960120"/>
          </a:xfrm>
          <a:prstGeom prst="rect">
            <a:avLst/>
          </a:prstGeom>
          <a:solidFill>
            <a:srgbClr val="F5F5F5"/>
          </a:solidFill>
          <a:ln w="6350">
            <a:solidFill>
              <a:srgbClr val="DDDDDD"/>
            </a:solidFill>
            <a:prstDash val="solid"/>
          </a:ln>
        </p:spPr>
      </p:sp>
      <p:sp>
        <p:nvSpPr>
          <p:cNvPr id="20" name="Text 17"/>
          <p:cNvSpPr/>
          <p:nvPr/>
        </p:nvSpPr>
        <p:spPr>
          <a:xfrm>
            <a:off x="3236976" y="2706624"/>
            <a:ext cx="2578608" cy="201168"/>
          </a:xfrm>
          <a:prstGeom prst="rect">
            <a:avLst/>
          </a:prstGeom>
          <a:noFill/>
          <a:ln/>
        </p:spPr>
        <p:txBody>
          <a:bodyPr wrap="square" rtlCol="0" anchor="ctr"/>
          <a:lstStyle/>
          <a:p>
            <a:pPr indent="0" marL="0">
              <a:buNone/>
            </a:pPr>
            <a:r>
              <a:rPr lang="en-US" sz="850" b="1" dirty="0">
                <a:solidFill>
                  <a:srgbClr val="009FE3"/>
                </a:solidFill>
                <a:latin typeface="Arial" pitchFamily="34" charset="0"/>
                <a:ea typeface="Arial" pitchFamily="34" charset="-122"/>
                <a:cs typeface="Arial" pitchFamily="34" charset="-120"/>
              </a:rPr>
              <a:t>Name:</a:t>
            </a:r>
            <a:endParaRPr lang="en-US" sz="850" dirty="0"/>
          </a:p>
        </p:txBody>
      </p:sp>
      <p:sp>
        <p:nvSpPr>
          <p:cNvPr id="21" name="Shape 18"/>
          <p:cNvSpPr/>
          <p:nvPr/>
        </p:nvSpPr>
        <p:spPr>
          <a:xfrm>
            <a:off x="3236976" y="2926080"/>
            <a:ext cx="2578608" cy="0"/>
          </a:xfrm>
          <a:prstGeom prst="line">
            <a:avLst/>
          </a:prstGeom>
          <a:noFill/>
          <a:ln w="9525">
            <a:solidFill>
              <a:srgbClr val="CCCCCC"/>
            </a:solidFill>
            <a:prstDash val="solid"/>
          </a:ln>
        </p:spPr>
      </p:sp>
      <p:sp>
        <p:nvSpPr>
          <p:cNvPr id="22" name="Text 19"/>
          <p:cNvSpPr/>
          <p:nvPr/>
        </p:nvSpPr>
        <p:spPr>
          <a:xfrm>
            <a:off x="3236976" y="2962656"/>
            <a:ext cx="2578608" cy="201168"/>
          </a:xfrm>
          <a:prstGeom prst="rect">
            <a:avLst/>
          </a:prstGeom>
          <a:noFill/>
          <a:ln/>
        </p:spPr>
        <p:txBody>
          <a:bodyPr wrap="square" rtlCol="0" anchor="ctr"/>
          <a:lstStyle/>
          <a:p>
            <a:pPr indent="0" marL="0">
              <a:buNone/>
            </a:pPr>
            <a:r>
              <a:rPr lang="en-US" sz="850" b="1" dirty="0">
                <a:solidFill>
                  <a:srgbClr val="009FE3"/>
                </a:solidFill>
                <a:latin typeface="Arial" pitchFamily="34" charset="0"/>
                <a:ea typeface="Arial" pitchFamily="34" charset="-122"/>
                <a:cs typeface="Arial" pitchFamily="34" charset="-120"/>
              </a:rPr>
              <a:t>Email / Ext:</a:t>
            </a:r>
            <a:endParaRPr lang="en-US" sz="850" dirty="0"/>
          </a:p>
        </p:txBody>
      </p:sp>
      <p:sp>
        <p:nvSpPr>
          <p:cNvPr id="23" name="Shape 20"/>
          <p:cNvSpPr/>
          <p:nvPr/>
        </p:nvSpPr>
        <p:spPr>
          <a:xfrm>
            <a:off x="6080760" y="1115568"/>
            <a:ext cx="2834640" cy="2578608"/>
          </a:xfrm>
          <a:prstGeom prst="rect">
            <a:avLst/>
          </a:prstGeom>
          <a:solidFill>
            <a:srgbClr val="FFFFFF"/>
          </a:solidFill>
          <a:ln w="25400">
            <a:solidFill>
              <a:srgbClr val="00796B"/>
            </a:solidFill>
            <a:prstDash val="solid"/>
          </a:ln>
        </p:spPr>
      </p:sp>
      <p:sp>
        <p:nvSpPr>
          <p:cNvPr id="24" name="Shape 21"/>
          <p:cNvSpPr/>
          <p:nvPr/>
        </p:nvSpPr>
        <p:spPr>
          <a:xfrm>
            <a:off x="6080760" y="1115568"/>
            <a:ext cx="2834640" cy="502920"/>
          </a:xfrm>
          <a:prstGeom prst="rect">
            <a:avLst/>
          </a:prstGeom>
          <a:solidFill>
            <a:srgbClr val="00796B"/>
          </a:solidFill>
          <a:ln/>
        </p:spPr>
      </p:sp>
      <p:sp>
        <p:nvSpPr>
          <p:cNvPr id="25" name="Text 22"/>
          <p:cNvSpPr/>
          <p:nvPr/>
        </p:nvSpPr>
        <p:spPr>
          <a:xfrm>
            <a:off x="6172200" y="1170432"/>
            <a:ext cx="2651760" cy="38404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EMPLOYEE ASSISTANCE PROGRAMME (EAP)</a:t>
            </a:r>
            <a:endParaRPr lang="en-US" sz="950" dirty="0"/>
          </a:p>
        </p:txBody>
      </p:sp>
      <p:sp>
        <p:nvSpPr>
          <p:cNvPr id="26" name="Text 23"/>
          <p:cNvSpPr/>
          <p:nvPr/>
        </p:nvSpPr>
        <p:spPr>
          <a:xfrm>
            <a:off x="6172200" y="1682496"/>
            <a:ext cx="2651760" cy="91440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Free, confidential counselling, financial advice, and legal guidance. Available 24 hours a day, 7 days a week.</a:t>
            </a:r>
            <a:endParaRPr lang="en-US" sz="900" dirty="0"/>
          </a:p>
        </p:txBody>
      </p:sp>
      <p:sp>
        <p:nvSpPr>
          <p:cNvPr id="27" name="Shape 24"/>
          <p:cNvSpPr/>
          <p:nvPr/>
        </p:nvSpPr>
        <p:spPr>
          <a:xfrm>
            <a:off x="6172200" y="2670048"/>
            <a:ext cx="2651760" cy="960120"/>
          </a:xfrm>
          <a:prstGeom prst="rect">
            <a:avLst/>
          </a:prstGeom>
          <a:solidFill>
            <a:srgbClr val="F5F5F5"/>
          </a:solidFill>
          <a:ln w="6350">
            <a:solidFill>
              <a:srgbClr val="DDDDDD"/>
            </a:solidFill>
            <a:prstDash val="solid"/>
          </a:ln>
        </p:spPr>
      </p:sp>
      <p:sp>
        <p:nvSpPr>
          <p:cNvPr id="28" name="Text 25"/>
          <p:cNvSpPr/>
          <p:nvPr/>
        </p:nvSpPr>
        <p:spPr>
          <a:xfrm>
            <a:off x="6208776" y="2706624"/>
            <a:ext cx="2578608" cy="201168"/>
          </a:xfrm>
          <a:prstGeom prst="rect">
            <a:avLst/>
          </a:prstGeom>
          <a:noFill/>
          <a:ln/>
        </p:spPr>
        <p:txBody>
          <a:bodyPr wrap="square" rtlCol="0" anchor="ctr"/>
          <a:lstStyle/>
          <a:p>
            <a:pPr indent="0" marL="0">
              <a:buNone/>
            </a:pPr>
            <a:r>
              <a:rPr lang="en-US" sz="850" b="1" dirty="0">
                <a:solidFill>
                  <a:srgbClr val="00796B"/>
                </a:solidFill>
                <a:latin typeface="Arial" pitchFamily="34" charset="0"/>
                <a:ea typeface="Arial" pitchFamily="34" charset="-122"/>
                <a:cs typeface="Arial" pitchFamily="34" charset="-120"/>
              </a:rPr>
              <a:t>Freephone:</a:t>
            </a:r>
            <a:endParaRPr lang="en-US" sz="850" dirty="0"/>
          </a:p>
        </p:txBody>
      </p:sp>
      <p:sp>
        <p:nvSpPr>
          <p:cNvPr id="29" name="Shape 26"/>
          <p:cNvSpPr/>
          <p:nvPr/>
        </p:nvSpPr>
        <p:spPr>
          <a:xfrm>
            <a:off x="6208776" y="2926080"/>
            <a:ext cx="2578608" cy="0"/>
          </a:xfrm>
          <a:prstGeom prst="line">
            <a:avLst/>
          </a:prstGeom>
          <a:noFill/>
          <a:ln w="9525">
            <a:solidFill>
              <a:srgbClr val="CCCCCC"/>
            </a:solidFill>
            <a:prstDash val="solid"/>
          </a:ln>
        </p:spPr>
      </p:sp>
      <p:sp>
        <p:nvSpPr>
          <p:cNvPr id="30" name="Text 27"/>
          <p:cNvSpPr/>
          <p:nvPr/>
        </p:nvSpPr>
        <p:spPr>
          <a:xfrm>
            <a:off x="6208776" y="2962656"/>
            <a:ext cx="2578608" cy="201168"/>
          </a:xfrm>
          <a:prstGeom prst="rect">
            <a:avLst/>
          </a:prstGeom>
          <a:noFill/>
          <a:ln/>
        </p:spPr>
        <p:txBody>
          <a:bodyPr wrap="square" rtlCol="0" anchor="ctr"/>
          <a:lstStyle/>
          <a:p>
            <a:pPr indent="0" marL="0">
              <a:buNone/>
            </a:pPr>
            <a:r>
              <a:rPr lang="en-US" sz="850" b="1" dirty="0">
                <a:solidFill>
                  <a:srgbClr val="00796B"/>
                </a:solidFill>
                <a:latin typeface="Arial" pitchFamily="34" charset="0"/>
                <a:ea typeface="Arial" pitchFamily="34" charset="-122"/>
                <a:cs typeface="Arial" pitchFamily="34" charset="-120"/>
              </a:rPr>
              <a:t>Website:</a:t>
            </a:r>
            <a:endParaRPr lang="en-US" sz="850" dirty="0"/>
          </a:p>
        </p:txBody>
      </p:sp>
      <p:sp>
        <p:nvSpPr>
          <p:cNvPr id="31" name="Shape 28"/>
          <p:cNvSpPr/>
          <p:nvPr/>
        </p:nvSpPr>
        <p:spPr>
          <a:xfrm>
            <a:off x="9052560" y="1115568"/>
            <a:ext cx="2834640" cy="2578608"/>
          </a:xfrm>
          <a:prstGeom prst="rect">
            <a:avLst/>
          </a:prstGeom>
          <a:solidFill>
            <a:srgbClr val="FFFFFF"/>
          </a:solidFill>
          <a:ln w="25400">
            <a:solidFill>
              <a:srgbClr val="70AD47"/>
            </a:solidFill>
            <a:prstDash val="solid"/>
          </a:ln>
        </p:spPr>
      </p:sp>
      <p:sp>
        <p:nvSpPr>
          <p:cNvPr id="32" name="Shape 29"/>
          <p:cNvSpPr/>
          <p:nvPr/>
        </p:nvSpPr>
        <p:spPr>
          <a:xfrm>
            <a:off x="9052560" y="1115568"/>
            <a:ext cx="2834640" cy="502920"/>
          </a:xfrm>
          <a:prstGeom prst="rect">
            <a:avLst/>
          </a:prstGeom>
          <a:solidFill>
            <a:srgbClr val="70AD47"/>
          </a:solidFill>
          <a:ln/>
        </p:spPr>
      </p:sp>
      <p:sp>
        <p:nvSpPr>
          <p:cNvPr id="33" name="Text 30"/>
          <p:cNvSpPr/>
          <p:nvPr/>
        </p:nvSpPr>
        <p:spPr>
          <a:xfrm>
            <a:off x="9144000" y="1170432"/>
            <a:ext cx="2651760" cy="38404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YOUR LINE MANAGER</a:t>
            </a:r>
            <a:endParaRPr lang="en-US" sz="950" dirty="0"/>
          </a:p>
        </p:txBody>
      </p:sp>
      <p:sp>
        <p:nvSpPr>
          <p:cNvPr id="34" name="Text 31"/>
          <p:cNvSpPr/>
          <p:nvPr/>
        </p:nvSpPr>
        <p:spPr>
          <a:xfrm>
            <a:off x="9144000" y="1682496"/>
            <a:ext cx="2651760" cy="91440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Your first point of contact. If you are struggling, your manager can help connect you with support.</a:t>
            </a:r>
            <a:endParaRPr lang="en-US" sz="900" dirty="0"/>
          </a:p>
        </p:txBody>
      </p:sp>
      <p:sp>
        <p:nvSpPr>
          <p:cNvPr id="35" name="Shape 32"/>
          <p:cNvSpPr/>
          <p:nvPr/>
        </p:nvSpPr>
        <p:spPr>
          <a:xfrm>
            <a:off x="9144000" y="2670048"/>
            <a:ext cx="2651760" cy="960120"/>
          </a:xfrm>
          <a:prstGeom prst="rect">
            <a:avLst/>
          </a:prstGeom>
          <a:solidFill>
            <a:srgbClr val="F5F5F5"/>
          </a:solidFill>
          <a:ln w="6350">
            <a:solidFill>
              <a:srgbClr val="DDDDDD"/>
            </a:solidFill>
            <a:prstDash val="solid"/>
          </a:ln>
        </p:spPr>
      </p:sp>
      <p:sp>
        <p:nvSpPr>
          <p:cNvPr id="36" name="Text 33"/>
          <p:cNvSpPr/>
          <p:nvPr/>
        </p:nvSpPr>
        <p:spPr>
          <a:xfrm>
            <a:off x="9180576" y="2706624"/>
            <a:ext cx="2578608" cy="201168"/>
          </a:xfrm>
          <a:prstGeom prst="rect">
            <a:avLst/>
          </a:prstGeom>
          <a:noFill/>
          <a:ln/>
        </p:spPr>
        <p:txBody>
          <a:bodyPr wrap="square" rtlCol="0" anchor="ctr"/>
          <a:lstStyle/>
          <a:p>
            <a:pPr indent="0" marL="0">
              <a:buNone/>
            </a:pPr>
            <a:r>
              <a:rPr lang="en-US" sz="850" b="1" dirty="0">
                <a:solidFill>
                  <a:srgbClr val="70AD47"/>
                </a:solidFill>
                <a:latin typeface="Arial" pitchFamily="34" charset="0"/>
                <a:ea typeface="Arial" pitchFamily="34" charset="-122"/>
                <a:cs typeface="Arial" pitchFamily="34" charset="-120"/>
              </a:rPr>
              <a:t>Name:</a:t>
            </a:r>
            <a:endParaRPr lang="en-US" sz="850" dirty="0"/>
          </a:p>
        </p:txBody>
      </p:sp>
      <p:sp>
        <p:nvSpPr>
          <p:cNvPr id="37" name="Shape 34"/>
          <p:cNvSpPr/>
          <p:nvPr/>
        </p:nvSpPr>
        <p:spPr>
          <a:xfrm>
            <a:off x="9180576" y="2926080"/>
            <a:ext cx="2578608" cy="0"/>
          </a:xfrm>
          <a:prstGeom prst="line">
            <a:avLst/>
          </a:prstGeom>
          <a:noFill/>
          <a:ln w="9525">
            <a:solidFill>
              <a:srgbClr val="CCCCCC"/>
            </a:solidFill>
            <a:prstDash val="solid"/>
          </a:ln>
        </p:spPr>
      </p:sp>
      <p:sp>
        <p:nvSpPr>
          <p:cNvPr id="38" name="Text 35"/>
          <p:cNvSpPr/>
          <p:nvPr/>
        </p:nvSpPr>
        <p:spPr>
          <a:xfrm>
            <a:off x="9180576" y="2962656"/>
            <a:ext cx="2578608" cy="201168"/>
          </a:xfrm>
          <a:prstGeom prst="rect">
            <a:avLst/>
          </a:prstGeom>
          <a:noFill/>
          <a:ln/>
        </p:spPr>
        <p:txBody>
          <a:bodyPr wrap="square" rtlCol="0" anchor="ctr"/>
          <a:lstStyle/>
          <a:p>
            <a:pPr indent="0" marL="0">
              <a:buNone/>
            </a:pPr>
            <a:r>
              <a:rPr lang="en-US" sz="850" b="1" dirty="0">
                <a:solidFill>
                  <a:srgbClr val="70AD47"/>
                </a:solidFill>
                <a:latin typeface="Arial" pitchFamily="34" charset="0"/>
                <a:ea typeface="Arial" pitchFamily="34" charset="-122"/>
                <a:cs typeface="Arial" pitchFamily="34" charset="-120"/>
              </a:rPr>
              <a:t>Contact:</a:t>
            </a:r>
            <a:endParaRPr lang="en-US" sz="850" dirty="0"/>
          </a:p>
        </p:txBody>
      </p:sp>
      <p:sp>
        <p:nvSpPr>
          <p:cNvPr id="39" name="Shape 36"/>
          <p:cNvSpPr/>
          <p:nvPr/>
        </p:nvSpPr>
        <p:spPr>
          <a:xfrm>
            <a:off x="137160" y="3840480"/>
            <a:ext cx="2834640" cy="2578608"/>
          </a:xfrm>
          <a:prstGeom prst="rect">
            <a:avLst/>
          </a:prstGeom>
          <a:solidFill>
            <a:srgbClr val="FFFFFF"/>
          </a:solidFill>
          <a:ln w="25400">
            <a:solidFill>
              <a:srgbClr val="1A237E"/>
            </a:solidFill>
            <a:prstDash val="solid"/>
          </a:ln>
        </p:spPr>
      </p:sp>
      <p:sp>
        <p:nvSpPr>
          <p:cNvPr id="40" name="Shape 37"/>
          <p:cNvSpPr/>
          <p:nvPr/>
        </p:nvSpPr>
        <p:spPr>
          <a:xfrm>
            <a:off x="137160" y="3840480"/>
            <a:ext cx="2834640" cy="502920"/>
          </a:xfrm>
          <a:prstGeom prst="rect">
            <a:avLst/>
          </a:prstGeom>
          <a:solidFill>
            <a:srgbClr val="1A237E"/>
          </a:solidFill>
          <a:ln/>
        </p:spPr>
      </p:sp>
      <p:sp>
        <p:nvSpPr>
          <p:cNvPr id="41" name="Text 38"/>
          <p:cNvSpPr/>
          <p:nvPr/>
        </p:nvSpPr>
        <p:spPr>
          <a:xfrm>
            <a:off x="228600" y="3895344"/>
            <a:ext cx="2651760" cy="38404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OCCUPATIONAL HEALTH</a:t>
            </a:r>
            <a:endParaRPr lang="en-US" sz="950" dirty="0"/>
          </a:p>
        </p:txBody>
      </p:sp>
      <p:sp>
        <p:nvSpPr>
          <p:cNvPr id="42" name="Text 39"/>
          <p:cNvSpPr/>
          <p:nvPr/>
        </p:nvSpPr>
        <p:spPr>
          <a:xfrm>
            <a:off x="228600" y="4407408"/>
            <a:ext cx="2651760" cy="91440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For work-related health concerns. Ask HR to make a referral. Fully confidential.</a:t>
            </a:r>
            <a:endParaRPr lang="en-US" sz="900" dirty="0"/>
          </a:p>
        </p:txBody>
      </p:sp>
      <p:sp>
        <p:nvSpPr>
          <p:cNvPr id="43" name="Shape 40"/>
          <p:cNvSpPr/>
          <p:nvPr/>
        </p:nvSpPr>
        <p:spPr>
          <a:xfrm>
            <a:off x="228600" y="5394960"/>
            <a:ext cx="2651760" cy="960120"/>
          </a:xfrm>
          <a:prstGeom prst="rect">
            <a:avLst/>
          </a:prstGeom>
          <a:solidFill>
            <a:srgbClr val="F5F5F5"/>
          </a:solidFill>
          <a:ln w="6350">
            <a:solidFill>
              <a:srgbClr val="DDDDDD"/>
            </a:solidFill>
            <a:prstDash val="solid"/>
          </a:ln>
        </p:spPr>
      </p:sp>
      <p:sp>
        <p:nvSpPr>
          <p:cNvPr id="44" name="Text 41"/>
          <p:cNvSpPr/>
          <p:nvPr/>
        </p:nvSpPr>
        <p:spPr>
          <a:xfrm>
            <a:off x="265176" y="5431536"/>
            <a:ext cx="2578608" cy="201168"/>
          </a:xfrm>
          <a:prstGeom prst="rect">
            <a:avLst/>
          </a:prstGeom>
          <a:noFill/>
          <a:ln/>
        </p:spPr>
        <p:txBody>
          <a:bodyPr wrap="square" rtlCol="0" anchor="ctr"/>
          <a:lstStyle/>
          <a:p>
            <a:pPr indent="0" marL="0">
              <a:buNone/>
            </a:pPr>
            <a:r>
              <a:rPr lang="en-US" sz="850" b="1" dirty="0">
                <a:solidFill>
                  <a:srgbClr val="1A237E"/>
                </a:solidFill>
                <a:latin typeface="Arial" pitchFamily="34" charset="0"/>
                <a:ea typeface="Arial" pitchFamily="34" charset="-122"/>
                <a:cs typeface="Arial" pitchFamily="34" charset="-120"/>
              </a:rPr>
              <a:t>Provider:</a:t>
            </a:r>
            <a:endParaRPr lang="en-US" sz="850" dirty="0"/>
          </a:p>
        </p:txBody>
      </p:sp>
      <p:sp>
        <p:nvSpPr>
          <p:cNvPr id="45" name="Shape 42"/>
          <p:cNvSpPr/>
          <p:nvPr/>
        </p:nvSpPr>
        <p:spPr>
          <a:xfrm>
            <a:off x="265176" y="5650992"/>
            <a:ext cx="2578608" cy="0"/>
          </a:xfrm>
          <a:prstGeom prst="line">
            <a:avLst/>
          </a:prstGeom>
          <a:noFill/>
          <a:ln w="9525">
            <a:solidFill>
              <a:srgbClr val="CCCCCC"/>
            </a:solidFill>
            <a:prstDash val="solid"/>
          </a:ln>
        </p:spPr>
      </p:sp>
      <p:sp>
        <p:nvSpPr>
          <p:cNvPr id="46" name="Text 43"/>
          <p:cNvSpPr/>
          <p:nvPr/>
        </p:nvSpPr>
        <p:spPr>
          <a:xfrm>
            <a:off x="265176" y="5687568"/>
            <a:ext cx="2578608" cy="201168"/>
          </a:xfrm>
          <a:prstGeom prst="rect">
            <a:avLst/>
          </a:prstGeom>
          <a:noFill/>
          <a:ln/>
        </p:spPr>
        <p:txBody>
          <a:bodyPr wrap="square" rtlCol="0" anchor="ctr"/>
          <a:lstStyle/>
          <a:p>
            <a:pPr indent="0" marL="0">
              <a:buNone/>
            </a:pPr>
            <a:r>
              <a:rPr lang="en-US" sz="850" b="1" dirty="0">
                <a:solidFill>
                  <a:srgbClr val="1A237E"/>
                </a:solidFill>
                <a:latin typeface="Arial" pitchFamily="34" charset="0"/>
                <a:ea typeface="Arial" pitchFamily="34" charset="-122"/>
                <a:cs typeface="Arial" pitchFamily="34" charset="-120"/>
              </a:rPr>
              <a:t>Contact:</a:t>
            </a:r>
            <a:endParaRPr lang="en-US" sz="850" dirty="0"/>
          </a:p>
        </p:txBody>
      </p:sp>
      <p:sp>
        <p:nvSpPr>
          <p:cNvPr id="47" name="Shape 44"/>
          <p:cNvSpPr/>
          <p:nvPr/>
        </p:nvSpPr>
        <p:spPr>
          <a:xfrm>
            <a:off x="3108960" y="3840480"/>
            <a:ext cx="2834640" cy="2578608"/>
          </a:xfrm>
          <a:prstGeom prst="rect">
            <a:avLst/>
          </a:prstGeom>
          <a:solidFill>
            <a:srgbClr val="FFFFFF"/>
          </a:solidFill>
          <a:ln w="25400">
            <a:solidFill>
              <a:srgbClr val="1A1A2E"/>
            </a:solidFill>
            <a:prstDash val="solid"/>
          </a:ln>
        </p:spPr>
      </p:sp>
      <p:sp>
        <p:nvSpPr>
          <p:cNvPr id="48" name="Shape 45"/>
          <p:cNvSpPr/>
          <p:nvPr/>
        </p:nvSpPr>
        <p:spPr>
          <a:xfrm>
            <a:off x="3108960" y="3840480"/>
            <a:ext cx="2834640" cy="502920"/>
          </a:xfrm>
          <a:prstGeom prst="rect">
            <a:avLst/>
          </a:prstGeom>
          <a:solidFill>
            <a:srgbClr val="1A1A2E"/>
          </a:solidFill>
          <a:ln/>
        </p:spPr>
      </p:sp>
      <p:sp>
        <p:nvSpPr>
          <p:cNvPr id="49" name="Text 46"/>
          <p:cNvSpPr/>
          <p:nvPr/>
        </p:nvSpPr>
        <p:spPr>
          <a:xfrm>
            <a:off x="3200400" y="3895344"/>
            <a:ext cx="2651760" cy="38404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ANDY'S MAN CLUB</a:t>
            </a:r>
            <a:endParaRPr lang="en-US" sz="950" dirty="0"/>
          </a:p>
        </p:txBody>
      </p:sp>
      <p:sp>
        <p:nvSpPr>
          <p:cNvPr id="50" name="Text 47"/>
          <p:cNvSpPr/>
          <p:nvPr/>
        </p:nvSpPr>
        <p:spPr>
          <a:xfrm>
            <a:off x="3200400" y="4407408"/>
            <a:ext cx="2651760" cy="91440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Free Monday evening peer support groups for men. No referral. Just turn up.</a:t>
            </a:r>
            <a:endParaRPr lang="en-US" sz="900" dirty="0"/>
          </a:p>
        </p:txBody>
      </p:sp>
      <p:sp>
        <p:nvSpPr>
          <p:cNvPr id="51" name="Shape 48"/>
          <p:cNvSpPr/>
          <p:nvPr/>
        </p:nvSpPr>
        <p:spPr>
          <a:xfrm>
            <a:off x="3200400" y="5394960"/>
            <a:ext cx="2651760" cy="960120"/>
          </a:xfrm>
          <a:prstGeom prst="rect">
            <a:avLst/>
          </a:prstGeom>
          <a:solidFill>
            <a:srgbClr val="F5F5F5"/>
          </a:solidFill>
          <a:ln w="6350">
            <a:solidFill>
              <a:srgbClr val="DDDDDD"/>
            </a:solidFill>
            <a:prstDash val="solid"/>
          </a:ln>
        </p:spPr>
      </p:sp>
      <p:sp>
        <p:nvSpPr>
          <p:cNvPr id="52" name="Text 49"/>
          <p:cNvSpPr/>
          <p:nvPr/>
        </p:nvSpPr>
        <p:spPr>
          <a:xfrm>
            <a:off x="3236976" y="5431536"/>
            <a:ext cx="2578608" cy="201168"/>
          </a:xfrm>
          <a:prstGeom prst="rect">
            <a:avLst/>
          </a:prstGeom>
          <a:noFill/>
          <a:ln/>
        </p:spPr>
        <p:txBody>
          <a:bodyPr wrap="square" rtlCol="0" anchor="ctr"/>
          <a:lstStyle/>
          <a:p>
            <a:pPr indent="0" marL="0">
              <a:buNone/>
            </a:pPr>
            <a:r>
              <a:rPr lang="en-US" sz="850" b="1" dirty="0">
                <a:solidFill>
                  <a:srgbClr val="1A1A2E"/>
                </a:solidFill>
                <a:latin typeface="Arial" pitchFamily="34" charset="0"/>
                <a:ea typeface="Arial" pitchFamily="34" charset="-122"/>
                <a:cs typeface="Arial" pitchFamily="34" charset="-120"/>
              </a:rPr>
              <a:t>Your nearest group:</a:t>
            </a:r>
            <a:endParaRPr lang="en-US" sz="850" dirty="0"/>
          </a:p>
        </p:txBody>
      </p:sp>
      <p:sp>
        <p:nvSpPr>
          <p:cNvPr id="53" name="Shape 50"/>
          <p:cNvSpPr/>
          <p:nvPr/>
        </p:nvSpPr>
        <p:spPr>
          <a:xfrm>
            <a:off x="3236976" y="5650992"/>
            <a:ext cx="2578608" cy="0"/>
          </a:xfrm>
          <a:prstGeom prst="line">
            <a:avLst/>
          </a:prstGeom>
          <a:noFill/>
          <a:ln w="9525">
            <a:solidFill>
              <a:srgbClr val="CCCCCC"/>
            </a:solidFill>
            <a:prstDash val="solid"/>
          </a:ln>
        </p:spPr>
      </p:sp>
      <p:sp>
        <p:nvSpPr>
          <p:cNvPr id="54" name="Text 51"/>
          <p:cNvSpPr/>
          <p:nvPr/>
        </p:nvSpPr>
        <p:spPr>
          <a:xfrm>
            <a:off x="3236976" y="5687568"/>
            <a:ext cx="2578608" cy="201168"/>
          </a:xfrm>
          <a:prstGeom prst="rect">
            <a:avLst/>
          </a:prstGeom>
          <a:noFill/>
          <a:ln/>
        </p:spPr>
        <p:txBody>
          <a:bodyPr wrap="square" rtlCol="0" anchor="ctr"/>
          <a:lstStyle/>
          <a:p>
            <a:pPr indent="0" marL="0">
              <a:buNone/>
            </a:pPr>
            <a:r>
              <a:rPr lang="en-US" sz="850" b="1" dirty="0">
                <a:solidFill>
                  <a:srgbClr val="1A1A2E"/>
                </a:solidFill>
                <a:latin typeface="Arial" pitchFamily="34" charset="0"/>
                <a:ea typeface="Arial" pitchFamily="34" charset="-122"/>
                <a:cs typeface="Arial" pitchFamily="34" charset="-120"/>
              </a:rPr>
              <a:t>Website: andysmanclub.co.uk</a:t>
            </a:r>
            <a:endParaRPr lang="en-US" sz="850" dirty="0"/>
          </a:p>
        </p:txBody>
      </p:sp>
      <p:sp>
        <p:nvSpPr>
          <p:cNvPr id="55" name="Shape 52"/>
          <p:cNvSpPr/>
          <p:nvPr/>
        </p:nvSpPr>
        <p:spPr>
          <a:xfrm>
            <a:off x="6080760" y="3840480"/>
            <a:ext cx="2834640" cy="2578608"/>
          </a:xfrm>
          <a:prstGeom prst="rect">
            <a:avLst/>
          </a:prstGeom>
          <a:solidFill>
            <a:srgbClr val="FFFFFF"/>
          </a:solidFill>
          <a:ln w="25400">
            <a:solidFill>
              <a:srgbClr val="CC0000"/>
            </a:solidFill>
            <a:prstDash val="solid"/>
          </a:ln>
        </p:spPr>
      </p:sp>
      <p:sp>
        <p:nvSpPr>
          <p:cNvPr id="56" name="Shape 53"/>
          <p:cNvSpPr/>
          <p:nvPr/>
        </p:nvSpPr>
        <p:spPr>
          <a:xfrm>
            <a:off x="6080760" y="3840480"/>
            <a:ext cx="2834640" cy="502920"/>
          </a:xfrm>
          <a:prstGeom prst="rect">
            <a:avLst/>
          </a:prstGeom>
          <a:solidFill>
            <a:srgbClr val="CC0000"/>
          </a:solidFill>
          <a:ln/>
        </p:spPr>
      </p:sp>
      <p:sp>
        <p:nvSpPr>
          <p:cNvPr id="57" name="Text 54"/>
          <p:cNvSpPr/>
          <p:nvPr/>
        </p:nvSpPr>
        <p:spPr>
          <a:xfrm>
            <a:off x="6172200" y="3895344"/>
            <a:ext cx="2651760" cy="38404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SAMARITANS</a:t>
            </a:r>
            <a:endParaRPr lang="en-US" sz="950" dirty="0"/>
          </a:p>
        </p:txBody>
      </p:sp>
      <p:sp>
        <p:nvSpPr>
          <p:cNvPr id="58" name="Text 55"/>
          <p:cNvSpPr/>
          <p:nvPr/>
        </p:nvSpPr>
        <p:spPr>
          <a:xfrm>
            <a:off x="6172200" y="4407408"/>
            <a:ext cx="2651760" cy="91440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If you need someone to listen right now. Free, confidential, no judgement.</a:t>
            </a:r>
            <a:endParaRPr lang="en-US" sz="900" dirty="0"/>
          </a:p>
        </p:txBody>
      </p:sp>
      <p:sp>
        <p:nvSpPr>
          <p:cNvPr id="59" name="Shape 56"/>
          <p:cNvSpPr/>
          <p:nvPr/>
        </p:nvSpPr>
        <p:spPr>
          <a:xfrm>
            <a:off x="6172200" y="5394960"/>
            <a:ext cx="2651760" cy="960120"/>
          </a:xfrm>
          <a:prstGeom prst="rect">
            <a:avLst/>
          </a:prstGeom>
          <a:solidFill>
            <a:srgbClr val="F5F5F5"/>
          </a:solidFill>
          <a:ln w="6350">
            <a:solidFill>
              <a:srgbClr val="DDDDDD"/>
            </a:solidFill>
            <a:prstDash val="solid"/>
          </a:ln>
        </p:spPr>
      </p:sp>
      <p:sp>
        <p:nvSpPr>
          <p:cNvPr id="60" name="Text 57"/>
          <p:cNvSpPr/>
          <p:nvPr/>
        </p:nvSpPr>
        <p:spPr>
          <a:xfrm>
            <a:off x="6208776" y="5431536"/>
            <a:ext cx="2578608" cy="201168"/>
          </a:xfrm>
          <a:prstGeom prst="rect">
            <a:avLst/>
          </a:prstGeom>
          <a:noFill/>
          <a:ln/>
        </p:spPr>
        <p:txBody>
          <a:bodyPr wrap="square" rtlCol="0" anchor="ctr"/>
          <a:lstStyle/>
          <a:p>
            <a:pPr indent="0" marL="0">
              <a:buNone/>
            </a:pPr>
            <a:r>
              <a:rPr lang="en-US" sz="850" b="1" dirty="0">
                <a:solidFill>
                  <a:srgbClr val="CC0000"/>
                </a:solidFill>
                <a:latin typeface="Arial" pitchFamily="34" charset="0"/>
                <a:ea typeface="Arial" pitchFamily="34" charset="-122"/>
                <a:cs typeface="Arial" pitchFamily="34" charset="-120"/>
              </a:rPr>
              <a:t>Phone:</a:t>
            </a:r>
            <a:endParaRPr lang="en-US" sz="850" dirty="0"/>
          </a:p>
        </p:txBody>
      </p:sp>
      <p:sp>
        <p:nvSpPr>
          <p:cNvPr id="61" name="Shape 58"/>
          <p:cNvSpPr/>
          <p:nvPr/>
        </p:nvSpPr>
        <p:spPr>
          <a:xfrm>
            <a:off x="6208776" y="5650992"/>
            <a:ext cx="2578608" cy="0"/>
          </a:xfrm>
          <a:prstGeom prst="line">
            <a:avLst/>
          </a:prstGeom>
          <a:noFill/>
          <a:ln w="9525">
            <a:solidFill>
              <a:srgbClr val="CCCCCC"/>
            </a:solidFill>
            <a:prstDash val="solid"/>
          </a:ln>
        </p:spPr>
      </p:sp>
      <p:sp>
        <p:nvSpPr>
          <p:cNvPr id="62" name="Text 59"/>
          <p:cNvSpPr/>
          <p:nvPr/>
        </p:nvSpPr>
        <p:spPr>
          <a:xfrm>
            <a:off x="6208776" y="5687568"/>
            <a:ext cx="2578608" cy="201168"/>
          </a:xfrm>
          <a:prstGeom prst="rect">
            <a:avLst/>
          </a:prstGeom>
          <a:noFill/>
          <a:ln/>
        </p:spPr>
        <p:txBody>
          <a:bodyPr wrap="square" rtlCol="0" anchor="ctr"/>
          <a:lstStyle/>
          <a:p>
            <a:pPr indent="0" marL="0">
              <a:buNone/>
            </a:pPr>
            <a:r>
              <a:rPr lang="en-US" sz="850" b="1" dirty="0">
                <a:solidFill>
                  <a:srgbClr val="CC0000"/>
                </a:solidFill>
                <a:latin typeface="Arial" pitchFamily="34" charset="0"/>
                <a:ea typeface="Arial" pitchFamily="34" charset="-122"/>
                <a:cs typeface="Arial" pitchFamily="34" charset="-120"/>
              </a:rPr>
              <a:t>116 123 (free, 24/7)</a:t>
            </a:r>
            <a:endParaRPr lang="en-US" sz="850" dirty="0"/>
          </a:p>
        </p:txBody>
      </p:sp>
      <p:sp>
        <p:nvSpPr>
          <p:cNvPr id="63" name="Shape 60"/>
          <p:cNvSpPr/>
          <p:nvPr/>
        </p:nvSpPr>
        <p:spPr>
          <a:xfrm>
            <a:off x="9052560" y="3840480"/>
            <a:ext cx="2834640" cy="2578608"/>
          </a:xfrm>
          <a:prstGeom prst="rect">
            <a:avLst/>
          </a:prstGeom>
          <a:solidFill>
            <a:srgbClr val="FFFFFF"/>
          </a:solidFill>
          <a:ln w="25400">
            <a:solidFill>
              <a:srgbClr val="70AD47"/>
            </a:solidFill>
            <a:prstDash val="solid"/>
          </a:ln>
        </p:spPr>
      </p:sp>
      <p:sp>
        <p:nvSpPr>
          <p:cNvPr id="64" name="Shape 61"/>
          <p:cNvSpPr/>
          <p:nvPr/>
        </p:nvSpPr>
        <p:spPr>
          <a:xfrm>
            <a:off x="9052560" y="3840480"/>
            <a:ext cx="2834640" cy="502920"/>
          </a:xfrm>
          <a:prstGeom prst="rect">
            <a:avLst/>
          </a:prstGeom>
          <a:solidFill>
            <a:srgbClr val="70AD47"/>
          </a:solidFill>
          <a:ln/>
        </p:spPr>
      </p:sp>
      <p:sp>
        <p:nvSpPr>
          <p:cNvPr id="65" name="Text 62"/>
          <p:cNvSpPr/>
          <p:nvPr/>
        </p:nvSpPr>
        <p:spPr>
          <a:xfrm>
            <a:off x="9144000" y="3895344"/>
            <a:ext cx="2651760" cy="38404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CYCLE TO WORK / GYM SCHEME</a:t>
            </a:r>
            <a:endParaRPr lang="en-US" sz="950" dirty="0"/>
          </a:p>
        </p:txBody>
      </p:sp>
      <p:sp>
        <p:nvSpPr>
          <p:cNvPr id="66" name="Text 63"/>
          <p:cNvSpPr/>
          <p:nvPr/>
        </p:nvSpPr>
        <p:spPr>
          <a:xfrm>
            <a:off x="9144000" y="4407408"/>
            <a:ext cx="2651760" cy="91440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Physical activity supports mental and physical health. Ask HR about our schemes.</a:t>
            </a:r>
            <a:endParaRPr lang="en-US" sz="900" dirty="0"/>
          </a:p>
        </p:txBody>
      </p:sp>
      <p:sp>
        <p:nvSpPr>
          <p:cNvPr id="67" name="Shape 64"/>
          <p:cNvSpPr/>
          <p:nvPr/>
        </p:nvSpPr>
        <p:spPr>
          <a:xfrm>
            <a:off x="9144000" y="5394960"/>
            <a:ext cx="2651760" cy="960120"/>
          </a:xfrm>
          <a:prstGeom prst="rect">
            <a:avLst/>
          </a:prstGeom>
          <a:solidFill>
            <a:srgbClr val="F5F5F5"/>
          </a:solidFill>
          <a:ln w="6350">
            <a:solidFill>
              <a:srgbClr val="DDDDDD"/>
            </a:solidFill>
            <a:prstDash val="solid"/>
          </a:ln>
        </p:spPr>
      </p:sp>
      <p:sp>
        <p:nvSpPr>
          <p:cNvPr id="68" name="Text 65"/>
          <p:cNvSpPr/>
          <p:nvPr/>
        </p:nvSpPr>
        <p:spPr>
          <a:xfrm>
            <a:off x="9180576" y="5431536"/>
            <a:ext cx="2578608" cy="201168"/>
          </a:xfrm>
          <a:prstGeom prst="rect">
            <a:avLst/>
          </a:prstGeom>
          <a:noFill/>
          <a:ln/>
        </p:spPr>
        <p:txBody>
          <a:bodyPr wrap="square" rtlCol="0" anchor="ctr"/>
          <a:lstStyle/>
          <a:p>
            <a:pPr indent="0" marL="0">
              <a:buNone/>
            </a:pPr>
            <a:r>
              <a:rPr lang="en-US" sz="850" b="1" dirty="0">
                <a:solidFill>
                  <a:srgbClr val="70AD47"/>
                </a:solidFill>
                <a:latin typeface="Arial" pitchFamily="34" charset="0"/>
                <a:ea typeface="Arial" pitchFamily="34" charset="-122"/>
                <a:cs typeface="Arial" pitchFamily="34" charset="-120"/>
              </a:rPr>
              <a:t>Contact:</a:t>
            </a:r>
            <a:endParaRPr lang="en-US" sz="850" dirty="0"/>
          </a:p>
        </p:txBody>
      </p:sp>
      <p:sp>
        <p:nvSpPr>
          <p:cNvPr id="69" name="Shape 66"/>
          <p:cNvSpPr/>
          <p:nvPr/>
        </p:nvSpPr>
        <p:spPr>
          <a:xfrm>
            <a:off x="9180576" y="5650992"/>
            <a:ext cx="2578608" cy="0"/>
          </a:xfrm>
          <a:prstGeom prst="line">
            <a:avLst/>
          </a:prstGeom>
          <a:noFill/>
          <a:ln w="9525">
            <a:solidFill>
              <a:srgbClr val="CCCCCC"/>
            </a:solidFill>
            <a:prstDash val="solid"/>
          </a:ln>
        </p:spPr>
      </p:sp>
      <p:sp>
        <p:nvSpPr>
          <p:cNvPr id="70" name="Text 67"/>
          <p:cNvSpPr/>
          <p:nvPr/>
        </p:nvSpPr>
        <p:spPr>
          <a:xfrm>
            <a:off x="9180576" y="5687568"/>
            <a:ext cx="2578608" cy="201168"/>
          </a:xfrm>
          <a:prstGeom prst="rect">
            <a:avLst/>
          </a:prstGeom>
          <a:noFill/>
          <a:ln/>
        </p:spPr>
        <p:txBody>
          <a:bodyPr wrap="square" rtlCol="0" anchor="ctr"/>
          <a:lstStyle/>
          <a:p>
            <a:pPr indent="0" marL="0">
              <a:buNone/>
            </a:pPr>
            <a:r>
              <a:rPr lang="en-US" sz="850" b="1" dirty="0">
                <a:solidFill>
                  <a:srgbClr val="70AD47"/>
                </a:solidFill>
                <a:latin typeface="Arial" pitchFamily="34" charset="0"/>
                <a:ea typeface="Arial" pitchFamily="34" charset="-122"/>
                <a:cs typeface="Arial" pitchFamily="34" charset="-120"/>
              </a:rPr>
              <a:t>Cycle to Work / Gym details:</a:t>
            </a:r>
            <a:endParaRPr lang="en-US" sz="850" dirty="0"/>
          </a:p>
        </p:txBody>
      </p:sp>
      <p:sp>
        <p:nvSpPr>
          <p:cNvPr id="71" name="Rectangle 70"/>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mage.png"/>
          <p:cNvPicPr>
            <a:picLocks noChangeAspect="1"/>
          </p:cNvPicPr>
          <p:nvPr/>
        </p:nvPicPr>
        <p:blipFill>
          <a:blip r:embed="rId5"/>
          <a:stretch>
            <a:fillRect/>
          </a:stretch>
        </p:blipFill>
        <p:spPr>
          <a:xfrm>
            <a:off x="10610088" y="100584"/>
            <a:ext cx="566928" cy="347472"/>
          </a:xfrm>
          <a:prstGeom prst="rect">
            <a:avLst/>
          </a:prstGeom>
        </p:spPr>
      </p:pic>
      <p:pic>
        <p:nvPicPr>
          <p:cNvPr id="73" name="Picture 72" descr="image.png"/>
          <p:cNvPicPr>
            <a:picLocks noChangeAspect="1"/>
          </p:cNvPicPr>
          <p:nvPr/>
        </p:nvPicPr>
        <p:blipFill>
          <a:blip r:embed="rId4"/>
          <a:stretch>
            <a:fillRect/>
          </a:stretch>
        </p:blipFill>
        <p:spPr>
          <a:xfrm>
            <a:off x="11222736" y="100584"/>
            <a:ext cx="658368" cy="347472"/>
          </a:xfrm>
          <a:prstGeom prst="rect">
            <a:avLst/>
          </a:prstGeom>
        </p:spPr>
      </p:pic>
      <p:sp>
        <p:nvSpPr>
          <p:cNvPr id="74" name="Rectangle 73"/>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FA0D372-5F43-4C1A-817E-F4E7DB5766F6}"/>
</file>

<file path=customXml/itemProps2.xml><?xml version="1.0" encoding="utf-8"?>
<ds:datastoreItem xmlns:ds="http://schemas.openxmlformats.org/officeDocument/2006/customXml" ds:itemID="{0B7CDF1D-1A39-4FEC-AD13-3F1F4EC97921}"/>
</file>

<file path=customXml/itemProps3.xml><?xml version="1.0" encoding="utf-8"?>
<ds:datastoreItem xmlns:ds="http://schemas.openxmlformats.org/officeDocument/2006/customXml" ds:itemID="{8DDA84E1-C7E9-4EFA-A22F-978568E7FBC9}"/>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PEOP-15 Wellbeing Signposting</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