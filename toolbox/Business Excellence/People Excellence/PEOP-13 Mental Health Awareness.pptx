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MATTERS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45920" y="576072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4 people experience a mental health problem each year.  It is OK not to be OK.  Support is available.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024128"/>
            <a:ext cx="374904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8" name="Text 5"/>
          <p:cNvSpPr/>
          <p:nvPr/>
        </p:nvSpPr>
        <p:spPr>
          <a:xfrm>
            <a:off x="201168" y="102412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TO LOOK OUT FOR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" y="1481328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" y="149961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Withdrawing from colleagues or social situations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880" y="1956816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2" name="Text 9"/>
          <p:cNvSpPr/>
          <p:nvPr/>
        </p:nvSpPr>
        <p:spPr>
          <a:xfrm>
            <a:off x="530352" y="19751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Appearing more tired or less motivated than usual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82880" y="2432304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530352" y="24505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irritability or changes in mood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82880" y="2907792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6" name="Text 13"/>
          <p:cNvSpPr/>
          <p:nvPr/>
        </p:nvSpPr>
        <p:spPr>
          <a:xfrm>
            <a:off x="530352" y="29260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concentrating or making decisions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82880" y="3383280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" y="34015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in eating or drinking habits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82880" y="3858768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" y="387705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absence or lateness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82880" y="4334256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530352" y="435254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about feeling hopeless or overwhelmed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82880" y="4809744"/>
            <a:ext cx="274320" cy="2743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530352" y="48280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symptoms: headaches, sleep problems, stomach issues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60520" y="1024128"/>
            <a:ext cx="384048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6" name="Text 23"/>
          <p:cNvSpPr/>
          <p:nvPr/>
        </p:nvSpPr>
        <p:spPr>
          <a:xfrm>
            <a:off x="4178808" y="1024128"/>
            <a:ext cx="3803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DO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160520" y="1481328"/>
            <a:ext cx="47548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8" name="Text 25"/>
          <p:cNvSpPr/>
          <p:nvPr/>
        </p:nvSpPr>
        <p:spPr>
          <a:xfrm>
            <a:off x="4160520" y="1481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681728" y="149961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someone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681728" y="177393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have to face it alone. Talk to a trusted colleague, your manager, HR, or our Mental Health First Aider.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60520" y="2670048"/>
            <a:ext cx="47548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2" name="Text 29"/>
          <p:cNvSpPr/>
          <p:nvPr/>
        </p:nvSpPr>
        <p:spPr>
          <a:xfrm>
            <a:off x="4160520" y="26700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4681728" y="268833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EAP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681728" y="296265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confidential counselling and support 24/7. Call [Number] or visit [Website].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160520" y="3858768"/>
            <a:ext cx="47548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6" name="Text 33"/>
          <p:cNvSpPr/>
          <p:nvPr/>
        </p:nvSpPr>
        <p:spPr>
          <a:xfrm>
            <a:off x="4160520" y="3858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4681728" y="387705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break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681728" y="415137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OK to step away. A short walk outside can help more than you might think.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4160520" y="5047488"/>
            <a:ext cx="47548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0" name="Text 37"/>
          <p:cNvSpPr/>
          <p:nvPr/>
        </p:nvSpPr>
        <p:spPr>
          <a:xfrm>
            <a:off x="4160520" y="50474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4681728" y="5065776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help early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681728" y="5340096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sooner you reach out, the easier it is to get the right support. Asking for help is a sign of strength.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229600" y="1024128"/>
            <a:ext cx="374904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4" name="Text 41"/>
          <p:cNvSpPr/>
          <p:nvPr/>
        </p:nvSpPr>
        <p:spPr>
          <a:xfrm>
            <a:off x="8247888" y="1024128"/>
            <a:ext cx="3712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SUPPORT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8229600" y="1481328"/>
            <a:ext cx="374904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29600" y="1481328"/>
            <a:ext cx="274320" cy="9509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7" name="Text 44"/>
          <p:cNvSpPr/>
          <p:nvPr/>
        </p:nvSpPr>
        <p:spPr>
          <a:xfrm>
            <a:off x="8558784" y="1527048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First Aider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8558784" y="1810512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[Contact details]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8229600" y="2505456"/>
            <a:ext cx="374904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29600" y="2505456"/>
            <a:ext cx="274320" cy="9509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51" name="Text 48"/>
          <p:cNvSpPr/>
          <p:nvPr/>
        </p:nvSpPr>
        <p:spPr>
          <a:xfrm>
            <a:off x="8558784" y="2551176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Assistance Programme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558784" y="2834640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[Freephone number]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[Website] - Free, confidential, 24/7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8229600" y="3529584"/>
            <a:ext cx="374904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229600" y="3529584"/>
            <a:ext cx="274320" cy="9509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5" name="Text 52"/>
          <p:cNvSpPr/>
          <p:nvPr/>
        </p:nvSpPr>
        <p:spPr>
          <a:xfrm>
            <a:off x="8558784" y="3575304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Manager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558784" y="3858768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 - [Email / Ext]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conversations welcome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8229600" y="4553712"/>
            <a:ext cx="374904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229600" y="4553712"/>
            <a:ext cx="274320" cy="950976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9" name="Text 56"/>
          <p:cNvSpPr/>
          <p:nvPr/>
        </p:nvSpPr>
        <p:spPr>
          <a:xfrm>
            <a:off x="8558784" y="4599432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Samaritans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558784" y="4882896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116 123 (free, 24/7)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jo@samaritans.org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8229600" y="5577840"/>
            <a:ext cx="3749040" cy="9509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229600" y="5577840"/>
            <a:ext cx="274320" cy="950976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3" name="Text 60"/>
          <p:cNvSpPr/>
          <p:nvPr/>
        </p:nvSpPr>
        <p:spPr>
          <a:xfrm>
            <a:off x="8558784" y="5623560"/>
            <a:ext cx="3364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8558784" y="5907024"/>
            <a:ext cx="33649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www.mind.org.uk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0300 123 3393</a:t>
            </a:r>
            <a:endParaRPr lang="en-US" sz="900" dirty="0"/>
          </a:p>
        </p:txBody>
      </p:sp>
      <p:sp>
        <p:nvSpPr>
          <p:cNvPr id="65" name="Rectangle 64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37160"/>
            <a:ext cx="5806440" cy="6400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4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5806440" cy="5943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201168"/>
            <a:ext cx="777240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459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START A MENTAL HEALTH CONVERSATION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2608" y="8046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9" name="Text 6"/>
          <p:cNvSpPr/>
          <p:nvPr/>
        </p:nvSpPr>
        <p:spPr>
          <a:xfrm>
            <a:off x="292608" y="804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" y="8229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moment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" y="10607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private, relaxed space. Allow plenty of time. Avoid it before a busy period.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92608" y="17190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" y="1719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04672" y="17373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with a gentle observation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4672" y="19751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have noticed you seem a bit quiet lately. Are you doing OK?' Keep it non-judgemental.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2608" y="26334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292608" y="2633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4672" y="26517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without fixing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" y="28895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them time to talk. Do not jump in with solutions. Nod. Acknowledge. Ask how long they have felt this way.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2608" y="35478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672" y="35661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directly but carefully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" y="38039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ask: 'Are you having thoughts of harming yourself?' Asking does not plant the idea. It shows you care.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92608" y="44622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292608" y="4462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" y="44805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Signpost to support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4672" y="47183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'Would it help to talk to the EAP or our Mental Health First Aider?' Offer, do not push.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92608" y="5376672"/>
            <a:ext cx="438912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92608" y="53766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04672" y="5394960"/>
            <a:ext cx="5056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up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4672" y="5632704"/>
            <a:ext cx="50566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again in a few days. 'I just wanted to see how you are doing.' It matters.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263640" y="137160"/>
            <a:ext cx="5806440" cy="6400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137160"/>
            <a:ext cx="5806440" cy="59436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201168"/>
            <a:ext cx="777240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269480" y="164592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NOT TO SAY (AND WHAT TO SAY INSTEAD)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373368" y="8046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428232" y="8412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'Pull yourself together'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373368" y="12252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28232" y="12618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This sounds really tough. I am here for you.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373368" y="17190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28232" y="17556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'Everyone feels like that'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6373368" y="21396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28232" y="21762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What you are going through sounds really difficult.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6373368" y="26334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428232" y="26700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'You just need to think positive'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6373368" y="30540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428232" y="30906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What would help you most right now?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6373368" y="35478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428232" y="35844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'You don't look ill'</a:t>
            </a:r>
            <a:endParaRPr lang="en-US" sz="950" dirty="0"/>
          </a:p>
        </p:txBody>
      </p:sp>
      <p:sp>
        <p:nvSpPr>
          <p:cNvPr id="50" name="Shape 46"/>
          <p:cNvSpPr/>
          <p:nvPr/>
        </p:nvSpPr>
        <p:spPr>
          <a:xfrm>
            <a:off x="6373368" y="39684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428232" y="40050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Mental health problems are not always visible. I believe you.</a:t>
            </a:r>
            <a:endParaRPr lang="en-US" sz="950" dirty="0"/>
          </a:p>
        </p:txBody>
      </p:sp>
      <p:sp>
        <p:nvSpPr>
          <p:cNvPr id="52" name="Shape 48"/>
          <p:cNvSpPr/>
          <p:nvPr/>
        </p:nvSpPr>
        <p:spPr>
          <a:xfrm>
            <a:off x="6373368" y="44622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428232" y="44988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'What have you got to be depressed about?'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6373368" y="48828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428232" y="49194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You do not need a reason to feel this way. How can I support you?</a:t>
            </a:r>
            <a:endParaRPr lang="en-US" sz="950" dirty="0"/>
          </a:p>
        </p:txBody>
      </p:sp>
      <p:sp>
        <p:nvSpPr>
          <p:cNvPr id="56" name="Shape 52"/>
          <p:cNvSpPr/>
          <p:nvPr/>
        </p:nvSpPr>
        <p:spPr>
          <a:xfrm>
            <a:off x="6373368" y="5376672"/>
            <a:ext cx="5586984" cy="402336"/>
          </a:xfrm>
          <a:prstGeom prst="rect">
            <a:avLst/>
          </a:prstGeom>
          <a:solidFill>
            <a:srgbClr val="FCE4D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6428232" y="5413248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say: 'Keep it between us'</a:t>
            </a:r>
            <a:endParaRPr lang="en-US" sz="950" dirty="0"/>
          </a:p>
        </p:txBody>
      </p:sp>
      <p:sp>
        <p:nvSpPr>
          <p:cNvPr id="58" name="Shape 54"/>
          <p:cNvSpPr/>
          <p:nvPr/>
        </p:nvSpPr>
        <p:spPr>
          <a:xfrm>
            <a:off x="6373368" y="5797296"/>
            <a:ext cx="5586984" cy="402336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428232" y="5833872"/>
            <a:ext cx="54772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instead: Would it be OK to let HR know so we can get the right support for you?</a:t>
            </a:r>
            <a:endParaRPr lang="en-US" sz="950" dirty="0"/>
          </a:p>
        </p:txBody>
      </p:sp>
      <p:sp>
        <p:nvSpPr>
          <p:cNvPr id="60" name="Rectangle 59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63" name="Rectangle 62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1280160" cy="429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73152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WAYS TO WELLBEING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82880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actions that support mental and physical wellbeing  |  Developed by the New Economics Foundation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37160" y="1005840"/>
            <a:ext cx="2267712" cy="7772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28600" y="10972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" y="1783080"/>
            <a:ext cx="22677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847088"/>
            <a:ext cx="20848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maintain good relationships with people around you.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37160" y="2788920"/>
            <a:ext cx="2267712" cy="3813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" y="28803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" y="28346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real conversation with a colleague today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28600" y="37947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5" name="Text 12"/>
          <p:cNvSpPr/>
          <p:nvPr/>
        </p:nvSpPr>
        <p:spPr>
          <a:xfrm>
            <a:off x="539496" y="3749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 team lunch or social activity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28600" y="47091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" y="46634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in with a colleague who seems quiet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28600" y="56235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539496" y="55778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your phone down and be present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514600" y="1005840"/>
            <a:ext cx="2267712" cy="7772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2606040" y="10972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BE ACTIVE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2514600" y="1783080"/>
            <a:ext cx="22677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06040" y="1847088"/>
            <a:ext cx="20848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makes you feel good. It does not have to be the gym.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514600" y="2788920"/>
            <a:ext cx="2267712" cy="3813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606040" y="28803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6" name="Text 23"/>
          <p:cNvSpPr/>
          <p:nvPr/>
        </p:nvSpPr>
        <p:spPr>
          <a:xfrm>
            <a:off x="2916936" y="28346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walk at lunchtime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606040" y="37947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8" name="Text 25"/>
          <p:cNvSpPr/>
          <p:nvPr/>
        </p:nvSpPr>
        <p:spPr>
          <a:xfrm>
            <a:off x="2916936" y="3749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stairs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606040" y="47091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0" name="Text 27"/>
          <p:cNvSpPr/>
          <p:nvPr/>
        </p:nvSpPr>
        <p:spPr>
          <a:xfrm>
            <a:off x="2916936" y="46634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or cycle to work if possible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606040" y="56235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2" name="Text 29"/>
          <p:cNvSpPr/>
          <p:nvPr/>
        </p:nvSpPr>
        <p:spPr>
          <a:xfrm>
            <a:off x="2916936" y="55778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for 5 minutes at your desk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892040" y="1005840"/>
            <a:ext cx="2267712" cy="7772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4" name="Text 31"/>
          <p:cNvSpPr/>
          <p:nvPr/>
        </p:nvSpPr>
        <p:spPr>
          <a:xfrm>
            <a:off x="4983480" y="10972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TAKE NOTICE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892040" y="1783080"/>
            <a:ext cx="22677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1847088"/>
            <a:ext cx="20848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curious. Catch sight of the beautiful. Notice the changing seasons.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92040" y="2788920"/>
            <a:ext cx="2267712" cy="3813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83480" y="28803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9" name="Text 36"/>
          <p:cNvSpPr/>
          <p:nvPr/>
        </p:nvSpPr>
        <p:spPr>
          <a:xfrm>
            <a:off x="5294376" y="28346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outside and notice three things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983480" y="37947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1" name="Text 38"/>
          <p:cNvSpPr/>
          <p:nvPr/>
        </p:nvSpPr>
        <p:spPr>
          <a:xfrm>
            <a:off x="5294376" y="3749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lunch away from your screen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983480" y="47091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3" name="Text 40"/>
          <p:cNvSpPr/>
          <p:nvPr/>
        </p:nvSpPr>
        <p:spPr>
          <a:xfrm>
            <a:off x="5294376" y="46634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moment to appreciate something good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983480" y="56235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5" name="Text 42"/>
          <p:cNvSpPr/>
          <p:nvPr/>
        </p:nvSpPr>
        <p:spPr>
          <a:xfrm>
            <a:off x="5294376" y="55778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brief note of what went well today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269480" y="1005840"/>
            <a:ext cx="2267712" cy="77724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7" name="Text 44"/>
          <p:cNvSpPr/>
          <p:nvPr/>
        </p:nvSpPr>
        <p:spPr>
          <a:xfrm>
            <a:off x="7360920" y="10972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KEEP LEARNING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7269480" y="1783080"/>
            <a:ext cx="22677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360920" y="1847088"/>
            <a:ext cx="20848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Embrace new experiences. Set yourself a challenge. See what sticks.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269480" y="2788920"/>
            <a:ext cx="2267712" cy="3813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360920" y="28803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2" name="Text 49"/>
          <p:cNvSpPr/>
          <p:nvPr/>
        </p:nvSpPr>
        <p:spPr>
          <a:xfrm>
            <a:off x="7671816" y="28346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 new skill at work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360920" y="37947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4" name="Text 51"/>
          <p:cNvSpPr/>
          <p:nvPr/>
        </p:nvSpPr>
        <p:spPr>
          <a:xfrm>
            <a:off x="7671816" y="3749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for a course or qualification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7360920" y="47091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6" name="Text 53"/>
          <p:cNvSpPr/>
          <p:nvPr/>
        </p:nvSpPr>
        <p:spPr>
          <a:xfrm>
            <a:off x="7671816" y="46634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something new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7360920" y="5623560"/>
            <a:ext cx="256032" cy="25603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58" name="Text 55"/>
          <p:cNvSpPr/>
          <p:nvPr/>
        </p:nvSpPr>
        <p:spPr>
          <a:xfrm>
            <a:off x="7671816" y="55778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what you know with a colleague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9646920" y="1005840"/>
            <a:ext cx="2267712" cy="77724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0" name="Text 57"/>
          <p:cNvSpPr/>
          <p:nvPr/>
        </p:nvSpPr>
        <p:spPr>
          <a:xfrm>
            <a:off x="9738360" y="10972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GIVE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646920" y="1783080"/>
            <a:ext cx="2267712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738360" y="1847088"/>
            <a:ext cx="208483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something nice for someone. Volunteer. Thank someone.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46920" y="2788920"/>
            <a:ext cx="2267712" cy="3813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738360" y="28803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5" name="Text 62"/>
          <p:cNvSpPr/>
          <p:nvPr/>
        </p:nvSpPr>
        <p:spPr>
          <a:xfrm>
            <a:off x="10049256" y="28346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thank you to a colleague today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9738360" y="37947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7" name="Text 64"/>
          <p:cNvSpPr/>
          <p:nvPr/>
        </p:nvSpPr>
        <p:spPr>
          <a:xfrm>
            <a:off x="10049256" y="37490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to help someone who is struggling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9738360" y="47091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69" name="Text 66"/>
          <p:cNvSpPr/>
          <p:nvPr/>
        </p:nvSpPr>
        <p:spPr>
          <a:xfrm>
            <a:off x="10049256" y="46634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part in a community or charity event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9738360" y="5623560"/>
            <a:ext cx="256032" cy="25603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71" name="Text 68"/>
          <p:cNvSpPr/>
          <p:nvPr/>
        </p:nvSpPr>
        <p:spPr>
          <a:xfrm>
            <a:off x="10049256" y="5577840"/>
            <a:ext cx="175564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or support a newer team member</a:t>
            </a:r>
            <a:endParaRPr lang="en-US" sz="950" dirty="0"/>
          </a:p>
        </p:txBody>
      </p:sp>
      <p:sp>
        <p:nvSpPr>
          <p:cNvPr id="72" name="Rectangle 7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4CEF56-C494-43B4-A668-9429BFB6BE94}"/>
</file>

<file path=customXml/itemProps2.xml><?xml version="1.0" encoding="utf-8"?>
<ds:datastoreItem xmlns:ds="http://schemas.openxmlformats.org/officeDocument/2006/customXml" ds:itemID="{38377E32-DF58-48ED-974F-C6348E46F299}"/>
</file>

<file path=customXml/itemProps3.xml><?xml version="1.0" encoding="utf-8"?>
<ds:datastoreItem xmlns:ds="http://schemas.openxmlformats.org/officeDocument/2006/customXml" ds:itemID="{588631A7-85C2-4208-9EF0-DDC11446881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PEOP-13 Mental Health Awareness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