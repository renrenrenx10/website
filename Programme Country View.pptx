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3"/>
  </p:notesMasterIdLst>
  <p:sldIdLst>
    <p:sldId id="2147483305" r:id="rId2"/>
    <p:sldId id="2147483257" r:id="rId3"/>
    <p:sldId id="2147483299" r:id="rId4"/>
    <p:sldId id="2147483272" r:id="rId5"/>
    <p:sldId id="2147483300" r:id="rId6"/>
    <p:sldId id="2147483291" r:id="rId7"/>
    <p:sldId id="2147483287" r:id="rId8"/>
    <p:sldId id="2147483301" r:id="rId9"/>
    <p:sldId id="2147483292" r:id="rId10"/>
    <p:sldId id="2147483289" r:id="rId11"/>
    <p:sldId id="2147483290" r:id="rId12"/>
    <p:sldId id="2147483288" r:id="rId13"/>
    <p:sldId id="2147483293" r:id="rId14"/>
    <p:sldId id="2147483294" r:id="rId15"/>
    <p:sldId id="2147483258" r:id="rId16"/>
    <p:sldId id="2147483259" r:id="rId17"/>
    <p:sldId id="2147483295" r:id="rId18"/>
    <p:sldId id="2147483304" r:id="rId19"/>
    <p:sldId id="2147483306" r:id="rId20"/>
    <p:sldId id="2147483298" r:id="rId21"/>
    <p:sldId id="2147483285" r:id="rId22"/>
    <p:sldId id="271" r:id="rId23"/>
    <p:sldId id="270" r:id="rId24"/>
    <p:sldId id="273" r:id="rId25"/>
    <p:sldId id="2147483260" r:id="rId26"/>
    <p:sldId id="2147483261" r:id="rId27"/>
    <p:sldId id="274" r:id="rId28"/>
    <p:sldId id="277" r:id="rId29"/>
    <p:sldId id="2147483262" r:id="rId30"/>
    <p:sldId id="279" r:id="rId31"/>
    <p:sldId id="278" r:id="rId32"/>
  </p:sldIdLst>
  <p:sldSz cx="12192000" cy="6858000"/>
  <p:notesSz cx="7104063"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9" roundtripDataSignature="AMtx7miCiyLqlYBGVYBTcI6cXGqkusDd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D0CC"/>
    <a:srgbClr val="FFFFFF"/>
    <a:srgbClr val="DADADA"/>
    <a:srgbClr val="208D8A"/>
    <a:srgbClr val="0E1331"/>
    <a:srgbClr val="5757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110" autoAdjust="0"/>
    <p:restoredTop sz="94789"/>
  </p:normalViewPr>
  <p:slideViewPr>
    <p:cSldViewPr snapToGrid="0">
      <p:cViewPr varScale="1">
        <p:scale>
          <a:sx n="146" d="100"/>
          <a:sy n="146" d="100"/>
        </p:scale>
        <p:origin x="1496" y="1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10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10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99" Type="http://customschemas.google.com/relationships/presentationmetadata" Target="metadata"/><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100"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8427" cy="513508"/>
          </a:xfrm>
          <a:prstGeom prst="rect">
            <a:avLst/>
          </a:prstGeom>
          <a:noFill/>
          <a:ln>
            <a:noFill/>
          </a:ln>
        </p:spPr>
        <p:txBody>
          <a:bodyPr spcFirstLastPara="1" wrap="square" lIns="99059" tIns="49516" rIns="99059" bIns="49516" anchor="t" anchorCtr="0">
            <a:noAutofit/>
          </a:bodyPr>
          <a:lstStyle>
            <a:lvl1pPr marR="0" lvl="0" algn="l" rtl="0">
              <a:spcBef>
                <a:spcPts val="0"/>
              </a:spcBef>
              <a:spcAft>
                <a:spcPts val="0"/>
              </a:spcAft>
              <a:buSzPts val="1400"/>
              <a:buNone/>
              <a:defRPr sz="13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4023993" y="0"/>
            <a:ext cx="3078427" cy="513508"/>
          </a:xfrm>
          <a:prstGeom prst="rect">
            <a:avLst/>
          </a:prstGeom>
          <a:noFill/>
          <a:ln>
            <a:noFill/>
          </a:ln>
        </p:spPr>
        <p:txBody>
          <a:bodyPr spcFirstLastPara="1" wrap="square" lIns="99059" tIns="49516" rIns="99059" bIns="49516" anchor="t" anchorCtr="0">
            <a:noAutofit/>
          </a:bodyPr>
          <a:lstStyle>
            <a:lvl1pPr marR="0" lvl="0" algn="r" rtl="0">
              <a:spcBef>
                <a:spcPts val="0"/>
              </a:spcBef>
              <a:spcAft>
                <a:spcPts val="0"/>
              </a:spcAft>
              <a:buSzPts val="1400"/>
              <a:buNone/>
              <a:defRPr sz="13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6" name="Google Shape;6;n"/>
          <p:cNvSpPr txBox="1">
            <a:spLocks noGrp="1"/>
          </p:cNvSpPr>
          <p:nvPr>
            <p:ph type="body" idx="1"/>
          </p:nvPr>
        </p:nvSpPr>
        <p:spPr>
          <a:xfrm>
            <a:off x="710407" y="4925408"/>
            <a:ext cx="5683250" cy="4029879"/>
          </a:xfrm>
          <a:prstGeom prst="rect">
            <a:avLst/>
          </a:prstGeom>
          <a:noFill/>
          <a:ln>
            <a:noFill/>
          </a:ln>
        </p:spPr>
        <p:txBody>
          <a:bodyPr spcFirstLastPara="1" wrap="square" lIns="99059" tIns="49516" rIns="99059" bIns="49516"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721107"/>
            <a:ext cx="3078427" cy="513507"/>
          </a:xfrm>
          <a:prstGeom prst="rect">
            <a:avLst/>
          </a:prstGeom>
          <a:noFill/>
          <a:ln>
            <a:noFill/>
          </a:ln>
        </p:spPr>
        <p:txBody>
          <a:bodyPr spcFirstLastPara="1" wrap="square" lIns="99059" tIns="49516" rIns="99059" bIns="49516" anchor="b" anchorCtr="0">
            <a:noAutofit/>
          </a:bodyPr>
          <a:lstStyle>
            <a:lvl1pPr marR="0" lvl="0" algn="l" rtl="0">
              <a:spcBef>
                <a:spcPts val="0"/>
              </a:spcBef>
              <a:spcAft>
                <a:spcPts val="0"/>
              </a:spcAft>
              <a:buSzPts val="1400"/>
              <a:buNone/>
              <a:defRPr sz="13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0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0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0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0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0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0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0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0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023993" y="9721107"/>
            <a:ext cx="3078427" cy="513507"/>
          </a:xfrm>
          <a:prstGeom prst="rect">
            <a:avLst/>
          </a:prstGeom>
          <a:noFill/>
          <a:ln>
            <a:noFill/>
          </a:ln>
        </p:spPr>
        <p:txBody>
          <a:bodyPr spcFirstLastPara="1" wrap="square" lIns="99059" tIns="49516" rIns="99059" bIns="49516" anchor="b" anchorCtr="0">
            <a:noAutofit/>
          </a:bodyPr>
          <a:lstStyle/>
          <a:p>
            <a:pPr algn="r"/>
            <a:fld id="{00000000-1234-1234-1234-123412341234}" type="slidenum">
              <a:rPr lang="en-GB" sz="1300" smtClean="0">
                <a:solidFill>
                  <a:schemeClr val="dk1"/>
                </a:solidFill>
              </a:rPr>
              <a:pPr algn="r"/>
              <a:t>‹#›</a:t>
            </a:fld>
            <a:endParaRPr lang="en-GB" sz="13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717108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F75B8-BA83-B8A7-E7C3-F5CCBA4390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A950B-BADF-D84F-7ACA-D2DF1ADFAD2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6F2886D-0032-22A9-7208-3855E6DB9C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38C0C3-8B14-0BEB-0D43-EBC31319E1E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00754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633DE-9409-4686-9BC2-E70018CA1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F3971B-14E2-223B-F3D8-E9E4DAFD9A2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E5505A8-3E25-123C-9342-E611649E8E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17959B-69DA-0EDB-E5FC-349DAAB1038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612439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75B5C-A73A-BFAE-C112-ED7B77B74B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4B94A-572C-021B-08F0-523CCB35A8C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70DACDD-9EE2-0D2E-49D5-77B5DC5DDC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9AF00D-B859-D32B-2427-11EB02E1C25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81857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Key talking points: GE Vernova Hitachi (GEH) was one of four finalists in the Great British Nuclear SMR competition (alongside Rolls-Royce, Holtec and Westinghouse), submitting its final tender on 11 April 2025. Rolls-Royce was selected as preferred bidder in June 2025, so GEH - like Westinghouse - did not win the government-backed Wylfa contract. Regulatory progress has been strong throughout: the BWRX-300 opted for ONR's newer, shorter two-step GDA process and completed Step 2 on 21 January 2026 - the fastest two-step GDA engagement completed to date, with regulators finding no fundamental safety, security, safeguards or environmental shortfalls. BIG UPDATE (July 2026): the UK pathway question has been answered. On 4 February 2026 the government published the new Advanced Nuclear Framework (ANF), a first-of-its-kind route for privately led advanced/SMR projects to seek government assessment, in-principle endorsement and potential support (revenue mechanisms, National Wealth Fund investment) - entirely separate from the GBE-N competition GEH lost. Applications opened on a continuous basis from 4 March 2026. On 1 July 2026, SGE - a European SMR development and investment platform, previously known for Polish SMR ambitions - announced it had submitted an ANF application to build FOURTEEN GE Vernova Hitachi BWRX-300 units (4.2GW combined) across THREE UK sites. This would supply an estimated 11% of UK power demand, equivalent to almost 8 million homes, for at least 60 years. SGE has set up a dedicated UK project vehicle, SGE SMR UK Limited. Total investment is put at GBP35bn, with first electricity targeted by 2034. The SGE deployment consortium is broad and notable: alongside SGE and GE Vernova Hitachi Nuclear Energy, it includes Samsung C&amp;T, Laing O'Rourke, Aecon Group, Google Cloud, Fermi Development, Etara and an unnamed experienced nuclear operator. The presence of Google Cloud and Fermi Development strongly suggests this fleet is aimed at least partly at powering AI/data centre demand, similar in spirit to Holtec-EDF's Cottam proposal covered elsewhere in this briefing series. Caveat to flag to the room: this is a submitted proposal, not a confirmed, funded project. ANF applications go through a phased process (Rapid Project Triage, then a Project Deep Dive across five core areas: technology/supply chain, developer capability, finance, siting, and operator/end-use arrangements) before receiving any government endorsement - there is no guarantee of the timeline or outcome. GEH's existing UK supply chain relationships remain relevant background: an MoU with Sheffield Forgemasters (nuclear-grade forgings) since 2022, plus MoUs with AtkinsRealis, Jacobs, Amentum, Boccard and Cavendish Nuclear (Laing O'Rourke and Aecon now also appear directly in the SGE consortium). Globally, BWRX-300 remains under construction at Ontario Power Generation's Darlington site in Canada (first SMR in the G7), with further momentum in Poland, Sweden and Southeast Asia. Framing for the room: this is a significant status change from earlier in this briefing series - GEH has gone from 'strong technology, no clear UK route' to having a large, well-capitalised private consortium actively pursuing UK deployment via the brand-new Advanced Nuclear Framework, just one day before this update was prepared.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224418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Key talking points: Holtec's SMR-300 completed Step 2 of the UK GDA on 31 March 2026 - regulators (ONR, EA, NRW) found no fundamental shortfalls across 21 technical topic areas, though 14 regulatory observations remain to be resolved. Holtec has not yet asked regulators to proceed to Step 3 (site-specific) of the GDA. 23-24 June: Holtec and EDF Energy signed Heads of Terms for a joint venture and submitted a joint proposal to government for up to four SMR-300 units (~1.3GW) at the former Cottam coal site in Nottinghamshire, intended partly to power co-located data centres. Holtec said it plans to substantially expand its UK operations centre and is evaluating a separate UK manufacturing plant. Background (pre-2026, useful context if asked): Holtec selected South Yorkshire in Sept 2024 as the site for a proposed GBP1.5bn SMR-300 factory, targeting at least 70% UK content in materials, components and work; MoUs were signed with the AMRC (Sheffield) and MTC (Coventry) to support manufacturing and testing development. On the US side: 13 Feb 2026, the US NRC accepted Holtec's Construction Permit Application for the twin Pioneer 1 &amp; 2 SMR-300 units at Palisades, Michigan, for review, with safety/environmental evaluations expected complete by early-to-mid 2027 - this is the first-of-a-kind project that Cottam would follow as second-of-a-kind.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157156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Key talking points: Last Energy is a US micro-nuclear developer (spin-off of the Energy Impact Center) pursuing a build-own-operate model with its PWR-20, a 20 MWe / 80 MWt pressurised water reactor sold directly to industrial customers rather than into the grid via a government competition. </a:t>
            </a:r>
          </a:p>
          <a:p>
            <a:r>
              <a:rPr lang="en-US" dirty="0"/>
              <a:t>Its flagship UK project is the Llynfi Clean Energy Project (Prosiect Egni Glan Llynfi) - four PWR-20 units at the former Llynfi coal power station site in Bridgend County, South Wales, first announced Oct 2024, GBP300m capital investment, no public funding. In Feb 2025 it became the first new site for a commercial nuclear reactor to enter ONR site licensing since Torness in 1978. In June 2025 the PWR-20 completed the UK's first-ever Preliminary Design Review; ONR stated a Dec 2027 site licence decision remains achievable IF Last Energy delivers submissions to schedule and standard - note the conditional phrasing, this is not a guarantee. In September 2025, alongside President Trump's UK state visit, Last Energy signed an MoU with DP World for an GBP80m, subsidy-free PWR-20 microreactor at London Gateway port (Thames Freeport, Essex), targeting operation in 2030 - a second live UK site distinct from Llynfi. In December 2025 Last Energy closed an oversubscribed Series C of over $100m led by the Astera Institute. The clearest confirmed 2026 UK-specific milestone: on 11 June 2026, Last Energy UK filed a notification of intent with the Welsh Government to submit a Significant Infrastructure Project (SIP) application under the Infrastructure (Wales) Act 2024 for the Llynfi project, with the formal SIP application expected in July 2026 - essentially happening right around now. Planning documents released alongside this show a site layout with four reactors. Caveats worth flagging to the room: industry insiders (quoted anonymously by New Civil Engineer) have called the 2027 delivery target 'over-ambitious', and Last Energy has never built, owned or operated an operating nuclear power plant anywhere in the world - its Texas A&amp;M PWR-5 pilot is a smaller demonstration unit still in the safety-review stage with the US DOE. Present this as a genuine but higher-risk, earlier-stage opportunity relative to Rolls-Royce, Holtec, X-energy and Westinghouse.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575072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Key talking points: Newcleo is a France-headquartered (originally UK-founded, in 2021) developer of the LFR-AS-200, a 200 MWe lead-cooled fast reactor (Gen IV), designed to run on MOX fuel from reprocessed spent fuel/plutonium. In June 2025 it became the first Advanced Modular Reactor design ever accepted into the UK's Generic Design Assessment process - a genuine regulatory first, and achieved without any public funding, which the company was keen to highlight. Despite this, in July 2025 Newcleo announced it was suspending its UK reactor development programme and substantially winding down UK activities. The stated reason was twofold: (1) the UK government's 2025 decision to immobilise its ~140-tonne civil plutonium stockpile at Sellafield rather than make it available for reactor fuel, which undercut Newcleo's core recycled-fuel value proposition, and (2) a broader view that alternative UK routes to market for Gen IV/AMR technology (via GBE-N and the National Wealth Fund) were unlikely to offer timely, tangible support compared to opportunities elsewhere. Newcleo has retained a reduced UK team of around 150 staff to maintain a UK presence and allow it to scale back up if the policy outlook improves - this is explicitly a pause, not a full exit, but there is no confirmed timeline for reactivation. The company continues to be very active elsewhere in Europe: joint venture with Slovakia's JAVYS for up to four LFRs, an agreement with the Lithuanian government, and continued fundraising (closed a further EUR75m round in Feb 2026, taking 12-month total to over EUR105m and lifetime total to around EUR645m). Its PRECURSOR non-nuclear test reactor in Italy is targeted for completion by end of 2026. Framing for the room: this is the most important cautionary example in the whole briefing series. It shows that GDA entry and technical credibility are not sufficient on their own - UK government fuel and industrial policy decisions can cause a well-funded, technically serious vendor to deprioritise the UK even after a genuine regulatory first. Worth flagging as a risk factor for any SME considering committing significant capacity to a single UK SMR/AMR vendor relationship.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80940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Key talking points: RR SMR is now the only company with multiple contractual SMR commitments in Europe (UK, Czechia, Sweden). GDA (Generic Design Assessment) has been running since April 2022 and is expected to complete in 2026 - flag if asked, this is the regulatory gateway. The Skoda JS / Doosan Enerbility nuclear island component award in May drew criticism from UK politicians/industry over the 70% UK-content commitment - good discussion point with SMEs about where the real opportunity and pressure points are. Pioneer Works in Derby (announced 26 June) is a near-term, tangible entry point for SME engagement - manufacturing development centre, ~40 roles, non-nuclear site. Half year RR Group results due 30 July 2026 may add further detail.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815860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Key talking points: Westinghouse's UK SMR story in 2026 is quieter than Rolls-Royce, Holtec or X-energy because it withdrew from the government-backed Great British Nuclear (GBN, now GBE-N) competition in April 2025 without submitting a final tender - Rolls-Royce was announced as the preferred bidder for the Wylfa programme in June 2025. This means Westinghouse's near-term UK reactor ambitions now rest on the privately financed Community Nuclear Power (CNP) project - four AP300 units at North Teesside, first announced Feb 2024, targeting a fully licensed site by 2027 and commercial operation in the early 2030s. No major public update on CNP/Teesside progress was found dated specifically to 2026 - worth checking closer to the presentation date, and flagging this data gap if asked directly. The AP300 remains in the UK's two-step GDA process; Step 1 (scope agreement) was completed in 2024/2025, and Step 2 (detailed technical assessment) is understood to be ongoing, though no specific 2026 completion milestone was confirmed in available sources - avoid stating Step 2 is complete. The clearest confirmed 2026 UK news is the 30 March 2026 milestone marking 80 years of continuous operation at the Springfields fuel fabrication site in Lancashire - a good story about long-term UK nuclear manufacturing heritage, and a reminder that Westinghouse's UK footprint doesn't depend solely on AP300 succeeding. In 2025, Westinghouse signed MoUs with six UK suppliers (William Cook Cast Products, Trillium Flow Technology, Curtiss-Wright Controls UK, Boccard UK, Bendalls Engineering, Sheffield Forgemasters) covering valves, pumps, pressure vessels and forged steel components for AP1000/AP300 - useful named contacts for SMEs asking how to get involved. Framing for the room: this is a useful contrast slide - Westinghouse shows what happens when a well-established, technically de-risked design (AP300 reuses AP1000 engineering) doesn't win the main government competition, and has to find another route to market.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613350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Key talking points: X-energy's Xe-100 is a pebble-bed high-temperature gas-cooled reactor (HTGR) using TRISO-X fuel - materially different technology from the pressurised water reactor designs offered by Rolls-Royce and Holtec, so it draws on a different supplier base (graphite, helium handling, high-temp alloys). UK plan is centred on Hartlepool, developed with Centrica and EDF, targeting up to 6GW / 12 units in the fleet's first phase (JDA signed Sept 2025 - background, not 2026, but useful context). 2 June 2026: Xe-100 formally submitted for UK GDA; the regulator (ONR/EA/NRW/DESNZ) expects the assessment to conclude by end of 2029 - much later than Holtec's GDA Step 2 completion, so this is the least regulatorily mature of the three programmes covered in this series. 24 April 2026: X-energy IPO'd on Nasdaq under ticker XE, raising over $1bn - the largest nuclear IPO on record - shortly followed by a $700m Series D in June, taking total raised to roughly $1.8bn. This financial strength is worth flagging to SMEs as a signal of staying power. Kier Group's involvement (announced as part of the Future Nuclear Enabling Fund-backed work) is the clearest current UK contractor/supply-chain touchpoint - worth suggesting SMEs track Kier's subcontracting activity here. No UK factory or manufacturing site has been announced for X-energy, unlike Rolls-Royce (Derby) and Holtec (South Yorkshire) - flag this contrast if useful.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044239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Key talking points: STEP (Spherical Tokamak for Energy Production) is the UK's prototype fusion power plant programme, led by UK Fusion Energy Ltd (UKFE, formerly UK Industrial Fusion Solutions/UKIFS), a wholly owned subsidiary of the UK Atomic Energy Authority (UKAEA). It is being built at the former West Burton A coal-fired power station in Nottinghamshire, targeting net electricity generation (~100MWe) and tritium self-sufficiency, with operations expected to begin around 2040. 2026 has been a landmark year of moving 'from concept into delivery'. Key confirmed milestones: the first public (non-statutory) consultation on the Development Consent Order ran 14 January to 11 March 2026 across communities in North Nottinghamshire, Lincolnshire and South Yorkshire. In March 2026, the ILIOS consortium - a Kier/Nuvia (VINCI Construction) joint venture with AECOM, AL_A architects and Turner &amp; Townsend - was appointed as STEP's Construction Partner, under an initial GBP200m contract covering roughly 3-4.5 years, with the programme expected to support up to 8,000 jobs at peak construction and potentially grow to GBP10bn in future phases. On 23 March 2026, UKAEA completed the first phase of acquiring the West Burton site from EDF, with land transferred three and a half years ahead of schedule - EDF continues transitional operations on parts of the site while demolition and ash extraction continue elsewhere. On 14 April 2026, Tokamak Energy was named STEP's Magnet Systems Partner under a GBP70m contract running to March 2029, delivering eight magnet-related work packages via its TE Magnetics division - a significant UK sovereign capability win, since Tokamak Energy is the UK's only specialist manufacturer of high-field HTS magnet technology. In mid-April 2026, at Fusion Fest 2026 in London, UK Fusion Energy and UKAEA jointly launched their strategies (to 2040 and 2030 respectively) alongside the Government's own national Fusion Strategy, confirming GBP2.5bn of fusion investment across FY2025/26-2029/30, of which GBP1.3bn is allocated directly to STEP. A GBP30m digital/PLM agreement with Dassault Systemes (3DEXPERIENCE platform) was also signed at this event. Framing for the room: unlike every other programme in this briefing series, STEP is not a vendor competing for UK business - it IS the UK's own programme, run by a public body, with its own dedicated supply chain portal. As of Jan 2026 the programme reports 813 total suppliers, 49 of them local to the West Burton/Trent Valley area (part of the emerging 'Trent Clean Energy Supercluster' alongside neighbouring former coal sites Cottam and High Marnham), and GBP108.8m of industry spend to date, GBP91.8m of which stayed within the UK. This is a genuinely different, and arguably lower-risk, category of opportunity for SMEs: a government-backed programme with committed multi-year funding, rather than a private vendor betting on winning a competition or attracting investment.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68544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Key talking points: the Nuclear Decommissioning Authority (NDA) is a very different category of opportunity to everything else in this briefing series - it is not building new reactors, it is safely decommissioning the UK's 17 legacy nuclear sites (dating back to the 1940s), managing spent fuel and nuclear materials, and developing a Geological Disposal Facility (GDF) for the UK's most hazardous waste. Its mission is expected to run into the next century. The NDA group comprises Sellafield Ltd, Nuclear Restoration Services (NRS, the former Magnox sites), Nuclear Waste Services (NWS, leading the GDF programme), and various other subsidiaries. Combined annual supply chain spend across the group is around GBP1.8 billion - by far the largest and steadiest number in this whole SMR/AMR briefing series, and one that isn't contingent on any single reactor programme succeeding. The clearest, most SME-relevant story of 2026 so far: on 18 February, Sellafield awarded a GBP45m contract to LTi Metaltech, a UK fabrication and welding SME, to supply 'containment products' (nuclear-grade storage containers known as '100-year cans') for the Sellafield Product and Residue Store Retreatment Plant (SRP), which will repackage the UK's plutonium stockpile for long-term storage. This is a genuinely good story to tell SMEs: LTi Metaltech was a brand-new addition to Sellafield's supply chain, won via open competitive tender using Sellafield's new 'product introduction process', and is now investing in a welding school, local SME partnerships and a Cumbrian logistics facility. Worth noting SRP construction began in Feb 2020, is due for active commissioning in 2027 and will operate until around 2060 - illustrating the decades-long nature of this work. On 23 February 2026, NDA published its latest group Strategy (effective from March 2026), a refreshed long-term roadmap organised around three strategic themes: spent nuclear fuels, nuclear materials (plutonium and uranium), and integrated waste management, with a stronger emphasis on integration and collaboration across the NDA group. A genuinely new mission is starting in 2026: Hunterston B is on track to be the first Advanced Gas-cooled Reactor (AGR) site to transfer from EDF Energy to the NDA group (via Nuclear Restoration Services) for decommissioning, with Hinkley Point B to follow - described by NDA's own business plan as its 'first significant new mission' since its creation in 2005, with the rest of the seven-strong AGR fleet to transfer over subsequent years, funded via the Nuclear Liabilities Fund. Arrangements are also progressing (subject to government approval) to transfer the Ministry of Defence's Vulcan site, adjacent to Dounreay, to the NDA. On 21 May 2026, Sellafield's Programme and Project Partners (PPP) - a delivery alliance of KBR, Amentum, Morgan Sindall Infrastructure and Altrad Babcock plus wider supply chain - marked seven years, with major projects progressing: the SIXEP Continuity Plant, Box Encapsulation Plant Product Store 2 (BEPPS2) now in early construction, and Lightly Shielded Store 1 (LSS1) finalising design. Other 2026 context worth mentioning if asked: NRS is starting work to reduce the height of two reactor buildings at Trawsfynydd in North Wales, described as a first-of-its-kind opportunity for Wales; Nuclear Waste Services continues community engagement with two Cumbria communities on potential GDF siting; and government has asked NDA and Cumberland Council to explore clean energy development (including new nuclear) on NDA-owned land at Moorside, adjacent to Sellafield. Framing for the room: decommissioning is the 'unsexy' but most reliable and immediate opportunity in UK civil nuclear for manufacturing SMEs - it doesn't require winning a national competition or waiting for a reactor design to be licensed, and the annual NDA Supply Chain Event (held every November, recognised as the largest supply chain event of its kind in Europe) is a direct, practical way 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773461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295794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924452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Key talking points: this slide covers the UK's nuclear-powered submarine enterprise, which sits alongside (and is much larger than) the civil SMR/AMR programmes covered elsewhere in this briefing series. It spans three current/future submarine classes: the Astute-class SSN (last boat due into service around 2026), the Dreadnought-class SSBN (strategic deterrent, in build into the 2030s), and the new SSN-AUKUS (SSN-A), the next-generation attack submarine being developed jointly with Australia and the US under AUKUS Pillar 1. In the UK's Strategic Defence Review (June 2025), government confirmed it will acquire a fleet of up to 12 SSN-AUKUS submarines, replacing the Astute class from the late 2030s, with continuous production targeting a new submarine roughly every 18 months. At peak, the programme is projected to sustain around 21,000 UK jobs, with the wider Defence Nuclear Enterprise projected to support around 65,000 UK jobs by 2030. Over £6bn has been invested in critical infrastructure at Barrow-in-Furness (BAE Systems, hull construction and final assembly) and Raynesway, Derby (Rolls-Royce Submarines, reactor manufacture) since mid-2024, with more than 3,000 new jobs already created across key UK nuclear sites. SSN-AUKUS will be powered by the Rolls-Royce PWR3+ pressurised water reactor, an enhanced version of the PWR3 used in the Dreadnought class; reactor cores are designed to last the full operational life of the boat. In May 2026, Defence Secretary John Healey confirmed four PWR3+ reactors were under construction at Raynesway. Industrial contracts already placed include roughly £4bn for design activities and a further approximately £9bn Rolls-Royce reactor agreement. The AUKUS partnership with Australia has moved from agreement to delivery through 2025-26: the 50-year Geelong Treaty was signed 26 July 2025; in February 2026 HMS Anson became the first Royal Navy nuclear submarine to undergo maintenance in Australia (at HMAS Stirling, Western Australia), with five Australian companies manufacturing components for the visit; and later that month Australia announced a A$310m payment to the UK to secure long-lead reactor items, with manufacture beginning at Rolls-Royce Derby for Australia's first two SSN-AUKUS boats (the UK supplies complete, welded nuclear propulsion systems since Australia, as a non-nuclear-weapon state, does not produce its own submarine nuclear fuel). In April 2026, Australia's Submarine Supplier Qualification programme (AUSSQ) was expanded to link Australian businesses into UK submarine supply chains for the first time - a genuinely reciprocal, trilateral industrial base is forming. Important balance for the room: in April 2026, the UK Parliament's Defence Committee published a report warning of 'shortcomings and failings' threatening the programme, specifically flagging delays to the planned shipyard upgrade investment at Barrow and describing Royal Navy submarine availability as 'critically low' (partly due to Astute-class boats being stretched by AUKUS-related port visits and rotations). This is a useful, credible counterweight to the otherwise very positive government messaging, and worth citing to give the room a balanced picture. Framing for the room: unlike every civil SMR/AMR vendor covered in this series, there is no competition to win here - Rolls-Royce Submarines and BAE Systems are the fixed prime contractors for reactors and hulls respectively. For manufacturing SMEs, the realistic route in is as a tier 2/3 subcontractor into their established supply chains, concentrated around Derby, Barrow-in-Furness, Cardiff and Glasgow - and, increasingly, with export potential into the parallel Australian and US legs of the AUKUS programme.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107696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480564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7971949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4538873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9726678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8603029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7889278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2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6C2383"/>
              </a:buClr>
              <a:buSzPts val="4400"/>
              <a:buFont typeface="Calibri"/>
              <a:buNone/>
              <a:defRPr sz="4400" b="1">
                <a:solidFill>
                  <a:srgbClr val="6C238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2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400"/>
              <a:buNone/>
              <a:defRPr sz="2400">
                <a:solidFill>
                  <a:srgbClr val="757575"/>
                </a:solidFill>
              </a:defRPr>
            </a:lvl1pPr>
            <a:lvl2pPr marL="914400" lvl="1" indent="-228600" algn="l">
              <a:lnSpc>
                <a:spcPct val="90000"/>
              </a:lnSpc>
              <a:spcBef>
                <a:spcPts val="500"/>
              </a:spcBef>
              <a:spcAft>
                <a:spcPts val="0"/>
              </a:spcAft>
              <a:buSzPts val="2000"/>
              <a:buNone/>
              <a:defRPr sz="2000">
                <a:solidFill>
                  <a:srgbClr val="757575"/>
                </a:solidFill>
              </a:defRPr>
            </a:lvl2pPr>
            <a:lvl3pPr marL="1371600" lvl="2" indent="-228600" algn="l">
              <a:lnSpc>
                <a:spcPct val="90000"/>
              </a:lnSpc>
              <a:spcBef>
                <a:spcPts val="500"/>
              </a:spcBef>
              <a:spcAft>
                <a:spcPts val="0"/>
              </a:spcAft>
              <a:buSzPts val="1800"/>
              <a:buNone/>
              <a:defRPr sz="1800">
                <a:solidFill>
                  <a:srgbClr val="757575"/>
                </a:solidFill>
              </a:defRPr>
            </a:lvl3pPr>
            <a:lvl4pPr marL="1828800" lvl="3" indent="-228600" algn="l">
              <a:lnSpc>
                <a:spcPct val="90000"/>
              </a:lnSpc>
              <a:spcBef>
                <a:spcPts val="500"/>
              </a:spcBef>
              <a:spcAft>
                <a:spcPts val="0"/>
              </a:spcAft>
              <a:buSzPts val="1600"/>
              <a:buNone/>
              <a:defRPr sz="1600">
                <a:solidFill>
                  <a:srgbClr val="757575"/>
                </a:solidFill>
              </a:defRPr>
            </a:lvl4pPr>
            <a:lvl5pPr marL="2286000" lvl="4" indent="-228600" algn="l">
              <a:lnSpc>
                <a:spcPct val="90000"/>
              </a:lnSpc>
              <a:spcBef>
                <a:spcPts val="500"/>
              </a:spcBef>
              <a:spcAft>
                <a:spcPts val="0"/>
              </a:spcAft>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50" name="Google Shape;50;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3" name="Google Shape;53;p28" descr="A blue and purple logo&#10;&#10;Description automatically generated"/>
          <p:cNvPicPr preferRelativeResize="0"/>
          <p:nvPr/>
        </p:nvPicPr>
        <p:blipFill rotWithShape="1">
          <a:blip r:embed="rId2">
            <a:alphaModFix/>
          </a:blip>
          <a:srcRect/>
          <a:stretch/>
        </p:blipFill>
        <p:spPr>
          <a:xfrm>
            <a:off x="11055096" y="27432"/>
            <a:ext cx="1097280" cy="120126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sp>
        <p:nvSpPr>
          <p:cNvPr id="86" name="Google Shape;86;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6C2383"/>
              </a:buClr>
              <a:buSzPts val="4400"/>
              <a:buFont typeface="Calibri"/>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91" name="Google Shape;91;p33" descr="A blue and purple logo&#10;&#10;Description automatically generated"/>
          <p:cNvPicPr preferRelativeResize="0"/>
          <p:nvPr/>
        </p:nvPicPr>
        <p:blipFill rotWithShape="1">
          <a:blip r:embed="rId2">
            <a:alphaModFix/>
          </a:blip>
          <a:srcRect/>
          <a:stretch/>
        </p:blipFill>
        <p:spPr>
          <a:xfrm>
            <a:off x="11055096" y="27432"/>
            <a:ext cx="1097280" cy="120126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2"/>
        <p:cNvGrpSpPr/>
        <p:nvPr/>
      </p:nvGrpSpPr>
      <p:grpSpPr>
        <a:xfrm>
          <a:off x="0" y="0"/>
          <a:ext cx="0" cy="0"/>
          <a:chOff x="0" y="0"/>
          <a:chExt cx="0" cy="0"/>
        </a:xfrm>
      </p:grpSpPr>
      <p:sp>
        <p:nvSpPr>
          <p:cNvPr id="93" name="Google Shape;93;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6C2383"/>
              </a:buClr>
              <a:buSzPts val="4400"/>
              <a:buFont typeface="Calibri"/>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98" name="Google Shape;98;p34" descr="A blue and purple logo&#10;&#10;Description automatically generated"/>
          <p:cNvPicPr preferRelativeResize="0"/>
          <p:nvPr/>
        </p:nvPicPr>
        <p:blipFill rotWithShape="1">
          <a:blip r:embed="rId2">
            <a:alphaModFix/>
          </a:blip>
          <a:srcRect/>
          <a:stretch/>
        </p:blipFill>
        <p:spPr>
          <a:xfrm>
            <a:off x="11055096" y="27432"/>
            <a:ext cx="1097280" cy="120126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20" name="Google Shape;20;p22" descr="A blue and purple logo&#10;&#10;Description automatically generated"/>
          <p:cNvPicPr preferRelativeResize="0"/>
          <p:nvPr/>
        </p:nvPicPr>
        <p:blipFill rotWithShape="1">
          <a:blip r:embed="rId2">
            <a:alphaModFix/>
          </a:blip>
          <a:srcRect/>
          <a:stretch/>
        </p:blipFill>
        <p:spPr>
          <a:xfrm>
            <a:off x="11055096" y="27432"/>
            <a:ext cx="1097280" cy="1201262"/>
          </a:xfrm>
          <a:prstGeom prst="rect">
            <a:avLst/>
          </a:prstGeom>
          <a:noFill/>
          <a:ln>
            <a:noFill/>
          </a:ln>
        </p:spPr>
      </p:pic>
    </p:spTree>
    <p:extLst>
      <p:ext uri="{BB962C8B-B14F-4D97-AF65-F5344CB8AC3E}">
        <p14:creationId xmlns:p14="http://schemas.microsoft.com/office/powerpoint/2010/main" val="3425387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85143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6C2383"/>
              </a:buClr>
              <a:buSzPts val="4400"/>
              <a:buFont typeface="Calibri"/>
              <a:buNone/>
              <a:defRPr sz="4400" b="0" i="0" u="none" strike="noStrike" cap="none">
                <a:solidFill>
                  <a:srgbClr val="6C238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00B0F0"/>
              </a:buClr>
              <a:buSzPts val="2800"/>
              <a:buFont typeface="Noto Sans Symbols"/>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rgbClr val="00B0F0"/>
              </a:buClr>
              <a:buSzPts val="2400"/>
              <a:buFont typeface="Noto Sans Symbols"/>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rgbClr val="00B0F0"/>
              </a:buClr>
              <a:buSzPts val="20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rgbClr val="00B0F0"/>
              </a:buClr>
              <a:buSzPts val="180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rgbClr val="00B0F0"/>
              </a:buClr>
              <a:buSzPts val="1800"/>
              <a:buFont typeface="Noto Sans Symbols"/>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5" name="Google Shape;15;p23" descr="A blue and purple logo&#10;&#10;Description automatically generated"/>
          <p:cNvPicPr preferRelativeResize="0"/>
          <p:nvPr/>
        </p:nvPicPr>
        <p:blipFill rotWithShape="1">
          <a:blip r:embed="rId7">
            <a:alphaModFix/>
          </a:blip>
          <a:srcRect/>
          <a:stretch/>
        </p:blipFill>
        <p:spPr>
          <a:xfrm>
            <a:off x="11055096" y="27432"/>
            <a:ext cx="1097280" cy="12012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3" r:id="rId1"/>
    <p:sldLayoutId id="2147483658" r:id="rId2"/>
    <p:sldLayoutId id="2147483659" r:id="rId3"/>
    <p:sldLayoutId id="2147483662" r:id="rId4"/>
    <p:sldLayoutId id="214748366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7.png"/><Relationship Id="rId11" Type="http://schemas.openxmlformats.org/officeDocument/2006/relationships/image" Target="../media/image21.png"/><Relationship Id="rId5" Type="http://schemas.openxmlformats.org/officeDocument/2006/relationships/image" Target="../media/image16.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0.png"/><Relationship Id="rId4" Type="http://schemas.openxmlformats.org/officeDocument/2006/relationships/image" Target="../media/image33.png"/><Relationship Id="rId9" Type="http://schemas.openxmlformats.org/officeDocument/2006/relationships/image" Target="../media/image35.pn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3.png"/><Relationship Id="rId4" Type="http://schemas.openxmlformats.org/officeDocument/2006/relationships/image" Target="../media/image36.png"/><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7.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8.png"/><Relationship Id="rId4" Type="http://schemas.openxmlformats.org/officeDocument/2006/relationships/image" Target="../media/image23.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8.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0.png"/><Relationship Id="rId4" Type="http://schemas.openxmlformats.org/officeDocument/2006/relationships/image" Target="../media/image31.png"/><Relationship Id="rId9"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6.png"/><Relationship Id="rId7"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11.png"/><Relationship Id="rId4" Type="http://schemas.openxmlformats.org/officeDocument/2006/relationships/image" Target="../media/image39.png"/><Relationship Id="rId9"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6.pn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43.png"/><Relationship Id="rId5" Type="http://schemas.openxmlformats.org/officeDocument/2006/relationships/image" Target="../media/image31.png"/><Relationship Id="rId4" Type="http://schemas.openxmlformats.org/officeDocument/2006/relationships/image" Target="../media/image23.png"/><Relationship Id="rId9"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45.png"/><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45.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46.png"/><Relationship Id="rId5" Type="http://schemas.openxmlformats.org/officeDocument/2006/relationships/image" Target="../media/image36.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47.png"/><Relationship Id="rId5" Type="http://schemas.openxmlformats.org/officeDocument/2006/relationships/image" Target="../media/image6.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47.png"/><Relationship Id="rId5" Type="http://schemas.openxmlformats.org/officeDocument/2006/relationships/image" Target="../media/image6.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47.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47.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47.png"/><Relationship Id="rId5" Type="http://schemas.openxmlformats.org/officeDocument/2006/relationships/image" Target="../media/image6.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47.png"/><Relationship Id="rId5" Type="http://schemas.openxmlformats.org/officeDocument/2006/relationships/image" Target="../media/image6.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47.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47.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5.xml"/><Relationship Id="rId6" Type="http://schemas.openxmlformats.org/officeDocument/2006/relationships/image" Target="../media/image47.png"/><Relationship Id="rId5" Type="http://schemas.openxmlformats.org/officeDocument/2006/relationships/image" Target="../media/image6.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47.png"/><Relationship Id="rId5" Type="http://schemas.openxmlformats.org/officeDocument/2006/relationships/image" Target="../media/image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D2A81-9CE3-3E51-E3CC-8CDC53A33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3A895-348D-CF23-C866-AA23922A7C87}"/>
              </a:ext>
            </a:extLst>
          </p:cNvPr>
          <p:cNvSpPr>
            <a:spLocks noGrp="1"/>
          </p:cNvSpPr>
          <p:nvPr>
            <p:ph type="title"/>
          </p:nvPr>
        </p:nvSpPr>
        <p:spPr/>
        <p:txBody>
          <a:bodyPr/>
          <a:lstStyle/>
          <a:p>
            <a:r>
              <a:rPr lang="en-GB" dirty="0"/>
              <a:t>Nuclear Technology</a:t>
            </a:r>
          </a:p>
        </p:txBody>
      </p:sp>
      <p:sp>
        <p:nvSpPr>
          <p:cNvPr id="3" name="Text Placeholder 2">
            <a:extLst>
              <a:ext uri="{FF2B5EF4-FFF2-40B4-BE49-F238E27FC236}">
                <a16:creationId xmlns:a16="http://schemas.microsoft.com/office/drawing/2014/main" id="{72307C0B-CDC5-F9E2-4065-25A503E152DC}"/>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446515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2233D"/>
          </a:solidFill>
          <a:ln/>
        </p:spPr>
        <p:txBody>
          <a:bodyPr/>
          <a:lstStyle/>
          <a:p>
            <a:endParaRPr lang="en-GB"/>
          </a:p>
        </p:txBody>
      </p:sp>
      <p:sp>
        <p:nvSpPr>
          <p:cNvPr id="3" name="Text 1"/>
          <p:cNvSpPr/>
          <p:nvPr/>
        </p:nvSpPr>
        <p:spPr>
          <a:xfrm>
            <a:off x="457200" y="118872"/>
            <a:ext cx="8686800" cy="384048"/>
          </a:xfrm>
          <a:prstGeom prst="rect">
            <a:avLst/>
          </a:prstGeom>
          <a:noFill/>
          <a:ln/>
        </p:spPr>
        <p:txBody>
          <a:bodyPr wrap="square" lIns="0" tIns="0" rIns="0" bIns="0" rtlCol="0" anchor="ctr"/>
          <a:lstStyle/>
          <a:p>
            <a:pPr marL="0" indent="0">
              <a:buNone/>
            </a:pPr>
            <a:r>
              <a:rPr lang="en-US" b="1" kern="0" spc="150" dirty="0">
                <a:solidFill>
                  <a:srgbClr val="FF0000"/>
                </a:solidFill>
                <a:latin typeface="Calibri" pitchFamily="34" charset="0"/>
                <a:ea typeface="Calibri" pitchFamily="34" charset="-122"/>
                <a:cs typeface="Calibri" pitchFamily="34" charset="-120"/>
              </a:rPr>
              <a:t>UK </a:t>
            </a:r>
            <a:r>
              <a:rPr lang="en-US" sz="1500" b="1" kern="0" spc="150" dirty="0">
                <a:solidFill>
                  <a:srgbClr val="9FB6CC"/>
                </a:solidFill>
                <a:latin typeface="Calibri" pitchFamily="34" charset="0"/>
                <a:ea typeface="Calibri" pitchFamily="34" charset="-122"/>
                <a:cs typeface="Calibri" pitchFamily="34" charset="-120"/>
              </a:rPr>
              <a:t>NUCLEAR PROGRAMME LANDSCAPE</a:t>
            </a:r>
            <a:endParaRPr lang="en-US" sz="1500" dirty="0"/>
          </a:p>
        </p:txBody>
      </p:sp>
      <p:sp>
        <p:nvSpPr>
          <p:cNvPr id="4" name="Text 2"/>
          <p:cNvSpPr/>
          <p:nvPr/>
        </p:nvSpPr>
        <p:spPr>
          <a:xfrm>
            <a:off x="457200" y="411480"/>
            <a:ext cx="86868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Programme Overview at a Glance</a:t>
            </a:r>
            <a:endParaRPr lang="en-US" sz="2600" dirty="0"/>
          </a:p>
        </p:txBody>
      </p:sp>
      <p:sp>
        <p:nvSpPr>
          <p:cNvPr id="6" name="Shape 4"/>
          <p:cNvSpPr/>
          <p:nvPr/>
        </p:nvSpPr>
        <p:spPr>
          <a:xfrm>
            <a:off x="6903720" y="1143000"/>
            <a:ext cx="118872" cy="118872"/>
          </a:xfrm>
          <a:prstGeom prst="ellipse">
            <a:avLst/>
          </a:prstGeom>
          <a:solidFill>
            <a:srgbClr val="1E8E5A"/>
          </a:solidFill>
          <a:ln/>
        </p:spPr>
        <p:txBody>
          <a:bodyPr/>
          <a:lstStyle/>
          <a:p>
            <a:endParaRPr lang="en-GB"/>
          </a:p>
        </p:txBody>
      </p:sp>
      <p:sp>
        <p:nvSpPr>
          <p:cNvPr id="7" name="Text 5"/>
          <p:cNvSpPr/>
          <p:nvPr/>
        </p:nvSpPr>
        <p:spPr>
          <a:xfrm>
            <a:off x="7086600" y="1060704"/>
            <a:ext cx="214884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Construction / active delivery</a:t>
            </a:r>
            <a:endParaRPr lang="en-US" sz="1050" dirty="0"/>
          </a:p>
        </p:txBody>
      </p:sp>
      <p:sp>
        <p:nvSpPr>
          <p:cNvPr id="8" name="Shape 6"/>
          <p:cNvSpPr/>
          <p:nvPr/>
        </p:nvSpPr>
        <p:spPr>
          <a:xfrm>
            <a:off x="9418320" y="1143000"/>
            <a:ext cx="118872" cy="118872"/>
          </a:xfrm>
          <a:prstGeom prst="ellipse">
            <a:avLst/>
          </a:prstGeom>
          <a:solidFill>
            <a:srgbClr val="C77B17"/>
          </a:solidFill>
          <a:ln/>
        </p:spPr>
        <p:txBody>
          <a:bodyPr/>
          <a:lstStyle/>
          <a:p>
            <a:endParaRPr lang="en-GB"/>
          </a:p>
        </p:txBody>
      </p:sp>
      <p:sp>
        <p:nvSpPr>
          <p:cNvPr id="9" name="Text 7"/>
          <p:cNvSpPr/>
          <p:nvPr/>
        </p:nvSpPr>
        <p:spPr>
          <a:xfrm>
            <a:off x="9601200" y="1060704"/>
            <a:ext cx="155448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Design &amp; consenting</a:t>
            </a:r>
            <a:endParaRPr lang="en-US" sz="1050" dirty="0"/>
          </a:p>
        </p:txBody>
      </p:sp>
      <p:sp>
        <p:nvSpPr>
          <p:cNvPr id="10" name="Shape 8"/>
          <p:cNvSpPr/>
          <p:nvPr/>
        </p:nvSpPr>
        <p:spPr>
          <a:xfrm>
            <a:off x="11109960" y="1143000"/>
            <a:ext cx="118872" cy="118872"/>
          </a:xfrm>
          <a:prstGeom prst="ellipse">
            <a:avLst/>
          </a:prstGeom>
          <a:solidFill>
            <a:srgbClr val="6B7785"/>
          </a:solidFill>
          <a:ln/>
        </p:spPr>
        <p:txBody>
          <a:bodyPr/>
          <a:lstStyle/>
          <a:p>
            <a:endParaRPr lang="en-GB"/>
          </a:p>
        </p:txBody>
      </p:sp>
      <p:sp>
        <p:nvSpPr>
          <p:cNvPr id="11" name="Text 9"/>
          <p:cNvSpPr/>
          <p:nvPr/>
        </p:nvSpPr>
        <p:spPr>
          <a:xfrm>
            <a:off x="11292840" y="1060704"/>
            <a:ext cx="109728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Site selection</a:t>
            </a:r>
            <a:endParaRPr lang="en-US" sz="1050" dirty="0"/>
          </a:p>
        </p:txBody>
      </p:sp>
      <p:sp>
        <p:nvSpPr>
          <p:cNvPr id="12" name="Shape 10"/>
          <p:cNvSpPr/>
          <p:nvPr/>
        </p:nvSpPr>
        <p:spPr>
          <a:xfrm>
            <a:off x="457200" y="1417320"/>
            <a:ext cx="3624986" cy="2473452"/>
          </a:xfrm>
          <a:prstGeom prst="roundRect">
            <a:avLst>
              <a:gd name="adj" fmla="val 2218"/>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13" name="Shape 11"/>
          <p:cNvSpPr/>
          <p:nvPr/>
        </p:nvSpPr>
        <p:spPr>
          <a:xfrm>
            <a:off x="658368" y="1600200"/>
            <a:ext cx="457200" cy="457200"/>
          </a:xfrm>
          <a:prstGeom prst="ellipse">
            <a:avLst/>
          </a:prstGeom>
          <a:solidFill>
            <a:srgbClr val="1B3358"/>
          </a:solidFill>
          <a:ln/>
        </p:spPr>
        <p:txBody>
          <a:bodyPr/>
          <a:lstStyle/>
          <a:p>
            <a:endParaRPr lang="en-GB"/>
          </a:p>
        </p:txBody>
      </p:sp>
      <p:pic>
        <p:nvPicPr>
          <p:cNvPr id="14" name="Image 0" descr="preencoded.png"/>
          <p:cNvPicPr>
            <a:picLocks noChangeAspect="1"/>
          </p:cNvPicPr>
          <p:nvPr/>
        </p:nvPicPr>
        <p:blipFill>
          <a:blip r:embed="rId3"/>
          <a:stretch>
            <a:fillRect/>
          </a:stretch>
        </p:blipFill>
        <p:spPr>
          <a:xfrm>
            <a:off x="768096" y="1709928"/>
            <a:ext cx="237744" cy="237744"/>
          </a:xfrm>
          <a:prstGeom prst="rect">
            <a:avLst/>
          </a:prstGeom>
        </p:spPr>
      </p:pic>
      <p:sp>
        <p:nvSpPr>
          <p:cNvPr id="15" name="Shape 12"/>
          <p:cNvSpPr/>
          <p:nvPr/>
        </p:nvSpPr>
        <p:spPr>
          <a:xfrm>
            <a:off x="2500274" y="1600200"/>
            <a:ext cx="1417320" cy="237744"/>
          </a:xfrm>
          <a:prstGeom prst="roundRect">
            <a:avLst>
              <a:gd name="adj" fmla="val 192308"/>
            </a:avLst>
          </a:prstGeom>
          <a:solidFill>
            <a:srgbClr val="1E8E5A"/>
          </a:solidFill>
          <a:ln/>
        </p:spPr>
        <p:txBody>
          <a:bodyPr/>
          <a:lstStyle/>
          <a:p>
            <a:endParaRPr lang="en-GB"/>
          </a:p>
        </p:txBody>
      </p:sp>
      <p:sp>
        <p:nvSpPr>
          <p:cNvPr id="16" name="Text 13"/>
          <p:cNvSpPr/>
          <p:nvPr/>
        </p:nvSpPr>
        <p:spPr>
          <a:xfrm>
            <a:off x="2500274" y="1600200"/>
            <a:ext cx="1417320" cy="237744"/>
          </a:xfrm>
          <a:prstGeom prst="rect">
            <a:avLst/>
          </a:prstGeom>
          <a:noFill/>
          <a:ln/>
        </p:spPr>
        <p:txBody>
          <a:bodyPr wrap="square" lIns="0" tIns="0" rIns="0" bIns="0" rtlCol="0" anchor="ctr"/>
          <a:lstStyle/>
          <a:p>
            <a:pPr marL="0" indent="0" algn="ctr">
              <a:buNone/>
            </a:pPr>
            <a:r>
              <a:rPr lang="en-US" sz="850" b="1" kern="0" spc="50" dirty="0">
                <a:solidFill>
                  <a:srgbClr val="FFFFFF"/>
                </a:solidFill>
                <a:latin typeface="Calibri" pitchFamily="34" charset="0"/>
                <a:ea typeface="Calibri" pitchFamily="34" charset="-122"/>
                <a:cs typeface="Calibri" pitchFamily="34" charset="-120"/>
              </a:rPr>
              <a:t>CONSTRUCTION</a:t>
            </a:r>
            <a:endParaRPr lang="en-US" sz="850" dirty="0"/>
          </a:p>
        </p:txBody>
      </p:sp>
      <p:sp>
        <p:nvSpPr>
          <p:cNvPr id="17" name="Text 14"/>
          <p:cNvSpPr/>
          <p:nvPr/>
        </p:nvSpPr>
        <p:spPr>
          <a:xfrm>
            <a:off x="658368" y="2167128"/>
            <a:ext cx="3222650" cy="420624"/>
          </a:xfrm>
          <a:prstGeom prst="rect">
            <a:avLst/>
          </a:prstGeom>
          <a:noFill/>
          <a:ln/>
        </p:spPr>
        <p:txBody>
          <a:bodyPr wrap="square" lIns="0" tIns="0" rIns="0" bIns="0" rtlCol="0" anchor="t"/>
          <a:lstStyle/>
          <a:p>
            <a:pPr marL="0" indent="0">
              <a:buNone/>
            </a:pPr>
            <a:r>
              <a:rPr lang="en-US" sz="1550" b="1" dirty="0">
                <a:solidFill>
                  <a:srgbClr val="12233D"/>
                </a:solidFill>
                <a:latin typeface="Calibri" pitchFamily="34" charset="0"/>
                <a:ea typeface="Calibri" pitchFamily="34" charset="-122"/>
                <a:cs typeface="Calibri" pitchFamily="34" charset="-120"/>
              </a:rPr>
              <a:t>Hinkley Point C</a:t>
            </a:r>
            <a:endParaRPr lang="en-US" sz="1550" dirty="0"/>
          </a:p>
        </p:txBody>
      </p:sp>
      <p:sp>
        <p:nvSpPr>
          <p:cNvPr id="18" name="Text 15"/>
          <p:cNvSpPr/>
          <p:nvPr/>
        </p:nvSpPr>
        <p:spPr>
          <a:xfrm>
            <a:off x="658368" y="2569464"/>
            <a:ext cx="3222650" cy="292608"/>
          </a:xfrm>
          <a:prstGeom prst="rect">
            <a:avLst/>
          </a:prstGeom>
          <a:noFill/>
          <a:ln/>
        </p:spPr>
        <p:txBody>
          <a:bodyPr wrap="square" lIns="0" tIns="0" rIns="0" bIns="0" rtlCol="0" anchor="t"/>
          <a:lstStyle/>
          <a:p>
            <a:pPr marL="0" indent="0">
              <a:buNone/>
            </a:pPr>
            <a:r>
              <a:rPr lang="en-US" sz="1100" b="1" dirty="0">
                <a:solidFill>
                  <a:srgbClr val="5B7A99"/>
                </a:solidFill>
                <a:latin typeface="Calibri" pitchFamily="34" charset="0"/>
                <a:ea typeface="Calibri" pitchFamily="34" charset="-122"/>
                <a:cs typeface="Calibri" pitchFamily="34" charset="-120"/>
              </a:rPr>
              <a:t>3.2 GW  ·  2×EPR</a:t>
            </a:r>
            <a:endParaRPr lang="en-US" sz="1100" dirty="0"/>
          </a:p>
        </p:txBody>
      </p:sp>
      <p:sp>
        <p:nvSpPr>
          <p:cNvPr id="19" name="Shape 16"/>
          <p:cNvSpPr/>
          <p:nvPr/>
        </p:nvSpPr>
        <p:spPr>
          <a:xfrm>
            <a:off x="658368" y="2898648"/>
            <a:ext cx="3222650" cy="0"/>
          </a:xfrm>
          <a:prstGeom prst="line">
            <a:avLst/>
          </a:prstGeom>
          <a:noFill/>
          <a:ln w="9525">
            <a:solidFill>
              <a:srgbClr val="D6E0E8"/>
            </a:solidFill>
            <a:prstDash val="solid"/>
          </a:ln>
        </p:spPr>
        <p:txBody>
          <a:bodyPr/>
          <a:lstStyle/>
          <a:p>
            <a:endParaRPr lang="en-GB"/>
          </a:p>
        </p:txBody>
      </p:sp>
      <p:sp>
        <p:nvSpPr>
          <p:cNvPr id="20" name="Text 17"/>
          <p:cNvSpPr/>
          <p:nvPr/>
        </p:nvSpPr>
        <p:spPr>
          <a:xfrm>
            <a:off x="658368" y="2990088"/>
            <a:ext cx="3222650" cy="365760"/>
          </a:xfrm>
          <a:prstGeom prst="rect">
            <a:avLst/>
          </a:prstGeom>
          <a:noFill/>
          <a:ln/>
        </p:spPr>
        <p:txBody>
          <a:bodyPr wrap="square" lIns="0" tIns="0" rIns="0" bIns="0" rtlCol="0" anchor="t"/>
          <a:lstStyle/>
          <a:p>
            <a:pPr marL="0" indent="0">
              <a:lnSpc>
                <a:spcPct val="105000"/>
              </a:lnSpc>
              <a:buNone/>
            </a:pPr>
            <a:r>
              <a:rPr lang="en-US" sz="850" b="1" kern="0" spc="50" dirty="0">
                <a:solidFill>
                  <a:srgbClr val="5B7A99"/>
                </a:solidFill>
                <a:latin typeface="Calibri" pitchFamily="34" charset="0"/>
                <a:ea typeface="Calibri" pitchFamily="34" charset="-122"/>
                <a:cs typeface="Calibri" pitchFamily="34" charset="-120"/>
              </a:rPr>
              <a:t>MILESTONE  </a:t>
            </a:r>
            <a:r>
              <a:rPr lang="en-US" sz="1050" dirty="0">
                <a:solidFill>
                  <a:srgbClr val="12233D"/>
                </a:solidFill>
                <a:latin typeface="Calibri" pitchFamily="34" charset="0"/>
                <a:ea typeface="Calibri" pitchFamily="34" charset="-122"/>
                <a:cs typeface="Calibri" pitchFamily="34" charset="-120"/>
              </a:rPr>
              <a:t>First power 2030</a:t>
            </a:r>
            <a:endParaRPr lang="en-US" sz="850" dirty="0"/>
          </a:p>
        </p:txBody>
      </p:sp>
      <p:sp>
        <p:nvSpPr>
          <p:cNvPr id="21" name="Text 18"/>
          <p:cNvSpPr/>
          <p:nvPr/>
        </p:nvSpPr>
        <p:spPr>
          <a:xfrm>
            <a:off x="658368" y="3561588"/>
            <a:ext cx="3222650" cy="274320"/>
          </a:xfrm>
          <a:prstGeom prst="rect">
            <a:avLst/>
          </a:prstGeom>
          <a:noFill/>
          <a:ln/>
        </p:spPr>
        <p:txBody>
          <a:bodyPr wrap="square" lIns="0" tIns="0" rIns="0" bIns="0" rtlCol="0" anchor="b"/>
          <a:lstStyle/>
          <a:p>
            <a:pPr marL="0" indent="0">
              <a:buNone/>
            </a:pPr>
            <a:r>
              <a:rPr lang="en-US" sz="950" i="1" dirty="0">
                <a:solidFill>
                  <a:srgbClr val="5B6B7C"/>
                </a:solidFill>
                <a:latin typeface="Calibri" pitchFamily="34" charset="0"/>
                <a:ea typeface="Calibri" pitchFamily="34" charset="-122"/>
                <a:cs typeface="Calibri" pitchFamily="34" charset="-120"/>
              </a:rPr>
              <a:t>EDF Energy · CGN</a:t>
            </a:r>
            <a:endParaRPr lang="en-US" sz="950" dirty="0"/>
          </a:p>
        </p:txBody>
      </p:sp>
      <p:sp>
        <p:nvSpPr>
          <p:cNvPr id="22" name="Shape 19"/>
          <p:cNvSpPr/>
          <p:nvPr/>
        </p:nvSpPr>
        <p:spPr>
          <a:xfrm>
            <a:off x="4283354" y="1417320"/>
            <a:ext cx="3624986" cy="2473452"/>
          </a:xfrm>
          <a:prstGeom prst="roundRect">
            <a:avLst>
              <a:gd name="adj" fmla="val 2218"/>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23" name="Shape 20"/>
          <p:cNvSpPr/>
          <p:nvPr/>
        </p:nvSpPr>
        <p:spPr>
          <a:xfrm>
            <a:off x="4484522" y="1600200"/>
            <a:ext cx="457200" cy="457200"/>
          </a:xfrm>
          <a:prstGeom prst="ellipse">
            <a:avLst/>
          </a:prstGeom>
          <a:solidFill>
            <a:srgbClr val="1B3358"/>
          </a:solidFill>
          <a:ln/>
        </p:spPr>
        <p:txBody>
          <a:bodyPr/>
          <a:lstStyle/>
          <a:p>
            <a:endParaRPr lang="en-GB"/>
          </a:p>
        </p:txBody>
      </p:sp>
      <p:pic>
        <p:nvPicPr>
          <p:cNvPr id="24" name="Image 1" descr="preencoded.png"/>
          <p:cNvPicPr>
            <a:picLocks noChangeAspect="1"/>
          </p:cNvPicPr>
          <p:nvPr/>
        </p:nvPicPr>
        <p:blipFill>
          <a:blip r:embed="rId4"/>
          <a:stretch>
            <a:fillRect/>
          </a:stretch>
        </p:blipFill>
        <p:spPr>
          <a:xfrm>
            <a:off x="4594250" y="1709928"/>
            <a:ext cx="237744" cy="237744"/>
          </a:xfrm>
          <a:prstGeom prst="rect">
            <a:avLst/>
          </a:prstGeom>
        </p:spPr>
      </p:pic>
      <p:sp>
        <p:nvSpPr>
          <p:cNvPr id="25" name="Shape 21"/>
          <p:cNvSpPr/>
          <p:nvPr/>
        </p:nvSpPr>
        <p:spPr>
          <a:xfrm>
            <a:off x="6326429" y="1600200"/>
            <a:ext cx="1417320" cy="237744"/>
          </a:xfrm>
          <a:prstGeom prst="roundRect">
            <a:avLst>
              <a:gd name="adj" fmla="val 192308"/>
            </a:avLst>
          </a:prstGeom>
          <a:solidFill>
            <a:srgbClr val="1E8E5A"/>
          </a:solidFill>
          <a:ln/>
        </p:spPr>
        <p:txBody>
          <a:bodyPr/>
          <a:lstStyle/>
          <a:p>
            <a:endParaRPr lang="en-GB"/>
          </a:p>
        </p:txBody>
      </p:sp>
      <p:sp>
        <p:nvSpPr>
          <p:cNvPr id="26" name="Text 22"/>
          <p:cNvSpPr/>
          <p:nvPr/>
        </p:nvSpPr>
        <p:spPr>
          <a:xfrm>
            <a:off x="6326429" y="1600200"/>
            <a:ext cx="1417320" cy="237744"/>
          </a:xfrm>
          <a:prstGeom prst="rect">
            <a:avLst/>
          </a:prstGeom>
          <a:noFill/>
          <a:ln/>
        </p:spPr>
        <p:txBody>
          <a:bodyPr wrap="square" lIns="0" tIns="0" rIns="0" bIns="0" rtlCol="0" anchor="ctr"/>
          <a:lstStyle/>
          <a:p>
            <a:pPr marL="0" indent="0" algn="ctr">
              <a:buNone/>
            </a:pPr>
            <a:r>
              <a:rPr lang="en-US" sz="850" b="1" kern="0" spc="50" dirty="0">
                <a:solidFill>
                  <a:srgbClr val="FFFFFF"/>
                </a:solidFill>
                <a:latin typeface="Calibri" pitchFamily="34" charset="0"/>
                <a:ea typeface="Calibri" pitchFamily="34" charset="-122"/>
                <a:cs typeface="Calibri" pitchFamily="34" charset="-120"/>
              </a:rPr>
              <a:t>CONSTRUCTION</a:t>
            </a:r>
            <a:endParaRPr lang="en-US" sz="850" dirty="0"/>
          </a:p>
        </p:txBody>
      </p:sp>
      <p:sp>
        <p:nvSpPr>
          <p:cNvPr id="27" name="Text 23"/>
          <p:cNvSpPr/>
          <p:nvPr/>
        </p:nvSpPr>
        <p:spPr>
          <a:xfrm>
            <a:off x="4484522" y="2167128"/>
            <a:ext cx="3222650" cy="420624"/>
          </a:xfrm>
          <a:prstGeom prst="rect">
            <a:avLst/>
          </a:prstGeom>
          <a:noFill/>
          <a:ln/>
        </p:spPr>
        <p:txBody>
          <a:bodyPr wrap="square" lIns="0" tIns="0" rIns="0" bIns="0" rtlCol="0" anchor="t"/>
          <a:lstStyle/>
          <a:p>
            <a:pPr marL="0" indent="0">
              <a:buNone/>
            </a:pPr>
            <a:r>
              <a:rPr lang="en-US" sz="1550" b="1" dirty="0">
                <a:solidFill>
                  <a:srgbClr val="12233D"/>
                </a:solidFill>
                <a:latin typeface="Calibri" pitchFamily="34" charset="0"/>
                <a:ea typeface="Calibri" pitchFamily="34" charset="-122"/>
                <a:cs typeface="Calibri" pitchFamily="34" charset="-120"/>
              </a:rPr>
              <a:t>Sizewell C</a:t>
            </a:r>
            <a:endParaRPr lang="en-US" sz="1550" dirty="0"/>
          </a:p>
        </p:txBody>
      </p:sp>
      <p:sp>
        <p:nvSpPr>
          <p:cNvPr id="28" name="Text 24"/>
          <p:cNvSpPr/>
          <p:nvPr/>
        </p:nvSpPr>
        <p:spPr>
          <a:xfrm>
            <a:off x="4484522" y="2569464"/>
            <a:ext cx="3222650" cy="292608"/>
          </a:xfrm>
          <a:prstGeom prst="rect">
            <a:avLst/>
          </a:prstGeom>
          <a:noFill/>
          <a:ln/>
        </p:spPr>
        <p:txBody>
          <a:bodyPr wrap="square" lIns="0" tIns="0" rIns="0" bIns="0" rtlCol="0" anchor="t"/>
          <a:lstStyle/>
          <a:p>
            <a:pPr marL="0" indent="0">
              <a:buNone/>
            </a:pPr>
            <a:r>
              <a:rPr lang="en-US" sz="1100" b="1" dirty="0">
                <a:solidFill>
                  <a:srgbClr val="5B7A99"/>
                </a:solidFill>
                <a:latin typeface="Calibri" pitchFamily="34" charset="0"/>
                <a:ea typeface="Calibri" pitchFamily="34" charset="-122"/>
                <a:cs typeface="Calibri" pitchFamily="34" charset="-120"/>
              </a:rPr>
              <a:t>3.2 GW  ·  2×EPR</a:t>
            </a:r>
            <a:endParaRPr lang="en-US" sz="1100" dirty="0"/>
          </a:p>
        </p:txBody>
      </p:sp>
      <p:sp>
        <p:nvSpPr>
          <p:cNvPr id="29" name="Shape 25"/>
          <p:cNvSpPr/>
          <p:nvPr/>
        </p:nvSpPr>
        <p:spPr>
          <a:xfrm>
            <a:off x="4484522" y="2898648"/>
            <a:ext cx="3222650" cy="0"/>
          </a:xfrm>
          <a:prstGeom prst="line">
            <a:avLst/>
          </a:prstGeom>
          <a:noFill/>
          <a:ln w="9525">
            <a:solidFill>
              <a:srgbClr val="D6E0E8"/>
            </a:solidFill>
            <a:prstDash val="solid"/>
          </a:ln>
        </p:spPr>
        <p:txBody>
          <a:bodyPr/>
          <a:lstStyle/>
          <a:p>
            <a:endParaRPr lang="en-GB"/>
          </a:p>
        </p:txBody>
      </p:sp>
      <p:sp>
        <p:nvSpPr>
          <p:cNvPr id="30" name="Text 26"/>
          <p:cNvSpPr/>
          <p:nvPr/>
        </p:nvSpPr>
        <p:spPr>
          <a:xfrm>
            <a:off x="4484522" y="2990088"/>
            <a:ext cx="3222650" cy="365760"/>
          </a:xfrm>
          <a:prstGeom prst="rect">
            <a:avLst/>
          </a:prstGeom>
          <a:noFill/>
          <a:ln/>
        </p:spPr>
        <p:txBody>
          <a:bodyPr wrap="square" lIns="0" tIns="0" rIns="0" bIns="0" rtlCol="0" anchor="t"/>
          <a:lstStyle/>
          <a:p>
            <a:pPr marL="0" indent="0">
              <a:lnSpc>
                <a:spcPct val="105000"/>
              </a:lnSpc>
              <a:buNone/>
            </a:pPr>
            <a:r>
              <a:rPr lang="en-US" sz="850" b="1" kern="0" spc="50" dirty="0">
                <a:solidFill>
                  <a:srgbClr val="5B7A99"/>
                </a:solidFill>
                <a:latin typeface="Calibri" pitchFamily="34" charset="0"/>
                <a:ea typeface="Calibri" pitchFamily="34" charset="-122"/>
                <a:cs typeface="Calibri" pitchFamily="34" charset="-120"/>
              </a:rPr>
              <a:t>MILESTONE  </a:t>
            </a:r>
            <a:r>
              <a:rPr lang="en-US" sz="1050" dirty="0">
                <a:solidFill>
                  <a:srgbClr val="12233D"/>
                </a:solidFill>
                <a:latin typeface="Calibri" pitchFamily="34" charset="0"/>
                <a:ea typeface="Calibri" pitchFamily="34" charset="-122"/>
                <a:cs typeface="Calibri" pitchFamily="34" charset="-120"/>
              </a:rPr>
              <a:t>FID July 2025 · build to 2033–37</a:t>
            </a:r>
            <a:endParaRPr lang="en-US" sz="850" dirty="0"/>
          </a:p>
        </p:txBody>
      </p:sp>
      <p:sp>
        <p:nvSpPr>
          <p:cNvPr id="31" name="Text 27"/>
          <p:cNvSpPr/>
          <p:nvPr/>
        </p:nvSpPr>
        <p:spPr>
          <a:xfrm>
            <a:off x="4484522" y="3561588"/>
            <a:ext cx="3222650" cy="274320"/>
          </a:xfrm>
          <a:prstGeom prst="rect">
            <a:avLst/>
          </a:prstGeom>
          <a:noFill/>
          <a:ln/>
        </p:spPr>
        <p:txBody>
          <a:bodyPr wrap="square" lIns="0" tIns="0" rIns="0" bIns="0" rtlCol="0" anchor="b"/>
          <a:lstStyle/>
          <a:p>
            <a:pPr marL="0" indent="0">
              <a:buNone/>
            </a:pPr>
            <a:r>
              <a:rPr lang="en-US" sz="950" i="1" dirty="0">
                <a:solidFill>
                  <a:srgbClr val="5B6B7C"/>
                </a:solidFill>
                <a:latin typeface="Calibri" pitchFamily="34" charset="0"/>
                <a:ea typeface="Calibri" pitchFamily="34" charset="-122"/>
                <a:cs typeface="Calibri" pitchFamily="34" charset="-120"/>
              </a:rPr>
              <a:t>EDF · UK Gov (44.9%) · La Caisse · Centrica</a:t>
            </a:r>
            <a:endParaRPr lang="en-US" sz="950" dirty="0"/>
          </a:p>
        </p:txBody>
      </p:sp>
      <p:sp>
        <p:nvSpPr>
          <p:cNvPr id="32" name="Shape 28"/>
          <p:cNvSpPr/>
          <p:nvPr/>
        </p:nvSpPr>
        <p:spPr>
          <a:xfrm>
            <a:off x="8109509" y="1417320"/>
            <a:ext cx="3624986" cy="2473452"/>
          </a:xfrm>
          <a:prstGeom prst="roundRect">
            <a:avLst>
              <a:gd name="adj" fmla="val 2218"/>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33" name="Shape 29"/>
          <p:cNvSpPr/>
          <p:nvPr/>
        </p:nvSpPr>
        <p:spPr>
          <a:xfrm>
            <a:off x="8310677" y="1600200"/>
            <a:ext cx="457200" cy="457200"/>
          </a:xfrm>
          <a:prstGeom prst="ellipse">
            <a:avLst/>
          </a:prstGeom>
          <a:solidFill>
            <a:srgbClr val="1B3358"/>
          </a:solidFill>
          <a:ln/>
        </p:spPr>
        <p:txBody>
          <a:bodyPr/>
          <a:lstStyle/>
          <a:p>
            <a:endParaRPr lang="en-GB"/>
          </a:p>
        </p:txBody>
      </p:sp>
      <p:pic>
        <p:nvPicPr>
          <p:cNvPr id="34" name="Image 2" descr="preencoded.png"/>
          <p:cNvPicPr>
            <a:picLocks noChangeAspect="1"/>
          </p:cNvPicPr>
          <p:nvPr/>
        </p:nvPicPr>
        <p:blipFill>
          <a:blip r:embed="rId5"/>
          <a:stretch>
            <a:fillRect/>
          </a:stretch>
        </p:blipFill>
        <p:spPr>
          <a:xfrm>
            <a:off x="8420405" y="1709928"/>
            <a:ext cx="237744" cy="237744"/>
          </a:xfrm>
          <a:prstGeom prst="rect">
            <a:avLst/>
          </a:prstGeom>
        </p:spPr>
      </p:pic>
      <p:sp>
        <p:nvSpPr>
          <p:cNvPr id="35" name="Shape 30"/>
          <p:cNvSpPr/>
          <p:nvPr/>
        </p:nvSpPr>
        <p:spPr>
          <a:xfrm>
            <a:off x="10152583" y="1600200"/>
            <a:ext cx="1417320" cy="237744"/>
          </a:xfrm>
          <a:prstGeom prst="roundRect">
            <a:avLst>
              <a:gd name="adj" fmla="val 192308"/>
            </a:avLst>
          </a:prstGeom>
          <a:solidFill>
            <a:srgbClr val="C77B17"/>
          </a:solidFill>
          <a:ln/>
        </p:spPr>
        <p:txBody>
          <a:bodyPr/>
          <a:lstStyle/>
          <a:p>
            <a:endParaRPr lang="en-GB"/>
          </a:p>
        </p:txBody>
      </p:sp>
      <p:sp>
        <p:nvSpPr>
          <p:cNvPr id="36" name="Text 31"/>
          <p:cNvSpPr/>
          <p:nvPr/>
        </p:nvSpPr>
        <p:spPr>
          <a:xfrm>
            <a:off x="10152583" y="1600200"/>
            <a:ext cx="1417320" cy="237744"/>
          </a:xfrm>
          <a:prstGeom prst="rect">
            <a:avLst/>
          </a:prstGeom>
          <a:noFill/>
          <a:ln/>
        </p:spPr>
        <p:txBody>
          <a:bodyPr wrap="square" lIns="0" tIns="0" rIns="0" bIns="0" rtlCol="0" anchor="ctr"/>
          <a:lstStyle/>
          <a:p>
            <a:pPr marL="0" indent="0" algn="ctr">
              <a:buNone/>
            </a:pPr>
            <a:r>
              <a:rPr lang="en-US" sz="850" b="1" kern="0" spc="50" dirty="0">
                <a:solidFill>
                  <a:srgbClr val="FFFFFF"/>
                </a:solidFill>
                <a:latin typeface="Calibri" pitchFamily="34" charset="0"/>
                <a:ea typeface="Calibri" pitchFamily="34" charset="-122"/>
                <a:cs typeface="Calibri" pitchFamily="34" charset="-120"/>
              </a:rPr>
              <a:t>PRE-FID DESIGN</a:t>
            </a:r>
            <a:endParaRPr lang="en-US" sz="850" dirty="0"/>
          </a:p>
        </p:txBody>
      </p:sp>
      <p:sp>
        <p:nvSpPr>
          <p:cNvPr id="37" name="Text 32"/>
          <p:cNvSpPr/>
          <p:nvPr/>
        </p:nvSpPr>
        <p:spPr>
          <a:xfrm>
            <a:off x="8310677" y="2167128"/>
            <a:ext cx="3222650" cy="420624"/>
          </a:xfrm>
          <a:prstGeom prst="rect">
            <a:avLst/>
          </a:prstGeom>
          <a:noFill/>
          <a:ln/>
        </p:spPr>
        <p:txBody>
          <a:bodyPr wrap="square" lIns="0" tIns="0" rIns="0" bIns="0" rtlCol="0" anchor="t"/>
          <a:lstStyle/>
          <a:p>
            <a:pPr marL="0" indent="0">
              <a:buNone/>
            </a:pPr>
            <a:r>
              <a:rPr lang="en-US" sz="1550" b="1" dirty="0">
                <a:solidFill>
                  <a:srgbClr val="12233D"/>
                </a:solidFill>
                <a:latin typeface="Calibri" pitchFamily="34" charset="0"/>
                <a:ea typeface="Calibri" pitchFamily="34" charset="-122"/>
                <a:cs typeface="Calibri" pitchFamily="34" charset="-120"/>
              </a:rPr>
              <a:t>Rolls-Royce SMR — Wylfa</a:t>
            </a:r>
            <a:endParaRPr lang="en-US" sz="1550" dirty="0"/>
          </a:p>
        </p:txBody>
      </p:sp>
      <p:sp>
        <p:nvSpPr>
          <p:cNvPr id="38" name="Text 33"/>
          <p:cNvSpPr/>
          <p:nvPr/>
        </p:nvSpPr>
        <p:spPr>
          <a:xfrm>
            <a:off x="8310677" y="2569464"/>
            <a:ext cx="3222650" cy="292608"/>
          </a:xfrm>
          <a:prstGeom prst="rect">
            <a:avLst/>
          </a:prstGeom>
          <a:noFill/>
          <a:ln/>
        </p:spPr>
        <p:txBody>
          <a:bodyPr wrap="square" lIns="0" tIns="0" rIns="0" bIns="0" rtlCol="0" anchor="t"/>
          <a:lstStyle/>
          <a:p>
            <a:pPr marL="0" indent="0">
              <a:buNone/>
            </a:pPr>
            <a:r>
              <a:rPr lang="en-US" sz="1100" b="1" dirty="0">
                <a:solidFill>
                  <a:srgbClr val="5B7A99"/>
                </a:solidFill>
                <a:latin typeface="Calibri" pitchFamily="34" charset="0"/>
                <a:ea typeface="Calibri" pitchFamily="34" charset="-122"/>
                <a:cs typeface="Calibri" pitchFamily="34" charset="-120"/>
              </a:rPr>
              <a:t>1.4 GW+  ·  3×470 MWe (up to 8 units)</a:t>
            </a:r>
            <a:endParaRPr lang="en-US" sz="1100" dirty="0"/>
          </a:p>
        </p:txBody>
      </p:sp>
      <p:sp>
        <p:nvSpPr>
          <p:cNvPr id="39" name="Shape 34"/>
          <p:cNvSpPr/>
          <p:nvPr/>
        </p:nvSpPr>
        <p:spPr>
          <a:xfrm>
            <a:off x="8310677" y="2898648"/>
            <a:ext cx="3222650" cy="0"/>
          </a:xfrm>
          <a:prstGeom prst="line">
            <a:avLst/>
          </a:prstGeom>
          <a:noFill/>
          <a:ln w="9525">
            <a:solidFill>
              <a:srgbClr val="D6E0E8"/>
            </a:solidFill>
            <a:prstDash val="solid"/>
          </a:ln>
        </p:spPr>
        <p:txBody>
          <a:bodyPr/>
          <a:lstStyle/>
          <a:p>
            <a:endParaRPr lang="en-GB"/>
          </a:p>
        </p:txBody>
      </p:sp>
      <p:sp>
        <p:nvSpPr>
          <p:cNvPr id="40" name="Text 35"/>
          <p:cNvSpPr/>
          <p:nvPr/>
        </p:nvSpPr>
        <p:spPr>
          <a:xfrm>
            <a:off x="8310677" y="2990088"/>
            <a:ext cx="3222650" cy="365760"/>
          </a:xfrm>
          <a:prstGeom prst="rect">
            <a:avLst/>
          </a:prstGeom>
          <a:noFill/>
          <a:ln/>
        </p:spPr>
        <p:txBody>
          <a:bodyPr wrap="square" lIns="0" tIns="0" rIns="0" bIns="0" rtlCol="0" anchor="t"/>
          <a:lstStyle/>
          <a:p>
            <a:pPr marL="0" indent="0">
              <a:lnSpc>
                <a:spcPct val="105000"/>
              </a:lnSpc>
              <a:buNone/>
            </a:pPr>
            <a:r>
              <a:rPr lang="en-US" sz="850" b="1" kern="0" spc="50" dirty="0">
                <a:solidFill>
                  <a:srgbClr val="5B7A99"/>
                </a:solidFill>
                <a:latin typeface="Calibri" pitchFamily="34" charset="0"/>
                <a:ea typeface="Calibri" pitchFamily="34" charset="-122"/>
                <a:cs typeface="Calibri" pitchFamily="34" charset="-120"/>
              </a:rPr>
              <a:t>MILESTONE  </a:t>
            </a:r>
            <a:r>
              <a:rPr lang="en-US" sz="1050" dirty="0">
                <a:solidFill>
                  <a:srgbClr val="12233D"/>
                </a:solidFill>
                <a:latin typeface="Calibri" pitchFamily="34" charset="0"/>
                <a:ea typeface="Calibri" pitchFamily="34" charset="-122"/>
                <a:cs typeface="Calibri" pitchFamily="34" charset="-120"/>
              </a:rPr>
              <a:t>Grid connection mid-2030s · FID ~2029</a:t>
            </a:r>
            <a:endParaRPr lang="en-US" sz="850" dirty="0"/>
          </a:p>
        </p:txBody>
      </p:sp>
      <p:sp>
        <p:nvSpPr>
          <p:cNvPr id="41" name="Text 36"/>
          <p:cNvSpPr/>
          <p:nvPr/>
        </p:nvSpPr>
        <p:spPr>
          <a:xfrm>
            <a:off x="8310677" y="3561588"/>
            <a:ext cx="3222650" cy="274320"/>
          </a:xfrm>
          <a:prstGeom prst="rect">
            <a:avLst/>
          </a:prstGeom>
          <a:noFill/>
          <a:ln/>
        </p:spPr>
        <p:txBody>
          <a:bodyPr wrap="square" lIns="0" tIns="0" rIns="0" bIns="0" rtlCol="0" anchor="b"/>
          <a:lstStyle/>
          <a:p>
            <a:pPr marL="0" indent="0">
              <a:buNone/>
            </a:pPr>
            <a:r>
              <a:rPr lang="en-US" sz="950" i="1" dirty="0">
                <a:solidFill>
                  <a:srgbClr val="5B6B7C"/>
                </a:solidFill>
                <a:latin typeface="Calibri" pitchFamily="34" charset="0"/>
                <a:ea typeface="Calibri" pitchFamily="34" charset="-122"/>
                <a:cs typeface="Calibri" pitchFamily="34" charset="-120"/>
              </a:rPr>
              <a:t>GBE-N · Rolls-Royce SMR</a:t>
            </a:r>
            <a:endParaRPr lang="en-US" sz="950" dirty="0"/>
          </a:p>
        </p:txBody>
      </p:sp>
      <p:sp>
        <p:nvSpPr>
          <p:cNvPr id="42" name="Shape 37"/>
          <p:cNvSpPr/>
          <p:nvPr/>
        </p:nvSpPr>
        <p:spPr>
          <a:xfrm>
            <a:off x="457200" y="4055364"/>
            <a:ext cx="3624986" cy="2473452"/>
          </a:xfrm>
          <a:prstGeom prst="roundRect">
            <a:avLst>
              <a:gd name="adj" fmla="val 2218"/>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43" name="Shape 38"/>
          <p:cNvSpPr/>
          <p:nvPr/>
        </p:nvSpPr>
        <p:spPr>
          <a:xfrm>
            <a:off x="658368" y="4238244"/>
            <a:ext cx="457200" cy="457200"/>
          </a:xfrm>
          <a:prstGeom prst="ellipse">
            <a:avLst/>
          </a:prstGeom>
          <a:solidFill>
            <a:srgbClr val="1B3358"/>
          </a:solidFill>
          <a:ln/>
        </p:spPr>
        <p:txBody>
          <a:bodyPr/>
          <a:lstStyle/>
          <a:p>
            <a:endParaRPr lang="en-GB"/>
          </a:p>
        </p:txBody>
      </p:sp>
      <p:pic>
        <p:nvPicPr>
          <p:cNvPr id="44" name="Image 3" descr="preencoded.png"/>
          <p:cNvPicPr>
            <a:picLocks noChangeAspect="1"/>
          </p:cNvPicPr>
          <p:nvPr/>
        </p:nvPicPr>
        <p:blipFill>
          <a:blip r:embed="rId6"/>
          <a:stretch>
            <a:fillRect/>
          </a:stretch>
        </p:blipFill>
        <p:spPr>
          <a:xfrm>
            <a:off x="768096" y="4347972"/>
            <a:ext cx="237744" cy="237744"/>
          </a:xfrm>
          <a:prstGeom prst="rect">
            <a:avLst/>
          </a:prstGeom>
        </p:spPr>
      </p:pic>
      <p:sp>
        <p:nvSpPr>
          <p:cNvPr id="45" name="Shape 39"/>
          <p:cNvSpPr/>
          <p:nvPr/>
        </p:nvSpPr>
        <p:spPr>
          <a:xfrm>
            <a:off x="2500274" y="4238244"/>
            <a:ext cx="1417320" cy="237744"/>
          </a:xfrm>
          <a:prstGeom prst="roundRect">
            <a:avLst>
              <a:gd name="adj" fmla="val 192308"/>
            </a:avLst>
          </a:prstGeom>
          <a:solidFill>
            <a:srgbClr val="6B7785"/>
          </a:solidFill>
          <a:ln/>
        </p:spPr>
        <p:txBody>
          <a:bodyPr/>
          <a:lstStyle/>
          <a:p>
            <a:endParaRPr lang="en-GB"/>
          </a:p>
        </p:txBody>
      </p:sp>
      <p:sp>
        <p:nvSpPr>
          <p:cNvPr id="46" name="Text 40"/>
          <p:cNvSpPr/>
          <p:nvPr/>
        </p:nvSpPr>
        <p:spPr>
          <a:xfrm>
            <a:off x="2500274" y="4238244"/>
            <a:ext cx="1417320" cy="237744"/>
          </a:xfrm>
          <a:prstGeom prst="rect">
            <a:avLst/>
          </a:prstGeom>
          <a:noFill/>
          <a:ln/>
        </p:spPr>
        <p:txBody>
          <a:bodyPr wrap="square" lIns="0" tIns="0" rIns="0" bIns="0" rtlCol="0" anchor="ctr"/>
          <a:lstStyle/>
          <a:p>
            <a:pPr marL="0" indent="0" algn="ctr">
              <a:buNone/>
            </a:pPr>
            <a:r>
              <a:rPr lang="en-US" sz="850" b="1" kern="0" spc="50" dirty="0">
                <a:solidFill>
                  <a:srgbClr val="FFFFFF"/>
                </a:solidFill>
                <a:latin typeface="Calibri" pitchFamily="34" charset="0"/>
                <a:ea typeface="Calibri" pitchFamily="34" charset="-122"/>
                <a:cs typeface="Calibri" pitchFamily="34" charset="-120"/>
              </a:rPr>
              <a:t>SITE SELECTION</a:t>
            </a:r>
            <a:endParaRPr lang="en-US" sz="850" dirty="0"/>
          </a:p>
        </p:txBody>
      </p:sp>
      <p:sp>
        <p:nvSpPr>
          <p:cNvPr id="47" name="Text 41"/>
          <p:cNvSpPr/>
          <p:nvPr/>
        </p:nvSpPr>
        <p:spPr>
          <a:xfrm>
            <a:off x="658368" y="4805172"/>
            <a:ext cx="3222650" cy="420624"/>
          </a:xfrm>
          <a:prstGeom prst="rect">
            <a:avLst/>
          </a:prstGeom>
          <a:noFill/>
          <a:ln/>
        </p:spPr>
        <p:txBody>
          <a:bodyPr wrap="square" lIns="0" tIns="0" rIns="0" bIns="0" rtlCol="0" anchor="t"/>
          <a:lstStyle/>
          <a:p>
            <a:pPr marL="0" indent="0">
              <a:buNone/>
            </a:pPr>
            <a:r>
              <a:rPr lang="en-US" sz="1550" b="1" dirty="0">
                <a:solidFill>
                  <a:srgbClr val="12233D"/>
                </a:solidFill>
                <a:latin typeface="Calibri" pitchFamily="34" charset="0"/>
                <a:ea typeface="Calibri" pitchFamily="34" charset="-122"/>
                <a:cs typeface="Calibri" pitchFamily="34" charset="-120"/>
              </a:rPr>
              <a:t>Further Large-Scale Site</a:t>
            </a:r>
            <a:endParaRPr lang="en-US" sz="1550" dirty="0"/>
          </a:p>
        </p:txBody>
      </p:sp>
      <p:sp>
        <p:nvSpPr>
          <p:cNvPr id="48" name="Text 42"/>
          <p:cNvSpPr/>
          <p:nvPr/>
        </p:nvSpPr>
        <p:spPr>
          <a:xfrm>
            <a:off x="658368" y="5207508"/>
            <a:ext cx="3222650" cy="292608"/>
          </a:xfrm>
          <a:prstGeom prst="rect">
            <a:avLst/>
          </a:prstGeom>
          <a:noFill/>
          <a:ln/>
        </p:spPr>
        <p:txBody>
          <a:bodyPr wrap="square" lIns="0" tIns="0" rIns="0" bIns="0" rtlCol="0" anchor="t"/>
          <a:lstStyle/>
          <a:p>
            <a:pPr marL="0" indent="0">
              <a:buNone/>
            </a:pPr>
            <a:r>
              <a:rPr lang="en-US" sz="1100" b="1" dirty="0">
                <a:solidFill>
                  <a:srgbClr val="5B7A99"/>
                </a:solidFill>
                <a:latin typeface="Calibri" pitchFamily="34" charset="0"/>
                <a:ea typeface="Calibri" pitchFamily="34" charset="-122"/>
                <a:cs typeface="Calibri" pitchFamily="34" charset="-120"/>
              </a:rPr>
              <a:t>~3.2 GW equivalent</a:t>
            </a:r>
            <a:endParaRPr lang="en-US" sz="1100" dirty="0"/>
          </a:p>
        </p:txBody>
      </p:sp>
      <p:sp>
        <p:nvSpPr>
          <p:cNvPr id="49" name="Shape 43"/>
          <p:cNvSpPr/>
          <p:nvPr/>
        </p:nvSpPr>
        <p:spPr>
          <a:xfrm>
            <a:off x="658368" y="5536692"/>
            <a:ext cx="3222650" cy="0"/>
          </a:xfrm>
          <a:prstGeom prst="line">
            <a:avLst/>
          </a:prstGeom>
          <a:noFill/>
          <a:ln w="9525">
            <a:solidFill>
              <a:srgbClr val="D6E0E8"/>
            </a:solidFill>
            <a:prstDash val="solid"/>
          </a:ln>
        </p:spPr>
        <p:txBody>
          <a:bodyPr/>
          <a:lstStyle/>
          <a:p>
            <a:endParaRPr lang="en-GB"/>
          </a:p>
        </p:txBody>
      </p:sp>
      <p:sp>
        <p:nvSpPr>
          <p:cNvPr id="50" name="Text 44"/>
          <p:cNvSpPr/>
          <p:nvPr/>
        </p:nvSpPr>
        <p:spPr>
          <a:xfrm>
            <a:off x="658368" y="5628132"/>
            <a:ext cx="3222650" cy="365760"/>
          </a:xfrm>
          <a:prstGeom prst="rect">
            <a:avLst/>
          </a:prstGeom>
          <a:noFill/>
          <a:ln/>
        </p:spPr>
        <p:txBody>
          <a:bodyPr wrap="square" lIns="0" tIns="0" rIns="0" bIns="0" rtlCol="0" anchor="t"/>
          <a:lstStyle/>
          <a:p>
            <a:pPr marL="0" indent="0">
              <a:lnSpc>
                <a:spcPct val="105000"/>
              </a:lnSpc>
              <a:buNone/>
            </a:pPr>
            <a:r>
              <a:rPr lang="en-US" sz="850" b="1" kern="0" spc="50" dirty="0">
                <a:solidFill>
                  <a:srgbClr val="5B7A99"/>
                </a:solidFill>
                <a:latin typeface="Calibri" pitchFamily="34" charset="0"/>
                <a:ea typeface="Calibri" pitchFamily="34" charset="-122"/>
                <a:cs typeface="Calibri" pitchFamily="34" charset="-120"/>
              </a:rPr>
              <a:t>MILESTONE  </a:t>
            </a:r>
            <a:r>
              <a:rPr lang="en-US" sz="1050" dirty="0">
                <a:solidFill>
                  <a:srgbClr val="12233D"/>
                </a:solidFill>
                <a:latin typeface="Calibri" pitchFamily="34" charset="0"/>
                <a:ea typeface="Calibri" pitchFamily="34" charset="-122"/>
                <a:cs typeface="Calibri" pitchFamily="34" charset="-120"/>
              </a:rPr>
              <a:t>GBE-N site report Autumn 2026</a:t>
            </a:r>
            <a:endParaRPr lang="en-US" sz="850" dirty="0"/>
          </a:p>
        </p:txBody>
      </p:sp>
      <p:sp>
        <p:nvSpPr>
          <p:cNvPr id="51" name="Text 45"/>
          <p:cNvSpPr/>
          <p:nvPr/>
        </p:nvSpPr>
        <p:spPr>
          <a:xfrm>
            <a:off x="658368" y="6199632"/>
            <a:ext cx="3222650" cy="274320"/>
          </a:xfrm>
          <a:prstGeom prst="rect">
            <a:avLst/>
          </a:prstGeom>
          <a:noFill/>
          <a:ln/>
        </p:spPr>
        <p:txBody>
          <a:bodyPr wrap="square" lIns="0" tIns="0" rIns="0" bIns="0" rtlCol="0" anchor="b"/>
          <a:lstStyle/>
          <a:p>
            <a:pPr marL="0" indent="0">
              <a:buNone/>
            </a:pPr>
            <a:r>
              <a:rPr lang="en-US" sz="950" i="1" dirty="0">
                <a:solidFill>
                  <a:srgbClr val="5B6B7C"/>
                </a:solidFill>
                <a:latin typeface="Calibri" pitchFamily="34" charset="0"/>
                <a:ea typeface="Calibri" pitchFamily="34" charset="-122"/>
                <a:cs typeface="Calibri" pitchFamily="34" charset="-120"/>
              </a:rPr>
              <a:t>GBE-N · DESNZ</a:t>
            </a:r>
            <a:endParaRPr lang="en-US" sz="950" dirty="0"/>
          </a:p>
        </p:txBody>
      </p:sp>
      <p:sp>
        <p:nvSpPr>
          <p:cNvPr id="52" name="Shape 46"/>
          <p:cNvSpPr/>
          <p:nvPr/>
        </p:nvSpPr>
        <p:spPr>
          <a:xfrm>
            <a:off x="4283354" y="4055364"/>
            <a:ext cx="3624986" cy="2473452"/>
          </a:xfrm>
          <a:prstGeom prst="roundRect">
            <a:avLst>
              <a:gd name="adj" fmla="val 2218"/>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53" name="Shape 47"/>
          <p:cNvSpPr/>
          <p:nvPr/>
        </p:nvSpPr>
        <p:spPr>
          <a:xfrm>
            <a:off x="4484522" y="4238244"/>
            <a:ext cx="457200" cy="457200"/>
          </a:xfrm>
          <a:prstGeom prst="ellipse">
            <a:avLst/>
          </a:prstGeom>
          <a:solidFill>
            <a:srgbClr val="1B3358"/>
          </a:solidFill>
          <a:ln/>
        </p:spPr>
        <p:txBody>
          <a:bodyPr/>
          <a:lstStyle/>
          <a:p>
            <a:endParaRPr lang="en-GB"/>
          </a:p>
        </p:txBody>
      </p:sp>
      <p:pic>
        <p:nvPicPr>
          <p:cNvPr id="54" name="Image 4" descr="preencoded.png"/>
          <p:cNvPicPr>
            <a:picLocks noChangeAspect="1"/>
          </p:cNvPicPr>
          <p:nvPr/>
        </p:nvPicPr>
        <p:blipFill>
          <a:blip r:embed="rId7"/>
          <a:stretch>
            <a:fillRect/>
          </a:stretch>
        </p:blipFill>
        <p:spPr>
          <a:xfrm>
            <a:off x="4594250" y="4347972"/>
            <a:ext cx="237744" cy="237744"/>
          </a:xfrm>
          <a:prstGeom prst="rect">
            <a:avLst/>
          </a:prstGeom>
        </p:spPr>
      </p:pic>
      <p:sp>
        <p:nvSpPr>
          <p:cNvPr id="55" name="Shape 48"/>
          <p:cNvSpPr/>
          <p:nvPr/>
        </p:nvSpPr>
        <p:spPr>
          <a:xfrm>
            <a:off x="6326429" y="4238244"/>
            <a:ext cx="1417320" cy="237744"/>
          </a:xfrm>
          <a:prstGeom prst="roundRect">
            <a:avLst>
              <a:gd name="adj" fmla="val 192308"/>
            </a:avLst>
          </a:prstGeom>
          <a:solidFill>
            <a:srgbClr val="C77B17"/>
          </a:solidFill>
          <a:ln/>
        </p:spPr>
        <p:txBody>
          <a:bodyPr/>
          <a:lstStyle/>
          <a:p>
            <a:endParaRPr lang="en-GB"/>
          </a:p>
        </p:txBody>
      </p:sp>
      <p:sp>
        <p:nvSpPr>
          <p:cNvPr id="56" name="Text 49"/>
          <p:cNvSpPr/>
          <p:nvPr/>
        </p:nvSpPr>
        <p:spPr>
          <a:xfrm>
            <a:off x="6326429" y="4238244"/>
            <a:ext cx="1417320" cy="237744"/>
          </a:xfrm>
          <a:prstGeom prst="rect">
            <a:avLst/>
          </a:prstGeom>
          <a:noFill/>
          <a:ln/>
        </p:spPr>
        <p:txBody>
          <a:bodyPr wrap="square" lIns="0" tIns="0" rIns="0" bIns="0" rtlCol="0" anchor="ctr"/>
          <a:lstStyle/>
          <a:p>
            <a:pPr marL="0" indent="0" algn="ctr">
              <a:buNone/>
            </a:pPr>
            <a:r>
              <a:rPr lang="en-US" sz="850" b="1" kern="0" spc="50" dirty="0">
                <a:solidFill>
                  <a:srgbClr val="FFFFFF"/>
                </a:solidFill>
                <a:latin typeface="Calibri" pitchFamily="34" charset="0"/>
                <a:ea typeface="Calibri" pitchFamily="34" charset="-122"/>
                <a:cs typeface="Calibri" pitchFamily="34" charset="-120"/>
              </a:rPr>
              <a:t>PRE-CONSTRUCTION</a:t>
            </a:r>
            <a:endParaRPr lang="en-US" sz="850" dirty="0"/>
          </a:p>
        </p:txBody>
      </p:sp>
      <p:sp>
        <p:nvSpPr>
          <p:cNvPr id="57" name="Text 50"/>
          <p:cNvSpPr/>
          <p:nvPr/>
        </p:nvSpPr>
        <p:spPr>
          <a:xfrm>
            <a:off x="4484522" y="4805172"/>
            <a:ext cx="3222650" cy="420624"/>
          </a:xfrm>
          <a:prstGeom prst="rect">
            <a:avLst/>
          </a:prstGeom>
          <a:noFill/>
          <a:ln/>
        </p:spPr>
        <p:txBody>
          <a:bodyPr wrap="square" lIns="0" tIns="0" rIns="0" bIns="0" rtlCol="0" anchor="t"/>
          <a:lstStyle/>
          <a:p>
            <a:pPr marL="0" indent="0">
              <a:buNone/>
            </a:pPr>
            <a:r>
              <a:rPr lang="en-US" sz="1550" b="1" dirty="0">
                <a:solidFill>
                  <a:srgbClr val="12233D"/>
                </a:solidFill>
                <a:latin typeface="Calibri" pitchFamily="34" charset="0"/>
                <a:ea typeface="Calibri" pitchFamily="34" charset="-122"/>
                <a:cs typeface="Calibri" pitchFamily="34" charset="-120"/>
              </a:rPr>
              <a:t>STEP Fusion — West Burton</a:t>
            </a:r>
            <a:endParaRPr lang="en-US" sz="1550" dirty="0"/>
          </a:p>
        </p:txBody>
      </p:sp>
      <p:sp>
        <p:nvSpPr>
          <p:cNvPr id="58" name="Text 51"/>
          <p:cNvSpPr/>
          <p:nvPr/>
        </p:nvSpPr>
        <p:spPr>
          <a:xfrm>
            <a:off x="4484522" y="5207508"/>
            <a:ext cx="3222650" cy="292608"/>
          </a:xfrm>
          <a:prstGeom prst="rect">
            <a:avLst/>
          </a:prstGeom>
          <a:noFill/>
          <a:ln/>
        </p:spPr>
        <p:txBody>
          <a:bodyPr wrap="square" lIns="0" tIns="0" rIns="0" bIns="0" rtlCol="0" anchor="t"/>
          <a:lstStyle/>
          <a:p>
            <a:pPr marL="0" indent="0">
              <a:buNone/>
            </a:pPr>
            <a:r>
              <a:rPr lang="en-US" sz="1100" b="1" dirty="0">
                <a:solidFill>
                  <a:srgbClr val="5B7A99"/>
                </a:solidFill>
                <a:latin typeface="Calibri" pitchFamily="34" charset="0"/>
                <a:ea typeface="Calibri" pitchFamily="34" charset="-122"/>
                <a:cs typeface="Calibri" pitchFamily="34" charset="-120"/>
              </a:rPr>
              <a:t>~100 MWe prototype</a:t>
            </a:r>
            <a:endParaRPr lang="en-US" sz="1100" dirty="0"/>
          </a:p>
        </p:txBody>
      </p:sp>
      <p:sp>
        <p:nvSpPr>
          <p:cNvPr id="59" name="Shape 52"/>
          <p:cNvSpPr/>
          <p:nvPr/>
        </p:nvSpPr>
        <p:spPr>
          <a:xfrm>
            <a:off x="4484522" y="5536692"/>
            <a:ext cx="3222650" cy="0"/>
          </a:xfrm>
          <a:prstGeom prst="line">
            <a:avLst/>
          </a:prstGeom>
          <a:noFill/>
          <a:ln w="9525">
            <a:solidFill>
              <a:srgbClr val="D6E0E8"/>
            </a:solidFill>
            <a:prstDash val="solid"/>
          </a:ln>
        </p:spPr>
        <p:txBody>
          <a:bodyPr/>
          <a:lstStyle/>
          <a:p>
            <a:endParaRPr lang="en-GB"/>
          </a:p>
        </p:txBody>
      </p:sp>
      <p:sp>
        <p:nvSpPr>
          <p:cNvPr id="60" name="Text 53"/>
          <p:cNvSpPr/>
          <p:nvPr/>
        </p:nvSpPr>
        <p:spPr>
          <a:xfrm>
            <a:off x="4484522" y="5628132"/>
            <a:ext cx="3222650" cy="365760"/>
          </a:xfrm>
          <a:prstGeom prst="rect">
            <a:avLst/>
          </a:prstGeom>
          <a:noFill/>
          <a:ln/>
        </p:spPr>
        <p:txBody>
          <a:bodyPr wrap="square" lIns="0" tIns="0" rIns="0" bIns="0" rtlCol="0" anchor="t"/>
          <a:lstStyle/>
          <a:p>
            <a:pPr marL="0" indent="0">
              <a:lnSpc>
                <a:spcPct val="105000"/>
              </a:lnSpc>
              <a:buNone/>
            </a:pPr>
            <a:r>
              <a:rPr lang="en-US" sz="850" b="1" kern="0" spc="50" dirty="0">
                <a:solidFill>
                  <a:srgbClr val="5B7A99"/>
                </a:solidFill>
                <a:latin typeface="Calibri" pitchFamily="34" charset="0"/>
                <a:ea typeface="Calibri" pitchFamily="34" charset="-122"/>
                <a:cs typeface="Calibri" pitchFamily="34" charset="-120"/>
              </a:rPr>
              <a:t>MILESTONE  </a:t>
            </a:r>
            <a:r>
              <a:rPr lang="en-US" sz="1050" dirty="0">
                <a:solidFill>
                  <a:srgbClr val="12233D"/>
                </a:solidFill>
                <a:latin typeface="Calibri" pitchFamily="34" charset="0"/>
                <a:ea typeface="Calibri" pitchFamily="34" charset="-122"/>
                <a:cs typeface="Calibri" pitchFamily="34" charset="-120"/>
              </a:rPr>
              <a:t>DCO by March 2029 · demo ~2040</a:t>
            </a:r>
            <a:endParaRPr lang="en-US" sz="850" dirty="0"/>
          </a:p>
        </p:txBody>
      </p:sp>
      <p:sp>
        <p:nvSpPr>
          <p:cNvPr id="61" name="Text 54"/>
          <p:cNvSpPr/>
          <p:nvPr/>
        </p:nvSpPr>
        <p:spPr>
          <a:xfrm>
            <a:off x="4484522" y="6199632"/>
            <a:ext cx="3222650" cy="274320"/>
          </a:xfrm>
          <a:prstGeom prst="rect">
            <a:avLst/>
          </a:prstGeom>
          <a:noFill/>
          <a:ln/>
        </p:spPr>
        <p:txBody>
          <a:bodyPr wrap="square" lIns="0" tIns="0" rIns="0" bIns="0" rtlCol="0" anchor="b"/>
          <a:lstStyle/>
          <a:p>
            <a:pPr marL="0" indent="0">
              <a:buNone/>
            </a:pPr>
            <a:r>
              <a:rPr lang="en-US" sz="950" i="1" dirty="0">
                <a:solidFill>
                  <a:srgbClr val="5B6B7C"/>
                </a:solidFill>
                <a:latin typeface="Calibri" pitchFamily="34" charset="0"/>
                <a:ea typeface="Calibri" pitchFamily="34" charset="-122"/>
                <a:cs typeface="Calibri" pitchFamily="34" charset="-120"/>
              </a:rPr>
              <a:t>UK Fusion Energy · UKAEA</a:t>
            </a:r>
            <a:endParaRPr lang="en-US" sz="950" dirty="0"/>
          </a:p>
        </p:txBody>
      </p:sp>
      <p:sp>
        <p:nvSpPr>
          <p:cNvPr id="62" name="Shape 55"/>
          <p:cNvSpPr/>
          <p:nvPr/>
        </p:nvSpPr>
        <p:spPr>
          <a:xfrm>
            <a:off x="8109509" y="4055364"/>
            <a:ext cx="3624986" cy="2473452"/>
          </a:xfrm>
          <a:prstGeom prst="roundRect">
            <a:avLst>
              <a:gd name="adj" fmla="val 2218"/>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63" name="Shape 56"/>
          <p:cNvSpPr/>
          <p:nvPr/>
        </p:nvSpPr>
        <p:spPr>
          <a:xfrm>
            <a:off x="8310677" y="4238244"/>
            <a:ext cx="457200" cy="457200"/>
          </a:xfrm>
          <a:prstGeom prst="ellipse">
            <a:avLst/>
          </a:prstGeom>
          <a:solidFill>
            <a:srgbClr val="1B3358"/>
          </a:solidFill>
          <a:ln/>
        </p:spPr>
        <p:txBody>
          <a:bodyPr/>
          <a:lstStyle/>
          <a:p>
            <a:endParaRPr lang="en-GB"/>
          </a:p>
        </p:txBody>
      </p:sp>
      <p:pic>
        <p:nvPicPr>
          <p:cNvPr id="64" name="Image 5" descr="preencoded.png"/>
          <p:cNvPicPr>
            <a:picLocks noChangeAspect="1"/>
          </p:cNvPicPr>
          <p:nvPr/>
        </p:nvPicPr>
        <p:blipFill>
          <a:blip r:embed="rId8"/>
          <a:stretch>
            <a:fillRect/>
          </a:stretch>
        </p:blipFill>
        <p:spPr>
          <a:xfrm>
            <a:off x="8420405" y="4347972"/>
            <a:ext cx="237744" cy="237744"/>
          </a:xfrm>
          <a:prstGeom prst="rect">
            <a:avLst/>
          </a:prstGeom>
        </p:spPr>
      </p:pic>
      <p:sp>
        <p:nvSpPr>
          <p:cNvPr id="65" name="Shape 57"/>
          <p:cNvSpPr/>
          <p:nvPr/>
        </p:nvSpPr>
        <p:spPr>
          <a:xfrm>
            <a:off x="10152583" y="4238244"/>
            <a:ext cx="1417320" cy="237744"/>
          </a:xfrm>
          <a:prstGeom prst="roundRect">
            <a:avLst>
              <a:gd name="adj" fmla="val 192308"/>
            </a:avLst>
          </a:prstGeom>
          <a:solidFill>
            <a:srgbClr val="1E8E5A"/>
          </a:solidFill>
          <a:ln/>
        </p:spPr>
        <p:txBody>
          <a:bodyPr/>
          <a:lstStyle/>
          <a:p>
            <a:endParaRPr lang="en-GB"/>
          </a:p>
        </p:txBody>
      </p:sp>
      <p:sp>
        <p:nvSpPr>
          <p:cNvPr id="66" name="Text 58"/>
          <p:cNvSpPr/>
          <p:nvPr/>
        </p:nvSpPr>
        <p:spPr>
          <a:xfrm>
            <a:off x="10152583" y="4238244"/>
            <a:ext cx="1417320" cy="237744"/>
          </a:xfrm>
          <a:prstGeom prst="rect">
            <a:avLst/>
          </a:prstGeom>
          <a:noFill/>
          <a:ln/>
        </p:spPr>
        <p:txBody>
          <a:bodyPr wrap="square" lIns="0" tIns="0" rIns="0" bIns="0" rtlCol="0" anchor="ctr"/>
          <a:lstStyle/>
          <a:p>
            <a:pPr marL="0" indent="0" algn="ctr">
              <a:buNone/>
            </a:pPr>
            <a:r>
              <a:rPr lang="en-US" sz="850" b="1" kern="0" spc="50" dirty="0">
                <a:solidFill>
                  <a:srgbClr val="FFFFFF"/>
                </a:solidFill>
                <a:latin typeface="Calibri" pitchFamily="34" charset="0"/>
                <a:ea typeface="Calibri" pitchFamily="34" charset="-122"/>
                <a:cs typeface="Calibri" pitchFamily="34" charset="-120"/>
              </a:rPr>
              <a:t>ACTIVE DELIVERY</a:t>
            </a:r>
            <a:endParaRPr lang="en-US" sz="850" dirty="0"/>
          </a:p>
        </p:txBody>
      </p:sp>
      <p:sp>
        <p:nvSpPr>
          <p:cNvPr id="67" name="Text 59"/>
          <p:cNvSpPr/>
          <p:nvPr/>
        </p:nvSpPr>
        <p:spPr>
          <a:xfrm>
            <a:off x="8310677" y="4805172"/>
            <a:ext cx="3222650" cy="420624"/>
          </a:xfrm>
          <a:prstGeom prst="rect">
            <a:avLst/>
          </a:prstGeom>
          <a:noFill/>
          <a:ln/>
        </p:spPr>
        <p:txBody>
          <a:bodyPr wrap="square" lIns="0" tIns="0" rIns="0" bIns="0" rtlCol="0" anchor="t"/>
          <a:lstStyle/>
          <a:p>
            <a:pPr marL="0" indent="0">
              <a:buNone/>
            </a:pPr>
            <a:r>
              <a:rPr lang="en-US" sz="1550" b="1" dirty="0">
                <a:solidFill>
                  <a:srgbClr val="12233D"/>
                </a:solidFill>
                <a:latin typeface="Calibri" pitchFamily="34" charset="0"/>
                <a:ea typeface="Calibri" pitchFamily="34" charset="-122"/>
                <a:cs typeface="Calibri" pitchFamily="34" charset="-120"/>
              </a:rPr>
              <a:t>Sellafield Decommissioning</a:t>
            </a:r>
            <a:endParaRPr lang="en-US" sz="1550" dirty="0"/>
          </a:p>
        </p:txBody>
      </p:sp>
      <p:sp>
        <p:nvSpPr>
          <p:cNvPr id="68" name="Text 60"/>
          <p:cNvSpPr/>
          <p:nvPr/>
        </p:nvSpPr>
        <p:spPr>
          <a:xfrm>
            <a:off x="8310677" y="5207508"/>
            <a:ext cx="3222650" cy="292608"/>
          </a:xfrm>
          <a:prstGeom prst="rect">
            <a:avLst/>
          </a:prstGeom>
          <a:noFill/>
          <a:ln/>
        </p:spPr>
        <p:txBody>
          <a:bodyPr wrap="square" lIns="0" tIns="0" rIns="0" bIns="0" rtlCol="0" anchor="t"/>
          <a:lstStyle/>
          <a:p>
            <a:pPr marL="0" indent="0">
              <a:buNone/>
            </a:pPr>
            <a:r>
              <a:rPr lang="en-US" sz="1100" b="1" dirty="0">
                <a:solidFill>
                  <a:srgbClr val="5B7A99"/>
                </a:solidFill>
                <a:latin typeface="Calibri" pitchFamily="34" charset="0"/>
                <a:ea typeface="Calibri" pitchFamily="34" charset="-122"/>
                <a:cs typeface="Calibri" pitchFamily="34" charset="-120"/>
              </a:rPr>
              <a:t>UK's largest nuclear clean-up site</a:t>
            </a:r>
            <a:endParaRPr lang="en-US" sz="1100" dirty="0"/>
          </a:p>
        </p:txBody>
      </p:sp>
      <p:sp>
        <p:nvSpPr>
          <p:cNvPr id="69" name="Shape 61"/>
          <p:cNvSpPr/>
          <p:nvPr/>
        </p:nvSpPr>
        <p:spPr>
          <a:xfrm>
            <a:off x="8310677" y="5536692"/>
            <a:ext cx="3222650" cy="0"/>
          </a:xfrm>
          <a:prstGeom prst="line">
            <a:avLst/>
          </a:prstGeom>
          <a:noFill/>
          <a:ln w="9525">
            <a:solidFill>
              <a:srgbClr val="D6E0E8"/>
            </a:solidFill>
            <a:prstDash val="solid"/>
          </a:ln>
        </p:spPr>
        <p:txBody>
          <a:bodyPr/>
          <a:lstStyle/>
          <a:p>
            <a:endParaRPr lang="en-GB"/>
          </a:p>
        </p:txBody>
      </p:sp>
      <p:sp>
        <p:nvSpPr>
          <p:cNvPr id="70" name="Text 62"/>
          <p:cNvSpPr/>
          <p:nvPr/>
        </p:nvSpPr>
        <p:spPr>
          <a:xfrm>
            <a:off x="8310677" y="5628132"/>
            <a:ext cx="3222650" cy="365760"/>
          </a:xfrm>
          <a:prstGeom prst="rect">
            <a:avLst/>
          </a:prstGeom>
          <a:noFill/>
          <a:ln/>
        </p:spPr>
        <p:txBody>
          <a:bodyPr wrap="square" lIns="0" tIns="0" rIns="0" bIns="0" rtlCol="0" anchor="t"/>
          <a:lstStyle/>
          <a:p>
            <a:pPr marL="0" indent="0">
              <a:lnSpc>
                <a:spcPct val="105000"/>
              </a:lnSpc>
              <a:buNone/>
            </a:pPr>
            <a:r>
              <a:rPr lang="en-US" sz="850" b="1" kern="0" spc="50" dirty="0">
                <a:solidFill>
                  <a:srgbClr val="5B7A99"/>
                </a:solidFill>
                <a:latin typeface="Calibri" pitchFamily="34" charset="0"/>
                <a:ea typeface="Calibri" pitchFamily="34" charset="-122"/>
                <a:cs typeface="Calibri" pitchFamily="34" charset="-120"/>
              </a:rPr>
              <a:t>MILESTONE  </a:t>
            </a:r>
            <a:r>
              <a:rPr lang="en-US" sz="1050" dirty="0">
                <a:solidFill>
                  <a:srgbClr val="12233D"/>
                </a:solidFill>
                <a:latin typeface="Calibri" pitchFamily="34" charset="0"/>
                <a:ea typeface="Calibri" pitchFamily="34" charset="-122"/>
                <a:cs typeface="Calibri" pitchFamily="34" charset="-120"/>
              </a:rPr>
              <a:t>Full site remediation by 2125</a:t>
            </a:r>
            <a:endParaRPr lang="en-US" sz="850" dirty="0"/>
          </a:p>
        </p:txBody>
      </p:sp>
      <p:sp>
        <p:nvSpPr>
          <p:cNvPr id="71" name="Text 63"/>
          <p:cNvSpPr/>
          <p:nvPr/>
        </p:nvSpPr>
        <p:spPr>
          <a:xfrm>
            <a:off x="8310677" y="6199632"/>
            <a:ext cx="3222650" cy="274320"/>
          </a:xfrm>
          <a:prstGeom prst="rect">
            <a:avLst/>
          </a:prstGeom>
          <a:noFill/>
          <a:ln/>
        </p:spPr>
        <p:txBody>
          <a:bodyPr wrap="square" lIns="0" tIns="0" rIns="0" bIns="0" rtlCol="0" anchor="b"/>
          <a:lstStyle/>
          <a:p>
            <a:pPr marL="0" indent="0">
              <a:buNone/>
            </a:pPr>
            <a:r>
              <a:rPr lang="en-US" sz="950" i="1" dirty="0">
                <a:solidFill>
                  <a:srgbClr val="5B6B7C"/>
                </a:solidFill>
                <a:latin typeface="Calibri" pitchFamily="34" charset="0"/>
                <a:ea typeface="Calibri" pitchFamily="34" charset="-122"/>
                <a:cs typeface="Calibri" pitchFamily="34" charset="-120"/>
              </a:rPr>
              <a:t>Sellafield Ltd · NDA · PPP</a:t>
            </a:r>
            <a:endParaRPr lang="en-US" sz="950" dirty="0"/>
          </a:p>
        </p:txBody>
      </p:sp>
      <p:sp>
        <p:nvSpPr>
          <p:cNvPr id="72" name="Text 64"/>
          <p:cNvSpPr/>
          <p:nvPr/>
        </p:nvSpPr>
        <p:spPr>
          <a:xfrm>
            <a:off x="457200" y="6565392"/>
            <a:ext cx="11247120" cy="228600"/>
          </a:xfrm>
          <a:prstGeom prst="rect">
            <a:avLst/>
          </a:prstGeom>
          <a:noFill/>
          <a:ln/>
        </p:spPr>
        <p:txBody>
          <a:bodyPr wrap="square" lIns="0" tIns="0" rIns="0" bIns="0" rtlCol="0" anchor="ctr"/>
          <a:lstStyle/>
          <a:p>
            <a:pPr marL="0" indent="0">
              <a:buNone/>
            </a:pPr>
            <a:r>
              <a:rPr lang="en-US" sz="850" i="1" dirty="0">
                <a:solidFill>
                  <a:srgbClr val="9AA7B3"/>
                </a:solidFill>
                <a:latin typeface="Calibri" pitchFamily="34" charset="0"/>
                <a:ea typeface="Calibri" pitchFamily="34" charset="-122"/>
                <a:cs typeface="Calibri" pitchFamily="34" charset="-120"/>
              </a:rPr>
              <a:t>Source: UK Nuclear Programme Landscape Report — Market &amp; Supply Chain Analysis, 22 June 2026. Figures subject to revision at future approval gateways.</a:t>
            </a:r>
            <a:endParaRPr lang="en-US" sz="850" dirty="0"/>
          </a:p>
        </p:txBody>
      </p:sp>
    </p:spTree>
    <p:extLst>
      <p:ext uri="{BB962C8B-B14F-4D97-AF65-F5344CB8AC3E}">
        <p14:creationId xmlns:p14="http://schemas.microsoft.com/office/powerpoint/2010/main" val="357674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E9B2C-78E5-D009-AD77-9C3E61FC6E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A4EB562-7121-E28C-9AAA-3520D7F70D9F}"/>
              </a:ext>
            </a:extLst>
          </p:cNvPr>
          <p:cNvSpPr/>
          <p:nvPr/>
        </p:nvSpPr>
        <p:spPr>
          <a:xfrm>
            <a:off x="0" y="0"/>
            <a:ext cx="12191695" cy="914400"/>
          </a:xfrm>
          <a:prstGeom prst="rect">
            <a:avLst/>
          </a:prstGeom>
          <a:solidFill>
            <a:srgbClr val="12233D"/>
          </a:solidFill>
          <a:ln/>
        </p:spPr>
        <p:txBody>
          <a:bodyPr/>
          <a:lstStyle/>
          <a:p>
            <a:endParaRPr lang="en-GB"/>
          </a:p>
        </p:txBody>
      </p:sp>
      <p:sp>
        <p:nvSpPr>
          <p:cNvPr id="3" name="Text 1">
            <a:extLst>
              <a:ext uri="{FF2B5EF4-FFF2-40B4-BE49-F238E27FC236}">
                <a16:creationId xmlns:a16="http://schemas.microsoft.com/office/drawing/2014/main" id="{1B695464-C21B-9EC5-D28F-F17A504A8F09}"/>
              </a:ext>
            </a:extLst>
          </p:cNvPr>
          <p:cNvSpPr/>
          <p:nvPr/>
        </p:nvSpPr>
        <p:spPr>
          <a:xfrm>
            <a:off x="457200" y="100584"/>
            <a:ext cx="8686800" cy="347472"/>
          </a:xfrm>
          <a:prstGeom prst="rect">
            <a:avLst/>
          </a:prstGeom>
          <a:noFill/>
          <a:ln/>
        </p:spPr>
        <p:txBody>
          <a:bodyPr wrap="square" lIns="0" tIns="0" rIns="0" bIns="0" rtlCol="0" anchor="ctr"/>
          <a:lstStyle/>
          <a:p>
            <a:pPr marL="0" indent="0">
              <a:buNone/>
            </a:pPr>
            <a:r>
              <a:rPr lang="en-US" sz="2400" b="1" kern="0" spc="150" dirty="0">
                <a:solidFill>
                  <a:srgbClr val="FF0000"/>
                </a:solidFill>
                <a:latin typeface="Calibri" pitchFamily="34" charset="0"/>
                <a:ea typeface="Calibri" pitchFamily="34" charset="-122"/>
                <a:cs typeface="Calibri" pitchFamily="34" charset="-120"/>
              </a:rPr>
              <a:t>UK</a:t>
            </a:r>
            <a:r>
              <a:rPr lang="en-US" sz="1400" b="1" kern="0" spc="150" dirty="0">
                <a:solidFill>
                  <a:srgbClr val="9FB6CC"/>
                </a:solidFill>
                <a:latin typeface="Calibri" pitchFamily="34" charset="0"/>
                <a:ea typeface="Calibri" pitchFamily="34" charset="-122"/>
                <a:cs typeface="Calibri" pitchFamily="34" charset="-120"/>
              </a:rPr>
              <a:t> </a:t>
            </a:r>
            <a:r>
              <a:rPr lang="en-US" sz="1400" b="1" kern="0" spc="150" dirty="0">
                <a:solidFill>
                  <a:schemeClr val="bg1"/>
                </a:solidFill>
                <a:latin typeface="Calibri" pitchFamily="34" charset="0"/>
                <a:ea typeface="Calibri" pitchFamily="34" charset="-122"/>
                <a:cs typeface="Calibri" pitchFamily="34" charset="-120"/>
              </a:rPr>
              <a:t>NUCLEAR &amp; FUSION PROGRAMME LANDSCAPE</a:t>
            </a:r>
            <a:endParaRPr lang="en-US" sz="1400" dirty="0">
              <a:solidFill>
                <a:schemeClr val="bg1"/>
              </a:solidFill>
            </a:endParaRPr>
          </a:p>
        </p:txBody>
      </p:sp>
      <p:sp>
        <p:nvSpPr>
          <p:cNvPr id="4" name="Text 2">
            <a:extLst>
              <a:ext uri="{FF2B5EF4-FFF2-40B4-BE49-F238E27FC236}">
                <a16:creationId xmlns:a16="http://schemas.microsoft.com/office/drawing/2014/main" id="{7B1B218F-CE07-422E-6219-6EFB668A0164}"/>
              </a:ext>
            </a:extLst>
          </p:cNvPr>
          <p:cNvSpPr/>
          <p:nvPr/>
        </p:nvSpPr>
        <p:spPr>
          <a:xfrm>
            <a:off x="457200" y="384048"/>
            <a:ext cx="868680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Delivery Timeline, 2026–2040+</a:t>
            </a:r>
            <a:endParaRPr lang="en-US" sz="2400" dirty="0"/>
          </a:p>
        </p:txBody>
      </p:sp>
      <p:sp>
        <p:nvSpPr>
          <p:cNvPr id="6" name="Shape 4">
            <a:extLst>
              <a:ext uri="{FF2B5EF4-FFF2-40B4-BE49-F238E27FC236}">
                <a16:creationId xmlns:a16="http://schemas.microsoft.com/office/drawing/2014/main" id="{5A5AE6D9-E506-D704-F7FE-EB1E63144CCA}"/>
              </a:ext>
            </a:extLst>
          </p:cNvPr>
          <p:cNvSpPr/>
          <p:nvPr/>
        </p:nvSpPr>
        <p:spPr>
          <a:xfrm>
            <a:off x="5083534" y="1060704"/>
            <a:ext cx="118872" cy="118872"/>
          </a:xfrm>
          <a:prstGeom prst="ellipse">
            <a:avLst/>
          </a:prstGeom>
          <a:solidFill>
            <a:srgbClr val="1E8E5A"/>
          </a:solidFill>
          <a:ln/>
        </p:spPr>
        <p:txBody>
          <a:bodyPr/>
          <a:lstStyle/>
          <a:p>
            <a:endParaRPr lang="en-GB"/>
          </a:p>
        </p:txBody>
      </p:sp>
      <p:sp>
        <p:nvSpPr>
          <p:cNvPr id="7" name="Text 5">
            <a:extLst>
              <a:ext uri="{FF2B5EF4-FFF2-40B4-BE49-F238E27FC236}">
                <a16:creationId xmlns:a16="http://schemas.microsoft.com/office/drawing/2014/main" id="{302A382C-B305-AF46-2A4E-17AC3206A381}"/>
              </a:ext>
            </a:extLst>
          </p:cNvPr>
          <p:cNvSpPr/>
          <p:nvPr/>
        </p:nvSpPr>
        <p:spPr>
          <a:xfrm>
            <a:off x="5266414" y="978408"/>
            <a:ext cx="2148840" cy="274320"/>
          </a:xfrm>
          <a:prstGeom prst="rect">
            <a:avLst/>
          </a:prstGeom>
          <a:noFill/>
          <a:ln/>
        </p:spPr>
        <p:txBody>
          <a:bodyPr wrap="square" lIns="0" tIns="0" rIns="0" bIns="0" rtlCol="0" anchor="ctr"/>
          <a:lstStyle/>
          <a:p>
            <a:pPr marL="0" indent="0">
              <a:buNone/>
            </a:pPr>
            <a:r>
              <a:rPr lang="en-US" sz="1000" dirty="0">
                <a:solidFill>
                  <a:srgbClr val="5B6B7C"/>
                </a:solidFill>
                <a:latin typeface="Calibri" pitchFamily="34" charset="0"/>
                <a:ea typeface="Calibri" pitchFamily="34" charset="-122"/>
                <a:cs typeface="Calibri" pitchFamily="34" charset="-120"/>
              </a:rPr>
              <a:t>Construction / active delivery</a:t>
            </a:r>
            <a:endParaRPr lang="en-US" sz="1000" dirty="0"/>
          </a:p>
        </p:txBody>
      </p:sp>
      <p:sp>
        <p:nvSpPr>
          <p:cNvPr id="8" name="Shape 6">
            <a:extLst>
              <a:ext uri="{FF2B5EF4-FFF2-40B4-BE49-F238E27FC236}">
                <a16:creationId xmlns:a16="http://schemas.microsoft.com/office/drawing/2014/main" id="{40A67456-FB84-782A-4C4E-D7BA7C8A323B}"/>
              </a:ext>
            </a:extLst>
          </p:cNvPr>
          <p:cNvSpPr/>
          <p:nvPr/>
        </p:nvSpPr>
        <p:spPr>
          <a:xfrm>
            <a:off x="7598134" y="1060704"/>
            <a:ext cx="118872" cy="118872"/>
          </a:xfrm>
          <a:prstGeom prst="ellipse">
            <a:avLst/>
          </a:prstGeom>
          <a:solidFill>
            <a:srgbClr val="C77B17"/>
          </a:solidFill>
          <a:ln/>
        </p:spPr>
        <p:txBody>
          <a:bodyPr/>
          <a:lstStyle/>
          <a:p>
            <a:endParaRPr lang="en-GB"/>
          </a:p>
        </p:txBody>
      </p:sp>
      <p:sp>
        <p:nvSpPr>
          <p:cNvPr id="9" name="Text 7">
            <a:extLst>
              <a:ext uri="{FF2B5EF4-FFF2-40B4-BE49-F238E27FC236}">
                <a16:creationId xmlns:a16="http://schemas.microsoft.com/office/drawing/2014/main" id="{E1EBD576-B139-F2CD-5695-645AFA88FAD2}"/>
              </a:ext>
            </a:extLst>
          </p:cNvPr>
          <p:cNvSpPr/>
          <p:nvPr/>
        </p:nvSpPr>
        <p:spPr>
          <a:xfrm>
            <a:off x="7781014" y="978408"/>
            <a:ext cx="1554480" cy="274320"/>
          </a:xfrm>
          <a:prstGeom prst="rect">
            <a:avLst/>
          </a:prstGeom>
          <a:noFill/>
          <a:ln/>
        </p:spPr>
        <p:txBody>
          <a:bodyPr wrap="square" lIns="0" tIns="0" rIns="0" bIns="0" rtlCol="0" anchor="ctr"/>
          <a:lstStyle/>
          <a:p>
            <a:pPr marL="0" indent="0">
              <a:buNone/>
            </a:pPr>
            <a:r>
              <a:rPr lang="en-US" sz="1000" dirty="0">
                <a:solidFill>
                  <a:srgbClr val="5B6B7C"/>
                </a:solidFill>
                <a:latin typeface="Calibri" pitchFamily="34" charset="0"/>
                <a:ea typeface="Calibri" pitchFamily="34" charset="-122"/>
                <a:cs typeface="Calibri" pitchFamily="34" charset="-120"/>
              </a:rPr>
              <a:t>Design &amp; consenting</a:t>
            </a:r>
            <a:endParaRPr lang="en-US" sz="1000" dirty="0"/>
          </a:p>
        </p:txBody>
      </p:sp>
      <p:sp>
        <p:nvSpPr>
          <p:cNvPr id="10" name="Shape 8">
            <a:extLst>
              <a:ext uri="{FF2B5EF4-FFF2-40B4-BE49-F238E27FC236}">
                <a16:creationId xmlns:a16="http://schemas.microsoft.com/office/drawing/2014/main" id="{47BA53B5-4468-5219-0597-CE38B95B4F09}"/>
              </a:ext>
            </a:extLst>
          </p:cNvPr>
          <p:cNvSpPr/>
          <p:nvPr/>
        </p:nvSpPr>
        <p:spPr>
          <a:xfrm>
            <a:off x="9335494" y="1060704"/>
            <a:ext cx="118872" cy="118872"/>
          </a:xfrm>
          <a:prstGeom prst="ellipse">
            <a:avLst/>
          </a:prstGeom>
          <a:solidFill>
            <a:srgbClr val="6B7785"/>
          </a:solidFill>
          <a:ln/>
        </p:spPr>
        <p:txBody>
          <a:bodyPr/>
          <a:lstStyle/>
          <a:p>
            <a:endParaRPr lang="en-GB"/>
          </a:p>
        </p:txBody>
      </p:sp>
      <p:sp>
        <p:nvSpPr>
          <p:cNvPr id="11" name="Text 9">
            <a:extLst>
              <a:ext uri="{FF2B5EF4-FFF2-40B4-BE49-F238E27FC236}">
                <a16:creationId xmlns:a16="http://schemas.microsoft.com/office/drawing/2014/main" id="{C078DA14-47D4-55F3-D5C3-954C0FB38614}"/>
              </a:ext>
            </a:extLst>
          </p:cNvPr>
          <p:cNvSpPr/>
          <p:nvPr/>
        </p:nvSpPr>
        <p:spPr>
          <a:xfrm>
            <a:off x="9518374" y="978408"/>
            <a:ext cx="1005840" cy="274320"/>
          </a:xfrm>
          <a:prstGeom prst="rect">
            <a:avLst/>
          </a:prstGeom>
          <a:noFill/>
          <a:ln/>
        </p:spPr>
        <p:txBody>
          <a:bodyPr wrap="square" lIns="0" tIns="0" rIns="0" bIns="0" rtlCol="0" anchor="ctr"/>
          <a:lstStyle/>
          <a:p>
            <a:pPr marL="0" indent="0">
              <a:buNone/>
            </a:pPr>
            <a:r>
              <a:rPr lang="en-US" sz="1000" dirty="0">
                <a:solidFill>
                  <a:srgbClr val="5B6B7C"/>
                </a:solidFill>
                <a:latin typeface="Calibri" pitchFamily="34" charset="0"/>
                <a:ea typeface="Calibri" pitchFamily="34" charset="-122"/>
                <a:cs typeface="Calibri" pitchFamily="34" charset="-120"/>
              </a:rPr>
              <a:t>Site selection</a:t>
            </a:r>
            <a:endParaRPr lang="en-US" sz="1000" dirty="0"/>
          </a:p>
        </p:txBody>
      </p:sp>
      <p:sp>
        <p:nvSpPr>
          <p:cNvPr id="12" name="Shape 10">
            <a:extLst>
              <a:ext uri="{FF2B5EF4-FFF2-40B4-BE49-F238E27FC236}">
                <a16:creationId xmlns:a16="http://schemas.microsoft.com/office/drawing/2014/main" id="{30109885-9F9E-31A0-533A-32A04A38BC32}"/>
              </a:ext>
            </a:extLst>
          </p:cNvPr>
          <p:cNvSpPr/>
          <p:nvPr/>
        </p:nvSpPr>
        <p:spPr>
          <a:xfrm>
            <a:off x="2331720" y="1426464"/>
            <a:ext cx="0" cy="4846320"/>
          </a:xfrm>
          <a:prstGeom prst="line">
            <a:avLst/>
          </a:prstGeom>
          <a:noFill/>
          <a:ln w="9525">
            <a:solidFill>
              <a:srgbClr val="E3E9EF"/>
            </a:solidFill>
            <a:prstDash val="solid"/>
          </a:ln>
        </p:spPr>
        <p:txBody>
          <a:bodyPr/>
          <a:lstStyle/>
          <a:p>
            <a:endParaRPr lang="en-GB"/>
          </a:p>
        </p:txBody>
      </p:sp>
      <p:sp>
        <p:nvSpPr>
          <p:cNvPr id="13" name="Text 11">
            <a:extLst>
              <a:ext uri="{FF2B5EF4-FFF2-40B4-BE49-F238E27FC236}">
                <a16:creationId xmlns:a16="http://schemas.microsoft.com/office/drawing/2014/main" id="{C1A6C55D-561A-3B2A-2324-9719E442B5ED}"/>
              </a:ext>
            </a:extLst>
          </p:cNvPr>
          <p:cNvSpPr/>
          <p:nvPr/>
        </p:nvSpPr>
        <p:spPr>
          <a:xfrm>
            <a:off x="2011680" y="6309360"/>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2026</a:t>
            </a:r>
            <a:endParaRPr lang="en-US" sz="950" dirty="0"/>
          </a:p>
        </p:txBody>
      </p:sp>
      <p:sp>
        <p:nvSpPr>
          <p:cNvPr id="14" name="Shape 12">
            <a:extLst>
              <a:ext uri="{FF2B5EF4-FFF2-40B4-BE49-F238E27FC236}">
                <a16:creationId xmlns:a16="http://schemas.microsoft.com/office/drawing/2014/main" id="{FF0EFA44-738A-9B63-1404-641C8A20A190}"/>
              </a:ext>
            </a:extLst>
          </p:cNvPr>
          <p:cNvSpPr/>
          <p:nvPr/>
        </p:nvSpPr>
        <p:spPr>
          <a:xfrm>
            <a:off x="3509010" y="1426464"/>
            <a:ext cx="0" cy="4846320"/>
          </a:xfrm>
          <a:prstGeom prst="line">
            <a:avLst/>
          </a:prstGeom>
          <a:noFill/>
          <a:ln w="9525">
            <a:solidFill>
              <a:srgbClr val="E3E9EF"/>
            </a:solidFill>
            <a:prstDash val="solid"/>
          </a:ln>
        </p:spPr>
        <p:txBody>
          <a:bodyPr/>
          <a:lstStyle/>
          <a:p>
            <a:endParaRPr lang="en-GB"/>
          </a:p>
        </p:txBody>
      </p:sp>
      <p:sp>
        <p:nvSpPr>
          <p:cNvPr id="15" name="Text 13">
            <a:extLst>
              <a:ext uri="{FF2B5EF4-FFF2-40B4-BE49-F238E27FC236}">
                <a16:creationId xmlns:a16="http://schemas.microsoft.com/office/drawing/2014/main" id="{7874C7B9-A154-7657-8C38-1E4330B10D39}"/>
              </a:ext>
            </a:extLst>
          </p:cNvPr>
          <p:cNvSpPr/>
          <p:nvPr/>
        </p:nvSpPr>
        <p:spPr>
          <a:xfrm>
            <a:off x="3188970" y="6309360"/>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2028</a:t>
            </a:r>
            <a:endParaRPr lang="en-US" sz="950" dirty="0"/>
          </a:p>
        </p:txBody>
      </p:sp>
      <p:sp>
        <p:nvSpPr>
          <p:cNvPr id="16" name="Shape 14">
            <a:extLst>
              <a:ext uri="{FF2B5EF4-FFF2-40B4-BE49-F238E27FC236}">
                <a16:creationId xmlns:a16="http://schemas.microsoft.com/office/drawing/2014/main" id="{812E2112-F938-0477-9418-B90BDA8F3BF8}"/>
              </a:ext>
            </a:extLst>
          </p:cNvPr>
          <p:cNvSpPr/>
          <p:nvPr/>
        </p:nvSpPr>
        <p:spPr>
          <a:xfrm>
            <a:off x="4686300" y="1426464"/>
            <a:ext cx="0" cy="4846320"/>
          </a:xfrm>
          <a:prstGeom prst="line">
            <a:avLst/>
          </a:prstGeom>
          <a:noFill/>
          <a:ln w="9525">
            <a:solidFill>
              <a:srgbClr val="E3E9EF"/>
            </a:solidFill>
            <a:prstDash val="solid"/>
          </a:ln>
        </p:spPr>
        <p:txBody>
          <a:bodyPr/>
          <a:lstStyle/>
          <a:p>
            <a:endParaRPr lang="en-GB"/>
          </a:p>
        </p:txBody>
      </p:sp>
      <p:sp>
        <p:nvSpPr>
          <p:cNvPr id="17" name="Text 15">
            <a:extLst>
              <a:ext uri="{FF2B5EF4-FFF2-40B4-BE49-F238E27FC236}">
                <a16:creationId xmlns:a16="http://schemas.microsoft.com/office/drawing/2014/main" id="{B6C82920-625D-2E91-EDA3-F2E379E0A098}"/>
              </a:ext>
            </a:extLst>
          </p:cNvPr>
          <p:cNvSpPr/>
          <p:nvPr/>
        </p:nvSpPr>
        <p:spPr>
          <a:xfrm>
            <a:off x="4366260" y="6309360"/>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2030</a:t>
            </a:r>
            <a:endParaRPr lang="en-US" sz="950" dirty="0"/>
          </a:p>
        </p:txBody>
      </p:sp>
      <p:sp>
        <p:nvSpPr>
          <p:cNvPr id="18" name="Shape 16">
            <a:extLst>
              <a:ext uri="{FF2B5EF4-FFF2-40B4-BE49-F238E27FC236}">
                <a16:creationId xmlns:a16="http://schemas.microsoft.com/office/drawing/2014/main" id="{974C8711-5310-5D3F-4C2B-AD634D75FF01}"/>
              </a:ext>
            </a:extLst>
          </p:cNvPr>
          <p:cNvSpPr/>
          <p:nvPr/>
        </p:nvSpPr>
        <p:spPr>
          <a:xfrm>
            <a:off x="5863590" y="1426464"/>
            <a:ext cx="0" cy="4846320"/>
          </a:xfrm>
          <a:prstGeom prst="line">
            <a:avLst/>
          </a:prstGeom>
          <a:noFill/>
          <a:ln w="9525">
            <a:solidFill>
              <a:srgbClr val="E3E9EF"/>
            </a:solidFill>
            <a:prstDash val="solid"/>
          </a:ln>
        </p:spPr>
        <p:txBody>
          <a:bodyPr/>
          <a:lstStyle/>
          <a:p>
            <a:endParaRPr lang="en-GB"/>
          </a:p>
        </p:txBody>
      </p:sp>
      <p:sp>
        <p:nvSpPr>
          <p:cNvPr id="19" name="Text 17">
            <a:extLst>
              <a:ext uri="{FF2B5EF4-FFF2-40B4-BE49-F238E27FC236}">
                <a16:creationId xmlns:a16="http://schemas.microsoft.com/office/drawing/2014/main" id="{F3F41A1D-59B1-DF9B-DEBB-08FD8E941D42}"/>
              </a:ext>
            </a:extLst>
          </p:cNvPr>
          <p:cNvSpPr/>
          <p:nvPr/>
        </p:nvSpPr>
        <p:spPr>
          <a:xfrm>
            <a:off x="5543550" y="6309360"/>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2032</a:t>
            </a:r>
            <a:endParaRPr lang="en-US" sz="950" dirty="0"/>
          </a:p>
        </p:txBody>
      </p:sp>
      <p:sp>
        <p:nvSpPr>
          <p:cNvPr id="20" name="Shape 18">
            <a:extLst>
              <a:ext uri="{FF2B5EF4-FFF2-40B4-BE49-F238E27FC236}">
                <a16:creationId xmlns:a16="http://schemas.microsoft.com/office/drawing/2014/main" id="{859CE264-B201-4F8D-B798-9A6EB872EEA7}"/>
              </a:ext>
            </a:extLst>
          </p:cNvPr>
          <p:cNvSpPr/>
          <p:nvPr/>
        </p:nvSpPr>
        <p:spPr>
          <a:xfrm>
            <a:off x="7040880" y="1426464"/>
            <a:ext cx="0" cy="4846320"/>
          </a:xfrm>
          <a:prstGeom prst="line">
            <a:avLst/>
          </a:prstGeom>
          <a:noFill/>
          <a:ln w="9525">
            <a:solidFill>
              <a:srgbClr val="E3E9EF"/>
            </a:solidFill>
            <a:prstDash val="solid"/>
          </a:ln>
        </p:spPr>
        <p:txBody>
          <a:bodyPr/>
          <a:lstStyle/>
          <a:p>
            <a:endParaRPr lang="en-GB"/>
          </a:p>
        </p:txBody>
      </p:sp>
      <p:sp>
        <p:nvSpPr>
          <p:cNvPr id="21" name="Text 19">
            <a:extLst>
              <a:ext uri="{FF2B5EF4-FFF2-40B4-BE49-F238E27FC236}">
                <a16:creationId xmlns:a16="http://schemas.microsoft.com/office/drawing/2014/main" id="{DA99B9A4-FC98-AE3B-B743-9CED46D1BB62}"/>
              </a:ext>
            </a:extLst>
          </p:cNvPr>
          <p:cNvSpPr/>
          <p:nvPr/>
        </p:nvSpPr>
        <p:spPr>
          <a:xfrm>
            <a:off x="6720840" y="6309360"/>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2034</a:t>
            </a:r>
            <a:endParaRPr lang="en-US" sz="950" dirty="0"/>
          </a:p>
        </p:txBody>
      </p:sp>
      <p:sp>
        <p:nvSpPr>
          <p:cNvPr id="22" name="Shape 20">
            <a:extLst>
              <a:ext uri="{FF2B5EF4-FFF2-40B4-BE49-F238E27FC236}">
                <a16:creationId xmlns:a16="http://schemas.microsoft.com/office/drawing/2014/main" id="{FD435FCA-B3F3-559C-3C49-896077DAEBCE}"/>
              </a:ext>
            </a:extLst>
          </p:cNvPr>
          <p:cNvSpPr/>
          <p:nvPr/>
        </p:nvSpPr>
        <p:spPr>
          <a:xfrm>
            <a:off x="8218170" y="1426464"/>
            <a:ext cx="0" cy="4846320"/>
          </a:xfrm>
          <a:prstGeom prst="line">
            <a:avLst/>
          </a:prstGeom>
          <a:noFill/>
          <a:ln w="9525">
            <a:solidFill>
              <a:srgbClr val="E3E9EF"/>
            </a:solidFill>
            <a:prstDash val="solid"/>
          </a:ln>
        </p:spPr>
        <p:txBody>
          <a:bodyPr/>
          <a:lstStyle/>
          <a:p>
            <a:endParaRPr lang="en-GB"/>
          </a:p>
        </p:txBody>
      </p:sp>
      <p:sp>
        <p:nvSpPr>
          <p:cNvPr id="23" name="Text 21">
            <a:extLst>
              <a:ext uri="{FF2B5EF4-FFF2-40B4-BE49-F238E27FC236}">
                <a16:creationId xmlns:a16="http://schemas.microsoft.com/office/drawing/2014/main" id="{ACCBAD84-0902-47D1-2018-7FA50B8F995C}"/>
              </a:ext>
            </a:extLst>
          </p:cNvPr>
          <p:cNvSpPr/>
          <p:nvPr/>
        </p:nvSpPr>
        <p:spPr>
          <a:xfrm>
            <a:off x="7898130" y="6309360"/>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2036</a:t>
            </a:r>
            <a:endParaRPr lang="en-US" sz="950" dirty="0"/>
          </a:p>
        </p:txBody>
      </p:sp>
      <p:sp>
        <p:nvSpPr>
          <p:cNvPr id="24" name="Shape 22">
            <a:extLst>
              <a:ext uri="{FF2B5EF4-FFF2-40B4-BE49-F238E27FC236}">
                <a16:creationId xmlns:a16="http://schemas.microsoft.com/office/drawing/2014/main" id="{DA3DCBD2-54CB-CFD9-1374-3AA5012ABF81}"/>
              </a:ext>
            </a:extLst>
          </p:cNvPr>
          <p:cNvSpPr/>
          <p:nvPr/>
        </p:nvSpPr>
        <p:spPr>
          <a:xfrm>
            <a:off x="9395460" y="1426464"/>
            <a:ext cx="0" cy="4846320"/>
          </a:xfrm>
          <a:prstGeom prst="line">
            <a:avLst/>
          </a:prstGeom>
          <a:noFill/>
          <a:ln w="9525">
            <a:solidFill>
              <a:srgbClr val="E3E9EF"/>
            </a:solidFill>
            <a:prstDash val="solid"/>
          </a:ln>
        </p:spPr>
        <p:txBody>
          <a:bodyPr/>
          <a:lstStyle/>
          <a:p>
            <a:endParaRPr lang="en-GB"/>
          </a:p>
        </p:txBody>
      </p:sp>
      <p:sp>
        <p:nvSpPr>
          <p:cNvPr id="25" name="Text 23">
            <a:extLst>
              <a:ext uri="{FF2B5EF4-FFF2-40B4-BE49-F238E27FC236}">
                <a16:creationId xmlns:a16="http://schemas.microsoft.com/office/drawing/2014/main" id="{59658029-81D0-F415-A78A-7799CB0735F1}"/>
              </a:ext>
            </a:extLst>
          </p:cNvPr>
          <p:cNvSpPr/>
          <p:nvPr/>
        </p:nvSpPr>
        <p:spPr>
          <a:xfrm>
            <a:off x="9075420" y="6309360"/>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2038</a:t>
            </a:r>
            <a:endParaRPr lang="en-US" sz="950" dirty="0"/>
          </a:p>
        </p:txBody>
      </p:sp>
      <p:sp>
        <p:nvSpPr>
          <p:cNvPr id="26" name="Shape 24">
            <a:extLst>
              <a:ext uri="{FF2B5EF4-FFF2-40B4-BE49-F238E27FC236}">
                <a16:creationId xmlns:a16="http://schemas.microsoft.com/office/drawing/2014/main" id="{C537C614-538F-AA1A-6955-31A26F87B4C1}"/>
              </a:ext>
            </a:extLst>
          </p:cNvPr>
          <p:cNvSpPr/>
          <p:nvPr/>
        </p:nvSpPr>
        <p:spPr>
          <a:xfrm>
            <a:off x="10572750" y="1426464"/>
            <a:ext cx="0" cy="4846320"/>
          </a:xfrm>
          <a:prstGeom prst="line">
            <a:avLst/>
          </a:prstGeom>
          <a:noFill/>
          <a:ln w="9525">
            <a:solidFill>
              <a:srgbClr val="E3E9EF"/>
            </a:solidFill>
            <a:prstDash val="solid"/>
          </a:ln>
        </p:spPr>
        <p:txBody>
          <a:bodyPr/>
          <a:lstStyle/>
          <a:p>
            <a:endParaRPr lang="en-GB"/>
          </a:p>
        </p:txBody>
      </p:sp>
      <p:sp>
        <p:nvSpPr>
          <p:cNvPr id="27" name="Text 25">
            <a:extLst>
              <a:ext uri="{FF2B5EF4-FFF2-40B4-BE49-F238E27FC236}">
                <a16:creationId xmlns:a16="http://schemas.microsoft.com/office/drawing/2014/main" id="{BDDCD516-FB35-BB1F-1D66-6F58D83F2273}"/>
              </a:ext>
            </a:extLst>
          </p:cNvPr>
          <p:cNvSpPr/>
          <p:nvPr/>
        </p:nvSpPr>
        <p:spPr>
          <a:xfrm>
            <a:off x="10252710" y="6309360"/>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2040</a:t>
            </a:r>
            <a:endParaRPr lang="en-US" sz="950" dirty="0"/>
          </a:p>
        </p:txBody>
      </p:sp>
      <p:sp>
        <p:nvSpPr>
          <p:cNvPr id="28" name="Shape 26">
            <a:extLst>
              <a:ext uri="{FF2B5EF4-FFF2-40B4-BE49-F238E27FC236}">
                <a16:creationId xmlns:a16="http://schemas.microsoft.com/office/drawing/2014/main" id="{D4BD9089-C65A-C6CC-467E-D287B04AF4D8}"/>
              </a:ext>
            </a:extLst>
          </p:cNvPr>
          <p:cNvSpPr/>
          <p:nvPr/>
        </p:nvSpPr>
        <p:spPr>
          <a:xfrm>
            <a:off x="11750040" y="1426464"/>
            <a:ext cx="0" cy="4846320"/>
          </a:xfrm>
          <a:prstGeom prst="line">
            <a:avLst/>
          </a:prstGeom>
          <a:noFill/>
          <a:ln w="9525">
            <a:solidFill>
              <a:srgbClr val="E3E9EF"/>
            </a:solidFill>
            <a:prstDash val="solid"/>
          </a:ln>
        </p:spPr>
        <p:txBody>
          <a:bodyPr/>
          <a:lstStyle/>
          <a:p>
            <a:endParaRPr lang="en-GB"/>
          </a:p>
        </p:txBody>
      </p:sp>
      <p:sp>
        <p:nvSpPr>
          <p:cNvPr id="29" name="Text 27">
            <a:extLst>
              <a:ext uri="{FF2B5EF4-FFF2-40B4-BE49-F238E27FC236}">
                <a16:creationId xmlns:a16="http://schemas.microsoft.com/office/drawing/2014/main" id="{4723C343-FF2E-0D68-1093-A65874775119}"/>
              </a:ext>
            </a:extLst>
          </p:cNvPr>
          <p:cNvSpPr/>
          <p:nvPr/>
        </p:nvSpPr>
        <p:spPr>
          <a:xfrm>
            <a:off x="11430000" y="6309360"/>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2042+</a:t>
            </a:r>
            <a:endParaRPr lang="en-US" sz="950" dirty="0"/>
          </a:p>
        </p:txBody>
      </p:sp>
      <p:sp>
        <p:nvSpPr>
          <p:cNvPr id="30" name="Shape 28">
            <a:extLst>
              <a:ext uri="{FF2B5EF4-FFF2-40B4-BE49-F238E27FC236}">
                <a16:creationId xmlns:a16="http://schemas.microsoft.com/office/drawing/2014/main" id="{3074C0A8-1A1E-4E32-0862-9A852F118CA1}"/>
              </a:ext>
            </a:extLst>
          </p:cNvPr>
          <p:cNvSpPr/>
          <p:nvPr/>
        </p:nvSpPr>
        <p:spPr>
          <a:xfrm>
            <a:off x="365760" y="1426464"/>
            <a:ext cx="1828800" cy="4846320"/>
          </a:xfrm>
          <a:prstGeom prst="rect">
            <a:avLst/>
          </a:prstGeom>
          <a:solidFill>
            <a:srgbClr val="FFFFFF"/>
          </a:solidFill>
          <a:ln/>
        </p:spPr>
        <p:txBody>
          <a:bodyPr/>
          <a:lstStyle/>
          <a:p>
            <a:endParaRPr lang="en-GB"/>
          </a:p>
        </p:txBody>
      </p:sp>
      <p:sp>
        <p:nvSpPr>
          <p:cNvPr id="31" name="Shape 29">
            <a:extLst>
              <a:ext uri="{FF2B5EF4-FFF2-40B4-BE49-F238E27FC236}">
                <a16:creationId xmlns:a16="http://schemas.microsoft.com/office/drawing/2014/main" id="{D185E59E-617C-AC5F-DEC9-3A5C6240901C}"/>
              </a:ext>
            </a:extLst>
          </p:cNvPr>
          <p:cNvSpPr/>
          <p:nvPr/>
        </p:nvSpPr>
        <p:spPr>
          <a:xfrm>
            <a:off x="365760" y="1481328"/>
            <a:ext cx="11795760" cy="713232"/>
          </a:xfrm>
          <a:prstGeom prst="rect">
            <a:avLst/>
          </a:prstGeom>
          <a:solidFill>
            <a:srgbClr val="F7FAFC"/>
          </a:solidFill>
          <a:ln/>
        </p:spPr>
        <p:txBody>
          <a:bodyPr/>
          <a:lstStyle/>
          <a:p>
            <a:endParaRPr lang="en-GB"/>
          </a:p>
        </p:txBody>
      </p:sp>
      <p:sp>
        <p:nvSpPr>
          <p:cNvPr id="32" name="Shape 30">
            <a:extLst>
              <a:ext uri="{FF2B5EF4-FFF2-40B4-BE49-F238E27FC236}">
                <a16:creationId xmlns:a16="http://schemas.microsoft.com/office/drawing/2014/main" id="{F797B790-ADEA-8AAB-DF5D-637760FA7020}"/>
              </a:ext>
            </a:extLst>
          </p:cNvPr>
          <p:cNvSpPr/>
          <p:nvPr/>
        </p:nvSpPr>
        <p:spPr>
          <a:xfrm>
            <a:off x="457200" y="1655064"/>
            <a:ext cx="365760" cy="365760"/>
          </a:xfrm>
          <a:prstGeom prst="ellipse">
            <a:avLst/>
          </a:prstGeom>
          <a:solidFill>
            <a:srgbClr val="1B3358"/>
          </a:solidFill>
          <a:ln/>
        </p:spPr>
        <p:txBody>
          <a:bodyPr/>
          <a:lstStyle/>
          <a:p>
            <a:endParaRPr lang="en-GB"/>
          </a:p>
        </p:txBody>
      </p:sp>
      <p:pic>
        <p:nvPicPr>
          <p:cNvPr id="33" name="Image 0" descr="preencoded.png">
            <a:extLst>
              <a:ext uri="{FF2B5EF4-FFF2-40B4-BE49-F238E27FC236}">
                <a16:creationId xmlns:a16="http://schemas.microsoft.com/office/drawing/2014/main" id="{28D5E382-122E-BE98-F51B-CC10B36416E1}"/>
              </a:ext>
            </a:extLst>
          </p:cNvPr>
          <p:cNvPicPr>
            <a:picLocks noChangeAspect="1"/>
          </p:cNvPicPr>
          <p:nvPr/>
        </p:nvPicPr>
        <p:blipFill>
          <a:blip r:embed="rId3"/>
          <a:stretch>
            <a:fillRect/>
          </a:stretch>
        </p:blipFill>
        <p:spPr>
          <a:xfrm>
            <a:off x="530352" y="1728216"/>
            <a:ext cx="219456" cy="219456"/>
          </a:xfrm>
          <a:prstGeom prst="rect">
            <a:avLst/>
          </a:prstGeom>
        </p:spPr>
      </p:pic>
      <p:sp>
        <p:nvSpPr>
          <p:cNvPr id="34" name="Text 31">
            <a:extLst>
              <a:ext uri="{FF2B5EF4-FFF2-40B4-BE49-F238E27FC236}">
                <a16:creationId xmlns:a16="http://schemas.microsoft.com/office/drawing/2014/main" id="{5B40EBFB-AF40-8E50-8397-B237EEA024F4}"/>
              </a:ext>
            </a:extLst>
          </p:cNvPr>
          <p:cNvSpPr/>
          <p:nvPr/>
        </p:nvSpPr>
        <p:spPr>
          <a:xfrm>
            <a:off x="914400" y="1517904"/>
            <a:ext cx="1371600" cy="384048"/>
          </a:xfrm>
          <a:prstGeom prst="rect">
            <a:avLst/>
          </a:prstGeom>
          <a:noFill/>
          <a:ln/>
        </p:spPr>
        <p:txBody>
          <a:bodyPr wrap="square" lIns="0" tIns="0" rIns="0" bIns="0" rtlCol="0" anchor="t"/>
          <a:lstStyle/>
          <a:p>
            <a:pPr marL="0" indent="0">
              <a:lnSpc>
                <a:spcPct val="95000"/>
              </a:lnSpc>
              <a:buNone/>
            </a:pPr>
            <a:r>
              <a:rPr lang="en-US" sz="1100" b="1" dirty="0">
                <a:solidFill>
                  <a:srgbClr val="12233D"/>
                </a:solidFill>
                <a:latin typeface="Calibri" pitchFamily="34" charset="0"/>
                <a:ea typeface="Calibri" pitchFamily="34" charset="-122"/>
                <a:cs typeface="Calibri" pitchFamily="34" charset="-120"/>
              </a:rPr>
              <a:t>Hinkley Point C</a:t>
            </a:r>
            <a:endParaRPr lang="en-US" sz="1100" dirty="0"/>
          </a:p>
        </p:txBody>
      </p:sp>
      <p:sp>
        <p:nvSpPr>
          <p:cNvPr id="35" name="Text 32">
            <a:extLst>
              <a:ext uri="{FF2B5EF4-FFF2-40B4-BE49-F238E27FC236}">
                <a16:creationId xmlns:a16="http://schemas.microsoft.com/office/drawing/2014/main" id="{B0DF477F-ABCF-07F0-3ACF-4DB0096D5B71}"/>
              </a:ext>
            </a:extLst>
          </p:cNvPr>
          <p:cNvSpPr/>
          <p:nvPr/>
        </p:nvSpPr>
        <p:spPr>
          <a:xfrm>
            <a:off x="914400" y="1901952"/>
            <a:ext cx="1371600" cy="274320"/>
          </a:xfrm>
          <a:prstGeom prst="rect">
            <a:avLst/>
          </a:prstGeom>
          <a:noFill/>
          <a:ln/>
        </p:spPr>
        <p:txBody>
          <a:bodyPr wrap="square" lIns="0" tIns="0" rIns="0" bIns="0" rtlCol="0" anchor="b"/>
          <a:lstStyle/>
          <a:p>
            <a:pPr marL="0" indent="0">
              <a:lnSpc>
                <a:spcPct val="95000"/>
              </a:lnSpc>
              <a:buNone/>
            </a:pPr>
            <a:r>
              <a:rPr lang="en-US" sz="700" i="1" dirty="0">
                <a:solidFill>
                  <a:srgbClr val="5B6B7C"/>
                </a:solidFill>
                <a:latin typeface="Calibri" pitchFamily="34" charset="0"/>
                <a:ea typeface="Calibri" pitchFamily="34" charset="-122"/>
                <a:cs typeface="Calibri" pitchFamily="34" charset="-120"/>
              </a:rPr>
              <a:t>3.2 GW · EDF Energy · CGN</a:t>
            </a:r>
            <a:endParaRPr lang="en-US" sz="700" dirty="0"/>
          </a:p>
        </p:txBody>
      </p:sp>
      <p:sp>
        <p:nvSpPr>
          <p:cNvPr id="36" name="Shape 33">
            <a:extLst>
              <a:ext uri="{FF2B5EF4-FFF2-40B4-BE49-F238E27FC236}">
                <a16:creationId xmlns:a16="http://schemas.microsoft.com/office/drawing/2014/main" id="{1A1D0744-C86C-B973-6643-A202E6C9920F}"/>
              </a:ext>
            </a:extLst>
          </p:cNvPr>
          <p:cNvSpPr/>
          <p:nvPr/>
        </p:nvSpPr>
        <p:spPr>
          <a:xfrm>
            <a:off x="2331720" y="1837944"/>
            <a:ext cx="9418320" cy="0"/>
          </a:xfrm>
          <a:prstGeom prst="line">
            <a:avLst/>
          </a:prstGeom>
          <a:noFill/>
          <a:ln w="6350">
            <a:solidFill>
              <a:srgbClr val="E3E9EF"/>
            </a:solidFill>
            <a:prstDash val="dash"/>
          </a:ln>
        </p:spPr>
        <p:txBody>
          <a:bodyPr/>
          <a:lstStyle/>
          <a:p>
            <a:endParaRPr lang="en-GB"/>
          </a:p>
        </p:txBody>
      </p:sp>
      <p:sp>
        <p:nvSpPr>
          <p:cNvPr id="37" name="Shape 34">
            <a:extLst>
              <a:ext uri="{FF2B5EF4-FFF2-40B4-BE49-F238E27FC236}">
                <a16:creationId xmlns:a16="http://schemas.microsoft.com/office/drawing/2014/main" id="{C3668F40-30F8-4BA2-A0E6-7D012B815595}"/>
              </a:ext>
            </a:extLst>
          </p:cNvPr>
          <p:cNvSpPr/>
          <p:nvPr/>
        </p:nvSpPr>
        <p:spPr>
          <a:xfrm>
            <a:off x="2331720" y="1719072"/>
            <a:ext cx="2354580" cy="237744"/>
          </a:xfrm>
          <a:prstGeom prst="roundRect">
            <a:avLst>
              <a:gd name="adj" fmla="val 19231"/>
            </a:avLst>
          </a:prstGeom>
          <a:solidFill>
            <a:srgbClr val="1E8E5A"/>
          </a:solidFill>
          <a:ln/>
        </p:spPr>
        <p:txBody>
          <a:bodyPr/>
          <a:lstStyle/>
          <a:p>
            <a:endParaRPr lang="en-GB"/>
          </a:p>
        </p:txBody>
      </p:sp>
      <p:sp>
        <p:nvSpPr>
          <p:cNvPr id="38" name="Shape 35">
            <a:extLst>
              <a:ext uri="{FF2B5EF4-FFF2-40B4-BE49-F238E27FC236}">
                <a16:creationId xmlns:a16="http://schemas.microsoft.com/office/drawing/2014/main" id="{0D9E1841-4D1B-CF7E-76E4-3299CFE14FFD}"/>
              </a:ext>
            </a:extLst>
          </p:cNvPr>
          <p:cNvSpPr/>
          <p:nvPr/>
        </p:nvSpPr>
        <p:spPr>
          <a:xfrm>
            <a:off x="4626864" y="1778508"/>
            <a:ext cx="118872" cy="118872"/>
          </a:xfrm>
          <a:prstGeom prst="diamond">
            <a:avLst/>
          </a:prstGeom>
          <a:solidFill>
            <a:srgbClr val="FFFFFF"/>
          </a:solidFill>
          <a:ln w="22225">
            <a:solidFill>
              <a:srgbClr val="1E8E5A"/>
            </a:solidFill>
            <a:prstDash val="solid"/>
          </a:ln>
        </p:spPr>
        <p:txBody>
          <a:bodyPr/>
          <a:lstStyle/>
          <a:p>
            <a:endParaRPr lang="en-GB"/>
          </a:p>
        </p:txBody>
      </p:sp>
      <p:sp>
        <p:nvSpPr>
          <p:cNvPr id="39" name="Text 36">
            <a:extLst>
              <a:ext uri="{FF2B5EF4-FFF2-40B4-BE49-F238E27FC236}">
                <a16:creationId xmlns:a16="http://schemas.microsoft.com/office/drawing/2014/main" id="{79111415-E3A2-372A-1A7D-9ABBF4481C30}"/>
              </a:ext>
            </a:extLst>
          </p:cNvPr>
          <p:cNvSpPr/>
          <p:nvPr/>
        </p:nvSpPr>
        <p:spPr>
          <a:xfrm>
            <a:off x="3817620" y="1517904"/>
            <a:ext cx="1737360" cy="219456"/>
          </a:xfrm>
          <a:prstGeom prst="rect">
            <a:avLst/>
          </a:prstGeom>
          <a:noFill/>
          <a:ln/>
        </p:spPr>
        <p:txBody>
          <a:bodyPr wrap="square" lIns="0" tIns="0" rIns="0" bIns="0" rtlCol="0" anchor="ctr"/>
          <a:lstStyle/>
          <a:p>
            <a:pPr marL="0" indent="0" algn="ctr">
              <a:buNone/>
            </a:pPr>
            <a:r>
              <a:rPr lang="en-US" sz="800" b="1" dirty="0">
                <a:solidFill>
                  <a:srgbClr val="1E8E5A"/>
                </a:solidFill>
                <a:latin typeface="Calibri" pitchFamily="34" charset="0"/>
                <a:ea typeface="Calibri" pitchFamily="34" charset="-122"/>
                <a:cs typeface="Calibri" pitchFamily="34" charset="-120"/>
              </a:rPr>
              <a:t>First power</a:t>
            </a:r>
            <a:endParaRPr lang="en-US" sz="800" dirty="0"/>
          </a:p>
        </p:txBody>
      </p:sp>
      <p:sp>
        <p:nvSpPr>
          <p:cNvPr id="40" name="Shape 37">
            <a:extLst>
              <a:ext uri="{FF2B5EF4-FFF2-40B4-BE49-F238E27FC236}">
                <a16:creationId xmlns:a16="http://schemas.microsoft.com/office/drawing/2014/main" id="{0D0181D9-B107-520C-BCE9-52C244311565}"/>
              </a:ext>
            </a:extLst>
          </p:cNvPr>
          <p:cNvSpPr/>
          <p:nvPr/>
        </p:nvSpPr>
        <p:spPr>
          <a:xfrm>
            <a:off x="457200" y="2459736"/>
            <a:ext cx="365760" cy="365760"/>
          </a:xfrm>
          <a:prstGeom prst="ellipse">
            <a:avLst/>
          </a:prstGeom>
          <a:solidFill>
            <a:srgbClr val="1B3358"/>
          </a:solidFill>
          <a:ln/>
        </p:spPr>
        <p:txBody>
          <a:bodyPr/>
          <a:lstStyle/>
          <a:p>
            <a:endParaRPr lang="en-GB"/>
          </a:p>
        </p:txBody>
      </p:sp>
      <p:pic>
        <p:nvPicPr>
          <p:cNvPr id="41" name="Image 1" descr="preencoded.png">
            <a:extLst>
              <a:ext uri="{FF2B5EF4-FFF2-40B4-BE49-F238E27FC236}">
                <a16:creationId xmlns:a16="http://schemas.microsoft.com/office/drawing/2014/main" id="{0B496FB7-93A7-F5CE-0FBA-1416BB567461}"/>
              </a:ext>
            </a:extLst>
          </p:cNvPr>
          <p:cNvPicPr>
            <a:picLocks noChangeAspect="1"/>
          </p:cNvPicPr>
          <p:nvPr/>
        </p:nvPicPr>
        <p:blipFill>
          <a:blip r:embed="rId4"/>
          <a:stretch>
            <a:fillRect/>
          </a:stretch>
        </p:blipFill>
        <p:spPr>
          <a:xfrm>
            <a:off x="530352" y="2532888"/>
            <a:ext cx="219456" cy="219456"/>
          </a:xfrm>
          <a:prstGeom prst="rect">
            <a:avLst/>
          </a:prstGeom>
        </p:spPr>
      </p:pic>
      <p:sp>
        <p:nvSpPr>
          <p:cNvPr id="42" name="Text 38">
            <a:extLst>
              <a:ext uri="{FF2B5EF4-FFF2-40B4-BE49-F238E27FC236}">
                <a16:creationId xmlns:a16="http://schemas.microsoft.com/office/drawing/2014/main" id="{12E813E9-BA51-D401-CCA9-F6113B3785F1}"/>
              </a:ext>
            </a:extLst>
          </p:cNvPr>
          <p:cNvSpPr/>
          <p:nvPr/>
        </p:nvSpPr>
        <p:spPr>
          <a:xfrm>
            <a:off x="914400" y="2322576"/>
            <a:ext cx="1371600" cy="384048"/>
          </a:xfrm>
          <a:prstGeom prst="rect">
            <a:avLst/>
          </a:prstGeom>
          <a:noFill/>
          <a:ln/>
        </p:spPr>
        <p:txBody>
          <a:bodyPr wrap="square" lIns="0" tIns="0" rIns="0" bIns="0" rtlCol="0" anchor="t"/>
          <a:lstStyle/>
          <a:p>
            <a:pPr marL="0" indent="0">
              <a:lnSpc>
                <a:spcPct val="95000"/>
              </a:lnSpc>
              <a:buNone/>
            </a:pPr>
            <a:r>
              <a:rPr lang="en-US" sz="1100" b="1" dirty="0">
                <a:solidFill>
                  <a:srgbClr val="12233D"/>
                </a:solidFill>
                <a:latin typeface="Calibri" pitchFamily="34" charset="0"/>
                <a:ea typeface="Calibri" pitchFamily="34" charset="-122"/>
                <a:cs typeface="Calibri" pitchFamily="34" charset="-120"/>
              </a:rPr>
              <a:t>Sizewell C</a:t>
            </a:r>
            <a:endParaRPr lang="en-US" sz="1100" dirty="0"/>
          </a:p>
        </p:txBody>
      </p:sp>
      <p:sp>
        <p:nvSpPr>
          <p:cNvPr id="43" name="Text 39">
            <a:extLst>
              <a:ext uri="{FF2B5EF4-FFF2-40B4-BE49-F238E27FC236}">
                <a16:creationId xmlns:a16="http://schemas.microsoft.com/office/drawing/2014/main" id="{3FAAC6F6-159A-9352-797C-D143E3416B31}"/>
              </a:ext>
            </a:extLst>
          </p:cNvPr>
          <p:cNvSpPr/>
          <p:nvPr/>
        </p:nvSpPr>
        <p:spPr>
          <a:xfrm>
            <a:off x="914400" y="2706624"/>
            <a:ext cx="1371600" cy="274320"/>
          </a:xfrm>
          <a:prstGeom prst="rect">
            <a:avLst/>
          </a:prstGeom>
          <a:noFill/>
          <a:ln/>
        </p:spPr>
        <p:txBody>
          <a:bodyPr wrap="square" lIns="0" tIns="0" rIns="0" bIns="0" rtlCol="0" anchor="b"/>
          <a:lstStyle/>
          <a:p>
            <a:pPr marL="0" indent="0">
              <a:lnSpc>
                <a:spcPct val="95000"/>
              </a:lnSpc>
              <a:buNone/>
            </a:pPr>
            <a:r>
              <a:rPr lang="en-US" sz="700" i="1" dirty="0">
                <a:solidFill>
                  <a:srgbClr val="5B6B7C"/>
                </a:solidFill>
                <a:latin typeface="Calibri" pitchFamily="34" charset="0"/>
                <a:ea typeface="Calibri" pitchFamily="34" charset="-122"/>
                <a:cs typeface="Calibri" pitchFamily="34" charset="-120"/>
              </a:rPr>
              <a:t>3.2 GW · EDF · UK Gov · La Caisse · Centrica</a:t>
            </a:r>
            <a:endParaRPr lang="en-US" sz="700" dirty="0"/>
          </a:p>
        </p:txBody>
      </p:sp>
      <p:sp>
        <p:nvSpPr>
          <p:cNvPr id="44" name="Shape 40">
            <a:extLst>
              <a:ext uri="{FF2B5EF4-FFF2-40B4-BE49-F238E27FC236}">
                <a16:creationId xmlns:a16="http://schemas.microsoft.com/office/drawing/2014/main" id="{37BB13A2-2B67-B6E2-0237-9117D0966E6C}"/>
              </a:ext>
            </a:extLst>
          </p:cNvPr>
          <p:cNvSpPr/>
          <p:nvPr/>
        </p:nvSpPr>
        <p:spPr>
          <a:xfrm>
            <a:off x="2331720" y="2642616"/>
            <a:ext cx="9418320" cy="0"/>
          </a:xfrm>
          <a:prstGeom prst="line">
            <a:avLst/>
          </a:prstGeom>
          <a:noFill/>
          <a:ln w="6350">
            <a:solidFill>
              <a:srgbClr val="E3E9EF"/>
            </a:solidFill>
            <a:prstDash val="dash"/>
          </a:ln>
        </p:spPr>
        <p:txBody>
          <a:bodyPr/>
          <a:lstStyle/>
          <a:p>
            <a:endParaRPr lang="en-GB"/>
          </a:p>
        </p:txBody>
      </p:sp>
      <p:sp>
        <p:nvSpPr>
          <p:cNvPr id="45" name="Shape 41">
            <a:extLst>
              <a:ext uri="{FF2B5EF4-FFF2-40B4-BE49-F238E27FC236}">
                <a16:creationId xmlns:a16="http://schemas.microsoft.com/office/drawing/2014/main" id="{35D1E5FA-BE03-348C-A3EF-AED19539CB91}"/>
              </a:ext>
            </a:extLst>
          </p:cNvPr>
          <p:cNvSpPr/>
          <p:nvPr/>
        </p:nvSpPr>
        <p:spPr>
          <a:xfrm>
            <a:off x="2331720" y="2523744"/>
            <a:ext cx="6475095" cy="237744"/>
          </a:xfrm>
          <a:prstGeom prst="roundRect">
            <a:avLst>
              <a:gd name="adj" fmla="val 19231"/>
            </a:avLst>
          </a:prstGeom>
          <a:solidFill>
            <a:srgbClr val="1E8E5A"/>
          </a:solidFill>
          <a:ln/>
        </p:spPr>
        <p:txBody>
          <a:bodyPr/>
          <a:lstStyle/>
          <a:p>
            <a:endParaRPr lang="en-GB"/>
          </a:p>
        </p:txBody>
      </p:sp>
      <p:sp>
        <p:nvSpPr>
          <p:cNvPr id="46" name="Shape 42">
            <a:extLst>
              <a:ext uri="{FF2B5EF4-FFF2-40B4-BE49-F238E27FC236}">
                <a16:creationId xmlns:a16="http://schemas.microsoft.com/office/drawing/2014/main" id="{28D8999A-03F7-54D0-C429-20C4DBB7B361}"/>
              </a:ext>
            </a:extLst>
          </p:cNvPr>
          <p:cNvSpPr/>
          <p:nvPr/>
        </p:nvSpPr>
        <p:spPr>
          <a:xfrm>
            <a:off x="2272284" y="2583180"/>
            <a:ext cx="118872" cy="118872"/>
          </a:xfrm>
          <a:prstGeom prst="diamond">
            <a:avLst/>
          </a:prstGeom>
          <a:solidFill>
            <a:srgbClr val="FFFFFF"/>
          </a:solidFill>
          <a:ln w="22225">
            <a:solidFill>
              <a:srgbClr val="1E8E5A"/>
            </a:solidFill>
            <a:prstDash val="solid"/>
          </a:ln>
        </p:spPr>
        <p:txBody>
          <a:bodyPr/>
          <a:lstStyle/>
          <a:p>
            <a:endParaRPr lang="en-GB"/>
          </a:p>
        </p:txBody>
      </p:sp>
      <p:sp>
        <p:nvSpPr>
          <p:cNvPr id="47" name="Text 43">
            <a:extLst>
              <a:ext uri="{FF2B5EF4-FFF2-40B4-BE49-F238E27FC236}">
                <a16:creationId xmlns:a16="http://schemas.microsoft.com/office/drawing/2014/main" id="{DC9F952B-EB17-DB0B-1471-AD8A041053C3}"/>
              </a:ext>
            </a:extLst>
          </p:cNvPr>
          <p:cNvSpPr/>
          <p:nvPr/>
        </p:nvSpPr>
        <p:spPr>
          <a:xfrm>
            <a:off x="2286000" y="2322576"/>
            <a:ext cx="1737360" cy="219456"/>
          </a:xfrm>
          <a:prstGeom prst="rect">
            <a:avLst/>
          </a:prstGeom>
          <a:noFill/>
          <a:ln/>
        </p:spPr>
        <p:txBody>
          <a:bodyPr wrap="square" lIns="0" tIns="0" rIns="0" bIns="0" rtlCol="0" anchor="ctr"/>
          <a:lstStyle/>
          <a:p>
            <a:pPr marL="0" indent="0" algn="ctr">
              <a:buNone/>
            </a:pPr>
            <a:r>
              <a:rPr lang="en-US" sz="800" b="1" dirty="0">
                <a:solidFill>
                  <a:srgbClr val="1E8E5A"/>
                </a:solidFill>
                <a:latin typeface="Calibri" pitchFamily="34" charset="0"/>
                <a:ea typeface="Calibri" pitchFamily="34" charset="-122"/>
                <a:cs typeface="Calibri" pitchFamily="34" charset="-120"/>
              </a:rPr>
              <a:t>FID Jul-25 (signed)</a:t>
            </a:r>
            <a:endParaRPr lang="en-US" sz="800" dirty="0"/>
          </a:p>
        </p:txBody>
      </p:sp>
      <p:sp>
        <p:nvSpPr>
          <p:cNvPr id="48" name="Shape 44">
            <a:extLst>
              <a:ext uri="{FF2B5EF4-FFF2-40B4-BE49-F238E27FC236}">
                <a16:creationId xmlns:a16="http://schemas.microsoft.com/office/drawing/2014/main" id="{8F4B8DB6-8825-D863-E71B-A11797824F28}"/>
              </a:ext>
            </a:extLst>
          </p:cNvPr>
          <p:cNvSpPr/>
          <p:nvPr/>
        </p:nvSpPr>
        <p:spPr>
          <a:xfrm>
            <a:off x="8747379" y="2583180"/>
            <a:ext cx="118872" cy="118872"/>
          </a:xfrm>
          <a:prstGeom prst="diamond">
            <a:avLst/>
          </a:prstGeom>
          <a:solidFill>
            <a:srgbClr val="FFFFFF"/>
          </a:solidFill>
          <a:ln w="22225">
            <a:solidFill>
              <a:srgbClr val="1E8E5A"/>
            </a:solidFill>
            <a:prstDash val="solid"/>
          </a:ln>
        </p:spPr>
        <p:txBody>
          <a:bodyPr/>
          <a:lstStyle/>
          <a:p>
            <a:endParaRPr lang="en-GB"/>
          </a:p>
        </p:txBody>
      </p:sp>
      <p:sp>
        <p:nvSpPr>
          <p:cNvPr id="49" name="Text 45">
            <a:extLst>
              <a:ext uri="{FF2B5EF4-FFF2-40B4-BE49-F238E27FC236}">
                <a16:creationId xmlns:a16="http://schemas.microsoft.com/office/drawing/2014/main" id="{3BD5EE50-80AC-AD84-E2F7-A800FA013689}"/>
              </a:ext>
            </a:extLst>
          </p:cNvPr>
          <p:cNvSpPr/>
          <p:nvPr/>
        </p:nvSpPr>
        <p:spPr>
          <a:xfrm>
            <a:off x="7938135" y="2724912"/>
            <a:ext cx="1737360" cy="219456"/>
          </a:xfrm>
          <a:prstGeom prst="rect">
            <a:avLst/>
          </a:prstGeom>
          <a:noFill/>
          <a:ln/>
        </p:spPr>
        <p:txBody>
          <a:bodyPr wrap="square" lIns="0" tIns="0" rIns="0" bIns="0" rtlCol="0" anchor="ctr"/>
          <a:lstStyle/>
          <a:p>
            <a:pPr marL="0" indent="0" algn="ctr">
              <a:buNone/>
            </a:pPr>
            <a:r>
              <a:rPr lang="en-US" sz="800" b="1" dirty="0">
                <a:solidFill>
                  <a:srgbClr val="1E8E5A"/>
                </a:solidFill>
                <a:latin typeface="Calibri" pitchFamily="34" charset="0"/>
                <a:ea typeface="Calibri" pitchFamily="34" charset="-122"/>
                <a:cs typeface="Calibri" pitchFamily="34" charset="-120"/>
              </a:rPr>
              <a:t>Construction complete (range)</a:t>
            </a:r>
            <a:endParaRPr lang="en-US" sz="800" dirty="0"/>
          </a:p>
        </p:txBody>
      </p:sp>
      <p:sp>
        <p:nvSpPr>
          <p:cNvPr id="50" name="Shape 46">
            <a:extLst>
              <a:ext uri="{FF2B5EF4-FFF2-40B4-BE49-F238E27FC236}">
                <a16:creationId xmlns:a16="http://schemas.microsoft.com/office/drawing/2014/main" id="{7338A2C7-ED79-BE3F-822B-425D219850A0}"/>
              </a:ext>
            </a:extLst>
          </p:cNvPr>
          <p:cNvSpPr/>
          <p:nvPr/>
        </p:nvSpPr>
        <p:spPr>
          <a:xfrm>
            <a:off x="365760" y="3090672"/>
            <a:ext cx="11795760" cy="713232"/>
          </a:xfrm>
          <a:prstGeom prst="rect">
            <a:avLst/>
          </a:prstGeom>
          <a:solidFill>
            <a:srgbClr val="F7FAFC"/>
          </a:solidFill>
          <a:ln/>
        </p:spPr>
        <p:txBody>
          <a:bodyPr/>
          <a:lstStyle/>
          <a:p>
            <a:endParaRPr lang="en-GB"/>
          </a:p>
        </p:txBody>
      </p:sp>
      <p:sp>
        <p:nvSpPr>
          <p:cNvPr id="51" name="Shape 47">
            <a:extLst>
              <a:ext uri="{FF2B5EF4-FFF2-40B4-BE49-F238E27FC236}">
                <a16:creationId xmlns:a16="http://schemas.microsoft.com/office/drawing/2014/main" id="{55CFA04E-D37E-BE38-4B5C-C8745F5A0927}"/>
              </a:ext>
            </a:extLst>
          </p:cNvPr>
          <p:cNvSpPr/>
          <p:nvPr/>
        </p:nvSpPr>
        <p:spPr>
          <a:xfrm>
            <a:off x="457200" y="3264408"/>
            <a:ext cx="365760" cy="365760"/>
          </a:xfrm>
          <a:prstGeom prst="ellipse">
            <a:avLst/>
          </a:prstGeom>
          <a:solidFill>
            <a:srgbClr val="1B3358"/>
          </a:solidFill>
          <a:ln/>
        </p:spPr>
        <p:txBody>
          <a:bodyPr/>
          <a:lstStyle/>
          <a:p>
            <a:endParaRPr lang="en-GB"/>
          </a:p>
        </p:txBody>
      </p:sp>
      <p:pic>
        <p:nvPicPr>
          <p:cNvPr id="52" name="Image 2" descr="preencoded.png">
            <a:extLst>
              <a:ext uri="{FF2B5EF4-FFF2-40B4-BE49-F238E27FC236}">
                <a16:creationId xmlns:a16="http://schemas.microsoft.com/office/drawing/2014/main" id="{3C16F149-0E73-0251-52F6-BDF4205D0370}"/>
              </a:ext>
            </a:extLst>
          </p:cNvPr>
          <p:cNvPicPr>
            <a:picLocks noChangeAspect="1"/>
          </p:cNvPicPr>
          <p:nvPr/>
        </p:nvPicPr>
        <p:blipFill>
          <a:blip r:embed="rId5"/>
          <a:stretch>
            <a:fillRect/>
          </a:stretch>
        </p:blipFill>
        <p:spPr>
          <a:xfrm>
            <a:off x="530352" y="3337560"/>
            <a:ext cx="219456" cy="219456"/>
          </a:xfrm>
          <a:prstGeom prst="rect">
            <a:avLst/>
          </a:prstGeom>
        </p:spPr>
      </p:pic>
      <p:sp>
        <p:nvSpPr>
          <p:cNvPr id="53" name="Text 48">
            <a:extLst>
              <a:ext uri="{FF2B5EF4-FFF2-40B4-BE49-F238E27FC236}">
                <a16:creationId xmlns:a16="http://schemas.microsoft.com/office/drawing/2014/main" id="{6007031F-C656-1693-EAA3-2DB1563F5D56}"/>
              </a:ext>
            </a:extLst>
          </p:cNvPr>
          <p:cNvSpPr/>
          <p:nvPr/>
        </p:nvSpPr>
        <p:spPr>
          <a:xfrm>
            <a:off x="914400" y="3127248"/>
            <a:ext cx="1371600" cy="384048"/>
          </a:xfrm>
          <a:prstGeom prst="rect">
            <a:avLst/>
          </a:prstGeom>
          <a:noFill/>
          <a:ln/>
        </p:spPr>
        <p:txBody>
          <a:bodyPr wrap="square" lIns="0" tIns="0" rIns="0" bIns="0" rtlCol="0" anchor="t"/>
          <a:lstStyle/>
          <a:p>
            <a:pPr marL="0" indent="0">
              <a:lnSpc>
                <a:spcPct val="95000"/>
              </a:lnSpc>
              <a:buNone/>
            </a:pPr>
            <a:r>
              <a:rPr lang="en-US" sz="1100" b="1" dirty="0">
                <a:solidFill>
                  <a:srgbClr val="12233D"/>
                </a:solidFill>
                <a:latin typeface="Calibri" pitchFamily="34" charset="0"/>
                <a:ea typeface="Calibri" pitchFamily="34" charset="-122"/>
                <a:cs typeface="Calibri" pitchFamily="34" charset="-120"/>
              </a:rPr>
              <a:t>Rolls-Royce SMR — Wylfa</a:t>
            </a:r>
            <a:endParaRPr lang="en-US" sz="1100" dirty="0"/>
          </a:p>
        </p:txBody>
      </p:sp>
      <p:sp>
        <p:nvSpPr>
          <p:cNvPr id="54" name="Text 49">
            <a:extLst>
              <a:ext uri="{FF2B5EF4-FFF2-40B4-BE49-F238E27FC236}">
                <a16:creationId xmlns:a16="http://schemas.microsoft.com/office/drawing/2014/main" id="{36370157-F2CD-E9A0-5C92-E9EC09BC6790}"/>
              </a:ext>
            </a:extLst>
          </p:cNvPr>
          <p:cNvSpPr/>
          <p:nvPr/>
        </p:nvSpPr>
        <p:spPr>
          <a:xfrm>
            <a:off x="914400" y="3511296"/>
            <a:ext cx="1371600" cy="274320"/>
          </a:xfrm>
          <a:prstGeom prst="rect">
            <a:avLst/>
          </a:prstGeom>
          <a:noFill/>
          <a:ln/>
        </p:spPr>
        <p:txBody>
          <a:bodyPr wrap="square" lIns="0" tIns="0" rIns="0" bIns="0" rtlCol="0" anchor="b"/>
          <a:lstStyle/>
          <a:p>
            <a:pPr marL="0" indent="0">
              <a:lnSpc>
                <a:spcPct val="95000"/>
              </a:lnSpc>
              <a:buNone/>
            </a:pPr>
            <a:r>
              <a:rPr lang="en-US" sz="700" i="1" dirty="0">
                <a:solidFill>
                  <a:srgbClr val="5B6B7C"/>
                </a:solidFill>
                <a:latin typeface="Calibri" pitchFamily="34" charset="0"/>
                <a:ea typeface="Calibri" pitchFamily="34" charset="-122"/>
                <a:cs typeface="Calibri" pitchFamily="34" charset="-120"/>
              </a:rPr>
              <a:t>1.4 GW+ · GBE-N · Rolls-Royce SMR</a:t>
            </a:r>
            <a:endParaRPr lang="en-US" sz="700" dirty="0"/>
          </a:p>
        </p:txBody>
      </p:sp>
      <p:sp>
        <p:nvSpPr>
          <p:cNvPr id="55" name="Shape 50">
            <a:extLst>
              <a:ext uri="{FF2B5EF4-FFF2-40B4-BE49-F238E27FC236}">
                <a16:creationId xmlns:a16="http://schemas.microsoft.com/office/drawing/2014/main" id="{92EB368B-2705-97B2-E66B-6E450647AAB7}"/>
              </a:ext>
            </a:extLst>
          </p:cNvPr>
          <p:cNvSpPr/>
          <p:nvPr/>
        </p:nvSpPr>
        <p:spPr>
          <a:xfrm>
            <a:off x="2331720" y="3447288"/>
            <a:ext cx="9418320" cy="0"/>
          </a:xfrm>
          <a:prstGeom prst="line">
            <a:avLst/>
          </a:prstGeom>
          <a:noFill/>
          <a:ln w="6350">
            <a:solidFill>
              <a:srgbClr val="E3E9EF"/>
            </a:solidFill>
            <a:prstDash val="dash"/>
          </a:ln>
        </p:spPr>
        <p:txBody>
          <a:bodyPr/>
          <a:lstStyle/>
          <a:p>
            <a:endParaRPr lang="en-GB"/>
          </a:p>
        </p:txBody>
      </p:sp>
      <p:sp>
        <p:nvSpPr>
          <p:cNvPr id="56" name="Shape 51">
            <a:extLst>
              <a:ext uri="{FF2B5EF4-FFF2-40B4-BE49-F238E27FC236}">
                <a16:creationId xmlns:a16="http://schemas.microsoft.com/office/drawing/2014/main" id="{CDBC62C1-E474-ABBE-A053-617FF703EDD4}"/>
              </a:ext>
            </a:extLst>
          </p:cNvPr>
          <p:cNvSpPr/>
          <p:nvPr/>
        </p:nvSpPr>
        <p:spPr>
          <a:xfrm>
            <a:off x="2331720" y="3328416"/>
            <a:ext cx="1765935" cy="237744"/>
          </a:xfrm>
          <a:prstGeom prst="roundRect">
            <a:avLst>
              <a:gd name="adj" fmla="val 19231"/>
            </a:avLst>
          </a:prstGeom>
          <a:solidFill>
            <a:srgbClr val="C77B17"/>
          </a:solidFill>
          <a:ln/>
        </p:spPr>
        <p:txBody>
          <a:bodyPr/>
          <a:lstStyle/>
          <a:p>
            <a:endParaRPr lang="en-GB"/>
          </a:p>
        </p:txBody>
      </p:sp>
      <p:sp>
        <p:nvSpPr>
          <p:cNvPr id="57" name="Shape 52">
            <a:extLst>
              <a:ext uri="{FF2B5EF4-FFF2-40B4-BE49-F238E27FC236}">
                <a16:creationId xmlns:a16="http://schemas.microsoft.com/office/drawing/2014/main" id="{7A88F8F3-E8C0-4BC2-80CC-5050D18C7AD6}"/>
              </a:ext>
            </a:extLst>
          </p:cNvPr>
          <p:cNvSpPr/>
          <p:nvPr/>
        </p:nvSpPr>
        <p:spPr>
          <a:xfrm>
            <a:off x="4097655" y="3328416"/>
            <a:ext cx="3531870" cy="237744"/>
          </a:xfrm>
          <a:prstGeom prst="roundRect">
            <a:avLst>
              <a:gd name="adj" fmla="val 19231"/>
            </a:avLst>
          </a:prstGeom>
          <a:solidFill>
            <a:srgbClr val="1E8E5A"/>
          </a:solidFill>
          <a:ln/>
        </p:spPr>
        <p:txBody>
          <a:bodyPr/>
          <a:lstStyle/>
          <a:p>
            <a:endParaRPr lang="en-GB"/>
          </a:p>
        </p:txBody>
      </p:sp>
      <p:sp>
        <p:nvSpPr>
          <p:cNvPr id="58" name="Shape 53">
            <a:extLst>
              <a:ext uri="{FF2B5EF4-FFF2-40B4-BE49-F238E27FC236}">
                <a16:creationId xmlns:a16="http://schemas.microsoft.com/office/drawing/2014/main" id="{031DACB9-1C33-A3D9-734E-1BF30D9D0138}"/>
              </a:ext>
            </a:extLst>
          </p:cNvPr>
          <p:cNvSpPr/>
          <p:nvPr/>
        </p:nvSpPr>
        <p:spPr>
          <a:xfrm>
            <a:off x="4038219" y="3387852"/>
            <a:ext cx="118872" cy="118872"/>
          </a:xfrm>
          <a:prstGeom prst="diamond">
            <a:avLst/>
          </a:prstGeom>
          <a:solidFill>
            <a:srgbClr val="FFFFFF"/>
          </a:solidFill>
          <a:ln w="22225">
            <a:solidFill>
              <a:srgbClr val="C77B17"/>
            </a:solidFill>
            <a:prstDash val="solid"/>
          </a:ln>
        </p:spPr>
        <p:txBody>
          <a:bodyPr/>
          <a:lstStyle/>
          <a:p>
            <a:endParaRPr lang="en-GB"/>
          </a:p>
        </p:txBody>
      </p:sp>
      <p:sp>
        <p:nvSpPr>
          <p:cNvPr id="59" name="Text 54">
            <a:extLst>
              <a:ext uri="{FF2B5EF4-FFF2-40B4-BE49-F238E27FC236}">
                <a16:creationId xmlns:a16="http://schemas.microsoft.com/office/drawing/2014/main" id="{F082565F-9DAF-43BA-C29E-5E94C8C0746E}"/>
              </a:ext>
            </a:extLst>
          </p:cNvPr>
          <p:cNvSpPr/>
          <p:nvPr/>
        </p:nvSpPr>
        <p:spPr>
          <a:xfrm>
            <a:off x="3228975" y="3127248"/>
            <a:ext cx="1737360" cy="219456"/>
          </a:xfrm>
          <a:prstGeom prst="rect">
            <a:avLst/>
          </a:prstGeom>
          <a:noFill/>
          <a:ln/>
        </p:spPr>
        <p:txBody>
          <a:bodyPr wrap="square" lIns="0" tIns="0" rIns="0" bIns="0" rtlCol="0" anchor="ctr"/>
          <a:lstStyle/>
          <a:p>
            <a:pPr marL="0" indent="0" algn="ctr">
              <a:buNone/>
            </a:pPr>
            <a:r>
              <a:rPr lang="en-US" sz="800" b="1" dirty="0">
                <a:solidFill>
                  <a:srgbClr val="C77B17"/>
                </a:solidFill>
                <a:latin typeface="Calibri" pitchFamily="34" charset="0"/>
                <a:ea typeface="Calibri" pitchFamily="34" charset="-122"/>
                <a:cs typeface="Calibri" pitchFamily="34" charset="-120"/>
              </a:rPr>
              <a:t>FID (target)</a:t>
            </a:r>
            <a:endParaRPr lang="en-US" sz="800" dirty="0"/>
          </a:p>
        </p:txBody>
      </p:sp>
      <p:sp>
        <p:nvSpPr>
          <p:cNvPr id="60" name="Shape 55">
            <a:extLst>
              <a:ext uri="{FF2B5EF4-FFF2-40B4-BE49-F238E27FC236}">
                <a16:creationId xmlns:a16="http://schemas.microsoft.com/office/drawing/2014/main" id="{817D2335-F231-6F2F-2C7B-C97C55C855F9}"/>
              </a:ext>
            </a:extLst>
          </p:cNvPr>
          <p:cNvSpPr/>
          <p:nvPr/>
        </p:nvSpPr>
        <p:spPr>
          <a:xfrm>
            <a:off x="7570089" y="3387852"/>
            <a:ext cx="118872" cy="118872"/>
          </a:xfrm>
          <a:prstGeom prst="diamond">
            <a:avLst/>
          </a:prstGeom>
          <a:solidFill>
            <a:srgbClr val="FFFFFF"/>
          </a:solidFill>
          <a:ln w="22225">
            <a:solidFill>
              <a:srgbClr val="1E8E5A"/>
            </a:solidFill>
            <a:prstDash val="solid"/>
          </a:ln>
        </p:spPr>
        <p:txBody>
          <a:bodyPr/>
          <a:lstStyle/>
          <a:p>
            <a:endParaRPr lang="en-GB"/>
          </a:p>
        </p:txBody>
      </p:sp>
      <p:sp>
        <p:nvSpPr>
          <p:cNvPr id="61" name="Text 56">
            <a:extLst>
              <a:ext uri="{FF2B5EF4-FFF2-40B4-BE49-F238E27FC236}">
                <a16:creationId xmlns:a16="http://schemas.microsoft.com/office/drawing/2014/main" id="{4D88A871-67D3-F0B4-7A00-C8E9D4327083}"/>
              </a:ext>
            </a:extLst>
          </p:cNvPr>
          <p:cNvSpPr/>
          <p:nvPr/>
        </p:nvSpPr>
        <p:spPr>
          <a:xfrm>
            <a:off x="6760845" y="3529584"/>
            <a:ext cx="1737360" cy="219456"/>
          </a:xfrm>
          <a:prstGeom prst="rect">
            <a:avLst/>
          </a:prstGeom>
          <a:noFill/>
          <a:ln/>
        </p:spPr>
        <p:txBody>
          <a:bodyPr wrap="square" lIns="0" tIns="0" rIns="0" bIns="0" rtlCol="0" anchor="ctr"/>
          <a:lstStyle/>
          <a:p>
            <a:pPr marL="0" indent="0" algn="ctr">
              <a:buNone/>
            </a:pPr>
            <a:r>
              <a:rPr lang="en-US" sz="800" b="1" dirty="0">
                <a:solidFill>
                  <a:srgbClr val="1E8E5A"/>
                </a:solidFill>
                <a:latin typeface="Calibri" pitchFamily="34" charset="0"/>
                <a:ea typeface="Calibri" pitchFamily="34" charset="-122"/>
                <a:cs typeface="Calibri" pitchFamily="34" charset="-120"/>
              </a:rPr>
              <a:t>Grid connection (mid-2030s)</a:t>
            </a:r>
            <a:endParaRPr lang="en-US" sz="800" dirty="0"/>
          </a:p>
        </p:txBody>
      </p:sp>
      <p:sp>
        <p:nvSpPr>
          <p:cNvPr id="62" name="Shape 57">
            <a:extLst>
              <a:ext uri="{FF2B5EF4-FFF2-40B4-BE49-F238E27FC236}">
                <a16:creationId xmlns:a16="http://schemas.microsoft.com/office/drawing/2014/main" id="{B3E95A98-3D39-5B69-2504-1D804AF44F89}"/>
              </a:ext>
            </a:extLst>
          </p:cNvPr>
          <p:cNvSpPr/>
          <p:nvPr/>
        </p:nvSpPr>
        <p:spPr>
          <a:xfrm>
            <a:off x="457200" y="4069080"/>
            <a:ext cx="365760" cy="365760"/>
          </a:xfrm>
          <a:prstGeom prst="ellipse">
            <a:avLst/>
          </a:prstGeom>
          <a:solidFill>
            <a:srgbClr val="1B3358"/>
          </a:solidFill>
          <a:ln/>
        </p:spPr>
        <p:txBody>
          <a:bodyPr/>
          <a:lstStyle/>
          <a:p>
            <a:endParaRPr lang="en-GB"/>
          </a:p>
        </p:txBody>
      </p:sp>
      <p:pic>
        <p:nvPicPr>
          <p:cNvPr id="63" name="Image 3" descr="preencoded.png">
            <a:extLst>
              <a:ext uri="{FF2B5EF4-FFF2-40B4-BE49-F238E27FC236}">
                <a16:creationId xmlns:a16="http://schemas.microsoft.com/office/drawing/2014/main" id="{545D4D83-2744-1E9D-8B6D-FA0DFBBC9C8D}"/>
              </a:ext>
            </a:extLst>
          </p:cNvPr>
          <p:cNvPicPr>
            <a:picLocks noChangeAspect="1"/>
          </p:cNvPicPr>
          <p:nvPr/>
        </p:nvPicPr>
        <p:blipFill>
          <a:blip r:embed="rId6"/>
          <a:stretch>
            <a:fillRect/>
          </a:stretch>
        </p:blipFill>
        <p:spPr>
          <a:xfrm>
            <a:off x="530352" y="4142232"/>
            <a:ext cx="219456" cy="219456"/>
          </a:xfrm>
          <a:prstGeom prst="rect">
            <a:avLst/>
          </a:prstGeom>
        </p:spPr>
      </p:pic>
      <p:sp>
        <p:nvSpPr>
          <p:cNvPr id="64" name="Text 58">
            <a:extLst>
              <a:ext uri="{FF2B5EF4-FFF2-40B4-BE49-F238E27FC236}">
                <a16:creationId xmlns:a16="http://schemas.microsoft.com/office/drawing/2014/main" id="{D3E4F882-88A4-608A-FC6E-DD0F20AF7F30}"/>
              </a:ext>
            </a:extLst>
          </p:cNvPr>
          <p:cNvSpPr/>
          <p:nvPr/>
        </p:nvSpPr>
        <p:spPr>
          <a:xfrm>
            <a:off x="914400" y="3931920"/>
            <a:ext cx="1371600" cy="384048"/>
          </a:xfrm>
          <a:prstGeom prst="rect">
            <a:avLst/>
          </a:prstGeom>
          <a:noFill/>
          <a:ln/>
        </p:spPr>
        <p:txBody>
          <a:bodyPr wrap="square" lIns="0" tIns="0" rIns="0" bIns="0" rtlCol="0" anchor="t"/>
          <a:lstStyle/>
          <a:p>
            <a:pPr marL="0" indent="0">
              <a:lnSpc>
                <a:spcPct val="95000"/>
              </a:lnSpc>
              <a:buNone/>
            </a:pPr>
            <a:r>
              <a:rPr lang="en-US" sz="1100" b="1" dirty="0">
                <a:solidFill>
                  <a:srgbClr val="12233D"/>
                </a:solidFill>
                <a:latin typeface="Calibri" pitchFamily="34" charset="0"/>
                <a:ea typeface="Calibri" pitchFamily="34" charset="-122"/>
                <a:cs typeface="Calibri" pitchFamily="34" charset="-120"/>
              </a:rPr>
              <a:t>Further Large-Scale Site</a:t>
            </a:r>
            <a:endParaRPr lang="en-US" sz="1100" dirty="0"/>
          </a:p>
        </p:txBody>
      </p:sp>
      <p:sp>
        <p:nvSpPr>
          <p:cNvPr id="65" name="Text 59">
            <a:extLst>
              <a:ext uri="{FF2B5EF4-FFF2-40B4-BE49-F238E27FC236}">
                <a16:creationId xmlns:a16="http://schemas.microsoft.com/office/drawing/2014/main" id="{25B97180-7939-932F-2AED-43E8C4D93FD2}"/>
              </a:ext>
            </a:extLst>
          </p:cNvPr>
          <p:cNvSpPr/>
          <p:nvPr/>
        </p:nvSpPr>
        <p:spPr>
          <a:xfrm>
            <a:off x="914400" y="4315968"/>
            <a:ext cx="1371600" cy="274320"/>
          </a:xfrm>
          <a:prstGeom prst="rect">
            <a:avLst/>
          </a:prstGeom>
          <a:noFill/>
          <a:ln/>
        </p:spPr>
        <p:txBody>
          <a:bodyPr wrap="square" lIns="0" tIns="0" rIns="0" bIns="0" rtlCol="0" anchor="b"/>
          <a:lstStyle/>
          <a:p>
            <a:pPr marL="0" indent="0">
              <a:lnSpc>
                <a:spcPct val="95000"/>
              </a:lnSpc>
              <a:buNone/>
            </a:pPr>
            <a:r>
              <a:rPr lang="en-US" sz="700" i="1" dirty="0">
                <a:solidFill>
                  <a:srgbClr val="5B6B7C"/>
                </a:solidFill>
                <a:latin typeface="Calibri" pitchFamily="34" charset="0"/>
                <a:ea typeface="Calibri" pitchFamily="34" charset="-122"/>
                <a:cs typeface="Calibri" pitchFamily="34" charset="-120"/>
              </a:rPr>
              <a:t>~3.2 GW equivalent · GBE-N · DESNZ</a:t>
            </a:r>
            <a:endParaRPr lang="en-US" sz="700" dirty="0"/>
          </a:p>
        </p:txBody>
      </p:sp>
      <p:sp>
        <p:nvSpPr>
          <p:cNvPr id="66" name="Shape 60">
            <a:extLst>
              <a:ext uri="{FF2B5EF4-FFF2-40B4-BE49-F238E27FC236}">
                <a16:creationId xmlns:a16="http://schemas.microsoft.com/office/drawing/2014/main" id="{286A88C2-E080-6A77-03C4-5B944727EE3F}"/>
              </a:ext>
            </a:extLst>
          </p:cNvPr>
          <p:cNvSpPr/>
          <p:nvPr/>
        </p:nvSpPr>
        <p:spPr>
          <a:xfrm>
            <a:off x="2331720" y="4251960"/>
            <a:ext cx="9418320" cy="0"/>
          </a:xfrm>
          <a:prstGeom prst="line">
            <a:avLst/>
          </a:prstGeom>
          <a:noFill/>
          <a:ln w="6350">
            <a:solidFill>
              <a:srgbClr val="E3E9EF"/>
            </a:solidFill>
            <a:prstDash val="dash"/>
          </a:ln>
        </p:spPr>
        <p:txBody>
          <a:bodyPr/>
          <a:lstStyle/>
          <a:p>
            <a:endParaRPr lang="en-GB"/>
          </a:p>
        </p:txBody>
      </p:sp>
      <p:sp>
        <p:nvSpPr>
          <p:cNvPr id="67" name="Shape 61">
            <a:extLst>
              <a:ext uri="{FF2B5EF4-FFF2-40B4-BE49-F238E27FC236}">
                <a16:creationId xmlns:a16="http://schemas.microsoft.com/office/drawing/2014/main" id="{4961F9C6-3C1E-A33C-2084-0BA58D8BF5F3}"/>
              </a:ext>
            </a:extLst>
          </p:cNvPr>
          <p:cNvSpPr/>
          <p:nvPr/>
        </p:nvSpPr>
        <p:spPr>
          <a:xfrm>
            <a:off x="2331720" y="4133088"/>
            <a:ext cx="470916" cy="237744"/>
          </a:xfrm>
          <a:prstGeom prst="roundRect">
            <a:avLst>
              <a:gd name="adj" fmla="val 19231"/>
            </a:avLst>
          </a:prstGeom>
          <a:solidFill>
            <a:srgbClr val="6B7785"/>
          </a:solidFill>
          <a:ln/>
        </p:spPr>
        <p:txBody>
          <a:bodyPr/>
          <a:lstStyle/>
          <a:p>
            <a:endParaRPr lang="en-GB"/>
          </a:p>
        </p:txBody>
      </p:sp>
      <p:sp>
        <p:nvSpPr>
          <p:cNvPr id="68" name="Shape 62">
            <a:extLst>
              <a:ext uri="{FF2B5EF4-FFF2-40B4-BE49-F238E27FC236}">
                <a16:creationId xmlns:a16="http://schemas.microsoft.com/office/drawing/2014/main" id="{B2ADFB91-2AB9-65CF-06C5-0A39B67128FC}"/>
              </a:ext>
            </a:extLst>
          </p:cNvPr>
          <p:cNvSpPr/>
          <p:nvPr/>
        </p:nvSpPr>
        <p:spPr>
          <a:xfrm>
            <a:off x="2743200" y="4192524"/>
            <a:ext cx="118872" cy="118872"/>
          </a:xfrm>
          <a:prstGeom prst="diamond">
            <a:avLst/>
          </a:prstGeom>
          <a:solidFill>
            <a:srgbClr val="FFFFFF"/>
          </a:solidFill>
          <a:ln w="22225">
            <a:solidFill>
              <a:srgbClr val="6B7785"/>
            </a:solidFill>
            <a:prstDash val="solid"/>
          </a:ln>
        </p:spPr>
        <p:txBody>
          <a:bodyPr/>
          <a:lstStyle/>
          <a:p>
            <a:endParaRPr lang="en-GB"/>
          </a:p>
        </p:txBody>
      </p:sp>
      <p:sp>
        <p:nvSpPr>
          <p:cNvPr id="69" name="Text 63">
            <a:extLst>
              <a:ext uri="{FF2B5EF4-FFF2-40B4-BE49-F238E27FC236}">
                <a16:creationId xmlns:a16="http://schemas.microsoft.com/office/drawing/2014/main" id="{938B3944-C3F9-E5B5-BEEE-BC2A77288299}"/>
              </a:ext>
            </a:extLst>
          </p:cNvPr>
          <p:cNvSpPr/>
          <p:nvPr/>
        </p:nvSpPr>
        <p:spPr>
          <a:xfrm>
            <a:off x="2286000" y="3931920"/>
            <a:ext cx="1737360" cy="219456"/>
          </a:xfrm>
          <a:prstGeom prst="rect">
            <a:avLst/>
          </a:prstGeom>
          <a:noFill/>
          <a:ln/>
        </p:spPr>
        <p:txBody>
          <a:bodyPr wrap="square" lIns="0" tIns="0" rIns="0" bIns="0" rtlCol="0" anchor="ctr"/>
          <a:lstStyle/>
          <a:p>
            <a:pPr marL="0" indent="0" algn="ctr">
              <a:buNone/>
            </a:pPr>
            <a:r>
              <a:rPr lang="en-US" sz="800" b="1" dirty="0">
                <a:solidFill>
                  <a:srgbClr val="6B7785"/>
                </a:solidFill>
                <a:latin typeface="Calibri" pitchFamily="34" charset="0"/>
                <a:ea typeface="Calibri" pitchFamily="34" charset="-122"/>
                <a:cs typeface="Calibri" pitchFamily="34" charset="-120"/>
              </a:rPr>
              <a:t>GBE-N site report, Autumn 2026</a:t>
            </a:r>
            <a:endParaRPr lang="en-US" sz="800" dirty="0"/>
          </a:p>
        </p:txBody>
      </p:sp>
      <p:sp>
        <p:nvSpPr>
          <p:cNvPr id="70" name="Shape 64">
            <a:extLst>
              <a:ext uri="{FF2B5EF4-FFF2-40B4-BE49-F238E27FC236}">
                <a16:creationId xmlns:a16="http://schemas.microsoft.com/office/drawing/2014/main" id="{3C82EDC5-58A5-1F5A-FE70-2BE6813FE4F6}"/>
              </a:ext>
            </a:extLst>
          </p:cNvPr>
          <p:cNvSpPr/>
          <p:nvPr/>
        </p:nvSpPr>
        <p:spPr>
          <a:xfrm>
            <a:off x="365760" y="4700016"/>
            <a:ext cx="11795760" cy="713232"/>
          </a:xfrm>
          <a:prstGeom prst="rect">
            <a:avLst/>
          </a:prstGeom>
          <a:solidFill>
            <a:srgbClr val="F7FAFC"/>
          </a:solidFill>
          <a:ln/>
        </p:spPr>
        <p:txBody>
          <a:bodyPr/>
          <a:lstStyle/>
          <a:p>
            <a:endParaRPr lang="en-GB"/>
          </a:p>
        </p:txBody>
      </p:sp>
      <p:sp>
        <p:nvSpPr>
          <p:cNvPr id="71" name="Shape 65">
            <a:extLst>
              <a:ext uri="{FF2B5EF4-FFF2-40B4-BE49-F238E27FC236}">
                <a16:creationId xmlns:a16="http://schemas.microsoft.com/office/drawing/2014/main" id="{F834C27B-76B8-4FFD-83D6-A1E40B70C288}"/>
              </a:ext>
            </a:extLst>
          </p:cNvPr>
          <p:cNvSpPr/>
          <p:nvPr/>
        </p:nvSpPr>
        <p:spPr>
          <a:xfrm>
            <a:off x="457200" y="4873752"/>
            <a:ext cx="365760" cy="365760"/>
          </a:xfrm>
          <a:prstGeom prst="ellipse">
            <a:avLst/>
          </a:prstGeom>
          <a:solidFill>
            <a:srgbClr val="1B3358"/>
          </a:solidFill>
          <a:ln/>
        </p:spPr>
        <p:txBody>
          <a:bodyPr/>
          <a:lstStyle/>
          <a:p>
            <a:endParaRPr lang="en-GB"/>
          </a:p>
        </p:txBody>
      </p:sp>
      <p:pic>
        <p:nvPicPr>
          <p:cNvPr id="72" name="Image 4" descr="preencoded.png">
            <a:extLst>
              <a:ext uri="{FF2B5EF4-FFF2-40B4-BE49-F238E27FC236}">
                <a16:creationId xmlns:a16="http://schemas.microsoft.com/office/drawing/2014/main" id="{5E24725F-C54D-BF24-F42C-C318FB17CD6D}"/>
              </a:ext>
            </a:extLst>
          </p:cNvPr>
          <p:cNvPicPr>
            <a:picLocks noChangeAspect="1"/>
          </p:cNvPicPr>
          <p:nvPr/>
        </p:nvPicPr>
        <p:blipFill>
          <a:blip r:embed="rId7"/>
          <a:stretch>
            <a:fillRect/>
          </a:stretch>
        </p:blipFill>
        <p:spPr>
          <a:xfrm>
            <a:off x="530352" y="4946904"/>
            <a:ext cx="219456" cy="219456"/>
          </a:xfrm>
          <a:prstGeom prst="rect">
            <a:avLst/>
          </a:prstGeom>
        </p:spPr>
      </p:pic>
      <p:sp>
        <p:nvSpPr>
          <p:cNvPr id="73" name="Text 66">
            <a:extLst>
              <a:ext uri="{FF2B5EF4-FFF2-40B4-BE49-F238E27FC236}">
                <a16:creationId xmlns:a16="http://schemas.microsoft.com/office/drawing/2014/main" id="{F4D852AF-7629-5895-B89F-94A489E9935A}"/>
              </a:ext>
            </a:extLst>
          </p:cNvPr>
          <p:cNvSpPr/>
          <p:nvPr/>
        </p:nvSpPr>
        <p:spPr>
          <a:xfrm>
            <a:off x="914400" y="4736592"/>
            <a:ext cx="1371600" cy="384048"/>
          </a:xfrm>
          <a:prstGeom prst="rect">
            <a:avLst/>
          </a:prstGeom>
          <a:noFill/>
          <a:ln/>
        </p:spPr>
        <p:txBody>
          <a:bodyPr wrap="square" lIns="0" tIns="0" rIns="0" bIns="0" rtlCol="0" anchor="t"/>
          <a:lstStyle/>
          <a:p>
            <a:pPr marL="0" indent="0">
              <a:lnSpc>
                <a:spcPct val="95000"/>
              </a:lnSpc>
              <a:buNone/>
            </a:pPr>
            <a:r>
              <a:rPr lang="en-US" sz="1100" b="1" dirty="0">
                <a:solidFill>
                  <a:srgbClr val="12233D"/>
                </a:solidFill>
                <a:latin typeface="Calibri" pitchFamily="34" charset="0"/>
                <a:ea typeface="Calibri" pitchFamily="34" charset="-122"/>
                <a:cs typeface="Calibri" pitchFamily="34" charset="-120"/>
              </a:rPr>
              <a:t>STEP Fusion — West Burton</a:t>
            </a:r>
            <a:endParaRPr lang="en-US" sz="1100" dirty="0"/>
          </a:p>
        </p:txBody>
      </p:sp>
      <p:sp>
        <p:nvSpPr>
          <p:cNvPr id="74" name="Text 67">
            <a:extLst>
              <a:ext uri="{FF2B5EF4-FFF2-40B4-BE49-F238E27FC236}">
                <a16:creationId xmlns:a16="http://schemas.microsoft.com/office/drawing/2014/main" id="{8D822960-FD4F-F558-BA37-F7866F80BD76}"/>
              </a:ext>
            </a:extLst>
          </p:cNvPr>
          <p:cNvSpPr/>
          <p:nvPr/>
        </p:nvSpPr>
        <p:spPr>
          <a:xfrm>
            <a:off x="914400" y="5120640"/>
            <a:ext cx="1371600" cy="274320"/>
          </a:xfrm>
          <a:prstGeom prst="rect">
            <a:avLst/>
          </a:prstGeom>
          <a:noFill/>
          <a:ln/>
        </p:spPr>
        <p:txBody>
          <a:bodyPr wrap="square" lIns="0" tIns="0" rIns="0" bIns="0" rtlCol="0" anchor="b"/>
          <a:lstStyle/>
          <a:p>
            <a:pPr marL="0" indent="0">
              <a:lnSpc>
                <a:spcPct val="95000"/>
              </a:lnSpc>
              <a:buNone/>
            </a:pPr>
            <a:r>
              <a:rPr lang="en-US" sz="700" i="1" dirty="0">
                <a:solidFill>
                  <a:srgbClr val="5B6B7C"/>
                </a:solidFill>
                <a:latin typeface="Calibri" pitchFamily="34" charset="0"/>
                <a:ea typeface="Calibri" pitchFamily="34" charset="-122"/>
                <a:cs typeface="Calibri" pitchFamily="34" charset="-120"/>
              </a:rPr>
              <a:t>~100 MWe prototype · UK Fusion Energy · UKAEA</a:t>
            </a:r>
            <a:endParaRPr lang="en-US" sz="700" dirty="0"/>
          </a:p>
        </p:txBody>
      </p:sp>
      <p:sp>
        <p:nvSpPr>
          <p:cNvPr id="75" name="Shape 68">
            <a:extLst>
              <a:ext uri="{FF2B5EF4-FFF2-40B4-BE49-F238E27FC236}">
                <a16:creationId xmlns:a16="http://schemas.microsoft.com/office/drawing/2014/main" id="{1500A1E2-947E-A72E-46C7-F953801A169F}"/>
              </a:ext>
            </a:extLst>
          </p:cNvPr>
          <p:cNvSpPr/>
          <p:nvPr/>
        </p:nvSpPr>
        <p:spPr>
          <a:xfrm>
            <a:off x="2331720" y="5056632"/>
            <a:ext cx="9418320" cy="0"/>
          </a:xfrm>
          <a:prstGeom prst="line">
            <a:avLst/>
          </a:prstGeom>
          <a:noFill/>
          <a:ln w="6350">
            <a:solidFill>
              <a:srgbClr val="E3E9EF"/>
            </a:solidFill>
            <a:prstDash val="dash"/>
          </a:ln>
        </p:spPr>
        <p:txBody>
          <a:bodyPr/>
          <a:lstStyle/>
          <a:p>
            <a:endParaRPr lang="en-GB"/>
          </a:p>
        </p:txBody>
      </p:sp>
      <p:sp>
        <p:nvSpPr>
          <p:cNvPr id="76" name="Shape 69">
            <a:extLst>
              <a:ext uri="{FF2B5EF4-FFF2-40B4-BE49-F238E27FC236}">
                <a16:creationId xmlns:a16="http://schemas.microsoft.com/office/drawing/2014/main" id="{29D4EEC0-B5AA-7694-E29F-17F2B644EBD1}"/>
              </a:ext>
            </a:extLst>
          </p:cNvPr>
          <p:cNvSpPr/>
          <p:nvPr/>
        </p:nvSpPr>
        <p:spPr>
          <a:xfrm>
            <a:off x="2331720" y="4937760"/>
            <a:ext cx="1765935" cy="237744"/>
          </a:xfrm>
          <a:prstGeom prst="roundRect">
            <a:avLst>
              <a:gd name="adj" fmla="val 19231"/>
            </a:avLst>
          </a:prstGeom>
          <a:solidFill>
            <a:srgbClr val="C77B17"/>
          </a:solidFill>
          <a:ln/>
        </p:spPr>
        <p:txBody>
          <a:bodyPr/>
          <a:lstStyle/>
          <a:p>
            <a:endParaRPr lang="en-GB"/>
          </a:p>
        </p:txBody>
      </p:sp>
      <p:sp>
        <p:nvSpPr>
          <p:cNvPr id="77" name="Shape 70">
            <a:extLst>
              <a:ext uri="{FF2B5EF4-FFF2-40B4-BE49-F238E27FC236}">
                <a16:creationId xmlns:a16="http://schemas.microsoft.com/office/drawing/2014/main" id="{38346AA7-6B81-1F9C-6460-F2C7DC3BF285}"/>
              </a:ext>
            </a:extLst>
          </p:cNvPr>
          <p:cNvSpPr/>
          <p:nvPr/>
        </p:nvSpPr>
        <p:spPr>
          <a:xfrm>
            <a:off x="4097655" y="4937760"/>
            <a:ext cx="6475095" cy="237744"/>
          </a:xfrm>
          <a:prstGeom prst="roundRect">
            <a:avLst>
              <a:gd name="adj" fmla="val 19231"/>
            </a:avLst>
          </a:prstGeom>
          <a:solidFill>
            <a:srgbClr val="6B7785"/>
          </a:solidFill>
          <a:ln/>
        </p:spPr>
        <p:txBody>
          <a:bodyPr/>
          <a:lstStyle/>
          <a:p>
            <a:endParaRPr lang="en-GB"/>
          </a:p>
        </p:txBody>
      </p:sp>
      <p:sp>
        <p:nvSpPr>
          <p:cNvPr id="78" name="Shape 71">
            <a:extLst>
              <a:ext uri="{FF2B5EF4-FFF2-40B4-BE49-F238E27FC236}">
                <a16:creationId xmlns:a16="http://schemas.microsoft.com/office/drawing/2014/main" id="{0747C6BC-2EB4-89E9-0D3C-BE8B2708A1A1}"/>
              </a:ext>
            </a:extLst>
          </p:cNvPr>
          <p:cNvSpPr/>
          <p:nvPr/>
        </p:nvSpPr>
        <p:spPr>
          <a:xfrm>
            <a:off x="4038219" y="4997196"/>
            <a:ext cx="118872" cy="118872"/>
          </a:xfrm>
          <a:prstGeom prst="diamond">
            <a:avLst/>
          </a:prstGeom>
          <a:solidFill>
            <a:srgbClr val="FFFFFF"/>
          </a:solidFill>
          <a:ln w="22225">
            <a:solidFill>
              <a:srgbClr val="C77B17"/>
            </a:solidFill>
            <a:prstDash val="solid"/>
          </a:ln>
        </p:spPr>
        <p:txBody>
          <a:bodyPr/>
          <a:lstStyle/>
          <a:p>
            <a:endParaRPr lang="en-GB"/>
          </a:p>
        </p:txBody>
      </p:sp>
      <p:sp>
        <p:nvSpPr>
          <p:cNvPr id="79" name="Text 72">
            <a:extLst>
              <a:ext uri="{FF2B5EF4-FFF2-40B4-BE49-F238E27FC236}">
                <a16:creationId xmlns:a16="http://schemas.microsoft.com/office/drawing/2014/main" id="{77197AE6-1AC9-F76C-D99C-0171459EFEB7}"/>
              </a:ext>
            </a:extLst>
          </p:cNvPr>
          <p:cNvSpPr/>
          <p:nvPr/>
        </p:nvSpPr>
        <p:spPr>
          <a:xfrm>
            <a:off x="3228975" y="4736592"/>
            <a:ext cx="1737360" cy="219456"/>
          </a:xfrm>
          <a:prstGeom prst="rect">
            <a:avLst/>
          </a:prstGeom>
          <a:noFill/>
          <a:ln/>
        </p:spPr>
        <p:txBody>
          <a:bodyPr wrap="square" lIns="0" tIns="0" rIns="0" bIns="0" rtlCol="0" anchor="ctr"/>
          <a:lstStyle/>
          <a:p>
            <a:pPr marL="0" indent="0" algn="ctr">
              <a:buNone/>
            </a:pPr>
            <a:r>
              <a:rPr lang="en-US" sz="800" b="1" dirty="0">
                <a:solidFill>
                  <a:srgbClr val="C77B17"/>
                </a:solidFill>
                <a:latin typeface="Calibri" pitchFamily="34" charset="0"/>
                <a:ea typeface="Calibri" pitchFamily="34" charset="-122"/>
                <a:cs typeface="Calibri" pitchFamily="34" charset="-120"/>
              </a:rPr>
              <a:t>DCO submission, Mar-29</a:t>
            </a:r>
            <a:endParaRPr lang="en-US" sz="800" dirty="0"/>
          </a:p>
        </p:txBody>
      </p:sp>
      <p:sp>
        <p:nvSpPr>
          <p:cNvPr id="80" name="Shape 73">
            <a:extLst>
              <a:ext uri="{FF2B5EF4-FFF2-40B4-BE49-F238E27FC236}">
                <a16:creationId xmlns:a16="http://schemas.microsoft.com/office/drawing/2014/main" id="{A99E1FA0-1937-C1E1-F870-4176423B3107}"/>
              </a:ext>
            </a:extLst>
          </p:cNvPr>
          <p:cNvSpPr/>
          <p:nvPr/>
        </p:nvSpPr>
        <p:spPr>
          <a:xfrm>
            <a:off x="10513314" y="4997196"/>
            <a:ext cx="118872" cy="118872"/>
          </a:xfrm>
          <a:prstGeom prst="diamond">
            <a:avLst/>
          </a:prstGeom>
          <a:solidFill>
            <a:srgbClr val="FFFFFF"/>
          </a:solidFill>
          <a:ln w="22225">
            <a:solidFill>
              <a:srgbClr val="6B7785"/>
            </a:solidFill>
            <a:prstDash val="solid"/>
          </a:ln>
        </p:spPr>
        <p:txBody>
          <a:bodyPr/>
          <a:lstStyle/>
          <a:p>
            <a:endParaRPr lang="en-GB"/>
          </a:p>
        </p:txBody>
      </p:sp>
      <p:sp>
        <p:nvSpPr>
          <p:cNvPr id="81" name="Text 74">
            <a:extLst>
              <a:ext uri="{FF2B5EF4-FFF2-40B4-BE49-F238E27FC236}">
                <a16:creationId xmlns:a16="http://schemas.microsoft.com/office/drawing/2014/main" id="{9F8CA492-ABF5-CA73-6D2D-D555D6388EA7}"/>
              </a:ext>
            </a:extLst>
          </p:cNvPr>
          <p:cNvSpPr/>
          <p:nvPr/>
        </p:nvSpPr>
        <p:spPr>
          <a:xfrm>
            <a:off x="9704070" y="5138928"/>
            <a:ext cx="1737360" cy="219456"/>
          </a:xfrm>
          <a:prstGeom prst="rect">
            <a:avLst/>
          </a:prstGeom>
          <a:noFill/>
          <a:ln/>
        </p:spPr>
        <p:txBody>
          <a:bodyPr wrap="square" lIns="0" tIns="0" rIns="0" bIns="0" rtlCol="0" anchor="ctr"/>
          <a:lstStyle/>
          <a:p>
            <a:pPr marL="0" indent="0" algn="ctr">
              <a:buNone/>
            </a:pPr>
            <a:r>
              <a:rPr lang="en-US" sz="800" b="1" dirty="0">
                <a:solidFill>
                  <a:srgbClr val="6B7785"/>
                </a:solidFill>
                <a:latin typeface="Calibri" pitchFamily="34" charset="0"/>
                <a:ea typeface="Calibri" pitchFamily="34" charset="-122"/>
                <a:cs typeface="Calibri" pitchFamily="34" charset="-120"/>
              </a:rPr>
              <a:t>Net-energy demo (~2040)</a:t>
            </a:r>
            <a:endParaRPr lang="en-US" sz="800" dirty="0"/>
          </a:p>
        </p:txBody>
      </p:sp>
      <p:sp>
        <p:nvSpPr>
          <p:cNvPr id="82" name="Shape 75">
            <a:extLst>
              <a:ext uri="{FF2B5EF4-FFF2-40B4-BE49-F238E27FC236}">
                <a16:creationId xmlns:a16="http://schemas.microsoft.com/office/drawing/2014/main" id="{87C9CA85-0595-D7C3-723B-2AFEDC64A47D}"/>
              </a:ext>
            </a:extLst>
          </p:cNvPr>
          <p:cNvSpPr/>
          <p:nvPr/>
        </p:nvSpPr>
        <p:spPr>
          <a:xfrm>
            <a:off x="457200" y="5678424"/>
            <a:ext cx="365760" cy="365760"/>
          </a:xfrm>
          <a:prstGeom prst="ellipse">
            <a:avLst/>
          </a:prstGeom>
          <a:solidFill>
            <a:srgbClr val="1B3358"/>
          </a:solidFill>
          <a:ln/>
        </p:spPr>
        <p:txBody>
          <a:bodyPr/>
          <a:lstStyle/>
          <a:p>
            <a:endParaRPr lang="en-GB"/>
          </a:p>
        </p:txBody>
      </p:sp>
      <p:pic>
        <p:nvPicPr>
          <p:cNvPr id="83" name="Image 5" descr="preencoded.png">
            <a:extLst>
              <a:ext uri="{FF2B5EF4-FFF2-40B4-BE49-F238E27FC236}">
                <a16:creationId xmlns:a16="http://schemas.microsoft.com/office/drawing/2014/main" id="{920D4C06-3A1D-8172-E179-A60292E524FB}"/>
              </a:ext>
            </a:extLst>
          </p:cNvPr>
          <p:cNvPicPr>
            <a:picLocks noChangeAspect="1"/>
          </p:cNvPicPr>
          <p:nvPr/>
        </p:nvPicPr>
        <p:blipFill>
          <a:blip r:embed="rId8"/>
          <a:stretch>
            <a:fillRect/>
          </a:stretch>
        </p:blipFill>
        <p:spPr>
          <a:xfrm>
            <a:off x="530352" y="5751576"/>
            <a:ext cx="219456" cy="219456"/>
          </a:xfrm>
          <a:prstGeom prst="rect">
            <a:avLst/>
          </a:prstGeom>
        </p:spPr>
      </p:pic>
      <p:sp>
        <p:nvSpPr>
          <p:cNvPr id="84" name="Text 76">
            <a:extLst>
              <a:ext uri="{FF2B5EF4-FFF2-40B4-BE49-F238E27FC236}">
                <a16:creationId xmlns:a16="http://schemas.microsoft.com/office/drawing/2014/main" id="{8EF018C9-8B6A-CE02-7929-E3F0A7D75F63}"/>
              </a:ext>
            </a:extLst>
          </p:cNvPr>
          <p:cNvSpPr/>
          <p:nvPr/>
        </p:nvSpPr>
        <p:spPr>
          <a:xfrm>
            <a:off x="914400" y="5541264"/>
            <a:ext cx="1371600" cy="384048"/>
          </a:xfrm>
          <a:prstGeom prst="rect">
            <a:avLst/>
          </a:prstGeom>
          <a:noFill/>
          <a:ln/>
        </p:spPr>
        <p:txBody>
          <a:bodyPr wrap="square" lIns="0" tIns="0" rIns="0" bIns="0" rtlCol="0" anchor="t"/>
          <a:lstStyle/>
          <a:p>
            <a:pPr marL="0" indent="0">
              <a:lnSpc>
                <a:spcPct val="95000"/>
              </a:lnSpc>
              <a:buNone/>
            </a:pPr>
            <a:r>
              <a:rPr lang="en-US" sz="1100" b="1" dirty="0">
                <a:solidFill>
                  <a:srgbClr val="12233D"/>
                </a:solidFill>
                <a:latin typeface="Calibri" pitchFamily="34" charset="0"/>
                <a:ea typeface="Calibri" pitchFamily="34" charset="-122"/>
                <a:cs typeface="Calibri" pitchFamily="34" charset="-120"/>
              </a:rPr>
              <a:t>NDA </a:t>
            </a:r>
          </a:p>
          <a:p>
            <a:pPr marL="0" indent="0">
              <a:lnSpc>
                <a:spcPct val="95000"/>
              </a:lnSpc>
              <a:buNone/>
            </a:pPr>
            <a:r>
              <a:rPr lang="en-US" sz="1100" b="1" dirty="0">
                <a:solidFill>
                  <a:srgbClr val="12233D"/>
                </a:solidFill>
                <a:latin typeface="Calibri" pitchFamily="34" charset="0"/>
                <a:ea typeface="Calibri" pitchFamily="34" charset="-122"/>
                <a:cs typeface="Calibri" pitchFamily="34" charset="-120"/>
              </a:rPr>
              <a:t>Decommissioning</a:t>
            </a:r>
            <a:endParaRPr lang="en-US" sz="1100" dirty="0"/>
          </a:p>
        </p:txBody>
      </p:sp>
      <p:sp>
        <p:nvSpPr>
          <p:cNvPr id="85" name="Text 77">
            <a:extLst>
              <a:ext uri="{FF2B5EF4-FFF2-40B4-BE49-F238E27FC236}">
                <a16:creationId xmlns:a16="http://schemas.microsoft.com/office/drawing/2014/main" id="{D08B92A1-EEA9-6F76-7FF7-A036D8F3164C}"/>
              </a:ext>
            </a:extLst>
          </p:cNvPr>
          <p:cNvSpPr/>
          <p:nvPr/>
        </p:nvSpPr>
        <p:spPr>
          <a:xfrm>
            <a:off x="914400" y="5925312"/>
            <a:ext cx="1371600" cy="274320"/>
          </a:xfrm>
          <a:prstGeom prst="rect">
            <a:avLst/>
          </a:prstGeom>
          <a:noFill/>
          <a:ln/>
        </p:spPr>
        <p:txBody>
          <a:bodyPr wrap="square" lIns="0" tIns="0" rIns="0" bIns="0" rtlCol="0" anchor="b"/>
          <a:lstStyle/>
          <a:p>
            <a:pPr marL="0" indent="0">
              <a:lnSpc>
                <a:spcPct val="95000"/>
              </a:lnSpc>
              <a:buNone/>
            </a:pPr>
            <a:r>
              <a:rPr lang="en-US" sz="700" i="1" dirty="0">
                <a:solidFill>
                  <a:srgbClr val="5B6B7C"/>
                </a:solidFill>
                <a:latin typeface="Calibri" pitchFamily="34" charset="0"/>
                <a:ea typeface="Calibri" pitchFamily="34" charset="-122"/>
                <a:cs typeface="Calibri" pitchFamily="34" charset="-120"/>
              </a:rPr>
              <a:t>UK's largest clean-up site · Sellafield Ltd · NDA · PPP</a:t>
            </a:r>
            <a:endParaRPr lang="en-US" sz="700" dirty="0"/>
          </a:p>
        </p:txBody>
      </p:sp>
      <p:sp>
        <p:nvSpPr>
          <p:cNvPr id="86" name="Shape 78">
            <a:extLst>
              <a:ext uri="{FF2B5EF4-FFF2-40B4-BE49-F238E27FC236}">
                <a16:creationId xmlns:a16="http://schemas.microsoft.com/office/drawing/2014/main" id="{AC5C8ECC-DD55-C5AF-81F1-4175AF86B61A}"/>
              </a:ext>
            </a:extLst>
          </p:cNvPr>
          <p:cNvSpPr/>
          <p:nvPr/>
        </p:nvSpPr>
        <p:spPr>
          <a:xfrm>
            <a:off x="2331720" y="5861304"/>
            <a:ext cx="9418320" cy="0"/>
          </a:xfrm>
          <a:prstGeom prst="line">
            <a:avLst/>
          </a:prstGeom>
          <a:noFill/>
          <a:ln w="6350">
            <a:solidFill>
              <a:srgbClr val="E3E9EF"/>
            </a:solidFill>
            <a:prstDash val="dash"/>
          </a:ln>
        </p:spPr>
        <p:txBody>
          <a:bodyPr/>
          <a:lstStyle/>
          <a:p>
            <a:endParaRPr lang="en-GB"/>
          </a:p>
        </p:txBody>
      </p:sp>
      <p:sp>
        <p:nvSpPr>
          <p:cNvPr id="87" name="Shape 79">
            <a:extLst>
              <a:ext uri="{FF2B5EF4-FFF2-40B4-BE49-F238E27FC236}">
                <a16:creationId xmlns:a16="http://schemas.microsoft.com/office/drawing/2014/main" id="{F8B290A8-2490-1EFD-CE45-076046A752F7}"/>
              </a:ext>
            </a:extLst>
          </p:cNvPr>
          <p:cNvSpPr/>
          <p:nvPr/>
        </p:nvSpPr>
        <p:spPr>
          <a:xfrm>
            <a:off x="2331720" y="5742432"/>
            <a:ext cx="9418320" cy="237744"/>
          </a:xfrm>
          <a:prstGeom prst="roundRect">
            <a:avLst>
              <a:gd name="adj" fmla="val 19231"/>
            </a:avLst>
          </a:prstGeom>
          <a:solidFill>
            <a:srgbClr val="1E8E5A"/>
          </a:solidFill>
          <a:ln/>
        </p:spPr>
        <p:txBody>
          <a:bodyPr/>
          <a:lstStyle/>
          <a:p>
            <a:endParaRPr lang="en-GB"/>
          </a:p>
        </p:txBody>
      </p:sp>
      <p:sp>
        <p:nvSpPr>
          <p:cNvPr id="88" name="Shape 80">
            <a:extLst>
              <a:ext uri="{FF2B5EF4-FFF2-40B4-BE49-F238E27FC236}">
                <a16:creationId xmlns:a16="http://schemas.microsoft.com/office/drawing/2014/main" id="{4DAE774B-73DB-55C9-2B86-922D923A3545}"/>
              </a:ext>
            </a:extLst>
          </p:cNvPr>
          <p:cNvSpPr/>
          <p:nvPr/>
        </p:nvSpPr>
        <p:spPr>
          <a:xfrm>
            <a:off x="11690604" y="5801868"/>
            <a:ext cx="118872" cy="118872"/>
          </a:xfrm>
          <a:prstGeom prst="diamond">
            <a:avLst/>
          </a:prstGeom>
          <a:solidFill>
            <a:srgbClr val="FFFFFF"/>
          </a:solidFill>
          <a:ln w="22225">
            <a:solidFill>
              <a:srgbClr val="1E8E5A"/>
            </a:solidFill>
            <a:prstDash val="solid"/>
          </a:ln>
        </p:spPr>
        <p:txBody>
          <a:bodyPr/>
          <a:lstStyle/>
          <a:p>
            <a:endParaRPr lang="en-GB"/>
          </a:p>
        </p:txBody>
      </p:sp>
      <p:sp>
        <p:nvSpPr>
          <p:cNvPr id="89" name="Text 81">
            <a:extLst>
              <a:ext uri="{FF2B5EF4-FFF2-40B4-BE49-F238E27FC236}">
                <a16:creationId xmlns:a16="http://schemas.microsoft.com/office/drawing/2014/main" id="{7BAFB323-D6F3-DD77-2891-093FB202B16D}"/>
              </a:ext>
            </a:extLst>
          </p:cNvPr>
          <p:cNvSpPr/>
          <p:nvPr/>
        </p:nvSpPr>
        <p:spPr>
          <a:xfrm>
            <a:off x="10469880" y="5541264"/>
            <a:ext cx="1737360" cy="219456"/>
          </a:xfrm>
          <a:prstGeom prst="rect">
            <a:avLst/>
          </a:prstGeom>
          <a:noFill/>
          <a:ln/>
        </p:spPr>
        <p:txBody>
          <a:bodyPr wrap="square" lIns="0" tIns="0" rIns="0" bIns="0" rtlCol="0" anchor="ctr"/>
          <a:lstStyle/>
          <a:p>
            <a:pPr marL="0" indent="0" algn="ctr">
              <a:buNone/>
            </a:pPr>
            <a:r>
              <a:rPr lang="en-US" sz="800" b="1" dirty="0">
                <a:solidFill>
                  <a:srgbClr val="1E8E5A"/>
                </a:solidFill>
                <a:latin typeface="Calibri" pitchFamily="34" charset="0"/>
                <a:ea typeface="Calibri" pitchFamily="34" charset="-122"/>
                <a:cs typeface="Calibri" pitchFamily="34" charset="-120"/>
              </a:rPr>
              <a:t>Full remediation by 2125 →</a:t>
            </a:r>
            <a:endParaRPr lang="en-US" sz="800" dirty="0"/>
          </a:p>
        </p:txBody>
      </p:sp>
      <p:sp>
        <p:nvSpPr>
          <p:cNvPr id="90" name="Shape 82">
            <a:extLst>
              <a:ext uri="{FF2B5EF4-FFF2-40B4-BE49-F238E27FC236}">
                <a16:creationId xmlns:a16="http://schemas.microsoft.com/office/drawing/2014/main" id="{CEFC8DD2-D088-1866-B45F-EF282EA2FC41}"/>
              </a:ext>
            </a:extLst>
          </p:cNvPr>
          <p:cNvSpPr/>
          <p:nvPr/>
        </p:nvSpPr>
        <p:spPr>
          <a:xfrm>
            <a:off x="2331720" y="1426464"/>
            <a:ext cx="0" cy="4846320"/>
          </a:xfrm>
          <a:prstGeom prst="line">
            <a:avLst/>
          </a:prstGeom>
          <a:noFill/>
          <a:ln w="12700">
            <a:solidFill>
              <a:srgbClr val="C7D2DC"/>
            </a:solidFill>
            <a:prstDash val="solid"/>
          </a:ln>
        </p:spPr>
        <p:txBody>
          <a:bodyPr/>
          <a:lstStyle/>
          <a:p>
            <a:endParaRPr lang="en-GB"/>
          </a:p>
        </p:txBody>
      </p:sp>
      <p:sp>
        <p:nvSpPr>
          <p:cNvPr id="91" name="Shape 83">
            <a:extLst>
              <a:ext uri="{FF2B5EF4-FFF2-40B4-BE49-F238E27FC236}">
                <a16:creationId xmlns:a16="http://schemas.microsoft.com/office/drawing/2014/main" id="{23AC5019-3218-8235-72A7-BDBC720B71E1}"/>
              </a:ext>
            </a:extLst>
          </p:cNvPr>
          <p:cNvSpPr/>
          <p:nvPr/>
        </p:nvSpPr>
        <p:spPr>
          <a:xfrm>
            <a:off x="2626042" y="1280160"/>
            <a:ext cx="0" cy="4992624"/>
          </a:xfrm>
          <a:prstGeom prst="line">
            <a:avLst/>
          </a:prstGeom>
          <a:noFill/>
          <a:ln w="15875">
            <a:solidFill>
              <a:srgbClr val="12233D"/>
            </a:solidFill>
            <a:prstDash val="lgDash"/>
          </a:ln>
        </p:spPr>
        <p:txBody>
          <a:bodyPr/>
          <a:lstStyle/>
          <a:p>
            <a:endParaRPr lang="en-GB"/>
          </a:p>
        </p:txBody>
      </p:sp>
      <p:sp>
        <p:nvSpPr>
          <p:cNvPr id="92" name="Shape 84">
            <a:extLst>
              <a:ext uri="{FF2B5EF4-FFF2-40B4-BE49-F238E27FC236}">
                <a16:creationId xmlns:a16="http://schemas.microsoft.com/office/drawing/2014/main" id="{FD0D0BB0-9A8D-30BE-EFFD-5680B156C637}"/>
              </a:ext>
            </a:extLst>
          </p:cNvPr>
          <p:cNvSpPr/>
          <p:nvPr/>
        </p:nvSpPr>
        <p:spPr>
          <a:xfrm>
            <a:off x="2589466" y="1234440"/>
            <a:ext cx="73152" cy="73152"/>
          </a:xfrm>
          <a:prstGeom prst="ellipse">
            <a:avLst/>
          </a:prstGeom>
          <a:solidFill>
            <a:srgbClr val="12233D"/>
          </a:solidFill>
          <a:ln/>
        </p:spPr>
        <p:txBody>
          <a:bodyPr/>
          <a:lstStyle/>
          <a:p>
            <a:endParaRPr lang="en-GB"/>
          </a:p>
        </p:txBody>
      </p:sp>
      <p:sp>
        <p:nvSpPr>
          <p:cNvPr id="93" name="Text 85">
            <a:extLst>
              <a:ext uri="{FF2B5EF4-FFF2-40B4-BE49-F238E27FC236}">
                <a16:creationId xmlns:a16="http://schemas.microsoft.com/office/drawing/2014/main" id="{17EB4D40-F9DD-6719-A476-FA3D992C7552}"/>
              </a:ext>
            </a:extLst>
          </p:cNvPr>
          <p:cNvSpPr/>
          <p:nvPr/>
        </p:nvSpPr>
        <p:spPr>
          <a:xfrm>
            <a:off x="2260283" y="1060704"/>
            <a:ext cx="731520" cy="182880"/>
          </a:xfrm>
          <a:prstGeom prst="rect">
            <a:avLst/>
          </a:prstGeom>
          <a:noFill/>
          <a:ln/>
        </p:spPr>
        <p:txBody>
          <a:bodyPr wrap="square" lIns="0" tIns="0" rIns="0" bIns="0" rtlCol="0" anchor="ctr"/>
          <a:lstStyle/>
          <a:p>
            <a:pPr marL="0" indent="0" algn="ctr">
              <a:buNone/>
            </a:pPr>
            <a:r>
              <a:rPr lang="en-US" sz="800" b="1" kern="0" spc="50" dirty="0">
                <a:solidFill>
                  <a:srgbClr val="12233D"/>
                </a:solidFill>
                <a:latin typeface="Calibri" pitchFamily="34" charset="0"/>
                <a:ea typeface="Calibri" pitchFamily="34" charset="-122"/>
                <a:cs typeface="Calibri" pitchFamily="34" charset="-120"/>
              </a:rPr>
              <a:t>TODAY</a:t>
            </a:r>
            <a:endParaRPr lang="en-US" sz="800" dirty="0"/>
          </a:p>
        </p:txBody>
      </p:sp>
      <p:pic>
        <p:nvPicPr>
          <p:cNvPr id="5" name="Picture 4">
            <a:extLst>
              <a:ext uri="{FF2B5EF4-FFF2-40B4-BE49-F238E27FC236}">
                <a16:creationId xmlns:a16="http://schemas.microsoft.com/office/drawing/2014/main" id="{B853821C-1516-7679-85EB-08AAAFEF9A3D}"/>
              </a:ext>
            </a:extLst>
          </p:cNvPr>
          <p:cNvPicPr>
            <a:picLocks noChangeAspect="1"/>
          </p:cNvPicPr>
          <p:nvPr/>
        </p:nvPicPr>
        <p:blipFill>
          <a:blip r:embed="rId9"/>
          <a:stretch>
            <a:fillRect/>
          </a:stretch>
        </p:blipFill>
        <p:spPr>
          <a:xfrm>
            <a:off x="11103845" y="3846"/>
            <a:ext cx="1097277" cy="1128042"/>
          </a:xfrm>
          <a:prstGeom prst="rect">
            <a:avLst/>
          </a:prstGeom>
        </p:spPr>
      </p:pic>
      <p:sp>
        <p:nvSpPr>
          <p:cNvPr id="95" name="TextBox 94">
            <a:extLst>
              <a:ext uri="{FF2B5EF4-FFF2-40B4-BE49-F238E27FC236}">
                <a16:creationId xmlns:a16="http://schemas.microsoft.com/office/drawing/2014/main" id="{D8D8FEEC-BF6C-4BEB-7EE9-FA25347E2FCB}"/>
              </a:ext>
            </a:extLst>
          </p:cNvPr>
          <p:cNvSpPr txBox="1"/>
          <p:nvPr/>
        </p:nvSpPr>
        <p:spPr>
          <a:xfrm>
            <a:off x="44118" y="6654109"/>
            <a:ext cx="12152376" cy="200055"/>
          </a:xfrm>
          <a:prstGeom prst="rect">
            <a:avLst/>
          </a:prstGeom>
          <a:noFill/>
        </p:spPr>
        <p:txBody>
          <a:bodyPr wrap="square">
            <a:spAutoFit/>
          </a:bodyPr>
          <a:lstStyle/>
          <a:p>
            <a:pPr algn="ctr"/>
            <a:r>
              <a:rPr lang="en-GB" sz="700" b="1" i="0" u="none" strike="noStrike" noProof="0" dirty="0">
                <a:solidFill>
                  <a:srgbClr val="757575"/>
                </a:solidFill>
                <a:effectLst/>
                <a:latin typeface="Aptos Narrow" panose="020B0004020202020204" pitchFamily="34" charset="0"/>
              </a:rPr>
              <a:t>Commercial in Confidence - This document contains proprietary and commercially sensitive information. It is intended solely for the recipient(s) and should not be disclosed or distributed without written permission from Nuclear Collaboration Ltd (NucCol ltd) Co. no. 15937779 </a:t>
            </a:r>
            <a:r>
              <a:rPr lang="en-GB" sz="700" b="1" i="0" noProof="0" dirty="0">
                <a:solidFill>
                  <a:srgbClr val="000000"/>
                </a:solidFill>
                <a:effectLst/>
                <a:latin typeface="Aptos Narrow" panose="020B0004020202020204" pitchFamily="34" charset="0"/>
              </a:rPr>
              <a:t>​</a:t>
            </a:r>
            <a:endParaRPr lang="en-GB" sz="700" b="1" noProof="0" dirty="0"/>
          </a:p>
        </p:txBody>
      </p:sp>
      <p:pic>
        <p:nvPicPr>
          <p:cNvPr id="94" name="Picture 93" descr="To Deliver Clean, Affordable Energy For All | Rolls-Royce SMR">
            <a:extLst>
              <a:ext uri="{FF2B5EF4-FFF2-40B4-BE49-F238E27FC236}">
                <a16:creationId xmlns:a16="http://schemas.microsoft.com/office/drawing/2014/main" id="{64C25A01-1F50-F03F-B4B4-B3E36B582E89}"/>
              </a:ext>
            </a:extLst>
          </p:cNvPr>
          <p:cNvPicPr>
            <a:picLocks noChangeAspect="1"/>
          </p:cNvPicPr>
          <p:nvPr/>
        </p:nvPicPr>
        <p:blipFill>
          <a:blip r:embed="rId10"/>
          <a:stretch>
            <a:fillRect/>
          </a:stretch>
        </p:blipFill>
        <p:spPr>
          <a:xfrm>
            <a:off x="357863" y="3008612"/>
            <a:ext cx="406700" cy="305025"/>
          </a:xfrm>
          <a:prstGeom prst="rect">
            <a:avLst/>
          </a:prstGeom>
        </p:spPr>
      </p:pic>
      <p:pic>
        <p:nvPicPr>
          <p:cNvPr id="96" name="Picture 95">
            <a:extLst>
              <a:ext uri="{FF2B5EF4-FFF2-40B4-BE49-F238E27FC236}">
                <a16:creationId xmlns:a16="http://schemas.microsoft.com/office/drawing/2014/main" id="{F07FA820-300C-5510-0E0E-9F1ECA94E1AA}"/>
              </a:ext>
            </a:extLst>
          </p:cNvPr>
          <p:cNvPicPr>
            <a:picLocks noChangeAspect="1"/>
          </p:cNvPicPr>
          <p:nvPr/>
        </p:nvPicPr>
        <p:blipFill>
          <a:blip r:embed="rId11"/>
          <a:stretch>
            <a:fillRect/>
          </a:stretch>
        </p:blipFill>
        <p:spPr>
          <a:xfrm>
            <a:off x="491716" y="5345411"/>
            <a:ext cx="310633" cy="309410"/>
          </a:xfrm>
          <a:prstGeom prst="rect">
            <a:avLst/>
          </a:prstGeom>
        </p:spPr>
      </p:pic>
      <p:pic>
        <p:nvPicPr>
          <p:cNvPr id="97" name="Picture 96" descr="Step Fusion | Fusion Energy Base">
            <a:extLst>
              <a:ext uri="{FF2B5EF4-FFF2-40B4-BE49-F238E27FC236}">
                <a16:creationId xmlns:a16="http://schemas.microsoft.com/office/drawing/2014/main" id="{77075A99-697B-50A0-2DF5-8C041E1EB667}"/>
              </a:ext>
            </a:extLst>
          </p:cNvPr>
          <p:cNvPicPr>
            <a:picLocks noChangeAspect="1"/>
          </p:cNvPicPr>
          <p:nvPr/>
        </p:nvPicPr>
        <p:blipFill>
          <a:blip r:embed="rId12"/>
          <a:stretch>
            <a:fillRect/>
          </a:stretch>
        </p:blipFill>
        <p:spPr>
          <a:xfrm>
            <a:off x="394334" y="4640071"/>
            <a:ext cx="365761" cy="197105"/>
          </a:xfrm>
          <a:prstGeom prst="rect">
            <a:avLst/>
          </a:prstGeom>
        </p:spPr>
      </p:pic>
      <p:pic>
        <p:nvPicPr>
          <p:cNvPr id="99" name="Picture 98" descr="Welcome to the Sizewell C Supply Chain Opportunities Portal ...">
            <a:extLst>
              <a:ext uri="{FF2B5EF4-FFF2-40B4-BE49-F238E27FC236}">
                <a16:creationId xmlns:a16="http://schemas.microsoft.com/office/drawing/2014/main" id="{D9ED26C4-561C-9A85-84F4-B66318F2FBD4}"/>
              </a:ext>
            </a:extLst>
          </p:cNvPr>
          <p:cNvPicPr>
            <a:picLocks noChangeAspect="1"/>
          </p:cNvPicPr>
          <p:nvPr/>
        </p:nvPicPr>
        <p:blipFill>
          <a:blip r:embed="rId13"/>
          <a:stretch>
            <a:fillRect/>
          </a:stretch>
        </p:blipFill>
        <p:spPr>
          <a:xfrm>
            <a:off x="254779" y="2179513"/>
            <a:ext cx="519603" cy="216214"/>
          </a:xfrm>
          <a:prstGeom prst="rect">
            <a:avLst/>
          </a:prstGeom>
        </p:spPr>
      </p:pic>
      <p:pic>
        <p:nvPicPr>
          <p:cNvPr id="100" name="Picture 99">
            <a:extLst>
              <a:ext uri="{FF2B5EF4-FFF2-40B4-BE49-F238E27FC236}">
                <a16:creationId xmlns:a16="http://schemas.microsoft.com/office/drawing/2014/main" id="{04ED93AD-02AA-7EDA-E1B9-AF295C3E4750}"/>
              </a:ext>
            </a:extLst>
          </p:cNvPr>
          <p:cNvPicPr>
            <a:picLocks noChangeAspect="1"/>
          </p:cNvPicPr>
          <p:nvPr/>
        </p:nvPicPr>
        <p:blipFill>
          <a:blip r:embed="rId14"/>
          <a:stretch>
            <a:fillRect/>
          </a:stretch>
        </p:blipFill>
        <p:spPr>
          <a:xfrm>
            <a:off x="228600" y="1383294"/>
            <a:ext cx="601679" cy="214357"/>
          </a:xfrm>
          <a:prstGeom prst="rect">
            <a:avLst/>
          </a:prstGeom>
        </p:spPr>
      </p:pic>
    </p:spTree>
    <p:extLst>
      <p:ext uri="{BB962C8B-B14F-4D97-AF65-F5344CB8AC3E}">
        <p14:creationId xmlns:p14="http://schemas.microsoft.com/office/powerpoint/2010/main" val="707846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35C71-E8BF-7EC9-32E6-C8ABEAC5750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2DCC8E3-CF93-7A4E-EFDB-EFA59A38F560}"/>
              </a:ext>
            </a:extLst>
          </p:cNvPr>
          <p:cNvSpPr/>
          <p:nvPr/>
        </p:nvSpPr>
        <p:spPr>
          <a:xfrm>
            <a:off x="0" y="0"/>
            <a:ext cx="12191695" cy="960120"/>
          </a:xfrm>
          <a:prstGeom prst="rect">
            <a:avLst/>
          </a:prstGeom>
          <a:solidFill>
            <a:srgbClr val="12233D"/>
          </a:solidFill>
          <a:ln/>
        </p:spPr>
        <p:txBody>
          <a:bodyPr/>
          <a:lstStyle/>
          <a:p>
            <a:endParaRPr lang="en-GB"/>
          </a:p>
        </p:txBody>
      </p:sp>
      <p:sp>
        <p:nvSpPr>
          <p:cNvPr id="3" name="Text 1">
            <a:extLst>
              <a:ext uri="{FF2B5EF4-FFF2-40B4-BE49-F238E27FC236}">
                <a16:creationId xmlns:a16="http://schemas.microsoft.com/office/drawing/2014/main" id="{2E4C9998-BD93-D11F-0B9E-5DE2794B99B8}"/>
              </a:ext>
            </a:extLst>
          </p:cNvPr>
          <p:cNvSpPr/>
          <p:nvPr/>
        </p:nvSpPr>
        <p:spPr>
          <a:xfrm>
            <a:off x="457200" y="118872"/>
            <a:ext cx="8686800" cy="384048"/>
          </a:xfrm>
          <a:prstGeom prst="rect">
            <a:avLst/>
          </a:prstGeom>
          <a:noFill/>
          <a:ln/>
        </p:spPr>
        <p:txBody>
          <a:bodyPr wrap="square" lIns="0" tIns="0" rIns="0" bIns="0" rtlCol="0" anchor="ctr"/>
          <a:lstStyle/>
          <a:p>
            <a:pPr marL="0" indent="0">
              <a:buNone/>
            </a:pPr>
            <a:r>
              <a:rPr lang="en-US" b="1" kern="0" spc="150" dirty="0">
                <a:solidFill>
                  <a:srgbClr val="FF0000"/>
                </a:solidFill>
                <a:latin typeface="Calibri" pitchFamily="34" charset="0"/>
                <a:ea typeface="Calibri" pitchFamily="34" charset="-122"/>
                <a:cs typeface="Calibri" pitchFamily="34" charset="-120"/>
              </a:rPr>
              <a:t>UK</a:t>
            </a:r>
            <a:r>
              <a:rPr lang="en-US" sz="1500" b="1" kern="0" spc="150" dirty="0">
                <a:solidFill>
                  <a:srgbClr val="9FB6CC"/>
                </a:solidFill>
                <a:latin typeface="Calibri" pitchFamily="34" charset="0"/>
                <a:ea typeface="Calibri" pitchFamily="34" charset="-122"/>
                <a:cs typeface="Calibri" pitchFamily="34" charset="-120"/>
              </a:rPr>
              <a:t> PRIVATE SMR / AMR / MMR PROJECTS</a:t>
            </a:r>
            <a:endParaRPr lang="en-US" sz="1500" dirty="0"/>
          </a:p>
        </p:txBody>
      </p:sp>
      <p:sp>
        <p:nvSpPr>
          <p:cNvPr id="4" name="Text 2">
            <a:extLst>
              <a:ext uri="{FF2B5EF4-FFF2-40B4-BE49-F238E27FC236}">
                <a16:creationId xmlns:a16="http://schemas.microsoft.com/office/drawing/2014/main" id="{BC416C50-835F-250A-C2C9-57BC79ED4379}"/>
              </a:ext>
            </a:extLst>
          </p:cNvPr>
          <p:cNvSpPr/>
          <p:nvPr/>
        </p:nvSpPr>
        <p:spPr>
          <a:xfrm>
            <a:off x="457200" y="411480"/>
            <a:ext cx="86868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Programme Overview at a Glance</a:t>
            </a:r>
            <a:endParaRPr lang="en-US" sz="2600" dirty="0"/>
          </a:p>
        </p:txBody>
      </p:sp>
      <p:sp>
        <p:nvSpPr>
          <p:cNvPr id="6" name="Shape 4">
            <a:extLst>
              <a:ext uri="{FF2B5EF4-FFF2-40B4-BE49-F238E27FC236}">
                <a16:creationId xmlns:a16="http://schemas.microsoft.com/office/drawing/2014/main" id="{91D7687B-28B5-9DE2-E660-FD83D403BA73}"/>
              </a:ext>
            </a:extLst>
          </p:cNvPr>
          <p:cNvSpPr/>
          <p:nvPr/>
        </p:nvSpPr>
        <p:spPr>
          <a:xfrm>
            <a:off x="4935580" y="1143000"/>
            <a:ext cx="118872" cy="118872"/>
          </a:xfrm>
          <a:prstGeom prst="ellipse">
            <a:avLst/>
          </a:prstGeom>
          <a:solidFill>
            <a:srgbClr val="1E8E5A"/>
          </a:solidFill>
          <a:ln/>
        </p:spPr>
        <p:txBody>
          <a:bodyPr/>
          <a:lstStyle/>
          <a:p>
            <a:endParaRPr lang="en-GB"/>
          </a:p>
        </p:txBody>
      </p:sp>
      <p:sp>
        <p:nvSpPr>
          <p:cNvPr id="7" name="Text 5">
            <a:extLst>
              <a:ext uri="{FF2B5EF4-FFF2-40B4-BE49-F238E27FC236}">
                <a16:creationId xmlns:a16="http://schemas.microsoft.com/office/drawing/2014/main" id="{D54E8B5A-3F3B-9930-20AA-D7B8C92CFC8B}"/>
              </a:ext>
            </a:extLst>
          </p:cNvPr>
          <p:cNvSpPr/>
          <p:nvPr/>
        </p:nvSpPr>
        <p:spPr>
          <a:xfrm>
            <a:off x="5118460" y="1060704"/>
            <a:ext cx="233172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Construction / contracted delivery</a:t>
            </a:r>
            <a:endParaRPr lang="en-US" sz="1050" dirty="0"/>
          </a:p>
        </p:txBody>
      </p:sp>
      <p:sp>
        <p:nvSpPr>
          <p:cNvPr id="8" name="Shape 6">
            <a:extLst>
              <a:ext uri="{FF2B5EF4-FFF2-40B4-BE49-F238E27FC236}">
                <a16:creationId xmlns:a16="http://schemas.microsoft.com/office/drawing/2014/main" id="{1347F8AD-427C-EEF2-D89E-F1E541DD5496}"/>
              </a:ext>
            </a:extLst>
          </p:cNvPr>
          <p:cNvSpPr/>
          <p:nvPr/>
        </p:nvSpPr>
        <p:spPr>
          <a:xfrm>
            <a:off x="7678780" y="1143000"/>
            <a:ext cx="118872" cy="118872"/>
          </a:xfrm>
          <a:prstGeom prst="ellipse">
            <a:avLst/>
          </a:prstGeom>
          <a:solidFill>
            <a:srgbClr val="C77B17"/>
          </a:solidFill>
          <a:ln/>
        </p:spPr>
        <p:txBody>
          <a:bodyPr/>
          <a:lstStyle/>
          <a:p>
            <a:endParaRPr lang="en-GB"/>
          </a:p>
        </p:txBody>
      </p:sp>
      <p:sp>
        <p:nvSpPr>
          <p:cNvPr id="9" name="Text 7">
            <a:extLst>
              <a:ext uri="{FF2B5EF4-FFF2-40B4-BE49-F238E27FC236}">
                <a16:creationId xmlns:a16="http://schemas.microsoft.com/office/drawing/2014/main" id="{4DDFA2DE-2661-B8EE-F18E-DFAE77C46A60}"/>
              </a:ext>
            </a:extLst>
          </p:cNvPr>
          <p:cNvSpPr/>
          <p:nvPr/>
        </p:nvSpPr>
        <p:spPr>
          <a:xfrm>
            <a:off x="7861660" y="1060704"/>
            <a:ext cx="178308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GDA / site-specific licensing</a:t>
            </a:r>
            <a:endParaRPr lang="en-US" sz="1050" dirty="0"/>
          </a:p>
        </p:txBody>
      </p:sp>
      <p:sp>
        <p:nvSpPr>
          <p:cNvPr id="10" name="Shape 8">
            <a:extLst>
              <a:ext uri="{FF2B5EF4-FFF2-40B4-BE49-F238E27FC236}">
                <a16:creationId xmlns:a16="http://schemas.microsoft.com/office/drawing/2014/main" id="{1D19B71E-A658-55C0-1F05-6624D39BDE3A}"/>
              </a:ext>
            </a:extLst>
          </p:cNvPr>
          <p:cNvSpPr/>
          <p:nvPr/>
        </p:nvSpPr>
        <p:spPr>
          <a:xfrm>
            <a:off x="9781900" y="1143000"/>
            <a:ext cx="118872" cy="118872"/>
          </a:xfrm>
          <a:prstGeom prst="ellipse">
            <a:avLst/>
          </a:prstGeom>
          <a:solidFill>
            <a:srgbClr val="6B7785"/>
          </a:solidFill>
          <a:ln/>
        </p:spPr>
        <p:txBody>
          <a:bodyPr/>
          <a:lstStyle/>
          <a:p>
            <a:endParaRPr lang="en-GB"/>
          </a:p>
        </p:txBody>
      </p:sp>
      <p:sp>
        <p:nvSpPr>
          <p:cNvPr id="11" name="Text 9">
            <a:extLst>
              <a:ext uri="{FF2B5EF4-FFF2-40B4-BE49-F238E27FC236}">
                <a16:creationId xmlns:a16="http://schemas.microsoft.com/office/drawing/2014/main" id="{9021A4BA-ACF2-1C69-CCFA-6F6D5A6FD801}"/>
              </a:ext>
            </a:extLst>
          </p:cNvPr>
          <p:cNvSpPr/>
          <p:nvPr/>
        </p:nvSpPr>
        <p:spPr>
          <a:xfrm>
            <a:off x="9964780" y="1060704"/>
            <a:ext cx="114300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MOU / feasibility</a:t>
            </a:r>
            <a:endParaRPr lang="en-US" sz="1050" dirty="0"/>
          </a:p>
        </p:txBody>
      </p:sp>
      <p:sp>
        <p:nvSpPr>
          <p:cNvPr id="12" name="Shape 10">
            <a:extLst>
              <a:ext uri="{FF2B5EF4-FFF2-40B4-BE49-F238E27FC236}">
                <a16:creationId xmlns:a16="http://schemas.microsoft.com/office/drawing/2014/main" id="{604110F9-D10E-578D-B34E-3F592ECB3259}"/>
              </a:ext>
            </a:extLst>
          </p:cNvPr>
          <p:cNvSpPr/>
          <p:nvPr/>
        </p:nvSpPr>
        <p:spPr>
          <a:xfrm>
            <a:off x="457200" y="141732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13" name="Shape 11">
            <a:extLst>
              <a:ext uri="{FF2B5EF4-FFF2-40B4-BE49-F238E27FC236}">
                <a16:creationId xmlns:a16="http://schemas.microsoft.com/office/drawing/2014/main" id="{4C6D03D4-5F98-21D2-EAA4-67D7460DD592}"/>
              </a:ext>
            </a:extLst>
          </p:cNvPr>
          <p:cNvSpPr/>
          <p:nvPr/>
        </p:nvSpPr>
        <p:spPr>
          <a:xfrm>
            <a:off x="713232" y="1655064"/>
            <a:ext cx="566928" cy="566928"/>
          </a:xfrm>
          <a:prstGeom prst="ellipse">
            <a:avLst/>
          </a:prstGeom>
          <a:solidFill>
            <a:srgbClr val="1B3358"/>
          </a:solidFill>
          <a:ln/>
        </p:spPr>
        <p:txBody>
          <a:bodyPr/>
          <a:lstStyle/>
          <a:p>
            <a:endParaRPr lang="en-GB"/>
          </a:p>
        </p:txBody>
      </p:sp>
      <p:pic>
        <p:nvPicPr>
          <p:cNvPr id="14" name="Image 0" descr="preencoded.png">
            <a:extLst>
              <a:ext uri="{FF2B5EF4-FFF2-40B4-BE49-F238E27FC236}">
                <a16:creationId xmlns:a16="http://schemas.microsoft.com/office/drawing/2014/main" id="{7BBD5827-59C6-B4C8-2BE9-ED09212EAB7B}"/>
              </a:ext>
            </a:extLst>
          </p:cNvPr>
          <p:cNvPicPr>
            <a:picLocks noChangeAspect="1"/>
          </p:cNvPicPr>
          <p:nvPr/>
        </p:nvPicPr>
        <p:blipFill>
          <a:blip r:embed="rId3"/>
          <a:stretch>
            <a:fillRect/>
          </a:stretch>
        </p:blipFill>
        <p:spPr>
          <a:xfrm>
            <a:off x="841248" y="1783080"/>
            <a:ext cx="310896" cy="310896"/>
          </a:xfrm>
          <a:prstGeom prst="rect">
            <a:avLst/>
          </a:prstGeom>
        </p:spPr>
      </p:pic>
      <p:sp>
        <p:nvSpPr>
          <p:cNvPr id="15" name="Shape 12">
            <a:extLst>
              <a:ext uri="{FF2B5EF4-FFF2-40B4-BE49-F238E27FC236}">
                <a16:creationId xmlns:a16="http://schemas.microsoft.com/office/drawing/2014/main" id="{B9158826-30BE-D171-64A8-647F53B921F2}"/>
              </a:ext>
            </a:extLst>
          </p:cNvPr>
          <p:cNvSpPr/>
          <p:nvPr/>
        </p:nvSpPr>
        <p:spPr>
          <a:xfrm>
            <a:off x="3773272" y="1655064"/>
            <a:ext cx="1965960" cy="274320"/>
          </a:xfrm>
          <a:prstGeom prst="roundRect">
            <a:avLst>
              <a:gd name="adj" fmla="val 166667"/>
            </a:avLst>
          </a:prstGeom>
          <a:solidFill>
            <a:srgbClr val="C77B17"/>
          </a:solidFill>
          <a:ln/>
        </p:spPr>
        <p:txBody>
          <a:bodyPr/>
          <a:lstStyle/>
          <a:p>
            <a:endParaRPr lang="en-GB"/>
          </a:p>
        </p:txBody>
      </p:sp>
      <p:sp>
        <p:nvSpPr>
          <p:cNvPr id="16" name="Text 13">
            <a:extLst>
              <a:ext uri="{FF2B5EF4-FFF2-40B4-BE49-F238E27FC236}">
                <a16:creationId xmlns:a16="http://schemas.microsoft.com/office/drawing/2014/main" id="{B45727AA-DA99-59B1-7074-50987BD4826D}"/>
              </a:ext>
            </a:extLst>
          </p:cNvPr>
          <p:cNvSpPr/>
          <p:nvPr/>
        </p:nvSpPr>
        <p:spPr>
          <a:xfrm>
            <a:off x="3773272" y="1655064"/>
            <a:ext cx="196596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GDA STEP 2 COMPLETE</a:t>
            </a:r>
            <a:endParaRPr lang="en-US" sz="950" dirty="0"/>
          </a:p>
        </p:txBody>
      </p:sp>
      <p:sp>
        <p:nvSpPr>
          <p:cNvPr id="17" name="Text 14">
            <a:extLst>
              <a:ext uri="{FF2B5EF4-FFF2-40B4-BE49-F238E27FC236}">
                <a16:creationId xmlns:a16="http://schemas.microsoft.com/office/drawing/2014/main" id="{1FBF973B-893D-C3FB-A681-58288667D563}"/>
              </a:ext>
            </a:extLst>
          </p:cNvPr>
          <p:cNvSpPr/>
          <p:nvPr/>
        </p:nvSpPr>
        <p:spPr>
          <a:xfrm>
            <a:off x="713232" y="2386584"/>
            <a:ext cx="4989424" cy="512064"/>
          </a:xfrm>
          <a:prstGeom prst="rect">
            <a:avLst/>
          </a:prstGeom>
          <a:noFill/>
          <a:ln/>
        </p:spPr>
        <p:txBody>
          <a:bodyPr wrap="square" lIns="0" tIns="0" rIns="0" bIns="0" rtlCol="0" anchor="t"/>
          <a:lstStyle/>
          <a:p>
            <a:pPr marL="0" indent="0">
              <a:buNone/>
            </a:pPr>
            <a:r>
              <a:rPr lang="en-US" sz="1700" b="1" dirty="0">
                <a:solidFill>
                  <a:srgbClr val="12233D"/>
                </a:solidFill>
                <a:latin typeface="Calibri" pitchFamily="34" charset="0"/>
                <a:ea typeface="Calibri" pitchFamily="34" charset="-122"/>
                <a:cs typeface="Calibri" pitchFamily="34" charset="-120"/>
              </a:rPr>
              <a:t>Holtec SMR-300 — Cottam</a:t>
            </a:r>
            <a:endParaRPr lang="en-US" sz="1700" dirty="0"/>
          </a:p>
        </p:txBody>
      </p:sp>
      <p:sp>
        <p:nvSpPr>
          <p:cNvPr id="18" name="Text 15">
            <a:extLst>
              <a:ext uri="{FF2B5EF4-FFF2-40B4-BE49-F238E27FC236}">
                <a16:creationId xmlns:a16="http://schemas.microsoft.com/office/drawing/2014/main" id="{0EB459ED-FA85-3345-3E82-5CEFE55E2C6D}"/>
              </a:ext>
            </a:extLst>
          </p:cNvPr>
          <p:cNvSpPr/>
          <p:nvPr/>
        </p:nvSpPr>
        <p:spPr>
          <a:xfrm>
            <a:off x="713232" y="2898648"/>
            <a:ext cx="4989424" cy="310896"/>
          </a:xfrm>
          <a:prstGeom prst="rect">
            <a:avLst/>
          </a:prstGeom>
          <a:noFill/>
          <a:ln/>
        </p:spPr>
        <p:txBody>
          <a:bodyPr wrap="square" lIns="0" tIns="0" rIns="0" bIns="0" rtlCol="0" anchor="t"/>
          <a:lstStyle/>
          <a:p>
            <a:pPr marL="0" indent="0">
              <a:buNone/>
            </a:pPr>
            <a:r>
              <a:rPr lang="en-US" sz="1200" b="1" dirty="0">
                <a:solidFill>
                  <a:srgbClr val="5B7A99"/>
                </a:solidFill>
                <a:latin typeface="Calibri" pitchFamily="34" charset="0"/>
                <a:ea typeface="Calibri" pitchFamily="34" charset="-122"/>
                <a:cs typeface="Calibri" pitchFamily="34" charset="-120"/>
              </a:rPr>
              <a:t>2×320 MWe+  ·  ~$11bn</a:t>
            </a:r>
            <a:endParaRPr lang="en-US" sz="1200" dirty="0"/>
          </a:p>
        </p:txBody>
      </p:sp>
      <p:sp>
        <p:nvSpPr>
          <p:cNvPr id="19" name="Shape 16">
            <a:extLst>
              <a:ext uri="{FF2B5EF4-FFF2-40B4-BE49-F238E27FC236}">
                <a16:creationId xmlns:a16="http://schemas.microsoft.com/office/drawing/2014/main" id="{DDB56DCB-115B-2CD0-B46E-B0FA967DBA9A}"/>
              </a:ext>
            </a:extLst>
          </p:cNvPr>
          <p:cNvSpPr/>
          <p:nvPr/>
        </p:nvSpPr>
        <p:spPr>
          <a:xfrm>
            <a:off x="713232" y="3264408"/>
            <a:ext cx="4989424" cy="0"/>
          </a:xfrm>
          <a:prstGeom prst="line">
            <a:avLst/>
          </a:prstGeom>
          <a:noFill/>
          <a:ln w="9525">
            <a:solidFill>
              <a:srgbClr val="D6E0E8"/>
            </a:solidFill>
            <a:prstDash val="solid"/>
          </a:ln>
        </p:spPr>
        <p:txBody>
          <a:bodyPr/>
          <a:lstStyle/>
          <a:p>
            <a:endParaRPr lang="en-GB"/>
          </a:p>
        </p:txBody>
      </p:sp>
      <p:sp>
        <p:nvSpPr>
          <p:cNvPr id="20" name="Text 17">
            <a:extLst>
              <a:ext uri="{FF2B5EF4-FFF2-40B4-BE49-F238E27FC236}">
                <a16:creationId xmlns:a16="http://schemas.microsoft.com/office/drawing/2014/main" id="{C7DEFA25-5643-442D-FDF7-2F41C54AB29A}"/>
              </a:ext>
            </a:extLst>
          </p:cNvPr>
          <p:cNvSpPr/>
          <p:nvPr/>
        </p:nvSpPr>
        <p:spPr>
          <a:xfrm>
            <a:off x="713232" y="3374136"/>
            <a:ext cx="4989424" cy="45720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50" dirty="0">
                <a:solidFill>
                  <a:srgbClr val="12233D"/>
                </a:solidFill>
                <a:latin typeface="Calibri" pitchFamily="34" charset="0"/>
                <a:ea typeface="Calibri" pitchFamily="34" charset="-122"/>
                <a:cs typeface="Calibri" pitchFamily="34" charset="-120"/>
              </a:rPr>
              <a:t>GDA Step 2 done Mar-26 · operational 2030s</a:t>
            </a:r>
            <a:endParaRPr lang="en-US" sz="900" dirty="0"/>
          </a:p>
        </p:txBody>
      </p:sp>
      <p:sp>
        <p:nvSpPr>
          <p:cNvPr id="21" name="Text 18">
            <a:extLst>
              <a:ext uri="{FF2B5EF4-FFF2-40B4-BE49-F238E27FC236}">
                <a16:creationId xmlns:a16="http://schemas.microsoft.com/office/drawing/2014/main" id="{DD2BF3FE-3822-5E6F-43AE-68A0F33C09B9}"/>
              </a:ext>
            </a:extLst>
          </p:cNvPr>
          <p:cNvSpPr/>
          <p:nvPr/>
        </p:nvSpPr>
        <p:spPr>
          <a:xfrm>
            <a:off x="713232" y="3470148"/>
            <a:ext cx="4989424" cy="292608"/>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Holtec · EDF Energy · Tritax</a:t>
            </a:r>
            <a:endParaRPr lang="en-US" sz="1050" dirty="0"/>
          </a:p>
        </p:txBody>
      </p:sp>
      <p:sp>
        <p:nvSpPr>
          <p:cNvPr id="22" name="Shape 19">
            <a:extLst>
              <a:ext uri="{FF2B5EF4-FFF2-40B4-BE49-F238E27FC236}">
                <a16:creationId xmlns:a16="http://schemas.microsoft.com/office/drawing/2014/main" id="{E4D75A20-BB39-38A9-FDEC-214635626E00}"/>
              </a:ext>
            </a:extLst>
          </p:cNvPr>
          <p:cNvSpPr/>
          <p:nvPr/>
        </p:nvSpPr>
        <p:spPr>
          <a:xfrm>
            <a:off x="6233008" y="141732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23" name="Shape 20">
            <a:extLst>
              <a:ext uri="{FF2B5EF4-FFF2-40B4-BE49-F238E27FC236}">
                <a16:creationId xmlns:a16="http://schemas.microsoft.com/office/drawing/2014/main" id="{B33B788C-CEBA-3A22-7CE1-B9A204F6FE9A}"/>
              </a:ext>
            </a:extLst>
          </p:cNvPr>
          <p:cNvSpPr/>
          <p:nvPr/>
        </p:nvSpPr>
        <p:spPr>
          <a:xfrm>
            <a:off x="6489040" y="1655064"/>
            <a:ext cx="566928" cy="566928"/>
          </a:xfrm>
          <a:prstGeom prst="ellipse">
            <a:avLst/>
          </a:prstGeom>
          <a:solidFill>
            <a:srgbClr val="1B3358"/>
          </a:solidFill>
          <a:ln/>
        </p:spPr>
        <p:txBody>
          <a:bodyPr/>
          <a:lstStyle/>
          <a:p>
            <a:endParaRPr lang="en-GB"/>
          </a:p>
        </p:txBody>
      </p:sp>
      <p:pic>
        <p:nvPicPr>
          <p:cNvPr id="24" name="Image 1" descr="preencoded.png">
            <a:extLst>
              <a:ext uri="{FF2B5EF4-FFF2-40B4-BE49-F238E27FC236}">
                <a16:creationId xmlns:a16="http://schemas.microsoft.com/office/drawing/2014/main" id="{4D1C5D1F-CA9B-F0A2-4A6E-968B9551BC5D}"/>
              </a:ext>
            </a:extLst>
          </p:cNvPr>
          <p:cNvPicPr>
            <a:picLocks noChangeAspect="1"/>
          </p:cNvPicPr>
          <p:nvPr/>
        </p:nvPicPr>
        <p:blipFill>
          <a:blip r:embed="rId4"/>
          <a:stretch>
            <a:fillRect/>
          </a:stretch>
        </p:blipFill>
        <p:spPr>
          <a:xfrm>
            <a:off x="6617056" y="1783080"/>
            <a:ext cx="310896" cy="310896"/>
          </a:xfrm>
          <a:prstGeom prst="rect">
            <a:avLst/>
          </a:prstGeom>
        </p:spPr>
      </p:pic>
      <p:sp>
        <p:nvSpPr>
          <p:cNvPr id="25" name="Shape 21">
            <a:extLst>
              <a:ext uri="{FF2B5EF4-FFF2-40B4-BE49-F238E27FC236}">
                <a16:creationId xmlns:a16="http://schemas.microsoft.com/office/drawing/2014/main" id="{B0263D20-DB85-3D2C-9C7A-9BCCDD5BF9B3}"/>
              </a:ext>
            </a:extLst>
          </p:cNvPr>
          <p:cNvSpPr/>
          <p:nvPr/>
        </p:nvSpPr>
        <p:spPr>
          <a:xfrm>
            <a:off x="9549079" y="1655064"/>
            <a:ext cx="1965960" cy="274320"/>
          </a:xfrm>
          <a:prstGeom prst="roundRect">
            <a:avLst>
              <a:gd name="adj" fmla="val 166667"/>
            </a:avLst>
          </a:prstGeom>
          <a:solidFill>
            <a:srgbClr val="C77B17"/>
          </a:solidFill>
          <a:ln/>
        </p:spPr>
        <p:txBody>
          <a:bodyPr/>
          <a:lstStyle/>
          <a:p>
            <a:endParaRPr lang="en-GB"/>
          </a:p>
        </p:txBody>
      </p:sp>
      <p:sp>
        <p:nvSpPr>
          <p:cNvPr id="26" name="Text 22">
            <a:extLst>
              <a:ext uri="{FF2B5EF4-FFF2-40B4-BE49-F238E27FC236}">
                <a16:creationId xmlns:a16="http://schemas.microsoft.com/office/drawing/2014/main" id="{34F32A36-BC4E-1852-1203-80D1D4F4DC53}"/>
              </a:ext>
            </a:extLst>
          </p:cNvPr>
          <p:cNvSpPr/>
          <p:nvPr/>
        </p:nvSpPr>
        <p:spPr>
          <a:xfrm>
            <a:off x="9549079" y="1655064"/>
            <a:ext cx="196596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PRE-GDA / LICENSING</a:t>
            </a:r>
            <a:endParaRPr lang="en-US" sz="950" dirty="0"/>
          </a:p>
        </p:txBody>
      </p:sp>
      <p:sp>
        <p:nvSpPr>
          <p:cNvPr id="27" name="Text 23">
            <a:extLst>
              <a:ext uri="{FF2B5EF4-FFF2-40B4-BE49-F238E27FC236}">
                <a16:creationId xmlns:a16="http://schemas.microsoft.com/office/drawing/2014/main" id="{C7B44FDA-77F7-30A2-D35B-2E12FF07310A}"/>
              </a:ext>
            </a:extLst>
          </p:cNvPr>
          <p:cNvSpPr/>
          <p:nvPr/>
        </p:nvSpPr>
        <p:spPr>
          <a:xfrm>
            <a:off x="6489040" y="2386584"/>
            <a:ext cx="4989424" cy="512064"/>
          </a:xfrm>
          <a:prstGeom prst="rect">
            <a:avLst/>
          </a:prstGeom>
          <a:noFill/>
          <a:ln/>
        </p:spPr>
        <p:txBody>
          <a:bodyPr wrap="square" lIns="0" tIns="0" rIns="0" bIns="0" rtlCol="0" anchor="t"/>
          <a:lstStyle/>
          <a:p>
            <a:pPr marL="0" indent="0">
              <a:buNone/>
            </a:pPr>
            <a:r>
              <a:rPr lang="en-US" sz="1700" b="1" dirty="0">
                <a:solidFill>
                  <a:srgbClr val="12233D"/>
                </a:solidFill>
                <a:latin typeface="Calibri" pitchFamily="34" charset="0"/>
                <a:ea typeface="Calibri" pitchFamily="34" charset="-122"/>
                <a:cs typeface="Calibri" pitchFamily="34" charset="-120"/>
              </a:rPr>
              <a:t>Westinghouse AP300 — Seal Sands</a:t>
            </a:r>
            <a:endParaRPr lang="en-US" sz="1700" dirty="0"/>
          </a:p>
        </p:txBody>
      </p:sp>
      <p:sp>
        <p:nvSpPr>
          <p:cNvPr id="28" name="Text 24">
            <a:extLst>
              <a:ext uri="{FF2B5EF4-FFF2-40B4-BE49-F238E27FC236}">
                <a16:creationId xmlns:a16="http://schemas.microsoft.com/office/drawing/2014/main" id="{44AFE7AE-84CE-A00C-F49B-A477DC4F2E0A}"/>
              </a:ext>
            </a:extLst>
          </p:cNvPr>
          <p:cNvSpPr/>
          <p:nvPr/>
        </p:nvSpPr>
        <p:spPr>
          <a:xfrm>
            <a:off x="6489040" y="2898648"/>
            <a:ext cx="4989424" cy="310896"/>
          </a:xfrm>
          <a:prstGeom prst="rect">
            <a:avLst/>
          </a:prstGeom>
          <a:noFill/>
          <a:ln/>
        </p:spPr>
        <p:txBody>
          <a:bodyPr wrap="square" lIns="0" tIns="0" rIns="0" bIns="0" rtlCol="0" anchor="t"/>
          <a:lstStyle/>
          <a:p>
            <a:pPr marL="0" indent="0">
              <a:buNone/>
            </a:pPr>
            <a:r>
              <a:rPr lang="en-US" sz="1200" b="1" dirty="0">
                <a:solidFill>
                  <a:srgbClr val="5B7A99"/>
                </a:solidFill>
                <a:latin typeface="Calibri" pitchFamily="34" charset="0"/>
                <a:ea typeface="Calibri" pitchFamily="34" charset="-122"/>
                <a:cs typeface="Calibri" pitchFamily="34" charset="-120"/>
              </a:rPr>
              <a:t>4×300 MWe  ·  1.5 GW total</a:t>
            </a:r>
            <a:endParaRPr lang="en-US" sz="1200" dirty="0"/>
          </a:p>
        </p:txBody>
      </p:sp>
      <p:sp>
        <p:nvSpPr>
          <p:cNvPr id="29" name="Shape 25">
            <a:extLst>
              <a:ext uri="{FF2B5EF4-FFF2-40B4-BE49-F238E27FC236}">
                <a16:creationId xmlns:a16="http://schemas.microsoft.com/office/drawing/2014/main" id="{D4247A4E-5DF0-D6BE-C6AA-63B0957BB97C}"/>
              </a:ext>
            </a:extLst>
          </p:cNvPr>
          <p:cNvSpPr/>
          <p:nvPr/>
        </p:nvSpPr>
        <p:spPr>
          <a:xfrm>
            <a:off x="6489040" y="3264408"/>
            <a:ext cx="4989424" cy="0"/>
          </a:xfrm>
          <a:prstGeom prst="line">
            <a:avLst/>
          </a:prstGeom>
          <a:noFill/>
          <a:ln w="9525">
            <a:solidFill>
              <a:srgbClr val="D6E0E8"/>
            </a:solidFill>
            <a:prstDash val="solid"/>
          </a:ln>
        </p:spPr>
        <p:txBody>
          <a:bodyPr/>
          <a:lstStyle/>
          <a:p>
            <a:endParaRPr lang="en-GB"/>
          </a:p>
        </p:txBody>
      </p:sp>
      <p:sp>
        <p:nvSpPr>
          <p:cNvPr id="30" name="Text 26">
            <a:extLst>
              <a:ext uri="{FF2B5EF4-FFF2-40B4-BE49-F238E27FC236}">
                <a16:creationId xmlns:a16="http://schemas.microsoft.com/office/drawing/2014/main" id="{40764370-C0FE-C272-F02F-1563ED75D08C}"/>
              </a:ext>
            </a:extLst>
          </p:cNvPr>
          <p:cNvSpPr/>
          <p:nvPr/>
        </p:nvSpPr>
        <p:spPr>
          <a:xfrm>
            <a:off x="6489040" y="3374136"/>
            <a:ext cx="4989424" cy="45720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50" dirty="0">
                <a:solidFill>
                  <a:srgbClr val="12233D"/>
                </a:solidFill>
                <a:latin typeface="Calibri" pitchFamily="34" charset="0"/>
                <a:ea typeface="Calibri" pitchFamily="34" charset="-122"/>
                <a:cs typeface="Calibri" pitchFamily="34" charset="-120"/>
              </a:rPr>
              <a:t>Site fully licensed (target 2027) · ops early 2030s</a:t>
            </a:r>
            <a:endParaRPr lang="en-US" sz="900" dirty="0"/>
          </a:p>
        </p:txBody>
      </p:sp>
      <p:sp>
        <p:nvSpPr>
          <p:cNvPr id="31" name="Text 27">
            <a:extLst>
              <a:ext uri="{FF2B5EF4-FFF2-40B4-BE49-F238E27FC236}">
                <a16:creationId xmlns:a16="http://schemas.microsoft.com/office/drawing/2014/main" id="{8274BF30-D5AC-2200-7D69-7F2951A511A8}"/>
              </a:ext>
            </a:extLst>
          </p:cNvPr>
          <p:cNvSpPr/>
          <p:nvPr/>
        </p:nvSpPr>
        <p:spPr>
          <a:xfrm>
            <a:off x="6489040" y="3470148"/>
            <a:ext cx="4989424" cy="292608"/>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Westinghouse · Community Nuclear Power</a:t>
            </a:r>
            <a:endParaRPr lang="en-US" sz="1050" dirty="0"/>
          </a:p>
        </p:txBody>
      </p:sp>
      <p:sp>
        <p:nvSpPr>
          <p:cNvPr id="32" name="Shape 28">
            <a:extLst>
              <a:ext uri="{FF2B5EF4-FFF2-40B4-BE49-F238E27FC236}">
                <a16:creationId xmlns:a16="http://schemas.microsoft.com/office/drawing/2014/main" id="{900E5EA3-97E4-1B05-1E7A-85EE43945650}"/>
              </a:ext>
            </a:extLst>
          </p:cNvPr>
          <p:cNvSpPr/>
          <p:nvPr/>
        </p:nvSpPr>
        <p:spPr>
          <a:xfrm>
            <a:off x="457200" y="409194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33" name="Shape 29">
            <a:extLst>
              <a:ext uri="{FF2B5EF4-FFF2-40B4-BE49-F238E27FC236}">
                <a16:creationId xmlns:a16="http://schemas.microsoft.com/office/drawing/2014/main" id="{C518AD11-91C9-A1D3-6FC2-0829FFB7D4F8}"/>
              </a:ext>
            </a:extLst>
          </p:cNvPr>
          <p:cNvSpPr/>
          <p:nvPr/>
        </p:nvSpPr>
        <p:spPr>
          <a:xfrm>
            <a:off x="713232" y="4329684"/>
            <a:ext cx="566928" cy="566928"/>
          </a:xfrm>
          <a:prstGeom prst="ellipse">
            <a:avLst/>
          </a:prstGeom>
          <a:solidFill>
            <a:srgbClr val="1B3358"/>
          </a:solidFill>
          <a:ln/>
        </p:spPr>
        <p:txBody>
          <a:bodyPr/>
          <a:lstStyle/>
          <a:p>
            <a:endParaRPr lang="en-GB"/>
          </a:p>
        </p:txBody>
      </p:sp>
      <p:pic>
        <p:nvPicPr>
          <p:cNvPr id="34" name="Image 2" descr="preencoded.png">
            <a:extLst>
              <a:ext uri="{FF2B5EF4-FFF2-40B4-BE49-F238E27FC236}">
                <a16:creationId xmlns:a16="http://schemas.microsoft.com/office/drawing/2014/main" id="{2361FB53-5E3B-1968-71F9-D696B7CF1B28}"/>
              </a:ext>
            </a:extLst>
          </p:cNvPr>
          <p:cNvPicPr>
            <a:picLocks noChangeAspect="1"/>
          </p:cNvPicPr>
          <p:nvPr/>
        </p:nvPicPr>
        <p:blipFill>
          <a:blip r:embed="rId5"/>
          <a:stretch>
            <a:fillRect/>
          </a:stretch>
        </p:blipFill>
        <p:spPr>
          <a:xfrm>
            <a:off x="841248" y="4457700"/>
            <a:ext cx="310896" cy="310896"/>
          </a:xfrm>
          <a:prstGeom prst="rect">
            <a:avLst/>
          </a:prstGeom>
        </p:spPr>
      </p:pic>
      <p:sp>
        <p:nvSpPr>
          <p:cNvPr id="35" name="Shape 30">
            <a:extLst>
              <a:ext uri="{FF2B5EF4-FFF2-40B4-BE49-F238E27FC236}">
                <a16:creationId xmlns:a16="http://schemas.microsoft.com/office/drawing/2014/main" id="{9E1D10DC-2418-D178-791C-EDCF860B0B3D}"/>
              </a:ext>
            </a:extLst>
          </p:cNvPr>
          <p:cNvSpPr/>
          <p:nvPr/>
        </p:nvSpPr>
        <p:spPr>
          <a:xfrm>
            <a:off x="3773272" y="4329684"/>
            <a:ext cx="1965960" cy="274320"/>
          </a:xfrm>
          <a:prstGeom prst="roundRect">
            <a:avLst>
              <a:gd name="adj" fmla="val 166667"/>
            </a:avLst>
          </a:prstGeom>
          <a:solidFill>
            <a:srgbClr val="C77B17"/>
          </a:solidFill>
          <a:ln/>
        </p:spPr>
        <p:txBody>
          <a:bodyPr/>
          <a:lstStyle/>
          <a:p>
            <a:endParaRPr lang="en-GB"/>
          </a:p>
        </p:txBody>
      </p:sp>
      <p:sp>
        <p:nvSpPr>
          <p:cNvPr id="36" name="Text 31">
            <a:extLst>
              <a:ext uri="{FF2B5EF4-FFF2-40B4-BE49-F238E27FC236}">
                <a16:creationId xmlns:a16="http://schemas.microsoft.com/office/drawing/2014/main" id="{36D96B39-0894-A17C-28A3-DE8852E51664}"/>
              </a:ext>
            </a:extLst>
          </p:cNvPr>
          <p:cNvSpPr/>
          <p:nvPr/>
        </p:nvSpPr>
        <p:spPr>
          <a:xfrm>
            <a:off x="3773272" y="4329684"/>
            <a:ext cx="196596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GDA SUBMITTED</a:t>
            </a:r>
            <a:endParaRPr lang="en-US" sz="950" dirty="0"/>
          </a:p>
        </p:txBody>
      </p:sp>
      <p:sp>
        <p:nvSpPr>
          <p:cNvPr id="37" name="Text 32">
            <a:extLst>
              <a:ext uri="{FF2B5EF4-FFF2-40B4-BE49-F238E27FC236}">
                <a16:creationId xmlns:a16="http://schemas.microsoft.com/office/drawing/2014/main" id="{EDA7172E-113D-F550-D86D-EB9AF4037678}"/>
              </a:ext>
            </a:extLst>
          </p:cNvPr>
          <p:cNvSpPr/>
          <p:nvPr/>
        </p:nvSpPr>
        <p:spPr>
          <a:xfrm>
            <a:off x="713232" y="5061204"/>
            <a:ext cx="4989424" cy="512064"/>
          </a:xfrm>
          <a:prstGeom prst="rect">
            <a:avLst/>
          </a:prstGeom>
          <a:noFill/>
          <a:ln/>
        </p:spPr>
        <p:txBody>
          <a:bodyPr wrap="square" lIns="0" tIns="0" rIns="0" bIns="0" rtlCol="0" anchor="t"/>
          <a:lstStyle/>
          <a:p>
            <a:pPr marL="0" indent="0">
              <a:buNone/>
            </a:pPr>
            <a:r>
              <a:rPr lang="en-US" sz="1700" b="1" dirty="0">
                <a:solidFill>
                  <a:srgbClr val="12233D"/>
                </a:solidFill>
                <a:latin typeface="Calibri" pitchFamily="34" charset="0"/>
                <a:ea typeface="Calibri" pitchFamily="34" charset="-122"/>
                <a:cs typeface="Calibri" pitchFamily="34" charset="-120"/>
              </a:rPr>
              <a:t>X-energy Xe-100 — Hartlepool</a:t>
            </a:r>
            <a:endParaRPr lang="en-US" sz="1700" dirty="0"/>
          </a:p>
        </p:txBody>
      </p:sp>
      <p:sp>
        <p:nvSpPr>
          <p:cNvPr id="38" name="Text 33">
            <a:extLst>
              <a:ext uri="{FF2B5EF4-FFF2-40B4-BE49-F238E27FC236}">
                <a16:creationId xmlns:a16="http://schemas.microsoft.com/office/drawing/2014/main" id="{F9048D6C-EF09-BE54-95F5-F618F3BF38DF}"/>
              </a:ext>
            </a:extLst>
          </p:cNvPr>
          <p:cNvSpPr/>
          <p:nvPr/>
        </p:nvSpPr>
        <p:spPr>
          <a:xfrm>
            <a:off x="713232" y="5573268"/>
            <a:ext cx="4989424" cy="310896"/>
          </a:xfrm>
          <a:prstGeom prst="rect">
            <a:avLst/>
          </a:prstGeom>
          <a:noFill/>
          <a:ln/>
        </p:spPr>
        <p:txBody>
          <a:bodyPr wrap="square" lIns="0" tIns="0" rIns="0" bIns="0" rtlCol="0" anchor="t"/>
          <a:lstStyle/>
          <a:p>
            <a:pPr marL="0" indent="0">
              <a:buNone/>
            </a:pPr>
            <a:r>
              <a:rPr lang="en-US" sz="1200" b="1" dirty="0">
                <a:solidFill>
                  <a:srgbClr val="5B7A99"/>
                </a:solidFill>
                <a:latin typeface="Calibri" pitchFamily="34" charset="0"/>
                <a:ea typeface="Calibri" pitchFamily="34" charset="-122"/>
                <a:cs typeface="Calibri" pitchFamily="34" charset="-120"/>
              </a:rPr>
              <a:t>12×80 MWe (960 MWe)  ·  ~£40bn lifetime value</a:t>
            </a:r>
            <a:endParaRPr lang="en-US" sz="1200" dirty="0"/>
          </a:p>
        </p:txBody>
      </p:sp>
      <p:sp>
        <p:nvSpPr>
          <p:cNvPr id="39" name="Shape 34">
            <a:extLst>
              <a:ext uri="{FF2B5EF4-FFF2-40B4-BE49-F238E27FC236}">
                <a16:creationId xmlns:a16="http://schemas.microsoft.com/office/drawing/2014/main" id="{1B687D14-8323-A610-CAB9-77AFE3823B34}"/>
              </a:ext>
            </a:extLst>
          </p:cNvPr>
          <p:cNvSpPr/>
          <p:nvPr/>
        </p:nvSpPr>
        <p:spPr>
          <a:xfrm>
            <a:off x="713232" y="5939028"/>
            <a:ext cx="4989424" cy="0"/>
          </a:xfrm>
          <a:prstGeom prst="line">
            <a:avLst/>
          </a:prstGeom>
          <a:noFill/>
          <a:ln w="9525">
            <a:solidFill>
              <a:srgbClr val="D6E0E8"/>
            </a:solidFill>
            <a:prstDash val="solid"/>
          </a:ln>
        </p:spPr>
        <p:txBody>
          <a:bodyPr/>
          <a:lstStyle/>
          <a:p>
            <a:endParaRPr lang="en-GB"/>
          </a:p>
        </p:txBody>
      </p:sp>
      <p:sp>
        <p:nvSpPr>
          <p:cNvPr id="40" name="Text 35">
            <a:extLst>
              <a:ext uri="{FF2B5EF4-FFF2-40B4-BE49-F238E27FC236}">
                <a16:creationId xmlns:a16="http://schemas.microsoft.com/office/drawing/2014/main" id="{DCFA6D62-3F80-59F2-F5B8-3901F3157FC6}"/>
              </a:ext>
            </a:extLst>
          </p:cNvPr>
          <p:cNvSpPr/>
          <p:nvPr/>
        </p:nvSpPr>
        <p:spPr>
          <a:xfrm>
            <a:off x="713232" y="6048756"/>
            <a:ext cx="4989424" cy="45720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50" dirty="0">
                <a:solidFill>
                  <a:srgbClr val="12233D"/>
                </a:solidFill>
                <a:latin typeface="Calibri" pitchFamily="34" charset="0"/>
                <a:ea typeface="Calibri" pitchFamily="34" charset="-122"/>
                <a:cs typeface="Calibri" pitchFamily="34" charset="-120"/>
              </a:rPr>
              <a:t>GDA submitted Jun-26 · concludes end-2029</a:t>
            </a:r>
            <a:endParaRPr lang="en-US" sz="900" dirty="0"/>
          </a:p>
        </p:txBody>
      </p:sp>
      <p:sp>
        <p:nvSpPr>
          <p:cNvPr id="41" name="Text 36">
            <a:extLst>
              <a:ext uri="{FF2B5EF4-FFF2-40B4-BE49-F238E27FC236}">
                <a16:creationId xmlns:a16="http://schemas.microsoft.com/office/drawing/2014/main" id="{D38FDDA7-7D9B-7106-E428-8ED780419DA8}"/>
              </a:ext>
            </a:extLst>
          </p:cNvPr>
          <p:cNvSpPr/>
          <p:nvPr/>
        </p:nvSpPr>
        <p:spPr>
          <a:xfrm>
            <a:off x="713232" y="6144768"/>
            <a:ext cx="4989424" cy="292608"/>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X-energy · Centrica</a:t>
            </a:r>
            <a:endParaRPr lang="en-US" sz="1050" dirty="0"/>
          </a:p>
        </p:txBody>
      </p:sp>
      <p:sp>
        <p:nvSpPr>
          <p:cNvPr id="42" name="Shape 37">
            <a:extLst>
              <a:ext uri="{FF2B5EF4-FFF2-40B4-BE49-F238E27FC236}">
                <a16:creationId xmlns:a16="http://schemas.microsoft.com/office/drawing/2014/main" id="{113B1E54-5D02-B712-153B-5E3BD9F6CC4A}"/>
              </a:ext>
            </a:extLst>
          </p:cNvPr>
          <p:cNvSpPr/>
          <p:nvPr/>
        </p:nvSpPr>
        <p:spPr>
          <a:xfrm>
            <a:off x="6233008" y="409194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43" name="Shape 38">
            <a:extLst>
              <a:ext uri="{FF2B5EF4-FFF2-40B4-BE49-F238E27FC236}">
                <a16:creationId xmlns:a16="http://schemas.microsoft.com/office/drawing/2014/main" id="{55F97C84-36BD-655C-DAE7-09437F0D4C8B}"/>
              </a:ext>
            </a:extLst>
          </p:cNvPr>
          <p:cNvSpPr/>
          <p:nvPr/>
        </p:nvSpPr>
        <p:spPr>
          <a:xfrm>
            <a:off x="6489040" y="4329684"/>
            <a:ext cx="566928" cy="566928"/>
          </a:xfrm>
          <a:prstGeom prst="ellipse">
            <a:avLst/>
          </a:prstGeom>
          <a:solidFill>
            <a:srgbClr val="1B3358"/>
          </a:solidFill>
          <a:ln/>
        </p:spPr>
        <p:txBody>
          <a:bodyPr/>
          <a:lstStyle/>
          <a:p>
            <a:endParaRPr lang="en-GB"/>
          </a:p>
        </p:txBody>
      </p:sp>
      <p:pic>
        <p:nvPicPr>
          <p:cNvPr id="44" name="Image 3" descr="preencoded.png">
            <a:extLst>
              <a:ext uri="{FF2B5EF4-FFF2-40B4-BE49-F238E27FC236}">
                <a16:creationId xmlns:a16="http://schemas.microsoft.com/office/drawing/2014/main" id="{730A1084-452F-F10B-78CF-A5333DB8376E}"/>
              </a:ext>
            </a:extLst>
          </p:cNvPr>
          <p:cNvPicPr>
            <a:picLocks noChangeAspect="1"/>
          </p:cNvPicPr>
          <p:nvPr/>
        </p:nvPicPr>
        <p:blipFill>
          <a:blip r:embed="rId6"/>
          <a:stretch>
            <a:fillRect/>
          </a:stretch>
        </p:blipFill>
        <p:spPr>
          <a:xfrm>
            <a:off x="6617056" y="4457700"/>
            <a:ext cx="310896" cy="310896"/>
          </a:xfrm>
          <a:prstGeom prst="rect">
            <a:avLst/>
          </a:prstGeom>
        </p:spPr>
      </p:pic>
      <p:sp>
        <p:nvSpPr>
          <p:cNvPr id="45" name="Shape 39">
            <a:extLst>
              <a:ext uri="{FF2B5EF4-FFF2-40B4-BE49-F238E27FC236}">
                <a16:creationId xmlns:a16="http://schemas.microsoft.com/office/drawing/2014/main" id="{106B4EBF-BD85-3C07-F8BE-1873803AFB86}"/>
              </a:ext>
            </a:extLst>
          </p:cNvPr>
          <p:cNvSpPr/>
          <p:nvPr/>
        </p:nvSpPr>
        <p:spPr>
          <a:xfrm>
            <a:off x="9549079" y="4329684"/>
            <a:ext cx="1965960" cy="274320"/>
          </a:xfrm>
          <a:prstGeom prst="roundRect">
            <a:avLst>
              <a:gd name="adj" fmla="val 166667"/>
            </a:avLst>
          </a:prstGeom>
          <a:solidFill>
            <a:srgbClr val="6B7785"/>
          </a:solidFill>
          <a:ln/>
        </p:spPr>
        <p:txBody>
          <a:bodyPr/>
          <a:lstStyle/>
          <a:p>
            <a:endParaRPr lang="en-GB"/>
          </a:p>
        </p:txBody>
      </p:sp>
      <p:sp>
        <p:nvSpPr>
          <p:cNvPr id="46" name="Text 40">
            <a:extLst>
              <a:ext uri="{FF2B5EF4-FFF2-40B4-BE49-F238E27FC236}">
                <a16:creationId xmlns:a16="http://schemas.microsoft.com/office/drawing/2014/main" id="{F7EE203E-77AF-DFDD-C4F0-C21C258176E8}"/>
              </a:ext>
            </a:extLst>
          </p:cNvPr>
          <p:cNvSpPr/>
          <p:nvPr/>
        </p:nvSpPr>
        <p:spPr>
          <a:xfrm>
            <a:off x="9549079" y="4329684"/>
            <a:ext cx="196596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MOU / FEASIBILITY</a:t>
            </a:r>
            <a:endParaRPr lang="en-US" sz="950" dirty="0"/>
          </a:p>
        </p:txBody>
      </p:sp>
      <p:sp>
        <p:nvSpPr>
          <p:cNvPr id="47" name="Text 41">
            <a:extLst>
              <a:ext uri="{FF2B5EF4-FFF2-40B4-BE49-F238E27FC236}">
                <a16:creationId xmlns:a16="http://schemas.microsoft.com/office/drawing/2014/main" id="{D764900A-7A45-2D90-7032-26088CAF5802}"/>
              </a:ext>
            </a:extLst>
          </p:cNvPr>
          <p:cNvSpPr/>
          <p:nvPr/>
        </p:nvSpPr>
        <p:spPr>
          <a:xfrm>
            <a:off x="6489040" y="5061204"/>
            <a:ext cx="4989424" cy="512064"/>
          </a:xfrm>
          <a:prstGeom prst="rect">
            <a:avLst/>
          </a:prstGeom>
          <a:noFill/>
          <a:ln/>
        </p:spPr>
        <p:txBody>
          <a:bodyPr wrap="square" lIns="0" tIns="0" rIns="0" bIns="0" rtlCol="0" anchor="t"/>
          <a:lstStyle/>
          <a:p>
            <a:pPr marL="0" indent="0">
              <a:buNone/>
            </a:pPr>
            <a:r>
              <a:rPr lang="en-US" sz="1700" b="1" dirty="0">
                <a:solidFill>
                  <a:srgbClr val="12233D"/>
                </a:solidFill>
                <a:latin typeface="Calibri" pitchFamily="34" charset="0"/>
                <a:ea typeface="Calibri" pitchFamily="34" charset="-122"/>
                <a:cs typeface="Calibri" pitchFamily="34" charset="-120"/>
              </a:rPr>
              <a:t>Last Energy PWR-20 — London Gateway</a:t>
            </a:r>
            <a:endParaRPr lang="en-US" sz="1700" dirty="0"/>
          </a:p>
        </p:txBody>
      </p:sp>
      <p:sp>
        <p:nvSpPr>
          <p:cNvPr id="48" name="Text 42">
            <a:extLst>
              <a:ext uri="{FF2B5EF4-FFF2-40B4-BE49-F238E27FC236}">
                <a16:creationId xmlns:a16="http://schemas.microsoft.com/office/drawing/2014/main" id="{5EF25682-EBBC-D6B7-C33E-8CA2BACF6C29}"/>
              </a:ext>
            </a:extLst>
          </p:cNvPr>
          <p:cNvSpPr/>
          <p:nvPr/>
        </p:nvSpPr>
        <p:spPr>
          <a:xfrm>
            <a:off x="6489040" y="5573268"/>
            <a:ext cx="4989424" cy="310896"/>
          </a:xfrm>
          <a:prstGeom prst="rect">
            <a:avLst/>
          </a:prstGeom>
          <a:noFill/>
          <a:ln/>
        </p:spPr>
        <p:txBody>
          <a:bodyPr wrap="square" lIns="0" tIns="0" rIns="0" bIns="0" rtlCol="0" anchor="t"/>
          <a:lstStyle/>
          <a:p>
            <a:pPr marL="0" indent="0">
              <a:buNone/>
            </a:pPr>
            <a:r>
              <a:rPr lang="en-US" sz="1200" b="1" dirty="0">
                <a:solidFill>
                  <a:srgbClr val="5B7A99"/>
                </a:solidFill>
                <a:latin typeface="Calibri" pitchFamily="34" charset="0"/>
                <a:ea typeface="Calibri" pitchFamily="34" charset="-122"/>
                <a:cs typeface="Calibri" pitchFamily="34" charset="-120"/>
              </a:rPr>
              <a:t>20 MWe micro-reactor  ·  £80m private investment</a:t>
            </a:r>
            <a:endParaRPr lang="en-US" sz="1200" dirty="0"/>
          </a:p>
        </p:txBody>
      </p:sp>
      <p:sp>
        <p:nvSpPr>
          <p:cNvPr id="49" name="Shape 43">
            <a:extLst>
              <a:ext uri="{FF2B5EF4-FFF2-40B4-BE49-F238E27FC236}">
                <a16:creationId xmlns:a16="http://schemas.microsoft.com/office/drawing/2014/main" id="{BCBC4FAD-6A64-F3B1-E9D5-4A42A227903B}"/>
              </a:ext>
            </a:extLst>
          </p:cNvPr>
          <p:cNvSpPr/>
          <p:nvPr/>
        </p:nvSpPr>
        <p:spPr>
          <a:xfrm>
            <a:off x="6489040" y="5939028"/>
            <a:ext cx="4989424" cy="0"/>
          </a:xfrm>
          <a:prstGeom prst="line">
            <a:avLst/>
          </a:prstGeom>
          <a:noFill/>
          <a:ln w="9525">
            <a:solidFill>
              <a:srgbClr val="D6E0E8"/>
            </a:solidFill>
            <a:prstDash val="solid"/>
          </a:ln>
        </p:spPr>
        <p:txBody>
          <a:bodyPr/>
          <a:lstStyle/>
          <a:p>
            <a:endParaRPr lang="en-GB"/>
          </a:p>
        </p:txBody>
      </p:sp>
      <p:sp>
        <p:nvSpPr>
          <p:cNvPr id="50" name="Text 44">
            <a:extLst>
              <a:ext uri="{FF2B5EF4-FFF2-40B4-BE49-F238E27FC236}">
                <a16:creationId xmlns:a16="http://schemas.microsoft.com/office/drawing/2014/main" id="{7CB60C12-0BE5-5EC1-F4EE-F0A746231EF6}"/>
              </a:ext>
            </a:extLst>
          </p:cNvPr>
          <p:cNvSpPr/>
          <p:nvPr/>
        </p:nvSpPr>
        <p:spPr>
          <a:xfrm>
            <a:off x="6489040" y="6048756"/>
            <a:ext cx="4989424" cy="45720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50" dirty="0">
                <a:solidFill>
                  <a:srgbClr val="12233D"/>
                </a:solidFill>
                <a:latin typeface="Calibri" pitchFamily="34" charset="0"/>
                <a:ea typeface="Calibri" pitchFamily="34" charset="-122"/>
                <a:cs typeface="Calibri" pitchFamily="34" charset="-120"/>
              </a:rPr>
              <a:t>Operations targeted 2030</a:t>
            </a:r>
            <a:endParaRPr lang="en-US" sz="900" dirty="0"/>
          </a:p>
        </p:txBody>
      </p:sp>
      <p:sp>
        <p:nvSpPr>
          <p:cNvPr id="51" name="Text 45">
            <a:extLst>
              <a:ext uri="{FF2B5EF4-FFF2-40B4-BE49-F238E27FC236}">
                <a16:creationId xmlns:a16="http://schemas.microsoft.com/office/drawing/2014/main" id="{E5268C02-70B1-B560-F290-EA19F9AD1FD4}"/>
              </a:ext>
            </a:extLst>
          </p:cNvPr>
          <p:cNvSpPr/>
          <p:nvPr/>
        </p:nvSpPr>
        <p:spPr>
          <a:xfrm>
            <a:off x="6489040" y="6144768"/>
            <a:ext cx="4989424" cy="292608"/>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Last Energy · DP World</a:t>
            </a:r>
            <a:endParaRPr lang="en-US" sz="1050" dirty="0"/>
          </a:p>
        </p:txBody>
      </p:sp>
      <p:sp>
        <p:nvSpPr>
          <p:cNvPr id="52" name="Text 46">
            <a:extLst>
              <a:ext uri="{FF2B5EF4-FFF2-40B4-BE49-F238E27FC236}">
                <a16:creationId xmlns:a16="http://schemas.microsoft.com/office/drawing/2014/main" id="{8E055497-803E-D22F-F8D6-4B3F02A2F170}"/>
              </a:ext>
            </a:extLst>
          </p:cNvPr>
          <p:cNvSpPr/>
          <p:nvPr/>
        </p:nvSpPr>
        <p:spPr>
          <a:xfrm>
            <a:off x="457200" y="6565392"/>
            <a:ext cx="11247120" cy="228600"/>
          </a:xfrm>
          <a:prstGeom prst="rect">
            <a:avLst/>
          </a:prstGeom>
          <a:noFill/>
          <a:ln/>
        </p:spPr>
        <p:txBody>
          <a:bodyPr wrap="square" lIns="0" tIns="0" rIns="0" bIns="0" rtlCol="0" anchor="ctr"/>
          <a:lstStyle/>
          <a:p>
            <a:pPr marL="0" indent="0">
              <a:buNone/>
            </a:pPr>
            <a:r>
              <a:rPr lang="en-US" sz="850" i="1" dirty="0">
                <a:solidFill>
                  <a:srgbClr val="9AA7B3"/>
                </a:solidFill>
                <a:latin typeface="Calibri" pitchFamily="34" charset="0"/>
                <a:ea typeface="Calibri" pitchFamily="34" charset="-122"/>
                <a:cs typeface="Calibri" pitchFamily="34" charset="-120"/>
              </a:rPr>
              <a:t>Source: public company/government announcements as of 22 June 2026. None of these projects has reached FID; figures are developer-stated targets and subject to material change as GDA, site licensing and financing progress.</a:t>
            </a:r>
            <a:endParaRPr lang="en-US" sz="850" dirty="0"/>
          </a:p>
        </p:txBody>
      </p:sp>
      <p:pic>
        <p:nvPicPr>
          <p:cNvPr id="5" name="Picture 4">
            <a:extLst>
              <a:ext uri="{FF2B5EF4-FFF2-40B4-BE49-F238E27FC236}">
                <a16:creationId xmlns:a16="http://schemas.microsoft.com/office/drawing/2014/main" id="{5ADF6005-E84E-AECE-039C-A180F04AB8A4}"/>
              </a:ext>
            </a:extLst>
          </p:cNvPr>
          <p:cNvPicPr>
            <a:picLocks noChangeAspect="1"/>
          </p:cNvPicPr>
          <p:nvPr/>
        </p:nvPicPr>
        <p:blipFill>
          <a:blip r:embed="rId7"/>
          <a:stretch>
            <a:fillRect/>
          </a:stretch>
        </p:blipFill>
        <p:spPr>
          <a:xfrm>
            <a:off x="11103845" y="3846"/>
            <a:ext cx="1097277" cy="1128042"/>
          </a:xfrm>
          <a:prstGeom prst="rect">
            <a:avLst/>
          </a:prstGeom>
        </p:spPr>
      </p:pic>
    </p:spTree>
    <p:extLst>
      <p:ext uri="{BB962C8B-B14F-4D97-AF65-F5344CB8AC3E}">
        <p14:creationId xmlns:p14="http://schemas.microsoft.com/office/powerpoint/2010/main" val="1879420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0C69-5638-1F37-34F4-F5D9F5488EA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2D583C6-D8CC-1804-91F4-E3A94E1C60DF}"/>
              </a:ext>
            </a:extLst>
          </p:cNvPr>
          <p:cNvSpPr/>
          <p:nvPr/>
        </p:nvSpPr>
        <p:spPr>
          <a:xfrm>
            <a:off x="0" y="0"/>
            <a:ext cx="12191695" cy="914400"/>
          </a:xfrm>
          <a:prstGeom prst="rect">
            <a:avLst/>
          </a:prstGeom>
          <a:solidFill>
            <a:srgbClr val="12233D"/>
          </a:solidFill>
          <a:ln/>
        </p:spPr>
        <p:txBody>
          <a:bodyPr/>
          <a:lstStyle/>
          <a:p>
            <a:endParaRPr lang="en-GB"/>
          </a:p>
        </p:txBody>
      </p:sp>
      <p:sp>
        <p:nvSpPr>
          <p:cNvPr id="3" name="Text 1">
            <a:extLst>
              <a:ext uri="{FF2B5EF4-FFF2-40B4-BE49-F238E27FC236}">
                <a16:creationId xmlns:a16="http://schemas.microsoft.com/office/drawing/2014/main" id="{CD8A7BBD-1347-B13B-98D0-0C2F3ACB632D}"/>
              </a:ext>
            </a:extLst>
          </p:cNvPr>
          <p:cNvSpPr/>
          <p:nvPr/>
        </p:nvSpPr>
        <p:spPr>
          <a:xfrm>
            <a:off x="457200" y="100584"/>
            <a:ext cx="8686800" cy="347472"/>
          </a:xfrm>
          <a:prstGeom prst="rect">
            <a:avLst/>
          </a:prstGeom>
          <a:noFill/>
          <a:ln/>
        </p:spPr>
        <p:txBody>
          <a:bodyPr wrap="square" lIns="0" tIns="0" rIns="0" bIns="0" rtlCol="0" anchor="ctr"/>
          <a:lstStyle/>
          <a:p>
            <a:pPr marL="0" indent="0">
              <a:buNone/>
            </a:pPr>
            <a:r>
              <a:rPr lang="en-US" sz="1800" b="1" kern="0" spc="150" dirty="0">
                <a:solidFill>
                  <a:srgbClr val="FF0000"/>
                </a:solidFill>
                <a:latin typeface="Calibri" pitchFamily="34" charset="0"/>
                <a:ea typeface="Calibri" pitchFamily="34" charset="-122"/>
                <a:cs typeface="Calibri" pitchFamily="34" charset="-120"/>
              </a:rPr>
              <a:t>UK</a:t>
            </a:r>
            <a:r>
              <a:rPr lang="en-US" b="1" kern="0" spc="150" dirty="0">
                <a:solidFill>
                  <a:srgbClr val="FF0000"/>
                </a:solidFill>
                <a:latin typeface="Calibri" pitchFamily="34" charset="0"/>
                <a:ea typeface="Calibri" pitchFamily="34" charset="-122"/>
                <a:cs typeface="Calibri" pitchFamily="34" charset="-120"/>
              </a:rPr>
              <a:t> </a:t>
            </a:r>
            <a:r>
              <a:rPr lang="en-US" sz="1400" b="1" kern="0" spc="150" dirty="0">
                <a:solidFill>
                  <a:schemeClr val="bg1"/>
                </a:solidFill>
                <a:latin typeface="Calibri" pitchFamily="34" charset="0"/>
                <a:ea typeface="Calibri" pitchFamily="34" charset="-122"/>
                <a:cs typeface="Calibri" pitchFamily="34" charset="-120"/>
              </a:rPr>
              <a:t>PRIVATE SMR / AMR / MMR PROJECTS</a:t>
            </a:r>
            <a:endParaRPr lang="en-US" sz="1400" dirty="0">
              <a:solidFill>
                <a:schemeClr val="bg1"/>
              </a:solidFill>
            </a:endParaRPr>
          </a:p>
        </p:txBody>
      </p:sp>
      <p:sp>
        <p:nvSpPr>
          <p:cNvPr id="4" name="Text 2">
            <a:extLst>
              <a:ext uri="{FF2B5EF4-FFF2-40B4-BE49-F238E27FC236}">
                <a16:creationId xmlns:a16="http://schemas.microsoft.com/office/drawing/2014/main" id="{36DB8250-C931-CC48-0B47-674C69B2A88B}"/>
              </a:ext>
            </a:extLst>
          </p:cNvPr>
          <p:cNvSpPr/>
          <p:nvPr/>
        </p:nvSpPr>
        <p:spPr>
          <a:xfrm>
            <a:off x="457200" y="384048"/>
            <a:ext cx="868680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Emerging Programme Timeline, 2025–2034+</a:t>
            </a:r>
            <a:endParaRPr lang="en-US" sz="2400" dirty="0"/>
          </a:p>
        </p:txBody>
      </p:sp>
      <p:sp>
        <p:nvSpPr>
          <p:cNvPr id="6" name="Shape 4">
            <a:extLst>
              <a:ext uri="{FF2B5EF4-FFF2-40B4-BE49-F238E27FC236}">
                <a16:creationId xmlns:a16="http://schemas.microsoft.com/office/drawing/2014/main" id="{45EEF4FC-4B36-1409-DC99-D25E60C94ECB}"/>
              </a:ext>
            </a:extLst>
          </p:cNvPr>
          <p:cNvSpPr/>
          <p:nvPr/>
        </p:nvSpPr>
        <p:spPr>
          <a:xfrm>
            <a:off x="4779398" y="1060704"/>
            <a:ext cx="118872" cy="118872"/>
          </a:xfrm>
          <a:prstGeom prst="ellipse">
            <a:avLst/>
          </a:prstGeom>
          <a:solidFill>
            <a:srgbClr val="1E8E5A"/>
          </a:solidFill>
          <a:ln/>
        </p:spPr>
        <p:txBody>
          <a:bodyPr/>
          <a:lstStyle/>
          <a:p>
            <a:endParaRPr lang="en-GB"/>
          </a:p>
        </p:txBody>
      </p:sp>
      <p:sp>
        <p:nvSpPr>
          <p:cNvPr id="7" name="Text 5">
            <a:extLst>
              <a:ext uri="{FF2B5EF4-FFF2-40B4-BE49-F238E27FC236}">
                <a16:creationId xmlns:a16="http://schemas.microsoft.com/office/drawing/2014/main" id="{DDFED231-C05E-B443-C417-FD195C6BA959}"/>
              </a:ext>
            </a:extLst>
          </p:cNvPr>
          <p:cNvSpPr/>
          <p:nvPr/>
        </p:nvSpPr>
        <p:spPr>
          <a:xfrm>
            <a:off x="4962278" y="978408"/>
            <a:ext cx="224028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Construction / contracted delivery</a:t>
            </a:r>
            <a:endParaRPr lang="en-US" sz="950" dirty="0"/>
          </a:p>
        </p:txBody>
      </p:sp>
      <p:sp>
        <p:nvSpPr>
          <p:cNvPr id="8" name="Shape 6">
            <a:extLst>
              <a:ext uri="{FF2B5EF4-FFF2-40B4-BE49-F238E27FC236}">
                <a16:creationId xmlns:a16="http://schemas.microsoft.com/office/drawing/2014/main" id="{A33F5C56-8114-7615-7907-04EDADCCBF6C}"/>
              </a:ext>
            </a:extLst>
          </p:cNvPr>
          <p:cNvSpPr/>
          <p:nvPr/>
        </p:nvSpPr>
        <p:spPr>
          <a:xfrm>
            <a:off x="7431158" y="1060704"/>
            <a:ext cx="118872" cy="118872"/>
          </a:xfrm>
          <a:prstGeom prst="ellipse">
            <a:avLst/>
          </a:prstGeom>
          <a:solidFill>
            <a:srgbClr val="C77B17"/>
          </a:solidFill>
          <a:ln/>
        </p:spPr>
        <p:txBody>
          <a:bodyPr/>
          <a:lstStyle/>
          <a:p>
            <a:endParaRPr lang="en-GB"/>
          </a:p>
        </p:txBody>
      </p:sp>
      <p:sp>
        <p:nvSpPr>
          <p:cNvPr id="9" name="Text 7">
            <a:extLst>
              <a:ext uri="{FF2B5EF4-FFF2-40B4-BE49-F238E27FC236}">
                <a16:creationId xmlns:a16="http://schemas.microsoft.com/office/drawing/2014/main" id="{295487A7-7D82-DDCF-3A63-11156219C65A}"/>
              </a:ext>
            </a:extLst>
          </p:cNvPr>
          <p:cNvSpPr/>
          <p:nvPr/>
        </p:nvSpPr>
        <p:spPr>
          <a:xfrm>
            <a:off x="7614038" y="978408"/>
            <a:ext cx="178308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GDA / site-specific licensing</a:t>
            </a:r>
            <a:endParaRPr lang="en-US" sz="950" dirty="0"/>
          </a:p>
        </p:txBody>
      </p:sp>
      <p:sp>
        <p:nvSpPr>
          <p:cNvPr id="10" name="Shape 8">
            <a:extLst>
              <a:ext uri="{FF2B5EF4-FFF2-40B4-BE49-F238E27FC236}">
                <a16:creationId xmlns:a16="http://schemas.microsoft.com/office/drawing/2014/main" id="{E71B8009-7DF0-5374-537C-A8433BF5D935}"/>
              </a:ext>
            </a:extLst>
          </p:cNvPr>
          <p:cNvSpPr/>
          <p:nvPr/>
        </p:nvSpPr>
        <p:spPr>
          <a:xfrm>
            <a:off x="9534278" y="1060704"/>
            <a:ext cx="118872" cy="118872"/>
          </a:xfrm>
          <a:prstGeom prst="ellipse">
            <a:avLst/>
          </a:prstGeom>
          <a:solidFill>
            <a:srgbClr val="6B7785"/>
          </a:solidFill>
          <a:ln/>
        </p:spPr>
        <p:txBody>
          <a:bodyPr/>
          <a:lstStyle/>
          <a:p>
            <a:endParaRPr lang="en-GB"/>
          </a:p>
        </p:txBody>
      </p:sp>
      <p:sp>
        <p:nvSpPr>
          <p:cNvPr id="11" name="Text 9">
            <a:extLst>
              <a:ext uri="{FF2B5EF4-FFF2-40B4-BE49-F238E27FC236}">
                <a16:creationId xmlns:a16="http://schemas.microsoft.com/office/drawing/2014/main" id="{91196AE6-EDEC-3B71-10D6-918983CC33F8}"/>
              </a:ext>
            </a:extLst>
          </p:cNvPr>
          <p:cNvSpPr/>
          <p:nvPr/>
        </p:nvSpPr>
        <p:spPr>
          <a:xfrm>
            <a:off x="9717158" y="978408"/>
            <a:ext cx="100584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MOU / feasibility</a:t>
            </a:r>
            <a:endParaRPr lang="en-US" sz="950" dirty="0"/>
          </a:p>
        </p:txBody>
      </p:sp>
      <p:sp>
        <p:nvSpPr>
          <p:cNvPr id="12" name="Shape 10">
            <a:extLst>
              <a:ext uri="{FF2B5EF4-FFF2-40B4-BE49-F238E27FC236}">
                <a16:creationId xmlns:a16="http://schemas.microsoft.com/office/drawing/2014/main" id="{1FA05A05-5FB0-3819-A070-7316BBFA63B7}"/>
              </a:ext>
            </a:extLst>
          </p:cNvPr>
          <p:cNvSpPr/>
          <p:nvPr/>
        </p:nvSpPr>
        <p:spPr>
          <a:xfrm>
            <a:off x="2514600" y="1426464"/>
            <a:ext cx="0" cy="4974336"/>
          </a:xfrm>
          <a:prstGeom prst="line">
            <a:avLst/>
          </a:prstGeom>
          <a:noFill/>
          <a:ln w="9525">
            <a:solidFill>
              <a:srgbClr val="E3E9EF"/>
            </a:solidFill>
            <a:prstDash val="solid"/>
          </a:ln>
        </p:spPr>
        <p:txBody>
          <a:bodyPr/>
          <a:lstStyle/>
          <a:p>
            <a:endParaRPr lang="en-GB"/>
          </a:p>
        </p:txBody>
      </p:sp>
      <p:sp>
        <p:nvSpPr>
          <p:cNvPr id="13" name="Text 11">
            <a:extLst>
              <a:ext uri="{FF2B5EF4-FFF2-40B4-BE49-F238E27FC236}">
                <a16:creationId xmlns:a16="http://schemas.microsoft.com/office/drawing/2014/main" id="{CDB98189-7525-5F22-3AD0-E5A1BB1AA3EB}"/>
              </a:ext>
            </a:extLst>
          </p:cNvPr>
          <p:cNvSpPr/>
          <p:nvPr/>
        </p:nvSpPr>
        <p:spPr>
          <a:xfrm>
            <a:off x="219456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2025</a:t>
            </a:r>
            <a:endParaRPr lang="en-US" sz="950" dirty="0"/>
          </a:p>
        </p:txBody>
      </p:sp>
      <p:sp>
        <p:nvSpPr>
          <p:cNvPr id="14" name="Shape 12">
            <a:extLst>
              <a:ext uri="{FF2B5EF4-FFF2-40B4-BE49-F238E27FC236}">
                <a16:creationId xmlns:a16="http://schemas.microsoft.com/office/drawing/2014/main" id="{5B80BC90-27E9-16F4-34F0-344DA9EB9243}"/>
              </a:ext>
            </a:extLst>
          </p:cNvPr>
          <p:cNvSpPr/>
          <p:nvPr/>
        </p:nvSpPr>
        <p:spPr>
          <a:xfrm>
            <a:off x="3540760" y="1426464"/>
            <a:ext cx="0" cy="4974336"/>
          </a:xfrm>
          <a:prstGeom prst="line">
            <a:avLst/>
          </a:prstGeom>
          <a:noFill/>
          <a:ln w="9525">
            <a:solidFill>
              <a:srgbClr val="E3E9EF"/>
            </a:solidFill>
            <a:prstDash val="solid"/>
          </a:ln>
        </p:spPr>
        <p:txBody>
          <a:bodyPr/>
          <a:lstStyle/>
          <a:p>
            <a:endParaRPr lang="en-GB"/>
          </a:p>
        </p:txBody>
      </p:sp>
      <p:sp>
        <p:nvSpPr>
          <p:cNvPr id="15" name="Text 13">
            <a:extLst>
              <a:ext uri="{FF2B5EF4-FFF2-40B4-BE49-F238E27FC236}">
                <a16:creationId xmlns:a16="http://schemas.microsoft.com/office/drawing/2014/main" id="{067041AA-1892-68DC-B3A0-F024E1E8A594}"/>
              </a:ext>
            </a:extLst>
          </p:cNvPr>
          <p:cNvSpPr/>
          <p:nvPr/>
        </p:nvSpPr>
        <p:spPr>
          <a:xfrm>
            <a:off x="322072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2026</a:t>
            </a:r>
            <a:endParaRPr lang="en-US" sz="950" dirty="0"/>
          </a:p>
        </p:txBody>
      </p:sp>
      <p:sp>
        <p:nvSpPr>
          <p:cNvPr id="16" name="Shape 14">
            <a:extLst>
              <a:ext uri="{FF2B5EF4-FFF2-40B4-BE49-F238E27FC236}">
                <a16:creationId xmlns:a16="http://schemas.microsoft.com/office/drawing/2014/main" id="{F49E100A-4792-1F5C-C747-7B2314AC230D}"/>
              </a:ext>
            </a:extLst>
          </p:cNvPr>
          <p:cNvSpPr/>
          <p:nvPr/>
        </p:nvSpPr>
        <p:spPr>
          <a:xfrm>
            <a:off x="4566920" y="1426464"/>
            <a:ext cx="0" cy="4974336"/>
          </a:xfrm>
          <a:prstGeom prst="line">
            <a:avLst/>
          </a:prstGeom>
          <a:noFill/>
          <a:ln w="9525">
            <a:solidFill>
              <a:srgbClr val="E3E9EF"/>
            </a:solidFill>
            <a:prstDash val="solid"/>
          </a:ln>
        </p:spPr>
        <p:txBody>
          <a:bodyPr/>
          <a:lstStyle/>
          <a:p>
            <a:endParaRPr lang="en-GB"/>
          </a:p>
        </p:txBody>
      </p:sp>
      <p:sp>
        <p:nvSpPr>
          <p:cNvPr id="17" name="Text 15">
            <a:extLst>
              <a:ext uri="{FF2B5EF4-FFF2-40B4-BE49-F238E27FC236}">
                <a16:creationId xmlns:a16="http://schemas.microsoft.com/office/drawing/2014/main" id="{B5268653-ABA6-718E-F956-E27535FEEFA3}"/>
              </a:ext>
            </a:extLst>
          </p:cNvPr>
          <p:cNvSpPr/>
          <p:nvPr/>
        </p:nvSpPr>
        <p:spPr>
          <a:xfrm>
            <a:off x="424688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2027</a:t>
            </a:r>
            <a:endParaRPr lang="en-US" sz="950" dirty="0"/>
          </a:p>
        </p:txBody>
      </p:sp>
      <p:sp>
        <p:nvSpPr>
          <p:cNvPr id="18" name="Shape 16">
            <a:extLst>
              <a:ext uri="{FF2B5EF4-FFF2-40B4-BE49-F238E27FC236}">
                <a16:creationId xmlns:a16="http://schemas.microsoft.com/office/drawing/2014/main" id="{F5ED2127-6038-5422-D473-B07710F12738}"/>
              </a:ext>
            </a:extLst>
          </p:cNvPr>
          <p:cNvSpPr/>
          <p:nvPr/>
        </p:nvSpPr>
        <p:spPr>
          <a:xfrm>
            <a:off x="5593080" y="1426464"/>
            <a:ext cx="0" cy="4974336"/>
          </a:xfrm>
          <a:prstGeom prst="line">
            <a:avLst/>
          </a:prstGeom>
          <a:noFill/>
          <a:ln w="9525">
            <a:solidFill>
              <a:srgbClr val="E3E9EF"/>
            </a:solidFill>
            <a:prstDash val="solid"/>
          </a:ln>
        </p:spPr>
        <p:txBody>
          <a:bodyPr/>
          <a:lstStyle/>
          <a:p>
            <a:endParaRPr lang="en-GB"/>
          </a:p>
        </p:txBody>
      </p:sp>
      <p:sp>
        <p:nvSpPr>
          <p:cNvPr id="19" name="Text 17">
            <a:extLst>
              <a:ext uri="{FF2B5EF4-FFF2-40B4-BE49-F238E27FC236}">
                <a16:creationId xmlns:a16="http://schemas.microsoft.com/office/drawing/2014/main" id="{4D76704F-7B02-2693-94E8-38FB27FA2415}"/>
              </a:ext>
            </a:extLst>
          </p:cNvPr>
          <p:cNvSpPr/>
          <p:nvPr/>
        </p:nvSpPr>
        <p:spPr>
          <a:xfrm>
            <a:off x="527304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2028</a:t>
            </a:r>
            <a:endParaRPr lang="en-US" sz="950" dirty="0"/>
          </a:p>
        </p:txBody>
      </p:sp>
      <p:sp>
        <p:nvSpPr>
          <p:cNvPr id="20" name="Shape 18">
            <a:extLst>
              <a:ext uri="{FF2B5EF4-FFF2-40B4-BE49-F238E27FC236}">
                <a16:creationId xmlns:a16="http://schemas.microsoft.com/office/drawing/2014/main" id="{2CEBF0FE-7172-0FC2-817E-54FE5DBE69F7}"/>
              </a:ext>
            </a:extLst>
          </p:cNvPr>
          <p:cNvSpPr/>
          <p:nvPr/>
        </p:nvSpPr>
        <p:spPr>
          <a:xfrm>
            <a:off x="6619240" y="1426464"/>
            <a:ext cx="0" cy="4974336"/>
          </a:xfrm>
          <a:prstGeom prst="line">
            <a:avLst/>
          </a:prstGeom>
          <a:noFill/>
          <a:ln w="9525">
            <a:solidFill>
              <a:srgbClr val="E3E9EF"/>
            </a:solidFill>
            <a:prstDash val="solid"/>
          </a:ln>
        </p:spPr>
        <p:txBody>
          <a:bodyPr/>
          <a:lstStyle/>
          <a:p>
            <a:endParaRPr lang="en-GB"/>
          </a:p>
        </p:txBody>
      </p:sp>
      <p:sp>
        <p:nvSpPr>
          <p:cNvPr id="21" name="Text 19">
            <a:extLst>
              <a:ext uri="{FF2B5EF4-FFF2-40B4-BE49-F238E27FC236}">
                <a16:creationId xmlns:a16="http://schemas.microsoft.com/office/drawing/2014/main" id="{0DD40533-CE2B-BFBE-A493-82A17BB5E353}"/>
              </a:ext>
            </a:extLst>
          </p:cNvPr>
          <p:cNvSpPr/>
          <p:nvPr/>
        </p:nvSpPr>
        <p:spPr>
          <a:xfrm>
            <a:off x="629920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2029</a:t>
            </a:r>
            <a:endParaRPr lang="en-US" sz="950" dirty="0"/>
          </a:p>
        </p:txBody>
      </p:sp>
      <p:sp>
        <p:nvSpPr>
          <p:cNvPr id="22" name="Shape 20">
            <a:extLst>
              <a:ext uri="{FF2B5EF4-FFF2-40B4-BE49-F238E27FC236}">
                <a16:creationId xmlns:a16="http://schemas.microsoft.com/office/drawing/2014/main" id="{C0BB8217-3005-8495-FC61-A4DAEB413063}"/>
              </a:ext>
            </a:extLst>
          </p:cNvPr>
          <p:cNvSpPr/>
          <p:nvPr/>
        </p:nvSpPr>
        <p:spPr>
          <a:xfrm>
            <a:off x="7645400" y="1426464"/>
            <a:ext cx="0" cy="4974336"/>
          </a:xfrm>
          <a:prstGeom prst="line">
            <a:avLst/>
          </a:prstGeom>
          <a:noFill/>
          <a:ln w="9525">
            <a:solidFill>
              <a:srgbClr val="E3E9EF"/>
            </a:solidFill>
            <a:prstDash val="solid"/>
          </a:ln>
        </p:spPr>
        <p:txBody>
          <a:bodyPr/>
          <a:lstStyle/>
          <a:p>
            <a:endParaRPr lang="en-GB"/>
          </a:p>
        </p:txBody>
      </p:sp>
      <p:sp>
        <p:nvSpPr>
          <p:cNvPr id="23" name="Text 21">
            <a:extLst>
              <a:ext uri="{FF2B5EF4-FFF2-40B4-BE49-F238E27FC236}">
                <a16:creationId xmlns:a16="http://schemas.microsoft.com/office/drawing/2014/main" id="{02BAC930-B8B5-13EE-1EA5-2E091A29B05D}"/>
              </a:ext>
            </a:extLst>
          </p:cNvPr>
          <p:cNvSpPr/>
          <p:nvPr/>
        </p:nvSpPr>
        <p:spPr>
          <a:xfrm>
            <a:off x="732536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2030</a:t>
            </a:r>
            <a:endParaRPr lang="en-US" sz="950" dirty="0"/>
          </a:p>
        </p:txBody>
      </p:sp>
      <p:sp>
        <p:nvSpPr>
          <p:cNvPr id="24" name="Shape 22">
            <a:extLst>
              <a:ext uri="{FF2B5EF4-FFF2-40B4-BE49-F238E27FC236}">
                <a16:creationId xmlns:a16="http://schemas.microsoft.com/office/drawing/2014/main" id="{34EA5A63-5541-6B5A-F81A-5AFF40C34293}"/>
              </a:ext>
            </a:extLst>
          </p:cNvPr>
          <p:cNvSpPr/>
          <p:nvPr/>
        </p:nvSpPr>
        <p:spPr>
          <a:xfrm>
            <a:off x="8671560" y="1426464"/>
            <a:ext cx="0" cy="4974336"/>
          </a:xfrm>
          <a:prstGeom prst="line">
            <a:avLst/>
          </a:prstGeom>
          <a:noFill/>
          <a:ln w="9525">
            <a:solidFill>
              <a:srgbClr val="E3E9EF"/>
            </a:solidFill>
            <a:prstDash val="solid"/>
          </a:ln>
        </p:spPr>
        <p:txBody>
          <a:bodyPr/>
          <a:lstStyle/>
          <a:p>
            <a:endParaRPr lang="en-GB"/>
          </a:p>
        </p:txBody>
      </p:sp>
      <p:sp>
        <p:nvSpPr>
          <p:cNvPr id="25" name="Text 23">
            <a:extLst>
              <a:ext uri="{FF2B5EF4-FFF2-40B4-BE49-F238E27FC236}">
                <a16:creationId xmlns:a16="http://schemas.microsoft.com/office/drawing/2014/main" id="{500EF525-A03C-3602-D7BD-D0C2A132DD0E}"/>
              </a:ext>
            </a:extLst>
          </p:cNvPr>
          <p:cNvSpPr/>
          <p:nvPr/>
        </p:nvSpPr>
        <p:spPr>
          <a:xfrm>
            <a:off x="835152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2031</a:t>
            </a:r>
            <a:endParaRPr lang="en-US" sz="950" dirty="0"/>
          </a:p>
        </p:txBody>
      </p:sp>
      <p:sp>
        <p:nvSpPr>
          <p:cNvPr id="26" name="Shape 24">
            <a:extLst>
              <a:ext uri="{FF2B5EF4-FFF2-40B4-BE49-F238E27FC236}">
                <a16:creationId xmlns:a16="http://schemas.microsoft.com/office/drawing/2014/main" id="{0D6C8C06-4FCD-8FBF-968B-4792196BE98A}"/>
              </a:ext>
            </a:extLst>
          </p:cNvPr>
          <p:cNvSpPr/>
          <p:nvPr/>
        </p:nvSpPr>
        <p:spPr>
          <a:xfrm>
            <a:off x="9697720" y="1426464"/>
            <a:ext cx="0" cy="4974336"/>
          </a:xfrm>
          <a:prstGeom prst="line">
            <a:avLst/>
          </a:prstGeom>
          <a:noFill/>
          <a:ln w="9525">
            <a:solidFill>
              <a:srgbClr val="E3E9EF"/>
            </a:solidFill>
            <a:prstDash val="solid"/>
          </a:ln>
        </p:spPr>
        <p:txBody>
          <a:bodyPr/>
          <a:lstStyle/>
          <a:p>
            <a:endParaRPr lang="en-GB"/>
          </a:p>
        </p:txBody>
      </p:sp>
      <p:sp>
        <p:nvSpPr>
          <p:cNvPr id="27" name="Text 25">
            <a:extLst>
              <a:ext uri="{FF2B5EF4-FFF2-40B4-BE49-F238E27FC236}">
                <a16:creationId xmlns:a16="http://schemas.microsoft.com/office/drawing/2014/main" id="{2064734A-0021-9411-CED1-F9E1BA7D2F10}"/>
              </a:ext>
            </a:extLst>
          </p:cNvPr>
          <p:cNvSpPr/>
          <p:nvPr/>
        </p:nvSpPr>
        <p:spPr>
          <a:xfrm>
            <a:off x="937768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2032</a:t>
            </a:r>
            <a:endParaRPr lang="en-US" sz="950" dirty="0"/>
          </a:p>
        </p:txBody>
      </p:sp>
      <p:sp>
        <p:nvSpPr>
          <p:cNvPr id="28" name="Shape 26">
            <a:extLst>
              <a:ext uri="{FF2B5EF4-FFF2-40B4-BE49-F238E27FC236}">
                <a16:creationId xmlns:a16="http://schemas.microsoft.com/office/drawing/2014/main" id="{D8CBD1CE-B168-EBBF-C0D7-F8CBAFAE90FB}"/>
              </a:ext>
            </a:extLst>
          </p:cNvPr>
          <p:cNvSpPr/>
          <p:nvPr/>
        </p:nvSpPr>
        <p:spPr>
          <a:xfrm>
            <a:off x="10723880" y="1426464"/>
            <a:ext cx="0" cy="4974336"/>
          </a:xfrm>
          <a:prstGeom prst="line">
            <a:avLst/>
          </a:prstGeom>
          <a:noFill/>
          <a:ln w="9525">
            <a:solidFill>
              <a:srgbClr val="E3E9EF"/>
            </a:solidFill>
            <a:prstDash val="solid"/>
          </a:ln>
        </p:spPr>
        <p:txBody>
          <a:bodyPr/>
          <a:lstStyle/>
          <a:p>
            <a:endParaRPr lang="en-GB"/>
          </a:p>
        </p:txBody>
      </p:sp>
      <p:sp>
        <p:nvSpPr>
          <p:cNvPr id="29" name="Text 27">
            <a:extLst>
              <a:ext uri="{FF2B5EF4-FFF2-40B4-BE49-F238E27FC236}">
                <a16:creationId xmlns:a16="http://schemas.microsoft.com/office/drawing/2014/main" id="{BAB1FCAB-E950-547A-2C02-0872DC71528D}"/>
              </a:ext>
            </a:extLst>
          </p:cNvPr>
          <p:cNvSpPr/>
          <p:nvPr/>
        </p:nvSpPr>
        <p:spPr>
          <a:xfrm>
            <a:off x="1040384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2033</a:t>
            </a:r>
            <a:endParaRPr lang="en-US" sz="950" dirty="0"/>
          </a:p>
        </p:txBody>
      </p:sp>
      <p:sp>
        <p:nvSpPr>
          <p:cNvPr id="30" name="Shape 28">
            <a:extLst>
              <a:ext uri="{FF2B5EF4-FFF2-40B4-BE49-F238E27FC236}">
                <a16:creationId xmlns:a16="http://schemas.microsoft.com/office/drawing/2014/main" id="{8F6584CF-FA8F-704A-6DD5-F7B4DD35664A}"/>
              </a:ext>
            </a:extLst>
          </p:cNvPr>
          <p:cNvSpPr/>
          <p:nvPr/>
        </p:nvSpPr>
        <p:spPr>
          <a:xfrm>
            <a:off x="11750040" y="1426464"/>
            <a:ext cx="0" cy="4974336"/>
          </a:xfrm>
          <a:prstGeom prst="line">
            <a:avLst/>
          </a:prstGeom>
          <a:noFill/>
          <a:ln w="9525">
            <a:solidFill>
              <a:srgbClr val="E3E9EF"/>
            </a:solidFill>
            <a:prstDash val="solid"/>
          </a:ln>
        </p:spPr>
        <p:txBody>
          <a:bodyPr/>
          <a:lstStyle/>
          <a:p>
            <a:endParaRPr lang="en-GB"/>
          </a:p>
        </p:txBody>
      </p:sp>
      <p:sp>
        <p:nvSpPr>
          <p:cNvPr id="31" name="Text 29">
            <a:extLst>
              <a:ext uri="{FF2B5EF4-FFF2-40B4-BE49-F238E27FC236}">
                <a16:creationId xmlns:a16="http://schemas.microsoft.com/office/drawing/2014/main" id="{50902DA1-CAE7-9A3B-671F-2F63F920F91D}"/>
              </a:ext>
            </a:extLst>
          </p:cNvPr>
          <p:cNvSpPr/>
          <p:nvPr/>
        </p:nvSpPr>
        <p:spPr>
          <a:xfrm>
            <a:off x="1143000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2034+</a:t>
            </a:r>
            <a:endParaRPr lang="en-US" sz="950" dirty="0"/>
          </a:p>
        </p:txBody>
      </p:sp>
      <p:sp>
        <p:nvSpPr>
          <p:cNvPr id="32" name="Shape 30">
            <a:extLst>
              <a:ext uri="{FF2B5EF4-FFF2-40B4-BE49-F238E27FC236}">
                <a16:creationId xmlns:a16="http://schemas.microsoft.com/office/drawing/2014/main" id="{8B93B1C1-59D3-D87E-2F55-EE65ECFA60C7}"/>
              </a:ext>
            </a:extLst>
          </p:cNvPr>
          <p:cNvSpPr/>
          <p:nvPr/>
        </p:nvSpPr>
        <p:spPr>
          <a:xfrm>
            <a:off x="365760" y="1426464"/>
            <a:ext cx="2011680" cy="4974336"/>
          </a:xfrm>
          <a:prstGeom prst="rect">
            <a:avLst/>
          </a:prstGeom>
          <a:solidFill>
            <a:srgbClr val="FFFFFF"/>
          </a:solidFill>
          <a:ln/>
        </p:spPr>
        <p:txBody>
          <a:bodyPr/>
          <a:lstStyle/>
          <a:p>
            <a:endParaRPr lang="en-GB"/>
          </a:p>
        </p:txBody>
      </p:sp>
      <p:sp>
        <p:nvSpPr>
          <p:cNvPr id="33" name="Shape 31">
            <a:extLst>
              <a:ext uri="{FF2B5EF4-FFF2-40B4-BE49-F238E27FC236}">
                <a16:creationId xmlns:a16="http://schemas.microsoft.com/office/drawing/2014/main" id="{2A7124DB-05D2-7E9E-CDF4-FB04430375FF}"/>
              </a:ext>
            </a:extLst>
          </p:cNvPr>
          <p:cNvSpPr/>
          <p:nvPr/>
        </p:nvSpPr>
        <p:spPr>
          <a:xfrm>
            <a:off x="365760" y="1481328"/>
            <a:ext cx="11795760" cy="1078992"/>
          </a:xfrm>
          <a:prstGeom prst="rect">
            <a:avLst/>
          </a:prstGeom>
          <a:solidFill>
            <a:srgbClr val="F7FAFC"/>
          </a:solidFill>
          <a:ln/>
        </p:spPr>
        <p:txBody>
          <a:bodyPr/>
          <a:lstStyle/>
          <a:p>
            <a:endParaRPr lang="en-GB"/>
          </a:p>
        </p:txBody>
      </p:sp>
      <p:sp>
        <p:nvSpPr>
          <p:cNvPr id="34" name="Shape 32">
            <a:extLst>
              <a:ext uri="{FF2B5EF4-FFF2-40B4-BE49-F238E27FC236}">
                <a16:creationId xmlns:a16="http://schemas.microsoft.com/office/drawing/2014/main" id="{BB4BDD9E-2180-CFBC-A1E2-D10737C25096}"/>
              </a:ext>
            </a:extLst>
          </p:cNvPr>
          <p:cNvSpPr/>
          <p:nvPr/>
        </p:nvSpPr>
        <p:spPr>
          <a:xfrm>
            <a:off x="457200" y="1801368"/>
            <a:ext cx="438912" cy="438912"/>
          </a:xfrm>
          <a:prstGeom prst="ellipse">
            <a:avLst/>
          </a:prstGeom>
          <a:solidFill>
            <a:srgbClr val="1B3358"/>
          </a:solidFill>
          <a:ln/>
        </p:spPr>
        <p:txBody>
          <a:bodyPr/>
          <a:lstStyle/>
          <a:p>
            <a:endParaRPr lang="en-GB"/>
          </a:p>
        </p:txBody>
      </p:sp>
      <p:pic>
        <p:nvPicPr>
          <p:cNvPr id="35" name="Image 0" descr="preencoded.png">
            <a:extLst>
              <a:ext uri="{FF2B5EF4-FFF2-40B4-BE49-F238E27FC236}">
                <a16:creationId xmlns:a16="http://schemas.microsoft.com/office/drawing/2014/main" id="{8CFD632F-5797-F2DC-5E00-2BE992EB2054}"/>
              </a:ext>
            </a:extLst>
          </p:cNvPr>
          <p:cNvPicPr>
            <a:picLocks noChangeAspect="1"/>
          </p:cNvPicPr>
          <p:nvPr/>
        </p:nvPicPr>
        <p:blipFill>
          <a:blip r:embed="rId3"/>
          <a:stretch>
            <a:fillRect/>
          </a:stretch>
        </p:blipFill>
        <p:spPr>
          <a:xfrm>
            <a:off x="548640" y="1892808"/>
            <a:ext cx="256032" cy="256032"/>
          </a:xfrm>
          <a:prstGeom prst="rect">
            <a:avLst/>
          </a:prstGeom>
        </p:spPr>
      </p:pic>
      <p:sp>
        <p:nvSpPr>
          <p:cNvPr id="36" name="Text 33">
            <a:extLst>
              <a:ext uri="{FF2B5EF4-FFF2-40B4-BE49-F238E27FC236}">
                <a16:creationId xmlns:a16="http://schemas.microsoft.com/office/drawing/2014/main" id="{650E0D7B-7F24-A151-087F-09EA925D2D9F}"/>
              </a:ext>
            </a:extLst>
          </p:cNvPr>
          <p:cNvSpPr/>
          <p:nvPr/>
        </p:nvSpPr>
        <p:spPr>
          <a:xfrm>
            <a:off x="1005840" y="1591056"/>
            <a:ext cx="1417320" cy="512064"/>
          </a:xfrm>
          <a:prstGeom prst="rect">
            <a:avLst/>
          </a:prstGeom>
          <a:noFill/>
          <a:ln/>
        </p:spPr>
        <p:txBody>
          <a:bodyPr wrap="square" lIns="0" tIns="0" rIns="0" bIns="0" rtlCol="0" anchor="t"/>
          <a:lstStyle/>
          <a:p>
            <a:pPr marL="0" indent="0">
              <a:lnSpc>
                <a:spcPct val="100000"/>
              </a:lnSpc>
              <a:buNone/>
            </a:pPr>
            <a:r>
              <a:rPr lang="en-US" sz="1250" b="1" dirty="0">
                <a:solidFill>
                  <a:srgbClr val="12233D"/>
                </a:solidFill>
                <a:latin typeface="Calibri" pitchFamily="34" charset="0"/>
                <a:ea typeface="Calibri" pitchFamily="34" charset="-122"/>
                <a:cs typeface="Calibri" pitchFamily="34" charset="-120"/>
              </a:rPr>
              <a:t>Holtec SMR-300 — Cottam</a:t>
            </a:r>
            <a:endParaRPr lang="en-US" sz="1250" dirty="0"/>
          </a:p>
        </p:txBody>
      </p:sp>
      <p:sp>
        <p:nvSpPr>
          <p:cNvPr id="37" name="Text 34">
            <a:extLst>
              <a:ext uri="{FF2B5EF4-FFF2-40B4-BE49-F238E27FC236}">
                <a16:creationId xmlns:a16="http://schemas.microsoft.com/office/drawing/2014/main" id="{9DA2EA99-369E-9B9B-0B0A-380EA10FF46A}"/>
              </a:ext>
            </a:extLst>
          </p:cNvPr>
          <p:cNvSpPr/>
          <p:nvPr/>
        </p:nvSpPr>
        <p:spPr>
          <a:xfrm>
            <a:off x="1005840" y="2103120"/>
            <a:ext cx="1417320" cy="420624"/>
          </a:xfrm>
          <a:prstGeom prst="rect">
            <a:avLst/>
          </a:prstGeom>
          <a:noFill/>
          <a:ln/>
        </p:spPr>
        <p:txBody>
          <a:bodyPr wrap="square" lIns="0" tIns="0" rIns="0" bIns="0" rtlCol="0" anchor="b"/>
          <a:lstStyle/>
          <a:p>
            <a:pPr marL="0" indent="0">
              <a:lnSpc>
                <a:spcPct val="100000"/>
              </a:lnSpc>
              <a:buNone/>
            </a:pPr>
            <a:r>
              <a:rPr lang="en-US" sz="780" i="1" dirty="0">
                <a:solidFill>
                  <a:srgbClr val="5B6B7C"/>
                </a:solidFill>
                <a:latin typeface="Calibri" pitchFamily="34" charset="0"/>
                <a:ea typeface="Calibri" pitchFamily="34" charset="-122"/>
                <a:cs typeface="Calibri" pitchFamily="34" charset="-120"/>
              </a:rPr>
              <a:t>2 × 320 MWe (+) · Holtec · EDF · Tritax · ~$11bn</a:t>
            </a:r>
            <a:endParaRPr lang="en-US" sz="780" dirty="0"/>
          </a:p>
        </p:txBody>
      </p:sp>
      <p:sp>
        <p:nvSpPr>
          <p:cNvPr id="38" name="Shape 35">
            <a:extLst>
              <a:ext uri="{FF2B5EF4-FFF2-40B4-BE49-F238E27FC236}">
                <a16:creationId xmlns:a16="http://schemas.microsoft.com/office/drawing/2014/main" id="{B0F94D51-9F74-2936-259E-E27DF1B1545C}"/>
              </a:ext>
            </a:extLst>
          </p:cNvPr>
          <p:cNvSpPr/>
          <p:nvPr/>
        </p:nvSpPr>
        <p:spPr>
          <a:xfrm>
            <a:off x="2514600" y="2020824"/>
            <a:ext cx="9235440" cy="0"/>
          </a:xfrm>
          <a:prstGeom prst="line">
            <a:avLst/>
          </a:prstGeom>
          <a:noFill/>
          <a:ln w="6350">
            <a:solidFill>
              <a:srgbClr val="E3E9EF"/>
            </a:solidFill>
            <a:prstDash val="dash"/>
          </a:ln>
        </p:spPr>
        <p:txBody>
          <a:bodyPr/>
          <a:lstStyle/>
          <a:p>
            <a:endParaRPr lang="en-GB"/>
          </a:p>
        </p:txBody>
      </p:sp>
      <p:sp>
        <p:nvSpPr>
          <p:cNvPr id="39" name="Shape 36">
            <a:extLst>
              <a:ext uri="{FF2B5EF4-FFF2-40B4-BE49-F238E27FC236}">
                <a16:creationId xmlns:a16="http://schemas.microsoft.com/office/drawing/2014/main" id="{E219FADA-0325-A265-67FA-9D225F63280D}"/>
              </a:ext>
            </a:extLst>
          </p:cNvPr>
          <p:cNvSpPr/>
          <p:nvPr/>
        </p:nvSpPr>
        <p:spPr>
          <a:xfrm>
            <a:off x="3232912" y="1901952"/>
            <a:ext cx="564388" cy="237744"/>
          </a:xfrm>
          <a:prstGeom prst="roundRect">
            <a:avLst>
              <a:gd name="adj" fmla="val 19231"/>
            </a:avLst>
          </a:prstGeom>
          <a:solidFill>
            <a:srgbClr val="6B7785"/>
          </a:solidFill>
          <a:ln/>
        </p:spPr>
        <p:txBody>
          <a:bodyPr/>
          <a:lstStyle/>
          <a:p>
            <a:endParaRPr lang="en-GB"/>
          </a:p>
        </p:txBody>
      </p:sp>
      <p:sp>
        <p:nvSpPr>
          <p:cNvPr id="40" name="Shape 37">
            <a:extLst>
              <a:ext uri="{FF2B5EF4-FFF2-40B4-BE49-F238E27FC236}">
                <a16:creationId xmlns:a16="http://schemas.microsoft.com/office/drawing/2014/main" id="{6CEDF40D-3C03-D919-FDE4-038D997A5D6C}"/>
              </a:ext>
            </a:extLst>
          </p:cNvPr>
          <p:cNvSpPr/>
          <p:nvPr/>
        </p:nvSpPr>
        <p:spPr>
          <a:xfrm>
            <a:off x="3797300" y="1901952"/>
            <a:ext cx="36576" cy="237744"/>
          </a:xfrm>
          <a:prstGeom prst="roundRect">
            <a:avLst>
              <a:gd name="adj" fmla="val 125000"/>
            </a:avLst>
          </a:prstGeom>
          <a:solidFill>
            <a:srgbClr val="C77B17"/>
          </a:solidFill>
          <a:ln/>
        </p:spPr>
        <p:txBody>
          <a:bodyPr/>
          <a:lstStyle/>
          <a:p>
            <a:endParaRPr lang="en-GB"/>
          </a:p>
        </p:txBody>
      </p:sp>
      <p:sp>
        <p:nvSpPr>
          <p:cNvPr id="41" name="Shape 38">
            <a:extLst>
              <a:ext uri="{FF2B5EF4-FFF2-40B4-BE49-F238E27FC236}">
                <a16:creationId xmlns:a16="http://schemas.microsoft.com/office/drawing/2014/main" id="{44A219F3-7714-E1E5-B306-F82D27BDF8D5}"/>
              </a:ext>
            </a:extLst>
          </p:cNvPr>
          <p:cNvSpPr/>
          <p:nvPr/>
        </p:nvSpPr>
        <p:spPr>
          <a:xfrm>
            <a:off x="3797300" y="1901952"/>
            <a:ext cx="3848100" cy="237744"/>
          </a:xfrm>
          <a:prstGeom prst="roundRect">
            <a:avLst>
              <a:gd name="adj" fmla="val 19231"/>
            </a:avLst>
          </a:prstGeom>
          <a:solidFill>
            <a:srgbClr val="C77B17"/>
          </a:solidFill>
          <a:ln/>
        </p:spPr>
        <p:txBody>
          <a:bodyPr/>
          <a:lstStyle/>
          <a:p>
            <a:endParaRPr lang="en-GB"/>
          </a:p>
        </p:txBody>
      </p:sp>
      <p:sp>
        <p:nvSpPr>
          <p:cNvPr id="42" name="Shape 39">
            <a:extLst>
              <a:ext uri="{FF2B5EF4-FFF2-40B4-BE49-F238E27FC236}">
                <a16:creationId xmlns:a16="http://schemas.microsoft.com/office/drawing/2014/main" id="{86AA65C0-F881-5F67-8DCA-455496D5FEA9}"/>
              </a:ext>
            </a:extLst>
          </p:cNvPr>
          <p:cNvSpPr/>
          <p:nvPr/>
        </p:nvSpPr>
        <p:spPr>
          <a:xfrm>
            <a:off x="7645399" y="1901952"/>
            <a:ext cx="3019043" cy="237744"/>
          </a:xfrm>
          <a:prstGeom prst="roundRect">
            <a:avLst>
              <a:gd name="adj" fmla="val 19231"/>
            </a:avLst>
          </a:prstGeom>
          <a:solidFill>
            <a:srgbClr val="1E8E5A"/>
          </a:solidFill>
          <a:ln/>
        </p:spPr>
        <p:txBody>
          <a:bodyPr/>
          <a:lstStyle/>
          <a:p>
            <a:endParaRPr lang="en-GB"/>
          </a:p>
        </p:txBody>
      </p:sp>
      <p:sp>
        <p:nvSpPr>
          <p:cNvPr id="43" name="Shape 40">
            <a:extLst>
              <a:ext uri="{FF2B5EF4-FFF2-40B4-BE49-F238E27FC236}">
                <a16:creationId xmlns:a16="http://schemas.microsoft.com/office/drawing/2014/main" id="{16D55605-73EC-392B-0480-B0CBB5C076ED}"/>
              </a:ext>
            </a:extLst>
          </p:cNvPr>
          <p:cNvSpPr/>
          <p:nvPr/>
        </p:nvSpPr>
        <p:spPr>
          <a:xfrm>
            <a:off x="3173476" y="1961388"/>
            <a:ext cx="118872" cy="118872"/>
          </a:xfrm>
          <a:prstGeom prst="diamond">
            <a:avLst/>
          </a:prstGeom>
          <a:solidFill>
            <a:srgbClr val="FFFFFF"/>
          </a:solidFill>
          <a:ln w="22225">
            <a:solidFill>
              <a:srgbClr val="6B7785"/>
            </a:solidFill>
            <a:prstDash val="solid"/>
          </a:ln>
        </p:spPr>
        <p:txBody>
          <a:bodyPr/>
          <a:lstStyle/>
          <a:p>
            <a:endParaRPr lang="en-GB"/>
          </a:p>
        </p:txBody>
      </p:sp>
      <p:sp>
        <p:nvSpPr>
          <p:cNvPr id="44" name="Text 41">
            <a:extLst>
              <a:ext uri="{FF2B5EF4-FFF2-40B4-BE49-F238E27FC236}">
                <a16:creationId xmlns:a16="http://schemas.microsoft.com/office/drawing/2014/main" id="{05AA3C97-1C81-EF68-C1F0-3E9A92705597}"/>
              </a:ext>
            </a:extLst>
          </p:cNvPr>
          <p:cNvSpPr/>
          <p:nvPr/>
        </p:nvSpPr>
        <p:spPr>
          <a:xfrm>
            <a:off x="2468880" y="1591056"/>
            <a:ext cx="2286000" cy="237744"/>
          </a:xfrm>
          <a:prstGeom prst="rect">
            <a:avLst/>
          </a:prstGeom>
          <a:noFill/>
          <a:ln/>
        </p:spPr>
        <p:txBody>
          <a:bodyPr wrap="square" lIns="0" tIns="0" rIns="0" bIns="0" rtlCol="0" anchor="ctr"/>
          <a:lstStyle/>
          <a:p>
            <a:pPr marL="0" indent="0" algn="ctr">
              <a:buNone/>
            </a:pPr>
            <a:r>
              <a:rPr lang="en-US" sz="760" b="1" dirty="0">
                <a:solidFill>
                  <a:srgbClr val="6B7785"/>
                </a:solidFill>
                <a:latin typeface="Calibri" pitchFamily="34" charset="0"/>
                <a:ea typeface="Calibri" pitchFamily="34" charset="-122"/>
                <a:cs typeface="Calibri" pitchFamily="34" charset="-120"/>
              </a:rPr>
              <a:t>MOU signed, Sep-25</a:t>
            </a:r>
            <a:endParaRPr lang="en-US" sz="760" dirty="0"/>
          </a:p>
        </p:txBody>
      </p:sp>
      <p:sp>
        <p:nvSpPr>
          <p:cNvPr id="45" name="Shape 42">
            <a:extLst>
              <a:ext uri="{FF2B5EF4-FFF2-40B4-BE49-F238E27FC236}">
                <a16:creationId xmlns:a16="http://schemas.microsoft.com/office/drawing/2014/main" id="{2F53DF98-3FE0-882B-7109-7E646108A928}"/>
              </a:ext>
            </a:extLst>
          </p:cNvPr>
          <p:cNvSpPr/>
          <p:nvPr/>
        </p:nvSpPr>
        <p:spPr>
          <a:xfrm>
            <a:off x="3737864" y="1961388"/>
            <a:ext cx="118872" cy="118872"/>
          </a:xfrm>
          <a:prstGeom prst="diamond">
            <a:avLst/>
          </a:prstGeom>
          <a:solidFill>
            <a:srgbClr val="FFFFFF"/>
          </a:solidFill>
          <a:ln w="22225">
            <a:solidFill>
              <a:srgbClr val="C77B17"/>
            </a:solidFill>
            <a:prstDash val="solid"/>
          </a:ln>
        </p:spPr>
        <p:txBody>
          <a:bodyPr/>
          <a:lstStyle/>
          <a:p>
            <a:endParaRPr lang="en-GB"/>
          </a:p>
        </p:txBody>
      </p:sp>
      <p:sp>
        <p:nvSpPr>
          <p:cNvPr id="46" name="Text 43">
            <a:extLst>
              <a:ext uri="{FF2B5EF4-FFF2-40B4-BE49-F238E27FC236}">
                <a16:creationId xmlns:a16="http://schemas.microsoft.com/office/drawing/2014/main" id="{259C4611-B5D8-F36F-56C7-253DDB868E54}"/>
              </a:ext>
            </a:extLst>
          </p:cNvPr>
          <p:cNvSpPr/>
          <p:nvPr/>
        </p:nvSpPr>
        <p:spPr>
          <a:xfrm>
            <a:off x="2654300" y="2267712"/>
            <a:ext cx="2286000" cy="237744"/>
          </a:xfrm>
          <a:prstGeom prst="rect">
            <a:avLst/>
          </a:prstGeom>
          <a:noFill/>
          <a:ln/>
        </p:spPr>
        <p:txBody>
          <a:bodyPr wrap="square" lIns="0" tIns="0" rIns="0" bIns="0" rtlCol="0" anchor="ctr"/>
          <a:lstStyle/>
          <a:p>
            <a:pPr marL="0" indent="0" algn="ctr">
              <a:buNone/>
            </a:pPr>
            <a:r>
              <a:rPr lang="en-US" sz="760" b="1" dirty="0">
                <a:solidFill>
                  <a:srgbClr val="C77B17"/>
                </a:solidFill>
                <a:latin typeface="Calibri" pitchFamily="34" charset="0"/>
                <a:ea typeface="Calibri" pitchFamily="34" charset="-122"/>
                <a:cs typeface="Calibri" pitchFamily="34" charset="-120"/>
              </a:rPr>
              <a:t>GDA Step 2 complete, Mar-26</a:t>
            </a:r>
            <a:endParaRPr lang="en-US" sz="760" dirty="0"/>
          </a:p>
        </p:txBody>
      </p:sp>
      <p:sp>
        <p:nvSpPr>
          <p:cNvPr id="47" name="Shape 44">
            <a:extLst>
              <a:ext uri="{FF2B5EF4-FFF2-40B4-BE49-F238E27FC236}">
                <a16:creationId xmlns:a16="http://schemas.microsoft.com/office/drawing/2014/main" id="{8566E876-87A0-3BF3-E26C-21A24DB4CE2E}"/>
              </a:ext>
            </a:extLst>
          </p:cNvPr>
          <p:cNvSpPr/>
          <p:nvPr/>
        </p:nvSpPr>
        <p:spPr>
          <a:xfrm>
            <a:off x="10589390" y="1961388"/>
            <a:ext cx="118872" cy="118872"/>
          </a:xfrm>
          <a:prstGeom prst="diamond">
            <a:avLst/>
          </a:prstGeom>
          <a:solidFill>
            <a:srgbClr val="FFFFFF"/>
          </a:solidFill>
          <a:ln w="22225">
            <a:solidFill>
              <a:srgbClr val="1E8E5A"/>
            </a:solidFill>
            <a:prstDash val="solid"/>
          </a:ln>
        </p:spPr>
        <p:txBody>
          <a:bodyPr/>
          <a:lstStyle/>
          <a:p>
            <a:endParaRPr lang="en-GB"/>
          </a:p>
        </p:txBody>
      </p:sp>
      <p:sp>
        <p:nvSpPr>
          <p:cNvPr id="48" name="Text 45">
            <a:extLst>
              <a:ext uri="{FF2B5EF4-FFF2-40B4-BE49-F238E27FC236}">
                <a16:creationId xmlns:a16="http://schemas.microsoft.com/office/drawing/2014/main" id="{7CA655C1-B24B-D971-C795-A08C5E7C804D}"/>
              </a:ext>
            </a:extLst>
          </p:cNvPr>
          <p:cNvSpPr/>
          <p:nvPr/>
        </p:nvSpPr>
        <p:spPr>
          <a:xfrm>
            <a:off x="8919210" y="1680726"/>
            <a:ext cx="2286000" cy="237744"/>
          </a:xfrm>
          <a:prstGeom prst="rect">
            <a:avLst/>
          </a:prstGeom>
          <a:noFill/>
          <a:ln/>
        </p:spPr>
        <p:txBody>
          <a:bodyPr wrap="square" lIns="0" tIns="0" rIns="0" bIns="0" rtlCol="0" anchor="ctr"/>
          <a:lstStyle/>
          <a:p>
            <a:pPr marL="0" indent="0" algn="ctr">
              <a:buNone/>
            </a:pPr>
            <a:r>
              <a:rPr lang="en-US" sz="760" b="1" dirty="0">
                <a:solidFill>
                  <a:srgbClr val="1E8E5A"/>
                </a:solidFill>
                <a:latin typeface="Calibri" pitchFamily="34" charset="0"/>
                <a:ea typeface="Calibri" pitchFamily="34" charset="-122"/>
                <a:cs typeface="Calibri" pitchFamily="34" charset="-120"/>
              </a:rPr>
              <a:t>Operational (2030s)</a:t>
            </a:r>
            <a:endParaRPr lang="en-US" sz="760" dirty="0"/>
          </a:p>
        </p:txBody>
      </p:sp>
      <p:sp>
        <p:nvSpPr>
          <p:cNvPr id="49" name="Shape 46">
            <a:extLst>
              <a:ext uri="{FF2B5EF4-FFF2-40B4-BE49-F238E27FC236}">
                <a16:creationId xmlns:a16="http://schemas.microsoft.com/office/drawing/2014/main" id="{D7E30D74-5900-B723-C44F-DAC23BF3A973}"/>
              </a:ext>
            </a:extLst>
          </p:cNvPr>
          <p:cNvSpPr/>
          <p:nvPr/>
        </p:nvSpPr>
        <p:spPr>
          <a:xfrm>
            <a:off x="457200" y="3063240"/>
            <a:ext cx="438912" cy="438912"/>
          </a:xfrm>
          <a:prstGeom prst="ellipse">
            <a:avLst/>
          </a:prstGeom>
          <a:solidFill>
            <a:srgbClr val="1B3358"/>
          </a:solidFill>
          <a:ln/>
        </p:spPr>
        <p:txBody>
          <a:bodyPr/>
          <a:lstStyle/>
          <a:p>
            <a:endParaRPr lang="en-GB"/>
          </a:p>
        </p:txBody>
      </p:sp>
      <p:pic>
        <p:nvPicPr>
          <p:cNvPr id="50" name="Image 1" descr="preencoded.png">
            <a:extLst>
              <a:ext uri="{FF2B5EF4-FFF2-40B4-BE49-F238E27FC236}">
                <a16:creationId xmlns:a16="http://schemas.microsoft.com/office/drawing/2014/main" id="{60C87DCF-5E93-D094-048E-175E2881E8E2}"/>
              </a:ext>
            </a:extLst>
          </p:cNvPr>
          <p:cNvPicPr>
            <a:picLocks noChangeAspect="1"/>
          </p:cNvPicPr>
          <p:nvPr/>
        </p:nvPicPr>
        <p:blipFill>
          <a:blip r:embed="rId4"/>
          <a:stretch>
            <a:fillRect/>
          </a:stretch>
        </p:blipFill>
        <p:spPr>
          <a:xfrm>
            <a:off x="548640" y="3154680"/>
            <a:ext cx="256032" cy="256032"/>
          </a:xfrm>
          <a:prstGeom prst="rect">
            <a:avLst/>
          </a:prstGeom>
        </p:spPr>
      </p:pic>
      <p:sp>
        <p:nvSpPr>
          <p:cNvPr id="51" name="Text 47">
            <a:extLst>
              <a:ext uri="{FF2B5EF4-FFF2-40B4-BE49-F238E27FC236}">
                <a16:creationId xmlns:a16="http://schemas.microsoft.com/office/drawing/2014/main" id="{2AF0C89A-2A65-E374-E486-D7B6024BB3CB}"/>
              </a:ext>
            </a:extLst>
          </p:cNvPr>
          <p:cNvSpPr/>
          <p:nvPr/>
        </p:nvSpPr>
        <p:spPr>
          <a:xfrm>
            <a:off x="1005840" y="2852928"/>
            <a:ext cx="1417320" cy="512064"/>
          </a:xfrm>
          <a:prstGeom prst="rect">
            <a:avLst/>
          </a:prstGeom>
          <a:noFill/>
          <a:ln/>
        </p:spPr>
        <p:txBody>
          <a:bodyPr wrap="square" lIns="0" tIns="0" rIns="0" bIns="0" rtlCol="0" anchor="t"/>
          <a:lstStyle/>
          <a:p>
            <a:pPr marL="0" indent="0">
              <a:lnSpc>
                <a:spcPct val="100000"/>
              </a:lnSpc>
              <a:buNone/>
            </a:pPr>
            <a:r>
              <a:rPr lang="en-US" sz="1250" b="1" dirty="0">
                <a:solidFill>
                  <a:srgbClr val="12233D"/>
                </a:solidFill>
                <a:latin typeface="Calibri" pitchFamily="34" charset="0"/>
                <a:ea typeface="Calibri" pitchFamily="34" charset="-122"/>
                <a:cs typeface="Calibri" pitchFamily="34" charset="-120"/>
              </a:rPr>
              <a:t>Westinghouse AP300 — Seal Sands</a:t>
            </a:r>
            <a:endParaRPr lang="en-US" sz="1250" dirty="0"/>
          </a:p>
        </p:txBody>
      </p:sp>
      <p:sp>
        <p:nvSpPr>
          <p:cNvPr id="52" name="Text 48">
            <a:extLst>
              <a:ext uri="{FF2B5EF4-FFF2-40B4-BE49-F238E27FC236}">
                <a16:creationId xmlns:a16="http://schemas.microsoft.com/office/drawing/2014/main" id="{710F489A-58AC-E522-1971-509B02BC7697}"/>
              </a:ext>
            </a:extLst>
          </p:cNvPr>
          <p:cNvSpPr/>
          <p:nvPr/>
        </p:nvSpPr>
        <p:spPr>
          <a:xfrm>
            <a:off x="1005840" y="3364992"/>
            <a:ext cx="1417320" cy="420624"/>
          </a:xfrm>
          <a:prstGeom prst="rect">
            <a:avLst/>
          </a:prstGeom>
          <a:noFill/>
          <a:ln/>
        </p:spPr>
        <p:txBody>
          <a:bodyPr wrap="square" lIns="0" tIns="0" rIns="0" bIns="0" rtlCol="0" anchor="b"/>
          <a:lstStyle/>
          <a:p>
            <a:pPr marL="0" indent="0">
              <a:lnSpc>
                <a:spcPct val="100000"/>
              </a:lnSpc>
              <a:buNone/>
            </a:pPr>
            <a:r>
              <a:rPr lang="en-US" sz="780" i="1" dirty="0">
                <a:solidFill>
                  <a:srgbClr val="5B6B7C"/>
                </a:solidFill>
                <a:latin typeface="Calibri" pitchFamily="34" charset="0"/>
                <a:ea typeface="Calibri" pitchFamily="34" charset="-122"/>
                <a:cs typeface="Calibri" pitchFamily="34" charset="-120"/>
              </a:rPr>
              <a:t>4 × 300 MWe (1.5 GW) · Westinghouse · Community Nuclear Power</a:t>
            </a:r>
            <a:endParaRPr lang="en-US" sz="780" dirty="0"/>
          </a:p>
        </p:txBody>
      </p:sp>
      <p:sp>
        <p:nvSpPr>
          <p:cNvPr id="53" name="Shape 49">
            <a:extLst>
              <a:ext uri="{FF2B5EF4-FFF2-40B4-BE49-F238E27FC236}">
                <a16:creationId xmlns:a16="http://schemas.microsoft.com/office/drawing/2014/main" id="{09FE6BD5-24F9-A352-700F-8EDBC48A7E6D}"/>
              </a:ext>
            </a:extLst>
          </p:cNvPr>
          <p:cNvSpPr/>
          <p:nvPr/>
        </p:nvSpPr>
        <p:spPr>
          <a:xfrm>
            <a:off x="2514600" y="3282696"/>
            <a:ext cx="9235440" cy="0"/>
          </a:xfrm>
          <a:prstGeom prst="line">
            <a:avLst/>
          </a:prstGeom>
          <a:noFill/>
          <a:ln w="6350">
            <a:solidFill>
              <a:srgbClr val="E3E9EF"/>
            </a:solidFill>
            <a:prstDash val="dash"/>
          </a:ln>
        </p:spPr>
        <p:txBody>
          <a:bodyPr/>
          <a:lstStyle/>
          <a:p>
            <a:endParaRPr lang="en-GB"/>
          </a:p>
        </p:txBody>
      </p:sp>
      <p:sp>
        <p:nvSpPr>
          <p:cNvPr id="54" name="Shape 50">
            <a:extLst>
              <a:ext uri="{FF2B5EF4-FFF2-40B4-BE49-F238E27FC236}">
                <a16:creationId xmlns:a16="http://schemas.microsoft.com/office/drawing/2014/main" id="{468EA992-5843-40D6-1E64-55CD1C5AD7EE}"/>
              </a:ext>
            </a:extLst>
          </p:cNvPr>
          <p:cNvSpPr/>
          <p:nvPr/>
        </p:nvSpPr>
        <p:spPr>
          <a:xfrm>
            <a:off x="2514600" y="3163824"/>
            <a:ext cx="2052320" cy="237744"/>
          </a:xfrm>
          <a:prstGeom prst="roundRect">
            <a:avLst>
              <a:gd name="adj" fmla="val 19231"/>
            </a:avLst>
          </a:prstGeom>
          <a:solidFill>
            <a:srgbClr val="C77B17"/>
          </a:solidFill>
          <a:ln/>
        </p:spPr>
        <p:txBody>
          <a:bodyPr/>
          <a:lstStyle/>
          <a:p>
            <a:endParaRPr lang="en-GB"/>
          </a:p>
        </p:txBody>
      </p:sp>
      <p:sp>
        <p:nvSpPr>
          <p:cNvPr id="55" name="Shape 51">
            <a:extLst>
              <a:ext uri="{FF2B5EF4-FFF2-40B4-BE49-F238E27FC236}">
                <a16:creationId xmlns:a16="http://schemas.microsoft.com/office/drawing/2014/main" id="{08E5C5FB-4A53-09FC-A735-4D6CDE6689C1}"/>
              </a:ext>
            </a:extLst>
          </p:cNvPr>
          <p:cNvSpPr/>
          <p:nvPr/>
        </p:nvSpPr>
        <p:spPr>
          <a:xfrm>
            <a:off x="4566920" y="3163824"/>
            <a:ext cx="3078480" cy="237744"/>
          </a:xfrm>
          <a:prstGeom prst="roundRect">
            <a:avLst>
              <a:gd name="adj" fmla="val 19231"/>
            </a:avLst>
          </a:prstGeom>
          <a:solidFill>
            <a:srgbClr val="C77B17"/>
          </a:solidFill>
          <a:ln/>
        </p:spPr>
        <p:txBody>
          <a:bodyPr/>
          <a:lstStyle/>
          <a:p>
            <a:endParaRPr lang="en-GB"/>
          </a:p>
        </p:txBody>
      </p:sp>
      <p:sp>
        <p:nvSpPr>
          <p:cNvPr id="56" name="Shape 52">
            <a:extLst>
              <a:ext uri="{FF2B5EF4-FFF2-40B4-BE49-F238E27FC236}">
                <a16:creationId xmlns:a16="http://schemas.microsoft.com/office/drawing/2014/main" id="{E8C02384-BF26-A3BE-F228-5F6E843C9433}"/>
              </a:ext>
            </a:extLst>
          </p:cNvPr>
          <p:cNvSpPr/>
          <p:nvPr/>
        </p:nvSpPr>
        <p:spPr>
          <a:xfrm>
            <a:off x="7645400" y="3163824"/>
            <a:ext cx="3078480" cy="237744"/>
          </a:xfrm>
          <a:prstGeom prst="roundRect">
            <a:avLst>
              <a:gd name="adj" fmla="val 19231"/>
            </a:avLst>
          </a:prstGeom>
          <a:solidFill>
            <a:srgbClr val="1E8E5A"/>
          </a:solidFill>
          <a:ln/>
        </p:spPr>
        <p:txBody>
          <a:bodyPr/>
          <a:lstStyle/>
          <a:p>
            <a:endParaRPr lang="en-GB"/>
          </a:p>
        </p:txBody>
      </p:sp>
      <p:sp>
        <p:nvSpPr>
          <p:cNvPr id="57" name="Shape 53">
            <a:extLst>
              <a:ext uri="{FF2B5EF4-FFF2-40B4-BE49-F238E27FC236}">
                <a16:creationId xmlns:a16="http://schemas.microsoft.com/office/drawing/2014/main" id="{045CCF14-8164-9B2C-CA99-13C10F910885}"/>
              </a:ext>
            </a:extLst>
          </p:cNvPr>
          <p:cNvSpPr/>
          <p:nvPr/>
        </p:nvSpPr>
        <p:spPr>
          <a:xfrm>
            <a:off x="4507484" y="3223260"/>
            <a:ext cx="118872" cy="118872"/>
          </a:xfrm>
          <a:prstGeom prst="diamond">
            <a:avLst/>
          </a:prstGeom>
          <a:solidFill>
            <a:srgbClr val="FFFFFF"/>
          </a:solidFill>
          <a:ln w="22225">
            <a:solidFill>
              <a:srgbClr val="C77B17"/>
            </a:solidFill>
            <a:prstDash val="solid"/>
          </a:ln>
        </p:spPr>
        <p:txBody>
          <a:bodyPr/>
          <a:lstStyle/>
          <a:p>
            <a:endParaRPr lang="en-GB"/>
          </a:p>
        </p:txBody>
      </p:sp>
      <p:sp>
        <p:nvSpPr>
          <p:cNvPr id="58" name="Text 54">
            <a:extLst>
              <a:ext uri="{FF2B5EF4-FFF2-40B4-BE49-F238E27FC236}">
                <a16:creationId xmlns:a16="http://schemas.microsoft.com/office/drawing/2014/main" id="{8ED1120D-5C34-CB7D-D6F1-64D6A228B517}"/>
              </a:ext>
            </a:extLst>
          </p:cNvPr>
          <p:cNvSpPr/>
          <p:nvPr/>
        </p:nvSpPr>
        <p:spPr>
          <a:xfrm>
            <a:off x="3423920" y="2852928"/>
            <a:ext cx="2286000" cy="237744"/>
          </a:xfrm>
          <a:prstGeom prst="rect">
            <a:avLst/>
          </a:prstGeom>
          <a:noFill/>
          <a:ln/>
        </p:spPr>
        <p:txBody>
          <a:bodyPr wrap="square" lIns="0" tIns="0" rIns="0" bIns="0" rtlCol="0" anchor="ctr"/>
          <a:lstStyle/>
          <a:p>
            <a:pPr marL="0" indent="0" algn="ctr">
              <a:buNone/>
            </a:pPr>
            <a:r>
              <a:rPr lang="en-US" sz="760" b="1" dirty="0">
                <a:solidFill>
                  <a:srgbClr val="C77B17"/>
                </a:solidFill>
                <a:latin typeface="Calibri" pitchFamily="34" charset="0"/>
                <a:ea typeface="Calibri" pitchFamily="34" charset="-122"/>
                <a:cs typeface="Calibri" pitchFamily="34" charset="-120"/>
              </a:rPr>
              <a:t>Design certification · site fully licensed (target)</a:t>
            </a:r>
            <a:endParaRPr lang="en-US" sz="760" dirty="0"/>
          </a:p>
        </p:txBody>
      </p:sp>
      <p:sp>
        <p:nvSpPr>
          <p:cNvPr id="59" name="Shape 55">
            <a:extLst>
              <a:ext uri="{FF2B5EF4-FFF2-40B4-BE49-F238E27FC236}">
                <a16:creationId xmlns:a16="http://schemas.microsoft.com/office/drawing/2014/main" id="{A577D083-7468-D0EF-4C88-C143EBDD215A}"/>
              </a:ext>
            </a:extLst>
          </p:cNvPr>
          <p:cNvSpPr/>
          <p:nvPr/>
        </p:nvSpPr>
        <p:spPr>
          <a:xfrm>
            <a:off x="7585964" y="3223260"/>
            <a:ext cx="118872" cy="118872"/>
          </a:xfrm>
          <a:prstGeom prst="diamond">
            <a:avLst/>
          </a:prstGeom>
          <a:solidFill>
            <a:srgbClr val="FFFFFF"/>
          </a:solidFill>
          <a:ln w="22225">
            <a:solidFill>
              <a:srgbClr val="1E8E5A"/>
            </a:solidFill>
            <a:prstDash val="solid"/>
          </a:ln>
        </p:spPr>
        <p:txBody>
          <a:bodyPr/>
          <a:lstStyle/>
          <a:p>
            <a:endParaRPr lang="en-GB"/>
          </a:p>
        </p:txBody>
      </p:sp>
      <p:sp>
        <p:nvSpPr>
          <p:cNvPr id="60" name="Text 56">
            <a:extLst>
              <a:ext uri="{FF2B5EF4-FFF2-40B4-BE49-F238E27FC236}">
                <a16:creationId xmlns:a16="http://schemas.microsoft.com/office/drawing/2014/main" id="{EE9AD95F-456D-FF0B-A9A4-70FA5136F918}"/>
              </a:ext>
            </a:extLst>
          </p:cNvPr>
          <p:cNvSpPr/>
          <p:nvPr/>
        </p:nvSpPr>
        <p:spPr>
          <a:xfrm>
            <a:off x="6502400" y="3529584"/>
            <a:ext cx="2286000" cy="237744"/>
          </a:xfrm>
          <a:prstGeom prst="rect">
            <a:avLst/>
          </a:prstGeom>
          <a:noFill/>
          <a:ln/>
        </p:spPr>
        <p:txBody>
          <a:bodyPr wrap="square" lIns="0" tIns="0" rIns="0" bIns="0" rtlCol="0" anchor="ctr"/>
          <a:lstStyle/>
          <a:p>
            <a:pPr marL="0" indent="0" algn="ctr">
              <a:buNone/>
            </a:pPr>
            <a:r>
              <a:rPr lang="en-US" sz="760" b="1" dirty="0">
                <a:solidFill>
                  <a:srgbClr val="1E8E5A"/>
                </a:solidFill>
                <a:latin typeface="Calibri" pitchFamily="34" charset="0"/>
                <a:ea typeface="Calibri" pitchFamily="34" charset="-122"/>
                <a:cs typeface="Calibri" pitchFamily="34" charset="-120"/>
              </a:rPr>
              <a:t>Construction begins</a:t>
            </a:r>
            <a:endParaRPr lang="en-US" sz="760" dirty="0"/>
          </a:p>
        </p:txBody>
      </p:sp>
      <p:sp>
        <p:nvSpPr>
          <p:cNvPr id="61" name="Shape 57">
            <a:extLst>
              <a:ext uri="{FF2B5EF4-FFF2-40B4-BE49-F238E27FC236}">
                <a16:creationId xmlns:a16="http://schemas.microsoft.com/office/drawing/2014/main" id="{FF445042-064A-18F5-3404-4663344D3462}"/>
              </a:ext>
            </a:extLst>
          </p:cNvPr>
          <p:cNvSpPr/>
          <p:nvPr/>
        </p:nvSpPr>
        <p:spPr>
          <a:xfrm>
            <a:off x="10664444" y="3223260"/>
            <a:ext cx="118872" cy="118872"/>
          </a:xfrm>
          <a:prstGeom prst="diamond">
            <a:avLst/>
          </a:prstGeom>
          <a:solidFill>
            <a:srgbClr val="FFFFFF"/>
          </a:solidFill>
          <a:ln w="22225">
            <a:solidFill>
              <a:srgbClr val="1E8E5A"/>
            </a:solidFill>
            <a:prstDash val="solid"/>
          </a:ln>
        </p:spPr>
        <p:txBody>
          <a:bodyPr/>
          <a:lstStyle/>
          <a:p>
            <a:endParaRPr lang="en-GB"/>
          </a:p>
        </p:txBody>
      </p:sp>
      <p:sp>
        <p:nvSpPr>
          <p:cNvPr id="62" name="Text 58">
            <a:extLst>
              <a:ext uri="{FF2B5EF4-FFF2-40B4-BE49-F238E27FC236}">
                <a16:creationId xmlns:a16="http://schemas.microsoft.com/office/drawing/2014/main" id="{1B75BB9E-B118-2D4E-124F-738AE3537BBD}"/>
              </a:ext>
            </a:extLst>
          </p:cNvPr>
          <p:cNvSpPr/>
          <p:nvPr/>
        </p:nvSpPr>
        <p:spPr>
          <a:xfrm>
            <a:off x="9052561" y="2948940"/>
            <a:ext cx="2286000" cy="237744"/>
          </a:xfrm>
          <a:prstGeom prst="rect">
            <a:avLst/>
          </a:prstGeom>
          <a:noFill/>
          <a:ln/>
        </p:spPr>
        <p:txBody>
          <a:bodyPr wrap="square" lIns="0" tIns="0" rIns="0" bIns="0" rtlCol="0" anchor="ctr"/>
          <a:lstStyle/>
          <a:p>
            <a:pPr marL="0" indent="0" algn="ctr">
              <a:buNone/>
            </a:pPr>
            <a:r>
              <a:rPr lang="en-US" sz="760" b="1" dirty="0">
                <a:solidFill>
                  <a:srgbClr val="1E8E5A"/>
                </a:solidFill>
                <a:latin typeface="Calibri" pitchFamily="34" charset="0"/>
                <a:ea typeface="Calibri" pitchFamily="34" charset="-122"/>
                <a:cs typeface="Calibri" pitchFamily="34" charset="-120"/>
              </a:rPr>
              <a:t>Operation (early 2030s)</a:t>
            </a:r>
            <a:endParaRPr lang="en-US" sz="760" dirty="0"/>
          </a:p>
        </p:txBody>
      </p:sp>
      <p:sp>
        <p:nvSpPr>
          <p:cNvPr id="63" name="Shape 59">
            <a:extLst>
              <a:ext uri="{FF2B5EF4-FFF2-40B4-BE49-F238E27FC236}">
                <a16:creationId xmlns:a16="http://schemas.microsoft.com/office/drawing/2014/main" id="{924EB2DB-F69C-410F-7D60-08FF36E873A3}"/>
              </a:ext>
            </a:extLst>
          </p:cNvPr>
          <p:cNvSpPr/>
          <p:nvPr/>
        </p:nvSpPr>
        <p:spPr>
          <a:xfrm>
            <a:off x="365760" y="4005072"/>
            <a:ext cx="11795760" cy="1078992"/>
          </a:xfrm>
          <a:prstGeom prst="rect">
            <a:avLst/>
          </a:prstGeom>
          <a:solidFill>
            <a:srgbClr val="F7FAFC"/>
          </a:solidFill>
          <a:ln/>
        </p:spPr>
        <p:txBody>
          <a:bodyPr/>
          <a:lstStyle/>
          <a:p>
            <a:endParaRPr lang="en-GB"/>
          </a:p>
        </p:txBody>
      </p:sp>
      <p:sp>
        <p:nvSpPr>
          <p:cNvPr id="64" name="Shape 60">
            <a:extLst>
              <a:ext uri="{FF2B5EF4-FFF2-40B4-BE49-F238E27FC236}">
                <a16:creationId xmlns:a16="http://schemas.microsoft.com/office/drawing/2014/main" id="{80955E3F-D199-FB24-8AB0-44ABFC2C88BE}"/>
              </a:ext>
            </a:extLst>
          </p:cNvPr>
          <p:cNvSpPr/>
          <p:nvPr/>
        </p:nvSpPr>
        <p:spPr>
          <a:xfrm>
            <a:off x="457200" y="4325112"/>
            <a:ext cx="438912" cy="438912"/>
          </a:xfrm>
          <a:prstGeom prst="ellipse">
            <a:avLst/>
          </a:prstGeom>
          <a:solidFill>
            <a:srgbClr val="1B3358"/>
          </a:solidFill>
          <a:ln/>
        </p:spPr>
        <p:txBody>
          <a:bodyPr/>
          <a:lstStyle/>
          <a:p>
            <a:endParaRPr lang="en-GB"/>
          </a:p>
        </p:txBody>
      </p:sp>
      <p:pic>
        <p:nvPicPr>
          <p:cNvPr id="65" name="Image 2" descr="preencoded.png">
            <a:extLst>
              <a:ext uri="{FF2B5EF4-FFF2-40B4-BE49-F238E27FC236}">
                <a16:creationId xmlns:a16="http://schemas.microsoft.com/office/drawing/2014/main" id="{774BD940-82D6-FF52-DEF8-A4DAB1BC730C}"/>
              </a:ext>
            </a:extLst>
          </p:cNvPr>
          <p:cNvPicPr>
            <a:picLocks noChangeAspect="1"/>
          </p:cNvPicPr>
          <p:nvPr/>
        </p:nvPicPr>
        <p:blipFill>
          <a:blip r:embed="rId5"/>
          <a:stretch>
            <a:fillRect/>
          </a:stretch>
        </p:blipFill>
        <p:spPr>
          <a:xfrm>
            <a:off x="548640" y="4416552"/>
            <a:ext cx="256032" cy="256032"/>
          </a:xfrm>
          <a:prstGeom prst="rect">
            <a:avLst/>
          </a:prstGeom>
        </p:spPr>
      </p:pic>
      <p:sp>
        <p:nvSpPr>
          <p:cNvPr id="66" name="Text 61">
            <a:extLst>
              <a:ext uri="{FF2B5EF4-FFF2-40B4-BE49-F238E27FC236}">
                <a16:creationId xmlns:a16="http://schemas.microsoft.com/office/drawing/2014/main" id="{59F62A4F-4BA4-CE6C-40DB-0010E71C6C20}"/>
              </a:ext>
            </a:extLst>
          </p:cNvPr>
          <p:cNvSpPr/>
          <p:nvPr/>
        </p:nvSpPr>
        <p:spPr>
          <a:xfrm>
            <a:off x="1005840" y="4114800"/>
            <a:ext cx="1417320" cy="512064"/>
          </a:xfrm>
          <a:prstGeom prst="rect">
            <a:avLst/>
          </a:prstGeom>
          <a:noFill/>
          <a:ln/>
        </p:spPr>
        <p:txBody>
          <a:bodyPr wrap="square" lIns="0" tIns="0" rIns="0" bIns="0" rtlCol="0" anchor="t"/>
          <a:lstStyle/>
          <a:p>
            <a:pPr marL="0" indent="0">
              <a:lnSpc>
                <a:spcPct val="100000"/>
              </a:lnSpc>
              <a:buNone/>
            </a:pPr>
            <a:r>
              <a:rPr lang="en-US" sz="1250" b="1" dirty="0">
                <a:solidFill>
                  <a:srgbClr val="12233D"/>
                </a:solidFill>
                <a:latin typeface="Calibri" pitchFamily="34" charset="0"/>
                <a:ea typeface="Calibri" pitchFamily="34" charset="-122"/>
                <a:cs typeface="Calibri" pitchFamily="34" charset="-120"/>
              </a:rPr>
              <a:t>X-energy Xe-100 — Hartlepool</a:t>
            </a:r>
            <a:endParaRPr lang="en-US" sz="1250" dirty="0"/>
          </a:p>
        </p:txBody>
      </p:sp>
      <p:sp>
        <p:nvSpPr>
          <p:cNvPr id="67" name="Text 62">
            <a:extLst>
              <a:ext uri="{FF2B5EF4-FFF2-40B4-BE49-F238E27FC236}">
                <a16:creationId xmlns:a16="http://schemas.microsoft.com/office/drawing/2014/main" id="{AD950F5D-4AB1-9D79-F8B7-32823ECA31F7}"/>
              </a:ext>
            </a:extLst>
          </p:cNvPr>
          <p:cNvSpPr/>
          <p:nvPr/>
        </p:nvSpPr>
        <p:spPr>
          <a:xfrm>
            <a:off x="1005840" y="4626864"/>
            <a:ext cx="1417320" cy="420624"/>
          </a:xfrm>
          <a:prstGeom prst="rect">
            <a:avLst/>
          </a:prstGeom>
          <a:noFill/>
          <a:ln/>
        </p:spPr>
        <p:txBody>
          <a:bodyPr wrap="square" lIns="0" tIns="0" rIns="0" bIns="0" rtlCol="0" anchor="b"/>
          <a:lstStyle/>
          <a:p>
            <a:pPr marL="0" indent="0">
              <a:lnSpc>
                <a:spcPct val="100000"/>
              </a:lnSpc>
              <a:buNone/>
            </a:pPr>
            <a:r>
              <a:rPr lang="en-US" sz="780" i="1" dirty="0">
                <a:solidFill>
                  <a:srgbClr val="5B6B7C"/>
                </a:solidFill>
                <a:latin typeface="Calibri" pitchFamily="34" charset="0"/>
                <a:ea typeface="Calibri" pitchFamily="34" charset="-122"/>
                <a:cs typeface="Calibri" pitchFamily="34" charset="-120"/>
              </a:rPr>
              <a:t>12 × 80 MWe (960 MWe) · X-energy · Centrica · £40bn lifetime</a:t>
            </a:r>
            <a:endParaRPr lang="en-US" sz="780" dirty="0"/>
          </a:p>
        </p:txBody>
      </p:sp>
      <p:sp>
        <p:nvSpPr>
          <p:cNvPr id="68" name="Shape 63">
            <a:extLst>
              <a:ext uri="{FF2B5EF4-FFF2-40B4-BE49-F238E27FC236}">
                <a16:creationId xmlns:a16="http://schemas.microsoft.com/office/drawing/2014/main" id="{4E2CDE9B-2CAD-1234-B925-4BC9A94EC0FD}"/>
              </a:ext>
            </a:extLst>
          </p:cNvPr>
          <p:cNvSpPr/>
          <p:nvPr/>
        </p:nvSpPr>
        <p:spPr>
          <a:xfrm>
            <a:off x="2514600" y="4544568"/>
            <a:ext cx="9235440" cy="0"/>
          </a:xfrm>
          <a:prstGeom prst="line">
            <a:avLst/>
          </a:prstGeom>
          <a:noFill/>
          <a:ln w="6350">
            <a:solidFill>
              <a:srgbClr val="E3E9EF"/>
            </a:solidFill>
            <a:prstDash val="dash"/>
          </a:ln>
        </p:spPr>
        <p:txBody>
          <a:bodyPr/>
          <a:lstStyle/>
          <a:p>
            <a:endParaRPr lang="en-GB"/>
          </a:p>
        </p:txBody>
      </p:sp>
      <p:sp>
        <p:nvSpPr>
          <p:cNvPr id="69" name="Shape 64">
            <a:extLst>
              <a:ext uri="{FF2B5EF4-FFF2-40B4-BE49-F238E27FC236}">
                <a16:creationId xmlns:a16="http://schemas.microsoft.com/office/drawing/2014/main" id="{2C1647FF-CEFA-2C3E-D148-B51485559CE3}"/>
              </a:ext>
            </a:extLst>
          </p:cNvPr>
          <p:cNvSpPr/>
          <p:nvPr/>
        </p:nvSpPr>
        <p:spPr>
          <a:xfrm>
            <a:off x="3232912" y="4425696"/>
            <a:ext cx="718312" cy="237744"/>
          </a:xfrm>
          <a:prstGeom prst="roundRect">
            <a:avLst>
              <a:gd name="adj" fmla="val 19231"/>
            </a:avLst>
          </a:prstGeom>
          <a:solidFill>
            <a:srgbClr val="6B7785"/>
          </a:solidFill>
          <a:ln/>
        </p:spPr>
        <p:txBody>
          <a:bodyPr/>
          <a:lstStyle/>
          <a:p>
            <a:endParaRPr lang="en-GB"/>
          </a:p>
        </p:txBody>
      </p:sp>
      <p:sp>
        <p:nvSpPr>
          <p:cNvPr id="70" name="Shape 65">
            <a:extLst>
              <a:ext uri="{FF2B5EF4-FFF2-40B4-BE49-F238E27FC236}">
                <a16:creationId xmlns:a16="http://schemas.microsoft.com/office/drawing/2014/main" id="{1E3A42B8-A51C-5DA3-BD3A-B79EA89CB196}"/>
              </a:ext>
            </a:extLst>
          </p:cNvPr>
          <p:cNvSpPr/>
          <p:nvPr/>
        </p:nvSpPr>
        <p:spPr>
          <a:xfrm>
            <a:off x="3951224" y="4425696"/>
            <a:ext cx="3591560" cy="237744"/>
          </a:xfrm>
          <a:prstGeom prst="roundRect">
            <a:avLst>
              <a:gd name="adj" fmla="val 19231"/>
            </a:avLst>
          </a:prstGeom>
          <a:solidFill>
            <a:srgbClr val="C77B17"/>
          </a:solidFill>
          <a:ln/>
        </p:spPr>
        <p:txBody>
          <a:bodyPr/>
          <a:lstStyle/>
          <a:p>
            <a:endParaRPr lang="en-GB"/>
          </a:p>
        </p:txBody>
      </p:sp>
      <p:sp>
        <p:nvSpPr>
          <p:cNvPr id="71" name="Shape 66">
            <a:extLst>
              <a:ext uri="{FF2B5EF4-FFF2-40B4-BE49-F238E27FC236}">
                <a16:creationId xmlns:a16="http://schemas.microsoft.com/office/drawing/2014/main" id="{6246F50D-6C80-4189-89AD-7B595C57F536}"/>
              </a:ext>
            </a:extLst>
          </p:cNvPr>
          <p:cNvSpPr/>
          <p:nvPr/>
        </p:nvSpPr>
        <p:spPr>
          <a:xfrm>
            <a:off x="7542784" y="4425696"/>
            <a:ext cx="4207256" cy="237744"/>
          </a:xfrm>
          <a:prstGeom prst="roundRect">
            <a:avLst>
              <a:gd name="adj" fmla="val 19231"/>
            </a:avLst>
          </a:prstGeom>
          <a:solidFill>
            <a:srgbClr val="1E8E5A"/>
          </a:solidFill>
          <a:ln/>
        </p:spPr>
        <p:txBody>
          <a:bodyPr/>
          <a:lstStyle/>
          <a:p>
            <a:endParaRPr lang="en-GB"/>
          </a:p>
        </p:txBody>
      </p:sp>
      <p:sp>
        <p:nvSpPr>
          <p:cNvPr id="72" name="Shape 67">
            <a:extLst>
              <a:ext uri="{FF2B5EF4-FFF2-40B4-BE49-F238E27FC236}">
                <a16:creationId xmlns:a16="http://schemas.microsoft.com/office/drawing/2014/main" id="{42F71052-1651-1A6C-CE38-605395C9F98F}"/>
              </a:ext>
            </a:extLst>
          </p:cNvPr>
          <p:cNvSpPr/>
          <p:nvPr/>
        </p:nvSpPr>
        <p:spPr>
          <a:xfrm>
            <a:off x="3173476" y="4485132"/>
            <a:ext cx="118872" cy="118872"/>
          </a:xfrm>
          <a:prstGeom prst="diamond">
            <a:avLst/>
          </a:prstGeom>
          <a:solidFill>
            <a:srgbClr val="FFFFFF"/>
          </a:solidFill>
          <a:ln w="22225">
            <a:solidFill>
              <a:srgbClr val="6B7785"/>
            </a:solidFill>
            <a:prstDash val="solid"/>
          </a:ln>
        </p:spPr>
        <p:txBody>
          <a:bodyPr/>
          <a:lstStyle/>
          <a:p>
            <a:endParaRPr lang="en-GB"/>
          </a:p>
        </p:txBody>
      </p:sp>
      <p:sp>
        <p:nvSpPr>
          <p:cNvPr id="73" name="Text 68">
            <a:extLst>
              <a:ext uri="{FF2B5EF4-FFF2-40B4-BE49-F238E27FC236}">
                <a16:creationId xmlns:a16="http://schemas.microsoft.com/office/drawing/2014/main" id="{4FA29400-BB1E-4ABF-AD7B-96ACD638B19D}"/>
              </a:ext>
            </a:extLst>
          </p:cNvPr>
          <p:cNvSpPr/>
          <p:nvPr/>
        </p:nvSpPr>
        <p:spPr>
          <a:xfrm>
            <a:off x="2468880" y="4114800"/>
            <a:ext cx="2286000" cy="237744"/>
          </a:xfrm>
          <a:prstGeom prst="rect">
            <a:avLst/>
          </a:prstGeom>
          <a:noFill/>
          <a:ln/>
        </p:spPr>
        <p:txBody>
          <a:bodyPr wrap="square" lIns="0" tIns="0" rIns="0" bIns="0" rtlCol="0" anchor="ctr"/>
          <a:lstStyle/>
          <a:p>
            <a:pPr marL="0" indent="0" algn="ctr">
              <a:buNone/>
            </a:pPr>
            <a:r>
              <a:rPr lang="en-US" sz="760" b="1" dirty="0">
                <a:solidFill>
                  <a:srgbClr val="6B7785"/>
                </a:solidFill>
                <a:latin typeface="Calibri" pitchFamily="34" charset="0"/>
                <a:ea typeface="Calibri" pitchFamily="34" charset="-122"/>
                <a:cs typeface="Calibri" pitchFamily="34" charset="-120"/>
              </a:rPr>
              <a:t>JDA signed, Sep-25</a:t>
            </a:r>
            <a:endParaRPr lang="en-US" sz="760" dirty="0"/>
          </a:p>
        </p:txBody>
      </p:sp>
      <p:sp>
        <p:nvSpPr>
          <p:cNvPr id="74" name="Shape 69">
            <a:extLst>
              <a:ext uri="{FF2B5EF4-FFF2-40B4-BE49-F238E27FC236}">
                <a16:creationId xmlns:a16="http://schemas.microsoft.com/office/drawing/2014/main" id="{0E55CBB0-1C03-B5D9-1DD9-93FB73B3A889}"/>
              </a:ext>
            </a:extLst>
          </p:cNvPr>
          <p:cNvSpPr/>
          <p:nvPr/>
        </p:nvSpPr>
        <p:spPr>
          <a:xfrm>
            <a:off x="3891788" y="4485132"/>
            <a:ext cx="118872" cy="118872"/>
          </a:xfrm>
          <a:prstGeom prst="diamond">
            <a:avLst/>
          </a:prstGeom>
          <a:solidFill>
            <a:srgbClr val="FFFFFF"/>
          </a:solidFill>
          <a:ln w="22225">
            <a:solidFill>
              <a:srgbClr val="C77B17"/>
            </a:solidFill>
            <a:prstDash val="solid"/>
          </a:ln>
        </p:spPr>
        <p:txBody>
          <a:bodyPr/>
          <a:lstStyle/>
          <a:p>
            <a:endParaRPr lang="en-GB"/>
          </a:p>
        </p:txBody>
      </p:sp>
      <p:sp>
        <p:nvSpPr>
          <p:cNvPr id="75" name="Text 70">
            <a:extLst>
              <a:ext uri="{FF2B5EF4-FFF2-40B4-BE49-F238E27FC236}">
                <a16:creationId xmlns:a16="http://schemas.microsoft.com/office/drawing/2014/main" id="{67D53649-9D93-853E-5D0E-B2D928FCE803}"/>
              </a:ext>
            </a:extLst>
          </p:cNvPr>
          <p:cNvSpPr/>
          <p:nvPr/>
        </p:nvSpPr>
        <p:spPr>
          <a:xfrm>
            <a:off x="2808224" y="4791456"/>
            <a:ext cx="2286000" cy="237744"/>
          </a:xfrm>
          <a:prstGeom prst="rect">
            <a:avLst/>
          </a:prstGeom>
          <a:noFill/>
          <a:ln/>
        </p:spPr>
        <p:txBody>
          <a:bodyPr wrap="square" lIns="0" tIns="0" rIns="0" bIns="0" rtlCol="0" anchor="ctr"/>
          <a:lstStyle/>
          <a:p>
            <a:pPr marL="0" indent="0" algn="ctr">
              <a:buNone/>
            </a:pPr>
            <a:r>
              <a:rPr lang="en-US" sz="760" b="1" dirty="0">
                <a:solidFill>
                  <a:srgbClr val="C77B17"/>
                </a:solidFill>
                <a:latin typeface="Calibri" pitchFamily="34" charset="0"/>
                <a:ea typeface="Calibri" pitchFamily="34" charset="-122"/>
                <a:cs typeface="Calibri" pitchFamily="34" charset="-120"/>
              </a:rPr>
              <a:t>GDA submitted, Jun-26</a:t>
            </a:r>
            <a:endParaRPr lang="en-US" sz="760" dirty="0"/>
          </a:p>
        </p:txBody>
      </p:sp>
      <p:sp>
        <p:nvSpPr>
          <p:cNvPr id="76" name="Shape 71">
            <a:extLst>
              <a:ext uri="{FF2B5EF4-FFF2-40B4-BE49-F238E27FC236}">
                <a16:creationId xmlns:a16="http://schemas.microsoft.com/office/drawing/2014/main" id="{D8BCB3D5-F245-8D7C-A099-FA636742B312}"/>
              </a:ext>
            </a:extLst>
          </p:cNvPr>
          <p:cNvSpPr/>
          <p:nvPr/>
        </p:nvSpPr>
        <p:spPr>
          <a:xfrm>
            <a:off x="7483348" y="4485132"/>
            <a:ext cx="118872" cy="118872"/>
          </a:xfrm>
          <a:prstGeom prst="diamond">
            <a:avLst/>
          </a:prstGeom>
          <a:solidFill>
            <a:srgbClr val="FFFFFF"/>
          </a:solidFill>
          <a:ln w="22225">
            <a:solidFill>
              <a:srgbClr val="C77B17"/>
            </a:solidFill>
            <a:prstDash val="solid"/>
          </a:ln>
        </p:spPr>
        <p:txBody>
          <a:bodyPr/>
          <a:lstStyle/>
          <a:p>
            <a:endParaRPr lang="en-GB"/>
          </a:p>
        </p:txBody>
      </p:sp>
      <p:sp>
        <p:nvSpPr>
          <p:cNvPr id="77" name="Text 72">
            <a:extLst>
              <a:ext uri="{FF2B5EF4-FFF2-40B4-BE49-F238E27FC236}">
                <a16:creationId xmlns:a16="http://schemas.microsoft.com/office/drawing/2014/main" id="{63AD9071-5A8C-1A3F-63F8-BABF99DCDFB8}"/>
              </a:ext>
            </a:extLst>
          </p:cNvPr>
          <p:cNvSpPr/>
          <p:nvPr/>
        </p:nvSpPr>
        <p:spPr>
          <a:xfrm>
            <a:off x="6399784" y="4114800"/>
            <a:ext cx="2286000" cy="237744"/>
          </a:xfrm>
          <a:prstGeom prst="rect">
            <a:avLst/>
          </a:prstGeom>
          <a:noFill/>
          <a:ln/>
        </p:spPr>
        <p:txBody>
          <a:bodyPr wrap="square" lIns="0" tIns="0" rIns="0" bIns="0" rtlCol="0" anchor="ctr"/>
          <a:lstStyle/>
          <a:p>
            <a:pPr marL="0" indent="0" algn="ctr">
              <a:buNone/>
            </a:pPr>
            <a:r>
              <a:rPr lang="en-US" sz="760" b="1" dirty="0">
                <a:solidFill>
                  <a:srgbClr val="C77B17"/>
                </a:solidFill>
                <a:latin typeface="Calibri" pitchFamily="34" charset="0"/>
                <a:ea typeface="Calibri" pitchFamily="34" charset="-122"/>
                <a:cs typeface="Calibri" pitchFamily="34" charset="-120"/>
              </a:rPr>
              <a:t>GDA concludes (end 2029)</a:t>
            </a:r>
            <a:endParaRPr lang="en-US" sz="760" dirty="0"/>
          </a:p>
        </p:txBody>
      </p:sp>
      <p:sp>
        <p:nvSpPr>
          <p:cNvPr id="78" name="Shape 73">
            <a:extLst>
              <a:ext uri="{FF2B5EF4-FFF2-40B4-BE49-F238E27FC236}">
                <a16:creationId xmlns:a16="http://schemas.microsoft.com/office/drawing/2014/main" id="{0D6ABFCD-AE80-A6F3-62B9-1E85C66C4D87}"/>
              </a:ext>
            </a:extLst>
          </p:cNvPr>
          <p:cNvSpPr/>
          <p:nvPr/>
        </p:nvSpPr>
        <p:spPr>
          <a:xfrm>
            <a:off x="11690604" y="4485132"/>
            <a:ext cx="118872" cy="118872"/>
          </a:xfrm>
          <a:prstGeom prst="diamond">
            <a:avLst/>
          </a:prstGeom>
          <a:solidFill>
            <a:srgbClr val="FFFFFF"/>
          </a:solidFill>
          <a:ln w="22225">
            <a:solidFill>
              <a:srgbClr val="1E8E5A"/>
            </a:solidFill>
            <a:prstDash val="solid"/>
          </a:ln>
        </p:spPr>
        <p:txBody>
          <a:bodyPr/>
          <a:lstStyle/>
          <a:p>
            <a:endParaRPr lang="en-GB"/>
          </a:p>
        </p:txBody>
      </p:sp>
      <p:sp>
        <p:nvSpPr>
          <p:cNvPr id="80" name="Shape 75">
            <a:extLst>
              <a:ext uri="{FF2B5EF4-FFF2-40B4-BE49-F238E27FC236}">
                <a16:creationId xmlns:a16="http://schemas.microsoft.com/office/drawing/2014/main" id="{4D314F49-9432-96B8-8165-0CFD36B2830B}"/>
              </a:ext>
            </a:extLst>
          </p:cNvPr>
          <p:cNvSpPr/>
          <p:nvPr/>
        </p:nvSpPr>
        <p:spPr>
          <a:xfrm>
            <a:off x="457200" y="5586984"/>
            <a:ext cx="438912" cy="438912"/>
          </a:xfrm>
          <a:prstGeom prst="ellipse">
            <a:avLst/>
          </a:prstGeom>
          <a:solidFill>
            <a:srgbClr val="1B3358"/>
          </a:solidFill>
          <a:ln/>
        </p:spPr>
        <p:txBody>
          <a:bodyPr/>
          <a:lstStyle/>
          <a:p>
            <a:endParaRPr lang="en-GB"/>
          </a:p>
        </p:txBody>
      </p:sp>
      <p:pic>
        <p:nvPicPr>
          <p:cNvPr id="81" name="Image 3" descr="preencoded.png">
            <a:extLst>
              <a:ext uri="{FF2B5EF4-FFF2-40B4-BE49-F238E27FC236}">
                <a16:creationId xmlns:a16="http://schemas.microsoft.com/office/drawing/2014/main" id="{F083B5F0-3AD4-7DF8-EB88-FBF2B3860F07}"/>
              </a:ext>
            </a:extLst>
          </p:cNvPr>
          <p:cNvPicPr>
            <a:picLocks noChangeAspect="1"/>
          </p:cNvPicPr>
          <p:nvPr/>
        </p:nvPicPr>
        <p:blipFill>
          <a:blip r:embed="rId6"/>
          <a:stretch>
            <a:fillRect/>
          </a:stretch>
        </p:blipFill>
        <p:spPr>
          <a:xfrm>
            <a:off x="548640" y="5678424"/>
            <a:ext cx="256032" cy="256032"/>
          </a:xfrm>
          <a:prstGeom prst="rect">
            <a:avLst/>
          </a:prstGeom>
        </p:spPr>
      </p:pic>
      <p:sp>
        <p:nvSpPr>
          <p:cNvPr id="82" name="Text 76">
            <a:extLst>
              <a:ext uri="{FF2B5EF4-FFF2-40B4-BE49-F238E27FC236}">
                <a16:creationId xmlns:a16="http://schemas.microsoft.com/office/drawing/2014/main" id="{98814747-488E-EBD9-7847-3DFA6A5E8ED3}"/>
              </a:ext>
            </a:extLst>
          </p:cNvPr>
          <p:cNvSpPr/>
          <p:nvPr/>
        </p:nvSpPr>
        <p:spPr>
          <a:xfrm>
            <a:off x="1005840" y="5376672"/>
            <a:ext cx="1417320" cy="512064"/>
          </a:xfrm>
          <a:prstGeom prst="rect">
            <a:avLst/>
          </a:prstGeom>
          <a:noFill/>
          <a:ln/>
        </p:spPr>
        <p:txBody>
          <a:bodyPr wrap="square" lIns="0" tIns="0" rIns="0" bIns="0" rtlCol="0" anchor="t"/>
          <a:lstStyle/>
          <a:p>
            <a:pPr marL="0" indent="0">
              <a:lnSpc>
                <a:spcPct val="100000"/>
              </a:lnSpc>
              <a:buNone/>
            </a:pPr>
            <a:r>
              <a:rPr lang="en-US" sz="1250" b="1" dirty="0">
                <a:solidFill>
                  <a:srgbClr val="12233D"/>
                </a:solidFill>
                <a:latin typeface="Calibri" pitchFamily="34" charset="0"/>
                <a:ea typeface="Calibri" pitchFamily="34" charset="-122"/>
                <a:cs typeface="Calibri" pitchFamily="34" charset="-120"/>
              </a:rPr>
              <a:t>Last Energy PWR-20 — London Gateway</a:t>
            </a:r>
            <a:endParaRPr lang="en-US" sz="1250" dirty="0"/>
          </a:p>
        </p:txBody>
      </p:sp>
      <p:sp>
        <p:nvSpPr>
          <p:cNvPr id="83" name="Text 77">
            <a:extLst>
              <a:ext uri="{FF2B5EF4-FFF2-40B4-BE49-F238E27FC236}">
                <a16:creationId xmlns:a16="http://schemas.microsoft.com/office/drawing/2014/main" id="{9FF05E57-E8D3-3B2C-9549-9E87C47FA364}"/>
              </a:ext>
            </a:extLst>
          </p:cNvPr>
          <p:cNvSpPr/>
          <p:nvPr/>
        </p:nvSpPr>
        <p:spPr>
          <a:xfrm>
            <a:off x="1005840" y="5888736"/>
            <a:ext cx="1417320" cy="420624"/>
          </a:xfrm>
          <a:prstGeom prst="rect">
            <a:avLst/>
          </a:prstGeom>
          <a:noFill/>
          <a:ln/>
        </p:spPr>
        <p:txBody>
          <a:bodyPr wrap="square" lIns="0" tIns="0" rIns="0" bIns="0" rtlCol="0" anchor="b"/>
          <a:lstStyle/>
          <a:p>
            <a:pPr marL="0" indent="0">
              <a:lnSpc>
                <a:spcPct val="100000"/>
              </a:lnSpc>
              <a:buNone/>
            </a:pPr>
            <a:r>
              <a:rPr lang="en-US" sz="780" i="1" dirty="0">
                <a:solidFill>
                  <a:srgbClr val="5B6B7C"/>
                </a:solidFill>
                <a:latin typeface="Calibri" pitchFamily="34" charset="0"/>
                <a:ea typeface="Calibri" pitchFamily="34" charset="-122"/>
                <a:cs typeface="Calibri" pitchFamily="34" charset="-120"/>
              </a:rPr>
              <a:t>20 MWe micro-reactor · Last Energy · DP World · £80m private investment</a:t>
            </a:r>
            <a:endParaRPr lang="en-US" sz="780" dirty="0"/>
          </a:p>
        </p:txBody>
      </p:sp>
      <p:sp>
        <p:nvSpPr>
          <p:cNvPr id="84" name="Shape 78">
            <a:extLst>
              <a:ext uri="{FF2B5EF4-FFF2-40B4-BE49-F238E27FC236}">
                <a16:creationId xmlns:a16="http://schemas.microsoft.com/office/drawing/2014/main" id="{277D95A4-45C0-7EE6-BE04-3F0E7C360DF0}"/>
              </a:ext>
            </a:extLst>
          </p:cNvPr>
          <p:cNvSpPr/>
          <p:nvPr/>
        </p:nvSpPr>
        <p:spPr>
          <a:xfrm>
            <a:off x="2514600" y="5806440"/>
            <a:ext cx="9235440" cy="0"/>
          </a:xfrm>
          <a:prstGeom prst="line">
            <a:avLst/>
          </a:prstGeom>
          <a:noFill/>
          <a:ln w="6350">
            <a:solidFill>
              <a:srgbClr val="E3E9EF"/>
            </a:solidFill>
            <a:prstDash val="dash"/>
          </a:ln>
        </p:spPr>
        <p:txBody>
          <a:bodyPr/>
          <a:lstStyle/>
          <a:p>
            <a:endParaRPr lang="en-GB"/>
          </a:p>
        </p:txBody>
      </p:sp>
      <p:sp>
        <p:nvSpPr>
          <p:cNvPr id="85" name="Shape 79">
            <a:extLst>
              <a:ext uri="{FF2B5EF4-FFF2-40B4-BE49-F238E27FC236}">
                <a16:creationId xmlns:a16="http://schemas.microsoft.com/office/drawing/2014/main" id="{3D8E8F9B-2EB8-1AB7-C426-39AE44D83195}"/>
              </a:ext>
            </a:extLst>
          </p:cNvPr>
          <p:cNvSpPr/>
          <p:nvPr/>
        </p:nvSpPr>
        <p:spPr>
          <a:xfrm>
            <a:off x="3232912" y="5687568"/>
            <a:ext cx="1334008" cy="237744"/>
          </a:xfrm>
          <a:prstGeom prst="roundRect">
            <a:avLst>
              <a:gd name="adj" fmla="val 19231"/>
            </a:avLst>
          </a:prstGeom>
          <a:solidFill>
            <a:srgbClr val="6B7785"/>
          </a:solidFill>
          <a:ln/>
        </p:spPr>
        <p:txBody>
          <a:bodyPr/>
          <a:lstStyle/>
          <a:p>
            <a:endParaRPr lang="en-GB"/>
          </a:p>
        </p:txBody>
      </p:sp>
      <p:sp>
        <p:nvSpPr>
          <p:cNvPr id="86" name="Shape 80">
            <a:extLst>
              <a:ext uri="{FF2B5EF4-FFF2-40B4-BE49-F238E27FC236}">
                <a16:creationId xmlns:a16="http://schemas.microsoft.com/office/drawing/2014/main" id="{8A2ECF92-9055-B143-C517-47AC196364AB}"/>
              </a:ext>
            </a:extLst>
          </p:cNvPr>
          <p:cNvSpPr/>
          <p:nvPr/>
        </p:nvSpPr>
        <p:spPr>
          <a:xfrm>
            <a:off x="4566920" y="5687568"/>
            <a:ext cx="3078480" cy="237744"/>
          </a:xfrm>
          <a:prstGeom prst="roundRect">
            <a:avLst>
              <a:gd name="adj" fmla="val 19231"/>
            </a:avLst>
          </a:prstGeom>
          <a:solidFill>
            <a:srgbClr val="C77B17"/>
          </a:solidFill>
          <a:ln/>
        </p:spPr>
        <p:txBody>
          <a:bodyPr/>
          <a:lstStyle/>
          <a:p>
            <a:endParaRPr lang="en-GB"/>
          </a:p>
        </p:txBody>
      </p:sp>
      <p:sp>
        <p:nvSpPr>
          <p:cNvPr id="87" name="Shape 81">
            <a:extLst>
              <a:ext uri="{FF2B5EF4-FFF2-40B4-BE49-F238E27FC236}">
                <a16:creationId xmlns:a16="http://schemas.microsoft.com/office/drawing/2014/main" id="{BEE5F5A1-9FE4-C4A1-9834-1D8D14E876F0}"/>
              </a:ext>
            </a:extLst>
          </p:cNvPr>
          <p:cNvSpPr/>
          <p:nvPr/>
        </p:nvSpPr>
        <p:spPr>
          <a:xfrm>
            <a:off x="3173476" y="5747004"/>
            <a:ext cx="118872" cy="118872"/>
          </a:xfrm>
          <a:prstGeom prst="diamond">
            <a:avLst/>
          </a:prstGeom>
          <a:solidFill>
            <a:srgbClr val="FFFFFF"/>
          </a:solidFill>
          <a:ln w="22225">
            <a:solidFill>
              <a:srgbClr val="6B7785"/>
            </a:solidFill>
            <a:prstDash val="solid"/>
          </a:ln>
        </p:spPr>
        <p:txBody>
          <a:bodyPr/>
          <a:lstStyle/>
          <a:p>
            <a:endParaRPr lang="en-GB"/>
          </a:p>
        </p:txBody>
      </p:sp>
      <p:sp>
        <p:nvSpPr>
          <p:cNvPr id="88" name="Text 82">
            <a:extLst>
              <a:ext uri="{FF2B5EF4-FFF2-40B4-BE49-F238E27FC236}">
                <a16:creationId xmlns:a16="http://schemas.microsoft.com/office/drawing/2014/main" id="{52208917-1B5F-1FC1-31A6-4F3370CC484A}"/>
              </a:ext>
            </a:extLst>
          </p:cNvPr>
          <p:cNvSpPr/>
          <p:nvPr/>
        </p:nvSpPr>
        <p:spPr>
          <a:xfrm>
            <a:off x="2468880" y="5376672"/>
            <a:ext cx="2286000" cy="237744"/>
          </a:xfrm>
          <a:prstGeom prst="rect">
            <a:avLst/>
          </a:prstGeom>
          <a:noFill/>
          <a:ln/>
        </p:spPr>
        <p:txBody>
          <a:bodyPr wrap="square" lIns="0" tIns="0" rIns="0" bIns="0" rtlCol="0" anchor="ctr"/>
          <a:lstStyle/>
          <a:p>
            <a:pPr marL="0" indent="0" algn="ctr">
              <a:buNone/>
            </a:pPr>
            <a:r>
              <a:rPr lang="en-US" sz="760" b="1" dirty="0">
                <a:solidFill>
                  <a:srgbClr val="6B7785"/>
                </a:solidFill>
                <a:latin typeface="Calibri" pitchFamily="34" charset="0"/>
                <a:ea typeface="Calibri" pitchFamily="34" charset="-122"/>
                <a:cs typeface="Calibri" pitchFamily="34" charset="-120"/>
              </a:rPr>
              <a:t>MOU signed, Sep-25</a:t>
            </a:r>
            <a:endParaRPr lang="en-US" sz="760" dirty="0"/>
          </a:p>
        </p:txBody>
      </p:sp>
      <p:sp>
        <p:nvSpPr>
          <p:cNvPr id="89" name="Shape 83">
            <a:extLst>
              <a:ext uri="{FF2B5EF4-FFF2-40B4-BE49-F238E27FC236}">
                <a16:creationId xmlns:a16="http://schemas.microsoft.com/office/drawing/2014/main" id="{CCD92D7C-98FF-6530-32BB-3DB2A2C9A138}"/>
              </a:ext>
            </a:extLst>
          </p:cNvPr>
          <p:cNvSpPr/>
          <p:nvPr/>
        </p:nvSpPr>
        <p:spPr>
          <a:xfrm>
            <a:off x="7585964" y="5747004"/>
            <a:ext cx="118872" cy="118872"/>
          </a:xfrm>
          <a:prstGeom prst="diamond">
            <a:avLst/>
          </a:prstGeom>
          <a:solidFill>
            <a:srgbClr val="FFFFFF"/>
          </a:solidFill>
          <a:ln w="22225">
            <a:solidFill>
              <a:srgbClr val="C77B17"/>
            </a:solidFill>
            <a:prstDash val="solid"/>
          </a:ln>
        </p:spPr>
        <p:txBody>
          <a:bodyPr/>
          <a:lstStyle/>
          <a:p>
            <a:endParaRPr lang="en-GB"/>
          </a:p>
        </p:txBody>
      </p:sp>
      <p:sp>
        <p:nvSpPr>
          <p:cNvPr id="90" name="Text 84">
            <a:extLst>
              <a:ext uri="{FF2B5EF4-FFF2-40B4-BE49-F238E27FC236}">
                <a16:creationId xmlns:a16="http://schemas.microsoft.com/office/drawing/2014/main" id="{B5E1E374-5914-16DC-C9D5-CFC778D5B701}"/>
              </a:ext>
            </a:extLst>
          </p:cNvPr>
          <p:cNvSpPr/>
          <p:nvPr/>
        </p:nvSpPr>
        <p:spPr>
          <a:xfrm>
            <a:off x="6502400" y="6053328"/>
            <a:ext cx="2286000" cy="237744"/>
          </a:xfrm>
          <a:prstGeom prst="rect">
            <a:avLst/>
          </a:prstGeom>
          <a:noFill/>
          <a:ln/>
        </p:spPr>
        <p:txBody>
          <a:bodyPr wrap="square" lIns="0" tIns="0" rIns="0" bIns="0" rtlCol="0" anchor="ctr"/>
          <a:lstStyle/>
          <a:p>
            <a:pPr marL="0" indent="0" algn="ctr">
              <a:buNone/>
            </a:pPr>
            <a:r>
              <a:rPr lang="en-US" sz="760" b="1" dirty="0">
                <a:solidFill>
                  <a:srgbClr val="C77B17"/>
                </a:solidFill>
                <a:latin typeface="Calibri" pitchFamily="34" charset="0"/>
                <a:ea typeface="Calibri" pitchFamily="34" charset="-122"/>
                <a:cs typeface="Calibri" pitchFamily="34" charset="-120"/>
              </a:rPr>
              <a:t>Operations targeted, 2030</a:t>
            </a:r>
            <a:endParaRPr lang="en-US" sz="760" dirty="0"/>
          </a:p>
        </p:txBody>
      </p:sp>
      <p:sp>
        <p:nvSpPr>
          <p:cNvPr id="91" name="Shape 85">
            <a:extLst>
              <a:ext uri="{FF2B5EF4-FFF2-40B4-BE49-F238E27FC236}">
                <a16:creationId xmlns:a16="http://schemas.microsoft.com/office/drawing/2014/main" id="{E3C9D738-87C1-3BC9-E897-DECD42FDCBB4}"/>
              </a:ext>
            </a:extLst>
          </p:cNvPr>
          <p:cNvSpPr/>
          <p:nvPr/>
        </p:nvSpPr>
        <p:spPr>
          <a:xfrm>
            <a:off x="2514600" y="1426464"/>
            <a:ext cx="0" cy="4974336"/>
          </a:xfrm>
          <a:prstGeom prst="line">
            <a:avLst/>
          </a:prstGeom>
          <a:noFill/>
          <a:ln w="12700">
            <a:solidFill>
              <a:srgbClr val="C7D2DC"/>
            </a:solidFill>
            <a:prstDash val="solid"/>
          </a:ln>
        </p:spPr>
        <p:txBody>
          <a:bodyPr/>
          <a:lstStyle/>
          <a:p>
            <a:endParaRPr lang="en-GB"/>
          </a:p>
        </p:txBody>
      </p:sp>
      <p:sp>
        <p:nvSpPr>
          <p:cNvPr id="92" name="Shape 86">
            <a:extLst>
              <a:ext uri="{FF2B5EF4-FFF2-40B4-BE49-F238E27FC236}">
                <a16:creationId xmlns:a16="http://schemas.microsoft.com/office/drawing/2014/main" id="{CF84D250-C055-584D-6C93-7CB99670290D}"/>
              </a:ext>
            </a:extLst>
          </p:cNvPr>
          <p:cNvSpPr/>
          <p:nvPr/>
        </p:nvSpPr>
        <p:spPr>
          <a:xfrm>
            <a:off x="4053840" y="1280160"/>
            <a:ext cx="0" cy="5120640"/>
          </a:xfrm>
          <a:prstGeom prst="line">
            <a:avLst/>
          </a:prstGeom>
          <a:noFill/>
          <a:ln w="15875">
            <a:solidFill>
              <a:srgbClr val="12233D"/>
            </a:solidFill>
            <a:prstDash val="lgDash"/>
          </a:ln>
        </p:spPr>
        <p:txBody>
          <a:bodyPr/>
          <a:lstStyle/>
          <a:p>
            <a:endParaRPr lang="en-GB"/>
          </a:p>
        </p:txBody>
      </p:sp>
      <p:sp>
        <p:nvSpPr>
          <p:cNvPr id="93" name="Shape 87">
            <a:extLst>
              <a:ext uri="{FF2B5EF4-FFF2-40B4-BE49-F238E27FC236}">
                <a16:creationId xmlns:a16="http://schemas.microsoft.com/office/drawing/2014/main" id="{28C1ED9E-819F-D563-3B19-CD5CD74FE418}"/>
              </a:ext>
            </a:extLst>
          </p:cNvPr>
          <p:cNvSpPr/>
          <p:nvPr/>
        </p:nvSpPr>
        <p:spPr>
          <a:xfrm>
            <a:off x="4017264" y="1234440"/>
            <a:ext cx="73152" cy="73152"/>
          </a:xfrm>
          <a:prstGeom prst="ellipse">
            <a:avLst/>
          </a:prstGeom>
          <a:solidFill>
            <a:srgbClr val="12233D"/>
          </a:solidFill>
          <a:ln/>
        </p:spPr>
        <p:txBody>
          <a:bodyPr/>
          <a:lstStyle/>
          <a:p>
            <a:endParaRPr lang="en-GB"/>
          </a:p>
        </p:txBody>
      </p:sp>
      <p:sp>
        <p:nvSpPr>
          <p:cNvPr id="94" name="Text 88">
            <a:extLst>
              <a:ext uri="{FF2B5EF4-FFF2-40B4-BE49-F238E27FC236}">
                <a16:creationId xmlns:a16="http://schemas.microsoft.com/office/drawing/2014/main" id="{AC902695-DA01-C687-EC2A-AFC4DA39512E}"/>
              </a:ext>
            </a:extLst>
          </p:cNvPr>
          <p:cNvSpPr/>
          <p:nvPr/>
        </p:nvSpPr>
        <p:spPr>
          <a:xfrm>
            <a:off x="3688080" y="1060704"/>
            <a:ext cx="731520" cy="182880"/>
          </a:xfrm>
          <a:prstGeom prst="rect">
            <a:avLst/>
          </a:prstGeom>
          <a:noFill/>
          <a:ln/>
        </p:spPr>
        <p:txBody>
          <a:bodyPr wrap="square" lIns="0" tIns="0" rIns="0" bIns="0" rtlCol="0" anchor="ctr"/>
          <a:lstStyle/>
          <a:p>
            <a:pPr marL="0" indent="0" algn="ctr">
              <a:buNone/>
            </a:pPr>
            <a:r>
              <a:rPr lang="en-US" sz="800" b="1" kern="0" spc="50" dirty="0">
                <a:solidFill>
                  <a:srgbClr val="12233D"/>
                </a:solidFill>
                <a:latin typeface="Calibri" pitchFamily="34" charset="0"/>
                <a:ea typeface="Calibri" pitchFamily="34" charset="-122"/>
                <a:cs typeface="Calibri" pitchFamily="34" charset="-120"/>
              </a:rPr>
              <a:t>TODAY</a:t>
            </a:r>
            <a:endParaRPr lang="en-US" sz="800" dirty="0"/>
          </a:p>
        </p:txBody>
      </p:sp>
      <p:pic>
        <p:nvPicPr>
          <p:cNvPr id="5" name="Picture 4">
            <a:extLst>
              <a:ext uri="{FF2B5EF4-FFF2-40B4-BE49-F238E27FC236}">
                <a16:creationId xmlns:a16="http://schemas.microsoft.com/office/drawing/2014/main" id="{1332CB8B-B141-0EF5-2FDD-8DC03BACFB3E}"/>
              </a:ext>
            </a:extLst>
          </p:cNvPr>
          <p:cNvPicPr>
            <a:picLocks noChangeAspect="1"/>
          </p:cNvPicPr>
          <p:nvPr/>
        </p:nvPicPr>
        <p:blipFill>
          <a:blip r:embed="rId7"/>
          <a:stretch>
            <a:fillRect/>
          </a:stretch>
        </p:blipFill>
        <p:spPr>
          <a:xfrm>
            <a:off x="11094418" y="10367"/>
            <a:ext cx="1097277" cy="1128042"/>
          </a:xfrm>
          <a:prstGeom prst="rect">
            <a:avLst/>
          </a:prstGeom>
        </p:spPr>
      </p:pic>
      <p:sp>
        <p:nvSpPr>
          <p:cNvPr id="97" name="TextBox 96">
            <a:extLst>
              <a:ext uri="{FF2B5EF4-FFF2-40B4-BE49-F238E27FC236}">
                <a16:creationId xmlns:a16="http://schemas.microsoft.com/office/drawing/2014/main" id="{0B6CA3BD-1A6C-5E8F-6569-29CAA880C080}"/>
              </a:ext>
            </a:extLst>
          </p:cNvPr>
          <p:cNvSpPr txBox="1"/>
          <p:nvPr/>
        </p:nvSpPr>
        <p:spPr>
          <a:xfrm>
            <a:off x="44118" y="6654109"/>
            <a:ext cx="12152376" cy="200055"/>
          </a:xfrm>
          <a:prstGeom prst="rect">
            <a:avLst/>
          </a:prstGeom>
          <a:noFill/>
        </p:spPr>
        <p:txBody>
          <a:bodyPr wrap="square">
            <a:spAutoFit/>
          </a:bodyPr>
          <a:lstStyle/>
          <a:p>
            <a:pPr algn="ctr"/>
            <a:r>
              <a:rPr lang="en-GB" sz="700" b="1" i="0" u="none" strike="noStrike" noProof="0" dirty="0">
                <a:solidFill>
                  <a:srgbClr val="757575"/>
                </a:solidFill>
                <a:effectLst/>
                <a:latin typeface="Aptos Narrow" panose="020B0004020202020204" pitchFamily="34" charset="0"/>
              </a:rPr>
              <a:t>Commercial in Confidence - This document contains proprietary and commercially sensitive information. It is intended solely for the recipient(s) and should not be disclosed or distributed without written permission from Nuclear Collaboration Ltd (NucCol ltd) Co. no. 15937779 </a:t>
            </a:r>
            <a:r>
              <a:rPr lang="en-GB" sz="700" b="1" i="0" noProof="0" dirty="0">
                <a:solidFill>
                  <a:srgbClr val="000000"/>
                </a:solidFill>
                <a:effectLst/>
                <a:latin typeface="Aptos Narrow" panose="020B0004020202020204" pitchFamily="34" charset="0"/>
              </a:rPr>
              <a:t>​</a:t>
            </a:r>
            <a:endParaRPr lang="en-GB" sz="700" b="1" noProof="0" dirty="0"/>
          </a:p>
        </p:txBody>
      </p:sp>
      <p:pic>
        <p:nvPicPr>
          <p:cNvPr id="95" name="Picture 94" descr="Holtec Britain - Holtec International">
            <a:extLst>
              <a:ext uri="{FF2B5EF4-FFF2-40B4-BE49-F238E27FC236}">
                <a16:creationId xmlns:a16="http://schemas.microsoft.com/office/drawing/2014/main" id="{2539A268-F01B-F9DC-4869-6F85FDC074CB}"/>
              </a:ext>
            </a:extLst>
          </p:cNvPr>
          <p:cNvPicPr>
            <a:picLocks noChangeAspect="1"/>
          </p:cNvPicPr>
          <p:nvPr/>
        </p:nvPicPr>
        <p:blipFill>
          <a:blip r:embed="rId8"/>
          <a:stretch>
            <a:fillRect/>
          </a:stretch>
        </p:blipFill>
        <p:spPr>
          <a:xfrm>
            <a:off x="412650" y="1497400"/>
            <a:ext cx="546301" cy="341439"/>
          </a:xfrm>
          <a:prstGeom prst="rect">
            <a:avLst/>
          </a:prstGeom>
        </p:spPr>
      </p:pic>
      <p:pic>
        <p:nvPicPr>
          <p:cNvPr id="96" name="Picture 95" descr="Westinghouse Electric Corporation - Wikipedia">
            <a:extLst>
              <a:ext uri="{FF2B5EF4-FFF2-40B4-BE49-F238E27FC236}">
                <a16:creationId xmlns:a16="http://schemas.microsoft.com/office/drawing/2014/main" id="{696A4806-F3E9-803C-DC69-CA2724C76360}"/>
              </a:ext>
            </a:extLst>
          </p:cNvPr>
          <p:cNvPicPr>
            <a:picLocks noChangeAspect="1"/>
          </p:cNvPicPr>
          <p:nvPr/>
        </p:nvPicPr>
        <p:blipFill>
          <a:blip r:embed="rId9"/>
          <a:stretch>
            <a:fillRect/>
          </a:stretch>
        </p:blipFill>
        <p:spPr>
          <a:xfrm>
            <a:off x="245243" y="2850745"/>
            <a:ext cx="654715" cy="212495"/>
          </a:xfrm>
          <a:prstGeom prst="rect">
            <a:avLst/>
          </a:prstGeom>
        </p:spPr>
      </p:pic>
      <p:pic>
        <p:nvPicPr>
          <p:cNvPr id="98" name="Picture 97">
            <a:extLst>
              <a:ext uri="{FF2B5EF4-FFF2-40B4-BE49-F238E27FC236}">
                <a16:creationId xmlns:a16="http://schemas.microsoft.com/office/drawing/2014/main" id="{0C44F41C-0AF4-C00C-C45F-76D6DD66E694}"/>
              </a:ext>
            </a:extLst>
          </p:cNvPr>
          <p:cNvPicPr>
            <a:picLocks noChangeAspect="1"/>
          </p:cNvPicPr>
          <p:nvPr/>
        </p:nvPicPr>
        <p:blipFill>
          <a:blip r:embed="rId10"/>
          <a:stretch>
            <a:fillRect/>
          </a:stretch>
        </p:blipFill>
        <p:spPr>
          <a:xfrm>
            <a:off x="253684" y="4033822"/>
            <a:ext cx="706436" cy="253395"/>
          </a:xfrm>
          <a:prstGeom prst="rect">
            <a:avLst/>
          </a:prstGeom>
        </p:spPr>
      </p:pic>
      <p:pic>
        <p:nvPicPr>
          <p:cNvPr id="99" name="Picture 98">
            <a:extLst>
              <a:ext uri="{FF2B5EF4-FFF2-40B4-BE49-F238E27FC236}">
                <a16:creationId xmlns:a16="http://schemas.microsoft.com/office/drawing/2014/main" id="{5AA2D623-593A-0A31-E088-B57EE07FDABE}"/>
              </a:ext>
            </a:extLst>
          </p:cNvPr>
          <p:cNvPicPr>
            <a:picLocks noChangeAspect="1"/>
          </p:cNvPicPr>
          <p:nvPr/>
        </p:nvPicPr>
        <p:blipFill>
          <a:blip r:embed="rId11"/>
          <a:stretch>
            <a:fillRect/>
          </a:stretch>
        </p:blipFill>
        <p:spPr>
          <a:xfrm>
            <a:off x="372884" y="5303520"/>
            <a:ext cx="632956" cy="254785"/>
          </a:xfrm>
          <a:prstGeom prst="rect">
            <a:avLst/>
          </a:prstGeom>
        </p:spPr>
      </p:pic>
      <p:sp>
        <p:nvSpPr>
          <p:cNvPr id="79" name="Text 74">
            <a:extLst>
              <a:ext uri="{FF2B5EF4-FFF2-40B4-BE49-F238E27FC236}">
                <a16:creationId xmlns:a16="http://schemas.microsoft.com/office/drawing/2014/main" id="{52AE15E9-74D0-E4BE-C3C3-8AAD7A6DB74F}"/>
              </a:ext>
            </a:extLst>
          </p:cNvPr>
          <p:cNvSpPr/>
          <p:nvPr/>
        </p:nvSpPr>
        <p:spPr>
          <a:xfrm>
            <a:off x="10062210" y="4178809"/>
            <a:ext cx="2286000" cy="237744"/>
          </a:xfrm>
          <a:prstGeom prst="rect">
            <a:avLst/>
          </a:prstGeom>
          <a:noFill/>
          <a:ln/>
        </p:spPr>
        <p:txBody>
          <a:bodyPr wrap="square" lIns="0" tIns="0" rIns="0" bIns="0" rtlCol="0" anchor="ctr"/>
          <a:lstStyle/>
          <a:p>
            <a:pPr marL="0" indent="0" algn="ctr">
              <a:buNone/>
            </a:pPr>
            <a:r>
              <a:rPr lang="en-US" sz="760" b="1" dirty="0">
                <a:solidFill>
                  <a:srgbClr val="1E8E5A"/>
                </a:solidFill>
                <a:latin typeface="Calibri" pitchFamily="34" charset="0"/>
                <a:ea typeface="Calibri" pitchFamily="34" charset="-122"/>
                <a:cs typeface="Calibri" pitchFamily="34" charset="-120"/>
              </a:rPr>
              <a:t>First power, mid-2030s</a:t>
            </a:r>
            <a:endParaRPr lang="en-US" sz="760" dirty="0"/>
          </a:p>
        </p:txBody>
      </p:sp>
    </p:spTree>
    <p:extLst>
      <p:ext uri="{BB962C8B-B14F-4D97-AF65-F5344CB8AC3E}">
        <p14:creationId xmlns:p14="http://schemas.microsoft.com/office/powerpoint/2010/main" val="60913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4BD263CB-1F78-7546-2D17-1CC7FF2DA59F}"/>
              </a:ext>
            </a:extLst>
          </p:cNvPr>
          <p:cNvSpPr/>
          <p:nvPr/>
        </p:nvSpPr>
        <p:spPr>
          <a:xfrm>
            <a:off x="0" y="0"/>
            <a:ext cx="1219200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 name="Text 0"/>
          <p:cNvSpPr/>
          <p:nvPr/>
        </p:nvSpPr>
        <p:spPr>
          <a:xfrm>
            <a:off x="457200" y="292608"/>
            <a:ext cx="11247120" cy="54864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                    </a:t>
            </a:r>
            <a:r>
              <a:rPr lang="en-US" sz="3000" b="1" dirty="0">
                <a:solidFill>
                  <a:schemeClr val="accent5"/>
                </a:solidFill>
                <a:latin typeface="Aptos" panose="020B0004020202020204" pitchFamily="34" charset="0"/>
              </a:rPr>
              <a:t>BWRX-300: 2026 </a:t>
            </a:r>
            <a:r>
              <a:rPr lang="en-US" sz="3000" b="1" dirty="0" err="1">
                <a:solidFill>
                  <a:schemeClr val="accent5"/>
                </a:solidFill>
                <a:latin typeface="Aptos" panose="020B0004020202020204" pitchFamily="34" charset="0"/>
              </a:rPr>
              <a:t>Programme</a:t>
            </a:r>
            <a:r>
              <a:rPr lang="en-US" sz="3000" b="1" dirty="0">
                <a:solidFill>
                  <a:schemeClr val="accent5"/>
                </a:solidFill>
                <a:latin typeface="Aptos" panose="020B0004020202020204" pitchFamily="34" charset="0"/>
              </a:rPr>
              <a:t> Update</a:t>
            </a:r>
          </a:p>
        </p:txBody>
      </p:sp>
      <p:sp>
        <p:nvSpPr>
          <p:cNvPr id="3" name="Text 1"/>
          <p:cNvSpPr/>
          <p:nvPr/>
        </p:nvSpPr>
        <p:spPr>
          <a:xfrm>
            <a:off x="457200" y="786384"/>
            <a:ext cx="11247120" cy="320040"/>
          </a:xfrm>
          <a:prstGeom prst="rect">
            <a:avLst/>
          </a:prstGeom>
          <a:noFill/>
          <a:ln/>
        </p:spPr>
        <p:txBody>
          <a:bodyPr wrap="square" lIns="0" tIns="0" rIns="0" bIns="0" rtlCol="0" anchor="ctr"/>
          <a:lstStyle/>
          <a:p>
            <a:pPr marL="0" indent="0">
              <a:buNone/>
            </a:pPr>
            <a:r>
              <a:rPr lang="en-US" sz="1400" i="1" dirty="0">
                <a:solidFill>
                  <a:schemeClr val="tx1"/>
                </a:solidFill>
                <a:latin typeface="Calibri" pitchFamily="34" charset="0"/>
                <a:ea typeface="Calibri" pitchFamily="34" charset="-122"/>
                <a:cs typeface="Calibri" pitchFamily="34" charset="-120"/>
              </a:rPr>
              <a:t>UK nuclear sector briefing for manufacturing supply chain partners</a:t>
            </a:r>
            <a:endParaRPr lang="en-US" sz="1400" dirty="0">
              <a:solidFill>
                <a:schemeClr val="tx1"/>
              </a:solidFill>
            </a:endParaRPr>
          </a:p>
        </p:txBody>
      </p:sp>
      <p:sp>
        <p:nvSpPr>
          <p:cNvPr id="4" name="Shape 2"/>
          <p:cNvSpPr/>
          <p:nvPr/>
        </p:nvSpPr>
        <p:spPr>
          <a:xfrm>
            <a:off x="45720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p>
        </p:txBody>
      </p:sp>
      <p:pic>
        <p:nvPicPr>
          <p:cNvPr id="5" name="Image 0" descr="preencoded.png"/>
          <p:cNvPicPr>
            <a:picLocks noChangeAspect="1"/>
          </p:cNvPicPr>
          <p:nvPr/>
        </p:nvPicPr>
        <p:blipFill>
          <a:blip r:embed="rId3"/>
          <a:stretch>
            <a:fillRect/>
          </a:stretch>
        </p:blipFill>
        <p:spPr>
          <a:xfrm>
            <a:off x="621792" y="1481328"/>
            <a:ext cx="365760" cy="365760"/>
          </a:xfrm>
          <a:prstGeom prst="rect">
            <a:avLst/>
          </a:prstGeom>
        </p:spPr>
      </p:pic>
      <p:sp>
        <p:nvSpPr>
          <p:cNvPr id="6" name="Text 3"/>
          <p:cNvSpPr/>
          <p:nvPr/>
        </p:nvSpPr>
        <p:spPr>
          <a:xfrm>
            <a:off x="109728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GDA Step 2</a:t>
            </a:r>
            <a:endParaRPr lang="en-US" sz="1600" dirty="0"/>
          </a:p>
        </p:txBody>
      </p:sp>
      <p:sp>
        <p:nvSpPr>
          <p:cNvPr id="7" name="Text 4"/>
          <p:cNvSpPr/>
          <p:nvPr/>
        </p:nvSpPr>
        <p:spPr>
          <a:xfrm>
            <a:off x="62179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Completed 21 Jan 2026 —</a:t>
            </a:r>
            <a:endParaRPr lang="en-US" sz="950" dirty="0"/>
          </a:p>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fastest UK GDA to date</a:t>
            </a:r>
            <a:endParaRPr lang="en-US" sz="950" dirty="0"/>
          </a:p>
        </p:txBody>
      </p:sp>
      <p:sp>
        <p:nvSpPr>
          <p:cNvPr id="8" name="Shape 5"/>
          <p:cNvSpPr/>
          <p:nvPr/>
        </p:nvSpPr>
        <p:spPr>
          <a:xfrm>
            <a:off x="329184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p>
        </p:txBody>
      </p:sp>
      <p:pic>
        <p:nvPicPr>
          <p:cNvPr id="9" name="Image 1" descr="preencoded.png"/>
          <p:cNvPicPr>
            <a:picLocks noChangeAspect="1"/>
          </p:cNvPicPr>
          <p:nvPr/>
        </p:nvPicPr>
        <p:blipFill>
          <a:blip r:embed="rId4"/>
          <a:stretch>
            <a:fillRect/>
          </a:stretch>
        </p:blipFill>
        <p:spPr>
          <a:xfrm>
            <a:off x="3456432" y="1481328"/>
            <a:ext cx="365760" cy="365760"/>
          </a:xfrm>
          <a:prstGeom prst="rect">
            <a:avLst/>
          </a:prstGeom>
        </p:spPr>
      </p:pic>
      <p:sp>
        <p:nvSpPr>
          <p:cNvPr id="10" name="Text 6"/>
          <p:cNvSpPr/>
          <p:nvPr/>
        </p:nvSpPr>
        <p:spPr>
          <a:xfrm>
            <a:off x="393192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14 units</a:t>
            </a:r>
            <a:endParaRPr lang="en-US" sz="1600" dirty="0"/>
          </a:p>
        </p:txBody>
      </p:sp>
      <p:sp>
        <p:nvSpPr>
          <p:cNvPr id="11" name="Text 7"/>
          <p:cNvSpPr/>
          <p:nvPr/>
        </p:nvSpPr>
        <p:spPr>
          <a:xfrm>
            <a:off x="345643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SGE fleet proposal:</a:t>
            </a:r>
            <a:endParaRPr lang="en-US" sz="950" dirty="0"/>
          </a:p>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4.2GW across 3 UK sites</a:t>
            </a:r>
            <a:endParaRPr lang="en-US" sz="950" dirty="0"/>
          </a:p>
        </p:txBody>
      </p:sp>
      <p:sp>
        <p:nvSpPr>
          <p:cNvPr id="12" name="Shape 8"/>
          <p:cNvSpPr/>
          <p:nvPr/>
        </p:nvSpPr>
        <p:spPr>
          <a:xfrm>
            <a:off x="612648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p>
        </p:txBody>
      </p:sp>
      <p:pic>
        <p:nvPicPr>
          <p:cNvPr id="13" name="Image 2" descr="preencoded.png"/>
          <p:cNvPicPr>
            <a:picLocks noChangeAspect="1"/>
          </p:cNvPicPr>
          <p:nvPr/>
        </p:nvPicPr>
        <p:blipFill>
          <a:blip r:embed="rId5"/>
          <a:stretch>
            <a:fillRect/>
          </a:stretch>
        </p:blipFill>
        <p:spPr>
          <a:xfrm>
            <a:off x="6291072" y="1481328"/>
            <a:ext cx="365760" cy="365760"/>
          </a:xfrm>
          <a:prstGeom prst="rect">
            <a:avLst/>
          </a:prstGeom>
        </p:spPr>
      </p:pic>
      <p:sp>
        <p:nvSpPr>
          <p:cNvPr id="14" name="Text 9"/>
          <p:cNvSpPr/>
          <p:nvPr/>
        </p:nvSpPr>
        <p:spPr>
          <a:xfrm>
            <a:off x="676656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£35bn</a:t>
            </a:r>
            <a:endParaRPr lang="en-US" sz="1600" dirty="0"/>
          </a:p>
        </p:txBody>
      </p:sp>
      <p:sp>
        <p:nvSpPr>
          <p:cNvPr id="15" name="Text 10"/>
          <p:cNvSpPr/>
          <p:nvPr/>
        </p:nvSpPr>
        <p:spPr>
          <a:xfrm>
            <a:off x="629107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SGE investment target;</a:t>
            </a:r>
            <a:endParaRPr lang="en-US" sz="950" dirty="0"/>
          </a:p>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first power sought by 2034</a:t>
            </a:r>
            <a:endParaRPr lang="en-US" sz="950" dirty="0"/>
          </a:p>
        </p:txBody>
      </p:sp>
      <p:sp>
        <p:nvSpPr>
          <p:cNvPr id="16" name="Shape 11"/>
          <p:cNvSpPr/>
          <p:nvPr/>
        </p:nvSpPr>
        <p:spPr>
          <a:xfrm>
            <a:off x="896112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p>
        </p:txBody>
      </p:sp>
      <p:pic>
        <p:nvPicPr>
          <p:cNvPr id="17" name="Image 3" descr="preencoded.png"/>
          <p:cNvPicPr>
            <a:picLocks noChangeAspect="1"/>
          </p:cNvPicPr>
          <p:nvPr/>
        </p:nvPicPr>
        <p:blipFill>
          <a:blip r:embed="rId6"/>
          <a:stretch>
            <a:fillRect/>
          </a:stretch>
        </p:blipFill>
        <p:spPr>
          <a:xfrm>
            <a:off x="9125712" y="1481328"/>
            <a:ext cx="365760" cy="365760"/>
          </a:xfrm>
          <a:prstGeom prst="rect">
            <a:avLst/>
          </a:prstGeom>
        </p:spPr>
      </p:pic>
      <p:sp>
        <p:nvSpPr>
          <p:cNvPr id="18" name="Text 12"/>
          <p:cNvSpPr/>
          <p:nvPr/>
        </p:nvSpPr>
        <p:spPr>
          <a:xfrm>
            <a:off x="960120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1st in G7</a:t>
            </a:r>
            <a:endParaRPr lang="en-US" sz="1600" dirty="0"/>
          </a:p>
        </p:txBody>
      </p:sp>
      <p:sp>
        <p:nvSpPr>
          <p:cNvPr id="19" name="Text 13"/>
          <p:cNvSpPr/>
          <p:nvPr/>
        </p:nvSpPr>
        <p:spPr>
          <a:xfrm>
            <a:off x="912571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BWRX-300 under construction</a:t>
            </a:r>
            <a:endParaRPr lang="en-US" sz="950" dirty="0"/>
          </a:p>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at Darlington, Canada</a:t>
            </a:r>
            <a:endParaRPr lang="en-US" sz="950" dirty="0"/>
          </a:p>
        </p:txBody>
      </p:sp>
      <p:sp>
        <p:nvSpPr>
          <p:cNvPr id="20" name="Text 14"/>
          <p:cNvSpPr/>
          <p:nvPr/>
        </p:nvSpPr>
        <p:spPr>
          <a:xfrm>
            <a:off x="457200" y="2606040"/>
            <a:ext cx="7040880" cy="274320"/>
          </a:xfrm>
          <a:prstGeom prst="rect">
            <a:avLst/>
          </a:prstGeom>
          <a:noFill/>
          <a:ln/>
        </p:spPr>
        <p:txBody>
          <a:bodyPr wrap="square" lIns="0" tIns="0" rIns="0" bIns="0" rtlCol="0" anchor="ctr"/>
          <a:lstStyle/>
          <a:p>
            <a:pPr marL="0" indent="0">
              <a:buNone/>
            </a:pPr>
            <a:r>
              <a:rPr lang="en-US" sz="1300" b="1" kern="0" spc="100" dirty="0">
                <a:solidFill>
                  <a:schemeClr val="tx1"/>
                </a:solidFill>
                <a:latin typeface="Calibri" pitchFamily="34" charset="0"/>
                <a:ea typeface="Calibri" pitchFamily="34" charset="-122"/>
                <a:cs typeface="Calibri" pitchFamily="34" charset="-120"/>
              </a:rPr>
              <a:t>2025–26 STATUS TIMELINE</a:t>
            </a:r>
            <a:endParaRPr lang="en-US" sz="1300" dirty="0">
              <a:solidFill>
                <a:schemeClr val="tx1"/>
              </a:solidFill>
            </a:endParaRPr>
          </a:p>
        </p:txBody>
      </p:sp>
      <p:sp>
        <p:nvSpPr>
          <p:cNvPr id="21" name="Shape 15"/>
          <p:cNvSpPr/>
          <p:nvPr/>
        </p:nvSpPr>
        <p:spPr>
          <a:xfrm>
            <a:off x="1280160" y="2990088"/>
            <a:ext cx="0" cy="3108960"/>
          </a:xfrm>
          <a:prstGeom prst="line">
            <a:avLst/>
          </a:prstGeom>
          <a:noFill/>
          <a:ln w="19050">
            <a:solidFill>
              <a:srgbClr val="2A4670"/>
            </a:solidFill>
            <a:prstDash val="solid"/>
          </a:ln>
        </p:spPr>
        <p:txBody>
          <a:bodyPr/>
          <a:lstStyle/>
          <a:p>
            <a:endParaRPr lang="en-GB" sz="1050">
              <a:solidFill>
                <a:schemeClr val="tx1"/>
              </a:solidFill>
              <a:latin typeface="Aptos" panose="020B0004020202020204" pitchFamily="34" charset="0"/>
            </a:endParaRPr>
          </a:p>
        </p:txBody>
      </p:sp>
      <p:sp>
        <p:nvSpPr>
          <p:cNvPr id="22" name="Text 16"/>
          <p:cNvSpPr/>
          <p:nvPr/>
        </p:nvSpPr>
        <p:spPr>
          <a:xfrm>
            <a:off x="457200" y="2971800"/>
            <a:ext cx="731520" cy="365760"/>
          </a:xfrm>
          <a:prstGeom prst="rect">
            <a:avLst/>
          </a:prstGeom>
          <a:noFill/>
          <a:ln/>
        </p:spPr>
        <p:txBody>
          <a:bodyPr wrap="square" lIns="0" tIns="0" rIns="0" bIns="0" rtlCol="0" anchor="ctr"/>
          <a:lstStyle/>
          <a:p>
            <a:pPr marL="0" indent="0" algn="r">
              <a:buNone/>
            </a:pPr>
            <a:r>
              <a:rPr lang="en-US" sz="1050" b="1" dirty="0">
                <a:solidFill>
                  <a:schemeClr val="tx1"/>
                </a:solidFill>
                <a:latin typeface="Aptos" panose="020B0004020202020204" pitchFamily="34" charset="0"/>
                <a:ea typeface="Calibri" pitchFamily="34" charset="-122"/>
                <a:cs typeface="Calibri" pitchFamily="34" charset="-120"/>
              </a:rPr>
              <a:t>Apr '25</a:t>
            </a:r>
            <a:endParaRPr lang="en-US" sz="1050" dirty="0">
              <a:solidFill>
                <a:schemeClr val="tx1"/>
              </a:solidFill>
              <a:latin typeface="Aptos" panose="020B0004020202020204" pitchFamily="34" charset="0"/>
            </a:endParaRPr>
          </a:p>
        </p:txBody>
      </p:sp>
      <p:sp>
        <p:nvSpPr>
          <p:cNvPr id="23" name="Shape 17"/>
          <p:cNvSpPr/>
          <p:nvPr/>
        </p:nvSpPr>
        <p:spPr>
          <a:xfrm>
            <a:off x="1216152" y="3026664"/>
            <a:ext cx="128016" cy="128016"/>
          </a:xfrm>
          <a:prstGeom prst="ellipse">
            <a:avLst/>
          </a:prstGeom>
          <a:solidFill>
            <a:srgbClr val="1FB6A6"/>
          </a:solidFill>
          <a:ln w="19050">
            <a:solidFill>
              <a:srgbClr val="0B1F3A"/>
            </a:solidFill>
            <a:prstDash val="solid"/>
          </a:ln>
        </p:spPr>
        <p:txBody>
          <a:bodyPr/>
          <a:lstStyle/>
          <a:p>
            <a:endParaRPr lang="en-GB" sz="1050">
              <a:solidFill>
                <a:schemeClr val="tx1"/>
              </a:solidFill>
              <a:latin typeface="Aptos" panose="020B0004020202020204" pitchFamily="34" charset="0"/>
            </a:endParaRPr>
          </a:p>
        </p:txBody>
      </p:sp>
      <p:sp>
        <p:nvSpPr>
          <p:cNvPr id="24" name="Text 18"/>
          <p:cNvSpPr/>
          <p:nvPr/>
        </p:nvSpPr>
        <p:spPr>
          <a:xfrm>
            <a:off x="1508760" y="2916936"/>
            <a:ext cx="5943600" cy="630936"/>
          </a:xfrm>
          <a:prstGeom prst="rect">
            <a:avLst/>
          </a:prstGeom>
          <a:noFill/>
          <a:ln/>
        </p:spPr>
        <p:txBody>
          <a:bodyPr wrap="square" lIns="0" tIns="0" rIns="0" bIns="0" rtlCol="0" anchor="t"/>
          <a:lstStyle/>
          <a:p>
            <a:pPr marL="0" indent="0">
              <a:lnSpc>
                <a:spcPct val="100000"/>
              </a:lnSpc>
              <a:buNone/>
            </a:pPr>
            <a:r>
              <a:rPr lang="en-US" sz="1050" dirty="0">
                <a:solidFill>
                  <a:schemeClr val="tx1"/>
                </a:solidFill>
                <a:latin typeface="Aptos" panose="020B0004020202020204" pitchFamily="34" charset="0"/>
                <a:ea typeface="Calibri" pitchFamily="34" charset="-122"/>
                <a:cs typeface="Calibri" pitchFamily="34" charset="-120"/>
              </a:rPr>
              <a:t>GEH submits final tender to Great British Nuclear alongside Rolls-Royce and Holtec; Rolls-Royce is selected as preferred bidder for Wylfa two months later.</a:t>
            </a:r>
            <a:endParaRPr lang="en-US" sz="1050" dirty="0">
              <a:solidFill>
                <a:schemeClr val="tx1"/>
              </a:solidFill>
              <a:latin typeface="Aptos" panose="020B0004020202020204" pitchFamily="34" charset="0"/>
            </a:endParaRPr>
          </a:p>
        </p:txBody>
      </p:sp>
      <p:sp>
        <p:nvSpPr>
          <p:cNvPr id="25" name="Text 19"/>
          <p:cNvSpPr/>
          <p:nvPr/>
        </p:nvSpPr>
        <p:spPr>
          <a:xfrm>
            <a:off x="457200" y="3630168"/>
            <a:ext cx="731520" cy="365760"/>
          </a:xfrm>
          <a:prstGeom prst="rect">
            <a:avLst/>
          </a:prstGeom>
          <a:noFill/>
          <a:ln/>
        </p:spPr>
        <p:txBody>
          <a:bodyPr wrap="square" lIns="0" tIns="0" rIns="0" bIns="0" rtlCol="0" anchor="ctr"/>
          <a:lstStyle/>
          <a:p>
            <a:pPr marL="0" indent="0" algn="r">
              <a:buNone/>
            </a:pPr>
            <a:r>
              <a:rPr lang="en-US" sz="1050" b="1" dirty="0">
                <a:solidFill>
                  <a:schemeClr val="tx1"/>
                </a:solidFill>
                <a:latin typeface="Aptos" panose="020B0004020202020204" pitchFamily="34" charset="0"/>
                <a:ea typeface="Calibri" pitchFamily="34" charset="-122"/>
                <a:cs typeface="Calibri" pitchFamily="34" charset="-120"/>
              </a:rPr>
              <a:t>21 Jan '26</a:t>
            </a:r>
            <a:endParaRPr lang="en-US" sz="1050" dirty="0">
              <a:solidFill>
                <a:schemeClr val="tx1"/>
              </a:solidFill>
              <a:latin typeface="Aptos" panose="020B0004020202020204" pitchFamily="34" charset="0"/>
            </a:endParaRPr>
          </a:p>
        </p:txBody>
      </p:sp>
      <p:sp>
        <p:nvSpPr>
          <p:cNvPr id="26" name="Shape 20"/>
          <p:cNvSpPr/>
          <p:nvPr/>
        </p:nvSpPr>
        <p:spPr>
          <a:xfrm>
            <a:off x="1216152" y="3685032"/>
            <a:ext cx="128016" cy="128016"/>
          </a:xfrm>
          <a:prstGeom prst="ellipse">
            <a:avLst/>
          </a:prstGeom>
          <a:solidFill>
            <a:srgbClr val="1FB6A6"/>
          </a:solidFill>
          <a:ln w="19050">
            <a:solidFill>
              <a:srgbClr val="0B1F3A"/>
            </a:solidFill>
            <a:prstDash val="solid"/>
          </a:ln>
        </p:spPr>
        <p:txBody>
          <a:bodyPr/>
          <a:lstStyle/>
          <a:p>
            <a:endParaRPr lang="en-GB" sz="1050">
              <a:solidFill>
                <a:schemeClr val="tx1"/>
              </a:solidFill>
              <a:latin typeface="Aptos" panose="020B0004020202020204" pitchFamily="34" charset="0"/>
            </a:endParaRPr>
          </a:p>
        </p:txBody>
      </p:sp>
      <p:sp>
        <p:nvSpPr>
          <p:cNvPr id="27" name="Text 21"/>
          <p:cNvSpPr/>
          <p:nvPr/>
        </p:nvSpPr>
        <p:spPr>
          <a:xfrm>
            <a:off x="1508760" y="3575304"/>
            <a:ext cx="5943600" cy="630936"/>
          </a:xfrm>
          <a:prstGeom prst="rect">
            <a:avLst/>
          </a:prstGeom>
          <a:noFill/>
          <a:ln/>
        </p:spPr>
        <p:txBody>
          <a:bodyPr wrap="square" lIns="0" tIns="0" rIns="0" bIns="0" rtlCol="0" anchor="t"/>
          <a:lstStyle/>
          <a:p>
            <a:pPr marL="0" indent="0">
              <a:lnSpc>
                <a:spcPct val="100000"/>
              </a:lnSpc>
              <a:buNone/>
            </a:pPr>
            <a:r>
              <a:rPr lang="en-US" sz="1050" dirty="0">
                <a:solidFill>
                  <a:schemeClr val="tx1"/>
                </a:solidFill>
                <a:latin typeface="Aptos" panose="020B0004020202020204" pitchFamily="34" charset="0"/>
                <a:ea typeface="Calibri" pitchFamily="34" charset="-122"/>
                <a:cs typeface="Calibri" pitchFamily="34" charset="-120"/>
              </a:rPr>
              <a:t>BWRX-300 completes UK GDA Step 2 — 'no fundamental shortfalls' found; the fastest two-step GDA engagement completed to date.</a:t>
            </a:r>
            <a:endParaRPr lang="en-US" sz="1050" dirty="0">
              <a:solidFill>
                <a:schemeClr val="tx1"/>
              </a:solidFill>
              <a:latin typeface="Aptos" panose="020B0004020202020204" pitchFamily="34" charset="0"/>
            </a:endParaRPr>
          </a:p>
        </p:txBody>
      </p:sp>
      <p:sp>
        <p:nvSpPr>
          <p:cNvPr id="28" name="Text 22"/>
          <p:cNvSpPr/>
          <p:nvPr/>
        </p:nvSpPr>
        <p:spPr>
          <a:xfrm>
            <a:off x="457200" y="4288536"/>
            <a:ext cx="731520" cy="365760"/>
          </a:xfrm>
          <a:prstGeom prst="rect">
            <a:avLst/>
          </a:prstGeom>
          <a:noFill/>
          <a:ln/>
        </p:spPr>
        <p:txBody>
          <a:bodyPr wrap="square" lIns="0" tIns="0" rIns="0" bIns="0" rtlCol="0" anchor="ctr"/>
          <a:lstStyle/>
          <a:p>
            <a:pPr marL="0" indent="0" algn="r">
              <a:buNone/>
            </a:pPr>
            <a:r>
              <a:rPr lang="en-US" sz="1050" b="1" dirty="0">
                <a:solidFill>
                  <a:schemeClr val="tx1"/>
                </a:solidFill>
                <a:latin typeface="Aptos" panose="020B0004020202020204" pitchFamily="34" charset="0"/>
                <a:ea typeface="Calibri" pitchFamily="34" charset="-122"/>
                <a:cs typeface="Calibri" pitchFamily="34" charset="-120"/>
              </a:rPr>
              <a:t>4 Feb '26</a:t>
            </a:r>
            <a:endParaRPr lang="en-US" sz="1050" dirty="0">
              <a:solidFill>
                <a:schemeClr val="tx1"/>
              </a:solidFill>
              <a:latin typeface="Aptos" panose="020B0004020202020204" pitchFamily="34" charset="0"/>
            </a:endParaRPr>
          </a:p>
        </p:txBody>
      </p:sp>
      <p:sp>
        <p:nvSpPr>
          <p:cNvPr id="29" name="Shape 23"/>
          <p:cNvSpPr/>
          <p:nvPr/>
        </p:nvSpPr>
        <p:spPr>
          <a:xfrm>
            <a:off x="1216152" y="4343400"/>
            <a:ext cx="128016" cy="128016"/>
          </a:xfrm>
          <a:prstGeom prst="ellipse">
            <a:avLst/>
          </a:prstGeom>
          <a:solidFill>
            <a:srgbClr val="1FB6A6"/>
          </a:solidFill>
          <a:ln w="19050">
            <a:solidFill>
              <a:srgbClr val="0B1F3A"/>
            </a:solidFill>
            <a:prstDash val="solid"/>
          </a:ln>
        </p:spPr>
        <p:txBody>
          <a:bodyPr/>
          <a:lstStyle/>
          <a:p>
            <a:endParaRPr lang="en-GB" sz="1050">
              <a:solidFill>
                <a:schemeClr val="tx1"/>
              </a:solidFill>
              <a:latin typeface="Aptos" panose="020B0004020202020204" pitchFamily="34" charset="0"/>
            </a:endParaRPr>
          </a:p>
        </p:txBody>
      </p:sp>
      <p:sp>
        <p:nvSpPr>
          <p:cNvPr id="30" name="Text 24"/>
          <p:cNvSpPr/>
          <p:nvPr/>
        </p:nvSpPr>
        <p:spPr>
          <a:xfrm>
            <a:off x="1508760" y="4233672"/>
            <a:ext cx="5943600" cy="630936"/>
          </a:xfrm>
          <a:prstGeom prst="rect">
            <a:avLst/>
          </a:prstGeom>
          <a:noFill/>
          <a:ln/>
        </p:spPr>
        <p:txBody>
          <a:bodyPr wrap="square" lIns="0" tIns="0" rIns="0" bIns="0" rtlCol="0" anchor="t"/>
          <a:lstStyle/>
          <a:p>
            <a:pPr marL="0" indent="0">
              <a:lnSpc>
                <a:spcPct val="100000"/>
              </a:lnSpc>
              <a:buNone/>
            </a:pPr>
            <a:r>
              <a:rPr lang="en-US" sz="1050" dirty="0">
                <a:solidFill>
                  <a:schemeClr val="tx1"/>
                </a:solidFill>
                <a:latin typeface="Aptos" panose="020B0004020202020204" pitchFamily="34" charset="0"/>
                <a:ea typeface="Calibri" pitchFamily="34" charset="-122"/>
                <a:cs typeface="Calibri" pitchFamily="34" charset="-120"/>
              </a:rPr>
              <a:t>Government publishes the new Advanced Nuclear Framework (ANF) — a private-sector route to market for advanced/SMR projects, separate from the GBE-N competition GEH lost.</a:t>
            </a:r>
            <a:endParaRPr lang="en-US" sz="1050" dirty="0">
              <a:solidFill>
                <a:schemeClr val="tx1"/>
              </a:solidFill>
              <a:latin typeface="Aptos" panose="020B0004020202020204" pitchFamily="34" charset="0"/>
            </a:endParaRPr>
          </a:p>
        </p:txBody>
      </p:sp>
      <p:sp>
        <p:nvSpPr>
          <p:cNvPr id="32" name="Shape 26"/>
          <p:cNvSpPr/>
          <p:nvPr/>
        </p:nvSpPr>
        <p:spPr>
          <a:xfrm>
            <a:off x="1216152" y="5001768"/>
            <a:ext cx="128016" cy="128016"/>
          </a:xfrm>
          <a:prstGeom prst="ellipse">
            <a:avLst/>
          </a:prstGeom>
          <a:solidFill>
            <a:srgbClr val="1FB6A6"/>
          </a:solidFill>
          <a:ln w="19050">
            <a:solidFill>
              <a:srgbClr val="0B1F3A"/>
            </a:solidFill>
            <a:prstDash val="solid"/>
          </a:ln>
        </p:spPr>
        <p:txBody>
          <a:bodyPr/>
          <a:lstStyle/>
          <a:p>
            <a:endParaRPr lang="en-GB" sz="1050">
              <a:solidFill>
                <a:schemeClr val="tx1"/>
              </a:solidFill>
              <a:latin typeface="Aptos" panose="020B0004020202020204" pitchFamily="34" charset="0"/>
            </a:endParaRPr>
          </a:p>
        </p:txBody>
      </p:sp>
      <p:sp>
        <p:nvSpPr>
          <p:cNvPr id="34" name="Text 28"/>
          <p:cNvSpPr/>
          <p:nvPr/>
        </p:nvSpPr>
        <p:spPr>
          <a:xfrm>
            <a:off x="457200" y="5047132"/>
            <a:ext cx="731520" cy="365760"/>
          </a:xfrm>
          <a:prstGeom prst="rect">
            <a:avLst/>
          </a:prstGeom>
          <a:noFill/>
          <a:ln/>
        </p:spPr>
        <p:txBody>
          <a:bodyPr wrap="square" lIns="0" tIns="0" rIns="0" bIns="0" rtlCol="0" anchor="ctr"/>
          <a:lstStyle/>
          <a:p>
            <a:pPr marL="0" indent="0" algn="r">
              <a:buNone/>
            </a:pPr>
            <a:r>
              <a:rPr lang="en-US" sz="1050" b="1" dirty="0">
                <a:solidFill>
                  <a:schemeClr val="tx1"/>
                </a:solidFill>
                <a:latin typeface="Aptos" panose="020B0004020202020204" pitchFamily="34" charset="0"/>
                <a:ea typeface="Calibri" pitchFamily="34" charset="-122"/>
                <a:cs typeface="Calibri" pitchFamily="34" charset="-120"/>
              </a:rPr>
              <a:t>1 Jul '26</a:t>
            </a:r>
            <a:endParaRPr lang="en-US" sz="1050" dirty="0">
              <a:solidFill>
                <a:schemeClr val="tx1"/>
              </a:solidFill>
              <a:latin typeface="Aptos" panose="020B0004020202020204" pitchFamily="34" charset="0"/>
            </a:endParaRPr>
          </a:p>
        </p:txBody>
      </p:sp>
      <p:sp>
        <p:nvSpPr>
          <p:cNvPr id="36" name="Text 30"/>
          <p:cNvSpPr/>
          <p:nvPr/>
        </p:nvSpPr>
        <p:spPr>
          <a:xfrm>
            <a:off x="1508760" y="4778512"/>
            <a:ext cx="5943600" cy="630936"/>
          </a:xfrm>
          <a:prstGeom prst="rect">
            <a:avLst/>
          </a:prstGeom>
          <a:noFill/>
          <a:ln/>
        </p:spPr>
        <p:txBody>
          <a:bodyPr wrap="square" lIns="0" tIns="0" rIns="0" bIns="0" rtlCol="0" anchor="t"/>
          <a:lstStyle/>
          <a:p>
            <a:pPr marL="0" indent="0">
              <a:lnSpc>
                <a:spcPct val="100000"/>
              </a:lnSpc>
              <a:buNone/>
            </a:pPr>
            <a:r>
              <a:rPr lang="en-US" sz="1050" dirty="0">
                <a:solidFill>
                  <a:schemeClr val="tx1"/>
                </a:solidFill>
                <a:latin typeface="Aptos" panose="020B0004020202020204" pitchFamily="34" charset="0"/>
                <a:ea typeface="Calibri" pitchFamily="34" charset="-122"/>
                <a:cs typeface="Calibri" pitchFamily="34" charset="-120"/>
              </a:rPr>
              <a:t>SGE (a European SMR developer) submits an ANF application to build 14 BWRX-300 units (4.2GW) across three UK sites, backed by a consortium including Samsung C&amp;T, Laing O'Rourke, Aecon, Google Cloud and Fermi Development; £35bn investment, first power targeted 2034.</a:t>
            </a:r>
            <a:endParaRPr lang="en-US" sz="1050" dirty="0">
              <a:solidFill>
                <a:schemeClr val="tx1"/>
              </a:solidFill>
              <a:latin typeface="Aptos" panose="020B0004020202020204" pitchFamily="34" charset="0"/>
            </a:endParaRPr>
          </a:p>
        </p:txBody>
      </p:sp>
      <p:sp>
        <p:nvSpPr>
          <p:cNvPr id="37" name="Shape 31"/>
          <p:cNvSpPr/>
          <p:nvPr/>
        </p:nvSpPr>
        <p:spPr>
          <a:xfrm>
            <a:off x="7772400" y="2606040"/>
            <a:ext cx="3977640" cy="3429000"/>
          </a:xfrm>
          <a:prstGeom prst="roundRect">
            <a:avLst>
              <a:gd name="adj" fmla="val 2133"/>
            </a:avLst>
          </a:prstGeom>
          <a:solidFill>
            <a:srgbClr val="132A4E"/>
          </a:solidFill>
          <a:ln/>
          <a:effectLst>
            <a:outerShdw blurRad="76200" dist="25400" dir="2700000" algn="bl" rotWithShape="0">
              <a:srgbClr val="000000">
                <a:alpha val="25000"/>
              </a:srgbClr>
            </a:outerShdw>
          </a:effectLst>
        </p:spPr>
        <p:txBody>
          <a:bodyPr/>
          <a:lstStyle/>
          <a:p>
            <a:endParaRPr lang="en-GB"/>
          </a:p>
        </p:txBody>
      </p:sp>
      <p:pic>
        <p:nvPicPr>
          <p:cNvPr id="38" name="Image 4" descr="preencoded.png"/>
          <p:cNvPicPr>
            <a:picLocks noChangeAspect="1"/>
          </p:cNvPicPr>
          <p:nvPr/>
        </p:nvPicPr>
        <p:blipFill>
          <a:blip r:embed="rId7"/>
          <a:stretch>
            <a:fillRect/>
          </a:stretch>
        </p:blipFill>
        <p:spPr>
          <a:xfrm>
            <a:off x="8001000" y="2807208"/>
            <a:ext cx="329184" cy="329184"/>
          </a:xfrm>
          <a:prstGeom prst="rect">
            <a:avLst/>
          </a:prstGeom>
        </p:spPr>
      </p:pic>
      <p:sp>
        <p:nvSpPr>
          <p:cNvPr id="39" name="Text 32"/>
          <p:cNvSpPr/>
          <p:nvPr/>
        </p:nvSpPr>
        <p:spPr>
          <a:xfrm>
            <a:off x="8430768" y="2807208"/>
            <a:ext cx="3063240" cy="329184"/>
          </a:xfrm>
          <a:prstGeom prst="rect">
            <a:avLst/>
          </a:prstGeom>
          <a:noFill/>
          <a:ln/>
        </p:spPr>
        <p:txBody>
          <a:bodyPr wrap="square" lIns="0" tIns="0" rIns="0" bIns="0" rtlCol="0" anchor="ctr"/>
          <a:lstStyle/>
          <a:p>
            <a:pPr marL="0" indent="0">
              <a:buNone/>
            </a:pPr>
            <a:r>
              <a:rPr lang="en-US" sz="1300" b="1" kern="0" spc="50" dirty="0">
                <a:solidFill>
                  <a:srgbClr val="1FB6A6"/>
                </a:solidFill>
                <a:latin typeface="Calibri" pitchFamily="34" charset="0"/>
                <a:ea typeface="Calibri" pitchFamily="34" charset="-122"/>
                <a:cs typeface="Calibri" pitchFamily="34" charset="-120"/>
              </a:rPr>
              <a:t>WHAT IT MEANS FOR YOU</a:t>
            </a:r>
            <a:endParaRPr lang="en-US" sz="1300" dirty="0"/>
          </a:p>
        </p:txBody>
      </p:sp>
      <p:sp>
        <p:nvSpPr>
          <p:cNvPr id="40" name="Text 33"/>
          <p:cNvSpPr/>
          <p:nvPr/>
        </p:nvSpPr>
        <p:spPr>
          <a:xfrm>
            <a:off x="8046720" y="3227832"/>
            <a:ext cx="3429000" cy="2606040"/>
          </a:xfrm>
          <a:prstGeom prst="rect">
            <a:avLst/>
          </a:prstGeom>
          <a:noFill/>
          <a:ln/>
        </p:spPr>
        <p:txBody>
          <a:bodyPr wrap="square" lIns="0" tIns="0" rIns="0" bIns="0" rtlCol="0" anchor="t"/>
          <a:lstStyle/>
          <a:p>
            <a:pPr marL="342900" indent="-342900">
              <a:lnSpc>
                <a:spcPct val="103000"/>
              </a:lnSpc>
              <a:spcAft>
                <a:spcPts val="700"/>
              </a:spcAft>
              <a:buSzPct val="100000"/>
              <a:buChar char="▪"/>
            </a:pPr>
            <a:r>
              <a:rPr lang="en-US" sz="1000" dirty="0">
                <a:solidFill>
                  <a:srgbClr val="FFFFFF"/>
                </a:solidFill>
                <a:latin typeface="Calibri" pitchFamily="34" charset="0"/>
                <a:ea typeface="Calibri" pitchFamily="34" charset="-122"/>
                <a:cs typeface="Calibri" pitchFamily="34" charset="-120"/>
              </a:rPr>
              <a:t>The 'no UK pathway' story has just changed: SGE's 14-unit, 4.2GW proposal is a concrete, privately financed UK route for the BWRX-300 — filed under the new Advanced Nuclear Framework rather than the GBE-N competition GEH lost.</a:t>
            </a:r>
            <a:endParaRPr lang="en-US" sz="1000" dirty="0"/>
          </a:p>
          <a:p>
            <a:pPr marL="342900" indent="-342900">
              <a:lnSpc>
                <a:spcPct val="103000"/>
              </a:lnSpc>
              <a:spcAft>
                <a:spcPts val="700"/>
              </a:spcAft>
              <a:buSzPct val="100000"/>
              <a:buChar char="▪"/>
            </a:pPr>
            <a:r>
              <a:rPr lang="en-US" sz="1000" dirty="0">
                <a:solidFill>
                  <a:srgbClr val="FFFFFF"/>
                </a:solidFill>
                <a:latin typeface="Calibri" pitchFamily="34" charset="0"/>
                <a:ea typeface="Calibri" pitchFamily="34" charset="-122"/>
                <a:cs typeface="Calibri" pitchFamily="34" charset="-120"/>
              </a:rPr>
              <a:t>The GDA Step 2 pass is genuinely strong evidence of design maturity — fastest ever completed — so this fleet proposal starts from a lower-risk technology base than most competitors.</a:t>
            </a:r>
            <a:endParaRPr lang="en-US" sz="1000" dirty="0"/>
          </a:p>
          <a:p>
            <a:pPr marL="342900" indent="-342900">
              <a:lnSpc>
                <a:spcPct val="103000"/>
              </a:lnSpc>
              <a:spcAft>
                <a:spcPts val="700"/>
              </a:spcAft>
              <a:buSzPct val="100000"/>
              <a:buChar char="▪"/>
            </a:pPr>
            <a:r>
              <a:rPr lang="en-US" sz="1000" dirty="0">
                <a:solidFill>
                  <a:srgbClr val="FFFFFF"/>
                </a:solidFill>
                <a:latin typeface="Calibri" pitchFamily="34" charset="0"/>
                <a:ea typeface="Calibri" pitchFamily="34" charset="-122"/>
                <a:cs typeface="Calibri" pitchFamily="34" charset="-120"/>
              </a:rPr>
              <a:t>Google Cloud and Fermi Development's involvement signals this fleet is being driven by data centre/AI power demand — a different commercial logic worth flagging to SMEs eyeing that sector.</a:t>
            </a:r>
            <a:endParaRPr lang="en-US" sz="1000" dirty="0"/>
          </a:p>
          <a:p>
            <a:pPr marL="342900" indent="-342900">
              <a:lnSpc>
                <a:spcPct val="103000"/>
              </a:lnSpc>
              <a:spcAft>
                <a:spcPts val="700"/>
              </a:spcAft>
              <a:buSzPct val="100000"/>
              <a:buChar char="▪"/>
            </a:pPr>
            <a:r>
              <a:rPr lang="en-US" sz="1000" dirty="0">
                <a:solidFill>
                  <a:srgbClr val="FFFFFF"/>
                </a:solidFill>
                <a:latin typeface="Calibri" pitchFamily="34" charset="0"/>
                <a:ea typeface="Calibri" pitchFamily="34" charset="-122"/>
                <a:cs typeface="Calibri" pitchFamily="34" charset="-120"/>
              </a:rPr>
              <a:t>This is a proposal, not a confirmed project: ANF applications go through phased government assessment before any endorsement or support is confirmed — worth tracking progress rather than treating it as done.</a:t>
            </a:r>
            <a:endParaRPr lang="en-US" sz="1000" dirty="0"/>
          </a:p>
        </p:txBody>
      </p:sp>
      <p:pic>
        <p:nvPicPr>
          <p:cNvPr id="42" name="Picture 41" descr="File:GE Hitachi.svg - Wikimedia Commons">
            <a:extLst>
              <a:ext uri="{FF2B5EF4-FFF2-40B4-BE49-F238E27FC236}">
                <a16:creationId xmlns:a16="http://schemas.microsoft.com/office/drawing/2014/main" id="{67AF90CD-F5EC-DB33-FB00-4FF260C54D1F}"/>
              </a:ext>
            </a:extLst>
          </p:cNvPr>
          <p:cNvPicPr>
            <a:picLocks noChangeAspect="1"/>
          </p:cNvPicPr>
          <p:nvPr/>
        </p:nvPicPr>
        <p:blipFill>
          <a:blip r:embed="rId8"/>
          <a:stretch>
            <a:fillRect/>
          </a:stretch>
        </p:blipFill>
        <p:spPr>
          <a:xfrm>
            <a:off x="92598" y="318289"/>
            <a:ext cx="1789908" cy="499683"/>
          </a:xfrm>
          <a:prstGeom prst="rect">
            <a:avLst/>
          </a:prstGeom>
        </p:spPr>
      </p:pic>
      <p:pic>
        <p:nvPicPr>
          <p:cNvPr id="43" name="Picture 42">
            <a:extLst>
              <a:ext uri="{FF2B5EF4-FFF2-40B4-BE49-F238E27FC236}">
                <a16:creationId xmlns:a16="http://schemas.microsoft.com/office/drawing/2014/main" id="{CAC5DB8B-F8FB-5E5B-A93E-93D72C5119CD}"/>
              </a:ext>
            </a:extLst>
          </p:cNvPr>
          <p:cNvPicPr>
            <a:picLocks noChangeAspect="1"/>
          </p:cNvPicPr>
          <p:nvPr/>
        </p:nvPicPr>
        <p:blipFill>
          <a:blip r:embed="rId9"/>
          <a:stretch>
            <a:fillRect/>
          </a:stretch>
        </p:blipFill>
        <p:spPr>
          <a:xfrm>
            <a:off x="11089768" y="15704"/>
            <a:ext cx="1069868" cy="1099864"/>
          </a:xfrm>
          <a:prstGeom prst="rect">
            <a:avLst/>
          </a:prstGeom>
        </p:spPr>
      </p:pic>
      <p:sp>
        <p:nvSpPr>
          <p:cNvPr id="44" name="Text 25">
            <a:extLst>
              <a:ext uri="{FF2B5EF4-FFF2-40B4-BE49-F238E27FC236}">
                <a16:creationId xmlns:a16="http://schemas.microsoft.com/office/drawing/2014/main" id="{B369A444-4F12-0B84-AA2D-AD22F1FFE535}"/>
              </a:ext>
            </a:extLst>
          </p:cNvPr>
          <p:cNvSpPr/>
          <p:nvPr/>
        </p:nvSpPr>
        <p:spPr>
          <a:xfrm>
            <a:off x="457200" y="5606934"/>
            <a:ext cx="731520" cy="365760"/>
          </a:xfrm>
          <a:prstGeom prst="rect">
            <a:avLst/>
          </a:prstGeom>
          <a:noFill/>
          <a:ln/>
        </p:spPr>
        <p:txBody>
          <a:bodyPr wrap="square" lIns="0" tIns="0" rIns="0" bIns="0" rtlCol="0" anchor="ctr"/>
          <a:lstStyle/>
          <a:p>
            <a:pPr marL="0" indent="0" algn="r">
              <a:buNone/>
            </a:pPr>
            <a:r>
              <a:rPr lang="en-US" sz="1050" b="1" dirty="0">
                <a:latin typeface="Aptos" panose="020B0004020202020204" pitchFamily="34" charset="0"/>
                <a:ea typeface="Calibri" pitchFamily="34" charset="-122"/>
                <a:cs typeface="Calibri" pitchFamily="34" charset="-120"/>
              </a:rPr>
              <a:t>Ongoing '26</a:t>
            </a:r>
            <a:endParaRPr lang="en-US" sz="1050" dirty="0">
              <a:latin typeface="Aptos" panose="020B0004020202020204" pitchFamily="34" charset="0"/>
            </a:endParaRPr>
          </a:p>
        </p:txBody>
      </p:sp>
      <p:sp>
        <p:nvSpPr>
          <p:cNvPr id="45" name="Shape 26">
            <a:extLst>
              <a:ext uri="{FF2B5EF4-FFF2-40B4-BE49-F238E27FC236}">
                <a16:creationId xmlns:a16="http://schemas.microsoft.com/office/drawing/2014/main" id="{8B7A3C43-BDBD-CEB7-18F6-136CE9A2F52B}"/>
              </a:ext>
            </a:extLst>
          </p:cNvPr>
          <p:cNvSpPr/>
          <p:nvPr/>
        </p:nvSpPr>
        <p:spPr>
          <a:xfrm>
            <a:off x="1216152" y="5495544"/>
            <a:ext cx="128016" cy="128016"/>
          </a:xfrm>
          <a:prstGeom prst="ellipse">
            <a:avLst/>
          </a:prstGeom>
          <a:solidFill>
            <a:srgbClr val="1FB6A6"/>
          </a:solidFill>
          <a:ln w="19050">
            <a:solidFill>
              <a:srgbClr val="0B1F3A"/>
            </a:solidFill>
            <a:prstDash val="solid"/>
          </a:ln>
        </p:spPr>
        <p:txBody>
          <a:bodyPr/>
          <a:lstStyle/>
          <a:p>
            <a:endParaRPr lang="en-GB" sz="1050">
              <a:latin typeface="Aptos" panose="020B0004020202020204" pitchFamily="34" charset="0"/>
            </a:endParaRPr>
          </a:p>
        </p:txBody>
      </p:sp>
      <p:sp>
        <p:nvSpPr>
          <p:cNvPr id="46" name="Text 27">
            <a:extLst>
              <a:ext uri="{FF2B5EF4-FFF2-40B4-BE49-F238E27FC236}">
                <a16:creationId xmlns:a16="http://schemas.microsoft.com/office/drawing/2014/main" id="{68A12987-C154-94B8-6304-DF6005CB951C}"/>
              </a:ext>
            </a:extLst>
          </p:cNvPr>
          <p:cNvSpPr/>
          <p:nvPr/>
        </p:nvSpPr>
        <p:spPr>
          <a:xfrm>
            <a:off x="1508760" y="5504569"/>
            <a:ext cx="5943600" cy="777240"/>
          </a:xfrm>
          <a:prstGeom prst="rect">
            <a:avLst/>
          </a:prstGeom>
          <a:noFill/>
          <a:ln/>
        </p:spPr>
        <p:txBody>
          <a:bodyPr wrap="square" lIns="0" tIns="0" rIns="0" bIns="0" rtlCol="0" anchor="t"/>
          <a:lstStyle/>
          <a:p>
            <a:pPr marL="0" indent="0">
              <a:lnSpc>
                <a:spcPct val="102000"/>
              </a:lnSpc>
              <a:buNone/>
            </a:pPr>
            <a:r>
              <a:rPr lang="en-US" sz="1050" dirty="0">
                <a:latin typeface="Aptos" panose="020B0004020202020204" pitchFamily="34" charset="0"/>
                <a:ea typeface="Calibri" pitchFamily="34" charset="-122"/>
                <a:cs typeface="Calibri" pitchFamily="34" charset="-120"/>
              </a:rPr>
              <a:t>BWRX-300 momentum continues globally (Darlington construction, Poland, Sweden, Southeast Asia MoUs); UK supply chain MoUs with Sheffield Forgemasters, Aecon, AtkinsRéalis, Jacobs, Amentum and Laing O'Rourke remain in place.</a:t>
            </a:r>
            <a:endParaRPr lang="en-US" sz="1050" dirty="0">
              <a:latin typeface="Aptos" panose="020B0004020202020204" pitchFamily="34" charset="0"/>
            </a:endParaRPr>
          </a:p>
        </p:txBody>
      </p:sp>
      <p:sp>
        <p:nvSpPr>
          <p:cNvPr id="31" name="TextBox 30">
            <a:extLst>
              <a:ext uri="{FF2B5EF4-FFF2-40B4-BE49-F238E27FC236}">
                <a16:creationId xmlns:a16="http://schemas.microsoft.com/office/drawing/2014/main" id="{59E64A3C-7102-D134-A842-12D3F5001614}"/>
              </a:ext>
            </a:extLst>
          </p:cNvPr>
          <p:cNvSpPr txBox="1"/>
          <p:nvPr/>
        </p:nvSpPr>
        <p:spPr>
          <a:xfrm>
            <a:off x="44118" y="6654109"/>
            <a:ext cx="12152376" cy="200055"/>
          </a:xfrm>
          <a:prstGeom prst="rect">
            <a:avLst/>
          </a:prstGeom>
          <a:noFill/>
        </p:spPr>
        <p:txBody>
          <a:bodyPr wrap="square">
            <a:spAutoFit/>
          </a:bodyPr>
          <a:lstStyle/>
          <a:p>
            <a:pPr algn="ctr"/>
            <a:r>
              <a:rPr lang="en-GB" sz="700" b="1" i="0" u="none" strike="noStrike" noProof="0" dirty="0">
                <a:solidFill>
                  <a:srgbClr val="757575"/>
                </a:solidFill>
                <a:effectLst/>
                <a:latin typeface="Aptos Narrow" panose="020B0004020202020204" pitchFamily="34" charset="0"/>
              </a:rPr>
              <a:t>Commercial in Confidence - This document contains proprietary and commercially sensitive information. It is intended solely for the recipient(s) and should not be disclosed or distributed without written permission from Nuclear Collaboration Ltd (NucCol ltd) Co. no. 15937779 </a:t>
            </a:r>
            <a:r>
              <a:rPr lang="en-GB" sz="700" b="1" i="0" noProof="0" dirty="0">
                <a:solidFill>
                  <a:srgbClr val="000000"/>
                </a:solidFill>
                <a:effectLst/>
                <a:latin typeface="Aptos Narrow" panose="020B0004020202020204" pitchFamily="34" charset="0"/>
              </a:rPr>
              <a:t>​</a:t>
            </a:r>
            <a:endParaRPr lang="en-GB" sz="700" b="1" noProof="0" dirty="0"/>
          </a:p>
        </p:txBody>
      </p:sp>
    </p:spTree>
    <p:extLst>
      <p:ext uri="{BB962C8B-B14F-4D97-AF65-F5344CB8AC3E}">
        <p14:creationId xmlns:p14="http://schemas.microsoft.com/office/powerpoint/2010/main" val="3249134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835" y="161980"/>
            <a:ext cx="11247120" cy="548640"/>
          </a:xfrm>
          <a:prstGeom prst="rect">
            <a:avLst/>
          </a:prstGeom>
          <a:noFill/>
          <a:ln/>
        </p:spPr>
        <p:txBody>
          <a:bodyPr wrap="square" lIns="0" tIns="0" rIns="0" bIns="0" rtlCol="0" anchor="ctr"/>
          <a:lstStyle/>
          <a:p>
            <a:pPr marL="0" indent="0">
              <a:buNone/>
            </a:pPr>
            <a:r>
              <a:rPr lang="en-US" sz="3000" b="1" dirty="0">
                <a:latin typeface="Aptos" panose="020B0004020202020204" pitchFamily="34" charset="0"/>
                <a:ea typeface="Cambria" pitchFamily="34" charset="-122"/>
                <a:cs typeface="Cambria" pitchFamily="34" charset="-120"/>
              </a:rPr>
              <a:t>            </a:t>
            </a:r>
            <a:r>
              <a:rPr lang="en-US" sz="3000" b="1" dirty="0">
                <a:solidFill>
                  <a:schemeClr val="tx1"/>
                </a:solidFill>
                <a:latin typeface="Aptos" panose="020B0004020202020204" pitchFamily="34" charset="0"/>
                <a:ea typeface="Cambria" pitchFamily="34" charset="-122"/>
                <a:cs typeface="Cambria" pitchFamily="34" charset="-120"/>
              </a:rPr>
              <a:t>SMR-300: 2026 Programme Update</a:t>
            </a:r>
            <a:endParaRPr lang="en-US" sz="3000" dirty="0">
              <a:solidFill>
                <a:schemeClr val="tx1"/>
              </a:solidFill>
              <a:latin typeface="Aptos" panose="020B0004020202020204" pitchFamily="34" charset="0"/>
            </a:endParaRPr>
          </a:p>
        </p:txBody>
      </p:sp>
      <p:sp>
        <p:nvSpPr>
          <p:cNvPr id="3" name="Text 1"/>
          <p:cNvSpPr/>
          <p:nvPr/>
        </p:nvSpPr>
        <p:spPr>
          <a:xfrm>
            <a:off x="457200" y="786384"/>
            <a:ext cx="11247120" cy="320040"/>
          </a:xfrm>
          <a:prstGeom prst="rect">
            <a:avLst/>
          </a:prstGeom>
          <a:noFill/>
          <a:ln/>
        </p:spPr>
        <p:txBody>
          <a:bodyPr wrap="square" lIns="0" tIns="0" rIns="0" bIns="0" rtlCol="0" anchor="ctr"/>
          <a:lstStyle/>
          <a:p>
            <a:r>
              <a:rPr lang="en-US" sz="1400" i="1" dirty="0">
                <a:latin typeface="Aptos" panose="020B0004020202020204" pitchFamily="34" charset="0"/>
                <a:ea typeface="Calibri" pitchFamily="34" charset="-122"/>
                <a:cs typeface="Calibri" pitchFamily="34" charset="-120"/>
              </a:rPr>
              <a:t>UK nuclear sector briefing for F4N cohort July 2026</a:t>
            </a:r>
            <a:endParaRPr lang="en-US" sz="1400" dirty="0">
              <a:latin typeface="Aptos" panose="020B0004020202020204" pitchFamily="34" charset="0"/>
            </a:endParaRPr>
          </a:p>
        </p:txBody>
      </p:sp>
      <p:sp>
        <p:nvSpPr>
          <p:cNvPr id="4" name="Shape 2"/>
          <p:cNvSpPr/>
          <p:nvPr/>
        </p:nvSpPr>
        <p:spPr>
          <a:xfrm>
            <a:off x="45720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5" name="Image 0" descr="preencoded.png"/>
          <p:cNvPicPr>
            <a:picLocks noChangeAspect="1"/>
          </p:cNvPicPr>
          <p:nvPr/>
        </p:nvPicPr>
        <p:blipFill>
          <a:blip r:embed="rId3"/>
          <a:stretch>
            <a:fillRect/>
          </a:stretch>
        </p:blipFill>
        <p:spPr>
          <a:xfrm>
            <a:off x="621792" y="1481328"/>
            <a:ext cx="365760" cy="365760"/>
          </a:xfrm>
          <a:prstGeom prst="rect">
            <a:avLst/>
          </a:prstGeom>
        </p:spPr>
      </p:pic>
      <p:sp>
        <p:nvSpPr>
          <p:cNvPr id="6" name="Text 3"/>
          <p:cNvSpPr/>
          <p:nvPr/>
        </p:nvSpPr>
        <p:spPr>
          <a:xfrm>
            <a:off x="1097280" y="137160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Aptos" panose="020B0004020202020204" pitchFamily="34" charset="0"/>
                <a:ea typeface="Calibri" pitchFamily="34" charset="-122"/>
                <a:cs typeface="Calibri" pitchFamily="34" charset="-120"/>
              </a:rPr>
              <a:t>Step 2</a:t>
            </a:r>
            <a:endParaRPr lang="en-US" sz="1800" dirty="0">
              <a:latin typeface="Aptos" panose="020B0004020202020204" pitchFamily="34" charset="0"/>
            </a:endParaRPr>
          </a:p>
        </p:txBody>
      </p:sp>
      <p:sp>
        <p:nvSpPr>
          <p:cNvPr id="7" name="Text 4"/>
          <p:cNvSpPr/>
          <p:nvPr/>
        </p:nvSpPr>
        <p:spPr>
          <a:xfrm>
            <a:off x="62179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UK GDA passed –</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no fundamental shortfalls</a:t>
            </a:r>
            <a:endParaRPr lang="en-US" sz="950" dirty="0">
              <a:latin typeface="Aptos" panose="020B0004020202020204" pitchFamily="34" charset="0"/>
            </a:endParaRPr>
          </a:p>
        </p:txBody>
      </p:sp>
      <p:sp>
        <p:nvSpPr>
          <p:cNvPr id="8" name="Shape 5"/>
          <p:cNvSpPr/>
          <p:nvPr/>
        </p:nvSpPr>
        <p:spPr>
          <a:xfrm>
            <a:off x="329184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9" name="Image 1" descr="preencoded.png"/>
          <p:cNvPicPr>
            <a:picLocks noChangeAspect="1"/>
          </p:cNvPicPr>
          <p:nvPr/>
        </p:nvPicPr>
        <p:blipFill>
          <a:blip r:embed="rId4"/>
          <a:stretch>
            <a:fillRect/>
          </a:stretch>
        </p:blipFill>
        <p:spPr>
          <a:xfrm>
            <a:off x="3456432" y="1481328"/>
            <a:ext cx="365760" cy="365760"/>
          </a:xfrm>
          <a:prstGeom prst="rect">
            <a:avLst/>
          </a:prstGeom>
        </p:spPr>
      </p:pic>
      <p:sp>
        <p:nvSpPr>
          <p:cNvPr id="10" name="Text 6"/>
          <p:cNvSpPr/>
          <p:nvPr/>
        </p:nvSpPr>
        <p:spPr>
          <a:xfrm>
            <a:off x="3931920" y="137160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Aptos" panose="020B0004020202020204" pitchFamily="34" charset="0"/>
                <a:ea typeface="Calibri" pitchFamily="34" charset="-122"/>
                <a:cs typeface="Calibri" pitchFamily="34" charset="-120"/>
              </a:rPr>
              <a:t>4 units</a:t>
            </a:r>
            <a:endParaRPr lang="en-US" sz="1800" dirty="0">
              <a:latin typeface="Aptos" panose="020B0004020202020204" pitchFamily="34" charset="0"/>
            </a:endParaRPr>
          </a:p>
        </p:txBody>
      </p:sp>
      <p:sp>
        <p:nvSpPr>
          <p:cNvPr id="11" name="Text 7"/>
          <p:cNvSpPr/>
          <p:nvPr/>
        </p:nvSpPr>
        <p:spPr>
          <a:xfrm>
            <a:off x="345643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Proposed at Cottam,</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Nottinghamshire (~1.3GW)</a:t>
            </a:r>
            <a:endParaRPr lang="en-US" sz="950" dirty="0">
              <a:latin typeface="Aptos" panose="020B0004020202020204" pitchFamily="34" charset="0"/>
            </a:endParaRPr>
          </a:p>
        </p:txBody>
      </p:sp>
      <p:sp>
        <p:nvSpPr>
          <p:cNvPr id="12" name="Shape 8"/>
          <p:cNvSpPr/>
          <p:nvPr/>
        </p:nvSpPr>
        <p:spPr>
          <a:xfrm>
            <a:off x="612648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3" name="Image 2" descr="preencoded.png"/>
          <p:cNvPicPr>
            <a:picLocks noChangeAspect="1"/>
          </p:cNvPicPr>
          <p:nvPr/>
        </p:nvPicPr>
        <p:blipFill>
          <a:blip r:embed="rId5"/>
          <a:stretch>
            <a:fillRect/>
          </a:stretch>
        </p:blipFill>
        <p:spPr>
          <a:xfrm>
            <a:off x="6291072" y="1481328"/>
            <a:ext cx="365760" cy="365760"/>
          </a:xfrm>
          <a:prstGeom prst="rect">
            <a:avLst/>
          </a:prstGeom>
        </p:spPr>
      </p:pic>
      <p:sp>
        <p:nvSpPr>
          <p:cNvPr id="14" name="Text 9"/>
          <p:cNvSpPr/>
          <p:nvPr/>
        </p:nvSpPr>
        <p:spPr>
          <a:xfrm>
            <a:off x="6766560" y="137160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Aptos" panose="020B0004020202020204" pitchFamily="34" charset="0"/>
                <a:ea typeface="Calibri" pitchFamily="34" charset="-122"/>
                <a:cs typeface="Calibri" pitchFamily="34" charset="-120"/>
              </a:rPr>
              <a:t>£1.5bn</a:t>
            </a:r>
            <a:endParaRPr lang="en-US" sz="1800" dirty="0">
              <a:latin typeface="Aptos" panose="020B0004020202020204" pitchFamily="34" charset="0"/>
            </a:endParaRPr>
          </a:p>
        </p:txBody>
      </p:sp>
      <p:sp>
        <p:nvSpPr>
          <p:cNvPr id="15" name="Text 10"/>
          <p:cNvSpPr/>
          <p:nvPr/>
        </p:nvSpPr>
        <p:spPr>
          <a:xfrm>
            <a:off x="629107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South Yorkshire</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SMR-300 factory</a:t>
            </a:r>
            <a:endParaRPr lang="en-US" sz="950" dirty="0">
              <a:latin typeface="Aptos" panose="020B0004020202020204" pitchFamily="34" charset="0"/>
            </a:endParaRPr>
          </a:p>
        </p:txBody>
      </p:sp>
      <p:sp>
        <p:nvSpPr>
          <p:cNvPr id="16" name="Shape 11"/>
          <p:cNvSpPr/>
          <p:nvPr/>
        </p:nvSpPr>
        <p:spPr>
          <a:xfrm>
            <a:off x="896112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7" name="Image 3" descr="preencoded.png"/>
          <p:cNvPicPr>
            <a:picLocks noChangeAspect="1"/>
          </p:cNvPicPr>
          <p:nvPr/>
        </p:nvPicPr>
        <p:blipFill>
          <a:blip r:embed="rId6"/>
          <a:stretch>
            <a:fillRect/>
          </a:stretch>
        </p:blipFill>
        <p:spPr>
          <a:xfrm>
            <a:off x="9125712" y="1481328"/>
            <a:ext cx="365760" cy="365760"/>
          </a:xfrm>
          <a:prstGeom prst="rect">
            <a:avLst/>
          </a:prstGeom>
        </p:spPr>
      </p:pic>
      <p:sp>
        <p:nvSpPr>
          <p:cNvPr id="18" name="Text 12"/>
          <p:cNvSpPr/>
          <p:nvPr/>
        </p:nvSpPr>
        <p:spPr>
          <a:xfrm>
            <a:off x="9601200" y="137160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Aptos" panose="020B0004020202020204" pitchFamily="34" charset="0"/>
                <a:ea typeface="Calibri" pitchFamily="34" charset="-122"/>
                <a:cs typeface="Calibri" pitchFamily="34" charset="-120"/>
              </a:rPr>
              <a:t>70%</a:t>
            </a:r>
            <a:endParaRPr lang="en-US" sz="1800" dirty="0">
              <a:latin typeface="Aptos" panose="020B0004020202020204" pitchFamily="34" charset="0"/>
            </a:endParaRPr>
          </a:p>
        </p:txBody>
      </p:sp>
      <p:sp>
        <p:nvSpPr>
          <p:cNvPr id="19" name="Text 13"/>
          <p:cNvSpPr/>
          <p:nvPr/>
        </p:nvSpPr>
        <p:spPr>
          <a:xfrm>
            <a:off x="912571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UK content target</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for factory build</a:t>
            </a:r>
            <a:endParaRPr lang="en-US" sz="950" dirty="0">
              <a:latin typeface="Aptos" panose="020B0004020202020204" pitchFamily="34" charset="0"/>
            </a:endParaRPr>
          </a:p>
        </p:txBody>
      </p:sp>
      <p:sp>
        <p:nvSpPr>
          <p:cNvPr id="20" name="Text 14"/>
          <p:cNvSpPr/>
          <p:nvPr/>
        </p:nvSpPr>
        <p:spPr>
          <a:xfrm>
            <a:off x="457200" y="2606040"/>
            <a:ext cx="7040880" cy="274320"/>
          </a:xfrm>
          <a:prstGeom prst="rect">
            <a:avLst/>
          </a:prstGeom>
          <a:noFill/>
          <a:ln/>
        </p:spPr>
        <p:txBody>
          <a:bodyPr wrap="square" lIns="0" tIns="0" rIns="0" bIns="0" rtlCol="0" anchor="ctr"/>
          <a:lstStyle/>
          <a:p>
            <a:pPr marL="0" indent="0">
              <a:buNone/>
            </a:pPr>
            <a:r>
              <a:rPr lang="en-US" sz="1300" b="1" kern="0" spc="100" dirty="0">
                <a:latin typeface="Aptos" panose="020B0004020202020204" pitchFamily="34" charset="0"/>
                <a:ea typeface="Calibri" pitchFamily="34" charset="-122"/>
                <a:cs typeface="Calibri" pitchFamily="34" charset="-120"/>
              </a:rPr>
              <a:t>2026 MILESTONE TIMELINE</a:t>
            </a:r>
            <a:endParaRPr lang="en-US" sz="1300" dirty="0">
              <a:latin typeface="Aptos" panose="020B0004020202020204" pitchFamily="34" charset="0"/>
            </a:endParaRPr>
          </a:p>
        </p:txBody>
      </p:sp>
      <p:sp>
        <p:nvSpPr>
          <p:cNvPr id="21" name="Shape 15"/>
          <p:cNvSpPr/>
          <p:nvPr/>
        </p:nvSpPr>
        <p:spPr>
          <a:xfrm>
            <a:off x="1143000" y="2990088"/>
            <a:ext cx="0" cy="3063240"/>
          </a:xfrm>
          <a:prstGeom prst="line">
            <a:avLst/>
          </a:prstGeom>
          <a:noFill/>
          <a:ln w="19050">
            <a:solidFill>
              <a:srgbClr val="2A4670"/>
            </a:solidFill>
            <a:prstDash val="solid"/>
          </a:ln>
        </p:spPr>
        <p:txBody>
          <a:bodyPr/>
          <a:lstStyle/>
          <a:p>
            <a:endParaRPr lang="en-GB">
              <a:latin typeface="Aptos" panose="020B0004020202020204" pitchFamily="34" charset="0"/>
            </a:endParaRPr>
          </a:p>
        </p:txBody>
      </p:sp>
      <p:sp>
        <p:nvSpPr>
          <p:cNvPr id="22" name="Text 16"/>
          <p:cNvSpPr/>
          <p:nvPr/>
        </p:nvSpPr>
        <p:spPr>
          <a:xfrm>
            <a:off x="457200" y="2971800"/>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13 Feb</a:t>
            </a:r>
            <a:endParaRPr lang="en-US" sz="1150" dirty="0">
              <a:latin typeface="Aptos" panose="020B0004020202020204" pitchFamily="34" charset="0"/>
            </a:endParaRPr>
          </a:p>
        </p:txBody>
      </p:sp>
      <p:sp>
        <p:nvSpPr>
          <p:cNvPr id="23" name="Shape 17"/>
          <p:cNvSpPr/>
          <p:nvPr/>
        </p:nvSpPr>
        <p:spPr>
          <a:xfrm>
            <a:off x="1078992" y="302666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24" name="Text 18"/>
          <p:cNvSpPr/>
          <p:nvPr/>
        </p:nvSpPr>
        <p:spPr>
          <a:xfrm>
            <a:off x="1371600" y="2916936"/>
            <a:ext cx="6080760" cy="777240"/>
          </a:xfrm>
          <a:prstGeom prst="rect">
            <a:avLst/>
          </a:prstGeom>
          <a:noFill/>
          <a:ln/>
        </p:spPr>
        <p:txBody>
          <a:bodyPr wrap="square" lIns="0" tIns="0" rIns="0" bIns="0" rtlCol="0" anchor="t"/>
          <a:lstStyle/>
          <a:p>
            <a:pPr marL="0" indent="0">
              <a:lnSpc>
                <a:spcPct val="105000"/>
              </a:lnSpc>
              <a:buNone/>
            </a:pPr>
            <a:r>
              <a:rPr lang="en-US" sz="1100" dirty="0">
                <a:latin typeface="Aptos" panose="020B0004020202020204" pitchFamily="34" charset="0"/>
                <a:ea typeface="Calibri" pitchFamily="34" charset="-122"/>
                <a:cs typeface="Calibri" pitchFamily="34" charset="-120"/>
              </a:rPr>
              <a:t>US NRC officially accepts Holtec's Pioneer 1 &amp; 2 Construction Permit Application for review (Palisades, Michigan). Safety/environmental review due early-mid 2027.</a:t>
            </a:r>
            <a:endParaRPr lang="en-US" sz="1100" dirty="0">
              <a:latin typeface="Aptos" panose="020B0004020202020204" pitchFamily="34" charset="0"/>
            </a:endParaRPr>
          </a:p>
        </p:txBody>
      </p:sp>
      <p:sp>
        <p:nvSpPr>
          <p:cNvPr id="25" name="Text 19"/>
          <p:cNvSpPr/>
          <p:nvPr/>
        </p:nvSpPr>
        <p:spPr>
          <a:xfrm>
            <a:off x="457200" y="3794760"/>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31 Mar</a:t>
            </a:r>
            <a:endParaRPr lang="en-US" sz="1150" dirty="0">
              <a:latin typeface="Aptos" panose="020B0004020202020204" pitchFamily="34" charset="0"/>
            </a:endParaRPr>
          </a:p>
        </p:txBody>
      </p:sp>
      <p:sp>
        <p:nvSpPr>
          <p:cNvPr id="26" name="Shape 20"/>
          <p:cNvSpPr/>
          <p:nvPr/>
        </p:nvSpPr>
        <p:spPr>
          <a:xfrm>
            <a:off x="1078992" y="384962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27" name="Text 21"/>
          <p:cNvSpPr/>
          <p:nvPr/>
        </p:nvSpPr>
        <p:spPr>
          <a:xfrm>
            <a:off x="1371600" y="3739896"/>
            <a:ext cx="6080760" cy="777240"/>
          </a:xfrm>
          <a:prstGeom prst="rect">
            <a:avLst/>
          </a:prstGeom>
          <a:noFill/>
          <a:ln/>
        </p:spPr>
        <p:txBody>
          <a:bodyPr wrap="square" lIns="0" tIns="0" rIns="0" bIns="0" rtlCol="0" anchor="t"/>
          <a:lstStyle/>
          <a:p>
            <a:pPr marL="0" indent="0">
              <a:lnSpc>
                <a:spcPct val="105000"/>
              </a:lnSpc>
              <a:buNone/>
            </a:pPr>
            <a:r>
              <a:rPr lang="en-US" sz="1100" dirty="0">
                <a:latin typeface="Aptos" panose="020B0004020202020204" pitchFamily="34" charset="0"/>
                <a:ea typeface="Calibri" pitchFamily="34" charset="-122"/>
                <a:cs typeface="Calibri" pitchFamily="34" charset="-120"/>
              </a:rPr>
              <a:t>SMR-300 completes Step 2 of the UK Generic Design Assessment (GDA). No fundamental shortfalls across 21 technical areas; 14 regulatory observations to resolve.</a:t>
            </a:r>
            <a:endParaRPr lang="en-US" sz="1100" dirty="0">
              <a:latin typeface="Aptos" panose="020B0004020202020204" pitchFamily="34" charset="0"/>
            </a:endParaRPr>
          </a:p>
        </p:txBody>
      </p:sp>
      <p:sp>
        <p:nvSpPr>
          <p:cNvPr id="28" name="Text 22"/>
          <p:cNvSpPr/>
          <p:nvPr/>
        </p:nvSpPr>
        <p:spPr>
          <a:xfrm>
            <a:off x="457200" y="4617720"/>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23 Jun</a:t>
            </a:r>
            <a:endParaRPr lang="en-US" sz="1150" dirty="0">
              <a:latin typeface="Aptos" panose="020B0004020202020204" pitchFamily="34" charset="0"/>
            </a:endParaRPr>
          </a:p>
        </p:txBody>
      </p:sp>
      <p:sp>
        <p:nvSpPr>
          <p:cNvPr id="29" name="Shape 23"/>
          <p:cNvSpPr/>
          <p:nvPr/>
        </p:nvSpPr>
        <p:spPr>
          <a:xfrm>
            <a:off x="1078992" y="467258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30" name="Text 24"/>
          <p:cNvSpPr/>
          <p:nvPr/>
        </p:nvSpPr>
        <p:spPr>
          <a:xfrm>
            <a:off x="1371600" y="4562856"/>
            <a:ext cx="6080760" cy="777240"/>
          </a:xfrm>
          <a:prstGeom prst="rect">
            <a:avLst/>
          </a:prstGeom>
          <a:noFill/>
          <a:ln/>
        </p:spPr>
        <p:txBody>
          <a:bodyPr wrap="square" lIns="0" tIns="0" rIns="0" bIns="0" rtlCol="0" anchor="t"/>
          <a:lstStyle/>
          <a:p>
            <a:pPr marL="0" indent="0">
              <a:lnSpc>
                <a:spcPct val="105000"/>
              </a:lnSpc>
              <a:buNone/>
            </a:pPr>
            <a:r>
              <a:rPr lang="en-US" sz="1100" dirty="0">
                <a:latin typeface="Aptos" panose="020B0004020202020204" pitchFamily="34" charset="0"/>
                <a:ea typeface="Calibri" pitchFamily="34" charset="-122"/>
                <a:cs typeface="Calibri" pitchFamily="34" charset="-120"/>
              </a:rPr>
              <a:t>Holtec and EDF Energy sign Heads of Terms for a joint venture and jointly submit a proposal for up to four SMR-300 units at the former Cottam coal site, Nottinghamshire.</a:t>
            </a:r>
            <a:endParaRPr lang="en-US" sz="1100" dirty="0">
              <a:latin typeface="Aptos" panose="020B0004020202020204" pitchFamily="34" charset="0"/>
            </a:endParaRPr>
          </a:p>
        </p:txBody>
      </p:sp>
      <p:sp>
        <p:nvSpPr>
          <p:cNvPr id="31" name="Text 25"/>
          <p:cNvSpPr/>
          <p:nvPr/>
        </p:nvSpPr>
        <p:spPr>
          <a:xfrm>
            <a:off x="457200" y="5440680"/>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24 Jun</a:t>
            </a:r>
            <a:endParaRPr lang="en-US" sz="1150" dirty="0">
              <a:latin typeface="Aptos" panose="020B0004020202020204" pitchFamily="34" charset="0"/>
            </a:endParaRPr>
          </a:p>
        </p:txBody>
      </p:sp>
      <p:sp>
        <p:nvSpPr>
          <p:cNvPr id="32" name="Shape 26"/>
          <p:cNvSpPr/>
          <p:nvPr/>
        </p:nvSpPr>
        <p:spPr>
          <a:xfrm>
            <a:off x="1078992" y="549554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33" name="Text 27"/>
          <p:cNvSpPr/>
          <p:nvPr/>
        </p:nvSpPr>
        <p:spPr>
          <a:xfrm>
            <a:off x="1371600" y="5385816"/>
            <a:ext cx="6080760" cy="777240"/>
          </a:xfrm>
          <a:prstGeom prst="rect">
            <a:avLst/>
          </a:prstGeom>
          <a:noFill/>
          <a:ln/>
        </p:spPr>
        <p:txBody>
          <a:bodyPr wrap="square" lIns="0" tIns="0" rIns="0" bIns="0" rtlCol="0" anchor="t"/>
          <a:lstStyle/>
          <a:p>
            <a:pPr marL="0" indent="0">
              <a:lnSpc>
                <a:spcPct val="105000"/>
              </a:lnSpc>
              <a:buNone/>
            </a:pPr>
            <a:r>
              <a:rPr lang="en-US" sz="1100" dirty="0">
                <a:latin typeface="Aptos" panose="020B0004020202020204" pitchFamily="34" charset="0"/>
                <a:ea typeface="Calibri" pitchFamily="34" charset="-122"/>
                <a:cs typeface="Calibri" pitchFamily="34" charset="-120"/>
              </a:rPr>
              <a:t>Cottam proposal confirmed publicly: ~1.3GW capacity, targeting power for co-located data centres; Holtec signals plans for a larger UK operations centre and is evaluating a UK manufacturing plant.</a:t>
            </a:r>
            <a:endParaRPr lang="en-US" sz="1100" dirty="0">
              <a:latin typeface="Aptos" panose="020B0004020202020204" pitchFamily="34" charset="0"/>
            </a:endParaRPr>
          </a:p>
        </p:txBody>
      </p:sp>
      <p:sp>
        <p:nvSpPr>
          <p:cNvPr id="34" name="Shape 28"/>
          <p:cNvSpPr/>
          <p:nvPr/>
        </p:nvSpPr>
        <p:spPr>
          <a:xfrm>
            <a:off x="7772400" y="2606040"/>
            <a:ext cx="3977640" cy="3692018"/>
          </a:xfrm>
          <a:prstGeom prst="roundRect">
            <a:avLst>
              <a:gd name="adj" fmla="val 2133"/>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35" name="Image 4" descr="preencoded.png"/>
          <p:cNvPicPr>
            <a:picLocks noChangeAspect="1"/>
          </p:cNvPicPr>
          <p:nvPr/>
        </p:nvPicPr>
        <p:blipFill>
          <a:blip r:embed="rId7"/>
          <a:stretch>
            <a:fillRect/>
          </a:stretch>
        </p:blipFill>
        <p:spPr>
          <a:xfrm>
            <a:off x="8001000" y="2807208"/>
            <a:ext cx="329184" cy="329184"/>
          </a:xfrm>
          <a:prstGeom prst="rect">
            <a:avLst/>
          </a:prstGeom>
        </p:spPr>
      </p:pic>
      <p:sp>
        <p:nvSpPr>
          <p:cNvPr id="36" name="Text 29"/>
          <p:cNvSpPr/>
          <p:nvPr/>
        </p:nvSpPr>
        <p:spPr>
          <a:xfrm>
            <a:off x="8430768" y="2807208"/>
            <a:ext cx="3063240" cy="329184"/>
          </a:xfrm>
          <a:prstGeom prst="rect">
            <a:avLst/>
          </a:prstGeom>
          <a:noFill/>
          <a:ln/>
        </p:spPr>
        <p:txBody>
          <a:bodyPr wrap="square" lIns="0" tIns="0" rIns="0" bIns="0" rtlCol="0" anchor="ctr"/>
          <a:lstStyle/>
          <a:p>
            <a:pPr marL="0" indent="0">
              <a:buNone/>
            </a:pPr>
            <a:r>
              <a:rPr lang="en-US" sz="1300" b="1" kern="0" spc="50" dirty="0">
                <a:solidFill>
                  <a:srgbClr val="1FB6A6"/>
                </a:solidFill>
                <a:latin typeface="Aptos" panose="020B0004020202020204" pitchFamily="34" charset="0"/>
                <a:ea typeface="Calibri" pitchFamily="34" charset="-122"/>
                <a:cs typeface="Calibri" pitchFamily="34" charset="-120"/>
              </a:rPr>
              <a:t>WHAT IT MEANS FOR YOU</a:t>
            </a:r>
            <a:endParaRPr lang="en-US" sz="1300" dirty="0">
              <a:latin typeface="Aptos" panose="020B0004020202020204" pitchFamily="34" charset="0"/>
            </a:endParaRPr>
          </a:p>
        </p:txBody>
      </p:sp>
      <p:sp>
        <p:nvSpPr>
          <p:cNvPr id="37" name="Text 30"/>
          <p:cNvSpPr/>
          <p:nvPr/>
        </p:nvSpPr>
        <p:spPr>
          <a:xfrm>
            <a:off x="8046720" y="3264407"/>
            <a:ext cx="3429000" cy="2984753"/>
          </a:xfrm>
          <a:prstGeom prst="rect">
            <a:avLst/>
          </a:prstGeom>
          <a:noFill/>
          <a:ln/>
        </p:spPr>
        <p:txBody>
          <a:bodyPr wrap="square" lIns="0" tIns="0" rIns="0" bIns="0" rtlCol="0" anchor="t"/>
          <a:lstStyle/>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A second live UK SMR pipeline alongside Wylfa: South Yorkshire (factory) plus now Cottam (deployment site). More entry points beyond Rolls-Royce.</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70% UK-content ambition for the South Yorkshire factory mirrors Rolls-Royce's target. Early positioning now could pay off across both programmes.</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GDA Step 2 success is a strong safety-case signal, but Step 3 (site-specific) hasn't started. Cottam design work is the next real procurement trigger.</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Holtec is explicitly evaluating a UK manufacturing plant on top of South Yorkshire. A further, currently-open opportunity to watch.</a:t>
            </a:r>
          </a:p>
        </p:txBody>
      </p:sp>
      <p:pic>
        <p:nvPicPr>
          <p:cNvPr id="39" name="Picture 38">
            <a:extLst>
              <a:ext uri="{FF2B5EF4-FFF2-40B4-BE49-F238E27FC236}">
                <a16:creationId xmlns:a16="http://schemas.microsoft.com/office/drawing/2014/main" id="{A60AE81D-0521-15CC-89EB-42A6E842C75F}"/>
              </a:ext>
            </a:extLst>
          </p:cNvPr>
          <p:cNvPicPr>
            <a:picLocks noChangeAspect="1"/>
          </p:cNvPicPr>
          <p:nvPr/>
        </p:nvPicPr>
        <p:blipFill>
          <a:blip r:embed="rId8"/>
          <a:stretch>
            <a:fillRect/>
          </a:stretch>
        </p:blipFill>
        <p:spPr>
          <a:xfrm>
            <a:off x="11089768" y="15704"/>
            <a:ext cx="1069868" cy="1099864"/>
          </a:xfrm>
          <a:prstGeom prst="rect">
            <a:avLst/>
          </a:prstGeom>
        </p:spPr>
      </p:pic>
      <p:pic>
        <p:nvPicPr>
          <p:cNvPr id="41" name="Picture 40" descr="Holtec Britain - Holtec International">
            <a:extLst>
              <a:ext uri="{FF2B5EF4-FFF2-40B4-BE49-F238E27FC236}">
                <a16:creationId xmlns:a16="http://schemas.microsoft.com/office/drawing/2014/main" id="{7227FB24-A0CE-FDD3-5BF8-EC5305509541}"/>
              </a:ext>
            </a:extLst>
          </p:cNvPr>
          <p:cNvPicPr>
            <a:picLocks noChangeAspect="1"/>
          </p:cNvPicPr>
          <p:nvPr/>
        </p:nvPicPr>
        <p:blipFill>
          <a:blip r:embed="rId9"/>
          <a:stretch>
            <a:fillRect/>
          </a:stretch>
        </p:blipFill>
        <p:spPr>
          <a:xfrm>
            <a:off x="414686" y="28070"/>
            <a:ext cx="1306335" cy="816460"/>
          </a:xfrm>
          <a:prstGeom prst="rect">
            <a:avLst/>
          </a:prstGeom>
        </p:spPr>
      </p:pic>
      <p:sp>
        <p:nvSpPr>
          <p:cNvPr id="40" name="TextBox 39">
            <a:extLst>
              <a:ext uri="{FF2B5EF4-FFF2-40B4-BE49-F238E27FC236}">
                <a16:creationId xmlns:a16="http://schemas.microsoft.com/office/drawing/2014/main" id="{9DCF0D6B-B867-3756-89F9-90D2DE5AB66F}"/>
              </a:ext>
            </a:extLst>
          </p:cNvPr>
          <p:cNvSpPr txBox="1"/>
          <p:nvPr/>
        </p:nvSpPr>
        <p:spPr>
          <a:xfrm>
            <a:off x="44118" y="6654109"/>
            <a:ext cx="12152376" cy="200055"/>
          </a:xfrm>
          <a:prstGeom prst="rect">
            <a:avLst/>
          </a:prstGeom>
          <a:noFill/>
        </p:spPr>
        <p:txBody>
          <a:bodyPr wrap="square">
            <a:spAutoFit/>
          </a:bodyPr>
          <a:lstStyle/>
          <a:p>
            <a:pPr algn="ctr"/>
            <a:r>
              <a:rPr lang="en-GB" sz="700" b="1" i="0" u="none" strike="noStrike" noProof="0" dirty="0">
                <a:solidFill>
                  <a:srgbClr val="757575"/>
                </a:solidFill>
                <a:effectLst/>
                <a:latin typeface="Aptos Narrow" panose="020B0004020202020204" pitchFamily="34" charset="0"/>
              </a:rPr>
              <a:t>Commercial in Confidence - This document contains proprietary and commercially sensitive information. It is intended solely for the recipient(s) and should not be disclosed or distributed without written permission from Nuclear Collaboration Ltd (NucCol ltd) Co. no. 15937779 </a:t>
            </a:r>
            <a:r>
              <a:rPr lang="en-GB" sz="700" b="1" i="0" noProof="0" dirty="0">
                <a:solidFill>
                  <a:srgbClr val="000000"/>
                </a:solidFill>
                <a:effectLst/>
                <a:latin typeface="Aptos Narrow" panose="020B0004020202020204" pitchFamily="34" charset="0"/>
              </a:rPr>
              <a:t>​</a:t>
            </a:r>
            <a:endParaRPr lang="en-GB" sz="700" b="1" noProof="0" dirty="0"/>
          </a:p>
        </p:txBody>
      </p:sp>
    </p:spTree>
    <p:extLst>
      <p:ext uri="{BB962C8B-B14F-4D97-AF65-F5344CB8AC3E}">
        <p14:creationId xmlns:p14="http://schemas.microsoft.com/office/powerpoint/2010/main" val="1526644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92608"/>
            <a:ext cx="11247120" cy="548640"/>
          </a:xfrm>
          <a:prstGeom prst="rect">
            <a:avLst/>
          </a:prstGeom>
          <a:noFill/>
          <a:ln/>
        </p:spPr>
        <p:txBody>
          <a:bodyPr wrap="square" lIns="0" tIns="0" rIns="0" bIns="0" rtlCol="0" anchor="ctr"/>
          <a:lstStyle/>
          <a:p>
            <a:pPr marL="0" indent="0">
              <a:buNone/>
            </a:pPr>
            <a:r>
              <a:rPr lang="en-US" sz="3000" b="1" dirty="0">
                <a:latin typeface="Aptos" panose="020B0004020202020204" pitchFamily="34" charset="0"/>
                <a:ea typeface="Cambria" pitchFamily="34" charset="-122"/>
                <a:cs typeface="Cambria" pitchFamily="34" charset="-120"/>
              </a:rPr>
              <a:t>                </a:t>
            </a:r>
            <a:r>
              <a:rPr lang="en-US" sz="3000" b="1" dirty="0">
                <a:solidFill>
                  <a:schemeClr val="tx1"/>
                </a:solidFill>
                <a:latin typeface="Aptos" panose="020B0004020202020204" pitchFamily="34" charset="0"/>
                <a:ea typeface="Cambria" pitchFamily="34" charset="-122"/>
                <a:cs typeface="Cambria" pitchFamily="34" charset="-120"/>
              </a:rPr>
              <a:t>PWR-20: 2026 Programme Update</a:t>
            </a:r>
            <a:endParaRPr lang="en-US" sz="3000" dirty="0">
              <a:solidFill>
                <a:schemeClr val="tx1"/>
              </a:solidFill>
              <a:latin typeface="Aptos" panose="020B0004020202020204" pitchFamily="34" charset="0"/>
            </a:endParaRPr>
          </a:p>
        </p:txBody>
      </p:sp>
      <p:sp>
        <p:nvSpPr>
          <p:cNvPr id="3" name="Text 1"/>
          <p:cNvSpPr/>
          <p:nvPr/>
        </p:nvSpPr>
        <p:spPr>
          <a:xfrm>
            <a:off x="457200" y="786384"/>
            <a:ext cx="11247120" cy="320040"/>
          </a:xfrm>
          <a:prstGeom prst="rect">
            <a:avLst/>
          </a:prstGeom>
          <a:noFill/>
          <a:ln/>
        </p:spPr>
        <p:txBody>
          <a:bodyPr wrap="square" lIns="0" tIns="0" rIns="0" bIns="0" rtlCol="0" anchor="ctr"/>
          <a:lstStyle/>
          <a:p>
            <a:r>
              <a:rPr lang="en-US" sz="1400" i="1" dirty="0">
                <a:latin typeface="Aptos" panose="020B0004020202020204" pitchFamily="34" charset="0"/>
                <a:ea typeface="Calibri" pitchFamily="34" charset="-122"/>
                <a:cs typeface="Calibri" pitchFamily="34" charset="-120"/>
              </a:rPr>
              <a:t>UK nuclear sector briefing for F4N cohort July 2026</a:t>
            </a:r>
            <a:endParaRPr lang="en-US" sz="1400" dirty="0">
              <a:latin typeface="Aptos" panose="020B0004020202020204" pitchFamily="34" charset="0"/>
            </a:endParaRPr>
          </a:p>
        </p:txBody>
      </p:sp>
      <p:sp>
        <p:nvSpPr>
          <p:cNvPr id="4" name="Shape 2"/>
          <p:cNvSpPr/>
          <p:nvPr/>
        </p:nvSpPr>
        <p:spPr>
          <a:xfrm>
            <a:off x="45720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5" name="Image 0" descr="preencoded.png"/>
          <p:cNvPicPr>
            <a:picLocks noChangeAspect="1"/>
          </p:cNvPicPr>
          <p:nvPr/>
        </p:nvPicPr>
        <p:blipFill>
          <a:blip r:embed="rId3"/>
          <a:stretch>
            <a:fillRect/>
          </a:stretch>
        </p:blipFill>
        <p:spPr>
          <a:xfrm>
            <a:off x="621792" y="1481328"/>
            <a:ext cx="365760" cy="365760"/>
          </a:xfrm>
          <a:prstGeom prst="rect">
            <a:avLst/>
          </a:prstGeom>
        </p:spPr>
      </p:pic>
      <p:sp>
        <p:nvSpPr>
          <p:cNvPr id="6" name="Text 3"/>
          <p:cNvSpPr/>
          <p:nvPr/>
        </p:nvSpPr>
        <p:spPr>
          <a:xfrm>
            <a:off x="109728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Aptos" panose="020B0004020202020204" pitchFamily="34" charset="0"/>
                <a:ea typeface="Calibri" pitchFamily="34" charset="-122"/>
                <a:cs typeface="Calibri" pitchFamily="34" charset="-120"/>
              </a:rPr>
              <a:t>PDR passed</a:t>
            </a:r>
            <a:endParaRPr lang="en-US" sz="1600" dirty="0">
              <a:latin typeface="Aptos" panose="020B0004020202020204" pitchFamily="34" charset="0"/>
            </a:endParaRPr>
          </a:p>
        </p:txBody>
      </p:sp>
      <p:sp>
        <p:nvSpPr>
          <p:cNvPr id="7" name="Text 4"/>
          <p:cNvSpPr/>
          <p:nvPr/>
        </p:nvSpPr>
        <p:spPr>
          <a:xfrm>
            <a:off x="62179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First UK developer to</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complete </a:t>
            </a:r>
            <a:r>
              <a:rPr lang="en-GB" sz="950" dirty="0">
                <a:solidFill>
                  <a:srgbClr val="9FB3D1"/>
                </a:solidFill>
                <a:latin typeface="Aptos" panose="020B0004020202020204" pitchFamily="34" charset="0"/>
                <a:cs typeface="Calibri" pitchFamily="34" charset="-120"/>
              </a:rPr>
              <a:t>Preliminary Design Review </a:t>
            </a:r>
            <a:endParaRPr lang="en-US" sz="950" dirty="0">
              <a:solidFill>
                <a:srgbClr val="9FB3D1"/>
              </a:solidFill>
              <a:latin typeface="Aptos" panose="020B0004020202020204" pitchFamily="34" charset="0"/>
              <a:cs typeface="Calibri" pitchFamily="34" charset="-120"/>
            </a:endParaRPr>
          </a:p>
        </p:txBody>
      </p:sp>
      <p:sp>
        <p:nvSpPr>
          <p:cNvPr id="8" name="Shape 5"/>
          <p:cNvSpPr/>
          <p:nvPr/>
        </p:nvSpPr>
        <p:spPr>
          <a:xfrm>
            <a:off x="329184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9" name="Image 1" descr="preencoded.png"/>
          <p:cNvPicPr>
            <a:picLocks noChangeAspect="1"/>
          </p:cNvPicPr>
          <p:nvPr/>
        </p:nvPicPr>
        <p:blipFill>
          <a:blip r:embed="rId4"/>
          <a:stretch>
            <a:fillRect/>
          </a:stretch>
        </p:blipFill>
        <p:spPr>
          <a:xfrm>
            <a:off x="3456432" y="1481328"/>
            <a:ext cx="365760" cy="365760"/>
          </a:xfrm>
          <a:prstGeom prst="rect">
            <a:avLst/>
          </a:prstGeom>
        </p:spPr>
      </p:pic>
      <p:sp>
        <p:nvSpPr>
          <p:cNvPr id="10" name="Text 6"/>
          <p:cNvSpPr/>
          <p:nvPr/>
        </p:nvSpPr>
        <p:spPr>
          <a:xfrm>
            <a:off x="393192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Aptos" panose="020B0004020202020204" pitchFamily="34" charset="0"/>
                <a:ea typeface="Calibri" pitchFamily="34" charset="-122"/>
                <a:cs typeface="Calibri" pitchFamily="34" charset="-120"/>
              </a:rPr>
              <a:t>£80m</a:t>
            </a:r>
            <a:endParaRPr lang="en-US" sz="1600" dirty="0">
              <a:latin typeface="Aptos" panose="020B0004020202020204" pitchFamily="34" charset="0"/>
            </a:endParaRPr>
          </a:p>
        </p:txBody>
      </p:sp>
      <p:sp>
        <p:nvSpPr>
          <p:cNvPr id="11" name="Text 7"/>
          <p:cNvSpPr/>
          <p:nvPr/>
        </p:nvSpPr>
        <p:spPr>
          <a:xfrm>
            <a:off x="345643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DP World London</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Gateway microreactor</a:t>
            </a:r>
            <a:endParaRPr lang="en-US" sz="950" dirty="0">
              <a:latin typeface="Aptos" panose="020B0004020202020204" pitchFamily="34" charset="0"/>
            </a:endParaRPr>
          </a:p>
        </p:txBody>
      </p:sp>
      <p:sp>
        <p:nvSpPr>
          <p:cNvPr id="12" name="Shape 8"/>
          <p:cNvSpPr/>
          <p:nvPr/>
        </p:nvSpPr>
        <p:spPr>
          <a:xfrm>
            <a:off x="612648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3" name="Image 2" descr="preencoded.png"/>
          <p:cNvPicPr>
            <a:picLocks noChangeAspect="1"/>
          </p:cNvPicPr>
          <p:nvPr/>
        </p:nvPicPr>
        <p:blipFill>
          <a:blip r:embed="rId5"/>
          <a:stretch>
            <a:fillRect/>
          </a:stretch>
        </p:blipFill>
        <p:spPr>
          <a:xfrm>
            <a:off x="6291072" y="1481328"/>
            <a:ext cx="365760" cy="365760"/>
          </a:xfrm>
          <a:prstGeom prst="rect">
            <a:avLst/>
          </a:prstGeom>
        </p:spPr>
      </p:pic>
      <p:sp>
        <p:nvSpPr>
          <p:cNvPr id="14" name="Text 9"/>
          <p:cNvSpPr/>
          <p:nvPr/>
        </p:nvSpPr>
        <p:spPr>
          <a:xfrm>
            <a:off x="676656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Aptos" panose="020B0004020202020204" pitchFamily="34" charset="0"/>
                <a:ea typeface="Calibri" pitchFamily="34" charset="-122"/>
                <a:cs typeface="Calibri" pitchFamily="34" charset="-120"/>
              </a:rPr>
              <a:t>$100m+</a:t>
            </a:r>
            <a:endParaRPr lang="en-US" sz="1600" dirty="0">
              <a:latin typeface="Aptos" panose="020B0004020202020204" pitchFamily="34" charset="0"/>
            </a:endParaRPr>
          </a:p>
        </p:txBody>
      </p:sp>
      <p:sp>
        <p:nvSpPr>
          <p:cNvPr id="15" name="Text 10"/>
          <p:cNvSpPr/>
          <p:nvPr/>
        </p:nvSpPr>
        <p:spPr>
          <a:xfrm>
            <a:off x="629107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Series C funding,</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closed Dec 2025</a:t>
            </a:r>
            <a:endParaRPr lang="en-US" sz="950" dirty="0">
              <a:latin typeface="Aptos" panose="020B0004020202020204" pitchFamily="34" charset="0"/>
            </a:endParaRPr>
          </a:p>
        </p:txBody>
      </p:sp>
      <p:sp>
        <p:nvSpPr>
          <p:cNvPr id="16" name="Shape 11"/>
          <p:cNvSpPr/>
          <p:nvPr/>
        </p:nvSpPr>
        <p:spPr>
          <a:xfrm>
            <a:off x="896112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7" name="Image 3" descr="preencoded.png"/>
          <p:cNvPicPr>
            <a:picLocks noChangeAspect="1"/>
          </p:cNvPicPr>
          <p:nvPr/>
        </p:nvPicPr>
        <p:blipFill>
          <a:blip r:embed="rId6"/>
          <a:stretch>
            <a:fillRect/>
          </a:stretch>
        </p:blipFill>
        <p:spPr>
          <a:xfrm>
            <a:off x="9125712" y="1481328"/>
            <a:ext cx="365760" cy="365760"/>
          </a:xfrm>
          <a:prstGeom prst="rect">
            <a:avLst/>
          </a:prstGeom>
        </p:spPr>
      </p:pic>
      <p:sp>
        <p:nvSpPr>
          <p:cNvPr id="18" name="Text 12"/>
          <p:cNvSpPr/>
          <p:nvPr/>
        </p:nvSpPr>
        <p:spPr>
          <a:xfrm>
            <a:off x="960120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Aptos" panose="020B0004020202020204" pitchFamily="34" charset="0"/>
                <a:ea typeface="Calibri" pitchFamily="34" charset="-122"/>
                <a:cs typeface="Calibri" pitchFamily="34" charset="-120"/>
              </a:rPr>
              <a:t>SIP filed</a:t>
            </a:r>
            <a:endParaRPr lang="en-US" sz="1600" dirty="0">
              <a:latin typeface="Aptos" panose="020B0004020202020204" pitchFamily="34" charset="0"/>
            </a:endParaRPr>
          </a:p>
        </p:txBody>
      </p:sp>
      <p:sp>
        <p:nvSpPr>
          <p:cNvPr id="19" name="Text 13"/>
          <p:cNvSpPr/>
          <p:nvPr/>
        </p:nvSpPr>
        <p:spPr>
          <a:xfrm>
            <a:off x="912571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Llynfi planning notice,</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11 June 2026</a:t>
            </a:r>
            <a:endParaRPr lang="en-US" sz="950" dirty="0">
              <a:latin typeface="Aptos" panose="020B0004020202020204" pitchFamily="34" charset="0"/>
            </a:endParaRPr>
          </a:p>
        </p:txBody>
      </p:sp>
      <p:sp>
        <p:nvSpPr>
          <p:cNvPr id="20" name="Text 14"/>
          <p:cNvSpPr/>
          <p:nvPr/>
        </p:nvSpPr>
        <p:spPr>
          <a:xfrm>
            <a:off x="457200" y="2606040"/>
            <a:ext cx="7040880" cy="274320"/>
          </a:xfrm>
          <a:prstGeom prst="rect">
            <a:avLst/>
          </a:prstGeom>
          <a:noFill/>
          <a:ln/>
        </p:spPr>
        <p:txBody>
          <a:bodyPr wrap="square" lIns="0" tIns="0" rIns="0" bIns="0" rtlCol="0" anchor="ctr"/>
          <a:lstStyle/>
          <a:p>
            <a:pPr marL="0" indent="0">
              <a:buNone/>
            </a:pPr>
            <a:r>
              <a:rPr lang="en-US" sz="1300" b="1" kern="0" spc="100" dirty="0">
                <a:latin typeface="Aptos" panose="020B0004020202020204" pitchFamily="34" charset="0"/>
                <a:ea typeface="Calibri" pitchFamily="34" charset="-122"/>
                <a:cs typeface="Calibri" pitchFamily="34" charset="-120"/>
              </a:rPr>
              <a:t>2025–26 STATUS TIMELINE</a:t>
            </a:r>
            <a:endParaRPr lang="en-US" sz="1300" dirty="0">
              <a:latin typeface="Aptos" panose="020B0004020202020204" pitchFamily="34" charset="0"/>
            </a:endParaRPr>
          </a:p>
        </p:txBody>
      </p:sp>
      <p:sp>
        <p:nvSpPr>
          <p:cNvPr id="21" name="Shape 15"/>
          <p:cNvSpPr/>
          <p:nvPr/>
        </p:nvSpPr>
        <p:spPr>
          <a:xfrm>
            <a:off x="1234440" y="2990088"/>
            <a:ext cx="0" cy="3063240"/>
          </a:xfrm>
          <a:prstGeom prst="line">
            <a:avLst/>
          </a:prstGeom>
          <a:noFill/>
          <a:ln w="19050">
            <a:solidFill>
              <a:srgbClr val="2A4670"/>
            </a:solidFill>
            <a:prstDash val="solid"/>
          </a:ln>
        </p:spPr>
        <p:txBody>
          <a:bodyPr/>
          <a:lstStyle/>
          <a:p>
            <a:endParaRPr lang="en-GB">
              <a:latin typeface="Aptos" panose="020B0004020202020204" pitchFamily="34" charset="0"/>
            </a:endParaRPr>
          </a:p>
        </p:txBody>
      </p:sp>
      <p:sp>
        <p:nvSpPr>
          <p:cNvPr id="22" name="Text 16"/>
          <p:cNvSpPr/>
          <p:nvPr/>
        </p:nvSpPr>
        <p:spPr>
          <a:xfrm>
            <a:off x="457200" y="2971800"/>
            <a:ext cx="685800" cy="365760"/>
          </a:xfrm>
          <a:prstGeom prst="rect">
            <a:avLst/>
          </a:prstGeom>
          <a:noFill/>
          <a:ln/>
        </p:spPr>
        <p:txBody>
          <a:bodyPr wrap="square" lIns="0" tIns="0" rIns="0" bIns="0" rtlCol="0" anchor="ctr"/>
          <a:lstStyle/>
          <a:p>
            <a:pPr marL="0" indent="0" algn="r">
              <a:buNone/>
            </a:pPr>
            <a:r>
              <a:rPr lang="en-US" sz="1100" b="1" dirty="0">
                <a:latin typeface="Aptos" panose="020B0004020202020204" pitchFamily="34" charset="0"/>
                <a:ea typeface="Calibri" pitchFamily="34" charset="-122"/>
                <a:cs typeface="Calibri" pitchFamily="34" charset="-120"/>
              </a:rPr>
              <a:t>Jun '25</a:t>
            </a:r>
            <a:endParaRPr lang="en-US" sz="1100" dirty="0">
              <a:latin typeface="Aptos" panose="020B0004020202020204" pitchFamily="34" charset="0"/>
            </a:endParaRPr>
          </a:p>
        </p:txBody>
      </p:sp>
      <p:sp>
        <p:nvSpPr>
          <p:cNvPr id="23" name="Shape 17"/>
          <p:cNvSpPr/>
          <p:nvPr/>
        </p:nvSpPr>
        <p:spPr>
          <a:xfrm>
            <a:off x="1170432" y="302666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24" name="Text 18"/>
          <p:cNvSpPr/>
          <p:nvPr/>
        </p:nvSpPr>
        <p:spPr>
          <a:xfrm>
            <a:off x="1463040" y="2916936"/>
            <a:ext cx="5989320" cy="777240"/>
          </a:xfrm>
          <a:prstGeom prst="rect">
            <a:avLst/>
          </a:prstGeom>
          <a:noFill/>
          <a:ln/>
        </p:spPr>
        <p:txBody>
          <a:bodyPr wrap="square" lIns="0" tIns="0" rIns="0" bIns="0" rtlCol="0" anchor="t"/>
          <a:lstStyle/>
          <a:p>
            <a:pPr marL="0" indent="0">
              <a:lnSpc>
                <a:spcPct val="105000"/>
              </a:lnSpc>
              <a:buNone/>
            </a:pPr>
            <a:r>
              <a:rPr lang="en-US" sz="1100" dirty="0">
                <a:latin typeface="Aptos" panose="020B0004020202020204" pitchFamily="34" charset="0"/>
                <a:ea typeface="Calibri" pitchFamily="34" charset="-122"/>
                <a:cs typeface="Calibri" pitchFamily="34" charset="-120"/>
              </a:rPr>
              <a:t>PWR-20 completes the UK's first-ever Preliminary Design Review; ONR says a December 2027 site licence decision remains achievable if Last Energy delivers to schedule.</a:t>
            </a:r>
            <a:endParaRPr lang="en-US" sz="1100" dirty="0">
              <a:latin typeface="Aptos" panose="020B0004020202020204" pitchFamily="34" charset="0"/>
            </a:endParaRPr>
          </a:p>
        </p:txBody>
      </p:sp>
      <p:sp>
        <p:nvSpPr>
          <p:cNvPr id="25" name="Text 19"/>
          <p:cNvSpPr/>
          <p:nvPr/>
        </p:nvSpPr>
        <p:spPr>
          <a:xfrm>
            <a:off x="457200" y="3794760"/>
            <a:ext cx="685800" cy="365760"/>
          </a:xfrm>
          <a:prstGeom prst="rect">
            <a:avLst/>
          </a:prstGeom>
          <a:noFill/>
          <a:ln/>
        </p:spPr>
        <p:txBody>
          <a:bodyPr wrap="square" lIns="0" tIns="0" rIns="0" bIns="0" rtlCol="0" anchor="ctr"/>
          <a:lstStyle/>
          <a:p>
            <a:pPr marL="0" indent="0" algn="r">
              <a:buNone/>
            </a:pPr>
            <a:r>
              <a:rPr lang="en-US" sz="1100" b="1" dirty="0">
                <a:latin typeface="Aptos" panose="020B0004020202020204" pitchFamily="34" charset="0"/>
                <a:ea typeface="Calibri" pitchFamily="34" charset="-122"/>
                <a:cs typeface="Calibri" pitchFamily="34" charset="-120"/>
              </a:rPr>
              <a:t>Sep '25</a:t>
            </a:r>
            <a:endParaRPr lang="en-US" sz="1100" dirty="0">
              <a:latin typeface="Aptos" panose="020B0004020202020204" pitchFamily="34" charset="0"/>
            </a:endParaRPr>
          </a:p>
        </p:txBody>
      </p:sp>
      <p:sp>
        <p:nvSpPr>
          <p:cNvPr id="26" name="Shape 20"/>
          <p:cNvSpPr/>
          <p:nvPr/>
        </p:nvSpPr>
        <p:spPr>
          <a:xfrm>
            <a:off x="1170432" y="384962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27" name="Text 21"/>
          <p:cNvSpPr/>
          <p:nvPr/>
        </p:nvSpPr>
        <p:spPr>
          <a:xfrm>
            <a:off x="1463040" y="3739896"/>
            <a:ext cx="5989320" cy="777240"/>
          </a:xfrm>
          <a:prstGeom prst="rect">
            <a:avLst/>
          </a:prstGeom>
          <a:noFill/>
          <a:ln/>
        </p:spPr>
        <p:txBody>
          <a:bodyPr wrap="square" lIns="0" tIns="0" rIns="0" bIns="0" rtlCol="0" anchor="t"/>
          <a:lstStyle/>
          <a:p>
            <a:pPr marL="0" indent="0">
              <a:lnSpc>
                <a:spcPct val="105000"/>
              </a:lnSpc>
              <a:buNone/>
            </a:pPr>
            <a:r>
              <a:rPr lang="en-US" sz="1100" dirty="0">
                <a:latin typeface="Aptos" panose="020B0004020202020204" pitchFamily="34" charset="0"/>
                <a:ea typeface="Calibri" pitchFamily="34" charset="-122"/>
                <a:cs typeface="Calibri" pitchFamily="34" charset="-120"/>
              </a:rPr>
              <a:t>MoU signed with DP World for an £80m, subsidy-free micro-nuclear plant at London Gateway (Thames Freeport, Essex). Targeting operation in 2030.</a:t>
            </a:r>
            <a:r>
              <a:rPr lang="en-GB" dirty="0"/>
              <a:t> </a:t>
            </a:r>
            <a:r>
              <a:rPr lang="en-GB" sz="1100" dirty="0">
                <a:latin typeface="Aptos" panose="020B0004020202020204" pitchFamily="34" charset="0"/>
                <a:cs typeface="Calibri" pitchFamily="34" charset="-120"/>
              </a:rPr>
              <a:t>Support the port's £1 billion terminal expansion and its all-electric berths.</a:t>
            </a:r>
            <a:endParaRPr lang="en-US" sz="1100" dirty="0">
              <a:latin typeface="Aptos" panose="020B0004020202020204" pitchFamily="34" charset="0"/>
              <a:cs typeface="Calibri" pitchFamily="34" charset="-120"/>
            </a:endParaRPr>
          </a:p>
        </p:txBody>
      </p:sp>
      <p:sp>
        <p:nvSpPr>
          <p:cNvPr id="28" name="Text 22"/>
          <p:cNvSpPr/>
          <p:nvPr/>
        </p:nvSpPr>
        <p:spPr>
          <a:xfrm>
            <a:off x="457200" y="4617720"/>
            <a:ext cx="685800" cy="365760"/>
          </a:xfrm>
          <a:prstGeom prst="rect">
            <a:avLst/>
          </a:prstGeom>
          <a:noFill/>
          <a:ln/>
        </p:spPr>
        <p:txBody>
          <a:bodyPr wrap="square" lIns="0" tIns="0" rIns="0" bIns="0" rtlCol="0" anchor="ctr"/>
          <a:lstStyle/>
          <a:p>
            <a:pPr marL="0" indent="0" algn="r">
              <a:buNone/>
            </a:pPr>
            <a:r>
              <a:rPr lang="en-US" sz="1100" b="1" dirty="0">
                <a:latin typeface="Aptos" panose="020B0004020202020204" pitchFamily="34" charset="0"/>
                <a:ea typeface="Calibri" pitchFamily="34" charset="-122"/>
                <a:cs typeface="Calibri" pitchFamily="34" charset="-120"/>
              </a:rPr>
              <a:t>Dec '25</a:t>
            </a:r>
            <a:endParaRPr lang="en-US" sz="1100" dirty="0">
              <a:latin typeface="Aptos" panose="020B0004020202020204" pitchFamily="34" charset="0"/>
            </a:endParaRPr>
          </a:p>
        </p:txBody>
      </p:sp>
      <p:sp>
        <p:nvSpPr>
          <p:cNvPr id="29" name="Shape 23"/>
          <p:cNvSpPr/>
          <p:nvPr/>
        </p:nvSpPr>
        <p:spPr>
          <a:xfrm>
            <a:off x="1170432" y="467258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30" name="Text 24"/>
          <p:cNvSpPr/>
          <p:nvPr/>
        </p:nvSpPr>
        <p:spPr>
          <a:xfrm>
            <a:off x="1463040" y="4562856"/>
            <a:ext cx="5989320" cy="777240"/>
          </a:xfrm>
          <a:prstGeom prst="rect">
            <a:avLst/>
          </a:prstGeom>
          <a:noFill/>
          <a:ln/>
        </p:spPr>
        <p:txBody>
          <a:bodyPr wrap="square" lIns="0" tIns="0" rIns="0" bIns="0" rtlCol="0" anchor="t"/>
          <a:lstStyle/>
          <a:p>
            <a:pPr>
              <a:lnSpc>
                <a:spcPct val="105000"/>
              </a:lnSpc>
            </a:pPr>
            <a:r>
              <a:rPr lang="en-US" sz="1100" dirty="0">
                <a:latin typeface="Aptos" panose="020B0004020202020204" pitchFamily="34" charset="0"/>
                <a:ea typeface="Calibri" pitchFamily="34" charset="-122"/>
                <a:cs typeface="Calibri" pitchFamily="34" charset="-120"/>
              </a:rPr>
              <a:t>Closes an </a:t>
            </a:r>
            <a:r>
              <a:rPr lang="en-US" sz="1100" dirty="0">
                <a:latin typeface="Aptos" panose="020B0004020202020204" pitchFamily="34" charset="0"/>
                <a:cs typeface="Calibri" pitchFamily="34" charset="-120"/>
              </a:rPr>
              <a:t>oversubscribed </a:t>
            </a:r>
            <a:r>
              <a:rPr lang="en-GB" sz="1100" dirty="0">
                <a:latin typeface="Aptos" panose="020B0004020202020204" pitchFamily="34" charset="0"/>
                <a:cs typeface="Calibri" pitchFamily="34" charset="-120"/>
              </a:rPr>
              <a:t>third major round of investment </a:t>
            </a:r>
            <a:r>
              <a:rPr lang="en-US" sz="1100" dirty="0">
                <a:latin typeface="Aptos" panose="020B0004020202020204" pitchFamily="34" charset="0"/>
                <a:ea typeface="Calibri" pitchFamily="34" charset="-122"/>
                <a:cs typeface="Calibri" pitchFamily="34" charset="-120"/>
              </a:rPr>
              <a:t>of $100m+, led by Astera Institute, strengthening the balance sheet behind its UK projects.</a:t>
            </a:r>
            <a:endParaRPr lang="en-US" sz="1100" dirty="0">
              <a:latin typeface="Aptos" panose="020B0004020202020204" pitchFamily="34" charset="0"/>
            </a:endParaRPr>
          </a:p>
        </p:txBody>
      </p:sp>
      <p:sp>
        <p:nvSpPr>
          <p:cNvPr id="31" name="Text 25"/>
          <p:cNvSpPr/>
          <p:nvPr/>
        </p:nvSpPr>
        <p:spPr>
          <a:xfrm>
            <a:off x="457200" y="5440680"/>
            <a:ext cx="685800" cy="365760"/>
          </a:xfrm>
          <a:prstGeom prst="rect">
            <a:avLst/>
          </a:prstGeom>
          <a:noFill/>
          <a:ln/>
        </p:spPr>
        <p:txBody>
          <a:bodyPr wrap="square" lIns="0" tIns="0" rIns="0" bIns="0" rtlCol="0" anchor="ctr"/>
          <a:lstStyle/>
          <a:p>
            <a:pPr marL="0" indent="0" algn="r">
              <a:buNone/>
            </a:pPr>
            <a:r>
              <a:rPr lang="en-US" sz="1100" b="1" dirty="0">
                <a:latin typeface="Aptos" panose="020B0004020202020204" pitchFamily="34" charset="0"/>
                <a:ea typeface="Calibri" pitchFamily="34" charset="-122"/>
                <a:cs typeface="Calibri" pitchFamily="34" charset="-120"/>
              </a:rPr>
              <a:t>11 Jun '26</a:t>
            </a:r>
            <a:endParaRPr lang="en-US" sz="1100" dirty="0">
              <a:latin typeface="Aptos" panose="020B0004020202020204" pitchFamily="34" charset="0"/>
            </a:endParaRPr>
          </a:p>
        </p:txBody>
      </p:sp>
      <p:sp>
        <p:nvSpPr>
          <p:cNvPr id="32" name="Shape 26"/>
          <p:cNvSpPr/>
          <p:nvPr/>
        </p:nvSpPr>
        <p:spPr>
          <a:xfrm>
            <a:off x="1170432" y="549554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33" name="Text 27"/>
          <p:cNvSpPr/>
          <p:nvPr/>
        </p:nvSpPr>
        <p:spPr>
          <a:xfrm>
            <a:off x="1463040" y="5385816"/>
            <a:ext cx="5989320" cy="777240"/>
          </a:xfrm>
          <a:prstGeom prst="rect">
            <a:avLst/>
          </a:prstGeom>
          <a:noFill/>
          <a:ln/>
        </p:spPr>
        <p:txBody>
          <a:bodyPr wrap="square" lIns="0" tIns="0" rIns="0" bIns="0" rtlCol="0" anchor="t"/>
          <a:lstStyle/>
          <a:p>
            <a:pPr marL="0" indent="0">
              <a:lnSpc>
                <a:spcPct val="105000"/>
              </a:lnSpc>
              <a:buNone/>
            </a:pPr>
            <a:r>
              <a:rPr lang="en-US" sz="1100" dirty="0">
                <a:latin typeface="Aptos" panose="020B0004020202020204" pitchFamily="34" charset="0"/>
                <a:ea typeface="Calibri" pitchFamily="34" charset="-122"/>
                <a:cs typeface="Calibri" pitchFamily="34" charset="-120"/>
              </a:rPr>
              <a:t>Last Energy UK notifies Welsh Government of intent to submit a Significant Infrastructure Project application for the 4-unit Llynfi (Bridgend) project; formal application expected July </a:t>
            </a:r>
            <a:r>
              <a:rPr lang="en-US" sz="1100" dirty="0">
                <a:latin typeface="Aptos" panose="020B0004020202020204" pitchFamily="34" charset="0"/>
                <a:cs typeface="Calibri" pitchFamily="34" charset="-120"/>
              </a:rPr>
              <a:t>2026.</a:t>
            </a:r>
            <a:r>
              <a:rPr lang="en-GB" sz="1100" dirty="0">
                <a:latin typeface="Aptos" panose="020B0004020202020204" pitchFamily="34" charset="0"/>
                <a:cs typeface="Calibri" pitchFamily="34" charset="-120"/>
              </a:rPr>
              <a:t> Selling to local industrial customers, including mid-size manufacturers and various commercial businesses in the region.</a:t>
            </a:r>
            <a:endParaRPr lang="en-US" sz="1100" dirty="0">
              <a:latin typeface="Aptos" panose="020B0004020202020204" pitchFamily="34" charset="0"/>
              <a:cs typeface="Calibri" pitchFamily="34" charset="-120"/>
            </a:endParaRPr>
          </a:p>
        </p:txBody>
      </p:sp>
      <p:sp>
        <p:nvSpPr>
          <p:cNvPr id="34" name="Shape 28"/>
          <p:cNvSpPr/>
          <p:nvPr/>
        </p:nvSpPr>
        <p:spPr>
          <a:xfrm>
            <a:off x="7772400" y="2606039"/>
            <a:ext cx="3977640" cy="3728857"/>
          </a:xfrm>
          <a:prstGeom prst="roundRect">
            <a:avLst>
              <a:gd name="adj" fmla="val 2133"/>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35" name="Image 4" descr="preencoded.png"/>
          <p:cNvPicPr>
            <a:picLocks noChangeAspect="1"/>
          </p:cNvPicPr>
          <p:nvPr/>
        </p:nvPicPr>
        <p:blipFill>
          <a:blip r:embed="rId7"/>
          <a:stretch>
            <a:fillRect/>
          </a:stretch>
        </p:blipFill>
        <p:spPr>
          <a:xfrm>
            <a:off x="8001000" y="2807208"/>
            <a:ext cx="329184" cy="329184"/>
          </a:xfrm>
          <a:prstGeom prst="rect">
            <a:avLst/>
          </a:prstGeom>
        </p:spPr>
      </p:pic>
      <p:sp>
        <p:nvSpPr>
          <p:cNvPr id="36" name="Text 29"/>
          <p:cNvSpPr/>
          <p:nvPr/>
        </p:nvSpPr>
        <p:spPr>
          <a:xfrm>
            <a:off x="8430768" y="2807208"/>
            <a:ext cx="3063240" cy="329184"/>
          </a:xfrm>
          <a:prstGeom prst="rect">
            <a:avLst/>
          </a:prstGeom>
          <a:noFill/>
          <a:ln/>
        </p:spPr>
        <p:txBody>
          <a:bodyPr wrap="square" lIns="0" tIns="0" rIns="0" bIns="0" rtlCol="0" anchor="ctr"/>
          <a:lstStyle/>
          <a:p>
            <a:pPr marL="0" indent="0">
              <a:buNone/>
            </a:pPr>
            <a:r>
              <a:rPr lang="en-US" sz="1300" b="1" kern="0" spc="50" dirty="0">
                <a:solidFill>
                  <a:srgbClr val="1FB6A6"/>
                </a:solidFill>
                <a:latin typeface="Aptos" panose="020B0004020202020204" pitchFamily="34" charset="0"/>
                <a:ea typeface="Calibri" pitchFamily="34" charset="-122"/>
                <a:cs typeface="Calibri" pitchFamily="34" charset="-120"/>
              </a:rPr>
              <a:t>WHAT IT MEANS FOR YOU</a:t>
            </a:r>
            <a:endParaRPr lang="en-US" sz="1300" dirty="0">
              <a:latin typeface="Aptos" panose="020B0004020202020204" pitchFamily="34" charset="0"/>
            </a:endParaRPr>
          </a:p>
        </p:txBody>
      </p:sp>
      <p:sp>
        <p:nvSpPr>
          <p:cNvPr id="37" name="Text 30"/>
          <p:cNvSpPr/>
          <p:nvPr/>
        </p:nvSpPr>
        <p:spPr>
          <a:xfrm>
            <a:off x="8046720" y="3227832"/>
            <a:ext cx="3429000" cy="2606040"/>
          </a:xfrm>
          <a:prstGeom prst="rect">
            <a:avLst/>
          </a:prstGeom>
          <a:noFill/>
          <a:ln/>
        </p:spPr>
        <p:txBody>
          <a:bodyPr wrap="square" lIns="0" tIns="0" rIns="0" bIns="0" rtlCol="0" anchor="t"/>
          <a:lstStyle/>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A fundamentally different model: no government competition to win. Last Energy builds, owns and operates plants, selling power directly to industrial customers on-site, entirely privately financed.</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At 20MWe, PWR-20 uses roughly 40 truck-transportable modules. Far smaller, simpler components than the 300-470MWe reactors from Rolls-Royce, Holtec or Westinghouse, and a more accessible entry point for smaller manufacturers.</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Two live UK sites now in play (Llynfi, Wales and London Gateway, Essex) plus international deals. A growing pipeline, but no Last Energy reactor has been built anywhere yet.</a:t>
            </a:r>
          </a:p>
        </p:txBody>
      </p:sp>
      <p:pic>
        <p:nvPicPr>
          <p:cNvPr id="39" name="Picture 38">
            <a:extLst>
              <a:ext uri="{FF2B5EF4-FFF2-40B4-BE49-F238E27FC236}">
                <a16:creationId xmlns:a16="http://schemas.microsoft.com/office/drawing/2014/main" id="{70A2BC6B-E1D6-7260-D296-1D2B752B38C6}"/>
              </a:ext>
            </a:extLst>
          </p:cNvPr>
          <p:cNvPicPr>
            <a:picLocks noChangeAspect="1"/>
          </p:cNvPicPr>
          <p:nvPr/>
        </p:nvPicPr>
        <p:blipFill>
          <a:blip r:embed="rId8"/>
          <a:stretch>
            <a:fillRect/>
          </a:stretch>
        </p:blipFill>
        <p:spPr>
          <a:xfrm>
            <a:off x="11089768" y="15704"/>
            <a:ext cx="1069868" cy="1099864"/>
          </a:xfrm>
          <a:prstGeom prst="rect">
            <a:avLst/>
          </a:prstGeom>
        </p:spPr>
      </p:pic>
      <p:pic>
        <p:nvPicPr>
          <p:cNvPr id="40" name="Picture 39">
            <a:extLst>
              <a:ext uri="{FF2B5EF4-FFF2-40B4-BE49-F238E27FC236}">
                <a16:creationId xmlns:a16="http://schemas.microsoft.com/office/drawing/2014/main" id="{B25ED3F0-4A60-FCAB-6273-FB34B26C6FD6}"/>
              </a:ext>
            </a:extLst>
          </p:cNvPr>
          <p:cNvPicPr>
            <a:picLocks noChangeAspect="1"/>
          </p:cNvPicPr>
          <p:nvPr/>
        </p:nvPicPr>
        <p:blipFill>
          <a:blip r:embed="rId9"/>
          <a:stretch>
            <a:fillRect/>
          </a:stretch>
        </p:blipFill>
        <p:spPr>
          <a:xfrm>
            <a:off x="176394" y="246888"/>
            <a:ext cx="1462402" cy="588663"/>
          </a:xfrm>
          <a:prstGeom prst="rect">
            <a:avLst/>
          </a:prstGeom>
        </p:spPr>
      </p:pic>
      <p:sp>
        <p:nvSpPr>
          <p:cNvPr id="41" name="TextBox 40">
            <a:extLst>
              <a:ext uri="{FF2B5EF4-FFF2-40B4-BE49-F238E27FC236}">
                <a16:creationId xmlns:a16="http://schemas.microsoft.com/office/drawing/2014/main" id="{27791EE0-5FCD-ECC6-7434-DEE2CD71187E}"/>
              </a:ext>
            </a:extLst>
          </p:cNvPr>
          <p:cNvSpPr txBox="1"/>
          <p:nvPr/>
        </p:nvSpPr>
        <p:spPr>
          <a:xfrm>
            <a:off x="44118" y="6654109"/>
            <a:ext cx="12152376" cy="200055"/>
          </a:xfrm>
          <a:prstGeom prst="rect">
            <a:avLst/>
          </a:prstGeom>
          <a:noFill/>
        </p:spPr>
        <p:txBody>
          <a:bodyPr wrap="square">
            <a:spAutoFit/>
          </a:bodyPr>
          <a:lstStyle/>
          <a:p>
            <a:pPr algn="ctr"/>
            <a:r>
              <a:rPr lang="en-GB" sz="700" b="1" i="0" u="none" strike="noStrike" noProof="0" dirty="0">
                <a:solidFill>
                  <a:srgbClr val="757575"/>
                </a:solidFill>
                <a:effectLst/>
                <a:latin typeface="Aptos Narrow" panose="020B0004020202020204" pitchFamily="34" charset="0"/>
              </a:rPr>
              <a:t>Commercial in Confidence - This document contains proprietary and commercially sensitive information. It is intended solely for the recipient(s) and should not be disclosed or distributed without written permission from Nuclear Collaboration Ltd (NucCol ltd) Co. no. 15937779 </a:t>
            </a:r>
            <a:r>
              <a:rPr lang="en-GB" sz="700" b="1" i="0" noProof="0" dirty="0">
                <a:solidFill>
                  <a:srgbClr val="000000"/>
                </a:solidFill>
                <a:effectLst/>
                <a:latin typeface="Aptos Narrow" panose="020B0004020202020204" pitchFamily="34" charset="0"/>
              </a:rPr>
              <a:t>​</a:t>
            </a:r>
            <a:endParaRPr lang="en-GB" sz="700" b="1" noProof="0" dirty="0"/>
          </a:p>
        </p:txBody>
      </p:sp>
    </p:spTree>
    <p:extLst>
      <p:ext uri="{BB962C8B-B14F-4D97-AF65-F5344CB8AC3E}">
        <p14:creationId xmlns:p14="http://schemas.microsoft.com/office/powerpoint/2010/main" val="3877386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489AA2C5-6D84-BCFB-17D6-E3511C296DFE}"/>
              </a:ext>
            </a:extLst>
          </p:cNvPr>
          <p:cNvSpPr/>
          <p:nvPr/>
        </p:nvSpPr>
        <p:spPr>
          <a:xfrm>
            <a:off x="0" y="0"/>
            <a:ext cx="1219200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 name="Text 0"/>
          <p:cNvSpPr/>
          <p:nvPr/>
        </p:nvSpPr>
        <p:spPr>
          <a:xfrm>
            <a:off x="457200" y="292608"/>
            <a:ext cx="11247120" cy="548640"/>
          </a:xfrm>
          <a:prstGeom prst="rect">
            <a:avLst/>
          </a:prstGeom>
          <a:noFill/>
          <a:ln/>
        </p:spPr>
        <p:txBody>
          <a:bodyPr wrap="square" lIns="0" tIns="0" rIns="0" bIns="0" rtlCol="0" anchor="ctr"/>
          <a:lstStyle/>
          <a:p>
            <a:pPr marL="0" indent="0">
              <a:buNone/>
            </a:pPr>
            <a:r>
              <a:rPr lang="en-US" sz="3000" b="1" dirty="0">
                <a:latin typeface="Aptos" panose="020B0004020202020204" pitchFamily="34" charset="0"/>
                <a:ea typeface="Cambria" pitchFamily="34" charset="-122"/>
                <a:cs typeface="Cambria" pitchFamily="34" charset="-120"/>
              </a:rPr>
              <a:t>                 </a:t>
            </a:r>
            <a:r>
              <a:rPr lang="en-US" sz="3000" b="1" dirty="0">
                <a:solidFill>
                  <a:schemeClr val="accent5"/>
                </a:solidFill>
                <a:latin typeface="Aptos" panose="020B0004020202020204" pitchFamily="34" charset="0"/>
              </a:rPr>
              <a:t>LFR-AS-200: UK </a:t>
            </a:r>
            <a:r>
              <a:rPr lang="en-US" sz="3000" b="1" dirty="0" err="1">
                <a:solidFill>
                  <a:schemeClr val="accent5"/>
                </a:solidFill>
                <a:latin typeface="Aptos" panose="020B0004020202020204" pitchFamily="34" charset="0"/>
              </a:rPr>
              <a:t>Programme</a:t>
            </a:r>
            <a:r>
              <a:rPr lang="en-US" sz="3000" b="1" dirty="0">
                <a:solidFill>
                  <a:schemeClr val="accent5"/>
                </a:solidFill>
                <a:latin typeface="Aptos" panose="020B0004020202020204" pitchFamily="34" charset="0"/>
              </a:rPr>
              <a:t> Update</a:t>
            </a:r>
          </a:p>
        </p:txBody>
      </p:sp>
      <p:sp>
        <p:nvSpPr>
          <p:cNvPr id="3" name="Text 1"/>
          <p:cNvSpPr/>
          <p:nvPr/>
        </p:nvSpPr>
        <p:spPr>
          <a:xfrm>
            <a:off x="457200" y="786384"/>
            <a:ext cx="11247120" cy="320040"/>
          </a:xfrm>
          <a:prstGeom prst="rect">
            <a:avLst/>
          </a:prstGeom>
          <a:noFill/>
          <a:ln/>
        </p:spPr>
        <p:txBody>
          <a:bodyPr wrap="square" lIns="0" tIns="0" rIns="0" bIns="0" rtlCol="0" anchor="ctr"/>
          <a:lstStyle/>
          <a:p>
            <a:r>
              <a:rPr lang="en-US" sz="1400" i="1" dirty="0">
                <a:latin typeface="Aptos" panose="020B0004020202020204" pitchFamily="34" charset="0"/>
                <a:ea typeface="Calibri" pitchFamily="34" charset="-122"/>
                <a:cs typeface="Calibri" pitchFamily="34" charset="-120"/>
              </a:rPr>
              <a:t>UK nuclear sector briefing for F4N cohort July 2026</a:t>
            </a:r>
            <a:endParaRPr lang="en-US" sz="1400" dirty="0">
              <a:latin typeface="Aptos" panose="020B0004020202020204" pitchFamily="34" charset="0"/>
            </a:endParaRPr>
          </a:p>
        </p:txBody>
      </p:sp>
      <p:sp>
        <p:nvSpPr>
          <p:cNvPr id="4" name="Shape 2"/>
          <p:cNvSpPr/>
          <p:nvPr/>
        </p:nvSpPr>
        <p:spPr>
          <a:xfrm>
            <a:off x="45720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5" name="Image 0" descr="preencoded.png"/>
          <p:cNvPicPr>
            <a:picLocks noChangeAspect="1"/>
          </p:cNvPicPr>
          <p:nvPr/>
        </p:nvPicPr>
        <p:blipFill>
          <a:blip r:embed="rId3"/>
          <a:stretch>
            <a:fillRect/>
          </a:stretch>
        </p:blipFill>
        <p:spPr>
          <a:xfrm>
            <a:off x="621792" y="1481328"/>
            <a:ext cx="365760" cy="365760"/>
          </a:xfrm>
          <a:prstGeom prst="rect">
            <a:avLst/>
          </a:prstGeom>
        </p:spPr>
      </p:pic>
      <p:sp>
        <p:nvSpPr>
          <p:cNvPr id="6" name="Text 3"/>
          <p:cNvSpPr/>
          <p:nvPr/>
        </p:nvSpPr>
        <p:spPr>
          <a:xfrm>
            <a:off x="109728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Aptos" panose="020B0004020202020204" pitchFamily="34" charset="0"/>
                <a:ea typeface="Calibri" pitchFamily="34" charset="-122"/>
                <a:cs typeface="Calibri" pitchFamily="34" charset="-120"/>
              </a:rPr>
              <a:t>Suspended</a:t>
            </a:r>
            <a:endParaRPr lang="en-US" sz="1600" dirty="0">
              <a:latin typeface="Aptos" panose="020B0004020202020204" pitchFamily="34" charset="0"/>
            </a:endParaRPr>
          </a:p>
        </p:txBody>
      </p:sp>
      <p:sp>
        <p:nvSpPr>
          <p:cNvPr id="7" name="Text 4"/>
          <p:cNvSpPr/>
          <p:nvPr/>
        </p:nvSpPr>
        <p:spPr>
          <a:xfrm>
            <a:off x="62179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UK reactor programme</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paused, July 2025</a:t>
            </a:r>
            <a:endParaRPr lang="en-US" sz="950" dirty="0">
              <a:latin typeface="Aptos" panose="020B0004020202020204" pitchFamily="34" charset="0"/>
            </a:endParaRPr>
          </a:p>
        </p:txBody>
      </p:sp>
      <p:sp>
        <p:nvSpPr>
          <p:cNvPr id="8" name="Shape 5"/>
          <p:cNvSpPr/>
          <p:nvPr/>
        </p:nvSpPr>
        <p:spPr>
          <a:xfrm>
            <a:off x="329184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9" name="Image 1" descr="preencoded.png"/>
          <p:cNvPicPr>
            <a:picLocks noChangeAspect="1"/>
          </p:cNvPicPr>
          <p:nvPr/>
        </p:nvPicPr>
        <p:blipFill>
          <a:blip r:embed="rId4"/>
          <a:stretch>
            <a:fillRect/>
          </a:stretch>
        </p:blipFill>
        <p:spPr>
          <a:xfrm>
            <a:off x="3456432" y="1481328"/>
            <a:ext cx="365760" cy="365760"/>
          </a:xfrm>
          <a:prstGeom prst="rect">
            <a:avLst/>
          </a:prstGeom>
        </p:spPr>
      </p:pic>
      <p:sp>
        <p:nvSpPr>
          <p:cNvPr id="10" name="Text 6"/>
          <p:cNvSpPr/>
          <p:nvPr/>
        </p:nvSpPr>
        <p:spPr>
          <a:xfrm>
            <a:off x="393192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Aptos" panose="020B0004020202020204" pitchFamily="34" charset="0"/>
                <a:ea typeface="Calibri" pitchFamily="34" charset="-122"/>
                <a:cs typeface="Calibri" pitchFamily="34" charset="-120"/>
              </a:rPr>
              <a:t>London→Paris</a:t>
            </a:r>
            <a:endParaRPr lang="en-US" sz="1600" dirty="0">
              <a:latin typeface="Aptos" panose="020B0004020202020204" pitchFamily="34" charset="0"/>
            </a:endParaRPr>
          </a:p>
        </p:txBody>
      </p:sp>
      <p:sp>
        <p:nvSpPr>
          <p:cNvPr id="11" name="Text 7"/>
          <p:cNvSpPr/>
          <p:nvPr/>
        </p:nvSpPr>
        <p:spPr>
          <a:xfrm>
            <a:off x="345643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HQ relocated,</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October 2024</a:t>
            </a:r>
            <a:endParaRPr lang="en-US" sz="950" dirty="0">
              <a:latin typeface="Aptos" panose="020B0004020202020204" pitchFamily="34" charset="0"/>
            </a:endParaRPr>
          </a:p>
        </p:txBody>
      </p:sp>
      <p:sp>
        <p:nvSpPr>
          <p:cNvPr id="12" name="Shape 8"/>
          <p:cNvSpPr/>
          <p:nvPr/>
        </p:nvSpPr>
        <p:spPr>
          <a:xfrm>
            <a:off x="612648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3" name="Image 2" descr="preencoded.png"/>
          <p:cNvPicPr>
            <a:picLocks noChangeAspect="1"/>
          </p:cNvPicPr>
          <p:nvPr/>
        </p:nvPicPr>
        <p:blipFill>
          <a:blip r:embed="rId5"/>
          <a:stretch>
            <a:fillRect/>
          </a:stretch>
        </p:blipFill>
        <p:spPr>
          <a:xfrm>
            <a:off x="6291072" y="1481328"/>
            <a:ext cx="365760" cy="365760"/>
          </a:xfrm>
          <a:prstGeom prst="rect">
            <a:avLst/>
          </a:prstGeom>
        </p:spPr>
      </p:pic>
      <p:sp>
        <p:nvSpPr>
          <p:cNvPr id="14" name="Text 9"/>
          <p:cNvSpPr/>
          <p:nvPr/>
        </p:nvSpPr>
        <p:spPr>
          <a:xfrm>
            <a:off x="676656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Aptos" panose="020B0004020202020204" pitchFamily="34" charset="0"/>
                <a:ea typeface="Calibri" pitchFamily="34" charset="-122"/>
                <a:cs typeface="Calibri" pitchFamily="34" charset="-120"/>
              </a:rPr>
              <a:t>€645m</a:t>
            </a:r>
            <a:endParaRPr lang="en-US" sz="1600" dirty="0">
              <a:latin typeface="Aptos" panose="020B0004020202020204" pitchFamily="34" charset="0"/>
            </a:endParaRPr>
          </a:p>
        </p:txBody>
      </p:sp>
      <p:sp>
        <p:nvSpPr>
          <p:cNvPr id="15" name="Text 10"/>
          <p:cNvSpPr/>
          <p:nvPr/>
        </p:nvSpPr>
        <p:spPr>
          <a:xfrm>
            <a:off x="629107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Total funds raised</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since 2021</a:t>
            </a:r>
            <a:endParaRPr lang="en-US" sz="950" dirty="0">
              <a:latin typeface="Aptos" panose="020B0004020202020204" pitchFamily="34" charset="0"/>
            </a:endParaRPr>
          </a:p>
        </p:txBody>
      </p:sp>
      <p:sp>
        <p:nvSpPr>
          <p:cNvPr id="16" name="Shape 11"/>
          <p:cNvSpPr/>
          <p:nvPr/>
        </p:nvSpPr>
        <p:spPr>
          <a:xfrm>
            <a:off x="896112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7" name="Image 3" descr="preencoded.png"/>
          <p:cNvPicPr>
            <a:picLocks noChangeAspect="1"/>
          </p:cNvPicPr>
          <p:nvPr/>
        </p:nvPicPr>
        <p:blipFill>
          <a:blip r:embed="rId6"/>
          <a:stretch>
            <a:fillRect/>
          </a:stretch>
        </p:blipFill>
        <p:spPr>
          <a:xfrm>
            <a:off x="9125712" y="1481328"/>
            <a:ext cx="365760" cy="365760"/>
          </a:xfrm>
          <a:prstGeom prst="rect">
            <a:avLst/>
          </a:prstGeom>
        </p:spPr>
      </p:pic>
      <p:sp>
        <p:nvSpPr>
          <p:cNvPr id="18" name="Text 12"/>
          <p:cNvSpPr/>
          <p:nvPr/>
        </p:nvSpPr>
        <p:spPr>
          <a:xfrm>
            <a:off x="960120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Aptos" panose="020B0004020202020204" pitchFamily="34" charset="0"/>
                <a:ea typeface="Calibri" pitchFamily="34" charset="-122"/>
                <a:cs typeface="Calibri" pitchFamily="34" charset="-120"/>
              </a:rPr>
              <a:t>~150</a:t>
            </a:r>
            <a:endParaRPr lang="en-US" sz="1600" dirty="0">
              <a:latin typeface="Aptos" panose="020B0004020202020204" pitchFamily="34" charset="0"/>
            </a:endParaRPr>
          </a:p>
        </p:txBody>
      </p:sp>
      <p:sp>
        <p:nvSpPr>
          <p:cNvPr id="19" name="Text 13"/>
          <p:cNvSpPr/>
          <p:nvPr/>
        </p:nvSpPr>
        <p:spPr>
          <a:xfrm>
            <a:off x="912571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UK staff retained</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despite pause</a:t>
            </a:r>
            <a:endParaRPr lang="en-US" sz="950" dirty="0">
              <a:latin typeface="Aptos" panose="020B0004020202020204" pitchFamily="34" charset="0"/>
            </a:endParaRPr>
          </a:p>
        </p:txBody>
      </p:sp>
      <p:sp>
        <p:nvSpPr>
          <p:cNvPr id="20" name="Text 14"/>
          <p:cNvSpPr/>
          <p:nvPr/>
        </p:nvSpPr>
        <p:spPr>
          <a:xfrm>
            <a:off x="457200" y="2606040"/>
            <a:ext cx="7040880" cy="274320"/>
          </a:xfrm>
          <a:prstGeom prst="rect">
            <a:avLst/>
          </a:prstGeom>
          <a:noFill/>
          <a:ln/>
        </p:spPr>
        <p:txBody>
          <a:bodyPr wrap="square" lIns="0" tIns="0" rIns="0" bIns="0" rtlCol="0" anchor="ctr"/>
          <a:lstStyle/>
          <a:p>
            <a:pPr marL="0" indent="0">
              <a:buNone/>
            </a:pPr>
            <a:r>
              <a:rPr lang="en-US" sz="1300" b="1" kern="0" spc="100" dirty="0">
                <a:latin typeface="Aptos" panose="020B0004020202020204" pitchFamily="34" charset="0"/>
                <a:ea typeface="Calibri" pitchFamily="34" charset="-122"/>
                <a:cs typeface="Calibri" pitchFamily="34" charset="-120"/>
              </a:rPr>
              <a:t>2024–26 STATUS TIMELINE</a:t>
            </a:r>
            <a:endParaRPr lang="en-US" sz="1300" dirty="0">
              <a:latin typeface="Aptos" panose="020B0004020202020204" pitchFamily="34" charset="0"/>
            </a:endParaRPr>
          </a:p>
        </p:txBody>
      </p:sp>
      <p:sp>
        <p:nvSpPr>
          <p:cNvPr id="21" name="Shape 15"/>
          <p:cNvSpPr/>
          <p:nvPr/>
        </p:nvSpPr>
        <p:spPr>
          <a:xfrm>
            <a:off x="1234440" y="2990088"/>
            <a:ext cx="0" cy="3063240"/>
          </a:xfrm>
          <a:prstGeom prst="line">
            <a:avLst/>
          </a:prstGeom>
          <a:noFill/>
          <a:ln w="19050">
            <a:solidFill>
              <a:srgbClr val="2A4670"/>
            </a:solidFill>
            <a:prstDash val="solid"/>
          </a:ln>
        </p:spPr>
        <p:txBody>
          <a:bodyPr/>
          <a:lstStyle/>
          <a:p>
            <a:endParaRPr lang="en-GB" sz="1050">
              <a:latin typeface="Aptos" panose="020B0004020202020204" pitchFamily="34" charset="0"/>
            </a:endParaRPr>
          </a:p>
        </p:txBody>
      </p:sp>
      <p:sp>
        <p:nvSpPr>
          <p:cNvPr id="22" name="Text 16"/>
          <p:cNvSpPr/>
          <p:nvPr/>
        </p:nvSpPr>
        <p:spPr>
          <a:xfrm>
            <a:off x="457200" y="2971800"/>
            <a:ext cx="685800" cy="365760"/>
          </a:xfrm>
          <a:prstGeom prst="rect">
            <a:avLst/>
          </a:prstGeom>
          <a:noFill/>
          <a:ln/>
        </p:spPr>
        <p:txBody>
          <a:bodyPr wrap="square" lIns="0" tIns="0" rIns="0" bIns="0" rtlCol="0" anchor="ctr"/>
          <a:lstStyle/>
          <a:p>
            <a:pPr marL="0" indent="0" algn="r">
              <a:buNone/>
            </a:pPr>
            <a:r>
              <a:rPr lang="en-US" sz="1100" b="1" dirty="0">
                <a:latin typeface="Aptos" panose="020B0004020202020204" pitchFamily="34" charset="0"/>
                <a:ea typeface="Calibri" pitchFamily="34" charset="-122"/>
                <a:cs typeface="Calibri" pitchFamily="34" charset="-120"/>
              </a:rPr>
              <a:t>Oct '24</a:t>
            </a:r>
            <a:endParaRPr lang="en-US" sz="1100" dirty="0">
              <a:latin typeface="Aptos" panose="020B0004020202020204" pitchFamily="34" charset="0"/>
            </a:endParaRPr>
          </a:p>
        </p:txBody>
      </p:sp>
      <p:sp>
        <p:nvSpPr>
          <p:cNvPr id="23" name="Shape 17"/>
          <p:cNvSpPr/>
          <p:nvPr/>
        </p:nvSpPr>
        <p:spPr>
          <a:xfrm>
            <a:off x="1170432" y="3026664"/>
            <a:ext cx="128016" cy="128016"/>
          </a:xfrm>
          <a:prstGeom prst="ellipse">
            <a:avLst/>
          </a:prstGeom>
          <a:solidFill>
            <a:srgbClr val="1FB6A6"/>
          </a:solidFill>
          <a:ln w="19050">
            <a:solidFill>
              <a:srgbClr val="0B1F3A"/>
            </a:solidFill>
            <a:prstDash val="solid"/>
          </a:ln>
        </p:spPr>
        <p:txBody>
          <a:bodyPr/>
          <a:lstStyle/>
          <a:p>
            <a:endParaRPr lang="en-GB" sz="1050">
              <a:latin typeface="Aptos" panose="020B0004020202020204" pitchFamily="34" charset="0"/>
            </a:endParaRPr>
          </a:p>
        </p:txBody>
      </p:sp>
      <p:sp>
        <p:nvSpPr>
          <p:cNvPr id="24" name="Text 18"/>
          <p:cNvSpPr/>
          <p:nvPr/>
        </p:nvSpPr>
        <p:spPr>
          <a:xfrm>
            <a:off x="1463040" y="2916936"/>
            <a:ext cx="5989320" cy="777240"/>
          </a:xfrm>
          <a:prstGeom prst="rect">
            <a:avLst/>
          </a:prstGeom>
          <a:noFill/>
          <a:ln/>
        </p:spPr>
        <p:txBody>
          <a:bodyPr wrap="square" lIns="0" tIns="0" rIns="0" bIns="0" rtlCol="0" anchor="t"/>
          <a:lstStyle/>
          <a:p>
            <a:pPr marL="0" indent="0">
              <a:lnSpc>
                <a:spcPct val="102000"/>
              </a:lnSpc>
              <a:buNone/>
            </a:pPr>
            <a:r>
              <a:rPr lang="en-US" sz="1050" dirty="0">
                <a:latin typeface="Aptos" panose="020B0004020202020204" pitchFamily="34" charset="0"/>
                <a:ea typeface="Calibri" pitchFamily="34" charset="-122"/>
                <a:cs typeface="Calibri" pitchFamily="34" charset="-120"/>
              </a:rPr>
              <a:t>Newcleo relocates its holding headquarters from London to Paris, citing focus on its European precursor and prototype reactor programme.</a:t>
            </a:r>
            <a:endParaRPr lang="en-US" sz="1050" dirty="0">
              <a:latin typeface="Aptos" panose="020B0004020202020204" pitchFamily="34" charset="0"/>
            </a:endParaRPr>
          </a:p>
        </p:txBody>
      </p:sp>
      <p:sp>
        <p:nvSpPr>
          <p:cNvPr id="25" name="Text 19"/>
          <p:cNvSpPr/>
          <p:nvPr/>
        </p:nvSpPr>
        <p:spPr>
          <a:xfrm>
            <a:off x="457200" y="3794760"/>
            <a:ext cx="685800" cy="365760"/>
          </a:xfrm>
          <a:prstGeom prst="rect">
            <a:avLst/>
          </a:prstGeom>
          <a:noFill/>
          <a:ln/>
        </p:spPr>
        <p:txBody>
          <a:bodyPr wrap="square" lIns="0" tIns="0" rIns="0" bIns="0" rtlCol="0" anchor="ctr"/>
          <a:lstStyle/>
          <a:p>
            <a:pPr marL="0" indent="0" algn="r">
              <a:buNone/>
            </a:pPr>
            <a:r>
              <a:rPr lang="en-US" sz="1100" b="1" dirty="0">
                <a:latin typeface="Aptos" panose="020B0004020202020204" pitchFamily="34" charset="0"/>
                <a:ea typeface="Calibri" pitchFamily="34" charset="-122"/>
                <a:cs typeface="Calibri" pitchFamily="34" charset="-120"/>
              </a:rPr>
              <a:t>Jun '25</a:t>
            </a:r>
            <a:endParaRPr lang="en-US" sz="1100" dirty="0">
              <a:latin typeface="Aptos" panose="020B0004020202020204" pitchFamily="34" charset="0"/>
            </a:endParaRPr>
          </a:p>
        </p:txBody>
      </p:sp>
      <p:sp>
        <p:nvSpPr>
          <p:cNvPr id="26" name="Shape 20"/>
          <p:cNvSpPr/>
          <p:nvPr/>
        </p:nvSpPr>
        <p:spPr>
          <a:xfrm>
            <a:off x="1170432" y="3849624"/>
            <a:ext cx="128016" cy="128016"/>
          </a:xfrm>
          <a:prstGeom prst="ellipse">
            <a:avLst/>
          </a:prstGeom>
          <a:solidFill>
            <a:srgbClr val="1FB6A6"/>
          </a:solidFill>
          <a:ln w="19050">
            <a:solidFill>
              <a:srgbClr val="0B1F3A"/>
            </a:solidFill>
            <a:prstDash val="solid"/>
          </a:ln>
        </p:spPr>
        <p:txBody>
          <a:bodyPr/>
          <a:lstStyle/>
          <a:p>
            <a:endParaRPr lang="en-GB" sz="1050">
              <a:latin typeface="Aptos" panose="020B0004020202020204" pitchFamily="34" charset="0"/>
            </a:endParaRPr>
          </a:p>
        </p:txBody>
      </p:sp>
      <p:sp>
        <p:nvSpPr>
          <p:cNvPr id="27" name="Text 21"/>
          <p:cNvSpPr/>
          <p:nvPr/>
        </p:nvSpPr>
        <p:spPr>
          <a:xfrm>
            <a:off x="1463040" y="3739896"/>
            <a:ext cx="5989320" cy="777240"/>
          </a:xfrm>
          <a:prstGeom prst="rect">
            <a:avLst/>
          </a:prstGeom>
          <a:noFill/>
          <a:ln/>
        </p:spPr>
        <p:txBody>
          <a:bodyPr wrap="square" lIns="0" tIns="0" rIns="0" bIns="0" rtlCol="0" anchor="t"/>
          <a:lstStyle/>
          <a:p>
            <a:pPr marL="0" indent="0">
              <a:lnSpc>
                <a:spcPct val="102000"/>
              </a:lnSpc>
              <a:buNone/>
            </a:pPr>
            <a:r>
              <a:rPr lang="en-US" sz="1050" dirty="0">
                <a:latin typeface="Aptos" panose="020B0004020202020204" pitchFamily="34" charset="0"/>
                <a:ea typeface="Calibri" pitchFamily="34" charset="-122"/>
                <a:cs typeface="Calibri" pitchFamily="34" charset="-120"/>
              </a:rPr>
              <a:t>LFR-AS-200 becomes the first Advanced Modular Reactor design accepted into the UK's Generic Design Assessment. A genuine first for the sector, achieved without public funding.</a:t>
            </a:r>
            <a:endParaRPr lang="en-US" sz="1050" dirty="0">
              <a:latin typeface="Aptos" panose="020B0004020202020204" pitchFamily="34" charset="0"/>
            </a:endParaRPr>
          </a:p>
        </p:txBody>
      </p:sp>
      <p:sp>
        <p:nvSpPr>
          <p:cNvPr id="28" name="Text 22"/>
          <p:cNvSpPr/>
          <p:nvPr/>
        </p:nvSpPr>
        <p:spPr>
          <a:xfrm>
            <a:off x="457200" y="4617720"/>
            <a:ext cx="685800" cy="365760"/>
          </a:xfrm>
          <a:prstGeom prst="rect">
            <a:avLst/>
          </a:prstGeom>
          <a:noFill/>
          <a:ln/>
        </p:spPr>
        <p:txBody>
          <a:bodyPr wrap="square" lIns="0" tIns="0" rIns="0" bIns="0" rtlCol="0" anchor="ctr"/>
          <a:lstStyle/>
          <a:p>
            <a:pPr marL="0" indent="0" algn="r">
              <a:buNone/>
            </a:pPr>
            <a:r>
              <a:rPr lang="en-US" sz="1100" b="1" dirty="0">
                <a:latin typeface="Aptos" panose="020B0004020202020204" pitchFamily="34" charset="0"/>
                <a:ea typeface="Calibri" pitchFamily="34" charset="-122"/>
                <a:cs typeface="Calibri" pitchFamily="34" charset="-120"/>
              </a:rPr>
              <a:t>Jul '25</a:t>
            </a:r>
            <a:endParaRPr lang="en-US" sz="1100" dirty="0">
              <a:latin typeface="Aptos" panose="020B0004020202020204" pitchFamily="34" charset="0"/>
            </a:endParaRPr>
          </a:p>
        </p:txBody>
      </p:sp>
      <p:sp>
        <p:nvSpPr>
          <p:cNvPr id="29" name="Shape 23"/>
          <p:cNvSpPr/>
          <p:nvPr/>
        </p:nvSpPr>
        <p:spPr>
          <a:xfrm>
            <a:off x="1170432" y="4672584"/>
            <a:ext cx="128016" cy="128016"/>
          </a:xfrm>
          <a:prstGeom prst="ellipse">
            <a:avLst/>
          </a:prstGeom>
          <a:solidFill>
            <a:srgbClr val="1FB6A6"/>
          </a:solidFill>
          <a:ln w="19050">
            <a:solidFill>
              <a:srgbClr val="0B1F3A"/>
            </a:solidFill>
            <a:prstDash val="solid"/>
          </a:ln>
        </p:spPr>
        <p:txBody>
          <a:bodyPr/>
          <a:lstStyle/>
          <a:p>
            <a:endParaRPr lang="en-GB" sz="1050">
              <a:latin typeface="Aptos" panose="020B0004020202020204" pitchFamily="34" charset="0"/>
            </a:endParaRPr>
          </a:p>
        </p:txBody>
      </p:sp>
      <p:sp>
        <p:nvSpPr>
          <p:cNvPr id="30" name="Text 24"/>
          <p:cNvSpPr/>
          <p:nvPr/>
        </p:nvSpPr>
        <p:spPr>
          <a:xfrm>
            <a:off x="1463040" y="4562856"/>
            <a:ext cx="5989320" cy="777240"/>
          </a:xfrm>
          <a:prstGeom prst="rect">
            <a:avLst/>
          </a:prstGeom>
          <a:noFill/>
          <a:ln/>
        </p:spPr>
        <p:txBody>
          <a:bodyPr wrap="square" lIns="0" tIns="0" rIns="0" bIns="0" rtlCol="0" anchor="t"/>
          <a:lstStyle/>
          <a:p>
            <a:pPr marL="0" indent="0">
              <a:lnSpc>
                <a:spcPct val="102000"/>
              </a:lnSpc>
              <a:buNone/>
            </a:pPr>
            <a:r>
              <a:rPr lang="en-US" sz="1050" dirty="0">
                <a:latin typeface="Aptos" panose="020B0004020202020204" pitchFamily="34" charset="0"/>
                <a:ea typeface="Calibri" pitchFamily="34" charset="-122"/>
                <a:cs typeface="Calibri" pitchFamily="34" charset="-120"/>
              </a:rPr>
              <a:t>Newcleo announces it is suspending its UK reactor development programme and substantially winding down UK activities, citing lack of access to the UK's plutonium stockpile and insufficient government backing for Gen IV technology.</a:t>
            </a:r>
            <a:endParaRPr lang="en-US" sz="1050" dirty="0">
              <a:latin typeface="Aptos" panose="020B0004020202020204" pitchFamily="34" charset="0"/>
            </a:endParaRPr>
          </a:p>
        </p:txBody>
      </p:sp>
      <p:sp>
        <p:nvSpPr>
          <p:cNvPr id="31" name="Text 25"/>
          <p:cNvSpPr/>
          <p:nvPr/>
        </p:nvSpPr>
        <p:spPr>
          <a:xfrm>
            <a:off x="457200" y="5440680"/>
            <a:ext cx="685800" cy="365760"/>
          </a:xfrm>
          <a:prstGeom prst="rect">
            <a:avLst/>
          </a:prstGeom>
          <a:noFill/>
          <a:ln/>
        </p:spPr>
        <p:txBody>
          <a:bodyPr wrap="square" lIns="0" tIns="0" rIns="0" bIns="0" rtlCol="0" anchor="ctr"/>
          <a:lstStyle/>
          <a:p>
            <a:pPr marL="0" indent="0" algn="r">
              <a:buNone/>
            </a:pPr>
            <a:r>
              <a:rPr lang="en-US" sz="1100" b="1" dirty="0">
                <a:latin typeface="Aptos" panose="020B0004020202020204" pitchFamily="34" charset="0"/>
                <a:ea typeface="Calibri" pitchFamily="34" charset="-122"/>
                <a:cs typeface="Calibri" pitchFamily="34" charset="-120"/>
              </a:rPr>
              <a:t>Feb '26</a:t>
            </a:r>
            <a:endParaRPr lang="en-US" sz="1100" dirty="0">
              <a:latin typeface="Aptos" panose="020B0004020202020204" pitchFamily="34" charset="0"/>
            </a:endParaRPr>
          </a:p>
        </p:txBody>
      </p:sp>
      <p:sp>
        <p:nvSpPr>
          <p:cNvPr id="32" name="Shape 26"/>
          <p:cNvSpPr/>
          <p:nvPr/>
        </p:nvSpPr>
        <p:spPr>
          <a:xfrm>
            <a:off x="1170432" y="5495544"/>
            <a:ext cx="128016" cy="128016"/>
          </a:xfrm>
          <a:prstGeom prst="ellipse">
            <a:avLst/>
          </a:prstGeom>
          <a:solidFill>
            <a:srgbClr val="1FB6A6"/>
          </a:solidFill>
          <a:ln w="19050">
            <a:solidFill>
              <a:srgbClr val="0B1F3A"/>
            </a:solidFill>
            <a:prstDash val="solid"/>
          </a:ln>
        </p:spPr>
        <p:txBody>
          <a:bodyPr/>
          <a:lstStyle/>
          <a:p>
            <a:endParaRPr lang="en-GB" sz="1050">
              <a:latin typeface="Aptos" panose="020B0004020202020204" pitchFamily="34" charset="0"/>
            </a:endParaRPr>
          </a:p>
        </p:txBody>
      </p:sp>
      <p:sp>
        <p:nvSpPr>
          <p:cNvPr id="33" name="Text 27"/>
          <p:cNvSpPr/>
          <p:nvPr/>
        </p:nvSpPr>
        <p:spPr>
          <a:xfrm>
            <a:off x="1463040" y="5385816"/>
            <a:ext cx="5989320" cy="777240"/>
          </a:xfrm>
          <a:prstGeom prst="rect">
            <a:avLst/>
          </a:prstGeom>
          <a:noFill/>
          <a:ln/>
        </p:spPr>
        <p:txBody>
          <a:bodyPr wrap="square" lIns="0" tIns="0" rIns="0" bIns="0" rtlCol="0" anchor="t"/>
          <a:lstStyle/>
          <a:p>
            <a:pPr marL="0" indent="0">
              <a:lnSpc>
                <a:spcPct val="102000"/>
              </a:lnSpc>
              <a:buNone/>
            </a:pPr>
            <a:r>
              <a:rPr lang="en-US" sz="1050" dirty="0">
                <a:latin typeface="Aptos" panose="020B0004020202020204" pitchFamily="34" charset="0"/>
                <a:ea typeface="Calibri" pitchFamily="34" charset="-122"/>
                <a:cs typeface="Calibri" pitchFamily="34" charset="-120"/>
              </a:rPr>
              <a:t>Closes a further €75m funding round (€105m raised in 12 months); continues to prioritise Italy, France and Slovakia over the UK for near-term deployment.</a:t>
            </a:r>
            <a:endParaRPr lang="en-US" sz="1050" dirty="0">
              <a:latin typeface="Aptos" panose="020B0004020202020204" pitchFamily="34" charset="0"/>
            </a:endParaRPr>
          </a:p>
        </p:txBody>
      </p:sp>
      <p:sp>
        <p:nvSpPr>
          <p:cNvPr id="34" name="Shape 28"/>
          <p:cNvSpPr/>
          <p:nvPr/>
        </p:nvSpPr>
        <p:spPr>
          <a:xfrm>
            <a:off x="7772400" y="2606040"/>
            <a:ext cx="3977640" cy="3873137"/>
          </a:xfrm>
          <a:prstGeom prst="roundRect">
            <a:avLst>
              <a:gd name="adj" fmla="val 2133"/>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35" name="Image 4" descr="preencoded.png"/>
          <p:cNvPicPr>
            <a:picLocks noChangeAspect="1"/>
          </p:cNvPicPr>
          <p:nvPr/>
        </p:nvPicPr>
        <p:blipFill>
          <a:blip r:embed="rId7"/>
          <a:stretch>
            <a:fillRect/>
          </a:stretch>
        </p:blipFill>
        <p:spPr>
          <a:xfrm>
            <a:off x="8001000" y="2807208"/>
            <a:ext cx="329184" cy="329184"/>
          </a:xfrm>
          <a:prstGeom prst="rect">
            <a:avLst/>
          </a:prstGeom>
        </p:spPr>
      </p:pic>
      <p:sp>
        <p:nvSpPr>
          <p:cNvPr id="36" name="Text 29"/>
          <p:cNvSpPr/>
          <p:nvPr/>
        </p:nvSpPr>
        <p:spPr>
          <a:xfrm>
            <a:off x="8430768" y="2807208"/>
            <a:ext cx="3063240" cy="329184"/>
          </a:xfrm>
          <a:prstGeom prst="rect">
            <a:avLst/>
          </a:prstGeom>
          <a:noFill/>
          <a:ln/>
        </p:spPr>
        <p:txBody>
          <a:bodyPr wrap="square" lIns="0" tIns="0" rIns="0" bIns="0" rtlCol="0" anchor="ctr"/>
          <a:lstStyle/>
          <a:p>
            <a:pPr marL="0" indent="0">
              <a:buNone/>
            </a:pPr>
            <a:r>
              <a:rPr lang="en-US" sz="1300" b="1" kern="0" spc="50" dirty="0">
                <a:solidFill>
                  <a:srgbClr val="1FB6A6"/>
                </a:solidFill>
                <a:latin typeface="Aptos" panose="020B0004020202020204" pitchFamily="34" charset="0"/>
                <a:ea typeface="Calibri" pitchFamily="34" charset="-122"/>
                <a:cs typeface="Calibri" pitchFamily="34" charset="-120"/>
              </a:rPr>
              <a:t>WHAT IT MEANS FOR YOU</a:t>
            </a:r>
            <a:endParaRPr lang="en-US" sz="1300" dirty="0">
              <a:latin typeface="Aptos" panose="020B0004020202020204" pitchFamily="34" charset="0"/>
            </a:endParaRPr>
          </a:p>
        </p:txBody>
      </p:sp>
      <p:sp>
        <p:nvSpPr>
          <p:cNvPr id="37" name="Text 30"/>
          <p:cNvSpPr/>
          <p:nvPr/>
        </p:nvSpPr>
        <p:spPr>
          <a:xfrm>
            <a:off x="8046720" y="3132034"/>
            <a:ext cx="3429000" cy="2606040"/>
          </a:xfrm>
          <a:prstGeom prst="rect">
            <a:avLst/>
          </a:prstGeom>
          <a:noFill/>
          <a:ln/>
        </p:spPr>
        <p:txBody>
          <a:bodyPr wrap="square" lIns="0" tIns="0" rIns="0" bIns="0" rtlCol="0" anchor="t"/>
          <a:lstStyle/>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ea typeface="Calibri" pitchFamily="34" charset="-122"/>
                <a:cs typeface="Calibri" pitchFamily="34" charset="-120"/>
              </a:rPr>
              <a:t>A genuine cautionary tale: even a vendor that hit a real </a:t>
            </a:r>
            <a:r>
              <a:rPr lang="en-US" sz="1100" dirty="0">
                <a:solidFill>
                  <a:srgbClr val="FFFFFF"/>
                </a:solidFill>
                <a:latin typeface="Aptos" panose="020B0004020202020204" pitchFamily="34" charset="0"/>
                <a:cs typeface="Calibri" pitchFamily="34" charset="-120"/>
              </a:rPr>
              <a:t>UK regulatory first (first AMR into GDA, no public funding needed) pulled back when policy support didn't follow. A useful reminder that GDA entry alone isn't a supply chain signal.</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The core issue was fuel policy, not technology: government's 2025 decision to immobilise the UK's plutonium stockpile rather than release it for reactor fuel removed Newcleo's core UK value proposition.</a:t>
            </a:r>
          </a:p>
          <a:p>
            <a:pPr marL="342900" indent="-342900">
              <a:lnSpc>
                <a:spcPct val="108000"/>
              </a:lnSpc>
              <a:spcAft>
                <a:spcPts val="1000"/>
              </a:spcAft>
              <a:buClr>
                <a:schemeClr val="bg1"/>
              </a:buClr>
              <a:buSzPct val="100000"/>
              <a:buFont typeface="Wingdings" pitchFamily="2" charset="2"/>
              <a:buChar char="§"/>
            </a:pPr>
            <a:r>
              <a:rPr lang="en-US" sz="1100" dirty="0" err="1">
                <a:solidFill>
                  <a:srgbClr val="FFFFFF"/>
                </a:solidFill>
                <a:latin typeface="Aptos" panose="020B0004020202020204" pitchFamily="34" charset="0"/>
                <a:cs typeface="Calibri" pitchFamily="34" charset="-120"/>
              </a:rPr>
              <a:t>Newcleo</a:t>
            </a:r>
            <a:r>
              <a:rPr lang="en-US" sz="1100" dirty="0">
                <a:solidFill>
                  <a:srgbClr val="FFFFFF"/>
                </a:solidFill>
                <a:latin typeface="Aptos" panose="020B0004020202020204" pitchFamily="34" charset="0"/>
                <a:cs typeface="Calibri" pitchFamily="34" charset="-120"/>
              </a:rPr>
              <a:t> says it could 'ramp up' again if the AMR policy outlook improves. So worth a watching brief rather than active engagement for now.</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If you have Gen IV / lead-cooled fast reactor capability, France, Italy and Slovakia are currently the live opportunities with Newcleo, not the UK.</a:t>
            </a:r>
          </a:p>
        </p:txBody>
      </p:sp>
      <p:pic>
        <p:nvPicPr>
          <p:cNvPr id="39" name="Picture 38">
            <a:extLst>
              <a:ext uri="{FF2B5EF4-FFF2-40B4-BE49-F238E27FC236}">
                <a16:creationId xmlns:a16="http://schemas.microsoft.com/office/drawing/2014/main" id="{BB386F22-AD1D-CC4E-C355-99D91692A7E9}"/>
              </a:ext>
            </a:extLst>
          </p:cNvPr>
          <p:cNvPicPr>
            <a:picLocks noChangeAspect="1"/>
          </p:cNvPicPr>
          <p:nvPr/>
        </p:nvPicPr>
        <p:blipFill>
          <a:blip r:embed="rId8"/>
          <a:stretch>
            <a:fillRect/>
          </a:stretch>
        </p:blipFill>
        <p:spPr>
          <a:xfrm>
            <a:off x="11089768" y="15704"/>
            <a:ext cx="1069868" cy="1099864"/>
          </a:xfrm>
          <a:prstGeom prst="rect">
            <a:avLst/>
          </a:prstGeom>
        </p:spPr>
      </p:pic>
      <p:pic>
        <p:nvPicPr>
          <p:cNvPr id="40" name="Picture 39" descr="Newcleo - Wikipedia">
            <a:extLst>
              <a:ext uri="{FF2B5EF4-FFF2-40B4-BE49-F238E27FC236}">
                <a16:creationId xmlns:a16="http://schemas.microsoft.com/office/drawing/2014/main" id="{33704037-5898-F9CC-4BB7-E5369DDB3221}"/>
              </a:ext>
            </a:extLst>
          </p:cNvPr>
          <p:cNvPicPr>
            <a:picLocks noChangeAspect="1"/>
          </p:cNvPicPr>
          <p:nvPr/>
        </p:nvPicPr>
        <p:blipFill>
          <a:blip r:embed="rId9"/>
          <a:stretch>
            <a:fillRect/>
          </a:stretch>
        </p:blipFill>
        <p:spPr>
          <a:xfrm>
            <a:off x="204242" y="293559"/>
            <a:ext cx="1566619" cy="524477"/>
          </a:xfrm>
          <a:prstGeom prst="rect">
            <a:avLst/>
          </a:prstGeom>
        </p:spPr>
      </p:pic>
      <p:sp>
        <p:nvSpPr>
          <p:cNvPr id="41" name="TextBox 40">
            <a:extLst>
              <a:ext uri="{FF2B5EF4-FFF2-40B4-BE49-F238E27FC236}">
                <a16:creationId xmlns:a16="http://schemas.microsoft.com/office/drawing/2014/main" id="{ED749323-95E6-3BD3-9E16-41CCFFB26A0D}"/>
              </a:ext>
            </a:extLst>
          </p:cNvPr>
          <p:cNvSpPr txBox="1"/>
          <p:nvPr/>
        </p:nvSpPr>
        <p:spPr>
          <a:xfrm>
            <a:off x="44118" y="6654109"/>
            <a:ext cx="12152376" cy="200055"/>
          </a:xfrm>
          <a:prstGeom prst="rect">
            <a:avLst/>
          </a:prstGeom>
          <a:noFill/>
        </p:spPr>
        <p:txBody>
          <a:bodyPr wrap="square">
            <a:spAutoFit/>
          </a:bodyPr>
          <a:lstStyle/>
          <a:p>
            <a:pPr algn="ctr"/>
            <a:r>
              <a:rPr lang="en-GB" sz="700" b="1" i="0" u="none" strike="noStrike" noProof="0" dirty="0">
                <a:solidFill>
                  <a:srgbClr val="757575"/>
                </a:solidFill>
                <a:effectLst/>
                <a:latin typeface="Aptos Narrow" panose="020B0004020202020204" pitchFamily="34" charset="0"/>
              </a:rPr>
              <a:t>Commercial in Confidence - This document contains proprietary and commercially sensitive information. It is intended solely for the recipient(s) and should not be disclosed or distributed without written permission from Nuclear Collaboration Ltd (NucCol ltd) Co. no. 15937779 </a:t>
            </a:r>
            <a:r>
              <a:rPr lang="en-GB" sz="700" b="1" i="0" noProof="0" dirty="0">
                <a:solidFill>
                  <a:srgbClr val="000000"/>
                </a:solidFill>
                <a:effectLst/>
                <a:latin typeface="Aptos Narrow" panose="020B0004020202020204" pitchFamily="34" charset="0"/>
              </a:rPr>
              <a:t>​</a:t>
            </a:r>
            <a:endParaRPr lang="en-GB" sz="700" b="1" noProof="0" dirty="0"/>
          </a:p>
        </p:txBody>
      </p:sp>
    </p:spTree>
    <p:extLst>
      <p:ext uri="{BB962C8B-B14F-4D97-AF65-F5344CB8AC3E}">
        <p14:creationId xmlns:p14="http://schemas.microsoft.com/office/powerpoint/2010/main" val="3736364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E514F189-9939-9410-6F43-87D9A5C74822}"/>
              </a:ext>
            </a:extLst>
          </p:cNvPr>
          <p:cNvSpPr/>
          <p:nvPr/>
        </p:nvSpPr>
        <p:spPr>
          <a:xfrm>
            <a:off x="0" y="12745"/>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 name="Text 0"/>
          <p:cNvSpPr/>
          <p:nvPr/>
        </p:nvSpPr>
        <p:spPr>
          <a:xfrm>
            <a:off x="314698" y="126355"/>
            <a:ext cx="11247120" cy="548640"/>
          </a:xfrm>
          <a:prstGeom prst="rect">
            <a:avLst/>
          </a:prstGeom>
          <a:noFill/>
          <a:ln/>
        </p:spPr>
        <p:txBody>
          <a:bodyPr wrap="square" lIns="0" tIns="0" rIns="0" bIns="0" rtlCol="0" anchor="ctr"/>
          <a:lstStyle/>
          <a:p>
            <a:pPr marL="0" indent="0">
              <a:buNone/>
            </a:pPr>
            <a:r>
              <a:rPr lang="en-US" sz="3000" b="1" dirty="0">
                <a:latin typeface="Aptos" panose="020B0004020202020204" pitchFamily="34" charset="0"/>
                <a:ea typeface="Cambria" pitchFamily="34" charset="-122"/>
                <a:cs typeface="Cambria" pitchFamily="34" charset="-120"/>
              </a:rPr>
              <a:t>   	      : </a:t>
            </a:r>
            <a:r>
              <a:rPr lang="en-US" sz="3000" b="1" dirty="0">
                <a:solidFill>
                  <a:schemeClr val="accent5"/>
                </a:solidFill>
                <a:latin typeface="Aptos" panose="020B0004020202020204" pitchFamily="34" charset="0"/>
              </a:rPr>
              <a:t>2026 Programme Update </a:t>
            </a:r>
          </a:p>
        </p:txBody>
      </p:sp>
      <p:sp>
        <p:nvSpPr>
          <p:cNvPr id="3" name="Text 1"/>
          <p:cNvSpPr/>
          <p:nvPr/>
        </p:nvSpPr>
        <p:spPr>
          <a:xfrm>
            <a:off x="457200" y="786384"/>
            <a:ext cx="11247120" cy="320040"/>
          </a:xfrm>
          <a:prstGeom prst="rect">
            <a:avLst/>
          </a:prstGeom>
          <a:noFill/>
          <a:ln/>
        </p:spPr>
        <p:txBody>
          <a:bodyPr wrap="square" lIns="0" tIns="0" rIns="0" bIns="0" rtlCol="0" anchor="ctr"/>
          <a:lstStyle/>
          <a:p>
            <a:pPr marL="0" indent="0">
              <a:buNone/>
            </a:pPr>
            <a:r>
              <a:rPr lang="en-US" sz="1400" i="1" dirty="0">
                <a:latin typeface="Aptos" panose="020B0004020202020204" pitchFamily="34" charset="0"/>
                <a:ea typeface="Calibri" pitchFamily="34" charset="-122"/>
                <a:cs typeface="Calibri" pitchFamily="34" charset="-120"/>
              </a:rPr>
              <a:t>UK nuclear sector briefing for F4N cohort July 2026</a:t>
            </a:r>
            <a:endParaRPr lang="en-US" sz="1400" dirty="0">
              <a:latin typeface="Aptos" panose="020B0004020202020204" pitchFamily="34" charset="0"/>
            </a:endParaRPr>
          </a:p>
        </p:txBody>
      </p:sp>
      <p:sp>
        <p:nvSpPr>
          <p:cNvPr id="4" name="Shape 2"/>
          <p:cNvSpPr/>
          <p:nvPr/>
        </p:nvSpPr>
        <p:spPr>
          <a:xfrm>
            <a:off x="45720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5" name="Image 0" descr="preencoded.png"/>
          <p:cNvPicPr>
            <a:picLocks noChangeAspect="1"/>
          </p:cNvPicPr>
          <p:nvPr/>
        </p:nvPicPr>
        <p:blipFill>
          <a:blip r:embed="rId3"/>
          <a:stretch>
            <a:fillRect/>
          </a:stretch>
        </p:blipFill>
        <p:spPr>
          <a:xfrm>
            <a:off x="621792" y="1481328"/>
            <a:ext cx="365760" cy="365760"/>
          </a:xfrm>
          <a:prstGeom prst="rect">
            <a:avLst/>
          </a:prstGeom>
        </p:spPr>
      </p:pic>
      <p:sp>
        <p:nvSpPr>
          <p:cNvPr id="6" name="Text 3"/>
          <p:cNvSpPr/>
          <p:nvPr/>
        </p:nvSpPr>
        <p:spPr>
          <a:xfrm>
            <a:off x="1097280" y="1371600"/>
            <a:ext cx="1828800" cy="365760"/>
          </a:xfrm>
          <a:prstGeom prst="rect">
            <a:avLst/>
          </a:prstGeom>
          <a:noFill/>
          <a:ln/>
        </p:spPr>
        <p:txBody>
          <a:bodyPr wrap="square" lIns="0" tIns="0" rIns="0" bIns="0" rtlCol="0" anchor="ctr"/>
          <a:lstStyle/>
          <a:p>
            <a:pPr marL="0" indent="0">
              <a:buNone/>
            </a:pPr>
            <a:r>
              <a:rPr lang="en-US" sz="1900" b="1" dirty="0">
                <a:solidFill>
                  <a:srgbClr val="FFFFFF"/>
                </a:solidFill>
                <a:latin typeface="Aptos" panose="020B0004020202020204" pitchFamily="34" charset="0"/>
                <a:ea typeface="Calibri" pitchFamily="34" charset="-122"/>
                <a:cs typeface="Calibri" pitchFamily="34" charset="-120"/>
              </a:rPr>
              <a:t>3</a:t>
            </a:r>
            <a:endParaRPr lang="en-US" sz="1900" dirty="0">
              <a:latin typeface="Aptos" panose="020B0004020202020204" pitchFamily="34" charset="0"/>
            </a:endParaRPr>
          </a:p>
        </p:txBody>
      </p:sp>
      <p:sp>
        <p:nvSpPr>
          <p:cNvPr id="7" name="Text 4"/>
          <p:cNvSpPr/>
          <p:nvPr/>
        </p:nvSpPr>
        <p:spPr>
          <a:xfrm>
            <a:off x="62179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European markets</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with signed contracts</a:t>
            </a:r>
            <a:endParaRPr lang="en-US" sz="950" dirty="0">
              <a:latin typeface="Aptos" panose="020B0004020202020204" pitchFamily="34" charset="0"/>
            </a:endParaRPr>
          </a:p>
        </p:txBody>
      </p:sp>
      <p:sp>
        <p:nvSpPr>
          <p:cNvPr id="8" name="Shape 5"/>
          <p:cNvSpPr/>
          <p:nvPr/>
        </p:nvSpPr>
        <p:spPr>
          <a:xfrm>
            <a:off x="329184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9" name="Image 1" descr="preencoded.png"/>
          <p:cNvPicPr>
            <a:picLocks noChangeAspect="1"/>
          </p:cNvPicPr>
          <p:nvPr/>
        </p:nvPicPr>
        <p:blipFill>
          <a:blip r:embed="rId4"/>
          <a:stretch>
            <a:fillRect/>
          </a:stretch>
        </p:blipFill>
        <p:spPr>
          <a:xfrm>
            <a:off x="3456432" y="1481328"/>
            <a:ext cx="365760" cy="365760"/>
          </a:xfrm>
          <a:prstGeom prst="rect">
            <a:avLst/>
          </a:prstGeom>
        </p:spPr>
      </p:pic>
      <p:sp>
        <p:nvSpPr>
          <p:cNvPr id="10" name="Text 6"/>
          <p:cNvSpPr/>
          <p:nvPr/>
        </p:nvSpPr>
        <p:spPr>
          <a:xfrm>
            <a:off x="3931920" y="1371600"/>
            <a:ext cx="1828800" cy="365760"/>
          </a:xfrm>
          <a:prstGeom prst="rect">
            <a:avLst/>
          </a:prstGeom>
          <a:noFill/>
          <a:ln/>
        </p:spPr>
        <p:txBody>
          <a:bodyPr wrap="square" lIns="0" tIns="0" rIns="0" bIns="0" rtlCol="0" anchor="ctr"/>
          <a:lstStyle/>
          <a:p>
            <a:pPr marL="0" indent="0">
              <a:buNone/>
            </a:pPr>
            <a:r>
              <a:rPr lang="en-US" sz="1900" b="1" dirty="0">
                <a:solidFill>
                  <a:srgbClr val="FFFFFF"/>
                </a:solidFill>
                <a:latin typeface="Aptos" panose="020B0004020202020204" pitchFamily="34" charset="0"/>
                <a:ea typeface="Calibri" pitchFamily="34" charset="-122"/>
                <a:cs typeface="Calibri" pitchFamily="34" charset="-120"/>
              </a:rPr>
              <a:t>£599m</a:t>
            </a:r>
            <a:endParaRPr lang="en-US" sz="1900" dirty="0">
              <a:latin typeface="Aptos" panose="020B0004020202020204" pitchFamily="34" charset="0"/>
            </a:endParaRPr>
          </a:p>
        </p:txBody>
      </p:sp>
      <p:sp>
        <p:nvSpPr>
          <p:cNvPr id="11" name="Text 7"/>
          <p:cNvSpPr/>
          <p:nvPr/>
        </p:nvSpPr>
        <p:spPr>
          <a:xfrm>
            <a:off x="345643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UK National Wealth</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Fund investment</a:t>
            </a:r>
            <a:endParaRPr lang="en-US" sz="950" dirty="0">
              <a:latin typeface="Aptos" panose="020B0004020202020204" pitchFamily="34" charset="0"/>
            </a:endParaRPr>
          </a:p>
        </p:txBody>
      </p:sp>
      <p:sp>
        <p:nvSpPr>
          <p:cNvPr id="12" name="Shape 8"/>
          <p:cNvSpPr/>
          <p:nvPr/>
        </p:nvSpPr>
        <p:spPr>
          <a:xfrm>
            <a:off x="612648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3" name="Image 2" descr="preencoded.png"/>
          <p:cNvPicPr>
            <a:picLocks noChangeAspect="1"/>
          </p:cNvPicPr>
          <p:nvPr/>
        </p:nvPicPr>
        <p:blipFill>
          <a:blip r:embed="rId5"/>
          <a:stretch>
            <a:fillRect/>
          </a:stretch>
        </p:blipFill>
        <p:spPr>
          <a:xfrm>
            <a:off x="6291072" y="1481328"/>
            <a:ext cx="365760" cy="365760"/>
          </a:xfrm>
          <a:prstGeom prst="rect">
            <a:avLst/>
          </a:prstGeom>
        </p:spPr>
      </p:pic>
      <p:sp>
        <p:nvSpPr>
          <p:cNvPr id="14" name="Text 9"/>
          <p:cNvSpPr/>
          <p:nvPr/>
        </p:nvSpPr>
        <p:spPr>
          <a:xfrm>
            <a:off x="6766560" y="1371600"/>
            <a:ext cx="1828800" cy="365760"/>
          </a:xfrm>
          <a:prstGeom prst="rect">
            <a:avLst/>
          </a:prstGeom>
          <a:noFill/>
          <a:ln/>
        </p:spPr>
        <p:txBody>
          <a:bodyPr wrap="square" lIns="0" tIns="0" rIns="0" bIns="0" rtlCol="0" anchor="ctr"/>
          <a:lstStyle/>
          <a:p>
            <a:pPr marL="0" indent="0">
              <a:buNone/>
            </a:pPr>
            <a:r>
              <a:rPr lang="en-US" sz="1900" b="1" dirty="0">
                <a:solidFill>
                  <a:srgbClr val="FFFFFF"/>
                </a:solidFill>
                <a:latin typeface="Aptos" panose="020B0004020202020204" pitchFamily="34" charset="0"/>
                <a:ea typeface="Calibri" pitchFamily="34" charset="-122"/>
                <a:cs typeface="Calibri" pitchFamily="34" charset="-120"/>
              </a:rPr>
              <a:t>£12m</a:t>
            </a:r>
            <a:endParaRPr lang="en-US" sz="1900" dirty="0">
              <a:latin typeface="Aptos" panose="020B0004020202020204" pitchFamily="34" charset="0"/>
            </a:endParaRPr>
          </a:p>
        </p:txBody>
      </p:sp>
      <p:sp>
        <p:nvSpPr>
          <p:cNvPr id="15" name="Text 10"/>
          <p:cNvSpPr/>
          <p:nvPr/>
        </p:nvSpPr>
        <p:spPr>
          <a:xfrm>
            <a:off x="629107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Pioneer Works, Derby</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manufacturing centre</a:t>
            </a:r>
            <a:endParaRPr lang="en-US" sz="950" dirty="0">
              <a:latin typeface="Aptos" panose="020B0004020202020204" pitchFamily="34" charset="0"/>
            </a:endParaRPr>
          </a:p>
        </p:txBody>
      </p:sp>
      <p:sp>
        <p:nvSpPr>
          <p:cNvPr id="16" name="Shape 11"/>
          <p:cNvSpPr/>
          <p:nvPr/>
        </p:nvSpPr>
        <p:spPr>
          <a:xfrm>
            <a:off x="896112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7" name="Image 3" descr="preencoded.png"/>
          <p:cNvPicPr>
            <a:picLocks noChangeAspect="1"/>
          </p:cNvPicPr>
          <p:nvPr/>
        </p:nvPicPr>
        <p:blipFill>
          <a:blip r:embed="rId6"/>
          <a:stretch>
            <a:fillRect/>
          </a:stretch>
        </p:blipFill>
        <p:spPr>
          <a:xfrm>
            <a:off x="9125712" y="1481328"/>
            <a:ext cx="365760" cy="365760"/>
          </a:xfrm>
          <a:prstGeom prst="rect">
            <a:avLst/>
          </a:prstGeom>
        </p:spPr>
      </p:pic>
      <p:sp>
        <p:nvSpPr>
          <p:cNvPr id="18" name="Text 12"/>
          <p:cNvSpPr/>
          <p:nvPr/>
        </p:nvSpPr>
        <p:spPr>
          <a:xfrm>
            <a:off x="9601200" y="1371600"/>
            <a:ext cx="1828800" cy="365760"/>
          </a:xfrm>
          <a:prstGeom prst="rect">
            <a:avLst/>
          </a:prstGeom>
          <a:noFill/>
          <a:ln/>
        </p:spPr>
        <p:txBody>
          <a:bodyPr wrap="square" lIns="0" tIns="0" rIns="0" bIns="0" rtlCol="0" anchor="ctr"/>
          <a:lstStyle/>
          <a:p>
            <a:pPr marL="0" indent="0">
              <a:buNone/>
            </a:pPr>
            <a:r>
              <a:rPr lang="en-US" sz="1900" b="1" dirty="0">
                <a:solidFill>
                  <a:srgbClr val="FFFFFF"/>
                </a:solidFill>
                <a:latin typeface="Aptos" panose="020B0004020202020204" pitchFamily="34" charset="0"/>
                <a:ea typeface="Calibri" pitchFamily="34" charset="-122"/>
                <a:cs typeface="Calibri" pitchFamily="34" charset="-120"/>
              </a:rPr>
              <a:t>~8,000</a:t>
            </a:r>
            <a:endParaRPr lang="en-US" sz="1900" dirty="0">
              <a:latin typeface="Aptos" panose="020B0004020202020204" pitchFamily="34" charset="0"/>
            </a:endParaRPr>
          </a:p>
        </p:txBody>
      </p:sp>
      <p:sp>
        <p:nvSpPr>
          <p:cNvPr id="19" name="Text 13"/>
          <p:cNvSpPr/>
          <p:nvPr/>
        </p:nvSpPr>
        <p:spPr>
          <a:xfrm>
            <a:off x="912571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UK jobs supported</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per year (est.)</a:t>
            </a:r>
            <a:endParaRPr lang="en-US" sz="950" dirty="0">
              <a:latin typeface="Aptos" panose="020B0004020202020204" pitchFamily="34" charset="0"/>
            </a:endParaRPr>
          </a:p>
        </p:txBody>
      </p:sp>
      <p:sp>
        <p:nvSpPr>
          <p:cNvPr id="20" name="Text 14"/>
          <p:cNvSpPr/>
          <p:nvPr/>
        </p:nvSpPr>
        <p:spPr>
          <a:xfrm>
            <a:off x="457200" y="2606040"/>
            <a:ext cx="7040880" cy="274320"/>
          </a:xfrm>
          <a:prstGeom prst="rect">
            <a:avLst/>
          </a:prstGeom>
          <a:noFill/>
          <a:ln/>
        </p:spPr>
        <p:txBody>
          <a:bodyPr wrap="square" lIns="0" tIns="0" rIns="0" bIns="0" rtlCol="0" anchor="ctr"/>
          <a:lstStyle/>
          <a:p>
            <a:pPr marL="0" indent="0">
              <a:buNone/>
            </a:pPr>
            <a:r>
              <a:rPr lang="en-US" sz="1300" b="1" kern="0" spc="100" dirty="0">
                <a:latin typeface="Aptos" panose="020B0004020202020204" pitchFamily="34" charset="0"/>
                <a:ea typeface="Calibri" pitchFamily="34" charset="-122"/>
                <a:cs typeface="Calibri" pitchFamily="34" charset="-120"/>
              </a:rPr>
              <a:t>2026 MILESTONE TIMELINE</a:t>
            </a:r>
            <a:endParaRPr lang="en-US" sz="1300" dirty="0">
              <a:latin typeface="Aptos" panose="020B0004020202020204" pitchFamily="34" charset="0"/>
            </a:endParaRPr>
          </a:p>
        </p:txBody>
      </p:sp>
      <p:sp>
        <p:nvSpPr>
          <p:cNvPr id="21" name="Shape 15"/>
          <p:cNvSpPr/>
          <p:nvPr/>
        </p:nvSpPr>
        <p:spPr>
          <a:xfrm>
            <a:off x="1143000" y="2990088"/>
            <a:ext cx="0" cy="3483864"/>
          </a:xfrm>
          <a:prstGeom prst="line">
            <a:avLst/>
          </a:prstGeom>
          <a:noFill/>
          <a:ln w="19050">
            <a:solidFill>
              <a:srgbClr val="2A4670"/>
            </a:solidFill>
            <a:prstDash val="solid"/>
          </a:ln>
        </p:spPr>
        <p:txBody>
          <a:bodyPr/>
          <a:lstStyle/>
          <a:p>
            <a:endParaRPr lang="en-GB">
              <a:latin typeface="Aptos" panose="020B0004020202020204" pitchFamily="34" charset="0"/>
            </a:endParaRPr>
          </a:p>
        </p:txBody>
      </p:sp>
      <p:sp>
        <p:nvSpPr>
          <p:cNvPr id="22" name="Text 16"/>
          <p:cNvSpPr/>
          <p:nvPr/>
        </p:nvSpPr>
        <p:spPr>
          <a:xfrm>
            <a:off x="457200" y="2971800"/>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Feb</a:t>
            </a:r>
            <a:endParaRPr lang="en-US" sz="1150" dirty="0">
              <a:latin typeface="Aptos" panose="020B0004020202020204" pitchFamily="34" charset="0"/>
            </a:endParaRPr>
          </a:p>
        </p:txBody>
      </p:sp>
      <p:sp>
        <p:nvSpPr>
          <p:cNvPr id="23" name="Shape 17"/>
          <p:cNvSpPr/>
          <p:nvPr/>
        </p:nvSpPr>
        <p:spPr>
          <a:xfrm>
            <a:off x="1078992" y="302666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24" name="Text 18"/>
          <p:cNvSpPr/>
          <p:nvPr/>
        </p:nvSpPr>
        <p:spPr>
          <a:xfrm>
            <a:off x="1371600" y="2916936"/>
            <a:ext cx="6080760" cy="557784"/>
          </a:xfrm>
          <a:prstGeom prst="rect">
            <a:avLst/>
          </a:prstGeom>
          <a:noFill/>
          <a:ln/>
        </p:spPr>
        <p:txBody>
          <a:bodyPr wrap="square" lIns="0" tIns="0" rIns="0" bIns="0" rtlCol="0" anchor="t"/>
          <a:lstStyle/>
          <a:p>
            <a:pPr marL="0" indent="0">
              <a:lnSpc>
                <a:spcPct val="100000"/>
              </a:lnSpc>
              <a:buNone/>
            </a:pPr>
            <a:r>
              <a:rPr lang="en-US" sz="1100" dirty="0">
                <a:latin typeface="Aptos" panose="020B0004020202020204" pitchFamily="34" charset="0"/>
                <a:ea typeface="Calibri" pitchFamily="34" charset="-122"/>
                <a:cs typeface="Calibri" pitchFamily="34" charset="-120"/>
              </a:rPr>
              <a:t>Yokogawa Electric appointed to supply control systems (Runcorn design facility).</a:t>
            </a:r>
            <a:endParaRPr lang="en-US" sz="1100" dirty="0">
              <a:latin typeface="Aptos" panose="020B0004020202020204" pitchFamily="34" charset="0"/>
            </a:endParaRPr>
          </a:p>
        </p:txBody>
      </p:sp>
      <p:sp>
        <p:nvSpPr>
          <p:cNvPr id="25" name="Text 19"/>
          <p:cNvSpPr/>
          <p:nvPr/>
        </p:nvSpPr>
        <p:spPr>
          <a:xfrm>
            <a:off x="457200" y="3575304"/>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13 Apr</a:t>
            </a:r>
            <a:endParaRPr lang="en-US" sz="1150" dirty="0">
              <a:latin typeface="Aptos" panose="020B0004020202020204" pitchFamily="34" charset="0"/>
            </a:endParaRPr>
          </a:p>
        </p:txBody>
      </p:sp>
      <p:sp>
        <p:nvSpPr>
          <p:cNvPr id="26" name="Shape 20"/>
          <p:cNvSpPr/>
          <p:nvPr/>
        </p:nvSpPr>
        <p:spPr>
          <a:xfrm>
            <a:off x="1078992" y="3630168"/>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27" name="Text 21"/>
          <p:cNvSpPr/>
          <p:nvPr/>
        </p:nvSpPr>
        <p:spPr>
          <a:xfrm>
            <a:off x="1371600" y="3520440"/>
            <a:ext cx="6080760" cy="557784"/>
          </a:xfrm>
          <a:prstGeom prst="rect">
            <a:avLst/>
          </a:prstGeom>
          <a:noFill/>
          <a:ln/>
        </p:spPr>
        <p:txBody>
          <a:bodyPr wrap="square" lIns="0" tIns="0" rIns="0" bIns="0" rtlCol="0" anchor="t"/>
          <a:lstStyle/>
          <a:p>
            <a:pPr marL="0" indent="0">
              <a:lnSpc>
                <a:spcPct val="100000"/>
              </a:lnSpc>
              <a:buNone/>
            </a:pPr>
            <a:r>
              <a:rPr lang="en-US" sz="1100" dirty="0">
                <a:latin typeface="Aptos" panose="020B0004020202020204" pitchFamily="34" charset="0"/>
                <a:ea typeface="Calibri" pitchFamily="34" charset="-122"/>
                <a:cs typeface="Calibri" pitchFamily="34" charset="-120"/>
              </a:rPr>
              <a:t>Contract signed with Great British Energy – Nuclear (GBE-N) for site-specific design at Wylfa; long lead-time equipment ordering begins.</a:t>
            </a:r>
            <a:endParaRPr lang="en-US" sz="1100" dirty="0">
              <a:latin typeface="Aptos" panose="020B0004020202020204" pitchFamily="34" charset="0"/>
            </a:endParaRPr>
          </a:p>
        </p:txBody>
      </p:sp>
      <p:sp>
        <p:nvSpPr>
          <p:cNvPr id="28" name="Text 22"/>
          <p:cNvSpPr/>
          <p:nvPr/>
        </p:nvSpPr>
        <p:spPr>
          <a:xfrm>
            <a:off x="457200" y="4178808"/>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24 Apr</a:t>
            </a:r>
            <a:endParaRPr lang="en-US" sz="1150" dirty="0">
              <a:latin typeface="Aptos" panose="020B0004020202020204" pitchFamily="34" charset="0"/>
            </a:endParaRPr>
          </a:p>
        </p:txBody>
      </p:sp>
      <p:sp>
        <p:nvSpPr>
          <p:cNvPr id="29" name="Shape 23"/>
          <p:cNvSpPr/>
          <p:nvPr/>
        </p:nvSpPr>
        <p:spPr>
          <a:xfrm>
            <a:off x="1078992" y="4233672"/>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30" name="Text 24"/>
          <p:cNvSpPr/>
          <p:nvPr/>
        </p:nvSpPr>
        <p:spPr>
          <a:xfrm>
            <a:off x="1371600" y="4123944"/>
            <a:ext cx="6080760" cy="557784"/>
          </a:xfrm>
          <a:prstGeom prst="rect">
            <a:avLst/>
          </a:prstGeom>
          <a:noFill/>
          <a:ln/>
        </p:spPr>
        <p:txBody>
          <a:bodyPr wrap="square" lIns="0" tIns="0" rIns="0" bIns="0" rtlCol="0" anchor="t"/>
          <a:lstStyle/>
          <a:p>
            <a:pPr marL="0" indent="0">
              <a:lnSpc>
                <a:spcPct val="100000"/>
              </a:lnSpc>
              <a:buNone/>
            </a:pPr>
            <a:r>
              <a:rPr lang="en-US" sz="1100" dirty="0">
                <a:latin typeface="Aptos" panose="020B0004020202020204" pitchFamily="34" charset="0"/>
                <a:ea typeface="Calibri" pitchFamily="34" charset="-122"/>
                <a:cs typeface="Calibri" pitchFamily="34" charset="-120"/>
              </a:rPr>
              <a:t>Early Works Contract signed with CEZ Group for Czech Republic's first SMR at Temelín (up to 3GW).</a:t>
            </a:r>
            <a:endParaRPr lang="en-US" sz="1100" dirty="0">
              <a:latin typeface="Aptos" panose="020B0004020202020204" pitchFamily="34" charset="0"/>
            </a:endParaRPr>
          </a:p>
        </p:txBody>
      </p:sp>
      <p:sp>
        <p:nvSpPr>
          <p:cNvPr id="31" name="Text 25"/>
          <p:cNvSpPr/>
          <p:nvPr/>
        </p:nvSpPr>
        <p:spPr>
          <a:xfrm>
            <a:off x="457200" y="4782312"/>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May</a:t>
            </a:r>
            <a:endParaRPr lang="en-US" sz="1150" dirty="0">
              <a:latin typeface="Aptos" panose="020B0004020202020204" pitchFamily="34" charset="0"/>
            </a:endParaRPr>
          </a:p>
        </p:txBody>
      </p:sp>
      <p:sp>
        <p:nvSpPr>
          <p:cNvPr id="32" name="Shape 26"/>
          <p:cNvSpPr/>
          <p:nvPr/>
        </p:nvSpPr>
        <p:spPr>
          <a:xfrm>
            <a:off x="1078992" y="4837176"/>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33" name="Text 27"/>
          <p:cNvSpPr/>
          <p:nvPr/>
        </p:nvSpPr>
        <p:spPr>
          <a:xfrm>
            <a:off x="1371600" y="4727448"/>
            <a:ext cx="6080760" cy="557784"/>
          </a:xfrm>
          <a:prstGeom prst="rect">
            <a:avLst/>
          </a:prstGeom>
          <a:noFill/>
          <a:ln/>
        </p:spPr>
        <p:txBody>
          <a:bodyPr wrap="square" lIns="0" tIns="0" rIns="0" bIns="0" rtlCol="0" anchor="t"/>
          <a:lstStyle/>
          <a:p>
            <a:pPr marL="0" indent="0">
              <a:lnSpc>
                <a:spcPct val="100000"/>
              </a:lnSpc>
              <a:buNone/>
            </a:pPr>
            <a:r>
              <a:rPr lang="en-US" sz="1100" dirty="0">
                <a:latin typeface="Aptos" panose="020B0004020202020204" pitchFamily="34" charset="0"/>
                <a:ea typeface="Calibri" pitchFamily="34" charset="-122"/>
                <a:cs typeface="Calibri" pitchFamily="34" charset="-120"/>
              </a:rPr>
              <a:t>Škoda JS and Doosan Enerbility appointed as dual suppliers for nuclear island components. Sparked UK industry debate on the 70% UK-content ambition.</a:t>
            </a:r>
            <a:endParaRPr lang="en-US" sz="1100" dirty="0">
              <a:latin typeface="Aptos" panose="020B0004020202020204" pitchFamily="34" charset="0"/>
            </a:endParaRPr>
          </a:p>
        </p:txBody>
      </p:sp>
      <p:sp>
        <p:nvSpPr>
          <p:cNvPr id="34" name="Text 28"/>
          <p:cNvSpPr/>
          <p:nvPr/>
        </p:nvSpPr>
        <p:spPr>
          <a:xfrm>
            <a:off x="457200" y="5385816"/>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15 Jun</a:t>
            </a:r>
            <a:endParaRPr lang="en-US" sz="1150" dirty="0">
              <a:latin typeface="Aptos" panose="020B0004020202020204" pitchFamily="34" charset="0"/>
            </a:endParaRPr>
          </a:p>
        </p:txBody>
      </p:sp>
      <p:sp>
        <p:nvSpPr>
          <p:cNvPr id="35" name="Shape 29"/>
          <p:cNvSpPr/>
          <p:nvPr/>
        </p:nvSpPr>
        <p:spPr>
          <a:xfrm>
            <a:off x="1078992" y="5440680"/>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36" name="Text 30"/>
          <p:cNvSpPr/>
          <p:nvPr/>
        </p:nvSpPr>
        <p:spPr>
          <a:xfrm>
            <a:off x="1371600" y="5330952"/>
            <a:ext cx="6080760" cy="557784"/>
          </a:xfrm>
          <a:prstGeom prst="rect">
            <a:avLst/>
          </a:prstGeom>
          <a:noFill/>
          <a:ln/>
        </p:spPr>
        <p:txBody>
          <a:bodyPr wrap="square" lIns="0" tIns="0" rIns="0" bIns="0" rtlCol="0" anchor="t"/>
          <a:lstStyle/>
          <a:p>
            <a:pPr marL="0" indent="0">
              <a:lnSpc>
                <a:spcPct val="100000"/>
              </a:lnSpc>
              <a:buNone/>
            </a:pPr>
            <a:r>
              <a:rPr lang="en-US" sz="1100" dirty="0">
                <a:latin typeface="Aptos" panose="020B0004020202020204" pitchFamily="34" charset="0"/>
                <a:ea typeface="Calibri" pitchFamily="34" charset="-122"/>
                <a:cs typeface="Calibri" pitchFamily="34" charset="-120"/>
              </a:rPr>
              <a:t>Selected by Videberg Kraft (Vattenfall) to deliver 3 SMRs at Värö Peninsula, Sweden — third European contract win.</a:t>
            </a:r>
            <a:endParaRPr lang="en-US" sz="1100" dirty="0">
              <a:latin typeface="Aptos" panose="020B0004020202020204" pitchFamily="34" charset="0"/>
            </a:endParaRPr>
          </a:p>
        </p:txBody>
      </p:sp>
      <p:sp>
        <p:nvSpPr>
          <p:cNvPr id="37" name="Text 31"/>
          <p:cNvSpPr/>
          <p:nvPr/>
        </p:nvSpPr>
        <p:spPr>
          <a:xfrm>
            <a:off x="457200" y="5989320"/>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26 Jun</a:t>
            </a:r>
            <a:endParaRPr lang="en-US" sz="1150" dirty="0">
              <a:latin typeface="Aptos" panose="020B0004020202020204" pitchFamily="34" charset="0"/>
            </a:endParaRPr>
          </a:p>
        </p:txBody>
      </p:sp>
      <p:sp>
        <p:nvSpPr>
          <p:cNvPr id="38" name="Shape 32"/>
          <p:cNvSpPr/>
          <p:nvPr/>
        </p:nvSpPr>
        <p:spPr>
          <a:xfrm>
            <a:off x="1078992" y="604418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39" name="Text 33"/>
          <p:cNvSpPr/>
          <p:nvPr/>
        </p:nvSpPr>
        <p:spPr>
          <a:xfrm>
            <a:off x="1371600" y="5934456"/>
            <a:ext cx="6080760" cy="557784"/>
          </a:xfrm>
          <a:prstGeom prst="rect">
            <a:avLst/>
          </a:prstGeom>
          <a:noFill/>
          <a:ln/>
        </p:spPr>
        <p:txBody>
          <a:bodyPr wrap="square" lIns="0" tIns="0" rIns="0" bIns="0" rtlCol="0" anchor="t"/>
          <a:lstStyle/>
          <a:p>
            <a:pPr marL="0" indent="0">
              <a:lnSpc>
                <a:spcPct val="100000"/>
              </a:lnSpc>
              <a:buNone/>
            </a:pPr>
            <a:r>
              <a:rPr lang="en-US" sz="1100" dirty="0">
                <a:latin typeface="Aptos" panose="020B0004020202020204" pitchFamily="34" charset="0"/>
                <a:ea typeface="Calibri" pitchFamily="34" charset="-122"/>
                <a:cs typeface="Calibri" pitchFamily="34" charset="-120"/>
              </a:rPr>
              <a:t>Pioneer Works manufacturing development centre announced for Derby — precision assembly, welding &amp; testing, ~40 skilled roles.</a:t>
            </a:r>
            <a:endParaRPr lang="en-US" sz="1100" dirty="0">
              <a:latin typeface="Aptos" panose="020B0004020202020204" pitchFamily="34" charset="0"/>
            </a:endParaRPr>
          </a:p>
        </p:txBody>
      </p:sp>
      <p:sp>
        <p:nvSpPr>
          <p:cNvPr id="40" name="Shape 34"/>
          <p:cNvSpPr/>
          <p:nvPr/>
        </p:nvSpPr>
        <p:spPr>
          <a:xfrm>
            <a:off x="7772400" y="2606040"/>
            <a:ext cx="3977640" cy="3986784"/>
          </a:xfrm>
          <a:prstGeom prst="roundRect">
            <a:avLst>
              <a:gd name="adj" fmla="val 1839"/>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41" name="Image 4" descr="preencoded.png"/>
          <p:cNvPicPr>
            <a:picLocks noChangeAspect="1"/>
          </p:cNvPicPr>
          <p:nvPr/>
        </p:nvPicPr>
        <p:blipFill>
          <a:blip r:embed="rId7"/>
          <a:stretch>
            <a:fillRect/>
          </a:stretch>
        </p:blipFill>
        <p:spPr>
          <a:xfrm>
            <a:off x="8001000" y="2807208"/>
            <a:ext cx="329184" cy="329184"/>
          </a:xfrm>
          <a:prstGeom prst="rect">
            <a:avLst/>
          </a:prstGeom>
        </p:spPr>
      </p:pic>
      <p:sp>
        <p:nvSpPr>
          <p:cNvPr id="42" name="Text 35"/>
          <p:cNvSpPr/>
          <p:nvPr/>
        </p:nvSpPr>
        <p:spPr>
          <a:xfrm>
            <a:off x="8430768" y="2807208"/>
            <a:ext cx="3063240" cy="329184"/>
          </a:xfrm>
          <a:prstGeom prst="rect">
            <a:avLst/>
          </a:prstGeom>
          <a:noFill/>
          <a:ln/>
        </p:spPr>
        <p:txBody>
          <a:bodyPr wrap="square" lIns="0" tIns="0" rIns="0" bIns="0" rtlCol="0" anchor="ctr"/>
          <a:lstStyle/>
          <a:p>
            <a:pPr marL="0" indent="0">
              <a:buNone/>
            </a:pPr>
            <a:r>
              <a:rPr lang="en-US" sz="1300" b="1" kern="0" spc="50" dirty="0">
                <a:solidFill>
                  <a:srgbClr val="1FB6A6"/>
                </a:solidFill>
                <a:latin typeface="Aptos" panose="020B0004020202020204" pitchFamily="34" charset="0"/>
                <a:ea typeface="Calibri" pitchFamily="34" charset="-122"/>
                <a:cs typeface="Calibri" pitchFamily="34" charset="-120"/>
              </a:rPr>
              <a:t>WHAT IT MEANS FOR YOU</a:t>
            </a:r>
            <a:endParaRPr lang="en-US" sz="1300" dirty="0">
              <a:latin typeface="Aptos" panose="020B0004020202020204" pitchFamily="34" charset="0"/>
            </a:endParaRPr>
          </a:p>
        </p:txBody>
      </p:sp>
      <p:sp>
        <p:nvSpPr>
          <p:cNvPr id="43" name="Text 36"/>
          <p:cNvSpPr/>
          <p:nvPr/>
        </p:nvSpPr>
        <p:spPr>
          <a:xfrm>
            <a:off x="8046720" y="3264408"/>
            <a:ext cx="3429000" cy="3118104"/>
          </a:xfrm>
          <a:prstGeom prst="rect">
            <a:avLst/>
          </a:prstGeom>
          <a:noFill/>
          <a:ln/>
        </p:spPr>
        <p:txBody>
          <a:bodyPr wrap="square" lIns="0" tIns="0" rIns="0" bIns="0" rtlCol="0" anchor="t"/>
          <a:lstStyle/>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ea typeface="Calibri" pitchFamily="34" charset="-122"/>
                <a:cs typeface="Calibri" pitchFamily="34" charset="-120"/>
              </a:rPr>
              <a:t>Only supplier with multiple signed SMR contracts in Europe (UK, Czechia, Sweden), Programme momentum is real, not speculative.</a:t>
            </a:r>
            <a:endParaRPr lang="en-US" sz="1100" dirty="0">
              <a:latin typeface="Aptos" panose="020B0004020202020204" pitchFamily="34" charset="0"/>
            </a:endParaRP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ea typeface="Calibri" pitchFamily="34" charset="-122"/>
                <a:cs typeface="Calibri" pitchFamily="34" charset="-120"/>
              </a:rPr>
              <a:t>Overseas nuclear-island awards (Škoda JS, Doosan) show the 70% UK-content target is contested. A live opportunity to press the case for UK-based capability.</a:t>
            </a:r>
            <a:endParaRPr lang="en-US" sz="1100" dirty="0">
              <a:latin typeface="Aptos" panose="020B0004020202020204" pitchFamily="34" charset="0"/>
            </a:endParaRP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ea typeface="Calibri" pitchFamily="34" charset="-122"/>
                <a:cs typeface="Calibri" pitchFamily="34" charset="-120"/>
              </a:rPr>
              <a:t>Pioneer Works, Derby opens a near-term route in for precision assembly, welding and testing suppliers.</a:t>
            </a:r>
            <a:endParaRPr lang="en-US" sz="1100" dirty="0">
              <a:latin typeface="Aptos" panose="020B0004020202020204" pitchFamily="34" charset="0"/>
            </a:endParaRP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ea typeface="Calibri" pitchFamily="34" charset="-122"/>
                <a:cs typeface="Calibri" pitchFamily="34" charset="-120"/>
              </a:rPr>
              <a:t>GBE-N contract unlocks ordering of long lead-time equipment. Early engagement window for tier 2/3 suppliers is now.</a:t>
            </a:r>
            <a:endParaRPr lang="en-US" sz="1100" dirty="0">
              <a:latin typeface="Aptos" panose="020B0004020202020204" pitchFamily="34" charset="0"/>
            </a:endParaRPr>
          </a:p>
        </p:txBody>
      </p:sp>
      <p:pic>
        <p:nvPicPr>
          <p:cNvPr id="44" name="Picture 43">
            <a:extLst>
              <a:ext uri="{FF2B5EF4-FFF2-40B4-BE49-F238E27FC236}">
                <a16:creationId xmlns:a16="http://schemas.microsoft.com/office/drawing/2014/main" id="{D1B9E71A-CBFF-DEB3-E510-4D2D523894CF}"/>
              </a:ext>
            </a:extLst>
          </p:cNvPr>
          <p:cNvPicPr>
            <a:picLocks noChangeAspect="1"/>
          </p:cNvPicPr>
          <p:nvPr/>
        </p:nvPicPr>
        <p:blipFill>
          <a:blip r:embed="rId8"/>
          <a:stretch>
            <a:fillRect/>
          </a:stretch>
        </p:blipFill>
        <p:spPr>
          <a:xfrm>
            <a:off x="11089768" y="15704"/>
            <a:ext cx="1069868" cy="1099864"/>
          </a:xfrm>
          <a:prstGeom prst="rect">
            <a:avLst/>
          </a:prstGeom>
        </p:spPr>
      </p:pic>
      <p:pic>
        <p:nvPicPr>
          <p:cNvPr id="46" name="Picture 45" descr="To Deliver Clean, Affordable Energy For All | Rolls-Royce SMR">
            <a:extLst>
              <a:ext uri="{FF2B5EF4-FFF2-40B4-BE49-F238E27FC236}">
                <a16:creationId xmlns:a16="http://schemas.microsoft.com/office/drawing/2014/main" id="{DBB476E6-7CFC-D352-68DC-7CC2EDDEA569}"/>
              </a:ext>
            </a:extLst>
          </p:cNvPr>
          <p:cNvPicPr>
            <a:picLocks noChangeAspect="1"/>
          </p:cNvPicPr>
          <p:nvPr/>
        </p:nvPicPr>
        <p:blipFill>
          <a:blip r:embed="rId9"/>
          <a:stretch>
            <a:fillRect/>
          </a:stretch>
        </p:blipFill>
        <p:spPr>
          <a:xfrm>
            <a:off x="522064" y="-21575"/>
            <a:ext cx="1150431" cy="862823"/>
          </a:xfrm>
          <a:prstGeom prst="rect">
            <a:avLst/>
          </a:prstGeom>
        </p:spPr>
      </p:pic>
      <p:sp>
        <p:nvSpPr>
          <p:cNvPr id="47" name="TextBox 46">
            <a:extLst>
              <a:ext uri="{FF2B5EF4-FFF2-40B4-BE49-F238E27FC236}">
                <a16:creationId xmlns:a16="http://schemas.microsoft.com/office/drawing/2014/main" id="{2BD23583-3A74-B707-5C9F-F9D5FB51438F}"/>
              </a:ext>
            </a:extLst>
          </p:cNvPr>
          <p:cNvSpPr txBox="1"/>
          <p:nvPr/>
        </p:nvSpPr>
        <p:spPr>
          <a:xfrm>
            <a:off x="44118" y="6654109"/>
            <a:ext cx="12152376" cy="200055"/>
          </a:xfrm>
          <a:prstGeom prst="rect">
            <a:avLst/>
          </a:prstGeom>
          <a:noFill/>
        </p:spPr>
        <p:txBody>
          <a:bodyPr wrap="square">
            <a:spAutoFit/>
          </a:bodyPr>
          <a:lstStyle/>
          <a:p>
            <a:pPr algn="ctr"/>
            <a:r>
              <a:rPr lang="en-GB" sz="700" b="1" i="0" u="none" strike="noStrike" noProof="0" dirty="0">
                <a:solidFill>
                  <a:srgbClr val="757575"/>
                </a:solidFill>
                <a:effectLst/>
                <a:latin typeface="Aptos Narrow" panose="020B0004020202020204" pitchFamily="34" charset="0"/>
              </a:rPr>
              <a:t>Commercial in Confidence - This document contains proprietary and commercially sensitive information. It is intended solely for the recipient(s) and should not be disclosed or distributed without written permission from Nuclear Collaboration Ltd (NucCol ltd) Co. no. 15937779 </a:t>
            </a:r>
            <a:r>
              <a:rPr lang="en-GB" sz="700" b="1" i="0" noProof="0" dirty="0">
                <a:solidFill>
                  <a:srgbClr val="000000"/>
                </a:solidFill>
                <a:effectLst/>
                <a:latin typeface="Aptos Narrow" panose="020B0004020202020204" pitchFamily="34" charset="0"/>
              </a:rPr>
              <a:t>​</a:t>
            </a:r>
            <a:endParaRPr lang="en-GB" sz="700" b="1" noProof="0" dirty="0"/>
          </a:p>
        </p:txBody>
      </p:sp>
    </p:spTree>
    <p:extLst>
      <p:ext uri="{BB962C8B-B14F-4D97-AF65-F5344CB8AC3E}">
        <p14:creationId xmlns:p14="http://schemas.microsoft.com/office/powerpoint/2010/main" val="4179775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97C95093-21E6-B036-66A3-23FC1EDC72E4}"/>
              </a:ext>
            </a:extLst>
          </p:cNvPr>
          <p:cNvSpPr/>
          <p:nvPr/>
        </p:nvSpPr>
        <p:spPr>
          <a:xfrm>
            <a:off x="0" y="0"/>
            <a:ext cx="1219200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 name="Text 0"/>
          <p:cNvSpPr/>
          <p:nvPr/>
        </p:nvSpPr>
        <p:spPr>
          <a:xfrm>
            <a:off x="793945" y="173736"/>
            <a:ext cx="11247120" cy="548640"/>
          </a:xfrm>
          <a:prstGeom prst="rect">
            <a:avLst/>
          </a:prstGeom>
          <a:noFill/>
          <a:ln/>
        </p:spPr>
        <p:txBody>
          <a:bodyPr wrap="square" lIns="0" tIns="0" rIns="0" bIns="0" rtlCol="0" anchor="ctr"/>
          <a:lstStyle/>
          <a:p>
            <a:pPr marL="0" indent="0">
              <a:buNone/>
            </a:pPr>
            <a:r>
              <a:rPr lang="en-US" sz="3000" b="1" dirty="0">
                <a:latin typeface="Aptos" panose="020B0004020202020204" pitchFamily="34" charset="0"/>
                <a:ea typeface="Cambria" pitchFamily="34" charset="-122"/>
                <a:cs typeface="Cambria" pitchFamily="34" charset="-120"/>
              </a:rPr>
              <a:t>               </a:t>
            </a:r>
            <a:r>
              <a:rPr lang="en-US" sz="3000" b="1" dirty="0">
                <a:solidFill>
                  <a:schemeClr val="accent5"/>
                </a:solidFill>
                <a:latin typeface="Aptos" panose="020B0004020202020204" pitchFamily="34" charset="0"/>
              </a:rPr>
              <a:t>AP300: 2026 </a:t>
            </a:r>
            <a:r>
              <a:rPr lang="en-US" sz="3000" b="1" dirty="0" err="1">
                <a:solidFill>
                  <a:schemeClr val="accent5"/>
                </a:solidFill>
                <a:latin typeface="Aptos" panose="020B0004020202020204" pitchFamily="34" charset="0"/>
              </a:rPr>
              <a:t>Programme</a:t>
            </a:r>
            <a:r>
              <a:rPr lang="en-US" sz="3000" b="1" dirty="0">
                <a:solidFill>
                  <a:schemeClr val="accent5"/>
                </a:solidFill>
                <a:latin typeface="Aptos" panose="020B0004020202020204" pitchFamily="34" charset="0"/>
              </a:rPr>
              <a:t> Update</a:t>
            </a:r>
          </a:p>
        </p:txBody>
      </p:sp>
      <p:sp>
        <p:nvSpPr>
          <p:cNvPr id="3" name="Text 1"/>
          <p:cNvSpPr/>
          <p:nvPr/>
        </p:nvSpPr>
        <p:spPr>
          <a:xfrm>
            <a:off x="457200" y="786384"/>
            <a:ext cx="11247120" cy="320040"/>
          </a:xfrm>
          <a:prstGeom prst="rect">
            <a:avLst/>
          </a:prstGeom>
          <a:noFill/>
          <a:ln/>
        </p:spPr>
        <p:txBody>
          <a:bodyPr wrap="square" lIns="0" tIns="0" rIns="0" bIns="0" rtlCol="0" anchor="ctr"/>
          <a:lstStyle/>
          <a:p>
            <a:r>
              <a:rPr lang="en-US" sz="1400" i="1" dirty="0">
                <a:latin typeface="Aptos" panose="020B0004020202020204" pitchFamily="34" charset="0"/>
                <a:ea typeface="Calibri" pitchFamily="34" charset="-122"/>
                <a:cs typeface="Calibri" pitchFamily="34" charset="-120"/>
              </a:rPr>
              <a:t>UK nuclear sector briefing for F4N cohort July 2026</a:t>
            </a:r>
            <a:endParaRPr lang="en-US" sz="1400" dirty="0">
              <a:latin typeface="Aptos" panose="020B0004020202020204" pitchFamily="34" charset="0"/>
            </a:endParaRPr>
          </a:p>
        </p:txBody>
      </p:sp>
      <p:sp>
        <p:nvSpPr>
          <p:cNvPr id="4" name="Shape 2"/>
          <p:cNvSpPr/>
          <p:nvPr/>
        </p:nvSpPr>
        <p:spPr>
          <a:xfrm>
            <a:off x="45720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5" name="Image 0" descr="preencoded.png"/>
          <p:cNvPicPr>
            <a:picLocks noChangeAspect="1"/>
          </p:cNvPicPr>
          <p:nvPr/>
        </p:nvPicPr>
        <p:blipFill>
          <a:blip r:embed="rId3"/>
          <a:stretch>
            <a:fillRect/>
          </a:stretch>
        </p:blipFill>
        <p:spPr>
          <a:xfrm>
            <a:off x="621792" y="1481328"/>
            <a:ext cx="365760" cy="365760"/>
          </a:xfrm>
          <a:prstGeom prst="rect">
            <a:avLst/>
          </a:prstGeom>
        </p:spPr>
      </p:pic>
      <p:sp>
        <p:nvSpPr>
          <p:cNvPr id="6" name="Text 3"/>
          <p:cNvSpPr/>
          <p:nvPr/>
        </p:nvSpPr>
        <p:spPr>
          <a:xfrm>
            <a:off x="1097280" y="1371600"/>
            <a:ext cx="1828800" cy="365760"/>
          </a:xfrm>
          <a:prstGeom prst="rect">
            <a:avLst/>
          </a:prstGeom>
          <a:noFill/>
          <a:ln/>
        </p:spPr>
        <p:txBody>
          <a:bodyPr wrap="square" lIns="0" tIns="0" rIns="0" bIns="0" rtlCol="0" anchor="ctr"/>
          <a:lstStyle/>
          <a:p>
            <a:pPr marL="0" indent="0">
              <a:buNone/>
            </a:pPr>
            <a:r>
              <a:rPr lang="en-US" sz="1700" b="1" dirty="0">
                <a:solidFill>
                  <a:srgbClr val="FFFFFF"/>
                </a:solidFill>
                <a:latin typeface="Aptos" panose="020B0004020202020204" pitchFamily="34" charset="0"/>
                <a:ea typeface="Calibri" pitchFamily="34" charset="-122"/>
                <a:cs typeface="Calibri" pitchFamily="34" charset="-120"/>
              </a:rPr>
              <a:t>Withdrew</a:t>
            </a:r>
            <a:endParaRPr lang="en-US" sz="1700" dirty="0">
              <a:latin typeface="Aptos" panose="020B0004020202020204" pitchFamily="34" charset="0"/>
            </a:endParaRPr>
          </a:p>
        </p:txBody>
      </p:sp>
      <p:sp>
        <p:nvSpPr>
          <p:cNvPr id="7" name="Text 4"/>
          <p:cNvSpPr/>
          <p:nvPr/>
        </p:nvSpPr>
        <p:spPr>
          <a:xfrm>
            <a:off x="62179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From GBN/Wylfa competition,</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April 2025</a:t>
            </a:r>
            <a:endParaRPr lang="en-US" sz="950" dirty="0">
              <a:latin typeface="Aptos" panose="020B0004020202020204" pitchFamily="34" charset="0"/>
            </a:endParaRPr>
          </a:p>
        </p:txBody>
      </p:sp>
      <p:sp>
        <p:nvSpPr>
          <p:cNvPr id="8" name="Shape 5"/>
          <p:cNvSpPr/>
          <p:nvPr/>
        </p:nvSpPr>
        <p:spPr>
          <a:xfrm>
            <a:off x="329184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9" name="Image 1" descr="preencoded.png"/>
          <p:cNvPicPr>
            <a:picLocks noChangeAspect="1"/>
          </p:cNvPicPr>
          <p:nvPr/>
        </p:nvPicPr>
        <p:blipFill>
          <a:blip r:embed="rId4"/>
          <a:stretch>
            <a:fillRect/>
          </a:stretch>
        </p:blipFill>
        <p:spPr>
          <a:xfrm>
            <a:off x="3456432" y="1481328"/>
            <a:ext cx="365760" cy="365760"/>
          </a:xfrm>
          <a:prstGeom prst="rect">
            <a:avLst/>
          </a:prstGeom>
        </p:spPr>
      </p:pic>
      <p:sp>
        <p:nvSpPr>
          <p:cNvPr id="10" name="Text 6"/>
          <p:cNvSpPr/>
          <p:nvPr/>
        </p:nvSpPr>
        <p:spPr>
          <a:xfrm>
            <a:off x="3931920" y="1371600"/>
            <a:ext cx="1828800" cy="365760"/>
          </a:xfrm>
          <a:prstGeom prst="rect">
            <a:avLst/>
          </a:prstGeom>
          <a:noFill/>
          <a:ln/>
        </p:spPr>
        <p:txBody>
          <a:bodyPr wrap="square" lIns="0" tIns="0" rIns="0" bIns="0" rtlCol="0" anchor="ctr"/>
          <a:lstStyle/>
          <a:p>
            <a:pPr marL="0" indent="0">
              <a:buNone/>
            </a:pPr>
            <a:r>
              <a:rPr lang="en-US" sz="1700" b="1" dirty="0">
                <a:solidFill>
                  <a:srgbClr val="FFFFFF"/>
                </a:solidFill>
                <a:latin typeface="Aptos" panose="020B0004020202020204" pitchFamily="34" charset="0"/>
                <a:ea typeface="Calibri" pitchFamily="34" charset="-122"/>
                <a:cs typeface="Calibri" pitchFamily="34" charset="-120"/>
              </a:rPr>
              <a:t>4 units</a:t>
            </a:r>
            <a:endParaRPr lang="en-US" sz="1700" dirty="0">
              <a:latin typeface="Aptos" panose="020B0004020202020204" pitchFamily="34" charset="0"/>
            </a:endParaRPr>
          </a:p>
        </p:txBody>
      </p:sp>
      <p:sp>
        <p:nvSpPr>
          <p:cNvPr id="11" name="Text 7"/>
          <p:cNvSpPr/>
          <p:nvPr/>
        </p:nvSpPr>
        <p:spPr>
          <a:xfrm>
            <a:off x="345643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Private AP300 fleet planned,</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North Teesside</a:t>
            </a:r>
            <a:endParaRPr lang="en-US" sz="950" dirty="0">
              <a:latin typeface="Aptos" panose="020B0004020202020204" pitchFamily="34" charset="0"/>
            </a:endParaRPr>
          </a:p>
        </p:txBody>
      </p:sp>
      <p:sp>
        <p:nvSpPr>
          <p:cNvPr id="12" name="Shape 8"/>
          <p:cNvSpPr/>
          <p:nvPr/>
        </p:nvSpPr>
        <p:spPr>
          <a:xfrm>
            <a:off x="612648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3" name="Image 2" descr="preencoded.png"/>
          <p:cNvPicPr>
            <a:picLocks noChangeAspect="1"/>
          </p:cNvPicPr>
          <p:nvPr/>
        </p:nvPicPr>
        <p:blipFill>
          <a:blip r:embed="rId5"/>
          <a:stretch>
            <a:fillRect/>
          </a:stretch>
        </p:blipFill>
        <p:spPr>
          <a:xfrm>
            <a:off x="6291072" y="1481328"/>
            <a:ext cx="365760" cy="365760"/>
          </a:xfrm>
          <a:prstGeom prst="rect">
            <a:avLst/>
          </a:prstGeom>
        </p:spPr>
      </p:pic>
      <p:sp>
        <p:nvSpPr>
          <p:cNvPr id="14" name="Text 9"/>
          <p:cNvSpPr/>
          <p:nvPr/>
        </p:nvSpPr>
        <p:spPr>
          <a:xfrm>
            <a:off x="6766560" y="1371600"/>
            <a:ext cx="1828800" cy="365760"/>
          </a:xfrm>
          <a:prstGeom prst="rect">
            <a:avLst/>
          </a:prstGeom>
          <a:noFill/>
          <a:ln/>
        </p:spPr>
        <p:txBody>
          <a:bodyPr wrap="square" lIns="0" tIns="0" rIns="0" bIns="0" rtlCol="0" anchor="ctr"/>
          <a:lstStyle/>
          <a:p>
            <a:pPr marL="0" indent="0">
              <a:buNone/>
            </a:pPr>
            <a:r>
              <a:rPr lang="en-US" sz="1700" b="1" dirty="0">
                <a:solidFill>
                  <a:srgbClr val="FFFFFF"/>
                </a:solidFill>
                <a:latin typeface="Aptos" panose="020B0004020202020204" pitchFamily="34" charset="0"/>
                <a:ea typeface="Calibri" pitchFamily="34" charset="-122"/>
                <a:cs typeface="Calibri" pitchFamily="34" charset="-120"/>
              </a:rPr>
              <a:t>80 yrs</a:t>
            </a:r>
            <a:endParaRPr lang="en-US" sz="1700" dirty="0">
              <a:latin typeface="Aptos" panose="020B0004020202020204" pitchFamily="34" charset="0"/>
            </a:endParaRPr>
          </a:p>
        </p:txBody>
      </p:sp>
      <p:sp>
        <p:nvSpPr>
          <p:cNvPr id="15" name="Text 10"/>
          <p:cNvSpPr/>
          <p:nvPr/>
        </p:nvSpPr>
        <p:spPr>
          <a:xfrm>
            <a:off x="629107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Springfields fuel site</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milestone, March 2026</a:t>
            </a:r>
            <a:endParaRPr lang="en-US" sz="950" dirty="0">
              <a:latin typeface="Aptos" panose="020B0004020202020204" pitchFamily="34" charset="0"/>
            </a:endParaRPr>
          </a:p>
        </p:txBody>
      </p:sp>
      <p:sp>
        <p:nvSpPr>
          <p:cNvPr id="16" name="Shape 11"/>
          <p:cNvSpPr/>
          <p:nvPr/>
        </p:nvSpPr>
        <p:spPr>
          <a:xfrm>
            <a:off x="896112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7" name="Image 3" descr="preencoded.png"/>
          <p:cNvPicPr>
            <a:picLocks noChangeAspect="1"/>
          </p:cNvPicPr>
          <p:nvPr/>
        </p:nvPicPr>
        <p:blipFill>
          <a:blip r:embed="rId6"/>
          <a:stretch>
            <a:fillRect/>
          </a:stretch>
        </p:blipFill>
        <p:spPr>
          <a:xfrm>
            <a:off x="9125712" y="1481328"/>
            <a:ext cx="365760" cy="365760"/>
          </a:xfrm>
          <a:prstGeom prst="rect">
            <a:avLst/>
          </a:prstGeom>
        </p:spPr>
      </p:pic>
      <p:sp>
        <p:nvSpPr>
          <p:cNvPr id="18" name="Text 12"/>
          <p:cNvSpPr/>
          <p:nvPr/>
        </p:nvSpPr>
        <p:spPr>
          <a:xfrm>
            <a:off x="9601200" y="1371600"/>
            <a:ext cx="1828800" cy="365760"/>
          </a:xfrm>
          <a:prstGeom prst="rect">
            <a:avLst/>
          </a:prstGeom>
          <a:noFill/>
          <a:ln/>
        </p:spPr>
        <p:txBody>
          <a:bodyPr wrap="square" lIns="0" tIns="0" rIns="0" bIns="0" rtlCol="0" anchor="ctr"/>
          <a:lstStyle/>
          <a:p>
            <a:pPr marL="0" indent="0">
              <a:buNone/>
            </a:pPr>
            <a:r>
              <a:rPr lang="en-US" sz="1700" b="1" dirty="0">
                <a:solidFill>
                  <a:srgbClr val="FFFFFF"/>
                </a:solidFill>
                <a:latin typeface="Aptos" panose="020B0004020202020204" pitchFamily="34" charset="0"/>
                <a:ea typeface="Calibri" pitchFamily="34" charset="-122"/>
                <a:cs typeface="Calibri" pitchFamily="34" charset="-120"/>
              </a:rPr>
              <a:t>Step 1</a:t>
            </a:r>
            <a:endParaRPr lang="en-US" sz="1700" dirty="0">
              <a:latin typeface="Aptos" panose="020B0004020202020204" pitchFamily="34" charset="0"/>
            </a:endParaRPr>
          </a:p>
        </p:txBody>
      </p:sp>
      <p:sp>
        <p:nvSpPr>
          <p:cNvPr id="19" name="Text 13"/>
          <p:cNvSpPr/>
          <p:nvPr/>
        </p:nvSpPr>
        <p:spPr>
          <a:xfrm>
            <a:off x="912571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UK GDA complete;</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Step 2 assessment ongoing</a:t>
            </a:r>
            <a:endParaRPr lang="en-US" sz="950" dirty="0">
              <a:latin typeface="Aptos" panose="020B0004020202020204" pitchFamily="34" charset="0"/>
            </a:endParaRPr>
          </a:p>
        </p:txBody>
      </p:sp>
      <p:sp>
        <p:nvSpPr>
          <p:cNvPr id="20" name="Text 14"/>
          <p:cNvSpPr/>
          <p:nvPr/>
        </p:nvSpPr>
        <p:spPr>
          <a:xfrm>
            <a:off x="457200" y="2606040"/>
            <a:ext cx="7040880" cy="274320"/>
          </a:xfrm>
          <a:prstGeom prst="rect">
            <a:avLst/>
          </a:prstGeom>
          <a:noFill/>
          <a:ln/>
        </p:spPr>
        <p:txBody>
          <a:bodyPr wrap="square" lIns="0" tIns="0" rIns="0" bIns="0" rtlCol="0" anchor="ctr"/>
          <a:lstStyle/>
          <a:p>
            <a:pPr marL="0" indent="0">
              <a:buNone/>
            </a:pPr>
            <a:r>
              <a:rPr lang="en-US" sz="1300" b="1" kern="0" spc="100" dirty="0">
                <a:latin typeface="Aptos" panose="020B0004020202020204" pitchFamily="34" charset="0"/>
                <a:ea typeface="Calibri" pitchFamily="34" charset="-122"/>
                <a:cs typeface="Calibri" pitchFamily="34" charset="-120"/>
              </a:rPr>
              <a:t>2025–26 STATUS TIMELINE</a:t>
            </a:r>
            <a:endParaRPr lang="en-US" sz="1300" dirty="0">
              <a:latin typeface="Aptos" panose="020B0004020202020204" pitchFamily="34" charset="0"/>
            </a:endParaRPr>
          </a:p>
        </p:txBody>
      </p:sp>
      <p:sp>
        <p:nvSpPr>
          <p:cNvPr id="21" name="Shape 15"/>
          <p:cNvSpPr/>
          <p:nvPr/>
        </p:nvSpPr>
        <p:spPr>
          <a:xfrm>
            <a:off x="1280160" y="2990088"/>
            <a:ext cx="0" cy="3063240"/>
          </a:xfrm>
          <a:prstGeom prst="line">
            <a:avLst/>
          </a:prstGeom>
          <a:noFill/>
          <a:ln w="19050">
            <a:solidFill>
              <a:srgbClr val="2A4670"/>
            </a:solidFill>
            <a:prstDash val="solid"/>
          </a:ln>
        </p:spPr>
        <p:txBody>
          <a:bodyPr/>
          <a:lstStyle/>
          <a:p>
            <a:endParaRPr lang="en-GB">
              <a:latin typeface="Aptos" panose="020B0004020202020204" pitchFamily="34" charset="0"/>
            </a:endParaRPr>
          </a:p>
        </p:txBody>
      </p:sp>
      <p:sp>
        <p:nvSpPr>
          <p:cNvPr id="22" name="Text 16"/>
          <p:cNvSpPr/>
          <p:nvPr/>
        </p:nvSpPr>
        <p:spPr>
          <a:xfrm>
            <a:off x="457200" y="2971800"/>
            <a:ext cx="731520" cy="365760"/>
          </a:xfrm>
          <a:prstGeom prst="rect">
            <a:avLst/>
          </a:prstGeom>
          <a:noFill/>
          <a:ln/>
        </p:spPr>
        <p:txBody>
          <a:bodyPr wrap="square" lIns="0" tIns="0" rIns="0" bIns="0" rtlCol="0" anchor="ctr"/>
          <a:lstStyle/>
          <a:p>
            <a:pPr marL="0" indent="0" algn="r">
              <a:buNone/>
            </a:pPr>
            <a:r>
              <a:rPr lang="en-US" sz="1100" b="1" dirty="0">
                <a:latin typeface="Aptos" panose="020B0004020202020204" pitchFamily="34" charset="0"/>
                <a:ea typeface="Calibri" pitchFamily="34" charset="-122"/>
                <a:cs typeface="Calibri" pitchFamily="34" charset="-120"/>
              </a:rPr>
              <a:t>Apr '25</a:t>
            </a:r>
            <a:endParaRPr lang="en-US" sz="1100" dirty="0">
              <a:latin typeface="Aptos" panose="020B0004020202020204" pitchFamily="34" charset="0"/>
            </a:endParaRPr>
          </a:p>
        </p:txBody>
      </p:sp>
      <p:sp>
        <p:nvSpPr>
          <p:cNvPr id="23" name="Shape 17"/>
          <p:cNvSpPr/>
          <p:nvPr/>
        </p:nvSpPr>
        <p:spPr>
          <a:xfrm>
            <a:off x="1216152" y="302666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24" name="Text 18"/>
          <p:cNvSpPr/>
          <p:nvPr/>
        </p:nvSpPr>
        <p:spPr>
          <a:xfrm>
            <a:off x="1508760" y="2916936"/>
            <a:ext cx="5943600" cy="777240"/>
          </a:xfrm>
          <a:prstGeom prst="rect">
            <a:avLst/>
          </a:prstGeom>
          <a:noFill/>
          <a:ln/>
        </p:spPr>
        <p:txBody>
          <a:bodyPr wrap="square" lIns="0" tIns="0" rIns="0" bIns="0" rtlCol="0" anchor="t"/>
          <a:lstStyle/>
          <a:p>
            <a:pPr marL="0" indent="0">
              <a:lnSpc>
                <a:spcPct val="105000"/>
              </a:lnSpc>
              <a:buNone/>
            </a:pPr>
            <a:r>
              <a:rPr lang="en-US" sz="1050" dirty="0">
                <a:latin typeface="Aptos" panose="020B0004020202020204" pitchFamily="34" charset="0"/>
                <a:ea typeface="Calibri" pitchFamily="34" charset="-122"/>
                <a:cs typeface="Calibri" pitchFamily="34" charset="-120"/>
              </a:rPr>
              <a:t>Westinghouse withdraws from Great British Nuclear's government-backed SMR competition; Rolls-Royce is selected as the UK's preferred partner two months later.</a:t>
            </a:r>
            <a:endParaRPr lang="en-US" sz="1050" dirty="0">
              <a:latin typeface="Aptos" panose="020B0004020202020204" pitchFamily="34" charset="0"/>
            </a:endParaRPr>
          </a:p>
        </p:txBody>
      </p:sp>
      <p:sp>
        <p:nvSpPr>
          <p:cNvPr id="25" name="Text 19"/>
          <p:cNvSpPr/>
          <p:nvPr/>
        </p:nvSpPr>
        <p:spPr>
          <a:xfrm>
            <a:off x="457200" y="3794760"/>
            <a:ext cx="731520" cy="365760"/>
          </a:xfrm>
          <a:prstGeom prst="rect">
            <a:avLst/>
          </a:prstGeom>
          <a:noFill/>
          <a:ln/>
        </p:spPr>
        <p:txBody>
          <a:bodyPr wrap="square" lIns="0" tIns="0" rIns="0" bIns="0" rtlCol="0" anchor="ctr"/>
          <a:lstStyle/>
          <a:p>
            <a:pPr marL="0" indent="0" algn="r">
              <a:buNone/>
            </a:pPr>
            <a:r>
              <a:rPr lang="en-US" sz="1100" b="1" dirty="0">
                <a:latin typeface="Aptos" panose="020B0004020202020204" pitchFamily="34" charset="0"/>
                <a:ea typeface="Calibri" pitchFamily="34" charset="-122"/>
                <a:cs typeface="Calibri" pitchFamily="34" charset="-120"/>
              </a:rPr>
              <a:t>2025</a:t>
            </a:r>
            <a:endParaRPr lang="en-US" sz="1100" dirty="0">
              <a:latin typeface="Aptos" panose="020B0004020202020204" pitchFamily="34" charset="0"/>
            </a:endParaRPr>
          </a:p>
        </p:txBody>
      </p:sp>
      <p:sp>
        <p:nvSpPr>
          <p:cNvPr id="26" name="Shape 20"/>
          <p:cNvSpPr/>
          <p:nvPr/>
        </p:nvSpPr>
        <p:spPr>
          <a:xfrm>
            <a:off x="1216152" y="384962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27" name="Text 21"/>
          <p:cNvSpPr/>
          <p:nvPr/>
        </p:nvSpPr>
        <p:spPr>
          <a:xfrm>
            <a:off x="1508760" y="3739896"/>
            <a:ext cx="5943600" cy="777240"/>
          </a:xfrm>
          <a:prstGeom prst="rect">
            <a:avLst/>
          </a:prstGeom>
          <a:noFill/>
          <a:ln/>
        </p:spPr>
        <p:txBody>
          <a:bodyPr wrap="square" lIns="0" tIns="0" rIns="0" bIns="0" rtlCol="0" anchor="t"/>
          <a:lstStyle/>
          <a:p>
            <a:pPr marL="0" indent="0">
              <a:lnSpc>
                <a:spcPct val="105000"/>
              </a:lnSpc>
              <a:buNone/>
            </a:pPr>
            <a:r>
              <a:rPr lang="en-US" sz="1050" dirty="0">
                <a:latin typeface="Aptos" panose="020B0004020202020204" pitchFamily="34" charset="0"/>
                <a:ea typeface="Calibri" pitchFamily="34" charset="-122"/>
                <a:cs typeface="Calibri" pitchFamily="34" charset="-120"/>
              </a:rPr>
              <a:t>Six UK supplier MoUs signed (William Cook, Trillium Flow, Curtiss-Wright UK, Boccard UK, Bendalls Engineering, Sheffield Forgemasters) to support AP1000/AP300 component supply.</a:t>
            </a:r>
            <a:endParaRPr lang="en-US" sz="1050" dirty="0">
              <a:latin typeface="Aptos" panose="020B0004020202020204" pitchFamily="34" charset="0"/>
            </a:endParaRPr>
          </a:p>
        </p:txBody>
      </p:sp>
      <p:sp>
        <p:nvSpPr>
          <p:cNvPr id="28" name="Text 22"/>
          <p:cNvSpPr/>
          <p:nvPr/>
        </p:nvSpPr>
        <p:spPr>
          <a:xfrm>
            <a:off x="457200" y="4617720"/>
            <a:ext cx="731520" cy="365760"/>
          </a:xfrm>
          <a:prstGeom prst="rect">
            <a:avLst/>
          </a:prstGeom>
          <a:noFill/>
          <a:ln/>
        </p:spPr>
        <p:txBody>
          <a:bodyPr wrap="square" lIns="0" tIns="0" rIns="0" bIns="0" rtlCol="0" anchor="ctr"/>
          <a:lstStyle/>
          <a:p>
            <a:pPr marL="0" indent="0" algn="r">
              <a:buNone/>
            </a:pPr>
            <a:r>
              <a:rPr lang="en-US" sz="1100" b="1" dirty="0">
                <a:latin typeface="Aptos" panose="020B0004020202020204" pitchFamily="34" charset="0"/>
                <a:ea typeface="Calibri" pitchFamily="34" charset="-122"/>
                <a:cs typeface="Calibri" pitchFamily="34" charset="-120"/>
              </a:rPr>
              <a:t>30 Mar '26</a:t>
            </a:r>
            <a:endParaRPr lang="en-US" sz="1100" dirty="0">
              <a:latin typeface="Aptos" panose="020B0004020202020204" pitchFamily="34" charset="0"/>
            </a:endParaRPr>
          </a:p>
        </p:txBody>
      </p:sp>
      <p:sp>
        <p:nvSpPr>
          <p:cNvPr id="29" name="Shape 23"/>
          <p:cNvSpPr/>
          <p:nvPr/>
        </p:nvSpPr>
        <p:spPr>
          <a:xfrm>
            <a:off x="1216152" y="467258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30" name="Text 24"/>
          <p:cNvSpPr/>
          <p:nvPr/>
        </p:nvSpPr>
        <p:spPr>
          <a:xfrm>
            <a:off x="1508760" y="4562856"/>
            <a:ext cx="5943600" cy="777240"/>
          </a:xfrm>
          <a:prstGeom prst="rect">
            <a:avLst/>
          </a:prstGeom>
          <a:noFill/>
          <a:ln/>
        </p:spPr>
        <p:txBody>
          <a:bodyPr wrap="square" lIns="0" tIns="0" rIns="0" bIns="0" rtlCol="0" anchor="t"/>
          <a:lstStyle/>
          <a:p>
            <a:pPr marL="0" indent="0">
              <a:lnSpc>
                <a:spcPct val="105000"/>
              </a:lnSpc>
              <a:buNone/>
            </a:pPr>
            <a:r>
              <a:rPr lang="en-US" sz="1050" dirty="0">
                <a:latin typeface="Aptos" panose="020B0004020202020204" pitchFamily="34" charset="0"/>
                <a:ea typeface="Calibri" pitchFamily="34" charset="-122"/>
                <a:cs typeface="Calibri" pitchFamily="34" charset="-120"/>
              </a:rPr>
              <a:t>Springfields, Lancashire marks 80 years as the world's oldest continuously operating nuclear fuel manufacturing site — the anchor of Westinghouse's UK footprint.</a:t>
            </a:r>
            <a:endParaRPr lang="en-US" sz="1050" dirty="0">
              <a:latin typeface="Aptos" panose="020B0004020202020204" pitchFamily="34" charset="0"/>
            </a:endParaRPr>
          </a:p>
        </p:txBody>
      </p:sp>
      <p:sp>
        <p:nvSpPr>
          <p:cNvPr id="31" name="Text 25"/>
          <p:cNvSpPr/>
          <p:nvPr/>
        </p:nvSpPr>
        <p:spPr>
          <a:xfrm>
            <a:off x="457200" y="5440680"/>
            <a:ext cx="731520" cy="365760"/>
          </a:xfrm>
          <a:prstGeom prst="rect">
            <a:avLst/>
          </a:prstGeom>
          <a:noFill/>
          <a:ln/>
        </p:spPr>
        <p:txBody>
          <a:bodyPr wrap="square" lIns="0" tIns="0" rIns="0" bIns="0" rtlCol="0" anchor="ctr"/>
          <a:lstStyle/>
          <a:p>
            <a:pPr marL="0" indent="0" algn="r">
              <a:buNone/>
            </a:pPr>
            <a:r>
              <a:rPr lang="en-US" sz="1100" b="1" dirty="0">
                <a:latin typeface="Aptos" panose="020B0004020202020204" pitchFamily="34" charset="0"/>
                <a:ea typeface="Calibri" pitchFamily="34" charset="-122"/>
                <a:cs typeface="Calibri" pitchFamily="34" charset="-120"/>
              </a:rPr>
              <a:t>Ongoing '26</a:t>
            </a:r>
            <a:endParaRPr lang="en-US" sz="1100" dirty="0">
              <a:latin typeface="Aptos" panose="020B0004020202020204" pitchFamily="34" charset="0"/>
            </a:endParaRPr>
          </a:p>
        </p:txBody>
      </p:sp>
      <p:sp>
        <p:nvSpPr>
          <p:cNvPr id="32" name="Shape 26"/>
          <p:cNvSpPr/>
          <p:nvPr/>
        </p:nvSpPr>
        <p:spPr>
          <a:xfrm>
            <a:off x="1216152" y="549554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33" name="Text 27"/>
          <p:cNvSpPr/>
          <p:nvPr/>
        </p:nvSpPr>
        <p:spPr>
          <a:xfrm>
            <a:off x="1508760" y="5385816"/>
            <a:ext cx="5943600" cy="777240"/>
          </a:xfrm>
          <a:prstGeom prst="rect">
            <a:avLst/>
          </a:prstGeom>
          <a:noFill/>
          <a:ln/>
        </p:spPr>
        <p:txBody>
          <a:bodyPr wrap="square" lIns="0" tIns="0" rIns="0" bIns="0" rtlCol="0" anchor="t"/>
          <a:lstStyle/>
          <a:p>
            <a:pPr marL="0" indent="0">
              <a:lnSpc>
                <a:spcPct val="105000"/>
              </a:lnSpc>
              <a:buNone/>
            </a:pPr>
            <a:r>
              <a:rPr lang="en-US" sz="1050" dirty="0">
                <a:latin typeface="Aptos" panose="020B0004020202020204" pitchFamily="34" charset="0"/>
                <a:ea typeface="Calibri" pitchFamily="34" charset="-122"/>
                <a:cs typeface="Calibri" pitchFamily="34" charset="-120"/>
              </a:rPr>
              <a:t>AP300 remains in the UK's 2-step GDA (Step 1 complete). Community Nuclear Power continues developing the privately financed 4-unit AP300 fleet at North Teesside, targeting a licensed site by 2027.</a:t>
            </a:r>
            <a:endParaRPr lang="en-US" sz="1050" dirty="0">
              <a:latin typeface="Aptos" panose="020B0004020202020204" pitchFamily="34" charset="0"/>
            </a:endParaRPr>
          </a:p>
        </p:txBody>
      </p:sp>
      <p:sp>
        <p:nvSpPr>
          <p:cNvPr id="34" name="Shape 28"/>
          <p:cNvSpPr/>
          <p:nvPr/>
        </p:nvSpPr>
        <p:spPr>
          <a:xfrm>
            <a:off x="7772400" y="2606040"/>
            <a:ext cx="3977640" cy="4017182"/>
          </a:xfrm>
          <a:prstGeom prst="roundRect">
            <a:avLst>
              <a:gd name="adj" fmla="val 2133"/>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35" name="Image 4" descr="preencoded.png"/>
          <p:cNvPicPr>
            <a:picLocks noChangeAspect="1"/>
          </p:cNvPicPr>
          <p:nvPr/>
        </p:nvPicPr>
        <p:blipFill>
          <a:blip r:embed="rId7"/>
          <a:stretch>
            <a:fillRect/>
          </a:stretch>
        </p:blipFill>
        <p:spPr>
          <a:xfrm>
            <a:off x="8001000" y="2807208"/>
            <a:ext cx="329184" cy="329184"/>
          </a:xfrm>
          <a:prstGeom prst="rect">
            <a:avLst/>
          </a:prstGeom>
        </p:spPr>
      </p:pic>
      <p:sp>
        <p:nvSpPr>
          <p:cNvPr id="36" name="Text 29"/>
          <p:cNvSpPr/>
          <p:nvPr/>
        </p:nvSpPr>
        <p:spPr>
          <a:xfrm>
            <a:off x="8430768" y="2807208"/>
            <a:ext cx="3063240" cy="329184"/>
          </a:xfrm>
          <a:prstGeom prst="rect">
            <a:avLst/>
          </a:prstGeom>
          <a:noFill/>
          <a:ln/>
        </p:spPr>
        <p:txBody>
          <a:bodyPr wrap="square" lIns="0" tIns="0" rIns="0" bIns="0" rtlCol="0" anchor="ctr"/>
          <a:lstStyle/>
          <a:p>
            <a:pPr marL="0" indent="0">
              <a:buNone/>
            </a:pPr>
            <a:r>
              <a:rPr lang="en-US" sz="1300" b="1" kern="0" spc="50" dirty="0">
                <a:solidFill>
                  <a:srgbClr val="1FB6A6"/>
                </a:solidFill>
                <a:latin typeface="Aptos" panose="020B0004020202020204" pitchFamily="34" charset="0"/>
                <a:ea typeface="Calibri" pitchFamily="34" charset="-122"/>
                <a:cs typeface="Calibri" pitchFamily="34" charset="-120"/>
              </a:rPr>
              <a:t>WHAT IT MEANS FOR YOU</a:t>
            </a:r>
            <a:endParaRPr lang="en-US" sz="1300" dirty="0">
              <a:latin typeface="Aptos" panose="020B0004020202020204" pitchFamily="34" charset="0"/>
            </a:endParaRPr>
          </a:p>
        </p:txBody>
      </p:sp>
      <p:sp>
        <p:nvSpPr>
          <p:cNvPr id="37" name="Text 30"/>
          <p:cNvSpPr/>
          <p:nvPr/>
        </p:nvSpPr>
        <p:spPr>
          <a:xfrm>
            <a:off x="8046720" y="3264408"/>
            <a:ext cx="3429000" cy="3300984"/>
          </a:xfrm>
          <a:prstGeom prst="rect">
            <a:avLst/>
          </a:prstGeom>
          <a:noFill/>
          <a:ln/>
        </p:spPr>
        <p:txBody>
          <a:bodyPr wrap="square" lIns="0" tIns="0" rIns="0" bIns="0" rtlCol="0" anchor="t"/>
          <a:lstStyle/>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Unlike Rolls-Royce, Holtec and X-energy, Westinghouse is not part of the government-backed Wylfa programme. Its UK SMR future rests entirely on the privately financed Teesside project, a different risk profile to weigh.</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AP300 reuses AP1000 engineering and components, so its supplier base is already established. A lower-risk, faster route in for suppliers with existing PWR experience.</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Watch CNP's 2027 licensed-site target for Teesside closely. That milestone, not the GDA, is the clearest near-term signal of whether this programme moves from ambition to funded construction.</a:t>
            </a:r>
          </a:p>
        </p:txBody>
      </p:sp>
      <p:pic>
        <p:nvPicPr>
          <p:cNvPr id="39" name="Picture 38">
            <a:extLst>
              <a:ext uri="{FF2B5EF4-FFF2-40B4-BE49-F238E27FC236}">
                <a16:creationId xmlns:a16="http://schemas.microsoft.com/office/drawing/2014/main" id="{1BC5D79A-FE4A-D99D-3C0F-987E6677FAFF}"/>
              </a:ext>
            </a:extLst>
          </p:cNvPr>
          <p:cNvPicPr>
            <a:picLocks noChangeAspect="1"/>
          </p:cNvPicPr>
          <p:nvPr/>
        </p:nvPicPr>
        <p:blipFill>
          <a:blip r:embed="rId8"/>
          <a:stretch>
            <a:fillRect/>
          </a:stretch>
        </p:blipFill>
        <p:spPr>
          <a:xfrm>
            <a:off x="11089768" y="15704"/>
            <a:ext cx="1069868" cy="1099864"/>
          </a:xfrm>
          <a:prstGeom prst="rect">
            <a:avLst/>
          </a:prstGeom>
        </p:spPr>
      </p:pic>
      <p:pic>
        <p:nvPicPr>
          <p:cNvPr id="40" name="Picture 39" descr="Westinghouse Electric Corporation - Wikipedia">
            <a:extLst>
              <a:ext uri="{FF2B5EF4-FFF2-40B4-BE49-F238E27FC236}">
                <a16:creationId xmlns:a16="http://schemas.microsoft.com/office/drawing/2014/main" id="{4643C5A9-746D-B0E9-BE08-6149AA6EB173}"/>
              </a:ext>
            </a:extLst>
          </p:cNvPr>
          <p:cNvPicPr>
            <a:picLocks noChangeAspect="1"/>
          </p:cNvPicPr>
          <p:nvPr/>
        </p:nvPicPr>
        <p:blipFill>
          <a:blip r:embed="rId9"/>
          <a:stretch>
            <a:fillRect/>
          </a:stretch>
        </p:blipFill>
        <p:spPr>
          <a:xfrm>
            <a:off x="224562" y="182880"/>
            <a:ext cx="1690404" cy="548640"/>
          </a:xfrm>
          <a:prstGeom prst="rect">
            <a:avLst/>
          </a:prstGeom>
        </p:spPr>
      </p:pic>
      <p:sp>
        <p:nvSpPr>
          <p:cNvPr id="41" name="TextBox 40">
            <a:extLst>
              <a:ext uri="{FF2B5EF4-FFF2-40B4-BE49-F238E27FC236}">
                <a16:creationId xmlns:a16="http://schemas.microsoft.com/office/drawing/2014/main" id="{645EB455-F7F1-2324-06C8-A23A45998B84}"/>
              </a:ext>
            </a:extLst>
          </p:cNvPr>
          <p:cNvSpPr txBox="1"/>
          <p:nvPr/>
        </p:nvSpPr>
        <p:spPr>
          <a:xfrm>
            <a:off x="44118" y="6654109"/>
            <a:ext cx="12152376" cy="200055"/>
          </a:xfrm>
          <a:prstGeom prst="rect">
            <a:avLst/>
          </a:prstGeom>
          <a:noFill/>
        </p:spPr>
        <p:txBody>
          <a:bodyPr wrap="square">
            <a:spAutoFit/>
          </a:bodyPr>
          <a:lstStyle/>
          <a:p>
            <a:pPr algn="ctr"/>
            <a:r>
              <a:rPr lang="en-GB" sz="700" b="1" i="0" u="none" strike="noStrike" noProof="0" dirty="0">
                <a:solidFill>
                  <a:srgbClr val="757575"/>
                </a:solidFill>
                <a:effectLst/>
                <a:latin typeface="Aptos Narrow" panose="020B0004020202020204" pitchFamily="34" charset="0"/>
              </a:rPr>
              <a:t>Commercial in Confidence - This document contains proprietary and commercially sensitive information. It is intended solely for the recipient(s) and should not be disclosed or distributed without written permission from Nuclear Collaboration Ltd (NucCol ltd) Co. no. 15937779 </a:t>
            </a:r>
            <a:r>
              <a:rPr lang="en-GB" sz="700" b="1" i="0" noProof="0" dirty="0">
                <a:solidFill>
                  <a:srgbClr val="000000"/>
                </a:solidFill>
                <a:effectLst/>
                <a:latin typeface="Aptos Narrow" panose="020B0004020202020204" pitchFamily="34" charset="0"/>
              </a:rPr>
              <a:t>​</a:t>
            </a:r>
            <a:endParaRPr lang="en-GB" sz="700" b="1" noProof="0" dirty="0"/>
          </a:p>
        </p:txBody>
      </p:sp>
    </p:spTree>
    <p:extLst>
      <p:ext uri="{BB962C8B-B14F-4D97-AF65-F5344CB8AC3E}">
        <p14:creationId xmlns:p14="http://schemas.microsoft.com/office/powerpoint/2010/main" val="3468954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92608"/>
            <a:ext cx="11247120" cy="548640"/>
          </a:xfrm>
          <a:prstGeom prst="rect">
            <a:avLst/>
          </a:prstGeom>
          <a:noFill/>
          <a:ln/>
        </p:spPr>
        <p:txBody>
          <a:bodyPr wrap="square" lIns="0" tIns="0" rIns="0" bIns="0" rtlCol="0" anchor="ctr"/>
          <a:lstStyle/>
          <a:p>
            <a:pPr marL="0" indent="0">
              <a:buNone/>
            </a:pPr>
            <a:r>
              <a:rPr lang="en-US" sz="3000" b="1" dirty="0">
                <a:latin typeface="Aptos" panose="020B0004020202020204" pitchFamily="34" charset="0"/>
                <a:ea typeface="Cambria" pitchFamily="34" charset="-122"/>
                <a:cs typeface="Cambria" pitchFamily="34" charset="-120"/>
              </a:rPr>
              <a:t>                </a:t>
            </a:r>
            <a:r>
              <a:rPr lang="en-US" sz="3000" b="1" dirty="0">
                <a:solidFill>
                  <a:schemeClr val="accent5"/>
                </a:solidFill>
                <a:latin typeface="Aptos" panose="020B0004020202020204" pitchFamily="34" charset="0"/>
                <a:ea typeface="Cambria" pitchFamily="34" charset="-122"/>
                <a:cs typeface="Cambria" pitchFamily="34" charset="-120"/>
              </a:rPr>
              <a:t>Xe-100: 2026 Programme Update</a:t>
            </a:r>
            <a:endParaRPr lang="en-US" sz="3000" dirty="0">
              <a:solidFill>
                <a:schemeClr val="accent5"/>
              </a:solidFill>
              <a:latin typeface="Aptos" panose="020B0004020202020204" pitchFamily="34" charset="0"/>
            </a:endParaRPr>
          </a:p>
        </p:txBody>
      </p:sp>
      <p:sp>
        <p:nvSpPr>
          <p:cNvPr id="3" name="Text 1"/>
          <p:cNvSpPr/>
          <p:nvPr/>
        </p:nvSpPr>
        <p:spPr>
          <a:xfrm>
            <a:off x="457200" y="786384"/>
            <a:ext cx="11247120" cy="320040"/>
          </a:xfrm>
          <a:prstGeom prst="rect">
            <a:avLst/>
          </a:prstGeom>
          <a:noFill/>
          <a:ln/>
        </p:spPr>
        <p:txBody>
          <a:bodyPr wrap="square" lIns="0" tIns="0" rIns="0" bIns="0" rtlCol="0" anchor="ctr"/>
          <a:lstStyle/>
          <a:p>
            <a:r>
              <a:rPr lang="en-US" sz="1400" i="1" dirty="0">
                <a:latin typeface="Calibri" pitchFamily="34" charset="0"/>
                <a:ea typeface="Calibri" pitchFamily="34" charset="-122"/>
                <a:cs typeface="Calibri" pitchFamily="34" charset="-120"/>
              </a:rPr>
              <a:t>UK nuclear sector briefing for F4N cohort July 2026</a:t>
            </a:r>
            <a:endParaRPr lang="en-US" sz="1400" dirty="0"/>
          </a:p>
        </p:txBody>
      </p:sp>
      <p:sp>
        <p:nvSpPr>
          <p:cNvPr id="4" name="Shape 2"/>
          <p:cNvSpPr/>
          <p:nvPr/>
        </p:nvSpPr>
        <p:spPr>
          <a:xfrm>
            <a:off x="45720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p>
        </p:txBody>
      </p:sp>
      <p:pic>
        <p:nvPicPr>
          <p:cNvPr id="5" name="Image 0" descr="preencoded.png"/>
          <p:cNvPicPr>
            <a:picLocks noChangeAspect="1"/>
          </p:cNvPicPr>
          <p:nvPr/>
        </p:nvPicPr>
        <p:blipFill>
          <a:blip r:embed="rId3"/>
          <a:stretch>
            <a:fillRect/>
          </a:stretch>
        </p:blipFill>
        <p:spPr>
          <a:xfrm>
            <a:off x="621792" y="1481328"/>
            <a:ext cx="365760" cy="365760"/>
          </a:xfrm>
          <a:prstGeom prst="rect">
            <a:avLst/>
          </a:prstGeom>
        </p:spPr>
      </p:pic>
      <p:sp>
        <p:nvSpPr>
          <p:cNvPr id="6" name="Text 3"/>
          <p:cNvSpPr/>
          <p:nvPr/>
        </p:nvSpPr>
        <p:spPr>
          <a:xfrm>
            <a:off x="1097280" y="137160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6 GW</a:t>
            </a:r>
            <a:endParaRPr lang="en-US" sz="1800" dirty="0"/>
          </a:p>
        </p:txBody>
      </p:sp>
      <p:sp>
        <p:nvSpPr>
          <p:cNvPr id="7" name="Text 4"/>
          <p:cNvSpPr/>
          <p:nvPr/>
        </p:nvSpPr>
        <p:spPr>
          <a:xfrm>
            <a:off x="62179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Proposed UK fleet</a:t>
            </a:r>
            <a:endParaRPr lang="en-US" sz="950" dirty="0"/>
          </a:p>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at Hartlepool</a:t>
            </a:r>
            <a:endParaRPr lang="en-US" sz="950" dirty="0"/>
          </a:p>
        </p:txBody>
      </p:sp>
      <p:sp>
        <p:nvSpPr>
          <p:cNvPr id="8" name="Shape 5"/>
          <p:cNvSpPr/>
          <p:nvPr/>
        </p:nvSpPr>
        <p:spPr>
          <a:xfrm>
            <a:off x="329184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p>
        </p:txBody>
      </p:sp>
      <p:pic>
        <p:nvPicPr>
          <p:cNvPr id="9" name="Image 1" descr="preencoded.png"/>
          <p:cNvPicPr>
            <a:picLocks noChangeAspect="1"/>
          </p:cNvPicPr>
          <p:nvPr/>
        </p:nvPicPr>
        <p:blipFill>
          <a:blip r:embed="rId4"/>
          <a:stretch>
            <a:fillRect/>
          </a:stretch>
        </p:blipFill>
        <p:spPr>
          <a:xfrm>
            <a:off x="3456432" y="1481328"/>
            <a:ext cx="365760" cy="365760"/>
          </a:xfrm>
          <a:prstGeom prst="rect">
            <a:avLst/>
          </a:prstGeom>
        </p:spPr>
      </p:pic>
      <p:sp>
        <p:nvSpPr>
          <p:cNvPr id="10" name="Text 6"/>
          <p:cNvSpPr/>
          <p:nvPr/>
        </p:nvSpPr>
        <p:spPr>
          <a:xfrm>
            <a:off x="3931920" y="137160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GDA</a:t>
            </a:r>
            <a:endParaRPr lang="en-US" sz="1800" dirty="0"/>
          </a:p>
        </p:txBody>
      </p:sp>
      <p:sp>
        <p:nvSpPr>
          <p:cNvPr id="11" name="Text 7"/>
          <p:cNvSpPr/>
          <p:nvPr/>
        </p:nvSpPr>
        <p:spPr>
          <a:xfrm>
            <a:off x="345643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Xe-100 submitted</a:t>
            </a:r>
            <a:endParaRPr lang="en-US" sz="950" dirty="0"/>
          </a:p>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June 2026</a:t>
            </a:r>
            <a:endParaRPr lang="en-US" sz="950" dirty="0"/>
          </a:p>
        </p:txBody>
      </p:sp>
      <p:sp>
        <p:nvSpPr>
          <p:cNvPr id="12" name="Shape 8"/>
          <p:cNvSpPr/>
          <p:nvPr/>
        </p:nvSpPr>
        <p:spPr>
          <a:xfrm>
            <a:off x="612648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p>
        </p:txBody>
      </p:sp>
      <p:pic>
        <p:nvPicPr>
          <p:cNvPr id="13" name="Image 2" descr="preencoded.png"/>
          <p:cNvPicPr>
            <a:picLocks noChangeAspect="1"/>
          </p:cNvPicPr>
          <p:nvPr/>
        </p:nvPicPr>
        <p:blipFill>
          <a:blip r:embed="rId5"/>
          <a:stretch>
            <a:fillRect/>
          </a:stretch>
        </p:blipFill>
        <p:spPr>
          <a:xfrm>
            <a:off x="6291072" y="1481328"/>
            <a:ext cx="365760" cy="365760"/>
          </a:xfrm>
          <a:prstGeom prst="rect">
            <a:avLst/>
          </a:prstGeom>
        </p:spPr>
      </p:pic>
      <p:sp>
        <p:nvSpPr>
          <p:cNvPr id="14" name="Text 9"/>
          <p:cNvSpPr/>
          <p:nvPr/>
        </p:nvSpPr>
        <p:spPr>
          <a:xfrm>
            <a:off x="6766560" y="137160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$1bn+</a:t>
            </a:r>
            <a:endParaRPr lang="en-US" sz="1800" dirty="0"/>
          </a:p>
        </p:txBody>
      </p:sp>
      <p:sp>
        <p:nvSpPr>
          <p:cNvPr id="15" name="Text 10"/>
          <p:cNvSpPr/>
          <p:nvPr/>
        </p:nvSpPr>
        <p:spPr>
          <a:xfrm>
            <a:off x="629107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Raised in Nasdaq IPO,</a:t>
            </a:r>
            <a:endParaRPr lang="en-US" sz="950" dirty="0"/>
          </a:p>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April 2026</a:t>
            </a:r>
            <a:endParaRPr lang="en-US" sz="950" dirty="0"/>
          </a:p>
        </p:txBody>
      </p:sp>
      <p:sp>
        <p:nvSpPr>
          <p:cNvPr id="16" name="Shape 11"/>
          <p:cNvSpPr/>
          <p:nvPr/>
        </p:nvSpPr>
        <p:spPr>
          <a:xfrm>
            <a:off x="896112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p>
        </p:txBody>
      </p:sp>
      <p:pic>
        <p:nvPicPr>
          <p:cNvPr id="17" name="Image 3" descr="preencoded.png"/>
          <p:cNvPicPr>
            <a:picLocks noChangeAspect="1"/>
          </p:cNvPicPr>
          <p:nvPr/>
        </p:nvPicPr>
        <p:blipFill>
          <a:blip r:embed="rId6"/>
          <a:stretch>
            <a:fillRect/>
          </a:stretch>
        </p:blipFill>
        <p:spPr>
          <a:xfrm>
            <a:off x="9125712" y="1481328"/>
            <a:ext cx="365760" cy="365760"/>
          </a:xfrm>
          <a:prstGeom prst="rect">
            <a:avLst/>
          </a:prstGeom>
        </p:spPr>
      </p:pic>
      <p:sp>
        <p:nvSpPr>
          <p:cNvPr id="18" name="Text 12"/>
          <p:cNvSpPr/>
          <p:nvPr/>
        </p:nvSpPr>
        <p:spPr>
          <a:xfrm>
            <a:off x="9601200" y="137160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£40bn</a:t>
            </a:r>
            <a:endParaRPr lang="en-US" sz="1800" dirty="0"/>
          </a:p>
        </p:txBody>
      </p:sp>
      <p:sp>
        <p:nvSpPr>
          <p:cNvPr id="19" name="Text 13"/>
          <p:cNvSpPr/>
          <p:nvPr/>
        </p:nvSpPr>
        <p:spPr>
          <a:xfrm>
            <a:off x="912571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Estimated lifetime</a:t>
            </a:r>
            <a:endParaRPr lang="en-US" sz="950" dirty="0"/>
          </a:p>
          <a:p>
            <a:pPr marL="0" indent="0">
              <a:lnSpc>
                <a:spcPct val="105000"/>
              </a:lnSpc>
              <a:buNone/>
            </a:pPr>
            <a:r>
              <a:rPr lang="en-US" sz="950" dirty="0">
                <a:solidFill>
                  <a:srgbClr val="9FB3D1"/>
                </a:solidFill>
                <a:latin typeface="Calibri" pitchFamily="34" charset="0"/>
                <a:ea typeface="Calibri" pitchFamily="34" charset="-122"/>
                <a:cs typeface="Calibri" pitchFamily="34" charset="-120"/>
              </a:rPr>
              <a:t>UK economic value</a:t>
            </a:r>
            <a:endParaRPr lang="en-US" sz="950" dirty="0"/>
          </a:p>
        </p:txBody>
      </p:sp>
      <p:sp>
        <p:nvSpPr>
          <p:cNvPr id="20" name="Text 14"/>
          <p:cNvSpPr/>
          <p:nvPr/>
        </p:nvSpPr>
        <p:spPr>
          <a:xfrm>
            <a:off x="457200" y="2606040"/>
            <a:ext cx="7040880" cy="274320"/>
          </a:xfrm>
          <a:prstGeom prst="rect">
            <a:avLst/>
          </a:prstGeom>
          <a:noFill/>
          <a:ln/>
        </p:spPr>
        <p:txBody>
          <a:bodyPr wrap="square" lIns="0" tIns="0" rIns="0" bIns="0" rtlCol="0" anchor="ctr"/>
          <a:lstStyle/>
          <a:p>
            <a:pPr marL="0" indent="0">
              <a:buNone/>
            </a:pPr>
            <a:r>
              <a:rPr lang="en-US" sz="1300" b="1" kern="0" spc="100" dirty="0">
                <a:latin typeface="Aptos" panose="020B0004020202020204" pitchFamily="34" charset="0"/>
                <a:ea typeface="Calibri" pitchFamily="34" charset="-122"/>
                <a:cs typeface="Calibri" pitchFamily="34" charset="-120"/>
              </a:rPr>
              <a:t>2026 MILESTONE TIMELINE</a:t>
            </a:r>
            <a:endParaRPr lang="en-US" sz="1300" dirty="0">
              <a:latin typeface="Aptos" panose="020B0004020202020204" pitchFamily="34" charset="0"/>
            </a:endParaRPr>
          </a:p>
        </p:txBody>
      </p:sp>
      <p:sp>
        <p:nvSpPr>
          <p:cNvPr id="21" name="Shape 15"/>
          <p:cNvSpPr/>
          <p:nvPr/>
        </p:nvSpPr>
        <p:spPr>
          <a:xfrm>
            <a:off x="1143000" y="2990088"/>
            <a:ext cx="0" cy="3108960"/>
          </a:xfrm>
          <a:prstGeom prst="line">
            <a:avLst/>
          </a:prstGeom>
          <a:noFill/>
          <a:ln w="19050">
            <a:solidFill>
              <a:srgbClr val="2A4670"/>
            </a:solidFill>
            <a:prstDash val="solid"/>
          </a:ln>
        </p:spPr>
        <p:txBody>
          <a:bodyPr/>
          <a:lstStyle/>
          <a:p>
            <a:endParaRPr lang="en-GB">
              <a:latin typeface="Aptos" panose="020B0004020202020204" pitchFamily="34" charset="0"/>
            </a:endParaRPr>
          </a:p>
        </p:txBody>
      </p:sp>
      <p:sp>
        <p:nvSpPr>
          <p:cNvPr id="22" name="Text 16"/>
          <p:cNvSpPr/>
          <p:nvPr/>
        </p:nvSpPr>
        <p:spPr>
          <a:xfrm>
            <a:off x="457200" y="2971800"/>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Feb</a:t>
            </a:r>
            <a:endParaRPr lang="en-US" sz="1150" dirty="0">
              <a:latin typeface="Aptos" panose="020B0004020202020204" pitchFamily="34" charset="0"/>
            </a:endParaRPr>
          </a:p>
        </p:txBody>
      </p:sp>
      <p:sp>
        <p:nvSpPr>
          <p:cNvPr id="23" name="Shape 17"/>
          <p:cNvSpPr/>
          <p:nvPr/>
        </p:nvSpPr>
        <p:spPr>
          <a:xfrm>
            <a:off x="1078992" y="3026664"/>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24" name="Text 18"/>
          <p:cNvSpPr/>
          <p:nvPr/>
        </p:nvSpPr>
        <p:spPr>
          <a:xfrm>
            <a:off x="1371600" y="2916936"/>
            <a:ext cx="6080760" cy="630936"/>
          </a:xfrm>
          <a:prstGeom prst="rect">
            <a:avLst/>
          </a:prstGeom>
          <a:noFill/>
          <a:ln/>
        </p:spPr>
        <p:txBody>
          <a:bodyPr wrap="square" lIns="0" tIns="0" rIns="0" bIns="0" rtlCol="0" anchor="t"/>
          <a:lstStyle/>
          <a:p>
            <a:pPr marL="0" indent="0">
              <a:lnSpc>
                <a:spcPct val="100000"/>
              </a:lnSpc>
              <a:buNone/>
            </a:pPr>
            <a:r>
              <a:rPr lang="en-US" sz="1100" dirty="0">
                <a:latin typeface="Aptos" panose="020B0004020202020204" pitchFamily="34" charset="0"/>
                <a:ea typeface="Calibri" pitchFamily="34" charset="-122"/>
                <a:cs typeface="Calibri" pitchFamily="34" charset="-120"/>
              </a:rPr>
              <a:t>US NRC approves the TX-1 fuel facility's Part 70 licence for TRISO-X fuel handling — first Category II licence ever issued, underpinning future UK fuel supply.</a:t>
            </a:r>
            <a:endParaRPr lang="en-US" sz="1100" dirty="0">
              <a:latin typeface="Aptos" panose="020B0004020202020204" pitchFamily="34" charset="0"/>
            </a:endParaRPr>
          </a:p>
        </p:txBody>
      </p:sp>
      <p:sp>
        <p:nvSpPr>
          <p:cNvPr id="25" name="Text 19"/>
          <p:cNvSpPr/>
          <p:nvPr/>
        </p:nvSpPr>
        <p:spPr>
          <a:xfrm>
            <a:off x="457200" y="3630168"/>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Apr</a:t>
            </a:r>
            <a:endParaRPr lang="en-US" sz="1150" dirty="0">
              <a:latin typeface="Aptos" panose="020B0004020202020204" pitchFamily="34" charset="0"/>
            </a:endParaRPr>
          </a:p>
        </p:txBody>
      </p:sp>
      <p:sp>
        <p:nvSpPr>
          <p:cNvPr id="26" name="Shape 20"/>
          <p:cNvSpPr/>
          <p:nvPr/>
        </p:nvSpPr>
        <p:spPr>
          <a:xfrm>
            <a:off x="1078992" y="3685032"/>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27" name="Text 21"/>
          <p:cNvSpPr/>
          <p:nvPr/>
        </p:nvSpPr>
        <p:spPr>
          <a:xfrm>
            <a:off x="1371600" y="3575304"/>
            <a:ext cx="6080760" cy="630936"/>
          </a:xfrm>
          <a:prstGeom prst="rect">
            <a:avLst/>
          </a:prstGeom>
          <a:noFill/>
          <a:ln/>
        </p:spPr>
        <p:txBody>
          <a:bodyPr wrap="square" lIns="0" tIns="0" rIns="0" bIns="0" rtlCol="0" anchor="t"/>
          <a:lstStyle/>
          <a:p>
            <a:pPr marL="0" indent="0">
              <a:lnSpc>
                <a:spcPct val="100000"/>
              </a:lnSpc>
              <a:buNone/>
            </a:pPr>
            <a:r>
              <a:rPr lang="en-US" sz="1100" dirty="0">
                <a:latin typeface="Aptos" panose="020B0004020202020204" pitchFamily="34" charset="0"/>
                <a:ea typeface="Calibri" pitchFamily="34" charset="-122"/>
                <a:cs typeface="Calibri" pitchFamily="34" charset="-120"/>
              </a:rPr>
              <a:t>UK Government confirms Future Nuclear Enabling Fund award (£6.68m total programme); Kier Group joins as UK constructability and supply chain partner.</a:t>
            </a:r>
            <a:endParaRPr lang="en-US" sz="1100" dirty="0">
              <a:latin typeface="Aptos" panose="020B0004020202020204" pitchFamily="34" charset="0"/>
            </a:endParaRPr>
          </a:p>
        </p:txBody>
      </p:sp>
      <p:sp>
        <p:nvSpPr>
          <p:cNvPr id="28" name="Text 22"/>
          <p:cNvSpPr/>
          <p:nvPr/>
        </p:nvSpPr>
        <p:spPr>
          <a:xfrm>
            <a:off x="457200" y="4288536"/>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24 Apr</a:t>
            </a:r>
            <a:endParaRPr lang="en-US" sz="1150" dirty="0">
              <a:latin typeface="Aptos" panose="020B0004020202020204" pitchFamily="34" charset="0"/>
            </a:endParaRPr>
          </a:p>
        </p:txBody>
      </p:sp>
      <p:sp>
        <p:nvSpPr>
          <p:cNvPr id="29" name="Shape 23"/>
          <p:cNvSpPr/>
          <p:nvPr/>
        </p:nvSpPr>
        <p:spPr>
          <a:xfrm>
            <a:off x="1078992" y="4343400"/>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30" name="Text 24"/>
          <p:cNvSpPr/>
          <p:nvPr/>
        </p:nvSpPr>
        <p:spPr>
          <a:xfrm>
            <a:off x="1371600" y="4233672"/>
            <a:ext cx="6080760" cy="630936"/>
          </a:xfrm>
          <a:prstGeom prst="rect">
            <a:avLst/>
          </a:prstGeom>
          <a:noFill/>
          <a:ln/>
        </p:spPr>
        <p:txBody>
          <a:bodyPr wrap="square" lIns="0" tIns="0" rIns="0" bIns="0" rtlCol="0" anchor="t"/>
          <a:lstStyle/>
          <a:p>
            <a:pPr marL="0" indent="0">
              <a:lnSpc>
                <a:spcPct val="100000"/>
              </a:lnSpc>
              <a:buNone/>
            </a:pPr>
            <a:r>
              <a:rPr lang="en-US" sz="1100" dirty="0">
                <a:latin typeface="Aptos" panose="020B0004020202020204" pitchFamily="34" charset="0"/>
                <a:ea typeface="Calibri" pitchFamily="34" charset="-122"/>
                <a:cs typeface="Calibri" pitchFamily="34" charset="-120"/>
              </a:rPr>
              <a:t>X-energy lists on Nasdaq (ticker: XE), raising over $1bn. The largest nuclear IPO on record, strengthening capacity to fund global deployment including the UK.</a:t>
            </a:r>
            <a:endParaRPr lang="en-US" sz="1100" dirty="0">
              <a:latin typeface="Aptos" panose="020B0004020202020204" pitchFamily="34" charset="0"/>
            </a:endParaRPr>
          </a:p>
        </p:txBody>
      </p:sp>
      <p:sp>
        <p:nvSpPr>
          <p:cNvPr id="31" name="Text 25"/>
          <p:cNvSpPr/>
          <p:nvPr/>
        </p:nvSpPr>
        <p:spPr>
          <a:xfrm>
            <a:off x="457200" y="4946904"/>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2 Jun</a:t>
            </a:r>
            <a:endParaRPr lang="en-US" sz="1150" dirty="0">
              <a:latin typeface="Aptos" panose="020B0004020202020204" pitchFamily="34" charset="0"/>
            </a:endParaRPr>
          </a:p>
        </p:txBody>
      </p:sp>
      <p:sp>
        <p:nvSpPr>
          <p:cNvPr id="32" name="Shape 26"/>
          <p:cNvSpPr/>
          <p:nvPr/>
        </p:nvSpPr>
        <p:spPr>
          <a:xfrm>
            <a:off x="1078992" y="5001768"/>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33" name="Text 27"/>
          <p:cNvSpPr/>
          <p:nvPr/>
        </p:nvSpPr>
        <p:spPr>
          <a:xfrm>
            <a:off x="1371600" y="4892040"/>
            <a:ext cx="6080760" cy="630936"/>
          </a:xfrm>
          <a:prstGeom prst="rect">
            <a:avLst/>
          </a:prstGeom>
          <a:noFill/>
          <a:ln/>
        </p:spPr>
        <p:txBody>
          <a:bodyPr wrap="square" lIns="0" tIns="0" rIns="0" bIns="0" rtlCol="0" anchor="t"/>
          <a:lstStyle/>
          <a:p>
            <a:pPr marL="0" indent="0">
              <a:lnSpc>
                <a:spcPct val="100000"/>
              </a:lnSpc>
              <a:buNone/>
            </a:pPr>
            <a:r>
              <a:rPr lang="en-US" sz="1100" dirty="0">
                <a:latin typeface="Aptos" panose="020B0004020202020204" pitchFamily="34" charset="0"/>
                <a:ea typeface="Calibri" pitchFamily="34" charset="-122"/>
                <a:cs typeface="Calibri" pitchFamily="34" charset="-120"/>
              </a:rPr>
              <a:t>Xe-100 HTGR formally submitted into the UK Generic Design Assessment (GDA). Regulatory review expected to conclude by end of 2029.</a:t>
            </a:r>
            <a:endParaRPr lang="en-US" sz="1100" dirty="0">
              <a:latin typeface="Aptos" panose="020B0004020202020204" pitchFamily="34" charset="0"/>
            </a:endParaRPr>
          </a:p>
        </p:txBody>
      </p:sp>
      <p:sp>
        <p:nvSpPr>
          <p:cNvPr id="34" name="Text 28"/>
          <p:cNvSpPr/>
          <p:nvPr/>
        </p:nvSpPr>
        <p:spPr>
          <a:xfrm>
            <a:off x="457200" y="5605272"/>
            <a:ext cx="594360" cy="365760"/>
          </a:xfrm>
          <a:prstGeom prst="rect">
            <a:avLst/>
          </a:prstGeom>
          <a:noFill/>
          <a:ln/>
        </p:spPr>
        <p:txBody>
          <a:bodyPr wrap="square" lIns="0" tIns="0" rIns="0" bIns="0" rtlCol="0" anchor="ctr"/>
          <a:lstStyle/>
          <a:p>
            <a:pPr marL="0" indent="0" algn="r">
              <a:buNone/>
            </a:pPr>
            <a:r>
              <a:rPr lang="en-US" sz="1150" b="1" dirty="0">
                <a:latin typeface="Aptos" panose="020B0004020202020204" pitchFamily="34" charset="0"/>
                <a:ea typeface="Calibri" pitchFamily="34" charset="-122"/>
                <a:cs typeface="Calibri" pitchFamily="34" charset="-120"/>
              </a:rPr>
              <a:t>16 Jun</a:t>
            </a:r>
            <a:endParaRPr lang="en-US" sz="1150" dirty="0">
              <a:latin typeface="Aptos" panose="020B0004020202020204" pitchFamily="34" charset="0"/>
            </a:endParaRPr>
          </a:p>
        </p:txBody>
      </p:sp>
      <p:sp>
        <p:nvSpPr>
          <p:cNvPr id="35" name="Shape 29"/>
          <p:cNvSpPr/>
          <p:nvPr/>
        </p:nvSpPr>
        <p:spPr>
          <a:xfrm>
            <a:off x="1078992" y="5660136"/>
            <a:ext cx="128016" cy="128016"/>
          </a:xfrm>
          <a:prstGeom prst="ellipse">
            <a:avLst/>
          </a:prstGeom>
          <a:solidFill>
            <a:srgbClr val="1FB6A6"/>
          </a:solidFill>
          <a:ln w="19050">
            <a:solidFill>
              <a:srgbClr val="0B1F3A"/>
            </a:solidFill>
            <a:prstDash val="solid"/>
          </a:ln>
        </p:spPr>
        <p:txBody>
          <a:bodyPr/>
          <a:lstStyle/>
          <a:p>
            <a:endParaRPr lang="en-GB">
              <a:latin typeface="Aptos" panose="020B0004020202020204" pitchFamily="34" charset="0"/>
            </a:endParaRPr>
          </a:p>
        </p:txBody>
      </p:sp>
      <p:sp>
        <p:nvSpPr>
          <p:cNvPr id="36" name="Text 30"/>
          <p:cNvSpPr/>
          <p:nvPr/>
        </p:nvSpPr>
        <p:spPr>
          <a:xfrm>
            <a:off x="1371600" y="5550408"/>
            <a:ext cx="6080760" cy="630936"/>
          </a:xfrm>
          <a:prstGeom prst="rect">
            <a:avLst/>
          </a:prstGeom>
          <a:noFill/>
          <a:ln/>
        </p:spPr>
        <p:txBody>
          <a:bodyPr wrap="square" lIns="0" tIns="0" rIns="0" bIns="0" rtlCol="0" anchor="t"/>
          <a:lstStyle/>
          <a:p>
            <a:pPr marL="0" indent="0">
              <a:lnSpc>
                <a:spcPct val="100000"/>
              </a:lnSpc>
              <a:buNone/>
            </a:pPr>
            <a:r>
              <a:rPr lang="en-US" sz="1100" dirty="0">
                <a:latin typeface="Aptos" panose="020B0004020202020204" pitchFamily="34" charset="0"/>
                <a:ea typeface="Calibri" pitchFamily="34" charset="-122"/>
                <a:cs typeface="Calibri" pitchFamily="34" charset="-120"/>
              </a:rPr>
              <a:t>Closes $700m Series D: $1.4bn raised in a year, $1.8bn total; 144 SMR orders logged globally (11GW), including the Centrica UK partnership.</a:t>
            </a:r>
            <a:endParaRPr lang="en-US" sz="1100" dirty="0">
              <a:latin typeface="Aptos" panose="020B0004020202020204" pitchFamily="34" charset="0"/>
            </a:endParaRPr>
          </a:p>
        </p:txBody>
      </p:sp>
      <p:sp>
        <p:nvSpPr>
          <p:cNvPr id="37" name="Shape 31"/>
          <p:cNvSpPr/>
          <p:nvPr/>
        </p:nvSpPr>
        <p:spPr>
          <a:xfrm>
            <a:off x="7772400" y="2579914"/>
            <a:ext cx="3977640" cy="4048069"/>
          </a:xfrm>
          <a:prstGeom prst="roundRect">
            <a:avLst>
              <a:gd name="adj" fmla="val 2133"/>
            </a:avLst>
          </a:prstGeom>
          <a:solidFill>
            <a:srgbClr val="132A4E"/>
          </a:solidFill>
          <a:ln/>
          <a:effectLst>
            <a:outerShdw blurRad="76200" dist="25400" dir="2700000" algn="bl" rotWithShape="0">
              <a:srgbClr val="000000">
                <a:alpha val="25000"/>
              </a:srgbClr>
            </a:outerShdw>
          </a:effectLst>
        </p:spPr>
        <p:txBody>
          <a:bodyPr/>
          <a:lstStyle/>
          <a:p>
            <a:endParaRPr lang="en-GB"/>
          </a:p>
        </p:txBody>
      </p:sp>
      <p:pic>
        <p:nvPicPr>
          <p:cNvPr id="38" name="Image 4" descr="preencoded.png"/>
          <p:cNvPicPr>
            <a:picLocks noChangeAspect="1"/>
          </p:cNvPicPr>
          <p:nvPr/>
        </p:nvPicPr>
        <p:blipFill>
          <a:blip r:embed="rId7"/>
          <a:stretch>
            <a:fillRect/>
          </a:stretch>
        </p:blipFill>
        <p:spPr>
          <a:xfrm>
            <a:off x="8001000" y="2667869"/>
            <a:ext cx="329184" cy="329184"/>
          </a:xfrm>
          <a:prstGeom prst="rect">
            <a:avLst/>
          </a:prstGeom>
        </p:spPr>
      </p:pic>
      <p:sp>
        <p:nvSpPr>
          <p:cNvPr id="39" name="Text 32"/>
          <p:cNvSpPr/>
          <p:nvPr/>
        </p:nvSpPr>
        <p:spPr>
          <a:xfrm>
            <a:off x="8430768" y="2667869"/>
            <a:ext cx="3063240" cy="329184"/>
          </a:xfrm>
          <a:prstGeom prst="rect">
            <a:avLst/>
          </a:prstGeom>
          <a:noFill/>
          <a:ln/>
        </p:spPr>
        <p:txBody>
          <a:bodyPr wrap="square" lIns="0" tIns="0" rIns="0" bIns="0" rtlCol="0" anchor="ctr"/>
          <a:lstStyle/>
          <a:p>
            <a:pPr marL="0" indent="0">
              <a:buNone/>
            </a:pPr>
            <a:r>
              <a:rPr lang="en-US" sz="1300" b="1" kern="0" spc="50" dirty="0">
                <a:solidFill>
                  <a:srgbClr val="1FB6A6"/>
                </a:solidFill>
                <a:latin typeface="Calibri" pitchFamily="34" charset="0"/>
                <a:ea typeface="Calibri" pitchFamily="34" charset="-122"/>
                <a:cs typeface="Calibri" pitchFamily="34" charset="-120"/>
              </a:rPr>
              <a:t>WHAT IT MEANS FOR YOU</a:t>
            </a:r>
            <a:endParaRPr lang="en-US" sz="1300" dirty="0"/>
          </a:p>
        </p:txBody>
      </p:sp>
      <p:sp>
        <p:nvSpPr>
          <p:cNvPr id="40" name="Text 33"/>
          <p:cNvSpPr/>
          <p:nvPr/>
        </p:nvSpPr>
        <p:spPr>
          <a:xfrm>
            <a:off x="8046720" y="3009700"/>
            <a:ext cx="3429000" cy="3513465"/>
          </a:xfrm>
          <a:prstGeom prst="rect">
            <a:avLst/>
          </a:prstGeom>
          <a:noFill/>
          <a:ln/>
        </p:spPr>
        <p:txBody>
          <a:bodyPr wrap="square" lIns="0" tIns="0" rIns="0" bIns="0" rtlCol="0" anchor="t"/>
          <a:lstStyle/>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Earliest-stage UK programme of the three: GDA only just submitted, not expected to conclude until end-2029. Longer runway to prepare, but least near-term certainty.</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Xe-100 is a helium-cooled, graphite-moderated HTGR, not a PWR like Rolls-Royce or Holtec. Different specialisms in play: graphite components, high-temperature materials, helium systems.</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Kier Group is already engaged on UK constructability and supply chain analysis. A live route in for tier 1/2 UK contractors and manufacturers.</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No UK manufacturing site announced yet (unlike Rolls-Royce's Derby or Holtec's South Yorkshire). But the post-IPO balance sheet signals a serious, well-funded long-term entrant.</a:t>
            </a:r>
          </a:p>
        </p:txBody>
      </p:sp>
      <p:pic>
        <p:nvPicPr>
          <p:cNvPr id="42" name="Picture 41">
            <a:extLst>
              <a:ext uri="{FF2B5EF4-FFF2-40B4-BE49-F238E27FC236}">
                <a16:creationId xmlns:a16="http://schemas.microsoft.com/office/drawing/2014/main" id="{746E885C-5598-7FFD-3B56-24639BDB1CB2}"/>
              </a:ext>
            </a:extLst>
          </p:cNvPr>
          <p:cNvPicPr>
            <a:picLocks noChangeAspect="1"/>
          </p:cNvPicPr>
          <p:nvPr/>
        </p:nvPicPr>
        <p:blipFill>
          <a:blip r:embed="rId8"/>
          <a:stretch>
            <a:fillRect/>
          </a:stretch>
        </p:blipFill>
        <p:spPr>
          <a:xfrm>
            <a:off x="11089768" y="15704"/>
            <a:ext cx="1069868" cy="1099864"/>
          </a:xfrm>
          <a:prstGeom prst="rect">
            <a:avLst/>
          </a:prstGeom>
        </p:spPr>
      </p:pic>
      <p:pic>
        <p:nvPicPr>
          <p:cNvPr id="44" name="Picture 43">
            <a:extLst>
              <a:ext uri="{FF2B5EF4-FFF2-40B4-BE49-F238E27FC236}">
                <a16:creationId xmlns:a16="http://schemas.microsoft.com/office/drawing/2014/main" id="{922AD6E2-4A9E-08C3-C997-18AF19C585D6}"/>
              </a:ext>
            </a:extLst>
          </p:cNvPr>
          <p:cNvPicPr>
            <a:picLocks noChangeAspect="1"/>
          </p:cNvPicPr>
          <p:nvPr/>
        </p:nvPicPr>
        <p:blipFill>
          <a:blip r:embed="rId9"/>
          <a:stretch>
            <a:fillRect/>
          </a:stretch>
        </p:blipFill>
        <p:spPr>
          <a:xfrm>
            <a:off x="262827" y="316121"/>
            <a:ext cx="1449449" cy="519911"/>
          </a:xfrm>
          <a:prstGeom prst="rect">
            <a:avLst/>
          </a:prstGeom>
        </p:spPr>
      </p:pic>
      <p:sp>
        <p:nvSpPr>
          <p:cNvPr id="43" name="TextBox 42">
            <a:extLst>
              <a:ext uri="{FF2B5EF4-FFF2-40B4-BE49-F238E27FC236}">
                <a16:creationId xmlns:a16="http://schemas.microsoft.com/office/drawing/2014/main" id="{17F14F5F-DEB0-4E9F-6589-4460595B1436}"/>
              </a:ext>
            </a:extLst>
          </p:cNvPr>
          <p:cNvSpPr txBox="1"/>
          <p:nvPr/>
        </p:nvSpPr>
        <p:spPr>
          <a:xfrm>
            <a:off x="44118" y="6654109"/>
            <a:ext cx="12152376" cy="200055"/>
          </a:xfrm>
          <a:prstGeom prst="rect">
            <a:avLst/>
          </a:prstGeom>
          <a:noFill/>
        </p:spPr>
        <p:txBody>
          <a:bodyPr wrap="square">
            <a:spAutoFit/>
          </a:bodyPr>
          <a:lstStyle/>
          <a:p>
            <a:pPr algn="ctr"/>
            <a:r>
              <a:rPr lang="en-GB" sz="700" b="1" i="0" u="none" strike="noStrike" noProof="0" dirty="0">
                <a:solidFill>
                  <a:srgbClr val="757575"/>
                </a:solidFill>
                <a:effectLst/>
                <a:latin typeface="Aptos Narrow" panose="020B0004020202020204" pitchFamily="34" charset="0"/>
              </a:rPr>
              <a:t>Commercial in Confidence - This document contains proprietary and commercially sensitive information. It is intended solely for the recipient(s) and should not be disclosed or distributed without written permission from Nuclear Collaboration Ltd (NucCol ltd) Co. no. 15937779 </a:t>
            </a:r>
            <a:r>
              <a:rPr lang="en-GB" sz="700" b="1" i="0" noProof="0" dirty="0">
                <a:solidFill>
                  <a:srgbClr val="000000"/>
                </a:solidFill>
                <a:effectLst/>
                <a:latin typeface="Aptos Narrow" panose="020B0004020202020204" pitchFamily="34" charset="0"/>
              </a:rPr>
              <a:t>​</a:t>
            </a:r>
            <a:endParaRPr lang="en-GB" sz="700" b="1" noProof="0" dirty="0"/>
          </a:p>
        </p:txBody>
      </p:sp>
    </p:spTree>
    <p:extLst>
      <p:ext uri="{BB962C8B-B14F-4D97-AF65-F5344CB8AC3E}">
        <p14:creationId xmlns:p14="http://schemas.microsoft.com/office/powerpoint/2010/main" val="1497069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9F70D6D5-6097-D781-7213-0D52E5B5BA23}"/>
              </a:ext>
            </a:extLst>
          </p:cNvPr>
          <p:cNvSpPr/>
          <p:nvPr/>
        </p:nvSpPr>
        <p:spPr>
          <a:xfrm>
            <a:off x="-15240" y="0"/>
            <a:ext cx="1220724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2" name="Text 0"/>
          <p:cNvSpPr/>
          <p:nvPr/>
        </p:nvSpPr>
        <p:spPr>
          <a:xfrm>
            <a:off x="246888" y="118872"/>
            <a:ext cx="11247120" cy="548640"/>
          </a:xfrm>
          <a:prstGeom prst="rect">
            <a:avLst/>
          </a:prstGeom>
          <a:noFill/>
          <a:ln/>
        </p:spPr>
        <p:txBody>
          <a:bodyPr wrap="square" lIns="0" tIns="0" rIns="0" bIns="0" rtlCol="0" anchor="ctr"/>
          <a:lstStyle/>
          <a:p>
            <a:pPr marL="0" indent="0">
              <a:buNone/>
            </a:pPr>
            <a:r>
              <a:rPr lang="en-US" sz="3000" b="1" dirty="0">
                <a:solidFill>
                  <a:schemeClr val="tx1"/>
                </a:solidFill>
                <a:latin typeface="Aptos" panose="020B0004020202020204" pitchFamily="34" charset="0"/>
                <a:ea typeface="Cambria" pitchFamily="34" charset="-122"/>
                <a:cs typeface="Cambria" pitchFamily="34" charset="-120"/>
              </a:rPr>
              <a:t>              </a:t>
            </a:r>
            <a:r>
              <a:rPr lang="en-US" sz="3000" b="1" dirty="0">
                <a:solidFill>
                  <a:schemeClr val="accent5"/>
                </a:solidFill>
                <a:latin typeface="Aptos" panose="020B0004020202020204" pitchFamily="34" charset="0"/>
              </a:rPr>
              <a:t>:</a:t>
            </a:r>
            <a:r>
              <a:rPr lang="en-US" sz="3000" b="1" dirty="0">
                <a:solidFill>
                  <a:schemeClr val="tx1"/>
                </a:solidFill>
                <a:latin typeface="Aptos" panose="020B0004020202020204" pitchFamily="34" charset="0"/>
                <a:ea typeface="Cambria" pitchFamily="34" charset="-122"/>
                <a:cs typeface="Cambria" pitchFamily="34" charset="-120"/>
              </a:rPr>
              <a:t> </a:t>
            </a:r>
            <a:r>
              <a:rPr lang="en-US" sz="3000" b="1" dirty="0">
                <a:solidFill>
                  <a:schemeClr val="accent5"/>
                </a:solidFill>
                <a:latin typeface="Aptos" panose="020B0004020202020204" pitchFamily="34" charset="0"/>
              </a:rPr>
              <a:t>2026 </a:t>
            </a:r>
            <a:r>
              <a:rPr lang="en-US" sz="3000" b="1" dirty="0" err="1">
                <a:solidFill>
                  <a:schemeClr val="accent5"/>
                </a:solidFill>
                <a:latin typeface="Aptos" panose="020B0004020202020204" pitchFamily="34" charset="0"/>
              </a:rPr>
              <a:t>Programme</a:t>
            </a:r>
            <a:r>
              <a:rPr lang="en-US" sz="3000" b="1" dirty="0">
                <a:solidFill>
                  <a:schemeClr val="accent5"/>
                </a:solidFill>
                <a:latin typeface="Aptos" panose="020B0004020202020204" pitchFamily="34" charset="0"/>
              </a:rPr>
              <a:t> Update</a:t>
            </a:r>
          </a:p>
        </p:txBody>
      </p:sp>
      <p:sp>
        <p:nvSpPr>
          <p:cNvPr id="3" name="Text 1"/>
          <p:cNvSpPr/>
          <p:nvPr/>
        </p:nvSpPr>
        <p:spPr>
          <a:xfrm>
            <a:off x="457200" y="786384"/>
            <a:ext cx="11247120" cy="320040"/>
          </a:xfrm>
          <a:prstGeom prst="rect">
            <a:avLst/>
          </a:prstGeom>
          <a:noFill/>
          <a:ln/>
        </p:spPr>
        <p:txBody>
          <a:bodyPr wrap="square" lIns="0" tIns="0" rIns="0" bIns="0" rtlCol="0" anchor="ctr"/>
          <a:lstStyle/>
          <a:p>
            <a:pPr marL="0" indent="0">
              <a:buNone/>
            </a:pPr>
            <a:r>
              <a:rPr lang="en-US" sz="1400" i="1" dirty="0">
                <a:solidFill>
                  <a:schemeClr val="tx1"/>
                </a:solidFill>
                <a:latin typeface="Aptos" panose="020B0004020202020204" pitchFamily="34" charset="0"/>
                <a:ea typeface="Calibri" pitchFamily="34" charset="-122"/>
                <a:cs typeface="Calibri" pitchFamily="34" charset="-120"/>
              </a:rPr>
              <a:t>UK nuclear sector briefing for manufacturing supply chain partners</a:t>
            </a:r>
            <a:endParaRPr lang="en-US" sz="1400" dirty="0">
              <a:solidFill>
                <a:schemeClr val="tx1"/>
              </a:solidFill>
              <a:latin typeface="Aptos" panose="020B0004020202020204" pitchFamily="34" charset="0"/>
            </a:endParaRPr>
          </a:p>
        </p:txBody>
      </p:sp>
      <p:sp>
        <p:nvSpPr>
          <p:cNvPr id="4" name="Shape 2"/>
          <p:cNvSpPr/>
          <p:nvPr/>
        </p:nvSpPr>
        <p:spPr>
          <a:xfrm>
            <a:off x="45720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5" name="Image 0" descr="preencoded.png"/>
          <p:cNvPicPr>
            <a:picLocks noChangeAspect="1"/>
          </p:cNvPicPr>
          <p:nvPr/>
        </p:nvPicPr>
        <p:blipFill>
          <a:blip r:embed="rId3"/>
          <a:stretch>
            <a:fillRect/>
          </a:stretch>
        </p:blipFill>
        <p:spPr>
          <a:xfrm>
            <a:off x="621792" y="1481328"/>
            <a:ext cx="365760" cy="365760"/>
          </a:xfrm>
          <a:prstGeom prst="rect">
            <a:avLst/>
          </a:prstGeom>
        </p:spPr>
      </p:pic>
      <p:sp>
        <p:nvSpPr>
          <p:cNvPr id="6" name="Text 3"/>
          <p:cNvSpPr/>
          <p:nvPr/>
        </p:nvSpPr>
        <p:spPr>
          <a:xfrm>
            <a:off x="1097280" y="137160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Aptos" panose="020B0004020202020204" pitchFamily="34" charset="0"/>
                <a:ea typeface="Calibri" pitchFamily="34" charset="-122"/>
                <a:cs typeface="Calibri" pitchFamily="34" charset="-120"/>
              </a:rPr>
              <a:t>£1.3bn</a:t>
            </a:r>
            <a:endParaRPr lang="en-US" sz="1800" dirty="0">
              <a:latin typeface="Aptos" panose="020B0004020202020204" pitchFamily="34" charset="0"/>
            </a:endParaRPr>
          </a:p>
        </p:txBody>
      </p:sp>
      <p:sp>
        <p:nvSpPr>
          <p:cNvPr id="7" name="Text 4"/>
          <p:cNvSpPr/>
          <p:nvPr/>
        </p:nvSpPr>
        <p:spPr>
          <a:xfrm>
            <a:off x="62179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Government funding for</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STEP via UK Fusion Energy</a:t>
            </a:r>
            <a:endParaRPr lang="en-US" sz="950" dirty="0">
              <a:latin typeface="Aptos" panose="020B0004020202020204" pitchFamily="34" charset="0"/>
            </a:endParaRPr>
          </a:p>
        </p:txBody>
      </p:sp>
      <p:sp>
        <p:nvSpPr>
          <p:cNvPr id="8" name="Shape 5"/>
          <p:cNvSpPr/>
          <p:nvPr/>
        </p:nvSpPr>
        <p:spPr>
          <a:xfrm>
            <a:off x="329184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9" name="Image 1" descr="preencoded.png"/>
          <p:cNvPicPr>
            <a:picLocks noChangeAspect="1"/>
          </p:cNvPicPr>
          <p:nvPr/>
        </p:nvPicPr>
        <p:blipFill>
          <a:blip r:embed="rId4"/>
          <a:stretch>
            <a:fillRect/>
          </a:stretch>
        </p:blipFill>
        <p:spPr>
          <a:xfrm>
            <a:off x="3456432" y="1481328"/>
            <a:ext cx="365760" cy="365760"/>
          </a:xfrm>
          <a:prstGeom prst="rect">
            <a:avLst/>
          </a:prstGeom>
        </p:spPr>
      </p:pic>
      <p:sp>
        <p:nvSpPr>
          <p:cNvPr id="10" name="Text 6"/>
          <p:cNvSpPr/>
          <p:nvPr/>
        </p:nvSpPr>
        <p:spPr>
          <a:xfrm>
            <a:off x="3931920" y="137160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Aptos" panose="020B0004020202020204" pitchFamily="34" charset="0"/>
                <a:ea typeface="Calibri" pitchFamily="34" charset="-122"/>
                <a:cs typeface="Calibri" pitchFamily="34" charset="-120"/>
              </a:rPr>
              <a:t>£200m</a:t>
            </a:r>
            <a:endParaRPr lang="en-US" sz="1800" dirty="0">
              <a:latin typeface="Aptos" panose="020B0004020202020204" pitchFamily="34" charset="0"/>
            </a:endParaRPr>
          </a:p>
        </p:txBody>
      </p:sp>
      <p:sp>
        <p:nvSpPr>
          <p:cNvPr id="11" name="Text 7"/>
          <p:cNvSpPr/>
          <p:nvPr/>
        </p:nvSpPr>
        <p:spPr>
          <a:xfrm>
            <a:off x="345643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ILIOS Construction Partner</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initial contract</a:t>
            </a:r>
            <a:endParaRPr lang="en-US" sz="950" dirty="0">
              <a:latin typeface="Aptos" panose="020B0004020202020204" pitchFamily="34" charset="0"/>
            </a:endParaRPr>
          </a:p>
        </p:txBody>
      </p:sp>
      <p:sp>
        <p:nvSpPr>
          <p:cNvPr id="12" name="Shape 8"/>
          <p:cNvSpPr/>
          <p:nvPr/>
        </p:nvSpPr>
        <p:spPr>
          <a:xfrm>
            <a:off x="612648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3" name="Image 2" descr="preencoded.png"/>
          <p:cNvPicPr>
            <a:picLocks noChangeAspect="1"/>
          </p:cNvPicPr>
          <p:nvPr/>
        </p:nvPicPr>
        <p:blipFill>
          <a:blip r:embed="rId5"/>
          <a:stretch>
            <a:fillRect/>
          </a:stretch>
        </p:blipFill>
        <p:spPr>
          <a:xfrm>
            <a:off x="6291072" y="1481328"/>
            <a:ext cx="365760" cy="365760"/>
          </a:xfrm>
          <a:prstGeom prst="rect">
            <a:avLst/>
          </a:prstGeom>
        </p:spPr>
      </p:pic>
      <p:sp>
        <p:nvSpPr>
          <p:cNvPr id="14" name="Text 9"/>
          <p:cNvSpPr/>
          <p:nvPr/>
        </p:nvSpPr>
        <p:spPr>
          <a:xfrm>
            <a:off x="6766560" y="137160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Aptos" panose="020B0004020202020204" pitchFamily="34" charset="0"/>
                <a:ea typeface="Calibri" pitchFamily="34" charset="-122"/>
                <a:cs typeface="Calibri" pitchFamily="34" charset="-120"/>
              </a:rPr>
              <a:t>£70m</a:t>
            </a:r>
            <a:endParaRPr lang="en-US" sz="1800" dirty="0">
              <a:latin typeface="Aptos" panose="020B0004020202020204" pitchFamily="34" charset="0"/>
            </a:endParaRPr>
          </a:p>
        </p:txBody>
      </p:sp>
      <p:sp>
        <p:nvSpPr>
          <p:cNvPr id="15" name="Text 10"/>
          <p:cNvSpPr/>
          <p:nvPr/>
        </p:nvSpPr>
        <p:spPr>
          <a:xfrm>
            <a:off x="629107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Tokamak Energy magnets</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contract to March 2029</a:t>
            </a:r>
            <a:endParaRPr lang="en-US" sz="950" dirty="0">
              <a:latin typeface="Aptos" panose="020B0004020202020204" pitchFamily="34" charset="0"/>
            </a:endParaRPr>
          </a:p>
        </p:txBody>
      </p:sp>
      <p:sp>
        <p:nvSpPr>
          <p:cNvPr id="16" name="Shape 11"/>
          <p:cNvSpPr/>
          <p:nvPr/>
        </p:nvSpPr>
        <p:spPr>
          <a:xfrm>
            <a:off x="896112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7" name="Image 3" descr="preencoded.png"/>
          <p:cNvPicPr>
            <a:picLocks noChangeAspect="1"/>
          </p:cNvPicPr>
          <p:nvPr/>
        </p:nvPicPr>
        <p:blipFill>
          <a:blip r:embed="rId6"/>
          <a:stretch>
            <a:fillRect/>
          </a:stretch>
        </p:blipFill>
        <p:spPr>
          <a:xfrm>
            <a:off x="9125712" y="1481328"/>
            <a:ext cx="365760" cy="365760"/>
          </a:xfrm>
          <a:prstGeom prst="rect">
            <a:avLst/>
          </a:prstGeom>
        </p:spPr>
      </p:pic>
      <p:sp>
        <p:nvSpPr>
          <p:cNvPr id="18" name="Text 12"/>
          <p:cNvSpPr/>
          <p:nvPr/>
        </p:nvSpPr>
        <p:spPr>
          <a:xfrm>
            <a:off x="9601200" y="1371600"/>
            <a:ext cx="1828800" cy="365760"/>
          </a:xfrm>
          <a:prstGeom prst="rect">
            <a:avLst/>
          </a:prstGeom>
          <a:noFill/>
          <a:ln/>
        </p:spPr>
        <p:txBody>
          <a:bodyPr wrap="square" lIns="0" tIns="0" rIns="0" bIns="0" rtlCol="0" anchor="ctr"/>
          <a:lstStyle/>
          <a:p>
            <a:pPr marL="0" indent="0">
              <a:buNone/>
            </a:pPr>
            <a:r>
              <a:rPr lang="en-US" sz="1800" b="1" dirty="0">
                <a:solidFill>
                  <a:srgbClr val="FFFFFF"/>
                </a:solidFill>
                <a:latin typeface="Aptos" panose="020B0004020202020204" pitchFamily="34" charset="0"/>
                <a:ea typeface="Calibri" pitchFamily="34" charset="-122"/>
                <a:cs typeface="Calibri" pitchFamily="34" charset="-120"/>
              </a:rPr>
              <a:t>8,000</a:t>
            </a:r>
            <a:endParaRPr lang="en-US" sz="1800" dirty="0">
              <a:latin typeface="Aptos" panose="020B0004020202020204" pitchFamily="34" charset="0"/>
            </a:endParaRPr>
          </a:p>
        </p:txBody>
      </p:sp>
      <p:sp>
        <p:nvSpPr>
          <p:cNvPr id="19" name="Text 13"/>
          <p:cNvSpPr/>
          <p:nvPr/>
        </p:nvSpPr>
        <p:spPr>
          <a:xfrm>
            <a:off x="912571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Peak construction jobs</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expected at West Burton</a:t>
            </a:r>
            <a:endParaRPr lang="en-US" sz="950" dirty="0">
              <a:latin typeface="Aptos" panose="020B0004020202020204" pitchFamily="34" charset="0"/>
            </a:endParaRPr>
          </a:p>
        </p:txBody>
      </p:sp>
      <p:sp>
        <p:nvSpPr>
          <p:cNvPr id="20" name="Text 14"/>
          <p:cNvSpPr/>
          <p:nvPr/>
        </p:nvSpPr>
        <p:spPr>
          <a:xfrm>
            <a:off x="457200" y="2606040"/>
            <a:ext cx="7040880" cy="274320"/>
          </a:xfrm>
          <a:prstGeom prst="rect">
            <a:avLst/>
          </a:prstGeom>
          <a:noFill/>
          <a:ln/>
        </p:spPr>
        <p:txBody>
          <a:bodyPr wrap="square" lIns="0" tIns="0" rIns="0" bIns="0" rtlCol="0" anchor="ctr"/>
          <a:lstStyle/>
          <a:p>
            <a:pPr marL="0" indent="0">
              <a:buNone/>
            </a:pPr>
            <a:r>
              <a:rPr lang="en-US" sz="1300" b="1" kern="0" spc="100" dirty="0">
                <a:solidFill>
                  <a:schemeClr val="tx1"/>
                </a:solidFill>
                <a:latin typeface="Aptos" panose="020B0004020202020204" pitchFamily="34" charset="0"/>
                <a:ea typeface="Calibri" pitchFamily="34" charset="-122"/>
                <a:cs typeface="Calibri" pitchFamily="34" charset="-120"/>
              </a:rPr>
              <a:t>2026 MILESTONE TIMELINE</a:t>
            </a:r>
            <a:endParaRPr lang="en-US" sz="1300" dirty="0">
              <a:solidFill>
                <a:schemeClr val="tx1"/>
              </a:solidFill>
              <a:latin typeface="Aptos" panose="020B0004020202020204" pitchFamily="34" charset="0"/>
            </a:endParaRPr>
          </a:p>
        </p:txBody>
      </p:sp>
      <p:sp>
        <p:nvSpPr>
          <p:cNvPr id="21" name="Shape 15"/>
          <p:cNvSpPr/>
          <p:nvPr/>
        </p:nvSpPr>
        <p:spPr>
          <a:xfrm>
            <a:off x="1325880" y="2990088"/>
            <a:ext cx="0" cy="3108960"/>
          </a:xfrm>
          <a:prstGeom prst="line">
            <a:avLst/>
          </a:prstGeom>
          <a:noFill/>
          <a:ln w="19050">
            <a:solidFill>
              <a:srgbClr val="2A4670"/>
            </a:solidFill>
            <a:prstDash val="solid"/>
          </a:ln>
        </p:spPr>
        <p:txBody>
          <a:bodyPr/>
          <a:lstStyle/>
          <a:p>
            <a:endParaRPr lang="en-GB">
              <a:solidFill>
                <a:schemeClr val="tx1"/>
              </a:solidFill>
              <a:latin typeface="Aptos" panose="020B0004020202020204" pitchFamily="34" charset="0"/>
            </a:endParaRPr>
          </a:p>
        </p:txBody>
      </p:sp>
      <p:sp>
        <p:nvSpPr>
          <p:cNvPr id="22" name="Text 16"/>
          <p:cNvSpPr/>
          <p:nvPr/>
        </p:nvSpPr>
        <p:spPr>
          <a:xfrm>
            <a:off x="457200" y="2971800"/>
            <a:ext cx="777240" cy="365760"/>
          </a:xfrm>
          <a:prstGeom prst="rect">
            <a:avLst/>
          </a:prstGeom>
          <a:noFill/>
          <a:ln/>
        </p:spPr>
        <p:txBody>
          <a:bodyPr wrap="square" lIns="0" tIns="0" rIns="0" bIns="0" rtlCol="0" anchor="ctr"/>
          <a:lstStyle/>
          <a:p>
            <a:pPr marL="0" indent="0" algn="r">
              <a:buNone/>
            </a:pPr>
            <a:r>
              <a:rPr lang="en-US" sz="1050" b="1" dirty="0">
                <a:solidFill>
                  <a:schemeClr val="tx1"/>
                </a:solidFill>
                <a:latin typeface="Aptos" panose="020B0004020202020204" pitchFamily="34" charset="0"/>
                <a:ea typeface="Calibri" pitchFamily="34" charset="-122"/>
                <a:cs typeface="Calibri" pitchFamily="34" charset="-120"/>
              </a:rPr>
              <a:t>14 Jan–11 Mar</a:t>
            </a:r>
            <a:endParaRPr lang="en-US" sz="1050" dirty="0">
              <a:solidFill>
                <a:schemeClr val="tx1"/>
              </a:solidFill>
              <a:latin typeface="Aptos" panose="020B0004020202020204" pitchFamily="34" charset="0"/>
            </a:endParaRPr>
          </a:p>
        </p:txBody>
      </p:sp>
      <p:sp>
        <p:nvSpPr>
          <p:cNvPr id="23" name="Shape 17"/>
          <p:cNvSpPr/>
          <p:nvPr/>
        </p:nvSpPr>
        <p:spPr>
          <a:xfrm>
            <a:off x="1261872" y="3026664"/>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24" name="Text 18"/>
          <p:cNvSpPr/>
          <p:nvPr/>
        </p:nvSpPr>
        <p:spPr>
          <a:xfrm>
            <a:off x="1554480" y="2916936"/>
            <a:ext cx="5897880" cy="630936"/>
          </a:xfrm>
          <a:prstGeom prst="rect">
            <a:avLst/>
          </a:prstGeom>
          <a:noFill/>
          <a:ln/>
        </p:spPr>
        <p:txBody>
          <a:bodyPr wrap="square" lIns="0" tIns="0" rIns="0" bIns="0" rtlCol="0" anchor="t"/>
          <a:lstStyle/>
          <a:p>
            <a:pPr marL="0" indent="0">
              <a:lnSpc>
                <a:spcPct val="100000"/>
              </a:lnSpc>
              <a:buNone/>
            </a:pPr>
            <a:r>
              <a:rPr lang="en-US" sz="1050" dirty="0">
                <a:solidFill>
                  <a:schemeClr val="tx1"/>
                </a:solidFill>
                <a:latin typeface="Aptos" panose="020B0004020202020204" pitchFamily="34" charset="0"/>
                <a:ea typeface="Calibri" pitchFamily="34" charset="-122"/>
                <a:cs typeface="Calibri" pitchFamily="34" charset="-120"/>
              </a:rPr>
              <a:t>First public consultation on STEP Fusion's Development Consent Order held across North Nottinghamshire, Lincolnshire and South Yorkshire communities.</a:t>
            </a:r>
            <a:endParaRPr lang="en-US" sz="1050" dirty="0">
              <a:solidFill>
                <a:schemeClr val="tx1"/>
              </a:solidFill>
              <a:latin typeface="Aptos" panose="020B0004020202020204" pitchFamily="34" charset="0"/>
            </a:endParaRPr>
          </a:p>
        </p:txBody>
      </p:sp>
      <p:sp>
        <p:nvSpPr>
          <p:cNvPr id="25" name="Text 19"/>
          <p:cNvSpPr/>
          <p:nvPr/>
        </p:nvSpPr>
        <p:spPr>
          <a:xfrm>
            <a:off x="457200" y="3630168"/>
            <a:ext cx="777240" cy="365760"/>
          </a:xfrm>
          <a:prstGeom prst="rect">
            <a:avLst/>
          </a:prstGeom>
          <a:noFill/>
          <a:ln/>
        </p:spPr>
        <p:txBody>
          <a:bodyPr wrap="square" lIns="0" tIns="0" rIns="0" bIns="0" rtlCol="0" anchor="ctr"/>
          <a:lstStyle/>
          <a:p>
            <a:pPr marL="0" indent="0" algn="r">
              <a:buNone/>
            </a:pPr>
            <a:r>
              <a:rPr lang="en-US" sz="1050" b="1" dirty="0">
                <a:solidFill>
                  <a:schemeClr val="tx1"/>
                </a:solidFill>
                <a:latin typeface="Aptos" panose="020B0004020202020204" pitchFamily="34" charset="0"/>
                <a:ea typeface="Calibri" pitchFamily="34" charset="-122"/>
                <a:cs typeface="Calibri" pitchFamily="34" charset="-120"/>
              </a:rPr>
              <a:t>Mar</a:t>
            </a:r>
            <a:endParaRPr lang="en-US" sz="1050" dirty="0">
              <a:solidFill>
                <a:schemeClr val="tx1"/>
              </a:solidFill>
              <a:latin typeface="Aptos" panose="020B0004020202020204" pitchFamily="34" charset="0"/>
            </a:endParaRPr>
          </a:p>
        </p:txBody>
      </p:sp>
      <p:sp>
        <p:nvSpPr>
          <p:cNvPr id="26" name="Shape 20"/>
          <p:cNvSpPr/>
          <p:nvPr/>
        </p:nvSpPr>
        <p:spPr>
          <a:xfrm>
            <a:off x="1261872" y="3685032"/>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27" name="Text 21"/>
          <p:cNvSpPr/>
          <p:nvPr/>
        </p:nvSpPr>
        <p:spPr>
          <a:xfrm>
            <a:off x="1554480" y="3575304"/>
            <a:ext cx="5897880" cy="630936"/>
          </a:xfrm>
          <a:prstGeom prst="rect">
            <a:avLst/>
          </a:prstGeom>
          <a:noFill/>
          <a:ln/>
        </p:spPr>
        <p:txBody>
          <a:bodyPr wrap="square" lIns="0" tIns="0" rIns="0" bIns="0" rtlCol="0" anchor="t"/>
          <a:lstStyle/>
          <a:p>
            <a:pPr marL="0" indent="0">
              <a:lnSpc>
                <a:spcPct val="100000"/>
              </a:lnSpc>
              <a:buNone/>
            </a:pPr>
            <a:r>
              <a:rPr lang="en-US" sz="1050" dirty="0">
                <a:solidFill>
                  <a:schemeClr val="tx1"/>
                </a:solidFill>
                <a:latin typeface="Aptos" panose="020B0004020202020204" pitchFamily="34" charset="0"/>
                <a:ea typeface="Calibri" pitchFamily="34" charset="-122"/>
                <a:cs typeface="Calibri" pitchFamily="34" charset="-120"/>
              </a:rPr>
              <a:t>ILIOS consortium (Kier-Nuvia joint venture, with AECOM, AL_A and Turner &amp; Townsend) appointed Construction Partner — £200m initial 3-4.5 year contract, up to 8,000 jobs at peak.</a:t>
            </a:r>
            <a:endParaRPr lang="en-US" sz="1050" dirty="0">
              <a:solidFill>
                <a:schemeClr val="tx1"/>
              </a:solidFill>
              <a:latin typeface="Aptos" panose="020B0004020202020204" pitchFamily="34" charset="0"/>
            </a:endParaRPr>
          </a:p>
        </p:txBody>
      </p:sp>
      <p:sp>
        <p:nvSpPr>
          <p:cNvPr id="28" name="Text 22"/>
          <p:cNvSpPr/>
          <p:nvPr/>
        </p:nvSpPr>
        <p:spPr>
          <a:xfrm>
            <a:off x="457200" y="4288536"/>
            <a:ext cx="777240" cy="365760"/>
          </a:xfrm>
          <a:prstGeom prst="rect">
            <a:avLst/>
          </a:prstGeom>
          <a:noFill/>
          <a:ln/>
        </p:spPr>
        <p:txBody>
          <a:bodyPr wrap="square" lIns="0" tIns="0" rIns="0" bIns="0" rtlCol="0" anchor="ctr"/>
          <a:lstStyle/>
          <a:p>
            <a:pPr marL="0" indent="0" algn="r">
              <a:buNone/>
            </a:pPr>
            <a:r>
              <a:rPr lang="en-US" sz="1050" b="1" dirty="0">
                <a:solidFill>
                  <a:schemeClr val="tx1"/>
                </a:solidFill>
                <a:latin typeface="Aptos" panose="020B0004020202020204" pitchFamily="34" charset="0"/>
                <a:ea typeface="Calibri" pitchFamily="34" charset="-122"/>
                <a:cs typeface="Calibri" pitchFamily="34" charset="-120"/>
              </a:rPr>
              <a:t>23 Mar</a:t>
            </a:r>
            <a:endParaRPr lang="en-US" sz="1050" dirty="0">
              <a:solidFill>
                <a:schemeClr val="tx1"/>
              </a:solidFill>
              <a:latin typeface="Aptos" panose="020B0004020202020204" pitchFamily="34" charset="0"/>
            </a:endParaRPr>
          </a:p>
        </p:txBody>
      </p:sp>
      <p:sp>
        <p:nvSpPr>
          <p:cNvPr id="29" name="Shape 23"/>
          <p:cNvSpPr/>
          <p:nvPr/>
        </p:nvSpPr>
        <p:spPr>
          <a:xfrm>
            <a:off x="1261872" y="4343400"/>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30" name="Text 24"/>
          <p:cNvSpPr/>
          <p:nvPr/>
        </p:nvSpPr>
        <p:spPr>
          <a:xfrm>
            <a:off x="1554480" y="4233672"/>
            <a:ext cx="5897880" cy="630936"/>
          </a:xfrm>
          <a:prstGeom prst="rect">
            <a:avLst/>
          </a:prstGeom>
          <a:noFill/>
          <a:ln/>
        </p:spPr>
        <p:txBody>
          <a:bodyPr wrap="square" lIns="0" tIns="0" rIns="0" bIns="0" rtlCol="0" anchor="t"/>
          <a:lstStyle/>
          <a:p>
            <a:pPr marL="0" indent="0">
              <a:lnSpc>
                <a:spcPct val="100000"/>
              </a:lnSpc>
              <a:buNone/>
            </a:pPr>
            <a:r>
              <a:rPr lang="en-US" sz="1050" dirty="0">
                <a:solidFill>
                  <a:schemeClr val="tx1"/>
                </a:solidFill>
                <a:latin typeface="Aptos" panose="020B0004020202020204" pitchFamily="34" charset="0"/>
                <a:ea typeface="Calibri" pitchFamily="34" charset="-122"/>
                <a:cs typeface="Calibri" pitchFamily="34" charset="-120"/>
              </a:rPr>
              <a:t>UKAEA completes first phase of West Burton site acquisition from EDF — land transferred 3.5 years ahead of schedule; demolition and ash extraction under way.</a:t>
            </a:r>
            <a:endParaRPr lang="en-US" sz="1050" dirty="0">
              <a:solidFill>
                <a:schemeClr val="tx1"/>
              </a:solidFill>
              <a:latin typeface="Aptos" panose="020B0004020202020204" pitchFamily="34" charset="0"/>
            </a:endParaRPr>
          </a:p>
        </p:txBody>
      </p:sp>
      <p:sp>
        <p:nvSpPr>
          <p:cNvPr id="31" name="Text 25"/>
          <p:cNvSpPr/>
          <p:nvPr/>
        </p:nvSpPr>
        <p:spPr>
          <a:xfrm>
            <a:off x="457200" y="4946904"/>
            <a:ext cx="777240" cy="365760"/>
          </a:xfrm>
          <a:prstGeom prst="rect">
            <a:avLst/>
          </a:prstGeom>
          <a:noFill/>
          <a:ln/>
        </p:spPr>
        <p:txBody>
          <a:bodyPr wrap="square" lIns="0" tIns="0" rIns="0" bIns="0" rtlCol="0" anchor="ctr"/>
          <a:lstStyle/>
          <a:p>
            <a:pPr marL="0" indent="0" algn="r">
              <a:buNone/>
            </a:pPr>
            <a:r>
              <a:rPr lang="en-US" sz="1050" b="1" dirty="0">
                <a:solidFill>
                  <a:schemeClr val="tx1"/>
                </a:solidFill>
                <a:latin typeface="Aptos" panose="020B0004020202020204" pitchFamily="34" charset="0"/>
                <a:ea typeface="Calibri" pitchFamily="34" charset="-122"/>
                <a:cs typeface="Calibri" pitchFamily="34" charset="-120"/>
              </a:rPr>
              <a:t>14 Apr</a:t>
            </a:r>
            <a:endParaRPr lang="en-US" sz="1050" dirty="0">
              <a:solidFill>
                <a:schemeClr val="tx1"/>
              </a:solidFill>
              <a:latin typeface="Aptos" panose="020B0004020202020204" pitchFamily="34" charset="0"/>
            </a:endParaRPr>
          </a:p>
        </p:txBody>
      </p:sp>
      <p:sp>
        <p:nvSpPr>
          <p:cNvPr id="32" name="Shape 26"/>
          <p:cNvSpPr/>
          <p:nvPr/>
        </p:nvSpPr>
        <p:spPr>
          <a:xfrm>
            <a:off x="1261872" y="5001768"/>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33" name="Text 27"/>
          <p:cNvSpPr/>
          <p:nvPr/>
        </p:nvSpPr>
        <p:spPr>
          <a:xfrm>
            <a:off x="1554480" y="4892040"/>
            <a:ext cx="5897880" cy="630936"/>
          </a:xfrm>
          <a:prstGeom prst="rect">
            <a:avLst/>
          </a:prstGeom>
          <a:noFill/>
          <a:ln/>
        </p:spPr>
        <p:txBody>
          <a:bodyPr wrap="square" lIns="0" tIns="0" rIns="0" bIns="0" rtlCol="0" anchor="t"/>
          <a:lstStyle/>
          <a:p>
            <a:pPr marL="0" indent="0">
              <a:lnSpc>
                <a:spcPct val="100000"/>
              </a:lnSpc>
              <a:buNone/>
            </a:pPr>
            <a:r>
              <a:rPr lang="en-US" sz="1050" dirty="0">
                <a:solidFill>
                  <a:schemeClr val="tx1"/>
                </a:solidFill>
                <a:latin typeface="Aptos" panose="020B0004020202020204" pitchFamily="34" charset="0"/>
                <a:ea typeface="Calibri" pitchFamily="34" charset="-122"/>
                <a:cs typeface="Calibri" pitchFamily="34" charset="-120"/>
              </a:rPr>
              <a:t>Tokamak Energy named Magnet Systems Partner — £70m contract to March 2029, delivered via TE Magnetics, securing UK sovereign HTS magnet capability.</a:t>
            </a:r>
            <a:endParaRPr lang="en-US" sz="1050" dirty="0">
              <a:solidFill>
                <a:schemeClr val="tx1"/>
              </a:solidFill>
              <a:latin typeface="Aptos" panose="020B0004020202020204" pitchFamily="34" charset="0"/>
            </a:endParaRPr>
          </a:p>
        </p:txBody>
      </p:sp>
      <p:sp>
        <p:nvSpPr>
          <p:cNvPr id="34" name="Text 28"/>
          <p:cNvSpPr/>
          <p:nvPr/>
        </p:nvSpPr>
        <p:spPr>
          <a:xfrm>
            <a:off x="457200" y="5605272"/>
            <a:ext cx="777240" cy="365760"/>
          </a:xfrm>
          <a:prstGeom prst="rect">
            <a:avLst/>
          </a:prstGeom>
          <a:noFill/>
          <a:ln/>
        </p:spPr>
        <p:txBody>
          <a:bodyPr wrap="square" lIns="0" tIns="0" rIns="0" bIns="0" rtlCol="0" anchor="ctr"/>
          <a:lstStyle/>
          <a:p>
            <a:pPr marL="0" indent="0" algn="r">
              <a:buNone/>
            </a:pPr>
            <a:r>
              <a:rPr lang="en-US" sz="1050" b="1" dirty="0">
                <a:solidFill>
                  <a:schemeClr val="tx1"/>
                </a:solidFill>
                <a:latin typeface="Aptos" panose="020B0004020202020204" pitchFamily="34" charset="0"/>
                <a:ea typeface="Calibri" pitchFamily="34" charset="-122"/>
                <a:cs typeface="Calibri" pitchFamily="34" charset="-120"/>
              </a:rPr>
              <a:t>Mid-Apr</a:t>
            </a:r>
            <a:endParaRPr lang="en-US" sz="1050" dirty="0">
              <a:solidFill>
                <a:schemeClr val="tx1"/>
              </a:solidFill>
              <a:latin typeface="Aptos" panose="020B0004020202020204" pitchFamily="34" charset="0"/>
            </a:endParaRPr>
          </a:p>
        </p:txBody>
      </p:sp>
      <p:sp>
        <p:nvSpPr>
          <p:cNvPr id="35" name="Shape 29"/>
          <p:cNvSpPr/>
          <p:nvPr/>
        </p:nvSpPr>
        <p:spPr>
          <a:xfrm>
            <a:off x="1261872" y="5660136"/>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36" name="Text 30"/>
          <p:cNvSpPr/>
          <p:nvPr/>
        </p:nvSpPr>
        <p:spPr>
          <a:xfrm>
            <a:off x="1554480" y="5550408"/>
            <a:ext cx="5897880" cy="630936"/>
          </a:xfrm>
          <a:prstGeom prst="rect">
            <a:avLst/>
          </a:prstGeom>
          <a:noFill/>
          <a:ln/>
        </p:spPr>
        <p:txBody>
          <a:bodyPr wrap="square" lIns="0" tIns="0" rIns="0" bIns="0" rtlCol="0" anchor="t"/>
          <a:lstStyle/>
          <a:p>
            <a:pPr marL="0" indent="0">
              <a:lnSpc>
                <a:spcPct val="100000"/>
              </a:lnSpc>
              <a:buNone/>
            </a:pPr>
            <a:r>
              <a:rPr lang="en-US" sz="1050" dirty="0">
                <a:solidFill>
                  <a:schemeClr val="tx1"/>
                </a:solidFill>
                <a:latin typeface="Aptos" panose="020B0004020202020204" pitchFamily="34" charset="0"/>
                <a:ea typeface="Calibri" pitchFamily="34" charset="-122"/>
                <a:cs typeface="Calibri" pitchFamily="34" charset="-120"/>
              </a:rPr>
              <a:t>At Fusion Fest 2026, UK Fusion Energy and UKAEA launch strategies to 2030/2040 alongside the Government's national Fusion Strategy; £30m Dassault Systèmes digital/PLM deal signed.</a:t>
            </a:r>
            <a:endParaRPr lang="en-US" sz="1050" dirty="0">
              <a:solidFill>
                <a:schemeClr val="tx1"/>
              </a:solidFill>
              <a:latin typeface="Aptos" panose="020B0004020202020204" pitchFamily="34" charset="0"/>
            </a:endParaRPr>
          </a:p>
        </p:txBody>
      </p:sp>
      <p:sp>
        <p:nvSpPr>
          <p:cNvPr id="37" name="Shape 31"/>
          <p:cNvSpPr/>
          <p:nvPr/>
        </p:nvSpPr>
        <p:spPr>
          <a:xfrm>
            <a:off x="7772400" y="2606040"/>
            <a:ext cx="3977640" cy="4029891"/>
          </a:xfrm>
          <a:prstGeom prst="roundRect">
            <a:avLst>
              <a:gd name="adj" fmla="val 2133"/>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38" name="Image 4" descr="preencoded.png"/>
          <p:cNvPicPr>
            <a:picLocks noChangeAspect="1"/>
          </p:cNvPicPr>
          <p:nvPr/>
        </p:nvPicPr>
        <p:blipFill>
          <a:blip r:embed="rId7"/>
          <a:stretch>
            <a:fillRect/>
          </a:stretch>
        </p:blipFill>
        <p:spPr>
          <a:xfrm>
            <a:off x="8001000" y="2650451"/>
            <a:ext cx="329184" cy="329184"/>
          </a:xfrm>
          <a:prstGeom prst="rect">
            <a:avLst/>
          </a:prstGeom>
        </p:spPr>
      </p:pic>
      <p:sp>
        <p:nvSpPr>
          <p:cNvPr id="39" name="Text 32"/>
          <p:cNvSpPr/>
          <p:nvPr/>
        </p:nvSpPr>
        <p:spPr>
          <a:xfrm>
            <a:off x="8430768" y="2650451"/>
            <a:ext cx="3063240" cy="329184"/>
          </a:xfrm>
          <a:prstGeom prst="rect">
            <a:avLst/>
          </a:prstGeom>
          <a:noFill/>
          <a:ln/>
        </p:spPr>
        <p:txBody>
          <a:bodyPr wrap="square" lIns="0" tIns="0" rIns="0" bIns="0" rtlCol="0" anchor="ctr"/>
          <a:lstStyle/>
          <a:p>
            <a:pPr marL="0" indent="0">
              <a:buNone/>
            </a:pPr>
            <a:r>
              <a:rPr lang="en-US" sz="1300" b="1" kern="0" spc="50" dirty="0">
                <a:solidFill>
                  <a:srgbClr val="1FB6A6"/>
                </a:solidFill>
                <a:latin typeface="Aptos" panose="020B0004020202020204" pitchFamily="34" charset="0"/>
                <a:ea typeface="Calibri" pitchFamily="34" charset="-122"/>
                <a:cs typeface="Calibri" pitchFamily="34" charset="-120"/>
              </a:rPr>
              <a:t>WHAT IT MEANS FOR YOU</a:t>
            </a:r>
            <a:endParaRPr lang="en-US" sz="1300" dirty="0">
              <a:latin typeface="Aptos" panose="020B0004020202020204" pitchFamily="34" charset="0"/>
            </a:endParaRPr>
          </a:p>
        </p:txBody>
      </p:sp>
      <p:sp>
        <p:nvSpPr>
          <p:cNvPr id="40" name="Text 33"/>
          <p:cNvSpPr/>
          <p:nvPr/>
        </p:nvSpPr>
        <p:spPr>
          <a:xfrm>
            <a:off x="8046720" y="2990448"/>
            <a:ext cx="3429000" cy="2606040"/>
          </a:xfrm>
          <a:prstGeom prst="rect">
            <a:avLst/>
          </a:prstGeom>
          <a:noFill/>
          <a:ln/>
        </p:spPr>
        <p:txBody>
          <a:bodyPr wrap="square" lIns="0" tIns="0" rIns="0" bIns="0" rtlCol="0" anchor="t"/>
          <a:lstStyle/>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STEP is a single UK national programme, not a multi-vendor competition — the entry point is UKFE's own procurement portal, not a company sales team.</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Already a live, spending programme: £108.8m industry spend to date (£91.8m in the UK), 813 suppliers, 49 already local to West Burton — this is not just a future promise.</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ILIOS (Construction Partner) is the near-term route in for civil, construction and engineering SMEs; Tokamak Energy's magnet contract shows a second wave of specialist technology subcontracting now opening up.</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Longer horizon than any SMR programme (operations targeted 2040) but de-risked fast in 2026: site owned, construction partner and magnets partner both under contract, and £2.5bn government funding committed to FY2029/30.</a:t>
            </a:r>
          </a:p>
        </p:txBody>
      </p:sp>
      <p:pic>
        <p:nvPicPr>
          <p:cNvPr id="41" name="Picture 40">
            <a:extLst>
              <a:ext uri="{FF2B5EF4-FFF2-40B4-BE49-F238E27FC236}">
                <a16:creationId xmlns:a16="http://schemas.microsoft.com/office/drawing/2014/main" id="{19B51BDF-03E3-92DE-71CC-59ACE6EBD6B8}"/>
              </a:ext>
            </a:extLst>
          </p:cNvPr>
          <p:cNvPicPr>
            <a:picLocks noChangeAspect="1"/>
          </p:cNvPicPr>
          <p:nvPr/>
        </p:nvPicPr>
        <p:blipFill>
          <a:blip r:embed="rId8"/>
          <a:stretch>
            <a:fillRect/>
          </a:stretch>
        </p:blipFill>
        <p:spPr>
          <a:xfrm>
            <a:off x="73928" y="39878"/>
            <a:ext cx="610023" cy="636778"/>
          </a:xfrm>
          <a:prstGeom prst="rect">
            <a:avLst/>
          </a:prstGeom>
        </p:spPr>
      </p:pic>
      <p:pic>
        <p:nvPicPr>
          <p:cNvPr id="43" name="Picture 42">
            <a:extLst>
              <a:ext uri="{FF2B5EF4-FFF2-40B4-BE49-F238E27FC236}">
                <a16:creationId xmlns:a16="http://schemas.microsoft.com/office/drawing/2014/main" id="{82C2A442-48A3-ACA8-F469-B2C56C1ADB6D}"/>
              </a:ext>
            </a:extLst>
          </p:cNvPr>
          <p:cNvPicPr>
            <a:picLocks noChangeAspect="1"/>
          </p:cNvPicPr>
          <p:nvPr/>
        </p:nvPicPr>
        <p:blipFill>
          <a:blip r:embed="rId9"/>
          <a:stretch>
            <a:fillRect/>
          </a:stretch>
        </p:blipFill>
        <p:spPr>
          <a:xfrm>
            <a:off x="11089768" y="15704"/>
            <a:ext cx="1069868" cy="1099864"/>
          </a:xfrm>
          <a:prstGeom prst="rect">
            <a:avLst/>
          </a:prstGeom>
        </p:spPr>
      </p:pic>
      <p:pic>
        <p:nvPicPr>
          <p:cNvPr id="45" name="Picture 44" descr="Step Fusion | Fusion Energy Base">
            <a:extLst>
              <a:ext uri="{FF2B5EF4-FFF2-40B4-BE49-F238E27FC236}">
                <a16:creationId xmlns:a16="http://schemas.microsoft.com/office/drawing/2014/main" id="{AB8B846D-7A02-1C7A-EEBE-8D751688F91F}"/>
              </a:ext>
            </a:extLst>
          </p:cNvPr>
          <p:cNvPicPr>
            <a:picLocks noChangeAspect="1"/>
          </p:cNvPicPr>
          <p:nvPr/>
        </p:nvPicPr>
        <p:blipFill>
          <a:blip r:embed="rId10"/>
          <a:stretch>
            <a:fillRect/>
          </a:stretch>
        </p:blipFill>
        <p:spPr>
          <a:xfrm>
            <a:off x="685851" y="194547"/>
            <a:ext cx="606176" cy="326661"/>
          </a:xfrm>
          <a:prstGeom prst="rect">
            <a:avLst/>
          </a:prstGeom>
        </p:spPr>
      </p:pic>
      <p:sp>
        <p:nvSpPr>
          <p:cNvPr id="44" name="TextBox 43">
            <a:extLst>
              <a:ext uri="{FF2B5EF4-FFF2-40B4-BE49-F238E27FC236}">
                <a16:creationId xmlns:a16="http://schemas.microsoft.com/office/drawing/2014/main" id="{892BC914-B8B5-FEBC-DDE8-0144F802C147}"/>
              </a:ext>
            </a:extLst>
          </p:cNvPr>
          <p:cNvSpPr txBox="1"/>
          <p:nvPr/>
        </p:nvSpPr>
        <p:spPr>
          <a:xfrm>
            <a:off x="44118" y="6654109"/>
            <a:ext cx="12152376" cy="200055"/>
          </a:xfrm>
          <a:prstGeom prst="rect">
            <a:avLst/>
          </a:prstGeom>
          <a:noFill/>
        </p:spPr>
        <p:txBody>
          <a:bodyPr wrap="square">
            <a:spAutoFit/>
          </a:bodyPr>
          <a:lstStyle/>
          <a:p>
            <a:pPr algn="ctr"/>
            <a:r>
              <a:rPr lang="en-GB" sz="700" b="1" i="0" u="none" strike="noStrike" noProof="0" dirty="0">
                <a:solidFill>
                  <a:srgbClr val="757575"/>
                </a:solidFill>
                <a:effectLst/>
                <a:latin typeface="Aptos Narrow" panose="020B0004020202020204" pitchFamily="34" charset="0"/>
              </a:rPr>
              <a:t>Commercial in Confidence - This document contains proprietary and commercially sensitive information. It is intended solely for the recipient(s) and should not be disclosed or distributed without written permission from Nuclear Collaboration Ltd (NucCol ltd) Co. no. 15937779 </a:t>
            </a:r>
            <a:r>
              <a:rPr lang="en-GB" sz="700" b="1" i="0" noProof="0" dirty="0">
                <a:solidFill>
                  <a:srgbClr val="000000"/>
                </a:solidFill>
                <a:effectLst/>
                <a:latin typeface="Aptos Narrow" panose="020B0004020202020204" pitchFamily="34" charset="0"/>
              </a:rPr>
              <a:t>​</a:t>
            </a:r>
            <a:endParaRPr lang="en-GB" sz="700" b="1" noProof="0" dirty="0"/>
          </a:p>
        </p:txBody>
      </p:sp>
    </p:spTree>
    <p:extLst>
      <p:ext uri="{BB962C8B-B14F-4D97-AF65-F5344CB8AC3E}">
        <p14:creationId xmlns:p14="http://schemas.microsoft.com/office/powerpoint/2010/main" val="3224489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815927E3-FEC7-419B-E75D-FE061CBDF058}"/>
              </a:ext>
            </a:extLst>
          </p:cNvPr>
          <p:cNvSpPr/>
          <p:nvPr/>
        </p:nvSpPr>
        <p:spPr>
          <a:xfrm>
            <a:off x="0" y="10664"/>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 name="Text 0"/>
          <p:cNvSpPr/>
          <p:nvPr/>
        </p:nvSpPr>
        <p:spPr>
          <a:xfrm>
            <a:off x="457200" y="292608"/>
            <a:ext cx="11247120" cy="548640"/>
          </a:xfrm>
          <a:prstGeom prst="rect">
            <a:avLst/>
          </a:prstGeom>
          <a:noFill/>
          <a:ln/>
        </p:spPr>
        <p:txBody>
          <a:bodyPr wrap="square" lIns="0" tIns="0" rIns="0" bIns="0" rtlCol="0" anchor="ctr"/>
          <a:lstStyle/>
          <a:p>
            <a:pPr marL="0" indent="0">
              <a:buNone/>
            </a:pPr>
            <a:r>
              <a:rPr lang="en-US" sz="3000" b="1" dirty="0">
                <a:solidFill>
                  <a:schemeClr val="tx1"/>
                </a:solidFill>
                <a:latin typeface="Aptos" panose="020B0004020202020204" pitchFamily="34" charset="0"/>
                <a:ea typeface="Cambria" pitchFamily="34" charset="-122"/>
                <a:cs typeface="Cambria" pitchFamily="34" charset="-120"/>
              </a:rPr>
              <a:t>         </a:t>
            </a:r>
            <a:r>
              <a:rPr lang="en-US" sz="3000" b="1" dirty="0">
                <a:solidFill>
                  <a:schemeClr val="accent5"/>
                </a:solidFill>
                <a:latin typeface="Aptos" panose="020B0004020202020204" pitchFamily="34" charset="0"/>
              </a:rPr>
              <a:t>Decommissioning Programmes: 2026 Update</a:t>
            </a:r>
          </a:p>
        </p:txBody>
      </p:sp>
      <p:sp>
        <p:nvSpPr>
          <p:cNvPr id="3" name="Text 1"/>
          <p:cNvSpPr/>
          <p:nvPr/>
        </p:nvSpPr>
        <p:spPr>
          <a:xfrm>
            <a:off x="457200" y="786384"/>
            <a:ext cx="11247120" cy="320040"/>
          </a:xfrm>
          <a:prstGeom prst="rect">
            <a:avLst/>
          </a:prstGeom>
          <a:noFill/>
          <a:ln/>
        </p:spPr>
        <p:txBody>
          <a:bodyPr wrap="square" lIns="0" tIns="0" rIns="0" bIns="0" rtlCol="0" anchor="ctr"/>
          <a:lstStyle/>
          <a:p>
            <a:pPr marL="0" indent="0">
              <a:buNone/>
            </a:pPr>
            <a:r>
              <a:rPr lang="en-US" sz="1400" i="1" dirty="0">
                <a:solidFill>
                  <a:schemeClr val="tx1"/>
                </a:solidFill>
                <a:latin typeface="Aptos" panose="020B0004020202020204" pitchFamily="34" charset="0"/>
                <a:ea typeface="Calibri" pitchFamily="34" charset="-122"/>
                <a:cs typeface="Calibri" pitchFamily="34" charset="-120"/>
              </a:rPr>
              <a:t>UK nuclear sector briefing for manufacturing supply chain partners</a:t>
            </a:r>
            <a:endParaRPr lang="en-US" sz="1400" dirty="0">
              <a:solidFill>
                <a:schemeClr val="tx1"/>
              </a:solidFill>
              <a:latin typeface="Aptos" panose="020B0004020202020204" pitchFamily="34" charset="0"/>
            </a:endParaRPr>
          </a:p>
        </p:txBody>
      </p:sp>
      <p:sp>
        <p:nvSpPr>
          <p:cNvPr id="4" name="Shape 2"/>
          <p:cNvSpPr/>
          <p:nvPr/>
        </p:nvSpPr>
        <p:spPr>
          <a:xfrm>
            <a:off x="45720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5" name="Image 0" descr="preencoded.png"/>
          <p:cNvPicPr>
            <a:picLocks noChangeAspect="1"/>
          </p:cNvPicPr>
          <p:nvPr/>
        </p:nvPicPr>
        <p:blipFill>
          <a:blip r:embed="rId3"/>
          <a:stretch>
            <a:fillRect/>
          </a:stretch>
        </p:blipFill>
        <p:spPr>
          <a:xfrm>
            <a:off x="621792" y="1444752"/>
            <a:ext cx="365760" cy="365760"/>
          </a:xfrm>
          <a:prstGeom prst="rect">
            <a:avLst/>
          </a:prstGeom>
        </p:spPr>
      </p:pic>
      <p:sp>
        <p:nvSpPr>
          <p:cNvPr id="6" name="Text 3"/>
          <p:cNvSpPr/>
          <p:nvPr/>
        </p:nvSpPr>
        <p:spPr>
          <a:xfrm>
            <a:off x="1097280" y="1316736"/>
            <a:ext cx="1828800" cy="502920"/>
          </a:xfrm>
          <a:prstGeom prst="rect">
            <a:avLst/>
          </a:prstGeom>
          <a:noFill/>
          <a:ln/>
        </p:spPr>
        <p:txBody>
          <a:bodyPr wrap="square" lIns="0" tIns="0" rIns="0" bIns="0" rtlCol="0" anchor="t"/>
          <a:lstStyle/>
          <a:p>
            <a:pPr marL="0" indent="0">
              <a:buNone/>
            </a:pPr>
            <a:r>
              <a:rPr lang="en-US" sz="1500" b="1" dirty="0">
                <a:solidFill>
                  <a:srgbClr val="FFFFFF"/>
                </a:solidFill>
                <a:latin typeface="Aptos" panose="020B0004020202020204" pitchFamily="34" charset="0"/>
                <a:ea typeface="Calibri" pitchFamily="34" charset="-122"/>
                <a:cs typeface="Calibri" pitchFamily="34" charset="-120"/>
              </a:rPr>
              <a:t>£1.8bn</a:t>
            </a:r>
            <a:endParaRPr lang="en-US" sz="1500" dirty="0">
              <a:latin typeface="Aptos" panose="020B0004020202020204" pitchFamily="34" charset="0"/>
            </a:endParaRPr>
          </a:p>
        </p:txBody>
      </p:sp>
      <p:sp>
        <p:nvSpPr>
          <p:cNvPr id="7" name="Text 4"/>
          <p:cNvSpPr/>
          <p:nvPr/>
        </p:nvSpPr>
        <p:spPr>
          <a:xfrm>
            <a:off x="62179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NDA group's annual</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supply chain spend</a:t>
            </a:r>
            <a:endParaRPr lang="en-US" sz="950" dirty="0">
              <a:latin typeface="Aptos" panose="020B0004020202020204" pitchFamily="34" charset="0"/>
            </a:endParaRPr>
          </a:p>
        </p:txBody>
      </p:sp>
      <p:sp>
        <p:nvSpPr>
          <p:cNvPr id="8" name="Shape 5"/>
          <p:cNvSpPr/>
          <p:nvPr/>
        </p:nvSpPr>
        <p:spPr>
          <a:xfrm>
            <a:off x="329184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9" name="Image 1" descr="preencoded.png"/>
          <p:cNvPicPr>
            <a:picLocks noChangeAspect="1"/>
          </p:cNvPicPr>
          <p:nvPr/>
        </p:nvPicPr>
        <p:blipFill>
          <a:blip r:embed="rId4"/>
          <a:stretch>
            <a:fillRect/>
          </a:stretch>
        </p:blipFill>
        <p:spPr>
          <a:xfrm>
            <a:off x="3456432" y="1444752"/>
            <a:ext cx="365760" cy="365760"/>
          </a:xfrm>
          <a:prstGeom prst="rect">
            <a:avLst/>
          </a:prstGeom>
        </p:spPr>
      </p:pic>
      <p:sp>
        <p:nvSpPr>
          <p:cNvPr id="10" name="Text 6"/>
          <p:cNvSpPr/>
          <p:nvPr/>
        </p:nvSpPr>
        <p:spPr>
          <a:xfrm>
            <a:off x="3931920" y="1316736"/>
            <a:ext cx="1828800" cy="502920"/>
          </a:xfrm>
          <a:prstGeom prst="rect">
            <a:avLst/>
          </a:prstGeom>
          <a:noFill/>
          <a:ln/>
        </p:spPr>
        <p:txBody>
          <a:bodyPr wrap="square" lIns="0" tIns="0" rIns="0" bIns="0" rtlCol="0" anchor="t"/>
          <a:lstStyle/>
          <a:p>
            <a:pPr marL="0" indent="0">
              <a:buNone/>
            </a:pPr>
            <a:r>
              <a:rPr lang="en-US" sz="1500" b="1" dirty="0">
                <a:solidFill>
                  <a:srgbClr val="FFFFFF"/>
                </a:solidFill>
                <a:latin typeface="Aptos" panose="020B0004020202020204" pitchFamily="34" charset="0"/>
                <a:ea typeface="Calibri" pitchFamily="34" charset="-122"/>
                <a:cs typeface="Calibri" pitchFamily="34" charset="-120"/>
              </a:rPr>
              <a:t>£45m</a:t>
            </a:r>
            <a:endParaRPr lang="en-US" sz="1500" dirty="0">
              <a:latin typeface="Aptos" panose="020B0004020202020204" pitchFamily="34" charset="0"/>
            </a:endParaRPr>
          </a:p>
        </p:txBody>
      </p:sp>
      <p:sp>
        <p:nvSpPr>
          <p:cNvPr id="11" name="Text 7"/>
          <p:cNvSpPr/>
          <p:nvPr/>
        </p:nvSpPr>
        <p:spPr>
          <a:xfrm>
            <a:off x="345643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SME win: LTi Metaltech,</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Sellafield SRP, Feb 2026</a:t>
            </a:r>
            <a:endParaRPr lang="en-US" sz="950" dirty="0">
              <a:latin typeface="Aptos" panose="020B0004020202020204" pitchFamily="34" charset="0"/>
            </a:endParaRPr>
          </a:p>
        </p:txBody>
      </p:sp>
      <p:sp>
        <p:nvSpPr>
          <p:cNvPr id="12" name="Shape 8"/>
          <p:cNvSpPr/>
          <p:nvPr/>
        </p:nvSpPr>
        <p:spPr>
          <a:xfrm>
            <a:off x="612648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3" name="Image 2" descr="preencoded.png"/>
          <p:cNvPicPr>
            <a:picLocks noChangeAspect="1"/>
          </p:cNvPicPr>
          <p:nvPr/>
        </p:nvPicPr>
        <p:blipFill>
          <a:blip r:embed="rId5"/>
          <a:stretch>
            <a:fillRect/>
          </a:stretch>
        </p:blipFill>
        <p:spPr>
          <a:xfrm>
            <a:off x="6291072" y="1444752"/>
            <a:ext cx="365760" cy="365760"/>
          </a:xfrm>
          <a:prstGeom prst="rect">
            <a:avLst/>
          </a:prstGeom>
        </p:spPr>
      </p:pic>
      <p:sp>
        <p:nvSpPr>
          <p:cNvPr id="14" name="Text 9"/>
          <p:cNvSpPr/>
          <p:nvPr/>
        </p:nvSpPr>
        <p:spPr>
          <a:xfrm>
            <a:off x="6766560" y="1316736"/>
            <a:ext cx="1828800" cy="502920"/>
          </a:xfrm>
          <a:prstGeom prst="rect">
            <a:avLst/>
          </a:prstGeom>
          <a:noFill/>
          <a:ln/>
        </p:spPr>
        <p:txBody>
          <a:bodyPr wrap="square" lIns="0" tIns="0" rIns="0" bIns="0" rtlCol="0" anchor="t"/>
          <a:lstStyle/>
          <a:p>
            <a:pPr marL="0" indent="0">
              <a:buNone/>
            </a:pPr>
            <a:r>
              <a:rPr lang="en-US" sz="1500" b="1" dirty="0">
                <a:solidFill>
                  <a:srgbClr val="FFFFFF"/>
                </a:solidFill>
                <a:latin typeface="Aptos" panose="020B0004020202020204" pitchFamily="34" charset="0"/>
                <a:ea typeface="Calibri" pitchFamily="34" charset="-122"/>
                <a:cs typeface="Calibri" pitchFamily="34" charset="-120"/>
              </a:rPr>
              <a:t>New</a:t>
            </a:r>
            <a:endParaRPr lang="en-US" sz="1500" dirty="0">
              <a:latin typeface="Aptos" panose="020B0004020202020204" pitchFamily="34" charset="0"/>
            </a:endParaRPr>
          </a:p>
          <a:p>
            <a:pPr marL="0" indent="0">
              <a:buNone/>
            </a:pPr>
            <a:r>
              <a:rPr lang="en-US" sz="1500" b="1" dirty="0">
                <a:solidFill>
                  <a:srgbClr val="FFFFFF"/>
                </a:solidFill>
                <a:latin typeface="Aptos" panose="020B0004020202020204" pitchFamily="34" charset="0"/>
                <a:ea typeface="Calibri" pitchFamily="34" charset="-122"/>
                <a:cs typeface="Calibri" pitchFamily="34" charset="-120"/>
              </a:rPr>
              <a:t>Strategy</a:t>
            </a:r>
            <a:endParaRPr lang="en-US" sz="1500" dirty="0">
              <a:latin typeface="Aptos" panose="020B0004020202020204" pitchFamily="34" charset="0"/>
            </a:endParaRPr>
          </a:p>
        </p:txBody>
      </p:sp>
      <p:sp>
        <p:nvSpPr>
          <p:cNvPr id="15" name="Text 10"/>
          <p:cNvSpPr/>
          <p:nvPr/>
        </p:nvSpPr>
        <p:spPr>
          <a:xfrm>
            <a:off x="629107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NDA group Strategy</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effective March 2026</a:t>
            </a:r>
            <a:endParaRPr lang="en-US" sz="950" dirty="0">
              <a:latin typeface="Aptos" panose="020B0004020202020204" pitchFamily="34" charset="0"/>
            </a:endParaRPr>
          </a:p>
        </p:txBody>
      </p:sp>
      <p:sp>
        <p:nvSpPr>
          <p:cNvPr id="16" name="Shape 11"/>
          <p:cNvSpPr/>
          <p:nvPr/>
        </p:nvSpPr>
        <p:spPr>
          <a:xfrm>
            <a:off x="896112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7" name="Image 3" descr="preencoded.png"/>
          <p:cNvPicPr>
            <a:picLocks noChangeAspect="1"/>
          </p:cNvPicPr>
          <p:nvPr/>
        </p:nvPicPr>
        <p:blipFill>
          <a:blip r:embed="rId6"/>
          <a:stretch>
            <a:fillRect/>
          </a:stretch>
        </p:blipFill>
        <p:spPr>
          <a:xfrm>
            <a:off x="9125712" y="1444752"/>
            <a:ext cx="365760" cy="365760"/>
          </a:xfrm>
          <a:prstGeom prst="rect">
            <a:avLst/>
          </a:prstGeom>
        </p:spPr>
      </p:pic>
      <p:sp>
        <p:nvSpPr>
          <p:cNvPr id="18" name="Text 12"/>
          <p:cNvSpPr/>
          <p:nvPr/>
        </p:nvSpPr>
        <p:spPr>
          <a:xfrm>
            <a:off x="9601200" y="1316736"/>
            <a:ext cx="1828800" cy="502920"/>
          </a:xfrm>
          <a:prstGeom prst="rect">
            <a:avLst/>
          </a:prstGeom>
          <a:noFill/>
          <a:ln/>
        </p:spPr>
        <p:txBody>
          <a:bodyPr wrap="square" lIns="0" tIns="0" rIns="0" bIns="0" rtlCol="0" anchor="t"/>
          <a:lstStyle/>
          <a:p>
            <a:pPr marL="0" indent="0">
              <a:buNone/>
            </a:pPr>
            <a:r>
              <a:rPr lang="en-US" sz="1500" b="1" dirty="0">
                <a:solidFill>
                  <a:srgbClr val="FFFFFF"/>
                </a:solidFill>
                <a:latin typeface="Aptos" panose="020B0004020202020204" pitchFamily="34" charset="0"/>
                <a:ea typeface="Calibri" pitchFamily="34" charset="-122"/>
                <a:cs typeface="Calibri" pitchFamily="34" charset="-120"/>
              </a:rPr>
              <a:t>1st AGRs</a:t>
            </a:r>
            <a:endParaRPr lang="en-US" sz="1500" dirty="0">
              <a:latin typeface="Aptos" panose="020B0004020202020204" pitchFamily="34" charset="0"/>
            </a:endParaRPr>
          </a:p>
        </p:txBody>
      </p:sp>
      <p:sp>
        <p:nvSpPr>
          <p:cNvPr id="19" name="Text 13"/>
          <p:cNvSpPr/>
          <p:nvPr/>
        </p:nvSpPr>
        <p:spPr>
          <a:xfrm>
            <a:off x="912571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Hunterston B &amp; Hinkley Pt B</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transfer to NDA in 2026</a:t>
            </a:r>
            <a:endParaRPr lang="en-US" sz="950" dirty="0">
              <a:latin typeface="Aptos" panose="020B0004020202020204" pitchFamily="34" charset="0"/>
            </a:endParaRPr>
          </a:p>
        </p:txBody>
      </p:sp>
      <p:sp>
        <p:nvSpPr>
          <p:cNvPr id="20" name="Text 14"/>
          <p:cNvSpPr/>
          <p:nvPr/>
        </p:nvSpPr>
        <p:spPr>
          <a:xfrm>
            <a:off x="457200" y="2606040"/>
            <a:ext cx="7040880" cy="274320"/>
          </a:xfrm>
          <a:prstGeom prst="rect">
            <a:avLst/>
          </a:prstGeom>
          <a:noFill/>
          <a:ln/>
        </p:spPr>
        <p:txBody>
          <a:bodyPr wrap="square" lIns="0" tIns="0" rIns="0" bIns="0" rtlCol="0" anchor="ctr"/>
          <a:lstStyle/>
          <a:p>
            <a:pPr marL="0" indent="0">
              <a:buNone/>
            </a:pPr>
            <a:r>
              <a:rPr lang="en-US" sz="1300" b="1" kern="0" spc="100" dirty="0">
                <a:solidFill>
                  <a:schemeClr val="tx1"/>
                </a:solidFill>
                <a:latin typeface="Aptos" panose="020B0004020202020204" pitchFamily="34" charset="0"/>
                <a:ea typeface="Calibri" pitchFamily="34" charset="-122"/>
                <a:cs typeface="Calibri" pitchFamily="34" charset="-120"/>
              </a:rPr>
              <a:t>2026 MILESTONE TIMELINE</a:t>
            </a:r>
            <a:endParaRPr lang="en-US" sz="1300" dirty="0">
              <a:solidFill>
                <a:schemeClr val="tx1"/>
              </a:solidFill>
              <a:latin typeface="Aptos" panose="020B0004020202020204" pitchFamily="34" charset="0"/>
            </a:endParaRPr>
          </a:p>
        </p:txBody>
      </p:sp>
      <p:sp>
        <p:nvSpPr>
          <p:cNvPr id="21" name="Shape 15"/>
          <p:cNvSpPr/>
          <p:nvPr/>
        </p:nvSpPr>
        <p:spPr>
          <a:xfrm>
            <a:off x="1280160" y="2990088"/>
            <a:ext cx="0" cy="3108960"/>
          </a:xfrm>
          <a:prstGeom prst="line">
            <a:avLst/>
          </a:prstGeom>
          <a:noFill/>
          <a:ln w="19050">
            <a:solidFill>
              <a:srgbClr val="2A4670"/>
            </a:solidFill>
            <a:prstDash val="solid"/>
          </a:ln>
        </p:spPr>
        <p:txBody>
          <a:bodyPr/>
          <a:lstStyle/>
          <a:p>
            <a:endParaRPr lang="en-GB">
              <a:solidFill>
                <a:schemeClr val="tx1"/>
              </a:solidFill>
              <a:latin typeface="Aptos" panose="020B0004020202020204" pitchFamily="34" charset="0"/>
            </a:endParaRPr>
          </a:p>
        </p:txBody>
      </p:sp>
      <p:sp>
        <p:nvSpPr>
          <p:cNvPr id="22" name="Text 16"/>
          <p:cNvSpPr/>
          <p:nvPr/>
        </p:nvSpPr>
        <p:spPr>
          <a:xfrm>
            <a:off x="457200" y="2971800"/>
            <a:ext cx="731520" cy="365760"/>
          </a:xfrm>
          <a:prstGeom prst="rect">
            <a:avLst/>
          </a:prstGeom>
          <a:noFill/>
          <a:ln/>
        </p:spPr>
        <p:txBody>
          <a:bodyPr wrap="square" lIns="0" tIns="0" rIns="0" bIns="0" rtlCol="0" anchor="ctr"/>
          <a:lstStyle/>
          <a:p>
            <a:pPr marL="0" indent="0" algn="r">
              <a:buNone/>
            </a:pPr>
            <a:r>
              <a:rPr lang="en-US" sz="1050" b="1" dirty="0">
                <a:solidFill>
                  <a:schemeClr val="tx1"/>
                </a:solidFill>
                <a:latin typeface="Aptos" panose="020B0004020202020204" pitchFamily="34" charset="0"/>
                <a:ea typeface="Calibri" pitchFamily="34" charset="-122"/>
                <a:cs typeface="Calibri" pitchFamily="34" charset="-120"/>
              </a:rPr>
              <a:t>Oct '25</a:t>
            </a:r>
            <a:endParaRPr lang="en-US" sz="1050" dirty="0">
              <a:solidFill>
                <a:schemeClr val="tx1"/>
              </a:solidFill>
              <a:latin typeface="Aptos" panose="020B0004020202020204" pitchFamily="34" charset="0"/>
            </a:endParaRPr>
          </a:p>
        </p:txBody>
      </p:sp>
      <p:sp>
        <p:nvSpPr>
          <p:cNvPr id="23" name="Shape 17"/>
          <p:cNvSpPr/>
          <p:nvPr/>
        </p:nvSpPr>
        <p:spPr>
          <a:xfrm>
            <a:off x="1216152" y="3026664"/>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24" name="Text 18"/>
          <p:cNvSpPr/>
          <p:nvPr/>
        </p:nvSpPr>
        <p:spPr>
          <a:xfrm>
            <a:off x="1508760" y="2916936"/>
            <a:ext cx="5943600" cy="630936"/>
          </a:xfrm>
          <a:prstGeom prst="rect">
            <a:avLst/>
          </a:prstGeom>
          <a:noFill/>
          <a:ln/>
        </p:spPr>
        <p:txBody>
          <a:bodyPr wrap="square" lIns="0" tIns="0" rIns="0" bIns="0" rtlCol="0" anchor="t"/>
          <a:lstStyle/>
          <a:p>
            <a:pPr marL="0" indent="0">
              <a:lnSpc>
                <a:spcPct val="100000"/>
              </a:lnSpc>
              <a:buNone/>
            </a:pPr>
            <a:r>
              <a:rPr lang="en-US" sz="1050" dirty="0">
                <a:solidFill>
                  <a:schemeClr val="tx1"/>
                </a:solidFill>
                <a:latin typeface="Aptos" panose="020B0004020202020204" pitchFamily="34" charset="0"/>
                <a:ea typeface="Calibri" pitchFamily="34" charset="-122"/>
                <a:cs typeface="Calibri" pitchFamily="34" charset="-120"/>
              </a:rPr>
              <a:t>Three companies win contracts worth up to £2.9bn for non-nuclear infrastructure works at Sellafield — context for the scale of work entering the market into 2026.</a:t>
            </a:r>
            <a:endParaRPr lang="en-US" sz="1050" dirty="0">
              <a:solidFill>
                <a:schemeClr val="tx1"/>
              </a:solidFill>
              <a:latin typeface="Aptos" panose="020B0004020202020204" pitchFamily="34" charset="0"/>
            </a:endParaRPr>
          </a:p>
        </p:txBody>
      </p:sp>
      <p:sp>
        <p:nvSpPr>
          <p:cNvPr id="25" name="Text 19"/>
          <p:cNvSpPr/>
          <p:nvPr/>
        </p:nvSpPr>
        <p:spPr>
          <a:xfrm>
            <a:off x="457200" y="3630168"/>
            <a:ext cx="731520" cy="365760"/>
          </a:xfrm>
          <a:prstGeom prst="rect">
            <a:avLst/>
          </a:prstGeom>
          <a:noFill/>
          <a:ln/>
        </p:spPr>
        <p:txBody>
          <a:bodyPr wrap="square" lIns="0" tIns="0" rIns="0" bIns="0" rtlCol="0" anchor="ctr"/>
          <a:lstStyle/>
          <a:p>
            <a:pPr marL="0" indent="0" algn="r">
              <a:buNone/>
            </a:pPr>
            <a:r>
              <a:rPr lang="en-US" sz="1050" b="1" dirty="0">
                <a:solidFill>
                  <a:schemeClr val="tx1"/>
                </a:solidFill>
                <a:latin typeface="Aptos" panose="020B0004020202020204" pitchFamily="34" charset="0"/>
                <a:ea typeface="Calibri" pitchFamily="34" charset="-122"/>
                <a:cs typeface="Calibri" pitchFamily="34" charset="-120"/>
              </a:rPr>
              <a:t>18 Feb</a:t>
            </a:r>
            <a:endParaRPr lang="en-US" sz="1050" dirty="0">
              <a:solidFill>
                <a:schemeClr val="tx1"/>
              </a:solidFill>
              <a:latin typeface="Aptos" panose="020B0004020202020204" pitchFamily="34" charset="0"/>
            </a:endParaRPr>
          </a:p>
        </p:txBody>
      </p:sp>
      <p:sp>
        <p:nvSpPr>
          <p:cNvPr id="26" name="Shape 20"/>
          <p:cNvSpPr/>
          <p:nvPr/>
        </p:nvSpPr>
        <p:spPr>
          <a:xfrm>
            <a:off x="1216152" y="3685032"/>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27" name="Text 21"/>
          <p:cNvSpPr/>
          <p:nvPr/>
        </p:nvSpPr>
        <p:spPr>
          <a:xfrm>
            <a:off x="1508760" y="3575304"/>
            <a:ext cx="5943600" cy="630936"/>
          </a:xfrm>
          <a:prstGeom prst="rect">
            <a:avLst/>
          </a:prstGeom>
          <a:noFill/>
          <a:ln/>
        </p:spPr>
        <p:txBody>
          <a:bodyPr wrap="square" lIns="0" tIns="0" rIns="0" bIns="0" rtlCol="0" anchor="t"/>
          <a:lstStyle/>
          <a:p>
            <a:pPr marL="0" indent="0">
              <a:lnSpc>
                <a:spcPct val="100000"/>
              </a:lnSpc>
              <a:buNone/>
            </a:pPr>
            <a:r>
              <a:rPr lang="en-US" sz="1050" dirty="0">
                <a:solidFill>
                  <a:schemeClr val="tx1"/>
                </a:solidFill>
                <a:latin typeface="Aptos" panose="020B0004020202020204" pitchFamily="34" charset="0"/>
                <a:ea typeface="Calibri" pitchFamily="34" charset="-122"/>
                <a:cs typeface="Calibri" pitchFamily="34" charset="-120"/>
              </a:rPr>
              <a:t>Sellafield awards a £45m contract to LTi Metaltech — a UK fabrication and welding SME — to supply plutonium storage containers ('100-year cans') for the new Product and Residue Store Retreatment Plant.</a:t>
            </a:r>
            <a:endParaRPr lang="en-US" sz="1050" dirty="0">
              <a:solidFill>
                <a:schemeClr val="tx1"/>
              </a:solidFill>
              <a:latin typeface="Aptos" panose="020B0004020202020204" pitchFamily="34" charset="0"/>
            </a:endParaRPr>
          </a:p>
        </p:txBody>
      </p:sp>
      <p:sp>
        <p:nvSpPr>
          <p:cNvPr id="28" name="Text 22"/>
          <p:cNvSpPr/>
          <p:nvPr/>
        </p:nvSpPr>
        <p:spPr>
          <a:xfrm>
            <a:off x="457200" y="4288536"/>
            <a:ext cx="731520" cy="365760"/>
          </a:xfrm>
          <a:prstGeom prst="rect">
            <a:avLst/>
          </a:prstGeom>
          <a:noFill/>
          <a:ln/>
        </p:spPr>
        <p:txBody>
          <a:bodyPr wrap="square" lIns="0" tIns="0" rIns="0" bIns="0" rtlCol="0" anchor="ctr"/>
          <a:lstStyle/>
          <a:p>
            <a:pPr marL="0" indent="0" algn="r">
              <a:buNone/>
            </a:pPr>
            <a:r>
              <a:rPr lang="en-US" sz="1050" b="1" dirty="0">
                <a:solidFill>
                  <a:schemeClr val="tx1"/>
                </a:solidFill>
                <a:latin typeface="Aptos" panose="020B0004020202020204" pitchFamily="34" charset="0"/>
                <a:ea typeface="Calibri" pitchFamily="34" charset="-122"/>
                <a:cs typeface="Calibri" pitchFamily="34" charset="-120"/>
              </a:rPr>
              <a:t>23 Feb</a:t>
            </a:r>
            <a:endParaRPr lang="en-US" sz="1050" dirty="0">
              <a:solidFill>
                <a:schemeClr val="tx1"/>
              </a:solidFill>
              <a:latin typeface="Aptos" panose="020B0004020202020204" pitchFamily="34" charset="0"/>
            </a:endParaRPr>
          </a:p>
        </p:txBody>
      </p:sp>
      <p:sp>
        <p:nvSpPr>
          <p:cNvPr id="29" name="Shape 23"/>
          <p:cNvSpPr/>
          <p:nvPr/>
        </p:nvSpPr>
        <p:spPr>
          <a:xfrm>
            <a:off x="1216152" y="4343400"/>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30" name="Text 24"/>
          <p:cNvSpPr/>
          <p:nvPr/>
        </p:nvSpPr>
        <p:spPr>
          <a:xfrm>
            <a:off x="1508760" y="4233672"/>
            <a:ext cx="5943600" cy="630936"/>
          </a:xfrm>
          <a:prstGeom prst="rect">
            <a:avLst/>
          </a:prstGeom>
          <a:noFill/>
          <a:ln/>
        </p:spPr>
        <p:txBody>
          <a:bodyPr wrap="square" lIns="0" tIns="0" rIns="0" bIns="0" rtlCol="0" anchor="t"/>
          <a:lstStyle/>
          <a:p>
            <a:pPr marL="0" indent="0">
              <a:lnSpc>
                <a:spcPct val="100000"/>
              </a:lnSpc>
              <a:buNone/>
            </a:pPr>
            <a:r>
              <a:rPr lang="en-US" sz="1050" dirty="0">
                <a:solidFill>
                  <a:schemeClr val="tx1"/>
                </a:solidFill>
                <a:latin typeface="Aptos" panose="020B0004020202020204" pitchFamily="34" charset="0"/>
                <a:ea typeface="Calibri" pitchFamily="34" charset="-122"/>
                <a:cs typeface="Calibri" pitchFamily="34" charset="-120"/>
              </a:rPr>
              <a:t>NDA publishes its latest group Strategy, effective March 2026 — a refreshed long-term roadmap prioritising hazard reduction, integration and collaboration across the NDA estate.</a:t>
            </a:r>
            <a:endParaRPr lang="en-US" sz="1050" dirty="0">
              <a:solidFill>
                <a:schemeClr val="tx1"/>
              </a:solidFill>
              <a:latin typeface="Aptos" panose="020B0004020202020204" pitchFamily="34" charset="0"/>
            </a:endParaRPr>
          </a:p>
        </p:txBody>
      </p:sp>
      <p:sp>
        <p:nvSpPr>
          <p:cNvPr id="31" name="Text 25"/>
          <p:cNvSpPr/>
          <p:nvPr/>
        </p:nvSpPr>
        <p:spPr>
          <a:xfrm>
            <a:off x="457200" y="4946904"/>
            <a:ext cx="731520" cy="365760"/>
          </a:xfrm>
          <a:prstGeom prst="rect">
            <a:avLst/>
          </a:prstGeom>
          <a:noFill/>
          <a:ln/>
        </p:spPr>
        <p:txBody>
          <a:bodyPr wrap="square" lIns="0" tIns="0" rIns="0" bIns="0" rtlCol="0" anchor="ctr"/>
          <a:lstStyle/>
          <a:p>
            <a:pPr marL="0" indent="0" algn="r">
              <a:buNone/>
            </a:pPr>
            <a:r>
              <a:rPr lang="en-US" sz="1050" b="1" dirty="0">
                <a:solidFill>
                  <a:schemeClr val="tx1"/>
                </a:solidFill>
                <a:latin typeface="Aptos" panose="020B0004020202020204" pitchFamily="34" charset="0"/>
                <a:ea typeface="Calibri" pitchFamily="34" charset="-122"/>
                <a:cs typeface="Calibri" pitchFamily="34" charset="-120"/>
              </a:rPr>
              <a:t>During '26</a:t>
            </a:r>
            <a:endParaRPr lang="en-US" sz="1050" dirty="0">
              <a:solidFill>
                <a:schemeClr val="tx1"/>
              </a:solidFill>
              <a:latin typeface="Aptos" panose="020B0004020202020204" pitchFamily="34" charset="0"/>
            </a:endParaRPr>
          </a:p>
        </p:txBody>
      </p:sp>
      <p:sp>
        <p:nvSpPr>
          <p:cNvPr id="32" name="Shape 26"/>
          <p:cNvSpPr/>
          <p:nvPr/>
        </p:nvSpPr>
        <p:spPr>
          <a:xfrm>
            <a:off x="1216152" y="5001768"/>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33" name="Text 27"/>
          <p:cNvSpPr/>
          <p:nvPr/>
        </p:nvSpPr>
        <p:spPr>
          <a:xfrm>
            <a:off x="1508760" y="4892040"/>
            <a:ext cx="5943600" cy="630936"/>
          </a:xfrm>
          <a:prstGeom prst="rect">
            <a:avLst/>
          </a:prstGeom>
          <a:noFill/>
          <a:ln/>
        </p:spPr>
        <p:txBody>
          <a:bodyPr wrap="square" lIns="0" tIns="0" rIns="0" bIns="0" rtlCol="0" anchor="t"/>
          <a:lstStyle/>
          <a:p>
            <a:pPr marL="0" indent="0">
              <a:lnSpc>
                <a:spcPct val="100000"/>
              </a:lnSpc>
              <a:buNone/>
            </a:pPr>
            <a:r>
              <a:rPr lang="en-US" sz="1050" dirty="0">
                <a:solidFill>
                  <a:schemeClr val="tx1"/>
                </a:solidFill>
                <a:latin typeface="Aptos" panose="020B0004020202020204" pitchFamily="34" charset="0"/>
                <a:ea typeface="Calibri" pitchFamily="34" charset="-122"/>
                <a:cs typeface="Calibri" pitchFamily="34" charset="-120"/>
              </a:rPr>
              <a:t>Hunterston B becomes the first Advanced Gas-cooled Reactor site to transfer from EDF Energy to the NDA group for decommissioning, with Hinkley Point B to follow — NDA's first significant new mission since creation.</a:t>
            </a:r>
            <a:endParaRPr lang="en-US" sz="1050" dirty="0">
              <a:solidFill>
                <a:schemeClr val="tx1"/>
              </a:solidFill>
              <a:latin typeface="Aptos" panose="020B0004020202020204" pitchFamily="34" charset="0"/>
            </a:endParaRPr>
          </a:p>
        </p:txBody>
      </p:sp>
      <p:sp>
        <p:nvSpPr>
          <p:cNvPr id="34" name="Text 28"/>
          <p:cNvSpPr/>
          <p:nvPr/>
        </p:nvSpPr>
        <p:spPr>
          <a:xfrm>
            <a:off x="457200" y="5605272"/>
            <a:ext cx="731520" cy="365760"/>
          </a:xfrm>
          <a:prstGeom prst="rect">
            <a:avLst/>
          </a:prstGeom>
          <a:noFill/>
          <a:ln/>
        </p:spPr>
        <p:txBody>
          <a:bodyPr wrap="square" lIns="0" tIns="0" rIns="0" bIns="0" rtlCol="0" anchor="ctr"/>
          <a:lstStyle/>
          <a:p>
            <a:pPr marL="0" indent="0" algn="r">
              <a:buNone/>
            </a:pPr>
            <a:r>
              <a:rPr lang="en-US" sz="1050" b="1" dirty="0">
                <a:solidFill>
                  <a:schemeClr val="tx1"/>
                </a:solidFill>
                <a:latin typeface="Aptos" panose="020B0004020202020204" pitchFamily="34" charset="0"/>
                <a:ea typeface="Calibri" pitchFamily="34" charset="-122"/>
                <a:cs typeface="Calibri" pitchFamily="34" charset="-120"/>
              </a:rPr>
              <a:t>21 May</a:t>
            </a:r>
            <a:endParaRPr lang="en-US" sz="1050" dirty="0">
              <a:solidFill>
                <a:schemeClr val="tx1"/>
              </a:solidFill>
              <a:latin typeface="Aptos" panose="020B0004020202020204" pitchFamily="34" charset="0"/>
            </a:endParaRPr>
          </a:p>
        </p:txBody>
      </p:sp>
      <p:sp>
        <p:nvSpPr>
          <p:cNvPr id="35" name="Shape 29"/>
          <p:cNvSpPr/>
          <p:nvPr/>
        </p:nvSpPr>
        <p:spPr>
          <a:xfrm>
            <a:off x="1216152" y="5660136"/>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36" name="Text 30"/>
          <p:cNvSpPr/>
          <p:nvPr/>
        </p:nvSpPr>
        <p:spPr>
          <a:xfrm>
            <a:off x="1508760" y="5550408"/>
            <a:ext cx="5943600" cy="630936"/>
          </a:xfrm>
          <a:prstGeom prst="rect">
            <a:avLst/>
          </a:prstGeom>
          <a:noFill/>
          <a:ln/>
        </p:spPr>
        <p:txBody>
          <a:bodyPr wrap="square" lIns="0" tIns="0" rIns="0" bIns="0" rtlCol="0" anchor="t"/>
          <a:lstStyle/>
          <a:p>
            <a:pPr marL="0" indent="0">
              <a:lnSpc>
                <a:spcPct val="100000"/>
              </a:lnSpc>
              <a:buNone/>
            </a:pPr>
            <a:r>
              <a:rPr lang="en-US" sz="1050" dirty="0">
                <a:solidFill>
                  <a:schemeClr val="tx1"/>
                </a:solidFill>
                <a:latin typeface="Aptos" panose="020B0004020202020204" pitchFamily="34" charset="0"/>
                <a:ea typeface="Calibri" pitchFamily="34" charset="-122"/>
                <a:cs typeface="Calibri" pitchFamily="34" charset="-120"/>
              </a:rPr>
              <a:t>Sellafield's Programme and Project Partners (PPP) marks 7 years, with major projects (SRP, SIXEP Continuity Plant, BEPPS2, LSS1) progressing through construction and design.</a:t>
            </a:r>
            <a:endParaRPr lang="en-US" sz="1050" dirty="0">
              <a:solidFill>
                <a:schemeClr val="tx1"/>
              </a:solidFill>
              <a:latin typeface="Aptos" panose="020B0004020202020204" pitchFamily="34" charset="0"/>
            </a:endParaRPr>
          </a:p>
        </p:txBody>
      </p:sp>
      <p:sp>
        <p:nvSpPr>
          <p:cNvPr id="37" name="Shape 31"/>
          <p:cNvSpPr/>
          <p:nvPr/>
        </p:nvSpPr>
        <p:spPr>
          <a:xfrm>
            <a:off x="7772400" y="2606040"/>
            <a:ext cx="3977640" cy="4048069"/>
          </a:xfrm>
          <a:prstGeom prst="roundRect">
            <a:avLst>
              <a:gd name="adj" fmla="val 2133"/>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38" name="Image 4" descr="preencoded.png"/>
          <p:cNvPicPr>
            <a:picLocks noChangeAspect="1"/>
          </p:cNvPicPr>
          <p:nvPr/>
        </p:nvPicPr>
        <p:blipFill>
          <a:blip r:embed="rId7"/>
          <a:stretch>
            <a:fillRect/>
          </a:stretch>
        </p:blipFill>
        <p:spPr>
          <a:xfrm>
            <a:off x="8001000" y="2641743"/>
            <a:ext cx="329184" cy="329184"/>
          </a:xfrm>
          <a:prstGeom prst="rect">
            <a:avLst/>
          </a:prstGeom>
        </p:spPr>
      </p:pic>
      <p:sp>
        <p:nvSpPr>
          <p:cNvPr id="39" name="Text 32"/>
          <p:cNvSpPr/>
          <p:nvPr/>
        </p:nvSpPr>
        <p:spPr>
          <a:xfrm>
            <a:off x="8430768" y="2641743"/>
            <a:ext cx="3063240" cy="329184"/>
          </a:xfrm>
          <a:prstGeom prst="rect">
            <a:avLst/>
          </a:prstGeom>
          <a:noFill/>
          <a:ln/>
        </p:spPr>
        <p:txBody>
          <a:bodyPr wrap="square" lIns="0" tIns="0" rIns="0" bIns="0" rtlCol="0" anchor="ctr"/>
          <a:lstStyle/>
          <a:p>
            <a:pPr marL="0" indent="0">
              <a:buNone/>
            </a:pPr>
            <a:r>
              <a:rPr lang="en-US" sz="1300" b="1" kern="0" spc="50" dirty="0">
                <a:solidFill>
                  <a:srgbClr val="1FB6A6"/>
                </a:solidFill>
                <a:latin typeface="Aptos" panose="020B0004020202020204" pitchFamily="34" charset="0"/>
                <a:ea typeface="Calibri" pitchFamily="34" charset="-122"/>
                <a:cs typeface="Calibri" pitchFamily="34" charset="-120"/>
              </a:rPr>
              <a:t>WHAT IT MEANS FOR YOU</a:t>
            </a:r>
            <a:endParaRPr lang="en-US" sz="1300" dirty="0">
              <a:latin typeface="Aptos" panose="020B0004020202020204" pitchFamily="34" charset="0"/>
            </a:endParaRPr>
          </a:p>
        </p:txBody>
      </p:sp>
      <p:sp>
        <p:nvSpPr>
          <p:cNvPr id="40" name="Text 33"/>
          <p:cNvSpPr/>
          <p:nvPr/>
        </p:nvSpPr>
        <p:spPr>
          <a:xfrm>
            <a:off x="8046720" y="2992699"/>
            <a:ext cx="3429000" cy="3630168"/>
          </a:xfrm>
          <a:prstGeom prst="rect">
            <a:avLst/>
          </a:prstGeom>
          <a:noFill/>
          <a:ln/>
        </p:spPr>
        <p:txBody>
          <a:bodyPr wrap="square" lIns="0" tIns="0" rIns="0" bIns="0" rtlCol="0" anchor="t"/>
          <a:lstStyle/>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This is the largest, steadiest source of UK nuclear manufacturing demand in this whole briefing series — £1.8bn spent every year, for decades, regardless of how any single SMR programme fares.</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LTi Metaltech's £45m win is a genuine template: a UK fabrication/welding SME became a brand-new Sellafield supplier through open competitive tender, and is now investing locally — proof the door is open to newcomers, not just incumbents.</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The mission is expanding, not winding down: AGR sites transferring in during 2026 open new decades-long site programmes layered on top of existing Sellafield and Magnox work.</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Structured entry points exist: the annual NDA Supply Chain Event (Europe's largest), the cross-estate Shared Services Alliance procurement pipeline, and Sellafield's own new supplier process are all live routes in.</a:t>
            </a:r>
          </a:p>
        </p:txBody>
      </p:sp>
      <p:pic>
        <p:nvPicPr>
          <p:cNvPr id="42" name="Picture 41">
            <a:extLst>
              <a:ext uri="{FF2B5EF4-FFF2-40B4-BE49-F238E27FC236}">
                <a16:creationId xmlns:a16="http://schemas.microsoft.com/office/drawing/2014/main" id="{A2303707-0991-A43B-AD52-FA84DCD94235}"/>
              </a:ext>
            </a:extLst>
          </p:cNvPr>
          <p:cNvPicPr>
            <a:picLocks noChangeAspect="1"/>
          </p:cNvPicPr>
          <p:nvPr/>
        </p:nvPicPr>
        <p:blipFill>
          <a:blip r:embed="rId8"/>
          <a:stretch>
            <a:fillRect/>
          </a:stretch>
        </p:blipFill>
        <p:spPr>
          <a:xfrm>
            <a:off x="351790" y="159729"/>
            <a:ext cx="745490" cy="742555"/>
          </a:xfrm>
          <a:prstGeom prst="rect">
            <a:avLst/>
          </a:prstGeom>
        </p:spPr>
      </p:pic>
      <p:pic>
        <p:nvPicPr>
          <p:cNvPr id="43" name="Picture 42">
            <a:extLst>
              <a:ext uri="{FF2B5EF4-FFF2-40B4-BE49-F238E27FC236}">
                <a16:creationId xmlns:a16="http://schemas.microsoft.com/office/drawing/2014/main" id="{776481CC-D74E-3CF7-2357-FE0298F69266}"/>
              </a:ext>
            </a:extLst>
          </p:cNvPr>
          <p:cNvPicPr>
            <a:picLocks noChangeAspect="1"/>
          </p:cNvPicPr>
          <p:nvPr/>
        </p:nvPicPr>
        <p:blipFill>
          <a:blip r:embed="rId9"/>
          <a:stretch>
            <a:fillRect/>
          </a:stretch>
        </p:blipFill>
        <p:spPr>
          <a:xfrm>
            <a:off x="11089768" y="15704"/>
            <a:ext cx="1069868" cy="1099864"/>
          </a:xfrm>
          <a:prstGeom prst="rect">
            <a:avLst/>
          </a:prstGeom>
        </p:spPr>
      </p:pic>
      <p:sp>
        <p:nvSpPr>
          <p:cNvPr id="44" name="TextBox 43">
            <a:extLst>
              <a:ext uri="{FF2B5EF4-FFF2-40B4-BE49-F238E27FC236}">
                <a16:creationId xmlns:a16="http://schemas.microsoft.com/office/drawing/2014/main" id="{C7D623EC-17A9-8033-B1DA-6FDD72809F1B}"/>
              </a:ext>
            </a:extLst>
          </p:cNvPr>
          <p:cNvSpPr txBox="1"/>
          <p:nvPr/>
        </p:nvSpPr>
        <p:spPr>
          <a:xfrm>
            <a:off x="44118" y="6654109"/>
            <a:ext cx="12152376" cy="200055"/>
          </a:xfrm>
          <a:prstGeom prst="rect">
            <a:avLst/>
          </a:prstGeom>
          <a:noFill/>
        </p:spPr>
        <p:txBody>
          <a:bodyPr wrap="square">
            <a:spAutoFit/>
          </a:bodyPr>
          <a:lstStyle/>
          <a:p>
            <a:pPr algn="ctr"/>
            <a:r>
              <a:rPr lang="en-GB" sz="700" b="1" i="0" u="none" strike="noStrike" noProof="0" dirty="0">
                <a:solidFill>
                  <a:srgbClr val="757575"/>
                </a:solidFill>
                <a:effectLst/>
                <a:latin typeface="Aptos Narrow" panose="020B0004020202020204" pitchFamily="34" charset="0"/>
              </a:rPr>
              <a:t>Commercial in Confidence - This document contains proprietary and commercially sensitive information. It is intended solely for the recipient(s) and should not be disclosed or distributed without written permission from Nuclear Collaboration Ltd (NucCol ltd) Co. no. 15937779 </a:t>
            </a:r>
            <a:r>
              <a:rPr lang="en-GB" sz="700" b="1" i="0" noProof="0" dirty="0">
                <a:solidFill>
                  <a:srgbClr val="000000"/>
                </a:solidFill>
                <a:effectLst/>
                <a:latin typeface="Aptos Narrow" panose="020B0004020202020204" pitchFamily="34" charset="0"/>
              </a:rPr>
              <a:t>​</a:t>
            </a:r>
            <a:endParaRPr lang="en-GB" sz="700" b="1" noProof="0" dirty="0"/>
          </a:p>
        </p:txBody>
      </p:sp>
    </p:spTree>
    <p:extLst>
      <p:ext uri="{BB962C8B-B14F-4D97-AF65-F5344CB8AC3E}">
        <p14:creationId xmlns:p14="http://schemas.microsoft.com/office/powerpoint/2010/main" val="4029963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2233D"/>
          </a:solidFill>
          <a:ln/>
        </p:spPr>
        <p:txBody>
          <a:bodyPr/>
          <a:lstStyle/>
          <a:p>
            <a:endParaRPr lang="en-GB"/>
          </a:p>
        </p:txBody>
      </p:sp>
      <p:sp>
        <p:nvSpPr>
          <p:cNvPr id="3" name="Text 1"/>
          <p:cNvSpPr/>
          <p:nvPr/>
        </p:nvSpPr>
        <p:spPr>
          <a:xfrm>
            <a:off x="457200" y="118872"/>
            <a:ext cx="8869680" cy="384048"/>
          </a:xfrm>
          <a:prstGeom prst="rect">
            <a:avLst/>
          </a:prstGeom>
          <a:noFill/>
          <a:ln/>
        </p:spPr>
        <p:txBody>
          <a:bodyPr wrap="square" lIns="0" tIns="0" rIns="0" bIns="0" rtlCol="0" anchor="ctr"/>
          <a:lstStyle/>
          <a:p>
            <a:pPr marL="0" indent="0">
              <a:buNone/>
            </a:pPr>
            <a:r>
              <a:rPr lang="en-US" b="1" kern="0" spc="150" dirty="0">
                <a:solidFill>
                  <a:srgbClr val="FF0000"/>
                </a:solidFill>
                <a:latin typeface="Calibri" pitchFamily="34" charset="0"/>
                <a:ea typeface="Calibri" pitchFamily="34" charset="-122"/>
                <a:cs typeface="Calibri" pitchFamily="34" charset="-120"/>
              </a:rPr>
              <a:t>UK </a:t>
            </a:r>
            <a:r>
              <a:rPr lang="en-US" sz="1500" b="1" kern="0" spc="150" dirty="0">
                <a:solidFill>
                  <a:srgbClr val="9FB6CC"/>
                </a:solidFill>
                <a:latin typeface="Calibri" pitchFamily="34" charset="0"/>
                <a:ea typeface="Calibri" pitchFamily="34" charset="-122"/>
                <a:cs typeface="Calibri" pitchFamily="34" charset="-120"/>
              </a:rPr>
              <a:t>SUBMARINE DEFENCE PROGRAMMES</a:t>
            </a:r>
            <a:endParaRPr lang="en-US" sz="1500" dirty="0"/>
          </a:p>
        </p:txBody>
      </p:sp>
      <p:sp>
        <p:nvSpPr>
          <p:cNvPr id="4" name="Text 2"/>
          <p:cNvSpPr/>
          <p:nvPr/>
        </p:nvSpPr>
        <p:spPr>
          <a:xfrm>
            <a:off x="457200" y="411480"/>
            <a:ext cx="86868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Programme Overview at a Glance</a:t>
            </a:r>
            <a:endParaRPr lang="en-US" sz="2600" dirty="0"/>
          </a:p>
        </p:txBody>
      </p:sp>
      <p:sp>
        <p:nvSpPr>
          <p:cNvPr id="6" name="Shape 4"/>
          <p:cNvSpPr/>
          <p:nvPr/>
        </p:nvSpPr>
        <p:spPr>
          <a:xfrm>
            <a:off x="5166360" y="1143000"/>
            <a:ext cx="118872" cy="118872"/>
          </a:xfrm>
          <a:prstGeom prst="ellipse">
            <a:avLst/>
          </a:prstGeom>
          <a:solidFill>
            <a:srgbClr val="1E8E5A"/>
          </a:solidFill>
          <a:ln/>
        </p:spPr>
        <p:txBody>
          <a:bodyPr/>
          <a:lstStyle/>
          <a:p>
            <a:endParaRPr lang="en-GB"/>
          </a:p>
        </p:txBody>
      </p:sp>
      <p:sp>
        <p:nvSpPr>
          <p:cNvPr id="7" name="Text 5"/>
          <p:cNvSpPr/>
          <p:nvPr/>
        </p:nvSpPr>
        <p:spPr>
          <a:xfrm>
            <a:off x="5349240" y="1060704"/>
            <a:ext cx="182880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In service / active build</a:t>
            </a:r>
            <a:endParaRPr lang="en-US" sz="1050" dirty="0"/>
          </a:p>
        </p:txBody>
      </p:sp>
      <p:sp>
        <p:nvSpPr>
          <p:cNvPr id="8" name="Shape 6"/>
          <p:cNvSpPr/>
          <p:nvPr/>
        </p:nvSpPr>
        <p:spPr>
          <a:xfrm>
            <a:off x="7543800" y="1143000"/>
            <a:ext cx="118872" cy="118872"/>
          </a:xfrm>
          <a:prstGeom prst="ellipse">
            <a:avLst/>
          </a:prstGeom>
          <a:solidFill>
            <a:srgbClr val="C77B17"/>
          </a:solidFill>
          <a:ln/>
        </p:spPr>
        <p:txBody>
          <a:bodyPr/>
          <a:lstStyle/>
          <a:p>
            <a:endParaRPr lang="en-GB"/>
          </a:p>
        </p:txBody>
      </p:sp>
      <p:sp>
        <p:nvSpPr>
          <p:cNvPr id="9" name="Text 7"/>
          <p:cNvSpPr/>
          <p:nvPr/>
        </p:nvSpPr>
        <p:spPr>
          <a:xfrm>
            <a:off x="7726680" y="1060704"/>
            <a:ext cx="251460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Detailed design / long-lead procurement</a:t>
            </a:r>
            <a:endParaRPr lang="en-US" sz="1050" dirty="0"/>
          </a:p>
        </p:txBody>
      </p:sp>
      <p:sp>
        <p:nvSpPr>
          <p:cNvPr id="10" name="Shape 8"/>
          <p:cNvSpPr/>
          <p:nvPr/>
        </p:nvSpPr>
        <p:spPr>
          <a:xfrm>
            <a:off x="10469880" y="1143000"/>
            <a:ext cx="118872" cy="118872"/>
          </a:xfrm>
          <a:prstGeom prst="ellipse">
            <a:avLst/>
          </a:prstGeom>
          <a:solidFill>
            <a:srgbClr val="6B7785"/>
          </a:solidFill>
          <a:ln/>
        </p:spPr>
        <p:txBody>
          <a:bodyPr/>
          <a:lstStyle/>
          <a:p>
            <a:endParaRPr lang="en-GB"/>
          </a:p>
        </p:txBody>
      </p:sp>
      <p:sp>
        <p:nvSpPr>
          <p:cNvPr id="11" name="Text 9"/>
          <p:cNvSpPr/>
          <p:nvPr/>
        </p:nvSpPr>
        <p:spPr>
          <a:xfrm>
            <a:off x="10652760" y="1060704"/>
            <a:ext cx="160020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Concept / pre-contract</a:t>
            </a:r>
            <a:endParaRPr lang="en-US" sz="1050" dirty="0"/>
          </a:p>
        </p:txBody>
      </p:sp>
      <p:sp>
        <p:nvSpPr>
          <p:cNvPr id="12" name="Shape 10"/>
          <p:cNvSpPr/>
          <p:nvPr/>
        </p:nvSpPr>
        <p:spPr>
          <a:xfrm>
            <a:off x="457200" y="1417320"/>
            <a:ext cx="3588410" cy="4297680"/>
          </a:xfrm>
          <a:prstGeom prst="roundRect">
            <a:avLst>
              <a:gd name="adj" fmla="val 1784"/>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13" name="Shape 11"/>
          <p:cNvSpPr/>
          <p:nvPr/>
        </p:nvSpPr>
        <p:spPr>
          <a:xfrm>
            <a:off x="731520" y="1691640"/>
            <a:ext cx="566928" cy="566928"/>
          </a:xfrm>
          <a:prstGeom prst="ellipse">
            <a:avLst/>
          </a:prstGeom>
          <a:solidFill>
            <a:srgbClr val="1B3358"/>
          </a:solidFill>
          <a:ln/>
        </p:spPr>
        <p:txBody>
          <a:bodyPr/>
          <a:lstStyle/>
          <a:p>
            <a:endParaRPr lang="en-GB"/>
          </a:p>
        </p:txBody>
      </p:sp>
      <p:pic>
        <p:nvPicPr>
          <p:cNvPr id="14" name="Image 0" descr="preencoded.png"/>
          <p:cNvPicPr>
            <a:picLocks noChangeAspect="1"/>
          </p:cNvPicPr>
          <p:nvPr/>
        </p:nvPicPr>
        <p:blipFill>
          <a:blip r:embed="rId3"/>
          <a:stretch>
            <a:fillRect/>
          </a:stretch>
        </p:blipFill>
        <p:spPr>
          <a:xfrm>
            <a:off x="859536" y="1819656"/>
            <a:ext cx="310896" cy="310896"/>
          </a:xfrm>
          <a:prstGeom prst="rect">
            <a:avLst/>
          </a:prstGeom>
        </p:spPr>
      </p:pic>
      <p:sp>
        <p:nvSpPr>
          <p:cNvPr id="15" name="Shape 12"/>
          <p:cNvSpPr/>
          <p:nvPr/>
        </p:nvSpPr>
        <p:spPr>
          <a:xfrm>
            <a:off x="731520" y="2423160"/>
            <a:ext cx="3039770" cy="274320"/>
          </a:xfrm>
          <a:prstGeom prst="roundRect">
            <a:avLst>
              <a:gd name="adj" fmla="val 166667"/>
            </a:avLst>
          </a:prstGeom>
          <a:solidFill>
            <a:srgbClr val="1E8E5A"/>
          </a:solidFill>
          <a:ln/>
        </p:spPr>
        <p:txBody>
          <a:bodyPr/>
          <a:lstStyle/>
          <a:p>
            <a:endParaRPr lang="en-GB"/>
          </a:p>
        </p:txBody>
      </p:sp>
      <p:sp>
        <p:nvSpPr>
          <p:cNvPr id="16" name="Text 13"/>
          <p:cNvSpPr/>
          <p:nvPr/>
        </p:nvSpPr>
        <p:spPr>
          <a:xfrm>
            <a:off x="731520" y="2423160"/>
            <a:ext cx="3039770" cy="274320"/>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ACTIVE BUILD / FINISHING</a:t>
            </a:r>
            <a:endParaRPr lang="en-US" sz="1000" dirty="0"/>
          </a:p>
        </p:txBody>
      </p:sp>
      <p:sp>
        <p:nvSpPr>
          <p:cNvPr id="17" name="Text 14"/>
          <p:cNvSpPr/>
          <p:nvPr/>
        </p:nvSpPr>
        <p:spPr>
          <a:xfrm>
            <a:off x="731520" y="2898648"/>
            <a:ext cx="3039770" cy="457200"/>
          </a:xfrm>
          <a:prstGeom prst="rect">
            <a:avLst/>
          </a:prstGeom>
          <a:noFill/>
          <a:ln/>
        </p:spPr>
        <p:txBody>
          <a:bodyPr wrap="square" lIns="0" tIns="0" rIns="0" bIns="0" rtlCol="0" anchor="t"/>
          <a:lstStyle/>
          <a:p>
            <a:pPr marL="0" indent="0">
              <a:buNone/>
            </a:pPr>
            <a:r>
              <a:rPr lang="en-US" sz="1800" b="1" dirty="0">
                <a:solidFill>
                  <a:srgbClr val="12233D"/>
                </a:solidFill>
                <a:latin typeface="Calibri" pitchFamily="34" charset="0"/>
                <a:ea typeface="Calibri" pitchFamily="34" charset="-122"/>
                <a:cs typeface="Calibri" pitchFamily="34" charset="-120"/>
              </a:rPr>
              <a:t>Astute Class (SSN)</a:t>
            </a:r>
            <a:endParaRPr lang="en-US" sz="1800" dirty="0"/>
          </a:p>
        </p:txBody>
      </p:sp>
      <p:sp>
        <p:nvSpPr>
          <p:cNvPr id="18" name="Text 15"/>
          <p:cNvSpPr/>
          <p:nvPr/>
        </p:nvSpPr>
        <p:spPr>
          <a:xfrm>
            <a:off x="731520" y="3410712"/>
            <a:ext cx="3039770" cy="329184"/>
          </a:xfrm>
          <a:prstGeom prst="rect">
            <a:avLst/>
          </a:prstGeom>
          <a:noFill/>
          <a:ln/>
        </p:spPr>
        <p:txBody>
          <a:bodyPr wrap="square" lIns="0" tIns="0" rIns="0" bIns="0" rtlCol="0" anchor="t"/>
          <a:lstStyle/>
          <a:p>
            <a:pPr marL="0" indent="0">
              <a:buNone/>
            </a:pPr>
            <a:r>
              <a:rPr lang="en-US" sz="1250" b="1" dirty="0">
                <a:solidFill>
                  <a:srgbClr val="5B7A99"/>
                </a:solidFill>
                <a:latin typeface="Calibri" pitchFamily="34" charset="0"/>
                <a:ea typeface="Calibri" pitchFamily="34" charset="-122"/>
                <a:cs typeface="Calibri" pitchFamily="34" charset="-120"/>
              </a:rPr>
              <a:t>7 boats  ·  ~£12bn+ </a:t>
            </a:r>
            <a:r>
              <a:rPr lang="en-US" sz="1250" b="1" dirty="0" err="1">
                <a:solidFill>
                  <a:srgbClr val="5B7A99"/>
                </a:solidFill>
                <a:latin typeface="Calibri" pitchFamily="34" charset="0"/>
                <a:ea typeface="Calibri" pitchFamily="34" charset="-122"/>
                <a:cs typeface="Calibri" pitchFamily="34" charset="-120"/>
              </a:rPr>
              <a:t>programme</a:t>
            </a:r>
            <a:endParaRPr lang="en-US" sz="1250" dirty="0"/>
          </a:p>
        </p:txBody>
      </p:sp>
      <p:sp>
        <p:nvSpPr>
          <p:cNvPr id="19" name="Shape 16"/>
          <p:cNvSpPr/>
          <p:nvPr/>
        </p:nvSpPr>
        <p:spPr>
          <a:xfrm>
            <a:off x="731520" y="3813048"/>
            <a:ext cx="3039770" cy="0"/>
          </a:xfrm>
          <a:prstGeom prst="line">
            <a:avLst/>
          </a:prstGeom>
          <a:noFill/>
          <a:ln w="9525">
            <a:solidFill>
              <a:srgbClr val="D6E0E8"/>
            </a:solidFill>
            <a:prstDash val="solid"/>
          </a:ln>
        </p:spPr>
        <p:txBody>
          <a:bodyPr/>
          <a:lstStyle/>
          <a:p>
            <a:endParaRPr lang="en-GB"/>
          </a:p>
        </p:txBody>
      </p:sp>
      <p:sp>
        <p:nvSpPr>
          <p:cNvPr id="20" name="Text 17"/>
          <p:cNvSpPr/>
          <p:nvPr/>
        </p:nvSpPr>
        <p:spPr>
          <a:xfrm>
            <a:off x="731520" y="3941064"/>
            <a:ext cx="3039770" cy="868680"/>
          </a:xfrm>
          <a:prstGeom prst="rect">
            <a:avLst/>
          </a:prstGeom>
          <a:noFill/>
          <a:ln/>
        </p:spPr>
        <p:txBody>
          <a:bodyPr wrap="square" lIns="0" tIns="0" rIns="0" bIns="0" rtlCol="0" anchor="t"/>
          <a:lstStyle/>
          <a:p>
            <a:pPr marL="0" indent="0">
              <a:lnSpc>
                <a:spcPct val="115000"/>
              </a:lnSpc>
              <a:buNone/>
            </a:pPr>
            <a:r>
              <a:rPr lang="en-US" sz="950" b="1" kern="0" spc="50" dirty="0">
                <a:solidFill>
                  <a:srgbClr val="5B7A99"/>
                </a:solidFill>
                <a:latin typeface="Calibri" pitchFamily="34" charset="0"/>
                <a:ea typeface="Calibri" pitchFamily="34" charset="-122"/>
                <a:cs typeface="Calibri" pitchFamily="34" charset="-120"/>
              </a:rPr>
              <a:t>MILESTONE
</a:t>
            </a:r>
            <a:endParaRPr lang="en-US" sz="950" dirty="0"/>
          </a:p>
          <a:p>
            <a:pPr marL="0" indent="0">
              <a:lnSpc>
                <a:spcPct val="115000"/>
              </a:lnSpc>
              <a:buNone/>
            </a:pPr>
            <a:r>
              <a:rPr lang="en-US" sz="1250" dirty="0">
                <a:solidFill>
                  <a:srgbClr val="12233D"/>
                </a:solidFill>
                <a:latin typeface="Calibri" pitchFamily="34" charset="0"/>
                <a:ea typeface="Calibri" pitchFamily="34" charset="-122"/>
                <a:cs typeface="Calibri" pitchFamily="34" charset="-120"/>
              </a:rPr>
              <a:t>5 in service · Achilles (final boat) enters service 2029</a:t>
            </a:r>
            <a:endParaRPr lang="en-US" sz="950" dirty="0"/>
          </a:p>
        </p:txBody>
      </p:sp>
      <p:sp>
        <p:nvSpPr>
          <p:cNvPr id="21" name="Shape 18"/>
          <p:cNvSpPr/>
          <p:nvPr/>
        </p:nvSpPr>
        <p:spPr>
          <a:xfrm>
            <a:off x="731520" y="4782312"/>
            <a:ext cx="3039770" cy="0"/>
          </a:xfrm>
          <a:prstGeom prst="line">
            <a:avLst/>
          </a:prstGeom>
          <a:noFill/>
          <a:ln w="9525">
            <a:solidFill>
              <a:srgbClr val="D6E0E8"/>
            </a:solidFill>
            <a:prstDash val="solid"/>
          </a:ln>
        </p:spPr>
        <p:txBody>
          <a:bodyPr/>
          <a:lstStyle/>
          <a:p>
            <a:endParaRPr lang="en-GB"/>
          </a:p>
        </p:txBody>
      </p:sp>
      <p:sp>
        <p:nvSpPr>
          <p:cNvPr id="22" name="Text 19"/>
          <p:cNvSpPr/>
          <p:nvPr/>
        </p:nvSpPr>
        <p:spPr>
          <a:xfrm>
            <a:off x="731520" y="4873752"/>
            <a:ext cx="3039770" cy="420624"/>
          </a:xfrm>
          <a:prstGeom prst="rect">
            <a:avLst/>
          </a:prstGeom>
          <a:noFill/>
          <a:ln/>
        </p:spPr>
        <p:txBody>
          <a:bodyPr wrap="square" lIns="0" tIns="0" rIns="0" bIns="0" rtlCol="0" anchor="t"/>
          <a:lstStyle/>
          <a:p>
            <a:pPr marL="0" indent="0">
              <a:lnSpc>
                <a:spcPct val="105000"/>
              </a:lnSpc>
              <a:buNone/>
            </a:pPr>
            <a:r>
              <a:rPr lang="en-US" sz="1000" dirty="0">
                <a:solidFill>
                  <a:srgbClr val="5B6B7C"/>
                </a:solidFill>
                <a:latin typeface="Calibri" pitchFamily="34" charset="0"/>
                <a:ea typeface="Calibri" pitchFamily="34" charset="-122"/>
                <a:cs typeface="Calibri" pitchFamily="34" charset="-120"/>
              </a:rPr>
              <a:t>Drumbeat winding down as Barrow workforce transitions to Dreadnought/AUKUS</a:t>
            </a:r>
            <a:endParaRPr lang="en-US" sz="1000" dirty="0"/>
          </a:p>
        </p:txBody>
      </p:sp>
      <p:sp>
        <p:nvSpPr>
          <p:cNvPr id="23" name="Text 20"/>
          <p:cNvSpPr/>
          <p:nvPr/>
        </p:nvSpPr>
        <p:spPr>
          <a:xfrm>
            <a:off x="731520" y="5404104"/>
            <a:ext cx="3039770" cy="256032"/>
          </a:xfrm>
          <a:prstGeom prst="rect">
            <a:avLst/>
          </a:prstGeom>
          <a:noFill/>
          <a:ln/>
        </p:spPr>
        <p:txBody>
          <a:bodyPr wrap="square" lIns="0" tIns="0" rIns="0" bIns="0" rtlCol="0" anchor="b"/>
          <a:lstStyle/>
          <a:p>
            <a:pPr marL="0" indent="0">
              <a:buNone/>
            </a:pPr>
            <a:r>
              <a:rPr lang="en-US" sz="1100" i="1" dirty="0">
                <a:solidFill>
                  <a:srgbClr val="5B6B7C"/>
                </a:solidFill>
                <a:latin typeface="Calibri" pitchFamily="34" charset="0"/>
                <a:ea typeface="Calibri" pitchFamily="34" charset="-122"/>
                <a:cs typeface="Calibri" pitchFamily="34" charset="-120"/>
              </a:rPr>
              <a:t>BAE Systems · Submarine Delivery Agency</a:t>
            </a:r>
            <a:endParaRPr lang="en-US" sz="1100" dirty="0"/>
          </a:p>
        </p:txBody>
      </p:sp>
      <p:sp>
        <p:nvSpPr>
          <p:cNvPr id="24" name="Shape 21"/>
          <p:cNvSpPr/>
          <p:nvPr/>
        </p:nvSpPr>
        <p:spPr>
          <a:xfrm>
            <a:off x="4301642" y="1417320"/>
            <a:ext cx="3588410" cy="4297680"/>
          </a:xfrm>
          <a:prstGeom prst="roundRect">
            <a:avLst>
              <a:gd name="adj" fmla="val 1784"/>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25" name="Shape 22"/>
          <p:cNvSpPr/>
          <p:nvPr/>
        </p:nvSpPr>
        <p:spPr>
          <a:xfrm>
            <a:off x="4575962" y="1691640"/>
            <a:ext cx="566928" cy="566928"/>
          </a:xfrm>
          <a:prstGeom prst="ellipse">
            <a:avLst/>
          </a:prstGeom>
          <a:solidFill>
            <a:srgbClr val="1B3358"/>
          </a:solidFill>
          <a:ln/>
        </p:spPr>
        <p:txBody>
          <a:bodyPr/>
          <a:lstStyle/>
          <a:p>
            <a:endParaRPr lang="en-GB"/>
          </a:p>
        </p:txBody>
      </p:sp>
      <p:pic>
        <p:nvPicPr>
          <p:cNvPr id="26" name="Image 1" descr="preencoded.png"/>
          <p:cNvPicPr>
            <a:picLocks noChangeAspect="1"/>
          </p:cNvPicPr>
          <p:nvPr/>
        </p:nvPicPr>
        <p:blipFill>
          <a:blip r:embed="rId4"/>
          <a:stretch>
            <a:fillRect/>
          </a:stretch>
        </p:blipFill>
        <p:spPr>
          <a:xfrm>
            <a:off x="4703978" y="1819656"/>
            <a:ext cx="310896" cy="310896"/>
          </a:xfrm>
          <a:prstGeom prst="rect">
            <a:avLst/>
          </a:prstGeom>
        </p:spPr>
      </p:pic>
      <p:sp>
        <p:nvSpPr>
          <p:cNvPr id="27" name="Shape 23"/>
          <p:cNvSpPr/>
          <p:nvPr/>
        </p:nvSpPr>
        <p:spPr>
          <a:xfrm>
            <a:off x="4575962" y="2423160"/>
            <a:ext cx="3039770" cy="274320"/>
          </a:xfrm>
          <a:prstGeom prst="roundRect">
            <a:avLst>
              <a:gd name="adj" fmla="val 166667"/>
            </a:avLst>
          </a:prstGeom>
          <a:solidFill>
            <a:srgbClr val="1E8E5A"/>
          </a:solidFill>
          <a:ln/>
        </p:spPr>
        <p:txBody>
          <a:bodyPr/>
          <a:lstStyle/>
          <a:p>
            <a:endParaRPr lang="en-GB"/>
          </a:p>
        </p:txBody>
      </p:sp>
      <p:sp>
        <p:nvSpPr>
          <p:cNvPr id="28" name="Text 24"/>
          <p:cNvSpPr/>
          <p:nvPr/>
        </p:nvSpPr>
        <p:spPr>
          <a:xfrm>
            <a:off x="4575962" y="2423160"/>
            <a:ext cx="3039770" cy="274320"/>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ACTIVE BUILD</a:t>
            </a:r>
            <a:endParaRPr lang="en-US" sz="1000" dirty="0"/>
          </a:p>
        </p:txBody>
      </p:sp>
      <p:sp>
        <p:nvSpPr>
          <p:cNvPr id="29" name="Text 25"/>
          <p:cNvSpPr/>
          <p:nvPr/>
        </p:nvSpPr>
        <p:spPr>
          <a:xfrm>
            <a:off x="4575962" y="2898648"/>
            <a:ext cx="3039770" cy="457200"/>
          </a:xfrm>
          <a:prstGeom prst="rect">
            <a:avLst/>
          </a:prstGeom>
          <a:noFill/>
          <a:ln/>
        </p:spPr>
        <p:txBody>
          <a:bodyPr wrap="square" lIns="0" tIns="0" rIns="0" bIns="0" rtlCol="0" anchor="t"/>
          <a:lstStyle/>
          <a:p>
            <a:pPr marL="0" indent="0">
              <a:buNone/>
            </a:pPr>
            <a:r>
              <a:rPr lang="en-US" sz="1800" b="1" dirty="0">
                <a:solidFill>
                  <a:srgbClr val="12233D"/>
                </a:solidFill>
                <a:latin typeface="Calibri" pitchFamily="34" charset="0"/>
                <a:ea typeface="Calibri" pitchFamily="34" charset="-122"/>
                <a:cs typeface="Calibri" pitchFamily="34" charset="-120"/>
              </a:rPr>
              <a:t>Dreadnought Class (SSBN)</a:t>
            </a:r>
            <a:endParaRPr lang="en-US" sz="1800" dirty="0"/>
          </a:p>
        </p:txBody>
      </p:sp>
      <p:sp>
        <p:nvSpPr>
          <p:cNvPr id="30" name="Text 26"/>
          <p:cNvSpPr/>
          <p:nvPr/>
        </p:nvSpPr>
        <p:spPr>
          <a:xfrm>
            <a:off x="4575962" y="3410712"/>
            <a:ext cx="3039770" cy="329184"/>
          </a:xfrm>
          <a:prstGeom prst="rect">
            <a:avLst/>
          </a:prstGeom>
          <a:noFill/>
          <a:ln/>
        </p:spPr>
        <p:txBody>
          <a:bodyPr wrap="square" lIns="0" tIns="0" rIns="0" bIns="0" rtlCol="0" anchor="t"/>
          <a:lstStyle/>
          <a:p>
            <a:pPr marL="0" indent="0">
              <a:buNone/>
            </a:pPr>
            <a:r>
              <a:rPr lang="en-US" sz="1250" b="1" dirty="0">
                <a:solidFill>
                  <a:srgbClr val="5B7A99"/>
                </a:solidFill>
                <a:latin typeface="Calibri" pitchFamily="34" charset="0"/>
                <a:ea typeface="Calibri" pitchFamily="34" charset="-122"/>
                <a:cs typeface="Calibri" pitchFamily="34" charset="-120"/>
              </a:rPr>
              <a:t>4 boats  ·  ~£41bn</a:t>
            </a:r>
            <a:endParaRPr lang="en-US" sz="1250" dirty="0"/>
          </a:p>
        </p:txBody>
      </p:sp>
      <p:sp>
        <p:nvSpPr>
          <p:cNvPr id="31" name="Shape 27"/>
          <p:cNvSpPr/>
          <p:nvPr/>
        </p:nvSpPr>
        <p:spPr>
          <a:xfrm>
            <a:off x="4575962" y="3813048"/>
            <a:ext cx="3039770" cy="0"/>
          </a:xfrm>
          <a:prstGeom prst="line">
            <a:avLst/>
          </a:prstGeom>
          <a:noFill/>
          <a:ln w="9525">
            <a:solidFill>
              <a:srgbClr val="D6E0E8"/>
            </a:solidFill>
            <a:prstDash val="solid"/>
          </a:ln>
        </p:spPr>
        <p:txBody>
          <a:bodyPr/>
          <a:lstStyle/>
          <a:p>
            <a:endParaRPr lang="en-GB"/>
          </a:p>
        </p:txBody>
      </p:sp>
      <p:sp>
        <p:nvSpPr>
          <p:cNvPr id="32" name="Text 28"/>
          <p:cNvSpPr/>
          <p:nvPr/>
        </p:nvSpPr>
        <p:spPr>
          <a:xfrm>
            <a:off x="4575962" y="3941064"/>
            <a:ext cx="3039770" cy="868680"/>
          </a:xfrm>
          <a:prstGeom prst="rect">
            <a:avLst/>
          </a:prstGeom>
          <a:noFill/>
          <a:ln/>
        </p:spPr>
        <p:txBody>
          <a:bodyPr wrap="square" lIns="0" tIns="0" rIns="0" bIns="0" rtlCol="0" anchor="t"/>
          <a:lstStyle/>
          <a:p>
            <a:pPr marL="0" indent="0">
              <a:lnSpc>
                <a:spcPct val="115000"/>
              </a:lnSpc>
              <a:buNone/>
            </a:pPr>
            <a:r>
              <a:rPr lang="en-US" sz="950" b="1" kern="0" spc="50" dirty="0">
                <a:solidFill>
                  <a:srgbClr val="5B7A99"/>
                </a:solidFill>
                <a:latin typeface="Calibri" pitchFamily="34" charset="0"/>
                <a:ea typeface="Calibri" pitchFamily="34" charset="-122"/>
                <a:cs typeface="Calibri" pitchFamily="34" charset="-120"/>
              </a:rPr>
              <a:t>MILESTONE
</a:t>
            </a:r>
            <a:endParaRPr lang="en-US" sz="950" dirty="0"/>
          </a:p>
          <a:p>
            <a:pPr marL="0" indent="0">
              <a:lnSpc>
                <a:spcPct val="115000"/>
              </a:lnSpc>
              <a:buNone/>
            </a:pPr>
            <a:r>
              <a:rPr lang="en-US" sz="1250" dirty="0">
                <a:solidFill>
                  <a:srgbClr val="12233D"/>
                </a:solidFill>
                <a:latin typeface="Calibri" pitchFamily="34" charset="0"/>
                <a:ea typeface="Calibri" pitchFamily="34" charset="-122"/>
                <a:cs typeface="Calibri" pitchFamily="34" charset="-120"/>
              </a:rPr>
              <a:t>All 4 boats cut · first in service early 2030s · CASD to 2060s</a:t>
            </a:r>
            <a:endParaRPr lang="en-US" sz="950" dirty="0"/>
          </a:p>
        </p:txBody>
      </p:sp>
      <p:sp>
        <p:nvSpPr>
          <p:cNvPr id="33" name="Shape 29"/>
          <p:cNvSpPr/>
          <p:nvPr/>
        </p:nvSpPr>
        <p:spPr>
          <a:xfrm>
            <a:off x="4575962" y="4782312"/>
            <a:ext cx="3039770" cy="0"/>
          </a:xfrm>
          <a:prstGeom prst="line">
            <a:avLst/>
          </a:prstGeom>
          <a:noFill/>
          <a:ln w="9525">
            <a:solidFill>
              <a:srgbClr val="D6E0E8"/>
            </a:solidFill>
            <a:prstDash val="solid"/>
          </a:ln>
        </p:spPr>
        <p:txBody>
          <a:bodyPr/>
          <a:lstStyle/>
          <a:p>
            <a:endParaRPr lang="en-GB"/>
          </a:p>
        </p:txBody>
      </p:sp>
      <p:sp>
        <p:nvSpPr>
          <p:cNvPr id="34" name="Text 30"/>
          <p:cNvSpPr/>
          <p:nvPr/>
        </p:nvSpPr>
        <p:spPr>
          <a:xfrm>
            <a:off x="4575962" y="4873752"/>
            <a:ext cx="3039770" cy="420624"/>
          </a:xfrm>
          <a:prstGeom prst="rect">
            <a:avLst/>
          </a:prstGeom>
          <a:noFill/>
          <a:ln/>
        </p:spPr>
        <p:txBody>
          <a:bodyPr wrap="square" lIns="0" tIns="0" rIns="0" bIns="0" rtlCol="0" anchor="t"/>
          <a:lstStyle/>
          <a:p>
            <a:pPr marL="0" indent="0">
              <a:lnSpc>
                <a:spcPct val="105000"/>
              </a:lnSpc>
              <a:buNone/>
            </a:pPr>
            <a:r>
              <a:rPr lang="en-US" sz="1000" dirty="0">
                <a:solidFill>
                  <a:srgbClr val="5B6B7C"/>
                </a:solidFill>
                <a:latin typeface="Calibri" pitchFamily="34" charset="0"/>
                <a:ea typeface="Calibri" pitchFamily="34" charset="-122"/>
                <a:cs typeface="Calibri" pitchFamily="34" charset="-120"/>
              </a:rPr>
              <a:t>Continuous-at-sea deterrent replacement; UK's single largest defence </a:t>
            </a:r>
            <a:r>
              <a:rPr lang="en-US" sz="1000" dirty="0" err="1">
                <a:solidFill>
                  <a:srgbClr val="5B6B7C"/>
                </a:solidFill>
                <a:latin typeface="Calibri" pitchFamily="34" charset="0"/>
                <a:ea typeface="Calibri" pitchFamily="34" charset="-122"/>
                <a:cs typeface="Calibri" pitchFamily="34" charset="-120"/>
              </a:rPr>
              <a:t>programme</a:t>
            </a:r>
            <a:endParaRPr lang="en-US" sz="1000" dirty="0"/>
          </a:p>
        </p:txBody>
      </p:sp>
      <p:sp>
        <p:nvSpPr>
          <p:cNvPr id="35" name="Text 31"/>
          <p:cNvSpPr/>
          <p:nvPr/>
        </p:nvSpPr>
        <p:spPr>
          <a:xfrm>
            <a:off x="4575962" y="5404104"/>
            <a:ext cx="3039770" cy="256032"/>
          </a:xfrm>
          <a:prstGeom prst="rect">
            <a:avLst/>
          </a:prstGeom>
          <a:noFill/>
          <a:ln/>
        </p:spPr>
        <p:txBody>
          <a:bodyPr wrap="square" lIns="0" tIns="0" rIns="0" bIns="0" rtlCol="0" anchor="b"/>
          <a:lstStyle/>
          <a:p>
            <a:pPr marL="0" indent="0">
              <a:buNone/>
            </a:pPr>
            <a:r>
              <a:rPr lang="en-US" sz="1100" i="1" dirty="0">
                <a:solidFill>
                  <a:srgbClr val="5B6B7C"/>
                </a:solidFill>
                <a:latin typeface="Calibri" pitchFamily="34" charset="0"/>
                <a:ea typeface="Calibri" pitchFamily="34" charset="-122"/>
                <a:cs typeface="Calibri" pitchFamily="34" charset="-120"/>
              </a:rPr>
              <a:t>BAE Systems · Rolls-Royce · Submarine Delivery Agency</a:t>
            </a:r>
            <a:endParaRPr lang="en-US" sz="1100" dirty="0"/>
          </a:p>
        </p:txBody>
      </p:sp>
      <p:sp>
        <p:nvSpPr>
          <p:cNvPr id="36" name="Shape 32"/>
          <p:cNvSpPr/>
          <p:nvPr/>
        </p:nvSpPr>
        <p:spPr>
          <a:xfrm>
            <a:off x="8146085" y="1417320"/>
            <a:ext cx="3588410" cy="4297680"/>
          </a:xfrm>
          <a:prstGeom prst="roundRect">
            <a:avLst>
              <a:gd name="adj" fmla="val 1784"/>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37" name="Shape 33"/>
          <p:cNvSpPr/>
          <p:nvPr/>
        </p:nvSpPr>
        <p:spPr>
          <a:xfrm>
            <a:off x="8420405" y="1691640"/>
            <a:ext cx="566928" cy="566928"/>
          </a:xfrm>
          <a:prstGeom prst="ellipse">
            <a:avLst/>
          </a:prstGeom>
          <a:solidFill>
            <a:srgbClr val="1B3358"/>
          </a:solidFill>
          <a:ln/>
        </p:spPr>
        <p:txBody>
          <a:bodyPr/>
          <a:lstStyle/>
          <a:p>
            <a:endParaRPr lang="en-GB"/>
          </a:p>
        </p:txBody>
      </p:sp>
      <p:pic>
        <p:nvPicPr>
          <p:cNvPr id="38" name="Image 2" descr="preencoded.png"/>
          <p:cNvPicPr>
            <a:picLocks noChangeAspect="1"/>
          </p:cNvPicPr>
          <p:nvPr/>
        </p:nvPicPr>
        <p:blipFill>
          <a:blip r:embed="rId5"/>
          <a:stretch>
            <a:fillRect/>
          </a:stretch>
        </p:blipFill>
        <p:spPr>
          <a:xfrm>
            <a:off x="8548421" y="1819656"/>
            <a:ext cx="310896" cy="310896"/>
          </a:xfrm>
          <a:prstGeom prst="rect">
            <a:avLst/>
          </a:prstGeom>
        </p:spPr>
      </p:pic>
      <p:sp>
        <p:nvSpPr>
          <p:cNvPr id="39" name="Shape 34"/>
          <p:cNvSpPr/>
          <p:nvPr/>
        </p:nvSpPr>
        <p:spPr>
          <a:xfrm>
            <a:off x="8420405" y="2423160"/>
            <a:ext cx="3039770" cy="274320"/>
          </a:xfrm>
          <a:prstGeom prst="roundRect">
            <a:avLst>
              <a:gd name="adj" fmla="val 166667"/>
            </a:avLst>
          </a:prstGeom>
          <a:solidFill>
            <a:srgbClr val="C77B17"/>
          </a:solidFill>
          <a:ln/>
        </p:spPr>
        <p:txBody>
          <a:bodyPr/>
          <a:lstStyle/>
          <a:p>
            <a:endParaRPr lang="en-GB"/>
          </a:p>
        </p:txBody>
      </p:sp>
      <p:sp>
        <p:nvSpPr>
          <p:cNvPr id="40" name="Text 35"/>
          <p:cNvSpPr/>
          <p:nvPr/>
        </p:nvSpPr>
        <p:spPr>
          <a:xfrm>
            <a:off x="8420405" y="2423160"/>
            <a:ext cx="3039770" cy="274320"/>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DESIGN / LONG-LEAD</a:t>
            </a:r>
            <a:endParaRPr lang="en-US" sz="1000" dirty="0"/>
          </a:p>
        </p:txBody>
      </p:sp>
      <p:sp>
        <p:nvSpPr>
          <p:cNvPr id="41" name="Text 36"/>
          <p:cNvSpPr/>
          <p:nvPr/>
        </p:nvSpPr>
        <p:spPr>
          <a:xfrm>
            <a:off x="8420405" y="2898648"/>
            <a:ext cx="3039770" cy="457200"/>
          </a:xfrm>
          <a:prstGeom prst="rect">
            <a:avLst/>
          </a:prstGeom>
          <a:noFill/>
          <a:ln/>
        </p:spPr>
        <p:txBody>
          <a:bodyPr wrap="square" lIns="0" tIns="0" rIns="0" bIns="0" rtlCol="0" anchor="t"/>
          <a:lstStyle/>
          <a:p>
            <a:pPr marL="0" indent="0">
              <a:buNone/>
            </a:pPr>
            <a:r>
              <a:rPr lang="en-US" sz="1800" b="1" dirty="0">
                <a:solidFill>
                  <a:srgbClr val="12233D"/>
                </a:solidFill>
                <a:latin typeface="Calibri" pitchFamily="34" charset="0"/>
                <a:ea typeface="Calibri" pitchFamily="34" charset="-122"/>
                <a:cs typeface="Calibri" pitchFamily="34" charset="-120"/>
              </a:rPr>
              <a:t>SSN-AUKUS (SSN)</a:t>
            </a:r>
            <a:endParaRPr lang="en-US" sz="1800" dirty="0"/>
          </a:p>
        </p:txBody>
      </p:sp>
      <p:sp>
        <p:nvSpPr>
          <p:cNvPr id="42" name="Text 37"/>
          <p:cNvSpPr/>
          <p:nvPr/>
        </p:nvSpPr>
        <p:spPr>
          <a:xfrm>
            <a:off x="8420405" y="3410712"/>
            <a:ext cx="3039770" cy="329184"/>
          </a:xfrm>
          <a:prstGeom prst="rect">
            <a:avLst/>
          </a:prstGeom>
          <a:noFill/>
          <a:ln/>
        </p:spPr>
        <p:txBody>
          <a:bodyPr wrap="square" lIns="0" tIns="0" rIns="0" bIns="0" rtlCol="0" anchor="t"/>
          <a:lstStyle/>
          <a:p>
            <a:pPr marL="0" indent="0">
              <a:buNone/>
            </a:pPr>
            <a:r>
              <a:rPr lang="en-US" sz="1250" b="1" dirty="0">
                <a:solidFill>
                  <a:srgbClr val="5B7A99"/>
                </a:solidFill>
                <a:latin typeface="Calibri" pitchFamily="34" charset="0"/>
                <a:ea typeface="Calibri" pitchFamily="34" charset="-122"/>
                <a:cs typeface="Calibri" pitchFamily="34" charset="-120"/>
              </a:rPr>
              <a:t>Up to 12 boats (UK)  ·  ~£2.5bn/boat</a:t>
            </a:r>
            <a:endParaRPr lang="en-US" sz="1250" dirty="0"/>
          </a:p>
        </p:txBody>
      </p:sp>
      <p:sp>
        <p:nvSpPr>
          <p:cNvPr id="43" name="Shape 38"/>
          <p:cNvSpPr/>
          <p:nvPr/>
        </p:nvSpPr>
        <p:spPr>
          <a:xfrm>
            <a:off x="8420405" y="3813048"/>
            <a:ext cx="3039770" cy="0"/>
          </a:xfrm>
          <a:prstGeom prst="line">
            <a:avLst/>
          </a:prstGeom>
          <a:noFill/>
          <a:ln w="9525">
            <a:solidFill>
              <a:srgbClr val="D6E0E8"/>
            </a:solidFill>
            <a:prstDash val="solid"/>
          </a:ln>
        </p:spPr>
        <p:txBody>
          <a:bodyPr/>
          <a:lstStyle/>
          <a:p>
            <a:endParaRPr lang="en-GB"/>
          </a:p>
        </p:txBody>
      </p:sp>
      <p:sp>
        <p:nvSpPr>
          <p:cNvPr id="44" name="Text 39"/>
          <p:cNvSpPr/>
          <p:nvPr/>
        </p:nvSpPr>
        <p:spPr>
          <a:xfrm>
            <a:off x="8420405" y="3941064"/>
            <a:ext cx="3039770" cy="868680"/>
          </a:xfrm>
          <a:prstGeom prst="rect">
            <a:avLst/>
          </a:prstGeom>
          <a:noFill/>
          <a:ln/>
        </p:spPr>
        <p:txBody>
          <a:bodyPr wrap="square" lIns="0" tIns="0" rIns="0" bIns="0" rtlCol="0" anchor="t"/>
          <a:lstStyle/>
          <a:p>
            <a:pPr marL="0" indent="0">
              <a:lnSpc>
                <a:spcPct val="115000"/>
              </a:lnSpc>
              <a:buNone/>
            </a:pPr>
            <a:r>
              <a:rPr lang="en-US" sz="950" b="1" kern="0" spc="50" dirty="0">
                <a:solidFill>
                  <a:srgbClr val="5B7A99"/>
                </a:solidFill>
                <a:latin typeface="Calibri" pitchFamily="34" charset="0"/>
                <a:ea typeface="Calibri" pitchFamily="34" charset="-122"/>
                <a:cs typeface="Calibri" pitchFamily="34" charset="-120"/>
              </a:rPr>
              <a:t>MILESTONE
</a:t>
            </a:r>
            <a:endParaRPr lang="en-US" sz="950" dirty="0"/>
          </a:p>
          <a:p>
            <a:pPr marL="0" indent="0">
              <a:lnSpc>
                <a:spcPct val="115000"/>
              </a:lnSpc>
              <a:buNone/>
            </a:pPr>
            <a:r>
              <a:rPr lang="en-US" sz="1250" dirty="0">
                <a:solidFill>
                  <a:srgbClr val="12233D"/>
                </a:solidFill>
                <a:latin typeface="Calibri" pitchFamily="34" charset="0"/>
                <a:ea typeface="Calibri" pitchFamily="34" charset="-122"/>
                <a:cs typeface="Calibri" pitchFamily="34" charset="-120"/>
              </a:rPr>
              <a:t>D2L2 design phase · first UK boat delivered late 2030s</a:t>
            </a:r>
            <a:endParaRPr lang="en-US" sz="950" dirty="0"/>
          </a:p>
        </p:txBody>
      </p:sp>
      <p:sp>
        <p:nvSpPr>
          <p:cNvPr id="45" name="Shape 40"/>
          <p:cNvSpPr/>
          <p:nvPr/>
        </p:nvSpPr>
        <p:spPr>
          <a:xfrm>
            <a:off x="8420405" y="4782312"/>
            <a:ext cx="3039770" cy="0"/>
          </a:xfrm>
          <a:prstGeom prst="line">
            <a:avLst/>
          </a:prstGeom>
          <a:noFill/>
          <a:ln w="9525">
            <a:solidFill>
              <a:srgbClr val="D6E0E8"/>
            </a:solidFill>
            <a:prstDash val="solid"/>
          </a:ln>
        </p:spPr>
        <p:txBody>
          <a:bodyPr/>
          <a:lstStyle/>
          <a:p>
            <a:endParaRPr lang="en-GB"/>
          </a:p>
        </p:txBody>
      </p:sp>
      <p:sp>
        <p:nvSpPr>
          <p:cNvPr id="46" name="Text 41"/>
          <p:cNvSpPr/>
          <p:nvPr/>
        </p:nvSpPr>
        <p:spPr>
          <a:xfrm>
            <a:off x="8420405" y="4873752"/>
            <a:ext cx="3039770" cy="420624"/>
          </a:xfrm>
          <a:prstGeom prst="rect">
            <a:avLst/>
          </a:prstGeom>
          <a:noFill/>
          <a:ln/>
        </p:spPr>
        <p:txBody>
          <a:bodyPr wrap="square" lIns="0" tIns="0" rIns="0" bIns="0" rtlCol="0" anchor="t"/>
          <a:lstStyle/>
          <a:p>
            <a:pPr marL="0" indent="0">
              <a:lnSpc>
                <a:spcPct val="105000"/>
              </a:lnSpc>
              <a:buNone/>
            </a:pPr>
            <a:r>
              <a:rPr lang="en-US" sz="1000" dirty="0">
                <a:solidFill>
                  <a:srgbClr val="5B6B7C"/>
                </a:solidFill>
                <a:latin typeface="Calibri" pitchFamily="34" charset="0"/>
                <a:ea typeface="Calibri" pitchFamily="34" charset="-122"/>
                <a:cs typeface="Calibri" pitchFamily="34" charset="-120"/>
              </a:rPr>
              <a:t>Barrow infrastructure investment cited as a </a:t>
            </a:r>
            <a:r>
              <a:rPr lang="en-US" sz="1000" dirty="0" err="1">
                <a:solidFill>
                  <a:srgbClr val="5B6B7C"/>
                </a:solidFill>
                <a:latin typeface="Calibri" pitchFamily="34" charset="0"/>
                <a:ea typeface="Calibri" pitchFamily="34" charset="-122"/>
                <a:cs typeface="Calibri" pitchFamily="34" charset="-120"/>
              </a:rPr>
              <a:t>programme</a:t>
            </a:r>
            <a:r>
              <a:rPr lang="en-US" sz="1000" dirty="0">
                <a:solidFill>
                  <a:srgbClr val="5B6B7C"/>
                </a:solidFill>
                <a:latin typeface="Calibri" pitchFamily="34" charset="0"/>
                <a:ea typeface="Calibri" pitchFamily="34" charset="-122"/>
                <a:cs typeface="Calibri" pitchFamily="34" charset="-120"/>
              </a:rPr>
              <a:t> risk by Defence Committee</a:t>
            </a:r>
            <a:endParaRPr lang="en-US" sz="1000" dirty="0"/>
          </a:p>
        </p:txBody>
      </p:sp>
      <p:sp>
        <p:nvSpPr>
          <p:cNvPr id="47" name="Text 42"/>
          <p:cNvSpPr/>
          <p:nvPr/>
        </p:nvSpPr>
        <p:spPr>
          <a:xfrm>
            <a:off x="8420405" y="5404104"/>
            <a:ext cx="3039770" cy="256032"/>
          </a:xfrm>
          <a:prstGeom prst="rect">
            <a:avLst/>
          </a:prstGeom>
          <a:noFill/>
          <a:ln/>
        </p:spPr>
        <p:txBody>
          <a:bodyPr wrap="square" lIns="0" tIns="0" rIns="0" bIns="0" rtlCol="0" anchor="b"/>
          <a:lstStyle/>
          <a:p>
            <a:pPr marL="0" indent="0">
              <a:buNone/>
            </a:pPr>
            <a:r>
              <a:rPr lang="en-US" sz="1100" i="1" dirty="0">
                <a:solidFill>
                  <a:srgbClr val="5B6B7C"/>
                </a:solidFill>
                <a:latin typeface="Calibri" pitchFamily="34" charset="0"/>
                <a:ea typeface="Calibri" pitchFamily="34" charset="-122"/>
                <a:cs typeface="Calibri" pitchFamily="34" charset="-120"/>
              </a:rPr>
              <a:t>BAE Systems · Rolls-Royce · Babcock</a:t>
            </a:r>
            <a:endParaRPr lang="en-US" sz="1100" dirty="0"/>
          </a:p>
        </p:txBody>
      </p:sp>
    </p:spTree>
    <p:extLst>
      <p:ext uri="{BB962C8B-B14F-4D97-AF65-F5344CB8AC3E}">
        <p14:creationId xmlns:p14="http://schemas.microsoft.com/office/powerpoint/2010/main" val="1550785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12233D"/>
          </a:solidFill>
          <a:ln/>
        </p:spPr>
        <p:txBody>
          <a:bodyPr/>
          <a:lstStyle/>
          <a:p>
            <a:endParaRPr lang="en-GB"/>
          </a:p>
        </p:txBody>
      </p:sp>
      <p:sp>
        <p:nvSpPr>
          <p:cNvPr id="3" name="Text 1"/>
          <p:cNvSpPr/>
          <p:nvPr/>
        </p:nvSpPr>
        <p:spPr>
          <a:xfrm>
            <a:off x="457200" y="100584"/>
            <a:ext cx="8869680" cy="347472"/>
          </a:xfrm>
          <a:prstGeom prst="rect">
            <a:avLst/>
          </a:prstGeom>
          <a:noFill/>
          <a:ln/>
        </p:spPr>
        <p:txBody>
          <a:bodyPr wrap="square" lIns="0" tIns="0" rIns="0" bIns="0" rtlCol="0" anchor="ctr"/>
          <a:lstStyle/>
          <a:p>
            <a:pPr marL="0" indent="0">
              <a:buNone/>
            </a:pPr>
            <a:r>
              <a:rPr lang="en-US" b="1" kern="0" spc="150" dirty="0">
                <a:solidFill>
                  <a:srgbClr val="FF0000"/>
                </a:solidFill>
                <a:latin typeface="Calibri" pitchFamily="34" charset="0"/>
                <a:ea typeface="Calibri" pitchFamily="34" charset="-122"/>
                <a:cs typeface="Calibri" pitchFamily="34" charset="-120"/>
              </a:rPr>
              <a:t>UK</a:t>
            </a:r>
            <a:r>
              <a:rPr lang="en-US" sz="1400" b="1" kern="0" spc="150" dirty="0">
                <a:solidFill>
                  <a:srgbClr val="9FB6CC"/>
                </a:solidFill>
                <a:latin typeface="Calibri" pitchFamily="34" charset="0"/>
                <a:ea typeface="Calibri" pitchFamily="34" charset="-122"/>
                <a:cs typeface="Calibri" pitchFamily="34" charset="-120"/>
              </a:rPr>
              <a:t> SUBMARINE DEFENCE PROGRAMMES</a:t>
            </a:r>
            <a:endParaRPr lang="en-US" sz="1400" dirty="0"/>
          </a:p>
        </p:txBody>
      </p:sp>
      <p:sp>
        <p:nvSpPr>
          <p:cNvPr id="4" name="Text 2"/>
          <p:cNvSpPr/>
          <p:nvPr/>
        </p:nvSpPr>
        <p:spPr>
          <a:xfrm>
            <a:off x="457200" y="384048"/>
            <a:ext cx="886968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Build &amp; Delivery Timeline, 2026–2045+</a:t>
            </a:r>
            <a:endParaRPr lang="en-US" sz="2400" dirty="0"/>
          </a:p>
        </p:txBody>
      </p:sp>
      <p:sp>
        <p:nvSpPr>
          <p:cNvPr id="6" name="Shape 4"/>
          <p:cNvSpPr/>
          <p:nvPr/>
        </p:nvSpPr>
        <p:spPr>
          <a:xfrm>
            <a:off x="5532120" y="1060704"/>
            <a:ext cx="118872" cy="118872"/>
          </a:xfrm>
          <a:prstGeom prst="ellipse">
            <a:avLst/>
          </a:prstGeom>
          <a:solidFill>
            <a:srgbClr val="1E8E5A"/>
          </a:solidFill>
          <a:ln/>
        </p:spPr>
        <p:txBody>
          <a:bodyPr/>
          <a:lstStyle/>
          <a:p>
            <a:endParaRPr lang="en-GB"/>
          </a:p>
        </p:txBody>
      </p:sp>
      <p:sp>
        <p:nvSpPr>
          <p:cNvPr id="7" name="Text 5"/>
          <p:cNvSpPr/>
          <p:nvPr/>
        </p:nvSpPr>
        <p:spPr>
          <a:xfrm>
            <a:off x="5715000" y="978408"/>
            <a:ext cx="182880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In service / active build</a:t>
            </a:r>
            <a:endParaRPr lang="en-US" sz="950" dirty="0"/>
          </a:p>
        </p:txBody>
      </p:sp>
      <p:sp>
        <p:nvSpPr>
          <p:cNvPr id="8" name="Shape 6"/>
          <p:cNvSpPr/>
          <p:nvPr/>
        </p:nvSpPr>
        <p:spPr>
          <a:xfrm>
            <a:off x="7726680" y="1060704"/>
            <a:ext cx="118872" cy="118872"/>
          </a:xfrm>
          <a:prstGeom prst="ellipse">
            <a:avLst/>
          </a:prstGeom>
          <a:solidFill>
            <a:srgbClr val="C77B17"/>
          </a:solidFill>
          <a:ln/>
        </p:spPr>
        <p:txBody>
          <a:bodyPr/>
          <a:lstStyle/>
          <a:p>
            <a:endParaRPr lang="en-GB"/>
          </a:p>
        </p:txBody>
      </p:sp>
      <p:sp>
        <p:nvSpPr>
          <p:cNvPr id="9" name="Text 7"/>
          <p:cNvSpPr/>
          <p:nvPr/>
        </p:nvSpPr>
        <p:spPr>
          <a:xfrm>
            <a:off x="7909560" y="978408"/>
            <a:ext cx="242316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Detailed design / long-lead procurement</a:t>
            </a:r>
            <a:endParaRPr lang="en-US" sz="950" dirty="0"/>
          </a:p>
        </p:txBody>
      </p:sp>
      <p:sp>
        <p:nvSpPr>
          <p:cNvPr id="10" name="Shape 8"/>
          <p:cNvSpPr/>
          <p:nvPr/>
        </p:nvSpPr>
        <p:spPr>
          <a:xfrm>
            <a:off x="10561320" y="1060704"/>
            <a:ext cx="118872" cy="118872"/>
          </a:xfrm>
          <a:prstGeom prst="ellipse">
            <a:avLst/>
          </a:prstGeom>
          <a:solidFill>
            <a:srgbClr val="6B7785"/>
          </a:solidFill>
          <a:ln/>
        </p:spPr>
        <p:txBody>
          <a:bodyPr/>
          <a:lstStyle/>
          <a:p>
            <a:endParaRPr lang="en-GB"/>
          </a:p>
        </p:txBody>
      </p:sp>
      <p:sp>
        <p:nvSpPr>
          <p:cNvPr id="11" name="Text 9"/>
          <p:cNvSpPr/>
          <p:nvPr/>
        </p:nvSpPr>
        <p:spPr>
          <a:xfrm>
            <a:off x="10744200" y="978408"/>
            <a:ext cx="150876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Concept / pre-contract</a:t>
            </a:r>
            <a:endParaRPr lang="en-US" sz="950" dirty="0"/>
          </a:p>
        </p:txBody>
      </p:sp>
      <p:sp>
        <p:nvSpPr>
          <p:cNvPr id="12" name="Shape 10"/>
          <p:cNvSpPr/>
          <p:nvPr/>
        </p:nvSpPr>
        <p:spPr>
          <a:xfrm>
            <a:off x="2514600" y="1453896"/>
            <a:ext cx="0" cy="4489704"/>
          </a:xfrm>
          <a:prstGeom prst="line">
            <a:avLst/>
          </a:prstGeom>
          <a:noFill/>
          <a:ln w="9525">
            <a:solidFill>
              <a:srgbClr val="E3E9EF"/>
            </a:solidFill>
            <a:prstDash val="solid"/>
          </a:ln>
        </p:spPr>
        <p:txBody>
          <a:bodyPr/>
          <a:lstStyle/>
          <a:p>
            <a:endParaRPr lang="en-GB"/>
          </a:p>
        </p:txBody>
      </p:sp>
      <p:sp>
        <p:nvSpPr>
          <p:cNvPr id="13" name="Text 11"/>
          <p:cNvSpPr/>
          <p:nvPr/>
        </p:nvSpPr>
        <p:spPr>
          <a:xfrm>
            <a:off x="2148840" y="5980176"/>
            <a:ext cx="73152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2026</a:t>
            </a:r>
            <a:endParaRPr lang="en-US" sz="950" dirty="0"/>
          </a:p>
        </p:txBody>
      </p:sp>
      <p:sp>
        <p:nvSpPr>
          <p:cNvPr id="14" name="Shape 12"/>
          <p:cNvSpPr/>
          <p:nvPr/>
        </p:nvSpPr>
        <p:spPr>
          <a:xfrm>
            <a:off x="3972827" y="1453896"/>
            <a:ext cx="0" cy="4489704"/>
          </a:xfrm>
          <a:prstGeom prst="line">
            <a:avLst/>
          </a:prstGeom>
          <a:noFill/>
          <a:ln w="9525">
            <a:solidFill>
              <a:srgbClr val="E3E9EF"/>
            </a:solidFill>
            <a:prstDash val="solid"/>
          </a:ln>
        </p:spPr>
        <p:txBody>
          <a:bodyPr/>
          <a:lstStyle/>
          <a:p>
            <a:endParaRPr lang="en-GB"/>
          </a:p>
        </p:txBody>
      </p:sp>
      <p:sp>
        <p:nvSpPr>
          <p:cNvPr id="15" name="Text 13"/>
          <p:cNvSpPr/>
          <p:nvPr/>
        </p:nvSpPr>
        <p:spPr>
          <a:xfrm>
            <a:off x="3607067" y="5980176"/>
            <a:ext cx="73152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2029</a:t>
            </a:r>
            <a:endParaRPr lang="en-US" sz="950" dirty="0"/>
          </a:p>
        </p:txBody>
      </p:sp>
      <p:sp>
        <p:nvSpPr>
          <p:cNvPr id="16" name="Shape 14"/>
          <p:cNvSpPr/>
          <p:nvPr/>
        </p:nvSpPr>
        <p:spPr>
          <a:xfrm>
            <a:off x="5431055" y="1453896"/>
            <a:ext cx="0" cy="4489704"/>
          </a:xfrm>
          <a:prstGeom prst="line">
            <a:avLst/>
          </a:prstGeom>
          <a:noFill/>
          <a:ln w="9525">
            <a:solidFill>
              <a:srgbClr val="E3E9EF"/>
            </a:solidFill>
            <a:prstDash val="solid"/>
          </a:ln>
        </p:spPr>
        <p:txBody>
          <a:bodyPr/>
          <a:lstStyle/>
          <a:p>
            <a:endParaRPr lang="en-GB"/>
          </a:p>
        </p:txBody>
      </p:sp>
      <p:sp>
        <p:nvSpPr>
          <p:cNvPr id="17" name="Text 15"/>
          <p:cNvSpPr/>
          <p:nvPr/>
        </p:nvSpPr>
        <p:spPr>
          <a:xfrm>
            <a:off x="5065295" y="5980176"/>
            <a:ext cx="73152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2032</a:t>
            </a:r>
            <a:endParaRPr lang="en-US" sz="950" dirty="0"/>
          </a:p>
        </p:txBody>
      </p:sp>
      <p:sp>
        <p:nvSpPr>
          <p:cNvPr id="18" name="Shape 16"/>
          <p:cNvSpPr/>
          <p:nvPr/>
        </p:nvSpPr>
        <p:spPr>
          <a:xfrm>
            <a:off x="6889282" y="1453896"/>
            <a:ext cx="0" cy="4489704"/>
          </a:xfrm>
          <a:prstGeom prst="line">
            <a:avLst/>
          </a:prstGeom>
          <a:noFill/>
          <a:ln w="9525">
            <a:solidFill>
              <a:srgbClr val="E3E9EF"/>
            </a:solidFill>
            <a:prstDash val="solid"/>
          </a:ln>
        </p:spPr>
        <p:txBody>
          <a:bodyPr/>
          <a:lstStyle/>
          <a:p>
            <a:endParaRPr lang="en-GB"/>
          </a:p>
        </p:txBody>
      </p:sp>
      <p:sp>
        <p:nvSpPr>
          <p:cNvPr id="19" name="Text 17"/>
          <p:cNvSpPr/>
          <p:nvPr/>
        </p:nvSpPr>
        <p:spPr>
          <a:xfrm>
            <a:off x="6523522" y="5980176"/>
            <a:ext cx="73152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2035</a:t>
            </a:r>
            <a:endParaRPr lang="en-US" sz="950" dirty="0"/>
          </a:p>
        </p:txBody>
      </p:sp>
      <p:sp>
        <p:nvSpPr>
          <p:cNvPr id="20" name="Shape 18"/>
          <p:cNvSpPr/>
          <p:nvPr/>
        </p:nvSpPr>
        <p:spPr>
          <a:xfrm>
            <a:off x="8347509" y="1453896"/>
            <a:ext cx="0" cy="4489704"/>
          </a:xfrm>
          <a:prstGeom prst="line">
            <a:avLst/>
          </a:prstGeom>
          <a:noFill/>
          <a:ln w="9525">
            <a:solidFill>
              <a:srgbClr val="E3E9EF"/>
            </a:solidFill>
            <a:prstDash val="solid"/>
          </a:ln>
        </p:spPr>
        <p:txBody>
          <a:bodyPr/>
          <a:lstStyle/>
          <a:p>
            <a:endParaRPr lang="en-GB"/>
          </a:p>
        </p:txBody>
      </p:sp>
      <p:sp>
        <p:nvSpPr>
          <p:cNvPr id="21" name="Text 19"/>
          <p:cNvSpPr/>
          <p:nvPr/>
        </p:nvSpPr>
        <p:spPr>
          <a:xfrm>
            <a:off x="7981749" y="5980176"/>
            <a:ext cx="73152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2038</a:t>
            </a:r>
            <a:endParaRPr lang="en-US" sz="950" dirty="0"/>
          </a:p>
        </p:txBody>
      </p:sp>
      <p:sp>
        <p:nvSpPr>
          <p:cNvPr id="22" name="Shape 20"/>
          <p:cNvSpPr/>
          <p:nvPr/>
        </p:nvSpPr>
        <p:spPr>
          <a:xfrm>
            <a:off x="9805737" y="1453896"/>
            <a:ext cx="0" cy="4489704"/>
          </a:xfrm>
          <a:prstGeom prst="line">
            <a:avLst/>
          </a:prstGeom>
          <a:noFill/>
          <a:ln w="9525">
            <a:solidFill>
              <a:srgbClr val="E3E9EF"/>
            </a:solidFill>
            <a:prstDash val="solid"/>
          </a:ln>
        </p:spPr>
        <p:txBody>
          <a:bodyPr/>
          <a:lstStyle/>
          <a:p>
            <a:endParaRPr lang="en-GB"/>
          </a:p>
        </p:txBody>
      </p:sp>
      <p:sp>
        <p:nvSpPr>
          <p:cNvPr id="23" name="Text 21"/>
          <p:cNvSpPr/>
          <p:nvPr/>
        </p:nvSpPr>
        <p:spPr>
          <a:xfrm>
            <a:off x="9439977" y="5980176"/>
            <a:ext cx="73152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2041</a:t>
            </a:r>
            <a:endParaRPr lang="en-US" sz="950" dirty="0"/>
          </a:p>
        </p:txBody>
      </p:sp>
      <p:sp>
        <p:nvSpPr>
          <p:cNvPr id="24" name="Shape 22"/>
          <p:cNvSpPr/>
          <p:nvPr/>
        </p:nvSpPr>
        <p:spPr>
          <a:xfrm>
            <a:off x="11750040" y="1453896"/>
            <a:ext cx="0" cy="4489704"/>
          </a:xfrm>
          <a:prstGeom prst="line">
            <a:avLst/>
          </a:prstGeom>
          <a:noFill/>
          <a:ln w="9525">
            <a:solidFill>
              <a:srgbClr val="E3E9EF"/>
            </a:solidFill>
            <a:prstDash val="solid"/>
          </a:ln>
        </p:spPr>
        <p:txBody>
          <a:bodyPr/>
          <a:lstStyle/>
          <a:p>
            <a:endParaRPr lang="en-GB"/>
          </a:p>
        </p:txBody>
      </p:sp>
      <p:sp>
        <p:nvSpPr>
          <p:cNvPr id="25" name="Text 23"/>
          <p:cNvSpPr/>
          <p:nvPr/>
        </p:nvSpPr>
        <p:spPr>
          <a:xfrm>
            <a:off x="11384280" y="5980176"/>
            <a:ext cx="73152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2045+</a:t>
            </a:r>
            <a:endParaRPr lang="en-US" sz="950" dirty="0"/>
          </a:p>
        </p:txBody>
      </p:sp>
      <p:sp>
        <p:nvSpPr>
          <p:cNvPr id="26" name="Shape 24"/>
          <p:cNvSpPr/>
          <p:nvPr/>
        </p:nvSpPr>
        <p:spPr>
          <a:xfrm>
            <a:off x="365760" y="1453896"/>
            <a:ext cx="2011680" cy="4489704"/>
          </a:xfrm>
          <a:prstGeom prst="rect">
            <a:avLst/>
          </a:prstGeom>
          <a:solidFill>
            <a:srgbClr val="FFFFFF"/>
          </a:solidFill>
          <a:ln/>
        </p:spPr>
        <p:txBody>
          <a:bodyPr/>
          <a:lstStyle/>
          <a:p>
            <a:endParaRPr lang="en-GB"/>
          </a:p>
        </p:txBody>
      </p:sp>
      <p:sp>
        <p:nvSpPr>
          <p:cNvPr id="27" name="Shape 25"/>
          <p:cNvSpPr/>
          <p:nvPr/>
        </p:nvSpPr>
        <p:spPr>
          <a:xfrm>
            <a:off x="365760" y="1508760"/>
            <a:ext cx="11795760" cy="1325880"/>
          </a:xfrm>
          <a:prstGeom prst="rect">
            <a:avLst/>
          </a:prstGeom>
          <a:solidFill>
            <a:srgbClr val="F7FAFC"/>
          </a:solidFill>
          <a:ln/>
        </p:spPr>
        <p:txBody>
          <a:bodyPr/>
          <a:lstStyle/>
          <a:p>
            <a:endParaRPr lang="en-GB"/>
          </a:p>
        </p:txBody>
      </p:sp>
      <p:sp>
        <p:nvSpPr>
          <p:cNvPr id="28" name="Shape 26"/>
          <p:cNvSpPr/>
          <p:nvPr/>
        </p:nvSpPr>
        <p:spPr>
          <a:xfrm>
            <a:off x="457200" y="1943100"/>
            <a:ext cx="457200" cy="457200"/>
          </a:xfrm>
          <a:prstGeom prst="ellipse">
            <a:avLst/>
          </a:prstGeom>
          <a:solidFill>
            <a:srgbClr val="1B3358"/>
          </a:solidFill>
          <a:ln/>
        </p:spPr>
        <p:txBody>
          <a:bodyPr/>
          <a:lstStyle/>
          <a:p>
            <a:endParaRPr lang="en-GB"/>
          </a:p>
        </p:txBody>
      </p:sp>
      <p:pic>
        <p:nvPicPr>
          <p:cNvPr id="29" name="Image 0" descr="preencoded.png"/>
          <p:cNvPicPr>
            <a:picLocks noChangeAspect="1"/>
          </p:cNvPicPr>
          <p:nvPr/>
        </p:nvPicPr>
        <p:blipFill>
          <a:blip r:embed="rId3"/>
          <a:stretch>
            <a:fillRect/>
          </a:stretch>
        </p:blipFill>
        <p:spPr>
          <a:xfrm>
            <a:off x="548640" y="2034540"/>
            <a:ext cx="274320" cy="274320"/>
          </a:xfrm>
          <a:prstGeom prst="rect">
            <a:avLst/>
          </a:prstGeom>
        </p:spPr>
      </p:pic>
      <p:sp>
        <p:nvSpPr>
          <p:cNvPr id="30" name="Text 27"/>
          <p:cNvSpPr/>
          <p:nvPr/>
        </p:nvSpPr>
        <p:spPr>
          <a:xfrm>
            <a:off x="1005840" y="1600200"/>
            <a:ext cx="1417320" cy="548640"/>
          </a:xfrm>
          <a:prstGeom prst="rect">
            <a:avLst/>
          </a:prstGeom>
          <a:noFill/>
          <a:ln/>
        </p:spPr>
        <p:txBody>
          <a:bodyPr wrap="square" lIns="0" tIns="0" rIns="0" bIns="0" rtlCol="0" anchor="t"/>
          <a:lstStyle/>
          <a:p>
            <a:pPr marL="0" indent="0">
              <a:lnSpc>
                <a:spcPct val="100000"/>
              </a:lnSpc>
              <a:buNone/>
            </a:pPr>
            <a:r>
              <a:rPr lang="en-US" sz="1300" b="1" dirty="0">
                <a:solidFill>
                  <a:srgbClr val="12233D"/>
                </a:solidFill>
                <a:latin typeface="Calibri" pitchFamily="34" charset="0"/>
                <a:ea typeface="Calibri" pitchFamily="34" charset="-122"/>
                <a:cs typeface="Calibri" pitchFamily="34" charset="-120"/>
              </a:rPr>
              <a:t>Astute Class (SSN)</a:t>
            </a:r>
            <a:endParaRPr lang="en-US" sz="1300" dirty="0"/>
          </a:p>
        </p:txBody>
      </p:sp>
      <p:sp>
        <p:nvSpPr>
          <p:cNvPr id="31" name="Text 28"/>
          <p:cNvSpPr/>
          <p:nvPr/>
        </p:nvSpPr>
        <p:spPr>
          <a:xfrm>
            <a:off x="1005840" y="2322576"/>
            <a:ext cx="1417320" cy="457200"/>
          </a:xfrm>
          <a:prstGeom prst="rect">
            <a:avLst/>
          </a:prstGeom>
          <a:noFill/>
          <a:ln/>
        </p:spPr>
        <p:txBody>
          <a:bodyPr wrap="square" lIns="0" tIns="0" rIns="0" bIns="0" rtlCol="0" anchor="b"/>
          <a:lstStyle/>
          <a:p>
            <a:pPr marL="0" indent="0">
              <a:lnSpc>
                <a:spcPct val="100000"/>
              </a:lnSpc>
              <a:buNone/>
            </a:pPr>
            <a:r>
              <a:rPr lang="en-US" sz="760" i="1" dirty="0">
                <a:solidFill>
                  <a:srgbClr val="5B6B7C"/>
                </a:solidFill>
                <a:latin typeface="Calibri" pitchFamily="34" charset="0"/>
                <a:ea typeface="Calibri" pitchFamily="34" charset="-122"/>
                <a:cs typeface="Calibri" pitchFamily="34" charset="-120"/>
              </a:rPr>
              <a:t>7 boats · ~£12bn+ </a:t>
            </a:r>
            <a:r>
              <a:rPr lang="en-US" sz="760" i="1" dirty="0" err="1">
                <a:solidFill>
                  <a:srgbClr val="5B6B7C"/>
                </a:solidFill>
                <a:latin typeface="Calibri" pitchFamily="34" charset="0"/>
                <a:ea typeface="Calibri" pitchFamily="34" charset="-122"/>
                <a:cs typeface="Calibri" pitchFamily="34" charset="-120"/>
              </a:rPr>
              <a:t>programme</a:t>
            </a:r>
            <a:r>
              <a:rPr lang="en-US" sz="760" i="1" dirty="0">
                <a:solidFill>
                  <a:srgbClr val="5B6B7C"/>
                </a:solidFill>
                <a:latin typeface="Calibri" pitchFamily="34" charset="0"/>
                <a:ea typeface="Calibri" pitchFamily="34" charset="-122"/>
                <a:cs typeface="Calibri" pitchFamily="34" charset="-120"/>
              </a:rPr>
              <a:t> · BAE Systems · Submarine Delivery Agency</a:t>
            </a:r>
            <a:endParaRPr lang="en-US" sz="760" dirty="0"/>
          </a:p>
        </p:txBody>
      </p:sp>
      <p:sp>
        <p:nvSpPr>
          <p:cNvPr id="32" name="Shape 29"/>
          <p:cNvSpPr/>
          <p:nvPr/>
        </p:nvSpPr>
        <p:spPr>
          <a:xfrm>
            <a:off x="2514600" y="2171700"/>
            <a:ext cx="9235440" cy="0"/>
          </a:xfrm>
          <a:prstGeom prst="line">
            <a:avLst/>
          </a:prstGeom>
          <a:noFill/>
          <a:ln w="6350">
            <a:solidFill>
              <a:srgbClr val="E3E9EF"/>
            </a:solidFill>
            <a:prstDash val="dash"/>
          </a:ln>
        </p:spPr>
        <p:txBody>
          <a:bodyPr/>
          <a:lstStyle/>
          <a:p>
            <a:endParaRPr lang="en-GB"/>
          </a:p>
        </p:txBody>
      </p:sp>
      <p:sp>
        <p:nvSpPr>
          <p:cNvPr id="33" name="Shape 30"/>
          <p:cNvSpPr/>
          <p:nvPr/>
        </p:nvSpPr>
        <p:spPr>
          <a:xfrm>
            <a:off x="2514600" y="2043684"/>
            <a:ext cx="1458227" cy="256032"/>
          </a:xfrm>
          <a:prstGeom prst="roundRect">
            <a:avLst>
              <a:gd name="adj" fmla="val 17857"/>
            </a:avLst>
          </a:prstGeom>
          <a:solidFill>
            <a:srgbClr val="1E8E5A"/>
          </a:solidFill>
          <a:ln/>
        </p:spPr>
        <p:txBody>
          <a:bodyPr/>
          <a:lstStyle/>
          <a:p>
            <a:endParaRPr lang="en-GB"/>
          </a:p>
        </p:txBody>
      </p:sp>
      <p:sp>
        <p:nvSpPr>
          <p:cNvPr id="34" name="Shape 31"/>
          <p:cNvSpPr/>
          <p:nvPr/>
        </p:nvSpPr>
        <p:spPr>
          <a:xfrm>
            <a:off x="2693630" y="2107692"/>
            <a:ext cx="128016" cy="128016"/>
          </a:xfrm>
          <a:prstGeom prst="diamond">
            <a:avLst/>
          </a:prstGeom>
          <a:solidFill>
            <a:srgbClr val="FFFFFF"/>
          </a:solidFill>
          <a:ln w="22860">
            <a:solidFill>
              <a:srgbClr val="1E8E5A"/>
            </a:solidFill>
            <a:prstDash val="solid"/>
          </a:ln>
        </p:spPr>
        <p:txBody>
          <a:bodyPr/>
          <a:lstStyle/>
          <a:p>
            <a:endParaRPr lang="en-GB"/>
          </a:p>
        </p:txBody>
      </p:sp>
      <p:sp>
        <p:nvSpPr>
          <p:cNvPr id="35" name="Text 32"/>
          <p:cNvSpPr/>
          <p:nvPr/>
        </p:nvSpPr>
        <p:spPr>
          <a:xfrm>
            <a:off x="2148840" y="1600200"/>
            <a:ext cx="2468880" cy="274320"/>
          </a:xfrm>
          <a:prstGeom prst="rect">
            <a:avLst/>
          </a:prstGeom>
          <a:noFill/>
          <a:ln/>
        </p:spPr>
        <p:txBody>
          <a:bodyPr wrap="square" lIns="0" tIns="0" rIns="0" bIns="0" rtlCol="0" anchor="ctr"/>
          <a:lstStyle/>
          <a:p>
            <a:pPr marL="0" indent="0" algn="ctr">
              <a:buNone/>
            </a:pPr>
            <a:r>
              <a:rPr lang="en-US" sz="780" b="1" dirty="0">
                <a:solidFill>
                  <a:srgbClr val="1E8E5A"/>
                </a:solidFill>
                <a:latin typeface="Calibri" pitchFamily="34" charset="0"/>
                <a:ea typeface="Calibri" pitchFamily="34" charset="-122"/>
                <a:cs typeface="Calibri" pitchFamily="34" charset="-120"/>
              </a:rPr>
              <a:t>5 boats in service · Agamemnon in trials</a:t>
            </a:r>
            <a:endParaRPr lang="en-US" sz="780" dirty="0"/>
          </a:p>
        </p:txBody>
      </p:sp>
      <p:sp>
        <p:nvSpPr>
          <p:cNvPr id="36" name="Shape 33"/>
          <p:cNvSpPr/>
          <p:nvPr/>
        </p:nvSpPr>
        <p:spPr>
          <a:xfrm>
            <a:off x="3908819" y="2107692"/>
            <a:ext cx="128016" cy="128016"/>
          </a:xfrm>
          <a:prstGeom prst="diamond">
            <a:avLst/>
          </a:prstGeom>
          <a:solidFill>
            <a:srgbClr val="FFFFFF"/>
          </a:solidFill>
          <a:ln w="22860">
            <a:solidFill>
              <a:srgbClr val="1E8E5A"/>
            </a:solidFill>
            <a:prstDash val="solid"/>
          </a:ln>
        </p:spPr>
        <p:txBody>
          <a:bodyPr/>
          <a:lstStyle/>
          <a:p>
            <a:endParaRPr lang="en-GB"/>
          </a:p>
        </p:txBody>
      </p:sp>
      <p:sp>
        <p:nvSpPr>
          <p:cNvPr id="37" name="Text 34"/>
          <p:cNvSpPr/>
          <p:nvPr/>
        </p:nvSpPr>
        <p:spPr>
          <a:xfrm>
            <a:off x="2738387" y="2377440"/>
            <a:ext cx="2468880" cy="274320"/>
          </a:xfrm>
          <a:prstGeom prst="rect">
            <a:avLst/>
          </a:prstGeom>
          <a:noFill/>
          <a:ln/>
        </p:spPr>
        <p:txBody>
          <a:bodyPr wrap="square" lIns="0" tIns="0" rIns="0" bIns="0" rtlCol="0" anchor="ctr"/>
          <a:lstStyle/>
          <a:p>
            <a:pPr marL="0" indent="0" algn="ctr">
              <a:buNone/>
            </a:pPr>
            <a:r>
              <a:rPr lang="en-US" sz="780" b="1" dirty="0">
                <a:solidFill>
                  <a:srgbClr val="1E8E5A"/>
                </a:solidFill>
                <a:latin typeface="Calibri" pitchFamily="34" charset="0"/>
                <a:ea typeface="Calibri" pitchFamily="34" charset="-122"/>
                <a:cs typeface="Calibri" pitchFamily="34" charset="-120"/>
              </a:rPr>
              <a:t>HMS Achilles (boat 7, final) enters service</a:t>
            </a:r>
            <a:endParaRPr lang="en-US" sz="780" dirty="0"/>
          </a:p>
        </p:txBody>
      </p:sp>
      <p:sp>
        <p:nvSpPr>
          <p:cNvPr id="38" name="Shape 35"/>
          <p:cNvSpPr/>
          <p:nvPr/>
        </p:nvSpPr>
        <p:spPr>
          <a:xfrm>
            <a:off x="457200" y="3470148"/>
            <a:ext cx="457200" cy="457200"/>
          </a:xfrm>
          <a:prstGeom prst="ellipse">
            <a:avLst/>
          </a:prstGeom>
          <a:solidFill>
            <a:srgbClr val="1B3358"/>
          </a:solidFill>
          <a:ln/>
        </p:spPr>
        <p:txBody>
          <a:bodyPr/>
          <a:lstStyle/>
          <a:p>
            <a:endParaRPr lang="en-GB"/>
          </a:p>
        </p:txBody>
      </p:sp>
      <p:pic>
        <p:nvPicPr>
          <p:cNvPr id="39" name="Image 1" descr="preencoded.png"/>
          <p:cNvPicPr>
            <a:picLocks noChangeAspect="1"/>
          </p:cNvPicPr>
          <p:nvPr/>
        </p:nvPicPr>
        <p:blipFill>
          <a:blip r:embed="rId4"/>
          <a:stretch>
            <a:fillRect/>
          </a:stretch>
        </p:blipFill>
        <p:spPr>
          <a:xfrm>
            <a:off x="548640" y="3561588"/>
            <a:ext cx="274320" cy="274320"/>
          </a:xfrm>
          <a:prstGeom prst="rect">
            <a:avLst/>
          </a:prstGeom>
        </p:spPr>
      </p:pic>
      <p:sp>
        <p:nvSpPr>
          <p:cNvPr id="40" name="Text 36"/>
          <p:cNvSpPr/>
          <p:nvPr/>
        </p:nvSpPr>
        <p:spPr>
          <a:xfrm>
            <a:off x="1005840" y="3127248"/>
            <a:ext cx="1417320" cy="548640"/>
          </a:xfrm>
          <a:prstGeom prst="rect">
            <a:avLst/>
          </a:prstGeom>
          <a:noFill/>
          <a:ln/>
        </p:spPr>
        <p:txBody>
          <a:bodyPr wrap="square" lIns="0" tIns="0" rIns="0" bIns="0" rtlCol="0" anchor="t"/>
          <a:lstStyle/>
          <a:p>
            <a:pPr marL="0" indent="0">
              <a:lnSpc>
                <a:spcPct val="100000"/>
              </a:lnSpc>
              <a:buNone/>
            </a:pPr>
            <a:r>
              <a:rPr lang="en-US" sz="1300" b="1" dirty="0">
                <a:solidFill>
                  <a:srgbClr val="12233D"/>
                </a:solidFill>
                <a:latin typeface="Calibri" pitchFamily="34" charset="0"/>
                <a:ea typeface="Calibri" pitchFamily="34" charset="-122"/>
                <a:cs typeface="Calibri" pitchFamily="34" charset="-120"/>
              </a:rPr>
              <a:t>Dreadnought Class (SSBN)</a:t>
            </a:r>
            <a:endParaRPr lang="en-US" sz="1300" dirty="0"/>
          </a:p>
        </p:txBody>
      </p:sp>
      <p:sp>
        <p:nvSpPr>
          <p:cNvPr id="41" name="Text 37"/>
          <p:cNvSpPr/>
          <p:nvPr/>
        </p:nvSpPr>
        <p:spPr>
          <a:xfrm>
            <a:off x="1005840" y="3849624"/>
            <a:ext cx="1417320" cy="457200"/>
          </a:xfrm>
          <a:prstGeom prst="rect">
            <a:avLst/>
          </a:prstGeom>
          <a:noFill/>
          <a:ln/>
        </p:spPr>
        <p:txBody>
          <a:bodyPr wrap="square" lIns="0" tIns="0" rIns="0" bIns="0" rtlCol="0" anchor="b"/>
          <a:lstStyle/>
          <a:p>
            <a:pPr marL="0" indent="0">
              <a:lnSpc>
                <a:spcPct val="100000"/>
              </a:lnSpc>
              <a:buNone/>
            </a:pPr>
            <a:r>
              <a:rPr lang="en-US" sz="760" i="1" dirty="0">
                <a:solidFill>
                  <a:srgbClr val="5B6B7C"/>
                </a:solidFill>
                <a:latin typeface="Calibri" pitchFamily="34" charset="0"/>
                <a:ea typeface="Calibri" pitchFamily="34" charset="-122"/>
                <a:cs typeface="Calibri" pitchFamily="34" charset="-120"/>
              </a:rPr>
              <a:t>4 boats · ~£41bn · BAE Systems · Rolls-Royce · Submarine Delivery Agency</a:t>
            </a:r>
            <a:endParaRPr lang="en-US" sz="760" dirty="0"/>
          </a:p>
        </p:txBody>
      </p:sp>
      <p:sp>
        <p:nvSpPr>
          <p:cNvPr id="42" name="Shape 38"/>
          <p:cNvSpPr/>
          <p:nvPr/>
        </p:nvSpPr>
        <p:spPr>
          <a:xfrm>
            <a:off x="2514600" y="3698748"/>
            <a:ext cx="9235440" cy="0"/>
          </a:xfrm>
          <a:prstGeom prst="line">
            <a:avLst/>
          </a:prstGeom>
          <a:noFill/>
          <a:ln w="6350">
            <a:solidFill>
              <a:srgbClr val="E3E9EF"/>
            </a:solidFill>
            <a:prstDash val="dash"/>
          </a:ln>
        </p:spPr>
        <p:txBody>
          <a:bodyPr/>
          <a:lstStyle/>
          <a:p>
            <a:endParaRPr lang="en-GB"/>
          </a:p>
        </p:txBody>
      </p:sp>
      <p:sp>
        <p:nvSpPr>
          <p:cNvPr id="43" name="Shape 39"/>
          <p:cNvSpPr/>
          <p:nvPr/>
        </p:nvSpPr>
        <p:spPr>
          <a:xfrm>
            <a:off x="2514600" y="3570732"/>
            <a:ext cx="2916455" cy="256032"/>
          </a:xfrm>
          <a:prstGeom prst="roundRect">
            <a:avLst>
              <a:gd name="adj" fmla="val 17857"/>
            </a:avLst>
          </a:prstGeom>
          <a:solidFill>
            <a:srgbClr val="1E8E5A"/>
          </a:solidFill>
          <a:ln/>
        </p:spPr>
        <p:txBody>
          <a:bodyPr/>
          <a:lstStyle/>
          <a:p>
            <a:endParaRPr lang="en-GB"/>
          </a:p>
        </p:txBody>
      </p:sp>
      <p:sp>
        <p:nvSpPr>
          <p:cNvPr id="44" name="Shape 40"/>
          <p:cNvSpPr/>
          <p:nvPr/>
        </p:nvSpPr>
        <p:spPr>
          <a:xfrm>
            <a:off x="5431055" y="3570732"/>
            <a:ext cx="3888606" cy="256032"/>
          </a:xfrm>
          <a:prstGeom prst="roundRect">
            <a:avLst>
              <a:gd name="adj" fmla="val 17857"/>
            </a:avLst>
          </a:prstGeom>
          <a:solidFill>
            <a:srgbClr val="1E8E5A"/>
          </a:solidFill>
          <a:ln/>
        </p:spPr>
        <p:txBody>
          <a:bodyPr/>
          <a:lstStyle/>
          <a:p>
            <a:endParaRPr lang="en-GB"/>
          </a:p>
        </p:txBody>
      </p:sp>
      <p:sp>
        <p:nvSpPr>
          <p:cNvPr id="45" name="Shape 41"/>
          <p:cNvSpPr/>
          <p:nvPr/>
        </p:nvSpPr>
        <p:spPr>
          <a:xfrm>
            <a:off x="2693630" y="3634740"/>
            <a:ext cx="128016" cy="128016"/>
          </a:xfrm>
          <a:prstGeom prst="diamond">
            <a:avLst/>
          </a:prstGeom>
          <a:solidFill>
            <a:srgbClr val="FFFFFF"/>
          </a:solidFill>
          <a:ln w="22860">
            <a:solidFill>
              <a:srgbClr val="1E8E5A"/>
            </a:solidFill>
            <a:prstDash val="solid"/>
          </a:ln>
        </p:spPr>
        <p:txBody>
          <a:bodyPr/>
          <a:lstStyle/>
          <a:p>
            <a:endParaRPr lang="en-GB"/>
          </a:p>
        </p:txBody>
      </p:sp>
      <p:sp>
        <p:nvSpPr>
          <p:cNvPr id="46" name="Text 42"/>
          <p:cNvSpPr/>
          <p:nvPr/>
        </p:nvSpPr>
        <p:spPr>
          <a:xfrm>
            <a:off x="2148840" y="3127248"/>
            <a:ext cx="2468880" cy="274320"/>
          </a:xfrm>
          <a:prstGeom prst="rect">
            <a:avLst/>
          </a:prstGeom>
          <a:noFill/>
          <a:ln/>
        </p:spPr>
        <p:txBody>
          <a:bodyPr wrap="square" lIns="0" tIns="0" rIns="0" bIns="0" rtlCol="0" anchor="ctr"/>
          <a:lstStyle/>
          <a:p>
            <a:pPr marL="0" indent="0" algn="ctr">
              <a:buNone/>
            </a:pPr>
            <a:r>
              <a:rPr lang="en-US" sz="780" b="1" dirty="0">
                <a:solidFill>
                  <a:srgbClr val="1E8E5A"/>
                </a:solidFill>
                <a:latin typeface="Calibri" pitchFamily="34" charset="0"/>
                <a:ea typeface="Calibri" pitchFamily="34" charset="-122"/>
                <a:cs typeface="Calibri" pitchFamily="34" charset="-120"/>
              </a:rPr>
              <a:t>All 4 boats cut/in build · KGV steel cut Sep-25</a:t>
            </a:r>
            <a:endParaRPr lang="en-US" sz="780" dirty="0"/>
          </a:p>
        </p:txBody>
      </p:sp>
      <p:sp>
        <p:nvSpPr>
          <p:cNvPr id="47" name="Shape 43"/>
          <p:cNvSpPr/>
          <p:nvPr/>
        </p:nvSpPr>
        <p:spPr>
          <a:xfrm>
            <a:off x="5367047" y="3634740"/>
            <a:ext cx="128016" cy="128016"/>
          </a:xfrm>
          <a:prstGeom prst="diamond">
            <a:avLst/>
          </a:prstGeom>
          <a:solidFill>
            <a:srgbClr val="FFFFFF"/>
          </a:solidFill>
          <a:ln w="22860">
            <a:solidFill>
              <a:srgbClr val="1E8E5A"/>
            </a:solidFill>
            <a:prstDash val="solid"/>
          </a:ln>
        </p:spPr>
        <p:txBody>
          <a:bodyPr/>
          <a:lstStyle/>
          <a:p>
            <a:endParaRPr lang="en-GB"/>
          </a:p>
        </p:txBody>
      </p:sp>
      <p:sp>
        <p:nvSpPr>
          <p:cNvPr id="48" name="Text 44"/>
          <p:cNvSpPr/>
          <p:nvPr/>
        </p:nvSpPr>
        <p:spPr>
          <a:xfrm>
            <a:off x="4196615" y="3904488"/>
            <a:ext cx="2468880" cy="274320"/>
          </a:xfrm>
          <a:prstGeom prst="rect">
            <a:avLst/>
          </a:prstGeom>
          <a:noFill/>
          <a:ln/>
        </p:spPr>
        <p:txBody>
          <a:bodyPr wrap="square" lIns="0" tIns="0" rIns="0" bIns="0" rtlCol="0" anchor="ctr"/>
          <a:lstStyle/>
          <a:p>
            <a:pPr marL="0" indent="0" algn="ctr">
              <a:buNone/>
            </a:pPr>
            <a:r>
              <a:rPr lang="en-US" sz="780" b="1" dirty="0">
                <a:solidFill>
                  <a:srgbClr val="1E8E5A"/>
                </a:solidFill>
                <a:latin typeface="Calibri" pitchFamily="34" charset="0"/>
                <a:ea typeface="Calibri" pitchFamily="34" charset="-122"/>
                <a:cs typeface="Calibri" pitchFamily="34" charset="-120"/>
              </a:rPr>
              <a:t>HMS Dreadnought enters service (early 2030s)</a:t>
            </a:r>
            <a:endParaRPr lang="en-US" sz="780" dirty="0"/>
          </a:p>
        </p:txBody>
      </p:sp>
      <p:sp>
        <p:nvSpPr>
          <p:cNvPr id="49" name="Shape 45"/>
          <p:cNvSpPr/>
          <p:nvPr/>
        </p:nvSpPr>
        <p:spPr>
          <a:xfrm>
            <a:off x="9255653" y="3634740"/>
            <a:ext cx="128016" cy="128016"/>
          </a:xfrm>
          <a:prstGeom prst="diamond">
            <a:avLst/>
          </a:prstGeom>
          <a:solidFill>
            <a:srgbClr val="FFFFFF"/>
          </a:solidFill>
          <a:ln w="22860">
            <a:solidFill>
              <a:srgbClr val="1E8E5A"/>
            </a:solidFill>
            <a:prstDash val="solid"/>
          </a:ln>
        </p:spPr>
        <p:txBody>
          <a:bodyPr/>
          <a:lstStyle/>
          <a:p>
            <a:endParaRPr lang="en-GB"/>
          </a:p>
        </p:txBody>
      </p:sp>
      <p:sp>
        <p:nvSpPr>
          <p:cNvPr id="50" name="Text 46"/>
          <p:cNvSpPr/>
          <p:nvPr/>
        </p:nvSpPr>
        <p:spPr>
          <a:xfrm>
            <a:off x="8085221" y="3127248"/>
            <a:ext cx="2468880" cy="274320"/>
          </a:xfrm>
          <a:prstGeom prst="rect">
            <a:avLst/>
          </a:prstGeom>
          <a:noFill/>
          <a:ln/>
        </p:spPr>
        <p:txBody>
          <a:bodyPr wrap="square" lIns="0" tIns="0" rIns="0" bIns="0" rtlCol="0" anchor="ctr"/>
          <a:lstStyle/>
          <a:p>
            <a:pPr marL="0" indent="0" algn="ctr">
              <a:buNone/>
            </a:pPr>
            <a:r>
              <a:rPr lang="en-US" sz="780" b="1" dirty="0">
                <a:solidFill>
                  <a:srgbClr val="1E8E5A"/>
                </a:solidFill>
                <a:latin typeface="Calibri" pitchFamily="34" charset="0"/>
                <a:ea typeface="Calibri" pitchFamily="34" charset="-122"/>
                <a:cs typeface="Calibri" pitchFamily="34" charset="-120"/>
              </a:rPr>
              <a:t>Class complete, replaces Vanguard (CASD to 2060s)</a:t>
            </a:r>
            <a:endParaRPr lang="en-US" sz="780" dirty="0"/>
          </a:p>
        </p:txBody>
      </p:sp>
      <p:sp>
        <p:nvSpPr>
          <p:cNvPr id="51" name="Shape 47"/>
          <p:cNvSpPr/>
          <p:nvPr/>
        </p:nvSpPr>
        <p:spPr>
          <a:xfrm>
            <a:off x="365760" y="4562856"/>
            <a:ext cx="11795760" cy="1325880"/>
          </a:xfrm>
          <a:prstGeom prst="rect">
            <a:avLst/>
          </a:prstGeom>
          <a:solidFill>
            <a:srgbClr val="F7FAFC"/>
          </a:solidFill>
          <a:ln/>
        </p:spPr>
        <p:txBody>
          <a:bodyPr/>
          <a:lstStyle/>
          <a:p>
            <a:endParaRPr lang="en-GB"/>
          </a:p>
        </p:txBody>
      </p:sp>
      <p:sp>
        <p:nvSpPr>
          <p:cNvPr id="52" name="Shape 48"/>
          <p:cNvSpPr/>
          <p:nvPr/>
        </p:nvSpPr>
        <p:spPr>
          <a:xfrm>
            <a:off x="457200" y="4997196"/>
            <a:ext cx="457200" cy="457200"/>
          </a:xfrm>
          <a:prstGeom prst="ellipse">
            <a:avLst/>
          </a:prstGeom>
          <a:solidFill>
            <a:srgbClr val="1B3358"/>
          </a:solidFill>
          <a:ln/>
        </p:spPr>
        <p:txBody>
          <a:bodyPr/>
          <a:lstStyle/>
          <a:p>
            <a:endParaRPr lang="en-GB"/>
          </a:p>
        </p:txBody>
      </p:sp>
      <p:pic>
        <p:nvPicPr>
          <p:cNvPr id="53" name="Image 2" descr="preencoded.png"/>
          <p:cNvPicPr>
            <a:picLocks noChangeAspect="1"/>
          </p:cNvPicPr>
          <p:nvPr/>
        </p:nvPicPr>
        <p:blipFill>
          <a:blip r:embed="rId5"/>
          <a:stretch>
            <a:fillRect/>
          </a:stretch>
        </p:blipFill>
        <p:spPr>
          <a:xfrm>
            <a:off x="548640" y="5088636"/>
            <a:ext cx="274320" cy="274320"/>
          </a:xfrm>
          <a:prstGeom prst="rect">
            <a:avLst/>
          </a:prstGeom>
        </p:spPr>
      </p:pic>
      <p:sp>
        <p:nvSpPr>
          <p:cNvPr id="54" name="Text 49"/>
          <p:cNvSpPr/>
          <p:nvPr/>
        </p:nvSpPr>
        <p:spPr>
          <a:xfrm>
            <a:off x="1005840" y="4654296"/>
            <a:ext cx="1417320" cy="548640"/>
          </a:xfrm>
          <a:prstGeom prst="rect">
            <a:avLst/>
          </a:prstGeom>
          <a:noFill/>
          <a:ln/>
        </p:spPr>
        <p:txBody>
          <a:bodyPr wrap="square" lIns="0" tIns="0" rIns="0" bIns="0" rtlCol="0" anchor="t"/>
          <a:lstStyle/>
          <a:p>
            <a:pPr marL="0" indent="0">
              <a:lnSpc>
                <a:spcPct val="100000"/>
              </a:lnSpc>
              <a:buNone/>
            </a:pPr>
            <a:r>
              <a:rPr lang="en-US" sz="1300" b="1" dirty="0">
                <a:solidFill>
                  <a:srgbClr val="12233D"/>
                </a:solidFill>
                <a:latin typeface="Calibri" pitchFamily="34" charset="0"/>
                <a:ea typeface="Calibri" pitchFamily="34" charset="-122"/>
                <a:cs typeface="Calibri" pitchFamily="34" charset="-120"/>
              </a:rPr>
              <a:t>SSN-AUKUS (SSN)</a:t>
            </a:r>
            <a:endParaRPr lang="en-US" sz="1300" dirty="0"/>
          </a:p>
        </p:txBody>
      </p:sp>
      <p:sp>
        <p:nvSpPr>
          <p:cNvPr id="55" name="Text 50"/>
          <p:cNvSpPr/>
          <p:nvPr/>
        </p:nvSpPr>
        <p:spPr>
          <a:xfrm>
            <a:off x="1005840" y="5376672"/>
            <a:ext cx="1417320" cy="457200"/>
          </a:xfrm>
          <a:prstGeom prst="rect">
            <a:avLst/>
          </a:prstGeom>
          <a:noFill/>
          <a:ln/>
        </p:spPr>
        <p:txBody>
          <a:bodyPr wrap="square" lIns="0" tIns="0" rIns="0" bIns="0" rtlCol="0" anchor="b"/>
          <a:lstStyle/>
          <a:p>
            <a:pPr marL="0" indent="0">
              <a:lnSpc>
                <a:spcPct val="100000"/>
              </a:lnSpc>
              <a:buNone/>
            </a:pPr>
            <a:r>
              <a:rPr lang="en-US" sz="760" i="1" dirty="0">
                <a:solidFill>
                  <a:srgbClr val="5B6B7C"/>
                </a:solidFill>
                <a:latin typeface="Calibri" pitchFamily="34" charset="0"/>
                <a:ea typeface="Calibri" pitchFamily="34" charset="-122"/>
                <a:cs typeface="Calibri" pitchFamily="34" charset="-120"/>
              </a:rPr>
              <a:t>Up to 12 boats (UK) · ~£2.5bn/boat · BAE Systems · Rolls-Royce · Babcock</a:t>
            </a:r>
            <a:endParaRPr lang="en-US" sz="760" dirty="0"/>
          </a:p>
        </p:txBody>
      </p:sp>
      <p:sp>
        <p:nvSpPr>
          <p:cNvPr id="56" name="Shape 51"/>
          <p:cNvSpPr/>
          <p:nvPr/>
        </p:nvSpPr>
        <p:spPr>
          <a:xfrm>
            <a:off x="2514600" y="5225796"/>
            <a:ext cx="9235440" cy="0"/>
          </a:xfrm>
          <a:prstGeom prst="line">
            <a:avLst/>
          </a:prstGeom>
          <a:noFill/>
          <a:ln w="6350">
            <a:solidFill>
              <a:srgbClr val="E3E9EF"/>
            </a:solidFill>
            <a:prstDash val="dash"/>
          </a:ln>
        </p:spPr>
        <p:txBody>
          <a:bodyPr/>
          <a:lstStyle/>
          <a:p>
            <a:endParaRPr lang="en-GB"/>
          </a:p>
        </p:txBody>
      </p:sp>
      <p:sp>
        <p:nvSpPr>
          <p:cNvPr id="57" name="Shape 52"/>
          <p:cNvSpPr/>
          <p:nvPr/>
        </p:nvSpPr>
        <p:spPr>
          <a:xfrm>
            <a:off x="2514600" y="5097780"/>
            <a:ext cx="972152" cy="256032"/>
          </a:xfrm>
          <a:prstGeom prst="roundRect">
            <a:avLst>
              <a:gd name="adj" fmla="val 17857"/>
            </a:avLst>
          </a:prstGeom>
          <a:solidFill>
            <a:srgbClr val="C77B17"/>
          </a:solidFill>
          <a:ln/>
        </p:spPr>
        <p:txBody>
          <a:bodyPr/>
          <a:lstStyle/>
          <a:p>
            <a:endParaRPr lang="en-GB"/>
          </a:p>
        </p:txBody>
      </p:sp>
      <p:sp>
        <p:nvSpPr>
          <p:cNvPr id="58" name="Shape 53"/>
          <p:cNvSpPr/>
          <p:nvPr/>
        </p:nvSpPr>
        <p:spPr>
          <a:xfrm>
            <a:off x="3486752" y="5097780"/>
            <a:ext cx="972152" cy="256032"/>
          </a:xfrm>
          <a:prstGeom prst="roundRect">
            <a:avLst>
              <a:gd name="adj" fmla="val 17857"/>
            </a:avLst>
          </a:prstGeom>
          <a:solidFill>
            <a:srgbClr val="C77B17"/>
          </a:solidFill>
          <a:ln/>
        </p:spPr>
        <p:txBody>
          <a:bodyPr/>
          <a:lstStyle/>
          <a:p>
            <a:endParaRPr lang="en-GB"/>
          </a:p>
        </p:txBody>
      </p:sp>
      <p:sp>
        <p:nvSpPr>
          <p:cNvPr id="59" name="Shape 54"/>
          <p:cNvSpPr/>
          <p:nvPr/>
        </p:nvSpPr>
        <p:spPr>
          <a:xfrm>
            <a:off x="4458903" y="5097780"/>
            <a:ext cx="4374682" cy="256032"/>
          </a:xfrm>
          <a:prstGeom prst="roundRect">
            <a:avLst>
              <a:gd name="adj" fmla="val 17857"/>
            </a:avLst>
          </a:prstGeom>
          <a:solidFill>
            <a:srgbClr val="1E8E5A"/>
          </a:solidFill>
          <a:ln/>
        </p:spPr>
        <p:txBody>
          <a:bodyPr/>
          <a:lstStyle/>
          <a:p>
            <a:endParaRPr lang="en-GB"/>
          </a:p>
        </p:txBody>
      </p:sp>
      <p:sp>
        <p:nvSpPr>
          <p:cNvPr id="60" name="Shape 55"/>
          <p:cNvSpPr/>
          <p:nvPr/>
        </p:nvSpPr>
        <p:spPr>
          <a:xfrm>
            <a:off x="2693630" y="5161788"/>
            <a:ext cx="128016" cy="128016"/>
          </a:xfrm>
          <a:prstGeom prst="diamond">
            <a:avLst/>
          </a:prstGeom>
          <a:solidFill>
            <a:srgbClr val="FFFFFF"/>
          </a:solidFill>
          <a:ln w="22860">
            <a:solidFill>
              <a:srgbClr val="C77B17"/>
            </a:solidFill>
            <a:prstDash val="solid"/>
          </a:ln>
        </p:spPr>
        <p:txBody>
          <a:bodyPr/>
          <a:lstStyle/>
          <a:p>
            <a:endParaRPr lang="en-GB"/>
          </a:p>
        </p:txBody>
      </p:sp>
      <p:sp>
        <p:nvSpPr>
          <p:cNvPr id="61" name="Text 56"/>
          <p:cNvSpPr/>
          <p:nvPr/>
        </p:nvSpPr>
        <p:spPr>
          <a:xfrm>
            <a:off x="2148840" y="4654296"/>
            <a:ext cx="2468880" cy="274320"/>
          </a:xfrm>
          <a:prstGeom prst="rect">
            <a:avLst/>
          </a:prstGeom>
          <a:noFill/>
          <a:ln/>
        </p:spPr>
        <p:txBody>
          <a:bodyPr wrap="square" lIns="0" tIns="0" rIns="0" bIns="0" rtlCol="0" anchor="ctr"/>
          <a:lstStyle/>
          <a:p>
            <a:pPr marL="0" indent="0" algn="ctr">
              <a:buNone/>
            </a:pPr>
            <a:r>
              <a:rPr lang="en-US" sz="780" b="1" dirty="0">
                <a:solidFill>
                  <a:srgbClr val="C77B17"/>
                </a:solidFill>
                <a:latin typeface="Calibri" pitchFamily="34" charset="0"/>
                <a:ea typeface="Calibri" pitchFamily="34" charset="-122"/>
                <a:cs typeface="Calibri" pitchFamily="34" charset="-120"/>
              </a:rPr>
              <a:t>D2L2 design phase · 4 PWR3+ reactors in build</a:t>
            </a:r>
            <a:endParaRPr lang="en-US" sz="780" dirty="0"/>
          </a:p>
        </p:txBody>
      </p:sp>
      <p:sp>
        <p:nvSpPr>
          <p:cNvPr id="62" name="Shape 57"/>
          <p:cNvSpPr/>
          <p:nvPr/>
        </p:nvSpPr>
        <p:spPr>
          <a:xfrm>
            <a:off x="3422744" y="5161788"/>
            <a:ext cx="128016" cy="128016"/>
          </a:xfrm>
          <a:prstGeom prst="diamond">
            <a:avLst/>
          </a:prstGeom>
          <a:solidFill>
            <a:srgbClr val="FFFFFF"/>
          </a:solidFill>
          <a:ln w="22860">
            <a:solidFill>
              <a:srgbClr val="C77B17"/>
            </a:solidFill>
            <a:prstDash val="solid"/>
          </a:ln>
        </p:spPr>
        <p:txBody>
          <a:bodyPr/>
          <a:lstStyle/>
          <a:p>
            <a:endParaRPr lang="en-GB"/>
          </a:p>
        </p:txBody>
      </p:sp>
      <p:sp>
        <p:nvSpPr>
          <p:cNvPr id="63" name="Text 58"/>
          <p:cNvSpPr/>
          <p:nvPr/>
        </p:nvSpPr>
        <p:spPr>
          <a:xfrm>
            <a:off x="2252312" y="5431536"/>
            <a:ext cx="2468880" cy="274320"/>
          </a:xfrm>
          <a:prstGeom prst="rect">
            <a:avLst/>
          </a:prstGeom>
          <a:noFill/>
          <a:ln/>
        </p:spPr>
        <p:txBody>
          <a:bodyPr wrap="square" lIns="0" tIns="0" rIns="0" bIns="0" rtlCol="0" anchor="ctr"/>
          <a:lstStyle/>
          <a:p>
            <a:pPr marL="0" indent="0" algn="ctr">
              <a:buNone/>
            </a:pPr>
            <a:r>
              <a:rPr lang="en-US" sz="780" b="1" dirty="0">
                <a:solidFill>
                  <a:srgbClr val="C77B17"/>
                </a:solidFill>
                <a:latin typeface="Calibri" pitchFamily="34" charset="0"/>
                <a:ea typeface="Calibri" pitchFamily="34" charset="-122"/>
                <a:cs typeface="Calibri" pitchFamily="34" charset="-120"/>
              </a:rPr>
              <a:t>Long-lead procurement concludes</a:t>
            </a:r>
            <a:endParaRPr lang="en-US" sz="780" dirty="0"/>
          </a:p>
        </p:txBody>
      </p:sp>
      <p:sp>
        <p:nvSpPr>
          <p:cNvPr id="64" name="Shape 59"/>
          <p:cNvSpPr/>
          <p:nvPr/>
        </p:nvSpPr>
        <p:spPr>
          <a:xfrm>
            <a:off x="8769577" y="5161788"/>
            <a:ext cx="128016" cy="128016"/>
          </a:xfrm>
          <a:prstGeom prst="diamond">
            <a:avLst/>
          </a:prstGeom>
          <a:solidFill>
            <a:srgbClr val="FFFFFF"/>
          </a:solidFill>
          <a:ln w="22860">
            <a:solidFill>
              <a:srgbClr val="1E8E5A"/>
            </a:solidFill>
            <a:prstDash val="solid"/>
          </a:ln>
        </p:spPr>
        <p:txBody>
          <a:bodyPr/>
          <a:lstStyle/>
          <a:p>
            <a:endParaRPr lang="en-GB"/>
          </a:p>
        </p:txBody>
      </p:sp>
      <p:sp>
        <p:nvSpPr>
          <p:cNvPr id="65" name="Text 60"/>
          <p:cNvSpPr/>
          <p:nvPr/>
        </p:nvSpPr>
        <p:spPr>
          <a:xfrm>
            <a:off x="7599145" y="4654296"/>
            <a:ext cx="2468880" cy="274320"/>
          </a:xfrm>
          <a:prstGeom prst="rect">
            <a:avLst/>
          </a:prstGeom>
          <a:noFill/>
          <a:ln/>
        </p:spPr>
        <p:txBody>
          <a:bodyPr wrap="square" lIns="0" tIns="0" rIns="0" bIns="0" rtlCol="0" anchor="ctr"/>
          <a:lstStyle/>
          <a:p>
            <a:pPr marL="0" indent="0" algn="ctr">
              <a:buNone/>
            </a:pPr>
            <a:r>
              <a:rPr lang="en-US" sz="780" b="1" dirty="0">
                <a:solidFill>
                  <a:srgbClr val="1E8E5A"/>
                </a:solidFill>
                <a:latin typeface="Calibri" pitchFamily="34" charset="0"/>
                <a:ea typeface="Calibri" pitchFamily="34" charset="-122"/>
                <a:cs typeface="Calibri" pitchFamily="34" charset="-120"/>
              </a:rPr>
              <a:t>First UK boat delivered (late 2030s)</a:t>
            </a:r>
            <a:endParaRPr lang="en-US" sz="780" dirty="0"/>
          </a:p>
        </p:txBody>
      </p:sp>
      <p:sp>
        <p:nvSpPr>
          <p:cNvPr id="66" name="Shape 61"/>
          <p:cNvSpPr/>
          <p:nvPr/>
        </p:nvSpPr>
        <p:spPr>
          <a:xfrm>
            <a:off x="2514600" y="1453896"/>
            <a:ext cx="0" cy="4489704"/>
          </a:xfrm>
          <a:prstGeom prst="line">
            <a:avLst/>
          </a:prstGeom>
          <a:noFill/>
          <a:ln w="12700">
            <a:solidFill>
              <a:srgbClr val="C7D2DC"/>
            </a:solidFill>
            <a:prstDash val="solid"/>
          </a:ln>
        </p:spPr>
        <p:txBody>
          <a:bodyPr/>
          <a:lstStyle/>
          <a:p>
            <a:endParaRPr lang="en-GB"/>
          </a:p>
        </p:txBody>
      </p:sp>
      <p:sp>
        <p:nvSpPr>
          <p:cNvPr id="67" name="Shape 62"/>
          <p:cNvSpPr/>
          <p:nvPr/>
        </p:nvSpPr>
        <p:spPr>
          <a:xfrm>
            <a:off x="2757638" y="1307592"/>
            <a:ext cx="0" cy="4636008"/>
          </a:xfrm>
          <a:prstGeom prst="line">
            <a:avLst/>
          </a:prstGeom>
          <a:noFill/>
          <a:ln w="15875">
            <a:solidFill>
              <a:srgbClr val="12233D"/>
            </a:solidFill>
            <a:prstDash val="lgDash"/>
          </a:ln>
        </p:spPr>
        <p:txBody>
          <a:bodyPr/>
          <a:lstStyle/>
          <a:p>
            <a:endParaRPr lang="en-GB"/>
          </a:p>
        </p:txBody>
      </p:sp>
      <p:sp>
        <p:nvSpPr>
          <p:cNvPr id="68" name="Shape 63"/>
          <p:cNvSpPr/>
          <p:nvPr/>
        </p:nvSpPr>
        <p:spPr>
          <a:xfrm>
            <a:off x="2721062" y="1261872"/>
            <a:ext cx="73152" cy="73152"/>
          </a:xfrm>
          <a:prstGeom prst="ellipse">
            <a:avLst/>
          </a:prstGeom>
          <a:solidFill>
            <a:srgbClr val="12233D"/>
          </a:solidFill>
          <a:ln/>
        </p:spPr>
        <p:txBody>
          <a:bodyPr/>
          <a:lstStyle/>
          <a:p>
            <a:endParaRPr lang="en-GB"/>
          </a:p>
        </p:txBody>
      </p:sp>
      <p:sp>
        <p:nvSpPr>
          <p:cNvPr id="69" name="Text 64"/>
          <p:cNvSpPr/>
          <p:nvPr/>
        </p:nvSpPr>
        <p:spPr>
          <a:xfrm>
            <a:off x="2391878" y="1088136"/>
            <a:ext cx="731520" cy="182880"/>
          </a:xfrm>
          <a:prstGeom prst="rect">
            <a:avLst/>
          </a:prstGeom>
          <a:noFill/>
          <a:ln/>
        </p:spPr>
        <p:txBody>
          <a:bodyPr wrap="square" lIns="0" tIns="0" rIns="0" bIns="0" rtlCol="0" anchor="ctr"/>
          <a:lstStyle/>
          <a:p>
            <a:pPr marL="0" indent="0" algn="ctr">
              <a:buNone/>
            </a:pPr>
            <a:r>
              <a:rPr lang="en-US" sz="800" b="1" kern="0" spc="50" dirty="0">
                <a:solidFill>
                  <a:srgbClr val="12233D"/>
                </a:solidFill>
                <a:latin typeface="Calibri" pitchFamily="34" charset="0"/>
                <a:ea typeface="Calibri" pitchFamily="34" charset="-122"/>
                <a:cs typeface="Calibri" pitchFamily="34" charset="-120"/>
              </a:rPr>
              <a:t>TODAY</a:t>
            </a:r>
            <a:endParaRPr lang="en-US" sz="800" dirty="0"/>
          </a:p>
        </p:txBody>
      </p:sp>
    </p:spTree>
    <p:extLst>
      <p:ext uri="{BB962C8B-B14F-4D97-AF65-F5344CB8AC3E}">
        <p14:creationId xmlns:p14="http://schemas.microsoft.com/office/powerpoint/2010/main" val="1396260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19327AE1-B486-3819-4F04-74D8E209C82F}"/>
              </a:ext>
            </a:extLst>
          </p:cNvPr>
          <p:cNvSpPr/>
          <p:nvPr/>
        </p:nvSpPr>
        <p:spPr>
          <a:xfrm>
            <a:off x="0" y="29518"/>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 name="Text 0"/>
          <p:cNvSpPr/>
          <p:nvPr/>
        </p:nvSpPr>
        <p:spPr>
          <a:xfrm>
            <a:off x="457200" y="292608"/>
            <a:ext cx="11247120" cy="548640"/>
          </a:xfrm>
          <a:prstGeom prst="rect">
            <a:avLst/>
          </a:prstGeom>
          <a:noFill/>
          <a:ln/>
        </p:spPr>
        <p:txBody>
          <a:bodyPr wrap="square" lIns="0" tIns="0" rIns="0" bIns="0" rtlCol="0" anchor="ctr"/>
          <a:lstStyle/>
          <a:p>
            <a:pPr marL="0" indent="0">
              <a:buNone/>
            </a:pPr>
            <a:r>
              <a:rPr lang="en-US" sz="3000" b="1" dirty="0">
                <a:solidFill>
                  <a:schemeClr val="accent5"/>
                </a:solidFill>
                <a:latin typeface="Aptos" panose="020B0004020202020204" pitchFamily="34" charset="0"/>
              </a:rPr>
              <a:t>UK Nuclear Submarine Fleet: 2026 Update</a:t>
            </a:r>
          </a:p>
        </p:txBody>
      </p:sp>
      <p:sp>
        <p:nvSpPr>
          <p:cNvPr id="3" name="Text 1"/>
          <p:cNvSpPr/>
          <p:nvPr/>
        </p:nvSpPr>
        <p:spPr>
          <a:xfrm>
            <a:off x="457200" y="786384"/>
            <a:ext cx="11247120" cy="320040"/>
          </a:xfrm>
          <a:prstGeom prst="rect">
            <a:avLst/>
          </a:prstGeom>
          <a:noFill/>
          <a:ln/>
        </p:spPr>
        <p:txBody>
          <a:bodyPr wrap="square" lIns="0" tIns="0" rIns="0" bIns="0" rtlCol="0" anchor="ctr"/>
          <a:lstStyle/>
          <a:p>
            <a:pPr marL="0" indent="0">
              <a:buNone/>
            </a:pPr>
            <a:r>
              <a:rPr lang="en-US" sz="1400" i="1" dirty="0">
                <a:solidFill>
                  <a:schemeClr val="tx1"/>
                </a:solidFill>
                <a:latin typeface="Aptos" panose="020B0004020202020204" pitchFamily="34" charset="0"/>
                <a:ea typeface="Calibri" pitchFamily="34" charset="-122"/>
                <a:cs typeface="Calibri" pitchFamily="34" charset="-120"/>
              </a:rPr>
              <a:t>UK nuclear sector briefing for manufacturing supply chain partners</a:t>
            </a:r>
            <a:endParaRPr lang="en-US" sz="1400" dirty="0">
              <a:solidFill>
                <a:schemeClr val="tx1"/>
              </a:solidFill>
              <a:latin typeface="Aptos" panose="020B0004020202020204" pitchFamily="34" charset="0"/>
            </a:endParaRPr>
          </a:p>
        </p:txBody>
      </p:sp>
      <p:sp>
        <p:nvSpPr>
          <p:cNvPr id="4" name="Shape 2"/>
          <p:cNvSpPr/>
          <p:nvPr/>
        </p:nvSpPr>
        <p:spPr>
          <a:xfrm>
            <a:off x="45720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5" name="Image 0" descr="preencoded.png"/>
          <p:cNvPicPr>
            <a:picLocks noChangeAspect="1"/>
          </p:cNvPicPr>
          <p:nvPr/>
        </p:nvPicPr>
        <p:blipFill>
          <a:blip r:embed="rId3"/>
          <a:stretch>
            <a:fillRect/>
          </a:stretch>
        </p:blipFill>
        <p:spPr>
          <a:xfrm>
            <a:off x="621792" y="1481328"/>
            <a:ext cx="365760" cy="365760"/>
          </a:xfrm>
          <a:prstGeom prst="rect">
            <a:avLst/>
          </a:prstGeom>
        </p:spPr>
      </p:pic>
      <p:sp>
        <p:nvSpPr>
          <p:cNvPr id="6" name="Text 3"/>
          <p:cNvSpPr/>
          <p:nvPr/>
        </p:nvSpPr>
        <p:spPr>
          <a:xfrm>
            <a:off x="109728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Aptos" panose="020B0004020202020204" pitchFamily="34" charset="0"/>
                <a:ea typeface="Calibri" pitchFamily="34" charset="-122"/>
                <a:cs typeface="Calibri" pitchFamily="34" charset="-120"/>
              </a:rPr>
              <a:t>Up to 12</a:t>
            </a:r>
            <a:endParaRPr lang="en-US" sz="1600" dirty="0">
              <a:latin typeface="Aptos" panose="020B0004020202020204" pitchFamily="34" charset="0"/>
            </a:endParaRPr>
          </a:p>
        </p:txBody>
      </p:sp>
      <p:sp>
        <p:nvSpPr>
          <p:cNvPr id="7" name="Text 4"/>
          <p:cNvSpPr/>
          <p:nvPr/>
        </p:nvSpPr>
        <p:spPr>
          <a:xfrm>
            <a:off x="62179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SSN-AUKUS attack</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submarines confirmed</a:t>
            </a:r>
            <a:endParaRPr lang="en-US" sz="950" dirty="0">
              <a:latin typeface="Aptos" panose="020B0004020202020204" pitchFamily="34" charset="0"/>
            </a:endParaRPr>
          </a:p>
        </p:txBody>
      </p:sp>
      <p:sp>
        <p:nvSpPr>
          <p:cNvPr id="8" name="Shape 5"/>
          <p:cNvSpPr/>
          <p:nvPr/>
        </p:nvSpPr>
        <p:spPr>
          <a:xfrm>
            <a:off x="329184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9" name="Image 1" descr="preencoded.png"/>
          <p:cNvPicPr>
            <a:picLocks noChangeAspect="1"/>
          </p:cNvPicPr>
          <p:nvPr/>
        </p:nvPicPr>
        <p:blipFill>
          <a:blip r:embed="rId4"/>
          <a:stretch>
            <a:fillRect/>
          </a:stretch>
        </p:blipFill>
        <p:spPr>
          <a:xfrm>
            <a:off x="3456432" y="1481328"/>
            <a:ext cx="365760" cy="365760"/>
          </a:xfrm>
          <a:prstGeom prst="rect">
            <a:avLst/>
          </a:prstGeom>
        </p:spPr>
      </p:pic>
      <p:sp>
        <p:nvSpPr>
          <p:cNvPr id="10" name="Text 6"/>
          <p:cNvSpPr/>
          <p:nvPr/>
        </p:nvSpPr>
        <p:spPr>
          <a:xfrm>
            <a:off x="393192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Aptos" panose="020B0004020202020204" pitchFamily="34" charset="0"/>
                <a:ea typeface="Calibri" pitchFamily="34" charset="-122"/>
                <a:cs typeface="Calibri" pitchFamily="34" charset="-120"/>
              </a:rPr>
              <a:t>21,000</a:t>
            </a:r>
            <a:endParaRPr lang="en-US" sz="1600" dirty="0">
              <a:latin typeface="Aptos" panose="020B0004020202020204" pitchFamily="34" charset="0"/>
            </a:endParaRPr>
          </a:p>
        </p:txBody>
      </p:sp>
      <p:sp>
        <p:nvSpPr>
          <p:cNvPr id="11" name="Text 7"/>
          <p:cNvSpPr/>
          <p:nvPr/>
        </p:nvSpPr>
        <p:spPr>
          <a:xfrm>
            <a:off x="345643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UK jobs supported</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at peak production</a:t>
            </a:r>
            <a:endParaRPr lang="en-US" sz="950" dirty="0">
              <a:latin typeface="Aptos" panose="020B0004020202020204" pitchFamily="34" charset="0"/>
            </a:endParaRPr>
          </a:p>
        </p:txBody>
      </p:sp>
      <p:sp>
        <p:nvSpPr>
          <p:cNvPr id="12" name="Shape 8"/>
          <p:cNvSpPr/>
          <p:nvPr/>
        </p:nvSpPr>
        <p:spPr>
          <a:xfrm>
            <a:off x="612648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3" name="Image 2" descr="preencoded.png"/>
          <p:cNvPicPr>
            <a:picLocks noChangeAspect="1"/>
          </p:cNvPicPr>
          <p:nvPr/>
        </p:nvPicPr>
        <p:blipFill>
          <a:blip r:embed="rId5"/>
          <a:stretch>
            <a:fillRect/>
          </a:stretch>
        </p:blipFill>
        <p:spPr>
          <a:xfrm>
            <a:off x="6291072" y="1481328"/>
            <a:ext cx="365760" cy="365760"/>
          </a:xfrm>
          <a:prstGeom prst="rect">
            <a:avLst/>
          </a:prstGeom>
        </p:spPr>
      </p:pic>
      <p:sp>
        <p:nvSpPr>
          <p:cNvPr id="14" name="Text 9"/>
          <p:cNvSpPr/>
          <p:nvPr/>
        </p:nvSpPr>
        <p:spPr>
          <a:xfrm>
            <a:off x="676656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Aptos" panose="020B0004020202020204" pitchFamily="34" charset="0"/>
                <a:ea typeface="Calibri" pitchFamily="34" charset="-122"/>
                <a:cs typeface="Calibri" pitchFamily="34" charset="-120"/>
              </a:rPr>
              <a:t>£9bn+</a:t>
            </a:r>
            <a:endParaRPr lang="en-US" sz="1600" dirty="0">
              <a:latin typeface="Aptos" panose="020B0004020202020204" pitchFamily="34" charset="0"/>
            </a:endParaRPr>
          </a:p>
        </p:txBody>
      </p:sp>
      <p:sp>
        <p:nvSpPr>
          <p:cNvPr id="15" name="Text 10"/>
          <p:cNvSpPr/>
          <p:nvPr/>
        </p:nvSpPr>
        <p:spPr>
          <a:xfrm>
            <a:off x="629107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Rolls-Royce reactor</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agreement, Derby</a:t>
            </a:r>
            <a:endParaRPr lang="en-US" sz="950" dirty="0">
              <a:latin typeface="Aptos" panose="020B0004020202020204" pitchFamily="34" charset="0"/>
            </a:endParaRPr>
          </a:p>
        </p:txBody>
      </p:sp>
      <p:sp>
        <p:nvSpPr>
          <p:cNvPr id="16" name="Shape 11"/>
          <p:cNvSpPr/>
          <p:nvPr/>
        </p:nvSpPr>
        <p:spPr>
          <a:xfrm>
            <a:off x="8961120" y="1298448"/>
            <a:ext cx="2606040" cy="1051560"/>
          </a:xfrm>
          <a:prstGeom prst="roundRect">
            <a:avLst>
              <a:gd name="adj" fmla="val 6957"/>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17" name="Image 3" descr="preencoded.png"/>
          <p:cNvPicPr>
            <a:picLocks noChangeAspect="1"/>
          </p:cNvPicPr>
          <p:nvPr/>
        </p:nvPicPr>
        <p:blipFill>
          <a:blip r:embed="rId6"/>
          <a:stretch>
            <a:fillRect/>
          </a:stretch>
        </p:blipFill>
        <p:spPr>
          <a:xfrm>
            <a:off x="9125712" y="1481328"/>
            <a:ext cx="365760" cy="365760"/>
          </a:xfrm>
          <a:prstGeom prst="rect">
            <a:avLst/>
          </a:prstGeom>
        </p:spPr>
      </p:pic>
      <p:sp>
        <p:nvSpPr>
          <p:cNvPr id="18" name="Text 12"/>
          <p:cNvSpPr/>
          <p:nvPr/>
        </p:nvSpPr>
        <p:spPr>
          <a:xfrm>
            <a:off x="9601200" y="1371600"/>
            <a:ext cx="1828800" cy="365760"/>
          </a:xfrm>
          <a:prstGeom prst="rect">
            <a:avLst/>
          </a:prstGeom>
          <a:noFill/>
          <a:ln/>
        </p:spPr>
        <p:txBody>
          <a:bodyPr wrap="square" lIns="0" tIns="0" rIns="0" bIns="0" rtlCol="0" anchor="ctr"/>
          <a:lstStyle/>
          <a:p>
            <a:pPr marL="0" indent="0">
              <a:buNone/>
            </a:pPr>
            <a:r>
              <a:rPr lang="en-US" sz="1600" b="1" dirty="0">
                <a:solidFill>
                  <a:srgbClr val="FFFFFF"/>
                </a:solidFill>
                <a:latin typeface="Aptos" panose="020B0004020202020204" pitchFamily="34" charset="0"/>
                <a:ea typeface="Calibri" pitchFamily="34" charset="-122"/>
                <a:cs typeface="Calibri" pitchFamily="34" charset="-120"/>
              </a:rPr>
              <a:t>4 reactors</a:t>
            </a:r>
            <a:endParaRPr lang="en-US" sz="1600" dirty="0">
              <a:latin typeface="Aptos" panose="020B0004020202020204" pitchFamily="34" charset="0"/>
            </a:endParaRPr>
          </a:p>
        </p:txBody>
      </p:sp>
      <p:sp>
        <p:nvSpPr>
          <p:cNvPr id="19" name="Text 13"/>
          <p:cNvSpPr/>
          <p:nvPr/>
        </p:nvSpPr>
        <p:spPr>
          <a:xfrm>
            <a:off x="9125712" y="1865376"/>
            <a:ext cx="2286000" cy="438912"/>
          </a:xfrm>
          <a:prstGeom prst="rect">
            <a:avLst/>
          </a:prstGeom>
          <a:noFill/>
          <a:ln/>
        </p:spPr>
        <p:txBody>
          <a:bodyPr wrap="square" lIns="0" tIns="0" rIns="0" bIns="0" rtlCol="0" anchor="ctr"/>
          <a:lstStyle/>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PWR3+ units under</a:t>
            </a:r>
            <a:endParaRPr lang="en-US" sz="950" dirty="0">
              <a:latin typeface="Aptos" panose="020B0004020202020204" pitchFamily="34" charset="0"/>
            </a:endParaRPr>
          </a:p>
          <a:p>
            <a:pPr marL="0" indent="0">
              <a:lnSpc>
                <a:spcPct val="105000"/>
              </a:lnSpc>
              <a:buNone/>
            </a:pPr>
            <a:r>
              <a:rPr lang="en-US" sz="950" dirty="0">
                <a:solidFill>
                  <a:srgbClr val="9FB3D1"/>
                </a:solidFill>
                <a:latin typeface="Aptos" panose="020B0004020202020204" pitchFamily="34" charset="0"/>
                <a:ea typeface="Calibri" pitchFamily="34" charset="-122"/>
                <a:cs typeface="Calibri" pitchFamily="34" charset="-120"/>
              </a:rPr>
              <a:t>construction, May 2026</a:t>
            </a:r>
            <a:endParaRPr lang="en-US" sz="950" dirty="0">
              <a:latin typeface="Aptos" panose="020B0004020202020204" pitchFamily="34" charset="0"/>
            </a:endParaRPr>
          </a:p>
        </p:txBody>
      </p:sp>
      <p:sp>
        <p:nvSpPr>
          <p:cNvPr id="20" name="Text 14"/>
          <p:cNvSpPr/>
          <p:nvPr/>
        </p:nvSpPr>
        <p:spPr>
          <a:xfrm>
            <a:off x="457200" y="2606040"/>
            <a:ext cx="7040880" cy="274320"/>
          </a:xfrm>
          <a:prstGeom prst="rect">
            <a:avLst/>
          </a:prstGeom>
          <a:noFill/>
          <a:ln/>
        </p:spPr>
        <p:txBody>
          <a:bodyPr wrap="square" lIns="0" tIns="0" rIns="0" bIns="0" rtlCol="0" anchor="ctr"/>
          <a:lstStyle/>
          <a:p>
            <a:pPr marL="0" indent="0">
              <a:buNone/>
            </a:pPr>
            <a:r>
              <a:rPr lang="en-US" sz="1300" b="1" kern="0" spc="100" dirty="0">
                <a:solidFill>
                  <a:schemeClr val="tx1"/>
                </a:solidFill>
                <a:latin typeface="Aptos" panose="020B0004020202020204" pitchFamily="34" charset="0"/>
                <a:ea typeface="Calibri" pitchFamily="34" charset="-122"/>
                <a:cs typeface="Calibri" pitchFamily="34" charset="-120"/>
              </a:rPr>
              <a:t>2025–26 MILESTONE TIMELINE</a:t>
            </a:r>
            <a:endParaRPr lang="en-US" sz="1300" dirty="0">
              <a:solidFill>
                <a:schemeClr val="tx1"/>
              </a:solidFill>
              <a:latin typeface="Aptos" panose="020B0004020202020204" pitchFamily="34" charset="0"/>
            </a:endParaRPr>
          </a:p>
        </p:txBody>
      </p:sp>
      <p:sp>
        <p:nvSpPr>
          <p:cNvPr id="21" name="Shape 15"/>
          <p:cNvSpPr/>
          <p:nvPr/>
        </p:nvSpPr>
        <p:spPr>
          <a:xfrm>
            <a:off x="1325880" y="2971800"/>
            <a:ext cx="0" cy="3200400"/>
          </a:xfrm>
          <a:prstGeom prst="line">
            <a:avLst/>
          </a:prstGeom>
          <a:noFill/>
          <a:ln w="19050">
            <a:solidFill>
              <a:srgbClr val="2A4670"/>
            </a:solidFill>
            <a:prstDash val="solid"/>
          </a:ln>
        </p:spPr>
        <p:txBody>
          <a:bodyPr/>
          <a:lstStyle/>
          <a:p>
            <a:endParaRPr lang="en-GB">
              <a:solidFill>
                <a:schemeClr val="tx1"/>
              </a:solidFill>
              <a:latin typeface="Aptos" panose="020B0004020202020204" pitchFamily="34" charset="0"/>
            </a:endParaRPr>
          </a:p>
        </p:txBody>
      </p:sp>
      <p:sp>
        <p:nvSpPr>
          <p:cNvPr id="22" name="Text 16"/>
          <p:cNvSpPr/>
          <p:nvPr/>
        </p:nvSpPr>
        <p:spPr>
          <a:xfrm>
            <a:off x="457200" y="2953512"/>
            <a:ext cx="777240" cy="365760"/>
          </a:xfrm>
          <a:prstGeom prst="rect">
            <a:avLst/>
          </a:prstGeom>
          <a:noFill/>
          <a:ln/>
        </p:spPr>
        <p:txBody>
          <a:bodyPr wrap="square" lIns="0" tIns="0" rIns="0" bIns="0" rtlCol="0" anchor="ctr"/>
          <a:lstStyle/>
          <a:p>
            <a:pPr marL="0" indent="0" algn="r">
              <a:buNone/>
            </a:pPr>
            <a:r>
              <a:rPr lang="en-US" sz="1000" b="1" dirty="0">
                <a:solidFill>
                  <a:schemeClr val="tx1"/>
                </a:solidFill>
                <a:latin typeface="Aptos" panose="020B0004020202020204" pitchFamily="34" charset="0"/>
                <a:ea typeface="Calibri" pitchFamily="34" charset="-122"/>
                <a:cs typeface="Calibri" pitchFamily="34" charset="-120"/>
              </a:rPr>
              <a:t>26 Jul '25</a:t>
            </a:r>
            <a:endParaRPr lang="en-US" sz="1000" dirty="0">
              <a:solidFill>
                <a:schemeClr val="tx1"/>
              </a:solidFill>
              <a:latin typeface="Aptos" panose="020B0004020202020204" pitchFamily="34" charset="0"/>
            </a:endParaRPr>
          </a:p>
        </p:txBody>
      </p:sp>
      <p:sp>
        <p:nvSpPr>
          <p:cNvPr id="23" name="Shape 17"/>
          <p:cNvSpPr/>
          <p:nvPr/>
        </p:nvSpPr>
        <p:spPr>
          <a:xfrm>
            <a:off x="1261872" y="2999232"/>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24" name="Text 18"/>
          <p:cNvSpPr/>
          <p:nvPr/>
        </p:nvSpPr>
        <p:spPr>
          <a:xfrm>
            <a:off x="1554480" y="2880360"/>
            <a:ext cx="5897880" cy="594360"/>
          </a:xfrm>
          <a:prstGeom prst="rect">
            <a:avLst/>
          </a:prstGeom>
          <a:noFill/>
          <a:ln/>
        </p:spPr>
        <p:txBody>
          <a:bodyPr wrap="square" lIns="0" tIns="0" rIns="0" bIns="0" rtlCol="0" anchor="t"/>
          <a:lstStyle/>
          <a:p>
            <a:pPr marL="0" indent="0">
              <a:lnSpc>
                <a:spcPct val="98000"/>
              </a:lnSpc>
              <a:buNone/>
            </a:pPr>
            <a:r>
              <a:rPr lang="en-US" sz="930" dirty="0">
                <a:solidFill>
                  <a:schemeClr val="tx1"/>
                </a:solidFill>
                <a:latin typeface="Aptos" panose="020B0004020202020204" pitchFamily="34" charset="0"/>
                <a:ea typeface="Calibri" pitchFamily="34" charset="-122"/>
                <a:cs typeface="Calibri" pitchFamily="34" charset="-120"/>
              </a:rPr>
              <a:t>UK and Australia sign the Geelong Treaty — a 50-year bilateral agreement governing joint construction of Australia's SSN-AUKUS submarines.</a:t>
            </a:r>
            <a:endParaRPr lang="en-US" sz="930" dirty="0">
              <a:solidFill>
                <a:schemeClr val="tx1"/>
              </a:solidFill>
              <a:latin typeface="Aptos" panose="020B0004020202020204" pitchFamily="34" charset="0"/>
            </a:endParaRPr>
          </a:p>
        </p:txBody>
      </p:sp>
      <p:sp>
        <p:nvSpPr>
          <p:cNvPr id="25" name="Text 19"/>
          <p:cNvSpPr/>
          <p:nvPr/>
        </p:nvSpPr>
        <p:spPr>
          <a:xfrm>
            <a:off x="457200" y="3502152"/>
            <a:ext cx="777240" cy="365760"/>
          </a:xfrm>
          <a:prstGeom prst="rect">
            <a:avLst/>
          </a:prstGeom>
          <a:noFill/>
          <a:ln/>
        </p:spPr>
        <p:txBody>
          <a:bodyPr wrap="square" lIns="0" tIns="0" rIns="0" bIns="0" rtlCol="0" anchor="ctr"/>
          <a:lstStyle/>
          <a:p>
            <a:pPr marL="0" indent="0" algn="r">
              <a:buNone/>
            </a:pPr>
            <a:r>
              <a:rPr lang="en-US" sz="1000" b="1" dirty="0">
                <a:solidFill>
                  <a:schemeClr val="tx1"/>
                </a:solidFill>
                <a:latin typeface="Aptos" panose="020B0004020202020204" pitchFamily="34" charset="0"/>
                <a:ea typeface="Calibri" pitchFamily="34" charset="-122"/>
                <a:cs typeface="Calibri" pitchFamily="34" charset="-120"/>
              </a:rPr>
              <a:t>22 Feb '26</a:t>
            </a:r>
            <a:endParaRPr lang="en-US" sz="1000" dirty="0">
              <a:solidFill>
                <a:schemeClr val="tx1"/>
              </a:solidFill>
              <a:latin typeface="Aptos" panose="020B0004020202020204" pitchFamily="34" charset="0"/>
            </a:endParaRPr>
          </a:p>
        </p:txBody>
      </p:sp>
      <p:sp>
        <p:nvSpPr>
          <p:cNvPr id="26" name="Shape 20"/>
          <p:cNvSpPr/>
          <p:nvPr/>
        </p:nvSpPr>
        <p:spPr>
          <a:xfrm>
            <a:off x="1261872" y="3547872"/>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27" name="Text 21"/>
          <p:cNvSpPr/>
          <p:nvPr/>
        </p:nvSpPr>
        <p:spPr>
          <a:xfrm>
            <a:off x="1554480" y="3429000"/>
            <a:ext cx="5897880" cy="594360"/>
          </a:xfrm>
          <a:prstGeom prst="rect">
            <a:avLst/>
          </a:prstGeom>
          <a:noFill/>
          <a:ln/>
        </p:spPr>
        <p:txBody>
          <a:bodyPr wrap="square" lIns="0" tIns="0" rIns="0" bIns="0" rtlCol="0" anchor="t"/>
          <a:lstStyle/>
          <a:p>
            <a:pPr marL="0" indent="0">
              <a:lnSpc>
                <a:spcPct val="98000"/>
              </a:lnSpc>
              <a:buNone/>
            </a:pPr>
            <a:r>
              <a:rPr lang="en-US" sz="930" dirty="0">
                <a:solidFill>
                  <a:schemeClr val="tx1"/>
                </a:solidFill>
                <a:latin typeface="Aptos" panose="020B0004020202020204" pitchFamily="34" charset="0"/>
                <a:ea typeface="Calibri" pitchFamily="34" charset="-122"/>
                <a:cs typeface="Calibri" pitchFamily="34" charset="-120"/>
              </a:rPr>
              <a:t>HMS Anson becomes the first Royal Navy nuclear submarine to undergo a maintenance period in Australia, at HMAS Stirling; five Australian firms supply components for the visit.</a:t>
            </a:r>
            <a:endParaRPr lang="en-US" sz="930" dirty="0">
              <a:solidFill>
                <a:schemeClr val="tx1"/>
              </a:solidFill>
              <a:latin typeface="Aptos" panose="020B0004020202020204" pitchFamily="34" charset="0"/>
            </a:endParaRPr>
          </a:p>
        </p:txBody>
      </p:sp>
      <p:sp>
        <p:nvSpPr>
          <p:cNvPr id="28" name="Text 22"/>
          <p:cNvSpPr/>
          <p:nvPr/>
        </p:nvSpPr>
        <p:spPr>
          <a:xfrm>
            <a:off x="457200" y="4050792"/>
            <a:ext cx="777240" cy="365760"/>
          </a:xfrm>
          <a:prstGeom prst="rect">
            <a:avLst/>
          </a:prstGeom>
          <a:noFill/>
          <a:ln/>
        </p:spPr>
        <p:txBody>
          <a:bodyPr wrap="square" lIns="0" tIns="0" rIns="0" bIns="0" rtlCol="0" anchor="ctr"/>
          <a:lstStyle/>
          <a:p>
            <a:pPr marL="0" indent="0" algn="r">
              <a:buNone/>
            </a:pPr>
            <a:r>
              <a:rPr lang="en-US" sz="1000" b="1" dirty="0">
                <a:solidFill>
                  <a:schemeClr val="tx1"/>
                </a:solidFill>
                <a:latin typeface="Aptos" panose="020B0004020202020204" pitchFamily="34" charset="0"/>
                <a:ea typeface="Calibri" pitchFamily="34" charset="-122"/>
                <a:cs typeface="Calibri" pitchFamily="34" charset="-120"/>
              </a:rPr>
              <a:t>24 Feb '26</a:t>
            </a:r>
            <a:endParaRPr lang="en-US" sz="1000" dirty="0">
              <a:solidFill>
                <a:schemeClr val="tx1"/>
              </a:solidFill>
              <a:latin typeface="Aptos" panose="020B0004020202020204" pitchFamily="34" charset="0"/>
            </a:endParaRPr>
          </a:p>
        </p:txBody>
      </p:sp>
      <p:sp>
        <p:nvSpPr>
          <p:cNvPr id="29" name="Shape 23"/>
          <p:cNvSpPr/>
          <p:nvPr/>
        </p:nvSpPr>
        <p:spPr>
          <a:xfrm>
            <a:off x="1261872" y="4096512"/>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30" name="Text 24"/>
          <p:cNvSpPr/>
          <p:nvPr/>
        </p:nvSpPr>
        <p:spPr>
          <a:xfrm>
            <a:off x="1554480" y="3977640"/>
            <a:ext cx="5897880" cy="594360"/>
          </a:xfrm>
          <a:prstGeom prst="rect">
            <a:avLst/>
          </a:prstGeom>
          <a:noFill/>
          <a:ln/>
        </p:spPr>
        <p:txBody>
          <a:bodyPr wrap="square" lIns="0" tIns="0" rIns="0" bIns="0" rtlCol="0" anchor="t"/>
          <a:lstStyle/>
          <a:p>
            <a:pPr marL="0" indent="0">
              <a:lnSpc>
                <a:spcPct val="98000"/>
              </a:lnSpc>
              <a:buNone/>
            </a:pPr>
            <a:r>
              <a:rPr lang="en-US" sz="930" dirty="0">
                <a:solidFill>
                  <a:schemeClr val="tx1"/>
                </a:solidFill>
                <a:latin typeface="Aptos" panose="020B0004020202020204" pitchFamily="34" charset="0"/>
                <a:ea typeface="Calibri" pitchFamily="34" charset="-122"/>
                <a:cs typeface="Calibri" pitchFamily="34" charset="-120"/>
              </a:rPr>
              <a:t>Australia announces a A$310m payment to the UK for long-lead reactor items; manufacture of complete welded nuclear propulsion systems begins at Rolls-Royce Submarines, Derby.</a:t>
            </a:r>
            <a:endParaRPr lang="en-US" sz="930" dirty="0">
              <a:solidFill>
                <a:schemeClr val="tx1"/>
              </a:solidFill>
              <a:latin typeface="Aptos" panose="020B0004020202020204" pitchFamily="34" charset="0"/>
            </a:endParaRPr>
          </a:p>
        </p:txBody>
      </p:sp>
      <p:sp>
        <p:nvSpPr>
          <p:cNvPr id="31" name="Text 25"/>
          <p:cNvSpPr/>
          <p:nvPr/>
        </p:nvSpPr>
        <p:spPr>
          <a:xfrm>
            <a:off x="457200" y="4599432"/>
            <a:ext cx="777240" cy="365760"/>
          </a:xfrm>
          <a:prstGeom prst="rect">
            <a:avLst/>
          </a:prstGeom>
          <a:noFill/>
          <a:ln/>
        </p:spPr>
        <p:txBody>
          <a:bodyPr wrap="square" lIns="0" tIns="0" rIns="0" bIns="0" rtlCol="0" anchor="ctr"/>
          <a:lstStyle/>
          <a:p>
            <a:pPr marL="0" indent="0" algn="r">
              <a:buNone/>
            </a:pPr>
            <a:r>
              <a:rPr lang="en-US" sz="1000" b="1" dirty="0">
                <a:solidFill>
                  <a:schemeClr val="tx1"/>
                </a:solidFill>
                <a:latin typeface="Aptos" panose="020B0004020202020204" pitchFamily="34" charset="0"/>
                <a:ea typeface="Calibri" pitchFamily="34" charset="-122"/>
                <a:cs typeface="Calibri" pitchFamily="34" charset="-120"/>
              </a:rPr>
              <a:t>10 Apr '26</a:t>
            </a:r>
            <a:endParaRPr lang="en-US" sz="1000" dirty="0">
              <a:solidFill>
                <a:schemeClr val="tx1"/>
              </a:solidFill>
              <a:latin typeface="Aptos" panose="020B0004020202020204" pitchFamily="34" charset="0"/>
            </a:endParaRPr>
          </a:p>
        </p:txBody>
      </p:sp>
      <p:sp>
        <p:nvSpPr>
          <p:cNvPr id="32" name="Shape 26"/>
          <p:cNvSpPr/>
          <p:nvPr/>
        </p:nvSpPr>
        <p:spPr>
          <a:xfrm>
            <a:off x="1261872" y="4645152"/>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33" name="Text 27"/>
          <p:cNvSpPr/>
          <p:nvPr/>
        </p:nvSpPr>
        <p:spPr>
          <a:xfrm>
            <a:off x="1554480" y="4526280"/>
            <a:ext cx="5897880" cy="594360"/>
          </a:xfrm>
          <a:prstGeom prst="rect">
            <a:avLst/>
          </a:prstGeom>
          <a:noFill/>
          <a:ln/>
        </p:spPr>
        <p:txBody>
          <a:bodyPr wrap="square" lIns="0" tIns="0" rIns="0" bIns="0" rtlCol="0" anchor="t"/>
          <a:lstStyle/>
          <a:p>
            <a:pPr marL="0" indent="0">
              <a:lnSpc>
                <a:spcPct val="98000"/>
              </a:lnSpc>
              <a:buNone/>
            </a:pPr>
            <a:r>
              <a:rPr lang="en-US" sz="930" dirty="0">
                <a:solidFill>
                  <a:schemeClr val="tx1"/>
                </a:solidFill>
                <a:latin typeface="Aptos" panose="020B0004020202020204" pitchFamily="34" charset="0"/>
                <a:ea typeface="Calibri" pitchFamily="34" charset="-122"/>
                <a:cs typeface="Calibri" pitchFamily="34" charset="-120"/>
              </a:rPr>
              <a:t>Australian Submarine Supplier Qualification programme expanded to link Australian businesses into UK submarine supply chains for the first time — a reciprocal industrial pathway.</a:t>
            </a:r>
            <a:endParaRPr lang="en-US" sz="930" dirty="0">
              <a:solidFill>
                <a:schemeClr val="tx1"/>
              </a:solidFill>
              <a:latin typeface="Aptos" panose="020B0004020202020204" pitchFamily="34" charset="0"/>
            </a:endParaRPr>
          </a:p>
        </p:txBody>
      </p:sp>
      <p:sp>
        <p:nvSpPr>
          <p:cNvPr id="34" name="Text 28"/>
          <p:cNvSpPr/>
          <p:nvPr/>
        </p:nvSpPr>
        <p:spPr>
          <a:xfrm>
            <a:off x="457200" y="5148072"/>
            <a:ext cx="777240" cy="365760"/>
          </a:xfrm>
          <a:prstGeom prst="rect">
            <a:avLst/>
          </a:prstGeom>
          <a:noFill/>
          <a:ln/>
        </p:spPr>
        <p:txBody>
          <a:bodyPr wrap="square" lIns="0" tIns="0" rIns="0" bIns="0" rtlCol="0" anchor="ctr"/>
          <a:lstStyle/>
          <a:p>
            <a:pPr marL="0" indent="0" algn="r">
              <a:buNone/>
            </a:pPr>
            <a:r>
              <a:rPr lang="en-US" sz="1000" b="1" dirty="0">
                <a:solidFill>
                  <a:schemeClr val="tx1"/>
                </a:solidFill>
                <a:latin typeface="Aptos" panose="020B0004020202020204" pitchFamily="34" charset="0"/>
                <a:ea typeface="Calibri" pitchFamily="34" charset="-122"/>
                <a:cs typeface="Calibri" pitchFamily="34" charset="-120"/>
              </a:rPr>
              <a:t>28 Apr '26</a:t>
            </a:r>
            <a:endParaRPr lang="en-US" sz="1000" dirty="0">
              <a:solidFill>
                <a:schemeClr val="tx1"/>
              </a:solidFill>
              <a:latin typeface="Aptos" panose="020B0004020202020204" pitchFamily="34" charset="0"/>
            </a:endParaRPr>
          </a:p>
        </p:txBody>
      </p:sp>
      <p:sp>
        <p:nvSpPr>
          <p:cNvPr id="35" name="Shape 29"/>
          <p:cNvSpPr/>
          <p:nvPr/>
        </p:nvSpPr>
        <p:spPr>
          <a:xfrm>
            <a:off x="1261872" y="5193792"/>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36" name="Text 30"/>
          <p:cNvSpPr/>
          <p:nvPr/>
        </p:nvSpPr>
        <p:spPr>
          <a:xfrm>
            <a:off x="1554480" y="5074920"/>
            <a:ext cx="5897880" cy="594360"/>
          </a:xfrm>
          <a:prstGeom prst="rect">
            <a:avLst/>
          </a:prstGeom>
          <a:noFill/>
          <a:ln/>
        </p:spPr>
        <p:txBody>
          <a:bodyPr wrap="square" lIns="0" tIns="0" rIns="0" bIns="0" rtlCol="0" anchor="t"/>
          <a:lstStyle/>
          <a:p>
            <a:pPr marL="0" indent="0">
              <a:lnSpc>
                <a:spcPct val="98000"/>
              </a:lnSpc>
              <a:buNone/>
            </a:pPr>
            <a:r>
              <a:rPr lang="en-US" sz="930" dirty="0">
                <a:solidFill>
                  <a:schemeClr val="tx1"/>
                </a:solidFill>
                <a:latin typeface="Aptos" panose="020B0004020202020204" pitchFamily="34" charset="0"/>
                <a:ea typeface="Calibri" pitchFamily="34" charset="-122"/>
                <a:cs typeface="Calibri" pitchFamily="34" charset="-120"/>
              </a:rPr>
              <a:t>UK Parliament's Defence Committee warns of 'shortcomings and failings', flagging delays to the Barrow shipyard upgrade and submarine availability as 'critically low'.</a:t>
            </a:r>
            <a:endParaRPr lang="en-US" sz="930" dirty="0">
              <a:solidFill>
                <a:schemeClr val="tx1"/>
              </a:solidFill>
              <a:latin typeface="Aptos" panose="020B0004020202020204" pitchFamily="34" charset="0"/>
            </a:endParaRPr>
          </a:p>
        </p:txBody>
      </p:sp>
      <p:sp>
        <p:nvSpPr>
          <p:cNvPr id="37" name="Text 31"/>
          <p:cNvSpPr/>
          <p:nvPr/>
        </p:nvSpPr>
        <p:spPr>
          <a:xfrm>
            <a:off x="457200" y="5696712"/>
            <a:ext cx="777240" cy="365760"/>
          </a:xfrm>
          <a:prstGeom prst="rect">
            <a:avLst/>
          </a:prstGeom>
          <a:noFill/>
          <a:ln/>
        </p:spPr>
        <p:txBody>
          <a:bodyPr wrap="square" lIns="0" tIns="0" rIns="0" bIns="0" rtlCol="0" anchor="ctr"/>
          <a:lstStyle/>
          <a:p>
            <a:pPr marL="0" indent="0" algn="r">
              <a:buNone/>
            </a:pPr>
            <a:r>
              <a:rPr lang="en-US" sz="1000" b="1" dirty="0">
                <a:solidFill>
                  <a:schemeClr val="tx1"/>
                </a:solidFill>
                <a:latin typeface="Aptos" panose="020B0004020202020204" pitchFamily="34" charset="0"/>
                <a:ea typeface="Calibri" pitchFamily="34" charset="-122"/>
                <a:cs typeface="Calibri" pitchFamily="34" charset="-120"/>
              </a:rPr>
              <a:t>May '26</a:t>
            </a:r>
            <a:endParaRPr lang="en-US" sz="1000" dirty="0">
              <a:solidFill>
                <a:schemeClr val="tx1"/>
              </a:solidFill>
              <a:latin typeface="Aptos" panose="020B0004020202020204" pitchFamily="34" charset="0"/>
            </a:endParaRPr>
          </a:p>
        </p:txBody>
      </p:sp>
      <p:sp>
        <p:nvSpPr>
          <p:cNvPr id="38" name="Shape 32"/>
          <p:cNvSpPr/>
          <p:nvPr/>
        </p:nvSpPr>
        <p:spPr>
          <a:xfrm>
            <a:off x="1261872" y="5742432"/>
            <a:ext cx="128016" cy="128016"/>
          </a:xfrm>
          <a:prstGeom prst="ellipse">
            <a:avLst/>
          </a:prstGeom>
          <a:solidFill>
            <a:srgbClr val="1FB6A6"/>
          </a:solidFill>
          <a:ln w="19050">
            <a:solidFill>
              <a:srgbClr val="0B1F3A"/>
            </a:solidFill>
            <a:prstDash val="solid"/>
          </a:ln>
        </p:spPr>
        <p:txBody>
          <a:bodyPr/>
          <a:lstStyle/>
          <a:p>
            <a:endParaRPr lang="en-GB">
              <a:solidFill>
                <a:schemeClr val="tx1"/>
              </a:solidFill>
              <a:latin typeface="Aptos" panose="020B0004020202020204" pitchFamily="34" charset="0"/>
            </a:endParaRPr>
          </a:p>
        </p:txBody>
      </p:sp>
      <p:sp>
        <p:nvSpPr>
          <p:cNvPr id="39" name="Text 33"/>
          <p:cNvSpPr/>
          <p:nvPr/>
        </p:nvSpPr>
        <p:spPr>
          <a:xfrm>
            <a:off x="1554480" y="5623560"/>
            <a:ext cx="5897880" cy="594360"/>
          </a:xfrm>
          <a:prstGeom prst="rect">
            <a:avLst/>
          </a:prstGeom>
          <a:noFill/>
          <a:ln/>
        </p:spPr>
        <p:txBody>
          <a:bodyPr wrap="square" lIns="0" tIns="0" rIns="0" bIns="0" rtlCol="0" anchor="t"/>
          <a:lstStyle/>
          <a:p>
            <a:pPr marL="0" indent="0">
              <a:lnSpc>
                <a:spcPct val="98000"/>
              </a:lnSpc>
              <a:buNone/>
            </a:pPr>
            <a:r>
              <a:rPr lang="en-US" sz="930" dirty="0">
                <a:solidFill>
                  <a:schemeClr val="tx1"/>
                </a:solidFill>
                <a:latin typeface="Aptos" panose="020B0004020202020204" pitchFamily="34" charset="0"/>
                <a:ea typeface="Calibri" pitchFamily="34" charset="-122"/>
                <a:cs typeface="Calibri" pitchFamily="34" charset="-120"/>
              </a:rPr>
              <a:t>Defence Secretary John Healey confirms four PWR3+ reactors are under construction at the expanded Rolls-Royce Raynesway facility in Derby.</a:t>
            </a:r>
            <a:endParaRPr lang="en-US" sz="930" dirty="0">
              <a:solidFill>
                <a:schemeClr val="tx1"/>
              </a:solidFill>
              <a:latin typeface="Aptos" panose="020B0004020202020204" pitchFamily="34" charset="0"/>
            </a:endParaRPr>
          </a:p>
        </p:txBody>
      </p:sp>
      <p:sp>
        <p:nvSpPr>
          <p:cNvPr id="40" name="Shape 34"/>
          <p:cNvSpPr/>
          <p:nvPr/>
        </p:nvSpPr>
        <p:spPr>
          <a:xfrm>
            <a:off x="7772400" y="2606040"/>
            <a:ext cx="3977640" cy="3959352"/>
          </a:xfrm>
          <a:prstGeom prst="roundRect">
            <a:avLst>
              <a:gd name="adj" fmla="val 2133"/>
            </a:avLst>
          </a:prstGeom>
          <a:solidFill>
            <a:srgbClr val="132A4E"/>
          </a:solidFill>
          <a:ln/>
          <a:effectLst>
            <a:outerShdw blurRad="76200" dist="25400" dir="2700000" algn="bl" rotWithShape="0">
              <a:srgbClr val="000000">
                <a:alpha val="25000"/>
              </a:srgbClr>
            </a:outerShdw>
          </a:effectLst>
        </p:spPr>
        <p:txBody>
          <a:bodyPr/>
          <a:lstStyle/>
          <a:p>
            <a:endParaRPr lang="en-GB">
              <a:latin typeface="Aptos" panose="020B0004020202020204" pitchFamily="34" charset="0"/>
            </a:endParaRPr>
          </a:p>
        </p:txBody>
      </p:sp>
      <p:pic>
        <p:nvPicPr>
          <p:cNvPr id="41" name="Image 4" descr="preencoded.png"/>
          <p:cNvPicPr>
            <a:picLocks noChangeAspect="1"/>
          </p:cNvPicPr>
          <p:nvPr/>
        </p:nvPicPr>
        <p:blipFill>
          <a:blip r:embed="rId7"/>
          <a:stretch>
            <a:fillRect/>
          </a:stretch>
        </p:blipFill>
        <p:spPr>
          <a:xfrm>
            <a:off x="8001000" y="2788920"/>
            <a:ext cx="310896" cy="310896"/>
          </a:xfrm>
          <a:prstGeom prst="rect">
            <a:avLst/>
          </a:prstGeom>
        </p:spPr>
      </p:pic>
      <p:sp>
        <p:nvSpPr>
          <p:cNvPr id="42" name="Text 35"/>
          <p:cNvSpPr/>
          <p:nvPr/>
        </p:nvSpPr>
        <p:spPr>
          <a:xfrm>
            <a:off x="8412480" y="2788920"/>
            <a:ext cx="3063240" cy="310896"/>
          </a:xfrm>
          <a:prstGeom prst="rect">
            <a:avLst/>
          </a:prstGeom>
          <a:noFill/>
          <a:ln/>
        </p:spPr>
        <p:txBody>
          <a:bodyPr wrap="square" lIns="0" tIns="0" rIns="0" bIns="0" rtlCol="0" anchor="ctr"/>
          <a:lstStyle/>
          <a:p>
            <a:pPr marL="0" indent="0">
              <a:buNone/>
            </a:pPr>
            <a:r>
              <a:rPr lang="en-US" sz="1250" b="1" kern="0" spc="50" dirty="0">
                <a:solidFill>
                  <a:srgbClr val="1FB6A6"/>
                </a:solidFill>
                <a:latin typeface="Aptos" panose="020B0004020202020204" pitchFamily="34" charset="0"/>
                <a:ea typeface="Calibri" pitchFamily="34" charset="-122"/>
                <a:cs typeface="Calibri" pitchFamily="34" charset="-120"/>
              </a:rPr>
              <a:t>WHAT IT MEANS FOR YOU</a:t>
            </a:r>
            <a:endParaRPr lang="en-US" sz="1250" dirty="0">
              <a:latin typeface="Aptos" panose="020B0004020202020204" pitchFamily="34" charset="0"/>
            </a:endParaRPr>
          </a:p>
        </p:txBody>
      </p:sp>
      <p:sp>
        <p:nvSpPr>
          <p:cNvPr id="43" name="Text 36"/>
          <p:cNvSpPr/>
          <p:nvPr/>
        </p:nvSpPr>
        <p:spPr>
          <a:xfrm>
            <a:off x="8046720" y="3172968"/>
            <a:ext cx="3429000" cy="2679192"/>
          </a:xfrm>
          <a:prstGeom prst="rect">
            <a:avLst/>
          </a:prstGeom>
          <a:noFill/>
          <a:ln/>
        </p:spPr>
        <p:txBody>
          <a:bodyPr wrap="square" lIns="0" tIns="0" rIns="0" bIns="0" rtlCol="0" anchor="t"/>
          <a:lstStyle/>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This is the largest sustained nuclear manufacturing programme in this whole briefing series — up to 12 boats, one every 18 months, 21,000 jobs at peak, with billions already committed to Barrow and Derby.</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There's no vendor competition here: Rolls-Royce Submarines (reactors, Derby) and BAE Systems (hulls/assembly, Barrow) are fixed primes — the opportunity for SMEs is as tier 2/3 suppliers into their established chains, including Cardiff and Glasgow.</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Genuine delivery risk is on the record: Parliament's own Defence Committee flagged shipyard investment delays and 'critically low' submarine availability — a reminder to weigh real execution risk against the funding headlines.</a:t>
            </a:r>
          </a:p>
          <a:p>
            <a:pPr marL="342900" indent="-342900">
              <a:lnSpc>
                <a:spcPct val="108000"/>
              </a:lnSpc>
              <a:spcAft>
                <a:spcPts val="1000"/>
              </a:spcAft>
              <a:buClr>
                <a:schemeClr val="bg1"/>
              </a:buClr>
              <a:buSzPct val="100000"/>
              <a:buFont typeface="Wingdings" pitchFamily="2" charset="2"/>
              <a:buChar char="§"/>
            </a:pPr>
            <a:r>
              <a:rPr lang="en-US" sz="1100" dirty="0">
                <a:solidFill>
                  <a:srgbClr val="FFFFFF"/>
                </a:solidFill>
                <a:latin typeface="Aptos" panose="020B0004020202020204" pitchFamily="34" charset="0"/>
                <a:cs typeface="Calibri" pitchFamily="34" charset="-120"/>
              </a:rPr>
              <a:t>The trilateral structure is opening two-way industrial access, with Australian firms now qualifying into UK supply chains and vice versa — a sign the ecosystem is becoming genuinely international.</a:t>
            </a:r>
          </a:p>
        </p:txBody>
      </p:sp>
    </p:spTree>
    <p:extLst>
      <p:ext uri="{BB962C8B-B14F-4D97-AF65-F5344CB8AC3E}">
        <p14:creationId xmlns:p14="http://schemas.microsoft.com/office/powerpoint/2010/main" val="669700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2A6FE-8A65-8380-250C-7C1261043D04}"/>
              </a:ext>
            </a:extLst>
          </p:cNvPr>
          <p:cNvSpPr>
            <a:spLocks noGrp="1"/>
          </p:cNvSpPr>
          <p:nvPr>
            <p:ph type="title"/>
          </p:nvPr>
        </p:nvSpPr>
        <p:spPr/>
        <p:txBody>
          <a:bodyPr/>
          <a:lstStyle/>
          <a:p>
            <a:r>
              <a:rPr lang="en-GB" dirty="0"/>
              <a:t>Country</a:t>
            </a:r>
          </a:p>
        </p:txBody>
      </p:sp>
      <p:sp>
        <p:nvSpPr>
          <p:cNvPr id="3" name="Text Placeholder 2">
            <a:extLst>
              <a:ext uri="{FF2B5EF4-FFF2-40B4-BE49-F238E27FC236}">
                <a16:creationId xmlns:a16="http://schemas.microsoft.com/office/drawing/2014/main" id="{67B7A5EA-BBB9-D90C-AA5C-818F0945BD1E}"/>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264346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D039D-AA8E-2A83-7F81-6EAFA03AD1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250AD-3297-AE01-96AB-AD48A429C759}"/>
              </a:ext>
            </a:extLst>
          </p:cNvPr>
          <p:cNvSpPr>
            <a:spLocks noGrp="1"/>
          </p:cNvSpPr>
          <p:nvPr>
            <p:ph type="title"/>
          </p:nvPr>
        </p:nvSpPr>
        <p:spPr/>
        <p:txBody>
          <a:bodyPr/>
          <a:lstStyle/>
          <a:p>
            <a:r>
              <a:rPr lang="en-GB" dirty="0"/>
              <a:t>Country</a:t>
            </a:r>
          </a:p>
        </p:txBody>
      </p:sp>
      <p:sp>
        <p:nvSpPr>
          <p:cNvPr id="3" name="Text Placeholder 2">
            <a:extLst>
              <a:ext uri="{FF2B5EF4-FFF2-40B4-BE49-F238E27FC236}">
                <a16:creationId xmlns:a16="http://schemas.microsoft.com/office/drawing/2014/main" id="{A7C82F9F-2EA3-757D-F670-FC42D01F62A0}"/>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184527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2233D"/>
          </a:solidFill>
          <a:ln/>
        </p:spPr>
        <p:txBody>
          <a:bodyPr/>
          <a:lstStyle/>
          <a:p>
            <a:endParaRPr lang="en-GB"/>
          </a:p>
        </p:txBody>
      </p:sp>
      <p:sp>
        <p:nvSpPr>
          <p:cNvPr id="3" name="Text 1"/>
          <p:cNvSpPr/>
          <p:nvPr/>
        </p:nvSpPr>
        <p:spPr>
          <a:xfrm>
            <a:off x="457200" y="118872"/>
            <a:ext cx="8869680" cy="384048"/>
          </a:xfrm>
          <a:prstGeom prst="rect">
            <a:avLst/>
          </a:prstGeom>
          <a:noFill/>
          <a:ln/>
        </p:spPr>
        <p:txBody>
          <a:bodyPr wrap="square" lIns="0" tIns="0" rIns="0" bIns="0" rtlCol="0" anchor="ctr"/>
          <a:lstStyle/>
          <a:p>
            <a:pPr marL="0" indent="0">
              <a:buNone/>
            </a:pPr>
            <a:r>
              <a:rPr lang="en-US" b="1" kern="0" spc="130" dirty="0">
                <a:solidFill>
                  <a:srgbClr val="FF0000"/>
                </a:solidFill>
                <a:latin typeface="Calibri" pitchFamily="34" charset="0"/>
                <a:cs typeface="Calibri" pitchFamily="34" charset="-120"/>
              </a:rPr>
              <a:t>SOUTH AFRICA </a:t>
            </a:r>
            <a:r>
              <a:rPr lang="en-US" sz="1500" b="1" kern="0" spc="130" dirty="0">
                <a:solidFill>
                  <a:srgbClr val="9FB6CC"/>
                </a:solidFill>
                <a:latin typeface="Calibri" pitchFamily="34" charset="0"/>
                <a:ea typeface="Calibri" pitchFamily="34" charset="-122"/>
                <a:cs typeface="Calibri" pitchFamily="34" charset="-120"/>
              </a:rPr>
              <a:t>NUCLEAR PROGRAMME LANDSCAPE</a:t>
            </a:r>
            <a:endParaRPr lang="en-US" sz="1500" dirty="0"/>
          </a:p>
        </p:txBody>
      </p:sp>
      <p:sp>
        <p:nvSpPr>
          <p:cNvPr id="4" name="Text 2"/>
          <p:cNvSpPr/>
          <p:nvPr/>
        </p:nvSpPr>
        <p:spPr>
          <a:xfrm>
            <a:off x="457200" y="411480"/>
            <a:ext cx="86868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Programme Overview at a Glance</a:t>
            </a:r>
            <a:endParaRPr lang="en-US" sz="2600" dirty="0"/>
          </a:p>
        </p:txBody>
      </p:sp>
      <p:sp>
        <p:nvSpPr>
          <p:cNvPr id="6" name="Shape 4"/>
          <p:cNvSpPr/>
          <p:nvPr/>
        </p:nvSpPr>
        <p:spPr>
          <a:xfrm>
            <a:off x="4289196" y="1143000"/>
            <a:ext cx="118872" cy="118872"/>
          </a:xfrm>
          <a:prstGeom prst="ellipse">
            <a:avLst/>
          </a:prstGeom>
          <a:solidFill>
            <a:srgbClr val="1E8E5A"/>
          </a:solidFill>
          <a:ln/>
        </p:spPr>
        <p:txBody>
          <a:bodyPr/>
          <a:lstStyle/>
          <a:p>
            <a:endParaRPr lang="en-GB"/>
          </a:p>
        </p:txBody>
      </p:sp>
      <p:sp>
        <p:nvSpPr>
          <p:cNvPr id="7" name="Text 5"/>
          <p:cNvSpPr/>
          <p:nvPr/>
        </p:nvSpPr>
        <p:spPr>
          <a:xfrm>
            <a:off x="4472076" y="1060704"/>
            <a:ext cx="201168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Operational / active delivery</a:t>
            </a:r>
            <a:endParaRPr lang="en-US" sz="1050" dirty="0"/>
          </a:p>
        </p:txBody>
      </p:sp>
      <p:sp>
        <p:nvSpPr>
          <p:cNvPr id="8" name="Shape 6"/>
          <p:cNvSpPr/>
          <p:nvPr/>
        </p:nvSpPr>
        <p:spPr>
          <a:xfrm>
            <a:off x="6620916" y="1143000"/>
            <a:ext cx="118872" cy="118872"/>
          </a:xfrm>
          <a:prstGeom prst="ellipse">
            <a:avLst/>
          </a:prstGeom>
          <a:solidFill>
            <a:srgbClr val="C77B17"/>
          </a:solidFill>
          <a:ln/>
        </p:spPr>
        <p:txBody>
          <a:bodyPr/>
          <a:lstStyle/>
          <a:p>
            <a:endParaRPr lang="en-GB"/>
          </a:p>
        </p:txBody>
      </p:sp>
      <p:sp>
        <p:nvSpPr>
          <p:cNvPr id="9" name="Text 7"/>
          <p:cNvSpPr/>
          <p:nvPr/>
        </p:nvSpPr>
        <p:spPr>
          <a:xfrm>
            <a:off x="6803796" y="1060704"/>
            <a:ext cx="246888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Policy mandate / pre-procurement / R&amp;D</a:t>
            </a:r>
            <a:endParaRPr lang="en-US" sz="1050" dirty="0"/>
          </a:p>
        </p:txBody>
      </p:sp>
      <p:sp>
        <p:nvSpPr>
          <p:cNvPr id="10" name="Shape 8"/>
          <p:cNvSpPr/>
          <p:nvPr/>
        </p:nvSpPr>
        <p:spPr>
          <a:xfrm>
            <a:off x="9409836" y="1143000"/>
            <a:ext cx="118872" cy="118872"/>
          </a:xfrm>
          <a:prstGeom prst="ellipse">
            <a:avLst/>
          </a:prstGeom>
          <a:solidFill>
            <a:srgbClr val="6B7785"/>
          </a:solidFill>
          <a:ln/>
        </p:spPr>
        <p:txBody>
          <a:bodyPr/>
          <a:lstStyle/>
          <a:p>
            <a:endParaRPr lang="en-GB"/>
          </a:p>
        </p:txBody>
      </p:sp>
      <p:sp>
        <p:nvSpPr>
          <p:cNvPr id="11" name="Text 9"/>
          <p:cNvSpPr/>
          <p:nvPr/>
        </p:nvSpPr>
        <p:spPr>
          <a:xfrm>
            <a:off x="9592716" y="1060704"/>
            <a:ext cx="146304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Concept / early stage</a:t>
            </a:r>
            <a:endParaRPr lang="en-US" sz="1050" dirty="0"/>
          </a:p>
        </p:txBody>
      </p:sp>
      <p:sp>
        <p:nvSpPr>
          <p:cNvPr id="12" name="Shape 10"/>
          <p:cNvSpPr/>
          <p:nvPr/>
        </p:nvSpPr>
        <p:spPr>
          <a:xfrm>
            <a:off x="457200" y="141732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13" name="Shape 11"/>
          <p:cNvSpPr/>
          <p:nvPr/>
        </p:nvSpPr>
        <p:spPr>
          <a:xfrm>
            <a:off x="713232" y="1655064"/>
            <a:ext cx="530352" cy="530352"/>
          </a:xfrm>
          <a:prstGeom prst="ellipse">
            <a:avLst/>
          </a:prstGeom>
          <a:solidFill>
            <a:srgbClr val="1B3358"/>
          </a:solidFill>
          <a:ln/>
        </p:spPr>
        <p:txBody>
          <a:bodyPr/>
          <a:lstStyle/>
          <a:p>
            <a:endParaRPr lang="en-GB"/>
          </a:p>
        </p:txBody>
      </p:sp>
      <p:pic>
        <p:nvPicPr>
          <p:cNvPr id="14" name="Image 0" descr="preencoded.png"/>
          <p:cNvPicPr>
            <a:picLocks noChangeAspect="1"/>
          </p:cNvPicPr>
          <p:nvPr/>
        </p:nvPicPr>
        <p:blipFill>
          <a:blip r:embed="rId3"/>
          <a:stretch>
            <a:fillRect/>
          </a:stretch>
        </p:blipFill>
        <p:spPr>
          <a:xfrm>
            <a:off x="832104" y="1773936"/>
            <a:ext cx="292608" cy="292608"/>
          </a:xfrm>
          <a:prstGeom prst="rect">
            <a:avLst/>
          </a:prstGeom>
        </p:spPr>
      </p:pic>
      <p:sp>
        <p:nvSpPr>
          <p:cNvPr id="15" name="Shape 12"/>
          <p:cNvSpPr/>
          <p:nvPr/>
        </p:nvSpPr>
        <p:spPr>
          <a:xfrm>
            <a:off x="3361792" y="1655064"/>
            <a:ext cx="2377440" cy="274320"/>
          </a:xfrm>
          <a:prstGeom prst="roundRect">
            <a:avLst>
              <a:gd name="adj" fmla="val 166667"/>
            </a:avLst>
          </a:prstGeom>
          <a:solidFill>
            <a:srgbClr val="1E8E5A"/>
          </a:solidFill>
          <a:ln/>
        </p:spPr>
        <p:txBody>
          <a:bodyPr/>
          <a:lstStyle/>
          <a:p>
            <a:endParaRPr lang="en-GB"/>
          </a:p>
        </p:txBody>
      </p:sp>
      <p:sp>
        <p:nvSpPr>
          <p:cNvPr id="16" name="Text 13"/>
          <p:cNvSpPr/>
          <p:nvPr/>
        </p:nvSpPr>
        <p:spPr>
          <a:xfrm>
            <a:off x="3361792" y="1655064"/>
            <a:ext cx="237744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OPERATIONAL (RELICENSED)</a:t>
            </a:r>
            <a:endParaRPr lang="en-US" sz="950" dirty="0"/>
          </a:p>
        </p:txBody>
      </p:sp>
      <p:sp>
        <p:nvSpPr>
          <p:cNvPr id="17" name="Text 14"/>
          <p:cNvSpPr/>
          <p:nvPr/>
        </p:nvSpPr>
        <p:spPr>
          <a:xfrm>
            <a:off x="713232" y="2331720"/>
            <a:ext cx="4989424" cy="457200"/>
          </a:xfrm>
          <a:prstGeom prst="rect">
            <a:avLst/>
          </a:prstGeom>
          <a:noFill/>
          <a:ln/>
        </p:spPr>
        <p:txBody>
          <a:bodyPr wrap="square" lIns="0" tIns="0" rIns="0" bIns="0" rtlCol="0" anchor="t"/>
          <a:lstStyle/>
          <a:p>
            <a:pPr marL="0" indent="0">
              <a:buNone/>
            </a:pPr>
            <a:r>
              <a:rPr lang="en-US" sz="1650" b="1" dirty="0">
                <a:solidFill>
                  <a:srgbClr val="12233D"/>
                </a:solidFill>
                <a:latin typeface="Calibri" pitchFamily="34" charset="0"/>
                <a:ea typeface="Calibri" pitchFamily="34" charset="-122"/>
                <a:cs typeface="Calibri" pitchFamily="34" charset="-120"/>
              </a:rPr>
              <a:t>Koeberg Units 1 &amp; 2</a:t>
            </a:r>
            <a:endParaRPr lang="en-US" sz="1650" dirty="0"/>
          </a:p>
        </p:txBody>
      </p:sp>
      <p:sp>
        <p:nvSpPr>
          <p:cNvPr id="18" name="Text 15"/>
          <p:cNvSpPr/>
          <p:nvPr/>
        </p:nvSpPr>
        <p:spPr>
          <a:xfrm>
            <a:off x="713232" y="280720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1,860 MWe combined  ·  ~5% of SA electricity</a:t>
            </a:r>
            <a:endParaRPr lang="en-US" sz="1150" dirty="0"/>
          </a:p>
        </p:txBody>
      </p:sp>
      <p:sp>
        <p:nvSpPr>
          <p:cNvPr id="19" name="Shape 16"/>
          <p:cNvSpPr/>
          <p:nvPr/>
        </p:nvSpPr>
        <p:spPr>
          <a:xfrm>
            <a:off x="713232" y="3172968"/>
            <a:ext cx="4989424" cy="0"/>
          </a:xfrm>
          <a:prstGeom prst="line">
            <a:avLst/>
          </a:prstGeom>
          <a:noFill/>
          <a:ln w="9525">
            <a:solidFill>
              <a:srgbClr val="D6E0E8"/>
            </a:solidFill>
            <a:prstDash val="solid"/>
          </a:ln>
        </p:spPr>
        <p:txBody>
          <a:bodyPr/>
          <a:lstStyle/>
          <a:p>
            <a:endParaRPr lang="en-GB"/>
          </a:p>
        </p:txBody>
      </p:sp>
      <p:sp>
        <p:nvSpPr>
          <p:cNvPr id="20" name="Text 17"/>
          <p:cNvSpPr/>
          <p:nvPr/>
        </p:nvSpPr>
        <p:spPr>
          <a:xfrm>
            <a:off x="713232" y="328269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50" dirty="0">
                <a:solidFill>
                  <a:srgbClr val="12233D"/>
                </a:solidFill>
                <a:latin typeface="Calibri" pitchFamily="34" charset="0"/>
                <a:ea typeface="Calibri" pitchFamily="34" charset="-122"/>
                <a:cs typeface="Calibri" pitchFamily="34" charset="-120"/>
              </a:rPr>
              <a:t>Licensed to 2044 (U1) and 2045 (U2) · U2 record 365-day run, Mar-26</a:t>
            </a:r>
            <a:endParaRPr lang="en-US" sz="900" dirty="0"/>
          </a:p>
        </p:txBody>
      </p:sp>
      <p:sp>
        <p:nvSpPr>
          <p:cNvPr id="21" name="Text 18"/>
          <p:cNvSpPr/>
          <p:nvPr/>
        </p:nvSpPr>
        <p:spPr>
          <a:xfrm>
            <a:off x="713232" y="3488436"/>
            <a:ext cx="4989424" cy="274320"/>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Eskom · NNR · Framatome</a:t>
            </a:r>
            <a:endParaRPr lang="en-US" sz="1050" dirty="0"/>
          </a:p>
        </p:txBody>
      </p:sp>
      <p:sp>
        <p:nvSpPr>
          <p:cNvPr id="22" name="Shape 19"/>
          <p:cNvSpPr/>
          <p:nvPr/>
        </p:nvSpPr>
        <p:spPr>
          <a:xfrm>
            <a:off x="6233008" y="141732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23" name="Shape 20"/>
          <p:cNvSpPr/>
          <p:nvPr/>
        </p:nvSpPr>
        <p:spPr>
          <a:xfrm>
            <a:off x="6489040" y="1655064"/>
            <a:ext cx="530352" cy="530352"/>
          </a:xfrm>
          <a:prstGeom prst="ellipse">
            <a:avLst/>
          </a:prstGeom>
          <a:solidFill>
            <a:srgbClr val="1B3358"/>
          </a:solidFill>
          <a:ln/>
        </p:spPr>
        <p:txBody>
          <a:bodyPr/>
          <a:lstStyle/>
          <a:p>
            <a:endParaRPr lang="en-GB"/>
          </a:p>
        </p:txBody>
      </p:sp>
      <p:pic>
        <p:nvPicPr>
          <p:cNvPr id="24" name="Image 1" descr="preencoded.png"/>
          <p:cNvPicPr>
            <a:picLocks noChangeAspect="1"/>
          </p:cNvPicPr>
          <p:nvPr/>
        </p:nvPicPr>
        <p:blipFill>
          <a:blip r:embed="rId4"/>
          <a:stretch>
            <a:fillRect/>
          </a:stretch>
        </p:blipFill>
        <p:spPr>
          <a:xfrm>
            <a:off x="6607912" y="1773936"/>
            <a:ext cx="292608" cy="292608"/>
          </a:xfrm>
          <a:prstGeom prst="rect">
            <a:avLst/>
          </a:prstGeom>
        </p:spPr>
      </p:pic>
      <p:sp>
        <p:nvSpPr>
          <p:cNvPr id="25" name="Shape 21"/>
          <p:cNvSpPr/>
          <p:nvPr/>
        </p:nvSpPr>
        <p:spPr>
          <a:xfrm>
            <a:off x="9137599" y="1655064"/>
            <a:ext cx="2377440" cy="274320"/>
          </a:xfrm>
          <a:prstGeom prst="roundRect">
            <a:avLst>
              <a:gd name="adj" fmla="val 166667"/>
            </a:avLst>
          </a:prstGeom>
          <a:solidFill>
            <a:srgbClr val="C77B17"/>
          </a:solidFill>
          <a:ln/>
        </p:spPr>
        <p:txBody>
          <a:bodyPr/>
          <a:lstStyle/>
          <a:p>
            <a:endParaRPr lang="en-GB"/>
          </a:p>
        </p:txBody>
      </p:sp>
      <p:sp>
        <p:nvSpPr>
          <p:cNvPr id="26" name="Text 22"/>
          <p:cNvSpPr/>
          <p:nvPr/>
        </p:nvSpPr>
        <p:spPr>
          <a:xfrm>
            <a:off x="9137599" y="1655064"/>
            <a:ext cx="237744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PRE-PROCUREMENT</a:t>
            </a:r>
            <a:endParaRPr lang="en-US" sz="950" dirty="0"/>
          </a:p>
        </p:txBody>
      </p:sp>
      <p:sp>
        <p:nvSpPr>
          <p:cNvPr id="27" name="Text 23"/>
          <p:cNvSpPr/>
          <p:nvPr/>
        </p:nvSpPr>
        <p:spPr>
          <a:xfrm>
            <a:off x="6489040" y="2331720"/>
            <a:ext cx="4989424" cy="457200"/>
          </a:xfrm>
          <a:prstGeom prst="rect">
            <a:avLst/>
          </a:prstGeom>
          <a:noFill/>
          <a:ln/>
        </p:spPr>
        <p:txBody>
          <a:bodyPr wrap="square" lIns="0" tIns="0" rIns="0" bIns="0" rtlCol="0" anchor="t"/>
          <a:lstStyle/>
          <a:p>
            <a:pPr marL="0" indent="0">
              <a:buNone/>
            </a:pPr>
            <a:r>
              <a:rPr lang="en-US" sz="1650" b="1" dirty="0">
                <a:solidFill>
                  <a:srgbClr val="12233D"/>
                </a:solidFill>
                <a:latin typeface="Calibri" pitchFamily="34" charset="0"/>
                <a:ea typeface="Calibri" pitchFamily="34" charset="-122"/>
                <a:cs typeface="Calibri" pitchFamily="34" charset="-120"/>
              </a:rPr>
              <a:t>New Build — Duynefontein/Thyspunt</a:t>
            </a:r>
            <a:endParaRPr lang="en-US" sz="1650" dirty="0"/>
          </a:p>
        </p:txBody>
      </p:sp>
      <p:sp>
        <p:nvSpPr>
          <p:cNvPr id="28" name="Text 24"/>
          <p:cNvSpPr/>
          <p:nvPr/>
        </p:nvSpPr>
        <p:spPr>
          <a:xfrm>
            <a:off x="6489040" y="280720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5,200 MWe by 2039  ·  1,200 MWe by 2036</a:t>
            </a:r>
            <a:endParaRPr lang="en-US" sz="1150" dirty="0"/>
          </a:p>
        </p:txBody>
      </p:sp>
      <p:sp>
        <p:nvSpPr>
          <p:cNvPr id="29" name="Shape 25"/>
          <p:cNvSpPr/>
          <p:nvPr/>
        </p:nvSpPr>
        <p:spPr>
          <a:xfrm>
            <a:off x="6489040" y="3172968"/>
            <a:ext cx="4989424" cy="0"/>
          </a:xfrm>
          <a:prstGeom prst="line">
            <a:avLst/>
          </a:prstGeom>
          <a:noFill/>
          <a:ln w="9525">
            <a:solidFill>
              <a:srgbClr val="D6E0E8"/>
            </a:solidFill>
            <a:prstDash val="solid"/>
          </a:ln>
        </p:spPr>
        <p:txBody>
          <a:bodyPr/>
          <a:lstStyle/>
          <a:p>
            <a:endParaRPr lang="en-GB"/>
          </a:p>
        </p:txBody>
      </p:sp>
      <p:sp>
        <p:nvSpPr>
          <p:cNvPr id="30" name="Text 26"/>
          <p:cNvSpPr/>
          <p:nvPr/>
        </p:nvSpPr>
        <p:spPr>
          <a:xfrm>
            <a:off x="6489040" y="328269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50" dirty="0">
                <a:solidFill>
                  <a:srgbClr val="12233D"/>
                </a:solidFill>
                <a:latin typeface="Calibri" pitchFamily="34" charset="0"/>
                <a:ea typeface="Calibri" pitchFamily="34" charset="-122"/>
                <a:cs typeface="Calibri" pitchFamily="34" charset="-120"/>
              </a:rPr>
              <a:t>Sites approved · reset RFP expected 2025/26 · no vendor selected</a:t>
            </a:r>
            <a:endParaRPr lang="en-US" sz="900" dirty="0"/>
          </a:p>
        </p:txBody>
      </p:sp>
      <p:sp>
        <p:nvSpPr>
          <p:cNvPr id="31" name="Text 27"/>
          <p:cNvSpPr/>
          <p:nvPr/>
        </p:nvSpPr>
        <p:spPr>
          <a:xfrm>
            <a:off x="6489040" y="3488436"/>
            <a:ext cx="4989424" cy="274320"/>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Eskom · DEE · NERSA · NNR</a:t>
            </a:r>
            <a:endParaRPr lang="en-US" sz="1050" dirty="0"/>
          </a:p>
        </p:txBody>
      </p:sp>
      <p:sp>
        <p:nvSpPr>
          <p:cNvPr id="32" name="Shape 28"/>
          <p:cNvSpPr/>
          <p:nvPr/>
        </p:nvSpPr>
        <p:spPr>
          <a:xfrm>
            <a:off x="457200" y="409194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33" name="Shape 29"/>
          <p:cNvSpPr/>
          <p:nvPr/>
        </p:nvSpPr>
        <p:spPr>
          <a:xfrm>
            <a:off x="713232" y="4329684"/>
            <a:ext cx="530352" cy="530352"/>
          </a:xfrm>
          <a:prstGeom prst="ellipse">
            <a:avLst/>
          </a:prstGeom>
          <a:solidFill>
            <a:srgbClr val="1B3358"/>
          </a:solidFill>
          <a:ln/>
        </p:spPr>
        <p:txBody>
          <a:bodyPr/>
          <a:lstStyle/>
          <a:p>
            <a:endParaRPr lang="en-GB"/>
          </a:p>
        </p:txBody>
      </p:sp>
      <p:pic>
        <p:nvPicPr>
          <p:cNvPr id="34" name="Image 2" descr="preencoded.png"/>
          <p:cNvPicPr>
            <a:picLocks noChangeAspect="1"/>
          </p:cNvPicPr>
          <p:nvPr/>
        </p:nvPicPr>
        <p:blipFill>
          <a:blip r:embed="rId5"/>
          <a:stretch>
            <a:fillRect/>
          </a:stretch>
        </p:blipFill>
        <p:spPr>
          <a:xfrm>
            <a:off x="832104" y="4448556"/>
            <a:ext cx="292608" cy="292608"/>
          </a:xfrm>
          <a:prstGeom prst="rect">
            <a:avLst/>
          </a:prstGeom>
        </p:spPr>
      </p:pic>
      <p:sp>
        <p:nvSpPr>
          <p:cNvPr id="35" name="Shape 30"/>
          <p:cNvSpPr/>
          <p:nvPr/>
        </p:nvSpPr>
        <p:spPr>
          <a:xfrm>
            <a:off x="3361792" y="4329684"/>
            <a:ext cx="2377440" cy="274320"/>
          </a:xfrm>
          <a:prstGeom prst="roundRect">
            <a:avLst>
              <a:gd name="adj" fmla="val 166667"/>
            </a:avLst>
          </a:prstGeom>
          <a:solidFill>
            <a:srgbClr val="C77B17"/>
          </a:solidFill>
          <a:ln/>
        </p:spPr>
        <p:txBody>
          <a:bodyPr/>
          <a:lstStyle/>
          <a:p>
            <a:endParaRPr lang="en-GB"/>
          </a:p>
        </p:txBody>
      </p:sp>
      <p:sp>
        <p:nvSpPr>
          <p:cNvPr id="36" name="Text 31"/>
          <p:cNvSpPr/>
          <p:nvPr/>
        </p:nvSpPr>
        <p:spPr>
          <a:xfrm>
            <a:off x="3361792" y="4329684"/>
            <a:ext cx="237744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R&amp;D / PRE-RFP</a:t>
            </a:r>
            <a:endParaRPr lang="en-US" sz="950" dirty="0"/>
          </a:p>
        </p:txBody>
      </p:sp>
      <p:sp>
        <p:nvSpPr>
          <p:cNvPr id="37" name="Text 32"/>
          <p:cNvSpPr/>
          <p:nvPr/>
        </p:nvSpPr>
        <p:spPr>
          <a:xfrm>
            <a:off x="713232" y="5006340"/>
            <a:ext cx="4989424" cy="457200"/>
          </a:xfrm>
          <a:prstGeom prst="rect">
            <a:avLst/>
          </a:prstGeom>
          <a:noFill/>
          <a:ln/>
        </p:spPr>
        <p:txBody>
          <a:bodyPr wrap="square" lIns="0" tIns="0" rIns="0" bIns="0" rtlCol="0" anchor="t"/>
          <a:lstStyle/>
          <a:p>
            <a:pPr marL="0" indent="0">
              <a:buNone/>
            </a:pPr>
            <a:r>
              <a:rPr lang="en-US" sz="1650" b="1" dirty="0">
                <a:solidFill>
                  <a:srgbClr val="12233D"/>
                </a:solidFill>
                <a:latin typeface="Calibri" pitchFamily="34" charset="0"/>
                <a:ea typeface="Calibri" pitchFamily="34" charset="-122"/>
                <a:cs typeface="Calibri" pitchFamily="34" charset="-120"/>
              </a:rPr>
              <a:t>SMR / PBMR Revival</a:t>
            </a:r>
            <a:endParaRPr lang="en-US" sz="1650" dirty="0"/>
          </a:p>
        </p:txBody>
      </p:sp>
      <p:sp>
        <p:nvSpPr>
          <p:cNvPr id="38" name="Text 33"/>
          <p:cNvSpPr/>
          <p:nvPr/>
        </p:nvSpPr>
        <p:spPr>
          <a:xfrm>
            <a:off x="713232" y="548182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Scale not yet specified  ·  Pelindaba (possible site)</a:t>
            </a:r>
            <a:endParaRPr lang="en-US" sz="1150" dirty="0"/>
          </a:p>
        </p:txBody>
      </p:sp>
      <p:sp>
        <p:nvSpPr>
          <p:cNvPr id="39" name="Shape 34"/>
          <p:cNvSpPr/>
          <p:nvPr/>
        </p:nvSpPr>
        <p:spPr>
          <a:xfrm>
            <a:off x="713232" y="5847588"/>
            <a:ext cx="4989424" cy="0"/>
          </a:xfrm>
          <a:prstGeom prst="line">
            <a:avLst/>
          </a:prstGeom>
          <a:noFill/>
          <a:ln w="9525">
            <a:solidFill>
              <a:srgbClr val="D6E0E8"/>
            </a:solidFill>
            <a:prstDash val="solid"/>
          </a:ln>
        </p:spPr>
        <p:txBody>
          <a:bodyPr/>
          <a:lstStyle/>
          <a:p>
            <a:endParaRPr lang="en-GB"/>
          </a:p>
        </p:txBody>
      </p:sp>
      <p:sp>
        <p:nvSpPr>
          <p:cNvPr id="40" name="Text 35"/>
          <p:cNvSpPr/>
          <p:nvPr/>
        </p:nvSpPr>
        <p:spPr>
          <a:xfrm>
            <a:off x="713232" y="595731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50" dirty="0">
                <a:solidFill>
                  <a:srgbClr val="12233D"/>
                </a:solidFill>
                <a:latin typeface="Calibri" pitchFamily="34" charset="0"/>
                <a:ea typeface="Calibri" pitchFamily="34" charset="-122"/>
                <a:cs typeface="Calibri" pitchFamily="34" charset="-120"/>
              </a:rPr>
              <a:t>Necsa preparing SMR-specific RFP</a:t>
            </a:r>
            <a:endParaRPr lang="en-US" sz="900" dirty="0"/>
          </a:p>
        </p:txBody>
      </p:sp>
      <p:sp>
        <p:nvSpPr>
          <p:cNvPr id="41" name="Text 36"/>
          <p:cNvSpPr/>
          <p:nvPr/>
        </p:nvSpPr>
        <p:spPr>
          <a:xfrm>
            <a:off x="713232" y="6163056"/>
            <a:ext cx="4989424" cy="274320"/>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Necsa · Pelchem</a:t>
            </a:r>
            <a:endParaRPr lang="en-US" sz="1050" dirty="0"/>
          </a:p>
        </p:txBody>
      </p:sp>
      <p:sp>
        <p:nvSpPr>
          <p:cNvPr id="42" name="Shape 37"/>
          <p:cNvSpPr/>
          <p:nvPr/>
        </p:nvSpPr>
        <p:spPr>
          <a:xfrm>
            <a:off x="6233008" y="409194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43" name="Shape 38"/>
          <p:cNvSpPr/>
          <p:nvPr/>
        </p:nvSpPr>
        <p:spPr>
          <a:xfrm>
            <a:off x="6489040" y="4329684"/>
            <a:ext cx="530352" cy="530352"/>
          </a:xfrm>
          <a:prstGeom prst="ellipse">
            <a:avLst/>
          </a:prstGeom>
          <a:solidFill>
            <a:srgbClr val="1B3358"/>
          </a:solidFill>
          <a:ln/>
        </p:spPr>
        <p:txBody>
          <a:bodyPr/>
          <a:lstStyle/>
          <a:p>
            <a:endParaRPr lang="en-GB"/>
          </a:p>
        </p:txBody>
      </p:sp>
      <p:pic>
        <p:nvPicPr>
          <p:cNvPr id="44" name="Image 3" descr="preencoded.png"/>
          <p:cNvPicPr>
            <a:picLocks noChangeAspect="1"/>
          </p:cNvPicPr>
          <p:nvPr/>
        </p:nvPicPr>
        <p:blipFill>
          <a:blip r:embed="rId6"/>
          <a:stretch>
            <a:fillRect/>
          </a:stretch>
        </p:blipFill>
        <p:spPr>
          <a:xfrm>
            <a:off x="6607912" y="4448556"/>
            <a:ext cx="292608" cy="292608"/>
          </a:xfrm>
          <a:prstGeom prst="rect">
            <a:avLst/>
          </a:prstGeom>
        </p:spPr>
      </p:pic>
      <p:sp>
        <p:nvSpPr>
          <p:cNvPr id="45" name="Shape 39"/>
          <p:cNvSpPr/>
          <p:nvPr/>
        </p:nvSpPr>
        <p:spPr>
          <a:xfrm>
            <a:off x="9137599" y="4329684"/>
            <a:ext cx="2377440" cy="274320"/>
          </a:xfrm>
          <a:prstGeom prst="roundRect">
            <a:avLst>
              <a:gd name="adj" fmla="val 166667"/>
            </a:avLst>
          </a:prstGeom>
          <a:solidFill>
            <a:srgbClr val="6B7785"/>
          </a:solidFill>
          <a:ln/>
        </p:spPr>
        <p:txBody>
          <a:bodyPr/>
          <a:lstStyle/>
          <a:p>
            <a:endParaRPr lang="en-GB"/>
          </a:p>
        </p:txBody>
      </p:sp>
      <p:sp>
        <p:nvSpPr>
          <p:cNvPr id="46" name="Text 40"/>
          <p:cNvSpPr/>
          <p:nvPr/>
        </p:nvSpPr>
        <p:spPr>
          <a:xfrm>
            <a:off x="9137599" y="4329684"/>
            <a:ext cx="237744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CONCEPT / EARLY DEVELOPMENT</a:t>
            </a:r>
            <a:endParaRPr lang="en-US" sz="950" dirty="0"/>
          </a:p>
        </p:txBody>
      </p:sp>
      <p:sp>
        <p:nvSpPr>
          <p:cNvPr id="47" name="Text 41"/>
          <p:cNvSpPr/>
          <p:nvPr/>
        </p:nvSpPr>
        <p:spPr>
          <a:xfrm>
            <a:off x="6489040" y="5006340"/>
            <a:ext cx="4989424" cy="457200"/>
          </a:xfrm>
          <a:prstGeom prst="rect">
            <a:avLst/>
          </a:prstGeom>
          <a:noFill/>
          <a:ln/>
        </p:spPr>
        <p:txBody>
          <a:bodyPr wrap="square" lIns="0" tIns="0" rIns="0" bIns="0" rtlCol="0" anchor="t"/>
          <a:lstStyle/>
          <a:p>
            <a:pPr marL="0" indent="0">
              <a:buNone/>
            </a:pPr>
            <a:r>
              <a:rPr lang="en-US" sz="1650" b="1" dirty="0">
                <a:solidFill>
                  <a:srgbClr val="12233D"/>
                </a:solidFill>
                <a:latin typeface="Calibri" pitchFamily="34" charset="0"/>
                <a:ea typeface="Calibri" pitchFamily="34" charset="-122"/>
                <a:cs typeface="Calibri" pitchFamily="34" charset="-120"/>
              </a:rPr>
              <a:t>BridgePower Nuclear (private)</a:t>
            </a:r>
            <a:endParaRPr lang="en-US" sz="1650" dirty="0"/>
          </a:p>
        </p:txBody>
      </p:sp>
      <p:sp>
        <p:nvSpPr>
          <p:cNvPr id="48" name="Text 42"/>
          <p:cNvSpPr/>
          <p:nvPr/>
        </p:nvSpPr>
        <p:spPr>
          <a:xfrm>
            <a:off x="6489040" y="548182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Thermal phase now  ·  “Pearl SMR” modules from 2029</a:t>
            </a:r>
            <a:endParaRPr lang="en-US" sz="1150" dirty="0"/>
          </a:p>
        </p:txBody>
      </p:sp>
      <p:sp>
        <p:nvSpPr>
          <p:cNvPr id="49" name="Shape 43"/>
          <p:cNvSpPr/>
          <p:nvPr/>
        </p:nvSpPr>
        <p:spPr>
          <a:xfrm>
            <a:off x="6489040" y="5847588"/>
            <a:ext cx="4989424" cy="0"/>
          </a:xfrm>
          <a:prstGeom prst="line">
            <a:avLst/>
          </a:prstGeom>
          <a:noFill/>
          <a:ln w="9525">
            <a:solidFill>
              <a:srgbClr val="D6E0E8"/>
            </a:solidFill>
            <a:prstDash val="solid"/>
          </a:ln>
        </p:spPr>
        <p:txBody>
          <a:bodyPr/>
          <a:lstStyle/>
          <a:p>
            <a:endParaRPr lang="en-GB"/>
          </a:p>
        </p:txBody>
      </p:sp>
      <p:sp>
        <p:nvSpPr>
          <p:cNvPr id="50" name="Text 44"/>
          <p:cNvSpPr/>
          <p:nvPr/>
        </p:nvSpPr>
        <p:spPr>
          <a:xfrm>
            <a:off x="6489040" y="595731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50" dirty="0">
                <a:solidFill>
                  <a:srgbClr val="12233D"/>
                </a:solidFill>
                <a:latin typeface="Calibri" pitchFamily="34" charset="0"/>
                <a:ea typeface="Calibri" pitchFamily="34" charset="-122"/>
                <a:cs typeface="Calibri" pitchFamily="34" charset="-120"/>
              </a:rPr>
              <a:t>Thermal phase deployable in 12–24 months</a:t>
            </a:r>
            <a:endParaRPr lang="en-US" sz="900" dirty="0"/>
          </a:p>
        </p:txBody>
      </p:sp>
      <p:sp>
        <p:nvSpPr>
          <p:cNvPr id="51" name="Text 45"/>
          <p:cNvSpPr/>
          <p:nvPr/>
        </p:nvSpPr>
        <p:spPr>
          <a:xfrm>
            <a:off x="6489040" y="6163056"/>
            <a:ext cx="4989424" cy="274320"/>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USP&amp;E · BAM Energy</a:t>
            </a:r>
            <a:endParaRPr lang="en-US" sz="1050" dirty="0"/>
          </a:p>
        </p:txBody>
      </p:sp>
      <p:pic>
        <p:nvPicPr>
          <p:cNvPr id="5" name="Picture 4">
            <a:extLst>
              <a:ext uri="{FF2B5EF4-FFF2-40B4-BE49-F238E27FC236}">
                <a16:creationId xmlns:a16="http://schemas.microsoft.com/office/drawing/2014/main" id="{CF232FE2-8503-09AA-A998-8402508E2E66}"/>
              </a:ext>
            </a:extLst>
          </p:cNvPr>
          <p:cNvPicPr>
            <a:picLocks noChangeAspect="1"/>
          </p:cNvPicPr>
          <p:nvPr/>
        </p:nvPicPr>
        <p:blipFill>
          <a:blip r:embed="rId7"/>
          <a:stretch>
            <a:fillRect/>
          </a:stretch>
        </p:blipFill>
        <p:spPr>
          <a:xfrm>
            <a:off x="11092522" y="8412"/>
            <a:ext cx="1097277" cy="1128042"/>
          </a:xfrm>
          <a:prstGeom prst="rect">
            <a:avLst/>
          </a:prstGeom>
        </p:spPr>
      </p:pic>
    </p:spTree>
    <p:extLst>
      <p:ext uri="{BB962C8B-B14F-4D97-AF65-F5344CB8AC3E}">
        <p14:creationId xmlns:p14="http://schemas.microsoft.com/office/powerpoint/2010/main" val="2654907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12233D"/>
          </a:solidFill>
          <a:ln/>
        </p:spPr>
        <p:txBody>
          <a:bodyPr/>
          <a:lstStyle/>
          <a:p>
            <a:endParaRPr lang="en-GB"/>
          </a:p>
        </p:txBody>
      </p:sp>
      <p:sp>
        <p:nvSpPr>
          <p:cNvPr id="3" name="Text 1"/>
          <p:cNvSpPr/>
          <p:nvPr/>
        </p:nvSpPr>
        <p:spPr>
          <a:xfrm>
            <a:off x="457200" y="100584"/>
            <a:ext cx="8869680" cy="347472"/>
          </a:xfrm>
          <a:prstGeom prst="rect">
            <a:avLst/>
          </a:prstGeom>
          <a:noFill/>
          <a:ln/>
        </p:spPr>
        <p:txBody>
          <a:bodyPr wrap="square" lIns="0" tIns="0" rIns="0" bIns="0" rtlCol="0" anchor="ctr"/>
          <a:lstStyle/>
          <a:p>
            <a:pPr marL="0" indent="0">
              <a:buNone/>
            </a:pPr>
            <a:r>
              <a:rPr lang="en-US" b="1" kern="0" spc="130" dirty="0">
                <a:solidFill>
                  <a:srgbClr val="FF0000"/>
                </a:solidFill>
                <a:latin typeface="Calibri" pitchFamily="34" charset="0"/>
                <a:cs typeface="Calibri" pitchFamily="34" charset="-120"/>
              </a:rPr>
              <a:t>SOUTH AFRICA </a:t>
            </a:r>
            <a:r>
              <a:rPr lang="en-US" sz="1400" b="1" kern="0" spc="130" dirty="0">
                <a:solidFill>
                  <a:srgbClr val="9FB6CC"/>
                </a:solidFill>
                <a:latin typeface="Calibri" pitchFamily="34" charset="0"/>
                <a:ea typeface="Calibri" pitchFamily="34" charset="-122"/>
                <a:cs typeface="Calibri" pitchFamily="34" charset="-120"/>
              </a:rPr>
              <a:t>NUCLEAR PROGRAMME LANDSCAPE</a:t>
            </a:r>
            <a:endParaRPr lang="en-US" sz="1400" dirty="0"/>
          </a:p>
        </p:txBody>
      </p:sp>
      <p:sp>
        <p:nvSpPr>
          <p:cNvPr id="4" name="Text 2"/>
          <p:cNvSpPr/>
          <p:nvPr/>
        </p:nvSpPr>
        <p:spPr>
          <a:xfrm>
            <a:off x="457200" y="384048"/>
            <a:ext cx="886968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Delivery Timeline, 2026–2040+</a:t>
            </a:r>
            <a:endParaRPr lang="en-US" sz="2400" dirty="0"/>
          </a:p>
        </p:txBody>
      </p:sp>
      <p:sp>
        <p:nvSpPr>
          <p:cNvPr id="6" name="Shape 4"/>
          <p:cNvSpPr/>
          <p:nvPr/>
        </p:nvSpPr>
        <p:spPr>
          <a:xfrm>
            <a:off x="5715000" y="1060704"/>
            <a:ext cx="118872" cy="118872"/>
          </a:xfrm>
          <a:prstGeom prst="ellipse">
            <a:avLst/>
          </a:prstGeom>
          <a:solidFill>
            <a:srgbClr val="1E8E5A"/>
          </a:solidFill>
          <a:ln/>
        </p:spPr>
        <p:txBody>
          <a:bodyPr/>
          <a:lstStyle/>
          <a:p>
            <a:endParaRPr lang="en-GB"/>
          </a:p>
        </p:txBody>
      </p:sp>
      <p:sp>
        <p:nvSpPr>
          <p:cNvPr id="7" name="Text 5"/>
          <p:cNvSpPr/>
          <p:nvPr/>
        </p:nvSpPr>
        <p:spPr>
          <a:xfrm>
            <a:off x="5897880" y="978408"/>
            <a:ext cx="196596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Operational / active delivery</a:t>
            </a:r>
            <a:endParaRPr lang="en-US" sz="950" dirty="0"/>
          </a:p>
        </p:txBody>
      </p:sp>
      <p:sp>
        <p:nvSpPr>
          <p:cNvPr id="8" name="Shape 6"/>
          <p:cNvSpPr/>
          <p:nvPr/>
        </p:nvSpPr>
        <p:spPr>
          <a:xfrm>
            <a:off x="7955280" y="1060704"/>
            <a:ext cx="118872" cy="118872"/>
          </a:xfrm>
          <a:prstGeom prst="ellipse">
            <a:avLst/>
          </a:prstGeom>
          <a:solidFill>
            <a:srgbClr val="C77B17"/>
          </a:solidFill>
          <a:ln/>
        </p:spPr>
        <p:txBody>
          <a:bodyPr/>
          <a:lstStyle/>
          <a:p>
            <a:endParaRPr lang="en-GB"/>
          </a:p>
        </p:txBody>
      </p:sp>
      <p:sp>
        <p:nvSpPr>
          <p:cNvPr id="9" name="Text 7"/>
          <p:cNvSpPr/>
          <p:nvPr/>
        </p:nvSpPr>
        <p:spPr>
          <a:xfrm>
            <a:off x="8138160" y="978408"/>
            <a:ext cx="237744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Policy mandate / pre-procurement / R&amp;D</a:t>
            </a:r>
            <a:endParaRPr lang="en-US" sz="950" dirty="0"/>
          </a:p>
        </p:txBody>
      </p:sp>
      <p:sp>
        <p:nvSpPr>
          <p:cNvPr id="10" name="Shape 8"/>
          <p:cNvSpPr/>
          <p:nvPr/>
        </p:nvSpPr>
        <p:spPr>
          <a:xfrm>
            <a:off x="10652760" y="1060704"/>
            <a:ext cx="118872" cy="118872"/>
          </a:xfrm>
          <a:prstGeom prst="ellipse">
            <a:avLst/>
          </a:prstGeom>
          <a:solidFill>
            <a:srgbClr val="6B7785"/>
          </a:solidFill>
          <a:ln/>
        </p:spPr>
        <p:txBody>
          <a:bodyPr/>
          <a:lstStyle/>
          <a:p>
            <a:endParaRPr lang="en-GB"/>
          </a:p>
        </p:txBody>
      </p:sp>
      <p:sp>
        <p:nvSpPr>
          <p:cNvPr id="11" name="Text 9"/>
          <p:cNvSpPr/>
          <p:nvPr/>
        </p:nvSpPr>
        <p:spPr>
          <a:xfrm>
            <a:off x="10835640" y="978408"/>
            <a:ext cx="137160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Concept / early stage</a:t>
            </a:r>
            <a:endParaRPr lang="en-US" sz="950" dirty="0"/>
          </a:p>
        </p:txBody>
      </p:sp>
      <p:sp>
        <p:nvSpPr>
          <p:cNvPr id="12" name="Shape 10"/>
          <p:cNvSpPr/>
          <p:nvPr/>
        </p:nvSpPr>
        <p:spPr>
          <a:xfrm>
            <a:off x="2514600" y="1426464"/>
            <a:ext cx="0" cy="4974336"/>
          </a:xfrm>
          <a:prstGeom prst="line">
            <a:avLst/>
          </a:prstGeom>
          <a:noFill/>
          <a:ln w="9525">
            <a:solidFill>
              <a:srgbClr val="E3E9EF"/>
            </a:solidFill>
            <a:prstDash val="solid"/>
          </a:ln>
        </p:spPr>
        <p:txBody>
          <a:bodyPr/>
          <a:lstStyle/>
          <a:p>
            <a:endParaRPr lang="en-GB"/>
          </a:p>
        </p:txBody>
      </p:sp>
      <p:sp>
        <p:nvSpPr>
          <p:cNvPr id="13" name="Text 11"/>
          <p:cNvSpPr/>
          <p:nvPr/>
        </p:nvSpPr>
        <p:spPr>
          <a:xfrm>
            <a:off x="219456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2026</a:t>
            </a:r>
            <a:endParaRPr lang="en-US" sz="950" dirty="0"/>
          </a:p>
        </p:txBody>
      </p:sp>
      <p:sp>
        <p:nvSpPr>
          <p:cNvPr id="14" name="Shape 12"/>
          <p:cNvSpPr/>
          <p:nvPr/>
        </p:nvSpPr>
        <p:spPr>
          <a:xfrm>
            <a:off x="3833949" y="1426464"/>
            <a:ext cx="0" cy="4974336"/>
          </a:xfrm>
          <a:prstGeom prst="line">
            <a:avLst/>
          </a:prstGeom>
          <a:noFill/>
          <a:ln w="9525">
            <a:solidFill>
              <a:srgbClr val="E3E9EF"/>
            </a:solidFill>
            <a:prstDash val="solid"/>
          </a:ln>
        </p:spPr>
        <p:txBody>
          <a:bodyPr/>
          <a:lstStyle/>
          <a:p>
            <a:endParaRPr lang="en-GB"/>
          </a:p>
        </p:txBody>
      </p:sp>
      <p:sp>
        <p:nvSpPr>
          <p:cNvPr id="15" name="Text 13"/>
          <p:cNvSpPr/>
          <p:nvPr/>
        </p:nvSpPr>
        <p:spPr>
          <a:xfrm>
            <a:off x="3513909"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2028</a:t>
            </a:r>
            <a:endParaRPr lang="en-US" sz="950" dirty="0"/>
          </a:p>
        </p:txBody>
      </p:sp>
      <p:sp>
        <p:nvSpPr>
          <p:cNvPr id="16" name="Shape 14"/>
          <p:cNvSpPr/>
          <p:nvPr/>
        </p:nvSpPr>
        <p:spPr>
          <a:xfrm>
            <a:off x="5153297" y="1426464"/>
            <a:ext cx="0" cy="4974336"/>
          </a:xfrm>
          <a:prstGeom prst="line">
            <a:avLst/>
          </a:prstGeom>
          <a:noFill/>
          <a:ln w="9525">
            <a:solidFill>
              <a:srgbClr val="E3E9EF"/>
            </a:solidFill>
            <a:prstDash val="solid"/>
          </a:ln>
        </p:spPr>
        <p:txBody>
          <a:bodyPr/>
          <a:lstStyle/>
          <a:p>
            <a:endParaRPr lang="en-GB"/>
          </a:p>
        </p:txBody>
      </p:sp>
      <p:sp>
        <p:nvSpPr>
          <p:cNvPr id="17" name="Text 15"/>
          <p:cNvSpPr/>
          <p:nvPr/>
        </p:nvSpPr>
        <p:spPr>
          <a:xfrm>
            <a:off x="4833257"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2030</a:t>
            </a:r>
            <a:endParaRPr lang="en-US" sz="950" dirty="0"/>
          </a:p>
        </p:txBody>
      </p:sp>
      <p:sp>
        <p:nvSpPr>
          <p:cNvPr id="18" name="Shape 16"/>
          <p:cNvSpPr/>
          <p:nvPr/>
        </p:nvSpPr>
        <p:spPr>
          <a:xfrm>
            <a:off x="6472646" y="1426464"/>
            <a:ext cx="0" cy="4974336"/>
          </a:xfrm>
          <a:prstGeom prst="line">
            <a:avLst/>
          </a:prstGeom>
          <a:noFill/>
          <a:ln w="9525">
            <a:solidFill>
              <a:srgbClr val="E3E9EF"/>
            </a:solidFill>
            <a:prstDash val="solid"/>
          </a:ln>
        </p:spPr>
        <p:txBody>
          <a:bodyPr/>
          <a:lstStyle/>
          <a:p>
            <a:endParaRPr lang="en-GB"/>
          </a:p>
        </p:txBody>
      </p:sp>
      <p:sp>
        <p:nvSpPr>
          <p:cNvPr id="19" name="Text 17"/>
          <p:cNvSpPr/>
          <p:nvPr/>
        </p:nvSpPr>
        <p:spPr>
          <a:xfrm>
            <a:off x="6152606"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2032</a:t>
            </a:r>
            <a:endParaRPr lang="en-US" sz="950" dirty="0"/>
          </a:p>
        </p:txBody>
      </p:sp>
      <p:sp>
        <p:nvSpPr>
          <p:cNvPr id="20" name="Shape 18"/>
          <p:cNvSpPr/>
          <p:nvPr/>
        </p:nvSpPr>
        <p:spPr>
          <a:xfrm>
            <a:off x="7791994" y="1426464"/>
            <a:ext cx="0" cy="4974336"/>
          </a:xfrm>
          <a:prstGeom prst="line">
            <a:avLst/>
          </a:prstGeom>
          <a:noFill/>
          <a:ln w="9525">
            <a:solidFill>
              <a:srgbClr val="E3E9EF"/>
            </a:solidFill>
            <a:prstDash val="solid"/>
          </a:ln>
        </p:spPr>
        <p:txBody>
          <a:bodyPr/>
          <a:lstStyle/>
          <a:p>
            <a:endParaRPr lang="en-GB"/>
          </a:p>
        </p:txBody>
      </p:sp>
      <p:sp>
        <p:nvSpPr>
          <p:cNvPr id="21" name="Text 19"/>
          <p:cNvSpPr/>
          <p:nvPr/>
        </p:nvSpPr>
        <p:spPr>
          <a:xfrm>
            <a:off x="7471954"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2034</a:t>
            </a:r>
            <a:endParaRPr lang="en-US" sz="950" dirty="0"/>
          </a:p>
        </p:txBody>
      </p:sp>
      <p:sp>
        <p:nvSpPr>
          <p:cNvPr id="22" name="Shape 20"/>
          <p:cNvSpPr/>
          <p:nvPr/>
        </p:nvSpPr>
        <p:spPr>
          <a:xfrm>
            <a:off x="9111343" y="1426464"/>
            <a:ext cx="0" cy="4974336"/>
          </a:xfrm>
          <a:prstGeom prst="line">
            <a:avLst/>
          </a:prstGeom>
          <a:noFill/>
          <a:ln w="9525">
            <a:solidFill>
              <a:srgbClr val="E3E9EF"/>
            </a:solidFill>
            <a:prstDash val="solid"/>
          </a:ln>
        </p:spPr>
        <p:txBody>
          <a:bodyPr/>
          <a:lstStyle/>
          <a:p>
            <a:endParaRPr lang="en-GB"/>
          </a:p>
        </p:txBody>
      </p:sp>
      <p:sp>
        <p:nvSpPr>
          <p:cNvPr id="23" name="Text 21"/>
          <p:cNvSpPr/>
          <p:nvPr/>
        </p:nvSpPr>
        <p:spPr>
          <a:xfrm>
            <a:off x="8791303"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2036</a:t>
            </a:r>
            <a:endParaRPr lang="en-US" sz="950" dirty="0"/>
          </a:p>
        </p:txBody>
      </p:sp>
      <p:sp>
        <p:nvSpPr>
          <p:cNvPr id="24" name="Shape 22"/>
          <p:cNvSpPr/>
          <p:nvPr/>
        </p:nvSpPr>
        <p:spPr>
          <a:xfrm>
            <a:off x="10430691" y="1426464"/>
            <a:ext cx="0" cy="4974336"/>
          </a:xfrm>
          <a:prstGeom prst="line">
            <a:avLst/>
          </a:prstGeom>
          <a:noFill/>
          <a:ln w="9525">
            <a:solidFill>
              <a:srgbClr val="E3E9EF"/>
            </a:solidFill>
            <a:prstDash val="solid"/>
          </a:ln>
        </p:spPr>
        <p:txBody>
          <a:bodyPr/>
          <a:lstStyle/>
          <a:p>
            <a:endParaRPr lang="en-GB"/>
          </a:p>
        </p:txBody>
      </p:sp>
      <p:sp>
        <p:nvSpPr>
          <p:cNvPr id="25" name="Text 23"/>
          <p:cNvSpPr/>
          <p:nvPr/>
        </p:nvSpPr>
        <p:spPr>
          <a:xfrm>
            <a:off x="10110651"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2038</a:t>
            </a:r>
            <a:endParaRPr lang="en-US" sz="950" dirty="0"/>
          </a:p>
        </p:txBody>
      </p:sp>
      <p:sp>
        <p:nvSpPr>
          <p:cNvPr id="26" name="Shape 24"/>
          <p:cNvSpPr/>
          <p:nvPr/>
        </p:nvSpPr>
        <p:spPr>
          <a:xfrm>
            <a:off x="11750040" y="1426464"/>
            <a:ext cx="0" cy="4974336"/>
          </a:xfrm>
          <a:prstGeom prst="line">
            <a:avLst/>
          </a:prstGeom>
          <a:noFill/>
          <a:ln w="9525">
            <a:solidFill>
              <a:srgbClr val="E3E9EF"/>
            </a:solidFill>
            <a:prstDash val="solid"/>
          </a:ln>
        </p:spPr>
        <p:txBody>
          <a:bodyPr/>
          <a:lstStyle/>
          <a:p>
            <a:endParaRPr lang="en-GB"/>
          </a:p>
        </p:txBody>
      </p:sp>
      <p:sp>
        <p:nvSpPr>
          <p:cNvPr id="27" name="Text 25"/>
          <p:cNvSpPr/>
          <p:nvPr/>
        </p:nvSpPr>
        <p:spPr>
          <a:xfrm>
            <a:off x="1143000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2040+</a:t>
            </a:r>
            <a:endParaRPr lang="en-US" sz="950" dirty="0"/>
          </a:p>
        </p:txBody>
      </p:sp>
      <p:sp>
        <p:nvSpPr>
          <p:cNvPr id="28" name="Shape 26"/>
          <p:cNvSpPr/>
          <p:nvPr/>
        </p:nvSpPr>
        <p:spPr>
          <a:xfrm>
            <a:off x="365760" y="1426464"/>
            <a:ext cx="2011680" cy="4974336"/>
          </a:xfrm>
          <a:prstGeom prst="rect">
            <a:avLst/>
          </a:prstGeom>
          <a:solidFill>
            <a:srgbClr val="FFFFFF"/>
          </a:solidFill>
          <a:ln/>
        </p:spPr>
        <p:txBody>
          <a:bodyPr/>
          <a:lstStyle/>
          <a:p>
            <a:endParaRPr lang="en-GB"/>
          </a:p>
        </p:txBody>
      </p:sp>
      <p:sp>
        <p:nvSpPr>
          <p:cNvPr id="29" name="Shape 27"/>
          <p:cNvSpPr/>
          <p:nvPr/>
        </p:nvSpPr>
        <p:spPr>
          <a:xfrm>
            <a:off x="365760" y="1481328"/>
            <a:ext cx="11795760" cy="1078992"/>
          </a:xfrm>
          <a:prstGeom prst="rect">
            <a:avLst/>
          </a:prstGeom>
          <a:solidFill>
            <a:srgbClr val="F7FAFC"/>
          </a:solidFill>
          <a:ln/>
        </p:spPr>
        <p:txBody>
          <a:bodyPr/>
          <a:lstStyle/>
          <a:p>
            <a:endParaRPr lang="en-GB"/>
          </a:p>
        </p:txBody>
      </p:sp>
      <p:sp>
        <p:nvSpPr>
          <p:cNvPr id="30" name="Shape 28"/>
          <p:cNvSpPr/>
          <p:nvPr/>
        </p:nvSpPr>
        <p:spPr>
          <a:xfrm>
            <a:off x="457200" y="1801368"/>
            <a:ext cx="438912" cy="438912"/>
          </a:xfrm>
          <a:prstGeom prst="ellipse">
            <a:avLst/>
          </a:prstGeom>
          <a:solidFill>
            <a:srgbClr val="1B3358"/>
          </a:solidFill>
          <a:ln/>
        </p:spPr>
        <p:txBody>
          <a:bodyPr/>
          <a:lstStyle/>
          <a:p>
            <a:endParaRPr lang="en-GB"/>
          </a:p>
        </p:txBody>
      </p:sp>
      <p:pic>
        <p:nvPicPr>
          <p:cNvPr id="31" name="Image 0" descr="preencoded.png"/>
          <p:cNvPicPr>
            <a:picLocks noChangeAspect="1"/>
          </p:cNvPicPr>
          <p:nvPr/>
        </p:nvPicPr>
        <p:blipFill>
          <a:blip r:embed="rId3"/>
          <a:stretch>
            <a:fillRect/>
          </a:stretch>
        </p:blipFill>
        <p:spPr>
          <a:xfrm>
            <a:off x="548640" y="1892808"/>
            <a:ext cx="256032" cy="256032"/>
          </a:xfrm>
          <a:prstGeom prst="rect">
            <a:avLst/>
          </a:prstGeom>
        </p:spPr>
      </p:pic>
      <p:sp>
        <p:nvSpPr>
          <p:cNvPr id="32" name="Text 29"/>
          <p:cNvSpPr/>
          <p:nvPr/>
        </p:nvSpPr>
        <p:spPr>
          <a:xfrm>
            <a:off x="1005840" y="1591056"/>
            <a:ext cx="1417320" cy="512064"/>
          </a:xfrm>
          <a:prstGeom prst="rect">
            <a:avLst/>
          </a:prstGeom>
          <a:noFill/>
          <a:ln/>
        </p:spPr>
        <p:txBody>
          <a:bodyPr wrap="square" lIns="0" tIns="0" rIns="0" bIns="0" rtlCol="0" anchor="t"/>
          <a:lstStyle/>
          <a:p>
            <a:pPr marL="0" indent="0">
              <a:lnSpc>
                <a:spcPct val="98000"/>
              </a:lnSpc>
              <a:buNone/>
            </a:pPr>
            <a:r>
              <a:rPr lang="en-US" sz="1200" b="1" dirty="0">
                <a:solidFill>
                  <a:srgbClr val="12233D"/>
                </a:solidFill>
                <a:latin typeface="Calibri" pitchFamily="34" charset="0"/>
                <a:ea typeface="Calibri" pitchFamily="34" charset="-122"/>
                <a:cs typeface="Calibri" pitchFamily="34" charset="-120"/>
              </a:rPr>
              <a:t>Koeberg Units 1 &amp; 2</a:t>
            </a:r>
            <a:endParaRPr lang="en-US" sz="1200" dirty="0"/>
          </a:p>
        </p:txBody>
      </p:sp>
      <p:sp>
        <p:nvSpPr>
          <p:cNvPr id="33" name="Text 30"/>
          <p:cNvSpPr/>
          <p:nvPr/>
        </p:nvSpPr>
        <p:spPr>
          <a:xfrm>
            <a:off x="1005840" y="2103120"/>
            <a:ext cx="1417320" cy="420624"/>
          </a:xfrm>
          <a:prstGeom prst="rect">
            <a:avLst/>
          </a:prstGeom>
          <a:noFill/>
          <a:ln/>
        </p:spPr>
        <p:txBody>
          <a:bodyPr wrap="square" lIns="0" tIns="0" rIns="0" bIns="0" rtlCol="0" anchor="b"/>
          <a:lstStyle/>
          <a:p>
            <a:pPr marL="0" indent="0">
              <a:lnSpc>
                <a:spcPct val="98000"/>
              </a:lnSpc>
              <a:buNone/>
            </a:pPr>
            <a:r>
              <a:rPr lang="en-US" sz="760" i="1" dirty="0">
                <a:solidFill>
                  <a:srgbClr val="5B6B7C"/>
                </a:solidFill>
                <a:latin typeface="Calibri" pitchFamily="34" charset="0"/>
                <a:ea typeface="Calibri" pitchFamily="34" charset="-122"/>
                <a:cs typeface="Calibri" pitchFamily="34" charset="-120"/>
              </a:rPr>
              <a:t>1,860 MWe combined · Eskom · NNR · Framatome</a:t>
            </a:r>
            <a:endParaRPr lang="en-US" sz="760" dirty="0"/>
          </a:p>
        </p:txBody>
      </p:sp>
      <p:sp>
        <p:nvSpPr>
          <p:cNvPr id="34" name="Shape 31"/>
          <p:cNvSpPr/>
          <p:nvPr/>
        </p:nvSpPr>
        <p:spPr>
          <a:xfrm>
            <a:off x="2514600" y="2020824"/>
            <a:ext cx="9235440" cy="0"/>
          </a:xfrm>
          <a:prstGeom prst="line">
            <a:avLst/>
          </a:prstGeom>
          <a:noFill/>
          <a:ln w="6350">
            <a:solidFill>
              <a:srgbClr val="E3E9EF"/>
            </a:solidFill>
            <a:prstDash val="dash"/>
          </a:ln>
        </p:spPr>
        <p:txBody>
          <a:bodyPr/>
          <a:lstStyle/>
          <a:p>
            <a:endParaRPr lang="en-GB"/>
          </a:p>
        </p:txBody>
      </p:sp>
      <p:sp>
        <p:nvSpPr>
          <p:cNvPr id="35" name="Shape 32"/>
          <p:cNvSpPr/>
          <p:nvPr/>
        </p:nvSpPr>
        <p:spPr>
          <a:xfrm>
            <a:off x="2514600" y="1901952"/>
            <a:ext cx="9235440" cy="237744"/>
          </a:xfrm>
          <a:prstGeom prst="roundRect">
            <a:avLst>
              <a:gd name="adj" fmla="val 19231"/>
            </a:avLst>
          </a:prstGeom>
          <a:solidFill>
            <a:srgbClr val="1E8E5A"/>
          </a:solidFill>
          <a:ln/>
        </p:spPr>
        <p:txBody>
          <a:bodyPr/>
          <a:lstStyle/>
          <a:p>
            <a:endParaRPr lang="en-GB"/>
          </a:p>
        </p:txBody>
      </p:sp>
      <p:sp>
        <p:nvSpPr>
          <p:cNvPr id="36" name="Shape 33"/>
          <p:cNvSpPr/>
          <p:nvPr/>
        </p:nvSpPr>
        <p:spPr>
          <a:xfrm>
            <a:off x="2653066" y="1961388"/>
            <a:ext cx="118872" cy="118872"/>
          </a:xfrm>
          <a:prstGeom prst="diamond">
            <a:avLst/>
          </a:prstGeom>
          <a:solidFill>
            <a:srgbClr val="FFFFFF"/>
          </a:solidFill>
          <a:ln w="21590">
            <a:solidFill>
              <a:srgbClr val="1E8E5A"/>
            </a:solidFill>
            <a:prstDash val="solid"/>
          </a:ln>
        </p:spPr>
        <p:txBody>
          <a:bodyPr/>
          <a:lstStyle/>
          <a:p>
            <a:endParaRPr lang="en-GB"/>
          </a:p>
        </p:txBody>
      </p:sp>
      <p:sp>
        <p:nvSpPr>
          <p:cNvPr id="37" name="Text 34"/>
          <p:cNvSpPr/>
          <p:nvPr/>
        </p:nvSpPr>
        <p:spPr>
          <a:xfrm>
            <a:off x="2148840" y="1591056"/>
            <a:ext cx="2468880" cy="237744"/>
          </a:xfrm>
          <a:prstGeom prst="rect">
            <a:avLst/>
          </a:prstGeom>
          <a:noFill/>
          <a:ln/>
        </p:spPr>
        <p:txBody>
          <a:bodyPr wrap="square" lIns="0" tIns="0" rIns="0" bIns="0" rtlCol="0" anchor="ctr"/>
          <a:lstStyle/>
          <a:p>
            <a:pPr marL="0" indent="0" algn="ctr">
              <a:buNone/>
            </a:pPr>
            <a:r>
              <a:rPr lang="en-US" sz="780" b="1" dirty="0">
                <a:solidFill>
                  <a:srgbClr val="1E8E5A"/>
                </a:solidFill>
                <a:latin typeface="Calibri" pitchFamily="34" charset="0"/>
                <a:ea typeface="Calibri" pitchFamily="34" charset="-122"/>
                <a:cs typeface="Calibri" pitchFamily="34" charset="-120"/>
              </a:rPr>
              <a:t>Both units relicensed (LTO complete)</a:t>
            </a:r>
            <a:endParaRPr lang="en-US" sz="780" dirty="0"/>
          </a:p>
        </p:txBody>
      </p:sp>
      <p:sp>
        <p:nvSpPr>
          <p:cNvPr id="38" name="Shape 35"/>
          <p:cNvSpPr/>
          <p:nvPr/>
        </p:nvSpPr>
        <p:spPr>
          <a:xfrm>
            <a:off x="11690604" y="1961388"/>
            <a:ext cx="118872" cy="118872"/>
          </a:xfrm>
          <a:prstGeom prst="diamond">
            <a:avLst/>
          </a:prstGeom>
          <a:solidFill>
            <a:srgbClr val="FFFFFF"/>
          </a:solidFill>
          <a:ln w="21590">
            <a:solidFill>
              <a:srgbClr val="1E8E5A"/>
            </a:solidFill>
            <a:prstDash val="solid"/>
          </a:ln>
        </p:spPr>
        <p:txBody>
          <a:bodyPr/>
          <a:lstStyle/>
          <a:p>
            <a:endParaRPr lang="en-GB"/>
          </a:p>
        </p:txBody>
      </p:sp>
      <p:sp>
        <p:nvSpPr>
          <p:cNvPr id="39" name="Text 36"/>
          <p:cNvSpPr/>
          <p:nvPr/>
        </p:nvSpPr>
        <p:spPr>
          <a:xfrm>
            <a:off x="9738360" y="2267712"/>
            <a:ext cx="2468880" cy="237744"/>
          </a:xfrm>
          <a:prstGeom prst="rect">
            <a:avLst/>
          </a:prstGeom>
          <a:noFill/>
          <a:ln/>
        </p:spPr>
        <p:txBody>
          <a:bodyPr wrap="square" lIns="0" tIns="0" rIns="0" bIns="0" rtlCol="0" anchor="ctr"/>
          <a:lstStyle/>
          <a:p>
            <a:pPr marL="0" indent="0" algn="ctr">
              <a:buNone/>
            </a:pPr>
            <a:r>
              <a:rPr lang="en-US" sz="780" b="1" dirty="0">
                <a:solidFill>
                  <a:srgbClr val="1E8E5A"/>
                </a:solidFill>
                <a:latin typeface="Calibri" pitchFamily="34" charset="0"/>
                <a:ea typeface="Calibri" pitchFamily="34" charset="-122"/>
                <a:cs typeface="Calibri" pitchFamily="34" charset="-120"/>
              </a:rPr>
              <a:t>Licensed to 2044 (U1) / 2045 (U2)</a:t>
            </a:r>
            <a:endParaRPr lang="en-US" sz="780" dirty="0"/>
          </a:p>
        </p:txBody>
      </p:sp>
      <p:sp>
        <p:nvSpPr>
          <p:cNvPr id="40" name="Shape 37"/>
          <p:cNvSpPr/>
          <p:nvPr/>
        </p:nvSpPr>
        <p:spPr>
          <a:xfrm>
            <a:off x="457200" y="3063240"/>
            <a:ext cx="438912" cy="438912"/>
          </a:xfrm>
          <a:prstGeom prst="ellipse">
            <a:avLst/>
          </a:prstGeom>
          <a:solidFill>
            <a:srgbClr val="1B3358"/>
          </a:solidFill>
          <a:ln/>
        </p:spPr>
        <p:txBody>
          <a:bodyPr/>
          <a:lstStyle/>
          <a:p>
            <a:endParaRPr lang="en-GB"/>
          </a:p>
        </p:txBody>
      </p:sp>
      <p:pic>
        <p:nvPicPr>
          <p:cNvPr id="41" name="Image 1" descr="preencoded.png"/>
          <p:cNvPicPr>
            <a:picLocks noChangeAspect="1"/>
          </p:cNvPicPr>
          <p:nvPr/>
        </p:nvPicPr>
        <p:blipFill>
          <a:blip r:embed="rId4"/>
          <a:stretch>
            <a:fillRect/>
          </a:stretch>
        </p:blipFill>
        <p:spPr>
          <a:xfrm>
            <a:off x="548640" y="3154680"/>
            <a:ext cx="256032" cy="256032"/>
          </a:xfrm>
          <a:prstGeom prst="rect">
            <a:avLst/>
          </a:prstGeom>
        </p:spPr>
      </p:pic>
      <p:sp>
        <p:nvSpPr>
          <p:cNvPr id="42" name="Text 38"/>
          <p:cNvSpPr/>
          <p:nvPr/>
        </p:nvSpPr>
        <p:spPr>
          <a:xfrm>
            <a:off x="1005840" y="2852928"/>
            <a:ext cx="1417320" cy="512064"/>
          </a:xfrm>
          <a:prstGeom prst="rect">
            <a:avLst/>
          </a:prstGeom>
          <a:noFill/>
          <a:ln/>
        </p:spPr>
        <p:txBody>
          <a:bodyPr wrap="square" lIns="0" tIns="0" rIns="0" bIns="0" rtlCol="0" anchor="t"/>
          <a:lstStyle/>
          <a:p>
            <a:pPr marL="0" indent="0">
              <a:lnSpc>
                <a:spcPct val="98000"/>
              </a:lnSpc>
              <a:buNone/>
            </a:pPr>
            <a:r>
              <a:rPr lang="en-US" sz="1200" b="1" dirty="0">
                <a:solidFill>
                  <a:srgbClr val="12233D"/>
                </a:solidFill>
                <a:latin typeface="Calibri" pitchFamily="34" charset="0"/>
                <a:ea typeface="Calibri" pitchFamily="34" charset="-122"/>
                <a:cs typeface="Calibri" pitchFamily="34" charset="-120"/>
              </a:rPr>
              <a:t>New Build — Duynefontein/Thyspunt/Bantamsklip</a:t>
            </a:r>
            <a:endParaRPr lang="en-US" sz="1200" dirty="0"/>
          </a:p>
        </p:txBody>
      </p:sp>
      <p:sp>
        <p:nvSpPr>
          <p:cNvPr id="43" name="Text 39"/>
          <p:cNvSpPr/>
          <p:nvPr/>
        </p:nvSpPr>
        <p:spPr>
          <a:xfrm>
            <a:off x="1005840" y="3364992"/>
            <a:ext cx="1417320" cy="420624"/>
          </a:xfrm>
          <a:prstGeom prst="rect">
            <a:avLst/>
          </a:prstGeom>
          <a:noFill/>
          <a:ln/>
        </p:spPr>
        <p:txBody>
          <a:bodyPr wrap="square" lIns="0" tIns="0" rIns="0" bIns="0" rtlCol="0" anchor="b"/>
          <a:lstStyle/>
          <a:p>
            <a:pPr marL="0" indent="0">
              <a:lnSpc>
                <a:spcPct val="98000"/>
              </a:lnSpc>
              <a:buNone/>
            </a:pPr>
            <a:r>
              <a:rPr lang="en-US" sz="760" i="1" dirty="0">
                <a:solidFill>
                  <a:srgbClr val="5B6B7C"/>
                </a:solidFill>
                <a:latin typeface="Calibri" pitchFamily="34" charset="0"/>
                <a:ea typeface="Calibri" pitchFamily="34" charset="-122"/>
                <a:cs typeface="Calibri" pitchFamily="34" charset="-120"/>
              </a:rPr>
              <a:t>5,200 MWe by 2039 · Eskom · DEE · NERSA · NNR</a:t>
            </a:r>
            <a:endParaRPr lang="en-US" sz="760" dirty="0"/>
          </a:p>
        </p:txBody>
      </p:sp>
      <p:sp>
        <p:nvSpPr>
          <p:cNvPr id="44" name="Shape 40"/>
          <p:cNvSpPr/>
          <p:nvPr/>
        </p:nvSpPr>
        <p:spPr>
          <a:xfrm>
            <a:off x="2514600" y="3282696"/>
            <a:ext cx="9235440" cy="0"/>
          </a:xfrm>
          <a:prstGeom prst="line">
            <a:avLst/>
          </a:prstGeom>
          <a:noFill/>
          <a:ln w="6350">
            <a:solidFill>
              <a:srgbClr val="E3E9EF"/>
            </a:solidFill>
            <a:prstDash val="dash"/>
          </a:ln>
        </p:spPr>
        <p:txBody>
          <a:bodyPr/>
          <a:lstStyle/>
          <a:p>
            <a:endParaRPr lang="en-GB"/>
          </a:p>
        </p:txBody>
      </p:sp>
      <p:sp>
        <p:nvSpPr>
          <p:cNvPr id="45" name="Shape 41"/>
          <p:cNvSpPr/>
          <p:nvPr/>
        </p:nvSpPr>
        <p:spPr>
          <a:xfrm>
            <a:off x="2514600" y="3163824"/>
            <a:ext cx="989511" cy="237744"/>
          </a:xfrm>
          <a:prstGeom prst="roundRect">
            <a:avLst>
              <a:gd name="adj" fmla="val 19231"/>
            </a:avLst>
          </a:prstGeom>
          <a:solidFill>
            <a:srgbClr val="C77B17"/>
          </a:solidFill>
          <a:ln/>
        </p:spPr>
        <p:txBody>
          <a:bodyPr/>
          <a:lstStyle/>
          <a:p>
            <a:endParaRPr lang="en-GB"/>
          </a:p>
        </p:txBody>
      </p:sp>
      <p:sp>
        <p:nvSpPr>
          <p:cNvPr id="46" name="Shape 42"/>
          <p:cNvSpPr/>
          <p:nvPr/>
        </p:nvSpPr>
        <p:spPr>
          <a:xfrm>
            <a:off x="3504111" y="3163824"/>
            <a:ext cx="5607231" cy="237744"/>
          </a:xfrm>
          <a:prstGeom prst="roundRect">
            <a:avLst>
              <a:gd name="adj" fmla="val 19231"/>
            </a:avLst>
          </a:prstGeom>
          <a:solidFill>
            <a:srgbClr val="C77B17"/>
          </a:solidFill>
          <a:ln/>
        </p:spPr>
        <p:txBody>
          <a:bodyPr/>
          <a:lstStyle/>
          <a:p>
            <a:endParaRPr lang="en-GB"/>
          </a:p>
        </p:txBody>
      </p:sp>
      <p:sp>
        <p:nvSpPr>
          <p:cNvPr id="47" name="Shape 43"/>
          <p:cNvSpPr/>
          <p:nvPr/>
        </p:nvSpPr>
        <p:spPr>
          <a:xfrm>
            <a:off x="2916936" y="3223260"/>
            <a:ext cx="118872" cy="118872"/>
          </a:xfrm>
          <a:prstGeom prst="diamond">
            <a:avLst/>
          </a:prstGeom>
          <a:solidFill>
            <a:srgbClr val="FFFFFF"/>
          </a:solidFill>
          <a:ln w="21590">
            <a:solidFill>
              <a:srgbClr val="C77B17"/>
            </a:solidFill>
            <a:prstDash val="solid"/>
          </a:ln>
        </p:spPr>
        <p:txBody>
          <a:bodyPr/>
          <a:lstStyle/>
          <a:p>
            <a:endParaRPr lang="en-GB"/>
          </a:p>
        </p:txBody>
      </p:sp>
      <p:sp>
        <p:nvSpPr>
          <p:cNvPr id="48" name="Text 44"/>
          <p:cNvSpPr/>
          <p:nvPr/>
        </p:nvSpPr>
        <p:spPr>
          <a:xfrm>
            <a:off x="2148840" y="2852928"/>
            <a:ext cx="2468880" cy="237744"/>
          </a:xfrm>
          <a:prstGeom prst="rect">
            <a:avLst/>
          </a:prstGeom>
          <a:noFill/>
          <a:ln/>
        </p:spPr>
        <p:txBody>
          <a:bodyPr wrap="square" lIns="0" tIns="0" rIns="0" bIns="0" rtlCol="0" anchor="ctr"/>
          <a:lstStyle/>
          <a:p>
            <a:pPr marL="0" indent="0" algn="ctr">
              <a:buNone/>
            </a:pPr>
            <a:r>
              <a:rPr lang="en-US" sz="780" b="1" dirty="0">
                <a:solidFill>
                  <a:srgbClr val="C77B17"/>
                </a:solidFill>
                <a:latin typeface="Calibri" pitchFamily="34" charset="0"/>
                <a:ea typeface="Calibri" pitchFamily="34" charset="-122"/>
                <a:cs typeface="Calibri" pitchFamily="34" charset="-120"/>
              </a:rPr>
              <a:t>Reset RFP expected 2025/26</a:t>
            </a:r>
            <a:endParaRPr lang="en-US" sz="780" dirty="0"/>
          </a:p>
        </p:txBody>
      </p:sp>
      <p:sp>
        <p:nvSpPr>
          <p:cNvPr id="49" name="Shape 45"/>
          <p:cNvSpPr/>
          <p:nvPr/>
        </p:nvSpPr>
        <p:spPr>
          <a:xfrm>
            <a:off x="9051907" y="3223260"/>
            <a:ext cx="118872" cy="118872"/>
          </a:xfrm>
          <a:prstGeom prst="diamond">
            <a:avLst/>
          </a:prstGeom>
          <a:solidFill>
            <a:srgbClr val="FFFFFF"/>
          </a:solidFill>
          <a:ln w="21590">
            <a:solidFill>
              <a:srgbClr val="C77B17"/>
            </a:solidFill>
            <a:prstDash val="solid"/>
          </a:ln>
        </p:spPr>
        <p:txBody>
          <a:bodyPr/>
          <a:lstStyle/>
          <a:p>
            <a:endParaRPr lang="en-GB"/>
          </a:p>
        </p:txBody>
      </p:sp>
      <p:sp>
        <p:nvSpPr>
          <p:cNvPr id="50" name="Text 46"/>
          <p:cNvSpPr/>
          <p:nvPr/>
        </p:nvSpPr>
        <p:spPr>
          <a:xfrm>
            <a:off x="7876903" y="3529584"/>
            <a:ext cx="2468880" cy="237744"/>
          </a:xfrm>
          <a:prstGeom prst="rect">
            <a:avLst/>
          </a:prstGeom>
          <a:noFill/>
          <a:ln/>
        </p:spPr>
        <p:txBody>
          <a:bodyPr wrap="square" lIns="0" tIns="0" rIns="0" bIns="0" rtlCol="0" anchor="ctr"/>
          <a:lstStyle/>
          <a:p>
            <a:pPr marL="0" indent="0" algn="ctr">
              <a:buNone/>
            </a:pPr>
            <a:r>
              <a:rPr lang="en-US" sz="780" b="1" dirty="0">
                <a:solidFill>
                  <a:srgbClr val="C77B17"/>
                </a:solidFill>
                <a:latin typeface="Calibri" pitchFamily="34" charset="0"/>
                <a:ea typeface="Calibri" pitchFamily="34" charset="-122"/>
                <a:cs typeface="Calibri" pitchFamily="34" charset="-120"/>
              </a:rPr>
              <a:t>First 1,200 MWe targeted online</a:t>
            </a:r>
            <a:endParaRPr lang="en-US" sz="780" dirty="0"/>
          </a:p>
        </p:txBody>
      </p:sp>
      <p:sp>
        <p:nvSpPr>
          <p:cNvPr id="51" name="Shape 47"/>
          <p:cNvSpPr/>
          <p:nvPr/>
        </p:nvSpPr>
        <p:spPr>
          <a:xfrm>
            <a:off x="365760" y="4005072"/>
            <a:ext cx="11795760" cy="1078992"/>
          </a:xfrm>
          <a:prstGeom prst="rect">
            <a:avLst/>
          </a:prstGeom>
          <a:solidFill>
            <a:srgbClr val="F7FAFC"/>
          </a:solidFill>
          <a:ln/>
        </p:spPr>
        <p:txBody>
          <a:bodyPr/>
          <a:lstStyle/>
          <a:p>
            <a:endParaRPr lang="en-GB"/>
          </a:p>
        </p:txBody>
      </p:sp>
      <p:sp>
        <p:nvSpPr>
          <p:cNvPr id="52" name="Shape 48"/>
          <p:cNvSpPr/>
          <p:nvPr/>
        </p:nvSpPr>
        <p:spPr>
          <a:xfrm>
            <a:off x="457200" y="4325112"/>
            <a:ext cx="438912" cy="438912"/>
          </a:xfrm>
          <a:prstGeom prst="ellipse">
            <a:avLst/>
          </a:prstGeom>
          <a:solidFill>
            <a:srgbClr val="1B3358"/>
          </a:solidFill>
          <a:ln/>
        </p:spPr>
        <p:txBody>
          <a:bodyPr/>
          <a:lstStyle/>
          <a:p>
            <a:endParaRPr lang="en-GB"/>
          </a:p>
        </p:txBody>
      </p:sp>
      <p:pic>
        <p:nvPicPr>
          <p:cNvPr id="53" name="Image 2" descr="preencoded.png"/>
          <p:cNvPicPr>
            <a:picLocks noChangeAspect="1"/>
          </p:cNvPicPr>
          <p:nvPr/>
        </p:nvPicPr>
        <p:blipFill>
          <a:blip r:embed="rId5"/>
          <a:stretch>
            <a:fillRect/>
          </a:stretch>
        </p:blipFill>
        <p:spPr>
          <a:xfrm>
            <a:off x="548640" y="4416552"/>
            <a:ext cx="256032" cy="256032"/>
          </a:xfrm>
          <a:prstGeom prst="rect">
            <a:avLst/>
          </a:prstGeom>
        </p:spPr>
      </p:pic>
      <p:sp>
        <p:nvSpPr>
          <p:cNvPr id="54" name="Text 49"/>
          <p:cNvSpPr/>
          <p:nvPr/>
        </p:nvSpPr>
        <p:spPr>
          <a:xfrm>
            <a:off x="1005840" y="4114800"/>
            <a:ext cx="1417320" cy="512064"/>
          </a:xfrm>
          <a:prstGeom prst="rect">
            <a:avLst/>
          </a:prstGeom>
          <a:noFill/>
          <a:ln/>
        </p:spPr>
        <p:txBody>
          <a:bodyPr wrap="square" lIns="0" tIns="0" rIns="0" bIns="0" rtlCol="0" anchor="t"/>
          <a:lstStyle/>
          <a:p>
            <a:pPr marL="0" indent="0">
              <a:lnSpc>
                <a:spcPct val="98000"/>
              </a:lnSpc>
              <a:buNone/>
            </a:pPr>
            <a:r>
              <a:rPr lang="en-US" sz="1200" b="1" dirty="0">
                <a:solidFill>
                  <a:srgbClr val="12233D"/>
                </a:solidFill>
                <a:latin typeface="Calibri" pitchFamily="34" charset="0"/>
                <a:ea typeface="Calibri" pitchFamily="34" charset="-122"/>
                <a:cs typeface="Calibri" pitchFamily="34" charset="-120"/>
              </a:rPr>
              <a:t>SMR / PBMR Revival</a:t>
            </a:r>
            <a:endParaRPr lang="en-US" sz="1200" dirty="0"/>
          </a:p>
        </p:txBody>
      </p:sp>
      <p:sp>
        <p:nvSpPr>
          <p:cNvPr id="55" name="Text 50"/>
          <p:cNvSpPr/>
          <p:nvPr/>
        </p:nvSpPr>
        <p:spPr>
          <a:xfrm>
            <a:off x="1005840" y="4626864"/>
            <a:ext cx="1417320" cy="420624"/>
          </a:xfrm>
          <a:prstGeom prst="rect">
            <a:avLst/>
          </a:prstGeom>
          <a:noFill/>
          <a:ln/>
        </p:spPr>
        <p:txBody>
          <a:bodyPr wrap="square" lIns="0" tIns="0" rIns="0" bIns="0" rtlCol="0" anchor="b"/>
          <a:lstStyle/>
          <a:p>
            <a:pPr marL="0" indent="0">
              <a:lnSpc>
                <a:spcPct val="98000"/>
              </a:lnSpc>
              <a:buNone/>
            </a:pPr>
            <a:r>
              <a:rPr lang="en-US" sz="760" i="1" dirty="0">
                <a:solidFill>
                  <a:srgbClr val="5B6B7C"/>
                </a:solidFill>
                <a:latin typeface="Calibri" pitchFamily="34" charset="0"/>
                <a:ea typeface="Calibri" pitchFamily="34" charset="-122"/>
                <a:cs typeface="Calibri" pitchFamily="34" charset="-120"/>
              </a:rPr>
              <a:t>Necsa · Pelchem · possible Pelindaba site</a:t>
            </a:r>
            <a:endParaRPr lang="en-US" sz="760" dirty="0"/>
          </a:p>
        </p:txBody>
      </p:sp>
      <p:sp>
        <p:nvSpPr>
          <p:cNvPr id="56" name="Shape 51"/>
          <p:cNvSpPr/>
          <p:nvPr/>
        </p:nvSpPr>
        <p:spPr>
          <a:xfrm>
            <a:off x="2514600" y="4544568"/>
            <a:ext cx="9235440" cy="0"/>
          </a:xfrm>
          <a:prstGeom prst="line">
            <a:avLst/>
          </a:prstGeom>
          <a:noFill/>
          <a:ln w="6350">
            <a:solidFill>
              <a:srgbClr val="E3E9EF"/>
            </a:solidFill>
            <a:prstDash val="dash"/>
          </a:ln>
        </p:spPr>
        <p:txBody>
          <a:bodyPr/>
          <a:lstStyle/>
          <a:p>
            <a:endParaRPr lang="en-GB"/>
          </a:p>
        </p:txBody>
      </p:sp>
      <p:sp>
        <p:nvSpPr>
          <p:cNvPr id="57" name="Shape 52"/>
          <p:cNvSpPr/>
          <p:nvPr/>
        </p:nvSpPr>
        <p:spPr>
          <a:xfrm>
            <a:off x="2514600" y="4425696"/>
            <a:ext cx="3958046" cy="237744"/>
          </a:xfrm>
          <a:prstGeom prst="roundRect">
            <a:avLst>
              <a:gd name="adj" fmla="val 19231"/>
            </a:avLst>
          </a:prstGeom>
          <a:solidFill>
            <a:srgbClr val="C77B17"/>
          </a:solidFill>
          <a:ln/>
        </p:spPr>
        <p:txBody>
          <a:bodyPr/>
          <a:lstStyle/>
          <a:p>
            <a:endParaRPr lang="en-GB"/>
          </a:p>
        </p:txBody>
      </p:sp>
      <p:sp>
        <p:nvSpPr>
          <p:cNvPr id="58" name="Shape 53"/>
          <p:cNvSpPr/>
          <p:nvPr/>
        </p:nvSpPr>
        <p:spPr>
          <a:xfrm>
            <a:off x="2785001" y="4485132"/>
            <a:ext cx="118872" cy="118872"/>
          </a:xfrm>
          <a:prstGeom prst="diamond">
            <a:avLst/>
          </a:prstGeom>
          <a:solidFill>
            <a:srgbClr val="FFFFFF"/>
          </a:solidFill>
          <a:ln w="21590">
            <a:solidFill>
              <a:srgbClr val="C77B17"/>
            </a:solidFill>
            <a:prstDash val="solid"/>
          </a:ln>
        </p:spPr>
        <p:txBody>
          <a:bodyPr/>
          <a:lstStyle/>
          <a:p>
            <a:endParaRPr lang="en-GB"/>
          </a:p>
        </p:txBody>
      </p:sp>
      <p:sp>
        <p:nvSpPr>
          <p:cNvPr id="59" name="Text 54"/>
          <p:cNvSpPr/>
          <p:nvPr/>
        </p:nvSpPr>
        <p:spPr>
          <a:xfrm>
            <a:off x="2148840" y="4114800"/>
            <a:ext cx="2468880" cy="237744"/>
          </a:xfrm>
          <a:prstGeom prst="rect">
            <a:avLst/>
          </a:prstGeom>
          <a:noFill/>
          <a:ln/>
        </p:spPr>
        <p:txBody>
          <a:bodyPr wrap="square" lIns="0" tIns="0" rIns="0" bIns="0" rtlCol="0" anchor="ctr"/>
          <a:lstStyle/>
          <a:p>
            <a:pPr marL="0" indent="0" algn="ctr">
              <a:buNone/>
            </a:pPr>
            <a:r>
              <a:rPr lang="en-US" sz="780" b="1" dirty="0">
                <a:solidFill>
                  <a:srgbClr val="C77B17"/>
                </a:solidFill>
                <a:latin typeface="Calibri" pitchFamily="34" charset="0"/>
                <a:ea typeface="Calibri" pitchFamily="34" charset="-122"/>
                <a:cs typeface="Calibri" pitchFamily="34" charset="-120"/>
              </a:rPr>
              <a:t>SMR-specific RFP in preparation</a:t>
            </a:r>
            <a:endParaRPr lang="en-US" sz="780" dirty="0"/>
          </a:p>
        </p:txBody>
      </p:sp>
      <p:sp>
        <p:nvSpPr>
          <p:cNvPr id="60" name="Shape 55"/>
          <p:cNvSpPr/>
          <p:nvPr/>
        </p:nvSpPr>
        <p:spPr>
          <a:xfrm>
            <a:off x="457200" y="5586984"/>
            <a:ext cx="438912" cy="438912"/>
          </a:xfrm>
          <a:prstGeom prst="ellipse">
            <a:avLst/>
          </a:prstGeom>
          <a:solidFill>
            <a:srgbClr val="1B3358"/>
          </a:solidFill>
          <a:ln/>
        </p:spPr>
        <p:txBody>
          <a:bodyPr/>
          <a:lstStyle/>
          <a:p>
            <a:endParaRPr lang="en-GB"/>
          </a:p>
        </p:txBody>
      </p:sp>
      <p:pic>
        <p:nvPicPr>
          <p:cNvPr id="61" name="Image 3" descr="preencoded.png"/>
          <p:cNvPicPr>
            <a:picLocks noChangeAspect="1"/>
          </p:cNvPicPr>
          <p:nvPr/>
        </p:nvPicPr>
        <p:blipFill>
          <a:blip r:embed="rId6"/>
          <a:stretch>
            <a:fillRect/>
          </a:stretch>
        </p:blipFill>
        <p:spPr>
          <a:xfrm>
            <a:off x="548640" y="5678424"/>
            <a:ext cx="256032" cy="256032"/>
          </a:xfrm>
          <a:prstGeom prst="rect">
            <a:avLst/>
          </a:prstGeom>
        </p:spPr>
      </p:pic>
      <p:sp>
        <p:nvSpPr>
          <p:cNvPr id="62" name="Text 56"/>
          <p:cNvSpPr/>
          <p:nvPr/>
        </p:nvSpPr>
        <p:spPr>
          <a:xfrm>
            <a:off x="1005840" y="5376672"/>
            <a:ext cx="1417320" cy="512064"/>
          </a:xfrm>
          <a:prstGeom prst="rect">
            <a:avLst/>
          </a:prstGeom>
          <a:noFill/>
          <a:ln/>
        </p:spPr>
        <p:txBody>
          <a:bodyPr wrap="square" lIns="0" tIns="0" rIns="0" bIns="0" rtlCol="0" anchor="t"/>
          <a:lstStyle/>
          <a:p>
            <a:pPr marL="0" indent="0">
              <a:lnSpc>
                <a:spcPct val="98000"/>
              </a:lnSpc>
              <a:buNone/>
            </a:pPr>
            <a:r>
              <a:rPr lang="en-US" sz="1200" b="1" dirty="0">
                <a:solidFill>
                  <a:srgbClr val="12233D"/>
                </a:solidFill>
                <a:latin typeface="Calibri" pitchFamily="34" charset="0"/>
                <a:ea typeface="Calibri" pitchFamily="34" charset="-122"/>
                <a:cs typeface="Calibri" pitchFamily="34" charset="-120"/>
              </a:rPr>
              <a:t>BridgePower Nuclear (private)</a:t>
            </a:r>
            <a:endParaRPr lang="en-US" sz="1200" dirty="0"/>
          </a:p>
        </p:txBody>
      </p:sp>
      <p:sp>
        <p:nvSpPr>
          <p:cNvPr id="63" name="Text 57"/>
          <p:cNvSpPr/>
          <p:nvPr/>
        </p:nvSpPr>
        <p:spPr>
          <a:xfrm>
            <a:off x="1005840" y="5888736"/>
            <a:ext cx="1417320" cy="420624"/>
          </a:xfrm>
          <a:prstGeom prst="rect">
            <a:avLst/>
          </a:prstGeom>
          <a:noFill/>
          <a:ln/>
        </p:spPr>
        <p:txBody>
          <a:bodyPr wrap="square" lIns="0" tIns="0" rIns="0" bIns="0" rtlCol="0" anchor="b"/>
          <a:lstStyle/>
          <a:p>
            <a:pPr marL="0" indent="0">
              <a:lnSpc>
                <a:spcPct val="98000"/>
              </a:lnSpc>
              <a:buNone/>
            </a:pPr>
            <a:r>
              <a:rPr lang="en-US" sz="760" i="1" dirty="0">
                <a:solidFill>
                  <a:srgbClr val="5B6B7C"/>
                </a:solidFill>
                <a:latin typeface="Calibri" pitchFamily="34" charset="0"/>
                <a:ea typeface="Calibri" pitchFamily="34" charset="-122"/>
                <a:cs typeface="Calibri" pitchFamily="34" charset="-120"/>
              </a:rPr>
              <a:t>USP&amp;E · BAM Energy</a:t>
            </a:r>
            <a:endParaRPr lang="en-US" sz="760" dirty="0"/>
          </a:p>
        </p:txBody>
      </p:sp>
      <p:sp>
        <p:nvSpPr>
          <p:cNvPr id="64" name="Shape 58"/>
          <p:cNvSpPr/>
          <p:nvPr/>
        </p:nvSpPr>
        <p:spPr>
          <a:xfrm>
            <a:off x="2514600" y="5806440"/>
            <a:ext cx="9235440" cy="0"/>
          </a:xfrm>
          <a:prstGeom prst="line">
            <a:avLst/>
          </a:prstGeom>
          <a:noFill/>
          <a:ln w="6350">
            <a:solidFill>
              <a:srgbClr val="E3E9EF"/>
            </a:solidFill>
            <a:prstDash val="dash"/>
          </a:ln>
        </p:spPr>
        <p:txBody>
          <a:bodyPr/>
          <a:lstStyle/>
          <a:p>
            <a:endParaRPr lang="en-GB"/>
          </a:p>
        </p:txBody>
      </p:sp>
      <p:sp>
        <p:nvSpPr>
          <p:cNvPr id="65" name="Shape 59"/>
          <p:cNvSpPr/>
          <p:nvPr/>
        </p:nvSpPr>
        <p:spPr>
          <a:xfrm>
            <a:off x="2514600" y="5687568"/>
            <a:ext cx="659674" cy="237744"/>
          </a:xfrm>
          <a:prstGeom prst="roundRect">
            <a:avLst>
              <a:gd name="adj" fmla="val 19231"/>
            </a:avLst>
          </a:prstGeom>
          <a:solidFill>
            <a:srgbClr val="6B7785"/>
          </a:solidFill>
          <a:ln/>
        </p:spPr>
        <p:txBody>
          <a:bodyPr/>
          <a:lstStyle/>
          <a:p>
            <a:endParaRPr lang="en-GB"/>
          </a:p>
        </p:txBody>
      </p:sp>
      <p:sp>
        <p:nvSpPr>
          <p:cNvPr id="66" name="Shape 60"/>
          <p:cNvSpPr/>
          <p:nvPr/>
        </p:nvSpPr>
        <p:spPr>
          <a:xfrm>
            <a:off x="4493623" y="5687568"/>
            <a:ext cx="1979023" cy="237744"/>
          </a:xfrm>
          <a:prstGeom prst="roundRect">
            <a:avLst>
              <a:gd name="adj" fmla="val 19231"/>
            </a:avLst>
          </a:prstGeom>
          <a:solidFill>
            <a:srgbClr val="6B7785"/>
          </a:solidFill>
          <a:ln/>
        </p:spPr>
        <p:txBody>
          <a:bodyPr/>
          <a:lstStyle/>
          <a:p>
            <a:endParaRPr lang="en-GB"/>
          </a:p>
        </p:txBody>
      </p:sp>
      <p:sp>
        <p:nvSpPr>
          <p:cNvPr id="67" name="Shape 61"/>
          <p:cNvSpPr/>
          <p:nvPr/>
        </p:nvSpPr>
        <p:spPr>
          <a:xfrm>
            <a:off x="3114838" y="5747004"/>
            <a:ext cx="118872" cy="118872"/>
          </a:xfrm>
          <a:prstGeom prst="diamond">
            <a:avLst/>
          </a:prstGeom>
          <a:solidFill>
            <a:srgbClr val="FFFFFF"/>
          </a:solidFill>
          <a:ln w="21590">
            <a:solidFill>
              <a:srgbClr val="6B7785"/>
            </a:solidFill>
            <a:prstDash val="solid"/>
          </a:ln>
        </p:spPr>
        <p:txBody>
          <a:bodyPr/>
          <a:lstStyle/>
          <a:p>
            <a:endParaRPr lang="en-GB"/>
          </a:p>
        </p:txBody>
      </p:sp>
      <p:sp>
        <p:nvSpPr>
          <p:cNvPr id="68" name="Text 62"/>
          <p:cNvSpPr/>
          <p:nvPr/>
        </p:nvSpPr>
        <p:spPr>
          <a:xfrm>
            <a:off x="2148840" y="5376672"/>
            <a:ext cx="2468880" cy="237744"/>
          </a:xfrm>
          <a:prstGeom prst="rect">
            <a:avLst/>
          </a:prstGeom>
          <a:noFill/>
          <a:ln/>
        </p:spPr>
        <p:txBody>
          <a:bodyPr wrap="square" lIns="0" tIns="0" rIns="0" bIns="0" rtlCol="0" anchor="ctr"/>
          <a:lstStyle/>
          <a:p>
            <a:pPr marL="0" indent="0" algn="ctr">
              <a:buNone/>
            </a:pPr>
            <a:r>
              <a:rPr lang="en-US" sz="780" b="1" dirty="0">
                <a:solidFill>
                  <a:srgbClr val="6B7785"/>
                </a:solidFill>
                <a:latin typeface="Calibri" pitchFamily="34" charset="0"/>
                <a:ea typeface="Calibri" pitchFamily="34" charset="-122"/>
                <a:cs typeface="Calibri" pitchFamily="34" charset="-120"/>
              </a:rPr>
              <a:t>Thermal phase deployable (12–24mo)</a:t>
            </a:r>
            <a:endParaRPr lang="en-US" sz="780" dirty="0"/>
          </a:p>
        </p:txBody>
      </p:sp>
      <p:sp>
        <p:nvSpPr>
          <p:cNvPr id="69" name="Shape 63"/>
          <p:cNvSpPr/>
          <p:nvPr/>
        </p:nvSpPr>
        <p:spPr>
          <a:xfrm>
            <a:off x="4434187" y="5747004"/>
            <a:ext cx="118872" cy="118872"/>
          </a:xfrm>
          <a:prstGeom prst="diamond">
            <a:avLst/>
          </a:prstGeom>
          <a:solidFill>
            <a:srgbClr val="FFFFFF"/>
          </a:solidFill>
          <a:ln w="21590">
            <a:solidFill>
              <a:srgbClr val="6B7785"/>
            </a:solidFill>
            <a:prstDash val="solid"/>
          </a:ln>
        </p:spPr>
        <p:txBody>
          <a:bodyPr/>
          <a:lstStyle/>
          <a:p>
            <a:endParaRPr lang="en-GB"/>
          </a:p>
        </p:txBody>
      </p:sp>
      <p:sp>
        <p:nvSpPr>
          <p:cNvPr id="70" name="Text 64"/>
          <p:cNvSpPr/>
          <p:nvPr/>
        </p:nvSpPr>
        <p:spPr>
          <a:xfrm>
            <a:off x="3259183" y="6053328"/>
            <a:ext cx="2468880" cy="237744"/>
          </a:xfrm>
          <a:prstGeom prst="rect">
            <a:avLst/>
          </a:prstGeom>
          <a:noFill/>
          <a:ln/>
        </p:spPr>
        <p:txBody>
          <a:bodyPr wrap="square" lIns="0" tIns="0" rIns="0" bIns="0" rtlCol="0" anchor="ctr"/>
          <a:lstStyle/>
          <a:p>
            <a:pPr marL="0" indent="0" algn="ctr">
              <a:buNone/>
            </a:pPr>
            <a:r>
              <a:rPr lang="en-US" sz="780" b="1" dirty="0">
                <a:solidFill>
                  <a:srgbClr val="6B7785"/>
                </a:solidFill>
                <a:latin typeface="Calibri" pitchFamily="34" charset="0"/>
                <a:ea typeface="Calibri" pitchFamily="34" charset="-122"/>
                <a:cs typeface="Calibri" pitchFamily="34" charset="-120"/>
              </a:rPr>
              <a:t>“Pearl SMR” modules from 2029 (subject to FID)</a:t>
            </a:r>
            <a:endParaRPr lang="en-US" sz="780" dirty="0"/>
          </a:p>
        </p:txBody>
      </p:sp>
      <p:sp>
        <p:nvSpPr>
          <p:cNvPr id="71" name="Shape 65"/>
          <p:cNvSpPr/>
          <p:nvPr/>
        </p:nvSpPr>
        <p:spPr>
          <a:xfrm>
            <a:off x="2514600" y="1426464"/>
            <a:ext cx="0" cy="4974336"/>
          </a:xfrm>
          <a:prstGeom prst="line">
            <a:avLst/>
          </a:prstGeom>
          <a:noFill/>
          <a:ln w="12700">
            <a:solidFill>
              <a:srgbClr val="C7D2DC"/>
            </a:solidFill>
            <a:prstDash val="solid"/>
          </a:ln>
        </p:spPr>
        <p:txBody>
          <a:bodyPr/>
          <a:lstStyle/>
          <a:p>
            <a:endParaRPr lang="en-GB"/>
          </a:p>
        </p:txBody>
      </p:sp>
      <p:sp>
        <p:nvSpPr>
          <p:cNvPr id="72" name="Shape 66"/>
          <p:cNvSpPr/>
          <p:nvPr/>
        </p:nvSpPr>
        <p:spPr>
          <a:xfrm>
            <a:off x="2844437" y="1280160"/>
            <a:ext cx="0" cy="5120640"/>
          </a:xfrm>
          <a:prstGeom prst="line">
            <a:avLst/>
          </a:prstGeom>
          <a:noFill/>
          <a:ln w="15875">
            <a:solidFill>
              <a:srgbClr val="12233D"/>
            </a:solidFill>
            <a:prstDash val="lgDash"/>
          </a:ln>
        </p:spPr>
        <p:txBody>
          <a:bodyPr/>
          <a:lstStyle/>
          <a:p>
            <a:endParaRPr lang="en-GB"/>
          </a:p>
        </p:txBody>
      </p:sp>
      <p:sp>
        <p:nvSpPr>
          <p:cNvPr id="73" name="Shape 67"/>
          <p:cNvSpPr/>
          <p:nvPr/>
        </p:nvSpPr>
        <p:spPr>
          <a:xfrm>
            <a:off x="2807861" y="1234440"/>
            <a:ext cx="73152" cy="73152"/>
          </a:xfrm>
          <a:prstGeom prst="ellipse">
            <a:avLst/>
          </a:prstGeom>
          <a:solidFill>
            <a:srgbClr val="12233D"/>
          </a:solidFill>
          <a:ln/>
        </p:spPr>
        <p:txBody>
          <a:bodyPr/>
          <a:lstStyle/>
          <a:p>
            <a:endParaRPr lang="en-GB"/>
          </a:p>
        </p:txBody>
      </p:sp>
      <p:sp>
        <p:nvSpPr>
          <p:cNvPr id="74" name="Text 68"/>
          <p:cNvSpPr/>
          <p:nvPr/>
        </p:nvSpPr>
        <p:spPr>
          <a:xfrm>
            <a:off x="2478677" y="1060704"/>
            <a:ext cx="731520" cy="182880"/>
          </a:xfrm>
          <a:prstGeom prst="rect">
            <a:avLst/>
          </a:prstGeom>
          <a:noFill/>
          <a:ln/>
        </p:spPr>
        <p:txBody>
          <a:bodyPr wrap="square" lIns="0" tIns="0" rIns="0" bIns="0" rtlCol="0" anchor="ctr"/>
          <a:lstStyle/>
          <a:p>
            <a:pPr marL="0" indent="0" algn="ctr">
              <a:buNone/>
            </a:pPr>
            <a:r>
              <a:rPr lang="en-US" sz="800" b="1" kern="0" spc="50" dirty="0">
                <a:solidFill>
                  <a:srgbClr val="12233D"/>
                </a:solidFill>
                <a:latin typeface="Calibri" pitchFamily="34" charset="0"/>
                <a:ea typeface="Calibri" pitchFamily="34" charset="-122"/>
                <a:cs typeface="Calibri" pitchFamily="34" charset="-120"/>
              </a:rPr>
              <a:t>TODAY</a:t>
            </a:r>
            <a:endParaRPr lang="en-US" sz="800" dirty="0"/>
          </a:p>
        </p:txBody>
      </p:sp>
      <p:sp>
        <p:nvSpPr>
          <p:cNvPr id="75" name="Text 69"/>
          <p:cNvSpPr/>
          <p:nvPr/>
        </p:nvSpPr>
        <p:spPr>
          <a:xfrm>
            <a:off x="457200" y="6620256"/>
            <a:ext cx="11247120" cy="182880"/>
          </a:xfrm>
          <a:prstGeom prst="rect">
            <a:avLst/>
          </a:prstGeom>
          <a:noFill/>
          <a:ln/>
        </p:spPr>
        <p:txBody>
          <a:bodyPr wrap="square" lIns="0" tIns="0" rIns="0" bIns="0" rtlCol="0" anchor="ctr"/>
          <a:lstStyle/>
          <a:p>
            <a:pPr marL="0" indent="0">
              <a:buNone/>
            </a:pPr>
            <a:r>
              <a:rPr lang="en-US" sz="730" i="1" dirty="0">
                <a:solidFill>
                  <a:srgbClr val="9AA7B3"/>
                </a:solidFill>
                <a:latin typeface="Calibri" pitchFamily="34" charset="0"/>
                <a:ea typeface="Calibri" pitchFamily="34" charset="-122"/>
                <a:cs typeface="Calibri" pitchFamily="34" charset="-120"/>
              </a:rPr>
              <a:t>Source: Eskom, NNR, NERSA, Department of Electricity and Energy, World Nuclear Association announcements, 23 June 2026. Procurement timelines have a multi-year history of restart and delay; dates reflect policy intent absent a signed EPC contract.</a:t>
            </a:r>
            <a:endParaRPr lang="en-US" sz="730" dirty="0"/>
          </a:p>
        </p:txBody>
      </p:sp>
    </p:spTree>
    <p:extLst>
      <p:ext uri="{BB962C8B-B14F-4D97-AF65-F5344CB8AC3E}">
        <p14:creationId xmlns:p14="http://schemas.microsoft.com/office/powerpoint/2010/main" val="307122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2233D"/>
          </a:solidFill>
          <a:ln/>
        </p:spPr>
        <p:txBody>
          <a:bodyPr/>
          <a:lstStyle/>
          <a:p>
            <a:endParaRPr lang="en-GB"/>
          </a:p>
        </p:txBody>
      </p:sp>
      <p:sp>
        <p:nvSpPr>
          <p:cNvPr id="3" name="Text 1"/>
          <p:cNvSpPr/>
          <p:nvPr/>
        </p:nvSpPr>
        <p:spPr>
          <a:xfrm>
            <a:off x="457200" y="118872"/>
            <a:ext cx="8869680" cy="384048"/>
          </a:xfrm>
          <a:prstGeom prst="rect">
            <a:avLst/>
          </a:prstGeom>
          <a:noFill/>
          <a:ln/>
        </p:spPr>
        <p:txBody>
          <a:bodyPr wrap="square" lIns="0" tIns="0" rIns="0" bIns="0" rtlCol="0" anchor="ctr"/>
          <a:lstStyle/>
          <a:p>
            <a:pPr marL="0" indent="0">
              <a:buNone/>
            </a:pPr>
            <a:r>
              <a:rPr lang="en-US" b="1" kern="0" spc="130" dirty="0">
                <a:solidFill>
                  <a:srgbClr val="FF0000"/>
                </a:solidFill>
                <a:latin typeface="Calibri" pitchFamily="34" charset="0"/>
                <a:cs typeface="Calibri" pitchFamily="34" charset="-120"/>
              </a:rPr>
              <a:t>NETHERLANDS </a:t>
            </a:r>
            <a:r>
              <a:rPr lang="en-US" sz="1500" b="1" kern="0" spc="130" dirty="0">
                <a:solidFill>
                  <a:srgbClr val="9FB6CC"/>
                </a:solidFill>
                <a:latin typeface="Calibri" pitchFamily="34" charset="0"/>
                <a:ea typeface="Calibri" pitchFamily="34" charset="-122"/>
                <a:cs typeface="Calibri" pitchFamily="34" charset="-120"/>
              </a:rPr>
              <a:t>NUCLEAR PROGRAMME LANDSCAPE</a:t>
            </a:r>
            <a:endParaRPr lang="en-US" sz="1500" dirty="0"/>
          </a:p>
        </p:txBody>
      </p:sp>
      <p:sp>
        <p:nvSpPr>
          <p:cNvPr id="4" name="Text 2"/>
          <p:cNvSpPr/>
          <p:nvPr/>
        </p:nvSpPr>
        <p:spPr>
          <a:xfrm>
            <a:off x="457200" y="411480"/>
            <a:ext cx="86868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Programme Overview at a Glance</a:t>
            </a:r>
            <a:endParaRPr lang="en-US" sz="2600" dirty="0"/>
          </a:p>
        </p:txBody>
      </p:sp>
      <p:sp>
        <p:nvSpPr>
          <p:cNvPr id="6" name="Shape 4"/>
          <p:cNvSpPr/>
          <p:nvPr/>
        </p:nvSpPr>
        <p:spPr>
          <a:xfrm>
            <a:off x="6035040" y="1143000"/>
            <a:ext cx="118872" cy="118872"/>
          </a:xfrm>
          <a:prstGeom prst="ellipse">
            <a:avLst/>
          </a:prstGeom>
          <a:solidFill>
            <a:srgbClr val="1E8E5A"/>
          </a:solidFill>
          <a:ln/>
        </p:spPr>
        <p:txBody>
          <a:bodyPr/>
          <a:lstStyle/>
          <a:p>
            <a:endParaRPr lang="en-GB"/>
          </a:p>
        </p:txBody>
      </p:sp>
      <p:sp>
        <p:nvSpPr>
          <p:cNvPr id="7" name="Text 5"/>
          <p:cNvSpPr/>
          <p:nvPr/>
        </p:nvSpPr>
        <p:spPr>
          <a:xfrm>
            <a:off x="6217920" y="1060704"/>
            <a:ext cx="201168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Operational / active delivery</a:t>
            </a:r>
            <a:endParaRPr lang="en-US" sz="1050" dirty="0"/>
          </a:p>
        </p:txBody>
      </p:sp>
      <p:sp>
        <p:nvSpPr>
          <p:cNvPr id="8" name="Shape 6"/>
          <p:cNvSpPr/>
          <p:nvPr/>
        </p:nvSpPr>
        <p:spPr>
          <a:xfrm>
            <a:off x="8366760" y="1143000"/>
            <a:ext cx="118872" cy="118872"/>
          </a:xfrm>
          <a:prstGeom prst="ellipse">
            <a:avLst/>
          </a:prstGeom>
          <a:solidFill>
            <a:srgbClr val="C77B17"/>
          </a:solidFill>
          <a:ln/>
        </p:spPr>
        <p:txBody>
          <a:bodyPr/>
          <a:lstStyle/>
          <a:p>
            <a:endParaRPr lang="en-GB"/>
          </a:p>
        </p:txBody>
      </p:sp>
      <p:sp>
        <p:nvSpPr>
          <p:cNvPr id="9" name="Text 7"/>
          <p:cNvSpPr/>
          <p:nvPr/>
        </p:nvSpPr>
        <p:spPr>
          <a:xfrm>
            <a:off x="8549640" y="1060704"/>
            <a:ext cx="173736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Siting / design / pre-FID</a:t>
            </a:r>
            <a:endParaRPr lang="en-US" sz="1050" dirty="0"/>
          </a:p>
        </p:txBody>
      </p:sp>
      <p:sp>
        <p:nvSpPr>
          <p:cNvPr id="10" name="Shape 8"/>
          <p:cNvSpPr/>
          <p:nvPr/>
        </p:nvSpPr>
        <p:spPr>
          <a:xfrm>
            <a:off x="10424160" y="1143000"/>
            <a:ext cx="118872" cy="118872"/>
          </a:xfrm>
          <a:prstGeom prst="ellipse">
            <a:avLst/>
          </a:prstGeom>
          <a:solidFill>
            <a:srgbClr val="6B7785"/>
          </a:solidFill>
          <a:ln/>
        </p:spPr>
        <p:txBody>
          <a:bodyPr/>
          <a:lstStyle/>
          <a:p>
            <a:endParaRPr lang="en-GB"/>
          </a:p>
        </p:txBody>
      </p:sp>
      <p:sp>
        <p:nvSpPr>
          <p:cNvPr id="11" name="Text 9"/>
          <p:cNvSpPr/>
          <p:nvPr/>
        </p:nvSpPr>
        <p:spPr>
          <a:xfrm>
            <a:off x="10607040" y="1060704"/>
            <a:ext cx="150876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Concept / forward option</a:t>
            </a:r>
            <a:endParaRPr lang="en-US" sz="1050" dirty="0"/>
          </a:p>
        </p:txBody>
      </p:sp>
      <p:sp>
        <p:nvSpPr>
          <p:cNvPr id="12" name="Shape 10"/>
          <p:cNvSpPr/>
          <p:nvPr/>
        </p:nvSpPr>
        <p:spPr>
          <a:xfrm>
            <a:off x="457200" y="141732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13" name="Shape 11"/>
          <p:cNvSpPr/>
          <p:nvPr/>
        </p:nvSpPr>
        <p:spPr>
          <a:xfrm>
            <a:off x="713232" y="1655064"/>
            <a:ext cx="530352" cy="530352"/>
          </a:xfrm>
          <a:prstGeom prst="ellipse">
            <a:avLst/>
          </a:prstGeom>
          <a:solidFill>
            <a:srgbClr val="1B3358"/>
          </a:solidFill>
          <a:ln/>
        </p:spPr>
        <p:txBody>
          <a:bodyPr/>
          <a:lstStyle/>
          <a:p>
            <a:endParaRPr lang="en-GB"/>
          </a:p>
        </p:txBody>
      </p:sp>
      <p:pic>
        <p:nvPicPr>
          <p:cNvPr id="14" name="Image 0" descr="preencoded.png"/>
          <p:cNvPicPr>
            <a:picLocks noChangeAspect="1"/>
          </p:cNvPicPr>
          <p:nvPr/>
        </p:nvPicPr>
        <p:blipFill>
          <a:blip r:embed="rId3"/>
          <a:stretch>
            <a:fillRect/>
          </a:stretch>
        </p:blipFill>
        <p:spPr>
          <a:xfrm>
            <a:off x="832104" y="1773936"/>
            <a:ext cx="292608" cy="292608"/>
          </a:xfrm>
          <a:prstGeom prst="rect">
            <a:avLst/>
          </a:prstGeom>
        </p:spPr>
      </p:pic>
      <p:sp>
        <p:nvSpPr>
          <p:cNvPr id="15" name="Shape 12"/>
          <p:cNvSpPr/>
          <p:nvPr/>
        </p:nvSpPr>
        <p:spPr>
          <a:xfrm>
            <a:off x="3270352" y="1655064"/>
            <a:ext cx="2468880" cy="274320"/>
          </a:xfrm>
          <a:prstGeom prst="roundRect">
            <a:avLst>
              <a:gd name="adj" fmla="val 166667"/>
            </a:avLst>
          </a:prstGeom>
          <a:solidFill>
            <a:srgbClr val="1E8E5A"/>
          </a:solidFill>
          <a:ln/>
        </p:spPr>
        <p:txBody>
          <a:bodyPr/>
          <a:lstStyle/>
          <a:p>
            <a:endParaRPr lang="en-GB"/>
          </a:p>
        </p:txBody>
      </p:sp>
      <p:sp>
        <p:nvSpPr>
          <p:cNvPr id="16" name="Text 13"/>
          <p:cNvSpPr/>
          <p:nvPr/>
        </p:nvSpPr>
        <p:spPr>
          <a:xfrm>
            <a:off x="3270352" y="1655064"/>
            <a:ext cx="246888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OPERATIONAL / LTO SOUGHT</a:t>
            </a:r>
            <a:endParaRPr lang="en-US" sz="950" dirty="0"/>
          </a:p>
        </p:txBody>
      </p:sp>
      <p:sp>
        <p:nvSpPr>
          <p:cNvPr id="17" name="Text 14"/>
          <p:cNvSpPr/>
          <p:nvPr/>
        </p:nvSpPr>
        <p:spPr>
          <a:xfrm>
            <a:off x="713232" y="2331720"/>
            <a:ext cx="4989424" cy="457200"/>
          </a:xfrm>
          <a:prstGeom prst="rect">
            <a:avLst/>
          </a:prstGeom>
          <a:noFill/>
          <a:ln/>
        </p:spPr>
        <p:txBody>
          <a:bodyPr wrap="square" lIns="0" tIns="0" rIns="0" bIns="0" rtlCol="0" anchor="t"/>
          <a:lstStyle/>
          <a:p>
            <a:pPr marL="0" indent="0">
              <a:buNone/>
            </a:pPr>
            <a:r>
              <a:rPr lang="en-US" sz="1650" b="1" dirty="0">
                <a:solidFill>
                  <a:srgbClr val="12233D"/>
                </a:solidFill>
                <a:latin typeface="Calibri" pitchFamily="34" charset="0"/>
                <a:ea typeface="Calibri" pitchFamily="34" charset="-122"/>
                <a:cs typeface="Calibri" pitchFamily="34" charset="-120"/>
              </a:rPr>
              <a:t>Borssele — Long-Term Operation</a:t>
            </a:r>
            <a:endParaRPr lang="en-US" sz="1650" dirty="0"/>
          </a:p>
        </p:txBody>
      </p:sp>
      <p:sp>
        <p:nvSpPr>
          <p:cNvPr id="18" name="Text 15"/>
          <p:cNvSpPr/>
          <p:nvPr/>
        </p:nvSpPr>
        <p:spPr>
          <a:xfrm>
            <a:off x="713232" y="280720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482 MWe  ·  ~3% of NL electricity</a:t>
            </a:r>
            <a:endParaRPr lang="en-US" sz="1150" dirty="0"/>
          </a:p>
        </p:txBody>
      </p:sp>
      <p:sp>
        <p:nvSpPr>
          <p:cNvPr id="19" name="Shape 16"/>
          <p:cNvSpPr/>
          <p:nvPr/>
        </p:nvSpPr>
        <p:spPr>
          <a:xfrm>
            <a:off x="713232" y="3172968"/>
            <a:ext cx="4989424" cy="0"/>
          </a:xfrm>
          <a:prstGeom prst="line">
            <a:avLst/>
          </a:prstGeom>
          <a:noFill/>
          <a:ln w="9525">
            <a:solidFill>
              <a:srgbClr val="D6E0E8"/>
            </a:solidFill>
            <a:prstDash val="solid"/>
          </a:ln>
        </p:spPr>
        <p:txBody>
          <a:bodyPr/>
          <a:lstStyle/>
          <a:p>
            <a:endParaRPr lang="en-GB"/>
          </a:p>
        </p:txBody>
      </p:sp>
      <p:sp>
        <p:nvSpPr>
          <p:cNvPr id="20" name="Text 17"/>
          <p:cNvSpPr/>
          <p:nvPr/>
        </p:nvSpPr>
        <p:spPr>
          <a:xfrm>
            <a:off x="713232" y="3282696"/>
            <a:ext cx="4989424" cy="7772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50" dirty="0">
                <a:solidFill>
                  <a:srgbClr val="12233D"/>
                </a:solidFill>
                <a:latin typeface="Calibri" pitchFamily="34" charset="0"/>
                <a:ea typeface="Calibri" pitchFamily="34" charset="-122"/>
                <a:cs typeface="Calibri" pitchFamily="34" charset="-120"/>
              </a:rPr>
              <a:t>Due to close 2033 · extension to 2054 sought</a:t>
            </a:r>
            <a:endParaRPr lang="en-US" sz="900" dirty="0"/>
          </a:p>
        </p:txBody>
      </p:sp>
      <p:sp>
        <p:nvSpPr>
          <p:cNvPr id="21" name="Text 18"/>
          <p:cNvSpPr/>
          <p:nvPr/>
        </p:nvSpPr>
        <p:spPr>
          <a:xfrm>
            <a:off x="713232" y="352501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EPZ · ANVS</a:t>
            </a:r>
            <a:endParaRPr lang="en-US" sz="1050" dirty="0"/>
          </a:p>
        </p:txBody>
      </p:sp>
      <p:sp>
        <p:nvSpPr>
          <p:cNvPr id="22" name="Shape 19"/>
          <p:cNvSpPr/>
          <p:nvPr/>
        </p:nvSpPr>
        <p:spPr>
          <a:xfrm>
            <a:off x="6233008" y="141732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23" name="Shape 20"/>
          <p:cNvSpPr/>
          <p:nvPr/>
        </p:nvSpPr>
        <p:spPr>
          <a:xfrm>
            <a:off x="6489040" y="1655064"/>
            <a:ext cx="530352" cy="530352"/>
          </a:xfrm>
          <a:prstGeom prst="ellipse">
            <a:avLst/>
          </a:prstGeom>
          <a:solidFill>
            <a:srgbClr val="1B3358"/>
          </a:solidFill>
          <a:ln/>
        </p:spPr>
        <p:txBody>
          <a:bodyPr/>
          <a:lstStyle/>
          <a:p>
            <a:endParaRPr lang="en-GB"/>
          </a:p>
        </p:txBody>
      </p:sp>
      <p:pic>
        <p:nvPicPr>
          <p:cNvPr id="24" name="Image 1" descr="preencoded.png"/>
          <p:cNvPicPr>
            <a:picLocks noChangeAspect="1"/>
          </p:cNvPicPr>
          <p:nvPr/>
        </p:nvPicPr>
        <p:blipFill>
          <a:blip r:embed="rId4"/>
          <a:stretch>
            <a:fillRect/>
          </a:stretch>
        </p:blipFill>
        <p:spPr>
          <a:xfrm>
            <a:off x="6607912" y="1773936"/>
            <a:ext cx="292608" cy="292608"/>
          </a:xfrm>
          <a:prstGeom prst="rect">
            <a:avLst/>
          </a:prstGeom>
        </p:spPr>
      </p:pic>
      <p:sp>
        <p:nvSpPr>
          <p:cNvPr id="25" name="Shape 21"/>
          <p:cNvSpPr/>
          <p:nvPr/>
        </p:nvSpPr>
        <p:spPr>
          <a:xfrm>
            <a:off x="9046159" y="1655064"/>
            <a:ext cx="2468880" cy="274320"/>
          </a:xfrm>
          <a:prstGeom prst="roundRect">
            <a:avLst>
              <a:gd name="adj" fmla="val 166667"/>
            </a:avLst>
          </a:prstGeom>
          <a:solidFill>
            <a:srgbClr val="C77B17"/>
          </a:solidFill>
          <a:ln/>
        </p:spPr>
        <p:txBody>
          <a:bodyPr/>
          <a:lstStyle/>
          <a:p>
            <a:endParaRPr lang="en-GB"/>
          </a:p>
        </p:txBody>
      </p:sp>
      <p:sp>
        <p:nvSpPr>
          <p:cNvPr id="26" name="Text 22"/>
          <p:cNvSpPr/>
          <p:nvPr/>
        </p:nvSpPr>
        <p:spPr>
          <a:xfrm>
            <a:off x="9046159" y="1655064"/>
            <a:ext cx="246888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SITING / FEASIBILITY</a:t>
            </a:r>
            <a:endParaRPr lang="en-US" sz="950" dirty="0"/>
          </a:p>
        </p:txBody>
      </p:sp>
      <p:sp>
        <p:nvSpPr>
          <p:cNvPr id="27" name="Text 23"/>
          <p:cNvSpPr/>
          <p:nvPr/>
        </p:nvSpPr>
        <p:spPr>
          <a:xfrm>
            <a:off x="6489040" y="2331720"/>
            <a:ext cx="4989424" cy="457200"/>
          </a:xfrm>
          <a:prstGeom prst="rect">
            <a:avLst/>
          </a:prstGeom>
          <a:noFill/>
          <a:ln/>
        </p:spPr>
        <p:txBody>
          <a:bodyPr wrap="square" lIns="0" tIns="0" rIns="0" bIns="0" rtlCol="0" anchor="t"/>
          <a:lstStyle/>
          <a:p>
            <a:pPr marL="0" indent="0">
              <a:buNone/>
            </a:pPr>
            <a:r>
              <a:rPr lang="en-US" sz="1650" b="1" dirty="0">
                <a:solidFill>
                  <a:srgbClr val="12233D"/>
                </a:solidFill>
                <a:latin typeface="Calibri" pitchFamily="34" charset="0"/>
                <a:ea typeface="Calibri" pitchFamily="34" charset="-122"/>
                <a:cs typeface="Calibri" pitchFamily="34" charset="-120"/>
              </a:rPr>
              <a:t>First Two New Reactors</a:t>
            </a:r>
            <a:endParaRPr lang="en-US" sz="1650" dirty="0"/>
          </a:p>
        </p:txBody>
      </p:sp>
      <p:sp>
        <p:nvSpPr>
          <p:cNvPr id="28" name="Text 24"/>
          <p:cNvSpPr/>
          <p:nvPr/>
        </p:nvSpPr>
        <p:spPr>
          <a:xfrm>
            <a:off x="6489040" y="280720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2 × 1,000–1,650 MWe</a:t>
            </a:r>
            <a:endParaRPr lang="en-US" sz="1150" dirty="0"/>
          </a:p>
        </p:txBody>
      </p:sp>
      <p:sp>
        <p:nvSpPr>
          <p:cNvPr id="29" name="Shape 25"/>
          <p:cNvSpPr/>
          <p:nvPr/>
        </p:nvSpPr>
        <p:spPr>
          <a:xfrm>
            <a:off x="6489040" y="3172968"/>
            <a:ext cx="4989424" cy="0"/>
          </a:xfrm>
          <a:prstGeom prst="line">
            <a:avLst/>
          </a:prstGeom>
          <a:noFill/>
          <a:ln w="9525">
            <a:solidFill>
              <a:srgbClr val="D6E0E8"/>
            </a:solidFill>
            <a:prstDash val="solid"/>
          </a:ln>
        </p:spPr>
        <p:txBody>
          <a:bodyPr/>
          <a:lstStyle/>
          <a:p>
            <a:endParaRPr lang="en-GB"/>
          </a:p>
        </p:txBody>
      </p:sp>
      <p:sp>
        <p:nvSpPr>
          <p:cNvPr id="30" name="Text 26"/>
          <p:cNvSpPr/>
          <p:nvPr/>
        </p:nvSpPr>
        <p:spPr>
          <a:xfrm>
            <a:off x="6489040" y="3282696"/>
            <a:ext cx="4989424" cy="7772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50" dirty="0">
                <a:solidFill>
                  <a:srgbClr val="12233D"/>
                </a:solidFill>
                <a:latin typeface="Calibri" pitchFamily="34" charset="0"/>
                <a:ea typeface="Calibri" pitchFamily="34" charset="-122"/>
                <a:cs typeface="Calibri" pitchFamily="34" charset="-120"/>
              </a:rPr>
              <a:t>Preferred site decision mid-2026 · operational “late 2030s” (slipped from 2035)</a:t>
            </a:r>
            <a:endParaRPr lang="en-US" sz="900" dirty="0"/>
          </a:p>
        </p:txBody>
      </p:sp>
      <p:sp>
        <p:nvSpPr>
          <p:cNvPr id="31" name="Text 27"/>
          <p:cNvSpPr/>
          <p:nvPr/>
        </p:nvSpPr>
        <p:spPr>
          <a:xfrm>
            <a:off x="6489040" y="352501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NEO NL · EDF · Westinghouse · KHNP · NEXUS-NL</a:t>
            </a:r>
            <a:endParaRPr lang="en-US" sz="1050" dirty="0"/>
          </a:p>
        </p:txBody>
      </p:sp>
      <p:sp>
        <p:nvSpPr>
          <p:cNvPr id="32" name="Shape 28"/>
          <p:cNvSpPr/>
          <p:nvPr/>
        </p:nvSpPr>
        <p:spPr>
          <a:xfrm>
            <a:off x="457200" y="409194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33" name="Shape 29"/>
          <p:cNvSpPr/>
          <p:nvPr/>
        </p:nvSpPr>
        <p:spPr>
          <a:xfrm>
            <a:off x="713232" y="4329684"/>
            <a:ext cx="530352" cy="530352"/>
          </a:xfrm>
          <a:prstGeom prst="ellipse">
            <a:avLst/>
          </a:prstGeom>
          <a:solidFill>
            <a:srgbClr val="1B3358"/>
          </a:solidFill>
          <a:ln/>
        </p:spPr>
        <p:txBody>
          <a:bodyPr/>
          <a:lstStyle/>
          <a:p>
            <a:endParaRPr lang="en-GB"/>
          </a:p>
        </p:txBody>
      </p:sp>
      <p:pic>
        <p:nvPicPr>
          <p:cNvPr id="34" name="Image 2" descr="preencoded.png"/>
          <p:cNvPicPr>
            <a:picLocks noChangeAspect="1"/>
          </p:cNvPicPr>
          <p:nvPr/>
        </p:nvPicPr>
        <p:blipFill>
          <a:blip r:embed="rId5"/>
          <a:stretch>
            <a:fillRect/>
          </a:stretch>
        </p:blipFill>
        <p:spPr>
          <a:xfrm>
            <a:off x="832104" y="4448556"/>
            <a:ext cx="292608" cy="292608"/>
          </a:xfrm>
          <a:prstGeom prst="rect">
            <a:avLst/>
          </a:prstGeom>
        </p:spPr>
      </p:pic>
      <p:sp>
        <p:nvSpPr>
          <p:cNvPr id="35" name="Shape 30"/>
          <p:cNvSpPr/>
          <p:nvPr/>
        </p:nvSpPr>
        <p:spPr>
          <a:xfrm>
            <a:off x="3270352" y="4329684"/>
            <a:ext cx="2468880" cy="274320"/>
          </a:xfrm>
          <a:prstGeom prst="roundRect">
            <a:avLst>
              <a:gd name="adj" fmla="val 166667"/>
            </a:avLst>
          </a:prstGeom>
          <a:solidFill>
            <a:srgbClr val="6B7785"/>
          </a:solidFill>
          <a:ln/>
        </p:spPr>
        <p:txBody>
          <a:bodyPr/>
          <a:lstStyle/>
          <a:p>
            <a:endParaRPr lang="en-GB"/>
          </a:p>
        </p:txBody>
      </p:sp>
      <p:sp>
        <p:nvSpPr>
          <p:cNvPr id="36" name="Text 31"/>
          <p:cNvSpPr/>
          <p:nvPr/>
        </p:nvSpPr>
        <p:spPr>
          <a:xfrm>
            <a:off x="3270352" y="4329684"/>
            <a:ext cx="246888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CONCEPT / FORWARD OPTION</a:t>
            </a:r>
            <a:endParaRPr lang="en-US" sz="950" dirty="0"/>
          </a:p>
        </p:txBody>
      </p:sp>
      <p:sp>
        <p:nvSpPr>
          <p:cNvPr id="37" name="Text 32"/>
          <p:cNvSpPr/>
          <p:nvPr/>
        </p:nvSpPr>
        <p:spPr>
          <a:xfrm>
            <a:off x="713232" y="5006340"/>
            <a:ext cx="4989424" cy="457200"/>
          </a:xfrm>
          <a:prstGeom prst="rect">
            <a:avLst/>
          </a:prstGeom>
          <a:noFill/>
          <a:ln/>
        </p:spPr>
        <p:txBody>
          <a:bodyPr wrap="square" lIns="0" tIns="0" rIns="0" bIns="0" rtlCol="0" anchor="t"/>
          <a:lstStyle/>
          <a:p>
            <a:pPr marL="0" indent="0">
              <a:buNone/>
            </a:pPr>
            <a:r>
              <a:rPr lang="en-US" sz="1650" b="1" dirty="0">
                <a:solidFill>
                  <a:srgbClr val="12233D"/>
                </a:solidFill>
                <a:latin typeface="Calibri" pitchFamily="34" charset="0"/>
                <a:ea typeface="Calibri" pitchFamily="34" charset="-122"/>
                <a:cs typeface="Calibri" pitchFamily="34" charset="-120"/>
              </a:rPr>
              <a:t>Third &amp; Fourth Reactors</a:t>
            </a:r>
            <a:endParaRPr lang="en-US" sz="1650" dirty="0"/>
          </a:p>
        </p:txBody>
      </p:sp>
      <p:sp>
        <p:nvSpPr>
          <p:cNvPr id="38" name="Text 33"/>
          <p:cNvSpPr/>
          <p:nvPr/>
        </p:nvSpPr>
        <p:spPr>
          <a:xfrm>
            <a:off x="713232" y="548182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Scale and technology not yet announced</a:t>
            </a:r>
            <a:endParaRPr lang="en-US" sz="1150" dirty="0"/>
          </a:p>
        </p:txBody>
      </p:sp>
      <p:sp>
        <p:nvSpPr>
          <p:cNvPr id="39" name="Shape 34"/>
          <p:cNvSpPr/>
          <p:nvPr/>
        </p:nvSpPr>
        <p:spPr>
          <a:xfrm>
            <a:off x="713232" y="5847588"/>
            <a:ext cx="4989424" cy="0"/>
          </a:xfrm>
          <a:prstGeom prst="line">
            <a:avLst/>
          </a:prstGeom>
          <a:noFill/>
          <a:ln w="9525">
            <a:solidFill>
              <a:srgbClr val="D6E0E8"/>
            </a:solidFill>
            <a:prstDash val="solid"/>
          </a:ln>
        </p:spPr>
        <p:txBody>
          <a:bodyPr/>
          <a:lstStyle/>
          <a:p>
            <a:endParaRPr lang="en-GB"/>
          </a:p>
        </p:txBody>
      </p:sp>
      <p:sp>
        <p:nvSpPr>
          <p:cNvPr id="40" name="Text 35"/>
          <p:cNvSpPr/>
          <p:nvPr/>
        </p:nvSpPr>
        <p:spPr>
          <a:xfrm>
            <a:off x="713232" y="5957316"/>
            <a:ext cx="4989424" cy="7772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50" dirty="0">
                <a:solidFill>
                  <a:srgbClr val="12233D"/>
                </a:solidFill>
                <a:latin typeface="Calibri" pitchFamily="34" charset="0"/>
                <a:ea typeface="Calibri" pitchFamily="34" charset="-122"/>
                <a:cs typeface="Calibri" pitchFamily="34" charset="-120"/>
              </a:rPr>
              <a:t>Announced March 2024 · targeted by 2050 · no site yet</a:t>
            </a:r>
            <a:endParaRPr lang="en-US" sz="900" dirty="0"/>
          </a:p>
        </p:txBody>
      </p:sp>
      <p:sp>
        <p:nvSpPr>
          <p:cNvPr id="41" name="Text 36"/>
          <p:cNvSpPr/>
          <p:nvPr/>
        </p:nvSpPr>
        <p:spPr>
          <a:xfrm>
            <a:off x="713232" y="619963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Ministry of Climate and Green Growth</a:t>
            </a:r>
            <a:endParaRPr lang="en-US" sz="1050" dirty="0"/>
          </a:p>
        </p:txBody>
      </p:sp>
      <p:sp>
        <p:nvSpPr>
          <p:cNvPr id="42" name="Shape 37"/>
          <p:cNvSpPr/>
          <p:nvPr/>
        </p:nvSpPr>
        <p:spPr>
          <a:xfrm>
            <a:off x="6233008" y="409194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43" name="Shape 38"/>
          <p:cNvSpPr/>
          <p:nvPr/>
        </p:nvSpPr>
        <p:spPr>
          <a:xfrm>
            <a:off x="6489040" y="4329684"/>
            <a:ext cx="530352" cy="530352"/>
          </a:xfrm>
          <a:prstGeom prst="ellipse">
            <a:avLst/>
          </a:prstGeom>
          <a:solidFill>
            <a:srgbClr val="1B3358"/>
          </a:solidFill>
          <a:ln/>
        </p:spPr>
        <p:txBody>
          <a:bodyPr/>
          <a:lstStyle/>
          <a:p>
            <a:endParaRPr lang="en-GB"/>
          </a:p>
        </p:txBody>
      </p:sp>
      <p:pic>
        <p:nvPicPr>
          <p:cNvPr id="44" name="Image 3" descr="preencoded.png"/>
          <p:cNvPicPr>
            <a:picLocks noChangeAspect="1"/>
          </p:cNvPicPr>
          <p:nvPr/>
        </p:nvPicPr>
        <p:blipFill>
          <a:blip r:embed="rId6"/>
          <a:stretch>
            <a:fillRect/>
          </a:stretch>
        </p:blipFill>
        <p:spPr>
          <a:xfrm>
            <a:off x="6607912" y="4448556"/>
            <a:ext cx="292608" cy="292608"/>
          </a:xfrm>
          <a:prstGeom prst="rect">
            <a:avLst/>
          </a:prstGeom>
        </p:spPr>
      </p:pic>
      <p:sp>
        <p:nvSpPr>
          <p:cNvPr id="45" name="Shape 39"/>
          <p:cNvSpPr/>
          <p:nvPr/>
        </p:nvSpPr>
        <p:spPr>
          <a:xfrm>
            <a:off x="9046159" y="4329684"/>
            <a:ext cx="2468880" cy="274320"/>
          </a:xfrm>
          <a:prstGeom prst="roundRect">
            <a:avLst>
              <a:gd name="adj" fmla="val 166667"/>
            </a:avLst>
          </a:prstGeom>
          <a:solidFill>
            <a:srgbClr val="C77B17"/>
          </a:solidFill>
          <a:ln/>
        </p:spPr>
        <p:txBody>
          <a:bodyPr/>
          <a:lstStyle/>
          <a:p>
            <a:endParaRPr lang="en-GB"/>
          </a:p>
        </p:txBody>
      </p:sp>
      <p:sp>
        <p:nvSpPr>
          <p:cNvPr id="46" name="Text 40"/>
          <p:cNvSpPr/>
          <p:nvPr/>
        </p:nvSpPr>
        <p:spPr>
          <a:xfrm>
            <a:off x="9046159" y="4329684"/>
            <a:ext cx="246888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SITING / EARLY DEVELOPMENT</a:t>
            </a:r>
            <a:endParaRPr lang="en-US" sz="950" dirty="0"/>
          </a:p>
        </p:txBody>
      </p:sp>
      <p:sp>
        <p:nvSpPr>
          <p:cNvPr id="47" name="Text 41"/>
          <p:cNvSpPr/>
          <p:nvPr/>
        </p:nvSpPr>
        <p:spPr>
          <a:xfrm>
            <a:off x="6489040" y="5006340"/>
            <a:ext cx="4989424" cy="457200"/>
          </a:xfrm>
          <a:prstGeom prst="rect">
            <a:avLst/>
          </a:prstGeom>
          <a:noFill/>
          <a:ln/>
        </p:spPr>
        <p:txBody>
          <a:bodyPr wrap="square" lIns="0" tIns="0" rIns="0" bIns="0" rtlCol="0" anchor="t"/>
          <a:lstStyle/>
          <a:p>
            <a:pPr marL="0" indent="0">
              <a:buNone/>
            </a:pPr>
            <a:r>
              <a:rPr lang="en-US" sz="1650" b="1" dirty="0">
                <a:solidFill>
                  <a:srgbClr val="12233D"/>
                </a:solidFill>
                <a:latin typeface="Calibri" pitchFamily="34" charset="0"/>
                <a:ea typeface="Calibri" pitchFamily="34" charset="-122"/>
                <a:cs typeface="Calibri" pitchFamily="34" charset="-120"/>
              </a:rPr>
              <a:t>SMR Programme</a:t>
            </a:r>
            <a:endParaRPr lang="en-US" sz="1650" dirty="0"/>
          </a:p>
        </p:txBody>
      </p:sp>
      <p:sp>
        <p:nvSpPr>
          <p:cNvPr id="48" name="Text 42"/>
          <p:cNvSpPr/>
          <p:nvPr/>
        </p:nvSpPr>
        <p:spPr>
          <a:xfrm>
            <a:off x="6489040" y="548182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13+ SMR potential by 2050 (150 MWe class)</a:t>
            </a:r>
            <a:endParaRPr lang="en-US" sz="1150" dirty="0"/>
          </a:p>
        </p:txBody>
      </p:sp>
      <p:sp>
        <p:nvSpPr>
          <p:cNvPr id="49" name="Shape 43"/>
          <p:cNvSpPr/>
          <p:nvPr/>
        </p:nvSpPr>
        <p:spPr>
          <a:xfrm>
            <a:off x="6489040" y="5847588"/>
            <a:ext cx="4989424" cy="0"/>
          </a:xfrm>
          <a:prstGeom prst="line">
            <a:avLst/>
          </a:prstGeom>
          <a:noFill/>
          <a:ln w="9525">
            <a:solidFill>
              <a:srgbClr val="D6E0E8"/>
            </a:solidFill>
            <a:prstDash val="solid"/>
          </a:ln>
        </p:spPr>
        <p:txBody>
          <a:bodyPr/>
          <a:lstStyle/>
          <a:p>
            <a:endParaRPr lang="en-GB"/>
          </a:p>
        </p:txBody>
      </p:sp>
      <p:sp>
        <p:nvSpPr>
          <p:cNvPr id="50" name="Text 44"/>
          <p:cNvSpPr/>
          <p:nvPr/>
        </p:nvSpPr>
        <p:spPr>
          <a:xfrm>
            <a:off x="6489040" y="5957316"/>
            <a:ext cx="4989424" cy="7772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50" dirty="0">
                <a:solidFill>
                  <a:srgbClr val="12233D"/>
                </a:solidFill>
                <a:latin typeface="Calibri" pitchFamily="34" charset="0"/>
                <a:ea typeface="Calibri" pitchFamily="34" charset="-122"/>
                <a:cs typeface="Calibri" pitchFamily="34" charset="-120"/>
              </a:rPr>
              <a:t>Gelderland to designate 2 SMR sites in 2027</a:t>
            </a:r>
            <a:endParaRPr lang="en-US" sz="900" dirty="0"/>
          </a:p>
        </p:txBody>
      </p:sp>
      <p:sp>
        <p:nvSpPr>
          <p:cNvPr id="51" name="Text 45"/>
          <p:cNvSpPr/>
          <p:nvPr/>
        </p:nvSpPr>
        <p:spPr>
          <a:xfrm>
            <a:off x="6489040" y="619963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Rolls-Royce SMR · ULC-Energy · BAM Infra · Thorizon</a:t>
            </a:r>
            <a:endParaRPr lang="en-US" sz="1050" dirty="0"/>
          </a:p>
        </p:txBody>
      </p:sp>
      <p:sp>
        <p:nvSpPr>
          <p:cNvPr id="52" name="Text 46"/>
          <p:cNvSpPr/>
          <p:nvPr/>
        </p:nvSpPr>
        <p:spPr>
          <a:xfrm>
            <a:off x="457200" y="6565392"/>
            <a:ext cx="11247120" cy="228600"/>
          </a:xfrm>
          <a:prstGeom prst="rect">
            <a:avLst/>
          </a:prstGeom>
          <a:noFill/>
          <a:ln/>
        </p:spPr>
        <p:txBody>
          <a:bodyPr wrap="square" lIns="0" tIns="0" rIns="0" bIns="0" rtlCol="0" anchor="ctr"/>
          <a:lstStyle/>
          <a:p>
            <a:pPr marL="0" indent="0">
              <a:buNone/>
            </a:pPr>
            <a:r>
              <a:rPr lang="en-US" sz="850" i="1" dirty="0">
                <a:solidFill>
                  <a:srgbClr val="9AA7B3"/>
                </a:solidFill>
                <a:latin typeface="Calibri" pitchFamily="34" charset="0"/>
                <a:ea typeface="Calibri" pitchFamily="34" charset="-122"/>
                <a:cs typeface="Calibri" pitchFamily="34" charset="-120"/>
              </a:rPr>
              <a:t>Source: World Nuclear Association, World Nuclear News, Dutch government (Ministry of Climate and Green Growth), ANVS, NRG-Pallas announcements, 23 June 2026. Dates are policy targets and have already slipped once.</a:t>
            </a:r>
            <a:endParaRPr lang="en-US" sz="850" dirty="0"/>
          </a:p>
        </p:txBody>
      </p:sp>
    </p:spTree>
    <p:extLst>
      <p:ext uri="{BB962C8B-B14F-4D97-AF65-F5344CB8AC3E}">
        <p14:creationId xmlns:p14="http://schemas.microsoft.com/office/powerpoint/2010/main" val="3552925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12233D"/>
          </a:solidFill>
          <a:ln/>
        </p:spPr>
        <p:txBody>
          <a:bodyPr/>
          <a:lstStyle/>
          <a:p>
            <a:endParaRPr lang="en-GB"/>
          </a:p>
        </p:txBody>
      </p:sp>
      <p:sp>
        <p:nvSpPr>
          <p:cNvPr id="3" name="Text 1"/>
          <p:cNvSpPr/>
          <p:nvPr/>
        </p:nvSpPr>
        <p:spPr>
          <a:xfrm>
            <a:off x="457200" y="100584"/>
            <a:ext cx="8869680" cy="347472"/>
          </a:xfrm>
          <a:prstGeom prst="rect">
            <a:avLst/>
          </a:prstGeom>
          <a:noFill/>
          <a:ln/>
        </p:spPr>
        <p:txBody>
          <a:bodyPr wrap="square" lIns="0" tIns="0" rIns="0" bIns="0" rtlCol="0" anchor="ctr"/>
          <a:lstStyle/>
          <a:p>
            <a:pPr marL="0" indent="0">
              <a:buNone/>
            </a:pPr>
            <a:r>
              <a:rPr lang="en-US" b="1" kern="0" spc="130" dirty="0">
                <a:solidFill>
                  <a:srgbClr val="FF0000"/>
                </a:solidFill>
                <a:latin typeface="Calibri" pitchFamily="34" charset="0"/>
                <a:cs typeface="Calibri" pitchFamily="34" charset="-120"/>
              </a:rPr>
              <a:t>NETHERLANDS </a:t>
            </a:r>
            <a:r>
              <a:rPr lang="en-US" sz="1400" b="1" kern="0" spc="130" dirty="0">
                <a:solidFill>
                  <a:srgbClr val="9FB6CC"/>
                </a:solidFill>
                <a:latin typeface="Calibri" pitchFamily="34" charset="0"/>
                <a:ea typeface="Calibri" pitchFamily="34" charset="-122"/>
                <a:cs typeface="Calibri" pitchFamily="34" charset="-120"/>
              </a:rPr>
              <a:t>NUCLEAR PROGRAMME LANDSCAPE</a:t>
            </a:r>
            <a:endParaRPr lang="en-US" sz="1400" dirty="0"/>
          </a:p>
        </p:txBody>
      </p:sp>
      <p:sp>
        <p:nvSpPr>
          <p:cNvPr id="4" name="Text 2"/>
          <p:cNvSpPr/>
          <p:nvPr/>
        </p:nvSpPr>
        <p:spPr>
          <a:xfrm>
            <a:off x="457200" y="384048"/>
            <a:ext cx="886968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Delivery Timeline, 2026–2050+</a:t>
            </a:r>
            <a:endParaRPr lang="en-US" sz="2400" dirty="0"/>
          </a:p>
        </p:txBody>
      </p:sp>
      <p:sp>
        <p:nvSpPr>
          <p:cNvPr id="6" name="Shape 4"/>
          <p:cNvSpPr/>
          <p:nvPr/>
        </p:nvSpPr>
        <p:spPr>
          <a:xfrm>
            <a:off x="5897880" y="1060704"/>
            <a:ext cx="118872" cy="118872"/>
          </a:xfrm>
          <a:prstGeom prst="ellipse">
            <a:avLst/>
          </a:prstGeom>
          <a:solidFill>
            <a:srgbClr val="1E8E5A"/>
          </a:solidFill>
          <a:ln/>
        </p:spPr>
        <p:txBody>
          <a:bodyPr/>
          <a:lstStyle/>
          <a:p>
            <a:endParaRPr lang="en-GB"/>
          </a:p>
        </p:txBody>
      </p:sp>
      <p:sp>
        <p:nvSpPr>
          <p:cNvPr id="7" name="Text 5"/>
          <p:cNvSpPr/>
          <p:nvPr/>
        </p:nvSpPr>
        <p:spPr>
          <a:xfrm>
            <a:off x="6080760" y="978408"/>
            <a:ext cx="196596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Operational / active delivery</a:t>
            </a:r>
            <a:endParaRPr lang="en-US" sz="950" dirty="0"/>
          </a:p>
        </p:txBody>
      </p:sp>
      <p:sp>
        <p:nvSpPr>
          <p:cNvPr id="8" name="Shape 6"/>
          <p:cNvSpPr/>
          <p:nvPr/>
        </p:nvSpPr>
        <p:spPr>
          <a:xfrm>
            <a:off x="8138160" y="1060704"/>
            <a:ext cx="118872" cy="118872"/>
          </a:xfrm>
          <a:prstGeom prst="ellipse">
            <a:avLst/>
          </a:prstGeom>
          <a:solidFill>
            <a:srgbClr val="C77B17"/>
          </a:solidFill>
          <a:ln/>
        </p:spPr>
        <p:txBody>
          <a:bodyPr/>
          <a:lstStyle/>
          <a:p>
            <a:endParaRPr lang="en-GB"/>
          </a:p>
        </p:txBody>
      </p:sp>
      <p:sp>
        <p:nvSpPr>
          <p:cNvPr id="9" name="Text 7"/>
          <p:cNvSpPr/>
          <p:nvPr/>
        </p:nvSpPr>
        <p:spPr>
          <a:xfrm>
            <a:off x="8321040" y="978408"/>
            <a:ext cx="169164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Siting / design / pre-FID</a:t>
            </a:r>
            <a:endParaRPr lang="en-US" sz="950" dirty="0"/>
          </a:p>
        </p:txBody>
      </p:sp>
      <p:sp>
        <p:nvSpPr>
          <p:cNvPr id="10" name="Shape 8"/>
          <p:cNvSpPr/>
          <p:nvPr/>
        </p:nvSpPr>
        <p:spPr>
          <a:xfrm>
            <a:off x="10195560" y="1060704"/>
            <a:ext cx="118872" cy="118872"/>
          </a:xfrm>
          <a:prstGeom prst="ellipse">
            <a:avLst/>
          </a:prstGeom>
          <a:solidFill>
            <a:srgbClr val="6B7785"/>
          </a:solidFill>
          <a:ln/>
        </p:spPr>
        <p:txBody>
          <a:bodyPr/>
          <a:lstStyle/>
          <a:p>
            <a:endParaRPr lang="en-GB"/>
          </a:p>
        </p:txBody>
      </p:sp>
      <p:sp>
        <p:nvSpPr>
          <p:cNvPr id="11" name="Text 9"/>
          <p:cNvSpPr/>
          <p:nvPr/>
        </p:nvSpPr>
        <p:spPr>
          <a:xfrm>
            <a:off x="10378440" y="978408"/>
            <a:ext cx="173736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Concept / forward option</a:t>
            </a:r>
            <a:endParaRPr lang="en-US" sz="950" dirty="0"/>
          </a:p>
        </p:txBody>
      </p:sp>
      <p:sp>
        <p:nvSpPr>
          <p:cNvPr id="12" name="Shape 10"/>
          <p:cNvSpPr/>
          <p:nvPr/>
        </p:nvSpPr>
        <p:spPr>
          <a:xfrm>
            <a:off x="2514600" y="1426464"/>
            <a:ext cx="0" cy="4974336"/>
          </a:xfrm>
          <a:prstGeom prst="line">
            <a:avLst/>
          </a:prstGeom>
          <a:noFill/>
          <a:ln w="9525">
            <a:solidFill>
              <a:srgbClr val="E3E9EF"/>
            </a:solidFill>
            <a:prstDash val="solid"/>
          </a:ln>
        </p:spPr>
        <p:txBody>
          <a:bodyPr/>
          <a:lstStyle/>
          <a:p>
            <a:endParaRPr lang="en-GB"/>
          </a:p>
        </p:txBody>
      </p:sp>
      <p:sp>
        <p:nvSpPr>
          <p:cNvPr id="13" name="Text 11"/>
          <p:cNvSpPr/>
          <p:nvPr/>
        </p:nvSpPr>
        <p:spPr>
          <a:xfrm>
            <a:off x="219456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2026</a:t>
            </a:r>
            <a:endParaRPr lang="en-US" sz="950" dirty="0"/>
          </a:p>
        </p:txBody>
      </p:sp>
      <p:sp>
        <p:nvSpPr>
          <p:cNvPr id="14" name="Shape 12"/>
          <p:cNvSpPr/>
          <p:nvPr/>
        </p:nvSpPr>
        <p:spPr>
          <a:xfrm>
            <a:off x="4053840" y="1426464"/>
            <a:ext cx="0" cy="4974336"/>
          </a:xfrm>
          <a:prstGeom prst="line">
            <a:avLst/>
          </a:prstGeom>
          <a:noFill/>
          <a:ln w="9525">
            <a:solidFill>
              <a:srgbClr val="E3E9EF"/>
            </a:solidFill>
            <a:prstDash val="solid"/>
          </a:ln>
        </p:spPr>
        <p:txBody>
          <a:bodyPr/>
          <a:lstStyle/>
          <a:p>
            <a:endParaRPr lang="en-GB"/>
          </a:p>
        </p:txBody>
      </p:sp>
      <p:sp>
        <p:nvSpPr>
          <p:cNvPr id="15" name="Text 13"/>
          <p:cNvSpPr/>
          <p:nvPr/>
        </p:nvSpPr>
        <p:spPr>
          <a:xfrm>
            <a:off x="373380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2030</a:t>
            </a:r>
            <a:endParaRPr lang="en-US" sz="950" dirty="0"/>
          </a:p>
        </p:txBody>
      </p:sp>
      <p:sp>
        <p:nvSpPr>
          <p:cNvPr id="16" name="Shape 14"/>
          <p:cNvSpPr/>
          <p:nvPr/>
        </p:nvSpPr>
        <p:spPr>
          <a:xfrm>
            <a:off x="5593080" y="1426464"/>
            <a:ext cx="0" cy="4974336"/>
          </a:xfrm>
          <a:prstGeom prst="line">
            <a:avLst/>
          </a:prstGeom>
          <a:noFill/>
          <a:ln w="9525">
            <a:solidFill>
              <a:srgbClr val="E3E9EF"/>
            </a:solidFill>
            <a:prstDash val="solid"/>
          </a:ln>
        </p:spPr>
        <p:txBody>
          <a:bodyPr/>
          <a:lstStyle/>
          <a:p>
            <a:endParaRPr lang="en-GB"/>
          </a:p>
        </p:txBody>
      </p:sp>
      <p:sp>
        <p:nvSpPr>
          <p:cNvPr id="17" name="Text 15"/>
          <p:cNvSpPr/>
          <p:nvPr/>
        </p:nvSpPr>
        <p:spPr>
          <a:xfrm>
            <a:off x="527304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2034</a:t>
            </a:r>
            <a:endParaRPr lang="en-US" sz="950" dirty="0"/>
          </a:p>
        </p:txBody>
      </p:sp>
      <p:sp>
        <p:nvSpPr>
          <p:cNvPr id="18" name="Shape 16"/>
          <p:cNvSpPr/>
          <p:nvPr/>
        </p:nvSpPr>
        <p:spPr>
          <a:xfrm>
            <a:off x="7132320" y="1426464"/>
            <a:ext cx="0" cy="4974336"/>
          </a:xfrm>
          <a:prstGeom prst="line">
            <a:avLst/>
          </a:prstGeom>
          <a:noFill/>
          <a:ln w="9525">
            <a:solidFill>
              <a:srgbClr val="E3E9EF"/>
            </a:solidFill>
            <a:prstDash val="solid"/>
          </a:ln>
        </p:spPr>
        <p:txBody>
          <a:bodyPr/>
          <a:lstStyle/>
          <a:p>
            <a:endParaRPr lang="en-GB"/>
          </a:p>
        </p:txBody>
      </p:sp>
      <p:sp>
        <p:nvSpPr>
          <p:cNvPr id="19" name="Text 17"/>
          <p:cNvSpPr/>
          <p:nvPr/>
        </p:nvSpPr>
        <p:spPr>
          <a:xfrm>
            <a:off x="681228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2038</a:t>
            </a:r>
            <a:endParaRPr lang="en-US" sz="950" dirty="0"/>
          </a:p>
        </p:txBody>
      </p:sp>
      <p:sp>
        <p:nvSpPr>
          <p:cNvPr id="20" name="Shape 18"/>
          <p:cNvSpPr/>
          <p:nvPr/>
        </p:nvSpPr>
        <p:spPr>
          <a:xfrm>
            <a:off x="8671560" y="1426464"/>
            <a:ext cx="0" cy="4974336"/>
          </a:xfrm>
          <a:prstGeom prst="line">
            <a:avLst/>
          </a:prstGeom>
          <a:noFill/>
          <a:ln w="9525">
            <a:solidFill>
              <a:srgbClr val="E3E9EF"/>
            </a:solidFill>
            <a:prstDash val="solid"/>
          </a:ln>
        </p:spPr>
        <p:txBody>
          <a:bodyPr/>
          <a:lstStyle/>
          <a:p>
            <a:endParaRPr lang="en-GB"/>
          </a:p>
        </p:txBody>
      </p:sp>
      <p:sp>
        <p:nvSpPr>
          <p:cNvPr id="21" name="Text 19"/>
          <p:cNvSpPr/>
          <p:nvPr/>
        </p:nvSpPr>
        <p:spPr>
          <a:xfrm>
            <a:off x="835152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2042</a:t>
            </a:r>
            <a:endParaRPr lang="en-US" sz="950" dirty="0"/>
          </a:p>
        </p:txBody>
      </p:sp>
      <p:sp>
        <p:nvSpPr>
          <p:cNvPr id="22" name="Shape 20"/>
          <p:cNvSpPr/>
          <p:nvPr/>
        </p:nvSpPr>
        <p:spPr>
          <a:xfrm>
            <a:off x="10210800" y="1426464"/>
            <a:ext cx="0" cy="4974336"/>
          </a:xfrm>
          <a:prstGeom prst="line">
            <a:avLst/>
          </a:prstGeom>
          <a:noFill/>
          <a:ln w="9525">
            <a:solidFill>
              <a:srgbClr val="E3E9EF"/>
            </a:solidFill>
            <a:prstDash val="solid"/>
          </a:ln>
        </p:spPr>
        <p:txBody>
          <a:bodyPr/>
          <a:lstStyle/>
          <a:p>
            <a:endParaRPr lang="en-GB"/>
          </a:p>
        </p:txBody>
      </p:sp>
      <p:sp>
        <p:nvSpPr>
          <p:cNvPr id="23" name="Text 21"/>
          <p:cNvSpPr/>
          <p:nvPr/>
        </p:nvSpPr>
        <p:spPr>
          <a:xfrm>
            <a:off x="989076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2046</a:t>
            </a:r>
            <a:endParaRPr lang="en-US" sz="950" dirty="0"/>
          </a:p>
        </p:txBody>
      </p:sp>
      <p:sp>
        <p:nvSpPr>
          <p:cNvPr id="24" name="Shape 22"/>
          <p:cNvSpPr/>
          <p:nvPr/>
        </p:nvSpPr>
        <p:spPr>
          <a:xfrm>
            <a:off x="11750040" y="1426464"/>
            <a:ext cx="0" cy="4974336"/>
          </a:xfrm>
          <a:prstGeom prst="line">
            <a:avLst/>
          </a:prstGeom>
          <a:noFill/>
          <a:ln w="9525">
            <a:solidFill>
              <a:srgbClr val="E3E9EF"/>
            </a:solidFill>
            <a:prstDash val="solid"/>
          </a:ln>
        </p:spPr>
        <p:txBody>
          <a:bodyPr/>
          <a:lstStyle/>
          <a:p>
            <a:endParaRPr lang="en-GB"/>
          </a:p>
        </p:txBody>
      </p:sp>
      <p:sp>
        <p:nvSpPr>
          <p:cNvPr id="25" name="Text 23"/>
          <p:cNvSpPr/>
          <p:nvPr/>
        </p:nvSpPr>
        <p:spPr>
          <a:xfrm>
            <a:off x="1143000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2050+</a:t>
            </a:r>
            <a:endParaRPr lang="en-US" sz="950" dirty="0"/>
          </a:p>
        </p:txBody>
      </p:sp>
      <p:sp>
        <p:nvSpPr>
          <p:cNvPr id="26" name="Shape 24"/>
          <p:cNvSpPr/>
          <p:nvPr/>
        </p:nvSpPr>
        <p:spPr>
          <a:xfrm>
            <a:off x="365760" y="1426464"/>
            <a:ext cx="2011680" cy="4974336"/>
          </a:xfrm>
          <a:prstGeom prst="rect">
            <a:avLst/>
          </a:prstGeom>
          <a:solidFill>
            <a:srgbClr val="FFFFFF"/>
          </a:solidFill>
          <a:ln/>
        </p:spPr>
        <p:txBody>
          <a:bodyPr/>
          <a:lstStyle/>
          <a:p>
            <a:endParaRPr lang="en-GB"/>
          </a:p>
        </p:txBody>
      </p:sp>
      <p:sp>
        <p:nvSpPr>
          <p:cNvPr id="27" name="Shape 25"/>
          <p:cNvSpPr/>
          <p:nvPr/>
        </p:nvSpPr>
        <p:spPr>
          <a:xfrm>
            <a:off x="365760" y="1481328"/>
            <a:ext cx="11795760" cy="1078992"/>
          </a:xfrm>
          <a:prstGeom prst="rect">
            <a:avLst/>
          </a:prstGeom>
          <a:solidFill>
            <a:srgbClr val="F7FAFC"/>
          </a:solidFill>
          <a:ln/>
        </p:spPr>
        <p:txBody>
          <a:bodyPr/>
          <a:lstStyle/>
          <a:p>
            <a:endParaRPr lang="en-GB"/>
          </a:p>
        </p:txBody>
      </p:sp>
      <p:sp>
        <p:nvSpPr>
          <p:cNvPr id="28" name="Shape 26"/>
          <p:cNvSpPr/>
          <p:nvPr/>
        </p:nvSpPr>
        <p:spPr>
          <a:xfrm>
            <a:off x="457200" y="1801368"/>
            <a:ext cx="438912" cy="438912"/>
          </a:xfrm>
          <a:prstGeom prst="ellipse">
            <a:avLst/>
          </a:prstGeom>
          <a:solidFill>
            <a:srgbClr val="1B3358"/>
          </a:solidFill>
          <a:ln/>
        </p:spPr>
        <p:txBody>
          <a:bodyPr/>
          <a:lstStyle/>
          <a:p>
            <a:endParaRPr lang="en-GB"/>
          </a:p>
        </p:txBody>
      </p:sp>
      <p:pic>
        <p:nvPicPr>
          <p:cNvPr id="29" name="Image 0" descr="preencoded.png"/>
          <p:cNvPicPr>
            <a:picLocks noChangeAspect="1"/>
          </p:cNvPicPr>
          <p:nvPr/>
        </p:nvPicPr>
        <p:blipFill>
          <a:blip r:embed="rId3"/>
          <a:stretch>
            <a:fillRect/>
          </a:stretch>
        </p:blipFill>
        <p:spPr>
          <a:xfrm>
            <a:off x="548640" y="1892808"/>
            <a:ext cx="256032" cy="256032"/>
          </a:xfrm>
          <a:prstGeom prst="rect">
            <a:avLst/>
          </a:prstGeom>
        </p:spPr>
      </p:pic>
      <p:sp>
        <p:nvSpPr>
          <p:cNvPr id="30" name="Text 27"/>
          <p:cNvSpPr/>
          <p:nvPr/>
        </p:nvSpPr>
        <p:spPr>
          <a:xfrm>
            <a:off x="1005840" y="1591056"/>
            <a:ext cx="1417320" cy="512064"/>
          </a:xfrm>
          <a:prstGeom prst="rect">
            <a:avLst/>
          </a:prstGeom>
          <a:noFill/>
          <a:ln/>
        </p:spPr>
        <p:txBody>
          <a:bodyPr wrap="square" lIns="0" tIns="0" rIns="0" bIns="0" rtlCol="0" anchor="t"/>
          <a:lstStyle/>
          <a:p>
            <a:pPr marL="0" indent="0">
              <a:lnSpc>
                <a:spcPct val="98000"/>
              </a:lnSpc>
              <a:buNone/>
            </a:pPr>
            <a:r>
              <a:rPr lang="en-US" sz="1200" b="1" dirty="0">
                <a:solidFill>
                  <a:srgbClr val="12233D"/>
                </a:solidFill>
                <a:latin typeface="Calibri" pitchFamily="34" charset="0"/>
                <a:ea typeface="Calibri" pitchFamily="34" charset="-122"/>
                <a:cs typeface="Calibri" pitchFamily="34" charset="-120"/>
              </a:rPr>
              <a:t>Borssele — Long-Term Operation</a:t>
            </a:r>
            <a:endParaRPr lang="en-US" sz="1200" dirty="0"/>
          </a:p>
        </p:txBody>
      </p:sp>
      <p:sp>
        <p:nvSpPr>
          <p:cNvPr id="31" name="Text 28"/>
          <p:cNvSpPr/>
          <p:nvPr/>
        </p:nvSpPr>
        <p:spPr>
          <a:xfrm>
            <a:off x="1005840" y="2103120"/>
            <a:ext cx="1417320" cy="420624"/>
          </a:xfrm>
          <a:prstGeom prst="rect">
            <a:avLst/>
          </a:prstGeom>
          <a:noFill/>
          <a:ln/>
        </p:spPr>
        <p:txBody>
          <a:bodyPr wrap="square" lIns="0" tIns="0" rIns="0" bIns="0" rtlCol="0" anchor="b"/>
          <a:lstStyle/>
          <a:p>
            <a:pPr marL="0" indent="0">
              <a:lnSpc>
                <a:spcPct val="98000"/>
              </a:lnSpc>
              <a:buNone/>
            </a:pPr>
            <a:r>
              <a:rPr lang="en-US" sz="740" i="1" dirty="0">
                <a:solidFill>
                  <a:srgbClr val="5B6B7C"/>
                </a:solidFill>
                <a:latin typeface="Calibri" pitchFamily="34" charset="0"/>
                <a:ea typeface="Calibri" pitchFamily="34" charset="-122"/>
                <a:cs typeface="Calibri" pitchFamily="34" charset="-120"/>
              </a:rPr>
              <a:t>482 MWe · EPZ · ANVS · due to close 2033, extension to 2054 sought</a:t>
            </a:r>
            <a:endParaRPr lang="en-US" sz="740" dirty="0"/>
          </a:p>
        </p:txBody>
      </p:sp>
      <p:sp>
        <p:nvSpPr>
          <p:cNvPr id="32" name="Shape 29"/>
          <p:cNvSpPr/>
          <p:nvPr/>
        </p:nvSpPr>
        <p:spPr>
          <a:xfrm>
            <a:off x="2514600" y="2020824"/>
            <a:ext cx="9235440" cy="0"/>
          </a:xfrm>
          <a:prstGeom prst="line">
            <a:avLst/>
          </a:prstGeom>
          <a:noFill/>
          <a:ln w="6350">
            <a:solidFill>
              <a:srgbClr val="E3E9EF"/>
            </a:solidFill>
            <a:prstDash val="dash"/>
          </a:ln>
        </p:spPr>
        <p:txBody>
          <a:bodyPr/>
          <a:lstStyle/>
          <a:p>
            <a:endParaRPr lang="en-GB"/>
          </a:p>
        </p:txBody>
      </p:sp>
      <p:sp>
        <p:nvSpPr>
          <p:cNvPr id="33" name="Shape 30"/>
          <p:cNvSpPr/>
          <p:nvPr/>
        </p:nvSpPr>
        <p:spPr>
          <a:xfrm>
            <a:off x="2514600" y="1901952"/>
            <a:ext cx="2693670" cy="237744"/>
          </a:xfrm>
          <a:prstGeom prst="roundRect">
            <a:avLst>
              <a:gd name="adj" fmla="val 19231"/>
            </a:avLst>
          </a:prstGeom>
          <a:solidFill>
            <a:srgbClr val="1E8E5A"/>
          </a:solidFill>
          <a:ln/>
        </p:spPr>
        <p:txBody>
          <a:bodyPr/>
          <a:lstStyle/>
          <a:p>
            <a:endParaRPr lang="en-GB"/>
          </a:p>
        </p:txBody>
      </p:sp>
      <p:sp>
        <p:nvSpPr>
          <p:cNvPr id="34" name="Shape 31"/>
          <p:cNvSpPr/>
          <p:nvPr/>
        </p:nvSpPr>
        <p:spPr>
          <a:xfrm>
            <a:off x="5208270" y="1901952"/>
            <a:ext cx="6541770" cy="237744"/>
          </a:xfrm>
          <a:prstGeom prst="roundRect">
            <a:avLst>
              <a:gd name="adj" fmla="val 19231"/>
            </a:avLst>
          </a:prstGeom>
          <a:solidFill>
            <a:srgbClr val="C77B17"/>
          </a:solidFill>
          <a:ln/>
        </p:spPr>
        <p:txBody>
          <a:bodyPr/>
          <a:lstStyle/>
          <a:p>
            <a:endParaRPr lang="en-GB"/>
          </a:p>
        </p:txBody>
      </p:sp>
      <p:sp>
        <p:nvSpPr>
          <p:cNvPr id="35" name="Shape 32"/>
          <p:cNvSpPr/>
          <p:nvPr/>
        </p:nvSpPr>
        <p:spPr>
          <a:xfrm>
            <a:off x="2647569" y="1961388"/>
            <a:ext cx="118872" cy="118872"/>
          </a:xfrm>
          <a:prstGeom prst="diamond">
            <a:avLst/>
          </a:prstGeom>
          <a:solidFill>
            <a:srgbClr val="FFFFFF"/>
          </a:solidFill>
          <a:ln w="21590">
            <a:solidFill>
              <a:srgbClr val="1E8E5A"/>
            </a:solidFill>
            <a:prstDash val="solid"/>
          </a:ln>
        </p:spPr>
        <p:txBody>
          <a:bodyPr/>
          <a:lstStyle/>
          <a:p>
            <a:endParaRPr lang="en-GB"/>
          </a:p>
        </p:txBody>
      </p:sp>
      <p:sp>
        <p:nvSpPr>
          <p:cNvPr id="36" name="Text 33"/>
          <p:cNvSpPr/>
          <p:nvPr/>
        </p:nvSpPr>
        <p:spPr>
          <a:xfrm>
            <a:off x="2148840" y="1591056"/>
            <a:ext cx="2468880" cy="237744"/>
          </a:xfrm>
          <a:prstGeom prst="rect">
            <a:avLst/>
          </a:prstGeom>
          <a:noFill/>
          <a:ln/>
        </p:spPr>
        <p:txBody>
          <a:bodyPr wrap="square" lIns="0" tIns="0" rIns="0" bIns="0" rtlCol="0" anchor="ctr"/>
          <a:lstStyle/>
          <a:p>
            <a:pPr marL="0" indent="0" algn="ctr">
              <a:buNone/>
            </a:pPr>
            <a:r>
              <a:rPr lang="en-US" sz="780" b="1" dirty="0">
                <a:solidFill>
                  <a:srgbClr val="1E8E5A"/>
                </a:solidFill>
                <a:latin typeface="Calibri" pitchFamily="34" charset="0"/>
                <a:ea typeface="Calibri" pitchFamily="34" charset="-122"/>
                <a:cs typeface="Calibri" pitchFamily="34" charset="-120"/>
              </a:rPr>
              <a:t>Nuclear Energy Act amendment in parliament</a:t>
            </a:r>
            <a:endParaRPr lang="en-US" sz="780" dirty="0"/>
          </a:p>
        </p:txBody>
      </p:sp>
      <p:sp>
        <p:nvSpPr>
          <p:cNvPr id="37" name="Shape 34"/>
          <p:cNvSpPr/>
          <p:nvPr/>
        </p:nvSpPr>
        <p:spPr>
          <a:xfrm>
            <a:off x="5148834" y="1961388"/>
            <a:ext cx="118872" cy="118872"/>
          </a:xfrm>
          <a:prstGeom prst="diamond">
            <a:avLst/>
          </a:prstGeom>
          <a:solidFill>
            <a:srgbClr val="FFFFFF"/>
          </a:solidFill>
          <a:ln w="21590">
            <a:solidFill>
              <a:srgbClr val="C77B17"/>
            </a:solidFill>
            <a:prstDash val="solid"/>
          </a:ln>
        </p:spPr>
        <p:txBody>
          <a:bodyPr/>
          <a:lstStyle/>
          <a:p>
            <a:endParaRPr lang="en-GB"/>
          </a:p>
        </p:txBody>
      </p:sp>
      <p:sp>
        <p:nvSpPr>
          <p:cNvPr id="38" name="Text 35"/>
          <p:cNvSpPr/>
          <p:nvPr/>
        </p:nvSpPr>
        <p:spPr>
          <a:xfrm>
            <a:off x="3973830" y="2267712"/>
            <a:ext cx="2468880" cy="237744"/>
          </a:xfrm>
          <a:prstGeom prst="rect">
            <a:avLst/>
          </a:prstGeom>
          <a:noFill/>
          <a:ln/>
        </p:spPr>
        <p:txBody>
          <a:bodyPr wrap="square" lIns="0" tIns="0" rIns="0" bIns="0" rtlCol="0" anchor="ctr"/>
          <a:lstStyle/>
          <a:p>
            <a:pPr marL="0" indent="0" algn="ctr">
              <a:buNone/>
            </a:pPr>
            <a:r>
              <a:rPr lang="en-US" sz="780" b="1" dirty="0">
                <a:solidFill>
                  <a:srgbClr val="C77B17"/>
                </a:solidFill>
                <a:latin typeface="Calibri" pitchFamily="34" charset="0"/>
                <a:ea typeface="Calibri" pitchFamily="34" charset="-122"/>
                <a:cs typeface="Calibri" pitchFamily="34" charset="-120"/>
              </a:rPr>
              <a:t>Original closure date · extension to 2054 sought</a:t>
            </a:r>
            <a:endParaRPr lang="en-US" sz="780" dirty="0"/>
          </a:p>
        </p:txBody>
      </p:sp>
      <p:sp>
        <p:nvSpPr>
          <p:cNvPr id="39" name="Shape 36"/>
          <p:cNvSpPr/>
          <p:nvPr/>
        </p:nvSpPr>
        <p:spPr>
          <a:xfrm>
            <a:off x="457200" y="3063240"/>
            <a:ext cx="438912" cy="438912"/>
          </a:xfrm>
          <a:prstGeom prst="ellipse">
            <a:avLst/>
          </a:prstGeom>
          <a:solidFill>
            <a:srgbClr val="1B3358"/>
          </a:solidFill>
          <a:ln/>
        </p:spPr>
        <p:txBody>
          <a:bodyPr/>
          <a:lstStyle/>
          <a:p>
            <a:endParaRPr lang="en-GB"/>
          </a:p>
        </p:txBody>
      </p:sp>
      <p:pic>
        <p:nvPicPr>
          <p:cNvPr id="40" name="Image 1" descr="preencoded.png"/>
          <p:cNvPicPr>
            <a:picLocks noChangeAspect="1"/>
          </p:cNvPicPr>
          <p:nvPr/>
        </p:nvPicPr>
        <p:blipFill>
          <a:blip r:embed="rId4"/>
          <a:stretch>
            <a:fillRect/>
          </a:stretch>
        </p:blipFill>
        <p:spPr>
          <a:xfrm>
            <a:off x="548640" y="3154680"/>
            <a:ext cx="256032" cy="256032"/>
          </a:xfrm>
          <a:prstGeom prst="rect">
            <a:avLst/>
          </a:prstGeom>
        </p:spPr>
      </p:pic>
      <p:sp>
        <p:nvSpPr>
          <p:cNvPr id="41" name="Text 37"/>
          <p:cNvSpPr/>
          <p:nvPr/>
        </p:nvSpPr>
        <p:spPr>
          <a:xfrm>
            <a:off x="1005840" y="2852928"/>
            <a:ext cx="1417320" cy="512064"/>
          </a:xfrm>
          <a:prstGeom prst="rect">
            <a:avLst/>
          </a:prstGeom>
          <a:noFill/>
          <a:ln/>
        </p:spPr>
        <p:txBody>
          <a:bodyPr wrap="square" lIns="0" tIns="0" rIns="0" bIns="0" rtlCol="0" anchor="t"/>
          <a:lstStyle/>
          <a:p>
            <a:pPr marL="0" indent="0">
              <a:lnSpc>
                <a:spcPct val="98000"/>
              </a:lnSpc>
              <a:buNone/>
            </a:pPr>
            <a:r>
              <a:rPr lang="en-US" sz="1200" b="1" dirty="0">
                <a:solidFill>
                  <a:srgbClr val="12233D"/>
                </a:solidFill>
                <a:latin typeface="Calibri" pitchFamily="34" charset="0"/>
                <a:ea typeface="Calibri" pitchFamily="34" charset="-122"/>
                <a:cs typeface="Calibri" pitchFamily="34" charset="-120"/>
              </a:rPr>
              <a:t>First Two New Reactors</a:t>
            </a:r>
            <a:endParaRPr lang="en-US" sz="1200" dirty="0"/>
          </a:p>
        </p:txBody>
      </p:sp>
      <p:sp>
        <p:nvSpPr>
          <p:cNvPr id="42" name="Text 38"/>
          <p:cNvSpPr/>
          <p:nvPr/>
        </p:nvSpPr>
        <p:spPr>
          <a:xfrm>
            <a:off x="1005840" y="3364992"/>
            <a:ext cx="1417320" cy="420624"/>
          </a:xfrm>
          <a:prstGeom prst="rect">
            <a:avLst/>
          </a:prstGeom>
          <a:noFill/>
          <a:ln/>
        </p:spPr>
        <p:txBody>
          <a:bodyPr wrap="square" lIns="0" tIns="0" rIns="0" bIns="0" rtlCol="0" anchor="b"/>
          <a:lstStyle/>
          <a:p>
            <a:pPr marL="0" indent="0">
              <a:lnSpc>
                <a:spcPct val="98000"/>
              </a:lnSpc>
              <a:buNone/>
            </a:pPr>
            <a:r>
              <a:rPr lang="en-US" sz="740" i="1" dirty="0">
                <a:solidFill>
                  <a:srgbClr val="5B6B7C"/>
                </a:solidFill>
                <a:latin typeface="Calibri" pitchFamily="34" charset="0"/>
                <a:ea typeface="Calibri" pitchFamily="34" charset="-122"/>
                <a:cs typeface="Calibri" pitchFamily="34" charset="-120"/>
              </a:rPr>
              <a:t>2×1,000–1,650 MWe · NEO NL · EDF/Westinghouse/KHNP studies · NEXUS-NL</a:t>
            </a:r>
            <a:endParaRPr lang="en-US" sz="740" dirty="0"/>
          </a:p>
        </p:txBody>
      </p:sp>
      <p:sp>
        <p:nvSpPr>
          <p:cNvPr id="43" name="Shape 39"/>
          <p:cNvSpPr/>
          <p:nvPr/>
        </p:nvSpPr>
        <p:spPr>
          <a:xfrm>
            <a:off x="2514600" y="3282696"/>
            <a:ext cx="9235440" cy="0"/>
          </a:xfrm>
          <a:prstGeom prst="line">
            <a:avLst/>
          </a:prstGeom>
          <a:noFill/>
          <a:ln w="6350">
            <a:solidFill>
              <a:srgbClr val="E3E9EF"/>
            </a:solidFill>
            <a:prstDash val="dash"/>
          </a:ln>
        </p:spPr>
        <p:txBody>
          <a:bodyPr/>
          <a:lstStyle/>
          <a:p>
            <a:endParaRPr lang="en-GB"/>
          </a:p>
        </p:txBody>
      </p:sp>
      <p:sp>
        <p:nvSpPr>
          <p:cNvPr id="44" name="Shape 40"/>
          <p:cNvSpPr/>
          <p:nvPr/>
        </p:nvSpPr>
        <p:spPr>
          <a:xfrm>
            <a:off x="2514600" y="3163824"/>
            <a:ext cx="346329" cy="237744"/>
          </a:xfrm>
          <a:prstGeom prst="roundRect">
            <a:avLst>
              <a:gd name="adj" fmla="val 19231"/>
            </a:avLst>
          </a:prstGeom>
          <a:solidFill>
            <a:srgbClr val="C77B17"/>
          </a:solidFill>
          <a:ln/>
        </p:spPr>
        <p:txBody>
          <a:bodyPr/>
          <a:lstStyle/>
          <a:p>
            <a:endParaRPr lang="en-GB"/>
          </a:p>
        </p:txBody>
      </p:sp>
      <p:sp>
        <p:nvSpPr>
          <p:cNvPr id="45" name="Shape 41"/>
          <p:cNvSpPr/>
          <p:nvPr/>
        </p:nvSpPr>
        <p:spPr>
          <a:xfrm>
            <a:off x="2860929" y="3163824"/>
            <a:ext cx="1962531" cy="237744"/>
          </a:xfrm>
          <a:prstGeom prst="roundRect">
            <a:avLst>
              <a:gd name="adj" fmla="val 19231"/>
            </a:avLst>
          </a:prstGeom>
          <a:solidFill>
            <a:srgbClr val="C77B17"/>
          </a:solidFill>
          <a:ln/>
        </p:spPr>
        <p:txBody>
          <a:bodyPr/>
          <a:lstStyle/>
          <a:p>
            <a:endParaRPr lang="en-GB"/>
          </a:p>
        </p:txBody>
      </p:sp>
      <p:sp>
        <p:nvSpPr>
          <p:cNvPr id="46" name="Shape 42"/>
          <p:cNvSpPr/>
          <p:nvPr/>
        </p:nvSpPr>
        <p:spPr>
          <a:xfrm>
            <a:off x="4823460" y="3163824"/>
            <a:ext cx="2693670" cy="237744"/>
          </a:xfrm>
          <a:prstGeom prst="roundRect">
            <a:avLst>
              <a:gd name="adj" fmla="val 19231"/>
            </a:avLst>
          </a:prstGeom>
          <a:solidFill>
            <a:srgbClr val="6B7785"/>
          </a:solidFill>
          <a:ln/>
        </p:spPr>
        <p:txBody>
          <a:bodyPr/>
          <a:lstStyle/>
          <a:p>
            <a:endParaRPr lang="en-GB"/>
          </a:p>
        </p:txBody>
      </p:sp>
      <p:sp>
        <p:nvSpPr>
          <p:cNvPr id="47" name="Shape 43"/>
          <p:cNvSpPr/>
          <p:nvPr/>
        </p:nvSpPr>
        <p:spPr>
          <a:xfrm>
            <a:off x="2801493" y="3223260"/>
            <a:ext cx="118872" cy="118872"/>
          </a:xfrm>
          <a:prstGeom prst="diamond">
            <a:avLst/>
          </a:prstGeom>
          <a:solidFill>
            <a:srgbClr val="FFFFFF"/>
          </a:solidFill>
          <a:ln w="21590">
            <a:solidFill>
              <a:srgbClr val="C77B17"/>
            </a:solidFill>
            <a:prstDash val="solid"/>
          </a:ln>
        </p:spPr>
        <p:txBody>
          <a:bodyPr/>
          <a:lstStyle/>
          <a:p>
            <a:endParaRPr lang="en-GB"/>
          </a:p>
        </p:txBody>
      </p:sp>
      <p:sp>
        <p:nvSpPr>
          <p:cNvPr id="48" name="Text 44"/>
          <p:cNvSpPr/>
          <p:nvPr/>
        </p:nvSpPr>
        <p:spPr>
          <a:xfrm>
            <a:off x="2148840" y="2852928"/>
            <a:ext cx="2468880" cy="237744"/>
          </a:xfrm>
          <a:prstGeom prst="rect">
            <a:avLst/>
          </a:prstGeom>
          <a:noFill/>
          <a:ln/>
        </p:spPr>
        <p:txBody>
          <a:bodyPr wrap="square" lIns="0" tIns="0" rIns="0" bIns="0" rtlCol="0" anchor="ctr"/>
          <a:lstStyle/>
          <a:p>
            <a:pPr marL="0" indent="0" algn="ctr">
              <a:buNone/>
            </a:pPr>
            <a:r>
              <a:rPr lang="en-US" sz="780" b="1" dirty="0">
                <a:solidFill>
                  <a:srgbClr val="C77B17"/>
                </a:solidFill>
                <a:latin typeface="Calibri" pitchFamily="34" charset="0"/>
                <a:ea typeface="Calibri" pitchFamily="34" charset="-122"/>
                <a:cs typeface="Calibri" pitchFamily="34" charset="-120"/>
              </a:rPr>
              <a:t>Preferred site decision (mid-2026)</a:t>
            </a:r>
            <a:endParaRPr lang="en-US" sz="780" dirty="0"/>
          </a:p>
        </p:txBody>
      </p:sp>
      <p:sp>
        <p:nvSpPr>
          <p:cNvPr id="49" name="Shape 45"/>
          <p:cNvSpPr/>
          <p:nvPr/>
        </p:nvSpPr>
        <p:spPr>
          <a:xfrm>
            <a:off x="7457694" y="3223260"/>
            <a:ext cx="118872" cy="118872"/>
          </a:xfrm>
          <a:prstGeom prst="diamond">
            <a:avLst/>
          </a:prstGeom>
          <a:solidFill>
            <a:srgbClr val="FFFFFF"/>
          </a:solidFill>
          <a:ln w="21590">
            <a:solidFill>
              <a:srgbClr val="6B7785"/>
            </a:solidFill>
            <a:prstDash val="solid"/>
          </a:ln>
        </p:spPr>
        <p:txBody>
          <a:bodyPr/>
          <a:lstStyle/>
          <a:p>
            <a:endParaRPr lang="en-GB"/>
          </a:p>
        </p:txBody>
      </p:sp>
      <p:sp>
        <p:nvSpPr>
          <p:cNvPr id="50" name="Text 46"/>
          <p:cNvSpPr/>
          <p:nvPr/>
        </p:nvSpPr>
        <p:spPr>
          <a:xfrm>
            <a:off x="6282690" y="3529584"/>
            <a:ext cx="2468880" cy="237744"/>
          </a:xfrm>
          <a:prstGeom prst="rect">
            <a:avLst/>
          </a:prstGeom>
          <a:noFill/>
          <a:ln/>
        </p:spPr>
        <p:txBody>
          <a:bodyPr wrap="square" lIns="0" tIns="0" rIns="0" bIns="0" rtlCol="0" anchor="ctr"/>
          <a:lstStyle/>
          <a:p>
            <a:pPr marL="0" indent="0" algn="ctr">
              <a:buNone/>
            </a:pPr>
            <a:r>
              <a:rPr lang="en-US" sz="780" b="1" dirty="0">
                <a:solidFill>
                  <a:srgbClr val="6B7785"/>
                </a:solidFill>
                <a:latin typeface="Calibri" pitchFamily="34" charset="0"/>
                <a:ea typeface="Calibri" pitchFamily="34" charset="-122"/>
                <a:cs typeface="Calibri" pitchFamily="34" charset="-120"/>
              </a:rPr>
              <a:t>Operational “late 2030s” (slipped from 2035)</a:t>
            </a:r>
            <a:endParaRPr lang="en-US" sz="780" dirty="0"/>
          </a:p>
        </p:txBody>
      </p:sp>
      <p:sp>
        <p:nvSpPr>
          <p:cNvPr id="51" name="Shape 47"/>
          <p:cNvSpPr/>
          <p:nvPr/>
        </p:nvSpPr>
        <p:spPr>
          <a:xfrm>
            <a:off x="365760" y="4005072"/>
            <a:ext cx="11795760" cy="1078992"/>
          </a:xfrm>
          <a:prstGeom prst="rect">
            <a:avLst/>
          </a:prstGeom>
          <a:solidFill>
            <a:srgbClr val="F7FAFC"/>
          </a:solidFill>
          <a:ln/>
        </p:spPr>
        <p:txBody>
          <a:bodyPr/>
          <a:lstStyle/>
          <a:p>
            <a:endParaRPr lang="en-GB"/>
          </a:p>
        </p:txBody>
      </p:sp>
      <p:sp>
        <p:nvSpPr>
          <p:cNvPr id="52" name="Shape 48"/>
          <p:cNvSpPr/>
          <p:nvPr/>
        </p:nvSpPr>
        <p:spPr>
          <a:xfrm>
            <a:off x="457200" y="4325112"/>
            <a:ext cx="438912" cy="438912"/>
          </a:xfrm>
          <a:prstGeom prst="ellipse">
            <a:avLst/>
          </a:prstGeom>
          <a:solidFill>
            <a:srgbClr val="1B3358"/>
          </a:solidFill>
          <a:ln/>
        </p:spPr>
        <p:txBody>
          <a:bodyPr/>
          <a:lstStyle/>
          <a:p>
            <a:endParaRPr lang="en-GB"/>
          </a:p>
        </p:txBody>
      </p:sp>
      <p:pic>
        <p:nvPicPr>
          <p:cNvPr id="53" name="Image 2" descr="preencoded.png"/>
          <p:cNvPicPr>
            <a:picLocks noChangeAspect="1"/>
          </p:cNvPicPr>
          <p:nvPr/>
        </p:nvPicPr>
        <p:blipFill>
          <a:blip r:embed="rId5"/>
          <a:stretch>
            <a:fillRect/>
          </a:stretch>
        </p:blipFill>
        <p:spPr>
          <a:xfrm>
            <a:off x="548640" y="4416552"/>
            <a:ext cx="256032" cy="256032"/>
          </a:xfrm>
          <a:prstGeom prst="rect">
            <a:avLst/>
          </a:prstGeom>
        </p:spPr>
      </p:pic>
      <p:sp>
        <p:nvSpPr>
          <p:cNvPr id="54" name="Text 49"/>
          <p:cNvSpPr/>
          <p:nvPr/>
        </p:nvSpPr>
        <p:spPr>
          <a:xfrm>
            <a:off x="1005840" y="4114800"/>
            <a:ext cx="1417320" cy="512064"/>
          </a:xfrm>
          <a:prstGeom prst="rect">
            <a:avLst/>
          </a:prstGeom>
          <a:noFill/>
          <a:ln/>
        </p:spPr>
        <p:txBody>
          <a:bodyPr wrap="square" lIns="0" tIns="0" rIns="0" bIns="0" rtlCol="0" anchor="t"/>
          <a:lstStyle/>
          <a:p>
            <a:pPr marL="0" indent="0">
              <a:lnSpc>
                <a:spcPct val="98000"/>
              </a:lnSpc>
              <a:buNone/>
            </a:pPr>
            <a:r>
              <a:rPr lang="en-US" sz="1200" b="1" dirty="0">
                <a:solidFill>
                  <a:srgbClr val="12233D"/>
                </a:solidFill>
                <a:latin typeface="Calibri" pitchFamily="34" charset="0"/>
                <a:ea typeface="Calibri" pitchFamily="34" charset="-122"/>
                <a:cs typeface="Calibri" pitchFamily="34" charset="-120"/>
              </a:rPr>
              <a:t>Third &amp; Fourth Reactors</a:t>
            </a:r>
            <a:endParaRPr lang="en-US" sz="1200" dirty="0"/>
          </a:p>
        </p:txBody>
      </p:sp>
      <p:sp>
        <p:nvSpPr>
          <p:cNvPr id="55" name="Text 50"/>
          <p:cNvSpPr/>
          <p:nvPr/>
        </p:nvSpPr>
        <p:spPr>
          <a:xfrm>
            <a:off x="1005840" y="4626864"/>
            <a:ext cx="1417320" cy="420624"/>
          </a:xfrm>
          <a:prstGeom prst="rect">
            <a:avLst/>
          </a:prstGeom>
          <a:noFill/>
          <a:ln/>
        </p:spPr>
        <p:txBody>
          <a:bodyPr wrap="square" lIns="0" tIns="0" rIns="0" bIns="0" rtlCol="0" anchor="b"/>
          <a:lstStyle/>
          <a:p>
            <a:pPr marL="0" indent="0">
              <a:lnSpc>
                <a:spcPct val="98000"/>
              </a:lnSpc>
              <a:buNone/>
            </a:pPr>
            <a:r>
              <a:rPr lang="en-US" sz="740" i="1" dirty="0">
                <a:solidFill>
                  <a:srgbClr val="5B6B7C"/>
                </a:solidFill>
                <a:latin typeface="Calibri" pitchFamily="34" charset="0"/>
                <a:ea typeface="Calibri" pitchFamily="34" charset="-122"/>
                <a:cs typeface="Calibri" pitchFamily="34" charset="-120"/>
              </a:rPr>
              <a:t>Site and technology not yet announced · Ministry of Climate and Green Growth</a:t>
            </a:r>
            <a:endParaRPr lang="en-US" sz="740" dirty="0"/>
          </a:p>
        </p:txBody>
      </p:sp>
      <p:sp>
        <p:nvSpPr>
          <p:cNvPr id="56" name="Shape 51"/>
          <p:cNvSpPr/>
          <p:nvPr/>
        </p:nvSpPr>
        <p:spPr>
          <a:xfrm>
            <a:off x="2514600" y="4544568"/>
            <a:ext cx="9235440" cy="0"/>
          </a:xfrm>
          <a:prstGeom prst="line">
            <a:avLst/>
          </a:prstGeom>
          <a:noFill/>
          <a:ln w="6350">
            <a:solidFill>
              <a:srgbClr val="E3E9EF"/>
            </a:solidFill>
            <a:prstDash val="dash"/>
          </a:ln>
        </p:spPr>
        <p:txBody>
          <a:bodyPr/>
          <a:lstStyle/>
          <a:p>
            <a:endParaRPr lang="en-GB"/>
          </a:p>
        </p:txBody>
      </p:sp>
      <p:sp>
        <p:nvSpPr>
          <p:cNvPr id="57" name="Shape 52"/>
          <p:cNvSpPr/>
          <p:nvPr/>
        </p:nvSpPr>
        <p:spPr>
          <a:xfrm>
            <a:off x="2514600" y="4425696"/>
            <a:ext cx="9235440" cy="237744"/>
          </a:xfrm>
          <a:prstGeom prst="roundRect">
            <a:avLst>
              <a:gd name="adj" fmla="val 19231"/>
            </a:avLst>
          </a:prstGeom>
          <a:solidFill>
            <a:srgbClr val="6B7785"/>
          </a:solidFill>
          <a:ln/>
        </p:spPr>
        <p:txBody>
          <a:bodyPr/>
          <a:lstStyle/>
          <a:p>
            <a:endParaRPr lang="en-GB"/>
          </a:p>
        </p:txBody>
      </p:sp>
      <p:sp>
        <p:nvSpPr>
          <p:cNvPr id="58" name="Shape 53"/>
          <p:cNvSpPr/>
          <p:nvPr/>
        </p:nvSpPr>
        <p:spPr>
          <a:xfrm>
            <a:off x="2647569" y="4485132"/>
            <a:ext cx="118872" cy="118872"/>
          </a:xfrm>
          <a:prstGeom prst="diamond">
            <a:avLst/>
          </a:prstGeom>
          <a:solidFill>
            <a:srgbClr val="FFFFFF"/>
          </a:solidFill>
          <a:ln w="21590">
            <a:solidFill>
              <a:srgbClr val="6B7785"/>
            </a:solidFill>
            <a:prstDash val="solid"/>
          </a:ln>
        </p:spPr>
        <p:txBody>
          <a:bodyPr/>
          <a:lstStyle/>
          <a:p>
            <a:endParaRPr lang="en-GB"/>
          </a:p>
        </p:txBody>
      </p:sp>
      <p:sp>
        <p:nvSpPr>
          <p:cNvPr id="59" name="Text 54"/>
          <p:cNvSpPr/>
          <p:nvPr/>
        </p:nvSpPr>
        <p:spPr>
          <a:xfrm>
            <a:off x="2148840" y="4114800"/>
            <a:ext cx="2468880" cy="237744"/>
          </a:xfrm>
          <a:prstGeom prst="rect">
            <a:avLst/>
          </a:prstGeom>
          <a:noFill/>
          <a:ln/>
        </p:spPr>
        <p:txBody>
          <a:bodyPr wrap="square" lIns="0" tIns="0" rIns="0" bIns="0" rtlCol="0" anchor="ctr"/>
          <a:lstStyle/>
          <a:p>
            <a:pPr marL="0" indent="0" algn="ctr">
              <a:buNone/>
            </a:pPr>
            <a:r>
              <a:rPr lang="en-US" sz="780" b="1" dirty="0">
                <a:solidFill>
                  <a:srgbClr val="6B7785"/>
                </a:solidFill>
                <a:latin typeface="Calibri" pitchFamily="34" charset="0"/>
                <a:ea typeface="Calibri" pitchFamily="34" charset="-122"/>
                <a:cs typeface="Calibri" pitchFamily="34" charset="-120"/>
              </a:rPr>
              <a:t>Announced March 2024, no site yet</a:t>
            </a:r>
            <a:endParaRPr lang="en-US" sz="780" dirty="0"/>
          </a:p>
        </p:txBody>
      </p:sp>
      <p:sp>
        <p:nvSpPr>
          <p:cNvPr id="60" name="Shape 55"/>
          <p:cNvSpPr/>
          <p:nvPr/>
        </p:nvSpPr>
        <p:spPr>
          <a:xfrm>
            <a:off x="11690604" y="4485132"/>
            <a:ext cx="118872" cy="118872"/>
          </a:xfrm>
          <a:prstGeom prst="diamond">
            <a:avLst/>
          </a:prstGeom>
          <a:solidFill>
            <a:srgbClr val="FFFFFF"/>
          </a:solidFill>
          <a:ln w="21590">
            <a:solidFill>
              <a:srgbClr val="6B7785"/>
            </a:solidFill>
            <a:prstDash val="solid"/>
          </a:ln>
        </p:spPr>
        <p:txBody>
          <a:bodyPr/>
          <a:lstStyle/>
          <a:p>
            <a:endParaRPr lang="en-GB"/>
          </a:p>
        </p:txBody>
      </p:sp>
      <p:sp>
        <p:nvSpPr>
          <p:cNvPr id="61" name="Text 56"/>
          <p:cNvSpPr/>
          <p:nvPr/>
        </p:nvSpPr>
        <p:spPr>
          <a:xfrm>
            <a:off x="9738360" y="4791456"/>
            <a:ext cx="2468880" cy="237744"/>
          </a:xfrm>
          <a:prstGeom prst="rect">
            <a:avLst/>
          </a:prstGeom>
          <a:noFill/>
          <a:ln/>
        </p:spPr>
        <p:txBody>
          <a:bodyPr wrap="square" lIns="0" tIns="0" rIns="0" bIns="0" rtlCol="0" anchor="ctr"/>
          <a:lstStyle/>
          <a:p>
            <a:pPr marL="0" indent="0" algn="ctr">
              <a:buNone/>
            </a:pPr>
            <a:r>
              <a:rPr lang="en-US" sz="780" b="1" dirty="0">
                <a:solidFill>
                  <a:srgbClr val="6B7785"/>
                </a:solidFill>
                <a:latin typeface="Calibri" pitchFamily="34" charset="0"/>
                <a:ea typeface="Calibri" pitchFamily="34" charset="-122"/>
                <a:cs typeface="Calibri" pitchFamily="34" charset="-120"/>
              </a:rPr>
              <a:t>Targeted by 2050</a:t>
            </a:r>
            <a:endParaRPr lang="en-US" sz="780" dirty="0"/>
          </a:p>
        </p:txBody>
      </p:sp>
      <p:sp>
        <p:nvSpPr>
          <p:cNvPr id="62" name="Shape 57"/>
          <p:cNvSpPr/>
          <p:nvPr/>
        </p:nvSpPr>
        <p:spPr>
          <a:xfrm>
            <a:off x="457200" y="5586984"/>
            <a:ext cx="438912" cy="438912"/>
          </a:xfrm>
          <a:prstGeom prst="ellipse">
            <a:avLst/>
          </a:prstGeom>
          <a:solidFill>
            <a:srgbClr val="1B3358"/>
          </a:solidFill>
          <a:ln/>
        </p:spPr>
        <p:txBody>
          <a:bodyPr/>
          <a:lstStyle/>
          <a:p>
            <a:endParaRPr lang="en-GB"/>
          </a:p>
        </p:txBody>
      </p:sp>
      <p:pic>
        <p:nvPicPr>
          <p:cNvPr id="63" name="Image 3" descr="preencoded.png"/>
          <p:cNvPicPr>
            <a:picLocks noChangeAspect="1"/>
          </p:cNvPicPr>
          <p:nvPr/>
        </p:nvPicPr>
        <p:blipFill>
          <a:blip r:embed="rId6"/>
          <a:stretch>
            <a:fillRect/>
          </a:stretch>
        </p:blipFill>
        <p:spPr>
          <a:xfrm>
            <a:off x="548640" y="5678424"/>
            <a:ext cx="256032" cy="256032"/>
          </a:xfrm>
          <a:prstGeom prst="rect">
            <a:avLst/>
          </a:prstGeom>
        </p:spPr>
      </p:pic>
      <p:sp>
        <p:nvSpPr>
          <p:cNvPr id="64" name="Text 58"/>
          <p:cNvSpPr/>
          <p:nvPr/>
        </p:nvSpPr>
        <p:spPr>
          <a:xfrm>
            <a:off x="1005840" y="5376672"/>
            <a:ext cx="1417320" cy="512064"/>
          </a:xfrm>
          <a:prstGeom prst="rect">
            <a:avLst/>
          </a:prstGeom>
          <a:noFill/>
          <a:ln/>
        </p:spPr>
        <p:txBody>
          <a:bodyPr wrap="square" lIns="0" tIns="0" rIns="0" bIns="0" rtlCol="0" anchor="t"/>
          <a:lstStyle/>
          <a:p>
            <a:pPr marL="0" indent="0">
              <a:lnSpc>
                <a:spcPct val="98000"/>
              </a:lnSpc>
              <a:buNone/>
            </a:pPr>
            <a:r>
              <a:rPr lang="en-US" sz="1200" b="1" dirty="0">
                <a:solidFill>
                  <a:srgbClr val="12233D"/>
                </a:solidFill>
                <a:latin typeface="Calibri" pitchFamily="34" charset="0"/>
                <a:ea typeface="Calibri" pitchFamily="34" charset="-122"/>
                <a:cs typeface="Calibri" pitchFamily="34" charset="-120"/>
              </a:rPr>
              <a:t>SMR Programme</a:t>
            </a:r>
            <a:endParaRPr lang="en-US" sz="1200" dirty="0"/>
          </a:p>
        </p:txBody>
      </p:sp>
      <p:sp>
        <p:nvSpPr>
          <p:cNvPr id="65" name="Text 59"/>
          <p:cNvSpPr/>
          <p:nvPr/>
        </p:nvSpPr>
        <p:spPr>
          <a:xfrm>
            <a:off x="1005840" y="5888736"/>
            <a:ext cx="1417320" cy="420624"/>
          </a:xfrm>
          <a:prstGeom prst="rect">
            <a:avLst/>
          </a:prstGeom>
          <a:noFill/>
          <a:ln/>
        </p:spPr>
        <p:txBody>
          <a:bodyPr wrap="square" lIns="0" tIns="0" rIns="0" bIns="0" rtlCol="0" anchor="b"/>
          <a:lstStyle/>
          <a:p>
            <a:pPr marL="0" indent="0">
              <a:lnSpc>
                <a:spcPct val="98000"/>
              </a:lnSpc>
              <a:buNone/>
            </a:pPr>
            <a:r>
              <a:rPr lang="en-US" sz="740" i="1" dirty="0">
                <a:solidFill>
                  <a:srgbClr val="5B6B7C"/>
                </a:solidFill>
                <a:latin typeface="Calibri" pitchFamily="34" charset="0"/>
                <a:ea typeface="Calibri" pitchFamily="34" charset="-122"/>
                <a:cs typeface="Calibri" pitchFamily="34" charset="-120"/>
              </a:rPr>
              <a:t>Rolls-Royce SMR · ULC-Energy · BAM Infra · Gelderland siting · Thorizon MSR</a:t>
            </a:r>
            <a:endParaRPr lang="en-US" sz="740" dirty="0"/>
          </a:p>
        </p:txBody>
      </p:sp>
      <p:sp>
        <p:nvSpPr>
          <p:cNvPr id="66" name="Shape 60"/>
          <p:cNvSpPr/>
          <p:nvPr/>
        </p:nvSpPr>
        <p:spPr>
          <a:xfrm>
            <a:off x="2514600" y="5806440"/>
            <a:ext cx="9235440" cy="0"/>
          </a:xfrm>
          <a:prstGeom prst="line">
            <a:avLst/>
          </a:prstGeom>
          <a:noFill/>
          <a:ln w="6350">
            <a:solidFill>
              <a:srgbClr val="E3E9EF"/>
            </a:solidFill>
            <a:prstDash val="dash"/>
          </a:ln>
        </p:spPr>
        <p:txBody>
          <a:bodyPr/>
          <a:lstStyle/>
          <a:p>
            <a:endParaRPr lang="en-GB"/>
          </a:p>
        </p:txBody>
      </p:sp>
      <p:sp>
        <p:nvSpPr>
          <p:cNvPr id="67" name="Shape 61"/>
          <p:cNvSpPr/>
          <p:nvPr/>
        </p:nvSpPr>
        <p:spPr>
          <a:xfrm>
            <a:off x="2514600" y="5687568"/>
            <a:ext cx="384810" cy="237744"/>
          </a:xfrm>
          <a:prstGeom prst="roundRect">
            <a:avLst>
              <a:gd name="adj" fmla="val 19231"/>
            </a:avLst>
          </a:prstGeom>
          <a:solidFill>
            <a:srgbClr val="C77B17"/>
          </a:solidFill>
          <a:ln/>
        </p:spPr>
        <p:txBody>
          <a:bodyPr/>
          <a:lstStyle/>
          <a:p>
            <a:endParaRPr lang="en-GB"/>
          </a:p>
        </p:txBody>
      </p:sp>
      <p:sp>
        <p:nvSpPr>
          <p:cNvPr id="68" name="Shape 62"/>
          <p:cNvSpPr/>
          <p:nvPr/>
        </p:nvSpPr>
        <p:spPr>
          <a:xfrm>
            <a:off x="2899410" y="5687568"/>
            <a:ext cx="3078480" cy="237744"/>
          </a:xfrm>
          <a:prstGeom prst="roundRect">
            <a:avLst>
              <a:gd name="adj" fmla="val 19231"/>
            </a:avLst>
          </a:prstGeom>
          <a:solidFill>
            <a:srgbClr val="6B7785"/>
          </a:solidFill>
          <a:ln/>
        </p:spPr>
        <p:txBody>
          <a:bodyPr/>
          <a:lstStyle/>
          <a:p>
            <a:endParaRPr lang="en-GB"/>
          </a:p>
        </p:txBody>
      </p:sp>
      <p:sp>
        <p:nvSpPr>
          <p:cNvPr id="69" name="Shape 63"/>
          <p:cNvSpPr/>
          <p:nvPr/>
        </p:nvSpPr>
        <p:spPr>
          <a:xfrm>
            <a:off x="2839974" y="5747004"/>
            <a:ext cx="118872" cy="118872"/>
          </a:xfrm>
          <a:prstGeom prst="diamond">
            <a:avLst/>
          </a:prstGeom>
          <a:solidFill>
            <a:srgbClr val="FFFFFF"/>
          </a:solidFill>
          <a:ln w="21590">
            <a:solidFill>
              <a:srgbClr val="C77B17"/>
            </a:solidFill>
            <a:prstDash val="solid"/>
          </a:ln>
        </p:spPr>
        <p:txBody>
          <a:bodyPr/>
          <a:lstStyle/>
          <a:p>
            <a:endParaRPr lang="en-GB"/>
          </a:p>
        </p:txBody>
      </p:sp>
      <p:sp>
        <p:nvSpPr>
          <p:cNvPr id="70" name="Text 64"/>
          <p:cNvSpPr/>
          <p:nvPr/>
        </p:nvSpPr>
        <p:spPr>
          <a:xfrm>
            <a:off x="2148840" y="5376672"/>
            <a:ext cx="2468880" cy="237744"/>
          </a:xfrm>
          <a:prstGeom prst="rect">
            <a:avLst/>
          </a:prstGeom>
          <a:noFill/>
          <a:ln/>
        </p:spPr>
        <p:txBody>
          <a:bodyPr wrap="square" lIns="0" tIns="0" rIns="0" bIns="0" rtlCol="0" anchor="ctr"/>
          <a:lstStyle/>
          <a:p>
            <a:pPr marL="0" indent="0" algn="ctr">
              <a:buNone/>
            </a:pPr>
            <a:r>
              <a:rPr lang="en-US" sz="780" b="1" dirty="0">
                <a:solidFill>
                  <a:srgbClr val="C77B17"/>
                </a:solidFill>
                <a:latin typeface="Calibri" pitchFamily="34" charset="0"/>
                <a:ea typeface="Calibri" pitchFamily="34" charset="-122"/>
                <a:cs typeface="Calibri" pitchFamily="34" charset="-120"/>
              </a:rPr>
              <a:t>Gelderland designates 2 SMR sites</a:t>
            </a:r>
            <a:endParaRPr lang="en-US" sz="780" dirty="0"/>
          </a:p>
        </p:txBody>
      </p:sp>
      <p:sp>
        <p:nvSpPr>
          <p:cNvPr id="71" name="Shape 65"/>
          <p:cNvSpPr/>
          <p:nvPr/>
        </p:nvSpPr>
        <p:spPr>
          <a:xfrm>
            <a:off x="5918454" y="5747004"/>
            <a:ext cx="118872" cy="118872"/>
          </a:xfrm>
          <a:prstGeom prst="diamond">
            <a:avLst/>
          </a:prstGeom>
          <a:solidFill>
            <a:srgbClr val="FFFFFF"/>
          </a:solidFill>
          <a:ln w="21590">
            <a:solidFill>
              <a:srgbClr val="6B7785"/>
            </a:solidFill>
            <a:prstDash val="solid"/>
          </a:ln>
        </p:spPr>
        <p:txBody>
          <a:bodyPr/>
          <a:lstStyle/>
          <a:p>
            <a:endParaRPr lang="en-GB"/>
          </a:p>
        </p:txBody>
      </p:sp>
      <p:sp>
        <p:nvSpPr>
          <p:cNvPr id="72" name="Text 66"/>
          <p:cNvSpPr/>
          <p:nvPr/>
        </p:nvSpPr>
        <p:spPr>
          <a:xfrm>
            <a:off x="4743450" y="6053328"/>
            <a:ext cx="2468880" cy="237744"/>
          </a:xfrm>
          <a:prstGeom prst="rect">
            <a:avLst/>
          </a:prstGeom>
          <a:noFill/>
          <a:ln/>
        </p:spPr>
        <p:txBody>
          <a:bodyPr wrap="square" lIns="0" tIns="0" rIns="0" bIns="0" rtlCol="0" anchor="ctr"/>
          <a:lstStyle/>
          <a:p>
            <a:pPr marL="0" indent="0" algn="ctr">
              <a:buNone/>
            </a:pPr>
            <a:r>
              <a:rPr lang="en-US" sz="780" b="1" dirty="0">
                <a:solidFill>
                  <a:srgbClr val="6B7785"/>
                </a:solidFill>
                <a:latin typeface="Calibri" pitchFamily="34" charset="0"/>
                <a:ea typeface="Calibri" pitchFamily="34" charset="-122"/>
                <a:cs typeface="Calibri" pitchFamily="34" charset="-120"/>
              </a:rPr>
              <a:t>Room for 13+ SMRs by 2050 (study)</a:t>
            </a:r>
            <a:endParaRPr lang="en-US" sz="780" dirty="0"/>
          </a:p>
        </p:txBody>
      </p:sp>
      <p:sp>
        <p:nvSpPr>
          <p:cNvPr id="73" name="Shape 67"/>
          <p:cNvSpPr/>
          <p:nvPr/>
        </p:nvSpPr>
        <p:spPr>
          <a:xfrm>
            <a:off x="2514600" y="1426464"/>
            <a:ext cx="0" cy="4974336"/>
          </a:xfrm>
          <a:prstGeom prst="line">
            <a:avLst/>
          </a:prstGeom>
          <a:noFill/>
          <a:ln w="12700">
            <a:solidFill>
              <a:srgbClr val="C7D2DC"/>
            </a:solidFill>
            <a:prstDash val="solid"/>
          </a:ln>
        </p:spPr>
        <p:txBody>
          <a:bodyPr/>
          <a:lstStyle/>
          <a:p>
            <a:endParaRPr lang="en-GB"/>
          </a:p>
        </p:txBody>
      </p:sp>
      <p:sp>
        <p:nvSpPr>
          <p:cNvPr id="74" name="Shape 68"/>
          <p:cNvSpPr/>
          <p:nvPr/>
        </p:nvSpPr>
        <p:spPr>
          <a:xfrm>
            <a:off x="2707005" y="1280160"/>
            <a:ext cx="0" cy="5120640"/>
          </a:xfrm>
          <a:prstGeom prst="line">
            <a:avLst/>
          </a:prstGeom>
          <a:noFill/>
          <a:ln w="15875">
            <a:solidFill>
              <a:srgbClr val="12233D"/>
            </a:solidFill>
            <a:prstDash val="lgDash"/>
          </a:ln>
        </p:spPr>
        <p:txBody>
          <a:bodyPr/>
          <a:lstStyle/>
          <a:p>
            <a:endParaRPr lang="en-GB"/>
          </a:p>
        </p:txBody>
      </p:sp>
      <p:sp>
        <p:nvSpPr>
          <p:cNvPr id="75" name="Shape 69"/>
          <p:cNvSpPr/>
          <p:nvPr/>
        </p:nvSpPr>
        <p:spPr>
          <a:xfrm>
            <a:off x="2670429" y="1234440"/>
            <a:ext cx="73152" cy="73152"/>
          </a:xfrm>
          <a:prstGeom prst="ellipse">
            <a:avLst/>
          </a:prstGeom>
          <a:solidFill>
            <a:srgbClr val="12233D"/>
          </a:solidFill>
          <a:ln/>
        </p:spPr>
        <p:txBody>
          <a:bodyPr/>
          <a:lstStyle/>
          <a:p>
            <a:endParaRPr lang="en-GB"/>
          </a:p>
        </p:txBody>
      </p:sp>
      <p:sp>
        <p:nvSpPr>
          <p:cNvPr id="76" name="Text 70"/>
          <p:cNvSpPr/>
          <p:nvPr/>
        </p:nvSpPr>
        <p:spPr>
          <a:xfrm>
            <a:off x="2341245" y="1060704"/>
            <a:ext cx="731520" cy="182880"/>
          </a:xfrm>
          <a:prstGeom prst="rect">
            <a:avLst/>
          </a:prstGeom>
          <a:noFill/>
          <a:ln/>
        </p:spPr>
        <p:txBody>
          <a:bodyPr wrap="square" lIns="0" tIns="0" rIns="0" bIns="0" rtlCol="0" anchor="ctr"/>
          <a:lstStyle/>
          <a:p>
            <a:pPr marL="0" indent="0" algn="ctr">
              <a:buNone/>
            </a:pPr>
            <a:r>
              <a:rPr lang="en-US" sz="800" b="1" kern="0" spc="50" dirty="0">
                <a:solidFill>
                  <a:srgbClr val="12233D"/>
                </a:solidFill>
                <a:latin typeface="Calibri" pitchFamily="34" charset="0"/>
                <a:ea typeface="Calibri" pitchFamily="34" charset="-122"/>
                <a:cs typeface="Calibri" pitchFamily="34" charset="-120"/>
              </a:rPr>
              <a:t>TODAY</a:t>
            </a:r>
            <a:endParaRPr lang="en-US" sz="800" dirty="0"/>
          </a:p>
        </p:txBody>
      </p:sp>
      <p:sp>
        <p:nvSpPr>
          <p:cNvPr id="77" name="Text 71"/>
          <p:cNvSpPr/>
          <p:nvPr/>
        </p:nvSpPr>
        <p:spPr>
          <a:xfrm>
            <a:off x="457200" y="6620256"/>
            <a:ext cx="11247120" cy="182880"/>
          </a:xfrm>
          <a:prstGeom prst="rect">
            <a:avLst/>
          </a:prstGeom>
          <a:noFill/>
          <a:ln/>
        </p:spPr>
        <p:txBody>
          <a:bodyPr wrap="square" lIns="0" tIns="0" rIns="0" bIns="0" rtlCol="0" anchor="ctr"/>
          <a:lstStyle/>
          <a:p>
            <a:pPr marL="0" indent="0">
              <a:buNone/>
            </a:pPr>
            <a:r>
              <a:rPr lang="en-US" sz="730" i="1" dirty="0">
                <a:solidFill>
                  <a:srgbClr val="9AA7B3"/>
                </a:solidFill>
                <a:latin typeface="Calibri" pitchFamily="34" charset="0"/>
                <a:ea typeface="Calibri" pitchFamily="34" charset="-122"/>
                <a:cs typeface="Calibri" pitchFamily="34" charset="-120"/>
              </a:rPr>
              <a:t>Source: World Nuclear Association, World Nuclear News, Dutch government (Ministry of Climate and Green Growth), ANVS, NRG-Pallas announcements, 23 June 2026. Dates are policy targets and have already slipped once; bar lengths illustrative.</a:t>
            </a:r>
            <a:endParaRPr lang="en-US" sz="730" dirty="0"/>
          </a:p>
        </p:txBody>
      </p:sp>
    </p:spTree>
    <p:extLst>
      <p:ext uri="{BB962C8B-B14F-4D97-AF65-F5344CB8AC3E}">
        <p14:creationId xmlns:p14="http://schemas.microsoft.com/office/powerpoint/2010/main" val="30786554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2233D"/>
          </a:solidFill>
          <a:ln/>
        </p:spPr>
        <p:txBody>
          <a:bodyPr/>
          <a:lstStyle/>
          <a:p>
            <a:endParaRPr lang="en-GB"/>
          </a:p>
        </p:txBody>
      </p:sp>
      <p:sp>
        <p:nvSpPr>
          <p:cNvPr id="3" name="Text 1"/>
          <p:cNvSpPr/>
          <p:nvPr/>
        </p:nvSpPr>
        <p:spPr>
          <a:xfrm>
            <a:off x="457200" y="118872"/>
            <a:ext cx="8869680" cy="384048"/>
          </a:xfrm>
          <a:prstGeom prst="rect">
            <a:avLst/>
          </a:prstGeom>
          <a:noFill/>
          <a:ln/>
        </p:spPr>
        <p:txBody>
          <a:bodyPr wrap="square" lIns="0" tIns="0" rIns="0" bIns="0" rtlCol="0" anchor="ctr"/>
          <a:lstStyle/>
          <a:p>
            <a:pPr marL="0" indent="0">
              <a:buNone/>
            </a:pPr>
            <a:r>
              <a:rPr lang="en-US" b="1" kern="0" spc="130" dirty="0">
                <a:solidFill>
                  <a:srgbClr val="FF0000"/>
                </a:solidFill>
                <a:latin typeface="Calibri" pitchFamily="34" charset="0"/>
                <a:ea typeface="Calibri" pitchFamily="34" charset="-122"/>
                <a:cs typeface="Calibri" pitchFamily="34" charset="-120"/>
              </a:rPr>
              <a:t>SWEDEN </a:t>
            </a:r>
            <a:r>
              <a:rPr lang="en-US" sz="1500" b="1" kern="0" spc="130" dirty="0">
                <a:solidFill>
                  <a:srgbClr val="9FB6CC"/>
                </a:solidFill>
                <a:latin typeface="Calibri" pitchFamily="34" charset="0"/>
                <a:ea typeface="Calibri" pitchFamily="34" charset="-122"/>
                <a:cs typeface="Calibri" pitchFamily="34" charset="-120"/>
              </a:rPr>
              <a:t>NUCLEAR PROGRAMME LANDSCAPE</a:t>
            </a:r>
            <a:endParaRPr lang="en-US" sz="1500" dirty="0"/>
          </a:p>
        </p:txBody>
      </p:sp>
      <p:sp>
        <p:nvSpPr>
          <p:cNvPr id="4" name="Text 2"/>
          <p:cNvSpPr/>
          <p:nvPr/>
        </p:nvSpPr>
        <p:spPr>
          <a:xfrm>
            <a:off x="457200" y="411480"/>
            <a:ext cx="86868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Programme Overview at a Glance</a:t>
            </a:r>
            <a:endParaRPr lang="en-US" sz="2600" dirty="0"/>
          </a:p>
        </p:txBody>
      </p:sp>
      <p:sp>
        <p:nvSpPr>
          <p:cNvPr id="6" name="Shape 4"/>
          <p:cNvSpPr/>
          <p:nvPr/>
        </p:nvSpPr>
        <p:spPr>
          <a:xfrm>
            <a:off x="4782421" y="1143000"/>
            <a:ext cx="118872" cy="118872"/>
          </a:xfrm>
          <a:prstGeom prst="ellipse">
            <a:avLst/>
          </a:prstGeom>
          <a:solidFill>
            <a:srgbClr val="1E8E5A"/>
          </a:solidFill>
          <a:ln/>
        </p:spPr>
        <p:txBody>
          <a:bodyPr/>
          <a:lstStyle/>
          <a:p>
            <a:endParaRPr lang="en-GB"/>
          </a:p>
        </p:txBody>
      </p:sp>
      <p:sp>
        <p:nvSpPr>
          <p:cNvPr id="7" name="Text 5"/>
          <p:cNvSpPr/>
          <p:nvPr/>
        </p:nvSpPr>
        <p:spPr>
          <a:xfrm>
            <a:off x="4965301" y="1060704"/>
            <a:ext cx="210312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Operational / contracted delivery</a:t>
            </a:r>
            <a:endParaRPr lang="en-US" sz="1050" dirty="0"/>
          </a:p>
        </p:txBody>
      </p:sp>
      <p:sp>
        <p:nvSpPr>
          <p:cNvPr id="8" name="Shape 6"/>
          <p:cNvSpPr/>
          <p:nvPr/>
        </p:nvSpPr>
        <p:spPr>
          <a:xfrm>
            <a:off x="7205581" y="1143000"/>
            <a:ext cx="118872" cy="118872"/>
          </a:xfrm>
          <a:prstGeom prst="ellipse">
            <a:avLst/>
          </a:prstGeom>
          <a:solidFill>
            <a:srgbClr val="C77B17"/>
          </a:solidFill>
          <a:ln/>
        </p:spPr>
        <p:txBody>
          <a:bodyPr/>
          <a:lstStyle/>
          <a:p>
            <a:endParaRPr lang="en-GB"/>
          </a:p>
        </p:txBody>
      </p:sp>
      <p:sp>
        <p:nvSpPr>
          <p:cNvPr id="9" name="Text 7"/>
          <p:cNvSpPr/>
          <p:nvPr/>
        </p:nvSpPr>
        <p:spPr>
          <a:xfrm>
            <a:off x="7388461" y="1060704"/>
            <a:ext cx="192024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Permitting / planning / pre-FID</a:t>
            </a:r>
            <a:endParaRPr lang="en-US" sz="1050" dirty="0"/>
          </a:p>
        </p:txBody>
      </p:sp>
      <p:sp>
        <p:nvSpPr>
          <p:cNvPr id="10" name="Shape 8"/>
          <p:cNvSpPr/>
          <p:nvPr/>
        </p:nvSpPr>
        <p:spPr>
          <a:xfrm>
            <a:off x="9491581" y="1143000"/>
            <a:ext cx="118872" cy="118872"/>
          </a:xfrm>
          <a:prstGeom prst="ellipse">
            <a:avLst/>
          </a:prstGeom>
          <a:solidFill>
            <a:srgbClr val="6B7785"/>
          </a:solidFill>
          <a:ln/>
        </p:spPr>
        <p:txBody>
          <a:bodyPr/>
          <a:lstStyle/>
          <a:p>
            <a:endParaRPr lang="en-GB"/>
          </a:p>
        </p:txBody>
      </p:sp>
      <p:sp>
        <p:nvSpPr>
          <p:cNvPr id="11" name="Text 9"/>
          <p:cNvSpPr/>
          <p:nvPr/>
        </p:nvSpPr>
        <p:spPr>
          <a:xfrm>
            <a:off x="9674461" y="1060704"/>
            <a:ext cx="137160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Concept / early stage</a:t>
            </a:r>
            <a:endParaRPr lang="en-US" sz="1050" dirty="0"/>
          </a:p>
        </p:txBody>
      </p:sp>
      <p:sp>
        <p:nvSpPr>
          <p:cNvPr id="12" name="Shape 10"/>
          <p:cNvSpPr/>
          <p:nvPr/>
        </p:nvSpPr>
        <p:spPr>
          <a:xfrm>
            <a:off x="457200" y="141732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13" name="Shape 11"/>
          <p:cNvSpPr/>
          <p:nvPr/>
        </p:nvSpPr>
        <p:spPr>
          <a:xfrm>
            <a:off x="713232" y="1655064"/>
            <a:ext cx="530352" cy="530352"/>
          </a:xfrm>
          <a:prstGeom prst="ellipse">
            <a:avLst/>
          </a:prstGeom>
          <a:solidFill>
            <a:srgbClr val="1B3358"/>
          </a:solidFill>
          <a:ln/>
        </p:spPr>
        <p:txBody>
          <a:bodyPr/>
          <a:lstStyle/>
          <a:p>
            <a:endParaRPr lang="en-GB"/>
          </a:p>
        </p:txBody>
      </p:sp>
      <p:pic>
        <p:nvPicPr>
          <p:cNvPr id="14" name="Image 0" descr="preencoded.png"/>
          <p:cNvPicPr>
            <a:picLocks noChangeAspect="1"/>
          </p:cNvPicPr>
          <p:nvPr/>
        </p:nvPicPr>
        <p:blipFill>
          <a:blip r:embed="rId3"/>
          <a:stretch>
            <a:fillRect/>
          </a:stretch>
        </p:blipFill>
        <p:spPr>
          <a:xfrm>
            <a:off x="832104" y="1773936"/>
            <a:ext cx="292608" cy="292608"/>
          </a:xfrm>
          <a:prstGeom prst="rect">
            <a:avLst/>
          </a:prstGeom>
        </p:spPr>
      </p:pic>
      <p:sp>
        <p:nvSpPr>
          <p:cNvPr id="15" name="Shape 12"/>
          <p:cNvSpPr/>
          <p:nvPr/>
        </p:nvSpPr>
        <p:spPr>
          <a:xfrm>
            <a:off x="3270352" y="1655064"/>
            <a:ext cx="2468880" cy="274320"/>
          </a:xfrm>
          <a:prstGeom prst="roundRect">
            <a:avLst>
              <a:gd name="adj" fmla="val 166667"/>
            </a:avLst>
          </a:prstGeom>
          <a:solidFill>
            <a:srgbClr val="1E8E5A"/>
          </a:solidFill>
          <a:ln/>
        </p:spPr>
        <p:txBody>
          <a:bodyPr/>
          <a:lstStyle/>
          <a:p>
            <a:endParaRPr lang="en-GB"/>
          </a:p>
        </p:txBody>
      </p:sp>
      <p:sp>
        <p:nvSpPr>
          <p:cNvPr id="16" name="Text 13"/>
          <p:cNvSpPr/>
          <p:nvPr/>
        </p:nvSpPr>
        <p:spPr>
          <a:xfrm>
            <a:off x="3270352" y="1655064"/>
            <a:ext cx="246888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OPERATIONAL / LTO STUDIES</a:t>
            </a:r>
            <a:endParaRPr lang="en-US" sz="950" dirty="0"/>
          </a:p>
        </p:txBody>
      </p:sp>
      <p:sp>
        <p:nvSpPr>
          <p:cNvPr id="17" name="Text 14"/>
          <p:cNvSpPr/>
          <p:nvPr/>
        </p:nvSpPr>
        <p:spPr>
          <a:xfrm>
            <a:off x="713232" y="2331720"/>
            <a:ext cx="4989424" cy="457200"/>
          </a:xfrm>
          <a:prstGeom prst="rect">
            <a:avLst/>
          </a:prstGeom>
          <a:noFill/>
          <a:ln/>
        </p:spPr>
        <p:txBody>
          <a:bodyPr wrap="square" lIns="0" tIns="0" rIns="0" bIns="0" rtlCol="0" anchor="t"/>
          <a:lstStyle/>
          <a:p>
            <a:pPr marL="0" indent="0">
              <a:buNone/>
            </a:pPr>
            <a:r>
              <a:rPr lang="en-US" sz="1600" b="1" dirty="0">
                <a:solidFill>
                  <a:srgbClr val="12233D"/>
                </a:solidFill>
                <a:latin typeface="Calibri" pitchFamily="34" charset="0"/>
                <a:ea typeface="Calibri" pitchFamily="34" charset="-122"/>
                <a:cs typeface="Calibri" pitchFamily="34" charset="-120"/>
              </a:rPr>
              <a:t>Existing Fleet — Forsmark &amp; Ringhals</a:t>
            </a:r>
            <a:endParaRPr lang="en-US" sz="1600" dirty="0"/>
          </a:p>
        </p:txBody>
      </p:sp>
      <p:sp>
        <p:nvSpPr>
          <p:cNvPr id="18" name="Text 15"/>
          <p:cNvSpPr/>
          <p:nvPr/>
        </p:nvSpPr>
        <p:spPr>
          <a:xfrm>
            <a:off x="713232" y="280720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6 reactors  ·  ~30% of Swedish electricity</a:t>
            </a:r>
            <a:endParaRPr lang="en-US" sz="1150" dirty="0"/>
          </a:p>
        </p:txBody>
      </p:sp>
      <p:sp>
        <p:nvSpPr>
          <p:cNvPr id="19" name="Shape 16"/>
          <p:cNvSpPr/>
          <p:nvPr/>
        </p:nvSpPr>
        <p:spPr>
          <a:xfrm>
            <a:off x="713232" y="3172968"/>
            <a:ext cx="4989424" cy="0"/>
          </a:xfrm>
          <a:prstGeom prst="line">
            <a:avLst/>
          </a:prstGeom>
          <a:noFill/>
          <a:ln w="9525">
            <a:solidFill>
              <a:srgbClr val="D6E0E8"/>
            </a:solidFill>
            <a:prstDash val="solid"/>
          </a:ln>
        </p:spPr>
        <p:txBody>
          <a:bodyPr/>
          <a:lstStyle/>
          <a:p>
            <a:endParaRPr lang="en-GB"/>
          </a:p>
        </p:txBody>
      </p:sp>
      <p:sp>
        <p:nvSpPr>
          <p:cNvPr id="20" name="Text 17"/>
          <p:cNvSpPr/>
          <p:nvPr/>
        </p:nvSpPr>
        <p:spPr>
          <a:xfrm>
            <a:off x="713232" y="328269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00" dirty="0">
                <a:solidFill>
                  <a:srgbClr val="12233D"/>
                </a:solidFill>
                <a:latin typeface="Calibri" pitchFamily="34" charset="0"/>
                <a:ea typeface="Calibri" pitchFamily="34" charset="-122"/>
                <a:cs typeface="Calibri" pitchFamily="34" charset="-120"/>
              </a:rPr>
              <a:t>60→80-year life extension studies underway at both plants</a:t>
            </a:r>
            <a:endParaRPr lang="en-US" sz="900" dirty="0"/>
          </a:p>
        </p:txBody>
      </p:sp>
      <p:sp>
        <p:nvSpPr>
          <p:cNvPr id="21" name="Text 18"/>
          <p:cNvSpPr/>
          <p:nvPr/>
        </p:nvSpPr>
        <p:spPr>
          <a:xfrm>
            <a:off x="713232" y="352501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Vattenfall · Uniper · Fortum · SSM</a:t>
            </a:r>
            <a:endParaRPr lang="en-US" sz="1050" dirty="0"/>
          </a:p>
        </p:txBody>
      </p:sp>
      <p:sp>
        <p:nvSpPr>
          <p:cNvPr id="22" name="Shape 19"/>
          <p:cNvSpPr/>
          <p:nvPr/>
        </p:nvSpPr>
        <p:spPr>
          <a:xfrm>
            <a:off x="6233008" y="141732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23" name="Shape 20"/>
          <p:cNvSpPr/>
          <p:nvPr/>
        </p:nvSpPr>
        <p:spPr>
          <a:xfrm>
            <a:off x="6489040" y="1655064"/>
            <a:ext cx="530352" cy="530352"/>
          </a:xfrm>
          <a:prstGeom prst="ellipse">
            <a:avLst/>
          </a:prstGeom>
          <a:solidFill>
            <a:srgbClr val="1B3358"/>
          </a:solidFill>
          <a:ln/>
        </p:spPr>
        <p:txBody>
          <a:bodyPr/>
          <a:lstStyle/>
          <a:p>
            <a:endParaRPr lang="en-GB"/>
          </a:p>
        </p:txBody>
      </p:sp>
      <p:pic>
        <p:nvPicPr>
          <p:cNvPr id="24" name="Image 1" descr="preencoded.png"/>
          <p:cNvPicPr>
            <a:picLocks noChangeAspect="1"/>
          </p:cNvPicPr>
          <p:nvPr/>
        </p:nvPicPr>
        <p:blipFill>
          <a:blip r:embed="rId4"/>
          <a:stretch>
            <a:fillRect/>
          </a:stretch>
        </p:blipFill>
        <p:spPr>
          <a:xfrm>
            <a:off x="6607912" y="1773936"/>
            <a:ext cx="292608" cy="292608"/>
          </a:xfrm>
          <a:prstGeom prst="rect">
            <a:avLst/>
          </a:prstGeom>
        </p:spPr>
      </p:pic>
      <p:sp>
        <p:nvSpPr>
          <p:cNvPr id="25" name="Shape 21"/>
          <p:cNvSpPr/>
          <p:nvPr/>
        </p:nvSpPr>
        <p:spPr>
          <a:xfrm>
            <a:off x="9046159" y="1655064"/>
            <a:ext cx="2468880" cy="274320"/>
          </a:xfrm>
          <a:prstGeom prst="roundRect">
            <a:avLst>
              <a:gd name="adj" fmla="val 166667"/>
            </a:avLst>
          </a:prstGeom>
          <a:solidFill>
            <a:srgbClr val="1E8E5A"/>
          </a:solidFill>
          <a:ln/>
        </p:spPr>
        <p:txBody>
          <a:bodyPr/>
          <a:lstStyle/>
          <a:p>
            <a:endParaRPr lang="en-GB"/>
          </a:p>
        </p:txBody>
      </p:sp>
      <p:sp>
        <p:nvSpPr>
          <p:cNvPr id="26" name="Text 22"/>
          <p:cNvSpPr/>
          <p:nvPr/>
        </p:nvSpPr>
        <p:spPr>
          <a:xfrm>
            <a:off x="9046159" y="1655064"/>
            <a:ext cx="246888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SUPPLIER SELECTED</a:t>
            </a:r>
            <a:endParaRPr lang="en-US" sz="950" dirty="0"/>
          </a:p>
        </p:txBody>
      </p:sp>
      <p:sp>
        <p:nvSpPr>
          <p:cNvPr id="27" name="Text 23"/>
          <p:cNvSpPr/>
          <p:nvPr/>
        </p:nvSpPr>
        <p:spPr>
          <a:xfrm>
            <a:off x="6489040" y="2331720"/>
            <a:ext cx="4989424" cy="457200"/>
          </a:xfrm>
          <a:prstGeom prst="rect">
            <a:avLst/>
          </a:prstGeom>
          <a:noFill/>
          <a:ln/>
        </p:spPr>
        <p:txBody>
          <a:bodyPr wrap="square" lIns="0" tIns="0" rIns="0" bIns="0" rtlCol="0" anchor="t"/>
          <a:lstStyle/>
          <a:p>
            <a:pPr marL="0" indent="0">
              <a:buNone/>
            </a:pPr>
            <a:r>
              <a:rPr lang="en-US" sz="1600" b="1" dirty="0">
                <a:solidFill>
                  <a:srgbClr val="12233D"/>
                </a:solidFill>
                <a:latin typeface="Calibri" pitchFamily="34" charset="0"/>
                <a:ea typeface="Calibri" pitchFamily="34" charset="-122"/>
                <a:cs typeface="Calibri" pitchFamily="34" charset="-120"/>
              </a:rPr>
              <a:t>Videberg Kraft — Ringhals/Värö SMR</a:t>
            </a:r>
            <a:endParaRPr lang="en-US" sz="1600" dirty="0"/>
          </a:p>
        </p:txBody>
      </p:sp>
      <p:sp>
        <p:nvSpPr>
          <p:cNvPr id="28" name="Text 24"/>
          <p:cNvSpPr/>
          <p:nvPr/>
        </p:nvSpPr>
        <p:spPr>
          <a:xfrm>
            <a:off x="6489040" y="280720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3 × 470 MWe  ·  ~1.5 GW  ·  ~12 TWh/yr</a:t>
            </a:r>
            <a:endParaRPr lang="en-US" sz="1150" dirty="0"/>
          </a:p>
        </p:txBody>
      </p:sp>
      <p:sp>
        <p:nvSpPr>
          <p:cNvPr id="29" name="Shape 25"/>
          <p:cNvSpPr/>
          <p:nvPr/>
        </p:nvSpPr>
        <p:spPr>
          <a:xfrm>
            <a:off x="6489040" y="3172968"/>
            <a:ext cx="4989424" cy="0"/>
          </a:xfrm>
          <a:prstGeom prst="line">
            <a:avLst/>
          </a:prstGeom>
          <a:noFill/>
          <a:ln w="9525">
            <a:solidFill>
              <a:srgbClr val="D6E0E8"/>
            </a:solidFill>
            <a:prstDash val="solid"/>
          </a:ln>
        </p:spPr>
        <p:txBody>
          <a:bodyPr/>
          <a:lstStyle/>
          <a:p>
            <a:endParaRPr lang="en-GB"/>
          </a:p>
        </p:txBody>
      </p:sp>
      <p:sp>
        <p:nvSpPr>
          <p:cNvPr id="30" name="Text 26"/>
          <p:cNvSpPr/>
          <p:nvPr/>
        </p:nvSpPr>
        <p:spPr>
          <a:xfrm>
            <a:off x="6489040" y="328269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00" dirty="0">
                <a:solidFill>
                  <a:srgbClr val="12233D"/>
                </a:solidFill>
                <a:latin typeface="Calibri" pitchFamily="34" charset="0"/>
                <a:ea typeface="Calibri" pitchFamily="34" charset="-122"/>
                <a:cs typeface="Calibri" pitchFamily="34" charset="-120"/>
              </a:rPr>
              <a:t>Rolls-Royce SMR selected 15 Jun-26 · first reactor targeted early 2030s</a:t>
            </a:r>
            <a:endParaRPr lang="en-US" sz="900" dirty="0"/>
          </a:p>
        </p:txBody>
      </p:sp>
      <p:sp>
        <p:nvSpPr>
          <p:cNvPr id="31" name="Text 27"/>
          <p:cNvSpPr/>
          <p:nvPr/>
        </p:nvSpPr>
        <p:spPr>
          <a:xfrm>
            <a:off x="6489040" y="352501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Vattenfall · Industrikraft · Rolls-Royce SMR</a:t>
            </a:r>
            <a:endParaRPr lang="en-US" sz="1050" dirty="0"/>
          </a:p>
        </p:txBody>
      </p:sp>
      <p:sp>
        <p:nvSpPr>
          <p:cNvPr id="32" name="Shape 28"/>
          <p:cNvSpPr/>
          <p:nvPr/>
        </p:nvSpPr>
        <p:spPr>
          <a:xfrm>
            <a:off x="457200" y="409194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33" name="Shape 29"/>
          <p:cNvSpPr/>
          <p:nvPr/>
        </p:nvSpPr>
        <p:spPr>
          <a:xfrm>
            <a:off x="713232" y="4329684"/>
            <a:ext cx="530352" cy="530352"/>
          </a:xfrm>
          <a:prstGeom prst="ellipse">
            <a:avLst/>
          </a:prstGeom>
          <a:solidFill>
            <a:srgbClr val="1B3358"/>
          </a:solidFill>
          <a:ln/>
        </p:spPr>
        <p:txBody>
          <a:bodyPr/>
          <a:lstStyle/>
          <a:p>
            <a:endParaRPr lang="en-GB"/>
          </a:p>
        </p:txBody>
      </p:sp>
      <p:pic>
        <p:nvPicPr>
          <p:cNvPr id="34" name="Image 2" descr="preencoded.png"/>
          <p:cNvPicPr>
            <a:picLocks noChangeAspect="1"/>
          </p:cNvPicPr>
          <p:nvPr/>
        </p:nvPicPr>
        <p:blipFill>
          <a:blip r:embed="rId5"/>
          <a:stretch>
            <a:fillRect/>
          </a:stretch>
        </p:blipFill>
        <p:spPr>
          <a:xfrm>
            <a:off x="832104" y="4448556"/>
            <a:ext cx="292608" cy="292608"/>
          </a:xfrm>
          <a:prstGeom prst="rect">
            <a:avLst/>
          </a:prstGeom>
        </p:spPr>
      </p:pic>
      <p:sp>
        <p:nvSpPr>
          <p:cNvPr id="35" name="Shape 30"/>
          <p:cNvSpPr/>
          <p:nvPr/>
        </p:nvSpPr>
        <p:spPr>
          <a:xfrm>
            <a:off x="3270352" y="4329684"/>
            <a:ext cx="2468880" cy="274320"/>
          </a:xfrm>
          <a:prstGeom prst="roundRect">
            <a:avLst>
              <a:gd name="adj" fmla="val 166667"/>
            </a:avLst>
          </a:prstGeom>
          <a:solidFill>
            <a:srgbClr val="6B7785"/>
          </a:solidFill>
          <a:ln/>
        </p:spPr>
        <p:txBody>
          <a:bodyPr/>
          <a:lstStyle/>
          <a:p>
            <a:endParaRPr lang="en-GB"/>
          </a:p>
        </p:txBody>
      </p:sp>
      <p:sp>
        <p:nvSpPr>
          <p:cNvPr id="36" name="Text 31"/>
          <p:cNvSpPr/>
          <p:nvPr/>
        </p:nvSpPr>
        <p:spPr>
          <a:xfrm>
            <a:off x="3270352" y="4329684"/>
            <a:ext cx="246888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EARLY PLANNING</a:t>
            </a:r>
            <a:endParaRPr lang="en-US" sz="950" dirty="0"/>
          </a:p>
        </p:txBody>
      </p:sp>
      <p:sp>
        <p:nvSpPr>
          <p:cNvPr id="37" name="Text 32"/>
          <p:cNvSpPr/>
          <p:nvPr/>
        </p:nvSpPr>
        <p:spPr>
          <a:xfrm>
            <a:off x="713232" y="5006340"/>
            <a:ext cx="4989424" cy="457200"/>
          </a:xfrm>
          <a:prstGeom prst="rect">
            <a:avLst/>
          </a:prstGeom>
          <a:noFill/>
          <a:ln/>
        </p:spPr>
        <p:txBody>
          <a:bodyPr wrap="square" lIns="0" tIns="0" rIns="0" bIns="0" rtlCol="0" anchor="t"/>
          <a:lstStyle/>
          <a:p>
            <a:pPr marL="0" indent="0">
              <a:buNone/>
            </a:pPr>
            <a:r>
              <a:rPr lang="en-US" sz="1600" b="1" dirty="0">
                <a:solidFill>
                  <a:srgbClr val="12233D"/>
                </a:solidFill>
                <a:latin typeface="Calibri" pitchFamily="34" charset="0"/>
                <a:ea typeface="Calibri" pitchFamily="34" charset="-122"/>
                <a:cs typeface="Calibri" pitchFamily="34" charset="-120"/>
              </a:rPr>
              <a:t>Wider Municipal SMR Pipeline</a:t>
            </a:r>
            <a:endParaRPr lang="en-US" sz="1600" dirty="0"/>
          </a:p>
        </p:txBody>
      </p:sp>
      <p:sp>
        <p:nvSpPr>
          <p:cNvPr id="38" name="Text 33"/>
          <p:cNvSpPr/>
          <p:nvPr/>
        </p:nvSpPr>
        <p:spPr>
          <a:xfrm>
            <a:off x="713232" y="548182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Studsvik · Kärnfull Next · Blykalla (Gävle)</a:t>
            </a:r>
            <a:endParaRPr lang="en-US" sz="1150" dirty="0"/>
          </a:p>
        </p:txBody>
      </p:sp>
      <p:sp>
        <p:nvSpPr>
          <p:cNvPr id="39" name="Shape 34"/>
          <p:cNvSpPr/>
          <p:nvPr/>
        </p:nvSpPr>
        <p:spPr>
          <a:xfrm>
            <a:off x="713232" y="5847588"/>
            <a:ext cx="4989424" cy="0"/>
          </a:xfrm>
          <a:prstGeom prst="line">
            <a:avLst/>
          </a:prstGeom>
          <a:noFill/>
          <a:ln w="9525">
            <a:solidFill>
              <a:srgbClr val="D6E0E8"/>
            </a:solidFill>
            <a:prstDash val="solid"/>
          </a:ln>
        </p:spPr>
        <p:txBody>
          <a:bodyPr/>
          <a:lstStyle/>
          <a:p>
            <a:endParaRPr lang="en-GB"/>
          </a:p>
        </p:txBody>
      </p:sp>
      <p:sp>
        <p:nvSpPr>
          <p:cNvPr id="40" name="Text 35"/>
          <p:cNvSpPr/>
          <p:nvPr/>
        </p:nvSpPr>
        <p:spPr>
          <a:xfrm>
            <a:off x="713232" y="595731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00" dirty="0">
                <a:solidFill>
                  <a:srgbClr val="12233D"/>
                </a:solidFill>
                <a:latin typeface="Calibri" pitchFamily="34" charset="0"/>
                <a:ea typeface="Calibri" pitchFamily="34" charset="-122"/>
                <a:cs typeface="Calibri" pitchFamily="34" charset="-120"/>
              </a:rPr>
              <a:t>13 feasibility studies done · new permitting law in force Jun–Jul 2026</a:t>
            </a:r>
            <a:endParaRPr lang="en-US" sz="900" dirty="0"/>
          </a:p>
        </p:txBody>
      </p:sp>
      <p:sp>
        <p:nvSpPr>
          <p:cNvPr id="41" name="Text 36"/>
          <p:cNvSpPr/>
          <p:nvPr/>
        </p:nvSpPr>
        <p:spPr>
          <a:xfrm>
            <a:off x="713232" y="619963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Studsvik · Kärnfull Next · Blykalla</a:t>
            </a:r>
            <a:endParaRPr lang="en-US" sz="1050" dirty="0"/>
          </a:p>
        </p:txBody>
      </p:sp>
      <p:sp>
        <p:nvSpPr>
          <p:cNvPr id="42" name="Shape 37"/>
          <p:cNvSpPr/>
          <p:nvPr/>
        </p:nvSpPr>
        <p:spPr>
          <a:xfrm>
            <a:off x="6233008" y="409194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43" name="Shape 38"/>
          <p:cNvSpPr/>
          <p:nvPr/>
        </p:nvSpPr>
        <p:spPr>
          <a:xfrm>
            <a:off x="6489040" y="4329684"/>
            <a:ext cx="530352" cy="530352"/>
          </a:xfrm>
          <a:prstGeom prst="ellipse">
            <a:avLst/>
          </a:prstGeom>
          <a:solidFill>
            <a:srgbClr val="1B3358"/>
          </a:solidFill>
          <a:ln/>
        </p:spPr>
        <p:txBody>
          <a:bodyPr/>
          <a:lstStyle/>
          <a:p>
            <a:endParaRPr lang="en-GB"/>
          </a:p>
        </p:txBody>
      </p:sp>
      <p:pic>
        <p:nvPicPr>
          <p:cNvPr id="44" name="Image 3" descr="preencoded.png"/>
          <p:cNvPicPr>
            <a:picLocks noChangeAspect="1"/>
          </p:cNvPicPr>
          <p:nvPr/>
        </p:nvPicPr>
        <p:blipFill>
          <a:blip r:embed="rId6"/>
          <a:stretch>
            <a:fillRect/>
          </a:stretch>
        </p:blipFill>
        <p:spPr>
          <a:xfrm>
            <a:off x="6607912" y="4448556"/>
            <a:ext cx="292608" cy="292608"/>
          </a:xfrm>
          <a:prstGeom prst="rect">
            <a:avLst/>
          </a:prstGeom>
        </p:spPr>
      </p:pic>
      <p:sp>
        <p:nvSpPr>
          <p:cNvPr id="45" name="Shape 39"/>
          <p:cNvSpPr/>
          <p:nvPr/>
        </p:nvSpPr>
        <p:spPr>
          <a:xfrm>
            <a:off x="9046159" y="4329684"/>
            <a:ext cx="2468880" cy="274320"/>
          </a:xfrm>
          <a:prstGeom prst="roundRect">
            <a:avLst>
              <a:gd name="adj" fmla="val 166667"/>
            </a:avLst>
          </a:prstGeom>
          <a:solidFill>
            <a:srgbClr val="C77B17"/>
          </a:solidFill>
          <a:ln/>
        </p:spPr>
        <p:txBody>
          <a:bodyPr/>
          <a:lstStyle/>
          <a:p>
            <a:endParaRPr lang="en-GB"/>
          </a:p>
        </p:txBody>
      </p:sp>
      <p:sp>
        <p:nvSpPr>
          <p:cNvPr id="46" name="Text 40"/>
          <p:cNvSpPr/>
          <p:nvPr/>
        </p:nvSpPr>
        <p:spPr>
          <a:xfrm>
            <a:off x="9046159" y="4329684"/>
            <a:ext cx="246888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POLICY FRAMEWORK LIVE</a:t>
            </a:r>
            <a:endParaRPr lang="en-US" sz="950" dirty="0"/>
          </a:p>
        </p:txBody>
      </p:sp>
      <p:sp>
        <p:nvSpPr>
          <p:cNvPr id="47" name="Text 41"/>
          <p:cNvSpPr/>
          <p:nvPr/>
        </p:nvSpPr>
        <p:spPr>
          <a:xfrm>
            <a:off x="6489040" y="5006340"/>
            <a:ext cx="4989424" cy="457200"/>
          </a:xfrm>
          <a:prstGeom prst="rect">
            <a:avLst/>
          </a:prstGeom>
          <a:noFill/>
          <a:ln/>
        </p:spPr>
        <p:txBody>
          <a:bodyPr wrap="square" lIns="0" tIns="0" rIns="0" bIns="0" rtlCol="0" anchor="t"/>
          <a:lstStyle/>
          <a:p>
            <a:pPr marL="0" indent="0">
              <a:buNone/>
            </a:pPr>
            <a:r>
              <a:rPr lang="en-US" sz="1600" b="1" dirty="0">
                <a:solidFill>
                  <a:srgbClr val="12233D"/>
                </a:solidFill>
                <a:latin typeface="Calibri" pitchFamily="34" charset="0"/>
                <a:ea typeface="Calibri" pitchFamily="34" charset="-122"/>
                <a:cs typeface="Calibri" pitchFamily="34" charset="-120"/>
              </a:rPr>
              <a:t>National 2045 Ambition</a:t>
            </a:r>
            <a:endParaRPr lang="en-US" sz="1600" dirty="0"/>
          </a:p>
        </p:txBody>
      </p:sp>
      <p:sp>
        <p:nvSpPr>
          <p:cNvPr id="48" name="Text 42"/>
          <p:cNvSpPr/>
          <p:nvPr/>
        </p:nvSpPr>
        <p:spPr>
          <a:xfrm>
            <a:off x="6489040" y="548182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2 large reactors by 2035  ·  10-reactor equivalent by 2045</a:t>
            </a:r>
            <a:endParaRPr lang="en-US" sz="1150" dirty="0"/>
          </a:p>
        </p:txBody>
      </p:sp>
      <p:sp>
        <p:nvSpPr>
          <p:cNvPr id="49" name="Shape 43"/>
          <p:cNvSpPr/>
          <p:nvPr/>
        </p:nvSpPr>
        <p:spPr>
          <a:xfrm>
            <a:off x="6489040" y="5847588"/>
            <a:ext cx="4989424" cy="0"/>
          </a:xfrm>
          <a:prstGeom prst="line">
            <a:avLst/>
          </a:prstGeom>
          <a:noFill/>
          <a:ln w="9525">
            <a:solidFill>
              <a:srgbClr val="D6E0E8"/>
            </a:solidFill>
            <a:prstDash val="solid"/>
          </a:ln>
        </p:spPr>
        <p:txBody>
          <a:bodyPr/>
          <a:lstStyle/>
          <a:p>
            <a:endParaRPr lang="en-GB"/>
          </a:p>
        </p:txBody>
      </p:sp>
      <p:sp>
        <p:nvSpPr>
          <p:cNvPr id="50" name="Text 44"/>
          <p:cNvSpPr/>
          <p:nvPr/>
        </p:nvSpPr>
        <p:spPr>
          <a:xfrm>
            <a:off x="6489040" y="595731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00" dirty="0">
                <a:solidFill>
                  <a:srgbClr val="12233D"/>
                </a:solidFill>
                <a:latin typeface="Calibri" pitchFamily="34" charset="0"/>
                <a:ea typeface="Calibri" pitchFamily="34" charset="-122"/>
                <a:cs typeface="Calibri" pitchFamily="34" charset="-120"/>
              </a:rPr>
              <a:t>SEK 400bn credit guarantee + two-way CfD scheme now in force</a:t>
            </a:r>
            <a:endParaRPr lang="en-US" sz="900" dirty="0"/>
          </a:p>
        </p:txBody>
      </p:sp>
      <p:sp>
        <p:nvSpPr>
          <p:cNvPr id="51" name="Text 45"/>
          <p:cNvSpPr/>
          <p:nvPr/>
        </p:nvSpPr>
        <p:spPr>
          <a:xfrm>
            <a:off x="6489040" y="619963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Swedish Government · SSM</a:t>
            </a:r>
            <a:endParaRPr lang="en-US" sz="1050" dirty="0"/>
          </a:p>
        </p:txBody>
      </p:sp>
      <p:sp>
        <p:nvSpPr>
          <p:cNvPr id="52" name="Text 46"/>
          <p:cNvSpPr/>
          <p:nvPr/>
        </p:nvSpPr>
        <p:spPr>
          <a:xfrm>
            <a:off x="457200" y="6565392"/>
            <a:ext cx="11247120" cy="228600"/>
          </a:xfrm>
          <a:prstGeom prst="rect">
            <a:avLst/>
          </a:prstGeom>
          <a:noFill/>
          <a:ln/>
        </p:spPr>
        <p:txBody>
          <a:bodyPr wrap="square" lIns="0" tIns="0" rIns="0" bIns="0" rtlCol="0" anchor="ctr"/>
          <a:lstStyle/>
          <a:p>
            <a:pPr marL="0" indent="0">
              <a:buNone/>
            </a:pPr>
            <a:r>
              <a:rPr lang="en-US" sz="850" i="1" dirty="0">
                <a:solidFill>
                  <a:srgbClr val="9AA7B3"/>
                </a:solidFill>
                <a:latin typeface="Calibri" pitchFamily="34" charset="0"/>
                <a:ea typeface="Calibri" pitchFamily="34" charset="-122"/>
                <a:cs typeface="Calibri" pitchFamily="34" charset="-120"/>
              </a:rPr>
              <a:t>Source: Vattenfall, World Nuclear Association, World Nuclear News, Swedish Government, NucNet announcements, 23 June 2026. Rolls-Royce SMR was selected for Ringhals/Värö on 15 June 2026; FID for the project has not yet been taken.</a:t>
            </a:r>
            <a:endParaRPr lang="en-US" sz="850" dirty="0"/>
          </a:p>
        </p:txBody>
      </p:sp>
      <p:pic>
        <p:nvPicPr>
          <p:cNvPr id="5" name="Picture 4">
            <a:extLst>
              <a:ext uri="{FF2B5EF4-FFF2-40B4-BE49-F238E27FC236}">
                <a16:creationId xmlns:a16="http://schemas.microsoft.com/office/drawing/2014/main" id="{81EB537B-846C-8588-A025-3272DC158C77}"/>
              </a:ext>
            </a:extLst>
          </p:cNvPr>
          <p:cNvPicPr>
            <a:picLocks noChangeAspect="1"/>
          </p:cNvPicPr>
          <p:nvPr/>
        </p:nvPicPr>
        <p:blipFill>
          <a:blip r:embed="rId7"/>
          <a:stretch>
            <a:fillRect/>
          </a:stretch>
        </p:blipFill>
        <p:spPr>
          <a:xfrm>
            <a:off x="11092522" y="8412"/>
            <a:ext cx="1097277" cy="1128042"/>
          </a:xfrm>
          <a:prstGeom prst="rect">
            <a:avLst/>
          </a:prstGeom>
        </p:spPr>
      </p:pic>
    </p:spTree>
    <p:extLst>
      <p:ext uri="{BB962C8B-B14F-4D97-AF65-F5344CB8AC3E}">
        <p14:creationId xmlns:p14="http://schemas.microsoft.com/office/powerpoint/2010/main" val="2989505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12233D"/>
          </a:solidFill>
          <a:ln/>
        </p:spPr>
        <p:txBody>
          <a:bodyPr/>
          <a:lstStyle/>
          <a:p>
            <a:endParaRPr lang="en-GB"/>
          </a:p>
        </p:txBody>
      </p:sp>
      <p:sp>
        <p:nvSpPr>
          <p:cNvPr id="3" name="Text 1"/>
          <p:cNvSpPr/>
          <p:nvPr/>
        </p:nvSpPr>
        <p:spPr>
          <a:xfrm>
            <a:off x="457200" y="100584"/>
            <a:ext cx="8869680" cy="347472"/>
          </a:xfrm>
          <a:prstGeom prst="rect">
            <a:avLst/>
          </a:prstGeom>
          <a:noFill/>
          <a:ln/>
        </p:spPr>
        <p:txBody>
          <a:bodyPr wrap="square" lIns="0" tIns="0" rIns="0" bIns="0" rtlCol="0" anchor="ctr"/>
          <a:lstStyle/>
          <a:p>
            <a:pPr marL="0" indent="0">
              <a:buNone/>
            </a:pPr>
            <a:r>
              <a:rPr lang="en-US" b="1" kern="0" spc="130" dirty="0">
                <a:solidFill>
                  <a:srgbClr val="FF0000"/>
                </a:solidFill>
                <a:latin typeface="Calibri" pitchFamily="34" charset="0"/>
                <a:cs typeface="Calibri" pitchFamily="34" charset="-120"/>
              </a:rPr>
              <a:t>SWEDEN </a:t>
            </a:r>
            <a:r>
              <a:rPr lang="en-US" sz="1400" b="1" kern="0" spc="130" dirty="0">
                <a:solidFill>
                  <a:srgbClr val="9FB6CC"/>
                </a:solidFill>
                <a:latin typeface="Calibri" pitchFamily="34" charset="0"/>
                <a:ea typeface="Calibri" pitchFamily="34" charset="-122"/>
                <a:cs typeface="Calibri" pitchFamily="34" charset="-120"/>
              </a:rPr>
              <a:t>NUCLEAR PROGRAMME LANDSCAPE</a:t>
            </a:r>
            <a:endParaRPr lang="en-US" sz="1400" dirty="0"/>
          </a:p>
        </p:txBody>
      </p:sp>
      <p:sp>
        <p:nvSpPr>
          <p:cNvPr id="4" name="Text 2"/>
          <p:cNvSpPr/>
          <p:nvPr/>
        </p:nvSpPr>
        <p:spPr>
          <a:xfrm>
            <a:off x="457200" y="384048"/>
            <a:ext cx="886968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Delivery Timeline, 2026–2045+</a:t>
            </a:r>
            <a:endParaRPr lang="en-US" sz="2400" dirty="0"/>
          </a:p>
        </p:txBody>
      </p:sp>
      <p:sp>
        <p:nvSpPr>
          <p:cNvPr id="6" name="Shape 4"/>
          <p:cNvSpPr/>
          <p:nvPr/>
        </p:nvSpPr>
        <p:spPr>
          <a:xfrm>
            <a:off x="4491026" y="1060704"/>
            <a:ext cx="118872" cy="118872"/>
          </a:xfrm>
          <a:prstGeom prst="ellipse">
            <a:avLst/>
          </a:prstGeom>
          <a:solidFill>
            <a:srgbClr val="1E8E5A"/>
          </a:solidFill>
          <a:ln/>
        </p:spPr>
        <p:txBody>
          <a:bodyPr/>
          <a:lstStyle/>
          <a:p>
            <a:endParaRPr lang="en-GB"/>
          </a:p>
        </p:txBody>
      </p:sp>
      <p:sp>
        <p:nvSpPr>
          <p:cNvPr id="7" name="Text 5"/>
          <p:cNvSpPr/>
          <p:nvPr/>
        </p:nvSpPr>
        <p:spPr>
          <a:xfrm>
            <a:off x="4673906" y="978408"/>
            <a:ext cx="210312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Operational / contracted delivery</a:t>
            </a:r>
            <a:endParaRPr lang="en-US" sz="950" dirty="0"/>
          </a:p>
        </p:txBody>
      </p:sp>
      <p:sp>
        <p:nvSpPr>
          <p:cNvPr id="8" name="Shape 6"/>
          <p:cNvSpPr/>
          <p:nvPr/>
        </p:nvSpPr>
        <p:spPr>
          <a:xfrm>
            <a:off x="6868466" y="1060704"/>
            <a:ext cx="118872" cy="118872"/>
          </a:xfrm>
          <a:prstGeom prst="ellipse">
            <a:avLst/>
          </a:prstGeom>
          <a:solidFill>
            <a:srgbClr val="C77B17"/>
          </a:solidFill>
          <a:ln/>
        </p:spPr>
        <p:txBody>
          <a:bodyPr/>
          <a:lstStyle/>
          <a:p>
            <a:endParaRPr lang="en-GB"/>
          </a:p>
        </p:txBody>
      </p:sp>
      <p:sp>
        <p:nvSpPr>
          <p:cNvPr id="9" name="Text 7"/>
          <p:cNvSpPr/>
          <p:nvPr/>
        </p:nvSpPr>
        <p:spPr>
          <a:xfrm>
            <a:off x="7051346" y="978408"/>
            <a:ext cx="192024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Permitting / planning / pre-FID</a:t>
            </a:r>
            <a:endParaRPr lang="en-US" sz="950" dirty="0"/>
          </a:p>
        </p:txBody>
      </p:sp>
      <p:sp>
        <p:nvSpPr>
          <p:cNvPr id="10" name="Shape 8"/>
          <p:cNvSpPr/>
          <p:nvPr/>
        </p:nvSpPr>
        <p:spPr>
          <a:xfrm>
            <a:off x="9108746" y="1060704"/>
            <a:ext cx="118872" cy="118872"/>
          </a:xfrm>
          <a:prstGeom prst="ellipse">
            <a:avLst/>
          </a:prstGeom>
          <a:solidFill>
            <a:srgbClr val="6B7785"/>
          </a:solidFill>
          <a:ln/>
        </p:spPr>
        <p:txBody>
          <a:bodyPr/>
          <a:lstStyle/>
          <a:p>
            <a:endParaRPr lang="en-GB"/>
          </a:p>
        </p:txBody>
      </p:sp>
      <p:sp>
        <p:nvSpPr>
          <p:cNvPr id="11" name="Text 9"/>
          <p:cNvSpPr/>
          <p:nvPr/>
        </p:nvSpPr>
        <p:spPr>
          <a:xfrm>
            <a:off x="9291626" y="978408"/>
            <a:ext cx="137160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Concept / early stage</a:t>
            </a:r>
            <a:endParaRPr lang="en-US" sz="950" dirty="0"/>
          </a:p>
        </p:txBody>
      </p:sp>
      <p:sp>
        <p:nvSpPr>
          <p:cNvPr id="12" name="Shape 10"/>
          <p:cNvSpPr/>
          <p:nvPr/>
        </p:nvSpPr>
        <p:spPr>
          <a:xfrm>
            <a:off x="2514600" y="1426464"/>
            <a:ext cx="0" cy="4974336"/>
          </a:xfrm>
          <a:prstGeom prst="line">
            <a:avLst/>
          </a:prstGeom>
          <a:noFill/>
          <a:ln w="9525">
            <a:solidFill>
              <a:srgbClr val="E3E9EF"/>
            </a:solidFill>
            <a:prstDash val="solid"/>
          </a:ln>
        </p:spPr>
        <p:txBody>
          <a:bodyPr/>
          <a:lstStyle/>
          <a:p>
            <a:endParaRPr lang="en-GB"/>
          </a:p>
        </p:txBody>
      </p:sp>
      <p:sp>
        <p:nvSpPr>
          <p:cNvPr id="13" name="Text 11"/>
          <p:cNvSpPr/>
          <p:nvPr/>
        </p:nvSpPr>
        <p:spPr>
          <a:xfrm>
            <a:off x="219456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2026</a:t>
            </a:r>
            <a:endParaRPr lang="en-US" sz="950" dirty="0"/>
          </a:p>
        </p:txBody>
      </p:sp>
      <p:sp>
        <p:nvSpPr>
          <p:cNvPr id="14" name="Shape 12"/>
          <p:cNvSpPr/>
          <p:nvPr/>
        </p:nvSpPr>
        <p:spPr>
          <a:xfrm>
            <a:off x="3972827" y="1426464"/>
            <a:ext cx="0" cy="4974336"/>
          </a:xfrm>
          <a:prstGeom prst="line">
            <a:avLst/>
          </a:prstGeom>
          <a:noFill/>
          <a:ln w="9525">
            <a:solidFill>
              <a:srgbClr val="E3E9EF"/>
            </a:solidFill>
            <a:prstDash val="solid"/>
          </a:ln>
        </p:spPr>
        <p:txBody>
          <a:bodyPr/>
          <a:lstStyle/>
          <a:p>
            <a:endParaRPr lang="en-GB"/>
          </a:p>
        </p:txBody>
      </p:sp>
      <p:sp>
        <p:nvSpPr>
          <p:cNvPr id="15" name="Text 13"/>
          <p:cNvSpPr/>
          <p:nvPr/>
        </p:nvSpPr>
        <p:spPr>
          <a:xfrm>
            <a:off x="3652787"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2029</a:t>
            </a:r>
            <a:endParaRPr lang="en-US" sz="950" dirty="0"/>
          </a:p>
        </p:txBody>
      </p:sp>
      <p:sp>
        <p:nvSpPr>
          <p:cNvPr id="16" name="Shape 14"/>
          <p:cNvSpPr/>
          <p:nvPr/>
        </p:nvSpPr>
        <p:spPr>
          <a:xfrm>
            <a:off x="5431055" y="1426464"/>
            <a:ext cx="0" cy="4974336"/>
          </a:xfrm>
          <a:prstGeom prst="line">
            <a:avLst/>
          </a:prstGeom>
          <a:noFill/>
          <a:ln w="9525">
            <a:solidFill>
              <a:srgbClr val="E3E9EF"/>
            </a:solidFill>
            <a:prstDash val="solid"/>
          </a:ln>
        </p:spPr>
        <p:txBody>
          <a:bodyPr/>
          <a:lstStyle/>
          <a:p>
            <a:endParaRPr lang="en-GB"/>
          </a:p>
        </p:txBody>
      </p:sp>
      <p:sp>
        <p:nvSpPr>
          <p:cNvPr id="17" name="Text 15"/>
          <p:cNvSpPr/>
          <p:nvPr/>
        </p:nvSpPr>
        <p:spPr>
          <a:xfrm>
            <a:off x="5111015"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2032</a:t>
            </a:r>
            <a:endParaRPr lang="en-US" sz="950" dirty="0"/>
          </a:p>
        </p:txBody>
      </p:sp>
      <p:sp>
        <p:nvSpPr>
          <p:cNvPr id="18" name="Shape 16"/>
          <p:cNvSpPr/>
          <p:nvPr/>
        </p:nvSpPr>
        <p:spPr>
          <a:xfrm>
            <a:off x="6889282" y="1426464"/>
            <a:ext cx="0" cy="4974336"/>
          </a:xfrm>
          <a:prstGeom prst="line">
            <a:avLst/>
          </a:prstGeom>
          <a:noFill/>
          <a:ln w="9525">
            <a:solidFill>
              <a:srgbClr val="E3E9EF"/>
            </a:solidFill>
            <a:prstDash val="solid"/>
          </a:ln>
        </p:spPr>
        <p:txBody>
          <a:bodyPr/>
          <a:lstStyle/>
          <a:p>
            <a:endParaRPr lang="en-GB"/>
          </a:p>
        </p:txBody>
      </p:sp>
      <p:sp>
        <p:nvSpPr>
          <p:cNvPr id="19" name="Text 17"/>
          <p:cNvSpPr/>
          <p:nvPr/>
        </p:nvSpPr>
        <p:spPr>
          <a:xfrm>
            <a:off x="6569242"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2035</a:t>
            </a:r>
            <a:endParaRPr lang="en-US" sz="950" dirty="0"/>
          </a:p>
        </p:txBody>
      </p:sp>
      <p:sp>
        <p:nvSpPr>
          <p:cNvPr id="20" name="Shape 18"/>
          <p:cNvSpPr/>
          <p:nvPr/>
        </p:nvSpPr>
        <p:spPr>
          <a:xfrm>
            <a:off x="8347509" y="1426464"/>
            <a:ext cx="0" cy="4974336"/>
          </a:xfrm>
          <a:prstGeom prst="line">
            <a:avLst/>
          </a:prstGeom>
          <a:noFill/>
          <a:ln w="9525">
            <a:solidFill>
              <a:srgbClr val="E3E9EF"/>
            </a:solidFill>
            <a:prstDash val="solid"/>
          </a:ln>
        </p:spPr>
        <p:txBody>
          <a:bodyPr/>
          <a:lstStyle/>
          <a:p>
            <a:endParaRPr lang="en-GB"/>
          </a:p>
        </p:txBody>
      </p:sp>
      <p:sp>
        <p:nvSpPr>
          <p:cNvPr id="21" name="Text 19"/>
          <p:cNvSpPr/>
          <p:nvPr/>
        </p:nvSpPr>
        <p:spPr>
          <a:xfrm>
            <a:off x="8027469"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2038</a:t>
            </a:r>
            <a:endParaRPr lang="en-US" sz="950" dirty="0"/>
          </a:p>
        </p:txBody>
      </p:sp>
      <p:sp>
        <p:nvSpPr>
          <p:cNvPr id="22" name="Shape 20"/>
          <p:cNvSpPr/>
          <p:nvPr/>
        </p:nvSpPr>
        <p:spPr>
          <a:xfrm>
            <a:off x="9805737" y="1426464"/>
            <a:ext cx="0" cy="4974336"/>
          </a:xfrm>
          <a:prstGeom prst="line">
            <a:avLst/>
          </a:prstGeom>
          <a:noFill/>
          <a:ln w="9525">
            <a:solidFill>
              <a:srgbClr val="E3E9EF"/>
            </a:solidFill>
            <a:prstDash val="solid"/>
          </a:ln>
        </p:spPr>
        <p:txBody>
          <a:bodyPr/>
          <a:lstStyle/>
          <a:p>
            <a:endParaRPr lang="en-GB"/>
          </a:p>
        </p:txBody>
      </p:sp>
      <p:sp>
        <p:nvSpPr>
          <p:cNvPr id="23" name="Text 21"/>
          <p:cNvSpPr/>
          <p:nvPr/>
        </p:nvSpPr>
        <p:spPr>
          <a:xfrm>
            <a:off x="9485697"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2041</a:t>
            </a:r>
            <a:endParaRPr lang="en-US" sz="950" dirty="0"/>
          </a:p>
        </p:txBody>
      </p:sp>
      <p:sp>
        <p:nvSpPr>
          <p:cNvPr id="24" name="Shape 22"/>
          <p:cNvSpPr/>
          <p:nvPr/>
        </p:nvSpPr>
        <p:spPr>
          <a:xfrm>
            <a:off x="11750040" y="1426464"/>
            <a:ext cx="0" cy="4974336"/>
          </a:xfrm>
          <a:prstGeom prst="line">
            <a:avLst/>
          </a:prstGeom>
          <a:noFill/>
          <a:ln w="9525">
            <a:solidFill>
              <a:srgbClr val="E3E9EF"/>
            </a:solidFill>
            <a:prstDash val="solid"/>
          </a:ln>
        </p:spPr>
        <p:txBody>
          <a:bodyPr/>
          <a:lstStyle/>
          <a:p>
            <a:endParaRPr lang="en-GB"/>
          </a:p>
        </p:txBody>
      </p:sp>
      <p:sp>
        <p:nvSpPr>
          <p:cNvPr id="25" name="Text 23"/>
          <p:cNvSpPr/>
          <p:nvPr/>
        </p:nvSpPr>
        <p:spPr>
          <a:xfrm>
            <a:off x="1143000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2045+</a:t>
            </a:r>
            <a:endParaRPr lang="en-US" sz="950" dirty="0"/>
          </a:p>
        </p:txBody>
      </p:sp>
      <p:sp>
        <p:nvSpPr>
          <p:cNvPr id="26" name="Shape 24"/>
          <p:cNvSpPr/>
          <p:nvPr/>
        </p:nvSpPr>
        <p:spPr>
          <a:xfrm>
            <a:off x="365760" y="1426464"/>
            <a:ext cx="2011680" cy="4974336"/>
          </a:xfrm>
          <a:prstGeom prst="rect">
            <a:avLst/>
          </a:prstGeom>
          <a:solidFill>
            <a:srgbClr val="FFFFFF"/>
          </a:solidFill>
          <a:ln/>
        </p:spPr>
        <p:txBody>
          <a:bodyPr/>
          <a:lstStyle/>
          <a:p>
            <a:endParaRPr lang="en-GB"/>
          </a:p>
        </p:txBody>
      </p:sp>
      <p:sp>
        <p:nvSpPr>
          <p:cNvPr id="27" name="Shape 25"/>
          <p:cNvSpPr/>
          <p:nvPr/>
        </p:nvSpPr>
        <p:spPr>
          <a:xfrm>
            <a:off x="365760" y="1481328"/>
            <a:ext cx="11795760" cy="1078992"/>
          </a:xfrm>
          <a:prstGeom prst="rect">
            <a:avLst/>
          </a:prstGeom>
          <a:solidFill>
            <a:srgbClr val="F7FAFC"/>
          </a:solidFill>
          <a:ln/>
        </p:spPr>
        <p:txBody>
          <a:bodyPr/>
          <a:lstStyle/>
          <a:p>
            <a:endParaRPr lang="en-GB"/>
          </a:p>
        </p:txBody>
      </p:sp>
      <p:sp>
        <p:nvSpPr>
          <p:cNvPr id="28" name="Shape 26"/>
          <p:cNvSpPr/>
          <p:nvPr/>
        </p:nvSpPr>
        <p:spPr>
          <a:xfrm>
            <a:off x="457200" y="1801368"/>
            <a:ext cx="438912" cy="438912"/>
          </a:xfrm>
          <a:prstGeom prst="ellipse">
            <a:avLst/>
          </a:prstGeom>
          <a:solidFill>
            <a:srgbClr val="1B3358"/>
          </a:solidFill>
          <a:ln/>
        </p:spPr>
        <p:txBody>
          <a:bodyPr/>
          <a:lstStyle/>
          <a:p>
            <a:endParaRPr lang="en-GB"/>
          </a:p>
        </p:txBody>
      </p:sp>
      <p:pic>
        <p:nvPicPr>
          <p:cNvPr id="29" name="Image 0" descr="preencoded.png"/>
          <p:cNvPicPr>
            <a:picLocks noChangeAspect="1"/>
          </p:cNvPicPr>
          <p:nvPr/>
        </p:nvPicPr>
        <p:blipFill>
          <a:blip r:embed="rId3"/>
          <a:stretch>
            <a:fillRect/>
          </a:stretch>
        </p:blipFill>
        <p:spPr>
          <a:xfrm>
            <a:off x="548640" y="1892808"/>
            <a:ext cx="256032" cy="256032"/>
          </a:xfrm>
          <a:prstGeom prst="rect">
            <a:avLst/>
          </a:prstGeom>
        </p:spPr>
      </p:pic>
      <p:sp>
        <p:nvSpPr>
          <p:cNvPr id="30" name="Text 27"/>
          <p:cNvSpPr/>
          <p:nvPr/>
        </p:nvSpPr>
        <p:spPr>
          <a:xfrm>
            <a:off x="1005840" y="1591056"/>
            <a:ext cx="1417320" cy="512064"/>
          </a:xfrm>
          <a:prstGeom prst="rect">
            <a:avLst/>
          </a:prstGeom>
          <a:noFill/>
          <a:ln/>
        </p:spPr>
        <p:txBody>
          <a:bodyPr wrap="square" lIns="0" tIns="0" rIns="0" bIns="0" rtlCol="0" anchor="t"/>
          <a:lstStyle/>
          <a:p>
            <a:pPr marL="0" indent="0">
              <a:lnSpc>
                <a:spcPct val="98000"/>
              </a:lnSpc>
              <a:buNone/>
            </a:pPr>
            <a:r>
              <a:rPr lang="en-US" sz="1150" b="1" dirty="0">
                <a:solidFill>
                  <a:srgbClr val="12233D"/>
                </a:solidFill>
                <a:latin typeface="Calibri" pitchFamily="34" charset="0"/>
                <a:ea typeface="Calibri" pitchFamily="34" charset="-122"/>
                <a:cs typeface="Calibri" pitchFamily="34" charset="-120"/>
              </a:rPr>
              <a:t>Existing Fleet — Forsmark &amp; Ringhals LTO</a:t>
            </a:r>
            <a:endParaRPr lang="en-US" sz="1150" dirty="0"/>
          </a:p>
        </p:txBody>
      </p:sp>
      <p:sp>
        <p:nvSpPr>
          <p:cNvPr id="31" name="Text 28"/>
          <p:cNvSpPr/>
          <p:nvPr/>
        </p:nvSpPr>
        <p:spPr>
          <a:xfrm>
            <a:off x="1005840" y="2103120"/>
            <a:ext cx="1417320" cy="420624"/>
          </a:xfrm>
          <a:prstGeom prst="rect">
            <a:avLst/>
          </a:prstGeom>
          <a:noFill/>
          <a:ln/>
        </p:spPr>
        <p:txBody>
          <a:bodyPr wrap="square" lIns="0" tIns="0" rIns="0" bIns="0" rtlCol="0" anchor="b"/>
          <a:lstStyle/>
          <a:p>
            <a:pPr marL="0" indent="0">
              <a:lnSpc>
                <a:spcPct val="98000"/>
              </a:lnSpc>
              <a:buNone/>
            </a:pPr>
            <a:r>
              <a:rPr lang="en-US" sz="730" i="1" dirty="0">
                <a:solidFill>
                  <a:srgbClr val="5B6B7C"/>
                </a:solidFill>
                <a:latin typeface="Calibri" pitchFamily="34" charset="0"/>
                <a:ea typeface="Calibri" pitchFamily="34" charset="-122"/>
                <a:cs typeface="Calibri" pitchFamily="34" charset="-120"/>
              </a:rPr>
              <a:t>6 reactors, ~30% of SE electricity · Vattenfall · Uniper · Fortum · SSM</a:t>
            </a:r>
            <a:endParaRPr lang="en-US" sz="730" dirty="0"/>
          </a:p>
        </p:txBody>
      </p:sp>
      <p:sp>
        <p:nvSpPr>
          <p:cNvPr id="32" name="Shape 29"/>
          <p:cNvSpPr/>
          <p:nvPr/>
        </p:nvSpPr>
        <p:spPr>
          <a:xfrm>
            <a:off x="2514600" y="2020824"/>
            <a:ext cx="9235440" cy="0"/>
          </a:xfrm>
          <a:prstGeom prst="line">
            <a:avLst/>
          </a:prstGeom>
          <a:noFill/>
          <a:ln w="6350">
            <a:solidFill>
              <a:srgbClr val="E3E9EF"/>
            </a:solidFill>
            <a:prstDash val="dash"/>
          </a:ln>
        </p:spPr>
        <p:txBody>
          <a:bodyPr/>
          <a:lstStyle/>
          <a:p>
            <a:endParaRPr lang="en-GB"/>
          </a:p>
        </p:txBody>
      </p:sp>
      <p:sp>
        <p:nvSpPr>
          <p:cNvPr id="33" name="Shape 30"/>
          <p:cNvSpPr/>
          <p:nvPr/>
        </p:nvSpPr>
        <p:spPr>
          <a:xfrm>
            <a:off x="2514600" y="1901952"/>
            <a:ext cx="9235440" cy="237744"/>
          </a:xfrm>
          <a:prstGeom prst="roundRect">
            <a:avLst>
              <a:gd name="adj" fmla="val 19231"/>
            </a:avLst>
          </a:prstGeom>
          <a:solidFill>
            <a:srgbClr val="1E8E5A"/>
          </a:solidFill>
          <a:ln/>
        </p:spPr>
        <p:txBody>
          <a:bodyPr/>
          <a:lstStyle/>
          <a:p>
            <a:endParaRPr lang="en-GB"/>
          </a:p>
        </p:txBody>
      </p:sp>
      <p:sp>
        <p:nvSpPr>
          <p:cNvPr id="34" name="Shape 31"/>
          <p:cNvSpPr/>
          <p:nvPr/>
        </p:nvSpPr>
        <p:spPr>
          <a:xfrm>
            <a:off x="2698202" y="1961388"/>
            <a:ext cx="118872" cy="118872"/>
          </a:xfrm>
          <a:prstGeom prst="diamond">
            <a:avLst/>
          </a:prstGeom>
          <a:solidFill>
            <a:srgbClr val="FFFFFF"/>
          </a:solidFill>
          <a:ln w="21590">
            <a:solidFill>
              <a:srgbClr val="1E8E5A"/>
            </a:solidFill>
            <a:prstDash val="solid"/>
          </a:ln>
        </p:spPr>
        <p:txBody>
          <a:bodyPr/>
          <a:lstStyle/>
          <a:p>
            <a:endParaRPr lang="en-GB"/>
          </a:p>
        </p:txBody>
      </p:sp>
      <p:sp>
        <p:nvSpPr>
          <p:cNvPr id="35" name="Text 32"/>
          <p:cNvSpPr/>
          <p:nvPr/>
        </p:nvSpPr>
        <p:spPr>
          <a:xfrm>
            <a:off x="2148840" y="1591056"/>
            <a:ext cx="2468880" cy="237744"/>
          </a:xfrm>
          <a:prstGeom prst="rect">
            <a:avLst/>
          </a:prstGeom>
          <a:noFill/>
          <a:ln/>
        </p:spPr>
        <p:txBody>
          <a:bodyPr wrap="square" lIns="0" tIns="0" rIns="0" bIns="0" rtlCol="0" anchor="ctr"/>
          <a:lstStyle/>
          <a:p>
            <a:pPr marL="0" indent="0" algn="ctr">
              <a:buNone/>
            </a:pPr>
            <a:r>
              <a:rPr lang="en-US" sz="780" b="1" dirty="0">
                <a:solidFill>
                  <a:srgbClr val="1E8E5A"/>
                </a:solidFill>
                <a:latin typeface="Calibri" pitchFamily="34" charset="0"/>
                <a:ea typeface="Calibri" pitchFamily="34" charset="-122"/>
                <a:cs typeface="Calibri" pitchFamily="34" charset="-120"/>
              </a:rPr>
              <a:t>60→80-year life extension studies underway</a:t>
            </a:r>
            <a:endParaRPr lang="en-US" sz="780" dirty="0"/>
          </a:p>
        </p:txBody>
      </p:sp>
      <p:sp>
        <p:nvSpPr>
          <p:cNvPr id="36" name="Shape 33"/>
          <p:cNvSpPr/>
          <p:nvPr/>
        </p:nvSpPr>
        <p:spPr>
          <a:xfrm>
            <a:off x="9260225" y="1961388"/>
            <a:ext cx="118872" cy="118872"/>
          </a:xfrm>
          <a:prstGeom prst="diamond">
            <a:avLst/>
          </a:prstGeom>
          <a:solidFill>
            <a:srgbClr val="FFFFFF"/>
          </a:solidFill>
          <a:ln w="21590">
            <a:solidFill>
              <a:srgbClr val="1E8E5A"/>
            </a:solidFill>
            <a:prstDash val="solid"/>
          </a:ln>
        </p:spPr>
        <p:txBody>
          <a:bodyPr/>
          <a:lstStyle/>
          <a:p>
            <a:endParaRPr lang="en-GB"/>
          </a:p>
        </p:txBody>
      </p:sp>
      <p:sp>
        <p:nvSpPr>
          <p:cNvPr id="37" name="Text 34"/>
          <p:cNvSpPr/>
          <p:nvPr/>
        </p:nvSpPr>
        <p:spPr>
          <a:xfrm>
            <a:off x="8085221" y="2267712"/>
            <a:ext cx="2468880" cy="237744"/>
          </a:xfrm>
          <a:prstGeom prst="rect">
            <a:avLst/>
          </a:prstGeom>
          <a:noFill/>
          <a:ln/>
        </p:spPr>
        <p:txBody>
          <a:bodyPr wrap="square" lIns="0" tIns="0" rIns="0" bIns="0" rtlCol="0" anchor="ctr"/>
          <a:lstStyle/>
          <a:p>
            <a:pPr marL="0" indent="0" algn="ctr">
              <a:buNone/>
            </a:pPr>
            <a:r>
              <a:rPr lang="en-US" sz="780" b="1" dirty="0">
                <a:solidFill>
                  <a:srgbClr val="1E8E5A"/>
                </a:solidFill>
                <a:latin typeface="Calibri" pitchFamily="34" charset="0"/>
                <a:ea typeface="Calibri" pitchFamily="34" charset="-122"/>
                <a:cs typeface="Calibri" pitchFamily="34" charset="-120"/>
              </a:rPr>
              <a:t>Reactors remain in long-term use to 2040s</a:t>
            </a:r>
            <a:endParaRPr lang="en-US" sz="780" dirty="0"/>
          </a:p>
        </p:txBody>
      </p:sp>
      <p:sp>
        <p:nvSpPr>
          <p:cNvPr id="38" name="Shape 35"/>
          <p:cNvSpPr/>
          <p:nvPr/>
        </p:nvSpPr>
        <p:spPr>
          <a:xfrm>
            <a:off x="457200" y="3063240"/>
            <a:ext cx="438912" cy="438912"/>
          </a:xfrm>
          <a:prstGeom prst="ellipse">
            <a:avLst/>
          </a:prstGeom>
          <a:solidFill>
            <a:srgbClr val="1B3358"/>
          </a:solidFill>
          <a:ln/>
        </p:spPr>
        <p:txBody>
          <a:bodyPr/>
          <a:lstStyle/>
          <a:p>
            <a:endParaRPr lang="en-GB"/>
          </a:p>
        </p:txBody>
      </p:sp>
      <p:pic>
        <p:nvPicPr>
          <p:cNvPr id="39" name="Image 1" descr="preencoded.png"/>
          <p:cNvPicPr>
            <a:picLocks noChangeAspect="1"/>
          </p:cNvPicPr>
          <p:nvPr/>
        </p:nvPicPr>
        <p:blipFill>
          <a:blip r:embed="rId4"/>
          <a:stretch>
            <a:fillRect/>
          </a:stretch>
        </p:blipFill>
        <p:spPr>
          <a:xfrm>
            <a:off x="548640" y="3154680"/>
            <a:ext cx="256032" cy="256032"/>
          </a:xfrm>
          <a:prstGeom prst="rect">
            <a:avLst/>
          </a:prstGeom>
        </p:spPr>
      </p:pic>
      <p:sp>
        <p:nvSpPr>
          <p:cNvPr id="40" name="Text 36"/>
          <p:cNvSpPr/>
          <p:nvPr/>
        </p:nvSpPr>
        <p:spPr>
          <a:xfrm>
            <a:off x="1005840" y="2852928"/>
            <a:ext cx="1417320" cy="512064"/>
          </a:xfrm>
          <a:prstGeom prst="rect">
            <a:avLst/>
          </a:prstGeom>
          <a:noFill/>
          <a:ln/>
        </p:spPr>
        <p:txBody>
          <a:bodyPr wrap="square" lIns="0" tIns="0" rIns="0" bIns="0" rtlCol="0" anchor="t"/>
          <a:lstStyle/>
          <a:p>
            <a:pPr marL="0" indent="0">
              <a:lnSpc>
                <a:spcPct val="98000"/>
              </a:lnSpc>
              <a:buNone/>
            </a:pPr>
            <a:r>
              <a:rPr lang="en-US" sz="1150" b="1" dirty="0">
                <a:solidFill>
                  <a:srgbClr val="12233D"/>
                </a:solidFill>
                <a:latin typeface="Calibri" pitchFamily="34" charset="0"/>
                <a:ea typeface="Calibri" pitchFamily="34" charset="-122"/>
                <a:cs typeface="Calibri" pitchFamily="34" charset="-120"/>
              </a:rPr>
              <a:t>Videberg Kraft — Ringhals/Värö SMR</a:t>
            </a:r>
            <a:endParaRPr lang="en-US" sz="1150" dirty="0"/>
          </a:p>
        </p:txBody>
      </p:sp>
      <p:sp>
        <p:nvSpPr>
          <p:cNvPr id="41" name="Text 37"/>
          <p:cNvSpPr/>
          <p:nvPr/>
        </p:nvSpPr>
        <p:spPr>
          <a:xfrm>
            <a:off x="1005840" y="3364992"/>
            <a:ext cx="1417320" cy="420624"/>
          </a:xfrm>
          <a:prstGeom prst="rect">
            <a:avLst/>
          </a:prstGeom>
          <a:noFill/>
          <a:ln/>
        </p:spPr>
        <p:txBody>
          <a:bodyPr wrap="square" lIns="0" tIns="0" rIns="0" bIns="0" rtlCol="0" anchor="b"/>
          <a:lstStyle/>
          <a:p>
            <a:pPr marL="0" indent="0">
              <a:lnSpc>
                <a:spcPct val="98000"/>
              </a:lnSpc>
              <a:buNone/>
            </a:pPr>
            <a:r>
              <a:rPr lang="en-US" sz="730" i="1" dirty="0">
                <a:solidFill>
                  <a:srgbClr val="5B6B7C"/>
                </a:solidFill>
                <a:latin typeface="Calibri" pitchFamily="34" charset="0"/>
                <a:ea typeface="Calibri" pitchFamily="34" charset="-122"/>
                <a:cs typeface="Calibri" pitchFamily="34" charset="-120"/>
              </a:rPr>
              <a:t>3 × 470 MWe (~1.5 GW) · Vattenfall · Industrikraft · Rolls-Royce SMR</a:t>
            </a:r>
            <a:endParaRPr lang="en-US" sz="730" dirty="0"/>
          </a:p>
        </p:txBody>
      </p:sp>
      <p:sp>
        <p:nvSpPr>
          <p:cNvPr id="42" name="Shape 38"/>
          <p:cNvSpPr/>
          <p:nvPr/>
        </p:nvSpPr>
        <p:spPr>
          <a:xfrm>
            <a:off x="2514600" y="3282696"/>
            <a:ext cx="9235440" cy="0"/>
          </a:xfrm>
          <a:prstGeom prst="line">
            <a:avLst/>
          </a:prstGeom>
          <a:noFill/>
          <a:ln w="6350">
            <a:solidFill>
              <a:srgbClr val="E3E9EF"/>
            </a:solidFill>
            <a:prstDash val="dash"/>
          </a:ln>
        </p:spPr>
        <p:txBody>
          <a:bodyPr/>
          <a:lstStyle/>
          <a:p>
            <a:endParaRPr lang="en-GB"/>
          </a:p>
        </p:txBody>
      </p:sp>
      <p:sp>
        <p:nvSpPr>
          <p:cNvPr id="43" name="Shape 39"/>
          <p:cNvSpPr/>
          <p:nvPr/>
        </p:nvSpPr>
        <p:spPr>
          <a:xfrm>
            <a:off x="2514600" y="3163824"/>
            <a:ext cx="218734" cy="237744"/>
          </a:xfrm>
          <a:prstGeom prst="roundRect">
            <a:avLst>
              <a:gd name="adj" fmla="val 20902"/>
            </a:avLst>
          </a:prstGeom>
          <a:solidFill>
            <a:srgbClr val="C77B17"/>
          </a:solidFill>
          <a:ln/>
        </p:spPr>
        <p:txBody>
          <a:bodyPr/>
          <a:lstStyle/>
          <a:p>
            <a:endParaRPr lang="en-GB"/>
          </a:p>
        </p:txBody>
      </p:sp>
      <p:sp>
        <p:nvSpPr>
          <p:cNvPr id="44" name="Shape 40"/>
          <p:cNvSpPr/>
          <p:nvPr/>
        </p:nvSpPr>
        <p:spPr>
          <a:xfrm>
            <a:off x="2733334" y="3163824"/>
            <a:ext cx="2697721" cy="237744"/>
          </a:xfrm>
          <a:prstGeom prst="roundRect">
            <a:avLst>
              <a:gd name="adj" fmla="val 19231"/>
            </a:avLst>
          </a:prstGeom>
          <a:solidFill>
            <a:srgbClr val="1E8E5A"/>
          </a:solidFill>
          <a:ln/>
        </p:spPr>
        <p:txBody>
          <a:bodyPr/>
          <a:lstStyle/>
          <a:p>
            <a:endParaRPr lang="en-GB"/>
          </a:p>
        </p:txBody>
      </p:sp>
      <p:sp>
        <p:nvSpPr>
          <p:cNvPr id="45" name="Shape 41"/>
          <p:cNvSpPr/>
          <p:nvPr/>
        </p:nvSpPr>
        <p:spPr>
          <a:xfrm>
            <a:off x="2673898" y="3223260"/>
            <a:ext cx="118872" cy="118872"/>
          </a:xfrm>
          <a:prstGeom prst="diamond">
            <a:avLst/>
          </a:prstGeom>
          <a:solidFill>
            <a:srgbClr val="FFFFFF"/>
          </a:solidFill>
          <a:ln w="21590">
            <a:solidFill>
              <a:srgbClr val="1E8E5A"/>
            </a:solidFill>
            <a:prstDash val="solid"/>
          </a:ln>
        </p:spPr>
        <p:txBody>
          <a:bodyPr/>
          <a:lstStyle/>
          <a:p>
            <a:endParaRPr lang="en-GB"/>
          </a:p>
        </p:txBody>
      </p:sp>
      <p:sp>
        <p:nvSpPr>
          <p:cNvPr id="46" name="Text 42"/>
          <p:cNvSpPr/>
          <p:nvPr/>
        </p:nvSpPr>
        <p:spPr>
          <a:xfrm>
            <a:off x="2148840" y="2852928"/>
            <a:ext cx="2468880" cy="237744"/>
          </a:xfrm>
          <a:prstGeom prst="rect">
            <a:avLst/>
          </a:prstGeom>
          <a:noFill/>
          <a:ln/>
        </p:spPr>
        <p:txBody>
          <a:bodyPr wrap="square" lIns="0" tIns="0" rIns="0" bIns="0" rtlCol="0" anchor="ctr"/>
          <a:lstStyle/>
          <a:p>
            <a:pPr marL="0" indent="0" algn="ctr">
              <a:buNone/>
            </a:pPr>
            <a:r>
              <a:rPr lang="en-US" sz="780" b="1" dirty="0">
                <a:solidFill>
                  <a:srgbClr val="1E8E5A"/>
                </a:solidFill>
                <a:latin typeface="Calibri" pitchFamily="34" charset="0"/>
                <a:ea typeface="Calibri" pitchFamily="34" charset="-122"/>
                <a:cs typeface="Calibri" pitchFamily="34" charset="-120"/>
              </a:rPr>
              <a:t>Rolls-Royce SMR selected, 15 Jun-26</a:t>
            </a:r>
            <a:endParaRPr lang="en-US" sz="780" dirty="0"/>
          </a:p>
        </p:txBody>
      </p:sp>
      <p:sp>
        <p:nvSpPr>
          <p:cNvPr id="47" name="Shape 43"/>
          <p:cNvSpPr/>
          <p:nvPr/>
        </p:nvSpPr>
        <p:spPr>
          <a:xfrm>
            <a:off x="5371619" y="3223260"/>
            <a:ext cx="118872" cy="118872"/>
          </a:xfrm>
          <a:prstGeom prst="diamond">
            <a:avLst/>
          </a:prstGeom>
          <a:solidFill>
            <a:srgbClr val="FFFFFF"/>
          </a:solidFill>
          <a:ln w="21590">
            <a:solidFill>
              <a:srgbClr val="1E8E5A"/>
            </a:solidFill>
            <a:prstDash val="solid"/>
          </a:ln>
        </p:spPr>
        <p:txBody>
          <a:bodyPr/>
          <a:lstStyle/>
          <a:p>
            <a:endParaRPr lang="en-GB"/>
          </a:p>
        </p:txBody>
      </p:sp>
      <p:sp>
        <p:nvSpPr>
          <p:cNvPr id="48" name="Text 44"/>
          <p:cNvSpPr/>
          <p:nvPr/>
        </p:nvSpPr>
        <p:spPr>
          <a:xfrm>
            <a:off x="4196615" y="3529584"/>
            <a:ext cx="2468880" cy="237744"/>
          </a:xfrm>
          <a:prstGeom prst="rect">
            <a:avLst/>
          </a:prstGeom>
          <a:noFill/>
          <a:ln/>
        </p:spPr>
        <p:txBody>
          <a:bodyPr wrap="square" lIns="0" tIns="0" rIns="0" bIns="0" rtlCol="0" anchor="ctr"/>
          <a:lstStyle/>
          <a:p>
            <a:pPr marL="0" indent="0" algn="ctr">
              <a:buNone/>
            </a:pPr>
            <a:r>
              <a:rPr lang="en-US" sz="780" b="1" dirty="0">
                <a:solidFill>
                  <a:srgbClr val="1E8E5A"/>
                </a:solidFill>
                <a:latin typeface="Calibri" pitchFamily="34" charset="0"/>
                <a:ea typeface="Calibri" pitchFamily="34" charset="-122"/>
                <a:cs typeface="Calibri" pitchFamily="34" charset="-120"/>
              </a:rPr>
              <a:t>First reactor targeted early 2030s</a:t>
            </a:r>
            <a:endParaRPr lang="en-US" sz="780" dirty="0"/>
          </a:p>
        </p:txBody>
      </p:sp>
      <p:sp>
        <p:nvSpPr>
          <p:cNvPr id="49" name="Shape 45"/>
          <p:cNvSpPr/>
          <p:nvPr/>
        </p:nvSpPr>
        <p:spPr>
          <a:xfrm>
            <a:off x="365760" y="4005072"/>
            <a:ext cx="11795760" cy="1078992"/>
          </a:xfrm>
          <a:prstGeom prst="rect">
            <a:avLst/>
          </a:prstGeom>
          <a:solidFill>
            <a:srgbClr val="F7FAFC"/>
          </a:solidFill>
          <a:ln/>
        </p:spPr>
        <p:txBody>
          <a:bodyPr/>
          <a:lstStyle/>
          <a:p>
            <a:endParaRPr lang="en-GB"/>
          </a:p>
        </p:txBody>
      </p:sp>
      <p:sp>
        <p:nvSpPr>
          <p:cNvPr id="50" name="Shape 46"/>
          <p:cNvSpPr/>
          <p:nvPr/>
        </p:nvSpPr>
        <p:spPr>
          <a:xfrm>
            <a:off x="457200" y="4325112"/>
            <a:ext cx="438912" cy="438912"/>
          </a:xfrm>
          <a:prstGeom prst="ellipse">
            <a:avLst/>
          </a:prstGeom>
          <a:solidFill>
            <a:srgbClr val="1B3358"/>
          </a:solidFill>
          <a:ln/>
        </p:spPr>
        <p:txBody>
          <a:bodyPr/>
          <a:lstStyle/>
          <a:p>
            <a:endParaRPr lang="en-GB"/>
          </a:p>
        </p:txBody>
      </p:sp>
      <p:pic>
        <p:nvPicPr>
          <p:cNvPr id="51" name="Image 2" descr="preencoded.png"/>
          <p:cNvPicPr>
            <a:picLocks noChangeAspect="1"/>
          </p:cNvPicPr>
          <p:nvPr/>
        </p:nvPicPr>
        <p:blipFill>
          <a:blip r:embed="rId5"/>
          <a:stretch>
            <a:fillRect/>
          </a:stretch>
        </p:blipFill>
        <p:spPr>
          <a:xfrm>
            <a:off x="548640" y="4416552"/>
            <a:ext cx="256032" cy="256032"/>
          </a:xfrm>
          <a:prstGeom prst="rect">
            <a:avLst/>
          </a:prstGeom>
        </p:spPr>
      </p:pic>
      <p:sp>
        <p:nvSpPr>
          <p:cNvPr id="52" name="Text 47"/>
          <p:cNvSpPr/>
          <p:nvPr/>
        </p:nvSpPr>
        <p:spPr>
          <a:xfrm>
            <a:off x="1005840" y="4114800"/>
            <a:ext cx="1417320" cy="512064"/>
          </a:xfrm>
          <a:prstGeom prst="rect">
            <a:avLst/>
          </a:prstGeom>
          <a:noFill/>
          <a:ln/>
        </p:spPr>
        <p:txBody>
          <a:bodyPr wrap="square" lIns="0" tIns="0" rIns="0" bIns="0" rtlCol="0" anchor="t"/>
          <a:lstStyle/>
          <a:p>
            <a:pPr marL="0" indent="0">
              <a:lnSpc>
                <a:spcPct val="98000"/>
              </a:lnSpc>
              <a:buNone/>
            </a:pPr>
            <a:r>
              <a:rPr lang="en-US" sz="1150" b="1" dirty="0">
                <a:solidFill>
                  <a:srgbClr val="12233D"/>
                </a:solidFill>
                <a:latin typeface="Calibri" pitchFamily="34" charset="0"/>
                <a:ea typeface="Calibri" pitchFamily="34" charset="-122"/>
                <a:cs typeface="Calibri" pitchFamily="34" charset="-120"/>
              </a:rPr>
              <a:t>Wider Municipal SMR Pipeline</a:t>
            </a:r>
            <a:endParaRPr lang="en-US" sz="1150" dirty="0"/>
          </a:p>
        </p:txBody>
      </p:sp>
      <p:sp>
        <p:nvSpPr>
          <p:cNvPr id="53" name="Text 48"/>
          <p:cNvSpPr/>
          <p:nvPr/>
        </p:nvSpPr>
        <p:spPr>
          <a:xfrm>
            <a:off x="1005840" y="4626864"/>
            <a:ext cx="1417320" cy="420624"/>
          </a:xfrm>
          <a:prstGeom prst="rect">
            <a:avLst/>
          </a:prstGeom>
          <a:noFill/>
          <a:ln/>
        </p:spPr>
        <p:txBody>
          <a:bodyPr wrap="square" lIns="0" tIns="0" rIns="0" bIns="0" rtlCol="0" anchor="b"/>
          <a:lstStyle/>
          <a:p>
            <a:pPr marL="0" indent="0">
              <a:lnSpc>
                <a:spcPct val="98000"/>
              </a:lnSpc>
              <a:buNone/>
            </a:pPr>
            <a:r>
              <a:rPr lang="en-US" sz="730" i="1" dirty="0">
                <a:solidFill>
                  <a:srgbClr val="5B6B7C"/>
                </a:solidFill>
                <a:latin typeface="Calibri" pitchFamily="34" charset="0"/>
                <a:ea typeface="Calibri" pitchFamily="34" charset="-122"/>
                <a:cs typeface="Calibri" pitchFamily="34" charset="-120"/>
              </a:rPr>
              <a:t>Studsvik · Kärnfull Next · Blykalla (Gävle) · 13 municipal feasibility studies</a:t>
            </a:r>
            <a:endParaRPr lang="en-US" sz="730" dirty="0"/>
          </a:p>
        </p:txBody>
      </p:sp>
      <p:sp>
        <p:nvSpPr>
          <p:cNvPr id="54" name="Shape 49"/>
          <p:cNvSpPr/>
          <p:nvPr/>
        </p:nvSpPr>
        <p:spPr>
          <a:xfrm>
            <a:off x="2514600" y="4544568"/>
            <a:ext cx="9235440" cy="0"/>
          </a:xfrm>
          <a:prstGeom prst="line">
            <a:avLst/>
          </a:prstGeom>
          <a:noFill/>
          <a:ln w="6350">
            <a:solidFill>
              <a:srgbClr val="E3E9EF"/>
            </a:solidFill>
            <a:prstDash val="dash"/>
          </a:ln>
        </p:spPr>
        <p:txBody>
          <a:bodyPr/>
          <a:lstStyle/>
          <a:p>
            <a:endParaRPr lang="en-GB"/>
          </a:p>
        </p:txBody>
      </p:sp>
      <p:sp>
        <p:nvSpPr>
          <p:cNvPr id="55" name="Shape 50"/>
          <p:cNvSpPr/>
          <p:nvPr/>
        </p:nvSpPr>
        <p:spPr>
          <a:xfrm>
            <a:off x="2514600" y="4425696"/>
            <a:ext cx="4374682" cy="237744"/>
          </a:xfrm>
          <a:prstGeom prst="roundRect">
            <a:avLst>
              <a:gd name="adj" fmla="val 19231"/>
            </a:avLst>
          </a:prstGeom>
          <a:solidFill>
            <a:srgbClr val="6B7785"/>
          </a:solidFill>
          <a:ln/>
        </p:spPr>
        <p:txBody>
          <a:bodyPr/>
          <a:lstStyle/>
          <a:p>
            <a:endParaRPr lang="en-GB"/>
          </a:p>
        </p:txBody>
      </p:sp>
      <p:sp>
        <p:nvSpPr>
          <p:cNvPr id="56" name="Shape 51"/>
          <p:cNvSpPr/>
          <p:nvPr/>
        </p:nvSpPr>
        <p:spPr>
          <a:xfrm>
            <a:off x="2600987" y="4485132"/>
            <a:ext cx="118872" cy="118872"/>
          </a:xfrm>
          <a:prstGeom prst="diamond">
            <a:avLst/>
          </a:prstGeom>
          <a:solidFill>
            <a:srgbClr val="FFFFFF"/>
          </a:solidFill>
          <a:ln w="21590">
            <a:solidFill>
              <a:srgbClr val="C77B17"/>
            </a:solidFill>
            <a:prstDash val="solid"/>
          </a:ln>
        </p:spPr>
        <p:txBody>
          <a:bodyPr/>
          <a:lstStyle/>
          <a:p>
            <a:endParaRPr lang="en-GB"/>
          </a:p>
        </p:txBody>
      </p:sp>
      <p:sp>
        <p:nvSpPr>
          <p:cNvPr id="57" name="Text 52"/>
          <p:cNvSpPr/>
          <p:nvPr/>
        </p:nvSpPr>
        <p:spPr>
          <a:xfrm>
            <a:off x="2148840" y="4114800"/>
            <a:ext cx="2468880" cy="237744"/>
          </a:xfrm>
          <a:prstGeom prst="rect">
            <a:avLst/>
          </a:prstGeom>
          <a:noFill/>
          <a:ln/>
        </p:spPr>
        <p:txBody>
          <a:bodyPr wrap="square" lIns="0" tIns="0" rIns="0" bIns="0" rtlCol="0" anchor="ctr"/>
          <a:lstStyle/>
          <a:p>
            <a:pPr marL="0" indent="0" algn="ctr">
              <a:buNone/>
            </a:pPr>
            <a:r>
              <a:rPr lang="en-US" sz="780" b="1" dirty="0">
                <a:solidFill>
                  <a:srgbClr val="C77B17"/>
                </a:solidFill>
                <a:latin typeface="Calibri" pitchFamily="34" charset="0"/>
                <a:ea typeface="Calibri" pitchFamily="34" charset="-122"/>
                <a:cs typeface="Calibri" pitchFamily="34" charset="-120"/>
              </a:rPr>
              <a:t>New permitting law in force, Jun–Jul 2026</a:t>
            </a:r>
            <a:endParaRPr lang="en-US" sz="780" dirty="0"/>
          </a:p>
        </p:txBody>
      </p:sp>
      <p:sp>
        <p:nvSpPr>
          <p:cNvPr id="58" name="Shape 53"/>
          <p:cNvSpPr/>
          <p:nvPr/>
        </p:nvSpPr>
        <p:spPr>
          <a:xfrm>
            <a:off x="6829846" y="4485132"/>
            <a:ext cx="118872" cy="118872"/>
          </a:xfrm>
          <a:prstGeom prst="diamond">
            <a:avLst/>
          </a:prstGeom>
          <a:solidFill>
            <a:srgbClr val="FFFFFF"/>
          </a:solidFill>
          <a:ln w="21590">
            <a:solidFill>
              <a:srgbClr val="6B7785"/>
            </a:solidFill>
            <a:prstDash val="solid"/>
          </a:ln>
        </p:spPr>
        <p:txBody>
          <a:bodyPr/>
          <a:lstStyle/>
          <a:p>
            <a:endParaRPr lang="en-GB"/>
          </a:p>
        </p:txBody>
      </p:sp>
      <p:sp>
        <p:nvSpPr>
          <p:cNvPr id="59" name="Text 54"/>
          <p:cNvSpPr/>
          <p:nvPr/>
        </p:nvSpPr>
        <p:spPr>
          <a:xfrm>
            <a:off x="5654842" y="4791456"/>
            <a:ext cx="2468880" cy="237744"/>
          </a:xfrm>
          <a:prstGeom prst="rect">
            <a:avLst/>
          </a:prstGeom>
          <a:noFill/>
          <a:ln/>
        </p:spPr>
        <p:txBody>
          <a:bodyPr wrap="square" lIns="0" tIns="0" rIns="0" bIns="0" rtlCol="0" anchor="ctr"/>
          <a:lstStyle/>
          <a:p>
            <a:pPr marL="0" indent="0" algn="ctr">
              <a:buNone/>
            </a:pPr>
            <a:r>
              <a:rPr lang="en-US" sz="780" b="1" dirty="0">
                <a:solidFill>
                  <a:srgbClr val="6B7785"/>
                </a:solidFill>
                <a:latin typeface="Calibri" pitchFamily="34" charset="0"/>
                <a:ea typeface="Calibri" pitchFamily="34" charset="-122"/>
                <a:cs typeface="Calibri" pitchFamily="34" charset="-120"/>
              </a:rPr>
              <a:t>Multiple applications in early planning</a:t>
            </a:r>
            <a:endParaRPr lang="en-US" sz="780" dirty="0"/>
          </a:p>
        </p:txBody>
      </p:sp>
      <p:sp>
        <p:nvSpPr>
          <p:cNvPr id="60" name="Shape 55"/>
          <p:cNvSpPr/>
          <p:nvPr/>
        </p:nvSpPr>
        <p:spPr>
          <a:xfrm>
            <a:off x="457200" y="5586984"/>
            <a:ext cx="438912" cy="438912"/>
          </a:xfrm>
          <a:prstGeom prst="ellipse">
            <a:avLst/>
          </a:prstGeom>
          <a:solidFill>
            <a:srgbClr val="1B3358"/>
          </a:solidFill>
          <a:ln/>
        </p:spPr>
        <p:txBody>
          <a:bodyPr/>
          <a:lstStyle/>
          <a:p>
            <a:endParaRPr lang="en-GB"/>
          </a:p>
        </p:txBody>
      </p:sp>
      <p:pic>
        <p:nvPicPr>
          <p:cNvPr id="61" name="Image 3" descr="preencoded.png"/>
          <p:cNvPicPr>
            <a:picLocks noChangeAspect="1"/>
          </p:cNvPicPr>
          <p:nvPr/>
        </p:nvPicPr>
        <p:blipFill>
          <a:blip r:embed="rId6"/>
          <a:stretch>
            <a:fillRect/>
          </a:stretch>
        </p:blipFill>
        <p:spPr>
          <a:xfrm>
            <a:off x="548640" y="5678424"/>
            <a:ext cx="256032" cy="256032"/>
          </a:xfrm>
          <a:prstGeom prst="rect">
            <a:avLst/>
          </a:prstGeom>
        </p:spPr>
      </p:pic>
      <p:sp>
        <p:nvSpPr>
          <p:cNvPr id="62" name="Text 56"/>
          <p:cNvSpPr/>
          <p:nvPr/>
        </p:nvSpPr>
        <p:spPr>
          <a:xfrm>
            <a:off x="1005840" y="5376672"/>
            <a:ext cx="1417320" cy="512064"/>
          </a:xfrm>
          <a:prstGeom prst="rect">
            <a:avLst/>
          </a:prstGeom>
          <a:noFill/>
          <a:ln/>
        </p:spPr>
        <p:txBody>
          <a:bodyPr wrap="square" lIns="0" tIns="0" rIns="0" bIns="0" rtlCol="0" anchor="t"/>
          <a:lstStyle/>
          <a:p>
            <a:pPr marL="0" indent="0">
              <a:lnSpc>
                <a:spcPct val="98000"/>
              </a:lnSpc>
              <a:buNone/>
            </a:pPr>
            <a:r>
              <a:rPr lang="en-US" sz="1150" b="1" dirty="0">
                <a:solidFill>
                  <a:srgbClr val="12233D"/>
                </a:solidFill>
                <a:latin typeface="Calibri" pitchFamily="34" charset="0"/>
                <a:ea typeface="Calibri" pitchFamily="34" charset="-122"/>
                <a:cs typeface="Calibri" pitchFamily="34" charset="-120"/>
              </a:rPr>
              <a:t>National 2045 Ambition</a:t>
            </a:r>
            <a:endParaRPr lang="en-US" sz="1150" dirty="0"/>
          </a:p>
        </p:txBody>
      </p:sp>
      <p:sp>
        <p:nvSpPr>
          <p:cNvPr id="63" name="Text 57"/>
          <p:cNvSpPr/>
          <p:nvPr/>
        </p:nvSpPr>
        <p:spPr>
          <a:xfrm>
            <a:off x="1005840" y="5888736"/>
            <a:ext cx="1417320" cy="420624"/>
          </a:xfrm>
          <a:prstGeom prst="rect">
            <a:avLst/>
          </a:prstGeom>
          <a:noFill/>
          <a:ln/>
        </p:spPr>
        <p:txBody>
          <a:bodyPr wrap="square" lIns="0" tIns="0" rIns="0" bIns="0" rtlCol="0" anchor="b"/>
          <a:lstStyle/>
          <a:p>
            <a:pPr marL="0" indent="0">
              <a:lnSpc>
                <a:spcPct val="98000"/>
              </a:lnSpc>
              <a:buNone/>
            </a:pPr>
            <a:r>
              <a:rPr lang="en-US" sz="730" i="1" dirty="0">
                <a:solidFill>
                  <a:srgbClr val="5B6B7C"/>
                </a:solidFill>
                <a:latin typeface="Calibri" pitchFamily="34" charset="0"/>
                <a:ea typeface="Calibri" pitchFamily="34" charset="-122"/>
                <a:cs typeface="Calibri" pitchFamily="34" charset="-120"/>
              </a:rPr>
              <a:t>2 large reactors by 2035 · equivalent of 10 new reactors by 2045 · Swedish Government</a:t>
            </a:r>
            <a:endParaRPr lang="en-US" sz="730" dirty="0"/>
          </a:p>
        </p:txBody>
      </p:sp>
      <p:sp>
        <p:nvSpPr>
          <p:cNvPr id="64" name="Shape 58"/>
          <p:cNvSpPr/>
          <p:nvPr/>
        </p:nvSpPr>
        <p:spPr>
          <a:xfrm>
            <a:off x="2514600" y="5806440"/>
            <a:ext cx="9235440" cy="0"/>
          </a:xfrm>
          <a:prstGeom prst="line">
            <a:avLst/>
          </a:prstGeom>
          <a:noFill/>
          <a:ln w="6350">
            <a:solidFill>
              <a:srgbClr val="E3E9EF"/>
            </a:solidFill>
            <a:prstDash val="dash"/>
          </a:ln>
        </p:spPr>
        <p:txBody>
          <a:bodyPr/>
          <a:lstStyle/>
          <a:p>
            <a:endParaRPr lang="en-GB"/>
          </a:p>
        </p:txBody>
      </p:sp>
      <p:sp>
        <p:nvSpPr>
          <p:cNvPr id="65" name="Shape 59"/>
          <p:cNvSpPr/>
          <p:nvPr/>
        </p:nvSpPr>
        <p:spPr>
          <a:xfrm>
            <a:off x="2514600" y="5687568"/>
            <a:ext cx="9235440" cy="237744"/>
          </a:xfrm>
          <a:prstGeom prst="roundRect">
            <a:avLst>
              <a:gd name="adj" fmla="val 19231"/>
            </a:avLst>
          </a:prstGeom>
          <a:solidFill>
            <a:srgbClr val="6B7785"/>
          </a:solidFill>
          <a:ln/>
        </p:spPr>
        <p:txBody>
          <a:bodyPr/>
          <a:lstStyle/>
          <a:p>
            <a:endParaRPr lang="en-GB"/>
          </a:p>
        </p:txBody>
      </p:sp>
      <p:sp>
        <p:nvSpPr>
          <p:cNvPr id="66" name="Shape 60"/>
          <p:cNvSpPr/>
          <p:nvPr/>
        </p:nvSpPr>
        <p:spPr>
          <a:xfrm>
            <a:off x="2698202" y="5747004"/>
            <a:ext cx="118872" cy="118872"/>
          </a:xfrm>
          <a:prstGeom prst="diamond">
            <a:avLst/>
          </a:prstGeom>
          <a:solidFill>
            <a:srgbClr val="FFFFFF"/>
          </a:solidFill>
          <a:ln w="21590">
            <a:solidFill>
              <a:srgbClr val="C77B17"/>
            </a:solidFill>
            <a:prstDash val="solid"/>
          </a:ln>
        </p:spPr>
        <p:txBody>
          <a:bodyPr/>
          <a:lstStyle/>
          <a:p>
            <a:endParaRPr lang="en-GB"/>
          </a:p>
        </p:txBody>
      </p:sp>
      <p:sp>
        <p:nvSpPr>
          <p:cNvPr id="67" name="Text 61"/>
          <p:cNvSpPr/>
          <p:nvPr/>
        </p:nvSpPr>
        <p:spPr>
          <a:xfrm>
            <a:off x="2148840" y="5376672"/>
            <a:ext cx="2468880" cy="237744"/>
          </a:xfrm>
          <a:prstGeom prst="rect">
            <a:avLst/>
          </a:prstGeom>
          <a:noFill/>
          <a:ln/>
        </p:spPr>
        <p:txBody>
          <a:bodyPr wrap="square" lIns="0" tIns="0" rIns="0" bIns="0" rtlCol="0" anchor="ctr"/>
          <a:lstStyle/>
          <a:p>
            <a:pPr marL="0" indent="0" algn="ctr">
              <a:buNone/>
            </a:pPr>
            <a:r>
              <a:rPr lang="en-US" sz="780" b="1" dirty="0">
                <a:solidFill>
                  <a:srgbClr val="C77B17"/>
                </a:solidFill>
                <a:latin typeface="Calibri" pitchFamily="34" charset="0"/>
                <a:ea typeface="Calibri" pitchFamily="34" charset="-122"/>
                <a:cs typeface="Calibri" pitchFamily="34" charset="-120"/>
              </a:rPr>
              <a:t>SEK 400bn credit guarantee framework live</a:t>
            </a:r>
            <a:endParaRPr lang="en-US" sz="780" dirty="0"/>
          </a:p>
        </p:txBody>
      </p:sp>
      <p:sp>
        <p:nvSpPr>
          <p:cNvPr id="68" name="Shape 62"/>
          <p:cNvSpPr/>
          <p:nvPr/>
        </p:nvSpPr>
        <p:spPr>
          <a:xfrm>
            <a:off x="11690604" y="5747004"/>
            <a:ext cx="118872" cy="118872"/>
          </a:xfrm>
          <a:prstGeom prst="diamond">
            <a:avLst/>
          </a:prstGeom>
          <a:solidFill>
            <a:srgbClr val="FFFFFF"/>
          </a:solidFill>
          <a:ln w="21590">
            <a:solidFill>
              <a:srgbClr val="6B7785"/>
            </a:solidFill>
            <a:prstDash val="solid"/>
          </a:ln>
        </p:spPr>
        <p:txBody>
          <a:bodyPr/>
          <a:lstStyle/>
          <a:p>
            <a:endParaRPr lang="en-GB"/>
          </a:p>
        </p:txBody>
      </p:sp>
      <p:sp>
        <p:nvSpPr>
          <p:cNvPr id="69" name="Text 63"/>
          <p:cNvSpPr/>
          <p:nvPr/>
        </p:nvSpPr>
        <p:spPr>
          <a:xfrm>
            <a:off x="9738360" y="6053328"/>
            <a:ext cx="2468880" cy="237744"/>
          </a:xfrm>
          <a:prstGeom prst="rect">
            <a:avLst/>
          </a:prstGeom>
          <a:noFill/>
          <a:ln/>
        </p:spPr>
        <p:txBody>
          <a:bodyPr wrap="square" lIns="0" tIns="0" rIns="0" bIns="0" rtlCol="0" anchor="ctr"/>
          <a:lstStyle/>
          <a:p>
            <a:pPr marL="0" indent="0" algn="ctr">
              <a:buNone/>
            </a:pPr>
            <a:r>
              <a:rPr lang="en-US" sz="780" b="1" dirty="0">
                <a:solidFill>
                  <a:srgbClr val="6B7785"/>
                </a:solidFill>
                <a:latin typeface="Calibri" pitchFamily="34" charset="0"/>
                <a:ea typeface="Calibri" pitchFamily="34" charset="-122"/>
                <a:cs typeface="Calibri" pitchFamily="34" charset="-120"/>
              </a:rPr>
              <a:t>“10 reactor equivalent” ambition (incl. SMRs)</a:t>
            </a:r>
            <a:endParaRPr lang="en-US" sz="780" dirty="0"/>
          </a:p>
        </p:txBody>
      </p:sp>
      <p:sp>
        <p:nvSpPr>
          <p:cNvPr id="70" name="Shape 64"/>
          <p:cNvSpPr/>
          <p:nvPr/>
        </p:nvSpPr>
        <p:spPr>
          <a:xfrm>
            <a:off x="2514600" y="1426464"/>
            <a:ext cx="0" cy="4974336"/>
          </a:xfrm>
          <a:prstGeom prst="line">
            <a:avLst/>
          </a:prstGeom>
          <a:noFill/>
          <a:ln w="12700">
            <a:solidFill>
              <a:srgbClr val="C7D2DC"/>
            </a:solidFill>
            <a:prstDash val="solid"/>
          </a:ln>
        </p:spPr>
        <p:txBody>
          <a:bodyPr/>
          <a:lstStyle/>
          <a:p>
            <a:endParaRPr lang="en-GB"/>
          </a:p>
        </p:txBody>
      </p:sp>
      <p:sp>
        <p:nvSpPr>
          <p:cNvPr id="71" name="Shape 65"/>
          <p:cNvSpPr/>
          <p:nvPr/>
        </p:nvSpPr>
        <p:spPr>
          <a:xfrm>
            <a:off x="2757638" y="1280160"/>
            <a:ext cx="0" cy="5120640"/>
          </a:xfrm>
          <a:prstGeom prst="line">
            <a:avLst/>
          </a:prstGeom>
          <a:noFill/>
          <a:ln w="15875">
            <a:solidFill>
              <a:srgbClr val="12233D"/>
            </a:solidFill>
            <a:prstDash val="lgDash"/>
          </a:ln>
        </p:spPr>
        <p:txBody>
          <a:bodyPr/>
          <a:lstStyle/>
          <a:p>
            <a:endParaRPr lang="en-GB"/>
          </a:p>
        </p:txBody>
      </p:sp>
      <p:sp>
        <p:nvSpPr>
          <p:cNvPr id="72" name="Shape 66"/>
          <p:cNvSpPr/>
          <p:nvPr/>
        </p:nvSpPr>
        <p:spPr>
          <a:xfrm>
            <a:off x="2721062" y="1234440"/>
            <a:ext cx="73152" cy="73152"/>
          </a:xfrm>
          <a:prstGeom prst="ellipse">
            <a:avLst/>
          </a:prstGeom>
          <a:solidFill>
            <a:srgbClr val="12233D"/>
          </a:solidFill>
          <a:ln/>
        </p:spPr>
        <p:txBody>
          <a:bodyPr/>
          <a:lstStyle/>
          <a:p>
            <a:endParaRPr lang="en-GB"/>
          </a:p>
        </p:txBody>
      </p:sp>
      <p:sp>
        <p:nvSpPr>
          <p:cNvPr id="73" name="Text 67"/>
          <p:cNvSpPr/>
          <p:nvPr/>
        </p:nvSpPr>
        <p:spPr>
          <a:xfrm>
            <a:off x="2391878" y="1060704"/>
            <a:ext cx="731520" cy="182880"/>
          </a:xfrm>
          <a:prstGeom prst="rect">
            <a:avLst/>
          </a:prstGeom>
          <a:noFill/>
          <a:ln/>
        </p:spPr>
        <p:txBody>
          <a:bodyPr wrap="square" lIns="0" tIns="0" rIns="0" bIns="0" rtlCol="0" anchor="ctr"/>
          <a:lstStyle/>
          <a:p>
            <a:pPr marL="0" indent="0" algn="ctr">
              <a:buNone/>
            </a:pPr>
            <a:r>
              <a:rPr lang="en-US" sz="800" b="1" kern="0" spc="50" dirty="0">
                <a:solidFill>
                  <a:srgbClr val="12233D"/>
                </a:solidFill>
                <a:latin typeface="Calibri" pitchFamily="34" charset="0"/>
                <a:ea typeface="Calibri" pitchFamily="34" charset="-122"/>
                <a:cs typeface="Calibri" pitchFamily="34" charset="-120"/>
              </a:rPr>
              <a:t>TODAY</a:t>
            </a:r>
            <a:endParaRPr lang="en-US" sz="800" dirty="0"/>
          </a:p>
        </p:txBody>
      </p:sp>
      <p:sp>
        <p:nvSpPr>
          <p:cNvPr id="74" name="Text 68"/>
          <p:cNvSpPr/>
          <p:nvPr/>
        </p:nvSpPr>
        <p:spPr>
          <a:xfrm>
            <a:off x="457200" y="6620256"/>
            <a:ext cx="11247120" cy="182880"/>
          </a:xfrm>
          <a:prstGeom prst="rect">
            <a:avLst/>
          </a:prstGeom>
          <a:noFill/>
          <a:ln/>
        </p:spPr>
        <p:txBody>
          <a:bodyPr wrap="square" lIns="0" tIns="0" rIns="0" bIns="0" rtlCol="0" anchor="ctr"/>
          <a:lstStyle/>
          <a:p>
            <a:pPr marL="0" indent="0">
              <a:buNone/>
            </a:pPr>
            <a:r>
              <a:rPr lang="en-US" sz="730" i="1" dirty="0">
                <a:solidFill>
                  <a:srgbClr val="9AA7B3"/>
                </a:solidFill>
                <a:latin typeface="Calibri" pitchFamily="34" charset="0"/>
                <a:ea typeface="Calibri" pitchFamily="34" charset="-122"/>
                <a:cs typeface="Calibri" pitchFamily="34" charset="-120"/>
              </a:rPr>
              <a:t>Source: Vattenfall, World Nuclear Association, World Nuclear News, Swedish Government, NucNet announcements, 23 June 2026. Rolls-Royce SMR was selected for Ringhals/Värö on 15 June 2026; FID for the project has not yet been taken.</a:t>
            </a:r>
            <a:endParaRPr lang="en-US" sz="730" dirty="0"/>
          </a:p>
        </p:txBody>
      </p:sp>
      <p:pic>
        <p:nvPicPr>
          <p:cNvPr id="5" name="Picture 4">
            <a:extLst>
              <a:ext uri="{FF2B5EF4-FFF2-40B4-BE49-F238E27FC236}">
                <a16:creationId xmlns:a16="http://schemas.microsoft.com/office/drawing/2014/main" id="{D9242B22-4A7C-9A56-766D-35A9074B3118}"/>
              </a:ext>
            </a:extLst>
          </p:cNvPr>
          <p:cNvPicPr>
            <a:picLocks noChangeAspect="1"/>
          </p:cNvPicPr>
          <p:nvPr/>
        </p:nvPicPr>
        <p:blipFill>
          <a:blip r:embed="rId7"/>
          <a:stretch>
            <a:fillRect/>
          </a:stretch>
        </p:blipFill>
        <p:spPr>
          <a:xfrm>
            <a:off x="11092522" y="8412"/>
            <a:ext cx="1097277" cy="1128042"/>
          </a:xfrm>
          <a:prstGeom prst="rect">
            <a:avLst/>
          </a:prstGeom>
        </p:spPr>
      </p:pic>
    </p:spTree>
    <p:extLst>
      <p:ext uri="{BB962C8B-B14F-4D97-AF65-F5344CB8AC3E}">
        <p14:creationId xmlns:p14="http://schemas.microsoft.com/office/powerpoint/2010/main" val="2005345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2233D"/>
          </a:solidFill>
          <a:ln/>
        </p:spPr>
        <p:txBody>
          <a:bodyPr/>
          <a:lstStyle/>
          <a:p>
            <a:endParaRPr lang="en-GB"/>
          </a:p>
        </p:txBody>
      </p:sp>
      <p:sp>
        <p:nvSpPr>
          <p:cNvPr id="3" name="Text 1"/>
          <p:cNvSpPr/>
          <p:nvPr/>
        </p:nvSpPr>
        <p:spPr>
          <a:xfrm>
            <a:off x="457200" y="118872"/>
            <a:ext cx="8869680" cy="384048"/>
          </a:xfrm>
          <a:prstGeom prst="rect">
            <a:avLst/>
          </a:prstGeom>
          <a:noFill/>
          <a:ln/>
        </p:spPr>
        <p:txBody>
          <a:bodyPr wrap="square" lIns="0" tIns="0" rIns="0" bIns="0" rtlCol="0" anchor="ctr"/>
          <a:lstStyle/>
          <a:p>
            <a:pPr marL="0" indent="0">
              <a:buNone/>
            </a:pPr>
            <a:r>
              <a:rPr lang="en-US" b="1" kern="0" spc="130" dirty="0">
                <a:solidFill>
                  <a:srgbClr val="FF0000"/>
                </a:solidFill>
                <a:latin typeface="Calibri" pitchFamily="34" charset="0"/>
                <a:ea typeface="Calibri" pitchFamily="34" charset="-122"/>
                <a:cs typeface="Calibri" pitchFamily="34" charset="-120"/>
              </a:rPr>
              <a:t>POLAND </a:t>
            </a:r>
            <a:r>
              <a:rPr lang="en-US" sz="1500" b="1" kern="0" spc="130" dirty="0">
                <a:solidFill>
                  <a:srgbClr val="9FB6CC"/>
                </a:solidFill>
                <a:latin typeface="Calibri" pitchFamily="34" charset="0"/>
                <a:ea typeface="Calibri" pitchFamily="34" charset="-122"/>
                <a:cs typeface="Calibri" pitchFamily="34" charset="-120"/>
              </a:rPr>
              <a:t>NUCLEAR PROGRAMME LANDSCAPE</a:t>
            </a:r>
            <a:endParaRPr lang="en-US" sz="1500" dirty="0"/>
          </a:p>
        </p:txBody>
      </p:sp>
      <p:sp>
        <p:nvSpPr>
          <p:cNvPr id="4" name="Text 2"/>
          <p:cNvSpPr/>
          <p:nvPr/>
        </p:nvSpPr>
        <p:spPr>
          <a:xfrm>
            <a:off x="457200" y="411480"/>
            <a:ext cx="86868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Programme Overview at a Glance</a:t>
            </a:r>
            <a:endParaRPr lang="en-US" sz="2600" dirty="0"/>
          </a:p>
        </p:txBody>
      </p:sp>
      <p:sp>
        <p:nvSpPr>
          <p:cNvPr id="6" name="Shape 4"/>
          <p:cNvSpPr/>
          <p:nvPr/>
        </p:nvSpPr>
        <p:spPr>
          <a:xfrm>
            <a:off x="4872210" y="1143000"/>
            <a:ext cx="118872" cy="118872"/>
          </a:xfrm>
          <a:prstGeom prst="ellipse">
            <a:avLst/>
          </a:prstGeom>
          <a:solidFill>
            <a:srgbClr val="1E8E5A"/>
          </a:solidFill>
          <a:ln/>
        </p:spPr>
        <p:txBody>
          <a:bodyPr/>
          <a:lstStyle/>
          <a:p>
            <a:endParaRPr lang="en-GB"/>
          </a:p>
        </p:txBody>
      </p:sp>
      <p:sp>
        <p:nvSpPr>
          <p:cNvPr id="7" name="Text 5"/>
          <p:cNvSpPr/>
          <p:nvPr/>
        </p:nvSpPr>
        <p:spPr>
          <a:xfrm>
            <a:off x="5055090" y="1060704"/>
            <a:ext cx="210312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Construction / active delivery</a:t>
            </a:r>
            <a:endParaRPr lang="en-US" sz="1050" dirty="0"/>
          </a:p>
        </p:txBody>
      </p:sp>
      <p:sp>
        <p:nvSpPr>
          <p:cNvPr id="8" name="Shape 6"/>
          <p:cNvSpPr/>
          <p:nvPr/>
        </p:nvSpPr>
        <p:spPr>
          <a:xfrm>
            <a:off x="7249650" y="1143000"/>
            <a:ext cx="118872" cy="118872"/>
          </a:xfrm>
          <a:prstGeom prst="ellipse">
            <a:avLst/>
          </a:prstGeom>
          <a:solidFill>
            <a:srgbClr val="C77B17"/>
          </a:solidFill>
          <a:ln/>
        </p:spPr>
        <p:txBody>
          <a:bodyPr/>
          <a:lstStyle/>
          <a:p>
            <a:endParaRPr lang="en-GB"/>
          </a:p>
        </p:txBody>
      </p:sp>
      <p:sp>
        <p:nvSpPr>
          <p:cNvPr id="9" name="Text 7"/>
          <p:cNvSpPr/>
          <p:nvPr/>
        </p:nvSpPr>
        <p:spPr>
          <a:xfrm>
            <a:off x="7432530" y="1060704"/>
            <a:ext cx="178308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Licensing / design / pre-FID</a:t>
            </a:r>
            <a:endParaRPr lang="en-US" sz="1050" dirty="0"/>
          </a:p>
        </p:txBody>
      </p:sp>
      <p:sp>
        <p:nvSpPr>
          <p:cNvPr id="10" name="Shape 8"/>
          <p:cNvSpPr/>
          <p:nvPr/>
        </p:nvSpPr>
        <p:spPr>
          <a:xfrm>
            <a:off x="9307050" y="1143000"/>
            <a:ext cx="118872" cy="118872"/>
          </a:xfrm>
          <a:prstGeom prst="ellipse">
            <a:avLst/>
          </a:prstGeom>
          <a:solidFill>
            <a:srgbClr val="6B7785"/>
          </a:solidFill>
          <a:ln/>
        </p:spPr>
        <p:txBody>
          <a:bodyPr/>
          <a:lstStyle/>
          <a:p>
            <a:endParaRPr lang="en-GB"/>
          </a:p>
        </p:txBody>
      </p:sp>
      <p:sp>
        <p:nvSpPr>
          <p:cNvPr id="11" name="Text 9"/>
          <p:cNvSpPr/>
          <p:nvPr/>
        </p:nvSpPr>
        <p:spPr>
          <a:xfrm>
            <a:off x="9489930" y="1060704"/>
            <a:ext cx="137160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Site selection / concept</a:t>
            </a:r>
            <a:endParaRPr lang="en-US" sz="1050" dirty="0"/>
          </a:p>
        </p:txBody>
      </p:sp>
      <p:sp>
        <p:nvSpPr>
          <p:cNvPr id="12" name="Shape 10"/>
          <p:cNvSpPr/>
          <p:nvPr/>
        </p:nvSpPr>
        <p:spPr>
          <a:xfrm>
            <a:off x="457200" y="1417320"/>
            <a:ext cx="3588410" cy="4297680"/>
          </a:xfrm>
          <a:prstGeom prst="roundRect">
            <a:avLst>
              <a:gd name="adj" fmla="val 1784"/>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13" name="Shape 11"/>
          <p:cNvSpPr/>
          <p:nvPr/>
        </p:nvSpPr>
        <p:spPr>
          <a:xfrm>
            <a:off x="731520" y="1691640"/>
            <a:ext cx="566928" cy="566928"/>
          </a:xfrm>
          <a:prstGeom prst="ellipse">
            <a:avLst/>
          </a:prstGeom>
          <a:solidFill>
            <a:srgbClr val="1B3358"/>
          </a:solidFill>
          <a:ln/>
        </p:spPr>
        <p:txBody>
          <a:bodyPr/>
          <a:lstStyle/>
          <a:p>
            <a:endParaRPr lang="en-GB"/>
          </a:p>
        </p:txBody>
      </p:sp>
      <p:pic>
        <p:nvPicPr>
          <p:cNvPr id="14" name="Image 0" descr="preencoded.png"/>
          <p:cNvPicPr>
            <a:picLocks noChangeAspect="1"/>
          </p:cNvPicPr>
          <p:nvPr/>
        </p:nvPicPr>
        <p:blipFill>
          <a:blip r:embed="rId3"/>
          <a:stretch>
            <a:fillRect/>
          </a:stretch>
        </p:blipFill>
        <p:spPr>
          <a:xfrm>
            <a:off x="859536" y="1819656"/>
            <a:ext cx="310896" cy="310896"/>
          </a:xfrm>
          <a:prstGeom prst="rect">
            <a:avLst/>
          </a:prstGeom>
        </p:spPr>
      </p:pic>
      <p:sp>
        <p:nvSpPr>
          <p:cNvPr id="15" name="Shape 12"/>
          <p:cNvSpPr/>
          <p:nvPr/>
        </p:nvSpPr>
        <p:spPr>
          <a:xfrm>
            <a:off x="731520" y="2423160"/>
            <a:ext cx="3039770" cy="274320"/>
          </a:xfrm>
          <a:prstGeom prst="roundRect">
            <a:avLst>
              <a:gd name="adj" fmla="val 166667"/>
            </a:avLst>
          </a:prstGeom>
          <a:solidFill>
            <a:srgbClr val="C77B17"/>
          </a:solidFill>
          <a:ln/>
        </p:spPr>
        <p:txBody>
          <a:bodyPr/>
          <a:lstStyle/>
          <a:p>
            <a:endParaRPr lang="en-GB"/>
          </a:p>
        </p:txBody>
      </p:sp>
      <p:sp>
        <p:nvSpPr>
          <p:cNvPr id="16" name="Text 13"/>
          <p:cNvSpPr/>
          <p:nvPr/>
        </p:nvSpPr>
        <p:spPr>
          <a:xfrm>
            <a:off x="731520" y="2423160"/>
            <a:ext cx="3039770" cy="274320"/>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LICENSING / PRE-CONSTRUCTION</a:t>
            </a:r>
            <a:endParaRPr lang="en-US" sz="1000" dirty="0"/>
          </a:p>
        </p:txBody>
      </p:sp>
      <p:sp>
        <p:nvSpPr>
          <p:cNvPr id="17" name="Text 14"/>
          <p:cNvSpPr/>
          <p:nvPr/>
        </p:nvSpPr>
        <p:spPr>
          <a:xfrm>
            <a:off x="731520" y="2898648"/>
            <a:ext cx="3039770" cy="457200"/>
          </a:xfrm>
          <a:prstGeom prst="rect">
            <a:avLst/>
          </a:prstGeom>
          <a:noFill/>
          <a:ln/>
        </p:spPr>
        <p:txBody>
          <a:bodyPr wrap="square" lIns="0" tIns="0" rIns="0" bIns="0" rtlCol="0" anchor="t"/>
          <a:lstStyle/>
          <a:p>
            <a:pPr marL="0" indent="0">
              <a:buNone/>
            </a:pPr>
            <a:r>
              <a:rPr lang="en-US" sz="1650" b="1" dirty="0">
                <a:solidFill>
                  <a:srgbClr val="12233D"/>
                </a:solidFill>
                <a:latin typeface="Calibri" pitchFamily="34" charset="0"/>
                <a:ea typeface="Calibri" pitchFamily="34" charset="-122"/>
                <a:cs typeface="Calibri" pitchFamily="34" charset="-120"/>
              </a:rPr>
              <a:t>Lubiatowo-Kopalino — Large Reactors</a:t>
            </a:r>
            <a:endParaRPr lang="en-US" sz="1650" dirty="0"/>
          </a:p>
        </p:txBody>
      </p:sp>
      <p:sp>
        <p:nvSpPr>
          <p:cNvPr id="18" name="Text 15"/>
          <p:cNvSpPr/>
          <p:nvPr/>
        </p:nvSpPr>
        <p:spPr>
          <a:xfrm>
            <a:off x="731520" y="3392424"/>
            <a:ext cx="3039770" cy="365760"/>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3 × Westinghouse AP1000  ·  3,750 MWe  ·  ~€42bn</a:t>
            </a:r>
            <a:endParaRPr lang="en-US" sz="1150" dirty="0"/>
          </a:p>
        </p:txBody>
      </p:sp>
      <p:sp>
        <p:nvSpPr>
          <p:cNvPr id="19" name="Shape 16"/>
          <p:cNvSpPr/>
          <p:nvPr/>
        </p:nvSpPr>
        <p:spPr>
          <a:xfrm>
            <a:off x="731520" y="3813048"/>
            <a:ext cx="3039770" cy="0"/>
          </a:xfrm>
          <a:prstGeom prst="line">
            <a:avLst/>
          </a:prstGeom>
          <a:noFill/>
          <a:ln w="9525">
            <a:solidFill>
              <a:srgbClr val="D6E0E8"/>
            </a:solidFill>
            <a:prstDash val="solid"/>
          </a:ln>
        </p:spPr>
        <p:txBody>
          <a:bodyPr/>
          <a:lstStyle/>
          <a:p>
            <a:endParaRPr lang="en-GB"/>
          </a:p>
        </p:txBody>
      </p:sp>
      <p:sp>
        <p:nvSpPr>
          <p:cNvPr id="20" name="Text 17"/>
          <p:cNvSpPr/>
          <p:nvPr/>
        </p:nvSpPr>
        <p:spPr>
          <a:xfrm>
            <a:off x="731520" y="3922776"/>
            <a:ext cx="3039770" cy="868680"/>
          </a:xfrm>
          <a:prstGeom prst="rect">
            <a:avLst/>
          </a:prstGeom>
          <a:noFill/>
          <a:ln/>
        </p:spPr>
        <p:txBody>
          <a:bodyPr wrap="square" lIns="0" tIns="0" rIns="0" bIns="0" rtlCol="0" anchor="t"/>
          <a:lstStyle/>
          <a:p>
            <a:pPr marL="0" indent="0">
              <a:lnSpc>
                <a:spcPct val="112000"/>
              </a:lnSpc>
              <a:buNone/>
            </a:pPr>
            <a:r>
              <a:rPr lang="en-US" sz="950" b="1" kern="0" spc="50" dirty="0">
                <a:solidFill>
                  <a:srgbClr val="5B7A99"/>
                </a:solidFill>
                <a:latin typeface="Calibri" pitchFamily="34" charset="0"/>
                <a:ea typeface="Calibri" pitchFamily="34" charset="-122"/>
                <a:cs typeface="Calibri" pitchFamily="34" charset="-120"/>
              </a:rPr>
              <a:t>MILESTONE
</a:t>
            </a:r>
            <a:endParaRPr lang="en-US" sz="950" dirty="0"/>
          </a:p>
          <a:p>
            <a:pPr marL="0" indent="0">
              <a:lnSpc>
                <a:spcPct val="112000"/>
              </a:lnSpc>
              <a:buNone/>
            </a:pPr>
            <a:r>
              <a:rPr lang="en-US" sz="1150" dirty="0">
                <a:solidFill>
                  <a:srgbClr val="12233D"/>
                </a:solidFill>
                <a:latin typeface="Calibri" pitchFamily="34" charset="0"/>
                <a:ea typeface="Calibri" pitchFamily="34" charset="-122"/>
                <a:cs typeface="Calibri" pitchFamily="34" charset="-120"/>
              </a:rPr>
              <a:t>Construction licence application submitted Apr-26 · first concrete late 2028 · units online 2036–2038</a:t>
            </a:r>
            <a:endParaRPr lang="en-US" sz="950" dirty="0"/>
          </a:p>
        </p:txBody>
      </p:sp>
      <p:sp>
        <p:nvSpPr>
          <p:cNvPr id="21" name="Shape 18"/>
          <p:cNvSpPr/>
          <p:nvPr/>
        </p:nvSpPr>
        <p:spPr>
          <a:xfrm>
            <a:off x="731520" y="4800600"/>
            <a:ext cx="3039770" cy="0"/>
          </a:xfrm>
          <a:prstGeom prst="line">
            <a:avLst/>
          </a:prstGeom>
          <a:noFill/>
          <a:ln w="9525">
            <a:solidFill>
              <a:srgbClr val="D6E0E8"/>
            </a:solidFill>
            <a:prstDash val="solid"/>
          </a:ln>
        </p:spPr>
        <p:txBody>
          <a:bodyPr/>
          <a:lstStyle/>
          <a:p>
            <a:endParaRPr lang="en-GB"/>
          </a:p>
        </p:txBody>
      </p:sp>
      <p:sp>
        <p:nvSpPr>
          <p:cNvPr id="22" name="Text 19"/>
          <p:cNvSpPr/>
          <p:nvPr/>
        </p:nvSpPr>
        <p:spPr>
          <a:xfrm>
            <a:off x="731520" y="4892040"/>
            <a:ext cx="3039770" cy="420624"/>
          </a:xfrm>
          <a:prstGeom prst="rect">
            <a:avLst/>
          </a:prstGeom>
          <a:noFill/>
          <a:ln/>
        </p:spPr>
        <p:txBody>
          <a:bodyPr wrap="square" lIns="0" tIns="0" rIns="0" bIns="0" rtlCol="0" anchor="t"/>
          <a:lstStyle/>
          <a:p>
            <a:pPr marL="0" indent="0">
              <a:lnSpc>
                <a:spcPct val="105000"/>
              </a:lnSpc>
              <a:buNone/>
            </a:pPr>
            <a:r>
              <a:rPr lang="en-US" sz="1000" dirty="0">
                <a:solidFill>
                  <a:srgbClr val="5B6B7C"/>
                </a:solidFill>
                <a:latin typeface="Calibri" pitchFamily="34" charset="0"/>
                <a:ea typeface="Calibri" pitchFamily="34" charset="-122"/>
                <a:cs typeface="Calibri" pitchFamily="34" charset="-120"/>
              </a:rPr>
              <a:t>EPC contract still under negotiation; site prep and geotechnical surveys underway since 2025</a:t>
            </a:r>
            <a:endParaRPr lang="en-US" sz="1000" dirty="0"/>
          </a:p>
        </p:txBody>
      </p:sp>
      <p:sp>
        <p:nvSpPr>
          <p:cNvPr id="23" name="Text 20"/>
          <p:cNvSpPr/>
          <p:nvPr/>
        </p:nvSpPr>
        <p:spPr>
          <a:xfrm>
            <a:off x="731520" y="5404104"/>
            <a:ext cx="3039770" cy="256032"/>
          </a:xfrm>
          <a:prstGeom prst="rect">
            <a:avLst/>
          </a:prstGeom>
          <a:noFill/>
          <a:ln/>
        </p:spPr>
        <p:txBody>
          <a:bodyPr wrap="square" lIns="0" tIns="0" rIns="0" bIns="0" rtlCol="0" anchor="b"/>
          <a:lstStyle/>
          <a:p>
            <a:pPr marL="0" indent="0">
              <a:buNone/>
            </a:pPr>
            <a:r>
              <a:rPr lang="en-US" sz="1100" i="1" dirty="0">
                <a:solidFill>
                  <a:srgbClr val="5B6B7C"/>
                </a:solidFill>
                <a:latin typeface="Calibri" pitchFamily="34" charset="0"/>
                <a:ea typeface="Calibri" pitchFamily="34" charset="-122"/>
                <a:cs typeface="Calibri" pitchFamily="34" charset="-120"/>
              </a:rPr>
              <a:t>PEJ · Westinghouse · Bechtel</a:t>
            </a:r>
            <a:endParaRPr lang="en-US" sz="1100" dirty="0"/>
          </a:p>
        </p:txBody>
      </p:sp>
      <p:sp>
        <p:nvSpPr>
          <p:cNvPr id="24" name="Shape 21"/>
          <p:cNvSpPr/>
          <p:nvPr/>
        </p:nvSpPr>
        <p:spPr>
          <a:xfrm>
            <a:off x="4301642" y="1417320"/>
            <a:ext cx="3588410" cy="4297680"/>
          </a:xfrm>
          <a:prstGeom prst="roundRect">
            <a:avLst>
              <a:gd name="adj" fmla="val 1784"/>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25" name="Shape 22"/>
          <p:cNvSpPr/>
          <p:nvPr/>
        </p:nvSpPr>
        <p:spPr>
          <a:xfrm>
            <a:off x="4575962" y="1691640"/>
            <a:ext cx="566928" cy="566928"/>
          </a:xfrm>
          <a:prstGeom prst="ellipse">
            <a:avLst/>
          </a:prstGeom>
          <a:solidFill>
            <a:srgbClr val="1B3358"/>
          </a:solidFill>
          <a:ln/>
        </p:spPr>
        <p:txBody>
          <a:bodyPr/>
          <a:lstStyle/>
          <a:p>
            <a:endParaRPr lang="en-GB"/>
          </a:p>
        </p:txBody>
      </p:sp>
      <p:pic>
        <p:nvPicPr>
          <p:cNvPr id="26" name="Image 1" descr="preencoded.png"/>
          <p:cNvPicPr>
            <a:picLocks noChangeAspect="1"/>
          </p:cNvPicPr>
          <p:nvPr/>
        </p:nvPicPr>
        <p:blipFill>
          <a:blip r:embed="rId4"/>
          <a:stretch>
            <a:fillRect/>
          </a:stretch>
        </p:blipFill>
        <p:spPr>
          <a:xfrm>
            <a:off x="4703978" y="1819656"/>
            <a:ext cx="310896" cy="310896"/>
          </a:xfrm>
          <a:prstGeom prst="rect">
            <a:avLst/>
          </a:prstGeom>
        </p:spPr>
      </p:pic>
      <p:sp>
        <p:nvSpPr>
          <p:cNvPr id="27" name="Shape 23"/>
          <p:cNvSpPr/>
          <p:nvPr/>
        </p:nvSpPr>
        <p:spPr>
          <a:xfrm>
            <a:off x="4575962" y="2423160"/>
            <a:ext cx="3039770" cy="274320"/>
          </a:xfrm>
          <a:prstGeom prst="roundRect">
            <a:avLst>
              <a:gd name="adj" fmla="val 166667"/>
            </a:avLst>
          </a:prstGeom>
          <a:solidFill>
            <a:srgbClr val="C77B17"/>
          </a:solidFill>
          <a:ln/>
        </p:spPr>
        <p:txBody>
          <a:bodyPr/>
          <a:lstStyle/>
          <a:p>
            <a:endParaRPr lang="en-GB"/>
          </a:p>
        </p:txBody>
      </p:sp>
      <p:sp>
        <p:nvSpPr>
          <p:cNvPr id="28" name="Text 24"/>
          <p:cNvSpPr/>
          <p:nvPr/>
        </p:nvSpPr>
        <p:spPr>
          <a:xfrm>
            <a:off x="4575962" y="2423160"/>
            <a:ext cx="3039770" cy="274320"/>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GENERIC DESIGN / SITING</a:t>
            </a:r>
            <a:endParaRPr lang="en-US" sz="1000" dirty="0"/>
          </a:p>
        </p:txBody>
      </p:sp>
      <p:sp>
        <p:nvSpPr>
          <p:cNvPr id="29" name="Text 25"/>
          <p:cNvSpPr/>
          <p:nvPr/>
        </p:nvSpPr>
        <p:spPr>
          <a:xfrm>
            <a:off x="4575962" y="2898648"/>
            <a:ext cx="3039770" cy="457200"/>
          </a:xfrm>
          <a:prstGeom prst="rect">
            <a:avLst/>
          </a:prstGeom>
          <a:noFill/>
          <a:ln/>
        </p:spPr>
        <p:txBody>
          <a:bodyPr wrap="square" lIns="0" tIns="0" rIns="0" bIns="0" rtlCol="0" anchor="t"/>
          <a:lstStyle/>
          <a:p>
            <a:pPr marL="0" indent="0">
              <a:buNone/>
            </a:pPr>
            <a:r>
              <a:rPr lang="en-US" sz="1650" b="1" dirty="0">
                <a:solidFill>
                  <a:srgbClr val="12233D"/>
                </a:solidFill>
                <a:latin typeface="Calibri" pitchFamily="34" charset="0"/>
                <a:ea typeface="Calibri" pitchFamily="34" charset="-122"/>
                <a:cs typeface="Calibri" pitchFamily="34" charset="-120"/>
              </a:rPr>
              <a:t>OSGE — BWRX-300 SMR Fleet</a:t>
            </a:r>
            <a:endParaRPr lang="en-US" sz="1650" dirty="0"/>
          </a:p>
        </p:txBody>
      </p:sp>
      <p:sp>
        <p:nvSpPr>
          <p:cNvPr id="30" name="Text 26"/>
          <p:cNvSpPr/>
          <p:nvPr/>
        </p:nvSpPr>
        <p:spPr>
          <a:xfrm>
            <a:off x="4575962" y="3392424"/>
            <a:ext cx="3039770" cy="365760"/>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Up to 24 × 300 MWe  ·  Włocławek (first site)</a:t>
            </a:r>
            <a:endParaRPr lang="en-US" sz="1150" dirty="0"/>
          </a:p>
        </p:txBody>
      </p:sp>
      <p:sp>
        <p:nvSpPr>
          <p:cNvPr id="31" name="Shape 27"/>
          <p:cNvSpPr/>
          <p:nvPr/>
        </p:nvSpPr>
        <p:spPr>
          <a:xfrm>
            <a:off x="4575962" y="3813048"/>
            <a:ext cx="3039770" cy="0"/>
          </a:xfrm>
          <a:prstGeom prst="line">
            <a:avLst/>
          </a:prstGeom>
          <a:noFill/>
          <a:ln w="9525">
            <a:solidFill>
              <a:srgbClr val="D6E0E8"/>
            </a:solidFill>
            <a:prstDash val="solid"/>
          </a:ln>
        </p:spPr>
        <p:txBody>
          <a:bodyPr/>
          <a:lstStyle/>
          <a:p>
            <a:endParaRPr lang="en-GB"/>
          </a:p>
        </p:txBody>
      </p:sp>
      <p:sp>
        <p:nvSpPr>
          <p:cNvPr id="32" name="Text 28"/>
          <p:cNvSpPr/>
          <p:nvPr/>
        </p:nvSpPr>
        <p:spPr>
          <a:xfrm>
            <a:off x="4575962" y="3922776"/>
            <a:ext cx="3039770" cy="868680"/>
          </a:xfrm>
          <a:prstGeom prst="rect">
            <a:avLst/>
          </a:prstGeom>
          <a:noFill/>
          <a:ln/>
        </p:spPr>
        <p:txBody>
          <a:bodyPr wrap="square" lIns="0" tIns="0" rIns="0" bIns="0" rtlCol="0" anchor="t"/>
          <a:lstStyle/>
          <a:p>
            <a:pPr marL="0" indent="0">
              <a:lnSpc>
                <a:spcPct val="112000"/>
              </a:lnSpc>
              <a:buNone/>
            </a:pPr>
            <a:r>
              <a:rPr lang="en-US" sz="950" b="1" kern="0" spc="50" dirty="0">
                <a:solidFill>
                  <a:srgbClr val="5B7A99"/>
                </a:solidFill>
                <a:latin typeface="Calibri" pitchFamily="34" charset="0"/>
                <a:ea typeface="Calibri" pitchFamily="34" charset="-122"/>
                <a:cs typeface="Calibri" pitchFamily="34" charset="-120"/>
              </a:rPr>
              <a:t>MILESTONE
</a:t>
            </a:r>
            <a:endParaRPr lang="en-US" sz="950" dirty="0"/>
          </a:p>
          <a:p>
            <a:pPr marL="0" indent="0">
              <a:lnSpc>
                <a:spcPct val="112000"/>
              </a:lnSpc>
              <a:buNone/>
            </a:pPr>
            <a:r>
              <a:rPr lang="en-US" sz="1150" dirty="0">
                <a:solidFill>
                  <a:srgbClr val="12233D"/>
                </a:solidFill>
                <a:latin typeface="Calibri" pitchFamily="34" charset="0"/>
                <a:ea typeface="Calibri" pitchFamily="34" charset="-122"/>
                <a:cs typeface="Calibri" pitchFamily="34" charset="-120"/>
              </a:rPr>
              <a:t>Poland Generic Design Agreement signed Feb-26 · first unit targeted 2032</a:t>
            </a:r>
            <a:endParaRPr lang="en-US" sz="950" dirty="0"/>
          </a:p>
        </p:txBody>
      </p:sp>
      <p:sp>
        <p:nvSpPr>
          <p:cNvPr id="33" name="Shape 29"/>
          <p:cNvSpPr/>
          <p:nvPr/>
        </p:nvSpPr>
        <p:spPr>
          <a:xfrm>
            <a:off x="4575962" y="4800600"/>
            <a:ext cx="3039770" cy="0"/>
          </a:xfrm>
          <a:prstGeom prst="line">
            <a:avLst/>
          </a:prstGeom>
          <a:noFill/>
          <a:ln w="9525">
            <a:solidFill>
              <a:srgbClr val="D6E0E8"/>
            </a:solidFill>
            <a:prstDash val="solid"/>
          </a:ln>
        </p:spPr>
        <p:txBody>
          <a:bodyPr/>
          <a:lstStyle/>
          <a:p>
            <a:endParaRPr lang="en-GB"/>
          </a:p>
        </p:txBody>
      </p:sp>
      <p:sp>
        <p:nvSpPr>
          <p:cNvPr id="34" name="Text 30"/>
          <p:cNvSpPr/>
          <p:nvPr/>
        </p:nvSpPr>
        <p:spPr>
          <a:xfrm>
            <a:off x="4575962" y="4892040"/>
            <a:ext cx="3039770" cy="420624"/>
          </a:xfrm>
          <a:prstGeom prst="rect">
            <a:avLst/>
          </a:prstGeom>
          <a:noFill/>
          <a:ln/>
        </p:spPr>
        <p:txBody>
          <a:bodyPr wrap="square" lIns="0" tIns="0" rIns="0" bIns="0" rtlCol="0" anchor="t"/>
          <a:lstStyle/>
          <a:p>
            <a:pPr marL="0" indent="0">
              <a:lnSpc>
                <a:spcPct val="105000"/>
              </a:lnSpc>
              <a:buNone/>
            </a:pPr>
            <a:r>
              <a:rPr lang="en-US" sz="1000" dirty="0">
                <a:solidFill>
                  <a:srgbClr val="5B6B7C"/>
                </a:solidFill>
                <a:latin typeface="Calibri" pitchFamily="34" charset="0"/>
                <a:ea typeface="Calibri" pitchFamily="34" charset="-122"/>
                <a:cs typeface="Calibri" pitchFamily="34" charset="-120"/>
              </a:rPr>
              <a:t>Europe's first confirmed BWRX-300 deployment; fleet ambition across 3+ sites by early 2030s</a:t>
            </a:r>
            <a:endParaRPr lang="en-US" sz="1000" dirty="0"/>
          </a:p>
        </p:txBody>
      </p:sp>
      <p:sp>
        <p:nvSpPr>
          <p:cNvPr id="35" name="Text 31"/>
          <p:cNvSpPr/>
          <p:nvPr/>
        </p:nvSpPr>
        <p:spPr>
          <a:xfrm>
            <a:off x="4575962" y="5404104"/>
            <a:ext cx="3039770" cy="256032"/>
          </a:xfrm>
          <a:prstGeom prst="rect">
            <a:avLst/>
          </a:prstGeom>
          <a:noFill/>
          <a:ln/>
        </p:spPr>
        <p:txBody>
          <a:bodyPr wrap="square" lIns="0" tIns="0" rIns="0" bIns="0" rtlCol="0" anchor="b"/>
          <a:lstStyle/>
          <a:p>
            <a:pPr marL="0" indent="0">
              <a:buNone/>
            </a:pPr>
            <a:r>
              <a:rPr lang="en-US" sz="1100" i="1" dirty="0">
                <a:solidFill>
                  <a:srgbClr val="5B6B7C"/>
                </a:solidFill>
                <a:latin typeface="Calibri" pitchFamily="34" charset="0"/>
                <a:ea typeface="Calibri" pitchFamily="34" charset="-122"/>
                <a:cs typeface="Calibri" pitchFamily="34" charset="-120"/>
              </a:rPr>
              <a:t>Orlen · Synthos Green Energy · GE Vernova Hitachi</a:t>
            </a:r>
            <a:endParaRPr lang="en-US" sz="1100" dirty="0"/>
          </a:p>
        </p:txBody>
      </p:sp>
      <p:sp>
        <p:nvSpPr>
          <p:cNvPr id="36" name="Shape 32"/>
          <p:cNvSpPr/>
          <p:nvPr/>
        </p:nvSpPr>
        <p:spPr>
          <a:xfrm>
            <a:off x="8146085" y="1417320"/>
            <a:ext cx="3588410" cy="4297680"/>
          </a:xfrm>
          <a:prstGeom prst="roundRect">
            <a:avLst>
              <a:gd name="adj" fmla="val 1784"/>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37" name="Shape 33"/>
          <p:cNvSpPr/>
          <p:nvPr/>
        </p:nvSpPr>
        <p:spPr>
          <a:xfrm>
            <a:off x="8420405" y="1691640"/>
            <a:ext cx="566928" cy="566928"/>
          </a:xfrm>
          <a:prstGeom prst="ellipse">
            <a:avLst/>
          </a:prstGeom>
          <a:solidFill>
            <a:srgbClr val="1B3358"/>
          </a:solidFill>
          <a:ln/>
        </p:spPr>
        <p:txBody>
          <a:bodyPr/>
          <a:lstStyle/>
          <a:p>
            <a:endParaRPr lang="en-GB"/>
          </a:p>
        </p:txBody>
      </p:sp>
      <p:pic>
        <p:nvPicPr>
          <p:cNvPr id="38" name="Image 2" descr="preencoded.png"/>
          <p:cNvPicPr>
            <a:picLocks noChangeAspect="1"/>
          </p:cNvPicPr>
          <p:nvPr/>
        </p:nvPicPr>
        <p:blipFill>
          <a:blip r:embed="rId5"/>
          <a:stretch>
            <a:fillRect/>
          </a:stretch>
        </p:blipFill>
        <p:spPr>
          <a:xfrm>
            <a:off x="8548421" y="1819656"/>
            <a:ext cx="310896" cy="310896"/>
          </a:xfrm>
          <a:prstGeom prst="rect">
            <a:avLst/>
          </a:prstGeom>
        </p:spPr>
      </p:pic>
      <p:sp>
        <p:nvSpPr>
          <p:cNvPr id="39" name="Shape 34"/>
          <p:cNvSpPr/>
          <p:nvPr/>
        </p:nvSpPr>
        <p:spPr>
          <a:xfrm>
            <a:off x="8420405" y="2423160"/>
            <a:ext cx="3039770" cy="274320"/>
          </a:xfrm>
          <a:prstGeom prst="roundRect">
            <a:avLst>
              <a:gd name="adj" fmla="val 166667"/>
            </a:avLst>
          </a:prstGeom>
          <a:solidFill>
            <a:srgbClr val="1E8E5A"/>
          </a:solidFill>
          <a:ln/>
        </p:spPr>
        <p:txBody>
          <a:bodyPr/>
          <a:lstStyle/>
          <a:p>
            <a:endParaRPr lang="en-GB"/>
          </a:p>
        </p:txBody>
      </p:sp>
      <p:sp>
        <p:nvSpPr>
          <p:cNvPr id="40" name="Text 35"/>
          <p:cNvSpPr/>
          <p:nvPr/>
        </p:nvSpPr>
        <p:spPr>
          <a:xfrm>
            <a:off x="8420405" y="2423160"/>
            <a:ext cx="3039770" cy="274320"/>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ENABLING FRAMEWORK LIVE</a:t>
            </a:r>
            <a:endParaRPr lang="en-US" sz="1000" dirty="0"/>
          </a:p>
        </p:txBody>
      </p:sp>
      <p:sp>
        <p:nvSpPr>
          <p:cNvPr id="41" name="Text 36"/>
          <p:cNvSpPr/>
          <p:nvPr/>
        </p:nvSpPr>
        <p:spPr>
          <a:xfrm>
            <a:off x="8420405" y="2898648"/>
            <a:ext cx="3039770" cy="457200"/>
          </a:xfrm>
          <a:prstGeom prst="rect">
            <a:avLst/>
          </a:prstGeom>
          <a:noFill/>
          <a:ln/>
        </p:spPr>
        <p:txBody>
          <a:bodyPr wrap="square" lIns="0" tIns="0" rIns="0" bIns="0" rtlCol="0" anchor="t"/>
          <a:lstStyle/>
          <a:p>
            <a:pPr marL="0" indent="0">
              <a:buNone/>
            </a:pPr>
            <a:r>
              <a:rPr lang="en-US" sz="1650" b="1" dirty="0">
                <a:solidFill>
                  <a:srgbClr val="12233D"/>
                </a:solidFill>
                <a:latin typeface="Calibri" pitchFamily="34" charset="0"/>
                <a:ea typeface="Calibri" pitchFamily="34" charset="-122"/>
                <a:cs typeface="Calibri" pitchFamily="34" charset="-120"/>
              </a:rPr>
              <a:t>State Financing &amp; EU Approval</a:t>
            </a:r>
            <a:endParaRPr lang="en-US" sz="1650" dirty="0"/>
          </a:p>
        </p:txBody>
      </p:sp>
      <p:sp>
        <p:nvSpPr>
          <p:cNvPr id="42" name="Text 37"/>
          <p:cNvSpPr/>
          <p:nvPr/>
        </p:nvSpPr>
        <p:spPr>
          <a:xfrm>
            <a:off x="8420405" y="3392424"/>
            <a:ext cx="3039770" cy="365760"/>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Two-way CfD (40-year)  ·  100% state debt guarantee</a:t>
            </a:r>
            <a:endParaRPr lang="en-US" sz="1150" dirty="0"/>
          </a:p>
        </p:txBody>
      </p:sp>
      <p:sp>
        <p:nvSpPr>
          <p:cNvPr id="43" name="Shape 38"/>
          <p:cNvSpPr/>
          <p:nvPr/>
        </p:nvSpPr>
        <p:spPr>
          <a:xfrm>
            <a:off x="8420405" y="3813048"/>
            <a:ext cx="3039770" cy="0"/>
          </a:xfrm>
          <a:prstGeom prst="line">
            <a:avLst/>
          </a:prstGeom>
          <a:noFill/>
          <a:ln w="9525">
            <a:solidFill>
              <a:srgbClr val="D6E0E8"/>
            </a:solidFill>
            <a:prstDash val="solid"/>
          </a:ln>
        </p:spPr>
        <p:txBody>
          <a:bodyPr/>
          <a:lstStyle/>
          <a:p>
            <a:endParaRPr lang="en-GB"/>
          </a:p>
        </p:txBody>
      </p:sp>
      <p:sp>
        <p:nvSpPr>
          <p:cNvPr id="44" name="Text 39"/>
          <p:cNvSpPr/>
          <p:nvPr/>
        </p:nvSpPr>
        <p:spPr>
          <a:xfrm>
            <a:off x="8420405" y="3922776"/>
            <a:ext cx="3039770" cy="868680"/>
          </a:xfrm>
          <a:prstGeom prst="rect">
            <a:avLst/>
          </a:prstGeom>
          <a:noFill/>
          <a:ln/>
        </p:spPr>
        <p:txBody>
          <a:bodyPr wrap="square" lIns="0" tIns="0" rIns="0" bIns="0" rtlCol="0" anchor="t"/>
          <a:lstStyle/>
          <a:p>
            <a:pPr marL="0" indent="0">
              <a:lnSpc>
                <a:spcPct val="112000"/>
              </a:lnSpc>
              <a:buNone/>
            </a:pPr>
            <a:r>
              <a:rPr lang="en-US" sz="950" b="1" kern="0" spc="50" dirty="0">
                <a:solidFill>
                  <a:srgbClr val="5B7A99"/>
                </a:solidFill>
                <a:latin typeface="Calibri" pitchFamily="34" charset="0"/>
                <a:ea typeface="Calibri" pitchFamily="34" charset="-122"/>
                <a:cs typeface="Calibri" pitchFamily="34" charset="-120"/>
              </a:rPr>
              <a:t>MILESTONE
</a:t>
            </a:r>
            <a:endParaRPr lang="en-US" sz="950" dirty="0"/>
          </a:p>
          <a:p>
            <a:pPr marL="0" indent="0">
              <a:lnSpc>
                <a:spcPct val="112000"/>
              </a:lnSpc>
              <a:buNone/>
            </a:pPr>
            <a:r>
              <a:rPr lang="en-US" sz="1150" dirty="0">
                <a:solidFill>
                  <a:srgbClr val="12233D"/>
                </a:solidFill>
                <a:latin typeface="Calibri" pitchFamily="34" charset="0"/>
                <a:ea typeface="Calibri" pitchFamily="34" charset="-122"/>
                <a:cs typeface="Calibri" pitchFamily="34" charset="-120"/>
              </a:rPr>
              <a:t>European Commission approved state aid Dec-25 · EXIM Bank credit agreement signed Feb-26</a:t>
            </a:r>
            <a:endParaRPr lang="en-US" sz="950" dirty="0"/>
          </a:p>
        </p:txBody>
      </p:sp>
      <p:sp>
        <p:nvSpPr>
          <p:cNvPr id="45" name="Shape 40"/>
          <p:cNvSpPr/>
          <p:nvPr/>
        </p:nvSpPr>
        <p:spPr>
          <a:xfrm>
            <a:off x="8420405" y="4800600"/>
            <a:ext cx="3039770" cy="0"/>
          </a:xfrm>
          <a:prstGeom prst="line">
            <a:avLst/>
          </a:prstGeom>
          <a:noFill/>
          <a:ln w="9525">
            <a:solidFill>
              <a:srgbClr val="D6E0E8"/>
            </a:solidFill>
            <a:prstDash val="solid"/>
          </a:ln>
        </p:spPr>
        <p:txBody>
          <a:bodyPr/>
          <a:lstStyle/>
          <a:p>
            <a:endParaRPr lang="en-GB"/>
          </a:p>
        </p:txBody>
      </p:sp>
      <p:sp>
        <p:nvSpPr>
          <p:cNvPr id="46" name="Text 41"/>
          <p:cNvSpPr/>
          <p:nvPr/>
        </p:nvSpPr>
        <p:spPr>
          <a:xfrm>
            <a:off x="8420405" y="4892040"/>
            <a:ext cx="3039770" cy="420624"/>
          </a:xfrm>
          <a:prstGeom prst="rect">
            <a:avLst/>
          </a:prstGeom>
          <a:noFill/>
          <a:ln/>
        </p:spPr>
        <p:txBody>
          <a:bodyPr wrap="square" lIns="0" tIns="0" rIns="0" bIns="0" rtlCol="0" anchor="t"/>
          <a:lstStyle/>
          <a:p>
            <a:pPr marL="0" indent="0">
              <a:lnSpc>
                <a:spcPct val="105000"/>
              </a:lnSpc>
              <a:buNone/>
            </a:pPr>
            <a:r>
              <a:rPr lang="en-US" sz="1000" dirty="0">
                <a:solidFill>
                  <a:srgbClr val="5B6B7C"/>
                </a:solidFill>
                <a:latin typeface="Calibri" pitchFamily="34" charset="0"/>
                <a:ea typeface="Calibri" pitchFamily="34" charset="-122"/>
                <a:cs typeface="Calibri" pitchFamily="34" charset="-120"/>
              </a:rPr>
              <a:t>One of the largest state aid approvals in EU history; underpins bankability of the large-reactor </a:t>
            </a:r>
            <a:r>
              <a:rPr lang="en-US" sz="1000" dirty="0" err="1">
                <a:solidFill>
                  <a:srgbClr val="5B6B7C"/>
                </a:solidFill>
                <a:latin typeface="Calibri" pitchFamily="34" charset="0"/>
                <a:ea typeface="Calibri" pitchFamily="34" charset="-122"/>
                <a:cs typeface="Calibri" pitchFamily="34" charset="-120"/>
              </a:rPr>
              <a:t>programme</a:t>
            </a:r>
            <a:endParaRPr lang="en-US" sz="1000" dirty="0"/>
          </a:p>
        </p:txBody>
      </p:sp>
      <p:sp>
        <p:nvSpPr>
          <p:cNvPr id="47" name="Text 42"/>
          <p:cNvSpPr/>
          <p:nvPr/>
        </p:nvSpPr>
        <p:spPr>
          <a:xfrm>
            <a:off x="8420405" y="5404104"/>
            <a:ext cx="3039770" cy="256032"/>
          </a:xfrm>
          <a:prstGeom prst="rect">
            <a:avLst/>
          </a:prstGeom>
          <a:noFill/>
          <a:ln/>
        </p:spPr>
        <p:txBody>
          <a:bodyPr wrap="square" lIns="0" tIns="0" rIns="0" bIns="0" rtlCol="0" anchor="b"/>
          <a:lstStyle/>
          <a:p>
            <a:pPr marL="0" indent="0">
              <a:buNone/>
            </a:pPr>
            <a:r>
              <a:rPr lang="en-US" sz="1100" i="1" dirty="0">
                <a:solidFill>
                  <a:srgbClr val="5B6B7C"/>
                </a:solidFill>
                <a:latin typeface="Calibri" pitchFamily="34" charset="0"/>
                <a:ea typeface="Calibri" pitchFamily="34" charset="-122"/>
                <a:cs typeface="Calibri" pitchFamily="34" charset="-120"/>
              </a:rPr>
              <a:t>European Commission · EXIM Bank · Polish Ministry of Finance</a:t>
            </a:r>
            <a:endParaRPr lang="en-US" sz="1100" dirty="0"/>
          </a:p>
        </p:txBody>
      </p:sp>
      <p:sp>
        <p:nvSpPr>
          <p:cNvPr id="48" name="Text 43"/>
          <p:cNvSpPr/>
          <p:nvPr/>
        </p:nvSpPr>
        <p:spPr>
          <a:xfrm>
            <a:off x="457200" y="6565392"/>
            <a:ext cx="11247120" cy="228600"/>
          </a:xfrm>
          <a:prstGeom prst="rect">
            <a:avLst/>
          </a:prstGeom>
          <a:noFill/>
          <a:ln/>
        </p:spPr>
        <p:txBody>
          <a:bodyPr wrap="square" lIns="0" tIns="0" rIns="0" bIns="0" rtlCol="0" anchor="ctr"/>
          <a:lstStyle/>
          <a:p>
            <a:pPr marL="0" indent="0">
              <a:buNone/>
            </a:pPr>
            <a:r>
              <a:rPr lang="en-US" sz="850" i="1" dirty="0">
                <a:solidFill>
                  <a:srgbClr val="9AA7B3"/>
                </a:solidFill>
                <a:latin typeface="Calibri" pitchFamily="34" charset="0"/>
                <a:ea typeface="Calibri" pitchFamily="34" charset="-122"/>
                <a:cs typeface="Calibri" pitchFamily="34" charset="-120"/>
              </a:rPr>
              <a:t>Source: PEJ, Westinghouse, Bechtel, GE Vernova, OSGE, World Nuclear News, Polish Ministry of Energy announcements, 23 June 2026. EPC contract for the large-reactor </a:t>
            </a:r>
            <a:r>
              <a:rPr lang="en-US" sz="850" i="1" dirty="0" err="1">
                <a:solidFill>
                  <a:srgbClr val="9AA7B3"/>
                </a:solidFill>
                <a:latin typeface="Calibri" pitchFamily="34" charset="0"/>
                <a:ea typeface="Calibri" pitchFamily="34" charset="-122"/>
                <a:cs typeface="Calibri" pitchFamily="34" charset="-120"/>
              </a:rPr>
              <a:t>programme</a:t>
            </a:r>
            <a:r>
              <a:rPr lang="en-US" sz="850" i="1" dirty="0">
                <a:solidFill>
                  <a:srgbClr val="9AA7B3"/>
                </a:solidFill>
                <a:latin typeface="Calibri" pitchFamily="34" charset="0"/>
                <a:ea typeface="Calibri" pitchFamily="34" charset="-122"/>
                <a:cs typeface="Calibri" pitchFamily="34" charset="-120"/>
              </a:rPr>
              <a:t> is still under negotiation.</a:t>
            </a:r>
            <a:endParaRPr lang="en-US" sz="850" dirty="0"/>
          </a:p>
        </p:txBody>
      </p:sp>
      <p:pic>
        <p:nvPicPr>
          <p:cNvPr id="5" name="Picture 4">
            <a:extLst>
              <a:ext uri="{FF2B5EF4-FFF2-40B4-BE49-F238E27FC236}">
                <a16:creationId xmlns:a16="http://schemas.microsoft.com/office/drawing/2014/main" id="{DF2A0EF6-2C8A-805A-4D18-CE55C1996669}"/>
              </a:ext>
            </a:extLst>
          </p:cNvPr>
          <p:cNvPicPr>
            <a:picLocks noChangeAspect="1"/>
          </p:cNvPicPr>
          <p:nvPr/>
        </p:nvPicPr>
        <p:blipFill>
          <a:blip r:embed="rId6"/>
          <a:stretch>
            <a:fillRect/>
          </a:stretch>
        </p:blipFill>
        <p:spPr>
          <a:xfrm>
            <a:off x="11092522" y="8412"/>
            <a:ext cx="1097277" cy="112804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943" y="0"/>
            <a:ext cx="12191695" cy="914400"/>
          </a:xfrm>
          <a:prstGeom prst="rect">
            <a:avLst/>
          </a:prstGeom>
          <a:solidFill>
            <a:srgbClr val="12233D"/>
          </a:solidFill>
          <a:ln/>
        </p:spPr>
        <p:txBody>
          <a:bodyPr/>
          <a:lstStyle/>
          <a:p>
            <a:endParaRPr lang="en-GB"/>
          </a:p>
        </p:txBody>
      </p:sp>
      <p:sp>
        <p:nvSpPr>
          <p:cNvPr id="3" name="Text 1"/>
          <p:cNvSpPr/>
          <p:nvPr/>
        </p:nvSpPr>
        <p:spPr>
          <a:xfrm>
            <a:off x="457200" y="100584"/>
            <a:ext cx="8869680" cy="347472"/>
          </a:xfrm>
          <a:prstGeom prst="rect">
            <a:avLst/>
          </a:prstGeom>
          <a:noFill/>
          <a:ln/>
        </p:spPr>
        <p:txBody>
          <a:bodyPr wrap="square" lIns="0" tIns="0" rIns="0" bIns="0" rtlCol="0" anchor="ctr"/>
          <a:lstStyle/>
          <a:p>
            <a:pPr marL="0" indent="0">
              <a:buNone/>
            </a:pPr>
            <a:r>
              <a:rPr lang="en-US" b="1" kern="0" spc="130" dirty="0">
                <a:solidFill>
                  <a:srgbClr val="FF0000"/>
                </a:solidFill>
                <a:latin typeface="Calibri" pitchFamily="34" charset="0"/>
                <a:ea typeface="Calibri" pitchFamily="34" charset="-122"/>
                <a:cs typeface="Calibri" pitchFamily="34" charset="-120"/>
              </a:rPr>
              <a:t>POLAND</a:t>
            </a:r>
            <a:r>
              <a:rPr lang="en-US" sz="1400" b="1" kern="0" spc="130" dirty="0">
                <a:solidFill>
                  <a:srgbClr val="9FB6CC"/>
                </a:solidFill>
                <a:latin typeface="Calibri" pitchFamily="34" charset="0"/>
                <a:ea typeface="Calibri" pitchFamily="34" charset="-122"/>
                <a:cs typeface="Calibri" pitchFamily="34" charset="-120"/>
              </a:rPr>
              <a:t> NUCLEAR PROGRAMME LANDSCAPE</a:t>
            </a:r>
            <a:endParaRPr lang="en-US" sz="1400" dirty="0"/>
          </a:p>
        </p:txBody>
      </p:sp>
      <p:sp>
        <p:nvSpPr>
          <p:cNvPr id="4" name="Text 2"/>
          <p:cNvSpPr/>
          <p:nvPr/>
        </p:nvSpPr>
        <p:spPr>
          <a:xfrm>
            <a:off x="457200" y="384048"/>
            <a:ext cx="886968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Delivery Timeline, 2026–2038+</a:t>
            </a:r>
            <a:endParaRPr lang="en-US" sz="2400" dirty="0"/>
          </a:p>
        </p:txBody>
      </p:sp>
      <p:sp>
        <p:nvSpPr>
          <p:cNvPr id="6" name="Shape 4"/>
          <p:cNvSpPr/>
          <p:nvPr/>
        </p:nvSpPr>
        <p:spPr>
          <a:xfrm>
            <a:off x="6080760" y="1060704"/>
            <a:ext cx="118872" cy="118872"/>
          </a:xfrm>
          <a:prstGeom prst="ellipse">
            <a:avLst/>
          </a:prstGeom>
          <a:solidFill>
            <a:srgbClr val="1E8E5A"/>
          </a:solidFill>
          <a:ln/>
        </p:spPr>
        <p:txBody>
          <a:bodyPr/>
          <a:lstStyle/>
          <a:p>
            <a:endParaRPr lang="en-GB"/>
          </a:p>
        </p:txBody>
      </p:sp>
      <p:sp>
        <p:nvSpPr>
          <p:cNvPr id="7" name="Text 5"/>
          <p:cNvSpPr/>
          <p:nvPr/>
        </p:nvSpPr>
        <p:spPr>
          <a:xfrm>
            <a:off x="6263640" y="978408"/>
            <a:ext cx="205740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Construction / active delivery</a:t>
            </a:r>
            <a:endParaRPr lang="en-US" sz="950" dirty="0"/>
          </a:p>
        </p:txBody>
      </p:sp>
      <p:sp>
        <p:nvSpPr>
          <p:cNvPr id="8" name="Shape 6"/>
          <p:cNvSpPr/>
          <p:nvPr/>
        </p:nvSpPr>
        <p:spPr>
          <a:xfrm>
            <a:off x="8412480" y="1060704"/>
            <a:ext cx="118872" cy="118872"/>
          </a:xfrm>
          <a:prstGeom prst="ellipse">
            <a:avLst/>
          </a:prstGeom>
          <a:solidFill>
            <a:srgbClr val="C77B17"/>
          </a:solidFill>
          <a:ln/>
        </p:spPr>
        <p:txBody>
          <a:bodyPr/>
          <a:lstStyle/>
          <a:p>
            <a:endParaRPr lang="en-GB"/>
          </a:p>
        </p:txBody>
      </p:sp>
      <p:sp>
        <p:nvSpPr>
          <p:cNvPr id="9" name="Text 7"/>
          <p:cNvSpPr/>
          <p:nvPr/>
        </p:nvSpPr>
        <p:spPr>
          <a:xfrm>
            <a:off x="8595360" y="978408"/>
            <a:ext cx="173736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Licensing / design / pre-FID</a:t>
            </a:r>
            <a:endParaRPr lang="en-US" sz="950" dirty="0"/>
          </a:p>
        </p:txBody>
      </p:sp>
      <p:sp>
        <p:nvSpPr>
          <p:cNvPr id="10" name="Shape 8"/>
          <p:cNvSpPr/>
          <p:nvPr/>
        </p:nvSpPr>
        <p:spPr>
          <a:xfrm>
            <a:off x="10424160" y="1060704"/>
            <a:ext cx="118872" cy="118872"/>
          </a:xfrm>
          <a:prstGeom prst="ellipse">
            <a:avLst/>
          </a:prstGeom>
          <a:solidFill>
            <a:srgbClr val="6B7785"/>
          </a:solidFill>
          <a:ln/>
        </p:spPr>
        <p:txBody>
          <a:bodyPr/>
          <a:lstStyle/>
          <a:p>
            <a:endParaRPr lang="en-GB"/>
          </a:p>
        </p:txBody>
      </p:sp>
      <p:sp>
        <p:nvSpPr>
          <p:cNvPr id="11" name="Text 9"/>
          <p:cNvSpPr/>
          <p:nvPr/>
        </p:nvSpPr>
        <p:spPr>
          <a:xfrm>
            <a:off x="10607040" y="978408"/>
            <a:ext cx="146304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Site selection / concept</a:t>
            </a:r>
            <a:endParaRPr lang="en-US" sz="950" dirty="0"/>
          </a:p>
        </p:txBody>
      </p:sp>
      <p:sp>
        <p:nvSpPr>
          <p:cNvPr id="12" name="Shape 10"/>
          <p:cNvSpPr/>
          <p:nvPr/>
        </p:nvSpPr>
        <p:spPr>
          <a:xfrm>
            <a:off x="2514600" y="1499616"/>
            <a:ext cx="0" cy="4736592"/>
          </a:xfrm>
          <a:prstGeom prst="line">
            <a:avLst/>
          </a:prstGeom>
          <a:noFill/>
          <a:ln w="9525">
            <a:solidFill>
              <a:srgbClr val="E3E9EF"/>
            </a:solidFill>
            <a:prstDash val="solid"/>
          </a:ln>
        </p:spPr>
        <p:txBody>
          <a:bodyPr/>
          <a:lstStyle/>
          <a:p>
            <a:endParaRPr lang="en-GB"/>
          </a:p>
        </p:txBody>
      </p:sp>
      <p:sp>
        <p:nvSpPr>
          <p:cNvPr id="13" name="Text 11"/>
          <p:cNvSpPr/>
          <p:nvPr/>
        </p:nvSpPr>
        <p:spPr>
          <a:xfrm>
            <a:off x="2194560" y="6272784"/>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2026</a:t>
            </a:r>
            <a:endParaRPr lang="en-US" sz="950" dirty="0"/>
          </a:p>
        </p:txBody>
      </p:sp>
      <p:sp>
        <p:nvSpPr>
          <p:cNvPr id="14" name="Shape 12"/>
          <p:cNvSpPr/>
          <p:nvPr/>
        </p:nvSpPr>
        <p:spPr>
          <a:xfrm>
            <a:off x="4053840" y="1499616"/>
            <a:ext cx="0" cy="4736592"/>
          </a:xfrm>
          <a:prstGeom prst="line">
            <a:avLst/>
          </a:prstGeom>
          <a:noFill/>
          <a:ln w="9525">
            <a:solidFill>
              <a:srgbClr val="E3E9EF"/>
            </a:solidFill>
            <a:prstDash val="solid"/>
          </a:ln>
        </p:spPr>
        <p:txBody>
          <a:bodyPr/>
          <a:lstStyle/>
          <a:p>
            <a:endParaRPr lang="en-GB"/>
          </a:p>
        </p:txBody>
      </p:sp>
      <p:sp>
        <p:nvSpPr>
          <p:cNvPr id="15" name="Text 13"/>
          <p:cNvSpPr/>
          <p:nvPr/>
        </p:nvSpPr>
        <p:spPr>
          <a:xfrm>
            <a:off x="3733800" y="6272784"/>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2028</a:t>
            </a:r>
            <a:endParaRPr lang="en-US" sz="950" dirty="0"/>
          </a:p>
        </p:txBody>
      </p:sp>
      <p:sp>
        <p:nvSpPr>
          <p:cNvPr id="16" name="Shape 14"/>
          <p:cNvSpPr/>
          <p:nvPr/>
        </p:nvSpPr>
        <p:spPr>
          <a:xfrm>
            <a:off x="5593080" y="1499616"/>
            <a:ext cx="0" cy="4736592"/>
          </a:xfrm>
          <a:prstGeom prst="line">
            <a:avLst/>
          </a:prstGeom>
          <a:noFill/>
          <a:ln w="9525">
            <a:solidFill>
              <a:srgbClr val="E3E9EF"/>
            </a:solidFill>
            <a:prstDash val="solid"/>
          </a:ln>
        </p:spPr>
        <p:txBody>
          <a:bodyPr/>
          <a:lstStyle/>
          <a:p>
            <a:endParaRPr lang="en-GB"/>
          </a:p>
        </p:txBody>
      </p:sp>
      <p:sp>
        <p:nvSpPr>
          <p:cNvPr id="17" name="Text 15"/>
          <p:cNvSpPr/>
          <p:nvPr/>
        </p:nvSpPr>
        <p:spPr>
          <a:xfrm>
            <a:off x="5273040" y="6272784"/>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2030</a:t>
            </a:r>
            <a:endParaRPr lang="en-US" sz="950" dirty="0"/>
          </a:p>
        </p:txBody>
      </p:sp>
      <p:sp>
        <p:nvSpPr>
          <p:cNvPr id="18" name="Shape 16"/>
          <p:cNvSpPr/>
          <p:nvPr/>
        </p:nvSpPr>
        <p:spPr>
          <a:xfrm>
            <a:off x="7132320" y="1499616"/>
            <a:ext cx="0" cy="4736592"/>
          </a:xfrm>
          <a:prstGeom prst="line">
            <a:avLst/>
          </a:prstGeom>
          <a:noFill/>
          <a:ln w="9525">
            <a:solidFill>
              <a:srgbClr val="E3E9EF"/>
            </a:solidFill>
            <a:prstDash val="solid"/>
          </a:ln>
        </p:spPr>
        <p:txBody>
          <a:bodyPr/>
          <a:lstStyle/>
          <a:p>
            <a:endParaRPr lang="en-GB"/>
          </a:p>
        </p:txBody>
      </p:sp>
      <p:sp>
        <p:nvSpPr>
          <p:cNvPr id="19" name="Text 17"/>
          <p:cNvSpPr/>
          <p:nvPr/>
        </p:nvSpPr>
        <p:spPr>
          <a:xfrm>
            <a:off x="6812280" y="6272784"/>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2032</a:t>
            </a:r>
            <a:endParaRPr lang="en-US" sz="950" dirty="0"/>
          </a:p>
        </p:txBody>
      </p:sp>
      <p:sp>
        <p:nvSpPr>
          <p:cNvPr id="20" name="Shape 18"/>
          <p:cNvSpPr/>
          <p:nvPr/>
        </p:nvSpPr>
        <p:spPr>
          <a:xfrm>
            <a:off x="8671560" y="1499616"/>
            <a:ext cx="0" cy="4736592"/>
          </a:xfrm>
          <a:prstGeom prst="line">
            <a:avLst/>
          </a:prstGeom>
          <a:noFill/>
          <a:ln w="9525">
            <a:solidFill>
              <a:srgbClr val="E3E9EF"/>
            </a:solidFill>
            <a:prstDash val="solid"/>
          </a:ln>
        </p:spPr>
        <p:txBody>
          <a:bodyPr/>
          <a:lstStyle/>
          <a:p>
            <a:endParaRPr lang="en-GB"/>
          </a:p>
        </p:txBody>
      </p:sp>
      <p:sp>
        <p:nvSpPr>
          <p:cNvPr id="21" name="Text 19"/>
          <p:cNvSpPr/>
          <p:nvPr/>
        </p:nvSpPr>
        <p:spPr>
          <a:xfrm>
            <a:off x="8351520" y="6272784"/>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2034</a:t>
            </a:r>
            <a:endParaRPr lang="en-US" sz="950" dirty="0"/>
          </a:p>
        </p:txBody>
      </p:sp>
      <p:sp>
        <p:nvSpPr>
          <p:cNvPr id="22" name="Shape 20"/>
          <p:cNvSpPr/>
          <p:nvPr/>
        </p:nvSpPr>
        <p:spPr>
          <a:xfrm>
            <a:off x="10210800" y="1499616"/>
            <a:ext cx="0" cy="4736592"/>
          </a:xfrm>
          <a:prstGeom prst="line">
            <a:avLst/>
          </a:prstGeom>
          <a:noFill/>
          <a:ln w="9525">
            <a:solidFill>
              <a:srgbClr val="E3E9EF"/>
            </a:solidFill>
            <a:prstDash val="solid"/>
          </a:ln>
        </p:spPr>
        <p:txBody>
          <a:bodyPr/>
          <a:lstStyle/>
          <a:p>
            <a:endParaRPr lang="en-GB"/>
          </a:p>
        </p:txBody>
      </p:sp>
      <p:sp>
        <p:nvSpPr>
          <p:cNvPr id="23" name="Text 21"/>
          <p:cNvSpPr/>
          <p:nvPr/>
        </p:nvSpPr>
        <p:spPr>
          <a:xfrm>
            <a:off x="9890760" y="6272784"/>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2036</a:t>
            </a:r>
            <a:endParaRPr lang="en-US" sz="950" dirty="0"/>
          </a:p>
        </p:txBody>
      </p:sp>
      <p:sp>
        <p:nvSpPr>
          <p:cNvPr id="24" name="Shape 22"/>
          <p:cNvSpPr/>
          <p:nvPr/>
        </p:nvSpPr>
        <p:spPr>
          <a:xfrm>
            <a:off x="11750040" y="1499616"/>
            <a:ext cx="0" cy="4736592"/>
          </a:xfrm>
          <a:prstGeom prst="line">
            <a:avLst/>
          </a:prstGeom>
          <a:noFill/>
          <a:ln w="9525">
            <a:solidFill>
              <a:srgbClr val="E3E9EF"/>
            </a:solidFill>
            <a:prstDash val="solid"/>
          </a:ln>
        </p:spPr>
        <p:txBody>
          <a:bodyPr/>
          <a:lstStyle/>
          <a:p>
            <a:endParaRPr lang="en-GB"/>
          </a:p>
        </p:txBody>
      </p:sp>
      <p:sp>
        <p:nvSpPr>
          <p:cNvPr id="25" name="Text 23"/>
          <p:cNvSpPr/>
          <p:nvPr/>
        </p:nvSpPr>
        <p:spPr>
          <a:xfrm>
            <a:off x="11430000" y="6272784"/>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2038+</a:t>
            </a:r>
            <a:endParaRPr lang="en-US" sz="950" dirty="0"/>
          </a:p>
        </p:txBody>
      </p:sp>
      <p:sp>
        <p:nvSpPr>
          <p:cNvPr id="26" name="Shape 24"/>
          <p:cNvSpPr/>
          <p:nvPr/>
        </p:nvSpPr>
        <p:spPr>
          <a:xfrm>
            <a:off x="365760" y="1499616"/>
            <a:ext cx="2011680" cy="4736592"/>
          </a:xfrm>
          <a:prstGeom prst="rect">
            <a:avLst/>
          </a:prstGeom>
          <a:solidFill>
            <a:srgbClr val="FFFFFF"/>
          </a:solidFill>
          <a:ln/>
        </p:spPr>
        <p:txBody>
          <a:bodyPr/>
          <a:lstStyle/>
          <a:p>
            <a:endParaRPr lang="en-GB"/>
          </a:p>
        </p:txBody>
      </p:sp>
      <p:sp>
        <p:nvSpPr>
          <p:cNvPr id="27" name="Shape 25"/>
          <p:cNvSpPr/>
          <p:nvPr/>
        </p:nvSpPr>
        <p:spPr>
          <a:xfrm>
            <a:off x="365760" y="1554480"/>
            <a:ext cx="11795760" cy="1371600"/>
          </a:xfrm>
          <a:prstGeom prst="rect">
            <a:avLst/>
          </a:prstGeom>
          <a:solidFill>
            <a:srgbClr val="F7FAFC"/>
          </a:solidFill>
          <a:ln/>
        </p:spPr>
        <p:txBody>
          <a:bodyPr/>
          <a:lstStyle/>
          <a:p>
            <a:endParaRPr lang="en-GB"/>
          </a:p>
        </p:txBody>
      </p:sp>
      <p:sp>
        <p:nvSpPr>
          <p:cNvPr id="28" name="Shape 26"/>
          <p:cNvSpPr/>
          <p:nvPr/>
        </p:nvSpPr>
        <p:spPr>
          <a:xfrm>
            <a:off x="457200" y="2011680"/>
            <a:ext cx="457200" cy="457200"/>
          </a:xfrm>
          <a:prstGeom prst="ellipse">
            <a:avLst/>
          </a:prstGeom>
          <a:solidFill>
            <a:srgbClr val="1B3358"/>
          </a:solidFill>
          <a:ln/>
        </p:spPr>
        <p:txBody>
          <a:bodyPr/>
          <a:lstStyle/>
          <a:p>
            <a:endParaRPr lang="en-GB"/>
          </a:p>
        </p:txBody>
      </p:sp>
      <p:pic>
        <p:nvPicPr>
          <p:cNvPr id="29" name="Image 0" descr="preencoded.png"/>
          <p:cNvPicPr>
            <a:picLocks noChangeAspect="1"/>
          </p:cNvPicPr>
          <p:nvPr/>
        </p:nvPicPr>
        <p:blipFill>
          <a:blip r:embed="rId3"/>
          <a:stretch>
            <a:fillRect/>
          </a:stretch>
        </p:blipFill>
        <p:spPr>
          <a:xfrm>
            <a:off x="548640" y="2103120"/>
            <a:ext cx="274320" cy="274320"/>
          </a:xfrm>
          <a:prstGeom prst="rect">
            <a:avLst/>
          </a:prstGeom>
        </p:spPr>
      </p:pic>
      <p:sp>
        <p:nvSpPr>
          <p:cNvPr id="30" name="Text 27"/>
          <p:cNvSpPr/>
          <p:nvPr/>
        </p:nvSpPr>
        <p:spPr>
          <a:xfrm>
            <a:off x="1005840" y="1682496"/>
            <a:ext cx="1417320" cy="548640"/>
          </a:xfrm>
          <a:prstGeom prst="rect">
            <a:avLst/>
          </a:prstGeom>
          <a:noFill/>
          <a:ln/>
        </p:spPr>
        <p:txBody>
          <a:bodyPr wrap="square" lIns="0" tIns="0" rIns="0" bIns="0" rtlCol="0" anchor="t"/>
          <a:lstStyle/>
          <a:p>
            <a:pPr marL="0" indent="0">
              <a:lnSpc>
                <a:spcPct val="100000"/>
              </a:lnSpc>
              <a:buNone/>
            </a:pPr>
            <a:r>
              <a:rPr lang="en-US" sz="1250" b="1" dirty="0">
                <a:solidFill>
                  <a:srgbClr val="12233D"/>
                </a:solidFill>
                <a:latin typeface="Calibri" pitchFamily="34" charset="0"/>
                <a:ea typeface="Calibri" pitchFamily="34" charset="-122"/>
                <a:cs typeface="Calibri" pitchFamily="34" charset="-120"/>
              </a:rPr>
              <a:t>Lubiatowo-Kopalino — Large Reactors</a:t>
            </a:r>
            <a:endParaRPr lang="en-US" sz="1250" dirty="0"/>
          </a:p>
        </p:txBody>
      </p:sp>
      <p:sp>
        <p:nvSpPr>
          <p:cNvPr id="31" name="Text 28"/>
          <p:cNvSpPr/>
          <p:nvPr/>
        </p:nvSpPr>
        <p:spPr>
          <a:xfrm>
            <a:off x="1005840" y="2414016"/>
            <a:ext cx="1417320" cy="457200"/>
          </a:xfrm>
          <a:prstGeom prst="rect">
            <a:avLst/>
          </a:prstGeom>
          <a:noFill/>
          <a:ln/>
        </p:spPr>
        <p:txBody>
          <a:bodyPr wrap="square" lIns="0" tIns="0" rIns="0" bIns="0" rtlCol="0" anchor="b"/>
          <a:lstStyle/>
          <a:p>
            <a:pPr marL="0" indent="0">
              <a:lnSpc>
                <a:spcPct val="100000"/>
              </a:lnSpc>
              <a:buNone/>
            </a:pPr>
            <a:r>
              <a:rPr lang="en-US" sz="770" i="1" dirty="0">
                <a:solidFill>
                  <a:srgbClr val="5B6B7C"/>
                </a:solidFill>
                <a:latin typeface="Calibri" pitchFamily="34" charset="0"/>
                <a:ea typeface="Calibri" pitchFamily="34" charset="-122"/>
                <a:cs typeface="Calibri" pitchFamily="34" charset="-120"/>
              </a:rPr>
              <a:t>3 × Westinghouse AP1000 (3,750 MWe) · PEJ · Westinghouse · Bechtel · ~€42bn</a:t>
            </a:r>
            <a:endParaRPr lang="en-US" sz="770" dirty="0"/>
          </a:p>
        </p:txBody>
      </p:sp>
      <p:sp>
        <p:nvSpPr>
          <p:cNvPr id="32" name="Shape 29"/>
          <p:cNvSpPr/>
          <p:nvPr/>
        </p:nvSpPr>
        <p:spPr>
          <a:xfrm>
            <a:off x="2514600" y="2240280"/>
            <a:ext cx="9235440" cy="0"/>
          </a:xfrm>
          <a:prstGeom prst="line">
            <a:avLst/>
          </a:prstGeom>
          <a:noFill/>
          <a:ln w="6350">
            <a:solidFill>
              <a:srgbClr val="E3E9EF"/>
            </a:solidFill>
            <a:prstDash val="dash"/>
          </a:ln>
        </p:spPr>
        <p:txBody>
          <a:bodyPr/>
          <a:lstStyle/>
          <a:p>
            <a:endParaRPr lang="en-GB"/>
          </a:p>
        </p:txBody>
      </p:sp>
      <p:sp>
        <p:nvSpPr>
          <p:cNvPr id="33" name="Shape 30"/>
          <p:cNvSpPr/>
          <p:nvPr/>
        </p:nvSpPr>
        <p:spPr>
          <a:xfrm>
            <a:off x="2514600" y="2112264"/>
            <a:ext cx="2231898" cy="256032"/>
          </a:xfrm>
          <a:prstGeom prst="roundRect">
            <a:avLst>
              <a:gd name="adj" fmla="val 17857"/>
            </a:avLst>
          </a:prstGeom>
          <a:solidFill>
            <a:srgbClr val="C77B17"/>
          </a:solidFill>
          <a:ln/>
        </p:spPr>
        <p:txBody>
          <a:bodyPr/>
          <a:lstStyle/>
          <a:p>
            <a:endParaRPr lang="en-GB"/>
          </a:p>
        </p:txBody>
      </p:sp>
      <p:sp>
        <p:nvSpPr>
          <p:cNvPr id="34" name="Shape 31"/>
          <p:cNvSpPr/>
          <p:nvPr/>
        </p:nvSpPr>
        <p:spPr>
          <a:xfrm>
            <a:off x="4746498" y="2112264"/>
            <a:ext cx="5464302" cy="256032"/>
          </a:xfrm>
          <a:prstGeom prst="roundRect">
            <a:avLst>
              <a:gd name="adj" fmla="val 17857"/>
            </a:avLst>
          </a:prstGeom>
          <a:solidFill>
            <a:srgbClr val="1E8E5A"/>
          </a:solidFill>
          <a:ln/>
        </p:spPr>
        <p:txBody>
          <a:bodyPr/>
          <a:lstStyle/>
          <a:p>
            <a:endParaRPr lang="en-GB"/>
          </a:p>
        </p:txBody>
      </p:sp>
      <p:sp>
        <p:nvSpPr>
          <p:cNvPr id="35" name="Shape 32"/>
          <p:cNvSpPr/>
          <p:nvPr/>
        </p:nvSpPr>
        <p:spPr>
          <a:xfrm>
            <a:off x="10210800" y="2112264"/>
            <a:ext cx="1539240" cy="256032"/>
          </a:xfrm>
          <a:prstGeom prst="roundRect">
            <a:avLst>
              <a:gd name="adj" fmla="val 17857"/>
            </a:avLst>
          </a:prstGeom>
          <a:solidFill>
            <a:srgbClr val="1E8E5A"/>
          </a:solidFill>
          <a:ln/>
        </p:spPr>
        <p:txBody>
          <a:bodyPr/>
          <a:lstStyle/>
          <a:p>
            <a:endParaRPr lang="en-GB"/>
          </a:p>
        </p:txBody>
      </p:sp>
      <p:sp>
        <p:nvSpPr>
          <p:cNvPr id="36" name="Shape 33"/>
          <p:cNvSpPr/>
          <p:nvPr/>
        </p:nvSpPr>
        <p:spPr>
          <a:xfrm>
            <a:off x="2912364" y="2176272"/>
            <a:ext cx="128016" cy="128016"/>
          </a:xfrm>
          <a:prstGeom prst="diamond">
            <a:avLst/>
          </a:prstGeom>
          <a:solidFill>
            <a:srgbClr val="FFFFFF"/>
          </a:solidFill>
          <a:ln w="22860">
            <a:solidFill>
              <a:srgbClr val="C77B17"/>
            </a:solidFill>
            <a:prstDash val="solid"/>
          </a:ln>
        </p:spPr>
        <p:txBody>
          <a:bodyPr/>
          <a:lstStyle/>
          <a:p>
            <a:endParaRPr lang="en-GB"/>
          </a:p>
        </p:txBody>
      </p:sp>
      <p:sp>
        <p:nvSpPr>
          <p:cNvPr id="37" name="Text 34"/>
          <p:cNvSpPr/>
          <p:nvPr/>
        </p:nvSpPr>
        <p:spPr>
          <a:xfrm>
            <a:off x="2560320" y="1645920"/>
            <a:ext cx="2651760" cy="274320"/>
          </a:xfrm>
          <a:prstGeom prst="rect">
            <a:avLst/>
          </a:prstGeom>
          <a:noFill/>
          <a:ln/>
        </p:spPr>
        <p:txBody>
          <a:bodyPr wrap="square" lIns="0" tIns="0" rIns="0" bIns="0" rtlCol="0" anchor="ctr"/>
          <a:lstStyle/>
          <a:p>
            <a:pPr marL="0" indent="0" algn="ctr">
              <a:buNone/>
            </a:pPr>
            <a:r>
              <a:rPr lang="en-US" sz="790" b="1" dirty="0">
                <a:solidFill>
                  <a:srgbClr val="C77B17"/>
                </a:solidFill>
                <a:latin typeface="Calibri" pitchFamily="34" charset="0"/>
                <a:ea typeface="Calibri" pitchFamily="34" charset="-122"/>
                <a:cs typeface="Calibri" pitchFamily="34" charset="-120"/>
              </a:rPr>
              <a:t>Construction licence application submitted, Apr-26</a:t>
            </a:r>
            <a:endParaRPr lang="en-US" sz="790" dirty="0"/>
          </a:p>
        </p:txBody>
      </p:sp>
      <p:sp>
        <p:nvSpPr>
          <p:cNvPr id="38" name="Shape 35"/>
          <p:cNvSpPr/>
          <p:nvPr/>
        </p:nvSpPr>
        <p:spPr>
          <a:xfrm>
            <a:off x="4682490" y="2176272"/>
            <a:ext cx="128016" cy="128016"/>
          </a:xfrm>
          <a:prstGeom prst="diamond">
            <a:avLst/>
          </a:prstGeom>
          <a:solidFill>
            <a:srgbClr val="FFFFFF"/>
          </a:solidFill>
          <a:ln w="22860">
            <a:solidFill>
              <a:srgbClr val="1E8E5A"/>
            </a:solidFill>
            <a:prstDash val="solid"/>
          </a:ln>
        </p:spPr>
        <p:txBody>
          <a:bodyPr/>
          <a:lstStyle/>
          <a:p>
            <a:endParaRPr lang="en-GB"/>
          </a:p>
        </p:txBody>
      </p:sp>
      <p:sp>
        <p:nvSpPr>
          <p:cNvPr id="39" name="Text 36"/>
          <p:cNvSpPr/>
          <p:nvPr/>
        </p:nvSpPr>
        <p:spPr>
          <a:xfrm>
            <a:off x="3420618" y="2468880"/>
            <a:ext cx="2651760" cy="274320"/>
          </a:xfrm>
          <a:prstGeom prst="rect">
            <a:avLst/>
          </a:prstGeom>
          <a:noFill/>
          <a:ln/>
        </p:spPr>
        <p:txBody>
          <a:bodyPr wrap="square" lIns="0" tIns="0" rIns="0" bIns="0" rtlCol="0" anchor="ctr"/>
          <a:lstStyle/>
          <a:p>
            <a:pPr marL="0" indent="0" algn="ctr">
              <a:buNone/>
            </a:pPr>
            <a:r>
              <a:rPr lang="en-US" sz="790" b="1" dirty="0">
                <a:solidFill>
                  <a:srgbClr val="1E8E5A"/>
                </a:solidFill>
                <a:latin typeface="Calibri" pitchFamily="34" charset="0"/>
                <a:ea typeface="Calibri" pitchFamily="34" charset="-122"/>
                <a:cs typeface="Calibri" pitchFamily="34" charset="-120"/>
              </a:rPr>
              <a:t>First concrete (late 2028)</a:t>
            </a:r>
            <a:endParaRPr lang="en-US" sz="790" dirty="0"/>
          </a:p>
        </p:txBody>
      </p:sp>
      <p:sp>
        <p:nvSpPr>
          <p:cNvPr id="40" name="Shape 37"/>
          <p:cNvSpPr/>
          <p:nvPr/>
        </p:nvSpPr>
        <p:spPr>
          <a:xfrm>
            <a:off x="10146792" y="2176272"/>
            <a:ext cx="128016" cy="128016"/>
          </a:xfrm>
          <a:prstGeom prst="diamond">
            <a:avLst/>
          </a:prstGeom>
          <a:solidFill>
            <a:srgbClr val="FFFFFF"/>
          </a:solidFill>
          <a:ln w="22860">
            <a:solidFill>
              <a:srgbClr val="1E8E5A"/>
            </a:solidFill>
            <a:prstDash val="solid"/>
          </a:ln>
        </p:spPr>
        <p:txBody>
          <a:bodyPr/>
          <a:lstStyle/>
          <a:p>
            <a:endParaRPr lang="en-GB"/>
          </a:p>
        </p:txBody>
      </p:sp>
      <p:sp>
        <p:nvSpPr>
          <p:cNvPr id="41" name="Text 38"/>
          <p:cNvSpPr/>
          <p:nvPr/>
        </p:nvSpPr>
        <p:spPr>
          <a:xfrm>
            <a:off x="8884920" y="1645920"/>
            <a:ext cx="2651760" cy="274320"/>
          </a:xfrm>
          <a:prstGeom prst="rect">
            <a:avLst/>
          </a:prstGeom>
          <a:noFill/>
          <a:ln/>
        </p:spPr>
        <p:txBody>
          <a:bodyPr wrap="square" lIns="0" tIns="0" rIns="0" bIns="0" rtlCol="0" anchor="ctr"/>
          <a:lstStyle/>
          <a:p>
            <a:pPr marL="0" indent="0" algn="ctr">
              <a:buNone/>
            </a:pPr>
            <a:r>
              <a:rPr lang="en-US" sz="790" b="1" dirty="0">
                <a:solidFill>
                  <a:srgbClr val="1E8E5A"/>
                </a:solidFill>
                <a:latin typeface="Calibri" pitchFamily="34" charset="0"/>
                <a:ea typeface="Calibri" pitchFamily="34" charset="-122"/>
                <a:cs typeface="Calibri" pitchFamily="34" charset="-120"/>
              </a:rPr>
              <a:t>Unit 1 online 2036 · Units 2 &amp; 3 by 2038</a:t>
            </a:r>
            <a:endParaRPr lang="en-US" sz="790" dirty="0"/>
          </a:p>
        </p:txBody>
      </p:sp>
      <p:sp>
        <p:nvSpPr>
          <p:cNvPr id="42" name="Shape 39"/>
          <p:cNvSpPr/>
          <p:nvPr/>
        </p:nvSpPr>
        <p:spPr>
          <a:xfrm>
            <a:off x="457200" y="3639312"/>
            <a:ext cx="457200" cy="457200"/>
          </a:xfrm>
          <a:prstGeom prst="ellipse">
            <a:avLst/>
          </a:prstGeom>
          <a:solidFill>
            <a:srgbClr val="1B3358"/>
          </a:solidFill>
          <a:ln/>
        </p:spPr>
        <p:txBody>
          <a:bodyPr/>
          <a:lstStyle/>
          <a:p>
            <a:endParaRPr lang="en-GB"/>
          </a:p>
        </p:txBody>
      </p:sp>
      <p:pic>
        <p:nvPicPr>
          <p:cNvPr id="43" name="Image 1" descr="preencoded.png"/>
          <p:cNvPicPr>
            <a:picLocks noChangeAspect="1"/>
          </p:cNvPicPr>
          <p:nvPr/>
        </p:nvPicPr>
        <p:blipFill>
          <a:blip r:embed="rId4"/>
          <a:stretch>
            <a:fillRect/>
          </a:stretch>
        </p:blipFill>
        <p:spPr>
          <a:xfrm>
            <a:off x="548640" y="3730752"/>
            <a:ext cx="274320" cy="274320"/>
          </a:xfrm>
          <a:prstGeom prst="rect">
            <a:avLst/>
          </a:prstGeom>
        </p:spPr>
      </p:pic>
      <p:sp>
        <p:nvSpPr>
          <p:cNvPr id="44" name="Text 40"/>
          <p:cNvSpPr/>
          <p:nvPr/>
        </p:nvSpPr>
        <p:spPr>
          <a:xfrm>
            <a:off x="1005840" y="3310128"/>
            <a:ext cx="1417320" cy="548640"/>
          </a:xfrm>
          <a:prstGeom prst="rect">
            <a:avLst/>
          </a:prstGeom>
          <a:noFill/>
          <a:ln/>
        </p:spPr>
        <p:txBody>
          <a:bodyPr wrap="square" lIns="0" tIns="0" rIns="0" bIns="0" rtlCol="0" anchor="t"/>
          <a:lstStyle/>
          <a:p>
            <a:pPr marL="0" indent="0">
              <a:lnSpc>
                <a:spcPct val="100000"/>
              </a:lnSpc>
              <a:buNone/>
            </a:pPr>
            <a:r>
              <a:rPr lang="en-US" sz="1250" b="1" dirty="0">
                <a:solidFill>
                  <a:srgbClr val="12233D"/>
                </a:solidFill>
                <a:latin typeface="Calibri" pitchFamily="34" charset="0"/>
                <a:ea typeface="Calibri" pitchFamily="34" charset="-122"/>
                <a:cs typeface="Calibri" pitchFamily="34" charset="-120"/>
              </a:rPr>
              <a:t>OSGE — BWRX-300 SMR Fleet</a:t>
            </a:r>
            <a:endParaRPr lang="en-US" sz="1250" dirty="0"/>
          </a:p>
        </p:txBody>
      </p:sp>
      <p:sp>
        <p:nvSpPr>
          <p:cNvPr id="45" name="Text 41"/>
          <p:cNvSpPr/>
          <p:nvPr/>
        </p:nvSpPr>
        <p:spPr>
          <a:xfrm>
            <a:off x="1005840" y="4041648"/>
            <a:ext cx="1417320" cy="457200"/>
          </a:xfrm>
          <a:prstGeom prst="rect">
            <a:avLst/>
          </a:prstGeom>
          <a:noFill/>
          <a:ln/>
        </p:spPr>
        <p:txBody>
          <a:bodyPr wrap="square" lIns="0" tIns="0" rIns="0" bIns="0" rtlCol="0" anchor="b"/>
          <a:lstStyle/>
          <a:p>
            <a:pPr marL="0" indent="0">
              <a:lnSpc>
                <a:spcPct val="100000"/>
              </a:lnSpc>
              <a:buNone/>
            </a:pPr>
            <a:r>
              <a:rPr lang="en-US" sz="770" i="1" dirty="0">
                <a:solidFill>
                  <a:srgbClr val="5B6B7C"/>
                </a:solidFill>
                <a:latin typeface="Calibri" pitchFamily="34" charset="0"/>
                <a:ea typeface="Calibri" pitchFamily="34" charset="-122"/>
                <a:cs typeface="Calibri" pitchFamily="34" charset="-120"/>
              </a:rPr>
              <a:t>Up to 24 × 300 MWe · Orlen · Synthos Green Energy · GE Vernova Hitachi</a:t>
            </a:r>
            <a:endParaRPr lang="en-US" sz="770" dirty="0"/>
          </a:p>
        </p:txBody>
      </p:sp>
      <p:sp>
        <p:nvSpPr>
          <p:cNvPr id="46" name="Shape 42"/>
          <p:cNvSpPr/>
          <p:nvPr/>
        </p:nvSpPr>
        <p:spPr>
          <a:xfrm>
            <a:off x="2514600" y="3867912"/>
            <a:ext cx="9235440" cy="0"/>
          </a:xfrm>
          <a:prstGeom prst="line">
            <a:avLst/>
          </a:prstGeom>
          <a:noFill/>
          <a:ln w="6350">
            <a:solidFill>
              <a:srgbClr val="E3E9EF"/>
            </a:solidFill>
            <a:prstDash val="dash"/>
          </a:ln>
        </p:spPr>
        <p:txBody>
          <a:bodyPr/>
          <a:lstStyle/>
          <a:p>
            <a:endParaRPr lang="en-GB"/>
          </a:p>
        </p:txBody>
      </p:sp>
      <p:sp>
        <p:nvSpPr>
          <p:cNvPr id="47" name="Shape 43"/>
          <p:cNvSpPr/>
          <p:nvPr/>
        </p:nvSpPr>
        <p:spPr>
          <a:xfrm>
            <a:off x="2514600" y="3739896"/>
            <a:ext cx="115443" cy="256032"/>
          </a:xfrm>
          <a:prstGeom prst="roundRect">
            <a:avLst>
              <a:gd name="adj" fmla="val 39604"/>
            </a:avLst>
          </a:prstGeom>
          <a:solidFill>
            <a:srgbClr val="C77B17"/>
          </a:solidFill>
          <a:ln/>
        </p:spPr>
        <p:txBody>
          <a:bodyPr/>
          <a:lstStyle/>
          <a:p>
            <a:endParaRPr lang="en-GB"/>
          </a:p>
        </p:txBody>
      </p:sp>
      <p:sp>
        <p:nvSpPr>
          <p:cNvPr id="48" name="Shape 44"/>
          <p:cNvSpPr/>
          <p:nvPr/>
        </p:nvSpPr>
        <p:spPr>
          <a:xfrm>
            <a:off x="2630043" y="3739896"/>
            <a:ext cx="4502277" cy="256032"/>
          </a:xfrm>
          <a:prstGeom prst="roundRect">
            <a:avLst>
              <a:gd name="adj" fmla="val 17857"/>
            </a:avLst>
          </a:prstGeom>
          <a:solidFill>
            <a:srgbClr val="C77B17"/>
          </a:solidFill>
          <a:ln/>
        </p:spPr>
        <p:txBody>
          <a:bodyPr/>
          <a:lstStyle/>
          <a:p>
            <a:endParaRPr lang="en-GB"/>
          </a:p>
        </p:txBody>
      </p:sp>
      <p:sp>
        <p:nvSpPr>
          <p:cNvPr id="49" name="Shape 45"/>
          <p:cNvSpPr/>
          <p:nvPr/>
        </p:nvSpPr>
        <p:spPr>
          <a:xfrm>
            <a:off x="7132320" y="3739896"/>
            <a:ext cx="4617720" cy="256032"/>
          </a:xfrm>
          <a:prstGeom prst="roundRect">
            <a:avLst>
              <a:gd name="adj" fmla="val 17857"/>
            </a:avLst>
          </a:prstGeom>
          <a:solidFill>
            <a:srgbClr val="6B7785"/>
          </a:solidFill>
          <a:ln/>
        </p:spPr>
        <p:txBody>
          <a:bodyPr/>
          <a:lstStyle/>
          <a:p>
            <a:endParaRPr lang="en-GB"/>
          </a:p>
        </p:txBody>
      </p:sp>
      <p:sp>
        <p:nvSpPr>
          <p:cNvPr id="50" name="Shape 46"/>
          <p:cNvSpPr/>
          <p:nvPr/>
        </p:nvSpPr>
        <p:spPr>
          <a:xfrm>
            <a:off x="2835402" y="3803904"/>
            <a:ext cx="128016" cy="128016"/>
          </a:xfrm>
          <a:prstGeom prst="diamond">
            <a:avLst/>
          </a:prstGeom>
          <a:solidFill>
            <a:srgbClr val="FFFFFF"/>
          </a:solidFill>
          <a:ln w="22860">
            <a:solidFill>
              <a:srgbClr val="C77B17"/>
            </a:solidFill>
            <a:prstDash val="solid"/>
          </a:ln>
        </p:spPr>
        <p:txBody>
          <a:bodyPr/>
          <a:lstStyle/>
          <a:p>
            <a:endParaRPr lang="en-GB"/>
          </a:p>
        </p:txBody>
      </p:sp>
      <p:sp>
        <p:nvSpPr>
          <p:cNvPr id="51" name="Text 47"/>
          <p:cNvSpPr/>
          <p:nvPr/>
        </p:nvSpPr>
        <p:spPr>
          <a:xfrm>
            <a:off x="2560320" y="3273552"/>
            <a:ext cx="2651760" cy="274320"/>
          </a:xfrm>
          <a:prstGeom prst="rect">
            <a:avLst/>
          </a:prstGeom>
          <a:noFill/>
          <a:ln/>
        </p:spPr>
        <p:txBody>
          <a:bodyPr wrap="square" lIns="0" tIns="0" rIns="0" bIns="0" rtlCol="0" anchor="ctr"/>
          <a:lstStyle/>
          <a:p>
            <a:pPr marL="0" indent="0" algn="ctr">
              <a:buNone/>
            </a:pPr>
            <a:r>
              <a:rPr lang="en-US" sz="790" b="1" dirty="0">
                <a:solidFill>
                  <a:srgbClr val="C77B17"/>
                </a:solidFill>
                <a:latin typeface="Calibri" pitchFamily="34" charset="0"/>
                <a:ea typeface="Calibri" pitchFamily="34" charset="-122"/>
                <a:cs typeface="Calibri" pitchFamily="34" charset="-120"/>
              </a:rPr>
              <a:t>Poland Generic Design Agreement signed, Feb-26</a:t>
            </a:r>
            <a:endParaRPr lang="en-US" sz="790" dirty="0"/>
          </a:p>
        </p:txBody>
      </p:sp>
      <p:sp>
        <p:nvSpPr>
          <p:cNvPr id="52" name="Shape 48"/>
          <p:cNvSpPr/>
          <p:nvPr/>
        </p:nvSpPr>
        <p:spPr>
          <a:xfrm>
            <a:off x="7068312" y="3803904"/>
            <a:ext cx="128016" cy="128016"/>
          </a:xfrm>
          <a:prstGeom prst="diamond">
            <a:avLst/>
          </a:prstGeom>
          <a:solidFill>
            <a:srgbClr val="FFFFFF"/>
          </a:solidFill>
          <a:ln w="22860">
            <a:solidFill>
              <a:srgbClr val="C77B17"/>
            </a:solidFill>
            <a:prstDash val="solid"/>
          </a:ln>
        </p:spPr>
        <p:txBody>
          <a:bodyPr/>
          <a:lstStyle/>
          <a:p>
            <a:endParaRPr lang="en-GB"/>
          </a:p>
        </p:txBody>
      </p:sp>
      <p:sp>
        <p:nvSpPr>
          <p:cNvPr id="53" name="Text 49"/>
          <p:cNvSpPr/>
          <p:nvPr/>
        </p:nvSpPr>
        <p:spPr>
          <a:xfrm>
            <a:off x="5806440" y="4096512"/>
            <a:ext cx="2651760" cy="274320"/>
          </a:xfrm>
          <a:prstGeom prst="rect">
            <a:avLst/>
          </a:prstGeom>
          <a:noFill/>
          <a:ln/>
        </p:spPr>
        <p:txBody>
          <a:bodyPr wrap="square" lIns="0" tIns="0" rIns="0" bIns="0" rtlCol="0" anchor="ctr"/>
          <a:lstStyle/>
          <a:p>
            <a:pPr marL="0" indent="0" algn="ctr">
              <a:buNone/>
            </a:pPr>
            <a:r>
              <a:rPr lang="en-US" sz="790" b="1" dirty="0">
                <a:solidFill>
                  <a:srgbClr val="C77B17"/>
                </a:solidFill>
                <a:latin typeface="Calibri" pitchFamily="34" charset="0"/>
                <a:ea typeface="Calibri" pitchFamily="34" charset="-122"/>
                <a:cs typeface="Calibri" pitchFamily="34" charset="-120"/>
              </a:rPr>
              <a:t>First unit (Włocławek) targeted 2032</a:t>
            </a:r>
            <a:endParaRPr lang="en-US" sz="790" dirty="0"/>
          </a:p>
        </p:txBody>
      </p:sp>
      <p:sp>
        <p:nvSpPr>
          <p:cNvPr id="54" name="Shape 50"/>
          <p:cNvSpPr/>
          <p:nvPr/>
        </p:nvSpPr>
        <p:spPr>
          <a:xfrm>
            <a:off x="11686032" y="3803904"/>
            <a:ext cx="128016" cy="128016"/>
          </a:xfrm>
          <a:prstGeom prst="diamond">
            <a:avLst/>
          </a:prstGeom>
          <a:solidFill>
            <a:srgbClr val="FFFFFF"/>
          </a:solidFill>
          <a:ln w="22860">
            <a:solidFill>
              <a:srgbClr val="6B7785"/>
            </a:solidFill>
            <a:prstDash val="solid"/>
          </a:ln>
        </p:spPr>
        <p:txBody>
          <a:bodyPr/>
          <a:lstStyle/>
          <a:p>
            <a:endParaRPr lang="en-GB"/>
          </a:p>
        </p:txBody>
      </p:sp>
      <p:sp>
        <p:nvSpPr>
          <p:cNvPr id="55" name="Text 51"/>
          <p:cNvSpPr/>
          <p:nvPr/>
        </p:nvSpPr>
        <p:spPr>
          <a:xfrm>
            <a:off x="9555480" y="3273552"/>
            <a:ext cx="2651760" cy="274320"/>
          </a:xfrm>
          <a:prstGeom prst="rect">
            <a:avLst/>
          </a:prstGeom>
          <a:noFill/>
          <a:ln/>
        </p:spPr>
        <p:txBody>
          <a:bodyPr wrap="square" lIns="0" tIns="0" rIns="0" bIns="0" rtlCol="0" anchor="ctr"/>
          <a:lstStyle/>
          <a:p>
            <a:pPr marL="0" indent="0" algn="ctr">
              <a:buNone/>
            </a:pPr>
            <a:r>
              <a:rPr lang="en-US" sz="790" b="1" dirty="0">
                <a:solidFill>
                  <a:srgbClr val="6B7785"/>
                </a:solidFill>
                <a:latin typeface="Calibri" pitchFamily="34" charset="0"/>
                <a:ea typeface="Calibri" pitchFamily="34" charset="-122"/>
                <a:cs typeface="Calibri" pitchFamily="34" charset="-120"/>
              </a:rPr>
              <a:t>Fleet build-out across 3+ sites continues</a:t>
            </a:r>
            <a:endParaRPr lang="en-US" sz="790" dirty="0"/>
          </a:p>
        </p:txBody>
      </p:sp>
      <p:sp>
        <p:nvSpPr>
          <p:cNvPr id="56" name="Shape 52"/>
          <p:cNvSpPr/>
          <p:nvPr/>
        </p:nvSpPr>
        <p:spPr>
          <a:xfrm>
            <a:off x="365760" y="4809744"/>
            <a:ext cx="11795760" cy="1371600"/>
          </a:xfrm>
          <a:prstGeom prst="rect">
            <a:avLst/>
          </a:prstGeom>
          <a:solidFill>
            <a:srgbClr val="F7FAFC"/>
          </a:solidFill>
          <a:ln/>
        </p:spPr>
        <p:txBody>
          <a:bodyPr/>
          <a:lstStyle/>
          <a:p>
            <a:endParaRPr lang="en-GB"/>
          </a:p>
        </p:txBody>
      </p:sp>
      <p:sp>
        <p:nvSpPr>
          <p:cNvPr id="57" name="Shape 53"/>
          <p:cNvSpPr/>
          <p:nvPr/>
        </p:nvSpPr>
        <p:spPr>
          <a:xfrm>
            <a:off x="457200" y="5266944"/>
            <a:ext cx="457200" cy="457200"/>
          </a:xfrm>
          <a:prstGeom prst="ellipse">
            <a:avLst/>
          </a:prstGeom>
          <a:solidFill>
            <a:srgbClr val="1B3358"/>
          </a:solidFill>
          <a:ln/>
        </p:spPr>
        <p:txBody>
          <a:bodyPr/>
          <a:lstStyle/>
          <a:p>
            <a:endParaRPr lang="en-GB"/>
          </a:p>
        </p:txBody>
      </p:sp>
      <p:pic>
        <p:nvPicPr>
          <p:cNvPr id="58" name="Image 2" descr="preencoded.png"/>
          <p:cNvPicPr>
            <a:picLocks noChangeAspect="1"/>
          </p:cNvPicPr>
          <p:nvPr/>
        </p:nvPicPr>
        <p:blipFill>
          <a:blip r:embed="rId5"/>
          <a:stretch>
            <a:fillRect/>
          </a:stretch>
        </p:blipFill>
        <p:spPr>
          <a:xfrm>
            <a:off x="548640" y="5358384"/>
            <a:ext cx="274320" cy="274320"/>
          </a:xfrm>
          <a:prstGeom prst="rect">
            <a:avLst/>
          </a:prstGeom>
        </p:spPr>
      </p:pic>
      <p:sp>
        <p:nvSpPr>
          <p:cNvPr id="59" name="Text 54"/>
          <p:cNvSpPr/>
          <p:nvPr/>
        </p:nvSpPr>
        <p:spPr>
          <a:xfrm>
            <a:off x="1005840" y="4937760"/>
            <a:ext cx="1417320" cy="548640"/>
          </a:xfrm>
          <a:prstGeom prst="rect">
            <a:avLst/>
          </a:prstGeom>
          <a:noFill/>
          <a:ln/>
        </p:spPr>
        <p:txBody>
          <a:bodyPr wrap="square" lIns="0" tIns="0" rIns="0" bIns="0" rtlCol="0" anchor="t"/>
          <a:lstStyle/>
          <a:p>
            <a:pPr marL="0" indent="0">
              <a:lnSpc>
                <a:spcPct val="100000"/>
              </a:lnSpc>
              <a:buNone/>
            </a:pPr>
            <a:r>
              <a:rPr lang="en-US" sz="1250" b="1" dirty="0">
                <a:solidFill>
                  <a:srgbClr val="12233D"/>
                </a:solidFill>
                <a:latin typeface="Calibri" pitchFamily="34" charset="0"/>
                <a:ea typeface="Calibri" pitchFamily="34" charset="-122"/>
                <a:cs typeface="Calibri" pitchFamily="34" charset="-120"/>
              </a:rPr>
              <a:t>State Financing &amp; EU Approval</a:t>
            </a:r>
            <a:endParaRPr lang="en-US" sz="1250" dirty="0"/>
          </a:p>
        </p:txBody>
      </p:sp>
      <p:sp>
        <p:nvSpPr>
          <p:cNvPr id="60" name="Text 55"/>
          <p:cNvSpPr/>
          <p:nvPr/>
        </p:nvSpPr>
        <p:spPr>
          <a:xfrm>
            <a:off x="1005840" y="5669280"/>
            <a:ext cx="1417320" cy="457200"/>
          </a:xfrm>
          <a:prstGeom prst="rect">
            <a:avLst/>
          </a:prstGeom>
          <a:noFill/>
          <a:ln/>
        </p:spPr>
        <p:txBody>
          <a:bodyPr wrap="square" lIns="0" tIns="0" rIns="0" bIns="0" rtlCol="0" anchor="b"/>
          <a:lstStyle/>
          <a:p>
            <a:pPr marL="0" indent="0">
              <a:lnSpc>
                <a:spcPct val="100000"/>
              </a:lnSpc>
              <a:buNone/>
            </a:pPr>
            <a:r>
              <a:rPr lang="en-US" sz="770" i="1" dirty="0">
                <a:solidFill>
                  <a:srgbClr val="5B6B7C"/>
                </a:solidFill>
                <a:latin typeface="Calibri" pitchFamily="34" charset="0"/>
                <a:ea typeface="Calibri" pitchFamily="34" charset="-122"/>
                <a:cs typeface="Calibri" pitchFamily="34" charset="-120"/>
              </a:rPr>
              <a:t>Two-way CfD (40yr) · 100% debt guarantee · EXIM Bank · European Commission</a:t>
            </a:r>
            <a:endParaRPr lang="en-US" sz="770" dirty="0"/>
          </a:p>
        </p:txBody>
      </p:sp>
      <p:sp>
        <p:nvSpPr>
          <p:cNvPr id="61" name="Shape 56"/>
          <p:cNvSpPr/>
          <p:nvPr/>
        </p:nvSpPr>
        <p:spPr>
          <a:xfrm>
            <a:off x="2514600" y="5495544"/>
            <a:ext cx="9235440" cy="0"/>
          </a:xfrm>
          <a:prstGeom prst="line">
            <a:avLst/>
          </a:prstGeom>
          <a:noFill/>
          <a:ln w="6350">
            <a:solidFill>
              <a:srgbClr val="E3E9EF"/>
            </a:solidFill>
            <a:prstDash val="dash"/>
          </a:ln>
        </p:spPr>
        <p:txBody>
          <a:bodyPr/>
          <a:lstStyle/>
          <a:p>
            <a:endParaRPr lang="en-GB"/>
          </a:p>
        </p:txBody>
      </p:sp>
      <p:sp>
        <p:nvSpPr>
          <p:cNvPr id="62" name="Shape 57"/>
          <p:cNvSpPr/>
          <p:nvPr/>
        </p:nvSpPr>
        <p:spPr>
          <a:xfrm>
            <a:off x="2514600" y="5367528"/>
            <a:ext cx="461772" cy="256032"/>
          </a:xfrm>
          <a:prstGeom prst="roundRect">
            <a:avLst>
              <a:gd name="adj" fmla="val 17857"/>
            </a:avLst>
          </a:prstGeom>
          <a:solidFill>
            <a:srgbClr val="1E8E5A"/>
          </a:solidFill>
          <a:ln/>
        </p:spPr>
        <p:txBody>
          <a:bodyPr/>
          <a:lstStyle/>
          <a:p>
            <a:endParaRPr lang="en-GB"/>
          </a:p>
        </p:txBody>
      </p:sp>
      <p:sp>
        <p:nvSpPr>
          <p:cNvPr id="63" name="Shape 58"/>
          <p:cNvSpPr/>
          <p:nvPr/>
        </p:nvSpPr>
        <p:spPr>
          <a:xfrm>
            <a:off x="2412111" y="5431536"/>
            <a:ext cx="128016" cy="128016"/>
          </a:xfrm>
          <a:prstGeom prst="diamond">
            <a:avLst/>
          </a:prstGeom>
          <a:solidFill>
            <a:srgbClr val="FFFFFF"/>
          </a:solidFill>
          <a:ln w="22860">
            <a:solidFill>
              <a:srgbClr val="1E8E5A"/>
            </a:solidFill>
            <a:prstDash val="solid"/>
          </a:ln>
        </p:spPr>
        <p:txBody>
          <a:bodyPr/>
          <a:lstStyle/>
          <a:p>
            <a:endParaRPr lang="en-GB"/>
          </a:p>
        </p:txBody>
      </p:sp>
      <p:sp>
        <p:nvSpPr>
          <p:cNvPr id="64" name="Text 59"/>
          <p:cNvSpPr/>
          <p:nvPr/>
        </p:nvSpPr>
        <p:spPr>
          <a:xfrm>
            <a:off x="2560320" y="4901184"/>
            <a:ext cx="2651760" cy="274320"/>
          </a:xfrm>
          <a:prstGeom prst="rect">
            <a:avLst/>
          </a:prstGeom>
          <a:noFill/>
          <a:ln/>
        </p:spPr>
        <p:txBody>
          <a:bodyPr wrap="square" lIns="0" tIns="0" rIns="0" bIns="0" rtlCol="0" anchor="ctr"/>
          <a:lstStyle/>
          <a:p>
            <a:pPr marL="0" indent="0" algn="ctr">
              <a:buNone/>
            </a:pPr>
            <a:r>
              <a:rPr lang="en-US" sz="790" b="1" dirty="0">
                <a:solidFill>
                  <a:srgbClr val="1E8E5A"/>
                </a:solidFill>
                <a:latin typeface="Calibri" pitchFamily="34" charset="0"/>
                <a:ea typeface="Calibri" pitchFamily="34" charset="-122"/>
                <a:cs typeface="Calibri" pitchFamily="34" charset="-120"/>
              </a:rPr>
              <a:t>EC approves state aid package, Dec-25</a:t>
            </a:r>
            <a:endParaRPr lang="en-US" sz="790" dirty="0"/>
          </a:p>
        </p:txBody>
      </p:sp>
      <p:sp>
        <p:nvSpPr>
          <p:cNvPr id="65" name="Shape 60"/>
          <p:cNvSpPr/>
          <p:nvPr/>
        </p:nvSpPr>
        <p:spPr>
          <a:xfrm>
            <a:off x="2912364" y="5431536"/>
            <a:ext cx="128016" cy="128016"/>
          </a:xfrm>
          <a:prstGeom prst="diamond">
            <a:avLst/>
          </a:prstGeom>
          <a:solidFill>
            <a:srgbClr val="FFFFFF"/>
          </a:solidFill>
          <a:ln w="22860">
            <a:solidFill>
              <a:srgbClr val="1E8E5A"/>
            </a:solidFill>
            <a:prstDash val="solid"/>
          </a:ln>
        </p:spPr>
        <p:txBody>
          <a:bodyPr/>
          <a:lstStyle/>
          <a:p>
            <a:endParaRPr lang="en-GB"/>
          </a:p>
        </p:txBody>
      </p:sp>
      <p:sp>
        <p:nvSpPr>
          <p:cNvPr id="66" name="Text 61"/>
          <p:cNvSpPr/>
          <p:nvPr/>
        </p:nvSpPr>
        <p:spPr>
          <a:xfrm>
            <a:off x="2560320" y="5724144"/>
            <a:ext cx="2651760" cy="274320"/>
          </a:xfrm>
          <a:prstGeom prst="rect">
            <a:avLst/>
          </a:prstGeom>
          <a:noFill/>
          <a:ln/>
        </p:spPr>
        <p:txBody>
          <a:bodyPr wrap="square" lIns="0" tIns="0" rIns="0" bIns="0" rtlCol="0" anchor="ctr"/>
          <a:lstStyle/>
          <a:p>
            <a:pPr marL="0" indent="0" algn="ctr">
              <a:buNone/>
            </a:pPr>
            <a:r>
              <a:rPr lang="en-US" sz="790" b="1" dirty="0">
                <a:solidFill>
                  <a:srgbClr val="1E8E5A"/>
                </a:solidFill>
                <a:latin typeface="Calibri" pitchFamily="34" charset="0"/>
                <a:ea typeface="Calibri" pitchFamily="34" charset="-122"/>
                <a:cs typeface="Calibri" pitchFamily="34" charset="-120"/>
              </a:rPr>
              <a:t>EXIM credit agreement signed, Feb-26</a:t>
            </a:r>
            <a:endParaRPr lang="en-US" sz="790" dirty="0"/>
          </a:p>
        </p:txBody>
      </p:sp>
      <p:sp>
        <p:nvSpPr>
          <p:cNvPr id="67" name="Shape 62"/>
          <p:cNvSpPr/>
          <p:nvPr/>
        </p:nvSpPr>
        <p:spPr>
          <a:xfrm>
            <a:off x="2514600" y="1499616"/>
            <a:ext cx="0" cy="4736592"/>
          </a:xfrm>
          <a:prstGeom prst="line">
            <a:avLst/>
          </a:prstGeom>
          <a:noFill/>
          <a:ln w="12700">
            <a:solidFill>
              <a:srgbClr val="C7D2DC"/>
            </a:solidFill>
            <a:prstDash val="solid"/>
          </a:ln>
        </p:spPr>
        <p:txBody>
          <a:bodyPr/>
          <a:lstStyle/>
          <a:p>
            <a:endParaRPr lang="en-GB"/>
          </a:p>
        </p:txBody>
      </p:sp>
      <p:sp>
        <p:nvSpPr>
          <p:cNvPr id="68" name="Shape 63"/>
          <p:cNvSpPr/>
          <p:nvPr/>
        </p:nvSpPr>
        <p:spPr>
          <a:xfrm>
            <a:off x="2899410" y="1353312"/>
            <a:ext cx="0" cy="4882896"/>
          </a:xfrm>
          <a:prstGeom prst="line">
            <a:avLst/>
          </a:prstGeom>
          <a:noFill/>
          <a:ln w="15875">
            <a:solidFill>
              <a:srgbClr val="12233D"/>
            </a:solidFill>
            <a:prstDash val="lgDash"/>
          </a:ln>
        </p:spPr>
        <p:txBody>
          <a:bodyPr/>
          <a:lstStyle/>
          <a:p>
            <a:endParaRPr lang="en-GB"/>
          </a:p>
        </p:txBody>
      </p:sp>
      <p:sp>
        <p:nvSpPr>
          <p:cNvPr id="69" name="Shape 64"/>
          <p:cNvSpPr/>
          <p:nvPr/>
        </p:nvSpPr>
        <p:spPr>
          <a:xfrm>
            <a:off x="2862834" y="1307592"/>
            <a:ext cx="73152" cy="73152"/>
          </a:xfrm>
          <a:prstGeom prst="ellipse">
            <a:avLst/>
          </a:prstGeom>
          <a:solidFill>
            <a:srgbClr val="12233D"/>
          </a:solidFill>
          <a:ln/>
        </p:spPr>
        <p:txBody>
          <a:bodyPr/>
          <a:lstStyle/>
          <a:p>
            <a:endParaRPr lang="en-GB"/>
          </a:p>
        </p:txBody>
      </p:sp>
      <p:sp>
        <p:nvSpPr>
          <p:cNvPr id="70" name="Text 65"/>
          <p:cNvSpPr/>
          <p:nvPr/>
        </p:nvSpPr>
        <p:spPr>
          <a:xfrm>
            <a:off x="2533650" y="1133856"/>
            <a:ext cx="731520" cy="182880"/>
          </a:xfrm>
          <a:prstGeom prst="rect">
            <a:avLst/>
          </a:prstGeom>
          <a:noFill/>
          <a:ln/>
        </p:spPr>
        <p:txBody>
          <a:bodyPr wrap="square" lIns="0" tIns="0" rIns="0" bIns="0" rtlCol="0" anchor="ctr"/>
          <a:lstStyle/>
          <a:p>
            <a:pPr marL="0" indent="0" algn="ctr">
              <a:buNone/>
            </a:pPr>
            <a:r>
              <a:rPr lang="en-US" sz="800" b="1" kern="0" spc="50" dirty="0">
                <a:solidFill>
                  <a:srgbClr val="12233D"/>
                </a:solidFill>
                <a:latin typeface="Calibri" pitchFamily="34" charset="0"/>
                <a:ea typeface="Calibri" pitchFamily="34" charset="-122"/>
                <a:cs typeface="Calibri" pitchFamily="34" charset="-120"/>
              </a:rPr>
              <a:t>TODAY</a:t>
            </a:r>
            <a:endParaRPr lang="en-US" sz="800" dirty="0"/>
          </a:p>
        </p:txBody>
      </p:sp>
      <p:sp>
        <p:nvSpPr>
          <p:cNvPr id="71" name="Text 66"/>
          <p:cNvSpPr/>
          <p:nvPr/>
        </p:nvSpPr>
        <p:spPr>
          <a:xfrm>
            <a:off x="457200" y="6620256"/>
            <a:ext cx="11247120" cy="182880"/>
          </a:xfrm>
          <a:prstGeom prst="rect">
            <a:avLst/>
          </a:prstGeom>
          <a:noFill/>
          <a:ln/>
        </p:spPr>
        <p:txBody>
          <a:bodyPr wrap="square" lIns="0" tIns="0" rIns="0" bIns="0" rtlCol="0" anchor="ctr"/>
          <a:lstStyle/>
          <a:p>
            <a:pPr marL="0" indent="0">
              <a:buNone/>
            </a:pPr>
            <a:r>
              <a:rPr lang="en-US" sz="730" i="1" dirty="0">
                <a:solidFill>
                  <a:srgbClr val="9AA7B3"/>
                </a:solidFill>
                <a:latin typeface="Calibri" pitchFamily="34" charset="0"/>
                <a:ea typeface="Calibri" pitchFamily="34" charset="-122"/>
                <a:cs typeface="Calibri" pitchFamily="34" charset="-120"/>
              </a:rPr>
              <a:t>Source: PEJ, Westinghouse, Bechtel, GE Vernova, OSGE, World Nuclear News, Polish Ministry of Energy announcements, 23 June 2026. EPC contract for the large-reactor </a:t>
            </a:r>
            <a:r>
              <a:rPr lang="en-US" sz="730" i="1" dirty="0" err="1">
                <a:solidFill>
                  <a:srgbClr val="9AA7B3"/>
                </a:solidFill>
                <a:latin typeface="Calibri" pitchFamily="34" charset="0"/>
                <a:ea typeface="Calibri" pitchFamily="34" charset="-122"/>
                <a:cs typeface="Calibri" pitchFamily="34" charset="-120"/>
              </a:rPr>
              <a:t>programme</a:t>
            </a:r>
            <a:r>
              <a:rPr lang="en-US" sz="730" i="1" dirty="0">
                <a:solidFill>
                  <a:srgbClr val="9AA7B3"/>
                </a:solidFill>
                <a:latin typeface="Calibri" pitchFamily="34" charset="0"/>
                <a:ea typeface="Calibri" pitchFamily="34" charset="-122"/>
                <a:cs typeface="Calibri" pitchFamily="34" charset="-120"/>
              </a:rPr>
              <a:t> is still under negotiation; bar lengths illustrative.</a:t>
            </a:r>
            <a:endParaRPr lang="en-US" sz="73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3295"/>
            <a:ext cx="12191695" cy="960120"/>
          </a:xfrm>
          <a:prstGeom prst="rect">
            <a:avLst/>
          </a:prstGeom>
          <a:solidFill>
            <a:srgbClr val="12233D"/>
          </a:solidFill>
          <a:ln/>
        </p:spPr>
        <p:txBody>
          <a:bodyPr/>
          <a:lstStyle/>
          <a:p>
            <a:endParaRPr lang="en-GB"/>
          </a:p>
        </p:txBody>
      </p:sp>
      <p:sp>
        <p:nvSpPr>
          <p:cNvPr id="3" name="Text 1"/>
          <p:cNvSpPr/>
          <p:nvPr/>
        </p:nvSpPr>
        <p:spPr>
          <a:xfrm>
            <a:off x="457200" y="118872"/>
            <a:ext cx="8869680" cy="384048"/>
          </a:xfrm>
          <a:prstGeom prst="rect">
            <a:avLst/>
          </a:prstGeom>
          <a:noFill/>
          <a:ln/>
        </p:spPr>
        <p:txBody>
          <a:bodyPr wrap="square" lIns="0" tIns="0" rIns="0" bIns="0" rtlCol="0" anchor="ctr"/>
          <a:lstStyle/>
          <a:p>
            <a:pPr marL="0" indent="0">
              <a:buNone/>
            </a:pPr>
            <a:r>
              <a:rPr lang="en-US" b="1" kern="0" spc="130" dirty="0">
                <a:solidFill>
                  <a:srgbClr val="FF0000"/>
                </a:solidFill>
                <a:latin typeface="Calibri" pitchFamily="34" charset="0"/>
                <a:ea typeface="Calibri" pitchFamily="34" charset="-122"/>
                <a:cs typeface="Calibri" pitchFamily="34" charset="-120"/>
              </a:rPr>
              <a:t>CZECHIA</a:t>
            </a:r>
            <a:r>
              <a:rPr lang="en-US" sz="1500" b="1" kern="0" spc="130" dirty="0">
                <a:solidFill>
                  <a:srgbClr val="9FB6CC"/>
                </a:solidFill>
                <a:latin typeface="Calibri" pitchFamily="34" charset="0"/>
                <a:ea typeface="Calibri" pitchFamily="34" charset="-122"/>
                <a:cs typeface="Calibri" pitchFamily="34" charset="-120"/>
              </a:rPr>
              <a:t> NUCLEAR PROGRAMME LANDSCAPE</a:t>
            </a:r>
            <a:endParaRPr lang="en-US" sz="1500" dirty="0"/>
          </a:p>
        </p:txBody>
      </p:sp>
      <p:sp>
        <p:nvSpPr>
          <p:cNvPr id="4" name="Text 2"/>
          <p:cNvSpPr/>
          <p:nvPr/>
        </p:nvSpPr>
        <p:spPr>
          <a:xfrm>
            <a:off x="457200" y="411480"/>
            <a:ext cx="86868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Programme Overview at a Glance</a:t>
            </a:r>
            <a:endParaRPr lang="en-US" sz="2600" dirty="0"/>
          </a:p>
        </p:txBody>
      </p:sp>
      <p:sp>
        <p:nvSpPr>
          <p:cNvPr id="6" name="Shape 4"/>
          <p:cNvSpPr/>
          <p:nvPr/>
        </p:nvSpPr>
        <p:spPr>
          <a:xfrm>
            <a:off x="5257800" y="1143000"/>
            <a:ext cx="118872" cy="118872"/>
          </a:xfrm>
          <a:prstGeom prst="ellipse">
            <a:avLst/>
          </a:prstGeom>
          <a:solidFill>
            <a:srgbClr val="1E8E5A"/>
          </a:solidFill>
          <a:ln/>
        </p:spPr>
        <p:txBody>
          <a:bodyPr/>
          <a:lstStyle/>
          <a:p>
            <a:endParaRPr lang="en-GB"/>
          </a:p>
        </p:txBody>
      </p:sp>
      <p:sp>
        <p:nvSpPr>
          <p:cNvPr id="7" name="Text 5"/>
          <p:cNvSpPr/>
          <p:nvPr/>
        </p:nvSpPr>
        <p:spPr>
          <a:xfrm>
            <a:off x="5440680" y="1060704"/>
            <a:ext cx="237744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Operational / contracted construction</a:t>
            </a:r>
            <a:endParaRPr lang="en-US" sz="1050" dirty="0"/>
          </a:p>
        </p:txBody>
      </p:sp>
      <p:sp>
        <p:nvSpPr>
          <p:cNvPr id="8" name="Shape 6"/>
          <p:cNvSpPr/>
          <p:nvPr/>
        </p:nvSpPr>
        <p:spPr>
          <a:xfrm>
            <a:off x="7955280" y="1143000"/>
            <a:ext cx="118872" cy="118872"/>
          </a:xfrm>
          <a:prstGeom prst="ellipse">
            <a:avLst/>
          </a:prstGeom>
          <a:solidFill>
            <a:srgbClr val="C77B17"/>
          </a:solidFill>
          <a:ln/>
        </p:spPr>
        <p:txBody>
          <a:bodyPr/>
          <a:lstStyle/>
          <a:p>
            <a:endParaRPr lang="en-GB"/>
          </a:p>
        </p:txBody>
      </p:sp>
      <p:sp>
        <p:nvSpPr>
          <p:cNvPr id="9" name="Text 7"/>
          <p:cNvSpPr/>
          <p:nvPr/>
        </p:nvSpPr>
        <p:spPr>
          <a:xfrm>
            <a:off x="8138160" y="1060704"/>
            <a:ext cx="224028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Licensing / engineering / early works</a:t>
            </a:r>
            <a:endParaRPr lang="en-US" sz="1050" dirty="0"/>
          </a:p>
        </p:txBody>
      </p:sp>
      <p:sp>
        <p:nvSpPr>
          <p:cNvPr id="10" name="Shape 8"/>
          <p:cNvSpPr/>
          <p:nvPr/>
        </p:nvSpPr>
        <p:spPr>
          <a:xfrm>
            <a:off x="10561320" y="1143000"/>
            <a:ext cx="118872" cy="118872"/>
          </a:xfrm>
          <a:prstGeom prst="ellipse">
            <a:avLst/>
          </a:prstGeom>
          <a:solidFill>
            <a:srgbClr val="6B7785"/>
          </a:solidFill>
          <a:ln/>
        </p:spPr>
        <p:txBody>
          <a:bodyPr/>
          <a:lstStyle/>
          <a:p>
            <a:endParaRPr lang="en-GB"/>
          </a:p>
        </p:txBody>
      </p:sp>
      <p:sp>
        <p:nvSpPr>
          <p:cNvPr id="11" name="Text 9"/>
          <p:cNvSpPr/>
          <p:nvPr/>
        </p:nvSpPr>
        <p:spPr>
          <a:xfrm>
            <a:off x="10744200" y="1060704"/>
            <a:ext cx="146304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Option / pre-decision</a:t>
            </a:r>
            <a:endParaRPr lang="en-US" sz="1050" dirty="0"/>
          </a:p>
        </p:txBody>
      </p:sp>
      <p:sp>
        <p:nvSpPr>
          <p:cNvPr id="12" name="Shape 10"/>
          <p:cNvSpPr/>
          <p:nvPr/>
        </p:nvSpPr>
        <p:spPr>
          <a:xfrm>
            <a:off x="457200" y="141732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13" name="Shape 11"/>
          <p:cNvSpPr/>
          <p:nvPr/>
        </p:nvSpPr>
        <p:spPr>
          <a:xfrm>
            <a:off x="713232" y="1655064"/>
            <a:ext cx="530352" cy="530352"/>
          </a:xfrm>
          <a:prstGeom prst="ellipse">
            <a:avLst/>
          </a:prstGeom>
          <a:solidFill>
            <a:srgbClr val="1B3358"/>
          </a:solidFill>
          <a:ln/>
        </p:spPr>
        <p:txBody>
          <a:bodyPr/>
          <a:lstStyle/>
          <a:p>
            <a:endParaRPr lang="en-GB"/>
          </a:p>
        </p:txBody>
      </p:sp>
      <p:pic>
        <p:nvPicPr>
          <p:cNvPr id="14" name="Image 0" descr="preencoded.png"/>
          <p:cNvPicPr>
            <a:picLocks noChangeAspect="1"/>
          </p:cNvPicPr>
          <p:nvPr/>
        </p:nvPicPr>
        <p:blipFill>
          <a:blip r:embed="rId3"/>
          <a:stretch>
            <a:fillRect/>
          </a:stretch>
        </p:blipFill>
        <p:spPr>
          <a:xfrm>
            <a:off x="832104" y="1773936"/>
            <a:ext cx="292608" cy="292608"/>
          </a:xfrm>
          <a:prstGeom prst="rect">
            <a:avLst/>
          </a:prstGeom>
        </p:spPr>
      </p:pic>
      <p:sp>
        <p:nvSpPr>
          <p:cNvPr id="15" name="Shape 12"/>
          <p:cNvSpPr/>
          <p:nvPr/>
        </p:nvSpPr>
        <p:spPr>
          <a:xfrm>
            <a:off x="3270352" y="1655064"/>
            <a:ext cx="2468880" cy="274320"/>
          </a:xfrm>
          <a:prstGeom prst="roundRect">
            <a:avLst>
              <a:gd name="adj" fmla="val 166667"/>
            </a:avLst>
          </a:prstGeom>
          <a:solidFill>
            <a:srgbClr val="1E8E5A"/>
          </a:solidFill>
          <a:ln/>
        </p:spPr>
        <p:txBody>
          <a:bodyPr/>
          <a:lstStyle/>
          <a:p>
            <a:endParaRPr lang="en-GB"/>
          </a:p>
        </p:txBody>
      </p:sp>
      <p:sp>
        <p:nvSpPr>
          <p:cNvPr id="16" name="Text 13"/>
          <p:cNvSpPr/>
          <p:nvPr/>
        </p:nvSpPr>
        <p:spPr>
          <a:xfrm>
            <a:off x="3270352" y="1655064"/>
            <a:ext cx="246888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OPERATIONAL / LTO UNDERWAY</a:t>
            </a:r>
            <a:endParaRPr lang="en-US" sz="950" dirty="0"/>
          </a:p>
        </p:txBody>
      </p:sp>
      <p:sp>
        <p:nvSpPr>
          <p:cNvPr id="17" name="Text 14"/>
          <p:cNvSpPr/>
          <p:nvPr/>
        </p:nvSpPr>
        <p:spPr>
          <a:xfrm>
            <a:off x="713232" y="2331720"/>
            <a:ext cx="4989424" cy="457200"/>
          </a:xfrm>
          <a:prstGeom prst="rect">
            <a:avLst/>
          </a:prstGeom>
          <a:noFill/>
          <a:ln/>
        </p:spPr>
        <p:txBody>
          <a:bodyPr wrap="square" lIns="0" tIns="0" rIns="0" bIns="0" rtlCol="0" anchor="t"/>
          <a:lstStyle/>
          <a:p>
            <a:pPr marL="0" indent="0">
              <a:buNone/>
            </a:pPr>
            <a:r>
              <a:rPr lang="en-US" sz="1600" b="1" dirty="0">
                <a:solidFill>
                  <a:srgbClr val="12233D"/>
                </a:solidFill>
                <a:latin typeface="Calibri" pitchFamily="34" charset="0"/>
                <a:ea typeface="Calibri" pitchFamily="34" charset="-122"/>
                <a:cs typeface="Calibri" pitchFamily="34" charset="-120"/>
              </a:rPr>
              <a:t>Dukovany 1–4 — Long-Term Operation</a:t>
            </a:r>
            <a:endParaRPr lang="en-US" sz="1600" dirty="0"/>
          </a:p>
        </p:txBody>
      </p:sp>
      <p:sp>
        <p:nvSpPr>
          <p:cNvPr id="18" name="Text 15"/>
          <p:cNvSpPr/>
          <p:nvPr/>
        </p:nvSpPr>
        <p:spPr>
          <a:xfrm>
            <a:off x="713232" y="280720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4 × VVER-440  ·  ~30% of Czech electricity</a:t>
            </a:r>
            <a:endParaRPr lang="en-US" sz="1150" dirty="0"/>
          </a:p>
        </p:txBody>
      </p:sp>
      <p:sp>
        <p:nvSpPr>
          <p:cNvPr id="19" name="Shape 16"/>
          <p:cNvSpPr/>
          <p:nvPr/>
        </p:nvSpPr>
        <p:spPr>
          <a:xfrm>
            <a:off x="713232" y="3172968"/>
            <a:ext cx="4989424" cy="0"/>
          </a:xfrm>
          <a:prstGeom prst="line">
            <a:avLst/>
          </a:prstGeom>
          <a:noFill/>
          <a:ln w="9525">
            <a:solidFill>
              <a:srgbClr val="D6E0E8"/>
            </a:solidFill>
            <a:prstDash val="solid"/>
          </a:ln>
        </p:spPr>
        <p:txBody>
          <a:bodyPr/>
          <a:lstStyle/>
          <a:p>
            <a:endParaRPr lang="en-GB"/>
          </a:p>
        </p:txBody>
      </p:sp>
      <p:sp>
        <p:nvSpPr>
          <p:cNvPr id="20" name="Text 17"/>
          <p:cNvSpPr/>
          <p:nvPr/>
        </p:nvSpPr>
        <p:spPr>
          <a:xfrm>
            <a:off x="713232" y="328269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00" dirty="0">
                <a:solidFill>
                  <a:srgbClr val="12233D"/>
                </a:solidFill>
                <a:latin typeface="Calibri" pitchFamily="34" charset="0"/>
                <a:ea typeface="Calibri" pitchFamily="34" charset="-122"/>
                <a:cs typeface="Calibri" pitchFamily="34" charset="-120"/>
              </a:rPr>
              <a:t>20-year extension </a:t>
            </a:r>
            <a:r>
              <a:rPr lang="en-US" sz="1100" dirty="0" err="1">
                <a:solidFill>
                  <a:srgbClr val="12233D"/>
                </a:solidFill>
                <a:latin typeface="Calibri" pitchFamily="34" charset="0"/>
                <a:ea typeface="Calibri" pitchFamily="34" charset="-122"/>
                <a:cs typeface="Calibri" pitchFamily="34" charset="-120"/>
              </a:rPr>
              <a:t>programme</a:t>
            </a:r>
            <a:r>
              <a:rPr lang="en-US" sz="1100" dirty="0">
                <a:solidFill>
                  <a:srgbClr val="12233D"/>
                </a:solidFill>
                <a:latin typeface="Calibri" pitchFamily="34" charset="0"/>
                <a:ea typeface="Calibri" pitchFamily="34" charset="-122"/>
                <a:cs typeface="Calibri" pitchFamily="34" charset="-120"/>
              </a:rPr>
              <a:t> underway, targeting 60-year operating life</a:t>
            </a:r>
            <a:endParaRPr lang="en-US" sz="900" dirty="0"/>
          </a:p>
        </p:txBody>
      </p:sp>
      <p:sp>
        <p:nvSpPr>
          <p:cNvPr id="21" name="Text 18"/>
          <p:cNvSpPr/>
          <p:nvPr/>
        </p:nvSpPr>
        <p:spPr>
          <a:xfrm>
            <a:off x="713232" y="352501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ČEZ · SUŽEP</a:t>
            </a:r>
            <a:endParaRPr lang="en-US" sz="1050" dirty="0"/>
          </a:p>
        </p:txBody>
      </p:sp>
      <p:sp>
        <p:nvSpPr>
          <p:cNvPr id="22" name="Shape 19"/>
          <p:cNvSpPr/>
          <p:nvPr/>
        </p:nvSpPr>
        <p:spPr>
          <a:xfrm>
            <a:off x="6233008" y="141732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23" name="Shape 20"/>
          <p:cNvSpPr/>
          <p:nvPr/>
        </p:nvSpPr>
        <p:spPr>
          <a:xfrm>
            <a:off x="6489040" y="1655064"/>
            <a:ext cx="530352" cy="530352"/>
          </a:xfrm>
          <a:prstGeom prst="ellipse">
            <a:avLst/>
          </a:prstGeom>
          <a:solidFill>
            <a:srgbClr val="1B3358"/>
          </a:solidFill>
          <a:ln/>
        </p:spPr>
        <p:txBody>
          <a:bodyPr/>
          <a:lstStyle/>
          <a:p>
            <a:endParaRPr lang="en-GB"/>
          </a:p>
        </p:txBody>
      </p:sp>
      <p:pic>
        <p:nvPicPr>
          <p:cNvPr id="24" name="Image 1" descr="preencoded.png"/>
          <p:cNvPicPr>
            <a:picLocks noChangeAspect="1"/>
          </p:cNvPicPr>
          <p:nvPr/>
        </p:nvPicPr>
        <p:blipFill>
          <a:blip r:embed="rId4"/>
          <a:stretch>
            <a:fillRect/>
          </a:stretch>
        </p:blipFill>
        <p:spPr>
          <a:xfrm>
            <a:off x="6607912" y="1773936"/>
            <a:ext cx="292608" cy="292608"/>
          </a:xfrm>
          <a:prstGeom prst="rect">
            <a:avLst/>
          </a:prstGeom>
        </p:spPr>
      </p:pic>
      <p:sp>
        <p:nvSpPr>
          <p:cNvPr id="25" name="Shape 21"/>
          <p:cNvSpPr/>
          <p:nvPr/>
        </p:nvSpPr>
        <p:spPr>
          <a:xfrm>
            <a:off x="9046159" y="1655064"/>
            <a:ext cx="2468880" cy="274320"/>
          </a:xfrm>
          <a:prstGeom prst="roundRect">
            <a:avLst>
              <a:gd name="adj" fmla="val 166667"/>
            </a:avLst>
          </a:prstGeom>
          <a:solidFill>
            <a:srgbClr val="1E8E5A"/>
          </a:solidFill>
          <a:ln/>
        </p:spPr>
        <p:txBody>
          <a:bodyPr/>
          <a:lstStyle/>
          <a:p>
            <a:endParaRPr lang="en-GB"/>
          </a:p>
        </p:txBody>
      </p:sp>
      <p:sp>
        <p:nvSpPr>
          <p:cNvPr id="26" name="Text 22"/>
          <p:cNvSpPr/>
          <p:nvPr/>
        </p:nvSpPr>
        <p:spPr>
          <a:xfrm>
            <a:off x="9046159" y="1655064"/>
            <a:ext cx="246888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EPC SIGNED / EARLY WORKS</a:t>
            </a:r>
            <a:endParaRPr lang="en-US" sz="950" dirty="0"/>
          </a:p>
        </p:txBody>
      </p:sp>
      <p:sp>
        <p:nvSpPr>
          <p:cNvPr id="27" name="Text 23"/>
          <p:cNvSpPr/>
          <p:nvPr/>
        </p:nvSpPr>
        <p:spPr>
          <a:xfrm>
            <a:off x="6489040" y="2331720"/>
            <a:ext cx="4989424" cy="457200"/>
          </a:xfrm>
          <a:prstGeom prst="rect">
            <a:avLst/>
          </a:prstGeom>
          <a:noFill/>
          <a:ln/>
        </p:spPr>
        <p:txBody>
          <a:bodyPr wrap="square" lIns="0" tIns="0" rIns="0" bIns="0" rtlCol="0" anchor="t"/>
          <a:lstStyle/>
          <a:p>
            <a:pPr marL="0" indent="0">
              <a:buNone/>
            </a:pPr>
            <a:r>
              <a:rPr lang="en-US" sz="1600" b="1" dirty="0">
                <a:solidFill>
                  <a:srgbClr val="12233D"/>
                </a:solidFill>
                <a:latin typeface="Calibri" pitchFamily="34" charset="0"/>
                <a:ea typeface="Calibri" pitchFamily="34" charset="-122"/>
                <a:cs typeface="Calibri" pitchFamily="34" charset="-120"/>
              </a:rPr>
              <a:t>Dukovany 5 &amp; 6 — KHNP APR-1000</a:t>
            </a:r>
            <a:endParaRPr lang="en-US" sz="1600" dirty="0"/>
          </a:p>
        </p:txBody>
      </p:sp>
      <p:sp>
        <p:nvSpPr>
          <p:cNvPr id="28" name="Text 24"/>
          <p:cNvSpPr/>
          <p:nvPr/>
        </p:nvSpPr>
        <p:spPr>
          <a:xfrm>
            <a:off x="6489040" y="280720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2 × 1,050 MWe  ·  CZK 407bn (~€16.5bn)</a:t>
            </a:r>
            <a:endParaRPr lang="en-US" sz="1150" dirty="0"/>
          </a:p>
        </p:txBody>
      </p:sp>
      <p:sp>
        <p:nvSpPr>
          <p:cNvPr id="29" name="Shape 25"/>
          <p:cNvSpPr/>
          <p:nvPr/>
        </p:nvSpPr>
        <p:spPr>
          <a:xfrm>
            <a:off x="6489040" y="3172968"/>
            <a:ext cx="4989424" cy="0"/>
          </a:xfrm>
          <a:prstGeom prst="line">
            <a:avLst/>
          </a:prstGeom>
          <a:noFill/>
          <a:ln w="9525">
            <a:solidFill>
              <a:srgbClr val="D6E0E8"/>
            </a:solidFill>
            <a:prstDash val="solid"/>
          </a:ln>
        </p:spPr>
        <p:txBody>
          <a:bodyPr/>
          <a:lstStyle/>
          <a:p>
            <a:endParaRPr lang="en-GB"/>
          </a:p>
        </p:txBody>
      </p:sp>
      <p:sp>
        <p:nvSpPr>
          <p:cNvPr id="30" name="Text 26"/>
          <p:cNvSpPr/>
          <p:nvPr/>
        </p:nvSpPr>
        <p:spPr>
          <a:xfrm>
            <a:off x="6489040" y="328269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00" dirty="0">
                <a:solidFill>
                  <a:srgbClr val="12233D"/>
                </a:solidFill>
                <a:latin typeface="Calibri" pitchFamily="34" charset="0"/>
                <a:ea typeface="Calibri" pitchFamily="34" charset="-122"/>
                <a:cs typeface="Calibri" pitchFamily="34" charset="-120"/>
              </a:rPr>
              <a:t>EPC signed Jun-25 · groundbreaking 2029 · units online 2036/2037</a:t>
            </a:r>
            <a:endParaRPr lang="en-US" sz="900" dirty="0"/>
          </a:p>
        </p:txBody>
      </p:sp>
      <p:sp>
        <p:nvSpPr>
          <p:cNvPr id="31" name="Text 27"/>
          <p:cNvSpPr/>
          <p:nvPr/>
        </p:nvSpPr>
        <p:spPr>
          <a:xfrm>
            <a:off x="6489040" y="352501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KHNP · EDU II · ČEZ · Doosan Enerbility</a:t>
            </a:r>
            <a:endParaRPr lang="en-US" sz="1050" dirty="0"/>
          </a:p>
        </p:txBody>
      </p:sp>
      <p:sp>
        <p:nvSpPr>
          <p:cNvPr id="32" name="Shape 28"/>
          <p:cNvSpPr/>
          <p:nvPr/>
        </p:nvSpPr>
        <p:spPr>
          <a:xfrm>
            <a:off x="457200" y="409194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33" name="Shape 29"/>
          <p:cNvSpPr/>
          <p:nvPr/>
        </p:nvSpPr>
        <p:spPr>
          <a:xfrm>
            <a:off x="713232" y="4329684"/>
            <a:ext cx="530352" cy="530352"/>
          </a:xfrm>
          <a:prstGeom prst="ellipse">
            <a:avLst/>
          </a:prstGeom>
          <a:solidFill>
            <a:srgbClr val="1B3358"/>
          </a:solidFill>
          <a:ln/>
        </p:spPr>
        <p:txBody>
          <a:bodyPr/>
          <a:lstStyle/>
          <a:p>
            <a:endParaRPr lang="en-GB"/>
          </a:p>
        </p:txBody>
      </p:sp>
      <p:pic>
        <p:nvPicPr>
          <p:cNvPr id="34" name="Image 2" descr="preencoded.png"/>
          <p:cNvPicPr>
            <a:picLocks noChangeAspect="1"/>
          </p:cNvPicPr>
          <p:nvPr/>
        </p:nvPicPr>
        <p:blipFill>
          <a:blip r:embed="rId5"/>
          <a:stretch>
            <a:fillRect/>
          </a:stretch>
        </p:blipFill>
        <p:spPr>
          <a:xfrm>
            <a:off x="832104" y="4448556"/>
            <a:ext cx="292608" cy="292608"/>
          </a:xfrm>
          <a:prstGeom prst="rect">
            <a:avLst/>
          </a:prstGeom>
        </p:spPr>
      </p:pic>
      <p:sp>
        <p:nvSpPr>
          <p:cNvPr id="35" name="Shape 30"/>
          <p:cNvSpPr/>
          <p:nvPr/>
        </p:nvSpPr>
        <p:spPr>
          <a:xfrm>
            <a:off x="3270352" y="4329684"/>
            <a:ext cx="2468880" cy="274320"/>
          </a:xfrm>
          <a:prstGeom prst="roundRect">
            <a:avLst>
              <a:gd name="adj" fmla="val 166667"/>
            </a:avLst>
          </a:prstGeom>
          <a:solidFill>
            <a:srgbClr val="6B7785"/>
          </a:solidFill>
          <a:ln/>
        </p:spPr>
        <p:txBody>
          <a:bodyPr/>
          <a:lstStyle/>
          <a:p>
            <a:endParaRPr lang="en-GB"/>
          </a:p>
        </p:txBody>
      </p:sp>
      <p:sp>
        <p:nvSpPr>
          <p:cNvPr id="36" name="Text 31"/>
          <p:cNvSpPr/>
          <p:nvPr/>
        </p:nvSpPr>
        <p:spPr>
          <a:xfrm>
            <a:off x="3270352" y="4329684"/>
            <a:ext cx="246888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OPTION / PRE-DECISION</a:t>
            </a:r>
            <a:endParaRPr lang="en-US" sz="950" dirty="0"/>
          </a:p>
        </p:txBody>
      </p:sp>
      <p:sp>
        <p:nvSpPr>
          <p:cNvPr id="37" name="Text 32"/>
          <p:cNvSpPr/>
          <p:nvPr/>
        </p:nvSpPr>
        <p:spPr>
          <a:xfrm>
            <a:off x="713232" y="5006340"/>
            <a:ext cx="4989424" cy="457200"/>
          </a:xfrm>
          <a:prstGeom prst="rect">
            <a:avLst/>
          </a:prstGeom>
          <a:noFill/>
          <a:ln/>
        </p:spPr>
        <p:txBody>
          <a:bodyPr wrap="square" lIns="0" tIns="0" rIns="0" bIns="0" rtlCol="0" anchor="t"/>
          <a:lstStyle/>
          <a:p>
            <a:pPr marL="0" indent="0">
              <a:buNone/>
            </a:pPr>
            <a:r>
              <a:rPr lang="en-US" sz="1600" b="1" dirty="0">
                <a:solidFill>
                  <a:srgbClr val="12233D"/>
                </a:solidFill>
                <a:latin typeface="Calibri" pitchFamily="34" charset="0"/>
                <a:ea typeface="Calibri" pitchFamily="34" charset="-122"/>
                <a:cs typeface="Calibri" pitchFamily="34" charset="-120"/>
              </a:rPr>
              <a:t>Temelín 3 &amp; 4</a:t>
            </a:r>
            <a:endParaRPr lang="en-US" sz="1600" dirty="0"/>
          </a:p>
        </p:txBody>
      </p:sp>
      <p:sp>
        <p:nvSpPr>
          <p:cNvPr id="38" name="Text 33"/>
          <p:cNvSpPr/>
          <p:nvPr/>
        </p:nvSpPr>
        <p:spPr>
          <a:xfrm>
            <a:off x="713232" y="548182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Site identified  ·  technology not yet selected</a:t>
            </a:r>
            <a:endParaRPr lang="en-US" sz="1150" dirty="0"/>
          </a:p>
        </p:txBody>
      </p:sp>
      <p:sp>
        <p:nvSpPr>
          <p:cNvPr id="39" name="Shape 34"/>
          <p:cNvSpPr/>
          <p:nvPr/>
        </p:nvSpPr>
        <p:spPr>
          <a:xfrm>
            <a:off x="713232" y="5847588"/>
            <a:ext cx="4989424" cy="0"/>
          </a:xfrm>
          <a:prstGeom prst="line">
            <a:avLst/>
          </a:prstGeom>
          <a:noFill/>
          <a:ln w="9525">
            <a:solidFill>
              <a:srgbClr val="D6E0E8"/>
            </a:solidFill>
            <a:prstDash val="solid"/>
          </a:ln>
        </p:spPr>
        <p:txBody>
          <a:bodyPr/>
          <a:lstStyle/>
          <a:p>
            <a:endParaRPr lang="en-GB"/>
          </a:p>
        </p:txBody>
      </p:sp>
      <p:sp>
        <p:nvSpPr>
          <p:cNvPr id="40" name="Text 35"/>
          <p:cNvSpPr/>
          <p:nvPr/>
        </p:nvSpPr>
        <p:spPr>
          <a:xfrm>
            <a:off x="713232" y="595731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00" dirty="0">
                <a:solidFill>
                  <a:srgbClr val="12233D"/>
                </a:solidFill>
                <a:latin typeface="Calibri" pitchFamily="34" charset="0"/>
                <a:ea typeface="Calibri" pitchFamily="34" charset="-122"/>
                <a:cs typeface="Calibri" pitchFamily="34" charset="-120"/>
              </a:rPr>
              <a:t>KHNP holds option to extend contract — decision window open to ~2028</a:t>
            </a:r>
            <a:endParaRPr lang="en-US" sz="900" dirty="0"/>
          </a:p>
        </p:txBody>
      </p:sp>
      <p:sp>
        <p:nvSpPr>
          <p:cNvPr id="41" name="Text 36"/>
          <p:cNvSpPr/>
          <p:nvPr/>
        </p:nvSpPr>
        <p:spPr>
          <a:xfrm>
            <a:off x="713232" y="619963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ČEZ · Government of Czechia</a:t>
            </a:r>
            <a:endParaRPr lang="en-US" sz="1050" dirty="0"/>
          </a:p>
        </p:txBody>
      </p:sp>
      <p:sp>
        <p:nvSpPr>
          <p:cNvPr id="42" name="Shape 37"/>
          <p:cNvSpPr/>
          <p:nvPr/>
        </p:nvSpPr>
        <p:spPr>
          <a:xfrm>
            <a:off x="6233008" y="409194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43" name="Shape 38"/>
          <p:cNvSpPr/>
          <p:nvPr/>
        </p:nvSpPr>
        <p:spPr>
          <a:xfrm>
            <a:off x="6489040" y="4329684"/>
            <a:ext cx="530352" cy="530352"/>
          </a:xfrm>
          <a:prstGeom prst="ellipse">
            <a:avLst/>
          </a:prstGeom>
          <a:solidFill>
            <a:srgbClr val="1B3358"/>
          </a:solidFill>
          <a:ln/>
        </p:spPr>
        <p:txBody>
          <a:bodyPr/>
          <a:lstStyle/>
          <a:p>
            <a:endParaRPr lang="en-GB"/>
          </a:p>
        </p:txBody>
      </p:sp>
      <p:pic>
        <p:nvPicPr>
          <p:cNvPr id="44" name="Image 3" descr="preencoded.png"/>
          <p:cNvPicPr>
            <a:picLocks noChangeAspect="1"/>
          </p:cNvPicPr>
          <p:nvPr/>
        </p:nvPicPr>
        <p:blipFill>
          <a:blip r:embed="rId6"/>
          <a:stretch>
            <a:fillRect/>
          </a:stretch>
        </p:blipFill>
        <p:spPr>
          <a:xfrm>
            <a:off x="6607912" y="4448556"/>
            <a:ext cx="292608" cy="292608"/>
          </a:xfrm>
          <a:prstGeom prst="rect">
            <a:avLst/>
          </a:prstGeom>
        </p:spPr>
      </p:pic>
      <p:sp>
        <p:nvSpPr>
          <p:cNvPr id="45" name="Shape 39"/>
          <p:cNvSpPr/>
          <p:nvPr/>
        </p:nvSpPr>
        <p:spPr>
          <a:xfrm>
            <a:off x="9046159" y="4329684"/>
            <a:ext cx="2468880" cy="274320"/>
          </a:xfrm>
          <a:prstGeom prst="roundRect">
            <a:avLst>
              <a:gd name="adj" fmla="val 166667"/>
            </a:avLst>
          </a:prstGeom>
          <a:solidFill>
            <a:srgbClr val="C77B17"/>
          </a:solidFill>
          <a:ln/>
        </p:spPr>
        <p:txBody>
          <a:bodyPr/>
          <a:lstStyle/>
          <a:p>
            <a:endParaRPr lang="en-GB"/>
          </a:p>
        </p:txBody>
      </p:sp>
      <p:sp>
        <p:nvSpPr>
          <p:cNvPr id="46" name="Text 40"/>
          <p:cNvSpPr/>
          <p:nvPr/>
        </p:nvSpPr>
        <p:spPr>
          <a:xfrm>
            <a:off x="9046159" y="4329684"/>
            <a:ext cx="2468880" cy="274320"/>
          </a:xfrm>
          <a:prstGeom prst="rect">
            <a:avLst/>
          </a:prstGeom>
          <a:noFill/>
          <a:ln/>
        </p:spPr>
        <p:txBody>
          <a:bodyPr wrap="square" lIns="0" tIns="0" rIns="0" bIns="0" rtlCol="0" anchor="ctr"/>
          <a:lstStyle/>
          <a:p>
            <a:pPr marL="0" indent="0" algn="ctr">
              <a:buNone/>
            </a:pPr>
            <a:r>
              <a:rPr lang="en-US" sz="950" b="1" kern="0" spc="50" dirty="0">
                <a:solidFill>
                  <a:srgbClr val="FFFFFF"/>
                </a:solidFill>
                <a:latin typeface="Calibri" pitchFamily="34" charset="0"/>
                <a:ea typeface="Calibri" pitchFamily="34" charset="-122"/>
                <a:cs typeface="Calibri" pitchFamily="34" charset="-120"/>
              </a:rPr>
              <a:t>EARLY WORKS CONTRACT</a:t>
            </a:r>
            <a:endParaRPr lang="en-US" sz="950" dirty="0"/>
          </a:p>
        </p:txBody>
      </p:sp>
      <p:sp>
        <p:nvSpPr>
          <p:cNvPr id="47" name="Text 41"/>
          <p:cNvSpPr/>
          <p:nvPr/>
        </p:nvSpPr>
        <p:spPr>
          <a:xfrm>
            <a:off x="6489040" y="5006340"/>
            <a:ext cx="4989424" cy="457200"/>
          </a:xfrm>
          <a:prstGeom prst="rect">
            <a:avLst/>
          </a:prstGeom>
          <a:noFill/>
          <a:ln/>
        </p:spPr>
        <p:txBody>
          <a:bodyPr wrap="square" lIns="0" tIns="0" rIns="0" bIns="0" rtlCol="0" anchor="t"/>
          <a:lstStyle/>
          <a:p>
            <a:pPr marL="0" indent="0">
              <a:buNone/>
            </a:pPr>
            <a:r>
              <a:rPr lang="en-US" sz="1600" b="1" dirty="0">
                <a:solidFill>
                  <a:srgbClr val="12233D"/>
                </a:solidFill>
                <a:latin typeface="Calibri" pitchFamily="34" charset="0"/>
                <a:ea typeface="Calibri" pitchFamily="34" charset="-122"/>
                <a:cs typeface="Calibri" pitchFamily="34" charset="-120"/>
              </a:rPr>
              <a:t>Rolls-Royce SMR — Temelín</a:t>
            </a:r>
            <a:endParaRPr lang="en-US" sz="1600" dirty="0"/>
          </a:p>
        </p:txBody>
      </p:sp>
      <p:sp>
        <p:nvSpPr>
          <p:cNvPr id="48" name="Text 42"/>
          <p:cNvSpPr/>
          <p:nvPr/>
        </p:nvSpPr>
        <p:spPr>
          <a:xfrm>
            <a:off x="6489040" y="548182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Up to 3 GW  ·  470 MWe units</a:t>
            </a:r>
            <a:endParaRPr lang="en-US" sz="1150" dirty="0"/>
          </a:p>
        </p:txBody>
      </p:sp>
      <p:sp>
        <p:nvSpPr>
          <p:cNvPr id="49" name="Shape 43"/>
          <p:cNvSpPr/>
          <p:nvPr/>
        </p:nvSpPr>
        <p:spPr>
          <a:xfrm>
            <a:off x="6489040" y="5847588"/>
            <a:ext cx="4989424" cy="0"/>
          </a:xfrm>
          <a:prstGeom prst="line">
            <a:avLst/>
          </a:prstGeom>
          <a:noFill/>
          <a:ln w="9525">
            <a:solidFill>
              <a:srgbClr val="D6E0E8"/>
            </a:solidFill>
            <a:prstDash val="solid"/>
          </a:ln>
        </p:spPr>
        <p:txBody>
          <a:bodyPr/>
          <a:lstStyle/>
          <a:p>
            <a:endParaRPr lang="en-GB"/>
          </a:p>
        </p:txBody>
      </p:sp>
      <p:sp>
        <p:nvSpPr>
          <p:cNvPr id="50" name="Text 44"/>
          <p:cNvSpPr/>
          <p:nvPr/>
        </p:nvSpPr>
        <p:spPr>
          <a:xfrm>
            <a:off x="6489040" y="595731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00" dirty="0">
                <a:solidFill>
                  <a:srgbClr val="12233D"/>
                </a:solidFill>
                <a:latin typeface="Calibri" pitchFamily="34" charset="0"/>
                <a:ea typeface="Calibri" pitchFamily="34" charset="-122"/>
                <a:cs typeface="Calibri" pitchFamily="34" charset="-120"/>
              </a:rPr>
              <a:t>Early Works Contract signed 24 Apr-26 · approvals targeted by 2030</a:t>
            </a:r>
            <a:endParaRPr lang="en-US" sz="900" dirty="0"/>
          </a:p>
        </p:txBody>
      </p:sp>
      <p:sp>
        <p:nvSpPr>
          <p:cNvPr id="51" name="Text 45"/>
          <p:cNvSpPr/>
          <p:nvPr/>
        </p:nvSpPr>
        <p:spPr>
          <a:xfrm>
            <a:off x="6489040" y="619963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ČEZ (20% RR-SMR equity) · Rolls-Royce SMR</a:t>
            </a:r>
            <a:endParaRPr lang="en-US" sz="1050" dirty="0"/>
          </a:p>
        </p:txBody>
      </p:sp>
      <p:sp>
        <p:nvSpPr>
          <p:cNvPr id="52" name="Text 46"/>
          <p:cNvSpPr/>
          <p:nvPr/>
        </p:nvSpPr>
        <p:spPr>
          <a:xfrm>
            <a:off x="457200" y="6565392"/>
            <a:ext cx="11247120" cy="228600"/>
          </a:xfrm>
          <a:prstGeom prst="rect">
            <a:avLst/>
          </a:prstGeom>
          <a:noFill/>
          <a:ln/>
        </p:spPr>
        <p:txBody>
          <a:bodyPr wrap="square" lIns="0" tIns="0" rIns="0" bIns="0" rtlCol="0" anchor="ctr"/>
          <a:lstStyle/>
          <a:p>
            <a:pPr marL="0" indent="0">
              <a:buNone/>
            </a:pPr>
            <a:r>
              <a:rPr lang="en-US" sz="850" i="1" dirty="0">
                <a:solidFill>
                  <a:srgbClr val="9AA7B3"/>
                </a:solidFill>
                <a:latin typeface="Calibri" pitchFamily="34" charset="0"/>
                <a:ea typeface="Calibri" pitchFamily="34" charset="-122"/>
                <a:cs typeface="Calibri" pitchFamily="34" charset="-120"/>
              </a:rPr>
              <a:t>Source: ČEZ, KHNP, Rolls-Royce SMR, World Nuclear Association, World Nuclear News, NucNet announcements, 23 June 2026. Rolls-Royce SMR's Early Works Contract is not a Final Investment Decision.</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12233D"/>
          </a:solidFill>
          <a:ln/>
        </p:spPr>
        <p:txBody>
          <a:bodyPr/>
          <a:lstStyle/>
          <a:p>
            <a:endParaRPr lang="en-GB"/>
          </a:p>
        </p:txBody>
      </p:sp>
      <p:sp>
        <p:nvSpPr>
          <p:cNvPr id="3" name="Text 1"/>
          <p:cNvSpPr/>
          <p:nvPr/>
        </p:nvSpPr>
        <p:spPr>
          <a:xfrm>
            <a:off x="457200" y="100584"/>
            <a:ext cx="8869680" cy="347472"/>
          </a:xfrm>
          <a:prstGeom prst="rect">
            <a:avLst/>
          </a:prstGeom>
          <a:noFill/>
          <a:ln/>
        </p:spPr>
        <p:txBody>
          <a:bodyPr wrap="square" lIns="0" tIns="0" rIns="0" bIns="0" rtlCol="0" anchor="ctr"/>
          <a:lstStyle/>
          <a:p>
            <a:pPr marL="0" indent="0">
              <a:buNone/>
            </a:pPr>
            <a:r>
              <a:rPr lang="en-US" b="1" kern="0" spc="130" dirty="0">
                <a:solidFill>
                  <a:srgbClr val="FF0000"/>
                </a:solidFill>
                <a:latin typeface="Calibri" pitchFamily="34" charset="0"/>
                <a:ea typeface="Calibri" pitchFamily="34" charset="-122"/>
                <a:cs typeface="Calibri" pitchFamily="34" charset="-120"/>
              </a:rPr>
              <a:t>CZECHIA</a:t>
            </a:r>
            <a:r>
              <a:rPr lang="en-US" sz="1400" b="1" kern="0" spc="130" dirty="0">
                <a:solidFill>
                  <a:srgbClr val="9FB6CC"/>
                </a:solidFill>
                <a:latin typeface="Calibri" pitchFamily="34" charset="0"/>
                <a:ea typeface="Calibri" pitchFamily="34" charset="-122"/>
                <a:cs typeface="Calibri" pitchFamily="34" charset="-120"/>
              </a:rPr>
              <a:t> NUCLEAR PROGRAMME LANDSCAPE</a:t>
            </a:r>
            <a:endParaRPr lang="en-US" sz="1400" dirty="0"/>
          </a:p>
        </p:txBody>
      </p:sp>
      <p:sp>
        <p:nvSpPr>
          <p:cNvPr id="4" name="Text 2"/>
          <p:cNvSpPr/>
          <p:nvPr/>
        </p:nvSpPr>
        <p:spPr>
          <a:xfrm>
            <a:off x="457200" y="384048"/>
            <a:ext cx="886968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Delivery Timeline, 2026–2038+</a:t>
            </a:r>
            <a:endParaRPr lang="en-US" sz="2400" dirty="0"/>
          </a:p>
        </p:txBody>
      </p:sp>
      <p:sp>
        <p:nvSpPr>
          <p:cNvPr id="6" name="Shape 4"/>
          <p:cNvSpPr/>
          <p:nvPr/>
        </p:nvSpPr>
        <p:spPr>
          <a:xfrm>
            <a:off x="4590178" y="1060704"/>
            <a:ext cx="118872" cy="118872"/>
          </a:xfrm>
          <a:prstGeom prst="ellipse">
            <a:avLst/>
          </a:prstGeom>
          <a:solidFill>
            <a:srgbClr val="1E8E5A"/>
          </a:solidFill>
          <a:ln/>
        </p:spPr>
        <p:txBody>
          <a:bodyPr/>
          <a:lstStyle/>
          <a:p>
            <a:endParaRPr lang="en-GB"/>
          </a:p>
        </p:txBody>
      </p:sp>
      <p:sp>
        <p:nvSpPr>
          <p:cNvPr id="7" name="Text 5"/>
          <p:cNvSpPr/>
          <p:nvPr/>
        </p:nvSpPr>
        <p:spPr>
          <a:xfrm>
            <a:off x="4773058" y="978408"/>
            <a:ext cx="233172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Operational / contracted construction</a:t>
            </a:r>
            <a:endParaRPr lang="en-US" sz="950" dirty="0"/>
          </a:p>
        </p:txBody>
      </p:sp>
      <p:sp>
        <p:nvSpPr>
          <p:cNvPr id="8" name="Shape 6"/>
          <p:cNvSpPr/>
          <p:nvPr/>
        </p:nvSpPr>
        <p:spPr>
          <a:xfrm>
            <a:off x="7196218" y="1060704"/>
            <a:ext cx="118872" cy="118872"/>
          </a:xfrm>
          <a:prstGeom prst="ellipse">
            <a:avLst/>
          </a:prstGeom>
          <a:solidFill>
            <a:srgbClr val="C77B17"/>
          </a:solidFill>
          <a:ln/>
        </p:spPr>
        <p:txBody>
          <a:bodyPr/>
          <a:lstStyle/>
          <a:p>
            <a:endParaRPr lang="en-GB"/>
          </a:p>
        </p:txBody>
      </p:sp>
      <p:sp>
        <p:nvSpPr>
          <p:cNvPr id="9" name="Text 7"/>
          <p:cNvSpPr/>
          <p:nvPr/>
        </p:nvSpPr>
        <p:spPr>
          <a:xfrm>
            <a:off x="7379098" y="978408"/>
            <a:ext cx="210312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Licensing / engineering / early works</a:t>
            </a:r>
            <a:endParaRPr lang="en-US" sz="950" dirty="0"/>
          </a:p>
        </p:txBody>
      </p:sp>
      <p:sp>
        <p:nvSpPr>
          <p:cNvPr id="10" name="Shape 8"/>
          <p:cNvSpPr/>
          <p:nvPr/>
        </p:nvSpPr>
        <p:spPr>
          <a:xfrm>
            <a:off x="9527938" y="1060704"/>
            <a:ext cx="118872" cy="118872"/>
          </a:xfrm>
          <a:prstGeom prst="ellipse">
            <a:avLst/>
          </a:prstGeom>
          <a:solidFill>
            <a:srgbClr val="6B7785"/>
          </a:solidFill>
          <a:ln/>
        </p:spPr>
        <p:txBody>
          <a:bodyPr/>
          <a:lstStyle/>
          <a:p>
            <a:endParaRPr lang="en-GB"/>
          </a:p>
        </p:txBody>
      </p:sp>
      <p:sp>
        <p:nvSpPr>
          <p:cNvPr id="11" name="Text 9"/>
          <p:cNvSpPr/>
          <p:nvPr/>
        </p:nvSpPr>
        <p:spPr>
          <a:xfrm>
            <a:off x="9710818" y="978408"/>
            <a:ext cx="137160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Option / pre-decision</a:t>
            </a:r>
            <a:endParaRPr lang="en-US" sz="950" dirty="0"/>
          </a:p>
        </p:txBody>
      </p:sp>
      <p:sp>
        <p:nvSpPr>
          <p:cNvPr id="12" name="Shape 10"/>
          <p:cNvSpPr/>
          <p:nvPr/>
        </p:nvSpPr>
        <p:spPr>
          <a:xfrm>
            <a:off x="2514600" y="1426464"/>
            <a:ext cx="0" cy="4974336"/>
          </a:xfrm>
          <a:prstGeom prst="line">
            <a:avLst/>
          </a:prstGeom>
          <a:noFill/>
          <a:ln w="9525">
            <a:solidFill>
              <a:srgbClr val="E3E9EF"/>
            </a:solidFill>
            <a:prstDash val="solid"/>
          </a:ln>
        </p:spPr>
        <p:txBody>
          <a:bodyPr/>
          <a:lstStyle/>
          <a:p>
            <a:endParaRPr lang="en-GB"/>
          </a:p>
        </p:txBody>
      </p:sp>
      <p:sp>
        <p:nvSpPr>
          <p:cNvPr id="13" name="Text 11"/>
          <p:cNvSpPr/>
          <p:nvPr/>
        </p:nvSpPr>
        <p:spPr>
          <a:xfrm>
            <a:off x="219456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2026</a:t>
            </a:r>
            <a:endParaRPr lang="en-US" sz="950" dirty="0"/>
          </a:p>
        </p:txBody>
      </p:sp>
      <p:sp>
        <p:nvSpPr>
          <p:cNvPr id="14" name="Shape 12"/>
          <p:cNvSpPr/>
          <p:nvPr/>
        </p:nvSpPr>
        <p:spPr>
          <a:xfrm>
            <a:off x="4053840" y="1426464"/>
            <a:ext cx="0" cy="4974336"/>
          </a:xfrm>
          <a:prstGeom prst="line">
            <a:avLst/>
          </a:prstGeom>
          <a:noFill/>
          <a:ln w="9525">
            <a:solidFill>
              <a:srgbClr val="E3E9EF"/>
            </a:solidFill>
            <a:prstDash val="solid"/>
          </a:ln>
        </p:spPr>
        <p:txBody>
          <a:bodyPr/>
          <a:lstStyle/>
          <a:p>
            <a:endParaRPr lang="en-GB"/>
          </a:p>
        </p:txBody>
      </p:sp>
      <p:sp>
        <p:nvSpPr>
          <p:cNvPr id="15" name="Text 13"/>
          <p:cNvSpPr/>
          <p:nvPr/>
        </p:nvSpPr>
        <p:spPr>
          <a:xfrm>
            <a:off x="373380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2028</a:t>
            </a:r>
            <a:endParaRPr lang="en-US" sz="950" dirty="0"/>
          </a:p>
        </p:txBody>
      </p:sp>
      <p:sp>
        <p:nvSpPr>
          <p:cNvPr id="16" name="Shape 14"/>
          <p:cNvSpPr/>
          <p:nvPr/>
        </p:nvSpPr>
        <p:spPr>
          <a:xfrm>
            <a:off x="5593080" y="1426464"/>
            <a:ext cx="0" cy="4974336"/>
          </a:xfrm>
          <a:prstGeom prst="line">
            <a:avLst/>
          </a:prstGeom>
          <a:noFill/>
          <a:ln w="9525">
            <a:solidFill>
              <a:srgbClr val="E3E9EF"/>
            </a:solidFill>
            <a:prstDash val="solid"/>
          </a:ln>
        </p:spPr>
        <p:txBody>
          <a:bodyPr/>
          <a:lstStyle/>
          <a:p>
            <a:endParaRPr lang="en-GB"/>
          </a:p>
        </p:txBody>
      </p:sp>
      <p:sp>
        <p:nvSpPr>
          <p:cNvPr id="17" name="Text 15"/>
          <p:cNvSpPr/>
          <p:nvPr/>
        </p:nvSpPr>
        <p:spPr>
          <a:xfrm>
            <a:off x="527304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2030</a:t>
            </a:r>
            <a:endParaRPr lang="en-US" sz="950" dirty="0"/>
          </a:p>
        </p:txBody>
      </p:sp>
      <p:sp>
        <p:nvSpPr>
          <p:cNvPr id="18" name="Shape 16"/>
          <p:cNvSpPr/>
          <p:nvPr/>
        </p:nvSpPr>
        <p:spPr>
          <a:xfrm>
            <a:off x="7132320" y="1426464"/>
            <a:ext cx="0" cy="4974336"/>
          </a:xfrm>
          <a:prstGeom prst="line">
            <a:avLst/>
          </a:prstGeom>
          <a:noFill/>
          <a:ln w="9525">
            <a:solidFill>
              <a:srgbClr val="E3E9EF"/>
            </a:solidFill>
            <a:prstDash val="solid"/>
          </a:ln>
        </p:spPr>
        <p:txBody>
          <a:bodyPr/>
          <a:lstStyle/>
          <a:p>
            <a:endParaRPr lang="en-GB"/>
          </a:p>
        </p:txBody>
      </p:sp>
      <p:sp>
        <p:nvSpPr>
          <p:cNvPr id="19" name="Text 17"/>
          <p:cNvSpPr/>
          <p:nvPr/>
        </p:nvSpPr>
        <p:spPr>
          <a:xfrm>
            <a:off x="681228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2032</a:t>
            </a:r>
            <a:endParaRPr lang="en-US" sz="950" dirty="0"/>
          </a:p>
        </p:txBody>
      </p:sp>
      <p:sp>
        <p:nvSpPr>
          <p:cNvPr id="20" name="Shape 18"/>
          <p:cNvSpPr/>
          <p:nvPr/>
        </p:nvSpPr>
        <p:spPr>
          <a:xfrm>
            <a:off x="8671560" y="1426464"/>
            <a:ext cx="0" cy="4974336"/>
          </a:xfrm>
          <a:prstGeom prst="line">
            <a:avLst/>
          </a:prstGeom>
          <a:noFill/>
          <a:ln w="9525">
            <a:solidFill>
              <a:srgbClr val="E3E9EF"/>
            </a:solidFill>
            <a:prstDash val="solid"/>
          </a:ln>
        </p:spPr>
        <p:txBody>
          <a:bodyPr/>
          <a:lstStyle/>
          <a:p>
            <a:endParaRPr lang="en-GB"/>
          </a:p>
        </p:txBody>
      </p:sp>
      <p:sp>
        <p:nvSpPr>
          <p:cNvPr id="21" name="Text 19"/>
          <p:cNvSpPr/>
          <p:nvPr/>
        </p:nvSpPr>
        <p:spPr>
          <a:xfrm>
            <a:off x="835152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2034</a:t>
            </a:r>
            <a:endParaRPr lang="en-US" sz="950" dirty="0"/>
          </a:p>
        </p:txBody>
      </p:sp>
      <p:sp>
        <p:nvSpPr>
          <p:cNvPr id="22" name="Shape 20"/>
          <p:cNvSpPr/>
          <p:nvPr/>
        </p:nvSpPr>
        <p:spPr>
          <a:xfrm>
            <a:off x="10210800" y="1426464"/>
            <a:ext cx="0" cy="4974336"/>
          </a:xfrm>
          <a:prstGeom prst="line">
            <a:avLst/>
          </a:prstGeom>
          <a:noFill/>
          <a:ln w="9525">
            <a:solidFill>
              <a:srgbClr val="E3E9EF"/>
            </a:solidFill>
            <a:prstDash val="solid"/>
          </a:ln>
        </p:spPr>
        <p:txBody>
          <a:bodyPr/>
          <a:lstStyle/>
          <a:p>
            <a:endParaRPr lang="en-GB"/>
          </a:p>
        </p:txBody>
      </p:sp>
      <p:sp>
        <p:nvSpPr>
          <p:cNvPr id="23" name="Text 21"/>
          <p:cNvSpPr/>
          <p:nvPr/>
        </p:nvSpPr>
        <p:spPr>
          <a:xfrm>
            <a:off x="989076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2036</a:t>
            </a:r>
            <a:endParaRPr lang="en-US" sz="950" dirty="0"/>
          </a:p>
        </p:txBody>
      </p:sp>
      <p:sp>
        <p:nvSpPr>
          <p:cNvPr id="24" name="Shape 22"/>
          <p:cNvSpPr/>
          <p:nvPr/>
        </p:nvSpPr>
        <p:spPr>
          <a:xfrm>
            <a:off x="11750040" y="1426464"/>
            <a:ext cx="0" cy="4974336"/>
          </a:xfrm>
          <a:prstGeom prst="line">
            <a:avLst/>
          </a:prstGeom>
          <a:noFill/>
          <a:ln w="9525">
            <a:solidFill>
              <a:srgbClr val="E3E9EF"/>
            </a:solidFill>
            <a:prstDash val="solid"/>
          </a:ln>
        </p:spPr>
        <p:txBody>
          <a:bodyPr/>
          <a:lstStyle/>
          <a:p>
            <a:endParaRPr lang="en-GB"/>
          </a:p>
        </p:txBody>
      </p:sp>
      <p:sp>
        <p:nvSpPr>
          <p:cNvPr id="25" name="Text 23"/>
          <p:cNvSpPr/>
          <p:nvPr/>
        </p:nvSpPr>
        <p:spPr>
          <a:xfrm>
            <a:off x="1143000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2038+</a:t>
            </a:r>
            <a:endParaRPr lang="en-US" sz="950" dirty="0"/>
          </a:p>
        </p:txBody>
      </p:sp>
      <p:sp>
        <p:nvSpPr>
          <p:cNvPr id="26" name="Shape 24"/>
          <p:cNvSpPr/>
          <p:nvPr/>
        </p:nvSpPr>
        <p:spPr>
          <a:xfrm>
            <a:off x="365760" y="1426464"/>
            <a:ext cx="2011680" cy="4974336"/>
          </a:xfrm>
          <a:prstGeom prst="rect">
            <a:avLst/>
          </a:prstGeom>
          <a:solidFill>
            <a:srgbClr val="FFFFFF"/>
          </a:solidFill>
          <a:ln/>
        </p:spPr>
        <p:txBody>
          <a:bodyPr/>
          <a:lstStyle/>
          <a:p>
            <a:endParaRPr lang="en-GB"/>
          </a:p>
        </p:txBody>
      </p:sp>
      <p:sp>
        <p:nvSpPr>
          <p:cNvPr id="27" name="Shape 25"/>
          <p:cNvSpPr/>
          <p:nvPr/>
        </p:nvSpPr>
        <p:spPr>
          <a:xfrm>
            <a:off x="365760" y="1481328"/>
            <a:ext cx="11795760" cy="1078992"/>
          </a:xfrm>
          <a:prstGeom prst="rect">
            <a:avLst/>
          </a:prstGeom>
          <a:solidFill>
            <a:srgbClr val="F7FAFC"/>
          </a:solidFill>
          <a:ln/>
        </p:spPr>
        <p:txBody>
          <a:bodyPr/>
          <a:lstStyle/>
          <a:p>
            <a:endParaRPr lang="en-GB"/>
          </a:p>
        </p:txBody>
      </p:sp>
      <p:sp>
        <p:nvSpPr>
          <p:cNvPr id="28" name="Shape 26"/>
          <p:cNvSpPr/>
          <p:nvPr/>
        </p:nvSpPr>
        <p:spPr>
          <a:xfrm>
            <a:off x="457200" y="1801368"/>
            <a:ext cx="438912" cy="438912"/>
          </a:xfrm>
          <a:prstGeom prst="ellipse">
            <a:avLst/>
          </a:prstGeom>
          <a:solidFill>
            <a:srgbClr val="1B3358"/>
          </a:solidFill>
          <a:ln/>
        </p:spPr>
        <p:txBody>
          <a:bodyPr/>
          <a:lstStyle/>
          <a:p>
            <a:endParaRPr lang="en-GB"/>
          </a:p>
        </p:txBody>
      </p:sp>
      <p:pic>
        <p:nvPicPr>
          <p:cNvPr id="29" name="Image 0" descr="preencoded.png"/>
          <p:cNvPicPr>
            <a:picLocks noChangeAspect="1"/>
          </p:cNvPicPr>
          <p:nvPr/>
        </p:nvPicPr>
        <p:blipFill>
          <a:blip r:embed="rId3"/>
          <a:stretch>
            <a:fillRect/>
          </a:stretch>
        </p:blipFill>
        <p:spPr>
          <a:xfrm>
            <a:off x="548640" y="1892808"/>
            <a:ext cx="256032" cy="256032"/>
          </a:xfrm>
          <a:prstGeom prst="rect">
            <a:avLst/>
          </a:prstGeom>
        </p:spPr>
      </p:pic>
      <p:sp>
        <p:nvSpPr>
          <p:cNvPr id="30" name="Text 27"/>
          <p:cNvSpPr/>
          <p:nvPr/>
        </p:nvSpPr>
        <p:spPr>
          <a:xfrm>
            <a:off x="1005840" y="1591056"/>
            <a:ext cx="1417320" cy="512064"/>
          </a:xfrm>
          <a:prstGeom prst="rect">
            <a:avLst/>
          </a:prstGeom>
          <a:noFill/>
          <a:ln/>
        </p:spPr>
        <p:txBody>
          <a:bodyPr wrap="square" lIns="0" tIns="0" rIns="0" bIns="0" rtlCol="0" anchor="t"/>
          <a:lstStyle/>
          <a:p>
            <a:pPr marL="0" indent="0">
              <a:lnSpc>
                <a:spcPct val="98000"/>
              </a:lnSpc>
              <a:buNone/>
            </a:pPr>
            <a:r>
              <a:rPr lang="en-US" sz="1150" b="1" dirty="0">
                <a:solidFill>
                  <a:srgbClr val="12233D"/>
                </a:solidFill>
                <a:latin typeface="Calibri" pitchFamily="34" charset="0"/>
                <a:ea typeface="Calibri" pitchFamily="34" charset="-122"/>
                <a:cs typeface="Calibri" pitchFamily="34" charset="-120"/>
              </a:rPr>
              <a:t>Dukovany 1–4 — Long-Term Operation</a:t>
            </a:r>
            <a:endParaRPr lang="en-US" sz="1150" dirty="0"/>
          </a:p>
        </p:txBody>
      </p:sp>
      <p:sp>
        <p:nvSpPr>
          <p:cNvPr id="31" name="Text 28"/>
          <p:cNvSpPr/>
          <p:nvPr/>
        </p:nvSpPr>
        <p:spPr>
          <a:xfrm>
            <a:off x="1005840" y="2103120"/>
            <a:ext cx="1417320" cy="420624"/>
          </a:xfrm>
          <a:prstGeom prst="rect">
            <a:avLst/>
          </a:prstGeom>
          <a:noFill/>
          <a:ln/>
        </p:spPr>
        <p:txBody>
          <a:bodyPr wrap="square" lIns="0" tIns="0" rIns="0" bIns="0" rtlCol="0" anchor="b"/>
          <a:lstStyle/>
          <a:p>
            <a:pPr marL="0" indent="0">
              <a:lnSpc>
                <a:spcPct val="98000"/>
              </a:lnSpc>
              <a:buNone/>
            </a:pPr>
            <a:r>
              <a:rPr lang="en-US" sz="730" i="1" dirty="0">
                <a:solidFill>
                  <a:srgbClr val="5B6B7C"/>
                </a:solidFill>
                <a:latin typeface="Calibri" pitchFamily="34" charset="0"/>
                <a:ea typeface="Calibri" pitchFamily="34" charset="-122"/>
                <a:cs typeface="Calibri" pitchFamily="34" charset="-120"/>
              </a:rPr>
              <a:t>4 × VVER-440 · ~30% of CZ electricity · ČEZ · SUŽEP</a:t>
            </a:r>
            <a:endParaRPr lang="en-US" sz="730" dirty="0"/>
          </a:p>
        </p:txBody>
      </p:sp>
      <p:sp>
        <p:nvSpPr>
          <p:cNvPr id="32" name="Shape 29"/>
          <p:cNvSpPr/>
          <p:nvPr/>
        </p:nvSpPr>
        <p:spPr>
          <a:xfrm>
            <a:off x="2514600" y="2020824"/>
            <a:ext cx="9235440" cy="0"/>
          </a:xfrm>
          <a:prstGeom prst="line">
            <a:avLst/>
          </a:prstGeom>
          <a:noFill/>
          <a:ln w="6350">
            <a:solidFill>
              <a:srgbClr val="E3E9EF"/>
            </a:solidFill>
            <a:prstDash val="dash"/>
          </a:ln>
        </p:spPr>
        <p:txBody>
          <a:bodyPr/>
          <a:lstStyle/>
          <a:p>
            <a:endParaRPr lang="en-GB"/>
          </a:p>
        </p:txBody>
      </p:sp>
      <p:sp>
        <p:nvSpPr>
          <p:cNvPr id="33" name="Shape 30"/>
          <p:cNvSpPr/>
          <p:nvPr/>
        </p:nvSpPr>
        <p:spPr>
          <a:xfrm>
            <a:off x="2514600" y="1901952"/>
            <a:ext cx="9235440" cy="237744"/>
          </a:xfrm>
          <a:prstGeom prst="roundRect">
            <a:avLst>
              <a:gd name="adj" fmla="val 19231"/>
            </a:avLst>
          </a:prstGeom>
          <a:solidFill>
            <a:srgbClr val="1E8E5A"/>
          </a:solidFill>
          <a:ln/>
        </p:spPr>
        <p:txBody>
          <a:bodyPr/>
          <a:lstStyle/>
          <a:p>
            <a:endParaRPr lang="en-GB"/>
          </a:p>
        </p:txBody>
      </p:sp>
      <p:sp>
        <p:nvSpPr>
          <p:cNvPr id="34" name="Shape 31"/>
          <p:cNvSpPr/>
          <p:nvPr/>
        </p:nvSpPr>
        <p:spPr>
          <a:xfrm>
            <a:off x="2839974" y="1961388"/>
            <a:ext cx="118872" cy="118872"/>
          </a:xfrm>
          <a:prstGeom prst="diamond">
            <a:avLst/>
          </a:prstGeom>
          <a:solidFill>
            <a:srgbClr val="FFFFFF"/>
          </a:solidFill>
          <a:ln w="21590">
            <a:solidFill>
              <a:srgbClr val="1E8E5A"/>
            </a:solidFill>
            <a:prstDash val="solid"/>
          </a:ln>
        </p:spPr>
        <p:txBody>
          <a:bodyPr/>
          <a:lstStyle/>
          <a:p>
            <a:endParaRPr lang="en-GB"/>
          </a:p>
        </p:txBody>
      </p:sp>
      <p:sp>
        <p:nvSpPr>
          <p:cNvPr id="35" name="Text 32"/>
          <p:cNvSpPr/>
          <p:nvPr/>
        </p:nvSpPr>
        <p:spPr>
          <a:xfrm>
            <a:off x="2606040" y="1591056"/>
            <a:ext cx="2651760" cy="237744"/>
          </a:xfrm>
          <a:prstGeom prst="rect">
            <a:avLst/>
          </a:prstGeom>
          <a:noFill/>
          <a:ln/>
        </p:spPr>
        <p:txBody>
          <a:bodyPr wrap="square" lIns="0" tIns="0" rIns="0" bIns="0" rtlCol="0" anchor="ctr"/>
          <a:lstStyle/>
          <a:p>
            <a:pPr marL="0" indent="0" algn="ctr">
              <a:buNone/>
            </a:pPr>
            <a:r>
              <a:rPr lang="en-US" sz="770" b="1" dirty="0">
                <a:solidFill>
                  <a:srgbClr val="1E8E5A"/>
                </a:solidFill>
                <a:latin typeface="Calibri" pitchFamily="34" charset="0"/>
                <a:ea typeface="Calibri" pitchFamily="34" charset="-122"/>
                <a:cs typeface="Calibri" pitchFamily="34" charset="-120"/>
              </a:rPr>
              <a:t>20-year extension </a:t>
            </a:r>
            <a:r>
              <a:rPr lang="en-US" sz="770" b="1" dirty="0" err="1">
                <a:solidFill>
                  <a:srgbClr val="1E8E5A"/>
                </a:solidFill>
                <a:latin typeface="Calibri" pitchFamily="34" charset="0"/>
                <a:ea typeface="Calibri" pitchFamily="34" charset="-122"/>
                <a:cs typeface="Calibri" pitchFamily="34" charset="-120"/>
              </a:rPr>
              <a:t>programme</a:t>
            </a:r>
            <a:r>
              <a:rPr lang="en-US" sz="770" b="1" dirty="0">
                <a:solidFill>
                  <a:srgbClr val="1E8E5A"/>
                </a:solidFill>
                <a:latin typeface="Calibri" pitchFamily="34" charset="0"/>
                <a:ea typeface="Calibri" pitchFamily="34" charset="-122"/>
                <a:cs typeface="Calibri" pitchFamily="34" charset="-120"/>
              </a:rPr>
              <a:t> underway (to 60yr life)</a:t>
            </a:r>
            <a:endParaRPr lang="en-US" sz="770" dirty="0"/>
          </a:p>
        </p:txBody>
      </p:sp>
      <p:sp>
        <p:nvSpPr>
          <p:cNvPr id="36" name="Shape 33"/>
          <p:cNvSpPr/>
          <p:nvPr/>
        </p:nvSpPr>
        <p:spPr>
          <a:xfrm>
            <a:off x="11690604" y="1961388"/>
            <a:ext cx="118872" cy="118872"/>
          </a:xfrm>
          <a:prstGeom prst="diamond">
            <a:avLst/>
          </a:prstGeom>
          <a:solidFill>
            <a:srgbClr val="FFFFFF"/>
          </a:solidFill>
          <a:ln w="21590">
            <a:solidFill>
              <a:srgbClr val="1E8E5A"/>
            </a:solidFill>
            <a:prstDash val="solid"/>
          </a:ln>
        </p:spPr>
        <p:txBody>
          <a:bodyPr/>
          <a:lstStyle/>
          <a:p>
            <a:endParaRPr lang="en-GB"/>
          </a:p>
        </p:txBody>
      </p:sp>
      <p:sp>
        <p:nvSpPr>
          <p:cNvPr id="37" name="Text 34"/>
          <p:cNvSpPr/>
          <p:nvPr/>
        </p:nvSpPr>
        <p:spPr>
          <a:xfrm>
            <a:off x="9555480" y="2267712"/>
            <a:ext cx="2651760" cy="237744"/>
          </a:xfrm>
          <a:prstGeom prst="rect">
            <a:avLst/>
          </a:prstGeom>
          <a:noFill/>
          <a:ln/>
        </p:spPr>
        <p:txBody>
          <a:bodyPr wrap="square" lIns="0" tIns="0" rIns="0" bIns="0" rtlCol="0" anchor="ctr"/>
          <a:lstStyle/>
          <a:p>
            <a:pPr marL="0" indent="0" algn="ctr">
              <a:buNone/>
            </a:pPr>
            <a:r>
              <a:rPr lang="en-US" sz="770" b="1" dirty="0">
                <a:solidFill>
                  <a:srgbClr val="1E8E5A"/>
                </a:solidFill>
                <a:latin typeface="Calibri" pitchFamily="34" charset="0"/>
                <a:ea typeface="Calibri" pitchFamily="34" charset="-122"/>
                <a:cs typeface="Calibri" pitchFamily="34" charset="-120"/>
              </a:rPr>
              <a:t>Last unit retires 2047 (beyond chart)</a:t>
            </a:r>
            <a:endParaRPr lang="en-US" sz="770" dirty="0"/>
          </a:p>
        </p:txBody>
      </p:sp>
      <p:sp>
        <p:nvSpPr>
          <p:cNvPr id="38" name="Shape 35"/>
          <p:cNvSpPr/>
          <p:nvPr/>
        </p:nvSpPr>
        <p:spPr>
          <a:xfrm>
            <a:off x="457200" y="3063240"/>
            <a:ext cx="438912" cy="438912"/>
          </a:xfrm>
          <a:prstGeom prst="ellipse">
            <a:avLst/>
          </a:prstGeom>
          <a:solidFill>
            <a:srgbClr val="1B3358"/>
          </a:solidFill>
          <a:ln/>
        </p:spPr>
        <p:txBody>
          <a:bodyPr/>
          <a:lstStyle/>
          <a:p>
            <a:endParaRPr lang="en-GB"/>
          </a:p>
        </p:txBody>
      </p:sp>
      <p:pic>
        <p:nvPicPr>
          <p:cNvPr id="39" name="Image 1" descr="preencoded.png"/>
          <p:cNvPicPr>
            <a:picLocks noChangeAspect="1"/>
          </p:cNvPicPr>
          <p:nvPr/>
        </p:nvPicPr>
        <p:blipFill>
          <a:blip r:embed="rId4"/>
          <a:stretch>
            <a:fillRect/>
          </a:stretch>
        </p:blipFill>
        <p:spPr>
          <a:xfrm>
            <a:off x="548640" y="3154680"/>
            <a:ext cx="256032" cy="256032"/>
          </a:xfrm>
          <a:prstGeom prst="rect">
            <a:avLst/>
          </a:prstGeom>
        </p:spPr>
      </p:pic>
      <p:sp>
        <p:nvSpPr>
          <p:cNvPr id="40" name="Text 36"/>
          <p:cNvSpPr/>
          <p:nvPr/>
        </p:nvSpPr>
        <p:spPr>
          <a:xfrm>
            <a:off x="1005840" y="2852928"/>
            <a:ext cx="1417320" cy="512064"/>
          </a:xfrm>
          <a:prstGeom prst="rect">
            <a:avLst/>
          </a:prstGeom>
          <a:noFill/>
          <a:ln/>
        </p:spPr>
        <p:txBody>
          <a:bodyPr wrap="square" lIns="0" tIns="0" rIns="0" bIns="0" rtlCol="0" anchor="t"/>
          <a:lstStyle/>
          <a:p>
            <a:pPr marL="0" indent="0">
              <a:lnSpc>
                <a:spcPct val="98000"/>
              </a:lnSpc>
              <a:buNone/>
            </a:pPr>
            <a:r>
              <a:rPr lang="en-US" sz="1150" b="1" dirty="0">
                <a:solidFill>
                  <a:srgbClr val="12233D"/>
                </a:solidFill>
                <a:latin typeface="Calibri" pitchFamily="34" charset="0"/>
                <a:ea typeface="Calibri" pitchFamily="34" charset="-122"/>
                <a:cs typeface="Calibri" pitchFamily="34" charset="-120"/>
              </a:rPr>
              <a:t>Dukovany 5 &amp; 6 — KHNP APR-1000</a:t>
            </a:r>
            <a:endParaRPr lang="en-US" sz="1150" dirty="0"/>
          </a:p>
        </p:txBody>
      </p:sp>
      <p:sp>
        <p:nvSpPr>
          <p:cNvPr id="41" name="Text 37"/>
          <p:cNvSpPr/>
          <p:nvPr/>
        </p:nvSpPr>
        <p:spPr>
          <a:xfrm>
            <a:off x="1005840" y="3364992"/>
            <a:ext cx="1417320" cy="420624"/>
          </a:xfrm>
          <a:prstGeom prst="rect">
            <a:avLst/>
          </a:prstGeom>
          <a:noFill/>
          <a:ln/>
        </p:spPr>
        <p:txBody>
          <a:bodyPr wrap="square" lIns="0" tIns="0" rIns="0" bIns="0" rtlCol="0" anchor="b"/>
          <a:lstStyle/>
          <a:p>
            <a:pPr marL="0" indent="0">
              <a:lnSpc>
                <a:spcPct val="98000"/>
              </a:lnSpc>
              <a:buNone/>
            </a:pPr>
            <a:r>
              <a:rPr lang="en-US" sz="730" i="1" dirty="0">
                <a:solidFill>
                  <a:srgbClr val="5B6B7C"/>
                </a:solidFill>
                <a:latin typeface="Calibri" pitchFamily="34" charset="0"/>
                <a:ea typeface="Calibri" pitchFamily="34" charset="-122"/>
                <a:cs typeface="Calibri" pitchFamily="34" charset="-120"/>
              </a:rPr>
              <a:t>2 × 1,050 MWe · CZK 407bn (~€16.5bn) · KHNP · EDU II · ČEZ</a:t>
            </a:r>
            <a:endParaRPr lang="en-US" sz="730" dirty="0"/>
          </a:p>
        </p:txBody>
      </p:sp>
      <p:sp>
        <p:nvSpPr>
          <p:cNvPr id="42" name="Shape 38"/>
          <p:cNvSpPr/>
          <p:nvPr/>
        </p:nvSpPr>
        <p:spPr>
          <a:xfrm>
            <a:off x="2514600" y="3282696"/>
            <a:ext cx="9235440" cy="0"/>
          </a:xfrm>
          <a:prstGeom prst="line">
            <a:avLst/>
          </a:prstGeom>
          <a:noFill/>
          <a:ln w="6350">
            <a:solidFill>
              <a:srgbClr val="E3E9EF"/>
            </a:solidFill>
            <a:prstDash val="dash"/>
          </a:ln>
        </p:spPr>
        <p:txBody>
          <a:bodyPr/>
          <a:lstStyle/>
          <a:p>
            <a:endParaRPr lang="en-GB"/>
          </a:p>
        </p:txBody>
      </p:sp>
      <p:sp>
        <p:nvSpPr>
          <p:cNvPr id="43" name="Shape 39"/>
          <p:cNvSpPr/>
          <p:nvPr/>
        </p:nvSpPr>
        <p:spPr>
          <a:xfrm>
            <a:off x="2514600" y="3163824"/>
            <a:ext cx="2308860" cy="237744"/>
          </a:xfrm>
          <a:prstGeom prst="roundRect">
            <a:avLst>
              <a:gd name="adj" fmla="val 19231"/>
            </a:avLst>
          </a:prstGeom>
          <a:solidFill>
            <a:srgbClr val="C77B17"/>
          </a:solidFill>
          <a:ln/>
        </p:spPr>
        <p:txBody>
          <a:bodyPr/>
          <a:lstStyle/>
          <a:p>
            <a:endParaRPr lang="en-GB"/>
          </a:p>
        </p:txBody>
      </p:sp>
      <p:sp>
        <p:nvSpPr>
          <p:cNvPr id="44" name="Shape 40"/>
          <p:cNvSpPr/>
          <p:nvPr/>
        </p:nvSpPr>
        <p:spPr>
          <a:xfrm>
            <a:off x="4823460" y="3163824"/>
            <a:ext cx="5772150" cy="237744"/>
          </a:xfrm>
          <a:prstGeom prst="roundRect">
            <a:avLst>
              <a:gd name="adj" fmla="val 19231"/>
            </a:avLst>
          </a:prstGeom>
          <a:solidFill>
            <a:srgbClr val="1E8E5A"/>
          </a:solidFill>
          <a:ln/>
        </p:spPr>
        <p:txBody>
          <a:bodyPr/>
          <a:lstStyle/>
          <a:p>
            <a:endParaRPr lang="en-GB"/>
          </a:p>
        </p:txBody>
      </p:sp>
      <p:sp>
        <p:nvSpPr>
          <p:cNvPr id="45" name="Shape 41"/>
          <p:cNvSpPr/>
          <p:nvPr/>
        </p:nvSpPr>
        <p:spPr>
          <a:xfrm>
            <a:off x="2916936" y="3223260"/>
            <a:ext cx="118872" cy="118872"/>
          </a:xfrm>
          <a:prstGeom prst="diamond">
            <a:avLst/>
          </a:prstGeom>
          <a:solidFill>
            <a:srgbClr val="FFFFFF"/>
          </a:solidFill>
          <a:ln w="21590">
            <a:solidFill>
              <a:srgbClr val="C77B17"/>
            </a:solidFill>
            <a:prstDash val="solid"/>
          </a:ln>
        </p:spPr>
        <p:txBody>
          <a:bodyPr/>
          <a:lstStyle/>
          <a:p>
            <a:endParaRPr lang="en-GB"/>
          </a:p>
        </p:txBody>
      </p:sp>
      <p:sp>
        <p:nvSpPr>
          <p:cNvPr id="46" name="Text 42"/>
          <p:cNvSpPr/>
          <p:nvPr/>
        </p:nvSpPr>
        <p:spPr>
          <a:xfrm>
            <a:off x="2606040" y="2852928"/>
            <a:ext cx="2651760" cy="237744"/>
          </a:xfrm>
          <a:prstGeom prst="rect">
            <a:avLst/>
          </a:prstGeom>
          <a:noFill/>
          <a:ln/>
        </p:spPr>
        <p:txBody>
          <a:bodyPr wrap="square" lIns="0" tIns="0" rIns="0" bIns="0" rtlCol="0" anchor="ctr"/>
          <a:lstStyle/>
          <a:p>
            <a:pPr marL="0" indent="0" algn="ctr">
              <a:buNone/>
            </a:pPr>
            <a:r>
              <a:rPr lang="en-US" sz="770" b="1" dirty="0">
                <a:solidFill>
                  <a:srgbClr val="C77B17"/>
                </a:solidFill>
                <a:latin typeface="Calibri" pitchFamily="34" charset="0"/>
                <a:ea typeface="Calibri" pitchFamily="34" charset="-122"/>
                <a:cs typeface="Calibri" pitchFamily="34" charset="-120"/>
              </a:rPr>
              <a:t>EPC signed Jun-25 · design/licensing docs filed Apr-26</a:t>
            </a:r>
            <a:endParaRPr lang="en-US" sz="770" dirty="0"/>
          </a:p>
        </p:txBody>
      </p:sp>
      <p:sp>
        <p:nvSpPr>
          <p:cNvPr id="47" name="Shape 43"/>
          <p:cNvSpPr/>
          <p:nvPr/>
        </p:nvSpPr>
        <p:spPr>
          <a:xfrm>
            <a:off x="4764024" y="3223260"/>
            <a:ext cx="118872" cy="118872"/>
          </a:xfrm>
          <a:prstGeom prst="diamond">
            <a:avLst/>
          </a:prstGeom>
          <a:solidFill>
            <a:srgbClr val="FFFFFF"/>
          </a:solidFill>
          <a:ln w="21590">
            <a:solidFill>
              <a:srgbClr val="1E8E5A"/>
            </a:solidFill>
            <a:prstDash val="solid"/>
          </a:ln>
        </p:spPr>
        <p:txBody>
          <a:bodyPr/>
          <a:lstStyle/>
          <a:p>
            <a:endParaRPr lang="en-GB"/>
          </a:p>
        </p:txBody>
      </p:sp>
      <p:sp>
        <p:nvSpPr>
          <p:cNvPr id="48" name="Text 44"/>
          <p:cNvSpPr/>
          <p:nvPr/>
        </p:nvSpPr>
        <p:spPr>
          <a:xfrm>
            <a:off x="3497580" y="3529584"/>
            <a:ext cx="2651760" cy="237744"/>
          </a:xfrm>
          <a:prstGeom prst="rect">
            <a:avLst/>
          </a:prstGeom>
          <a:noFill/>
          <a:ln/>
        </p:spPr>
        <p:txBody>
          <a:bodyPr wrap="square" lIns="0" tIns="0" rIns="0" bIns="0" rtlCol="0" anchor="ctr"/>
          <a:lstStyle/>
          <a:p>
            <a:pPr marL="0" indent="0" algn="ctr">
              <a:buNone/>
            </a:pPr>
            <a:r>
              <a:rPr lang="en-US" sz="770" b="1" dirty="0">
                <a:solidFill>
                  <a:srgbClr val="1E8E5A"/>
                </a:solidFill>
                <a:latin typeface="Calibri" pitchFamily="34" charset="0"/>
                <a:ea typeface="Calibri" pitchFamily="34" charset="-122"/>
                <a:cs typeface="Calibri" pitchFamily="34" charset="-120"/>
              </a:rPr>
              <a:t>Groundbreaking targeted 2029</a:t>
            </a:r>
            <a:endParaRPr lang="en-US" sz="770" dirty="0"/>
          </a:p>
        </p:txBody>
      </p:sp>
      <p:sp>
        <p:nvSpPr>
          <p:cNvPr id="49" name="Shape 45"/>
          <p:cNvSpPr/>
          <p:nvPr/>
        </p:nvSpPr>
        <p:spPr>
          <a:xfrm>
            <a:off x="10920984" y="3223260"/>
            <a:ext cx="118872" cy="118872"/>
          </a:xfrm>
          <a:prstGeom prst="diamond">
            <a:avLst/>
          </a:prstGeom>
          <a:solidFill>
            <a:srgbClr val="FFFFFF"/>
          </a:solidFill>
          <a:ln w="21590">
            <a:solidFill>
              <a:srgbClr val="1E8E5A"/>
            </a:solidFill>
            <a:prstDash val="solid"/>
          </a:ln>
        </p:spPr>
        <p:txBody>
          <a:bodyPr/>
          <a:lstStyle/>
          <a:p>
            <a:endParaRPr lang="en-GB"/>
          </a:p>
        </p:txBody>
      </p:sp>
      <p:sp>
        <p:nvSpPr>
          <p:cNvPr id="50" name="Text 46"/>
          <p:cNvSpPr/>
          <p:nvPr/>
        </p:nvSpPr>
        <p:spPr>
          <a:xfrm>
            <a:off x="9555480" y="2852928"/>
            <a:ext cx="2651760" cy="237744"/>
          </a:xfrm>
          <a:prstGeom prst="rect">
            <a:avLst/>
          </a:prstGeom>
          <a:noFill/>
          <a:ln/>
        </p:spPr>
        <p:txBody>
          <a:bodyPr wrap="square" lIns="0" tIns="0" rIns="0" bIns="0" rtlCol="0" anchor="ctr"/>
          <a:lstStyle/>
          <a:p>
            <a:pPr marL="0" indent="0" algn="ctr">
              <a:buNone/>
            </a:pPr>
            <a:r>
              <a:rPr lang="en-US" sz="770" b="1" dirty="0">
                <a:solidFill>
                  <a:srgbClr val="1E8E5A"/>
                </a:solidFill>
                <a:latin typeface="Calibri" pitchFamily="34" charset="0"/>
                <a:ea typeface="Calibri" pitchFamily="34" charset="-122"/>
                <a:cs typeface="Calibri" pitchFamily="34" charset="-120"/>
              </a:rPr>
              <a:t>Units online 2036 (U5) and 2037 (U6)</a:t>
            </a:r>
            <a:endParaRPr lang="en-US" sz="770" dirty="0"/>
          </a:p>
        </p:txBody>
      </p:sp>
      <p:sp>
        <p:nvSpPr>
          <p:cNvPr id="51" name="Shape 47"/>
          <p:cNvSpPr/>
          <p:nvPr/>
        </p:nvSpPr>
        <p:spPr>
          <a:xfrm>
            <a:off x="365760" y="4005072"/>
            <a:ext cx="11795760" cy="1078992"/>
          </a:xfrm>
          <a:prstGeom prst="rect">
            <a:avLst/>
          </a:prstGeom>
          <a:solidFill>
            <a:srgbClr val="F7FAFC"/>
          </a:solidFill>
          <a:ln/>
        </p:spPr>
        <p:txBody>
          <a:bodyPr/>
          <a:lstStyle/>
          <a:p>
            <a:endParaRPr lang="en-GB"/>
          </a:p>
        </p:txBody>
      </p:sp>
      <p:sp>
        <p:nvSpPr>
          <p:cNvPr id="52" name="Shape 48"/>
          <p:cNvSpPr/>
          <p:nvPr/>
        </p:nvSpPr>
        <p:spPr>
          <a:xfrm>
            <a:off x="457200" y="4325112"/>
            <a:ext cx="438912" cy="438912"/>
          </a:xfrm>
          <a:prstGeom prst="ellipse">
            <a:avLst/>
          </a:prstGeom>
          <a:solidFill>
            <a:srgbClr val="1B3358"/>
          </a:solidFill>
          <a:ln/>
        </p:spPr>
        <p:txBody>
          <a:bodyPr/>
          <a:lstStyle/>
          <a:p>
            <a:endParaRPr lang="en-GB"/>
          </a:p>
        </p:txBody>
      </p:sp>
      <p:pic>
        <p:nvPicPr>
          <p:cNvPr id="53" name="Image 2" descr="preencoded.png"/>
          <p:cNvPicPr>
            <a:picLocks noChangeAspect="1"/>
          </p:cNvPicPr>
          <p:nvPr/>
        </p:nvPicPr>
        <p:blipFill>
          <a:blip r:embed="rId5"/>
          <a:stretch>
            <a:fillRect/>
          </a:stretch>
        </p:blipFill>
        <p:spPr>
          <a:xfrm>
            <a:off x="548640" y="4416552"/>
            <a:ext cx="256032" cy="256032"/>
          </a:xfrm>
          <a:prstGeom prst="rect">
            <a:avLst/>
          </a:prstGeom>
        </p:spPr>
      </p:pic>
      <p:sp>
        <p:nvSpPr>
          <p:cNvPr id="54" name="Text 49"/>
          <p:cNvSpPr/>
          <p:nvPr/>
        </p:nvSpPr>
        <p:spPr>
          <a:xfrm>
            <a:off x="1005840" y="4114800"/>
            <a:ext cx="1417320" cy="512064"/>
          </a:xfrm>
          <a:prstGeom prst="rect">
            <a:avLst/>
          </a:prstGeom>
          <a:noFill/>
          <a:ln/>
        </p:spPr>
        <p:txBody>
          <a:bodyPr wrap="square" lIns="0" tIns="0" rIns="0" bIns="0" rtlCol="0" anchor="t"/>
          <a:lstStyle/>
          <a:p>
            <a:pPr marL="0" indent="0">
              <a:lnSpc>
                <a:spcPct val="98000"/>
              </a:lnSpc>
              <a:buNone/>
            </a:pPr>
            <a:r>
              <a:rPr lang="en-US" sz="1150" b="1" dirty="0">
                <a:solidFill>
                  <a:srgbClr val="12233D"/>
                </a:solidFill>
                <a:latin typeface="Calibri" pitchFamily="34" charset="0"/>
                <a:ea typeface="Calibri" pitchFamily="34" charset="-122"/>
                <a:cs typeface="Calibri" pitchFamily="34" charset="-120"/>
              </a:rPr>
              <a:t>Temelín 3 &amp; 4 — Option</a:t>
            </a:r>
            <a:endParaRPr lang="en-US" sz="1150" dirty="0"/>
          </a:p>
        </p:txBody>
      </p:sp>
      <p:sp>
        <p:nvSpPr>
          <p:cNvPr id="55" name="Text 50"/>
          <p:cNvSpPr/>
          <p:nvPr/>
        </p:nvSpPr>
        <p:spPr>
          <a:xfrm>
            <a:off x="1005840" y="4626864"/>
            <a:ext cx="1417320" cy="420624"/>
          </a:xfrm>
          <a:prstGeom prst="rect">
            <a:avLst/>
          </a:prstGeom>
          <a:noFill/>
          <a:ln/>
        </p:spPr>
        <p:txBody>
          <a:bodyPr wrap="square" lIns="0" tIns="0" rIns="0" bIns="0" rtlCol="0" anchor="b"/>
          <a:lstStyle/>
          <a:p>
            <a:pPr marL="0" indent="0">
              <a:lnSpc>
                <a:spcPct val="98000"/>
              </a:lnSpc>
              <a:buNone/>
            </a:pPr>
            <a:r>
              <a:rPr lang="en-US" sz="730" i="1" dirty="0">
                <a:solidFill>
                  <a:srgbClr val="5B6B7C"/>
                </a:solidFill>
                <a:latin typeface="Calibri" pitchFamily="34" charset="0"/>
                <a:ea typeface="Calibri" pitchFamily="34" charset="-122"/>
                <a:cs typeface="Calibri" pitchFamily="34" charset="-120"/>
              </a:rPr>
              <a:t>KHNP eligible to extend contract within 3 years of Jun-25 EPC signing</a:t>
            </a:r>
            <a:endParaRPr lang="en-US" sz="730" dirty="0"/>
          </a:p>
        </p:txBody>
      </p:sp>
      <p:sp>
        <p:nvSpPr>
          <p:cNvPr id="56" name="Shape 51"/>
          <p:cNvSpPr/>
          <p:nvPr/>
        </p:nvSpPr>
        <p:spPr>
          <a:xfrm>
            <a:off x="2514600" y="4544568"/>
            <a:ext cx="9235440" cy="0"/>
          </a:xfrm>
          <a:prstGeom prst="line">
            <a:avLst/>
          </a:prstGeom>
          <a:noFill/>
          <a:ln w="6350">
            <a:solidFill>
              <a:srgbClr val="E3E9EF"/>
            </a:solidFill>
            <a:prstDash val="dash"/>
          </a:ln>
        </p:spPr>
        <p:txBody>
          <a:bodyPr/>
          <a:lstStyle/>
          <a:p>
            <a:endParaRPr lang="en-GB"/>
          </a:p>
        </p:txBody>
      </p:sp>
      <p:sp>
        <p:nvSpPr>
          <p:cNvPr id="57" name="Shape 52"/>
          <p:cNvSpPr/>
          <p:nvPr/>
        </p:nvSpPr>
        <p:spPr>
          <a:xfrm>
            <a:off x="2514600" y="4425696"/>
            <a:ext cx="9235440" cy="237744"/>
          </a:xfrm>
          <a:prstGeom prst="roundRect">
            <a:avLst>
              <a:gd name="adj" fmla="val 19231"/>
            </a:avLst>
          </a:prstGeom>
          <a:solidFill>
            <a:srgbClr val="6B7785"/>
          </a:solidFill>
          <a:ln/>
        </p:spPr>
        <p:txBody>
          <a:bodyPr/>
          <a:lstStyle/>
          <a:p>
            <a:endParaRPr lang="en-GB"/>
          </a:p>
        </p:txBody>
      </p:sp>
      <p:sp>
        <p:nvSpPr>
          <p:cNvPr id="58" name="Shape 53"/>
          <p:cNvSpPr/>
          <p:nvPr/>
        </p:nvSpPr>
        <p:spPr>
          <a:xfrm>
            <a:off x="2839974" y="4485132"/>
            <a:ext cx="118872" cy="118872"/>
          </a:xfrm>
          <a:prstGeom prst="diamond">
            <a:avLst/>
          </a:prstGeom>
          <a:solidFill>
            <a:srgbClr val="FFFFFF"/>
          </a:solidFill>
          <a:ln w="21590">
            <a:solidFill>
              <a:srgbClr val="6B7785"/>
            </a:solidFill>
            <a:prstDash val="solid"/>
          </a:ln>
        </p:spPr>
        <p:txBody>
          <a:bodyPr/>
          <a:lstStyle/>
          <a:p>
            <a:endParaRPr lang="en-GB"/>
          </a:p>
        </p:txBody>
      </p:sp>
      <p:sp>
        <p:nvSpPr>
          <p:cNvPr id="59" name="Text 54"/>
          <p:cNvSpPr/>
          <p:nvPr/>
        </p:nvSpPr>
        <p:spPr>
          <a:xfrm>
            <a:off x="2606040" y="4114800"/>
            <a:ext cx="2651760" cy="237744"/>
          </a:xfrm>
          <a:prstGeom prst="rect">
            <a:avLst/>
          </a:prstGeom>
          <a:noFill/>
          <a:ln/>
        </p:spPr>
        <p:txBody>
          <a:bodyPr wrap="square" lIns="0" tIns="0" rIns="0" bIns="0" rtlCol="0" anchor="ctr"/>
          <a:lstStyle/>
          <a:p>
            <a:pPr marL="0" indent="0" algn="ctr">
              <a:buNone/>
            </a:pPr>
            <a:r>
              <a:rPr lang="en-US" sz="770" b="1" dirty="0">
                <a:solidFill>
                  <a:srgbClr val="6B7785"/>
                </a:solidFill>
                <a:latin typeface="Calibri" pitchFamily="34" charset="0"/>
                <a:ea typeface="Calibri" pitchFamily="34" charset="-122"/>
                <a:cs typeface="Calibri" pitchFamily="34" charset="-120"/>
              </a:rPr>
              <a:t>Decision window open to ~2028</a:t>
            </a:r>
            <a:endParaRPr lang="en-US" sz="770" dirty="0"/>
          </a:p>
        </p:txBody>
      </p:sp>
      <p:sp>
        <p:nvSpPr>
          <p:cNvPr id="60" name="Shape 55"/>
          <p:cNvSpPr/>
          <p:nvPr/>
        </p:nvSpPr>
        <p:spPr>
          <a:xfrm>
            <a:off x="457200" y="5586984"/>
            <a:ext cx="438912" cy="438912"/>
          </a:xfrm>
          <a:prstGeom prst="ellipse">
            <a:avLst/>
          </a:prstGeom>
          <a:solidFill>
            <a:srgbClr val="1B3358"/>
          </a:solidFill>
          <a:ln/>
        </p:spPr>
        <p:txBody>
          <a:bodyPr/>
          <a:lstStyle/>
          <a:p>
            <a:endParaRPr lang="en-GB"/>
          </a:p>
        </p:txBody>
      </p:sp>
      <p:pic>
        <p:nvPicPr>
          <p:cNvPr id="61" name="Image 3" descr="preencoded.png"/>
          <p:cNvPicPr>
            <a:picLocks noChangeAspect="1"/>
          </p:cNvPicPr>
          <p:nvPr/>
        </p:nvPicPr>
        <p:blipFill>
          <a:blip r:embed="rId6"/>
          <a:stretch>
            <a:fillRect/>
          </a:stretch>
        </p:blipFill>
        <p:spPr>
          <a:xfrm>
            <a:off x="548640" y="5678424"/>
            <a:ext cx="256032" cy="256032"/>
          </a:xfrm>
          <a:prstGeom prst="rect">
            <a:avLst/>
          </a:prstGeom>
        </p:spPr>
      </p:pic>
      <p:sp>
        <p:nvSpPr>
          <p:cNvPr id="62" name="Text 56"/>
          <p:cNvSpPr/>
          <p:nvPr/>
        </p:nvSpPr>
        <p:spPr>
          <a:xfrm>
            <a:off x="1005840" y="5376672"/>
            <a:ext cx="1417320" cy="512064"/>
          </a:xfrm>
          <a:prstGeom prst="rect">
            <a:avLst/>
          </a:prstGeom>
          <a:noFill/>
          <a:ln/>
        </p:spPr>
        <p:txBody>
          <a:bodyPr wrap="square" lIns="0" tIns="0" rIns="0" bIns="0" rtlCol="0" anchor="t"/>
          <a:lstStyle/>
          <a:p>
            <a:pPr marL="0" indent="0">
              <a:lnSpc>
                <a:spcPct val="98000"/>
              </a:lnSpc>
              <a:buNone/>
            </a:pPr>
            <a:r>
              <a:rPr lang="en-US" sz="1150" b="1" dirty="0">
                <a:solidFill>
                  <a:srgbClr val="12233D"/>
                </a:solidFill>
                <a:latin typeface="Calibri" pitchFamily="34" charset="0"/>
                <a:ea typeface="Calibri" pitchFamily="34" charset="-122"/>
                <a:cs typeface="Calibri" pitchFamily="34" charset="-120"/>
              </a:rPr>
              <a:t>Rolls-Royce SMR — Temelín</a:t>
            </a:r>
            <a:endParaRPr lang="en-US" sz="1150" dirty="0"/>
          </a:p>
        </p:txBody>
      </p:sp>
      <p:sp>
        <p:nvSpPr>
          <p:cNvPr id="63" name="Text 57"/>
          <p:cNvSpPr/>
          <p:nvPr/>
        </p:nvSpPr>
        <p:spPr>
          <a:xfrm>
            <a:off x="1005840" y="5888736"/>
            <a:ext cx="1417320" cy="420624"/>
          </a:xfrm>
          <a:prstGeom prst="rect">
            <a:avLst/>
          </a:prstGeom>
          <a:noFill/>
          <a:ln/>
        </p:spPr>
        <p:txBody>
          <a:bodyPr wrap="square" lIns="0" tIns="0" rIns="0" bIns="0" rtlCol="0" anchor="b"/>
          <a:lstStyle/>
          <a:p>
            <a:pPr marL="0" indent="0">
              <a:lnSpc>
                <a:spcPct val="98000"/>
              </a:lnSpc>
              <a:buNone/>
            </a:pPr>
            <a:r>
              <a:rPr lang="en-US" sz="730" i="1" dirty="0">
                <a:solidFill>
                  <a:srgbClr val="5B6B7C"/>
                </a:solidFill>
                <a:latin typeface="Calibri" pitchFamily="34" charset="0"/>
                <a:ea typeface="Calibri" pitchFamily="34" charset="-122"/>
                <a:cs typeface="Calibri" pitchFamily="34" charset="-120"/>
              </a:rPr>
              <a:t>Up to 3 GW (470 MWe units) · ČEZ (20% RR-SMR equity) · Rolls-Royce SMR</a:t>
            </a:r>
            <a:endParaRPr lang="en-US" sz="730" dirty="0"/>
          </a:p>
        </p:txBody>
      </p:sp>
      <p:sp>
        <p:nvSpPr>
          <p:cNvPr id="64" name="Shape 58"/>
          <p:cNvSpPr/>
          <p:nvPr/>
        </p:nvSpPr>
        <p:spPr>
          <a:xfrm>
            <a:off x="2514600" y="5806440"/>
            <a:ext cx="9235440" cy="0"/>
          </a:xfrm>
          <a:prstGeom prst="line">
            <a:avLst/>
          </a:prstGeom>
          <a:noFill/>
          <a:ln w="6350">
            <a:solidFill>
              <a:srgbClr val="E3E9EF"/>
            </a:solidFill>
            <a:prstDash val="dash"/>
          </a:ln>
        </p:spPr>
        <p:txBody>
          <a:bodyPr/>
          <a:lstStyle/>
          <a:p>
            <a:endParaRPr lang="en-GB"/>
          </a:p>
        </p:txBody>
      </p:sp>
      <p:sp>
        <p:nvSpPr>
          <p:cNvPr id="65" name="Shape 59"/>
          <p:cNvSpPr/>
          <p:nvPr/>
        </p:nvSpPr>
        <p:spPr>
          <a:xfrm>
            <a:off x="2514600" y="5687568"/>
            <a:ext cx="230886" cy="237744"/>
          </a:xfrm>
          <a:prstGeom prst="roundRect">
            <a:avLst>
              <a:gd name="adj" fmla="val 19802"/>
            </a:avLst>
          </a:prstGeom>
          <a:solidFill>
            <a:srgbClr val="C77B17"/>
          </a:solidFill>
          <a:ln/>
        </p:spPr>
        <p:txBody>
          <a:bodyPr/>
          <a:lstStyle/>
          <a:p>
            <a:endParaRPr lang="en-GB"/>
          </a:p>
        </p:txBody>
      </p:sp>
      <p:sp>
        <p:nvSpPr>
          <p:cNvPr id="66" name="Shape 60"/>
          <p:cNvSpPr/>
          <p:nvPr/>
        </p:nvSpPr>
        <p:spPr>
          <a:xfrm>
            <a:off x="2745486" y="5687568"/>
            <a:ext cx="2847594" cy="237744"/>
          </a:xfrm>
          <a:prstGeom prst="roundRect">
            <a:avLst>
              <a:gd name="adj" fmla="val 19231"/>
            </a:avLst>
          </a:prstGeom>
          <a:solidFill>
            <a:srgbClr val="C77B17"/>
          </a:solidFill>
          <a:ln/>
        </p:spPr>
        <p:txBody>
          <a:bodyPr/>
          <a:lstStyle/>
          <a:p>
            <a:endParaRPr lang="en-GB"/>
          </a:p>
        </p:txBody>
      </p:sp>
      <p:sp>
        <p:nvSpPr>
          <p:cNvPr id="67" name="Shape 61"/>
          <p:cNvSpPr/>
          <p:nvPr/>
        </p:nvSpPr>
        <p:spPr>
          <a:xfrm>
            <a:off x="5593080" y="5687568"/>
            <a:ext cx="6156960" cy="237744"/>
          </a:xfrm>
          <a:prstGeom prst="roundRect">
            <a:avLst>
              <a:gd name="adj" fmla="val 19231"/>
            </a:avLst>
          </a:prstGeom>
          <a:solidFill>
            <a:srgbClr val="6B7785"/>
          </a:solidFill>
          <a:ln/>
        </p:spPr>
        <p:txBody>
          <a:bodyPr/>
          <a:lstStyle/>
          <a:p>
            <a:endParaRPr lang="en-GB"/>
          </a:p>
        </p:txBody>
      </p:sp>
      <p:sp>
        <p:nvSpPr>
          <p:cNvPr id="68" name="Shape 62"/>
          <p:cNvSpPr/>
          <p:nvPr/>
        </p:nvSpPr>
        <p:spPr>
          <a:xfrm>
            <a:off x="2686050" y="5747004"/>
            <a:ext cx="118872" cy="118872"/>
          </a:xfrm>
          <a:prstGeom prst="diamond">
            <a:avLst/>
          </a:prstGeom>
          <a:solidFill>
            <a:srgbClr val="FFFFFF"/>
          </a:solidFill>
          <a:ln w="21590">
            <a:solidFill>
              <a:srgbClr val="C77B17"/>
            </a:solidFill>
            <a:prstDash val="solid"/>
          </a:ln>
        </p:spPr>
        <p:txBody>
          <a:bodyPr/>
          <a:lstStyle/>
          <a:p>
            <a:endParaRPr lang="en-GB"/>
          </a:p>
        </p:txBody>
      </p:sp>
      <p:sp>
        <p:nvSpPr>
          <p:cNvPr id="69" name="Text 63"/>
          <p:cNvSpPr/>
          <p:nvPr/>
        </p:nvSpPr>
        <p:spPr>
          <a:xfrm>
            <a:off x="2606040" y="5376672"/>
            <a:ext cx="2651760" cy="237744"/>
          </a:xfrm>
          <a:prstGeom prst="rect">
            <a:avLst/>
          </a:prstGeom>
          <a:noFill/>
          <a:ln/>
        </p:spPr>
        <p:txBody>
          <a:bodyPr wrap="square" lIns="0" tIns="0" rIns="0" bIns="0" rtlCol="0" anchor="ctr"/>
          <a:lstStyle/>
          <a:p>
            <a:pPr marL="0" indent="0" algn="ctr">
              <a:buNone/>
            </a:pPr>
            <a:r>
              <a:rPr lang="en-US" sz="770" b="1" dirty="0">
                <a:solidFill>
                  <a:srgbClr val="C77B17"/>
                </a:solidFill>
                <a:latin typeface="Calibri" pitchFamily="34" charset="0"/>
                <a:ea typeface="Calibri" pitchFamily="34" charset="-122"/>
                <a:cs typeface="Calibri" pitchFamily="34" charset="-120"/>
              </a:rPr>
              <a:t>Early Works Contract signed, 24 Apr-26</a:t>
            </a:r>
            <a:endParaRPr lang="en-US" sz="770" dirty="0"/>
          </a:p>
        </p:txBody>
      </p:sp>
      <p:sp>
        <p:nvSpPr>
          <p:cNvPr id="70" name="Shape 64"/>
          <p:cNvSpPr/>
          <p:nvPr/>
        </p:nvSpPr>
        <p:spPr>
          <a:xfrm>
            <a:off x="5533644" y="5747004"/>
            <a:ext cx="118872" cy="118872"/>
          </a:xfrm>
          <a:prstGeom prst="diamond">
            <a:avLst/>
          </a:prstGeom>
          <a:solidFill>
            <a:srgbClr val="FFFFFF"/>
          </a:solidFill>
          <a:ln w="21590">
            <a:solidFill>
              <a:srgbClr val="C77B17"/>
            </a:solidFill>
            <a:prstDash val="solid"/>
          </a:ln>
        </p:spPr>
        <p:txBody>
          <a:bodyPr/>
          <a:lstStyle/>
          <a:p>
            <a:endParaRPr lang="en-GB"/>
          </a:p>
        </p:txBody>
      </p:sp>
      <p:sp>
        <p:nvSpPr>
          <p:cNvPr id="71" name="Text 65"/>
          <p:cNvSpPr/>
          <p:nvPr/>
        </p:nvSpPr>
        <p:spPr>
          <a:xfrm>
            <a:off x="4267200" y="6053328"/>
            <a:ext cx="2651760" cy="237744"/>
          </a:xfrm>
          <a:prstGeom prst="rect">
            <a:avLst/>
          </a:prstGeom>
          <a:noFill/>
          <a:ln/>
        </p:spPr>
        <p:txBody>
          <a:bodyPr wrap="square" lIns="0" tIns="0" rIns="0" bIns="0" rtlCol="0" anchor="ctr"/>
          <a:lstStyle/>
          <a:p>
            <a:pPr marL="0" indent="0" algn="ctr">
              <a:buNone/>
            </a:pPr>
            <a:r>
              <a:rPr lang="en-US" sz="770" b="1" dirty="0">
                <a:solidFill>
                  <a:srgbClr val="C77B17"/>
                </a:solidFill>
                <a:latin typeface="Calibri" pitchFamily="34" charset="0"/>
                <a:ea typeface="Calibri" pitchFamily="34" charset="-122"/>
                <a:cs typeface="Calibri" pitchFamily="34" charset="-120"/>
              </a:rPr>
              <a:t>Approvals targeted by 2030</a:t>
            </a:r>
            <a:endParaRPr lang="en-US" sz="770" dirty="0"/>
          </a:p>
        </p:txBody>
      </p:sp>
      <p:sp>
        <p:nvSpPr>
          <p:cNvPr id="72" name="Shape 66"/>
          <p:cNvSpPr/>
          <p:nvPr/>
        </p:nvSpPr>
        <p:spPr>
          <a:xfrm>
            <a:off x="11690604" y="5747004"/>
            <a:ext cx="118872" cy="118872"/>
          </a:xfrm>
          <a:prstGeom prst="diamond">
            <a:avLst/>
          </a:prstGeom>
          <a:solidFill>
            <a:srgbClr val="FFFFFF"/>
          </a:solidFill>
          <a:ln w="21590">
            <a:solidFill>
              <a:srgbClr val="6B7785"/>
            </a:solidFill>
            <a:prstDash val="solid"/>
          </a:ln>
        </p:spPr>
        <p:txBody>
          <a:bodyPr/>
          <a:lstStyle/>
          <a:p>
            <a:endParaRPr lang="en-GB"/>
          </a:p>
        </p:txBody>
      </p:sp>
      <p:sp>
        <p:nvSpPr>
          <p:cNvPr id="73" name="Text 67"/>
          <p:cNvSpPr/>
          <p:nvPr/>
        </p:nvSpPr>
        <p:spPr>
          <a:xfrm>
            <a:off x="9555480" y="5376672"/>
            <a:ext cx="2651760" cy="237744"/>
          </a:xfrm>
          <a:prstGeom prst="rect">
            <a:avLst/>
          </a:prstGeom>
          <a:noFill/>
          <a:ln/>
        </p:spPr>
        <p:txBody>
          <a:bodyPr wrap="square" lIns="0" tIns="0" rIns="0" bIns="0" rtlCol="0" anchor="ctr"/>
          <a:lstStyle/>
          <a:p>
            <a:pPr marL="0" indent="0" algn="ctr">
              <a:buNone/>
            </a:pPr>
            <a:r>
              <a:rPr lang="en-US" sz="770" b="1" dirty="0">
                <a:solidFill>
                  <a:srgbClr val="6B7785"/>
                </a:solidFill>
                <a:latin typeface="Calibri" pitchFamily="34" charset="0"/>
                <a:ea typeface="Calibri" pitchFamily="34" charset="-122"/>
                <a:cs typeface="Calibri" pitchFamily="34" charset="-120"/>
              </a:rPr>
              <a:t>First unit, second half of 2030s</a:t>
            </a:r>
            <a:endParaRPr lang="en-US" sz="770" dirty="0"/>
          </a:p>
        </p:txBody>
      </p:sp>
      <p:sp>
        <p:nvSpPr>
          <p:cNvPr id="74" name="Shape 68"/>
          <p:cNvSpPr/>
          <p:nvPr/>
        </p:nvSpPr>
        <p:spPr>
          <a:xfrm>
            <a:off x="2514600" y="1426464"/>
            <a:ext cx="0" cy="4974336"/>
          </a:xfrm>
          <a:prstGeom prst="line">
            <a:avLst/>
          </a:prstGeom>
          <a:noFill/>
          <a:ln w="12700">
            <a:solidFill>
              <a:srgbClr val="C7D2DC"/>
            </a:solidFill>
            <a:prstDash val="solid"/>
          </a:ln>
        </p:spPr>
        <p:txBody>
          <a:bodyPr/>
          <a:lstStyle/>
          <a:p>
            <a:endParaRPr lang="en-GB"/>
          </a:p>
        </p:txBody>
      </p:sp>
      <p:sp>
        <p:nvSpPr>
          <p:cNvPr id="75" name="Shape 69"/>
          <p:cNvSpPr/>
          <p:nvPr/>
        </p:nvSpPr>
        <p:spPr>
          <a:xfrm>
            <a:off x="2899410" y="1280160"/>
            <a:ext cx="0" cy="5120640"/>
          </a:xfrm>
          <a:prstGeom prst="line">
            <a:avLst/>
          </a:prstGeom>
          <a:noFill/>
          <a:ln w="15875">
            <a:solidFill>
              <a:srgbClr val="12233D"/>
            </a:solidFill>
            <a:prstDash val="lgDash"/>
          </a:ln>
        </p:spPr>
        <p:txBody>
          <a:bodyPr/>
          <a:lstStyle/>
          <a:p>
            <a:endParaRPr lang="en-GB"/>
          </a:p>
        </p:txBody>
      </p:sp>
      <p:sp>
        <p:nvSpPr>
          <p:cNvPr id="76" name="Shape 70"/>
          <p:cNvSpPr/>
          <p:nvPr/>
        </p:nvSpPr>
        <p:spPr>
          <a:xfrm>
            <a:off x="2862834" y="1234440"/>
            <a:ext cx="73152" cy="73152"/>
          </a:xfrm>
          <a:prstGeom prst="ellipse">
            <a:avLst/>
          </a:prstGeom>
          <a:solidFill>
            <a:srgbClr val="12233D"/>
          </a:solidFill>
          <a:ln/>
        </p:spPr>
        <p:txBody>
          <a:bodyPr/>
          <a:lstStyle/>
          <a:p>
            <a:endParaRPr lang="en-GB"/>
          </a:p>
        </p:txBody>
      </p:sp>
      <p:sp>
        <p:nvSpPr>
          <p:cNvPr id="77" name="Text 71"/>
          <p:cNvSpPr/>
          <p:nvPr/>
        </p:nvSpPr>
        <p:spPr>
          <a:xfrm>
            <a:off x="2533650" y="1060704"/>
            <a:ext cx="731520" cy="182880"/>
          </a:xfrm>
          <a:prstGeom prst="rect">
            <a:avLst/>
          </a:prstGeom>
          <a:noFill/>
          <a:ln/>
        </p:spPr>
        <p:txBody>
          <a:bodyPr wrap="square" lIns="0" tIns="0" rIns="0" bIns="0" rtlCol="0" anchor="ctr"/>
          <a:lstStyle/>
          <a:p>
            <a:pPr marL="0" indent="0" algn="ctr">
              <a:buNone/>
            </a:pPr>
            <a:r>
              <a:rPr lang="en-US" sz="800" b="1" kern="0" spc="50" dirty="0">
                <a:solidFill>
                  <a:srgbClr val="12233D"/>
                </a:solidFill>
                <a:latin typeface="Calibri" pitchFamily="34" charset="0"/>
                <a:ea typeface="Calibri" pitchFamily="34" charset="-122"/>
                <a:cs typeface="Calibri" pitchFamily="34" charset="-120"/>
              </a:rPr>
              <a:t>TODAY</a:t>
            </a:r>
            <a:endParaRPr lang="en-US" sz="800" dirty="0"/>
          </a:p>
        </p:txBody>
      </p:sp>
      <p:sp>
        <p:nvSpPr>
          <p:cNvPr id="78" name="Text 72"/>
          <p:cNvSpPr/>
          <p:nvPr/>
        </p:nvSpPr>
        <p:spPr>
          <a:xfrm>
            <a:off x="457200" y="6620256"/>
            <a:ext cx="11247120" cy="182880"/>
          </a:xfrm>
          <a:prstGeom prst="rect">
            <a:avLst/>
          </a:prstGeom>
          <a:noFill/>
          <a:ln/>
        </p:spPr>
        <p:txBody>
          <a:bodyPr wrap="square" lIns="0" tIns="0" rIns="0" bIns="0" rtlCol="0" anchor="ctr"/>
          <a:lstStyle/>
          <a:p>
            <a:pPr marL="0" indent="0">
              <a:buNone/>
            </a:pPr>
            <a:r>
              <a:rPr lang="en-US" sz="730" i="1" dirty="0">
                <a:solidFill>
                  <a:srgbClr val="9AA7B3"/>
                </a:solidFill>
                <a:latin typeface="Calibri" pitchFamily="34" charset="0"/>
                <a:ea typeface="Calibri" pitchFamily="34" charset="-122"/>
                <a:cs typeface="Calibri" pitchFamily="34" charset="-120"/>
              </a:rPr>
              <a:t>Source: ČEZ, KHNP, Rolls-Royce SMR, World Nuclear Association, World Nuclear News, NucNet announcements, 23 June 2026. Rolls-Royce SMR's Early Works Contract is not a Final Investment Decision; bar lengths illustrative.</a:t>
            </a:r>
            <a:endParaRPr lang="en-US" sz="730" dirty="0"/>
          </a:p>
        </p:txBody>
      </p:sp>
      <p:pic>
        <p:nvPicPr>
          <p:cNvPr id="5" name="Picture 4">
            <a:extLst>
              <a:ext uri="{FF2B5EF4-FFF2-40B4-BE49-F238E27FC236}">
                <a16:creationId xmlns:a16="http://schemas.microsoft.com/office/drawing/2014/main" id="{540ACF53-9909-9318-E07E-C21A2886908B}"/>
              </a:ext>
            </a:extLst>
          </p:cNvPr>
          <p:cNvPicPr>
            <a:picLocks noChangeAspect="1"/>
          </p:cNvPicPr>
          <p:nvPr/>
        </p:nvPicPr>
        <p:blipFill>
          <a:blip r:embed="rId7"/>
          <a:stretch>
            <a:fillRect/>
          </a:stretch>
        </p:blipFill>
        <p:spPr>
          <a:xfrm>
            <a:off x="11092522" y="8412"/>
            <a:ext cx="1097277" cy="112804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2233D"/>
          </a:solidFill>
          <a:ln/>
        </p:spPr>
        <p:txBody>
          <a:bodyPr/>
          <a:lstStyle/>
          <a:p>
            <a:endParaRPr lang="en-GB"/>
          </a:p>
        </p:txBody>
      </p:sp>
      <p:sp>
        <p:nvSpPr>
          <p:cNvPr id="3" name="Text 1"/>
          <p:cNvSpPr/>
          <p:nvPr/>
        </p:nvSpPr>
        <p:spPr>
          <a:xfrm>
            <a:off x="457200" y="118872"/>
            <a:ext cx="8869680" cy="384048"/>
          </a:xfrm>
          <a:prstGeom prst="rect">
            <a:avLst/>
          </a:prstGeom>
          <a:noFill/>
          <a:ln/>
        </p:spPr>
        <p:txBody>
          <a:bodyPr wrap="square" lIns="0" tIns="0" rIns="0" bIns="0" rtlCol="0" anchor="ctr"/>
          <a:lstStyle/>
          <a:p>
            <a:pPr marL="0" indent="0">
              <a:buNone/>
            </a:pPr>
            <a:r>
              <a:rPr lang="en-US" kern="0" spc="130" dirty="0">
                <a:solidFill>
                  <a:srgbClr val="FF0000"/>
                </a:solidFill>
                <a:latin typeface="Calibri" pitchFamily="34" charset="0"/>
                <a:ea typeface="Calibri" pitchFamily="34" charset="-122"/>
                <a:cs typeface="Calibri" pitchFamily="34" charset="-120"/>
              </a:rPr>
              <a:t>ROMANIA </a:t>
            </a:r>
            <a:r>
              <a:rPr lang="en-US" sz="1500" b="1" kern="0" spc="130" dirty="0">
                <a:solidFill>
                  <a:srgbClr val="9FB6CC"/>
                </a:solidFill>
                <a:latin typeface="Calibri" pitchFamily="34" charset="0"/>
                <a:ea typeface="Calibri" pitchFamily="34" charset="-122"/>
                <a:cs typeface="Calibri" pitchFamily="34" charset="-120"/>
              </a:rPr>
              <a:t>NUCLEAR PROGRAMME LANDSCAPE</a:t>
            </a:r>
            <a:endParaRPr lang="en-US" sz="1500" dirty="0"/>
          </a:p>
        </p:txBody>
      </p:sp>
      <p:sp>
        <p:nvSpPr>
          <p:cNvPr id="4" name="Text 2"/>
          <p:cNvSpPr/>
          <p:nvPr/>
        </p:nvSpPr>
        <p:spPr>
          <a:xfrm>
            <a:off x="457200" y="411480"/>
            <a:ext cx="86868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Programme Overview at a Glance</a:t>
            </a:r>
            <a:endParaRPr lang="en-US" sz="2600" dirty="0"/>
          </a:p>
        </p:txBody>
      </p:sp>
      <p:sp>
        <p:nvSpPr>
          <p:cNvPr id="6" name="Shape 4"/>
          <p:cNvSpPr/>
          <p:nvPr/>
        </p:nvSpPr>
        <p:spPr>
          <a:xfrm>
            <a:off x="5440680" y="1143000"/>
            <a:ext cx="118872" cy="118872"/>
          </a:xfrm>
          <a:prstGeom prst="ellipse">
            <a:avLst/>
          </a:prstGeom>
          <a:solidFill>
            <a:srgbClr val="1E8E5A"/>
          </a:solidFill>
          <a:ln/>
        </p:spPr>
        <p:txBody>
          <a:bodyPr/>
          <a:lstStyle/>
          <a:p>
            <a:endParaRPr lang="en-GB"/>
          </a:p>
        </p:txBody>
      </p:sp>
      <p:sp>
        <p:nvSpPr>
          <p:cNvPr id="7" name="Text 5"/>
          <p:cNvSpPr/>
          <p:nvPr/>
        </p:nvSpPr>
        <p:spPr>
          <a:xfrm>
            <a:off x="5623560" y="1060704"/>
            <a:ext cx="237744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Operational / contracted construction</a:t>
            </a:r>
            <a:endParaRPr lang="en-US" sz="1050" dirty="0"/>
          </a:p>
        </p:txBody>
      </p:sp>
      <p:sp>
        <p:nvSpPr>
          <p:cNvPr id="8" name="Shape 6"/>
          <p:cNvSpPr/>
          <p:nvPr/>
        </p:nvSpPr>
        <p:spPr>
          <a:xfrm>
            <a:off x="8138160" y="1143000"/>
            <a:ext cx="118872" cy="118872"/>
          </a:xfrm>
          <a:prstGeom prst="ellipse">
            <a:avLst/>
          </a:prstGeom>
          <a:solidFill>
            <a:srgbClr val="C77B17"/>
          </a:solidFill>
          <a:ln/>
        </p:spPr>
        <p:txBody>
          <a:bodyPr/>
          <a:lstStyle/>
          <a:p>
            <a:endParaRPr lang="en-GB"/>
          </a:p>
        </p:txBody>
      </p:sp>
      <p:sp>
        <p:nvSpPr>
          <p:cNvPr id="9" name="Text 7"/>
          <p:cNvSpPr/>
          <p:nvPr/>
        </p:nvSpPr>
        <p:spPr>
          <a:xfrm>
            <a:off x="8321040" y="1060704"/>
            <a:ext cx="210312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Licensing / engineering / pre-FID</a:t>
            </a:r>
            <a:endParaRPr lang="en-US" sz="1050" dirty="0"/>
          </a:p>
        </p:txBody>
      </p:sp>
      <p:sp>
        <p:nvSpPr>
          <p:cNvPr id="10" name="Shape 8"/>
          <p:cNvSpPr/>
          <p:nvPr/>
        </p:nvSpPr>
        <p:spPr>
          <a:xfrm>
            <a:off x="10561320" y="1143000"/>
            <a:ext cx="118872" cy="118872"/>
          </a:xfrm>
          <a:prstGeom prst="ellipse">
            <a:avLst/>
          </a:prstGeom>
          <a:solidFill>
            <a:srgbClr val="6B7785"/>
          </a:solidFill>
          <a:ln/>
        </p:spPr>
        <p:txBody>
          <a:bodyPr/>
          <a:lstStyle/>
          <a:p>
            <a:endParaRPr lang="en-GB"/>
          </a:p>
        </p:txBody>
      </p:sp>
      <p:sp>
        <p:nvSpPr>
          <p:cNvPr id="11" name="Text 9"/>
          <p:cNvSpPr/>
          <p:nvPr/>
        </p:nvSpPr>
        <p:spPr>
          <a:xfrm>
            <a:off x="10744200" y="1060704"/>
            <a:ext cx="1554480" cy="274320"/>
          </a:xfrm>
          <a:prstGeom prst="rect">
            <a:avLst/>
          </a:prstGeom>
          <a:noFill/>
          <a:ln/>
        </p:spPr>
        <p:txBody>
          <a:bodyPr wrap="square" lIns="0" tIns="0" rIns="0" bIns="0" rtlCol="0" anchor="ctr"/>
          <a:lstStyle/>
          <a:p>
            <a:pPr marL="0" indent="0">
              <a:buNone/>
            </a:pPr>
            <a:r>
              <a:rPr lang="en-US" sz="1050" dirty="0">
                <a:solidFill>
                  <a:srgbClr val="5B6B7C"/>
                </a:solidFill>
                <a:latin typeface="Calibri" pitchFamily="34" charset="0"/>
                <a:ea typeface="Calibri" pitchFamily="34" charset="-122"/>
                <a:cs typeface="Calibri" pitchFamily="34" charset="-120"/>
              </a:rPr>
              <a:t>Option / forward planning</a:t>
            </a:r>
            <a:endParaRPr lang="en-US" sz="1050" dirty="0"/>
          </a:p>
        </p:txBody>
      </p:sp>
      <p:sp>
        <p:nvSpPr>
          <p:cNvPr id="12" name="Shape 10"/>
          <p:cNvSpPr/>
          <p:nvPr/>
        </p:nvSpPr>
        <p:spPr>
          <a:xfrm>
            <a:off x="457200" y="141732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13" name="Shape 11"/>
          <p:cNvSpPr/>
          <p:nvPr/>
        </p:nvSpPr>
        <p:spPr>
          <a:xfrm>
            <a:off x="713232" y="1655064"/>
            <a:ext cx="530352" cy="530352"/>
          </a:xfrm>
          <a:prstGeom prst="ellipse">
            <a:avLst/>
          </a:prstGeom>
          <a:solidFill>
            <a:srgbClr val="1B3358"/>
          </a:solidFill>
          <a:ln/>
        </p:spPr>
        <p:txBody>
          <a:bodyPr/>
          <a:lstStyle/>
          <a:p>
            <a:endParaRPr lang="en-GB"/>
          </a:p>
        </p:txBody>
      </p:sp>
      <p:pic>
        <p:nvPicPr>
          <p:cNvPr id="14" name="Image 0" descr="preencoded.png"/>
          <p:cNvPicPr>
            <a:picLocks noChangeAspect="1"/>
          </p:cNvPicPr>
          <p:nvPr/>
        </p:nvPicPr>
        <p:blipFill>
          <a:blip r:embed="rId3"/>
          <a:stretch>
            <a:fillRect/>
          </a:stretch>
        </p:blipFill>
        <p:spPr>
          <a:xfrm>
            <a:off x="832104" y="1773936"/>
            <a:ext cx="292608" cy="292608"/>
          </a:xfrm>
          <a:prstGeom prst="rect">
            <a:avLst/>
          </a:prstGeom>
        </p:spPr>
      </p:pic>
      <p:sp>
        <p:nvSpPr>
          <p:cNvPr id="15" name="Shape 12"/>
          <p:cNvSpPr/>
          <p:nvPr/>
        </p:nvSpPr>
        <p:spPr>
          <a:xfrm>
            <a:off x="3087472" y="1655064"/>
            <a:ext cx="2651760" cy="274320"/>
          </a:xfrm>
          <a:prstGeom prst="roundRect">
            <a:avLst>
              <a:gd name="adj" fmla="val 166667"/>
            </a:avLst>
          </a:prstGeom>
          <a:solidFill>
            <a:srgbClr val="C77B17"/>
          </a:solidFill>
          <a:ln/>
        </p:spPr>
        <p:txBody>
          <a:bodyPr/>
          <a:lstStyle/>
          <a:p>
            <a:endParaRPr lang="en-GB"/>
          </a:p>
        </p:txBody>
      </p:sp>
      <p:sp>
        <p:nvSpPr>
          <p:cNvPr id="16" name="Text 13"/>
          <p:cNvSpPr/>
          <p:nvPr/>
        </p:nvSpPr>
        <p:spPr>
          <a:xfrm>
            <a:off x="3087472" y="1655064"/>
            <a:ext cx="2651760" cy="274320"/>
          </a:xfrm>
          <a:prstGeom prst="rect">
            <a:avLst/>
          </a:prstGeom>
          <a:noFill/>
          <a:ln/>
        </p:spPr>
        <p:txBody>
          <a:bodyPr wrap="square" lIns="0" tIns="0" rIns="0" bIns="0" rtlCol="0" anchor="ctr"/>
          <a:lstStyle/>
          <a:p>
            <a:pPr marL="0" indent="0" algn="ctr">
              <a:buNone/>
            </a:pPr>
            <a:r>
              <a:rPr lang="en-US" sz="900" b="1" kern="0" spc="50" dirty="0">
                <a:solidFill>
                  <a:srgbClr val="FFFFFF"/>
                </a:solidFill>
                <a:latin typeface="Calibri" pitchFamily="34" charset="0"/>
                <a:ea typeface="Calibri" pitchFamily="34" charset="-122"/>
                <a:cs typeface="Calibri" pitchFamily="34" charset="-120"/>
              </a:rPr>
              <a:t>CIVIL WORKS UNDERWAY</a:t>
            </a:r>
            <a:endParaRPr lang="en-US" sz="900" dirty="0"/>
          </a:p>
        </p:txBody>
      </p:sp>
      <p:sp>
        <p:nvSpPr>
          <p:cNvPr id="17" name="Text 14"/>
          <p:cNvSpPr/>
          <p:nvPr/>
        </p:nvSpPr>
        <p:spPr>
          <a:xfrm>
            <a:off x="713232" y="2331720"/>
            <a:ext cx="4989424" cy="457200"/>
          </a:xfrm>
          <a:prstGeom prst="rect">
            <a:avLst/>
          </a:prstGeom>
          <a:noFill/>
          <a:ln/>
        </p:spPr>
        <p:txBody>
          <a:bodyPr wrap="square" lIns="0" tIns="0" rIns="0" bIns="0" rtlCol="0" anchor="t"/>
          <a:lstStyle/>
          <a:p>
            <a:pPr marL="0" indent="0">
              <a:buNone/>
            </a:pPr>
            <a:r>
              <a:rPr lang="en-US" sz="1600" b="1" dirty="0">
                <a:solidFill>
                  <a:srgbClr val="12233D"/>
                </a:solidFill>
                <a:latin typeface="Calibri" pitchFamily="34" charset="0"/>
                <a:ea typeface="Calibri" pitchFamily="34" charset="-122"/>
                <a:cs typeface="Calibri" pitchFamily="34" charset="-120"/>
              </a:rPr>
              <a:t>Cernavodă Unit 1 — Refurbishment</a:t>
            </a:r>
            <a:endParaRPr lang="en-US" sz="1600" dirty="0"/>
          </a:p>
        </p:txBody>
      </p:sp>
      <p:sp>
        <p:nvSpPr>
          <p:cNvPr id="18" name="Text 15"/>
          <p:cNvSpPr/>
          <p:nvPr/>
        </p:nvSpPr>
        <p:spPr>
          <a:xfrm>
            <a:off x="713232" y="280720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650 MWe CANDU-6  ·  ~€1.9bn</a:t>
            </a:r>
            <a:endParaRPr lang="en-US" sz="1150" dirty="0"/>
          </a:p>
        </p:txBody>
      </p:sp>
      <p:sp>
        <p:nvSpPr>
          <p:cNvPr id="19" name="Shape 16"/>
          <p:cNvSpPr/>
          <p:nvPr/>
        </p:nvSpPr>
        <p:spPr>
          <a:xfrm>
            <a:off x="713232" y="3172968"/>
            <a:ext cx="4989424" cy="0"/>
          </a:xfrm>
          <a:prstGeom prst="line">
            <a:avLst/>
          </a:prstGeom>
          <a:noFill/>
          <a:ln w="9525">
            <a:solidFill>
              <a:srgbClr val="D6E0E8"/>
            </a:solidFill>
            <a:prstDash val="solid"/>
          </a:ln>
        </p:spPr>
        <p:txBody>
          <a:bodyPr/>
          <a:lstStyle/>
          <a:p>
            <a:endParaRPr lang="en-GB"/>
          </a:p>
        </p:txBody>
      </p:sp>
      <p:sp>
        <p:nvSpPr>
          <p:cNvPr id="20" name="Text 17"/>
          <p:cNvSpPr/>
          <p:nvPr/>
        </p:nvSpPr>
        <p:spPr>
          <a:xfrm>
            <a:off x="713232" y="328269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00" dirty="0">
                <a:solidFill>
                  <a:srgbClr val="12233D"/>
                </a:solidFill>
                <a:latin typeface="Calibri" pitchFamily="34" charset="0"/>
                <a:ea typeface="Calibri" pitchFamily="34" charset="-122"/>
                <a:cs typeface="Calibri" pitchFamily="34" charset="-120"/>
              </a:rPr>
              <a:t>Civil works begun Sep-25 · refurb outage Dec-26–Dec-28 · +30yr life</a:t>
            </a:r>
            <a:endParaRPr lang="en-US" sz="900" dirty="0"/>
          </a:p>
        </p:txBody>
      </p:sp>
      <p:sp>
        <p:nvSpPr>
          <p:cNvPr id="21" name="Text 18"/>
          <p:cNvSpPr/>
          <p:nvPr/>
        </p:nvSpPr>
        <p:spPr>
          <a:xfrm>
            <a:off x="713232" y="352501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KHNP · Candu Energy · Ansaldo Nucleare</a:t>
            </a:r>
            <a:endParaRPr lang="en-US" sz="1050" dirty="0"/>
          </a:p>
        </p:txBody>
      </p:sp>
      <p:sp>
        <p:nvSpPr>
          <p:cNvPr id="22" name="Shape 19"/>
          <p:cNvSpPr/>
          <p:nvPr/>
        </p:nvSpPr>
        <p:spPr>
          <a:xfrm>
            <a:off x="6233008" y="141732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23" name="Shape 20"/>
          <p:cNvSpPr/>
          <p:nvPr/>
        </p:nvSpPr>
        <p:spPr>
          <a:xfrm>
            <a:off x="6489040" y="1655064"/>
            <a:ext cx="530352" cy="530352"/>
          </a:xfrm>
          <a:prstGeom prst="ellipse">
            <a:avLst/>
          </a:prstGeom>
          <a:solidFill>
            <a:srgbClr val="1B3358"/>
          </a:solidFill>
          <a:ln/>
        </p:spPr>
        <p:txBody>
          <a:bodyPr/>
          <a:lstStyle/>
          <a:p>
            <a:endParaRPr lang="en-GB"/>
          </a:p>
        </p:txBody>
      </p:sp>
      <p:pic>
        <p:nvPicPr>
          <p:cNvPr id="24" name="Image 1" descr="preencoded.png"/>
          <p:cNvPicPr>
            <a:picLocks noChangeAspect="1"/>
          </p:cNvPicPr>
          <p:nvPr/>
        </p:nvPicPr>
        <p:blipFill>
          <a:blip r:embed="rId4"/>
          <a:stretch>
            <a:fillRect/>
          </a:stretch>
        </p:blipFill>
        <p:spPr>
          <a:xfrm>
            <a:off x="6607912" y="1773936"/>
            <a:ext cx="292608" cy="292608"/>
          </a:xfrm>
          <a:prstGeom prst="rect">
            <a:avLst/>
          </a:prstGeom>
        </p:spPr>
      </p:pic>
      <p:sp>
        <p:nvSpPr>
          <p:cNvPr id="25" name="Shape 21"/>
          <p:cNvSpPr/>
          <p:nvPr/>
        </p:nvSpPr>
        <p:spPr>
          <a:xfrm>
            <a:off x="8863279" y="1655064"/>
            <a:ext cx="2651760" cy="274320"/>
          </a:xfrm>
          <a:prstGeom prst="roundRect">
            <a:avLst>
              <a:gd name="adj" fmla="val 166667"/>
            </a:avLst>
          </a:prstGeom>
          <a:solidFill>
            <a:srgbClr val="C77B17"/>
          </a:solidFill>
          <a:ln/>
        </p:spPr>
        <p:txBody>
          <a:bodyPr/>
          <a:lstStyle/>
          <a:p>
            <a:endParaRPr lang="en-GB"/>
          </a:p>
        </p:txBody>
      </p:sp>
      <p:sp>
        <p:nvSpPr>
          <p:cNvPr id="26" name="Text 22"/>
          <p:cNvSpPr/>
          <p:nvPr/>
        </p:nvSpPr>
        <p:spPr>
          <a:xfrm>
            <a:off x="8863279" y="1655064"/>
            <a:ext cx="2651760" cy="274320"/>
          </a:xfrm>
          <a:prstGeom prst="rect">
            <a:avLst/>
          </a:prstGeom>
          <a:noFill/>
          <a:ln/>
        </p:spPr>
        <p:txBody>
          <a:bodyPr wrap="square" lIns="0" tIns="0" rIns="0" bIns="0" rtlCol="0" anchor="ctr"/>
          <a:lstStyle/>
          <a:p>
            <a:pPr marL="0" indent="0" algn="ctr">
              <a:buNone/>
            </a:pPr>
            <a:r>
              <a:rPr lang="en-US" sz="900" b="1" kern="0" spc="50" dirty="0">
                <a:solidFill>
                  <a:srgbClr val="FFFFFF"/>
                </a:solidFill>
                <a:latin typeface="Calibri" pitchFamily="34" charset="0"/>
                <a:ea typeface="Calibri" pitchFamily="34" charset="-122"/>
                <a:cs typeface="Calibri" pitchFamily="34" charset="-120"/>
              </a:rPr>
              <a:t>EPCM LIMITED NOTICE TO PROCEED</a:t>
            </a:r>
            <a:endParaRPr lang="en-US" sz="900" dirty="0"/>
          </a:p>
        </p:txBody>
      </p:sp>
      <p:sp>
        <p:nvSpPr>
          <p:cNvPr id="27" name="Text 23"/>
          <p:cNvSpPr/>
          <p:nvPr/>
        </p:nvSpPr>
        <p:spPr>
          <a:xfrm>
            <a:off x="6489040" y="2331720"/>
            <a:ext cx="4989424" cy="457200"/>
          </a:xfrm>
          <a:prstGeom prst="rect">
            <a:avLst/>
          </a:prstGeom>
          <a:noFill/>
          <a:ln/>
        </p:spPr>
        <p:txBody>
          <a:bodyPr wrap="square" lIns="0" tIns="0" rIns="0" bIns="0" rtlCol="0" anchor="t"/>
          <a:lstStyle/>
          <a:p>
            <a:pPr marL="0" indent="0">
              <a:buNone/>
            </a:pPr>
            <a:r>
              <a:rPr lang="en-US" sz="1600" b="1" dirty="0">
                <a:solidFill>
                  <a:srgbClr val="12233D"/>
                </a:solidFill>
                <a:latin typeface="Calibri" pitchFamily="34" charset="0"/>
                <a:ea typeface="Calibri" pitchFamily="34" charset="-122"/>
                <a:cs typeface="Calibri" pitchFamily="34" charset="-120"/>
              </a:rPr>
              <a:t>Cernavodă 3 &amp; 4 — Completion</a:t>
            </a:r>
            <a:endParaRPr lang="en-US" sz="1600" dirty="0"/>
          </a:p>
        </p:txBody>
      </p:sp>
      <p:sp>
        <p:nvSpPr>
          <p:cNvPr id="28" name="Text 24"/>
          <p:cNvSpPr/>
          <p:nvPr/>
        </p:nvSpPr>
        <p:spPr>
          <a:xfrm>
            <a:off x="6489040" y="280720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2 × 700+ MWe CANDU  ·  ~€3.2bn EPCM</a:t>
            </a:r>
            <a:endParaRPr lang="en-US" sz="1150" dirty="0"/>
          </a:p>
        </p:txBody>
      </p:sp>
      <p:sp>
        <p:nvSpPr>
          <p:cNvPr id="29" name="Shape 25"/>
          <p:cNvSpPr/>
          <p:nvPr/>
        </p:nvSpPr>
        <p:spPr>
          <a:xfrm>
            <a:off x="6489040" y="3172968"/>
            <a:ext cx="4989424" cy="0"/>
          </a:xfrm>
          <a:prstGeom prst="line">
            <a:avLst/>
          </a:prstGeom>
          <a:noFill/>
          <a:ln w="9525">
            <a:solidFill>
              <a:srgbClr val="D6E0E8"/>
            </a:solidFill>
            <a:prstDash val="solid"/>
          </a:ln>
        </p:spPr>
        <p:txBody>
          <a:bodyPr/>
          <a:lstStyle/>
          <a:p>
            <a:endParaRPr lang="en-GB"/>
          </a:p>
        </p:txBody>
      </p:sp>
      <p:sp>
        <p:nvSpPr>
          <p:cNvPr id="30" name="Text 26"/>
          <p:cNvSpPr/>
          <p:nvPr/>
        </p:nvSpPr>
        <p:spPr>
          <a:xfrm>
            <a:off x="6489040" y="328269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00" dirty="0">
                <a:solidFill>
                  <a:srgbClr val="12233D"/>
                </a:solidFill>
                <a:latin typeface="Calibri" pitchFamily="34" charset="0"/>
                <a:ea typeface="Calibri" pitchFamily="34" charset="-122"/>
                <a:cs typeface="Calibri" pitchFamily="34" charset="-120"/>
              </a:rPr>
              <a:t>Construction FID pending · units targeted online 2030 (U3) and 2031 (U4)</a:t>
            </a:r>
            <a:endParaRPr lang="en-US" sz="900" dirty="0"/>
          </a:p>
        </p:txBody>
      </p:sp>
      <p:sp>
        <p:nvSpPr>
          <p:cNvPr id="31" name="Text 27"/>
          <p:cNvSpPr/>
          <p:nvPr/>
        </p:nvSpPr>
        <p:spPr>
          <a:xfrm>
            <a:off x="6489040" y="352501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Fluor · AtkinsRéalis · Ansaldo Nucleare · Sargent &amp; Lundy</a:t>
            </a:r>
            <a:endParaRPr lang="en-US" sz="1050" dirty="0"/>
          </a:p>
        </p:txBody>
      </p:sp>
      <p:sp>
        <p:nvSpPr>
          <p:cNvPr id="32" name="Shape 28"/>
          <p:cNvSpPr/>
          <p:nvPr/>
        </p:nvSpPr>
        <p:spPr>
          <a:xfrm>
            <a:off x="457200" y="409194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33" name="Shape 29"/>
          <p:cNvSpPr/>
          <p:nvPr/>
        </p:nvSpPr>
        <p:spPr>
          <a:xfrm>
            <a:off x="713232" y="4329684"/>
            <a:ext cx="530352" cy="530352"/>
          </a:xfrm>
          <a:prstGeom prst="ellipse">
            <a:avLst/>
          </a:prstGeom>
          <a:solidFill>
            <a:srgbClr val="1B3358"/>
          </a:solidFill>
          <a:ln/>
        </p:spPr>
        <p:txBody>
          <a:bodyPr/>
          <a:lstStyle/>
          <a:p>
            <a:endParaRPr lang="en-GB"/>
          </a:p>
        </p:txBody>
      </p:sp>
      <p:pic>
        <p:nvPicPr>
          <p:cNvPr id="34" name="Image 2" descr="preencoded.png"/>
          <p:cNvPicPr>
            <a:picLocks noChangeAspect="1"/>
          </p:cNvPicPr>
          <p:nvPr/>
        </p:nvPicPr>
        <p:blipFill>
          <a:blip r:embed="rId5"/>
          <a:stretch>
            <a:fillRect/>
          </a:stretch>
        </p:blipFill>
        <p:spPr>
          <a:xfrm>
            <a:off x="832104" y="4448556"/>
            <a:ext cx="292608" cy="292608"/>
          </a:xfrm>
          <a:prstGeom prst="rect">
            <a:avLst/>
          </a:prstGeom>
        </p:spPr>
      </p:pic>
      <p:sp>
        <p:nvSpPr>
          <p:cNvPr id="35" name="Shape 30"/>
          <p:cNvSpPr/>
          <p:nvPr/>
        </p:nvSpPr>
        <p:spPr>
          <a:xfrm>
            <a:off x="3087472" y="4329684"/>
            <a:ext cx="2651760" cy="274320"/>
          </a:xfrm>
          <a:prstGeom prst="roundRect">
            <a:avLst>
              <a:gd name="adj" fmla="val 166667"/>
            </a:avLst>
          </a:prstGeom>
          <a:solidFill>
            <a:srgbClr val="1E8E5A"/>
          </a:solidFill>
          <a:ln/>
        </p:spPr>
        <p:txBody>
          <a:bodyPr/>
          <a:lstStyle/>
          <a:p>
            <a:endParaRPr lang="en-GB"/>
          </a:p>
        </p:txBody>
      </p:sp>
      <p:sp>
        <p:nvSpPr>
          <p:cNvPr id="36" name="Text 31"/>
          <p:cNvSpPr/>
          <p:nvPr/>
        </p:nvSpPr>
        <p:spPr>
          <a:xfrm>
            <a:off x="3087472" y="4329684"/>
            <a:ext cx="2651760" cy="274320"/>
          </a:xfrm>
          <a:prstGeom prst="rect">
            <a:avLst/>
          </a:prstGeom>
          <a:noFill/>
          <a:ln/>
        </p:spPr>
        <p:txBody>
          <a:bodyPr wrap="square" lIns="0" tIns="0" rIns="0" bIns="0" rtlCol="0" anchor="ctr"/>
          <a:lstStyle/>
          <a:p>
            <a:pPr marL="0" indent="0" algn="ctr">
              <a:buNone/>
            </a:pPr>
            <a:r>
              <a:rPr lang="en-US" sz="900" b="1" kern="0" spc="50" dirty="0">
                <a:solidFill>
                  <a:srgbClr val="FFFFFF"/>
                </a:solidFill>
                <a:latin typeface="Calibri" pitchFamily="34" charset="0"/>
                <a:ea typeface="Calibri" pitchFamily="34" charset="-122"/>
                <a:cs typeface="Calibri" pitchFamily="34" charset="-120"/>
              </a:rPr>
              <a:t>FID APPROVED</a:t>
            </a:r>
            <a:endParaRPr lang="en-US" sz="900" dirty="0"/>
          </a:p>
        </p:txBody>
      </p:sp>
      <p:sp>
        <p:nvSpPr>
          <p:cNvPr id="37" name="Text 32"/>
          <p:cNvSpPr/>
          <p:nvPr/>
        </p:nvSpPr>
        <p:spPr>
          <a:xfrm>
            <a:off x="713232" y="5006340"/>
            <a:ext cx="4989424" cy="457200"/>
          </a:xfrm>
          <a:prstGeom prst="rect">
            <a:avLst/>
          </a:prstGeom>
          <a:noFill/>
          <a:ln/>
        </p:spPr>
        <p:txBody>
          <a:bodyPr wrap="square" lIns="0" tIns="0" rIns="0" bIns="0" rtlCol="0" anchor="t"/>
          <a:lstStyle/>
          <a:p>
            <a:pPr marL="0" indent="0">
              <a:buNone/>
            </a:pPr>
            <a:r>
              <a:rPr lang="en-US" sz="1600" b="1" dirty="0">
                <a:solidFill>
                  <a:srgbClr val="12233D"/>
                </a:solidFill>
                <a:latin typeface="Calibri" pitchFamily="34" charset="0"/>
                <a:ea typeface="Calibri" pitchFamily="34" charset="-122"/>
                <a:cs typeface="Calibri" pitchFamily="34" charset="-120"/>
              </a:rPr>
              <a:t>Doicești — NuScale VOYGR-6 SMR</a:t>
            </a:r>
            <a:endParaRPr lang="en-US" sz="1600" dirty="0"/>
          </a:p>
        </p:txBody>
      </p:sp>
      <p:sp>
        <p:nvSpPr>
          <p:cNvPr id="38" name="Text 33"/>
          <p:cNvSpPr/>
          <p:nvPr/>
        </p:nvSpPr>
        <p:spPr>
          <a:xfrm>
            <a:off x="713232" y="548182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6 × 77 MWe  ·  462 MWe total</a:t>
            </a:r>
            <a:endParaRPr lang="en-US" sz="1150" dirty="0"/>
          </a:p>
        </p:txBody>
      </p:sp>
      <p:sp>
        <p:nvSpPr>
          <p:cNvPr id="39" name="Shape 34"/>
          <p:cNvSpPr/>
          <p:nvPr/>
        </p:nvSpPr>
        <p:spPr>
          <a:xfrm>
            <a:off x="713232" y="5847588"/>
            <a:ext cx="4989424" cy="0"/>
          </a:xfrm>
          <a:prstGeom prst="line">
            <a:avLst/>
          </a:prstGeom>
          <a:noFill/>
          <a:ln w="9525">
            <a:solidFill>
              <a:srgbClr val="D6E0E8"/>
            </a:solidFill>
            <a:prstDash val="solid"/>
          </a:ln>
        </p:spPr>
        <p:txBody>
          <a:bodyPr/>
          <a:lstStyle/>
          <a:p>
            <a:endParaRPr lang="en-GB"/>
          </a:p>
        </p:txBody>
      </p:sp>
      <p:sp>
        <p:nvSpPr>
          <p:cNvPr id="40" name="Text 35"/>
          <p:cNvSpPr/>
          <p:nvPr/>
        </p:nvSpPr>
        <p:spPr>
          <a:xfrm>
            <a:off x="713232" y="595731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00" dirty="0">
                <a:solidFill>
                  <a:srgbClr val="12233D"/>
                </a:solidFill>
                <a:latin typeface="Calibri" pitchFamily="34" charset="0"/>
                <a:ea typeface="Calibri" pitchFamily="34" charset="-122"/>
                <a:cs typeface="Calibri" pitchFamily="34" charset="-120"/>
              </a:rPr>
              <a:t>FID approved by SNN shareholders Feb-26 · first module operational 2033</a:t>
            </a:r>
            <a:endParaRPr lang="en-US" sz="900" dirty="0"/>
          </a:p>
        </p:txBody>
      </p:sp>
      <p:sp>
        <p:nvSpPr>
          <p:cNvPr id="41" name="Text 36"/>
          <p:cNvSpPr/>
          <p:nvPr/>
        </p:nvSpPr>
        <p:spPr>
          <a:xfrm>
            <a:off x="713232" y="619963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RoPower (SNN/Nova) · NuScale · Fluor</a:t>
            </a:r>
            <a:endParaRPr lang="en-US" sz="1050" dirty="0"/>
          </a:p>
        </p:txBody>
      </p:sp>
      <p:sp>
        <p:nvSpPr>
          <p:cNvPr id="42" name="Shape 37"/>
          <p:cNvSpPr/>
          <p:nvPr/>
        </p:nvSpPr>
        <p:spPr>
          <a:xfrm>
            <a:off x="6233008" y="4091940"/>
            <a:ext cx="5501488" cy="2436876"/>
          </a:xfrm>
          <a:prstGeom prst="roundRect">
            <a:avLst>
              <a:gd name="adj" fmla="val 2627"/>
            </a:avLst>
          </a:prstGeom>
          <a:solidFill>
            <a:srgbClr val="EEF3F8"/>
          </a:solidFill>
          <a:ln/>
          <a:effectLst>
            <a:outerShdw blurRad="88900" dist="25400" dir="5400000" algn="bl" rotWithShape="0">
              <a:srgbClr val="12233D">
                <a:alpha val="12000"/>
              </a:srgbClr>
            </a:outerShdw>
          </a:effectLst>
        </p:spPr>
        <p:txBody>
          <a:bodyPr/>
          <a:lstStyle/>
          <a:p>
            <a:endParaRPr lang="en-GB"/>
          </a:p>
        </p:txBody>
      </p:sp>
      <p:sp>
        <p:nvSpPr>
          <p:cNvPr id="43" name="Shape 38"/>
          <p:cNvSpPr/>
          <p:nvPr/>
        </p:nvSpPr>
        <p:spPr>
          <a:xfrm>
            <a:off x="6489040" y="4329684"/>
            <a:ext cx="530352" cy="530352"/>
          </a:xfrm>
          <a:prstGeom prst="ellipse">
            <a:avLst/>
          </a:prstGeom>
          <a:solidFill>
            <a:srgbClr val="1B3358"/>
          </a:solidFill>
          <a:ln/>
        </p:spPr>
        <p:txBody>
          <a:bodyPr/>
          <a:lstStyle/>
          <a:p>
            <a:endParaRPr lang="en-GB"/>
          </a:p>
        </p:txBody>
      </p:sp>
      <p:pic>
        <p:nvPicPr>
          <p:cNvPr id="44" name="Image 3" descr="preencoded.png"/>
          <p:cNvPicPr>
            <a:picLocks noChangeAspect="1"/>
          </p:cNvPicPr>
          <p:nvPr/>
        </p:nvPicPr>
        <p:blipFill>
          <a:blip r:embed="rId6"/>
          <a:stretch>
            <a:fillRect/>
          </a:stretch>
        </p:blipFill>
        <p:spPr>
          <a:xfrm>
            <a:off x="6607912" y="4448556"/>
            <a:ext cx="292608" cy="292608"/>
          </a:xfrm>
          <a:prstGeom prst="rect">
            <a:avLst/>
          </a:prstGeom>
        </p:spPr>
      </p:pic>
      <p:sp>
        <p:nvSpPr>
          <p:cNvPr id="45" name="Shape 39"/>
          <p:cNvSpPr/>
          <p:nvPr/>
        </p:nvSpPr>
        <p:spPr>
          <a:xfrm>
            <a:off x="8863279" y="4329684"/>
            <a:ext cx="2651760" cy="274320"/>
          </a:xfrm>
          <a:prstGeom prst="roundRect">
            <a:avLst>
              <a:gd name="adj" fmla="val 166667"/>
            </a:avLst>
          </a:prstGeom>
          <a:solidFill>
            <a:srgbClr val="6B7785"/>
          </a:solidFill>
          <a:ln/>
        </p:spPr>
        <p:txBody>
          <a:bodyPr/>
          <a:lstStyle/>
          <a:p>
            <a:endParaRPr lang="en-GB"/>
          </a:p>
        </p:txBody>
      </p:sp>
      <p:sp>
        <p:nvSpPr>
          <p:cNvPr id="46" name="Text 40"/>
          <p:cNvSpPr/>
          <p:nvPr/>
        </p:nvSpPr>
        <p:spPr>
          <a:xfrm>
            <a:off x="8863279" y="4329684"/>
            <a:ext cx="2651760" cy="274320"/>
          </a:xfrm>
          <a:prstGeom prst="rect">
            <a:avLst/>
          </a:prstGeom>
          <a:noFill/>
          <a:ln/>
        </p:spPr>
        <p:txBody>
          <a:bodyPr wrap="square" lIns="0" tIns="0" rIns="0" bIns="0" rtlCol="0" anchor="ctr"/>
          <a:lstStyle/>
          <a:p>
            <a:pPr marL="0" indent="0" algn="ctr">
              <a:buNone/>
            </a:pPr>
            <a:r>
              <a:rPr lang="en-US" sz="900" b="1" kern="0" spc="50" dirty="0">
                <a:solidFill>
                  <a:srgbClr val="FFFFFF"/>
                </a:solidFill>
                <a:latin typeface="Calibri" pitchFamily="34" charset="0"/>
                <a:ea typeface="Calibri" pitchFamily="34" charset="-122"/>
                <a:cs typeface="Calibri" pitchFamily="34" charset="-120"/>
              </a:rPr>
              <a:t>STRATEGY APPROVED</a:t>
            </a:r>
            <a:endParaRPr lang="en-US" sz="900" dirty="0"/>
          </a:p>
        </p:txBody>
      </p:sp>
      <p:sp>
        <p:nvSpPr>
          <p:cNvPr id="47" name="Text 41"/>
          <p:cNvSpPr/>
          <p:nvPr/>
        </p:nvSpPr>
        <p:spPr>
          <a:xfrm>
            <a:off x="6489040" y="5006340"/>
            <a:ext cx="4989424" cy="457200"/>
          </a:xfrm>
          <a:prstGeom prst="rect">
            <a:avLst/>
          </a:prstGeom>
          <a:noFill/>
          <a:ln/>
        </p:spPr>
        <p:txBody>
          <a:bodyPr wrap="square" lIns="0" tIns="0" rIns="0" bIns="0" rtlCol="0" anchor="t"/>
          <a:lstStyle/>
          <a:p>
            <a:pPr marL="0" indent="0">
              <a:buNone/>
            </a:pPr>
            <a:r>
              <a:rPr lang="en-US" sz="1600" b="1" dirty="0">
                <a:solidFill>
                  <a:srgbClr val="12233D"/>
                </a:solidFill>
                <a:latin typeface="Calibri" pitchFamily="34" charset="0"/>
                <a:ea typeface="Calibri" pitchFamily="34" charset="-122"/>
                <a:cs typeface="Calibri" pitchFamily="34" charset="-120"/>
              </a:rPr>
              <a:t>SNN Strategic Investment Programme</a:t>
            </a:r>
            <a:endParaRPr lang="en-US" sz="1600" dirty="0"/>
          </a:p>
        </p:txBody>
      </p:sp>
      <p:sp>
        <p:nvSpPr>
          <p:cNvPr id="48" name="Text 42"/>
          <p:cNvSpPr/>
          <p:nvPr/>
        </p:nvSpPr>
        <p:spPr>
          <a:xfrm>
            <a:off x="6489040" y="5481828"/>
            <a:ext cx="4989424" cy="310896"/>
          </a:xfrm>
          <a:prstGeom prst="rect">
            <a:avLst/>
          </a:prstGeom>
          <a:noFill/>
          <a:ln/>
        </p:spPr>
        <p:txBody>
          <a:bodyPr wrap="square" lIns="0" tIns="0" rIns="0" bIns="0" rtlCol="0" anchor="t"/>
          <a:lstStyle/>
          <a:p>
            <a:pPr marL="0" indent="0">
              <a:buNone/>
            </a:pPr>
            <a:r>
              <a:rPr lang="en-US" sz="1150" b="1" dirty="0">
                <a:solidFill>
                  <a:srgbClr val="5B7A99"/>
                </a:solidFill>
                <a:latin typeface="Calibri" pitchFamily="34" charset="0"/>
                <a:ea typeface="Calibri" pitchFamily="34" charset="-122"/>
                <a:cs typeface="Calibri" pitchFamily="34" charset="-120"/>
              </a:rPr>
              <a:t>€20bn portfolio  ·  horizon to 2035</a:t>
            </a:r>
            <a:endParaRPr lang="en-US" sz="1150" dirty="0"/>
          </a:p>
        </p:txBody>
      </p:sp>
      <p:sp>
        <p:nvSpPr>
          <p:cNvPr id="49" name="Shape 43"/>
          <p:cNvSpPr/>
          <p:nvPr/>
        </p:nvSpPr>
        <p:spPr>
          <a:xfrm>
            <a:off x="6489040" y="5847588"/>
            <a:ext cx="4989424" cy="0"/>
          </a:xfrm>
          <a:prstGeom prst="line">
            <a:avLst/>
          </a:prstGeom>
          <a:noFill/>
          <a:ln w="9525">
            <a:solidFill>
              <a:srgbClr val="D6E0E8"/>
            </a:solidFill>
            <a:prstDash val="solid"/>
          </a:ln>
        </p:spPr>
        <p:txBody>
          <a:bodyPr/>
          <a:lstStyle/>
          <a:p>
            <a:endParaRPr lang="en-GB"/>
          </a:p>
        </p:txBody>
      </p:sp>
      <p:sp>
        <p:nvSpPr>
          <p:cNvPr id="50" name="Text 44"/>
          <p:cNvSpPr/>
          <p:nvPr/>
        </p:nvSpPr>
        <p:spPr>
          <a:xfrm>
            <a:off x="6489040" y="5957316"/>
            <a:ext cx="4989424" cy="548640"/>
          </a:xfrm>
          <a:prstGeom prst="rect">
            <a:avLst/>
          </a:prstGeom>
          <a:noFill/>
          <a:ln/>
        </p:spPr>
        <p:txBody>
          <a:bodyPr wrap="square" lIns="0" tIns="0" rIns="0" bIns="0" rtlCol="0" anchor="t"/>
          <a:lstStyle/>
          <a:p>
            <a:pPr marL="0" indent="0">
              <a:lnSpc>
                <a:spcPct val="110000"/>
              </a:lnSpc>
              <a:buNone/>
            </a:pPr>
            <a:r>
              <a:rPr lang="en-US" sz="900" b="1" kern="0" spc="50" dirty="0">
                <a:solidFill>
                  <a:srgbClr val="5B7A99"/>
                </a:solidFill>
                <a:latin typeface="Calibri" pitchFamily="34" charset="0"/>
                <a:ea typeface="Calibri" pitchFamily="34" charset="-122"/>
                <a:cs typeface="Calibri" pitchFamily="34" charset="-120"/>
              </a:rPr>
              <a:t>MILESTONE  </a:t>
            </a:r>
            <a:r>
              <a:rPr lang="en-US" sz="1100" dirty="0">
                <a:solidFill>
                  <a:srgbClr val="12233D"/>
                </a:solidFill>
                <a:latin typeface="Calibri" pitchFamily="34" charset="0"/>
                <a:ea typeface="Calibri" pitchFamily="34" charset="-122"/>
                <a:cs typeface="Calibri" pitchFamily="34" charset="-120"/>
              </a:rPr>
              <a:t>2025–2030 investment strategy approved by shareholders Sep-25</a:t>
            </a:r>
            <a:endParaRPr lang="en-US" sz="900" dirty="0"/>
          </a:p>
        </p:txBody>
      </p:sp>
      <p:sp>
        <p:nvSpPr>
          <p:cNvPr id="51" name="Text 45"/>
          <p:cNvSpPr/>
          <p:nvPr/>
        </p:nvSpPr>
        <p:spPr>
          <a:xfrm>
            <a:off x="6489040" y="6199632"/>
            <a:ext cx="4989424" cy="256032"/>
          </a:xfrm>
          <a:prstGeom prst="rect">
            <a:avLst/>
          </a:prstGeom>
          <a:noFill/>
          <a:ln/>
        </p:spPr>
        <p:txBody>
          <a:bodyPr wrap="square" lIns="0" tIns="0" rIns="0" bIns="0" rtlCol="0" anchor="b"/>
          <a:lstStyle/>
          <a:p>
            <a:pPr marL="0" indent="0">
              <a:buNone/>
            </a:pPr>
            <a:r>
              <a:rPr lang="en-US" sz="1050" i="1" dirty="0">
                <a:solidFill>
                  <a:srgbClr val="5B6B7C"/>
                </a:solidFill>
                <a:latin typeface="Calibri" pitchFamily="34" charset="0"/>
                <a:ea typeface="Calibri" pitchFamily="34" charset="-122"/>
                <a:cs typeface="Calibri" pitchFamily="34" charset="-120"/>
              </a:rPr>
              <a:t>Nuclearelectrica (SNN) · Romanian Government</a:t>
            </a:r>
            <a:endParaRPr lang="en-US" sz="1050" dirty="0"/>
          </a:p>
        </p:txBody>
      </p:sp>
      <p:sp>
        <p:nvSpPr>
          <p:cNvPr id="52" name="Text 46"/>
          <p:cNvSpPr/>
          <p:nvPr/>
        </p:nvSpPr>
        <p:spPr>
          <a:xfrm>
            <a:off x="457200" y="6565392"/>
            <a:ext cx="11247120" cy="228600"/>
          </a:xfrm>
          <a:prstGeom prst="rect">
            <a:avLst/>
          </a:prstGeom>
          <a:noFill/>
          <a:ln/>
        </p:spPr>
        <p:txBody>
          <a:bodyPr wrap="square" lIns="0" tIns="0" rIns="0" bIns="0" rtlCol="0" anchor="ctr"/>
          <a:lstStyle/>
          <a:p>
            <a:pPr marL="0" indent="0">
              <a:buNone/>
            </a:pPr>
            <a:r>
              <a:rPr lang="en-US" sz="850" i="1" dirty="0">
                <a:solidFill>
                  <a:srgbClr val="9AA7B3"/>
                </a:solidFill>
                <a:latin typeface="Calibri" pitchFamily="34" charset="0"/>
                <a:ea typeface="Calibri" pitchFamily="34" charset="-122"/>
                <a:cs typeface="Calibri" pitchFamily="34" charset="-120"/>
              </a:rPr>
              <a:t>Source: Nuclearelectrica (SNN), World Nuclear Association, World Nuclear News, NucNet announcements, 23 June 2026. Cernavodă 3&amp;4 construction FID is pending agreement of commercial terms.</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12233D"/>
          </a:solidFill>
          <a:ln/>
        </p:spPr>
        <p:txBody>
          <a:bodyPr/>
          <a:lstStyle/>
          <a:p>
            <a:endParaRPr lang="en-GB"/>
          </a:p>
        </p:txBody>
      </p:sp>
      <p:sp>
        <p:nvSpPr>
          <p:cNvPr id="3" name="Text 1"/>
          <p:cNvSpPr/>
          <p:nvPr/>
        </p:nvSpPr>
        <p:spPr>
          <a:xfrm>
            <a:off x="457200" y="100584"/>
            <a:ext cx="8869680" cy="347472"/>
          </a:xfrm>
          <a:prstGeom prst="rect">
            <a:avLst/>
          </a:prstGeom>
          <a:noFill/>
          <a:ln/>
        </p:spPr>
        <p:txBody>
          <a:bodyPr wrap="square" lIns="0" tIns="0" rIns="0" bIns="0" rtlCol="0" anchor="ctr"/>
          <a:lstStyle/>
          <a:p>
            <a:pPr marL="0" indent="0">
              <a:buNone/>
            </a:pPr>
            <a:r>
              <a:rPr lang="en-US" b="1" kern="0" spc="130" dirty="0">
                <a:solidFill>
                  <a:srgbClr val="FF0000"/>
                </a:solidFill>
                <a:latin typeface="Calibri" pitchFamily="34" charset="0"/>
                <a:ea typeface="Calibri" pitchFamily="34" charset="-122"/>
                <a:cs typeface="Calibri" pitchFamily="34" charset="-120"/>
              </a:rPr>
              <a:t>ROMANIA</a:t>
            </a:r>
            <a:r>
              <a:rPr lang="en-US" sz="1400" b="1" kern="0" spc="130" dirty="0">
                <a:solidFill>
                  <a:srgbClr val="9FB6CC"/>
                </a:solidFill>
                <a:latin typeface="Calibri" pitchFamily="34" charset="0"/>
                <a:ea typeface="Calibri" pitchFamily="34" charset="-122"/>
                <a:cs typeface="Calibri" pitchFamily="34" charset="-120"/>
              </a:rPr>
              <a:t> NUCLEAR PROGRAMME LANDSCAPE</a:t>
            </a:r>
            <a:endParaRPr lang="en-US" sz="1400" dirty="0"/>
          </a:p>
        </p:txBody>
      </p:sp>
      <p:sp>
        <p:nvSpPr>
          <p:cNvPr id="4" name="Text 2"/>
          <p:cNvSpPr/>
          <p:nvPr/>
        </p:nvSpPr>
        <p:spPr>
          <a:xfrm>
            <a:off x="457200" y="384048"/>
            <a:ext cx="886968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Delivery Timeline, 2026–2037+</a:t>
            </a:r>
            <a:endParaRPr lang="en-US" sz="2400" dirty="0"/>
          </a:p>
        </p:txBody>
      </p:sp>
      <p:sp>
        <p:nvSpPr>
          <p:cNvPr id="6" name="Shape 4"/>
          <p:cNvSpPr/>
          <p:nvPr/>
        </p:nvSpPr>
        <p:spPr>
          <a:xfrm>
            <a:off x="5532120" y="1060704"/>
            <a:ext cx="118872" cy="118872"/>
          </a:xfrm>
          <a:prstGeom prst="ellipse">
            <a:avLst/>
          </a:prstGeom>
          <a:solidFill>
            <a:srgbClr val="1E8E5A"/>
          </a:solidFill>
          <a:ln/>
        </p:spPr>
        <p:txBody>
          <a:bodyPr/>
          <a:lstStyle/>
          <a:p>
            <a:endParaRPr lang="en-GB"/>
          </a:p>
        </p:txBody>
      </p:sp>
      <p:sp>
        <p:nvSpPr>
          <p:cNvPr id="7" name="Text 5"/>
          <p:cNvSpPr/>
          <p:nvPr/>
        </p:nvSpPr>
        <p:spPr>
          <a:xfrm>
            <a:off x="5715000" y="978408"/>
            <a:ext cx="233172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Operational / contracted construction</a:t>
            </a:r>
            <a:endParaRPr lang="en-US" sz="950" dirty="0"/>
          </a:p>
        </p:txBody>
      </p:sp>
      <p:sp>
        <p:nvSpPr>
          <p:cNvPr id="8" name="Shape 6"/>
          <p:cNvSpPr/>
          <p:nvPr/>
        </p:nvSpPr>
        <p:spPr>
          <a:xfrm>
            <a:off x="8138160" y="1060704"/>
            <a:ext cx="118872" cy="118872"/>
          </a:xfrm>
          <a:prstGeom prst="ellipse">
            <a:avLst/>
          </a:prstGeom>
          <a:solidFill>
            <a:srgbClr val="C77B17"/>
          </a:solidFill>
          <a:ln/>
        </p:spPr>
        <p:txBody>
          <a:bodyPr/>
          <a:lstStyle/>
          <a:p>
            <a:endParaRPr lang="en-GB"/>
          </a:p>
        </p:txBody>
      </p:sp>
      <p:sp>
        <p:nvSpPr>
          <p:cNvPr id="9" name="Text 7"/>
          <p:cNvSpPr/>
          <p:nvPr/>
        </p:nvSpPr>
        <p:spPr>
          <a:xfrm>
            <a:off x="8321040" y="978408"/>
            <a:ext cx="201168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Licensing / engineering / pre-FID</a:t>
            </a:r>
            <a:endParaRPr lang="en-US" sz="950" dirty="0"/>
          </a:p>
        </p:txBody>
      </p:sp>
      <p:sp>
        <p:nvSpPr>
          <p:cNvPr id="10" name="Shape 8"/>
          <p:cNvSpPr/>
          <p:nvPr/>
        </p:nvSpPr>
        <p:spPr>
          <a:xfrm>
            <a:off x="10424160" y="1060704"/>
            <a:ext cx="118872" cy="118872"/>
          </a:xfrm>
          <a:prstGeom prst="ellipse">
            <a:avLst/>
          </a:prstGeom>
          <a:solidFill>
            <a:srgbClr val="6B7785"/>
          </a:solidFill>
          <a:ln/>
        </p:spPr>
        <p:txBody>
          <a:bodyPr/>
          <a:lstStyle/>
          <a:p>
            <a:endParaRPr lang="en-GB"/>
          </a:p>
        </p:txBody>
      </p:sp>
      <p:sp>
        <p:nvSpPr>
          <p:cNvPr id="11" name="Text 9"/>
          <p:cNvSpPr/>
          <p:nvPr/>
        </p:nvSpPr>
        <p:spPr>
          <a:xfrm>
            <a:off x="10607040" y="978408"/>
            <a:ext cx="1554480" cy="274320"/>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Option / forward planning</a:t>
            </a:r>
            <a:endParaRPr lang="en-US" sz="950" dirty="0"/>
          </a:p>
        </p:txBody>
      </p:sp>
      <p:sp>
        <p:nvSpPr>
          <p:cNvPr id="12" name="Shape 10"/>
          <p:cNvSpPr/>
          <p:nvPr/>
        </p:nvSpPr>
        <p:spPr>
          <a:xfrm>
            <a:off x="2514600" y="1426464"/>
            <a:ext cx="0" cy="4974336"/>
          </a:xfrm>
          <a:prstGeom prst="line">
            <a:avLst/>
          </a:prstGeom>
          <a:noFill/>
          <a:ln w="9525">
            <a:solidFill>
              <a:srgbClr val="E3E9EF"/>
            </a:solidFill>
            <a:prstDash val="solid"/>
          </a:ln>
        </p:spPr>
        <p:txBody>
          <a:bodyPr/>
          <a:lstStyle/>
          <a:p>
            <a:endParaRPr lang="en-GB"/>
          </a:p>
        </p:txBody>
      </p:sp>
      <p:sp>
        <p:nvSpPr>
          <p:cNvPr id="13" name="Text 11"/>
          <p:cNvSpPr/>
          <p:nvPr/>
        </p:nvSpPr>
        <p:spPr>
          <a:xfrm>
            <a:off x="219456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2026</a:t>
            </a:r>
            <a:endParaRPr lang="en-US" sz="950" dirty="0"/>
          </a:p>
        </p:txBody>
      </p:sp>
      <p:sp>
        <p:nvSpPr>
          <p:cNvPr id="14" name="Shape 12"/>
          <p:cNvSpPr/>
          <p:nvPr/>
        </p:nvSpPr>
        <p:spPr>
          <a:xfrm>
            <a:off x="4193771" y="1426464"/>
            <a:ext cx="0" cy="4974336"/>
          </a:xfrm>
          <a:prstGeom prst="line">
            <a:avLst/>
          </a:prstGeom>
          <a:noFill/>
          <a:ln w="9525">
            <a:solidFill>
              <a:srgbClr val="E3E9EF"/>
            </a:solidFill>
            <a:prstDash val="solid"/>
          </a:ln>
        </p:spPr>
        <p:txBody>
          <a:bodyPr/>
          <a:lstStyle/>
          <a:p>
            <a:endParaRPr lang="en-GB"/>
          </a:p>
        </p:txBody>
      </p:sp>
      <p:sp>
        <p:nvSpPr>
          <p:cNvPr id="15" name="Text 13"/>
          <p:cNvSpPr/>
          <p:nvPr/>
        </p:nvSpPr>
        <p:spPr>
          <a:xfrm>
            <a:off x="3873731"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2028</a:t>
            </a:r>
            <a:endParaRPr lang="en-US" sz="950" dirty="0"/>
          </a:p>
        </p:txBody>
      </p:sp>
      <p:sp>
        <p:nvSpPr>
          <p:cNvPr id="16" name="Shape 14"/>
          <p:cNvSpPr/>
          <p:nvPr/>
        </p:nvSpPr>
        <p:spPr>
          <a:xfrm>
            <a:off x="5872942" y="1426464"/>
            <a:ext cx="0" cy="4974336"/>
          </a:xfrm>
          <a:prstGeom prst="line">
            <a:avLst/>
          </a:prstGeom>
          <a:noFill/>
          <a:ln w="9525">
            <a:solidFill>
              <a:srgbClr val="E3E9EF"/>
            </a:solidFill>
            <a:prstDash val="solid"/>
          </a:ln>
        </p:spPr>
        <p:txBody>
          <a:bodyPr/>
          <a:lstStyle/>
          <a:p>
            <a:endParaRPr lang="en-GB"/>
          </a:p>
        </p:txBody>
      </p:sp>
      <p:sp>
        <p:nvSpPr>
          <p:cNvPr id="17" name="Text 15"/>
          <p:cNvSpPr/>
          <p:nvPr/>
        </p:nvSpPr>
        <p:spPr>
          <a:xfrm>
            <a:off x="5552902"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2030</a:t>
            </a:r>
            <a:endParaRPr lang="en-US" sz="950" dirty="0"/>
          </a:p>
        </p:txBody>
      </p:sp>
      <p:sp>
        <p:nvSpPr>
          <p:cNvPr id="18" name="Shape 16"/>
          <p:cNvSpPr/>
          <p:nvPr/>
        </p:nvSpPr>
        <p:spPr>
          <a:xfrm>
            <a:off x="7552113" y="1426464"/>
            <a:ext cx="0" cy="4974336"/>
          </a:xfrm>
          <a:prstGeom prst="line">
            <a:avLst/>
          </a:prstGeom>
          <a:noFill/>
          <a:ln w="9525">
            <a:solidFill>
              <a:srgbClr val="E3E9EF"/>
            </a:solidFill>
            <a:prstDash val="solid"/>
          </a:ln>
        </p:spPr>
        <p:txBody>
          <a:bodyPr/>
          <a:lstStyle/>
          <a:p>
            <a:endParaRPr lang="en-GB"/>
          </a:p>
        </p:txBody>
      </p:sp>
      <p:sp>
        <p:nvSpPr>
          <p:cNvPr id="19" name="Text 17"/>
          <p:cNvSpPr/>
          <p:nvPr/>
        </p:nvSpPr>
        <p:spPr>
          <a:xfrm>
            <a:off x="7232073"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2032</a:t>
            </a:r>
            <a:endParaRPr lang="en-US" sz="950" dirty="0"/>
          </a:p>
        </p:txBody>
      </p:sp>
      <p:sp>
        <p:nvSpPr>
          <p:cNvPr id="20" name="Shape 18"/>
          <p:cNvSpPr/>
          <p:nvPr/>
        </p:nvSpPr>
        <p:spPr>
          <a:xfrm>
            <a:off x="9231284" y="1426464"/>
            <a:ext cx="0" cy="4974336"/>
          </a:xfrm>
          <a:prstGeom prst="line">
            <a:avLst/>
          </a:prstGeom>
          <a:noFill/>
          <a:ln w="9525">
            <a:solidFill>
              <a:srgbClr val="E3E9EF"/>
            </a:solidFill>
            <a:prstDash val="solid"/>
          </a:ln>
        </p:spPr>
        <p:txBody>
          <a:bodyPr/>
          <a:lstStyle/>
          <a:p>
            <a:endParaRPr lang="en-GB"/>
          </a:p>
        </p:txBody>
      </p:sp>
      <p:sp>
        <p:nvSpPr>
          <p:cNvPr id="21" name="Text 19"/>
          <p:cNvSpPr/>
          <p:nvPr/>
        </p:nvSpPr>
        <p:spPr>
          <a:xfrm>
            <a:off x="8911244"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2034</a:t>
            </a:r>
            <a:endParaRPr lang="en-US" sz="950" dirty="0"/>
          </a:p>
        </p:txBody>
      </p:sp>
      <p:sp>
        <p:nvSpPr>
          <p:cNvPr id="22" name="Shape 20"/>
          <p:cNvSpPr/>
          <p:nvPr/>
        </p:nvSpPr>
        <p:spPr>
          <a:xfrm>
            <a:off x="10910455" y="1426464"/>
            <a:ext cx="0" cy="4974336"/>
          </a:xfrm>
          <a:prstGeom prst="line">
            <a:avLst/>
          </a:prstGeom>
          <a:noFill/>
          <a:ln w="9525">
            <a:solidFill>
              <a:srgbClr val="E3E9EF"/>
            </a:solidFill>
            <a:prstDash val="solid"/>
          </a:ln>
        </p:spPr>
        <p:txBody>
          <a:bodyPr/>
          <a:lstStyle/>
          <a:p>
            <a:endParaRPr lang="en-GB"/>
          </a:p>
        </p:txBody>
      </p:sp>
      <p:sp>
        <p:nvSpPr>
          <p:cNvPr id="23" name="Text 21"/>
          <p:cNvSpPr/>
          <p:nvPr/>
        </p:nvSpPr>
        <p:spPr>
          <a:xfrm>
            <a:off x="10590415"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2036</a:t>
            </a:r>
            <a:endParaRPr lang="en-US" sz="950" dirty="0"/>
          </a:p>
        </p:txBody>
      </p:sp>
      <p:sp>
        <p:nvSpPr>
          <p:cNvPr id="24" name="Shape 22"/>
          <p:cNvSpPr/>
          <p:nvPr/>
        </p:nvSpPr>
        <p:spPr>
          <a:xfrm>
            <a:off x="11750040" y="1426464"/>
            <a:ext cx="0" cy="4974336"/>
          </a:xfrm>
          <a:prstGeom prst="line">
            <a:avLst/>
          </a:prstGeom>
          <a:noFill/>
          <a:ln w="9525">
            <a:solidFill>
              <a:srgbClr val="E3E9EF"/>
            </a:solidFill>
            <a:prstDash val="solid"/>
          </a:ln>
        </p:spPr>
        <p:txBody>
          <a:bodyPr/>
          <a:lstStyle/>
          <a:p>
            <a:endParaRPr lang="en-GB"/>
          </a:p>
        </p:txBody>
      </p:sp>
      <p:sp>
        <p:nvSpPr>
          <p:cNvPr id="25" name="Text 23"/>
          <p:cNvSpPr/>
          <p:nvPr/>
        </p:nvSpPr>
        <p:spPr>
          <a:xfrm>
            <a:off x="11430000" y="6437376"/>
            <a:ext cx="640080" cy="219456"/>
          </a:xfrm>
          <a:prstGeom prst="rect">
            <a:avLst/>
          </a:prstGeom>
          <a:noFill/>
          <a:ln/>
        </p:spPr>
        <p:txBody>
          <a:bodyPr wrap="square" lIns="0" tIns="0" rIns="0" bIns="0"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2037+</a:t>
            </a:r>
            <a:endParaRPr lang="en-US" sz="950" dirty="0"/>
          </a:p>
        </p:txBody>
      </p:sp>
      <p:sp>
        <p:nvSpPr>
          <p:cNvPr id="26" name="Shape 24"/>
          <p:cNvSpPr/>
          <p:nvPr/>
        </p:nvSpPr>
        <p:spPr>
          <a:xfrm>
            <a:off x="365760" y="1426464"/>
            <a:ext cx="2011680" cy="4974336"/>
          </a:xfrm>
          <a:prstGeom prst="rect">
            <a:avLst/>
          </a:prstGeom>
          <a:solidFill>
            <a:srgbClr val="FFFFFF"/>
          </a:solidFill>
          <a:ln/>
        </p:spPr>
        <p:txBody>
          <a:bodyPr/>
          <a:lstStyle/>
          <a:p>
            <a:endParaRPr lang="en-GB"/>
          </a:p>
        </p:txBody>
      </p:sp>
      <p:sp>
        <p:nvSpPr>
          <p:cNvPr id="27" name="Shape 25"/>
          <p:cNvSpPr/>
          <p:nvPr/>
        </p:nvSpPr>
        <p:spPr>
          <a:xfrm>
            <a:off x="365760" y="1481328"/>
            <a:ext cx="11795760" cy="1078992"/>
          </a:xfrm>
          <a:prstGeom prst="rect">
            <a:avLst/>
          </a:prstGeom>
          <a:solidFill>
            <a:srgbClr val="F7FAFC"/>
          </a:solidFill>
          <a:ln/>
        </p:spPr>
        <p:txBody>
          <a:bodyPr/>
          <a:lstStyle/>
          <a:p>
            <a:endParaRPr lang="en-GB"/>
          </a:p>
        </p:txBody>
      </p:sp>
      <p:sp>
        <p:nvSpPr>
          <p:cNvPr id="28" name="Shape 26"/>
          <p:cNvSpPr/>
          <p:nvPr/>
        </p:nvSpPr>
        <p:spPr>
          <a:xfrm>
            <a:off x="457200" y="1801368"/>
            <a:ext cx="438912" cy="438912"/>
          </a:xfrm>
          <a:prstGeom prst="ellipse">
            <a:avLst/>
          </a:prstGeom>
          <a:solidFill>
            <a:srgbClr val="1B3358"/>
          </a:solidFill>
          <a:ln/>
        </p:spPr>
        <p:txBody>
          <a:bodyPr/>
          <a:lstStyle/>
          <a:p>
            <a:endParaRPr lang="en-GB"/>
          </a:p>
        </p:txBody>
      </p:sp>
      <p:pic>
        <p:nvPicPr>
          <p:cNvPr id="29" name="Image 0" descr="preencoded.png"/>
          <p:cNvPicPr>
            <a:picLocks noChangeAspect="1"/>
          </p:cNvPicPr>
          <p:nvPr/>
        </p:nvPicPr>
        <p:blipFill>
          <a:blip r:embed="rId3"/>
          <a:stretch>
            <a:fillRect/>
          </a:stretch>
        </p:blipFill>
        <p:spPr>
          <a:xfrm>
            <a:off x="548640" y="1892808"/>
            <a:ext cx="256032" cy="256032"/>
          </a:xfrm>
          <a:prstGeom prst="rect">
            <a:avLst/>
          </a:prstGeom>
        </p:spPr>
      </p:pic>
      <p:sp>
        <p:nvSpPr>
          <p:cNvPr id="30" name="Text 27"/>
          <p:cNvSpPr/>
          <p:nvPr/>
        </p:nvSpPr>
        <p:spPr>
          <a:xfrm>
            <a:off x="1005840" y="1591056"/>
            <a:ext cx="1417320" cy="512064"/>
          </a:xfrm>
          <a:prstGeom prst="rect">
            <a:avLst/>
          </a:prstGeom>
          <a:noFill/>
          <a:ln/>
        </p:spPr>
        <p:txBody>
          <a:bodyPr wrap="square" lIns="0" tIns="0" rIns="0" bIns="0" rtlCol="0" anchor="t"/>
          <a:lstStyle/>
          <a:p>
            <a:pPr marL="0" indent="0">
              <a:lnSpc>
                <a:spcPct val="98000"/>
              </a:lnSpc>
              <a:buNone/>
            </a:pPr>
            <a:r>
              <a:rPr lang="en-US" sz="1150" b="1" dirty="0">
                <a:solidFill>
                  <a:srgbClr val="12233D"/>
                </a:solidFill>
                <a:latin typeface="Calibri" pitchFamily="34" charset="0"/>
                <a:ea typeface="Calibri" pitchFamily="34" charset="-122"/>
                <a:cs typeface="Calibri" pitchFamily="34" charset="-120"/>
              </a:rPr>
              <a:t>Cernavodă Unit 1 — Refurbishment</a:t>
            </a:r>
            <a:endParaRPr lang="en-US" sz="1150" dirty="0"/>
          </a:p>
        </p:txBody>
      </p:sp>
      <p:sp>
        <p:nvSpPr>
          <p:cNvPr id="31" name="Text 28"/>
          <p:cNvSpPr/>
          <p:nvPr/>
        </p:nvSpPr>
        <p:spPr>
          <a:xfrm>
            <a:off x="1005840" y="2103120"/>
            <a:ext cx="1417320" cy="420624"/>
          </a:xfrm>
          <a:prstGeom prst="rect">
            <a:avLst/>
          </a:prstGeom>
          <a:noFill/>
          <a:ln/>
        </p:spPr>
        <p:txBody>
          <a:bodyPr wrap="square" lIns="0" tIns="0" rIns="0" bIns="0" rtlCol="0" anchor="b"/>
          <a:lstStyle/>
          <a:p>
            <a:pPr marL="0" indent="0">
              <a:lnSpc>
                <a:spcPct val="98000"/>
              </a:lnSpc>
              <a:buNone/>
            </a:pPr>
            <a:r>
              <a:rPr lang="en-US" sz="720" i="1" dirty="0">
                <a:solidFill>
                  <a:srgbClr val="5B6B7C"/>
                </a:solidFill>
                <a:latin typeface="Calibri" pitchFamily="34" charset="0"/>
                <a:ea typeface="Calibri" pitchFamily="34" charset="-122"/>
                <a:cs typeface="Calibri" pitchFamily="34" charset="-120"/>
              </a:rPr>
              <a:t>650 MWe CANDU-6 · KHNP · Candu Energy · Ansaldo Nucleare · ~€1.9bn</a:t>
            </a:r>
            <a:endParaRPr lang="en-US" sz="720" dirty="0"/>
          </a:p>
        </p:txBody>
      </p:sp>
      <p:sp>
        <p:nvSpPr>
          <p:cNvPr id="32" name="Shape 29"/>
          <p:cNvSpPr/>
          <p:nvPr/>
        </p:nvSpPr>
        <p:spPr>
          <a:xfrm>
            <a:off x="2514600" y="2020824"/>
            <a:ext cx="9235440" cy="0"/>
          </a:xfrm>
          <a:prstGeom prst="line">
            <a:avLst/>
          </a:prstGeom>
          <a:noFill/>
          <a:ln w="6350">
            <a:solidFill>
              <a:srgbClr val="E3E9EF"/>
            </a:solidFill>
            <a:prstDash val="dash"/>
          </a:ln>
        </p:spPr>
        <p:txBody>
          <a:bodyPr/>
          <a:lstStyle/>
          <a:p>
            <a:endParaRPr lang="en-GB"/>
          </a:p>
        </p:txBody>
      </p:sp>
      <p:sp>
        <p:nvSpPr>
          <p:cNvPr id="33" name="Shape 30"/>
          <p:cNvSpPr/>
          <p:nvPr/>
        </p:nvSpPr>
        <p:spPr>
          <a:xfrm>
            <a:off x="2514600" y="1901952"/>
            <a:ext cx="839585" cy="237744"/>
          </a:xfrm>
          <a:prstGeom prst="roundRect">
            <a:avLst>
              <a:gd name="adj" fmla="val 19231"/>
            </a:avLst>
          </a:prstGeom>
          <a:solidFill>
            <a:srgbClr val="C77B17"/>
          </a:solidFill>
          <a:ln/>
        </p:spPr>
        <p:txBody>
          <a:bodyPr/>
          <a:lstStyle/>
          <a:p>
            <a:endParaRPr lang="en-GB"/>
          </a:p>
        </p:txBody>
      </p:sp>
      <p:sp>
        <p:nvSpPr>
          <p:cNvPr id="34" name="Shape 31"/>
          <p:cNvSpPr/>
          <p:nvPr/>
        </p:nvSpPr>
        <p:spPr>
          <a:xfrm>
            <a:off x="3354185" y="1901952"/>
            <a:ext cx="1679171" cy="237744"/>
          </a:xfrm>
          <a:prstGeom prst="roundRect">
            <a:avLst>
              <a:gd name="adj" fmla="val 19231"/>
            </a:avLst>
          </a:prstGeom>
          <a:solidFill>
            <a:srgbClr val="1E8E5A"/>
          </a:solidFill>
          <a:ln/>
        </p:spPr>
        <p:txBody>
          <a:bodyPr/>
          <a:lstStyle/>
          <a:p>
            <a:endParaRPr lang="en-GB"/>
          </a:p>
        </p:txBody>
      </p:sp>
      <p:sp>
        <p:nvSpPr>
          <p:cNvPr id="35" name="Shape 32"/>
          <p:cNvSpPr/>
          <p:nvPr/>
        </p:nvSpPr>
        <p:spPr>
          <a:xfrm>
            <a:off x="5033356" y="1901952"/>
            <a:ext cx="6716684" cy="237744"/>
          </a:xfrm>
          <a:prstGeom prst="roundRect">
            <a:avLst>
              <a:gd name="adj" fmla="val 19231"/>
            </a:avLst>
          </a:prstGeom>
          <a:solidFill>
            <a:srgbClr val="1E8E5A"/>
          </a:solidFill>
          <a:ln/>
        </p:spPr>
        <p:txBody>
          <a:bodyPr/>
          <a:lstStyle/>
          <a:p>
            <a:endParaRPr lang="en-GB"/>
          </a:p>
        </p:txBody>
      </p:sp>
      <p:sp>
        <p:nvSpPr>
          <p:cNvPr id="36" name="Shape 33"/>
          <p:cNvSpPr/>
          <p:nvPr/>
        </p:nvSpPr>
        <p:spPr>
          <a:xfrm>
            <a:off x="2790998" y="1961388"/>
            <a:ext cx="118872" cy="118872"/>
          </a:xfrm>
          <a:prstGeom prst="diamond">
            <a:avLst/>
          </a:prstGeom>
          <a:solidFill>
            <a:srgbClr val="FFFFFF"/>
          </a:solidFill>
          <a:ln w="21590">
            <a:solidFill>
              <a:srgbClr val="C77B17"/>
            </a:solidFill>
            <a:prstDash val="solid"/>
          </a:ln>
        </p:spPr>
        <p:txBody>
          <a:bodyPr/>
          <a:lstStyle/>
          <a:p>
            <a:endParaRPr lang="en-GB"/>
          </a:p>
        </p:txBody>
      </p:sp>
      <p:sp>
        <p:nvSpPr>
          <p:cNvPr id="37" name="Text 34"/>
          <p:cNvSpPr/>
          <p:nvPr/>
        </p:nvSpPr>
        <p:spPr>
          <a:xfrm>
            <a:off x="2651760" y="1591056"/>
            <a:ext cx="2743200" cy="237744"/>
          </a:xfrm>
          <a:prstGeom prst="rect">
            <a:avLst/>
          </a:prstGeom>
          <a:noFill/>
          <a:ln/>
        </p:spPr>
        <p:txBody>
          <a:bodyPr wrap="square" lIns="0" tIns="0" rIns="0" bIns="0" rtlCol="0" anchor="ctr"/>
          <a:lstStyle/>
          <a:p>
            <a:pPr marL="0" indent="0" algn="ctr">
              <a:buNone/>
            </a:pPr>
            <a:r>
              <a:rPr lang="en-US" sz="760" b="1" dirty="0">
                <a:solidFill>
                  <a:srgbClr val="C77B17"/>
                </a:solidFill>
                <a:latin typeface="Calibri" pitchFamily="34" charset="0"/>
                <a:ea typeface="Calibri" pitchFamily="34" charset="-122"/>
                <a:cs typeface="Calibri" pitchFamily="34" charset="-120"/>
              </a:rPr>
              <a:t>Civil works begun Sep-25 · EC state aid request filed Jan-26</a:t>
            </a:r>
            <a:endParaRPr lang="en-US" sz="760" dirty="0"/>
          </a:p>
        </p:txBody>
      </p:sp>
      <p:sp>
        <p:nvSpPr>
          <p:cNvPr id="38" name="Shape 35"/>
          <p:cNvSpPr/>
          <p:nvPr/>
        </p:nvSpPr>
        <p:spPr>
          <a:xfrm>
            <a:off x="4973920" y="1961388"/>
            <a:ext cx="118872" cy="118872"/>
          </a:xfrm>
          <a:prstGeom prst="diamond">
            <a:avLst/>
          </a:prstGeom>
          <a:solidFill>
            <a:srgbClr val="FFFFFF"/>
          </a:solidFill>
          <a:ln w="21590">
            <a:solidFill>
              <a:srgbClr val="1E8E5A"/>
            </a:solidFill>
            <a:prstDash val="solid"/>
          </a:ln>
        </p:spPr>
        <p:txBody>
          <a:bodyPr/>
          <a:lstStyle/>
          <a:p>
            <a:endParaRPr lang="en-GB"/>
          </a:p>
        </p:txBody>
      </p:sp>
      <p:sp>
        <p:nvSpPr>
          <p:cNvPr id="39" name="Text 36"/>
          <p:cNvSpPr/>
          <p:nvPr/>
        </p:nvSpPr>
        <p:spPr>
          <a:xfrm>
            <a:off x="3661756" y="2267712"/>
            <a:ext cx="2743200" cy="237744"/>
          </a:xfrm>
          <a:prstGeom prst="rect">
            <a:avLst/>
          </a:prstGeom>
          <a:noFill/>
          <a:ln/>
        </p:spPr>
        <p:txBody>
          <a:bodyPr wrap="square" lIns="0" tIns="0" rIns="0" bIns="0" rtlCol="0" anchor="ctr"/>
          <a:lstStyle/>
          <a:p>
            <a:pPr marL="0" indent="0" algn="ctr">
              <a:buNone/>
            </a:pPr>
            <a:r>
              <a:rPr lang="en-US" sz="760" b="1" dirty="0">
                <a:solidFill>
                  <a:srgbClr val="1E8E5A"/>
                </a:solidFill>
                <a:latin typeface="Calibri" pitchFamily="34" charset="0"/>
                <a:ea typeface="Calibri" pitchFamily="34" charset="-122"/>
                <a:cs typeface="Calibri" pitchFamily="34" charset="-120"/>
              </a:rPr>
              <a:t>Outage/refurb phase, Dec-26 to Dec-28</a:t>
            </a:r>
            <a:endParaRPr lang="en-US" sz="760" dirty="0"/>
          </a:p>
        </p:txBody>
      </p:sp>
      <p:sp>
        <p:nvSpPr>
          <p:cNvPr id="40" name="Shape 37"/>
          <p:cNvSpPr/>
          <p:nvPr/>
        </p:nvSpPr>
        <p:spPr>
          <a:xfrm>
            <a:off x="457200" y="3063240"/>
            <a:ext cx="438912" cy="438912"/>
          </a:xfrm>
          <a:prstGeom prst="ellipse">
            <a:avLst/>
          </a:prstGeom>
          <a:solidFill>
            <a:srgbClr val="1B3358"/>
          </a:solidFill>
          <a:ln/>
        </p:spPr>
        <p:txBody>
          <a:bodyPr/>
          <a:lstStyle/>
          <a:p>
            <a:endParaRPr lang="en-GB"/>
          </a:p>
        </p:txBody>
      </p:sp>
      <p:pic>
        <p:nvPicPr>
          <p:cNvPr id="41" name="Image 1" descr="preencoded.png"/>
          <p:cNvPicPr>
            <a:picLocks noChangeAspect="1"/>
          </p:cNvPicPr>
          <p:nvPr/>
        </p:nvPicPr>
        <p:blipFill>
          <a:blip r:embed="rId4"/>
          <a:stretch>
            <a:fillRect/>
          </a:stretch>
        </p:blipFill>
        <p:spPr>
          <a:xfrm>
            <a:off x="548640" y="3154680"/>
            <a:ext cx="256032" cy="256032"/>
          </a:xfrm>
          <a:prstGeom prst="rect">
            <a:avLst/>
          </a:prstGeom>
        </p:spPr>
      </p:pic>
      <p:sp>
        <p:nvSpPr>
          <p:cNvPr id="42" name="Text 38"/>
          <p:cNvSpPr/>
          <p:nvPr/>
        </p:nvSpPr>
        <p:spPr>
          <a:xfrm>
            <a:off x="1005840" y="2852928"/>
            <a:ext cx="1417320" cy="512064"/>
          </a:xfrm>
          <a:prstGeom prst="rect">
            <a:avLst/>
          </a:prstGeom>
          <a:noFill/>
          <a:ln/>
        </p:spPr>
        <p:txBody>
          <a:bodyPr wrap="square" lIns="0" tIns="0" rIns="0" bIns="0" rtlCol="0" anchor="t"/>
          <a:lstStyle/>
          <a:p>
            <a:pPr marL="0" indent="0">
              <a:lnSpc>
                <a:spcPct val="98000"/>
              </a:lnSpc>
              <a:buNone/>
            </a:pPr>
            <a:r>
              <a:rPr lang="en-US" sz="1150" b="1" dirty="0">
                <a:solidFill>
                  <a:srgbClr val="12233D"/>
                </a:solidFill>
                <a:latin typeface="Calibri" pitchFamily="34" charset="0"/>
                <a:ea typeface="Calibri" pitchFamily="34" charset="-122"/>
                <a:cs typeface="Calibri" pitchFamily="34" charset="-120"/>
              </a:rPr>
              <a:t>Cernavodă 3 &amp; 4 — Completion</a:t>
            </a:r>
            <a:endParaRPr lang="en-US" sz="1150" dirty="0"/>
          </a:p>
        </p:txBody>
      </p:sp>
      <p:sp>
        <p:nvSpPr>
          <p:cNvPr id="43" name="Text 39"/>
          <p:cNvSpPr/>
          <p:nvPr/>
        </p:nvSpPr>
        <p:spPr>
          <a:xfrm>
            <a:off x="1005840" y="3364992"/>
            <a:ext cx="1417320" cy="420624"/>
          </a:xfrm>
          <a:prstGeom prst="rect">
            <a:avLst/>
          </a:prstGeom>
          <a:noFill/>
          <a:ln/>
        </p:spPr>
        <p:txBody>
          <a:bodyPr wrap="square" lIns="0" tIns="0" rIns="0" bIns="0" rtlCol="0" anchor="b"/>
          <a:lstStyle/>
          <a:p>
            <a:pPr marL="0" indent="0">
              <a:lnSpc>
                <a:spcPct val="98000"/>
              </a:lnSpc>
              <a:buNone/>
            </a:pPr>
            <a:r>
              <a:rPr lang="en-US" sz="720" i="1" dirty="0">
                <a:solidFill>
                  <a:srgbClr val="5B6B7C"/>
                </a:solidFill>
                <a:latin typeface="Calibri" pitchFamily="34" charset="0"/>
                <a:ea typeface="Calibri" pitchFamily="34" charset="-122"/>
                <a:cs typeface="Calibri" pitchFamily="34" charset="-120"/>
              </a:rPr>
              <a:t>2 × 700+ MWe CANDU · Fluor · AtkinsRéalis · Ansaldo · Sargent &amp; Lundy · ~€3.2bn EPCM</a:t>
            </a:r>
            <a:endParaRPr lang="en-US" sz="720" dirty="0"/>
          </a:p>
        </p:txBody>
      </p:sp>
      <p:sp>
        <p:nvSpPr>
          <p:cNvPr id="44" name="Shape 40"/>
          <p:cNvSpPr/>
          <p:nvPr/>
        </p:nvSpPr>
        <p:spPr>
          <a:xfrm>
            <a:off x="2514600" y="3282696"/>
            <a:ext cx="9235440" cy="0"/>
          </a:xfrm>
          <a:prstGeom prst="line">
            <a:avLst/>
          </a:prstGeom>
          <a:noFill/>
          <a:ln w="6350">
            <a:solidFill>
              <a:srgbClr val="E3E9EF"/>
            </a:solidFill>
            <a:prstDash val="dash"/>
          </a:ln>
        </p:spPr>
        <p:txBody>
          <a:bodyPr/>
          <a:lstStyle/>
          <a:p>
            <a:endParaRPr lang="en-GB"/>
          </a:p>
        </p:txBody>
      </p:sp>
      <p:sp>
        <p:nvSpPr>
          <p:cNvPr id="45" name="Shape 41"/>
          <p:cNvSpPr/>
          <p:nvPr/>
        </p:nvSpPr>
        <p:spPr>
          <a:xfrm>
            <a:off x="2514600" y="3163824"/>
            <a:ext cx="839585" cy="237744"/>
          </a:xfrm>
          <a:prstGeom prst="roundRect">
            <a:avLst>
              <a:gd name="adj" fmla="val 19231"/>
            </a:avLst>
          </a:prstGeom>
          <a:solidFill>
            <a:srgbClr val="C77B17"/>
          </a:solidFill>
          <a:ln/>
        </p:spPr>
        <p:txBody>
          <a:bodyPr/>
          <a:lstStyle/>
          <a:p>
            <a:endParaRPr lang="en-GB"/>
          </a:p>
        </p:txBody>
      </p:sp>
      <p:sp>
        <p:nvSpPr>
          <p:cNvPr id="46" name="Shape 42"/>
          <p:cNvSpPr/>
          <p:nvPr/>
        </p:nvSpPr>
        <p:spPr>
          <a:xfrm>
            <a:off x="3354185" y="3163824"/>
            <a:ext cx="3358342" cy="237744"/>
          </a:xfrm>
          <a:prstGeom prst="roundRect">
            <a:avLst>
              <a:gd name="adj" fmla="val 19231"/>
            </a:avLst>
          </a:prstGeom>
          <a:solidFill>
            <a:srgbClr val="1E8E5A"/>
          </a:solidFill>
          <a:ln/>
        </p:spPr>
        <p:txBody>
          <a:bodyPr/>
          <a:lstStyle/>
          <a:p>
            <a:endParaRPr lang="en-GB"/>
          </a:p>
        </p:txBody>
      </p:sp>
      <p:sp>
        <p:nvSpPr>
          <p:cNvPr id="47" name="Shape 43"/>
          <p:cNvSpPr/>
          <p:nvPr/>
        </p:nvSpPr>
        <p:spPr>
          <a:xfrm>
            <a:off x="2790998" y="3223260"/>
            <a:ext cx="118872" cy="118872"/>
          </a:xfrm>
          <a:prstGeom prst="diamond">
            <a:avLst/>
          </a:prstGeom>
          <a:solidFill>
            <a:srgbClr val="FFFFFF"/>
          </a:solidFill>
          <a:ln w="21590">
            <a:solidFill>
              <a:srgbClr val="C77B17"/>
            </a:solidFill>
            <a:prstDash val="solid"/>
          </a:ln>
        </p:spPr>
        <p:txBody>
          <a:bodyPr/>
          <a:lstStyle/>
          <a:p>
            <a:endParaRPr lang="en-GB"/>
          </a:p>
        </p:txBody>
      </p:sp>
      <p:sp>
        <p:nvSpPr>
          <p:cNvPr id="48" name="Text 44"/>
          <p:cNvSpPr/>
          <p:nvPr/>
        </p:nvSpPr>
        <p:spPr>
          <a:xfrm>
            <a:off x="2651760" y="2852928"/>
            <a:ext cx="2743200" cy="237744"/>
          </a:xfrm>
          <a:prstGeom prst="rect">
            <a:avLst/>
          </a:prstGeom>
          <a:noFill/>
          <a:ln/>
        </p:spPr>
        <p:txBody>
          <a:bodyPr wrap="square" lIns="0" tIns="0" rIns="0" bIns="0" rtlCol="0" anchor="ctr"/>
          <a:lstStyle/>
          <a:p>
            <a:pPr marL="0" indent="0" algn="ctr">
              <a:buNone/>
            </a:pPr>
            <a:r>
              <a:rPr lang="en-US" sz="760" b="1" dirty="0">
                <a:solidFill>
                  <a:srgbClr val="C77B17"/>
                </a:solidFill>
                <a:latin typeface="Calibri" pitchFamily="34" charset="0"/>
                <a:ea typeface="Calibri" pitchFamily="34" charset="-122"/>
                <a:cs typeface="Calibri" pitchFamily="34" charset="-120"/>
              </a:rPr>
              <a:t>EPCM Limited Notice to Proceed phase (24–30mo)</a:t>
            </a:r>
            <a:endParaRPr lang="en-US" sz="760" dirty="0"/>
          </a:p>
        </p:txBody>
      </p:sp>
      <p:sp>
        <p:nvSpPr>
          <p:cNvPr id="49" name="Shape 45"/>
          <p:cNvSpPr/>
          <p:nvPr/>
        </p:nvSpPr>
        <p:spPr>
          <a:xfrm>
            <a:off x="5813506" y="3223260"/>
            <a:ext cx="118872" cy="118872"/>
          </a:xfrm>
          <a:prstGeom prst="diamond">
            <a:avLst/>
          </a:prstGeom>
          <a:solidFill>
            <a:srgbClr val="FFFFFF"/>
          </a:solidFill>
          <a:ln w="21590">
            <a:solidFill>
              <a:srgbClr val="1E8E5A"/>
            </a:solidFill>
            <a:prstDash val="solid"/>
          </a:ln>
        </p:spPr>
        <p:txBody>
          <a:bodyPr/>
          <a:lstStyle/>
          <a:p>
            <a:endParaRPr lang="en-GB"/>
          </a:p>
        </p:txBody>
      </p:sp>
      <p:sp>
        <p:nvSpPr>
          <p:cNvPr id="50" name="Text 46"/>
          <p:cNvSpPr/>
          <p:nvPr/>
        </p:nvSpPr>
        <p:spPr>
          <a:xfrm>
            <a:off x="4501342" y="3529584"/>
            <a:ext cx="2743200" cy="237744"/>
          </a:xfrm>
          <a:prstGeom prst="rect">
            <a:avLst/>
          </a:prstGeom>
          <a:noFill/>
          <a:ln/>
        </p:spPr>
        <p:txBody>
          <a:bodyPr wrap="square" lIns="0" tIns="0" rIns="0" bIns="0" rtlCol="0" anchor="ctr"/>
          <a:lstStyle/>
          <a:p>
            <a:pPr marL="0" indent="0" algn="ctr">
              <a:buNone/>
            </a:pPr>
            <a:r>
              <a:rPr lang="en-US" sz="760" b="1" dirty="0">
                <a:solidFill>
                  <a:srgbClr val="1E8E5A"/>
                </a:solidFill>
                <a:latin typeface="Calibri" pitchFamily="34" charset="0"/>
                <a:ea typeface="Calibri" pitchFamily="34" charset="-122"/>
                <a:cs typeface="Calibri" pitchFamily="34" charset="-120"/>
              </a:rPr>
              <a:t>Units online 2030 (U3) and 2031 (U4)</a:t>
            </a:r>
            <a:endParaRPr lang="en-US" sz="760" dirty="0"/>
          </a:p>
        </p:txBody>
      </p:sp>
      <p:sp>
        <p:nvSpPr>
          <p:cNvPr id="51" name="Shape 47"/>
          <p:cNvSpPr/>
          <p:nvPr/>
        </p:nvSpPr>
        <p:spPr>
          <a:xfrm>
            <a:off x="365760" y="4005072"/>
            <a:ext cx="11795760" cy="1078992"/>
          </a:xfrm>
          <a:prstGeom prst="rect">
            <a:avLst/>
          </a:prstGeom>
          <a:solidFill>
            <a:srgbClr val="F7FAFC"/>
          </a:solidFill>
          <a:ln/>
        </p:spPr>
        <p:txBody>
          <a:bodyPr/>
          <a:lstStyle/>
          <a:p>
            <a:endParaRPr lang="en-GB"/>
          </a:p>
        </p:txBody>
      </p:sp>
      <p:sp>
        <p:nvSpPr>
          <p:cNvPr id="52" name="Shape 48"/>
          <p:cNvSpPr/>
          <p:nvPr/>
        </p:nvSpPr>
        <p:spPr>
          <a:xfrm>
            <a:off x="457200" y="4325112"/>
            <a:ext cx="438912" cy="438912"/>
          </a:xfrm>
          <a:prstGeom prst="ellipse">
            <a:avLst/>
          </a:prstGeom>
          <a:solidFill>
            <a:srgbClr val="1B3358"/>
          </a:solidFill>
          <a:ln/>
        </p:spPr>
        <p:txBody>
          <a:bodyPr/>
          <a:lstStyle/>
          <a:p>
            <a:endParaRPr lang="en-GB"/>
          </a:p>
        </p:txBody>
      </p:sp>
      <p:pic>
        <p:nvPicPr>
          <p:cNvPr id="53" name="Image 2" descr="preencoded.png"/>
          <p:cNvPicPr>
            <a:picLocks noChangeAspect="1"/>
          </p:cNvPicPr>
          <p:nvPr/>
        </p:nvPicPr>
        <p:blipFill>
          <a:blip r:embed="rId5"/>
          <a:stretch>
            <a:fillRect/>
          </a:stretch>
        </p:blipFill>
        <p:spPr>
          <a:xfrm>
            <a:off x="548640" y="4416552"/>
            <a:ext cx="256032" cy="256032"/>
          </a:xfrm>
          <a:prstGeom prst="rect">
            <a:avLst/>
          </a:prstGeom>
        </p:spPr>
      </p:pic>
      <p:sp>
        <p:nvSpPr>
          <p:cNvPr id="54" name="Text 49"/>
          <p:cNvSpPr/>
          <p:nvPr/>
        </p:nvSpPr>
        <p:spPr>
          <a:xfrm>
            <a:off x="1005840" y="4114800"/>
            <a:ext cx="1417320" cy="512064"/>
          </a:xfrm>
          <a:prstGeom prst="rect">
            <a:avLst/>
          </a:prstGeom>
          <a:noFill/>
          <a:ln/>
        </p:spPr>
        <p:txBody>
          <a:bodyPr wrap="square" lIns="0" tIns="0" rIns="0" bIns="0" rtlCol="0" anchor="t"/>
          <a:lstStyle/>
          <a:p>
            <a:pPr marL="0" indent="0">
              <a:lnSpc>
                <a:spcPct val="98000"/>
              </a:lnSpc>
              <a:buNone/>
            </a:pPr>
            <a:r>
              <a:rPr lang="en-US" sz="1150" b="1" dirty="0">
                <a:solidFill>
                  <a:srgbClr val="12233D"/>
                </a:solidFill>
                <a:latin typeface="Calibri" pitchFamily="34" charset="0"/>
                <a:ea typeface="Calibri" pitchFamily="34" charset="-122"/>
                <a:cs typeface="Calibri" pitchFamily="34" charset="-120"/>
              </a:rPr>
              <a:t>Doicești — NuScale VOYGR-6 SMR</a:t>
            </a:r>
            <a:endParaRPr lang="en-US" sz="1150" dirty="0"/>
          </a:p>
        </p:txBody>
      </p:sp>
      <p:sp>
        <p:nvSpPr>
          <p:cNvPr id="55" name="Text 50"/>
          <p:cNvSpPr/>
          <p:nvPr/>
        </p:nvSpPr>
        <p:spPr>
          <a:xfrm>
            <a:off x="1005840" y="4626864"/>
            <a:ext cx="1417320" cy="420624"/>
          </a:xfrm>
          <a:prstGeom prst="rect">
            <a:avLst/>
          </a:prstGeom>
          <a:noFill/>
          <a:ln/>
        </p:spPr>
        <p:txBody>
          <a:bodyPr wrap="square" lIns="0" tIns="0" rIns="0" bIns="0" rtlCol="0" anchor="b"/>
          <a:lstStyle/>
          <a:p>
            <a:pPr marL="0" indent="0">
              <a:lnSpc>
                <a:spcPct val="98000"/>
              </a:lnSpc>
              <a:buNone/>
            </a:pPr>
            <a:r>
              <a:rPr lang="en-US" sz="720" i="1" dirty="0">
                <a:solidFill>
                  <a:srgbClr val="5B6B7C"/>
                </a:solidFill>
                <a:latin typeface="Calibri" pitchFamily="34" charset="0"/>
                <a:ea typeface="Calibri" pitchFamily="34" charset="-122"/>
                <a:cs typeface="Calibri" pitchFamily="34" charset="-120"/>
              </a:rPr>
              <a:t>6 × 77 MWe (462 MWe) · RoPower (SNN/Nova) · NuScale · Fluor</a:t>
            </a:r>
            <a:endParaRPr lang="en-US" sz="720" dirty="0"/>
          </a:p>
        </p:txBody>
      </p:sp>
      <p:sp>
        <p:nvSpPr>
          <p:cNvPr id="56" name="Shape 51"/>
          <p:cNvSpPr/>
          <p:nvPr/>
        </p:nvSpPr>
        <p:spPr>
          <a:xfrm>
            <a:off x="2514600" y="4544568"/>
            <a:ext cx="9235440" cy="0"/>
          </a:xfrm>
          <a:prstGeom prst="line">
            <a:avLst/>
          </a:prstGeom>
          <a:noFill/>
          <a:ln w="6350">
            <a:solidFill>
              <a:srgbClr val="E3E9EF"/>
            </a:solidFill>
            <a:prstDash val="dash"/>
          </a:ln>
        </p:spPr>
        <p:txBody>
          <a:bodyPr/>
          <a:lstStyle/>
          <a:p>
            <a:endParaRPr lang="en-GB"/>
          </a:p>
        </p:txBody>
      </p:sp>
      <p:sp>
        <p:nvSpPr>
          <p:cNvPr id="57" name="Shape 52"/>
          <p:cNvSpPr/>
          <p:nvPr/>
        </p:nvSpPr>
        <p:spPr>
          <a:xfrm>
            <a:off x="2514600" y="4425696"/>
            <a:ext cx="83959" cy="237744"/>
          </a:xfrm>
          <a:prstGeom prst="roundRect">
            <a:avLst>
              <a:gd name="adj" fmla="val 54455"/>
            </a:avLst>
          </a:prstGeom>
          <a:solidFill>
            <a:srgbClr val="1E8E5A"/>
          </a:solidFill>
          <a:ln/>
        </p:spPr>
        <p:txBody>
          <a:bodyPr/>
          <a:lstStyle/>
          <a:p>
            <a:endParaRPr lang="en-GB"/>
          </a:p>
        </p:txBody>
      </p:sp>
      <p:sp>
        <p:nvSpPr>
          <p:cNvPr id="58" name="Shape 53"/>
          <p:cNvSpPr/>
          <p:nvPr/>
        </p:nvSpPr>
        <p:spPr>
          <a:xfrm>
            <a:off x="2598559" y="4425696"/>
            <a:ext cx="5793140" cy="237744"/>
          </a:xfrm>
          <a:prstGeom prst="roundRect">
            <a:avLst>
              <a:gd name="adj" fmla="val 19231"/>
            </a:avLst>
          </a:prstGeom>
          <a:solidFill>
            <a:srgbClr val="1E8E5A"/>
          </a:solidFill>
          <a:ln/>
        </p:spPr>
        <p:txBody>
          <a:bodyPr/>
          <a:lstStyle/>
          <a:p>
            <a:endParaRPr lang="en-GB"/>
          </a:p>
        </p:txBody>
      </p:sp>
      <p:sp>
        <p:nvSpPr>
          <p:cNvPr id="59" name="Shape 54"/>
          <p:cNvSpPr/>
          <p:nvPr/>
        </p:nvSpPr>
        <p:spPr>
          <a:xfrm>
            <a:off x="2539123" y="4485132"/>
            <a:ext cx="118872" cy="118872"/>
          </a:xfrm>
          <a:prstGeom prst="diamond">
            <a:avLst/>
          </a:prstGeom>
          <a:solidFill>
            <a:srgbClr val="FFFFFF"/>
          </a:solidFill>
          <a:ln w="21590">
            <a:solidFill>
              <a:srgbClr val="1E8E5A"/>
            </a:solidFill>
            <a:prstDash val="solid"/>
          </a:ln>
        </p:spPr>
        <p:txBody>
          <a:bodyPr/>
          <a:lstStyle/>
          <a:p>
            <a:endParaRPr lang="en-GB"/>
          </a:p>
        </p:txBody>
      </p:sp>
      <p:sp>
        <p:nvSpPr>
          <p:cNvPr id="60" name="Text 55"/>
          <p:cNvSpPr/>
          <p:nvPr/>
        </p:nvSpPr>
        <p:spPr>
          <a:xfrm>
            <a:off x="2651760" y="4114800"/>
            <a:ext cx="2743200" cy="237744"/>
          </a:xfrm>
          <a:prstGeom prst="rect">
            <a:avLst/>
          </a:prstGeom>
          <a:noFill/>
          <a:ln/>
        </p:spPr>
        <p:txBody>
          <a:bodyPr wrap="square" lIns="0" tIns="0" rIns="0" bIns="0" rtlCol="0" anchor="ctr"/>
          <a:lstStyle/>
          <a:p>
            <a:pPr marL="0" indent="0" algn="ctr">
              <a:buNone/>
            </a:pPr>
            <a:r>
              <a:rPr lang="en-US" sz="760" b="1" dirty="0">
                <a:solidFill>
                  <a:srgbClr val="1E8E5A"/>
                </a:solidFill>
                <a:latin typeface="Calibri" pitchFamily="34" charset="0"/>
                <a:ea typeface="Calibri" pitchFamily="34" charset="-122"/>
                <a:cs typeface="Calibri" pitchFamily="34" charset="-120"/>
              </a:rPr>
              <a:t>FID approved by SNN shareholders, Feb-26</a:t>
            </a:r>
            <a:endParaRPr lang="en-US" sz="760" dirty="0"/>
          </a:p>
        </p:txBody>
      </p:sp>
      <p:sp>
        <p:nvSpPr>
          <p:cNvPr id="61" name="Shape 56"/>
          <p:cNvSpPr/>
          <p:nvPr/>
        </p:nvSpPr>
        <p:spPr>
          <a:xfrm>
            <a:off x="8332262" y="4485132"/>
            <a:ext cx="118872" cy="118872"/>
          </a:xfrm>
          <a:prstGeom prst="diamond">
            <a:avLst/>
          </a:prstGeom>
          <a:solidFill>
            <a:srgbClr val="FFFFFF"/>
          </a:solidFill>
          <a:ln w="21590">
            <a:solidFill>
              <a:srgbClr val="1E8E5A"/>
            </a:solidFill>
            <a:prstDash val="solid"/>
          </a:ln>
        </p:spPr>
        <p:txBody>
          <a:bodyPr/>
          <a:lstStyle/>
          <a:p>
            <a:endParaRPr lang="en-GB"/>
          </a:p>
        </p:txBody>
      </p:sp>
      <p:sp>
        <p:nvSpPr>
          <p:cNvPr id="62" name="Text 57"/>
          <p:cNvSpPr/>
          <p:nvPr/>
        </p:nvSpPr>
        <p:spPr>
          <a:xfrm>
            <a:off x="7020098" y="4791456"/>
            <a:ext cx="2743200" cy="237744"/>
          </a:xfrm>
          <a:prstGeom prst="rect">
            <a:avLst/>
          </a:prstGeom>
          <a:noFill/>
          <a:ln/>
        </p:spPr>
        <p:txBody>
          <a:bodyPr wrap="square" lIns="0" tIns="0" rIns="0" bIns="0" rtlCol="0" anchor="ctr"/>
          <a:lstStyle/>
          <a:p>
            <a:pPr marL="0" indent="0" algn="ctr">
              <a:buNone/>
            </a:pPr>
            <a:r>
              <a:rPr lang="en-US" sz="760" b="1" dirty="0">
                <a:solidFill>
                  <a:srgbClr val="1E8E5A"/>
                </a:solidFill>
                <a:latin typeface="Calibri" pitchFamily="34" charset="0"/>
                <a:ea typeface="Calibri" pitchFamily="34" charset="-122"/>
                <a:cs typeface="Calibri" pitchFamily="34" charset="-120"/>
              </a:rPr>
              <a:t>First module commercial operation, 2033</a:t>
            </a:r>
            <a:endParaRPr lang="en-US" sz="760" dirty="0"/>
          </a:p>
        </p:txBody>
      </p:sp>
      <p:sp>
        <p:nvSpPr>
          <p:cNvPr id="63" name="Shape 58"/>
          <p:cNvSpPr/>
          <p:nvPr/>
        </p:nvSpPr>
        <p:spPr>
          <a:xfrm>
            <a:off x="457200" y="5586984"/>
            <a:ext cx="438912" cy="438912"/>
          </a:xfrm>
          <a:prstGeom prst="ellipse">
            <a:avLst/>
          </a:prstGeom>
          <a:solidFill>
            <a:srgbClr val="1B3358"/>
          </a:solidFill>
          <a:ln/>
        </p:spPr>
        <p:txBody>
          <a:bodyPr/>
          <a:lstStyle/>
          <a:p>
            <a:endParaRPr lang="en-GB"/>
          </a:p>
        </p:txBody>
      </p:sp>
      <p:pic>
        <p:nvPicPr>
          <p:cNvPr id="64" name="Image 3" descr="preencoded.png"/>
          <p:cNvPicPr>
            <a:picLocks noChangeAspect="1"/>
          </p:cNvPicPr>
          <p:nvPr/>
        </p:nvPicPr>
        <p:blipFill>
          <a:blip r:embed="rId6"/>
          <a:stretch>
            <a:fillRect/>
          </a:stretch>
        </p:blipFill>
        <p:spPr>
          <a:xfrm>
            <a:off x="548640" y="5678424"/>
            <a:ext cx="256032" cy="256032"/>
          </a:xfrm>
          <a:prstGeom prst="rect">
            <a:avLst/>
          </a:prstGeom>
        </p:spPr>
      </p:pic>
      <p:sp>
        <p:nvSpPr>
          <p:cNvPr id="65" name="Text 59"/>
          <p:cNvSpPr/>
          <p:nvPr/>
        </p:nvSpPr>
        <p:spPr>
          <a:xfrm>
            <a:off x="1005840" y="5376672"/>
            <a:ext cx="1417320" cy="512064"/>
          </a:xfrm>
          <a:prstGeom prst="rect">
            <a:avLst/>
          </a:prstGeom>
          <a:noFill/>
          <a:ln/>
        </p:spPr>
        <p:txBody>
          <a:bodyPr wrap="square" lIns="0" tIns="0" rIns="0" bIns="0" rtlCol="0" anchor="t"/>
          <a:lstStyle/>
          <a:p>
            <a:pPr marL="0" indent="0">
              <a:lnSpc>
                <a:spcPct val="98000"/>
              </a:lnSpc>
              <a:buNone/>
            </a:pPr>
            <a:r>
              <a:rPr lang="en-US" sz="1150" b="1" dirty="0">
                <a:solidFill>
                  <a:srgbClr val="12233D"/>
                </a:solidFill>
                <a:latin typeface="Calibri" pitchFamily="34" charset="0"/>
                <a:ea typeface="Calibri" pitchFamily="34" charset="-122"/>
                <a:cs typeface="Calibri" pitchFamily="34" charset="-120"/>
              </a:rPr>
              <a:t>SNN Strategic Investment Programme</a:t>
            </a:r>
            <a:endParaRPr lang="en-US" sz="1150" dirty="0"/>
          </a:p>
        </p:txBody>
      </p:sp>
      <p:sp>
        <p:nvSpPr>
          <p:cNvPr id="66" name="Text 60"/>
          <p:cNvSpPr/>
          <p:nvPr/>
        </p:nvSpPr>
        <p:spPr>
          <a:xfrm>
            <a:off x="1005840" y="5888736"/>
            <a:ext cx="1417320" cy="420624"/>
          </a:xfrm>
          <a:prstGeom prst="rect">
            <a:avLst/>
          </a:prstGeom>
          <a:noFill/>
          <a:ln/>
        </p:spPr>
        <p:txBody>
          <a:bodyPr wrap="square" lIns="0" tIns="0" rIns="0" bIns="0" rtlCol="0" anchor="b"/>
          <a:lstStyle/>
          <a:p>
            <a:pPr marL="0" indent="0">
              <a:lnSpc>
                <a:spcPct val="98000"/>
              </a:lnSpc>
              <a:buNone/>
            </a:pPr>
            <a:r>
              <a:rPr lang="en-US" sz="720" i="1" dirty="0">
                <a:solidFill>
                  <a:srgbClr val="5B6B7C"/>
                </a:solidFill>
                <a:latin typeface="Calibri" pitchFamily="34" charset="0"/>
                <a:ea typeface="Calibri" pitchFamily="34" charset="-122"/>
                <a:cs typeface="Calibri" pitchFamily="34" charset="-120"/>
              </a:rPr>
              <a:t>€20bn portfolio to 2035 · Nuclearelectrica (SNN) · Romanian Government</a:t>
            </a:r>
            <a:endParaRPr lang="en-US" sz="720" dirty="0"/>
          </a:p>
        </p:txBody>
      </p:sp>
      <p:sp>
        <p:nvSpPr>
          <p:cNvPr id="67" name="Shape 61"/>
          <p:cNvSpPr/>
          <p:nvPr/>
        </p:nvSpPr>
        <p:spPr>
          <a:xfrm>
            <a:off x="2514600" y="5806440"/>
            <a:ext cx="9235440" cy="0"/>
          </a:xfrm>
          <a:prstGeom prst="line">
            <a:avLst/>
          </a:prstGeom>
          <a:noFill/>
          <a:ln w="6350">
            <a:solidFill>
              <a:srgbClr val="E3E9EF"/>
            </a:solidFill>
            <a:prstDash val="dash"/>
          </a:ln>
        </p:spPr>
        <p:txBody>
          <a:bodyPr/>
          <a:lstStyle/>
          <a:p>
            <a:endParaRPr lang="en-GB"/>
          </a:p>
        </p:txBody>
      </p:sp>
      <p:sp>
        <p:nvSpPr>
          <p:cNvPr id="68" name="Shape 62"/>
          <p:cNvSpPr/>
          <p:nvPr/>
        </p:nvSpPr>
        <p:spPr>
          <a:xfrm>
            <a:off x="2514600" y="5687568"/>
            <a:ext cx="9235440" cy="237744"/>
          </a:xfrm>
          <a:prstGeom prst="roundRect">
            <a:avLst>
              <a:gd name="adj" fmla="val 19231"/>
            </a:avLst>
          </a:prstGeom>
          <a:solidFill>
            <a:srgbClr val="6B7785"/>
          </a:solidFill>
          <a:ln/>
        </p:spPr>
        <p:txBody>
          <a:bodyPr/>
          <a:lstStyle/>
          <a:p>
            <a:endParaRPr lang="en-GB"/>
          </a:p>
        </p:txBody>
      </p:sp>
      <p:sp>
        <p:nvSpPr>
          <p:cNvPr id="69" name="Shape 63"/>
          <p:cNvSpPr/>
          <p:nvPr/>
        </p:nvSpPr>
        <p:spPr>
          <a:xfrm>
            <a:off x="2874957" y="5747004"/>
            <a:ext cx="118872" cy="118872"/>
          </a:xfrm>
          <a:prstGeom prst="diamond">
            <a:avLst/>
          </a:prstGeom>
          <a:solidFill>
            <a:srgbClr val="FFFFFF"/>
          </a:solidFill>
          <a:ln w="21590">
            <a:solidFill>
              <a:srgbClr val="6B7785"/>
            </a:solidFill>
            <a:prstDash val="solid"/>
          </a:ln>
        </p:spPr>
        <p:txBody>
          <a:bodyPr/>
          <a:lstStyle/>
          <a:p>
            <a:endParaRPr lang="en-GB"/>
          </a:p>
        </p:txBody>
      </p:sp>
      <p:sp>
        <p:nvSpPr>
          <p:cNvPr id="70" name="Text 64"/>
          <p:cNvSpPr/>
          <p:nvPr/>
        </p:nvSpPr>
        <p:spPr>
          <a:xfrm>
            <a:off x="2651760" y="5376672"/>
            <a:ext cx="2743200" cy="237744"/>
          </a:xfrm>
          <a:prstGeom prst="rect">
            <a:avLst/>
          </a:prstGeom>
          <a:noFill/>
          <a:ln/>
        </p:spPr>
        <p:txBody>
          <a:bodyPr wrap="square" lIns="0" tIns="0" rIns="0" bIns="0" rtlCol="0" anchor="ctr"/>
          <a:lstStyle/>
          <a:p>
            <a:pPr marL="0" indent="0" algn="ctr">
              <a:buNone/>
            </a:pPr>
            <a:r>
              <a:rPr lang="en-US" sz="760" b="1" dirty="0">
                <a:solidFill>
                  <a:srgbClr val="6B7785"/>
                </a:solidFill>
                <a:latin typeface="Calibri" pitchFamily="34" charset="0"/>
                <a:ea typeface="Calibri" pitchFamily="34" charset="-122"/>
                <a:cs typeface="Calibri" pitchFamily="34" charset="-120"/>
              </a:rPr>
              <a:t>2025–2030 strategy approved by shareholders, Sep-25</a:t>
            </a:r>
            <a:endParaRPr lang="en-US" sz="760" dirty="0"/>
          </a:p>
        </p:txBody>
      </p:sp>
      <p:sp>
        <p:nvSpPr>
          <p:cNvPr id="71" name="Shape 65"/>
          <p:cNvSpPr/>
          <p:nvPr/>
        </p:nvSpPr>
        <p:spPr>
          <a:xfrm>
            <a:off x="10011433" y="5747004"/>
            <a:ext cx="118872" cy="118872"/>
          </a:xfrm>
          <a:prstGeom prst="diamond">
            <a:avLst/>
          </a:prstGeom>
          <a:solidFill>
            <a:srgbClr val="FFFFFF"/>
          </a:solidFill>
          <a:ln w="21590">
            <a:solidFill>
              <a:srgbClr val="6B7785"/>
            </a:solidFill>
            <a:prstDash val="solid"/>
          </a:ln>
        </p:spPr>
        <p:txBody>
          <a:bodyPr/>
          <a:lstStyle/>
          <a:p>
            <a:endParaRPr lang="en-GB"/>
          </a:p>
        </p:txBody>
      </p:sp>
      <p:sp>
        <p:nvSpPr>
          <p:cNvPr id="72" name="Text 66"/>
          <p:cNvSpPr/>
          <p:nvPr/>
        </p:nvSpPr>
        <p:spPr>
          <a:xfrm>
            <a:off x="8699269" y="6053328"/>
            <a:ext cx="2743200" cy="237744"/>
          </a:xfrm>
          <a:prstGeom prst="rect">
            <a:avLst/>
          </a:prstGeom>
          <a:noFill/>
          <a:ln/>
        </p:spPr>
        <p:txBody>
          <a:bodyPr wrap="square" lIns="0" tIns="0" rIns="0" bIns="0" rtlCol="0" anchor="ctr"/>
          <a:lstStyle/>
          <a:p>
            <a:pPr marL="0" indent="0" algn="ctr">
              <a:buNone/>
            </a:pPr>
            <a:r>
              <a:rPr lang="en-US" sz="760" b="1" dirty="0">
                <a:solidFill>
                  <a:srgbClr val="6B7785"/>
                </a:solidFill>
                <a:latin typeface="Calibri" pitchFamily="34" charset="0"/>
                <a:ea typeface="Calibri" pitchFamily="34" charset="-122"/>
                <a:cs typeface="Calibri" pitchFamily="34" charset="-120"/>
              </a:rPr>
              <a:t>€20bn investment horizon to 2035</a:t>
            </a:r>
            <a:endParaRPr lang="en-US" sz="760" dirty="0"/>
          </a:p>
        </p:txBody>
      </p:sp>
      <p:sp>
        <p:nvSpPr>
          <p:cNvPr id="73" name="Shape 67"/>
          <p:cNvSpPr/>
          <p:nvPr/>
        </p:nvSpPr>
        <p:spPr>
          <a:xfrm>
            <a:off x="2514600" y="1426464"/>
            <a:ext cx="0" cy="4974336"/>
          </a:xfrm>
          <a:prstGeom prst="line">
            <a:avLst/>
          </a:prstGeom>
          <a:noFill/>
          <a:ln w="12700">
            <a:solidFill>
              <a:srgbClr val="C7D2DC"/>
            </a:solidFill>
            <a:prstDash val="solid"/>
          </a:ln>
        </p:spPr>
        <p:txBody>
          <a:bodyPr/>
          <a:lstStyle/>
          <a:p>
            <a:endParaRPr lang="en-GB"/>
          </a:p>
        </p:txBody>
      </p:sp>
      <p:sp>
        <p:nvSpPr>
          <p:cNvPr id="74" name="Shape 68"/>
          <p:cNvSpPr/>
          <p:nvPr/>
        </p:nvSpPr>
        <p:spPr>
          <a:xfrm>
            <a:off x="2934393" y="1280160"/>
            <a:ext cx="0" cy="5120640"/>
          </a:xfrm>
          <a:prstGeom prst="line">
            <a:avLst/>
          </a:prstGeom>
          <a:noFill/>
          <a:ln w="15875">
            <a:solidFill>
              <a:srgbClr val="12233D"/>
            </a:solidFill>
            <a:prstDash val="lgDash"/>
          </a:ln>
        </p:spPr>
        <p:txBody>
          <a:bodyPr/>
          <a:lstStyle/>
          <a:p>
            <a:endParaRPr lang="en-GB"/>
          </a:p>
        </p:txBody>
      </p:sp>
      <p:sp>
        <p:nvSpPr>
          <p:cNvPr id="75" name="Shape 69"/>
          <p:cNvSpPr/>
          <p:nvPr/>
        </p:nvSpPr>
        <p:spPr>
          <a:xfrm>
            <a:off x="2897817" y="1234440"/>
            <a:ext cx="73152" cy="73152"/>
          </a:xfrm>
          <a:prstGeom prst="ellipse">
            <a:avLst/>
          </a:prstGeom>
          <a:solidFill>
            <a:srgbClr val="12233D"/>
          </a:solidFill>
          <a:ln/>
        </p:spPr>
        <p:txBody>
          <a:bodyPr/>
          <a:lstStyle/>
          <a:p>
            <a:endParaRPr lang="en-GB"/>
          </a:p>
        </p:txBody>
      </p:sp>
      <p:sp>
        <p:nvSpPr>
          <p:cNvPr id="76" name="Text 70"/>
          <p:cNvSpPr/>
          <p:nvPr/>
        </p:nvSpPr>
        <p:spPr>
          <a:xfrm>
            <a:off x="2568633" y="1060704"/>
            <a:ext cx="731520" cy="182880"/>
          </a:xfrm>
          <a:prstGeom prst="rect">
            <a:avLst/>
          </a:prstGeom>
          <a:noFill/>
          <a:ln/>
        </p:spPr>
        <p:txBody>
          <a:bodyPr wrap="square" lIns="0" tIns="0" rIns="0" bIns="0" rtlCol="0" anchor="ctr"/>
          <a:lstStyle/>
          <a:p>
            <a:pPr marL="0" indent="0" algn="ctr">
              <a:buNone/>
            </a:pPr>
            <a:r>
              <a:rPr lang="en-US" sz="800" b="1" kern="0" spc="50" dirty="0">
                <a:solidFill>
                  <a:srgbClr val="12233D"/>
                </a:solidFill>
                <a:latin typeface="Calibri" pitchFamily="34" charset="0"/>
                <a:ea typeface="Calibri" pitchFamily="34" charset="-122"/>
                <a:cs typeface="Calibri" pitchFamily="34" charset="-120"/>
              </a:rPr>
              <a:t>TODAY</a:t>
            </a:r>
            <a:endParaRPr lang="en-US" sz="800" dirty="0"/>
          </a:p>
        </p:txBody>
      </p:sp>
      <p:sp>
        <p:nvSpPr>
          <p:cNvPr id="77" name="Text 71"/>
          <p:cNvSpPr/>
          <p:nvPr/>
        </p:nvSpPr>
        <p:spPr>
          <a:xfrm>
            <a:off x="457200" y="6620256"/>
            <a:ext cx="11247120" cy="182880"/>
          </a:xfrm>
          <a:prstGeom prst="rect">
            <a:avLst/>
          </a:prstGeom>
          <a:noFill/>
          <a:ln/>
        </p:spPr>
        <p:txBody>
          <a:bodyPr wrap="square" lIns="0" tIns="0" rIns="0" bIns="0" rtlCol="0" anchor="ctr"/>
          <a:lstStyle/>
          <a:p>
            <a:pPr marL="0" indent="0">
              <a:buNone/>
            </a:pPr>
            <a:r>
              <a:rPr lang="en-US" sz="730" i="1" dirty="0">
                <a:solidFill>
                  <a:srgbClr val="9AA7B3"/>
                </a:solidFill>
                <a:latin typeface="Calibri" pitchFamily="34" charset="0"/>
                <a:ea typeface="Calibri" pitchFamily="34" charset="-122"/>
                <a:cs typeface="Calibri" pitchFamily="34" charset="-120"/>
              </a:rPr>
              <a:t>Source: Nuclearelectrica (SNN), World Nuclear Association, World Nuclear News, NucNet announcements, 23 June 2026. Cernavodă 3&amp;4 construction FID is pending agreement of commercial terms; bar lengths illustrative.</a:t>
            </a:r>
            <a:endParaRPr lang="en-US" sz="73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319</TotalTime>
  <Words>11490</Words>
  <Application>Microsoft Macintosh PowerPoint</Application>
  <PresentationFormat>Widescreen</PresentationFormat>
  <Paragraphs>871</Paragraphs>
  <Slides>31</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Aptos</vt:lpstr>
      <vt:lpstr>Aptos Narrow</vt:lpstr>
      <vt:lpstr>Arial</vt:lpstr>
      <vt:lpstr>Calibri</vt:lpstr>
      <vt:lpstr>Cambria</vt:lpstr>
      <vt:lpstr>Noto Sans Symbols</vt:lpstr>
      <vt:lpstr>Wingdings</vt:lpstr>
      <vt:lpstr>Office Theme</vt:lpstr>
      <vt:lpstr>Nuclear Technology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Country</vt:lpstr>
      <vt:lpstr>Country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Stephen Kinsey</dc:creator>
  <cp:lastModifiedBy>Stephen Kinsey</cp:lastModifiedBy>
  <cp:revision>127</cp:revision>
  <cp:lastPrinted>2026-05-18T13:55:26Z</cp:lastPrinted>
  <dcterms:created xsi:type="dcterms:W3CDTF">2024-10-18T06:54:39Z</dcterms:created>
  <dcterms:modified xsi:type="dcterms:W3CDTF">2026-07-07T08:56:23Z</dcterms:modified>
</cp:coreProperties>
</file>