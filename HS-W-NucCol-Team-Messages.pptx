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1"/>
  </p:notesMasterIdLst>
  <p:handoutMasterIdLst>
    <p:handoutMasterId r:id="rId22"/>
  </p:handoutMasterIdLst>
  <p:sldIdLst>
    <p:sldId id="301" r:id="rId5"/>
    <p:sldId id="302" r:id="rId6"/>
    <p:sldId id="308" r:id="rId7"/>
    <p:sldId id="307" r:id="rId8"/>
    <p:sldId id="306" r:id="rId9"/>
    <p:sldId id="305" r:id="rId10"/>
    <p:sldId id="304" r:id="rId11"/>
    <p:sldId id="303" r:id="rId12"/>
    <p:sldId id="298" r:id="rId13"/>
    <p:sldId id="297" r:id="rId14"/>
    <p:sldId id="282" r:id="rId15"/>
    <p:sldId id="296" r:id="rId16"/>
    <p:sldId id="284" r:id="rId17"/>
    <p:sldId id="295" r:id="rId18"/>
    <p:sldId id="277" r:id="rId19"/>
    <p:sldId id="294" r:id="rId20"/>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IzSj9v9Zg7HycS1yUAK+arWnT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402201-6E4D-5749-B338-D3DA1F7DA773}" v="1" dt="2026-07-09T13:06:07.659"/>
  </p1510:revLst>
</p1510:revInfo>
</file>

<file path=ppt/tableStyles.xml><?xml version="1.0" encoding="utf-8"?>
<a:tblStyleLst xmlns:a="http://schemas.openxmlformats.org/drawingml/2006/main" def="{5C558C84-FB85-4BFC-92E3-EB67CE1C6814}">
  <a:tblStyle styleId="{5C558C84-FB85-4BFC-92E3-EB67CE1C6814}"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FF7"/>
          </a:solidFill>
        </a:fill>
      </a:tcStyle>
    </a:wholeTbl>
    <a:band1H>
      <a:tcTxStyle/>
      <a:tcStyle>
        <a:tcBdr/>
        <a:fill>
          <a:solidFill>
            <a:srgbClr val="CADEEF"/>
          </a:solidFill>
        </a:fill>
      </a:tcStyle>
    </a:band1H>
    <a:band2H>
      <a:tcTxStyle/>
      <a:tcStyle>
        <a:tcBdr/>
      </a:tcStyle>
    </a:band2H>
    <a:band1V>
      <a:tcTxStyle/>
      <a:tcStyle>
        <a:tcBdr/>
        <a:fill>
          <a:solidFill>
            <a:srgbClr val="CADEEF"/>
          </a:solidFill>
        </a:fill>
      </a:tcStyle>
    </a:band1V>
    <a:band2V>
      <a:tcTxStyle/>
      <a:tcStyle>
        <a:tcBdr/>
      </a:tcStyle>
    </a:band2V>
    <a:lastCol>
      <a:tcTxStyle b="on" i="off">
        <a:font>
          <a:latin typeface="Aptos"/>
          <a:ea typeface="Aptos"/>
          <a:cs typeface="Aptos"/>
        </a:font>
        <a:schemeClr val="lt1"/>
      </a:tcTxStyle>
      <a:tcStyle>
        <a:tcBdr/>
        <a:fill>
          <a:solidFill>
            <a:schemeClr val="accent4"/>
          </a:solidFill>
        </a:fill>
      </a:tcStyle>
    </a:lastCol>
    <a:firstCol>
      <a:tcTxStyle b="on" i="off">
        <a:font>
          <a:latin typeface="Aptos"/>
          <a:ea typeface="Aptos"/>
          <a:cs typeface="Aptos"/>
        </a:font>
        <a:schemeClr val="lt1"/>
      </a:tcTxStyle>
      <a:tcStyle>
        <a:tcBdr/>
        <a:fill>
          <a:solidFill>
            <a:schemeClr val="accent4"/>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82"/>
    <p:restoredTop sz="88904"/>
  </p:normalViewPr>
  <p:slideViewPr>
    <p:cSldViewPr snapToGrid="0">
      <p:cViewPr varScale="1">
        <p:scale>
          <a:sx n="108" d="100"/>
          <a:sy n="108" d="100"/>
        </p:scale>
        <p:origin x="51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customschemas.google.com/relationships/presentationmetadata" Target="metadata"/><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Kinsey" userId="9038b077-fc0e-493d-8ee5-bdcb8ce19489" providerId="ADAL" clId="{EE45DD0B-DE8A-5E34-8197-3BA01FBADC0F}"/>
    <pc:docChg chg="undo custSel addSld delSld modSld">
      <pc:chgData name="Stephen Kinsey" userId="9038b077-fc0e-493d-8ee5-bdcb8ce19489" providerId="ADAL" clId="{EE45DD0B-DE8A-5E34-8197-3BA01FBADC0F}" dt="2026-07-10T09:49:59.104" v="1244" actId="1035"/>
      <pc:docMkLst>
        <pc:docMk/>
      </pc:docMkLst>
      <pc:sldChg chg="modSp mod">
        <pc:chgData name="Stephen Kinsey" userId="9038b077-fc0e-493d-8ee5-bdcb8ce19489" providerId="ADAL" clId="{EE45DD0B-DE8A-5E34-8197-3BA01FBADC0F}" dt="2026-07-06T07:26:41.640" v="872" actId="108"/>
        <pc:sldMkLst>
          <pc:docMk/>
          <pc:sldMk cId="2342113780" sldId="302"/>
        </pc:sldMkLst>
        <pc:spChg chg="mod">
          <ac:chgData name="Stephen Kinsey" userId="9038b077-fc0e-493d-8ee5-bdcb8ce19489" providerId="ADAL" clId="{EE45DD0B-DE8A-5E34-8197-3BA01FBADC0F}" dt="2026-07-06T07:26:41.640" v="872" actId="108"/>
          <ac:spMkLst>
            <pc:docMk/>
            <pc:sldMk cId="2342113780" sldId="302"/>
            <ac:spMk id="3" creationId="{3F3D6B90-0968-541B-4879-8AE26D3E2CDF}"/>
          </ac:spMkLst>
        </pc:spChg>
      </pc:sldChg>
      <pc:sldChg chg="addSp delSp modSp add mod modNotesTx">
        <pc:chgData name="Stephen Kinsey" userId="9038b077-fc0e-493d-8ee5-bdcb8ce19489" providerId="ADAL" clId="{EE45DD0B-DE8A-5E34-8197-3BA01FBADC0F}" dt="2026-07-10T09:49:59.104" v="1244" actId="1035"/>
        <pc:sldMkLst>
          <pc:docMk/>
          <pc:sldMk cId="112836422" sldId="308"/>
        </pc:sldMkLst>
        <pc:spChg chg="mod">
          <ac:chgData name="Stephen Kinsey" userId="9038b077-fc0e-493d-8ee5-bdcb8ce19489" providerId="ADAL" clId="{EE45DD0B-DE8A-5E34-8197-3BA01FBADC0F}" dt="2026-07-09T13:08:56.832" v="1231" actId="1076"/>
          <ac:spMkLst>
            <pc:docMk/>
            <pc:sldMk cId="112836422" sldId="308"/>
            <ac:spMk id="3" creationId="{2C43887A-2CC2-24F7-F6DA-C391168D5D8C}"/>
          </ac:spMkLst>
        </pc:spChg>
        <pc:spChg chg="add mod">
          <ac:chgData name="Stephen Kinsey" userId="9038b077-fc0e-493d-8ee5-bdcb8ce19489" providerId="ADAL" clId="{EE45DD0B-DE8A-5E34-8197-3BA01FBADC0F}" dt="2026-07-09T13:09:16.567" v="1236" actId="108"/>
          <ac:spMkLst>
            <pc:docMk/>
            <pc:sldMk cId="112836422" sldId="308"/>
            <ac:spMk id="4" creationId="{38AF1D70-911F-0302-412B-A6B835773DE5}"/>
          </ac:spMkLst>
        </pc:spChg>
        <pc:spChg chg="mod">
          <ac:chgData name="Stephen Kinsey" userId="9038b077-fc0e-493d-8ee5-bdcb8ce19489" providerId="ADAL" clId="{EE45DD0B-DE8A-5E34-8197-3BA01FBADC0F}" dt="2026-07-09T13:08:49.366" v="1230" actId="2711"/>
          <ac:spMkLst>
            <pc:docMk/>
            <pc:sldMk cId="112836422" sldId="308"/>
            <ac:spMk id="5" creationId="{4399E7DA-9F47-1AEE-6609-86CAEEEFCC0F}"/>
          </ac:spMkLst>
        </pc:spChg>
        <pc:spChg chg="add mod">
          <ac:chgData name="Stephen Kinsey" userId="9038b077-fc0e-493d-8ee5-bdcb8ce19489" providerId="ADAL" clId="{EE45DD0B-DE8A-5E34-8197-3BA01FBADC0F}" dt="2026-07-09T13:09:19.464" v="1237" actId="108"/>
          <ac:spMkLst>
            <pc:docMk/>
            <pc:sldMk cId="112836422" sldId="308"/>
            <ac:spMk id="8" creationId="{AFDDA6C1-8002-F4CF-4654-7AC73F4CDCB6}"/>
          </ac:spMkLst>
        </pc:spChg>
        <pc:spChg chg="add mod">
          <ac:chgData name="Stephen Kinsey" userId="9038b077-fc0e-493d-8ee5-bdcb8ce19489" providerId="ADAL" clId="{EE45DD0B-DE8A-5E34-8197-3BA01FBADC0F}" dt="2026-07-09T13:09:40.139" v="1239" actId="1076"/>
          <ac:spMkLst>
            <pc:docMk/>
            <pc:sldMk cId="112836422" sldId="308"/>
            <ac:spMk id="13" creationId="{4C751BC7-E548-7405-F440-809B18FFBBFF}"/>
          </ac:spMkLst>
        </pc:spChg>
        <pc:spChg chg="mod">
          <ac:chgData name="Stephen Kinsey" userId="9038b077-fc0e-493d-8ee5-bdcb8ce19489" providerId="ADAL" clId="{EE45DD0B-DE8A-5E34-8197-3BA01FBADC0F}" dt="2026-07-10T09:49:50.459" v="1241" actId="403"/>
          <ac:spMkLst>
            <pc:docMk/>
            <pc:sldMk cId="112836422" sldId="308"/>
            <ac:spMk id="14" creationId="{3DEA6027-2142-9711-40D6-8CECE120CC97}"/>
          </ac:spMkLst>
        </pc:spChg>
        <pc:spChg chg="mod">
          <ac:chgData name="Stephen Kinsey" userId="9038b077-fc0e-493d-8ee5-bdcb8ce19489" providerId="ADAL" clId="{EE45DD0B-DE8A-5E34-8197-3BA01FBADC0F}" dt="2026-07-10T09:49:59.104" v="1244" actId="1035"/>
          <ac:spMkLst>
            <pc:docMk/>
            <pc:sldMk cId="112836422" sldId="308"/>
            <ac:spMk id="15" creationId="{22ACA59F-03BC-8684-0CDA-2C67DC17BF6F}"/>
          </ac:spMkLst>
        </pc:spChg>
        <pc:spChg chg="add mod">
          <ac:chgData name="Stephen Kinsey" userId="9038b077-fc0e-493d-8ee5-bdcb8ce19489" providerId="ADAL" clId="{EE45DD0B-DE8A-5E34-8197-3BA01FBADC0F}" dt="2026-07-09T13:09:32.852" v="1238" actId="1076"/>
          <ac:spMkLst>
            <pc:docMk/>
            <pc:sldMk cId="112836422" sldId="308"/>
            <ac:spMk id="17" creationId="{38B610EE-5B84-44C9-25C1-9325673B949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1D978F-EB81-2CA7-4E9A-31B676878EBE}"/>
              </a:ext>
            </a:extLst>
          </p:cNvPr>
          <p:cNvSpPr>
            <a:spLocks noGrp="1"/>
          </p:cNvSpPr>
          <p:nvPr>
            <p:ph type="hdr" sz="quarter"/>
          </p:nvPr>
        </p:nvSpPr>
        <p:spPr>
          <a:xfrm>
            <a:off x="0" y="2"/>
            <a:ext cx="3169648" cy="48102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0426031-D51A-C72A-7715-E6B1E21139E9}"/>
              </a:ext>
            </a:extLst>
          </p:cNvPr>
          <p:cNvSpPr>
            <a:spLocks noGrp="1"/>
          </p:cNvSpPr>
          <p:nvPr>
            <p:ph type="dt" sz="quarter" idx="1"/>
          </p:nvPr>
        </p:nvSpPr>
        <p:spPr>
          <a:xfrm>
            <a:off x="4143919" y="2"/>
            <a:ext cx="3169647" cy="481028"/>
          </a:xfrm>
          <a:prstGeom prst="rect">
            <a:avLst/>
          </a:prstGeom>
        </p:spPr>
        <p:txBody>
          <a:bodyPr vert="horz" lIns="91440" tIns="45720" rIns="91440" bIns="45720" rtlCol="0"/>
          <a:lstStyle>
            <a:lvl1pPr algn="r">
              <a:defRPr sz="1200"/>
            </a:lvl1pPr>
          </a:lstStyle>
          <a:p>
            <a:fld id="{1DAE3F9E-470A-4A83-B868-7E983CC4AA7C}" type="datetimeFigureOut">
              <a:rPr lang="en-GB" smtClean="0"/>
              <a:t>10/07/2026</a:t>
            </a:fld>
            <a:endParaRPr lang="en-GB"/>
          </a:p>
        </p:txBody>
      </p:sp>
      <p:sp>
        <p:nvSpPr>
          <p:cNvPr id="4" name="Footer Placeholder 3">
            <a:extLst>
              <a:ext uri="{FF2B5EF4-FFF2-40B4-BE49-F238E27FC236}">
                <a16:creationId xmlns:a16="http://schemas.microsoft.com/office/drawing/2014/main" id="{0B1F2ED4-AFB2-821F-323D-85F8C5E51122}"/>
              </a:ext>
            </a:extLst>
          </p:cNvPr>
          <p:cNvSpPr>
            <a:spLocks noGrp="1"/>
          </p:cNvSpPr>
          <p:nvPr>
            <p:ph type="ftr" sz="quarter" idx="2"/>
          </p:nvPr>
        </p:nvSpPr>
        <p:spPr>
          <a:xfrm>
            <a:off x="0" y="9120172"/>
            <a:ext cx="3169648" cy="48102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5B3C021-C35F-284A-7DB4-92CCC9719BB0}"/>
              </a:ext>
            </a:extLst>
          </p:cNvPr>
          <p:cNvSpPr>
            <a:spLocks noGrp="1"/>
          </p:cNvSpPr>
          <p:nvPr>
            <p:ph type="sldNum" sz="quarter" idx="3"/>
          </p:nvPr>
        </p:nvSpPr>
        <p:spPr>
          <a:xfrm>
            <a:off x="4143919" y="9120172"/>
            <a:ext cx="3169647" cy="481028"/>
          </a:xfrm>
          <a:prstGeom prst="rect">
            <a:avLst/>
          </a:prstGeom>
        </p:spPr>
        <p:txBody>
          <a:bodyPr vert="horz" lIns="91440" tIns="45720" rIns="91440" bIns="45720" rtlCol="0" anchor="b"/>
          <a:lstStyle>
            <a:lvl1pPr algn="r">
              <a:defRPr sz="1200"/>
            </a:lvl1pPr>
          </a:lstStyle>
          <a:p>
            <a:fld id="{C33E94EE-9D0B-499C-BC46-2CFA19521421}" type="slidenum">
              <a:rPr lang="en-GB" smtClean="0"/>
              <a:t>‹#›</a:t>
            </a:fld>
            <a:endParaRPr lang="en-GB"/>
          </a:p>
        </p:txBody>
      </p:sp>
    </p:spTree>
    <p:extLst>
      <p:ext uri="{BB962C8B-B14F-4D97-AF65-F5344CB8AC3E}">
        <p14:creationId xmlns:p14="http://schemas.microsoft.com/office/powerpoint/2010/main" val="21410797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169921" cy="481727"/>
          </a:xfrm>
          <a:prstGeom prst="rect">
            <a:avLst/>
          </a:prstGeom>
          <a:noFill/>
          <a:ln>
            <a:noFill/>
          </a:ln>
        </p:spPr>
        <p:txBody>
          <a:bodyPr spcFirstLastPara="1" wrap="square" lIns="98075" tIns="49025" rIns="98075" bIns="49025"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587" y="0"/>
            <a:ext cx="3169921" cy="481727"/>
          </a:xfrm>
          <a:prstGeom prst="rect">
            <a:avLst/>
          </a:prstGeom>
          <a:noFill/>
          <a:ln>
            <a:noFill/>
          </a:ln>
        </p:spPr>
        <p:txBody>
          <a:bodyPr spcFirstLastPara="1" wrap="square" lIns="98075" tIns="49025" rIns="98075" bIns="49025"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31521" y="4620579"/>
            <a:ext cx="5852160" cy="3780473"/>
          </a:xfrm>
          <a:prstGeom prst="rect">
            <a:avLst/>
          </a:prstGeom>
          <a:noFill/>
          <a:ln>
            <a:noFill/>
          </a:ln>
        </p:spPr>
        <p:txBody>
          <a:bodyPr spcFirstLastPara="1" wrap="square" lIns="98075" tIns="49025" rIns="98075" bIns="490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1" y="9119475"/>
            <a:ext cx="3169921" cy="481726"/>
          </a:xfrm>
          <a:prstGeom prst="rect">
            <a:avLst/>
          </a:prstGeom>
          <a:noFill/>
          <a:ln>
            <a:noFill/>
          </a:ln>
        </p:spPr>
        <p:txBody>
          <a:bodyPr spcFirstLastPara="1" wrap="square" lIns="98075" tIns="49025" rIns="98075" bIns="49025"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587" y="9119475"/>
            <a:ext cx="3169921" cy="481726"/>
          </a:xfrm>
          <a:prstGeom prst="rect">
            <a:avLst/>
          </a:prstGeom>
          <a:noFill/>
          <a:ln>
            <a:noFill/>
          </a:ln>
        </p:spPr>
        <p:txBody>
          <a:bodyPr spcFirstLastPara="1" wrap="square" lIns="98075" tIns="49025" rIns="98075" bIns="49025"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D09E9-B75F-BBFF-0E27-E82AB8562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5E7AD-6E98-7F47-62E7-D05994ED9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96280-BCE6-9EB9-CADC-6E32CC3759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9C3B25-D3F8-A854-C8D0-97751D2EA5B7}"/>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3</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0843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84DE2-2E30-1B98-6FEC-D567646C0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4F3DC-8EB1-9714-61FB-9148F96C48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827AC-06C7-B490-8061-9032A8DCE091}"/>
              </a:ext>
            </a:extLst>
          </p:cNvPr>
          <p:cNvSpPr>
            <a:spLocks noGrp="1"/>
          </p:cNvSpPr>
          <p:nvPr>
            <p:ph type="body" idx="1"/>
          </p:nvPr>
        </p:nvSpPr>
        <p:spPr/>
        <p:txBody>
          <a:bodyPr/>
          <a:lstStyle/>
          <a:p>
            <a:pPr lvl="0"/>
            <a:r>
              <a:rPr lang="en-GB" sz="1200" b="0" i="0" u="none" strike="noStrike" cap="none" dirty="0">
                <a:solidFill>
                  <a:schemeClr val="dk1"/>
                </a:solidFill>
                <a:effectLst/>
                <a:latin typeface="Arial"/>
                <a:ea typeface="Arial"/>
                <a:cs typeface="Arial"/>
                <a:sym typeface="Arial"/>
              </a:rPr>
              <a:t>Seasonal gardening activities (cutting, mowing, planting, fence maintenance)</a:t>
            </a:r>
          </a:p>
          <a:p>
            <a:pPr lvl="0"/>
            <a:r>
              <a:rPr lang="en-GB" sz="1200" b="0" i="0" u="none" strike="noStrike" cap="none" dirty="0">
                <a:solidFill>
                  <a:schemeClr val="dk1"/>
                </a:solidFill>
                <a:effectLst/>
                <a:latin typeface="Arial"/>
                <a:ea typeface="Arial"/>
                <a:cs typeface="Arial"/>
                <a:sym typeface="Arial"/>
              </a:rPr>
              <a:t>Safe ladder use and avoiding improvised platforms</a:t>
            </a:r>
          </a:p>
          <a:p>
            <a:pPr lvl="0"/>
            <a:r>
              <a:rPr lang="en-GB" sz="1200" b="0" i="0" u="none" strike="noStrike" cap="none" dirty="0">
                <a:solidFill>
                  <a:schemeClr val="dk1"/>
                </a:solidFill>
                <a:effectLst/>
                <a:latin typeface="Arial"/>
                <a:ea typeface="Arial"/>
                <a:cs typeface="Arial"/>
                <a:sym typeface="Arial"/>
              </a:rPr>
              <a:t>Heat, hydration and sun protection as summer approaches</a:t>
            </a:r>
          </a:p>
          <a:p>
            <a:pPr lvl="0"/>
            <a:r>
              <a:rPr lang="en-GB" sz="1200" b="0" i="0" u="none" strike="noStrike" cap="none" dirty="0">
                <a:solidFill>
                  <a:schemeClr val="dk1"/>
                </a:solidFill>
                <a:effectLst/>
                <a:latin typeface="Arial"/>
                <a:ea typeface="Arial"/>
                <a:cs typeface="Arial"/>
                <a:sym typeface="Arial"/>
              </a:rPr>
              <a:t>Encouraging us all apply workplace safety thinking at home as well</a:t>
            </a:r>
          </a:p>
          <a:p>
            <a:endParaRPr lang="en-US" dirty="0"/>
          </a:p>
        </p:txBody>
      </p:sp>
      <p:sp>
        <p:nvSpPr>
          <p:cNvPr id="4" name="Slide Number Placeholder 3">
            <a:extLst>
              <a:ext uri="{FF2B5EF4-FFF2-40B4-BE49-F238E27FC236}">
                <a16:creationId xmlns:a16="http://schemas.microsoft.com/office/drawing/2014/main" id="{FB8B76D4-14E3-82BA-A4C3-E57395B1619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4</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65435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cap="none" dirty="0">
                <a:solidFill>
                  <a:schemeClr val="dk1"/>
                </a:solidFill>
                <a:effectLst/>
                <a:latin typeface="Arial"/>
                <a:ea typeface="Arial"/>
                <a:cs typeface="Arial"/>
                <a:sym typeface="Arial"/>
              </a:rPr>
              <a:t>Nuccol supports employees stopping or rearranging journeys where fatigue or conditions make travel unsafe</a:t>
            </a:r>
          </a:p>
          <a:p>
            <a:r>
              <a:rPr lang="en-GB" sz="1200" b="0" i="0" u="none" strike="noStrike" cap="none" dirty="0">
                <a:solidFill>
                  <a:schemeClr val="dk1"/>
                </a:solidFill>
                <a:effectLst/>
                <a:latin typeface="Arial"/>
                <a:ea typeface="Arial"/>
                <a:cs typeface="Arial"/>
                <a:sym typeface="Arial"/>
              </a:rPr>
              <a:t>Encourage teams to challenge unrealistic travel expectations</a:t>
            </a:r>
          </a:p>
          <a:p>
            <a:r>
              <a:rPr lang="en-GB" sz="1200" b="0" i="0" u="none" strike="noStrike" cap="none" dirty="0">
                <a:solidFill>
                  <a:schemeClr val="dk1"/>
                </a:solidFill>
                <a:effectLst/>
                <a:latin typeface="Arial"/>
                <a:ea typeface="Arial"/>
                <a:cs typeface="Arial"/>
                <a:sym typeface="Arial"/>
              </a:rPr>
              <a:t>Remind staff that driving safely is part of our professional responsibility when travelling for work</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5</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6888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5DCD-8D05-B97C-CD68-DD4922106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B4E50-F5DF-573A-0503-4F563EC8B1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410BE5-7CD4-2CBA-8B19-652C4B3A54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81100E-15E3-6236-B84B-CCFC804AB47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8</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71917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6A12A-B9B3-FF58-F071-639057B3E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19876-3EDA-3D95-A394-8B81661867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F21A06-17B9-891D-257D-A351CEBB1EE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798289-F1DC-38EF-4359-3A8B0156BEE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9</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9561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10</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29079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12</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2293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13</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2293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Arial"/>
                <a:ea typeface="Arial"/>
                <a:cs typeface="Arial"/>
                <a:sym typeface="Arial"/>
              </a:rPr>
              <a:t>16</a:t>
            </a:fld>
            <a:endParaRPr lang="en-GB"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7170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pic>
        <p:nvPicPr>
          <p:cNvPr id="17" name="Google Shape;17;p16" descr="A blue and purple logo"/>
          <p:cNvPicPr preferRelativeResize="0"/>
          <p:nvPr/>
        </p:nvPicPr>
        <p:blipFill rotWithShape="1">
          <a:blip r:embed="rId2">
            <a:alphaModFix/>
          </a:blip>
          <a:srcRect/>
          <a:stretch/>
        </p:blipFill>
        <p:spPr>
          <a:xfrm>
            <a:off x="4667250" y="940477"/>
            <a:ext cx="2857500" cy="3128286"/>
          </a:xfrm>
          <a:prstGeom prst="rect">
            <a:avLst/>
          </a:prstGeom>
          <a:noFill/>
          <a:ln>
            <a:noFill/>
          </a:ln>
        </p:spPr>
      </p:pic>
      <p:sp>
        <p:nvSpPr>
          <p:cNvPr id="18" name="Google Shape;18;p16"/>
          <p:cNvSpPr txBox="1">
            <a:spLocks noGrp="1"/>
          </p:cNvSpPr>
          <p:nvPr>
            <p:ph type="subTitle" idx="1"/>
          </p:nvPr>
        </p:nvSpPr>
        <p:spPr>
          <a:xfrm>
            <a:off x="1524000" y="4068763"/>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3200"/>
              <a:buNone/>
              <a:defRPr sz="3200" b="1">
                <a:solidFill>
                  <a:srgbClr val="6C2383"/>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22" name="Google Shape;22;p16"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32" name="Google Shape;32;p17"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6C2383"/>
              </a:buClr>
              <a:buSzPts val="4400"/>
              <a:buFont typeface="Calibri"/>
              <a:buNone/>
              <a:defRPr sz="4400" b="1">
                <a:solidFill>
                  <a:srgbClr val="6C238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757575"/>
                </a:solidFill>
              </a:defRPr>
            </a:lvl1pPr>
            <a:lvl2pPr marL="914400" lvl="1" indent="-228600" algn="l">
              <a:lnSpc>
                <a:spcPct val="90000"/>
              </a:lnSpc>
              <a:spcBef>
                <a:spcPts val="500"/>
              </a:spcBef>
              <a:spcAft>
                <a:spcPts val="0"/>
              </a:spcAft>
              <a:buSzPts val="2000"/>
              <a:buNone/>
              <a:defRPr sz="2000">
                <a:solidFill>
                  <a:srgbClr val="757575"/>
                </a:solidFill>
              </a:defRPr>
            </a:lvl2pPr>
            <a:lvl3pPr marL="1371600" lvl="2" indent="-228600" algn="l">
              <a:lnSpc>
                <a:spcPct val="90000"/>
              </a:lnSpc>
              <a:spcBef>
                <a:spcPts val="500"/>
              </a:spcBef>
              <a:spcAft>
                <a:spcPts val="0"/>
              </a:spcAft>
              <a:buSzPts val="1800"/>
              <a:buNone/>
              <a:defRPr sz="1800">
                <a:solidFill>
                  <a:srgbClr val="757575"/>
                </a:solidFill>
              </a:defRPr>
            </a:lvl3pPr>
            <a:lvl4pPr marL="1828800" lvl="3" indent="-228600" algn="l">
              <a:lnSpc>
                <a:spcPct val="90000"/>
              </a:lnSpc>
              <a:spcBef>
                <a:spcPts val="500"/>
              </a:spcBef>
              <a:spcAft>
                <a:spcPts val="0"/>
              </a:spcAft>
              <a:buSzPts val="1600"/>
              <a:buNone/>
              <a:defRPr sz="1600">
                <a:solidFill>
                  <a:srgbClr val="757575"/>
                </a:solidFill>
              </a:defRPr>
            </a:lvl4pPr>
            <a:lvl5pPr marL="2286000" lvl="4" indent="-228600" algn="l">
              <a:lnSpc>
                <a:spcPct val="90000"/>
              </a:lnSpc>
              <a:spcBef>
                <a:spcPts val="500"/>
              </a:spcBef>
              <a:spcAft>
                <a:spcPts val="0"/>
              </a:spcAft>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2" name="Google Shape;4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45" name="Google Shape;45;p19"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sz="4400" b="1">
                <a:solidFill>
                  <a:srgbClr val="6C238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3" name="Google Shape;53;p20"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sz="4400" b="1">
                <a:solidFill>
                  <a:srgbClr val="6C238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solidFill>
                  <a:srgbClr val="6C2383"/>
                </a:solidFill>
              </a:defRPr>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SzPts val="2400"/>
              <a:buNone/>
              <a:defRPr sz="2400" b="1">
                <a:solidFill>
                  <a:srgbClr val="6C2383"/>
                </a:solidFill>
              </a:defRPr>
            </a:lvl1pPr>
            <a:lvl2pPr marL="914400" lvl="1" indent="-228600" algn="l">
              <a:lnSpc>
                <a:spcPct val="90000"/>
              </a:lnSpc>
              <a:spcBef>
                <a:spcPts val="500"/>
              </a:spcBef>
              <a:spcAft>
                <a:spcPts val="0"/>
              </a:spcAft>
              <a:buSzPts val="2000"/>
              <a:buNone/>
              <a:defRPr sz="2000" b="1"/>
            </a:lvl2pPr>
            <a:lvl3pPr marL="1371600" lvl="2" indent="-228600" algn="l">
              <a:lnSpc>
                <a:spcPct val="90000"/>
              </a:lnSpc>
              <a:spcBef>
                <a:spcPts val="500"/>
              </a:spcBef>
              <a:spcAft>
                <a:spcPts val="0"/>
              </a:spcAft>
              <a:buSzPts val="1800"/>
              <a:buNone/>
              <a:defRPr sz="1800" b="1"/>
            </a:lvl3pPr>
            <a:lvl4pPr marL="1828800" lvl="3" indent="-228600" algn="l">
              <a:lnSpc>
                <a:spcPct val="90000"/>
              </a:lnSpc>
              <a:spcBef>
                <a:spcPts val="500"/>
              </a:spcBef>
              <a:spcAft>
                <a:spcPts val="0"/>
              </a:spcAft>
              <a:buSzPts val="1600"/>
              <a:buNone/>
              <a:defRPr sz="1600" b="1"/>
            </a:lvl4pPr>
            <a:lvl5pPr marL="2286000" lvl="4" indent="-228600" algn="l">
              <a:lnSpc>
                <a:spcPct val="9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63" name="Google Shape;63;p21"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6C2383"/>
              </a:buClr>
              <a:buSzPts val="3200"/>
              <a:buFont typeface="Calibri"/>
              <a:buNone/>
              <a:defRPr sz="3200" b="1">
                <a:solidFill>
                  <a:srgbClr val="6C238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SzPts val="3200"/>
              <a:buChar char="▪"/>
              <a:defRPr sz="3200"/>
            </a:lvl1pPr>
            <a:lvl2pPr marL="914400" lvl="1" indent="-406400" algn="l">
              <a:lnSpc>
                <a:spcPct val="90000"/>
              </a:lnSpc>
              <a:spcBef>
                <a:spcPts val="500"/>
              </a:spcBef>
              <a:spcAft>
                <a:spcPts val="0"/>
              </a:spcAft>
              <a:buSzPts val="2800"/>
              <a:buChar char="▪"/>
              <a:defRPr sz="2800"/>
            </a:lvl2pPr>
            <a:lvl3pPr marL="1371600" lvl="2" indent="-381000" algn="l">
              <a:lnSpc>
                <a:spcPct val="90000"/>
              </a:lnSpc>
              <a:spcBef>
                <a:spcPts val="500"/>
              </a:spcBef>
              <a:spcAft>
                <a:spcPts val="0"/>
              </a:spcAft>
              <a:buSzPts val="2400"/>
              <a:buChar char="▪"/>
              <a:defRPr sz="2400"/>
            </a:lvl3pPr>
            <a:lvl4pPr marL="1828800" lvl="3" indent="-355600" algn="l">
              <a:lnSpc>
                <a:spcPct val="90000"/>
              </a:lnSpc>
              <a:spcBef>
                <a:spcPts val="500"/>
              </a:spcBef>
              <a:spcAft>
                <a:spcPts val="0"/>
              </a:spcAft>
              <a:buSzPts val="2000"/>
              <a:buChar char="▪"/>
              <a:defRPr sz="2000"/>
            </a:lvl4pPr>
            <a:lvl5pPr marL="2286000" lvl="4" indent="-355600" algn="l">
              <a:lnSpc>
                <a:spcPct val="9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76" name="Google Shape;76;p23"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6C2383"/>
              </a:buClr>
              <a:buSzPts val="3200"/>
              <a:buFont typeface="Calibri"/>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4"/>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80" name="Google Shape;80;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600"/>
              <a:buNone/>
              <a:defRPr sz="1600"/>
            </a:lvl1pPr>
            <a:lvl2pPr marL="914400" lvl="1" indent="-228600" algn="l">
              <a:lnSpc>
                <a:spcPct val="90000"/>
              </a:lnSpc>
              <a:spcBef>
                <a:spcPts val="500"/>
              </a:spcBef>
              <a:spcAft>
                <a:spcPts val="0"/>
              </a:spcAft>
              <a:buSzPts val="1400"/>
              <a:buNone/>
              <a:defRPr sz="1400"/>
            </a:lvl2pPr>
            <a:lvl3pPr marL="1371600" lvl="2" indent="-228600" algn="l">
              <a:lnSpc>
                <a:spcPct val="90000"/>
              </a:lnSpc>
              <a:spcBef>
                <a:spcPts val="500"/>
              </a:spcBef>
              <a:spcAft>
                <a:spcPts val="0"/>
              </a:spcAft>
              <a:buSzPts val="1200"/>
              <a:buNone/>
              <a:defRPr sz="1200"/>
            </a:lvl3pPr>
            <a:lvl4pPr marL="1828800" lvl="3" indent="-228600" algn="l">
              <a:lnSpc>
                <a:spcPct val="90000"/>
              </a:lnSpc>
              <a:spcBef>
                <a:spcPts val="500"/>
              </a:spcBef>
              <a:spcAft>
                <a:spcPts val="0"/>
              </a:spcAft>
              <a:buSzPts val="1000"/>
              <a:buNone/>
              <a:defRPr sz="1000"/>
            </a:lvl4pPr>
            <a:lvl5pPr marL="2286000" lvl="4" indent="-228600" algn="l">
              <a:lnSpc>
                <a:spcPct val="9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84" name="Google Shape;84;p24"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91" name="Google Shape;91;p25"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C2383"/>
              </a:buClr>
              <a:buSzPts val="4400"/>
              <a:buFont typeface="Calibri"/>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42900" algn="l">
              <a:lnSpc>
                <a:spcPct val="90000"/>
              </a:lnSpc>
              <a:spcBef>
                <a:spcPts val="500"/>
              </a:spcBef>
              <a:spcAft>
                <a:spcPts val="0"/>
              </a:spcAft>
              <a:buSzPts val="1800"/>
              <a:buChar char="▪"/>
              <a:defRPr/>
            </a:lvl2pPr>
            <a:lvl3pPr marL="1371600" lvl="2" indent="-342900" algn="l">
              <a:lnSpc>
                <a:spcPct val="90000"/>
              </a:lnSpc>
              <a:spcBef>
                <a:spcPts val="500"/>
              </a:spcBef>
              <a:spcAft>
                <a:spcPts val="0"/>
              </a:spcAft>
              <a:buSzPts val="18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98" name="Google Shape;98;p26" descr="A blue and purple logo&#10;&#10;Description automatically generated"/>
          <p:cNvPicPr preferRelativeResize="0"/>
          <p:nvPr/>
        </p:nvPicPr>
        <p:blipFill rotWithShape="1">
          <a:blip r:embed="rId2">
            <a:alphaModFix/>
          </a:blip>
          <a:srcRect/>
          <a:stretch/>
        </p:blipFill>
        <p:spPr>
          <a:xfrm>
            <a:off x="11055096" y="27432"/>
            <a:ext cx="1097280" cy="120126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6C2383"/>
              </a:buClr>
              <a:buSzPts val="4400"/>
              <a:buFont typeface="Calibri"/>
              <a:buNone/>
              <a:defRPr sz="4400" b="0" i="0" u="none" strike="noStrike" cap="none">
                <a:solidFill>
                  <a:srgbClr val="6C238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B0F0"/>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rgbClr val="00B0F0"/>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rgbClr val="00B0F0"/>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5" name="Google Shape;15;p15" descr="A blue and purple logo&#10;&#10;Description automatically generated"/>
          <p:cNvPicPr preferRelativeResize="0"/>
          <p:nvPr/>
        </p:nvPicPr>
        <p:blipFill rotWithShape="1">
          <a:blip r:embed="rId11">
            <a:alphaModFix/>
          </a:blip>
          <a:srcRect/>
          <a:stretch/>
        </p:blipFill>
        <p:spPr>
          <a:xfrm>
            <a:off x="11055096" y="27432"/>
            <a:ext cx="1097280" cy="12012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www.hse.gov.uk/pubns/ck1.htm?utm_source=chatgpt.com"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ageas.co.uk/solved/your-car/beware-these-8-summer-driving-risks/?utm_source=chatgpt.com" TargetMode="External"/><Relationship Id="rId2" Type="http://schemas.openxmlformats.org/officeDocument/2006/relationships/hyperlink" Target="https://nationalhighways.co.uk/press/national-highways-urges-drivers-to-plan-memory-making-breaks-as-fatigue-related-collisions-surge-over-summer/?utm_source=chatgpt.com" TargetMode="External"/><Relationship Id="rId1" Type="http://schemas.openxmlformats.org/officeDocument/2006/relationships/slideLayout" Target="../slideLayouts/slideLayout2.xml"/><Relationship Id="rId4" Type="http://schemas.openxmlformats.org/officeDocument/2006/relationships/hyperlink" Target="https://www.racfoundation.org/motoring-faqs/safety?utm_source=chatgpt.c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E706-75D8-BF0B-8904-5D1AC7FA93E1}"/>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9ADFCB4-0BE5-3708-E4EB-6E11E100B77B}"/>
              </a:ext>
            </a:extLst>
          </p:cNvPr>
          <p:cNvSpPr>
            <a:spLocks noGrp="1"/>
          </p:cNvSpPr>
          <p:nvPr>
            <p:ph type="subTitle" idx="1"/>
          </p:nvPr>
        </p:nvSpPr>
        <p:spPr/>
        <p:txBody>
          <a:bodyPr>
            <a:normAutofit fontScale="92500" lnSpcReduction="10000"/>
          </a:bodyPr>
          <a:lstStyle/>
          <a:p>
            <a:pPr>
              <a:lnSpc>
                <a:spcPct val="107000"/>
              </a:lnSpc>
              <a:spcAft>
                <a:spcPts val="800"/>
              </a:spcAft>
              <a:buNone/>
            </a:pPr>
            <a:r>
              <a:rPr lang="en-GB" sz="3200" kern="100">
                <a:effectLst/>
                <a:latin typeface="Aptos Narrow" panose="020B0004020202020204" pitchFamily="34" charset="0"/>
                <a:ea typeface="Aptos" panose="020B0004020202020204" pitchFamily="34" charset="0"/>
                <a:cs typeface="Times New Roman" panose="02020603050405020304" pitchFamily="18" charset="0"/>
              </a:rPr>
              <a:t>Health, Safety &amp; Wellbeing Messages</a:t>
            </a:r>
          </a:p>
          <a:p>
            <a:pPr>
              <a:lnSpc>
                <a:spcPct val="107000"/>
              </a:lnSpc>
              <a:spcAft>
                <a:spcPts val="800"/>
              </a:spcAft>
              <a:buNone/>
            </a:pPr>
            <a:r>
              <a:rPr lang="en-GB" sz="4800" kern="100">
                <a:latin typeface="Aptos Narrow" panose="020B0004020202020204" pitchFamily="34" charset="0"/>
                <a:ea typeface="Aptos" panose="020B0004020202020204" pitchFamily="34" charset="0"/>
                <a:cs typeface="Times New Roman" panose="02020603050405020304" pitchFamily="18" charset="0"/>
              </a:rPr>
              <a:t>2026</a:t>
            </a:r>
            <a:endParaRPr lang="en-GB" sz="4800" kern="100">
              <a:effectLst/>
              <a:latin typeface="Aptos Narrow"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09734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8BCC7-AF63-C0D2-DA98-F3958F63B2B9}"/>
              </a:ext>
            </a:extLst>
          </p:cNvPr>
          <p:cNvSpPr>
            <a:spLocks noGrp="1"/>
          </p:cNvSpPr>
          <p:nvPr>
            <p:ph type="title"/>
          </p:nvPr>
        </p:nvSpPr>
        <p:spPr/>
        <p:txBody>
          <a:bodyPr/>
          <a:lstStyle/>
          <a:p>
            <a:r>
              <a:rPr lang="en-US"/>
              <a:t>2026 Calendar</a:t>
            </a:r>
            <a:endParaRPr lang="en-GB"/>
          </a:p>
        </p:txBody>
      </p:sp>
      <p:sp>
        <p:nvSpPr>
          <p:cNvPr id="3" name="Text Placeholder 2">
            <a:extLst>
              <a:ext uri="{FF2B5EF4-FFF2-40B4-BE49-F238E27FC236}">
                <a16:creationId xmlns:a16="http://schemas.microsoft.com/office/drawing/2014/main" id="{3F3D6B90-0968-541B-4879-8AE26D3E2CDF}"/>
              </a:ext>
            </a:extLst>
          </p:cNvPr>
          <p:cNvSpPr>
            <a:spLocks noGrp="1"/>
          </p:cNvSpPr>
          <p:nvPr>
            <p:ph type="body" idx="1"/>
          </p:nvPr>
        </p:nvSpPr>
        <p:spPr/>
        <p:txBody>
          <a:bodyPr>
            <a:normAutofit fontScale="70000" lnSpcReduction="20000"/>
          </a:bodyPr>
          <a:lstStyle/>
          <a:p>
            <a:r>
              <a:rPr lang="en-US" b="1" dirty="0">
                <a:solidFill>
                  <a:schemeClr val="accent6"/>
                </a:solidFill>
                <a:latin typeface="Aptos Narrow" panose="020B0004020202020204" pitchFamily="34" charset="0"/>
              </a:rPr>
              <a:t>January – Winter Working &amp; Travel Safety</a:t>
            </a:r>
          </a:p>
          <a:p>
            <a:r>
              <a:rPr lang="en-US" b="1" dirty="0">
                <a:solidFill>
                  <a:schemeClr val="accent6"/>
                </a:solidFill>
                <a:latin typeface="Aptos Narrow" panose="020B0004020202020204" pitchFamily="34" charset="0"/>
              </a:rPr>
              <a:t>February – Display Screen Equipment (DSE) &amp; Home Working Safety</a:t>
            </a:r>
          </a:p>
          <a:p>
            <a:r>
              <a:rPr lang="en-US" b="1" dirty="0">
                <a:solidFill>
                  <a:schemeClr val="accent6"/>
                </a:solidFill>
                <a:latin typeface="Aptos Narrow" panose="020B0004020202020204" pitchFamily="34" charset="0"/>
              </a:rPr>
              <a:t>March – Stress Awareness &amp; Workload Management</a:t>
            </a:r>
          </a:p>
          <a:p>
            <a:r>
              <a:rPr lang="en-US" b="1" dirty="0">
                <a:solidFill>
                  <a:schemeClr val="accent6"/>
                </a:solidFill>
                <a:latin typeface="Aptos Narrow" panose="020B0004020202020204" pitchFamily="34" charset="0"/>
              </a:rPr>
              <a:t>April – Manual Handling &amp; Office Safety</a:t>
            </a:r>
          </a:p>
          <a:p>
            <a:r>
              <a:rPr lang="en-US" sz="2900" b="1" dirty="0">
                <a:solidFill>
                  <a:schemeClr val="accent6"/>
                </a:solidFill>
                <a:latin typeface="Aptos Narrow" panose="020B0004020202020204" pitchFamily="34" charset="0"/>
              </a:rPr>
              <a:t>May – Driving for Work &amp; Fatigue Management</a:t>
            </a:r>
          </a:p>
          <a:p>
            <a:r>
              <a:rPr lang="en-US" sz="2900" b="1" dirty="0">
                <a:solidFill>
                  <a:schemeClr val="accent6"/>
                </a:solidFill>
                <a:latin typeface="Aptos Narrow" panose="020B0004020202020204" pitchFamily="34" charset="0"/>
              </a:rPr>
              <a:t>June – </a:t>
            </a:r>
            <a:r>
              <a:rPr lang="en-GB" sz="2900" b="1" dirty="0">
                <a:solidFill>
                  <a:schemeClr val="accent6"/>
                </a:solidFill>
                <a:latin typeface="Aptos Narrow" panose="020B0004020202020204" pitchFamily="34" charset="0"/>
              </a:rPr>
              <a:t>Health &amp; Safety in the Garden and Home</a:t>
            </a:r>
          </a:p>
          <a:p>
            <a:r>
              <a:rPr lang="en-US" b="1" dirty="0">
                <a:solidFill>
                  <a:schemeClr val="accent6"/>
                </a:solidFill>
                <a:latin typeface="Aptos Narrow" panose="020B0004020202020204" pitchFamily="34" charset="0"/>
              </a:rPr>
              <a:t>July – </a:t>
            </a:r>
            <a:r>
              <a:rPr lang="en-GB" sz="2900" b="1" dirty="0">
                <a:solidFill>
                  <a:schemeClr val="accent6"/>
                </a:solidFill>
                <a:latin typeface="Aptos Narrow" panose="020B0004020202020204" pitchFamily="34" charset="0"/>
              </a:rPr>
              <a:t>UV Safety, Heat Health &amp; Hydration</a:t>
            </a:r>
            <a:endParaRPr lang="en-US" sz="2900" b="1" dirty="0">
              <a:solidFill>
                <a:schemeClr val="accent6"/>
              </a:solidFill>
              <a:latin typeface="Aptos Narrow" panose="020B0004020202020204" pitchFamily="34" charset="0"/>
            </a:endParaRPr>
          </a:p>
          <a:p>
            <a:r>
              <a:rPr lang="en-US" b="1" dirty="0">
                <a:solidFill>
                  <a:schemeClr val="accent2"/>
                </a:solidFill>
                <a:latin typeface="Aptos Narrow" panose="020B0004020202020204" pitchFamily="34" charset="0"/>
              </a:rPr>
              <a:t>August – Slips, Trips &amp; Housekeeping</a:t>
            </a:r>
          </a:p>
          <a:p>
            <a:r>
              <a:rPr lang="en-US" b="1" dirty="0">
                <a:solidFill>
                  <a:schemeClr val="accent2"/>
                </a:solidFill>
                <a:latin typeface="Aptos Narrow" panose="020B0004020202020204" pitchFamily="34" charset="0"/>
              </a:rPr>
              <a:t>September – Ergonomics &amp; Musculoskeletal Health</a:t>
            </a:r>
          </a:p>
          <a:p>
            <a:r>
              <a:rPr lang="en-US" b="1" dirty="0">
                <a:solidFill>
                  <a:schemeClr val="accent2"/>
                </a:solidFill>
                <a:latin typeface="Aptos Narrow" panose="020B0004020202020204" pitchFamily="34" charset="0"/>
              </a:rPr>
              <a:t>October – Fire Safety &amp; Emergency Awareness</a:t>
            </a:r>
          </a:p>
          <a:p>
            <a:r>
              <a:rPr lang="en-US" b="1" dirty="0">
                <a:solidFill>
                  <a:schemeClr val="accent2"/>
                </a:solidFill>
                <a:latin typeface="Aptos Narrow" panose="020B0004020202020204" pitchFamily="34" charset="0"/>
              </a:rPr>
              <a:t>November – Mental Health, Resilience &amp; Shorter Days</a:t>
            </a:r>
          </a:p>
          <a:p>
            <a:r>
              <a:rPr lang="en-US" b="1" dirty="0">
                <a:solidFill>
                  <a:schemeClr val="accent2"/>
                </a:solidFill>
                <a:latin typeface="Aptos Narrow" panose="020B0004020202020204" pitchFamily="34" charset="0"/>
              </a:rPr>
              <a:t>December – Staying Safe Over the Festive Period</a:t>
            </a:r>
          </a:p>
          <a:p>
            <a:endParaRPr lang="en-GB" dirty="0"/>
          </a:p>
        </p:txBody>
      </p:sp>
    </p:spTree>
    <p:extLst>
      <p:ext uri="{BB962C8B-B14F-4D97-AF65-F5344CB8AC3E}">
        <p14:creationId xmlns:p14="http://schemas.microsoft.com/office/powerpoint/2010/main" val="2342113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7942B-2DB0-FD30-7635-6D195092BB5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99E7DA-9F47-1AEE-6609-86CAEEEFCC0F}"/>
              </a:ext>
            </a:extLst>
          </p:cNvPr>
          <p:cNvSpPr txBox="1"/>
          <p:nvPr/>
        </p:nvSpPr>
        <p:spPr>
          <a:xfrm>
            <a:off x="97410" y="1402082"/>
            <a:ext cx="6096000" cy="2523768"/>
          </a:xfrm>
          <a:prstGeom prst="rect">
            <a:avLst/>
          </a:prstGeom>
          <a:noFill/>
        </p:spPr>
        <p:txBody>
          <a:bodyPr wrap="square">
            <a:spAutoFit/>
          </a:bodyPr>
          <a:lstStyle/>
          <a:p>
            <a:r>
              <a:rPr lang="en-GB" sz="1800" b="1" i="0" dirty="0">
                <a:solidFill>
                  <a:schemeClr val="accent5"/>
                </a:solidFill>
                <a:effectLst/>
                <a:latin typeface="Aptos" panose="020B0004020202020204" pitchFamily="34" charset="0"/>
              </a:rPr>
              <a:t>Why This Matters?</a:t>
            </a:r>
            <a:endParaRPr lang="en-GB" dirty="0">
              <a:latin typeface="Aptos" panose="020B0004020202020204" pitchFamily="34" charset="0"/>
            </a:endParaRPr>
          </a:p>
          <a:p>
            <a:r>
              <a:rPr lang="en-GB" dirty="0">
                <a:latin typeface="Aptos" panose="020B0004020202020204" pitchFamily="34" charset="0"/>
              </a:rPr>
              <a:t>Working, travelling and spending time outdoors during the summer months can increase the risk of heat-related illness and sun exposure.</a:t>
            </a:r>
          </a:p>
          <a:p>
            <a:r>
              <a:rPr lang="en-GB" dirty="0">
                <a:latin typeface="Aptos" panose="020B0004020202020204" pitchFamily="34" charset="0"/>
              </a:rPr>
              <a:t>Common health risks include:</a:t>
            </a:r>
          </a:p>
          <a:p>
            <a:pPr marL="285750" indent="-285750">
              <a:buClr>
                <a:schemeClr val="accent4"/>
              </a:buClr>
              <a:buFont typeface="Wingdings" pitchFamily="2" charset="2"/>
              <a:buChar char="§"/>
            </a:pPr>
            <a:r>
              <a:rPr lang="en-GB" dirty="0">
                <a:latin typeface="Aptos" panose="020B0004020202020204" pitchFamily="34" charset="0"/>
              </a:rPr>
              <a:t>Dehydration</a:t>
            </a:r>
          </a:p>
          <a:p>
            <a:pPr marL="285750" indent="-285750">
              <a:buClr>
                <a:schemeClr val="accent4"/>
              </a:buClr>
              <a:buFont typeface="Wingdings" pitchFamily="2" charset="2"/>
              <a:buChar char="§"/>
            </a:pPr>
            <a:r>
              <a:rPr lang="en-GB" dirty="0">
                <a:latin typeface="Aptos" panose="020B0004020202020204" pitchFamily="34" charset="0"/>
              </a:rPr>
              <a:t>Sunburn and UV exposure</a:t>
            </a:r>
          </a:p>
          <a:p>
            <a:pPr marL="285750" indent="-285750">
              <a:buClr>
                <a:schemeClr val="accent4"/>
              </a:buClr>
              <a:buFont typeface="Wingdings" pitchFamily="2" charset="2"/>
              <a:buChar char="§"/>
            </a:pPr>
            <a:r>
              <a:rPr lang="en-GB" dirty="0">
                <a:latin typeface="Aptos" panose="020B0004020202020204" pitchFamily="34" charset="0"/>
              </a:rPr>
              <a:t>Heat exhaustion</a:t>
            </a:r>
          </a:p>
          <a:p>
            <a:pPr marL="285750" indent="-285750">
              <a:buClr>
                <a:schemeClr val="accent4"/>
              </a:buClr>
              <a:buFont typeface="Wingdings" pitchFamily="2" charset="2"/>
              <a:buChar char="§"/>
            </a:pPr>
            <a:r>
              <a:rPr lang="en-GB" dirty="0">
                <a:latin typeface="Aptos" panose="020B0004020202020204" pitchFamily="34" charset="0"/>
              </a:rPr>
              <a:t>Reduced concentration leading to mistakes and accidents</a:t>
            </a:r>
          </a:p>
          <a:p>
            <a:pPr marL="285750" indent="-285750">
              <a:buClr>
                <a:schemeClr val="accent4"/>
              </a:buClr>
              <a:buFont typeface="Wingdings" pitchFamily="2" charset="2"/>
              <a:buChar char="§"/>
            </a:pPr>
            <a:r>
              <a:rPr lang="en-GB" dirty="0">
                <a:latin typeface="Aptos" panose="020B0004020202020204" pitchFamily="34" charset="0"/>
              </a:rPr>
              <a:t>Hot weather can affect anyone, whether you're working from home, travelling to meetings or visiting client sites.</a:t>
            </a:r>
          </a:p>
          <a:p>
            <a:pPr marL="285750" indent="-285750">
              <a:buClr>
                <a:schemeClr val="accent4"/>
              </a:buClr>
              <a:buFont typeface="Wingdings" pitchFamily="2" charset="2"/>
              <a:buChar char="§"/>
            </a:pPr>
            <a:r>
              <a:rPr lang="en-GB" dirty="0">
                <a:latin typeface="Aptos" panose="020B0004020202020204" pitchFamily="34" charset="0"/>
              </a:rPr>
              <a:t>Heat-related illness in pets during walks and car journeys</a:t>
            </a:r>
          </a:p>
        </p:txBody>
      </p:sp>
      <p:sp>
        <p:nvSpPr>
          <p:cNvPr id="14" name="TextBox 13">
            <a:extLst>
              <a:ext uri="{FF2B5EF4-FFF2-40B4-BE49-F238E27FC236}">
                <a16:creationId xmlns:a16="http://schemas.microsoft.com/office/drawing/2014/main" id="{3DEA6027-2142-9711-40D6-8CECE120CC97}"/>
              </a:ext>
            </a:extLst>
          </p:cNvPr>
          <p:cNvSpPr txBox="1"/>
          <p:nvPr/>
        </p:nvSpPr>
        <p:spPr>
          <a:xfrm>
            <a:off x="-35566" y="558"/>
            <a:ext cx="6096000" cy="369332"/>
          </a:xfrm>
          <a:prstGeom prst="rect">
            <a:avLst/>
          </a:prstGeom>
          <a:noFill/>
        </p:spPr>
        <p:txBody>
          <a:bodyPr wrap="square">
            <a:spAutoFit/>
          </a:bodyPr>
          <a:lstStyle/>
          <a:p>
            <a:r>
              <a:rPr lang="en-US" sz="1800" b="1" dirty="0">
                <a:latin typeface="Aptos" panose="020B0004020202020204" pitchFamily="34" charset="0"/>
              </a:rPr>
              <a:t>July 2026 </a:t>
            </a:r>
            <a:endParaRPr lang="en-GB" sz="1800" b="1" dirty="0">
              <a:latin typeface="Aptos" panose="020B0004020202020204" pitchFamily="34" charset="0"/>
            </a:endParaRPr>
          </a:p>
        </p:txBody>
      </p:sp>
      <p:sp>
        <p:nvSpPr>
          <p:cNvPr id="3" name="Title 1">
            <a:extLst>
              <a:ext uri="{FF2B5EF4-FFF2-40B4-BE49-F238E27FC236}">
                <a16:creationId xmlns:a16="http://schemas.microsoft.com/office/drawing/2014/main" id="{2C43887A-2CC2-24F7-F6DA-C391168D5D8C}"/>
              </a:ext>
            </a:extLst>
          </p:cNvPr>
          <p:cNvSpPr txBox="1">
            <a:spLocks/>
          </p:cNvSpPr>
          <p:nvPr/>
        </p:nvSpPr>
        <p:spPr>
          <a:xfrm>
            <a:off x="97410" y="222881"/>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6C2383"/>
              </a:buClr>
              <a:buSzPts val="4400"/>
              <a:buFont typeface="Calibri"/>
              <a:buNone/>
              <a:defRPr sz="4400" b="1" i="0" u="none" strike="noStrike" cap="none">
                <a:solidFill>
                  <a:srgbClr val="6C238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600" dirty="0">
                <a:solidFill>
                  <a:schemeClr val="accent5"/>
                </a:solidFill>
                <a:latin typeface="Aptos" panose="020B0004020202020204" pitchFamily="34" charset="0"/>
              </a:rPr>
              <a:t>Health, Safety &amp; Wellbeing Focus: </a:t>
            </a:r>
            <a:br>
              <a:rPr lang="en-US" sz="3600" dirty="0">
                <a:solidFill>
                  <a:schemeClr val="accent5"/>
                </a:solidFill>
                <a:latin typeface="Aptos" panose="020B0004020202020204" pitchFamily="34" charset="0"/>
              </a:rPr>
            </a:br>
            <a:r>
              <a:rPr lang="en-GB" sz="2800" dirty="0">
                <a:solidFill>
                  <a:schemeClr val="accent4"/>
                </a:solidFill>
                <a:latin typeface="Aptos" panose="020B0004020202020204" pitchFamily="34" charset="0"/>
              </a:rPr>
              <a:t>UV Safety, Heat Health &amp; Hydration</a:t>
            </a:r>
          </a:p>
        </p:txBody>
      </p:sp>
      <p:sp>
        <p:nvSpPr>
          <p:cNvPr id="15" name="TextBox 14">
            <a:extLst>
              <a:ext uri="{FF2B5EF4-FFF2-40B4-BE49-F238E27FC236}">
                <a16:creationId xmlns:a16="http://schemas.microsoft.com/office/drawing/2014/main" id="{22ACA59F-03BC-8684-0CDA-2C67DC17BF6F}"/>
              </a:ext>
            </a:extLst>
          </p:cNvPr>
          <p:cNvSpPr txBox="1"/>
          <p:nvPr/>
        </p:nvSpPr>
        <p:spPr>
          <a:xfrm>
            <a:off x="175963" y="6430700"/>
            <a:ext cx="11806239" cy="400110"/>
          </a:xfrm>
          <a:prstGeom prst="rect">
            <a:avLst/>
          </a:prstGeom>
          <a:solidFill>
            <a:schemeClr val="accent5">
              <a:lumMod val="20000"/>
              <a:lumOff val="80000"/>
            </a:schemeClr>
          </a:solidFill>
        </p:spPr>
        <p:txBody>
          <a:bodyPr wrap="square">
            <a:spAutoFit/>
          </a:bodyPr>
          <a:lstStyle/>
          <a:p>
            <a:pPr algn="ctr"/>
            <a:r>
              <a:rPr lang="en-GB" sz="2000" b="1" dirty="0">
                <a:latin typeface="Aptos" panose="020B0004020202020204" pitchFamily="34" charset="0"/>
              </a:rPr>
              <a:t>Safety doesn't stop when the temperature rises!</a:t>
            </a:r>
            <a:endParaRPr lang="en-GB" sz="3600" b="1" dirty="0">
              <a:solidFill>
                <a:schemeClr val="tx1"/>
              </a:solidFill>
              <a:latin typeface="Aptos" panose="020B0004020202020204" pitchFamily="34" charset="0"/>
            </a:endParaRPr>
          </a:p>
        </p:txBody>
      </p:sp>
      <p:sp>
        <p:nvSpPr>
          <p:cNvPr id="4" name="TextBox 3">
            <a:extLst>
              <a:ext uri="{FF2B5EF4-FFF2-40B4-BE49-F238E27FC236}">
                <a16:creationId xmlns:a16="http://schemas.microsoft.com/office/drawing/2014/main" id="{38AF1D70-911F-0302-412B-A6B835773DE5}"/>
              </a:ext>
            </a:extLst>
          </p:cNvPr>
          <p:cNvSpPr txBox="1"/>
          <p:nvPr/>
        </p:nvSpPr>
        <p:spPr>
          <a:xfrm>
            <a:off x="97410" y="3997033"/>
            <a:ext cx="3130925" cy="2492990"/>
          </a:xfrm>
          <a:prstGeom prst="rect">
            <a:avLst/>
          </a:prstGeom>
          <a:noFill/>
        </p:spPr>
        <p:txBody>
          <a:bodyPr wrap="square">
            <a:spAutoFit/>
          </a:bodyPr>
          <a:lstStyle/>
          <a:p>
            <a:pPr indent="0">
              <a:buFont typeface="Arial"/>
              <a:buNone/>
            </a:pPr>
            <a:r>
              <a:rPr lang="en-GB" sz="1800" b="1" dirty="0">
                <a:solidFill>
                  <a:schemeClr val="accent5"/>
                </a:solidFill>
                <a:latin typeface="Aptos" panose="020B0004020202020204" pitchFamily="34" charset="0"/>
              </a:rPr>
              <a:t>Common Risks</a:t>
            </a:r>
          </a:p>
          <a:p>
            <a:pPr indent="0">
              <a:buFont typeface="Arial"/>
              <a:buNone/>
            </a:pPr>
            <a:r>
              <a:rPr lang="en-GB" b="1" dirty="0">
                <a:solidFill>
                  <a:schemeClr val="accent4"/>
                </a:solidFill>
                <a:latin typeface="Aptos" panose="020B0004020202020204" pitchFamily="34" charset="0"/>
              </a:rPr>
              <a:t>Travelling</a:t>
            </a:r>
          </a:p>
          <a:p>
            <a:pPr marL="285750" indent="-285750">
              <a:buClr>
                <a:schemeClr val="accent4"/>
              </a:buClr>
              <a:buFont typeface="Wingdings" pitchFamily="2" charset="2"/>
              <a:buChar char="§"/>
            </a:pPr>
            <a:r>
              <a:rPr lang="en-GB" sz="1200" dirty="0">
                <a:latin typeface="Aptos" panose="020B0004020202020204" pitchFamily="34" charset="0"/>
              </a:rPr>
              <a:t>Long journeys in hot vehicles</a:t>
            </a:r>
          </a:p>
          <a:p>
            <a:pPr marL="285750" indent="-285750">
              <a:buClr>
                <a:schemeClr val="accent4"/>
              </a:buClr>
              <a:buFont typeface="Wingdings" pitchFamily="2" charset="2"/>
              <a:buChar char="§"/>
            </a:pPr>
            <a:r>
              <a:rPr lang="en-GB" sz="1200" dirty="0">
                <a:latin typeface="Aptos" panose="020B0004020202020204" pitchFamily="34" charset="0"/>
              </a:rPr>
              <a:t>Fatigue caused by heat</a:t>
            </a:r>
          </a:p>
          <a:p>
            <a:pPr marL="285750" indent="-285750">
              <a:buClr>
                <a:schemeClr val="accent4"/>
              </a:buClr>
              <a:buFont typeface="Wingdings" pitchFamily="2" charset="2"/>
              <a:buChar char="§"/>
            </a:pPr>
            <a:r>
              <a:rPr lang="en-GB" sz="1200" dirty="0">
                <a:latin typeface="Aptos" panose="020B0004020202020204" pitchFamily="34" charset="0"/>
              </a:rPr>
              <a:t>Dehydration affecting concentration</a:t>
            </a:r>
          </a:p>
          <a:p>
            <a:pPr marL="285750" indent="-285750">
              <a:buClr>
                <a:schemeClr val="accent4"/>
              </a:buClr>
              <a:buFont typeface="Wingdings" pitchFamily="2" charset="2"/>
              <a:buChar char="§"/>
            </a:pPr>
            <a:r>
              <a:rPr lang="en-GB" sz="1200" dirty="0">
                <a:latin typeface="Aptos" panose="020B0004020202020204" pitchFamily="34" charset="0"/>
              </a:rPr>
              <a:t>Increased holiday traffic and delays</a:t>
            </a:r>
          </a:p>
          <a:p>
            <a:r>
              <a:rPr lang="en-GB" b="1" dirty="0">
                <a:solidFill>
                  <a:schemeClr val="accent4"/>
                </a:solidFill>
                <a:latin typeface="Aptos" panose="020B0004020202020204" pitchFamily="34" charset="0"/>
              </a:rPr>
              <a:t>Working Outdoors</a:t>
            </a:r>
          </a:p>
          <a:p>
            <a:pPr marL="285750" indent="-285750">
              <a:buClr>
                <a:schemeClr val="accent4"/>
              </a:buClr>
              <a:buFont typeface="Wingdings" pitchFamily="2" charset="2"/>
              <a:buChar char="§"/>
            </a:pPr>
            <a:r>
              <a:rPr lang="en-GB" sz="1200" dirty="0">
                <a:latin typeface="Aptos" panose="020B0004020202020204" pitchFamily="34" charset="0"/>
              </a:rPr>
              <a:t>Prolonged exposure to the sun</a:t>
            </a:r>
          </a:p>
          <a:p>
            <a:pPr marL="285750" indent="-285750">
              <a:buClr>
                <a:schemeClr val="accent4"/>
              </a:buClr>
              <a:buFont typeface="Wingdings" pitchFamily="2" charset="2"/>
              <a:buChar char="§"/>
            </a:pPr>
            <a:r>
              <a:rPr lang="en-GB" sz="1200" dirty="0">
                <a:latin typeface="Aptos" panose="020B0004020202020204" pitchFamily="34" charset="0"/>
              </a:rPr>
              <a:t>Inadequate hydration</a:t>
            </a:r>
          </a:p>
          <a:p>
            <a:pPr marL="285750" indent="-285750">
              <a:buClr>
                <a:schemeClr val="accent4"/>
              </a:buClr>
              <a:buFont typeface="Wingdings" pitchFamily="2" charset="2"/>
              <a:buChar char="§"/>
            </a:pPr>
            <a:r>
              <a:rPr lang="en-GB" sz="1200" dirty="0">
                <a:latin typeface="Aptos" panose="020B0004020202020204" pitchFamily="34" charset="0"/>
              </a:rPr>
              <a:t>Lack of shade during breaks</a:t>
            </a:r>
          </a:p>
          <a:p>
            <a:pPr marL="285750" indent="-285750">
              <a:buClr>
                <a:schemeClr val="accent4"/>
              </a:buClr>
              <a:buFont typeface="Wingdings" pitchFamily="2" charset="2"/>
              <a:buChar char="§"/>
            </a:pPr>
            <a:r>
              <a:rPr lang="en-GB" sz="1200" dirty="0">
                <a:latin typeface="Aptos" panose="020B0004020202020204" pitchFamily="34" charset="0"/>
              </a:rPr>
              <a:t>Hot surfaces and equipment</a:t>
            </a:r>
          </a:p>
          <a:p>
            <a:pPr marL="285750" indent="-285750">
              <a:buClr>
                <a:schemeClr val="accent4"/>
              </a:buClr>
              <a:buFont typeface="Wingdings" pitchFamily="2" charset="2"/>
              <a:buChar char="§"/>
            </a:pPr>
            <a:endParaRPr lang="en-GB" dirty="0">
              <a:latin typeface="Aptos" panose="020B0004020202020204" pitchFamily="34" charset="0"/>
            </a:endParaRPr>
          </a:p>
        </p:txBody>
      </p:sp>
      <p:sp>
        <p:nvSpPr>
          <p:cNvPr id="8" name="TextBox 7">
            <a:extLst>
              <a:ext uri="{FF2B5EF4-FFF2-40B4-BE49-F238E27FC236}">
                <a16:creationId xmlns:a16="http://schemas.microsoft.com/office/drawing/2014/main" id="{AFDDA6C1-8002-F4CF-4654-7AC73F4CDCB6}"/>
              </a:ext>
            </a:extLst>
          </p:cNvPr>
          <p:cNvSpPr txBox="1"/>
          <p:nvPr/>
        </p:nvSpPr>
        <p:spPr>
          <a:xfrm>
            <a:off x="3145410" y="4674140"/>
            <a:ext cx="3130926" cy="1231106"/>
          </a:xfrm>
          <a:prstGeom prst="rect">
            <a:avLst/>
          </a:prstGeom>
          <a:noFill/>
        </p:spPr>
        <p:txBody>
          <a:bodyPr wrap="square">
            <a:spAutoFit/>
          </a:bodyPr>
          <a:lstStyle/>
          <a:p>
            <a:r>
              <a:rPr lang="en-GB" b="1" dirty="0">
                <a:solidFill>
                  <a:schemeClr val="accent4"/>
                </a:solidFill>
                <a:latin typeface="Aptos" panose="020B0004020202020204" pitchFamily="34" charset="0"/>
              </a:rPr>
              <a:t>Home &amp; Office</a:t>
            </a:r>
          </a:p>
          <a:p>
            <a:pPr marL="285750" indent="-285750">
              <a:buClr>
                <a:schemeClr val="accent4"/>
              </a:buClr>
              <a:buFont typeface="Wingdings" pitchFamily="2" charset="2"/>
              <a:buChar char="§"/>
            </a:pPr>
            <a:r>
              <a:rPr lang="en-GB" sz="1200" dirty="0">
                <a:latin typeface="Aptos" panose="020B0004020202020204" pitchFamily="34" charset="0"/>
              </a:rPr>
              <a:t>Poor ventilation</a:t>
            </a:r>
          </a:p>
          <a:p>
            <a:pPr marL="285750" indent="-285750">
              <a:buClr>
                <a:schemeClr val="accent4"/>
              </a:buClr>
              <a:buFont typeface="Wingdings" pitchFamily="2" charset="2"/>
              <a:buChar char="§"/>
            </a:pPr>
            <a:r>
              <a:rPr lang="en-GB" sz="1200" dirty="0">
                <a:latin typeface="Aptos" panose="020B0004020202020204" pitchFamily="34" charset="0"/>
              </a:rPr>
              <a:t>Overheated workspaces</a:t>
            </a:r>
          </a:p>
          <a:p>
            <a:pPr marL="285750" indent="-285750">
              <a:buClr>
                <a:schemeClr val="accent4"/>
              </a:buClr>
              <a:buFont typeface="Wingdings" pitchFamily="2" charset="2"/>
              <a:buChar char="§"/>
            </a:pPr>
            <a:r>
              <a:rPr lang="en-GB" sz="1200" dirty="0">
                <a:latin typeface="Aptos" panose="020B0004020202020204" pitchFamily="34" charset="0"/>
              </a:rPr>
              <a:t>Forgetting to drink enough water</a:t>
            </a:r>
          </a:p>
          <a:p>
            <a:pPr marL="285750" indent="-285750">
              <a:buClr>
                <a:schemeClr val="accent4"/>
              </a:buClr>
              <a:buFont typeface="Wingdings" pitchFamily="2" charset="2"/>
              <a:buChar char="§"/>
            </a:pPr>
            <a:r>
              <a:rPr lang="en-GB" sz="1200" dirty="0">
                <a:latin typeface="Aptos" panose="020B0004020202020204" pitchFamily="34" charset="0"/>
              </a:rPr>
              <a:t>Reduced concentration during prolonged hot weather</a:t>
            </a:r>
          </a:p>
        </p:txBody>
      </p:sp>
      <p:sp>
        <p:nvSpPr>
          <p:cNvPr id="13" name="TextBox 12">
            <a:extLst>
              <a:ext uri="{FF2B5EF4-FFF2-40B4-BE49-F238E27FC236}">
                <a16:creationId xmlns:a16="http://schemas.microsoft.com/office/drawing/2014/main" id="{4C751BC7-E548-7405-F440-809B18FFBBFF}"/>
              </a:ext>
            </a:extLst>
          </p:cNvPr>
          <p:cNvSpPr txBox="1"/>
          <p:nvPr/>
        </p:nvSpPr>
        <p:spPr>
          <a:xfrm>
            <a:off x="6872748" y="3925850"/>
            <a:ext cx="4995598" cy="2308324"/>
          </a:xfrm>
          <a:prstGeom prst="rect">
            <a:avLst/>
          </a:prstGeom>
          <a:noFill/>
        </p:spPr>
        <p:txBody>
          <a:bodyPr wrap="square">
            <a:spAutoFit/>
          </a:bodyPr>
          <a:lstStyle/>
          <a:p>
            <a:pPr indent="0" algn="l">
              <a:buNone/>
            </a:pPr>
            <a:r>
              <a:rPr lang="en-GB" sz="1800" b="1" i="0" dirty="0">
                <a:solidFill>
                  <a:schemeClr val="accent5"/>
                </a:solidFill>
                <a:effectLst/>
                <a:latin typeface="Aptos" panose="020B0004020202020204" pitchFamily="34" charset="0"/>
              </a:rPr>
              <a:t>What We Can All Do</a:t>
            </a:r>
          </a:p>
          <a:p>
            <a:pPr marL="285750" indent="-285750" algn="l">
              <a:buClr>
                <a:schemeClr val="accent4"/>
              </a:buClr>
              <a:buFont typeface="Wingdings" pitchFamily="2" charset="2"/>
              <a:buChar char="§"/>
            </a:pPr>
            <a:r>
              <a:rPr lang="en-GB" b="0" i="0" dirty="0">
                <a:solidFill>
                  <a:schemeClr val="bg2"/>
                </a:solidFill>
                <a:effectLst/>
                <a:latin typeface="Aptos" panose="020B0004020202020204" pitchFamily="34" charset="0"/>
              </a:rPr>
              <a:t>Drink water regularly throughout the day.</a:t>
            </a:r>
          </a:p>
          <a:p>
            <a:pPr marL="285750" indent="-285750" algn="l">
              <a:buClr>
                <a:schemeClr val="accent4"/>
              </a:buClr>
              <a:buFont typeface="Wingdings" pitchFamily="2" charset="2"/>
              <a:buChar char="§"/>
            </a:pPr>
            <a:r>
              <a:rPr lang="en-GB" b="0" i="0" dirty="0">
                <a:solidFill>
                  <a:schemeClr val="bg2"/>
                </a:solidFill>
                <a:effectLst/>
                <a:latin typeface="Aptos" panose="020B0004020202020204" pitchFamily="34" charset="0"/>
              </a:rPr>
              <a:t>Take regular breaks, particularly when travelling or working outdoors.</a:t>
            </a:r>
          </a:p>
          <a:p>
            <a:pPr marL="285750" indent="-285750" algn="l">
              <a:buClr>
                <a:schemeClr val="accent4"/>
              </a:buClr>
              <a:buFont typeface="Wingdings" pitchFamily="2" charset="2"/>
              <a:buChar char="§"/>
            </a:pPr>
            <a:r>
              <a:rPr lang="en-GB" b="0" i="0" dirty="0">
                <a:solidFill>
                  <a:schemeClr val="bg2"/>
                </a:solidFill>
                <a:effectLst/>
                <a:latin typeface="Aptos" panose="020B0004020202020204" pitchFamily="34" charset="0"/>
              </a:rPr>
              <a:t>Wear suitable clothing and protect exposed skin from the sun.</a:t>
            </a:r>
          </a:p>
          <a:p>
            <a:pPr marL="285750" indent="-285750" algn="l">
              <a:buClr>
                <a:schemeClr val="accent4"/>
              </a:buClr>
              <a:buFont typeface="Wingdings" pitchFamily="2" charset="2"/>
              <a:buChar char="§"/>
            </a:pPr>
            <a:r>
              <a:rPr lang="en-GB" b="0" i="0" dirty="0">
                <a:solidFill>
                  <a:schemeClr val="bg2"/>
                </a:solidFill>
                <a:effectLst/>
                <a:latin typeface="Aptos" panose="020B0004020202020204" pitchFamily="34" charset="0"/>
              </a:rPr>
              <a:t>Plan journeys to avoid unnecessary pressure and fatigue.</a:t>
            </a:r>
          </a:p>
          <a:p>
            <a:pPr marL="285750" indent="-285750" algn="l">
              <a:buClr>
                <a:schemeClr val="accent4"/>
              </a:buClr>
              <a:buFont typeface="Wingdings" pitchFamily="2" charset="2"/>
              <a:buChar char="§"/>
            </a:pPr>
            <a:r>
              <a:rPr lang="en-GB" b="0" i="0" dirty="0">
                <a:solidFill>
                  <a:schemeClr val="bg2"/>
                </a:solidFill>
                <a:effectLst/>
                <a:latin typeface="Aptos" panose="020B0004020202020204" pitchFamily="34" charset="0"/>
              </a:rPr>
              <a:t>Look out for colleagues who may be affected by the heat.</a:t>
            </a:r>
          </a:p>
          <a:p>
            <a:pPr marL="285750" indent="-285750" algn="l">
              <a:buClr>
                <a:schemeClr val="accent4"/>
              </a:buClr>
              <a:buFont typeface="Wingdings" pitchFamily="2" charset="2"/>
              <a:buChar char="§"/>
            </a:pPr>
            <a:r>
              <a:rPr lang="en-GB" i="0" dirty="0">
                <a:solidFill>
                  <a:schemeClr val="bg2"/>
                </a:solidFill>
                <a:effectLst/>
                <a:latin typeface="Aptos" panose="020B0004020202020204" pitchFamily="34" charset="0"/>
              </a:rPr>
              <a:t>Protect pets by avoiding walks during the hottest part of the day and never leaving them in parked vehicles.</a:t>
            </a:r>
          </a:p>
        </p:txBody>
      </p:sp>
      <p:sp>
        <p:nvSpPr>
          <p:cNvPr id="17" name="TextBox 16">
            <a:extLst>
              <a:ext uri="{FF2B5EF4-FFF2-40B4-BE49-F238E27FC236}">
                <a16:creationId xmlns:a16="http://schemas.microsoft.com/office/drawing/2014/main" id="{38B610EE-5B84-44C9-25C1-9325673B9498}"/>
              </a:ext>
            </a:extLst>
          </p:cNvPr>
          <p:cNvSpPr txBox="1"/>
          <p:nvPr/>
        </p:nvSpPr>
        <p:spPr>
          <a:xfrm>
            <a:off x="6872748" y="1548444"/>
            <a:ext cx="5221842" cy="1446550"/>
          </a:xfrm>
          <a:prstGeom prst="rect">
            <a:avLst/>
          </a:prstGeom>
          <a:noFill/>
        </p:spPr>
        <p:txBody>
          <a:bodyPr wrap="square">
            <a:spAutoFit/>
          </a:bodyPr>
          <a:lstStyle/>
          <a:p>
            <a:pPr indent="0" algn="l">
              <a:buNone/>
            </a:pPr>
            <a:r>
              <a:rPr lang="en-GB" sz="1800" b="1" i="0" dirty="0">
                <a:solidFill>
                  <a:schemeClr val="accent5"/>
                </a:solidFill>
                <a:effectLst/>
                <a:latin typeface="Aptos" panose="020B0004020202020204" pitchFamily="34" charset="0"/>
              </a:rPr>
              <a:t>Did You Know?</a:t>
            </a:r>
            <a:endParaRPr lang="en-GB" sz="1800" b="0" i="0" dirty="0">
              <a:solidFill>
                <a:schemeClr val="accent5"/>
              </a:solidFill>
              <a:effectLst/>
              <a:latin typeface="Aptos" panose="020B0004020202020204" pitchFamily="34" charset="0"/>
            </a:endParaRPr>
          </a:p>
          <a:p>
            <a:pPr marL="285750" indent="-285750" algn="l">
              <a:buClr>
                <a:schemeClr val="accent4"/>
              </a:buClr>
              <a:buFont typeface="Wingdings" pitchFamily="2" charset="2"/>
              <a:buChar char="§"/>
            </a:pPr>
            <a:r>
              <a:rPr lang="en-GB" b="0" i="0" dirty="0">
                <a:solidFill>
                  <a:schemeClr val="tx1"/>
                </a:solidFill>
                <a:effectLst/>
                <a:latin typeface="Aptos" panose="020B0004020202020204" pitchFamily="34" charset="0"/>
              </a:rPr>
              <a:t>UV rays can damage skin even on cloudy days.</a:t>
            </a:r>
          </a:p>
          <a:p>
            <a:pPr marL="285750" indent="-285750" algn="l">
              <a:buClr>
                <a:schemeClr val="accent4"/>
              </a:buClr>
              <a:buFont typeface="Wingdings" pitchFamily="2" charset="2"/>
              <a:buChar char="§"/>
            </a:pPr>
            <a:r>
              <a:rPr lang="en-GB" b="0" i="0" dirty="0">
                <a:solidFill>
                  <a:schemeClr val="tx1"/>
                </a:solidFill>
                <a:effectLst/>
                <a:latin typeface="Aptos" panose="020B0004020202020204" pitchFamily="34" charset="0"/>
              </a:rPr>
              <a:t>Dehydration can reduce concentration, reaction time and decision-making, increasing the likelihood of accidents.</a:t>
            </a:r>
          </a:p>
          <a:p>
            <a:pPr marL="285750" indent="-285750" algn="l">
              <a:buClr>
                <a:schemeClr val="accent4"/>
              </a:buClr>
              <a:buFont typeface="Wingdings" pitchFamily="2" charset="2"/>
              <a:buChar char="§"/>
            </a:pPr>
            <a:r>
              <a:rPr lang="en-GB" b="0" i="0" dirty="0">
                <a:solidFill>
                  <a:schemeClr val="tx1"/>
                </a:solidFill>
                <a:effectLst/>
                <a:latin typeface="Aptos" panose="020B0004020202020204" pitchFamily="34" charset="0"/>
              </a:rPr>
              <a:t>Taking regular breaks and staying hydrated are simple but effective ways to reduce heat-related risks.</a:t>
            </a:r>
          </a:p>
        </p:txBody>
      </p:sp>
    </p:spTree>
    <p:extLst>
      <p:ext uri="{BB962C8B-B14F-4D97-AF65-F5344CB8AC3E}">
        <p14:creationId xmlns:p14="http://schemas.microsoft.com/office/powerpoint/2010/main" val="112836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2737-21B3-D03B-9EFC-0C10F34E2C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940422-A821-D885-FCB1-F963F8BF5317}"/>
              </a:ext>
            </a:extLst>
          </p:cNvPr>
          <p:cNvSpPr txBox="1"/>
          <p:nvPr/>
        </p:nvSpPr>
        <p:spPr>
          <a:xfrm>
            <a:off x="202046" y="1580926"/>
            <a:ext cx="5708559" cy="2092881"/>
          </a:xfrm>
          <a:prstGeom prst="rect">
            <a:avLst/>
          </a:prstGeom>
          <a:noFill/>
        </p:spPr>
        <p:txBody>
          <a:bodyPr wrap="square">
            <a:spAutoFit/>
          </a:bodyPr>
          <a:lstStyle/>
          <a:p>
            <a:r>
              <a:rPr lang="en-GB" sz="1800" b="1" i="0" dirty="0">
                <a:solidFill>
                  <a:schemeClr val="accent5"/>
                </a:solidFill>
                <a:effectLst/>
                <a:latin typeface="Aptos Narrow" panose="020B0004020202020204" pitchFamily="34" charset="0"/>
              </a:rPr>
              <a:t>Why This Matters?</a:t>
            </a:r>
          </a:p>
          <a:p>
            <a:r>
              <a:rPr lang="en-GB" sz="1600" dirty="0">
                <a:latin typeface="Aptos Narrow" panose="020B0004020202020204" pitchFamily="34" charset="0"/>
              </a:rPr>
              <a:t>Many accidents happen at home and in the garden during routine activities such as DIY, gardening and maintenance</a:t>
            </a:r>
          </a:p>
          <a:p>
            <a:r>
              <a:rPr lang="en-GB" sz="1600" dirty="0">
                <a:latin typeface="Aptos Narrow" panose="020B0004020202020204" pitchFamily="34" charset="0"/>
              </a:rPr>
              <a:t>Common injuries include:</a:t>
            </a:r>
          </a:p>
          <a:p>
            <a:pPr marL="285750" lvl="0" indent="-285750">
              <a:buFont typeface="Wingdings" pitchFamily="2" charset="2"/>
              <a:buChar char="§"/>
            </a:pPr>
            <a:r>
              <a:rPr lang="en-GB" sz="1600" dirty="0">
                <a:latin typeface="Aptos Narrow" panose="020B0004020202020204" pitchFamily="34" charset="0"/>
              </a:rPr>
              <a:t>Slips, trips and falls</a:t>
            </a:r>
          </a:p>
          <a:p>
            <a:pPr marL="285750" lvl="0" indent="-285750">
              <a:buFont typeface="Wingdings" pitchFamily="2" charset="2"/>
              <a:buChar char="§"/>
            </a:pPr>
            <a:r>
              <a:rPr lang="en-GB" sz="1600" dirty="0">
                <a:latin typeface="Aptos Narrow" panose="020B0004020202020204" pitchFamily="34" charset="0"/>
              </a:rPr>
              <a:t>Cuts and lacerations</a:t>
            </a:r>
          </a:p>
          <a:p>
            <a:pPr marL="285750" lvl="0" indent="-285750">
              <a:buFont typeface="Wingdings" pitchFamily="2" charset="2"/>
              <a:buChar char="§"/>
            </a:pPr>
            <a:r>
              <a:rPr lang="en-GB" sz="1600" dirty="0">
                <a:latin typeface="Aptos Narrow" panose="020B0004020202020204" pitchFamily="34" charset="0"/>
              </a:rPr>
              <a:t>Manual handling strains</a:t>
            </a:r>
          </a:p>
          <a:p>
            <a:pPr marL="285750" lvl="0" indent="-285750">
              <a:buFont typeface="Wingdings" pitchFamily="2" charset="2"/>
              <a:buChar char="§"/>
            </a:pPr>
            <a:r>
              <a:rPr lang="en-GB" sz="1600" dirty="0">
                <a:latin typeface="Aptos Narrow" panose="020B0004020202020204" pitchFamily="34" charset="0"/>
              </a:rPr>
              <a:t>Injuries from tools and equipment</a:t>
            </a:r>
            <a:endParaRPr lang="en-GB" sz="1600" b="1" dirty="0">
              <a:solidFill>
                <a:schemeClr val="accent5"/>
              </a:solidFill>
              <a:latin typeface="Aptos Narrow" panose="020B0004020202020204" pitchFamily="34" charset="0"/>
            </a:endParaRPr>
          </a:p>
        </p:txBody>
      </p:sp>
      <p:sp>
        <p:nvSpPr>
          <p:cNvPr id="7" name="TextBox 6">
            <a:extLst>
              <a:ext uri="{FF2B5EF4-FFF2-40B4-BE49-F238E27FC236}">
                <a16:creationId xmlns:a16="http://schemas.microsoft.com/office/drawing/2014/main" id="{DB503760-A2CD-1CA3-AF59-863F97F36639}"/>
              </a:ext>
            </a:extLst>
          </p:cNvPr>
          <p:cNvSpPr txBox="1"/>
          <p:nvPr/>
        </p:nvSpPr>
        <p:spPr>
          <a:xfrm>
            <a:off x="202048" y="3766333"/>
            <a:ext cx="5708558" cy="2831544"/>
          </a:xfrm>
          <a:prstGeom prst="rect">
            <a:avLst/>
          </a:prstGeom>
          <a:noFill/>
        </p:spPr>
        <p:txBody>
          <a:bodyPr wrap="square">
            <a:spAutoFit/>
          </a:bodyPr>
          <a:lstStyle/>
          <a:p>
            <a:r>
              <a:rPr lang="en-GB" sz="1800" b="1" dirty="0">
                <a:solidFill>
                  <a:schemeClr val="accent5"/>
                </a:solidFill>
                <a:latin typeface="Aptos Narrow" panose="020B0004020202020204" pitchFamily="34" charset="0"/>
              </a:rPr>
              <a:t>Common Risks</a:t>
            </a:r>
          </a:p>
          <a:p>
            <a:r>
              <a:rPr lang="en-GB" sz="1600" b="1" dirty="0">
                <a:latin typeface="Aptos Narrow" panose="020B0004020202020204" pitchFamily="34" charset="0"/>
              </a:rPr>
              <a:t>Gardening</a:t>
            </a:r>
            <a:endParaRPr lang="en-GB" sz="1600" dirty="0">
              <a:latin typeface="Aptos Narrow" panose="020B0004020202020204" pitchFamily="34" charset="0"/>
            </a:endParaRPr>
          </a:p>
          <a:p>
            <a:pPr marL="285750" lvl="0" indent="-285750">
              <a:buFont typeface="Wingdings" pitchFamily="2" charset="2"/>
              <a:buChar char="§"/>
            </a:pPr>
            <a:r>
              <a:rPr lang="en-GB" sz="1600" dirty="0">
                <a:latin typeface="Aptos Narrow" panose="020B0004020202020204" pitchFamily="34" charset="0"/>
              </a:rPr>
              <a:t>Lawnmowers, hedge trimmers and power tools</a:t>
            </a:r>
          </a:p>
          <a:p>
            <a:pPr marL="285750" lvl="0" indent="-285750">
              <a:buFont typeface="Wingdings" pitchFamily="2" charset="2"/>
              <a:buChar char="§"/>
            </a:pPr>
            <a:r>
              <a:rPr lang="en-GB" sz="1600" dirty="0">
                <a:latin typeface="Aptos Narrow" panose="020B0004020202020204" pitchFamily="34" charset="0"/>
              </a:rPr>
              <a:t>Uneven ground, trip hazards and ladders</a:t>
            </a:r>
          </a:p>
          <a:p>
            <a:pPr marL="285750" lvl="0" indent="-285750">
              <a:buFont typeface="Wingdings" pitchFamily="2" charset="2"/>
              <a:buChar char="§"/>
            </a:pPr>
            <a:r>
              <a:rPr lang="en-GB" sz="1600" dirty="0">
                <a:latin typeface="Aptos Narrow" panose="020B0004020202020204" pitchFamily="34" charset="0"/>
              </a:rPr>
              <a:t>Sun exposure, dehydration and fatigue</a:t>
            </a:r>
          </a:p>
          <a:p>
            <a:endParaRPr lang="en-GB" sz="1600" b="1" dirty="0">
              <a:latin typeface="Aptos Narrow" panose="020B0004020202020204" pitchFamily="34" charset="0"/>
            </a:endParaRPr>
          </a:p>
          <a:p>
            <a:r>
              <a:rPr lang="en-GB" sz="1600" b="1" dirty="0">
                <a:latin typeface="Aptos Narrow" panose="020B0004020202020204" pitchFamily="34" charset="0"/>
              </a:rPr>
              <a:t>Home</a:t>
            </a:r>
            <a:endParaRPr lang="en-GB" sz="1600" dirty="0">
              <a:latin typeface="Aptos Narrow" panose="020B0004020202020204" pitchFamily="34" charset="0"/>
            </a:endParaRPr>
          </a:p>
          <a:p>
            <a:pPr marL="285750" lvl="0" indent="-285750">
              <a:buFont typeface="Wingdings" pitchFamily="2" charset="2"/>
              <a:buChar char="§"/>
            </a:pPr>
            <a:r>
              <a:rPr lang="en-GB" sz="1600" dirty="0">
                <a:latin typeface="Aptos Narrow" panose="020B0004020202020204" pitchFamily="34" charset="0"/>
              </a:rPr>
              <a:t>DIY tasks and use of hand tools</a:t>
            </a:r>
          </a:p>
          <a:p>
            <a:pPr marL="285750" lvl="0" indent="-285750">
              <a:buFont typeface="Wingdings" pitchFamily="2" charset="2"/>
              <a:buChar char="§"/>
            </a:pPr>
            <a:r>
              <a:rPr lang="en-GB" sz="1600" dirty="0">
                <a:latin typeface="Aptos Narrow" panose="020B0004020202020204" pitchFamily="34" charset="0"/>
              </a:rPr>
              <a:t>Working at height (steps / ladders)</a:t>
            </a:r>
          </a:p>
          <a:p>
            <a:pPr marL="285750" lvl="0" indent="-285750">
              <a:buFont typeface="Wingdings" pitchFamily="2" charset="2"/>
              <a:buChar char="§"/>
            </a:pPr>
            <a:r>
              <a:rPr lang="en-GB" sz="1600" dirty="0">
                <a:latin typeface="Aptos Narrow" panose="020B0004020202020204" pitchFamily="34" charset="0"/>
              </a:rPr>
              <a:t>Lifting, carrying and moving heavy items</a:t>
            </a:r>
          </a:p>
          <a:p>
            <a:pPr marL="285750" indent="-285750" algn="l">
              <a:buFont typeface="Wingdings" pitchFamily="2" charset="2"/>
              <a:buChar char="§"/>
            </a:pPr>
            <a:endParaRPr lang="en-GB" sz="1600" b="0" i="0" dirty="0">
              <a:solidFill>
                <a:schemeClr val="tx1"/>
              </a:solidFill>
              <a:effectLst/>
              <a:latin typeface="Aptos Narrow" panose="020B0004020202020204" pitchFamily="34" charset="0"/>
            </a:endParaRPr>
          </a:p>
        </p:txBody>
      </p:sp>
      <p:sp>
        <p:nvSpPr>
          <p:cNvPr id="14" name="TextBox 13">
            <a:extLst>
              <a:ext uri="{FF2B5EF4-FFF2-40B4-BE49-F238E27FC236}">
                <a16:creationId xmlns:a16="http://schemas.microsoft.com/office/drawing/2014/main" id="{DE4CC9D5-AD8D-DA7C-3BC2-27F39796D0D5}"/>
              </a:ext>
            </a:extLst>
          </p:cNvPr>
          <p:cNvSpPr txBox="1"/>
          <p:nvPr/>
        </p:nvSpPr>
        <p:spPr>
          <a:xfrm>
            <a:off x="-35566" y="558"/>
            <a:ext cx="6096000" cy="400110"/>
          </a:xfrm>
          <a:prstGeom prst="rect">
            <a:avLst/>
          </a:prstGeom>
          <a:noFill/>
        </p:spPr>
        <p:txBody>
          <a:bodyPr wrap="square">
            <a:spAutoFit/>
          </a:bodyPr>
          <a:lstStyle/>
          <a:p>
            <a:r>
              <a:rPr lang="en-US" sz="2000" b="1" dirty="0">
                <a:latin typeface="Aptos Narrow" panose="020B0004020202020204" pitchFamily="34" charset="0"/>
              </a:rPr>
              <a:t>June 2026 </a:t>
            </a:r>
            <a:endParaRPr lang="en-GB" sz="2000" b="1" dirty="0"/>
          </a:p>
        </p:txBody>
      </p:sp>
      <p:sp>
        <p:nvSpPr>
          <p:cNvPr id="3" name="Title 1">
            <a:extLst>
              <a:ext uri="{FF2B5EF4-FFF2-40B4-BE49-F238E27FC236}">
                <a16:creationId xmlns:a16="http://schemas.microsoft.com/office/drawing/2014/main" id="{98320F4F-AA23-2E38-4D76-1179D20430F6}"/>
              </a:ext>
            </a:extLst>
          </p:cNvPr>
          <p:cNvSpPr txBox="1">
            <a:spLocks/>
          </p:cNvSpPr>
          <p:nvPr/>
        </p:nvSpPr>
        <p:spPr>
          <a:xfrm>
            <a:off x="202047" y="260123"/>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6C2383"/>
              </a:buClr>
              <a:buSzPts val="4400"/>
              <a:buFont typeface="Calibri"/>
              <a:buNone/>
              <a:defRPr sz="4400" b="1" i="0" u="none" strike="noStrike" cap="none">
                <a:solidFill>
                  <a:srgbClr val="6C238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solidFill>
                  <a:schemeClr val="accent5"/>
                </a:solidFill>
                <a:latin typeface="Aptos Narrow" panose="020B0004020202020204" pitchFamily="34" charset="0"/>
              </a:rPr>
              <a:t>Health, Safety &amp; Wellbeing Focus: </a:t>
            </a:r>
            <a:br>
              <a:rPr lang="en-US" dirty="0">
                <a:solidFill>
                  <a:schemeClr val="accent5"/>
                </a:solidFill>
                <a:latin typeface="Aptos Narrow" panose="020B0004020202020204" pitchFamily="34" charset="0"/>
              </a:rPr>
            </a:br>
            <a:r>
              <a:rPr lang="en-GB" sz="3600" dirty="0">
                <a:solidFill>
                  <a:schemeClr val="accent4"/>
                </a:solidFill>
                <a:latin typeface="Aptos Narrow" panose="020B0004020202020204" pitchFamily="34" charset="0"/>
              </a:rPr>
              <a:t>Health &amp; Safety in the Garden and Home</a:t>
            </a:r>
          </a:p>
        </p:txBody>
      </p:sp>
      <p:sp>
        <p:nvSpPr>
          <p:cNvPr id="6" name="TextBox 5">
            <a:extLst>
              <a:ext uri="{FF2B5EF4-FFF2-40B4-BE49-F238E27FC236}">
                <a16:creationId xmlns:a16="http://schemas.microsoft.com/office/drawing/2014/main" id="{5EFA0687-378D-E4C5-04C1-CE7182844941}"/>
              </a:ext>
            </a:extLst>
          </p:cNvPr>
          <p:cNvSpPr txBox="1"/>
          <p:nvPr/>
        </p:nvSpPr>
        <p:spPr>
          <a:xfrm>
            <a:off x="6535920" y="1580926"/>
            <a:ext cx="5558670" cy="2339102"/>
          </a:xfrm>
          <a:prstGeom prst="rect">
            <a:avLst/>
          </a:prstGeom>
          <a:noFill/>
        </p:spPr>
        <p:txBody>
          <a:bodyPr wrap="square">
            <a:spAutoFit/>
          </a:bodyPr>
          <a:lstStyle>
            <a:defPPr marR="0" lvl="0" algn="l" rtl="0">
              <a:lnSpc>
                <a:spcPct val="100000"/>
              </a:lnSpc>
              <a:spcBef>
                <a:spcPts val="0"/>
              </a:spcBef>
              <a:spcAft>
                <a:spcPts val="0"/>
              </a:spcAft>
            </a:defPPr>
            <a:lvl1pPr>
              <a:defRPr sz="1600" b="1">
                <a:solidFill>
                  <a:schemeClr val="accent5"/>
                </a:solidFill>
                <a:latin typeface="Aptos Narrow" panose="020B0004020202020204" pitchFamily="34" charset="0"/>
              </a:defRPr>
            </a:lvl1pPr>
          </a:lstStyle>
          <a:p>
            <a:r>
              <a:rPr lang="en-GB" sz="1800" dirty="0"/>
              <a:t>Before any task STOP – THINK – CHECK</a:t>
            </a:r>
            <a:endParaRPr lang="en-GB" dirty="0"/>
          </a:p>
          <a:p>
            <a:r>
              <a:rPr lang="en-GB" dirty="0">
                <a:solidFill>
                  <a:srgbClr val="FF0000"/>
                </a:solidFill>
              </a:rPr>
              <a:t>Taking shortcuts often creates unnecessary risk.</a:t>
            </a:r>
          </a:p>
          <a:p>
            <a:pPr marL="285750" indent="-285750">
              <a:buFont typeface="Wingdings" pitchFamily="2" charset="2"/>
              <a:buChar char="§"/>
            </a:pPr>
            <a:r>
              <a:rPr lang="en-GB" b="0" dirty="0">
                <a:solidFill>
                  <a:srgbClr val="000000"/>
                </a:solidFill>
              </a:rPr>
              <a:t>Do I have the right equipment?</a:t>
            </a:r>
          </a:p>
          <a:p>
            <a:pPr marL="285750" indent="-285750">
              <a:buFont typeface="Wingdings" pitchFamily="2" charset="2"/>
              <a:buChar char="§"/>
            </a:pPr>
            <a:r>
              <a:rPr lang="en-GB" b="0" dirty="0">
                <a:solidFill>
                  <a:srgbClr val="000000"/>
                </a:solidFill>
              </a:rPr>
              <a:t>Is the area safe and clear?</a:t>
            </a:r>
          </a:p>
          <a:p>
            <a:pPr marL="285750" indent="-285750">
              <a:buFont typeface="Wingdings" pitchFamily="2" charset="2"/>
              <a:buChar char="§"/>
            </a:pPr>
            <a:r>
              <a:rPr lang="en-GB" b="0" dirty="0">
                <a:solidFill>
                  <a:srgbClr val="000000"/>
                </a:solidFill>
              </a:rPr>
              <a:t>Do I need help?</a:t>
            </a:r>
          </a:p>
          <a:p>
            <a:pPr marL="285750" indent="-285750">
              <a:buFont typeface="Wingdings" pitchFamily="2" charset="2"/>
              <a:buChar char="§"/>
            </a:pPr>
            <a:r>
              <a:rPr lang="en-GB" b="0" dirty="0">
                <a:solidFill>
                  <a:srgbClr val="000000"/>
                </a:solidFill>
              </a:rPr>
              <a:t>Am I rushing the job?</a:t>
            </a:r>
          </a:p>
          <a:p>
            <a:r>
              <a:rPr lang="en-GB" dirty="0">
                <a:solidFill>
                  <a:srgbClr val="FF0000"/>
                </a:solidFill>
              </a:rPr>
              <a:t> </a:t>
            </a:r>
            <a:r>
              <a:rPr lang="en-GB" dirty="0">
                <a:solidFill>
                  <a:srgbClr val="FF0000"/>
                </a:solidFill>
                <a:ea typeface="Times New Roman" panose="02020603050405020304" pitchFamily="18" charset="0"/>
                <a:cs typeface="Times New Roman" panose="02020603050405020304" pitchFamily="18" charset="0"/>
              </a:rPr>
              <a:t>If not — stop and reassess.</a:t>
            </a:r>
            <a:r>
              <a:rPr lang="en-GB" dirty="0">
                <a:solidFill>
                  <a:schemeClr val="tx1"/>
                </a:solidFill>
              </a:rPr>
              <a:t> </a:t>
            </a:r>
          </a:p>
          <a:p>
            <a:r>
              <a:rPr lang="en-GB" dirty="0">
                <a:solidFill>
                  <a:schemeClr val="accent6"/>
                </a:solidFill>
              </a:rPr>
              <a:t>Small jobs can quickly become high-risk when rushed or undertaken without planning.</a:t>
            </a:r>
            <a:endParaRPr lang="en-GB" dirty="0">
              <a:solidFill>
                <a:srgbClr val="FF0000"/>
              </a:solidFill>
            </a:endParaRPr>
          </a:p>
        </p:txBody>
      </p:sp>
      <p:sp>
        <p:nvSpPr>
          <p:cNvPr id="10" name="TextBox 9">
            <a:extLst>
              <a:ext uri="{FF2B5EF4-FFF2-40B4-BE49-F238E27FC236}">
                <a16:creationId xmlns:a16="http://schemas.microsoft.com/office/drawing/2014/main" id="{32A44F8B-DFB7-0FAE-477D-BE0A4D4723EB}"/>
              </a:ext>
            </a:extLst>
          </p:cNvPr>
          <p:cNvSpPr txBox="1"/>
          <p:nvPr/>
        </p:nvSpPr>
        <p:spPr>
          <a:xfrm>
            <a:off x="6535920" y="4560191"/>
            <a:ext cx="5558670" cy="1600438"/>
          </a:xfrm>
          <a:prstGeom prst="rect">
            <a:avLst/>
          </a:prstGeom>
          <a:noFill/>
        </p:spPr>
        <p:txBody>
          <a:bodyPr wrap="square">
            <a:spAutoFit/>
          </a:bodyPr>
          <a:lstStyle/>
          <a:p>
            <a:pPr algn="l">
              <a:buNone/>
            </a:pPr>
            <a:r>
              <a:rPr lang="en-GB" sz="1800" b="1" i="0" dirty="0">
                <a:solidFill>
                  <a:schemeClr val="accent5"/>
                </a:solidFill>
                <a:effectLst/>
                <a:latin typeface="Aptos Narrow" panose="020B0004020202020204" pitchFamily="34" charset="0"/>
              </a:rPr>
              <a:t>What we expect all of us to do</a:t>
            </a:r>
          </a:p>
          <a:p>
            <a:pPr marL="285750" lvl="0" indent="-285750">
              <a:buFont typeface="Wingdings" pitchFamily="2" charset="2"/>
              <a:buChar char="§"/>
            </a:pPr>
            <a:r>
              <a:rPr lang="en-GB" sz="1600" dirty="0">
                <a:latin typeface="Aptos Narrow" panose="020B0004020202020204" pitchFamily="34" charset="0"/>
              </a:rPr>
              <a:t>Use the correct tools and PPE where needed</a:t>
            </a:r>
          </a:p>
          <a:p>
            <a:pPr marL="285750" lvl="0" indent="-285750">
              <a:buFont typeface="Wingdings" pitchFamily="2" charset="2"/>
              <a:buChar char="§"/>
            </a:pPr>
            <a:r>
              <a:rPr lang="en-GB" sz="1600" dirty="0">
                <a:latin typeface="Aptos Narrow" panose="020B0004020202020204" pitchFamily="34" charset="0"/>
              </a:rPr>
              <a:t>Keep work areas tidy and free from trip hazards</a:t>
            </a:r>
          </a:p>
          <a:p>
            <a:pPr marL="285750" lvl="0" indent="-285750">
              <a:buFont typeface="Wingdings" pitchFamily="2" charset="2"/>
              <a:buChar char="§"/>
            </a:pPr>
            <a:r>
              <a:rPr lang="en-GB" sz="1600" dirty="0">
                <a:latin typeface="Aptos Narrow" panose="020B0004020202020204" pitchFamily="34" charset="0"/>
              </a:rPr>
              <a:t>Avoid working alone on higher-risk tasks</a:t>
            </a:r>
          </a:p>
          <a:p>
            <a:pPr marL="285750" lvl="0" indent="-285750">
              <a:buFont typeface="Wingdings" pitchFamily="2" charset="2"/>
              <a:buChar char="§"/>
            </a:pPr>
            <a:r>
              <a:rPr lang="en-GB" sz="1600" dirty="0">
                <a:latin typeface="Aptos Narrow" panose="020B0004020202020204" pitchFamily="34" charset="0"/>
              </a:rPr>
              <a:t>Take breaks and stay hydrated during outdoor work</a:t>
            </a:r>
          </a:p>
          <a:p>
            <a:pPr marL="285750" lvl="0" indent="-285750">
              <a:buFont typeface="Wingdings" pitchFamily="2" charset="2"/>
              <a:buChar char="§"/>
            </a:pPr>
            <a:r>
              <a:rPr lang="en-GB" sz="1600" dirty="0">
                <a:latin typeface="Aptos Narrow" panose="020B0004020202020204" pitchFamily="34" charset="0"/>
              </a:rPr>
              <a:t>Stop if the task becomes unsafe</a:t>
            </a:r>
            <a:endParaRPr lang="en-GB" sz="1600" b="1" i="0" dirty="0">
              <a:solidFill>
                <a:schemeClr val="accent5"/>
              </a:solidFill>
              <a:effectLst/>
              <a:latin typeface="Aptos Narrow" panose="020B0004020202020204" pitchFamily="34" charset="0"/>
            </a:endParaRPr>
          </a:p>
        </p:txBody>
      </p:sp>
      <p:sp>
        <p:nvSpPr>
          <p:cNvPr id="15" name="TextBox 14">
            <a:extLst>
              <a:ext uri="{FF2B5EF4-FFF2-40B4-BE49-F238E27FC236}">
                <a16:creationId xmlns:a16="http://schemas.microsoft.com/office/drawing/2014/main" id="{1EDB1F19-8E87-0E3C-D7BF-4BEC250F5A21}"/>
              </a:ext>
            </a:extLst>
          </p:cNvPr>
          <p:cNvSpPr txBox="1"/>
          <p:nvPr/>
        </p:nvSpPr>
        <p:spPr>
          <a:xfrm>
            <a:off x="249809" y="6397822"/>
            <a:ext cx="11692382" cy="400110"/>
          </a:xfrm>
          <a:prstGeom prst="rect">
            <a:avLst/>
          </a:prstGeom>
          <a:solidFill>
            <a:schemeClr val="accent5">
              <a:lumMod val="20000"/>
              <a:lumOff val="80000"/>
            </a:schemeClr>
          </a:solidFill>
        </p:spPr>
        <p:txBody>
          <a:bodyPr wrap="square">
            <a:spAutoFit/>
          </a:bodyPr>
          <a:lstStyle/>
          <a:p>
            <a:pPr algn="ctr"/>
            <a:r>
              <a:rPr lang="en-GB" sz="2000" b="1" i="1" dirty="0">
                <a:latin typeface="Aptos Narrow" panose="020B0004020202020204" pitchFamily="34" charset="0"/>
              </a:rPr>
              <a:t>Safety doesn’t stop when the working day ends!</a:t>
            </a:r>
            <a:endParaRPr lang="en-GB" sz="2400" b="1"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363325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802B-246E-729D-E6D8-0ACE4A446F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B07D02F-A6EA-902F-2FD7-1A0921E08FE1}"/>
              </a:ext>
            </a:extLst>
          </p:cNvPr>
          <p:cNvSpPr txBox="1"/>
          <p:nvPr/>
        </p:nvSpPr>
        <p:spPr>
          <a:xfrm>
            <a:off x="202047" y="1720937"/>
            <a:ext cx="6100354" cy="2062103"/>
          </a:xfrm>
          <a:prstGeom prst="rect">
            <a:avLst/>
          </a:prstGeom>
          <a:noFill/>
        </p:spPr>
        <p:txBody>
          <a:bodyPr wrap="square">
            <a:spAutoFit/>
          </a:bodyPr>
          <a:lstStyle/>
          <a:p>
            <a:r>
              <a:rPr lang="en-GB" sz="1600" b="1" i="0" dirty="0">
                <a:solidFill>
                  <a:schemeClr val="accent5"/>
                </a:solidFill>
                <a:effectLst/>
                <a:latin typeface="Aptos Narrow" panose="020B0004020202020204" pitchFamily="34" charset="0"/>
              </a:rPr>
              <a:t>Why This Matters?</a:t>
            </a:r>
            <a:endParaRPr lang="en-GB" sz="1600" b="0" i="0" dirty="0">
              <a:solidFill>
                <a:schemeClr val="accent5"/>
              </a:solidFill>
              <a:effectLst/>
              <a:latin typeface="Aptos Narrow" panose="020B0004020202020204" pitchFamily="34" charset="0"/>
            </a:endParaRPr>
          </a:p>
          <a:p>
            <a:pPr marL="285750" indent="-285750">
              <a:buFont typeface="Wingdings" pitchFamily="2" charset="2"/>
              <a:buChar char="§"/>
            </a:pPr>
            <a:r>
              <a:rPr lang="en-GB" dirty="0">
                <a:latin typeface="Aptos Narrow" panose="020B0004020202020204" pitchFamily="34" charset="0"/>
              </a:rPr>
              <a:t>Driving for work is one of the highest-risk activities undertaken by many employees.</a:t>
            </a:r>
          </a:p>
          <a:p>
            <a:pPr marL="285750" indent="-285750">
              <a:buFont typeface="Wingdings" pitchFamily="2" charset="2"/>
              <a:buChar char="§"/>
            </a:pPr>
            <a:r>
              <a:rPr lang="en-GB" dirty="0">
                <a:latin typeface="Aptos Narrow" panose="020B0004020202020204" pitchFamily="34" charset="0"/>
              </a:rPr>
              <a:t>Fatigue, distraction and poor journey planning can significantly increase the likelihood of incidents.</a:t>
            </a:r>
          </a:p>
          <a:p>
            <a:r>
              <a:rPr lang="en-GB" b="1" dirty="0">
                <a:latin typeface="Aptos Narrow" panose="020B0004020202020204" pitchFamily="34" charset="0"/>
              </a:rPr>
              <a:t>Safe driving protects:</a:t>
            </a:r>
          </a:p>
          <a:p>
            <a:pPr marL="285750" lvl="4" indent="-285750">
              <a:buFont typeface="Wingdings" pitchFamily="2" charset="2"/>
              <a:buChar char="§"/>
            </a:pPr>
            <a:r>
              <a:rPr lang="en-GB" dirty="0">
                <a:latin typeface="Aptos Narrow" panose="020B0004020202020204" pitchFamily="34" charset="0"/>
              </a:rPr>
              <a:t>You and your passengers</a:t>
            </a:r>
          </a:p>
          <a:p>
            <a:pPr marL="285750" indent="-285750">
              <a:buFont typeface="Wingdings" pitchFamily="2" charset="2"/>
              <a:buChar char="§"/>
            </a:pPr>
            <a:r>
              <a:rPr lang="en-GB" dirty="0">
                <a:latin typeface="Aptos Narrow" panose="020B0004020202020204" pitchFamily="34" charset="0"/>
              </a:rPr>
              <a:t>Other road users</a:t>
            </a:r>
          </a:p>
          <a:p>
            <a:pPr marL="285750" indent="-285750">
              <a:buFont typeface="Wingdings" pitchFamily="2" charset="2"/>
              <a:buChar char="§"/>
            </a:pPr>
            <a:r>
              <a:rPr lang="en-GB" dirty="0">
                <a:latin typeface="Aptos Narrow" panose="020B0004020202020204" pitchFamily="34" charset="0"/>
              </a:rPr>
              <a:t>The company and our reputation</a:t>
            </a:r>
          </a:p>
        </p:txBody>
      </p:sp>
      <p:sp>
        <p:nvSpPr>
          <p:cNvPr id="7" name="TextBox 6">
            <a:extLst>
              <a:ext uri="{FF2B5EF4-FFF2-40B4-BE49-F238E27FC236}">
                <a16:creationId xmlns:a16="http://schemas.microsoft.com/office/drawing/2014/main" id="{A57F9A39-FC73-3086-6657-F0CB04DE4C99}"/>
              </a:ext>
            </a:extLst>
          </p:cNvPr>
          <p:cNvSpPr txBox="1"/>
          <p:nvPr/>
        </p:nvSpPr>
        <p:spPr>
          <a:xfrm>
            <a:off x="224701" y="3900480"/>
            <a:ext cx="6100354" cy="1446550"/>
          </a:xfrm>
          <a:prstGeom prst="rect">
            <a:avLst/>
          </a:prstGeom>
          <a:noFill/>
        </p:spPr>
        <p:txBody>
          <a:bodyPr wrap="square">
            <a:spAutoFit/>
          </a:bodyPr>
          <a:lstStyle/>
          <a:p>
            <a:r>
              <a:rPr lang="en-GB" sz="1600" b="1" dirty="0">
                <a:solidFill>
                  <a:schemeClr val="accent5"/>
                </a:solidFill>
                <a:latin typeface="Aptos Narrow" panose="020B0004020202020204" pitchFamily="34" charset="0"/>
              </a:rPr>
              <a:t>Key Driving Risks</a:t>
            </a:r>
          </a:p>
          <a:p>
            <a:pPr marL="342900" indent="-342900">
              <a:buFont typeface="Wingdings" pitchFamily="2" charset="2"/>
              <a:buChar char="§"/>
            </a:pPr>
            <a:r>
              <a:rPr lang="en-GB" dirty="0">
                <a:latin typeface="Aptos Narrow" panose="020B0004020202020204" pitchFamily="34" charset="0"/>
              </a:rPr>
              <a:t>Fatigue from long journeys or early starts</a:t>
            </a:r>
          </a:p>
          <a:p>
            <a:pPr marL="342900" indent="-342900">
              <a:buFont typeface="Wingdings" pitchFamily="2" charset="2"/>
              <a:buChar char="§"/>
            </a:pPr>
            <a:r>
              <a:rPr lang="en-GB" dirty="0">
                <a:latin typeface="Aptos Narrow" panose="020B0004020202020204" pitchFamily="34" charset="0"/>
              </a:rPr>
              <a:t>Mobile phone distraction, even hands-free</a:t>
            </a:r>
          </a:p>
          <a:p>
            <a:pPr marL="342900" indent="-342900">
              <a:buFont typeface="Wingdings" pitchFamily="2" charset="2"/>
              <a:buChar char="§"/>
            </a:pPr>
            <a:r>
              <a:rPr lang="en-GB" dirty="0">
                <a:latin typeface="Aptos Narrow" panose="020B0004020202020204" pitchFamily="34" charset="0"/>
              </a:rPr>
              <a:t>Poor weather or heavy traffic conditions</a:t>
            </a:r>
          </a:p>
          <a:p>
            <a:pPr marL="342900" indent="-342900">
              <a:buFont typeface="Wingdings" pitchFamily="2" charset="2"/>
              <a:buChar char="§"/>
            </a:pPr>
            <a:r>
              <a:rPr lang="en-GB" dirty="0">
                <a:latin typeface="Aptos Narrow" panose="020B0004020202020204" pitchFamily="34" charset="0"/>
              </a:rPr>
              <a:t>Pressure to arrive on time or attend multiple meetings</a:t>
            </a:r>
          </a:p>
          <a:p>
            <a:pPr marL="285750" indent="-285750" algn="l">
              <a:buFont typeface="Wingdings" pitchFamily="2" charset="2"/>
              <a:buChar char="§"/>
            </a:pPr>
            <a:endParaRPr lang="en-GB" sz="1600" b="0" i="0" dirty="0">
              <a:solidFill>
                <a:schemeClr val="tx1"/>
              </a:solidFill>
              <a:effectLst/>
              <a:latin typeface="Aptos Narrow" panose="020B0004020202020204" pitchFamily="34" charset="0"/>
            </a:endParaRPr>
          </a:p>
        </p:txBody>
      </p:sp>
      <p:sp>
        <p:nvSpPr>
          <p:cNvPr id="14" name="TextBox 13">
            <a:extLst>
              <a:ext uri="{FF2B5EF4-FFF2-40B4-BE49-F238E27FC236}">
                <a16:creationId xmlns:a16="http://schemas.microsoft.com/office/drawing/2014/main" id="{7091A474-52F8-5581-6B68-309D64FC41E7}"/>
              </a:ext>
            </a:extLst>
          </p:cNvPr>
          <p:cNvSpPr txBox="1"/>
          <p:nvPr/>
        </p:nvSpPr>
        <p:spPr>
          <a:xfrm>
            <a:off x="-35566" y="558"/>
            <a:ext cx="6096000" cy="400110"/>
          </a:xfrm>
          <a:prstGeom prst="rect">
            <a:avLst/>
          </a:prstGeom>
          <a:noFill/>
        </p:spPr>
        <p:txBody>
          <a:bodyPr wrap="square">
            <a:spAutoFit/>
          </a:bodyPr>
          <a:lstStyle/>
          <a:p>
            <a:r>
              <a:rPr lang="en-US" sz="2000" b="1" dirty="0">
                <a:latin typeface="Aptos Narrow" panose="020B0004020202020204" pitchFamily="34" charset="0"/>
              </a:rPr>
              <a:t>May 2026 </a:t>
            </a:r>
            <a:endParaRPr lang="en-GB" sz="2000" b="1" dirty="0"/>
          </a:p>
        </p:txBody>
      </p:sp>
      <p:sp>
        <p:nvSpPr>
          <p:cNvPr id="17" name="TextBox 16">
            <a:extLst>
              <a:ext uri="{FF2B5EF4-FFF2-40B4-BE49-F238E27FC236}">
                <a16:creationId xmlns:a16="http://schemas.microsoft.com/office/drawing/2014/main" id="{597A2F66-FB40-EFCC-A524-2CDB070522B4}"/>
              </a:ext>
            </a:extLst>
          </p:cNvPr>
          <p:cNvSpPr txBox="1"/>
          <p:nvPr/>
        </p:nvSpPr>
        <p:spPr>
          <a:xfrm>
            <a:off x="202047" y="6342520"/>
            <a:ext cx="11506200" cy="400110"/>
          </a:xfrm>
          <a:prstGeom prst="rect">
            <a:avLst/>
          </a:prstGeom>
          <a:solidFill>
            <a:schemeClr val="accent4"/>
          </a:solidFill>
        </p:spPr>
        <p:txBody>
          <a:bodyPr wrap="square">
            <a:spAutoFit/>
          </a:bodyPr>
          <a:lstStyle/>
          <a:p>
            <a:pPr algn="ctr"/>
            <a:r>
              <a:rPr lang="en-GB" sz="2000" b="1" i="1" dirty="0">
                <a:latin typeface="Aptos Narrow" panose="020B0004020202020204" pitchFamily="34" charset="0"/>
              </a:rPr>
              <a:t>No meeting or deadline is more important than getting home safely.</a:t>
            </a:r>
            <a:endParaRPr lang="en-GB" sz="2000" b="1" dirty="0">
              <a:latin typeface="Aptos Narrow" panose="020B0004020202020204" pitchFamily="34" charset="0"/>
            </a:endParaRPr>
          </a:p>
        </p:txBody>
      </p:sp>
      <p:sp>
        <p:nvSpPr>
          <p:cNvPr id="3" name="Title 1">
            <a:extLst>
              <a:ext uri="{FF2B5EF4-FFF2-40B4-BE49-F238E27FC236}">
                <a16:creationId xmlns:a16="http://schemas.microsoft.com/office/drawing/2014/main" id="{9FE1FD86-3D6A-89AA-EF24-580BBE26C124}"/>
              </a:ext>
            </a:extLst>
          </p:cNvPr>
          <p:cNvSpPr txBox="1">
            <a:spLocks/>
          </p:cNvSpPr>
          <p:nvPr/>
        </p:nvSpPr>
        <p:spPr>
          <a:xfrm>
            <a:off x="838200" y="375258"/>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6C2383"/>
              </a:buClr>
              <a:buSzPts val="4400"/>
              <a:buFont typeface="Calibri"/>
              <a:buNone/>
              <a:defRPr sz="4400" b="1" i="0" u="none" strike="noStrike" cap="none">
                <a:solidFill>
                  <a:srgbClr val="6C238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solidFill>
                  <a:schemeClr val="accent5"/>
                </a:solidFill>
                <a:latin typeface="Aptos Narrow" panose="020B0004020202020204" pitchFamily="34" charset="0"/>
              </a:rPr>
              <a:t>Health, Safety &amp; Wellbeing Focus: </a:t>
            </a:r>
            <a:br>
              <a:rPr lang="en-US" dirty="0">
                <a:solidFill>
                  <a:schemeClr val="accent5"/>
                </a:solidFill>
                <a:latin typeface="Aptos Narrow" panose="020B0004020202020204" pitchFamily="34" charset="0"/>
              </a:rPr>
            </a:br>
            <a:r>
              <a:rPr lang="en-GB" sz="3600" dirty="0">
                <a:solidFill>
                  <a:schemeClr val="accent4"/>
                </a:solidFill>
                <a:latin typeface="Aptos Narrow" panose="020B0004020202020204" pitchFamily="34" charset="0"/>
              </a:rPr>
              <a:t>Driving for Work &amp; Fatigue Management</a:t>
            </a:r>
          </a:p>
        </p:txBody>
      </p:sp>
      <p:sp>
        <p:nvSpPr>
          <p:cNvPr id="6" name="TextBox 5">
            <a:extLst>
              <a:ext uri="{FF2B5EF4-FFF2-40B4-BE49-F238E27FC236}">
                <a16:creationId xmlns:a16="http://schemas.microsoft.com/office/drawing/2014/main" id="{4C2C7821-816C-0D09-AC47-8BF488DEB59D}"/>
              </a:ext>
            </a:extLst>
          </p:cNvPr>
          <p:cNvSpPr txBox="1"/>
          <p:nvPr/>
        </p:nvSpPr>
        <p:spPr>
          <a:xfrm>
            <a:off x="6340735" y="1720937"/>
            <a:ext cx="5758915" cy="1631216"/>
          </a:xfrm>
          <a:prstGeom prst="rect">
            <a:avLst/>
          </a:prstGeom>
          <a:noFill/>
        </p:spPr>
        <p:txBody>
          <a:bodyPr wrap="square">
            <a:spAutoFit/>
          </a:bodyPr>
          <a:lstStyle>
            <a:defPPr marR="0" lvl="0" algn="l" rtl="0">
              <a:lnSpc>
                <a:spcPct val="100000"/>
              </a:lnSpc>
              <a:spcBef>
                <a:spcPts val="0"/>
              </a:spcBef>
              <a:spcAft>
                <a:spcPts val="0"/>
              </a:spcAft>
            </a:defPPr>
            <a:lvl1pPr>
              <a:defRPr sz="1600" b="1">
                <a:solidFill>
                  <a:schemeClr val="accent5"/>
                </a:solidFill>
                <a:latin typeface="Aptos Narrow" panose="020B0004020202020204" pitchFamily="34" charset="0"/>
              </a:defRPr>
            </a:lvl1pPr>
          </a:lstStyle>
          <a:p>
            <a:r>
              <a:rPr lang="en-GB" dirty="0"/>
              <a:t>Signs of Driver Fatigue</a:t>
            </a:r>
          </a:p>
          <a:p>
            <a:pPr marL="342900" indent="-342900">
              <a:buFont typeface="Wingdings" pitchFamily="2" charset="2"/>
              <a:buChar char="§"/>
            </a:pPr>
            <a:r>
              <a:rPr lang="en-GB" sz="1400" b="0" dirty="0">
                <a:solidFill>
                  <a:srgbClr val="000000"/>
                </a:solidFill>
              </a:rPr>
              <a:t>Difficulty concentrating or missing road signs</a:t>
            </a:r>
          </a:p>
          <a:p>
            <a:pPr marL="342900" indent="-342900">
              <a:buFont typeface="Wingdings" pitchFamily="2" charset="2"/>
              <a:buChar char="§"/>
            </a:pPr>
            <a:r>
              <a:rPr lang="en-GB" sz="1400" b="0" dirty="0">
                <a:solidFill>
                  <a:srgbClr val="000000"/>
                </a:solidFill>
              </a:rPr>
              <a:t>Frequent yawning or heavy eyes</a:t>
            </a:r>
          </a:p>
          <a:p>
            <a:pPr marL="342900" indent="-342900">
              <a:buFont typeface="Wingdings" pitchFamily="2" charset="2"/>
              <a:buChar char="§"/>
            </a:pPr>
            <a:r>
              <a:rPr lang="en-GB" sz="1400" b="0" dirty="0">
                <a:solidFill>
                  <a:srgbClr val="000000"/>
                </a:solidFill>
              </a:rPr>
              <a:t>Drifting within lanes</a:t>
            </a:r>
          </a:p>
          <a:p>
            <a:pPr marL="342900" indent="-342900">
              <a:buFont typeface="Wingdings" pitchFamily="2" charset="2"/>
              <a:buChar char="§"/>
            </a:pPr>
            <a:r>
              <a:rPr lang="en-GB" sz="1400" b="0" dirty="0">
                <a:solidFill>
                  <a:srgbClr val="000000"/>
                </a:solidFill>
              </a:rPr>
              <a:t>Feeling restless or impatient</a:t>
            </a:r>
          </a:p>
          <a:p>
            <a:pPr marL="342900" indent="-342900">
              <a:buFont typeface="Wingdings" pitchFamily="2" charset="2"/>
              <a:buChar char="§"/>
            </a:pPr>
            <a:r>
              <a:rPr lang="en-GB" sz="1400" b="0" dirty="0">
                <a:solidFill>
                  <a:srgbClr val="000000"/>
                </a:solidFill>
              </a:rPr>
              <a:t>If you notice these signs, you should stop and rest safely as soon as possible.</a:t>
            </a:r>
          </a:p>
        </p:txBody>
      </p:sp>
      <p:sp>
        <p:nvSpPr>
          <p:cNvPr id="10" name="TextBox 9">
            <a:extLst>
              <a:ext uri="{FF2B5EF4-FFF2-40B4-BE49-F238E27FC236}">
                <a16:creationId xmlns:a16="http://schemas.microsoft.com/office/drawing/2014/main" id="{F97F02D8-BC50-CFCB-8A63-387EE15E3588}"/>
              </a:ext>
            </a:extLst>
          </p:cNvPr>
          <p:cNvSpPr txBox="1"/>
          <p:nvPr/>
        </p:nvSpPr>
        <p:spPr>
          <a:xfrm>
            <a:off x="6271039" y="3719483"/>
            <a:ext cx="5866945" cy="1415772"/>
          </a:xfrm>
          <a:prstGeom prst="rect">
            <a:avLst/>
          </a:prstGeom>
          <a:noFill/>
        </p:spPr>
        <p:txBody>
          <a:bodyPr wrap="square">
            <a:spAutoFit/>
          </a:bodyPr>
          <a:lstStyle/>
          <a:p>
            <a:pPr algn="l">
              <a:buNone/>
            </a:pPr>
            <a:r>
              <a:rPr lang="en-GB" sz="1600" b="1" i="0" dirty="0">
                <a:solidFill>
                  <a:schemeClr val="accent5"/>
                </a:solidFill>
                <a:effectLst/>
                <a:latin typeface="Aptos Narrow" panose="020B0004020202020204" pitchFamily="34" charset="0"/>
              </a:rPr>
              <a:t>What We Expect Everyone To Do</a:t>
            </a:r>
          </a:p>
          <a:p>
            <a:pPr marL="285750" indent="-285750" algn="l">
              <a:buFont typeface="Wingdings" pitchFamily="2" charset="2"/>
              <a:buChar char="§"/>
            </a:pPr>
            <a:r>
              <a:rPr lang="en-GB" b="0" i="0" dirty="0">
                <a:solidFill>
                  <a:schemeClr val="tx1"/>
                </a:solidFill>
                <a:effectLst/>
                <a:latin typeface="Aptos Narrow" panose="020B0004020202020204" pitchFamily="34" charset="0"/>
              </a:rPr>
              <a:t>Plan journeys and allow realistic travel time</a:t>
            </a:r>
          </a:p>
          <a:p>
            <a:pPr marL="285750" indent="-285750" algn="l">
              <a:buFont typeface="Wingdings" pitchFamily="2" charset="2"/>
              <a:buChar char="§"/>
            </a:pPr>
            <a:r>
              <a:rPr lang="en-GB" b="0" i="0" dirty="0">
                <a:solidFill>
                  <a:schemeClr val="tx1"/>
                </a:solidFill>
                <a:effectLst/>
                <a:latin typeface="Aptos Narrow" panose="020B0004020202020204" pitchFamily="34" charset="0"/>
              </a:rPr>
              <a:t>Take regular breaks on longer journeys</a:t>
            </a:r>
          </a:p>
          <a:p>
            <a:pPr marL="285750" indent="-285750" algn="l">
              <a:buFont typeface="Wingdings" pitchFamily="2" charset="2"/>
              <a:buChar char="§"/>
            </a:pPr>
            <a:r>
              <a:rPr lang="en-GB" b="0" i="0" dirty="0">
                <a:solidFill>
                  <a:schemeClr val="tx1"/>
                </a:solidFill>
                <a:effectLst/>
                <a:latin typeface="Aptos Narrow" panose="020B0004020202020204" pitchFamily="34" charset="0"/>
              </a:rPr>
              <a:t>Never use a handheld mobile phone while driving</a:t>
            </a:r>
          </a:p>
          <a:p>
            <a:pPr marL="285750" indent="-285750" algn="l">
              <a:buFont typeface="Wingdings" pitchFamily="2" charset="2"/>
              <a:buChar char="§"/>
            </a:pPr>
            <a:r>
              <a:rPr lang="en-GB" b="0" i="0" dirty="0">
                <a:solidFill>
                  <a:schemeClr val="tx1"/>
                </a:solidFill>
                <a:effectLst/>
                <a:latin typeface="Aptos Narrow" panose="020B0004020202020204" pitchFamily="34" charset="0"/>
              </a:rPr>
              <a:t>Avoid driving when excessively tired or unwell</a:t>
            </a:r>
          </a:p>
          <a:p>
            <a:pPr marL="285750" indent="-285750" algn="l">
              <a:buFont typeface="Wingdings" pitchFamily="2" charset="2"/>
              <a:buChar char="§"/>
            </a:pPr>
            <a:r>
              <a:rPr lang="en-GB" b="0" i="0" dirty="0">
                <a:solidFill>
                  <a:schemeClr val="tx1"/>
                </a:solidFill>
                <a:effectLst/>
                <a:latin typeface="Aptos Narrow" panose="020B0004020202020204" pitchFamily="34" charset="0"/>
              </a:rPr>
              <a:t>Speak up if  travel schedules become unrealistic</a:t>
            </a:r>
          </a:p>
        </p:txBody>
      </p:sp>
      <p:sp>
        <p:nvSpPr>
          <p:cNvPr id="15" name="TextBox 14">
            <a:extLst>
              <a:ext uri="{FF2B5EF4-FFF2-40B4-BE49-F238E27FC236}">
                <a16:creationId xmlns:a16="http://schemas.microsoft.com/office/drawing/2014/main" id="{959D54EC-4D63-334F-7C31-BB22CD86B440}"/>
              </a:ext>
            </a:extLst>
          </p:cNvPr>
          <p:cNvSpPr txBox="1"/>
          <p:nvPr/>
        </p:nvSpPr>
        <p:spPr>
          <a:xfrm>
            <a:off x="202047" y="5357163"/>
            <a:ext cx="11506200" cy="830997"/>
          </a:xfrm>
          <a:prstGeom prst="rect">
            <a:avLst/>
          </a:prstGeom>
          <a:solidFill>
            <a:schemeClr val="accent5">
              <a:lumMod val="20000"/>
              <a:lumOff val="80000"/>
            </a:schemeClr>
          </a:solidFill>
        </p:spPr>
        <p:txBody>
          <a:bodyPr wrap="square">
            <a:spAutoFit/>
          </a:bodyPr>
          <a:lstStyle/>
          <a:p>
            <a:pPr algn="ctr">
              <a:buNone/>
            </a:pPr>
            <a:r>
              <a:rPr lang="en-GB" sz="1600" b="1" i="0" dirty="0">
                <a:solidFill>
                  <a:schemeClr val="tx1"/>
                </a:solidFill>
                <a:effectLst/>
                <a:latin typeface="Aptos Narrow" panose="020B0004020202020204" pitchFamily="34" charset="0"/>
              </a:rPr>
              <a:t>Before every journey, ask yourself:</a:t>
            </a:r>
            <a:endParaRPr lang="en-GB" sz="1600" b="0" i="0" dirty="0">
              <a:solidFill>
                <a:schemeClr val="tx1"/>
              </a:solidFill>
              <a:effectLst/>
              <a:latin typeface="Aptos Narrow" panose="020B0004020202020204" pitchFamily="34" charset="0"/>
            </a:endParaRPr>
          </a:p>
          <a:p>
            <a:pPr algn="ctr">
              <a:buNone/>
            </a:pPr>
            <a:r>
              <a:rPr lang="en-GB" sz="1600" b="0" i="1" dirty="0">
                <a:solidFill>
                  <a:schemeClr val="tx1"/>
                </a:solidFill>
                <a:effectLst/>
                <a:latin typeface="Aptos Narrow" panose="020B0004020202020204" pitchFamily="34" charset="0"/>
              </a:rPr>
              <a:t>“Am I fit, focused and properly rested to drive safely today?”</a:t>
            </a:r>
            <a:endParaRPr lang="en-GB" sz="1600" b="0" i="0" dirty="0">
              <a:solidFill>
                <a:schemeClr val="tx1"/>
              </a:solidFill>
              <a:effectLst/>
              <a:latin typeface="Aptos Narrow" panose="020B0004020202020204" pitchFamily="34" charset="0"/>
            </a:endParaRPr>
          </a:p>
          <a:p>
            <a:pPr algn="ctr">
              <a:buNone/>
            </a:pPr>
            <a:r>
              <a:rPr lang="en-GB" sz="1600" b="0" i="0" dirty="0">
                <a:solidFill>
                  <a:schemeClr val="tx1"/>
                </a:solidFill>
                <a:effectLst/>
                <a:latin typeface="Aptos Narrow" panose="020B0004020202020204" pitchFamily="34" charset="0"/>
              </a:rPr>
              <a:t>If the answer is no — stop, delay or seek support.</a:t>
            </a:r>
          </a:p>
        </p:txBody>
      </p:sp>
    </p:spTree>
    <p:extLst>
      <p:ext uri="{BB962C8B-B14F-4D97-AF65-F5344CB8AC3E}">
        <p14:creationId xmlns:p14="http://schemas.microsoft.com/office/powerpoint/2010/main" val="1786145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D0CCA-B698-A1E9-D181-03F7797D4B32}"/>
              </a:ext>
            </a:extLst>
          </p:cNvPr>
          <p:cNvSpPr>
            <a:spLocks noGrp="1"/>
          </p:cNvSpPr>
          <p:nvPr>
            <p:ph type="title"/>
          </p:nvPr>
        </p:nvSpPr>
        <p:spPr/>
        <p:txBody>
          <a:bodyPr/>
          <a:lstStyle/>
          <a:p>
            <a:r>
              <a:rPr lang="en-US" dirty="0">
                <a:solidFill>
                  <a:schemeClr val="accent5"/>
                </a:solidFill>
                <a:latin typeface="Aptos Narrow" panose="020B0004020202020204" pitchFamily="34" charset="0"/>
              </a:rPr>
              <a:t>Health, Safety &amp; Wellbeing Focus: </a:t>
            </a:r>
            <a:br>
              <a:rPr lang="en-US" dirty="0">
                <a:solidFill>
                  <a:schemeClr val="accent5"/>
                </a:solidFill>
                <a:latin typeface="Aptos Narrow" panose="020B0004020202020204" pitchFamily="34" charset="0"/>
              </a:rPr>
            </a:br>
            <a:r>
              <a:rPr lang="en-US" sz="3600" dirty="0">
                <a:solidFill>
                  <a:schemeClr val="accent4"/>
                </a:solidFill>
                <a:latin typeface="Aptos Narrow" panose="020B0004020202020204" pitchFamily="34" charset="0"/>
              </a:rPr>
              <a:t>M</a:t>
            </a:r>
            <a:r>
              <a:rPr lang="en-GB" sz="3600" dirty="0" err="1">
                <a:solidFill>
                  <a:schemeClr val="accent4"/>
                </a:solidFill>
                <a:latin typeface="Aptos Narrow" panose="020B0004020202020204" pitchFamily="34" charset="0"/>
              </a:rPr>
              <a:t>anual</a:t>
            </a:r>
            <a:r>
              <a:rPr lang="en-GB" sz="3600" dirty="0">
                <a:solidFill>
                  <a:schemeClr val="accent4"/>
                </a:solidFill>
                <a:latin typeface="Aptos Narrow" panose="020B0004020202020204" pitchFamily="34" charset="0"/>
              </a:rPr>
              <a:t> Handling &amp; Office Safety</a:t>
            </a:r>
            <a:endParaRPr lang="en-GB" dirty="0">
              <a:solidFill>
                <a:schemeClr val="accent4"/>
              </a:solidFill>
              <a:latin typeface="Aptos Narrow" panose="020B0004020202020204" pitchFamily="34" charset="0"/>
            </a:endParaRPr>
          </a:p>
        </p:txBody>
      </p:sp>
      <p:sp>
        <p:nvSpPr>
          <p:cNvPr id="5" name="TextBox 4">
            <a:extLst>
              <a:ext uri="{FF2B5EF4-FFF2-40B4-BE49-F238E27FC236}">
                <a16:creationId xmlns:a16="http://schemas.microsoft.com/office/drawing/2014/main" id="{57457707-DB40-31BA-A610-69B5F7FAD937}"/>
              </a:ext>
            </a:extLst>
          </p:cNvPr>
          <p:cNvSpPr txBox="1"/>
          <p:nvPr/>
        </p:nvSpPr>
        <p:spPr>
          <a:xfrm>
            <a:off x="167640" y="1785278"/>
            <a:ext cx="6100354" cy="2062103"/>
          </a:xfrm>
          <a:prstGeom prst="rect">
            <a:avLst/>
          </a:prstGeom>
          <a:noFill/>
        </p:spPr>
        <p:txBody>
          <a:bodyPr wrap="square">
            <a:spAutoFit/>
          </a:bodyPr>
          <a:lstStyle/>
          <a:p>
            <a:pPr algn="l"/>
            <a:r>
              <a:rPr lang="en-GB" sz="1600" b="1" i="0">
                <a:solidFill>
                  <a:schemeClr val="accent5"/>
                </a:solidFill>
                <a:effectLst/>
                <a:latin typeface="Aptos Narrow" panose="020B0004020202020204" pitchFamily="34" charset="0"/>
              </a:rPr>
              <a:t>Why This Matters?</a:t>
            </a:r>
            <a:br>
              <a:rPr lang="en-GB" sz="1600" b="0" i="0">
                <a:solidFill>
                  <a:schemeClr val="accent5"/>
                </a:solidFill>
                <a:effectLst/>
                <a:latin typeface="Aptos Narrow" panose="020B0004020202020204" pitchFamily="34" charset="0"/>
              </a:rPr>
            </a:br>
            <a:r>
              <a:rPr lang="en-GB" sz="1600" b="0" i="0">
                <a:solidFill>
                  <a:schemeClr val="tx1"/>
                </a:solidFill>
                <a:effectLst/>
                <a:latin typeface="Aptos Narrow" panose="020B0004020202020204" pitchFamily="34" charset="0"/>
              </a:rPr>
              <a:t>Poor manual handling and unsafe office practices can lead to:</a:t>
            </a:r>
          </a:p>
          <a:p>
            <a:pPr marL="285750" indent="-285750" algn="l">
              <a:buFont typeface="Wingdings" pitchFamily="2" charset="2"/>
              <a:buChar char="§"/>
            </a:pPr>
            <a:r>
              <a:rPr lang="en-GB" sz="1600" b="0" i="0">
                <a:solidFill>
                  <a:schemeClr val="tx1"/>
                </a:solidFill>
                <a:effectLst/>
                <a:latin typeface="Aptos Narrow" panose="020B0004020202020204" pitchFamily="34" charset="0"/>
              </a:rPr>
              <a:t>Musculoskeletal injuries (e.g. back, neck, shoulder strain)</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Slips, trips, and falls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Reduced productivity and increased absence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Long-term health issues if not addressed early</a:t>
            </a:r>
          </a:p>
          <a:p>
            <a:pPr algn="l">
              <a:buNone/>
            </a:pPr>
            <a:r>
              <a:rPr lang="en-GB" sz="1600" b="0" i="0">
                <a:solidFill>
                  <a:schemeClr val="tx1"/>
                </a:solidFill>
                <a:effectLst/>
                <a:latin typeface="Aptos Narrow" panose="020B0004020202020204" pitchFamily="34" charset="0"/>
              </a:rPr>
              <a:t>Safe handling and good workstation setup help protect both health and performance.</a:t>
            </a:r>
          </a:p>
        </p:txBody>
      </p:sp>
      <p:sp>
        <p:nvSpPr>
          <p:cNvPr id="7" name="TextBox 6">
            <a:extLst>
              <a:ext uri="{FF2B5EF4-FFF2-40B4-BE49-F238E27FC236}">
                <a16:creationId xmlns:a16="http://schemas.microsoft.com/office/drawing/2014/main" id="{538A3F8A-7744-C6B2-773D-FA1B9A7D16D1}"/>
              </a:ext>
            </a:extLst>
          </p:cNvPr>
          <p:cNvSpPr txBox="1"/>
          <p:nvPr/>
        </p:nvSpPr>
        <p:spPr>
          <a:xfrm>
            <a:off x="167640" y="3915576"/>
            <a:ext cx="6100354" cy="1569660"/>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Common Risks in the Workplace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Lifting, carrying, or moving items incorrectly</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Repetitive movements or awkward postures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Poor workstation setup (chair, screen, keyboard)</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Trailing cables or cluttered walkways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Sitting for prolonged periods without breaks</a:t>
            </a:r>
          </a:p>
        </p:txBody>
      </p:sp>
      <p:sp>
        <p:nvSpPr>
          <p:cNvPr id="9" name="TextBox 8">
            <a:extLst>
              <a:ext uri="{FF2B5EF4-FFF2-40B4-BE49-F238E27FC236}">
                <a16:creationId xmlns:a16="http://schemas.microsoft.com/office/drawing/2014/main" id="{1EDA7071-AB2B-6DD5-CA3C-19BA6515816A}"/>
              </a:ext>
            </a:extLst>
          </p:cNvPr>
          <p:cNvSpPr txBox="1"/>
          <p:nvPr/>
        </p:nvSpPr>
        <p:spPr>
          <a:xfrm>
            <a:off x="6267994" y="1734919"/>
            <a:ext cx="5168537" cy="1569660"/>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Signs That Issues May Be Developing</a:t>
            </a:r>
          </a:p>
          <a:p>
            <a:pPr marL="285750" indent="-285750" algn="l">
              <a:buFont typeface="Wingdings" pitchFamily="2" charset="2"/>
              <a:buChar char="§"/>
            </a:pPr>
            <a:r>
              <a:rPr lang="en-GB" sz="1600" b="0" i="0">
                <a:solidFill>
                  <a:schemeClr val="tx1"/>
                </a:solidFill>
                <a:effectLst/>
                <a:latin typeface="Aptos Narrow" panose="020B0004020202020204" pitchFamily="34" charset="0"/>
              </a:rPr>
              <a:t>Back, neck, or shoulder discomfort</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Tingling, stiffness, or reduced movement</a:t>
            </a:r>
          </a:p>
          <a:p>
            <a:pPr marL="285750" indent="-285750" algn="l">
              <a:buFont typeface="Wingdings" pitchFamily="2" charset="2"/>
              <a:buChar char="§"/>
            </a:pPr>
            <a:r>
              <a:rPr lang="en-GB" sz="1600" b="0" i="0">
                <a:solidFill>
                  <a:schemeClr val="tx1"/>
                </a:solidFill>
                <a:effectLst/>
                <a:latin typeface="Aptos Narrow" panose="020B0004020202020204" pitchFamily="34" charset="0"/>
              </a:rPr>
              <a:t>Fatigue from prolonged sitting or poor posture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Near misses involving trips or dropped items</a:t>
            </a:r>
          </a:p>
          <a:p>
            <a:pPr algn="l">
              <a:buNone/>
            </a:pPr>
            <a:r>
              <a:rPr lang="en-GB" sz="1600" b="0" i="0">
                <a:solidFill>
                  <a:schemeClr val="tx1"/>
                </a:solidFill>
                <a:effectLst/>
                <a:latin typeface="Aptos Narrow" panose="020B0004020202020204" pitchFamily="34" charset="0"/>
              </a:rPr>
              <a:t>Recognising these early helps prevent more serious injury.</a:t>
            </a:r>
          </a:p>
        </p:txBody>
      </p:sp>
      <p:sp>
        <p:nvSpPr>
          <p:cNvPr id="11" name="TextBox 10">
            <a:extLst>
              <a:ext uri="{FF2B5EF4-FFF2-40B4-BE49-F238E27FC236}">
                <a16:creationId xmlns:a16="http://schemas.microsoft.com/office/drawing/2014/main" id="{FE9C3C8C-100F-B6AB-E12E-F731B38DC918}"/>
              </a:ext>
            </a:extLst>
          </p:cNvPr>
          <p:cNvSpPr txBox="1"/>
          <p:nvPr/>
        </p:nvSpPr>
        <p:spPr>
          <a:xfrm>
            <a:off x="6267994" y="3372774"/>
            <a:ext cx="5756366" cy="2308324"/>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What You Can Do?</a:t>
            </a:r>
          </a:p>
          <a:p>
            <a:pPr marL="285750" indent="-285750" algn="l">
              <a:buFont typeface="Wingdings" pitchFamily="2" charset="2"/>
              <a:buChar char="§"/>
            </a:pPr>
            <a:r>
              <a:rPr lang="en-GB" sz="1600" b="0" i="0">
                <a:solidFill>
                  <a:schemeClr val="tx1"/>
                </a:solidFill>
                <a:effectLst/>
                <a:latin typeface="Aptos Narrow" panose="020B0004020202020204" pitchFamily="34" charset="0"/>
              </a:rPr>
              <a:t>Assess the load before lifting – use mechanical aids where possible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Follow correct lifting techniques (keep load close, avoid twisting)</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Set up your workstation correctly (screen at eye level, good posture)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Keep work areas tidy to prevent trips and hazards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Take regular breaks and change posture throughout the day</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Report hazards, discomfort, or concerns early</a:t>
            </a:r>
          </a:p>
        </p:txBody>
      </p:sp>
      <p:sp>
        <p:nvSpPr>
          <p:cNvPr id="13" name="TextBox 12">
            <a:extLst>
              <a:ext uri="{FF2B5EF4-FFF2-40B4-BE49-F238E27FC236}">
                <a16:creationId xmlns:a16="http://schemas.microsoft.com/office/drawing/2014/main" id="{21553027-3FE4-4E61-CA7E-718EBACD3BC1}"/>
              </a:ext>
            </a:extLst>
          </p:cNvPr>
          <p:cNvSpPr txBox="1"/>
          <p:nvPr/>
        </p:nvSpPr>
        <p:spPr>
          <a:xfrm>
            <a:off x="307334" y="5822420"/>
            <a:ext cx="11506200" cy="584775"/>
          </a:xfrm>
          <a:prstGeom prst="rect">
            <a:avLst/>
          </a:prstGeom>
          <a:solidFill>
            <a:schemeClr val="accent5">
              <a:lumMod val="20000"/>
              <a:lumOff val="80000"/>
            </a:schemeClr>
          </a:solidFill>
        </p:spPr>
        <p:txBody>
          <a:bodyPr wrap="square">
            <a:spAutoFit/>
          </a:bodyPr>
          <a:lstStyle/>
          <a:p>
            <a:pPr>
              <a:buNone/>
            </a:pPr>
            <a:r>
              <a:rPr lang="en-GB" sz="1600" b="1" i="0">
                <a:solidFill>
                  <a:schemeClr val="accent5"/>
                </a:solidFill>
                <a:effectLst/>
                <a:latin typeface="Aptos Narrow" panose="020B0004020202020204" pitchFamily="34" charset="0"/>
              </a:rPr>
              <a:t>Did You Know? </a:t>
            </a:r>
            <a:r>
              <a:rPr lang="en-GB" sz="1600" b="1">
                <a:solidFill>
                  <a:schemeClr val="accent5"/>
                </a:solidFill>
                <a:latin typeface="Aptos Narrow" panose="020B0004020202020204" pitchFamily="34" charset="0"/>
              </a:rPr>
              <a:t> </a:t>
            </a:r>
            <a:r>
              <a:rPr lang="en-GB" sz="1600" b="1" i="0">
                <a:solidFill>
                  <a:schemeClr val="accent5"/>
                </a:solidFill>
                <a:effectLst/>
                <a:latin typeface="Aptos Narrow" panose="020B0004020202020204" pitchFamily="34" charset="0"/>
              </a:rPr>
              <a:t>Musculoskeletal disorders are one of the most common causes of workplace absence in the UK. Many of these injuries are preventable through simple changes to how we lift, move, and work at our desks.</a:t>
            </a:r>
          </a:p>
        </p:txBody>
      </p:sp>
      <p:sp>
        <p:nvSpPr>
          <p:cNvPr id="14" name="TextBox 13">
            <a:extLst>
              <a:ext uri="{FF2B5EF4-FFF2-40B4-BE49-F238E27FC236}">
                <a16:creationId xmlns:a16="http://schemas.microsoft.com/office/drawing/2014/main" id="{3CEAB050-F133-70C2-5296-CEFB986658A8}"/>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April 2026 </a:t>
            </a:r>
            <a:endParaRPr lang="en-GB" sz="2000" b="1"/>
          </a:p>
        </p:txBody>
      </p:sp>
      <p:sp>
        <p:nvSpPr>
          <p:cNvPr id="17" name="TextBox 16">
            <a:extLst>
              <a:ext uri="{FF2B5EF4-FFF2-40B4-BE49-F238E27FC236}">
                <a16:creationId xmlns:a16="http://schemas.microsoft.com/office/drawing/2014/main" id="{C1D777DD-9B57-E58A-1B10-38FF6FA8BA2A}"/>
              </a:ext>
            </a:extLst>
          </p:cNvPr>
          <p:cNvSpPr txBox="1"/>
          <p:nvPr/>
        </p:nvSpPr>
        <p:spPr>
          <a:xfrm>
            <a:off x="289560" y="6464027"/>
            <a:ext cx="11506200" cy="400110"/>
          </a:xfrm>
          <a:prstGeom prst="rect">
            <a:avLst/>
          </a:prstGeom>
          <a:solidFill>
            <a:schemeClr val="accent4"/>
          </a:solidFill>
        </p:spPr>
        <p:txBody>
          <a:bodyPr wrap="square">
            <a:spAutoFit/>
          </a:bodyPr>
          <a:lstStyle/>
          <a:p>
            <a:pPr algn="ctr"/>
            <a:r>
              <a:rPr lang="en-GB" sz="2000" b="1" i="0" u="none" strike="noStrike">
                <a:solidFill>
                  <a:schemeClr val="tx1"/>
                </a:solidFill>
                <a:effectLst/>
                <a:latin typeface="Aptos Narrow" panose="020B0004020202020204" pitchFamily="34" charset="0"/>
              </a:rPr>
              <a:t>Safe handling and good workstation setup help protect both health and performance.</a:t>
            </a:r>
            <a:endParaRPr lang="en-US" sz="2000" b="1">
              <a:solidFill>
                <a:schemeClr val="tx1"/>
              </a:solidFill>
              <a:latin typeface="Aptos Narrow" panose="020B0004020202020204" pitchFamily="34" charset="0"/>
            </a:endParaRPr>
          </a:p>
        </p:txBody>
      </p:sp>
    </p:spTree>
    <p:extLst>
      <p:ext uri="{BB962C8B-B14F-4D97-AF65-F5344CB8AC3E}">
        <p14:creationId xmlns:p14="http://schemas.microsoft.com/office/powerpoint/2010/main" val="3020688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D0CCA-B698-A1E9-D181-03F7797D4B32}"/>
              </a:ext>
            </a:extLst>
          </p:cNvPr>
          <p:cNvSpPr>
            <a:spLocks noGrp="1"/>
          </p:cNvSpPr>
          <p:nvPr>
            <p:ph type="title"/>
          </p:nvPr>
        </p:nvSpPr>
        <p:spPr/>
        <p:txBody>
          <a:bodyPr/>
          <a:lstStyle/>
          <a:p>
            <a:r>
              <a:rPr lang="en-US">
                <a:solidFill>
                  <a:schemeClr val="accent5"/>
                </a:solidFill>
                <a:latin typeface="Aptos Narrow" panose="020B0004020202020204" pitchFamily="34" charset="0"/>
              </a:rPr>
              <a:t>Health, Safety &amp; Wellbeing Focus: </a:t>
            </a:r>
            <a:br>
              <a:rPr lang="en-US">
                <a:solidFill>
                  <a:schemeClr val="accent5"/>
                </a:solidFill>
                <a:latin typeface="Aptos Narrow" panose="020B0004020202020204" pitchFamily="34" charset="0"/>
              </a:rPr>
            </a:br>
            <a:r>
              <a:rPr lang="en-US" sz="3600">
                <a:solidFill>
                  <a:schemeClr val="accent4"/>
                </a:solidFill>
                <a:latin typeface="Aptos Narrow" panose="020B0004020202020204" pitchFamily="34" charset="0"/>
              </a:rPr>
              <a:t>M</a:t>
            </a:r>
            <a:r>
              <a:rPr lang="en-GB" sz="3600">
                <a:solidFill>
                  <a:schemeClr val="accent4"/>
                </a:solidFill>
                <a:latin typeface="Aptos Narrow" panose="020B0004020202020204" pitchFamily="34" charset="0"/>
              </a:rPr>
              <a:t>anual Handling &amp; Office Safety</a:t>
            </a:r>
            <a:endParaRPr lang="en-GB">
              <a:solidFill>
                <a:schemeClr val="accent4"/>
              </a:solidFill>
              <a:latin typeface="Aptos Narrow" panose="020B0004020202020204" pitchFamily="34" charset="0"/>
            </a:endParaRPr>
          </a:p>
        </p:txBody>
      </p:sp>
      <p:sp>
        <p:nvSpPr>
          <p:cNvPr id="5" name="TextBox 4">
            <a:extLst>
              <a:ext uri="{FF2B5EF4-FFF2-40B4-BE49-F238E27FC236}">
                <a16:creationId xmlns:a16="http://schemas.microsoft.com/office/drawing/2014/main" id="{57457707-DB40-31BA-A610-69B5F7FAD937}"/>
              </a:ext>
            </a:extLst>
          </p:cNvPr>
          <p:cNvSpPr txBox="1"/>
          <p:nvPr/>
        </p:nvSpPr>
        <p:spPr>
          <a:xfrm>
            <a:off x="167640" y="1785278"/>
            <a:ext cx="6100354" cy="2062103"/>
          </a:xfrm>
          <a:prstGeom prst="rect">
            <a:avLst/>
          </a:prstGeom>
          <a:noFill/>
        </p:spPr>
        <p:txBody>
          <a:bodyPr wrap="square">
            <a:spAutoFit/>
          </a:bodyPr>
          <a:lstStyle/>
          <a:p>
            <a:pPr algn="l"/>
            <a:r>
              <a:rPr lang="en-GB" sz="1600" b="1" i="0">
                <a:solidFill>
                  <a:schemeClr val="accent5"/>
                </a:solidFill>
                <a:effectLst/>
                <a:latin typeface="Aptos Narrow" panose="020B0004020202020204" pitchFamily="34" charset="0"/>
              </a:rPr>
              <a:t>Why This Matters?</a:t>
            </a:r>
            <a:br>
              <a:rPr lang="en-GB" sz="1600" b="0" i="0">
                <a:solidFill>
                  <a:schemeClr val="accent5"/>
                </a:solidFill>
                <a:effectLst/>
                <a:latin typeface="Aptos Narrow" panose="020B0004020202020204" pitchFamily="34" charset="0"/>
              </a:rPr>
            </a:br>
            <a:r>
              <a:rPr lang="en-GB" sz="1600" b="0" i="0">
                <a:solidFill>
                  <a:schemeClr val="tx1"/>
                </a:solidFill>
                <a:effectLst/>
                <a:latin typeface="Aptos Narrow" panose="020B0004020202020204" pitchFamily="34" charset="0"/>
              </a:rPr>
              <a:t>Poor manual handling and unsafe office practices can lead to:</a:t>
            </a:r>
          </a:p>
          <a:p>
            <a:pPr marL="285750" indent="-285750" algn="l">
              <a:buFont typeface="Wingdings" pitchFamily="2" charset="2"/>
              <a:buChar char="§"/>
            </a:pPr>
            <a:r>
              <a:rPr lang="en-GB" sz="1600" b="0" i="0">
                <a:solidFill>
                  <a:schemeClr val="tx1"/>
                </a:solidFill>
                <a:effectLst/>
                <a:latin typeface="Aptos Narrow" panose="020B0004020202020204" pitchFamily="34" charset="0"/>
              </a:rPr>
              <a:t>Musculoskeletal injuries (e.g. back, neck, shoulder strain)</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Slips, trips, and falls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Reduced productivity and increased absence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Long-term health issues if not addressed early</a:t>
            </a:r>
          </a:p>
          <a:p>
            <a:pPr algn="l">
              <a:buNone/>
            </a:pPr>
            <a:r>
              <a:rPr lang="en-GB" sz="1600" b="0" i="0">
                <a:solidFill>
                  <a:schemeClr val="tx1"/>
                </a:solidFill>
                <a:effectLst/>
                <a:latin typeface="Aptos Narrow" panose="020B0004020202020204" pitchFamily="34" charset="0"/>
              </a:rPr>
              <a:t>Safe handling and good workstation setup help protect both health and performance.</a:t>
            </a:r>
          </a:p>
        </p:txBody>
      </p:sp>
      <p:sp>
        <p:nvSpPr>
          <p:cNvPr id="7" name="TextBox 6">
            <a:extLst>
              <a:ext uri="{FF2B5EF4-FFF2-40B4-BE49-F238E27FC236}">
                <a16:creationId xmlns:a16="http://schemas.microsoft.com/office/drawing/2014/main" id="{538A3F8A-7744-C6B2-773D-FA1B9A7D16D1}"/>
              </a:ext>
            </a:extLst>
          </p:cNvPr>
          <p:cNvSpPr txBox="1"/>
          <p:nvPr/>
        </p:nvSpPr>
        <p:spPr>
          <a:xfrm>
            <a:off x="167640" y="3915576"/>
            <a:ext cx="6100354" cy="1569660"/>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Common Risks in the Workplace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Lifting, carrying, or moving items incorrectly</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Repetitive movements or awkward postures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Poor workstation setup (chair, screen, keyboard)</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Trailing cables or cluttered walkways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Sitting for prolonged periods without breaks</a:t>
            </a:r>
          </a:p>
        </p:txBody>
      </p:sp>
      <p:sp>
        <p:nvSpPr>
          <p:cNvPr id="9" name="TextBox 8">
            <a:extLst>
              <a:ext uri="{FF2B5EF4-FFF2-40B4-BE49-F238E27FC236}">
                <a16:creationId xmlns:a16="http://schemas.microsoft.com/office/drawing/2014/main" id="{1EDA7071-AB2B-6DD5-CA3C-19BA6515816A}"/>
              </a:ext>
            </a:extLst>
          </p:cNvPr>
          <p:cNvSpPr txBox="1"/>
          <p:nvPr/>
        </p:nvSpPr>
        <p:spPr>
          <a:xfrm>
            <a:off x="6267994" y="1734919"/>
            <a:ext cx="5168537" cy="1569660"/>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Signs That Issues May Be Developing</a:t>
            </a:r>
          </a:p>
          <a:p>
            <a:pPr marL="285750" indent="-285750" algn="l">
              <a:buFont typeface="Wingdings" pitchFamily="2" charset="2"/>
              <a:buChar char="§"/>
            </a:pPr>
            <a:r>
              <a:rPr lang="en-GB" sz="1600" b="0" i="0">
                <a:solidFill>
                  <a:schemeClr val="tx1"/>
                </a:solidFill>
                <a:effectLst/>
                <a:latin typeface="Aptos Narrow" panose="020B0004020202020204" pitchFamily="34" charset="0"/>
              </a:rPr>
              <a:t>Back, neck, or shoulder discomfort</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Tingling, stiffness, or reduced movement</a:t>
            </a:r>
          </a:p>
          <a:p>
            <a:pPr marL="285750" indent="-285750" algn="l">
              <a:buFont typeface="Wingdings" pitchFamily="2" charset="2"/>
              <a:buChar char="§"/>
            </a:pPr>
            <a:r>
              <a:rPr lang="en-GB" sz="1600" b="0" i="0">
                <a:solidFill>
                  <a:schemeClr val="tx1"/>
                </a:solidFill>
                <a:effectLst/>
                <a:latin typeface="Aptos Narrow" panose="020B0004020202020204" pitchFamily="34" charset="0"/>
              </a:rPr>
              <a:t>Fatigue from prolonged sitting or poor posture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Near misses involving trips or dropped items</a:t>
            </a:r>
          </a:p>
          <a:p>
            <a:pPr algn="l">
              <a:buNone/>
            </a:pPr>
            <a:r>
              <a:rPr lang="en-GB" sz="1600" b="0" i="0">
                <a:solidFill>
                  <a:schemeClr val="tx1"/>
                </a:solidFill>
                <a:effectLst/>
                <a:latin typeface="Aptos Narrow" panose="020B0004020202020204" pitchFamily="34" charset="0"/>
              </a:rPr>
              <a:t>Recognising these early helps prevent more serious injury.</a:t>
            </a:r>
          </a:p>
        </p:txBody>
      </p:sp>
      <p:sp>
        <p:nvSpPr>
          <p:cNvPr id="11" name="TextBox 10">
            <a:extLst>
              <a:ext uri="{FF2B5EF4-FFF2-40B4-BE49-F238E27FC236}">
                <a16:creationId xmlns:a16="http://schemas.microsoft.com/office/drawing/2014/main" id="{FE9C3C8C-100F-B6AB-E12E-F731B38DC918}"/>
              </a:ext>
            </a:extLst>
          </p:cNvPr>
          <p:cNvSpPr txBox="1"/>
          <p:nvPr/>
        </p:nvSpPr>
        <p:spPr>
          <a:xfrm>
            <a:off x="6267994" y="3372774"/>
            <a:ext cx="5756366" cy="2308324"/>
          </a:xfrm>
          <a:prstGeom prst="rect">
            <a:avLst/>
          </a:prstGeom>
          <a:noFill/>
        </p:spPr>
        <p:txBody>
          <a:bodyPr wrap="square">
            <a:spAutoFit/>
          </a:bodyPr>
          <a:lstStyle/>
          <a:p>
            <a:pPr algn="l">
              <a:buNone/>
            </a:pPr>
            <a:r>
              <a:rPr lang="en-GB" sz="1600" b="1" i="0">
                <a:solidFill>
                  <a:schemeClr val="accent5"/>
                </a:solidFill>
                <a:effectLst/>
                <a:latin typeface="Aptos Narrow" panose="020B0004020202020204" pitchFamily="34" charset="0"/>
              </a:rPr>
              <a:t>What You Can Do?</a:t>
            </a:r>
          </a:p>
          <a:p>
            <a:pPr marL="285750" indent="-285750" algn="l">
              <a:buFont typeface="Wingdings" pitchFamily="2" charset="2"/>
              <a:buChar char="§"/>
            </a:pPr>
            <a:r>
              <a:rPr lang="en-GB" sz="1600" b="0" i="0">
                <a:solidFill>
                  <a:schemeClr val="tx1"/>
                </a:solidFill>
                <a:effectLst/>
                <a:latin typeface="Aptos Narrow" panose="020B0004020202020204" pitchFamily="34" charset="0"/>
              </a:rPr>
              <a:t>Assess the load before lifting – use mechanical aids where possible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Follow correct lifting techniques (keep load close, avoid twisting)</a:t>
            </a:r>
          </a:p>
          <a:p>
            <a:pPr marL="285750" indent="-285750" algn="l">
              <a:buFont typeface="Wingdings" pitchFamily="2" charset="2"/>
              <a:buChar char="§"/>
            </a:pPr>
            <a:r>
              <a:rPr lang="en-GB" sz="1600" b="0" i="0">
                <a:solidFill>
                  <a:schemeClr val="tx1"/>
                </a:solidFill>
                <a:effectLst/>
                <a:latin typeface="Aptos Narrow" panose="020B0004020202020204" pitchFamily="34" charset="0"/>
              </a:rPr>
              <a:t>Set up your workstation correctly (screen at eye level, good posture)</a:t>
            </a:r>
          </a:p>
          <a:p>
            <a:pPr marL="285750" indent="-285750" algn="l">
              <a:buFont typeface="Wingdings" pitchFamily="2" charset="2"/>
              <a:buChar char="§"/>
            </a:pPr>
            <a:r>
              <a:rPr lang="en-GB" sz="1600" b="0" i="0">
                <a:solidFill>
                  <a:schemeClr val="tx1"/>
                </a:solidFill>
                <a:effectLst/>
                <a:latin typeface="Aptos Narrow" panose="020B0004020202020204" pitchFamily="34" charset="0"/>
              </a:rPr>
              <a:t>Keep work areas tidy to prevent trips and hazards</a:t>
            </a:r>
          </a:p>
          <a:p>
            <a:pPr marL="285750" indent="-285750" algn="l">
              <a:buFont typeface="Wingdings" pitchFamily="2" charset="2"/>
              <a:buChar char="§"/>
            </a:pPr>
            <a:r>
              <a:rPr lang="en-GB" sz="1600" b="0" i="0">
                <a:solidFill>
                  <a:schemeClr val="tx1"/>
                </a:solidFill>
                <a:effectLst/>
                <a:latin typeface="Aptos Narrow" panose="020B0004020202020204" pitchFamily="34" charset="0"/>
              </a:rPr>
              <a:t>Take regular breaks and change posture throughout the day</a:t>
            </a:r>
          </a:p>
          <a:p>
            <a:pPr marL="285750" indent="-285750" algn="l">
              <a:buFont typeface="Wingdings" pitchFamily="2" charset="2"/>
              <a:buChar char="§"/>
            </a:pPr>
            <a:r>
              <a:rPr lang="en-GB" sz="1600" b="0" i="0">
                <a:solidFill>
                  <a:schemeClr val="tx1"/>
                </a:solidFill>
                <a:effectLst/>
                <a:latin typeface="Aptos Narrow" panose="020B0004020202020204" pitchFamily="34" charset="0"/>
              </a:rPr>
              <a:t>Report hazards, discomfort, or concerns early</a:t>
            </a:r>
          </a:p>
        </p:txBody>
      </p:sp>
      <p:sp>
        <p:nvSpPr>
          <p:cNvPr id="13" name="TextBox 12">
            <a:extLst>
              <a:ext uri="{FF2B5EF4-FFF2-40B4-BE49-F238E27FC236}">
                <a16:creationId xmlns:a16="http://schemas.microsoft.com/office/drawing/2014/main" id="{21553027-3FE4-4E61-CA7E-718EBACD3BC1}"/>
              </a:ext>
            </a:extLst>
          </p:cNvPr>
          <p:cNvSpPr txBox="1"/>
          <p:nvPr/>
        </p:nvSpPr>
        <p:spPr>
          <a:xfrm>
            <a:off x="307334" y="5822420"/>
            <a:ext cx="11506200" cy="584775"/>
          </a:xfrm>
          <a:prstGeom prst="rect">
            <a:avLst/>
          </a:prstGeom>
          <a:solidFill>
            <a:schemeClr val="accent5">
              <a:lumMod val="20000"/>
              <a:lumOff val="80000"/>
            </a:schemeClr>
          </a:solidFill>
        </p:spPr>
        <p:txBody>
          <a:bodyPr wrap="square">
            <a:spAutoFit/>
          </a:bodyPr>
          <a:lstStyle/>
          <a:p>
            <a:pPr>
              <a:buNone/>
            </a:pPr>
            <a:r>
              <a:rPr lang="en-GB" sz="1600" b="1" i="0">
                <a:solidFill>
                  <a:schemeClr val="accent5"/>
                </a:solidFill>
                <a:effectLst/>
                <a:latin typeface="Aptos Narrow" panose="020B0004020202020204" pitchFamily="34" charset="0"/>
              </a:rPr>
              <a:t>Did You Know? </a:t>
            </a:r>
            <a:r>
              <a:rPr lang="en-GB" sz="1600" b="1">
                <a:solidFill>
                  <a:schemeClr val="accent5"/>
                </a:solidFill>
                <a:latin typeface="Aptos Narrow" panose="020B0004020202020204" pitchFamily="34" charset="0"/>
              </a:rPr>
              <a:t> </a:t>
            </a:r>
            <a:r>
              <a:rPr lang="en-GB" sz="1600" b="1" i="0">
                <a:solidFill>
                  <a:schemeClr val="accent5"/>
                </a:solidFill>
                <a:effectLst/>
                <a:latin typeface="Aptos Narrow" panose="020B0004020202020204" pitchFamily="34" charset="0"/>
              </a:rPr>
              <a:t>Musculoskeletal disorders are one of the most common causes of workplace absence in the UK. Many of these injuries are preventable through simple changes to how we lift, move, and work at our desks.</a:t>
            </a:r>
          </a:p>
        </p:txBody>
      </p:sp>
      <p:sp>
        <p:nvSpPr>
          <p:cNvPr id="14" name="TextBox 13">
            <a:extLst>
              <a:ext uri="{FF2B5EF4-FFF2-40B4-BE49-F238E27FC236}">
                <a16:creationId xmlns:a16="http://schemas.microsoft.com/office/drawing/2014/main" id="{3CEAB050-F133-70C2-5296-CEFB986658A8}"/>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April 2026 </a:t>
            </a:r>
            <a:endParaRPr lang="en-GB" sz="2000" b="1"/>
          </a:p>
        </p:txBody>
      </p:sp>
      <p:sp>
        <p:nvSpPr>
          <p:cNvPr id="17" name="TextBox 16">
            <a:extLst>
              <a:ext uri="{FF2B5EF4-FFF2-40B4-BE49-F238E27FC236}">
                <a16:creationId xmlns:a16="http://schemas.microsoft.com/office/drawing/2014/main" id="{C1D777DD-9B57-E58A-1B10-38FF6FA8BA2A}"/>
              </a:ext>
            </a:extLst>
          </p:cNvPr>
          <p:cNvSpPr txBox="1"/>
          <p:nvPr/>
        </p:nvSpPr>
        <p:spPr>
          <a:xfrm>
            <a:off x="289560" y="6464027"/>
            <a:ext cx="11506200" cy="400110"/>
          </a:xfrm>
          <a:prstGeom prst="rect">
            <a:avLst/>
          </a:prstGeom>
          <a:solidFill>
            <a:schemeClr val="accent4"/>
          </a:solidFill>
        </p:spPr>
        <p:txBody>
          <a:bodyPr wrap="square">
            <a:spAutoFit/>
          </a:bodyPr>
          <a:lstStyle/>
          <a:p>
            <a:pPr algn="ctr"/>
            <a:r>
              <a:rPr lang="en-GB" sz="2000" b="1" i="0" u="none" strike="noStrike">
                <a:solidFill>
                  <a:schemeClr val="tx1"/>
                </a:solidFill>
                <a:effectLst/>
                <a:latin typeface="Aptos Narrow" panose="020B0004020202020204" pitchFamily="34" charset="0"/>
              </a:rPr>
              <a:t>Safe handling and good workstation setup help protect both health and performance.</a:t>
            </a:r>
            <a:endParaRPr lang="en-US" sz="2000" b="1">
              <a:solidFill>
                <a:schemeClr val="tx1"/>
              </a:solidFill>
              <a:latin typeface="Aptos Narrow" panose="020B0004020202020204" pitchFamily="34" charset="0"/>
            </a:endParaRPr>
          </a:p>
        </p:txBody>
      </p:sp>
    </p:spTree>
    <p:extLst>
      <p:ext uri="{BB962C8B-B14F-4D97-AF65-F5344CB8AC3E}">
        <p14:creationId xmlns:p14="http://schemas.microsoft.com/office/powerpoint/2010/main" val="1685738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940A1-D080-3913-8033-07B41BFFB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E122D9-5303-8E73-454B-3B347A9EBC32}"/>
              </a:ext>
            </a:extLst>
          </p:cNvPr>
          <p:cNvSpPr>
            <a:spLocks noGrp="1"/>
          </p:cNvSpPr>
          <p:nvPr>
            <p:ph type="title"/>
          </p:nvPr>
        </p:nvSpPr>
        <p:spPr>
          <a:xfrm>
            <a:off x="838200" y="223301"/>
            <a:ext cx="10515600" cy="1325563"/>
          </a:xfrm>
        </p:spPr>
        <p:txBody>
          <a:bodyPr>
            <a:noAutofit/>
          </a:bodyPr>
          <a:lstStyle/>
          <a:p>
            <a:r>
              <a:rPr lang="en-US" sz="3600">
                <a:solidFill>
                  <a:schemeClr val="accent5"/>
                </a:solidFill>
                <a:latin typeface="Aptos Narrow" panose="020B0004020202020204" pitchFamily="34" charset="0"/>
              </a:rPr>
              <a:t>Health, Safety &amp; Wellbeing Focus: Stress Awareness &amp; Workload Management</a:t>
            </a:r>
            <a:endParaRPr lang="en-GB" sz="2900">
              <a:solidFill>
                <a:schemeClr val="accent5"/>
              </a:solidFill>
              <a:latin typeface="Aptos Narrow" panose="020B0004020202020204" pitchFamily="34" charset="0"/>
            </a:endParaRPr>
          </a:p>
        </p:txBody>
      </p:sp>
      <p:sp>
        <p:nvSpPr>
          <p:cNvPr id="3" name="Text Placeholder 2">
            <a:extLst>
              <a:ext uri="{FF2B5EF4-FFF2-40B4-BE49-F238E27FC236}">
                <a16:creationId xmlns:a16="http://schemas.microsoft.com/office/drawing/2014/main" id="{BACF0AD8-A1E9-5F6F-6A7D-4C61C0E8CED5}"/>
              </a:ext>
            </a:extLst>
          </p:cNvPr>
          <p:cNvSpPr>
            <a:spLocks noGrp="1"/>
          </p:cNvSpPr>
          <p:nvPr>
            <p:ph type="body" idx="1"/>
          </p:nvPr>
        </p:nvSpPr>
        <p:spPr>
          <a:xfrm>
            <a:off x="5005" y="1449549"/>
            <a:ext cx="5406329" cy="4215870"/>
          </a:xfrm>
        </p:spPr>
        <p:txBody>
          <a:bodyPr>
            <a:normAutofit fontScale="85000" lnSpcReduction="20000"/>
          </a:bodyPr>
          <a:lstStyle/>
          <a:p>
            <a:pPr marL="114300" indent="0">
              <a:buSzPct val="100000"/>
              <a:buNone/>
            </a:pPr>
            <a:r>
              <a:rPr lang="en-US" sz="2100" b="1">
                <a:solidFill>
                  <a:schemeClr val="accent5"/>
                </a:solidFill>
                <a:latin typeface="Aptos Narrow" panose="020B0004020202020204" pitchFamily="34" charset="0"/>
              </a:rPr>
              <a:t>Why This Matters?</a:t>
            </a:r>
          </a:p>
          <a:p>
            <a:pPr marL="114300" indent="0">
              <a:buSzPct val="100000"/>
              <a:buNone/>
            </a:pPr>
            <a:r>
              <a:rPr lang="en-US" sz="2100">
                <a:latin typeface="Aptos Narrow" panose="020B0004020202020204" pitchFamily="34" charset="0"/>
              </a:rPr>
              <a:t>Work-related stress can affect:</a:t>
            </a:r>
          </a:p>
          <a:p>
            <a:pPr>
              <a:buSzPct val="100000"/>
              <a:buFont typeface="Wingdings" panose="05000000000000000000" pitchFamily="2" charset="2"/>
              <a:buChar char="§"/>
            </a:pPr>
            <a:r>
              <a:rPr lang="en-US" sz="2100">
                <a:latin typeface="Aptos Narrow" panose="020B0004020202020204" pitchFamily="34" charset="0"/>
              </a:rPr>
              <a:t>Concentration and decision-making.</a:t>
            </a:r>
          </a:p>
          <a:p>
            <a:pPr>
              <a:buSzPct val="100000"/>
              <a:buFont typeface="Wingdings" panose="05000000000000000000" pitchFamily="2" charset="2"/>
              <a:buChar char="§"/>
            </a:pPr>
            <a:r>
              <a:rPr lang="en-US" sz="2100">
                <a:latin typeface="Aptos Narrow" panose="020B0004020202020204" pitchFamily="34" charset="0"/>
              </a:rPr>
              <a:t>Productivity and quality of work.</a:t>
            </a:r>
          </a:p>
          <a:p>
            <a:pPr>
              <a:buSzPct val="100000"/>
              <a:buFont typeface="Wingdings" panose="05000000000000000000" pitchFamily="2" charset="2"/>
              <a:buChar char="§"/>
            </a:pPr>
            <a:r>
              <a:rPr lang="en-US" sz="2100">
                <a:latin typeface="Aptos Narrow" panose="020B0004020202020204" pitchFamily="34" charset="0"/>
              </a:rPr>
              <a:t>Physical and mental health.</a:t>
            </a:r>
          </a:p>
          <a:p>
            <a:pPr>
              <a:buSzPct val="100000"/>
              <a:buFont typeface="Wingdings" panose="05000000000000000000" pitchFamily="2" charset="2"/>
              <a:buChar char="§"/>
            </a:pPr>
            <a:r>
              <a:rPr lang="en-US" sz="2100">
                <a:latin typeface="Aptos Narrow" panose="020B0004020202020204" pitchFamily="34" charset="0"/>
              </a:rPr>
              <a:t>Managing workload and </a:t>
            </a:r>
            <a:r>
              <a:rPr lang="en-US" sz="2100" err="1">
                <a:latin typeface="Aptos Narrow" panose="020B0004020202020204" pitchFamily="34" charset="0"/>
              </a:rPr>
              <a:t>recognising</a:t>
            </a:r>
            <a:r>
              <a:rPr lang="en-US" sz="2100">
                <a:latin typeface="Aptos Narrow" panose="020B0004020202020204" pitchFamily="34" charset="0"/>
              </a:rPr>
              <a:t> stress early helps maintain performance, wellbeing and team support.</a:t>
            </a:r>
          </a:p>
          <a:p>
            <a:pPr marL="114300" indent="0">
              <a:buSzPct val="100000"/>
              <a:buNone/>
            </a:pPr>
            <a:r>
              <a:rPr lang="en-US" sz="2100" b="1">
                <a:solidFill>
                  <a:schemeClr val="accent5"/>
                </a:solidFill>
                <a:latin typeface="Aptos Narrow" panose="020B0004020202020204" pitchFamily="34" charset="0"/>
              </a:rPr>
              <a:t>Common Causes of Work Stress</a:t>
            </a:r>
          </a:p>
          <a:p>
            <a:pPr>
              <a:buSzPct val="100000"/>
              <a:buFont typeface="Wingdings" panose="05000000000000000000" pitchFamily="2" charset="2"/>
              <a:buChar char="§"/>
            </a:pPr>
            <a:r>
              <a:rPr lang="en-US" sz="2100">
                <a:latin typeface="Aptos Narrow" panose="020B0004020202020204" pitchFamily="34" charset="0"/>
              </a:rPr>
              <a:t>High or unclear workload priorities.</a:t>
            </a:r>
          </a:p>
          <a:p>
            <a:pPr>
              <a:buSzPct val="100000"/>
              <a:buFont typeface="Wingdings" panose="05000000000000000000" pitchFamily="2" charset="2"/>
              <a:buChar char="§"/>
            </a:pPr>
            <a:r>
              <a:rPr lang="en-US" sz="2100">
                <a:latin typeface="Aptos Narrow" panose="020B0004020202020204" pitchFamily="34" charset="0"/>
              </a:rPr>
              <a:t>Tight deadlines or competing demands.</a:t>
            </a:r>
          </a:p>
          <a:p>
            <a:pPr>
              <a:buSzPct val="100000"/>
              <a:buFont typeface="Wingdings" panose="05000000000000000000" pitchFamily="2" charset="2"/>
              <a:buChar char="§"/>
            </a:pPr>
            <a:r>
              <a:rPr lang="en-US" sz="2100">
                <a:latin typeface="Aptos Narrow" panose="020B0004020202020204" pitchFamily="34" charset="0"/>
              </a:rPr>
              <a:t>Long periods working alone (home working).</a:t>
            </a:r>
          </a:p>
          <a:p>
            <a:pPr>
              <a:buSzPct val="100000"/>
              <a:buFont typeface="Wingdings" panose="05000000000000000000" pitchFamily="2" charset="2"/>
              <a:buChar char="§"/>
            </a:pPr>
            <a:r>
              <a:rPr lang="en-US" sz="2100">
                <a:latin typeface="Aptos Narrow" panose="020B0004020202020204" pitchFamily="34" charset="0"/>
              </a:rPr>
              <a:t>Lack of breaks or switching off from work.</a:t>
            </a:r>
            <a:endParaRPr lang="en-GB" sz="2000">
              <a:latin typeface="Aptos Narrow" panose="020B0004020202020204" pitchFamily="34" charset="0"/>
            </a:endParaRPr>
          </a:p>
        </p:txBody>
      </p:sp>
      <p:sp>
        <p:nvSpPr>
          <p:cNvPr id="6" name="TextBox 5">
            <a:extLst>
              <a:ext uri="{FF2B5EF4-FFF2-40B4-BE49-F238E27FC236}">
                <a16:creationId xmlns:a16="http://schemas.microsoft.com/office/drawing/2014/main" id="{420919BF-ACA7-49D5-D49C-DD9BCA909752}"/>
              </a:ext>
            </a:extLst>
          </p:cNvPr>
          <p:cNvSpPr txBox="1"/>
          <p:nvPr/>
        </p:nvSpPr>
        <p:spPr>
          <a:xfrm>
            <a:off x="261257" y="6451893"/>
            <a:ext cx="11669486" cy="400110"/>
          </a:xfrm>
          <a:prstGeom prst="rect">
            <a:avLst/>
          </a:prstGeom>
          <a:solidFill>
            <a:srgbClr val="00B0F0"/>
          </a:solidFill>
        </p:spPr>
        <p:txBody>
          <a:bodyPr wrap="square">
            <a:spAutoFit/>
          </a:bodyPr>
          <a:lstStyle>
            <a:defPPr marR="0" lvl="0" algn="l" rtl="0">
              <a:lnSpc>
                <a:spcPct val="100000"/>
              </a:lnSpc>
              <a:spcBef>
                <a:spcPts val="0"/>
              </a:spcBef>
              <a:spcAft>
                <a:spcPts val="0"/>
              </a:spcAft>
              <a:defRPr/>
            </a:defPPr>
            <a:lvl1pPr algn="ctr">
              <a:defRPr sz="2000" b="1">
                <a:solidFill>
                  <a:schemeClr val="tx1"/>
                </a:solidFill>
                <a:latin typeface="Aptos Narrow" panose="020B0004020202020204" pitchFamily="34" charset="0"/>
              </a:defRPr>
            </a:lvl1pPr>
          </a:lstStyle>
          <a:p>
            <a:r>
              <a:rPr lang="en-US"/>
              <a:t>Looking after your wellbeing supports both you and the team.</a:t>
            </a:r>
          </a:p>
        </p:txBody>
      </p:sp>
      <p:sp>
        <p:nvSpPr>
          <p:cNvPr id="7" name="Text Placeholder 2">
            <a:extLst>
              <a:ext uri="{FF2B5EF4-FFF2-40B4-BE49-F238E27FC236}">
                <a16:creationId xmlns:a16="http://schemas.microsoft.com/office/drawing/2014/main" id="{27AF6A9B-56CC-B172-B5D2-B4E0B0B144B8}"/>
              </a:ext>
            </a:extLst>
          </p:cNvPr>
          <p:cNvSpPr txBox="1">
            <a:spLocks/>
          </p:cNvSpPr>
          <p:nvPr/>
        </p:nvSpPr>
        <p:spPr>
          <a:xfrm>
            <a:off x="6244529" y="1353565"/>
            <a:ext cx="5881506" cy="492546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B0F0"/>
              </a:buClr>
              <a:buSzPts val="1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B0F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00B0F0"/>
              </a:buClr>
              <a:buSzPts val="18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lnSpc>
                <a:spcPct val="70000"/>
              </a:lnSpc>
              <a:buSzPct val="100000"/>
              <a:buNone/>
            </a:pPr>
            <a:r>
              <a:rPr lang="en-US" sz="1800" b="1">
                <a:solidFill>
                  <a:schemeClr val="accent5"/>
                </a:solidFill>
                <a:latin typeface="Aptos Narrow" panose="020B0004020202020204" pitchFamily="34" charset="0"/>
              </a:rPr>
              <a:t>Signs That Stress May Be Building</a:t>
            </a:r>
          </a:p>
          <a:p>
            <a:pPr>
              <a:buSzPct val="100000"/>
              <a:buFont typeface="Wingdings" panose="05000000000000000000" pitchFamily="2" charset="2"/>
              <a:buChar char="§"/>
            </a:pPr>
            <a:r>
              <a:rPr lang="en-US" sz="1800">
                <a:latin typeface="Aptos Narrow" panose="020B0004020202020204" pitchFamily="34" charset="0"/>
              </a:rPr>
              <a:t>Feeling overwhelmed or unable to focus.</a:t>
            </a:r>
          </a:p>
          <a:p>
            <a:pPr>
              <a:buSzPct val="100000"/>
              <a:buFont typeface="Wingdings" panose="05000000000000000000" pitchFamily="2" charset="2"/>
              <a:buChar char="§"/>
            </a:pPr>
            <a:r>
              <a:rPr lang="en-US" sz="1800">
                <a:latin typeface="Aptos Narrow" panose="020B0004020202020204" pitchFamily="34" charset="0"/>
              </a:rPr>
              <a:t>Irritability or reduced motivation.</a:t>
            </a:r>
          </a:p>
          <a:p>
            <a:pPr>
              <a:buSzPct val="100000"/>
              <a:buFont typeface="Wingdings" panose="05000000000000000000" pitchFamily="2" charset="2"/>
              <a:buChar char="§"/>
            </a:pPr>
            <a:r>
              <a:rPr lang="en-US" sz="1800">
                <a:latin typeface="Aptos Narrow" panose="020B0004020202020204" pitchFamily="34" charset="0"/>
              </a:rPr>
              <a:t>Working longer hours without real progress.</a:t>
            </a:r>
          </a:p>
          <a:p>
            <a:pPr>
              <a:buSzPct val="100000"/>
              <a:buFont typeface="Wingdings" panose="05000000000000000000" pitchFamily="2" charset="2"/>
              <a:buChar char="§"/>
            </a:pPr>
            <a:r>
              <a:rPr lang="en-US" sz="1800">
                <a:latin typeface="Aptos Narrow" panose="020B0004020202020204" pitchFamily="34" charset="0"/>
              </a:rPr>
              <a:t>Physical signs such as headaches or fatigue.</a:t>
            </a:r>
          </a:p>
          <a:p>
            <a:pPr>
              <a:buSzPct val="100000"/>
              <a:buFont typeface="Wingdings" panose="05000000000000000000" pitchFamily="2" charset="2"/>
              <a:buChar char="§"/>
            </a:pPr>
            <a:r>
              <a:rPr lang="en-US" sz="1800">
                <a:latin typeface="Aptos Narrow" panose="020B0004020202020204" pitchFamily="34" charset="0"/>
              </a:rPr>
              <a:t>Recognising these signs early helps prevent issues becoming more serious.</a:t>
            </a:r>
          </a:p>
          <a:p>
            <a:pPr marL="114300" indent="0">
              <a:lnSpc>
                <a:spcPct val="70000"/>
              </a:lnSpc>
              <a:buSzPct val="100000"/>
              <a:buNone/>
            </a:pPr>
            <a:r>
              <a:rPr lang="en-US" sz="1800" b="1">
                <a:solidFill>
                  <a:schemeClr val="accent5"/>
                </a:solidFill>
                <a:latin typeface="Aptos Narrow" panose="020B0004020202020204" pitchFamily="34" charset="0"/>
              </a:rPr>
              <a:t>What We Expect Everyone To Do</a:t>
            </a:r>
          </a:p>
          <a:p>
            <a:pPr>
              <a:buSzPct val="100000"/>
              <a:buFont typeface="Wingdings" panose="05000000000000000000" pitchFamily="2" charset="2"/>
              <a:buChar char="§"/>
            </a:pPr>
            <a:r>
              <a:rPr lang="en-US" sz="1800">
                <a:latin typeface="Aptos Narrow" panose="020B0004020202020204" pitchFamily="34" charset="0"/>
              </a:rPr>
              <a:t>Prioritise tasks and focus on what is most important.</a:t>
            </a:r>
          </a:p>
          <a:p>
            <a:pPr>
              <a:buSzPct val="100000"/>
              <a:buFont typeface="Wingdings" panose="05000000000000000000" pitchFamily="2" charset="2"/>
              <a:buChar char="§"/>
            </a:pPr>
            <a:r>
              <a:rPr lang="en-US" sz="1800">
                <a:latin typeface="Aptos Narrow" panose="020B0004020202020204" pitchFamily="34" charset="0"/>
              </a:rPr>
              <a:t>Take regular breaks during the working day.</a:t>
            </a:r>
          </a:p>
          <a:p>
            <a:pPr>
              <a:buSzPct val="100000"/>
              <a:buFont typeface="Wingdings" panose="05000000000000000000" pitchFamily="2" charset="2"/>
              <a:buChar char="§"/>
            </a:pPr>
            <a:r>
              <a:rPr lang="en-US" sz="1800">
                <a:latin typeface="Aptos Narrow" panose="020B0004020202020204" pitchFamily="34" charset="0"/>
              </a:rPr>
              <a:t>Speak up early if workload becomes difficult to manage.</a:t>
            </a:r>
          </a:p>
          <a:p>
            <a:pPr>
              <a:buSzPct val="100000"/>
              <a:buFont typeface="Wingdings" panose="05000000000000000000" pitchFamily="2" charset="2"/>
              <a:buChar char="§"/>
            </a:pPr>
            <a:r>
              <a:rPr lang="en-US" sz="1800">
                <a:latin typeface="Aptos Narrow" panose="020B0004020202020204" pitchFamily="34" charset="0"/>
              </a:rPr>
              <a:t>Support colleagues and check in with each other.</a:t>
            </a:r>
          </a:p>
          <a:p>
            <a:pPr marL="114300" indent="0">
              <a:lnSpc>
                <a:spcPct val="70000"/>
              </a:lnSpc>
              <a:buSzPct val="100000"/>
              <a:buNone/>
            </a:pPr>
            <a:endParaRPr lang="en-US" sz="1700">
              <a:latin typeface="Aptos Narrow" panose="020B0004020202020204" pitchFamily="34" charset="0"/>
            </a:endParaRPr>
          </a:p>
        </p:txBody>
      </p:sp>
      <p:sp>
        <p:nvSpPr>
          <p:cNvPr id="4" name="TextBox 3">
            <a:extLst>
              <a:ext uri="{FF2B5EF4-FFF2-40B4-BE49-F238E27FC236}">
                <a16:creationId xmlns:a16="http://schemas.microsoft.com/office/drawing/2014/main" id="{D038A9C4-C21C-CB9D-29B9-9BA093C0CB1F}"/>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March 2026 </a:t>
            </a:r>
            <a:endParaRPr lang="en-GB" sz="2000" b="1"/>
          </a:p>
        </p:txBody>
      </p:sp>
      <p:sp>
        <p:nvSpPr>
          <p:cNvPr id="8" name="TextBox 7">
            <a:extLst>
              <a:ext uri="{FF2B5EF4-FFF2-40B4-BE49-F238E27FC236}">
                <a16:creationId xmlns:a16="http://schemas.microsoft.com/office/drawing/2014/main" id="{4601BBFE-B3F4-93EA-0034-6DF19096732A}"/>
              </a:ext>
            </a:extLst>
          </p:cNvPr>
          <p:cNvSpPr txBox="1"/>
          <p:nvPr/>
        </p:nvSpPr>
        <p:spPr>
          <a:xfrm>
            <a:off x="261255" y="5731727"/>
            <a:ext cx="11669487" cy="674031"/>
          </a:xfrm>
          <a:prstGeom prst="rect">
            <a:avLst/>
          </a:prstGeom>
          <a:solidFill>
            <a:schemeClr val="accent5">
              <a:lumMod val="20000"/>
              <a:lumOff val="80000"/>
            </a:schemeClr>
          </a:solidFill>
        </p:spPr>
        <p:txBody>
          <a:bodyPr wrap="square">
            <a:spAutoFit/>
          </a:bodyPr>
          <a:lstStyle/>
          <a:p>
            <a:pPr marL="114300" indent="0" algn="ctr">
              <a:lnSpc>
                <a:spcPct val="70000"/>
              </a:lnSpc>
              <a:buSzPct val="100000"/>
              <a:buNone/>
            </a:pPr>
            <a:r>
              <a:rPr lang="en-US" sz="1400" b="1">
                <a:solidFill>
                  <a:schemeClr val="accent5"/>
                </a:solidFill>
                <a:latin typeface="Aptos Narrow" panose="020B0004020202020204" pitchFamily="34" charset="0"/>
              </a:rPr>
              <a:t>Did You Know?</a:t>
            </a:r>
          </a:p>
          <a:p>
            <a:pPr marL="285750" indent="-285750" algn="ctr">
              <a:buSzPct val="100000"/>
              <a:buFont typeface="Wingdings" panose="05000000000000000000" pitchFamily="2" charset="2"/>
              <a:buChar char="v"/>
            </a:pPr>
            <a:r>
              <a:rPr lang="en-US" sz="1400" b="1">
                <a:latin typeface="Aptos Narrow" panose="020B0004020202020204" pitchFamily="34" charset="0"/>
              </a:rPr>
              <a:t>Work-related stress, depression or anxiety accounts for a large proportion of working days lost in the UK each year.</a:t>
            </a:r>
          </a:p>
          <a:p>
            <a:pPr marL="285750" indent="-285750" algn="ctr">
              <a:buSzPct val="100000"/>
              <a:buFont typeface="Wingdings" panose="05000000000000000000" pitchFamily="2" charset="2"/>
              <a:buChar char="v"/>
            </a:pPr>
            <a:r>
              <a:rPr lang="en-US" sz="1400" b="1">
                <a:latin typeface="Aptos Narrow" panose="020B0004020202020204" pitchFamily="34" charset="0"/>
              </a:rPr>
              <a:t>Early support and open conversations are one of the most effective ways to prevent longer-term absence.</a:t>
            </a:r>
          </a:p>
        </p:txBody>
      </p:sp>
    </p:spTree>
    <p:extLst>
      <p:ext uri="{BB962C8B-B14F-4D97-AF65-F5344CB8AC3E}">
        <p14:creationId xmlns:p14="http://schemas.microsoft.com/office/powerpoint/2010/main" val="1666532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4FA00-0F43-14DF-BB83-0FEDE105D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ABAA9-E575-88EB-0820-41865906F0BC}"/>
              </a:ext>
            </a:extLst>
          </p:cNvPr>
          <p:cNvSpPr>
            <a:spLocks noGrp="1"/>
          </p:cNvSpPr>
          <p:nvPr>
            <p:ph type="title"/>
          </p:nvPr>
        </p:nvSpPr>
        <p:spPr>
          <a:xfrm>
            <a:off x="838200" y="284261"/>
            <a:ext cx="10515600" cy="1325563"/>
          </a:xfrm>
        </p:spPr>
        <p:txBody>
          <a:bodyPr>
            <a:noAutofit/>
          </a:bodyPr>
          <a:lstStyle/>
          <a:p>
            <a:r>
              <a:rPr lang="en-US" sz="3600"/>
              <a:t>Health, Safety &amp; Wellbeing Focus: Display Screen Equipment (DSE) &amp; Home Working Safety</a:t>
            </a:r>
            <a:endParaRPr lang="en-GB" sz="2900">
              <a:solidFill>
                <a:schemeClr val="accent4"/>
              </a:solidFill>
            </a:endParaRPr>
          </a:p>
        </p:txBody>
      </p:sp>
      <p:sp>
        <p:nvSpPr>
          <p:cNvPr id="3" name="Text Placeholder 2">
            <a:extLst>
              <a:ext uri="{FF2B5EF4-FFF2-40B4-BE49-F238E27FC236}">
                <a16:creationId xmlns:a16="http://schemas.microsoft.com/office/drawing/2014/main" id="{D82FB604-88AF-6D4F-260B-6CDDA2FACB9C}"/>
              </a:ext>
            </a:extLst>
          </p:cNvPr>
          <p:cNvSpPr>
            <a:spLocks noGrp="1"/>
          </p:cNvSpPr>
          <p:nvPr>
            <p:ph type="body" idx="1"/>
          </p:nvPr>
        </p:nvSpPr>
        <p:spPr>
          <a:xfrm>
            <a:off x="838200" y="1553379"/>
            <a:ext cx="4761089" cy="4215870"/>
          </a:xfrm>
        </p:spPr>
        <p:txBody>
          <a:bodyPr>
            <a:normAutofit fontScale="70000" lnSpcReduction="20000"/>
          </a:bodyPr>
          <a:lstStyle/>
          <a:p>
            <a:pPr marL="114300" indent="0">
              <a:buNone/>
            </a:pPr>
            <a:r>
              <a:rPr lang="en-US" sz="2200" b="1">
                <a:solidFill>
                  <a:schemeClr val="accent5"/>
                </a:solidFill>
                <a:latin typeface="Aptos Narrow" panose="020B0004020202020204" pitchFamily="34" charset="0"/>
              </a:rPr>
              <a:t>Increased home and hybrid working can increase the risk of:</a:t>
            </a:r>
          </a:p>
          <a:p>
            <a:pPr>
              <a:buSzPct val="100000"/>
              <a:buFont typeface="Wingdings" panose="05000000000000000000" pitchFamily="2" charset="2"/>
              <a:buChar char="§"/>
            </a:pPr>
            <a:r>
              <a:rPr lang="en-US" sz="2200">
                <a:latin typeface="Aptos Narrow" panose="020B0004020202020204" pitchFamily="34" charset="0"/>
              </a:rPr>
              <a:t>Musculoskeletal discomfort (neck, shoulders, back, wrists).</a:t>
            </a:r>
          </a:p>
          <a:p>
            <a:pPr>
              <a:buSzPct val="100000"/>
              <a:buFont typeface="Wingdings" panose="05000000000000000000" pitchFamily="2" charset="2"/>
              <a:buChar char="§"/>
            </a:pPr>
            <a:r>
              <a:rPr lang="en-US" sz="2200">
                <a:latin typeface="Aptos Narrow" panose="020B0004020202020204" pitchFamily="34" charset="0"/>
              </a:rPr>
              <a:t>Eye strain, headaches and fatigue.</a:t>
            </a:r>
          </a:p>
          <a:p>
            <a:pPr>
              <a:buSzPct val="100000"/>
              <a:buFont typeface="Wingdings" panose="05000000000000000000" pitchFamily="2" charset="2"/>
              <a:buChar char="§"/>
            </a:pPr>
            <a:r>
              <a:rPr lang="en-US" sz="2200">
                <a:latin typeface="Aptos Narrow" panose="020B0004020202020204" pitchFamily="34" charset="0"/>
              </a:rPr>
              <a:t>Reduced concentration and productivity.</a:t>
            </a:r>
          </a:p>
          <a:p>
            <a:pPr>
              <a:buSzPct val="100000"/>
              <a:buFont typeface="Wingdings" panose="05000000000000000000" pitchFamily="2" charset="2"/>
              <a:buChar char="§"/>
            </a:pPr>
            <a:r>
              <a:rPr lang="en-US" sz="2200">
                <a:latin typeface="Aptos Narrow" panose="020B0004020202020204" pitchFamily="34" charset="0"/>
              </a:rPr>
              <a:t>Poor work–life boundaries leading to stress.</a:t>
            </a:r>
          </a:p>
          <a:p>
            <a:pPr>
              <a:buSzPct val="100000"/>
              <a:buFont typeface="Wingdings" panose="05000000000000000000" pitchFamily="2" charset="2"/>
              <a:buChar char="§"/>
            </a:pPr>
            <a:endParaRPr lang="en-US" sz="1800">
              <a:latin typeface="Aptos Narrow" panose="020B0004020202020204" pitchFamily="34" charset="0"/>
            </a:endParaRPr>
          </a:p>
          <a:p>
            <a:pPr marL="114300" indent="0">
              <a:buNone/>
            </a:pPr>
            <a:r>
              <a:rPr lang="en-US" sz="2000" b="1">
                <a:solidFill>
                  <a:schemeClr val="accent5"/>
                </a:solidFill>
                <a:latin typeface="Aptos Narrow" panose="020B0004020202020204" pitchFamily="34" charset="0"/>
              </a:rPr>
              <a:t>Key DSE &amp; Home Working Risks</a:t>
            </a:r>
          </a:p>
          <a:p>
            <a:pPr>
              <a:buSzPct val="100000"/>
              <a:buFont typeface="Wingdings" panose="05000000000000000000" pitchFamily="2" charset="2"/>
              <a:buChar char="§"/>
            </a:pPr>
            <a:r>
              <a:rPr lang="en-US" sz="2000" b="1">
                <a:latin typeface="Aptos Narrow" panose="020B0004020202020204" pitchFamily="34" charset="0"/>
              </a:rPr>
              <a:t>Workstation setup: </a:t>
            </a:r>
            <a:r>
              <a:rPr lang="en-US" sz="2000">
                <a:latin typeface="Aptos Narrow" panose="020B0004020202020204" pitchFamily="34" charset="0"/>
              </a:rPr>
              <a:t>Poor chair support, incorrect screen height, unsuitable desk or table</a:t>
            </a:r>
          </a:p>
          <a:p>
            <a:pPr>
              <a:buSzPct val="100000"/>
              <a:buFont typeface="Wingdings" panose="05000000000000000000" pitchFamily="2" charset="2"/>
              <a:buChar char="§"/>
            </a:pPr>
            <a:r>
              <a:rPr lang="en-US" sz="2000" b="1">
                <a:latin typeface="Aptos Narrow" panose="020B0004020202020204" pitchFamily="34" charset="0"/>
              </a:rPr>
              <a:t>Display screen use</a:t>
            </a:r>
            <a:r>
              <a:rPr lang="en-US" sz="2000">
                <a:latin typeface="Aptos Narrow" panose="020B0004020202020204" pitchFamily="34" charset="0"/>
              </a:rPr>
              <a:t>: Extended screen time without breaks, glare, poor lighting.</a:t>
            </a:r>
          </a:p>
          <a:p>
            <a:pPr>
              <a:buSzPct val="100000"/>
              <a:buFont typeface="Wingdings" panose="05000000000000000000" pitchFamily="2" charset="2"/>
              <a:buChar char="§"/>
            </a:pPr>
            <a:r>
              <a:rPr lang="en-US" sz="2000" b="1">
                <a:latin typeface="Aptos Narrow" panose="020B0004020202020204" pitchFamily="34" charset="0"/>
              </a:rPr>
              <a:t>Working habits</a:t>
            </a:r>
            <a:r>
              <a:rPr lang="en-US" sz="2000">
                <a:latin typeface="Aptos Narrow" panose="020B0004020202020204" pitchFamily="34" charset="0"/>
              </a:rPr>
              <a:t>: Static postures, long periods sitting, missed breaks.</a:t>
            </a:r>
          </a:p>
          <a:p>
            <a:pPr>
              <a:buSzPct val="100000"/>
              <a:buFont typeface="Wingdings" panose="05000000000000000000" pitchFamily="2" charset="2"/>
              <a:buChar char="§"/>
            </a:pPr>
            <a:r>
              <a:rPr lang="en-US" sz="2000" b="1">
                <a:latin typeface="Aptos Narrow" panose="020B0004020202020204" pitchFamily="34" charset="0"/>
              </a:rPr>
              <a:t>Home environment</a:t>
            </a:r>
            <a:r>
              <a:rPr lang="en-US" sz="2000">
                <a:latin typeface="Aptos Narrow" panose="020B0004020202020204" pitchFamily="34" charset="0"/>
              </a:rPr>
              <a:t>:  Limited space, trip hazards from trailing cables, distractions.</a:t>
            </a:r>
            <a:endParaRPr lang="en-GB" sz="2000">
              <a:latin typeface="Aptos Narrow" panose="020B0004020202020204" pitchFamily="34" charset="0"/>
            </a:endParaRPr>
          </a:p>
        </p:txBody>
      </p:sp>
      <p:sp>
        <p:nvSpPr>
          <p:cNvPr id="6" name="TextBox 5">
            <a:extLst>
              <a:ext uri="{FF2B5EF4-FFF2-40B4-BE49-F238E27FC236}">
                <a16:creationId xmlns:a16="http://schemas.microsoft.com/office/drawing/2014/main" id="{7FD67F17-25EB-724B-2CE0-A4A663CE06FB}"/>
              </a:ext>
            </a:extLst>
          </p:cNvPr>
          <p:cNvSpPr txBox="1"/>
          <p:nvPr/>
        </p:nvSpPr>
        <p:spPr>
          <a:xfrm>
            <a:off x="269723" y="6035187"/>
            <a:ext cx="11669486" cy="707886"/>
          </a:xfrm>
          <a:prstGeom prst="rect">
            <a:avLst/>
          </a:prstGeom>
          <a:solidFill>
            <a:srgbClr val="00B0F0"/>
          </a:solidFill>
        </p:spPr>
        <p:txBody>
          <a:bodyPr wrap="square">
            <a:spAutoFit/>
          </a:bodyPr>
          <a:lstStyle>
            <a:defPPr marR="0" lvl="0" algn="l" rtl="0">
              <a:lnSpc>
                <a:spcPct val="100000"/>
              </a:lnSpc>
              <a:spcBef>
                <a:spcPts val="0"/>
              </a:spcBef>
              <a:spcAft>
                <a:spcPts val="0"/>
              </a:spcAft>
              <a:defRPr/>
            </a:defPPr>
            <a:lvl1pPr algn="ctr">
              <a:defRPr sz="2000" b="1">
                <a:solidFill>
                  <a:schemeClr val="tx1"/>
                </a:solidFill>
                <a:latin typeface="Aptos Narrow" panose="020B0004020202020204" pitchFamily="34" charset="0"/>
              </a:defRPr>
            </a:lvl1pPr>
          </a:lstStyle>
          <a:p>
            <a:r>
              <a:rPr lang="en-US"/>
              <a:t>Before starting work, ask:</a:t>
            </a:r>
          </a:p>
          <a:p>
            <a:r>
              <a:rPr lang="en-US"/>
              <a:t>“Is my workstation set up to support me safely and comfortably today?”</a:t>
            </a:r>
          </a:p>
        </p:txBody>
      </p:sp>
      <p:sp>
        <p:nvSpPr>
          <p:cNvPr id="7" name="Text Placeholder 2">
            <a:extLst>
              <a:ext uri="{FF2B5EF4-FFF2-40B4-BE49-F238E27FC236}">
                <a16:creationId xmlns:a16="http://schemas.microsoft.com/office/drawing/2014/main" id="{ACA9C83C-DC39-1DD5-7F70-4A88AFE3D0ED}"/>
              </a:ext>
            </a:extLst>
          </p:cNvPr>
          <p:cNvSpPr txBox="1">
            <a:spLocks/>
          </p:cNvSpPr>
          <p:nvPr/>
        </p:nvSpPr>
        <p:spPr>
          <a:xfrm>
            <a:off x="6057703" y="1485645"/>
            <a:ext cx="5881506" cy="4351338"/>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B0F0"/>
              </a:buClr>
              <a:buSzPts val="1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B0F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00B0F0"/>
              </a:buClr>
              <a:buSzPts val="18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buNone/>
            </a:pPr>
            <a:r>
              <a:rPr lang="en-US" sz="2000" b="1">
                <a:solidFill>
                  <a:schemeClr val="accent5"/>
                </a:solidFill>
                <a:latin typeface="Aptos Narrow" panose="020B0004020202020204" pitchFamily="34" charset="0"/>
              </a:rPr>
              <a:t>What would you do if you are working from home for several consecutive days, using a laptop at the kitchen table, experiencing neck stiffness and eye strain?</a:t>
            </a:r>
          </a:p>
          <a:p>
            <a:r>
              <a:rPr lang="en-US" sz="2000">
                <a:latin typeface="Aptos Narrow" panose="020B0004020202020204" pitchFamily="34" charset="0"/>
              </a:rPr>
              <a:t>What is the safest option?</a:t>
            </a:r>
          </a:p>
          <a:p>
            <a:r>
              <a:rPr lang="en-US" sz="2000">
                <a:latin typeface="Aptos Narrow" panose="020B0004020202020204" pitchFamily="34" charset="0"/>
              </a:rPr>
              <a:t>Continue working as normal?</a:t>
            </a:r>
          </a:p>
          <a:p>
            <a:r>
              <a:rPr lang="en-US" sz="2000">
                <a:latin typeface="Aptos Narrow" panose="020B0004020202020204" pitchFamily="34" charset="0"/>
              </a:rPr>
              <a:t>Adjust your workstation and take regular breaks?</a:t>
            </a:r>
          </a:p>
          <a:p>
            <a:r>
              <a:rPr lang="en-US" sz="2000" b="1" i="1">
                <a:latin typeface="Aptos Narrow" panose="020B0004020202020204" pitchFamily="34" charset="0"/>
              </a:rPr>
              <a:t>Discomfort is an early warning sign…..it should not be ignored.</a:t>
            </a:r>
          </a:p>
          <a:p>
            <a:pPr marL="114300" indent="0">
              <a:buNone/>
            </a:pPr>
            <a:endParaRPr lang="en-US" sz="2000" b="1">
              <a:latin typeface="Aptos Narrow" panose="020B0004020202020204" pitchFamily="34" charset="0"/>
            </a:endParaRPr>
          </a:p>
          <a:p>
            <a:pPr marL="114300" indent="0">
              <a:buNone/>
            </a:pPr>
            <a:r>
              <a:rPr lang="en-US" sz="2000" b="1">
                <a:latin typeface="Aptos Narrow" panose="020B0004020202020204" pitchFamily="34" charset="0"/>
              </a:rPr>
              <a:t>So, please…</a:t>
            </a:r>
          </a:p>
          <a:p>
            <a:pPr>
              <a:buFont typeface="Wingdings" panose="05000000000000000000" pitchFamily="2" charset="2"/>
              <a:buChar char="§"/>
            </a:pPr>
            <a:r>
              <a:rPr lang="en-US" sz="2000">
                <a:latin typeface="Aptos Narrow" panose="020B0004020202020204" pitchFamily="34" charset="0"/>
              </a:rPr>
              <a:t>Complete and regularly review your DSE self-assessment ().</a:t>
            </a:r>
          </a:p>
          <a:p>
            <a:pPr>
              <a:buFont typeface="Wingdings" panose="05000000000000000000" pitchFamily="2" charset="2"/>
              <a:buChar char="§"/>
            </a:pPr>
            <a:r>
              <a:rPr lang="en-US" sz="2000">
                <a:latin typeface="Aptos Narrow" panose="020B0004020202020204" pitchFamily="34" charset="0"/>
              </a:rPr>
              <a:t>Adjust your chair, screen and keyboard to maintain a neutral posture.</a:t>
            </a:r>
          </a:p>
          <a:p>
            <a:pPr>
              <a:buFont typeface="Wingdings" panose="05000000000000000000" pitchFamily="2" charset="2"/>
              <a:buChar char="§"/>
            </a:pPr>
            <a:r>
              <a:rPr lang="en-US" sz="2000">
                <a:latin typeface="Aptos Narrow" panose="020B0004020202020204" pitchFamily="34" charset="0"/>
              </a:rPr>
              <a:t>Position screens to avoid glare and ensure good lighting.</a:t>
            </a:r>
          </a:p>
          <a:p>
            <a:pPr>
              <a:buFont typeface="Wingdings" panose="05000000000000000000" pitchFamily="2" charset="2"/>
              <a:buChar char="§"/>
            </a:pPr>
            <a:r>
              <a:rPr lang="en-US" sz="2000">
                <a:latin typeface="Aptos Narrow" panose="020B0004020202020204" pitchFamily="34" charset="0"/>
              </a:rPr>
              <a:t>Take short, frequent breaks away from the screen.</a:t>
            </a:r>
          </a:p>
          <a:p>
            <a:pPr>
              <a:buFont typeface="Wingdings" panose="05000000000000000000" pitchFamily="2" charset="2"/>
              <a:buChar char="§"/>
            </a:pPr>
            <a:r>
              <a:rPr lang="en-US" sz="2000">
                <a:latin typeface="Aptos Narrow" panose="020B0004020202020204" pitchFamily="34" charset="0"/>
              </a:rPr>
              <a:t>Change posture regularly: sitting, standing, moving.</a:t>
            </a:r>
          </a:p>
          <a:p>
            <a:pPr>
              <a:buFont typeface="Wingdings" panose="05000000000000000000" pitchFamily="2" charset="2"/>
              <a:buChar char="§"/>
            </a:pPr>
            <a:r>
              <a:rPr lang="en-US" sz="2000">
                <a:latin typeface="Aptos Narrow" panose="020B0004020202020204" pitchFamily="34" charset="0"/>
              </a:rPr>
              <a:t>Keep work areas tidy to avoid slips, trips and electrical hazards.</a:t>
            </a:r>
          </a:p>
          <a:p>
            <a:pPr>
              <a:buFont typeface="Wingdings" panose="05000000000000000000" pitchFamily="2" charset="2"/>
              <a:buChar char="§"/>
            </a:pPr>
            <a:r>
              <a:rPr lang="en-US" sz="2000">
                <a:latin typeface="Aptos Narrow" panose="020B0004020202020204" pitchFamily="34" charset="0"/>
              </a:rPr>
              <a:t>Raise concerns early if your home setup is not suitable.</a:t>
            </a:r>
          </a:p>
          <a:p>
            <a:endParaRPr lang="en-US" sz="2000">
              <a:latin typeface="Aptos Narrow" panose="020B0004020202020204" pitchFamily="34" charset="0"/>
            </a:endParaRPr>
          </a:p>
          <a:p>
            <a:pPr marL="114300" indent="0">
              <a:buNone/>
            </a:pPr>
            <a:endParaRPr lang="en-US" sz="2000">
              <a:latin typeface="Aptos Narrow" panose="020B0004020202020204" pitchFamily="34" charset="0"/>
            </a:endParaRPr>
          </a:p>
        </p:txBody>
      </p:sp>
      <p:sp>
        <p:nvSpPr>
          <p:cNvPr id="4" name="TextBox 3">
            <a:extLst>
              <a:ext uri="{FF2B5EF4-FFF2-40B4-BE49-F238E27FC236}">
                <a16:creationId xmlns:a16="http://schemas.microsoft.com/office/drawing/2014/main" id="{0010AF6D-B30F-2E00-C3C5-070E776EDA1D}"/>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February 2026 </a:t>
            </a:r>
            <a:endParaRPr lang="en-GB" sz="2000" b="1"/>
          </a:p>
        </p:txBody>
      </p:sp>
    </p:spTree>
    <p:extLst>
      <p:ext uri="{BB962C8B-B14F-4D97-AF65-F5344CB8AC3E}">
        <p14:creationId xmlns:p14="http://schemas.microsoft.com/office/powerpoint/2010/main" val="148977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8DABA-AB97-7111-166D-00DE79015E0C}"/>
              </a:ext>
            </a:extLst>
          </p:cNvPr>
          <p:cNvSpPr>
            <a:spLocks noGrp="1"/>
          </p:cNvSpPr>
          <p:nvPr>
            <p:ph type="title"/>
          </p:nvPr>
        </p:nvSpPr>
        <p:spPr>
          <a:xfrm>
            <a:off x="838200" y="92348"/>
            <a:ext cx="10515600" cy="1325563"/>
          </a:xfrm>
        </p:spPr>
        <p:txBody>
          <a:bodyPr>
            <a:noAutofit/>
          </a:bodyPr>
          <a:lstStyle/>
          <a:p>
            <a:r>
              <a:rPr lang="en-US" sz="3600"/>
              <a:t>Health, Safety &amp; Wellbeing January Focus:</a:t>
            </a:r>
            <a:br>
              <a:rPr lang="en-US" sz="3600"/>
            </a:br>
            <a:r>
              <a:rPr lang="en-US" sz="2900">
                <a:solidFill>
                  <a:schemeClr val="accent4"/>
                </a:solidFill>
              </a:rPr>
              <a:t>Winter Working &amp; Travel Safety</a:t>
            </a:r>
            <a:endParaRPr lang="en-GB" sz="2900">
              <a:solidFill>
                <a:schemeClr val="accent4"/>
              </a:solidFill>
            </a:endParaRPr>
          </a:p>
        </p:txBody>
      </p:sp>
      <p:sp>
        <p:nvSpPr>
          <p:cNvPr id="3" name="Text Placeholder 2">
            <a:extLst>
              <a:ext uri="{FF2B5EF4-FFF2-40B4-BE49-F238E27FC236}">
                <a16:creationId xmlns:a16="http://schemas.microsoft.com/office/drawing/2014/main" id="{32768ED3-53D6-ADC5-C750-54AFBEBB5C58}"/>
              </a:ext>
            </a:extLst>
          </p:cNvPr>
          <p:cNvSpPr>
            <a:spLocks noGrp="1"/>
          </p:cNvSpPr>
          <p:nvPr>
            <p:ph type="body" idx="1"/>
          </p:nvPr>
        </p:nvSpPr>
        <p:spPr>
          <a:xfrm>
            <a:off x="838200" y="1688847"/>
            <a:ext cx="4761089" cy="3691203"/>
          </a:xfrm>
        </p:spPr>
        <p:txBody>
          <a:bodyPr>
            <a:normAutofit/>
          </a:bodyPr>
          <a:lstStyle/>
          <a:p>
            <a:pPr marL="114300" indent="0">
              <a:buNone/>
            </a:pPr>
            <a:r>
              <a:rPr lang="en-US" sz="1800" b="1">
                <a:solidFill>
                  <a:schemeClr val="accent5"/>
                </a:solidFill>
                <a:latin typeface="Aptos Narrow" panose="020B0004020202020204" pitchFamily="34" charset="0"/>
              </a:rPr>
              <a:t>Winter increases the risk of:</a:t>
            </a:r>
          </a:p>
          <a:p>
            <a:pPr>
              <a:buSzPct val="100000"/>
              <a:buFont typeface="Wingdings" panose="05000000000000000000" pitchFamily="2" charset="2"/>
              <a:buChar char="§"/>
            </a:pPr>
            <a:r>
              <a:rPr lang="en-US" sz="1600">
                <a:latin typeface="Aptos Narrow" panose="020B0004020202020204" pitchFamily="34" charset="0"/>
              </a:rPr>
              <a:t>Slips, trips and falls</a:t>
            </a:r>
          </a:p>
          <a:p>
            <a:pPr>
              <a:buSzPct val="100000"/>
              <a:buFont typeface="Wingdings" panose="05000000000000000000" pitchFamily="2" charset="2"/>
              <a:buChar char="§"/>
            </a:pPr>
            <a:r>
              <a:rPr lang="en-US" sz="1600">
                <a:latin typeface="Aptos Narrow" panose="020B0004020202020204" pitchFamily="34" charset="0"/>
              </a:rPr>
              <a:t>Driving incidents due to ice, fog and poor visibility</a:t>
            </a:r>
          </a:p>
          <a:p>
            <a:pPr>
              <a:buSzPct val="100000"/>
              <a:buFont typeface="Wingdings" panose="05000000000000000000" pitchFamily="2" charset="2"/>
              <a:buChar char="§"/>
            </a:pPr>
            <a:r>
              <a:rPr lang="en-US" sz="1600">
                <a:latin typeface="Aptos Narrow" panose="020B0004020202020204" pitchFamily="34" charset="0"/>
              </a:rPr>
              <a:t>Fatigue related errors after the holiday period</a:t>
            </a:r>
          </a:p>
          <a:p>
            <a:pPr marL="114300" indent="0">
              <a:buNone/>
            </a:pPr>
            <a:r>
              <a:rPr lang="en-US" sz="1800" b="1">
                <a:solidFill>
                  <a:schemeClr val="accent5"/>
                </a:solidFill>
                <a:latin typeface="Aptos Narrow" panose="020B0004020202020204" pitchFamily="34" charset="0"/>
              </a:rPr>
              <a:t>Key Winter Risks</a:t>
            </a:r>
          </a:p>
          <a:p>
            <a:pPr>
              <a:buSzPct val="100000"/>
              <a:buFont typeface="Wingdings" panose="05000000000000000000" pitchFamily="2" charset="2"/>
              <a:buChar char="§"/>
            </a:pPr>
            <a:r>
              <a:rPr lang="en-US" sz="1600" b="1">
                <a:latin typeface="Aptos Narrow" panose="020B0004020202020204" pitchFamily="34" charset="0"/>
              </a:rPr>
              <a:t>Travel:</a:t>
            </a:r>
            <a:r>
              <a:rPr lang="en-US" sz="1600">
                <a:latin typeface="Aptos Narrow" panose="020B0004020202020204" pitchFamily="34" charset="0"/>
              </a:rPr>
              <a:t> Icy roads, longer stopping distances, reduced visibility</a:t>
            </a:r>
          </a:p>
          <a:p>
            <a:pPr>
              <a:buSzPct val="100000"/>
              <a:buFont typeface="Wingdings" panose="05000000000000000000" pitchFamily="2" charset="2"/>
              <a:buChar char="§"/>
            </a:pPr>
            <a:r>
              <a:rPr lang="en-US" sz="1600" b="1">
                <a:latin typeface="Aptos Narrow" panose="020B0004020202020204" pitchFamily="34" charset="0"/>
              </a:rPr>
              <a:t>Office / Client Sites:</a:t>
            </a:r>
            <a:r>
              <a:rPr lang="en-US" sz="1600">
                <a:latin typeface="Aptos Narrow" panose="020B0004020202020204" pitchFamily="34" charset="0"/>
              </a:rPr>
              <a:t> Wet floors, icy car parks, poor lighting</a:t>
            </a:r>
          </a:p>
          <a:p>
            <a:pPr>
              <a:buSzPct val="100000"/>
              <a:buFont typeface="Wingdings" panose="05000000000000000000" pitchFamily="2" charset="2"/>
              <a:buChar char="§"/>
            </a:pPr>
            <a:r>
              <a:rPr lang="en-US" sz="1600" b="1">
                <a:latin typeface="Aptos Narrow" panose="020B0004020202020204" pitchFamily="34" charset="0"/>
              </a:rPr>
              <a:t>Home Working:</a:t>
            </a:r>
            <a:r>
              <a:rPr lang="en-US" sz="1600">
                <a:latin typeface="Aptos Narrow" panose="020B0004020202020204" pitchFamily="34" charset="0"/>
              </a:rPr>
              <a:t> Cold conditions, poor lighting, reduced alertness</a:t>
            </a:r>
            <a:endParaRPr lang="en-GB" sz="1800">
              <a:latin typeface="Aptos Narrow" panose="020B0004020202020204" pitchFamily="34" charset="0"/>
            </a:endParaRPr>
          </a:p>
        </p:txBody>
      </p:sp>
      <p:sp>
        <p:nvSpPr>
          <p:cNvPr id="6" name="TextBox 5">
            <a:extLst>
              <a:ext uri="{FF2B5EF4-FFF2-40B4-BE49-F238E27FC236}">
                <a16:creationId xmlns:a16="http://schemas.microsoft.com/office/drawing/2014/main" id="{7409F5C6-D09E-628E-6ED1-9A73D62EFD12}"/>
              </a:ext>
            </a:extLst>
          </p:cNvPr>
          <p:cNvSpPr txBox="1"/>
          <p:nvPr/>
        </p:nvSpPr>
        <p:spPr>
          <a:xfrm>
            <a:off x="269723" y="6035187"/>
            <a:ext cx="11669486" cy="707886"/>
          </a:xfrm>
          <a:prstGeom prst="rect">
            <a:avLst/>
          </a:prstGeom>
          <a:solidFill>
            <a:srgbClr val="00B0F0"/>
          </a:solidFill>
        </p:spPr>
        <p:txBody>
          <a:bodyPr wrap="square">
            <a:spAutoFit/>
          </a:bodyPr>
          <a:lstStyle>
            <a:defPPr marR="0" lvl="0" algn="l" rtl="0">
              <a:lnSpc>
                <a:spcPct val="100000"/>
              </a:lnSpc>
              <a:spcBef>
                <a:spcPts val="0"/>
              </a:spcBef>
              <a:spcAft>
                <a:spcPts val="0"/>
              </a:spcAft>
              <a:defRPr/>
            </a:defPPr>
            <a:lvl1pPr algn="ctr">
              <a:defRPr sz="2000" b="1">
                <a:solidFill>
                  <a:schemeClr val="tx1"/>
                </a:solidFill>
                <a:latin typeface="Aptos Narrow" panose="020B0004020202020204" pitchFamily="34" charset="0"/>
              </a:defRPr>
            </a:lvl1pPr>
          </a:lstStyle>
          <a:p>
            <a:r>
              <a:rPr lang="en-US"/>
              <a:t>Before any journey, ask: </a:t>
            </a:r>
          </a:p>
          <a:p>
            <a:r>
              <a:rPr lang="en-US" i="1"/>
              <a:t>“Is this journey necessary today, and is it safe to make?”</a:t>
            </a:r>
            <a:endParaRPr lang="en-US"/>
          </a:p>
        </p:txBody>
      </p:sp>
      <p:sp>
        <p:nvSpPr>
          <p:cNvPr id="7" name="Text Placeholder 2">
            <a:extLst>
              <a:ext uri="{FF2B5EF4-FFF2-40B4-BE49-F238E27FC236}">
                <a16:creationId xmlns:a16="http://schemas.microsoft.com/office/drawing/2014/main" id="{5BAA23E3-1369-2FEF-0720-187197B84789}"/>
              </a:ext>
            </a:extLst>
          </p:cNvPr>
          <p:cNvSpPr txBox="1">
            <a:spLocks/>
          </p:cNvSpPr>
          <p:nvPr/>
        </p:nvSpPr>
        <p:spPr>
          <a:xfrm>
            <a:off x="6057703" y="1417911"/>
            <a:ext cx="6129864" cy="4351338"/>
          </a:xfrm>
          <a:prstGeom prst="rect">
            <a:avLst/>
          </a:prstGeom>
          <a:noFill/>
          <a:ln>
            <a:noFill/>
          </a:ln>
        </p:spPr>
        <p:txBody>
          <a:bodyPr spcFirstLastPara="1" wrap="square" lIns="91425" tIns="45700" rIns="91425" bIns="45700" anchor="t" anchorCtr="0">
            <a:normAutofit fontScale="6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B0F0"/>
              </a:buClr>
              <a:buSzPts val="1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B0F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00B0F0"/>
              </a:buClr>
              <a:buSzPts val="18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lnSpc>
                <a:spcPct val="110000"/>
              </a:lnSpc>
              <a:buNone/>
            </a:pPr>
            <a:r>
              <a:rPr lang="en-US" sz="2900" b="1" i="1">
                <a:solidFill>
                  <a:schemeClr val="accent4"/>
                </a:solidFill>
                <a:latin typeface="Aptos Narrow" panose="020B0004020202020204" pitchFamily="34" charset="0"/>
              </a:rPr>
              <a:t>What would you do if you are travelling to the office or a client meeting on a cold January morning when roads are icy, visibility is poor, and you are running late?</a:t>
            </a:r>
          </a:p>
          <a:p>
            <a:pPr marL="114300" indent="0">
              <a:buNone/>
            </a:pPr>
            <a:r>
              <a:rPr lang="en-US" sz="2900" b="1">
                <a:solidFill>
                  <a:schemeClr val="accent5"/>
                </a:solidFill>
                <a:latin typeface="Aptos Narrow" panose="020B0004020202020204" pitchFamily="34" charset="0"/>
              </a:rPr>
              <a:t>What is the safest option?</a:t>
            </a:r>
          </a:p>
          <a:p>
            <a:pPr>
              <a:buSzPct val="100000"/>
              <a:buFont typeface="Wingdings" panose="05000000000000000000" pitchFamily="2" charset="2"/>
              <a:buChar char="§"/>
            </a:pPr>
            <a:r>
              <a:rPr lang="en-US" sz="2600">
                <a:latin typeface="Aptos Narrow" panose="020B0004020202020204" pitchFamily="34" charset="0"/>
              </a:rPr>
              <a:t>Proceed as planned?</a:t>
            </a:r>
          </a:p>
          <a:p>
            <a:pPr>
              <a:buSzPct val="100000"/>
              <a:buFont typeface="Wingdings" panose="05000000000000000000" pitchFamily="2" charset="2"/>
              <a:buChar char="§"/>
            </a:pPr>
            <a:r>
              <a:rPr lang="en-US" sz="2600">
                <a:latin typeface="Aptos Narrow" panose="020B0004020202020204" pitchFamily="34" charset="0"/>
              </a:rPr>
              <a:t>Slow down or change route?</a:t>
            </a:r>
          </a:p>
          <a:p>
            <a:pPr>
              <a:buSzPct val="100000"/>
              <a:buFont typeface="Wingdings" panose="05000000000000000000" pitchFamily="2" charset="2"/>
              <a:buChar char="§"/>
            </a:pPr>
            <a:r>
              <a:rPr lang="en-US" sz="2600">
                <a:latin typeface="Aptos Narrow" panose="020B0004020202020204" pitchFamily="34" charset="0"/>
              </a:rPr>
              <a:t>Delay or rearrange the meeting?</a:t>
            </a:r>
          </a:p>
          <a:p>
            <a:pPr>
              <a:buSzPct val="100000"/>
              <a:buFont typeface="Wingdings" panose="05000000000000000000" pitchFamily="2" charset="2"/>
              <a:buChar char="§"/>
            </a:pPr>
            <a:r>
              <a:rPr lang="en-US" sz="2600" b="1" i="1">
                <a:solidFill>
                  <a:srgbClr val="FF0000"/>
                </a:solidFill>
                <a:latin typeface="Aptos Narrow" panose="020B0004020202020204" pitchFamily="34" charset="0"/>
              </a:rPr>
              <a:t>No meeting is worth taking unnecessary risk.</a:t>
            </a:r>
          </a:p>
          <a:p>
            <a:pPr marL="114300" indent="0">
              <a:lnSpc>
                <a:spcPct val="110000"/>
              </a:lnSpc>
              <a:buNone/>
            </a:pPr>
            <a:r>
              <a:rPr lang="en-US" sz="2900" b="1">
                <a:solidFill>
                  <a:schemeClr val="accent5"/>
                </a:solidFill>
                <a:latin typeface="Aptos Narrow" panose="020B0004020202020204" pitchFamily="34" charset="0"/>
              </a:rPr>
              <a:t>So, please…</a:t>
            </a:r>
          </a:p>
          <a:p>
            <a:pPr>
              <a:lnSpc>
                <a:spcPct val="110000"/>
              </a:lnSpc>
            </a:pPr>
            <a:r>
              <a:rPr lang="en-US" sz="2600">
                <a:latin typeface="Aptos Narrow" panose="020B0004020202020204" pitchFamily="34" charset="0"/>
              </a:rPr>
              <a:t>Allow extra time for journeys</a:t>
            </a:r>
          </a:p>
          <a:p>
            <a:pPr>
              <a:lnSpc>
                <a:spcPct val="110000"/>
              </a:lnSpc>
            </a:pPr>
            <a:r>
              <a:rPr lang="en-US" sz="2600">
                <a:latin typeface="Aptos Narrow" panose="020B0004020202020204" pitchFamily="34" charset="0"/>
              </a:rPr>
              <a:t>Adapt driving style: slow down, increase distance</a:t>
            </a:r>
          </a:p>
          <a:p>
            <a:pPr>
              <a:lnSpc>
                <a:spcPct val="110000"/>
              </a:lnSpc>
            </a:pPr>
            <a:r>
              <a:rPr lang="en-US" sz="2600">
                <a:latin typeface="Aptos Narrow" panose="020B0004020202020204" pitchFamily="34" charset="0"/>
              </a:rPr>
              <a:t>Wear suitable footwear when travelling or attending the office</a:t>
            </a:r>
          </a:p>
          <a:p>
            <a:pPr>
              <a:lnSpc>
                <a:spcPct val="110000"/>
              </a:lnSpc>
            </a:pPr>
            <a:r>
              <a:rPr lang="en-US" sz="2600">
                <a:latin typeface="Aptos Narrow" panose="020B0004020202020204" pitchFamily="34" charset="0"/>
              </a:rPr>
              <a:t>Report hazards (ice, lighting, access issues) promptly</a:t>
            </a:r>
          </a:p>
          <a:p>
            <a:pPr marL="114300" indent="0">
              <a:buNone/>
            </a:pPr>
            <a:endParaRPr lang="en-US" sz="1600">
              <a:latin typeface="Aptos Narrow" panose="020B0004020202020204" pitchFamily="34" charset="0"/>
            </a:endParaRPr>
          </a:p>
        </p:txBody>
      </p:sp>
      <p:sp>
        <p:nvSpPr>
          <p:cNvPr id="4" name="TextBox 3">
            <a:extLst>
              <a:ext uri="{FF2B5EF4-FFF2-40B4-BE49-F238E27FC236}">
                <a16:creationId xmlns:a16="http://schemas.microsoft.com/office/drawing/2014/main" id="{525DE72C-5AE5-4AA6-945F-B9830A108A20}"/>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January 2026 </a:t>
            </a:r>
            <a:endParaRPr lang="en-GB" sz="2000" b="1"/>
          </a:p>
        </p:txBody>
      </p:sp>
    </p:spTree>
    <p:extLst>
      <p:ext uri="{BB962C8B-B14F-4D97-AF65-F5344CB8AC3E}">
        <p14:creationId xmlns:p14="http://schemas.microsoft.com/office/powerpoint/2010/main" val="395521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8C2BB-79B7-E54D-C328-30F283DB340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14D7C6D-C8A4-A1C8-6FE3-2CFD048F9C6A}"/>
              </a:ext>
            </a:extLst>
          </p:cNvPr>
          <p:cNvSpPr>
            <a:spLocks noGrp="1"/>
          </p:cNvSpPr>
          <p:nvPr>
            <p:ph type="subTitle" idx="1"/>
          </p:nvPr>
        </p:nvSpPr>
        <p:spPr/>
        <p:txBody>
          <a:bodyPr>
            <a:normAutofit fontScale="92500" lnSpcReduction="10000"/>
          </a:bodyPr>
          <a:lstStyle/>
          <a:p>
            <a:pPr>
              <a:lnSpc>
                <a:spcPct val="107000"/>
              </a:lnSpc>
              <a:spcAft>
                <a:spcPts val="800"/>
              </a:spcAft>
              <a:buNone/>
            </a:pPr>
            <a:r>
              <a:rPr lang="en-GB" sz="3200" kern="100">
                <a:effectLst/>
                <a:latin typeface="Aptos Narrow" panose="020B0004020202020204" pitchFamily="34" charset="0"/>
                <a:ea typeface="Aptos" panose="020B0004020202020204" pitchFamily="34" charset="0"/>
                <a:cs typeface="Times New Roman" panose="02020603050405020304" pitchFamily="18" charset="0"/>
              </a:rPr>
              <a:t>Health, Safety &amp; Wellbeing Messages</a:t>
            </a:r>
          </a:p>
          <a:p>
            <a:pPr>
              <a:lnSpc>
                <a:spcPct val="107000"/>
              </a:lnSpc>
              <a:spcAft>
                <a:spcPts val="800"/>
              </a:spcAft>
              <a:buNone/>
            </a:pPr>
            <a:r>
              <a:rPr lang="en-GB" sz="4800" kern="100">
                <a:latin typeface="Aptos Narrow" panose="020B0004020202020204" pitchFamily="34" charset="0"/>
                <a:ea typeface="Aptos" panose="020B0004020202020204" pitchFamily="34" charset="0"/>
                <a:cs typeface="Times New Roman" panose="02020603050405020304" pitchFamily="18" charset="0"/>
              </a:rPr>
              <a:t>2025</a:t>
            </a:r>
            <a:endParaRPr lang="en-GB" sz="4800" kern="100">
              <a:effectLst/>
              <a:latin typeface="Aptos Narrow"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85581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C879-37B1-F430-B558-FD0670DC23D0}"/>
              </a:ext>
            </a:extLst>
          </p:cNvPr>
          <p:cNvSpPr>
            <a:spLocks noGrp="1"/>
          </p:cNvSpPr>
          <p:nvPr>
            <p:ph type="title"/>
          </p:nvPr>
        </p:nvSpPr>
        <p:spPr>
          <a:xfrm>
            <a:off x="337457" y="274914"/>
            <a:ext cx="8296072" cy="1325563"/>
          </a:xfrm>
        </p:spPr>
        <p:txBody>
          <a:bodyPr>
            <a:normAutofit fontScale="90000"/>
          </a:bodyPr>
          <a:lstStyle/>
          <a:p>
            <a:r>
              <a:rPr lang="en-US" sz="3200"/>
              <a:t>Health, Safety &amp; Wellbeing December Focus:</a:t>
            </a:r>
            <a:br>
              <a:rPr lang="en-US" sz="3200"/>
            </a:br>
            <a:r>
              <a:rPr lang="en-US" sz="3200">
                <a:solidFill>
                  <a:schemeClr val="accent4"/>
                </a:solidFill>
              </a:rPr>
              <a:t>Supporting Mental Health Over the Christmas Period</a:t>
            </a:r>
            <a:endParaRPr lang="en-GB" sz="3200">
              <a:solidFill>
                <a:schemeClr val="accent4"/>
              </a:solidFill>
              <a:latin typeface="Aptos Narrow" panose="020B0004020202020204" pitchFamily="34" charset="0"/>
            </a:endParaRPr>
          </a:p>
        </p:txBody>
      </p:sp>
      <p:sp>
        <p:nvSpPr>
          <p:cNvPr id="8" name="TextBox 7">
            <a:extLst>
              <a:ext uri="{FF2B5EF4-FFF2-40B4-BE49-F238E27FC236}">
                <a16:creationId xmlns:a16="http://schemas.microsoft.com/office/drawing/2014/main" id="{3ADD97B1-2145-166A-C425-A4113D5284E0}"/>
              </a:ext>
            </a:extLst>
          </p:cNvPr>
          <p:cNvSpPr txBox="1"/>
          <p:nvPr/>
        </p:nvSpPr>
        <p:spPr>
          <a:xfrm>
            <a:off x="360035" y="6117184"/>
            <a:ext cx="11669486" cy="707886"/>
          </a:xfrm>
          <a:prstGeom prst="rect">
            <a:avLst/>
          </a:prstGeom>
          <a:solidFill>
            <a:srgbClr val="00B0F0"/>
          </a:solidFill>
        </p:spPr>
        <p:txBody>
          <a:bodyPr wrap="square">
            <a:spAutoFit/>
          </a:bodyPr>
          <a:lstStyle>
            <a:defPPr marR="0" lvl="0" algn="l" rtl="0">
              <a:lnSpc>
                <a:spcPct val="100000"/>
              </a:lnSpc>
              <a:spcBef>
                <a:spcPts val="0"/>
              </a:spcBef>
              <a:spcAft>
                <a:spcPts val="0"/>
              </a:spcAft>
              <a:defRPr/>
            </a:defPPr>
            <a:lvl1pPr algn="ctr">
              <a:defRPr sz="2000" b="1">
                <a:solidFill>
                  <a:schemeClr val="tx1"/>
                </a:solidFill>
                <a:latin typeface="Aptos Narrow" panose="020B0004020202020204" pitchFamily="34" charset="0"/>
              </a:defRPr>
            </a:lvl1pPr>
          </a:lstStyle>
          <a:p>
            <a:r>
              <a:rPr lang="en-US"/>
              <a:t>Christmas looks different for everyone so please be mindful, compassionate and supportive, both to yourself and those around you. </a:t>
            </a:r>
          </a:p>
        </p:txBody>
      </p:sp>
      <p:sp>
        <p:nvSpPr>
          <p:cNvPr id="5" name="TextBox 4">
            <a:extLst>
              <a:ext uri="{FF2B5EF4-FFF2-40B4-BE49-F238E27FC236}">
                <a16:creationId xmlns:a16="http://schemas.microsoft.com/office/drawing/2014/main" id="{B7E6D72D-7E6A-CC48-71D4-2614A912E1D5}"/>
              </a:ext>
            </a:extLst>
          </p:cNvPr>
          <p:cNvSpPr txBox="1"/>
          <p:nvPr/>
        </p:nvSpPr>
        <p:spPr>
          <a:xfrm>
            <a:off x="337457" y="1510165"/>
            <a:ext cx="5987143" cy="954107"/>
          </a:xfrm>
          <a:prstGeom prst="rect">
            <a:avLst/>
          </a:prstGeom>
          <a:noFill/>
        </p:spPr>
        <p:txBody>
          <a:bodyPr wrap="square">
            <a:spAutoFit/>
          </a:bodyPr>
          <a:lstStyle/>
          <a:p>
            <a:pPr>
              <a:buClr>
                <a:schemeClr val="accent4"/>
              </a:buClr>
            </a:pPr>
            <a:r>
              <a:rPr lang="en-US" b="1">
                <a:solidFill>
                  <a:schemeClr val="accent5"/>
                </a:solidFill>
                <a:latin typeface="Aptos Narrow" panose="020B0004020202020204" pitchFamily="34" charset="0"/>
              </a:rPr>
              <a:t>Why This Matters</a:t>
            </a:r>
          </a:p>
          <a:p>
            <a:pPr marL="285750" indent="-285750">
              <a:buClr>
                <a:schemeClr val="accent4"/>
              </a:buClr>
              <a:buFont typeface="Wingdings" panose="05000000000000000000" pitchFamily="2" charset="2"/>
              <a:buChar char="§"/>
            </a:pPr>
            <a:r>
              <a:rPr lang="en-US">
                <a:latin typeface="Aptos Narrow" panose="020B0004020202020204" pitchFamily="34" charset="0"/>
              </a:rPr>
              <a:t>The Christmas period can be a time of joy, rest and connection.</a:t>
            </a:r>
          </a:p>
          <a:p>
            <a:pPr marL="285750" indent="-285750">
              <a:buClr>
                <a:schemeClr val="accent4"/>
              </a:buClr>
              <a:buFont typeface="Wingdings" panose="05000000000000000000" pitchFamily="2" charset="2"/>
              <a:buChar char="§"/>
            </a:pPr>
            <a:r>
              <a:rPr lang="en-US">
                <a:latin typeface="Aptos Narrow" panose="020B0004020202020204" pitchFamily="34" charset="0"/>
              </a:rPr>
              <a:t>But for many, it also brings increased pressure, isolation, financial strain, and emotional challenges. </a:t>
            </a:r>
          </a:p>
        </p:txBody>
      </p:sp>
      <p:sp>
        <p:nvSpPr>
          <p:cNvPr id="10" name="TextBox 9">
            <a:extLst>
              <a:ext uri="{FF2B5EF4-FFF2-40B4-BE49-F238E27FC236}">
                <a16:creationId xmlns:a16="http://schemas.microsoft.com/office/drawing/2014/main" id="{673BF86E-9FEC-18D5-30F5-3898CFBC7F2C}"/>
              </a:ext>
            </a:extLst>
          </p:cNvPr>
          <p:cNvSpPr txBox="1"/>
          <p:nvPr/>
        </p:nvSpPr>
        <p:spPr>
          <a:xfrm>
            <a:off x="337457" y="2533398"/>
            <a:ext cx="6096000" cy="3323987"/>
          </a:xfrm>
          <a:prstGeom prst="rect">
            <a:avLst/>
          </a:prstGeom>
          <a:noFill/>
        </p:spPr>
        <p:txBody>
          <a:bodyPr wrap="square">
            <a:spAutoFit/>
          </a:bodyPr>
          <a:lstStyle/>
          <a:p>
            <a:pPr>
              <a:buClr>
                <a:schemeClr val="accent4"/>
              </a:buClr>
            </a:pPr>
            <a:r>
              <a:rPr lang="en-US" b="1">
                <a:solidFill>
                  <a:schemeClr val="accent5"/>
                </a:solidFill>
                <a:latin typeface="Aptos Narrow" panose="020B0004020202020204" pitchFamily="34" charset="0"/>
              </a:rPr>
              <a:t>Common Challenges at Christmas</a:t>
            </a:r>
          </a:p>
          <a:p>
            <a:pPr marL="285750" indent="-285750">
              <a:buClr>
                <a:schemeClr val="accent4"/>
              </a:buClr>
              <a:buFont typeface="Wingdings" panose="05000000000000000000" pitchFamily="2" charset="2"/>
              <a:buChar char="§"/>
            </a:pPr>
            <a:r>
              <a:rPr lang="en-US" b="1">
                <a:latin typeface="Aptos Narrow" panose="020B0004020202020204" pitchFamily="34" charset="0"/>
              </a:rPr>
              <a:t>Increased Stress &amp; Burnout: </a:t>
            </a:r>
            <a:r>
              <a:rPr lang="en-US">
                <a:latin typeface="Aptos Narrow" panose="020B0004020202020204" pitchFamily="34" charset="0"/>
              </a:rPr>
              <a:t>End-of-year deadlines, workloads, and preparation for the holidays can reduce personal time and increase stress.</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Financial Pressure: </a:t>
            </a:r>
            <a:r>
              <a:rPr lang="en-US">
                <a:latin typeface="Aptos Narrow" panose="020B0004020202020204" pitchFamily="34" charset="0"/>
              </a:rPr>
              <a:t>Gift buying, travel, and seasonal events may add additional financial worries.</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Loneliness &amp; Isolation: </a:t>
            </a:r>
            <a:r>
              <a:rPr lang="en-US">
                <a:latin typeface="Aptos Narrow" panose="020B0004020202020204" pitchFamily="34" charset="0"/>
              </a:rPr>
              <a:t>Not everyone has family or social gatherings to join, and many find the contrast with festive messaging difficult.</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Grief &amp; Emotional Triggers: </a:t>
            </a:r>
            <a:r>
              <a:rPr lang="en-US">
                <a:latin typeface="Aptos Narrow" panose="020B0004020202020204" pitchFamily="34" charset="0"/>
              </a:rPr>
              <a:t>Festive periods can intensify feelings of loss or sadness, especially for those missing loved ones.</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Disrupted Routines: </a:t>
            </a:r>
            <a:r>
              <a:rPr lang="en-US">
                <a:latin typeface="Aptos Narrow" panose="020B0004020202020204" pitchFamily="34" charset="0"/>
              </a:rPr>
              <a:t>Changes to working patterns, school holidays, and social demands can affect sleep, diet, exercise and general wellbeing.</a:t>
            </a:r>
          </a:p>
        </p:txBody>
      </p:sp>
      <p:sp>
        <p:nvSpPr>
          <p:cNvPr id="14" name="TextBox 13">
            <a:extLst>
              <a:ext uri="{FF2B5EF4-FFF2-40B4-BE49-F238E27FC236}">
                <a16:creationId xmlns:a16="http://schemas.microsoft.com/office/drawing/2014/main" id="{731EDA65-FAB1-7202-C9E1-F02872540A90}"/>
              </a:ext>
            </a:extLst>
          </p:cNvPr>
          <p:cNvSpPr txBox="1"/>
          <p:nvPr/>
        </p:nvSpPr>
        <p:spPr>
          <a:xfrm>
            <a:off x="6803571" y="1579291"/>
            <a:ext cx="5225950" cy="3323987"/>
          </a:xfrm>
          <a:prstGeom prst="rect">
            <a:avLst/>
          </a:prstGeom>
          <a:noFill/>
        </p:spPr>
        <p:txBody>
          <a:bodyPr wrap="square">
            <a:spAutoFit/>
          </a:bodyPr>
          <a:lstStyle/>
          <a:p>
            <a:pPr>
              <a:buNone/>
            </a:pPr>
            <a:r>
              <a:rPr lang="en-US" b="1">
                <a:solidFill>
                  <a:schemeClr val="accent5"/>
                </a:solidFill>
                <a:latin typeface="Aptos Narrow" panose="020B0004020202020204" pitchFamily="34" charset="0"/>
              </a:rPr>
              <a:t>How We Can Support Ourselves and Each Other</a:t>
            </a:r>
          </a:p>
          <a:p>
            <a:pPr marL="285750" indent="-285750">
              <a:buClr>
                <a:schemeClr val="accent4"/>
              </a:buClr>
              <a:buFont typeface="Wingdings" panose="05000000000000000000" pitchFamily="2" charset="2"/>
              <a:buChar char="§"/>
            </a:pPr>
            <a:r>
              <a:rPr lang="en-US" b="1">
                <a:latin typeface="Aptos Narrow" panose="020B0004020202020204" pitchFamily="34" charset="0"/>
              </a:rPr>
              <a:t>Be Realistic and Prioritise: </a:t>
            </a:r>
            <a:r>
              <a:rPr lang="en-US">
                <a:latin typeface="Aptos Narrow" panose="020B0004020202020204" pitchFamily="34" charset="0"/>
              </a:rPr>
              <a:t>Set achievable goals for work and home. It’s okay to say no to additional pressures.</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Stay Connected: </a:t>
            </a:r>
            <a:r>
              <a:rPr lang="en-US">
                <a:latin typeface="Aptos Narrow" panose="020B0004020202020204" pitchFamily="34" charset="0"/>
              </a:rPr>
              <a:t>Reach out to friends, colleagues or support networks. Even a quick conversation can make a difference.</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Look After Your Physical Health: </a:t>
            </a:r>
            <a:r>
              <a:rPr lang="en-US">
                <a:latin typeface="Aptos Narrow" panose="020B0004020202020204" pitchFamily="34" charset="0"/>
              </a:rPr>
              <a:t>Good sleep, hydration, regular breaks and movement all support mental wellbeing.</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Take Breaks from Social Media: </a:t>
            </a:r>
            <a:r>
              <a:rPr lang="en-US">
                <a:latin typeface="Aptos Narrow" panose="020B0004020202020204" pitchFamily="34" charset="0"/>
              </a:rPr>
              <a:t>Constant comparison of festive expectations can heighten stress and anxiety.</a:t>
            </a:r>
          </a:p>
          <a:p>
            <a:pPr marL="285750" indent="-285750">
              <a:buClr>
                <a:schemeClr val="accent4"/>
              </a:buClr>
              <a:buFont typeface="Wingdings" panose="05000000000000000000" pitchFamily="2" charset="2"/>
              <a:buChar char="§"/>
            </a:pPr>
            <a:endParaRPr lang="en-US" b="1">
              <a:latin typeface="Aptos Narrow" panose="020B0004020202020204" pitchFamily="34" charset="0"/>
            </a:endParaRPr>
          </a:p>
          <a:p>
            <a:pPr marL="285750" indent="-285750">
              <a:buClr>
                <a:schemeClr val="accent4"/>
              </a:buClr>
              <a:buFont typeface="Wingdings" panose="05000000000000000000" pitchFamily="2" charset="2"/>
              <a:buChar char="§"/>
            </a:pPr>
            <a:r>
              <a:rPr lang="en-US" b="1">
                <a:latin typeface="Aptos Narrow" panose="020B0004020202020204" pitchFamily="34" charset="0"/>
              </a:rPr>
              <a:t>Talk to Someone Early: </a:t>
            </a:r>
            <a:r>
              <a:rPr lang="en-US">
                <a:latin typeface="Aptos Narrow" panose="020B0004020202020204" pitchFamily="34" charset="0"/>
              </a:rPr>
              <a:t>If you’re feeling overwhelmed speak to someone.</a:t>
            </a:r>
          </a:p>
        </p:txBody>
      </p:sp>
      <p:sp>
        <p:nvSpPr>
          <p:cNvPr id="17" name="TextBox 16">
            <a:extLst>
              <a:ext uri="{FF2B5EF4-FFF2-40B4-BE49-F238E27FC236}">
                <a16:creationId xmlns:a16="http://schemas.microsoft.com/office/drawing/2014/main" id="{09BFF884-BBAD-AE6D-AA2D-38D7FF331F1B}"/>
              </a:ext>
            </a:extLst>
          </p:cNvPr>
          <p:cNvSpPr txBox="1"/>
          <p:nvPr/>
        </p:nvSpPr>
        <p:spPr>
          <a:xfrm>
            <a:off x="6891060" y="5033177"/>
            <a:ext cx="5050972" cy="954107"/>
          </a:xfrm>
          <a:prstGeom prst="rect">
            <a:avLst/>
          </a:prstGeom>
          <a:solidFill>
            <a:schemeClr val="accent5">
              <a:lumMod val="20000"/>
              <a:lumOff val="80000"/>
            </a:schemeClr>
          </a:solidFill>
        </p:spPr>
        <p:txBody>
          <a:bodyPr wrap="square">
            <a:spAutoFit/>
          </a:bodyPr>
          <a:lstStyle/>
          <a:p>
            <a:pPr>
              <a:buNone/>
            </a:pPr>
            <a:r>
              <a:rPr lang="en-US">
                <a:latin typeface="Aptos Narrow" panose="020B0004020202020204" pitchFamily="34" charset="0"/>
              </a:rPr>
              <a:t>If you or someone you know is in immediate need of support:</a:t>
            </a:r>
          </a:p>
          <a:p>
            <a:pPr marL="285750" indent="-285750">
              <a:buClr>
                <a:schemeClr val="accent4"/>
              </a:buClr>
              <a:buFont typeface="Wingdings" panose="05000000000000000000" pitchFamily="2" charset="2"/>
              <a:buChar char="§"/>
            </a:pPr>
            <a:r>
              <a:rPr lang="en-US" b="1">
                <a:latin typeface="Aptos Narrow" panose="020B0004020202020204" pitchFamily="34" charset="0"/>
              </a:rPr>
              <a:t>Samaritans</a:t>
            </a:r>
            <a:r>
              <a:rPr lang="en-US">
                <a:latin typeface="Aptos Narrow" panose="020B0004020202020204" pitchFamily="34" charset="0"/>
              </a:rPr>
              <a:t> – 116 123 (24/7)</a:t>
            </a:r>
          </a:p>
          <a:p>
            <a:pPr marL="285750" indent="-285750">
              <a:buClr>
                <a:schemeClr val="accent4"/>
              </a:buClr>
              <a:buFont typeface="Wingdings" panose="05000000000000000000" pitchFamily="2" charset="2"/>
              <a:buChar char="§"/>
            </a:pPr>
            <a:r>
              <a:rPr lang="en-US" b="1">
                <a:latin typeface="Aptos Narrow" panose="020B0004020202020204" pitchFamily="34" charset="0"/>
              </a:rPr>
              <a:t>NHS 111</a:t>
            </a:r>
            <a:r>
              <a:rPr lang="en-US">
                <a:latin typeface="Aptos Narrow" panose="020B0004020202020204" pitchFamily="34" charset="0"/>
              </a:rPr>
              <a:t> – for urgent mental-health concerns</a:t>
            </a:r>
          </a:p>
          <a:p>
            <a:pPr marL="285750" indent="-285750">
              <a:buClr>
                <a:schemeClr val="accent4"/>
              </a:buClr>
              <a:buFont typeface="Wingdings" panose="05000000000000000000" pitchFamily="2" charset="2"/>
              <a:buChar char="§"/>
            </a:pPr>
            <a:r>
              <a:rPr lang="en-US" b="1">
                <a:latin typeface="Aptos Narrow" panose="020B0004020202020204" pitchFamily="34" charset="0"/>
              </a:rPr>
              <a:t>Shout</a:t>
            </a:r>
            <a:r>
              <a:rPr lang="en-US">
                <a:latin typeface="Aptos Narrow" panose="020B0004020202020204" pitchFamily="34" charset="0"/>
              </a:rPr>
              <a:t> – text </a:t>
            </a:r>
            <a:r>
              <a:rPr lang="en-US" i="1">
                <a:latin typeface="Aptos Narrow" panose="020B0004020202020204" pitchFamily="34" charset="0"/>
              </a:rPr>
              <a:t>SHOUT</a:t>
            </a:r>
            <a:r>
              <a:rPr lang="en-US">
                <a:latin typeface="Aptos Narrow" panose="020B0004020202020204" pitchFamily="34" charset="0"/>
              </a:rPr>
              <a:t> to 85258 for free, confidential crisis support</a:t>
            </a:r>
          </a:p>
        </p:txBody>
      </p:sp>
      <p:sp>
        <p:nvSpPr>
          <p:cNvPr id="3" name="TextBox 2">
            <a:extLst>
              <a:ext uri="{FF2B5EF4-FFF2-40B4-BE49-F238E27FC236}">
                <a16:creationId xmlns:a16="http://schemas.microsoft.com/office/drawing/2014/main" id="{C5043551-3D77-294E-9013-CA9C968C7191}"/>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December 2025 </a:t>
            </a:r>
            <a:endParaRPr lang="en-GB" sz="2000" b="1"/>
          </a:p>
        </p:txBody>
      </p:sp>
    </p:spTree>
    <p:extLst>
      <p:ext uri="{BB962C8B-B14F-4D97-AF65-F5344CB8AC3E}">
        <p14:creationId xmlns:p14="http://schemas.microsoft.com/office/powerpoint/2010/main" val="3875061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C879-37B1-F430-B558-FD0670DC23D0}"/>
              </a:ext>
            </a:extLst>
          </p:cNvPr>
          <p:cNvSpPr>
            <a:spLocks noGrp="1"/>
          </p:cNvSpPr>
          <p:nvPr>
            <p:ph type="title"/>
          </p:nvPr>
        </p:nvSpPr>
        <p:spPr>
          <a:xfrm>
            <a:off x="337457" y="274914"/>
            <a:ext cx="8296072" cy="1325563"/>
          </a:xfrm>
        </p:spPr>
        <p:txBody>
          <a:bodyPr>
            <a:normAutofit/>
          </a:bodyPr>
          <a:lstStyle/>
          <a:p>
            <a:r>
              <a:rPr lang="en-US" sz="3200"/>
              <a:t>Health, Safety &amp; Wellbeing Message: </a:t>
            </a:r>
            <a:r>
              <a:rPr lang="en-US" sz="3200">
                <a:solidFill>
                  <a:schemeClr val="accent4"/>
                </a:solidFill>
              </a:rPr>
              <a:t>Ergonomics &amp; Posture</a:t>
            </a:r>
            <a:endParaRPr lang="en-GB" sz="3200">
              <a:solidFill>
                <a:schemeClr val="accent4"/>
              </a:solidFill>
              <a:latin typeface="Aptos Narrow" panose="020B0004020202020204" pitchFamily="34" charset="0"/>
            </a:endParaRPr>
          </a:p>
        </p:txBody>
      </p:sp>
      <p:sp>
        <p:nvSpPr>
          <p:cNvPr id="4" name="TextBox 3">
            <a:extLst>
              <a:ext uri="{FF2B5EF4-FFF2-40B4-BE49-F238E27FC236}">
                <a16:creationId xmlns:a16="http://schemas.microsoft.com/office/drawing/2014/main" id="{4BBB6F3B-A41A-0D58-49D7-1F5C8E304012}"/>
              </a:ext>
            </a:extLst>
          </p:cNvPr>
          <p:cNvSpPr txBox="1"/>
          <p:nvPr/>
        </p:nvSpPr>
        <p:spPr>
          <a:xfrm>
            <a:off x="228600" y="1764208"/>
            <a:ext cx="6573010" cy="4247317"/>
          </a:xfrm>
          <a:prstGeom prst="rect">
            <a:avLst/>
          </a:prstGeom>
          <a:noFill/>
        </p:spPr>
        <p:txBody>
          <a:bodyPr wrap="square">
            <a:spAutoFit/>
          </a:bodyPr>
          <a:lstStyle/>
          <a:p>
            <a:pPr>
              <a:defRPr sz="1400">
                <a:solidFill>
                  <a:srgbClr val="323232"/>
                </a:solidFill>
              </a:defRPr>
            </a:pPr>
            <a:r>
              <a:rPr lang="en-US" sz="1800" b="1">
                <a:solidFill>
                  <a:schemeClr val="accent5"/>
                </a:solidFill>
                <a:latin typeface="Aptos Narrow" panose="020B0004020202020204" pitchFamily="34" charset="0"/>
              </a:rPr>
              <a:t>Why it matters?</a:t>
            </a:r>
          </a:p>
          <a:p>
            <a:pPr marL="285750" indent="-285750">
              <a:buClr>
                <a:schemeClr val="accent4"/>
              </a:buClr>
              <a:buFont typeface="Wingdings" panose="05000000000000000000" pitchFamily="2" charset="2"/>
              <a:buChar char="§"/>
              <a:defRPr sz="1400">
                <a:solidFill>
                  <a:srgbClr val="323232"/>
                </a:solidFill>
              </a:defRPr>
            </a:pPr>
            <a:r>
              <a:rPr lang="en-US" sz="1800">
                <a:latin typeface="Aptos Narrow" panose="020B0004020202020204" pitchFamily="34" charset="0"/>
              </a:rPr>
              <a:t>Poor posture and workstation setup are leading causes of musculoskeletal disorders (MSDs).</a:t>
            </a:r>
          </a:p>
          <a:p>
            <a:pPr marL="285750" indent="-285750">
              <a:buClr>
                <a:schemeClr val="accent4"/>
              </a:buClr>
              <a:buFont typeface="Wingdings" panose="05000000000000000000" pitchFamily="2" charset="2"/>
              <a:buChar char="§"/>
              <a:defRPr sz="1400">
                <a:solidFill>
                  <a:srgbClr val="323232"/>
                </a:solidFill>
              </a:defRPr>
            </a:pPr>
            <a:r>
              <a:rPr lang="en-US" sz="1800">
                <a:latin typeface="Aptos Narrow" panose="020B0004020202020204" pitchFamily="34" charset="0"/>
              </a:rPr>
              <a:t>These develop gradually from repetitive strain, awkward positions, or poor screen alignment.</a:t>
            </a:r>
          </a:p>
          <a:p>
            <a:pPr marL="285750" indent="-285750">
              <a:buClr>
                <a:schemeClr val="accent4"/>
              </a:buClr>
              <a:buFont typeface="Wingdings" panose="05000000000000000000" pitchFamily="2" charset="2"/>
              <a:buChar char="§"/>
              <a:defRPr sz="1400">
                <a:solidFill>
                  <a:srgbClr val="323232"/>
                </a:solidFill>
              </a:defRPr>
            </a:pPr>
            <a:r>
              <a:rPr lang="en-US" sz="1800">
                <a:latin typeface="Aptos Narrow" panose="020B0004020202020204" pitchFamily="34" charset="0"/>
              </a:rPr>
              <a:t>Good ergonomics improves comfort, concentration, and productivity.</a:t>
            </a:r>
          </a:p>
          <a:p>
            <a:pPr>
              <a:defRPr sz="1400">
                <a:solidFill>
                  <a:srgbClr val="323232"/>
                </a:solidFill>
              </a:defRPr>
            </a:pPr>
            <a:endParaRPr lang="en-US" sz="1800">
              <a:latin typeface="Aptos Narrow" panose="020B0004020202020204" pitchFamily="34" charset="0"/>
            </a:endParaRPr>
          </a:p>
          <a:p>
            <a:pPr>
              <a:defRPr sz="1400">
                <a:solidFill>
                  <a:srgbClr val="323232"/>
                </a:solidFill>
              </a:defRPr>
            </a:pPr>
            <a:r>
              <a:rPr lang="en-US" sz="1800" b="1">
                <a:solidFill>
                  <a:schemeClr val="accent5"/>
                </a:solidFill>
                <a:latin typeface="Aptos Narrow" panose="020B0004020202020204" pitchFamily="34" charset="0"/>
              </a:rPr>
              <a:t>Good Posture Essentials</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Sit tall: Back supported, shoulders relaxed, feet flat on floor/footrest.</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Screen at eye level: Top of monitor roughly at eye height.</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Elbows close: 90° angle, wrists straight, mouse/keyboard close.</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Move often: Stand, stretch or walk every 30–45 mins.</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Check your setup: Apply good ergonomics at both home and office.</a:t>
            </a:r>
            <a:endParaRPr lang="en-US" sz="1800">
              <a:latin typeface="Aptos Narrow" panose="020B0004020202020204" pitchFamily="34" charset="0"/>
            </a:endParaRPr>
          </a:p>
        </p:txBody>
      </p:sp>
      <p:sp>
        <p:nvSpPr>
          <p:cNvPr id="6" name="TextBox 5">
            <a:extLst>
              <a:ext uri="{FF2B5EF4-FFF2-40B4-BE49-F238E27FC236}">
                <a16:creationId xmlns:a16="http://schemas.microsoft.com/office/drawing/2014/main" id="{EA71CADB-FEE8-0DA7-6DCE-3791F4D3E7BF}"/>
              </a:ext>
            </a:extLst>
          </p:cNvPr>
          <p:cNvSpPr txBox="1"/>
          <p:nvPr/>
        </p:nvSpPr>
        <p:spPr>
          <a:xfrm>
            <a:off x="6801610" y="1600477"/>
            <a:ext cx="5020275" cy="1477328"/>
          </a:xfrm>
          <a:prstGeom prst="rect">
            <a:avLst/>
          </a:prstGeom>
          <a:noFill/>
        </p:spPr>
        <p:txBody>
          <a:bodyPr wrap="square">
            <a:spAutoFit/>
          </a:bodyPr>
          <a:lstStyle/>
          <a:p>
            <a:pPr>
              <a:defRPr sz="1400">
                <a:solidFill>
                  <a:srgbClr val="323232"/>
                </a:solidFill>
              </a:defRPr>
            </a:pPr>
            <a:r>
              <a:rPr lang="en-US" sz="1800" b="1">
                <a:solidFill>
                  <a:schemeClr val="accent5"/>
                </a:solidFill>
                <a:latin typeface="Aptos Narrow" panose="020B0004020202020204" pitchFamily="34" charset="0"/>
              </a:rPr>
              <a:t>This Month’s Call to Action</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Take 5 minutes today to check your workstation.</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Complete a DSE self-assessment </a:t>
            </a:r>
          </a:p>
          <a:p>
            <a:pPr marL="285750" indent="-285750">
              <a:buClr>
                <a:schemeClr val="accent4"/>
              </a:buClr>
              <a:buFont typeface="Wingdings" panose="05000000000000000000" pitchFamily="2" charset="2"/>
              <a:buChar char="§"/>
              <a:defRPr sz="1400">
                <a:solidFill>
                  <a:srgbClr val="323232"/>
                </a:solidFill>
              </a:defRPr>
            </a:pPr>
            <a:r>
              <a:rPr lang="en-US" sz="1800">
                <a:solidFill>
                  <a:srgbClr val="323232"/>
                </a:solidFill>
                <a:latin typeface="Aptos Narrow" panose="020B0004020202020204" pitchFamily="34" charset="0"/>
              </a:rPr>
              <a:t>Small adjustments now prevent long-term discomfort and injury.</a:t>
            </a:r>
            <a:endParaRPr lang="en-GB" sz="1800">
              <a:solidFill>
                <a:srgbClr val="323232"/>
              </a:solidFill>
              <a:latin typeface="Aptos Narrow" panose="020B0004020202020204" pitchFamily="34" charset="0"/>
            </a:endParaRPr>
          </a:p>
        </p:txBody>
      </p:sp>
      <p:sp>
        <p:nvSpPr>
          <p:cNvPr id="8" name="TextBox 7">
            <a:extLst>
              <a:ext uri="{FF2B5EF4-FFF2-40B4-BE49-F238E27FC236}">
                <a16:creationId xmlns:a16="http://schemas.microsoft.com/office/drawing/2014/main" id="{3ADD97B1-2145-166A-C425-A4113D5284E0}"/>
              </a:ext>
            </a:extLst>
          </p:cNvPr>
          <p:cNvSpPr txBox="1"/>
          <p:nvPr/>
        </p:nvSpPr>
        <p:spPr>
          <a:xfrm>
            <a:off x="337457" y="6338986"/>
            <a:ext cx="11604172" cy="369332"/>
          </a:xfrm>
          <a:prstGeom prst="rect">
            <a:avLst/>
          </a:prstGeom>
          <a:solidFill>
            <a:srgbClr val="00B0F0"/>
          </a:solidFill>
        </p:spPr>
        <p:txBody>
          <a:bodyPr wrap="square">
            <a:spAutoFit/>
          </a:bodyPr>
          <a:lstStyle>
            <a:defPPr marR="0" lvl="0" algn="l" rtl="0">
              <a:lnSpc>
                <a:spcPct val="100000"/>
              </a:lnSpc>
              <a:spcBef>
                <a:spcPts val="0"/>
              </a:spcBef>
              <a:spcAft>
                <a:spcPts val="0"/>
              </a:spcAft>
            </a:defPPr>
            <a:lvl1pPr algn="ctr">
              <a:defRPr sz="2000" b="1">
                <a:solidFill>
                  <a:schemeClr val="tx1"/>
                </a:solidFill>
                <a:latin typeface="Aptos Narrow" panose="020B0004020202020204" pitchFamily="34" charset="0"/>
              </a:defRPr>
            </a:lvl1pPr>
          </a:lstStyle>
          <a:p>
            <a:r>
              <a:rPr lang="en-US"/>
              <a:t>Your workstation setup is your first line of defense against discomfort!</a:t>
            </a:r>
            <a:endParaRPr lang="en-GB"/>
          </a:p>
        </p:txBody>
      </p:sp>
      <p:pic>
        <p:nvPicPr>
          <p:cNvPr id="11" name="Picture 10">
            <a:extLst>
              <a:ext uri="{FF2B5EF4-FFF2-40B4-BE49-F238E27FC236}">
                <a16:creationId xmlns:a16="http://schemas.microsoft.com/office/drawing/2014/main" id="{DAE9AC91-C46D-34E4-BA86-9BBBBFD15C85}"/>
              </a:ext>
            </a:extLst>
          </p:cNvPr>
          <p:cNvPicPr>
            <a:picLocks noChangeAspect="1"/>
          </p:cNvPicPr>
          <p:nvPr/>
        </p:nvPicPr>
        <p:blipFill>
          <a:blip r:embed="rId3"/>
          <a:stretch>
            <a:fillRect/>
          </a:stretch>
        </p:blipFill>
        <p:spPr>
          <a:xfrm>
            <a:off x="9350025" y="3153841"/>
            <a:ext cx="2254146" cy="3055088"/>
          </a:xfrm>
          <a:prstGeom prst="rect">
            <a:avLst/>
          </a:prstGeom>
        </p:spPr>
      </p:pic>
      <p:pic>
        <p:nvPicPr>
          <p:cNvPr id="13" name="Picture 12">
            <a:extLst>
              <a:ext uri="{FF2B5EF4-FFF2-40B4-BE49-F238E27FC236}">
                <a16:creationId xmlns:a16="http://schemas.microsoft.com/office/drawing/2014/main" id="{73B94498-47A0-4DAA-0154-2D30A13D0BE9}"/>
              </a:ext>
            </a:extLst>
          </p:cNvPr>
          <p:cNvPicPr>
            <a:picLocks noChangeAspect="1"/>
          </p:cNvPicPr>
          <p:nvPr/>
        </p:nvPicPr>
        <p:blipFill>
          <a:blip r:embed="rId4"/>
          <a:stretch>
            <a:fillRect/>
          </a:stretch>
        </p:blipFill>
        <p:spPr>
          <a:xfrm>
            <a:off x="7296110" y="3207862"/>
            <a:ext cx="1940595" cy="913974"/>
          </a:xfrm>
          <a:prstGeom prst="rect">
            <a:avLst/>
          </a:prstGeom>
        </p:spPr>
      </p:pic>
      <p:sp>
        <p:nvSpPr>
          <p:cNvPr id="15" name="TextBox 14">
            <a:extLst>
              <a:ext uri="{FF2B5EF4-FFF2-40B4-BE49-F238E27FC236}">
                <a16:creationId xmlns:a16="http://schemas.microsoft.com/office/drawing/2014/main" id="{C2F6F40E-AD79-043E-640C-AA0AFFBD5BE5}"/>
              </a:ext>
            </a:extLst>
          </p:cNvPr>
          <p:cNvSpPr txBox="1"/>
          <p:nvPr/>
        </p:nvSpPr>
        <p:spPr>
          <a:xfrm>
            <a:off x="7296110" y="4152864"/>
            <a:ext cx="1940595" cy="400110"/>
          </a:xfrm>
          <a:prstGeom prst="rect">
            <a:avLst/>
          </a:prstGeom>
          <a:noFill/>
        </p:spPr>
        <p:txBody>
          <a:bodyPr wrap="square">
            <a:spAutoFit/>
          </a:bodyPr>
          <a:lstStyle/>
          <a:p>
            <a:pPr algn="ctr"/>
            <a:r>
              <a:rPr lang="en-US" sz="1000" b="1" i="1">
                <a:highlight>
                  <a:srgbClr val="FFFF00"/>
                </a:highlight>
                <a:latin typeface="Aptos Narrow" panose="020B0004020202020204" pitchFamily="34" charset="0"/>
                <a:hlinkClick r:id="rId5"/>
              </a:rPr>
              <a:t>Display screen equipment (DSE) workstation checklist - HSE</a:t>
            </a:r>
            <a:endParaRPr lang="en-GB" sz="1000" b="1" i="1">
              <a:highlight>
                <a:srgbClr val="FFFF00"/>
              </a:highlight>
              <a:latin typeface="Aptos Narrow" panose="020B0004020202020204" pitchFamily="34" charset="0"/>
            </a:endParaRPr>
          </a:p>
        </p:txBody>
      </p:sp>
      <p:sp>
        <p:nvSpPr>
          <p:cNvPr id="3" name="TextBox 2">
            <a:extLst>
              <a:ext uri="{FF2B5EF4-FFF2-40B4-BE49-F238E27FC236}">
                <a16:creationId xmlns:a16="http://schemas.microsoft.com/office/drawing/2014/main" id="{88E05146-81CB-96F7-7F02-E85223459445}"/>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November 2025 </a:t>
            </a:r>
            <a:endParaRPr lang="en-GB" sz="2000" b="1"/>
          </a:p>
        </p:txBody>
      </p:sp>
    </p:spTree>
    <p:extLst>
      <p:ext uri="{BB962C8B-B14F-4D97-AF65-F5344CB8AC3E}">
        <p14:creationId xmlns:p14="http://schemas.microsoft.com/office/powerpoint/2010/main" val="2850767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C879-37B1-F430-B558-FD0670DC23D0}"/>
              </a:ext>
            </a:extLst>
          </p:cNvPr>
          <p:cNvSpPr>
            <a:spLocks noGrp="1"/>
          </p:cNvSpPr>
          <p:nvPr>
            <p:ph type="title"/>
          </p:nvPr>
        </p:nvSpPr>
        <p:spPr>
          <a:xfrm>
            <a:off x="838200" y="365125"/>
            <a:ext cx="8296072" cy="1325563"/>
          </a:xfrm>
        </p:spPr>
        <p:txBody>
          <a:bodyPr>
            <a:normAutofit/>
          </a:bodyPr>
          <a:lstStyle/>
          <a:p>
            <a:r>
              <a:rPr lang="en-US">
                <a:latin typeface="Aptos Narrow" panose="020B0004020202020204" pitchFamily="34" charset="0"/>
              </a:rPr>
              <a:t>Health &amp; Safety Message:  </a:t>
            </a:r>
            <a:br>
              <a:rPr lang="en-US">
                <a:latin typeface="Aptos Narrow" panose="020B0004020202020204" pitchFamily="34" charset="0"/>
              </a:rPr>
            </a:br>
            <a:r>
              <a:rPr lang="en-US" sz="4000">
                <a:latin typeface="Aptos Narrow" panose="020B0004020202020204" pitchFamily="34" charset="0"/>
              </a:rPr>
              <a:t>Seasonal change brings new risks</a:t>
            </a:r>
            <a:endParaRPr lang="en-GB">
              <a:latin typeface="Aptos Narrow" panose="020B0004020202020204" pitchFamily="34" charset="0"/>
            </a:endParaRPr>
          </a:p>
        </p:txBody>
      </p:sp>
      <p:sp>
        <p:nvSpPr>
          <p:cNvPr id="3" name="Text Placeholder 2">
            <a:extLst>
              <a:ext uri="{FF2B5EF4-FFF2-40B4-BE49-F238E27FC236}">
                <a16:creationId xmlns:a16="http://schemas.microsoft.com/office/drawing/2014/main" id="{769FD360-72D7-2977-B6DB-1F4A32CEB239}"/>
              </a:ext>
            </a:extLst>
          </p:cNvPr>
          <p:cNvSpPr>
            <a:spLocks noGrp="1"/>
          </p:cNvSpPr>
          <p:nvPr>
            <p:ph type="body" idx="1"/>
          </p:nvPr>
        </p:nvSpPr>
        <p:spPr>
          <a:xfrm>
            <a:off x="838200" y="1928813"/>
            <a:ext cx="5257800" cy="4919662"/>
          </a:xfrm>
        </p:spPr>
        <p:txBody>
          <a:bodyPr>
            <a:normAutofit/>
          </a:bodyPr>
          <a:lstStyle/>
          <a:p>
            <a:pPr marL="114300" indent="0">
              <a:buNone/>
              <a:defRPr sz="2000" b="1"/>
            </a:pPr>
            <a:r>
              <a:rPr lang="en-US">
                <a:solidFill>
                  <a:schemeClr val="accent5"/>
                </a:solidFill>
                <a:latin typeface="Aptos Narrow" panose="020B0004020202020204" pitchFamily="34" charset="0"/>
              </a:rPr>
              <a:t>Remote &amp; Office Working</a:t>
            </a:r>
          </a:p>
          <a:p>
            <a:pPr>
              <a:defRPr sz="1600"/>
            </a:pPr>
            <a:r>
              <a:rPr lang="en-US">
                <a:solidFill>
                  <a:schemeClr val="accent5"/>
                </a:solidFill>
                <a:latin typeface="Aptos Narrow" panose="020B0004020202020204" pitchFamily="34" charset="0"/>
              </a:rPr>
              <a:t>Lighting &amp; posture: </a:t>
            </a:r>
            <a:r>
              <a:rPr lang="en-US">
                <a:latin typeface="Aptos Narrow" panose="020B0004020202020204" pitchFamily="34" charset="0"/>
              </a:rPr>
              <a:t>Ensure workspaces are well-lit; adjust screen brightness to avoid eye strain.</a:t>
            </a:r>
          </a:p>
          <a:p>
            <a:pPr>
              <a:defRPr sz="1600"/>
            </a:pPr>
            <a:r>
              <a:rPr lang="en-US">
                <a:solidFill>
                  <a:schemeClr val="accent5"/>
                </a:solidFill>
                <a:latin typeface="Aptos Narrow" panose="020B0004020202020204" pitchFamily="34" charset="0"/>
              </a:rPr>
              <a:t>Heating safely: </a:t>
            </a:r>
            <a:r>
              <a:rPr lang="en-US">
                <a:latin typeface="Aptos Narrow" panose="020B0004020202020204" pitchFamily="34" charset="0"/>
              </a:rPr>
              <a:t>Check portable heaters and electricals for damage; never cover vents.</a:t>
            </a:r>
          </a:p>
          <a:p>
            <a:pPr>
              <a:defRPr sz="1600"/>
            </a:pPr>
            <a:r>
              <a:rPr lang="en-US">
                <a:solidFill>
                  <a:schemeClr val="accent5"/>
                </a:solidFill>
                <a:latin typeface="Aptos Narrow" panose="020B0004020202020204" pitchFamily="34" charset="0"/>
              </a:rPr>
              <a:t>Stay active: </a:t>
            </a:r>
            <a:r>
              <a:rPr lang="en-US">
                <a:latin typeface="Aptos Narrow" panose="020B0004020202020204" pitchFamily="34" charset="0"/>
              </a:rPr>
              <a:t>Short daylight walks boost energy, mood, and vitamin D.</a:t>
            </a:r>
          </a:p>
          <a:p>
            <a:pPr>
              <a:defRPr sz="1600"/>
            </a:pPr>
            <a:r>
              <a:rPr lang="en-US" sz="1600">
                <a:solidFill>
                  <a:schemeClr val="accent5"/>
                </a:solidFill>
                <a:latin typeface="Aptos Narrow" panose="020B0004020202020204" pitchFamily="34" charset="0"/>
              </a:rPr>
              <a:t>Slips, trips &amp; falls</a:t>
            </a:r>
            <a:r>
              <a:rPr lang="en-US" sz="1600">
                <a:latin typeface="Aptos Narrow" panose="020B0004020202020204" pitchFamily="34" charset="0"/>
              </a:rPr>
              <a:t>: Wet leaves and rainwater increase risk. Wear sensible footwear, use mats, and report hazards.</a:t>
            </a:r>
          </a:p>
          <a:p>
            <a:pPr>
              <a:defRPr sz="1600"/>
            </a:pPr>
            <a:r>
              <a:rPr lang="en-US" sz="1600">
                <a:solidFill>
                  <a:schemeClr val="accent5"/>
                </a:solidFill>
                <a:latin typeface="Aptos Narrow" panose="020B0004020202020204" pitchFamily="34" charset="0"/>
              </a:rPr>
              <a:t>Ventilation: </a:t>
            </a:r>
            <a:r>
              <a:rPr lang="en-US" sz="1600">
                <a:latin typeface="Aptos Narrow" panose="020B0004020202020204" pitchFamily="34" charset="0"/>
              </a:rPr>
              <a:t>Keep good air flow even in cooler weather to reduce illness spread.</a:t>
            </a:r>
          </a:p>
        </p:txBody>
      </p:sp>
      <p:sp>
        <p:nvSpPr>
          <p:cNvPr id="4" name="Text Placeholder 2">
            <a:extLst>
              <a:ext uri="{FF2B5EF4-FFF2-40B4-BE49-F238E27FC236}">
                <a16:creationId xmlns:a16="http://schemas.microsoft.com/office/drawing/2014/main" id="{03078E40-2DCC-781B-B850-80A53B5392B7}"/>
              </a:ext>
            </a:extLst>
          </p:cNvPr>
          <p:cNvSpPr txBox="1">
            <a:spLocks/>
          </p:cNvSpPr>
          <p:nvPr/>
        </p:nvSpPr>
        <p:spPr>
          <a:xfrm>
            <a:off x="6734175" y="1871663"/>
            <a:ext cx="5257800" cy="34842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00B0F0"/>
              </a:buClr>
              <a:buSzPts val="1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rgbClr val="00B0F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00B0F0"/>
              </a:buClr>
              <a:buSzPts val="18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rgbClr val="00B0F0"/>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buFont typeface="Noto Sans Symbols"/>
              <a:buNone/>
              <a:defRPr sz="2000" b="1"/>
            </a:pPr>
            <a:r>
              <a:rPr lang="en-US" sz="2000" b="1">
                <a:solidFill>
                  <a:schemeClr val="accent5"/>
                </a:solidFill>
                <a:latin typeface="Aptos Narrow" panose="020B0004020202020204" pitchFamily="34" charset="0"/>
              </a:rPr>
              <a:t>Travelling</a:t>
            </a:r>
          </a:p>
          <a:p>
            <a:pPr>
              <a:defRPr sz="1600"/>
            </a:pPr>
            <a:r>
              <a:rPr lang="en-US" sz="1600">
                <a:solidFill>
                  <a:schemeClr val="accent5"/>
                </a:solidFill>
                <a:latin typeface="Aptos Narrow" panose="020B0004020202020204" pitchFamily="34" charset="0"/>
              </a:rPr>
              <a:t>Driving in for work: </a:t>
            </a:r>
            <a:r>
              <a:rPr lang="en-US" sz="1600">
                <a:latin typeface="Aptos Narrow" panose="020B0004020202020204" pitchFamily="34" charset="0"/>
              </a:rPr>
              <a:t>Allow extra time for fog, rain, and low-sun glare.</a:t>
            </a:r>
            <a:endParaRPr lang="en-GB"/>
          </a:p>
          <a:p>
            <a:pPr>
              <a:defRPr sz="1600"/>
            </a:pPr>
            <a:r>
              <a:rPr lang="en-US" sz="1600">
                <a:solidFill>
                  <a:schemeClr val="accent5"/>
                </a:solidFill>
                <a:latin typeface="Aptos Narrow" panose="020B0004020202020204" pitchFamily="34" charset="0"/>
              </a:rPr>
              <a:t>Vehicle checks: </a:t>
            </a:r>
            <a:r>
              <a:rPr lang="en-US" sz="1600">
                <a:latin typeface="Aptos Narrow" panose="020B0004020202020204" pitchFamily="34" charset="0"/>
              </a:rPr>
              <a:t>Tyres, wipers, lights, and fluids before each journey.</a:t>
            </a:r>
          </a:p>
          <a:p>
            <a:pPr>
              <a:defRPr sz="1600"/>
            </a:pPr>
            <a:r>
              <a:rPr lang="en-US" sz="1600">
                <a:solidFill>
                  <a:schemeClr val="accent5"/>
                </a:solidFill>
                <a:latin typeface="Aptos Narrow" panose="020B0004020202020204" pitchFamily="34" charset="0"/>
              </a:rPr>
              <a:t>Visibility: </a:t>
            </a:r>
            <a:r>
              <a:rPr lang="en-US" sz="1600">
                <a:latin typeface="Aptos Narrow" panose="020B0004020202020204" pitchFamily="34" charset="0"/>
              </a:rPr>
              <a:t>Keep hi-vis gear and torches handy for darker evenings.</a:t>
            </a:r>
          </a:p>
          <a:p>
            <a:pPr>
              <a:defRPr sz="1600"/>
            </a:pPr>
            <a:r>
              <a:rPr lang="en-US" sz="1600">
                <a:solidFill>
                  <a:schemeClr val="accent5"/>
                </a:solidFill>
                <a:latin typeface="Aptos Narrow" panose="020B0004020202020204" pitchFamily="34" charset="0"/>
              </a:rPr>
              <a:t>Fatigue: </a:t>
            </a:r>
            <a:r>
              <a:rPr lang="en-US" sz="1600">
                <a:latin typeface="Aptos Narrow" panose="020B0004020202020204" pitchFamily="34" charset="0"/>
              </a:rPr>
              <a:t>Shorter days = lower alertness; plan rest stops and avoid rushing.</a:t>
            </a:r>
          </a:p>
        </p:txBody>
      </p:sp>
      <p:sp>
        <p:nvSpPr>
          <p:cNvPr id="8" name="TextBox 7">
            <a:extLst>
              <a:ext uri="{FF2B5EF4-FFF2-40B4-BE49-F238E27FC236}">
                <a16:creationId xmlns:a16="http://schemas.microsoft.com/office/drawing/2014/main" id="{DC4EFCD4-0E49-47CE-452D-E594208EB580}"/>
              </a:ext>
            </a:extLst>
          </p:cNvPr>
          <p:cNvSpPr txBox="1"/>
          <p:nvPr/>
        </p:nvSpPr>
        <p:spPr>
          <a:xfrm>
            <a:off x="928688" y="6222713"/>
            <a:ext cx="10820400" cy="400110"/>
          </a:xfrm>
          <a:prstGeom prst="rect">
            <a:avLst/>
          </a:prstGeom>
          <a:solidFill>
            <a:srgbClr val="00B0F0"/>
          </a:solidFill>
        </p:spPr>
        <p:txBody>
          <a:bodyPr wrap="square">
            <a:spAutoFit/>
          </a:bodyPr>
          <a:lstStyle/>
          <a:p>
            <a:pPr algn="ctr">
              <a:defRPr sz="1600"/>
            </a:pPr>
            <a:r>
              <a:rPr lang="en-US" sz="2000" b="1">
                <a:solidFill>
                  <a:schemeClr val="tx1"/>
                </a:solidFill>
                <a:latin typeface="Aptos Narrow" panose="020B0004020202020204" pitchFamily="34" charset="0"/>
              </a:rPr>
              <a:t>Stay safe, visible, and healthy as darker, wetter, and colder conditions set in</a:t>
            </a:r>
          </a:p>
        </p:txBody>
      </p:sp>
      <p:sp>
        <p:nvSpPr>
          <p:cNvPr id="5" name="TextBox 4">
            <a:extLst>
              <a:ext uri="{FF2B5EF4-FFF2-40B4-BE49-F238E27FC236}">
                <a16:creationId xmlns:a16="http://schemas.microsoft.com/office/drawing/2014/main" id="{BBEABF03-46D4-47BF-D4FB-252736469185}"/>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September – October 2025 </a:t>
            </a:r>
            <a:endParaRPr lang="en-GB" sz="2000" b="1"/>
          </a:p>
        </p:txBody>
      </p:sp>
    </p:spTree>
    <p:extLst>
      <p:ext uri="{BB962C8B-B14F-4D97-AF65-F5344CB8AC3E}">
        <p14:creationId xmlns:p14="http://schemas.microsoft.com/office/powerpoint/2010/main" val="3463436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1755-937A-C825-BBC9-62597948E3E7}"/>
              </a:ext>
            </a:extLst>
          </p:cNvPr>
          <p:cNvSpPr>
            <a:spLocks noGrp="1"/>
          </p:cNvSpPr>
          <p:nvPr>
            <p:ph type="title"/>
          </p:nvPr>
        </p:nvSpPr>
        <p:spPr>
          <a:xfrm>
            <a:off x="756920" y="283845"/>
            <a:ext cx="10515600" cy="1325563"/>
          </a:xfrm>
        </p:spPr>
        <p:txBody>
          <a:bodyPr/>
          <a:lstStyle/>
          <a:p>
            <a:r>
              <a:rPr lang="en-US">
                <a:latin typeface="Aptos Narrow" panose="020B0004020202020204" pitchFamily="34" charset="0"/>
              </a:rPr>
              <a:t>H&amp;S Message: </a:t>
            </a:r>
            <a:r>
              <a:rPr lang="en-US" sz="4000">
                <a:latin typeface="Aptos Narrow" panose="020B0004020202020204" pitchFamily="34" charset="0"/>
              </a:rPr>
              <a:t>“Have a safe TRIP this summer”</a:t>
            </a:r>
            <a:endParaRPr lang="en-GB">
              <a:latin typeface="Aptos Narrow" panose="020B0004020202020204" pitchFamily="34" charset="0"/>
            </a:endParaRPr>
          </a:p>
        </p:txBody>
      </p:sp>
      <p:sp>
        <p:nvSpPr>
          <p:cNvPr id="3" name="Text Placeholder 2">
            <a:extLst>
              <a:ext uri="{FF2B5EF4-FFF2-40B4-BE49-F238E27FC236}">
                <a16:creationId xmlns:a16="http://schemas.microsoft.com/office/drawing/2014/main" id="{46C8218F-9B8D-0642-895A-356AF35D92B5}"/>
              </a:ext>
            </a:extLst>
          </p:cNvPr>
          <p:cNvSpPr>
            <a:spLocks noGrp="1"/>
          </p:cNvSpPr>
          <p:nvPr>
            <p:ph type="body" idx="1"/>
          </p:nvPr>
        </p:nvSpPr>
        <p:spPr>
          <a:xfrm>
            <a:off x="126994" y="1612840"/>
            <a:ext cx="6385554" cy="4791683"/>
          </a:xfrm>
        </p:spPr>
        <p:txBody>
          <a:bodyPr>
            <a:noAutofit/>
          </a:bodyPr>
          <a:lstStyle/>
          <a:p>
            <a:pPr>
              <a:buFont typeface="Wingdings" panose="05000000000000000000" pitchFamily="2" charset="2"/>
              <a:buChar char="§"/>
            </a:pPr>
            <a:r>
              <a:rPr lang="en-GB" sz="1800">
                <a:latin typeface="Aptos Narrow" panose="020B0004020202020204" pitchFamily="34" charset="0"/>
              </a:rPr>
              <a:t>We are driving more than ever, and it is essential that we understand the risks and do so safely in summer</a:t>
            </a:r>
          </a:p>
          <a:p>
            <a:pPr lvl="1">
              <a:buFont typeface="Wingdings" panose="05000000000000000000" pitchFamily="2" charset="2"/>
              <a:buChar char="§"/>
            </a:pPr>
            <a:r>
              <a:rPr lang="en-GB" sz="1400">
                <a:latin typeface="Aptos Narrow" panose="020B0004020202020204" pitchFamily="34" charset="0"/>
              </a:rPr>
              <a:t>59% more fatigue-related serious injuries &amp; fatalities in the summer months versus rest of year [1].</a:t>
            </a:r>
          </a:p>
          <a:p>
            <a:pPr lvl="1">
              <a:buFont typeface="Wingdings" panose="05000000000000000000" pitchFamily="2" charset="2"/>
              <a:buChar char="§"/>
            </a:pPr>
            <a:r>
              <a:rPr lang="en-GB" sz="1400">
                <a:latin typeface="Aptos Narrow" panose="020B0004020202020204" pitchFamily="34" charset="0"/>
              </a:rPr>
              <a:t>+25% more motorway speeding in the summer [2]</a:t>
            </a:r>
          </a:p>
          <a:p>
            <a:pPr lvl="1">
              <a:buFont typeface="Wingdings" panose="05000000000000000000" pitchFamily="2" charset="2"/>
              <a:buChar char="§"/>
            </a:pPr>
            <a:r>
              <a:rPr lang="en-GB" sz="1400">
                <a:latin typeface="Aptos Narrow" panose="020B0004020202020204" pitchFamily="34" charset="0"/>
              </a:rPr>
              <a:t>Child casualties are on average 57% higher in July to August  than November to December [3]</a:t>
            </a:r>
          </a:p>
          <a:p>
            <a:pPr lvl="1">
              <a:buFont typeface="Wingdings" panose="05000000000000000000" pitchFamily="2" charset="2"/>
              <a:buChar char="§"/>
            </a:pPr>
            <a:endParaRPr lang="en-GB" sz="1400">
              <a:latin typeface="Aptos Narrow" panose="020B0004020202020204" pitchFamily="34" charset="0"/>
            </a:endParaRPr>
          </a:p>
          <a:p>
            <a:pPr marL="114300" indent="0">
              <a:buNone/>
            </a:pPr>
            <a:r>
              <a:rPr lang="en-GB" sz="2000" b="1">
                <a:solidFill>
                  <a:schemeClr val="accent5"/>
                </a:solidFill>
                <a:latin typeface="Aptos Narrow" panose="020B0004020202020204" pitchFamily="34" charset="0"/>
              </a:rPr>
              <a:t>Common causes of accidents in summer….. </a:t>
            </a:r>
          </a:p>
          <a:p>
            <a:pPr marL="457200" lvl="1">
              <a:spcBef>
                <a:spcPts val="1000"/>
              </a:spcBef>
              <a:buFont typeface="Wingdings" panose="05000000000000000000" pitchFamily="2" charset="2"/>
              <a:buChar char="§"/>
            </a:pPr>
            <a:r>
              <a:rPr lang="en-GB" sz="1800">
                <a:latin typeface="Aptos Narrow" panose="020B0004020202020204" pitchFamily="34" charset="0"/>
              </a:rPr>
              <a:t>Fatigue due to long journeys without rest.</a:t>
            </a:r>
          </a:p>
          <a:p>
            <a:pPr marL="457200" lvl="1">
              <a:spcBef>
                <a:spcPts val="1000"/>
              </a:spcBef>
              <a:buFont typeface="Wingdings" panose="05000000000000000000" pitchFamily="2" charset="2"/>
              <a:buChar char="§"/>
            </a:pPr>
            <a:r>
              <a:rPr lang="en-GB" sz="1800">
                <a:latin typeface="Aptos Narrow" panose="020B0004020202020204" pitchFamily="34" charset="0"/>
              </a:rPr>
              <a:t>Tyre failure from under-inflated, worn, heat-damaged tyres.</a:t>
            </a:r>
          </a:p>
          <a:p>
            <a:pPr marL="457200" lvl="1">
              <a:spcBef>
                <a:spcPts val="1000"/>
              </a:spcBef>
              <a:buFont typeface="Wingdings" panose="05000000000000000000" pitchFamily="2" charset="2"/>
              <a:buChar char="§"/>
            </a:pPr>
            <a:r>
              <a:rPr lang="en-GB" sz="1800">
                <a:latin typeface="Aptos Narrow" panose="020B0004020202020204" pitchFamily="34" charset="0"/>
              </a:rPr>
              <a:t>Glare from low sun &amp; hay fever-related distractions.</a:t>
            </a:r>
          </a:p>
          <a:p>
            <a:pPr marL="457200" lvl="1">
              <a:spcBef>
                <a:spcPts val="1000"/>
              </a:spcBef>
              <a:buFont typeface="Wingdings" panose="05000000000000000000" pitchFamily="2" charset="2"/>
              <a:buChar char="§"/>
            </a:pPr>
            <a:r>
              <a:rPr lang="en-GB" sz="1800">
                <a:latin typeface="Aptos Narrow" panose="020B0004020202020204" pitchFamily="34" charset="0"/>
              </a:rPr>
              <a:t>Higher traffic volumes &amp; roadworks plus more cyclists and pedestrians.</a:t>
            </a:r>
          </a:p>
          <a:p>
            <a:pPr marL="457200" lvl="1">
              <a:spcBef>
                <a:spcPts val="1000"/>
              </a:spcBef>
              <a:buFont typeface="Wingdings" panose="05000000000000000000" pitchFamily="2" charset="2"/>
              <a:buChar char="§"/>
            </a:pPr>
            <a:r>
              <a:rPr lang="en-GB" sz="1800">
                <a:latin typeface="Aptos Narrow" panose="020B0004020202020204" pitchFamily="34" charset="0"/>
              </a:rPr>
              <a:t>Increase in speeding on rural and A-roads.</a:t>
            </a:r>
          </a:p>
        </p:txBody>
      </p:sp>
      <p:sp>
        <p:nvSpPr>
          <p:cNvPr id="5" name="TextBox 4">
            <a:extLst>
              <a:ext uri="{FF2B5EF4-FFF2-40B4-BE49-F238E27FC236}">
                <a16:creationId xmlns:a16="http://schemas.microsoft.com/office/drawing/2014/main" id="{9318C817-A553-E6EB-7951-627C30414E8B}"/>
              </a:ext>
            </a:extLst>
          </p:cNvPr>
          <p:cNvSpPr txBox="1"/>
          <p:nvPr/>
        </p:nvSpPr>
        <p:spPr>
          <a:xfrm>
            <a:off x="6316177" y="1524666"/>
            <a:ext cx="6385554" cy="2404184"/>
          </a:xfrm>
          <a:prstGeom prst="rect">
            <a:avLst/>
          </a:prstGeom>
          <a:noFill/>
        </p:spPr>
        <p:txBody>
          <a:bodyPr wrap="square">
            <a:spAutoFit/>
          </a:bodyPr>
          <a:lstStyle/>
          <a:p>
            <a:pPr marL="114300">
              <a:lnSpc>
                <a:spcPct val="70000"/>
              </a:lnSpc>
              <a:spcBef>
                <a:spcPts val="1000"/>
              </a:spcBef>
              <a:buClr>
                <a:srgbClr val="00B0F0"/>
              </a:buClr>
              <a:buSzPts val="1800"/>
            </a:pPr>
            <a:r>
              <a:rPr lang="en-GB" sz="2000" b="1">
                <a:solidFill>
                  <a:schemeClr val="accent5"/>
                </a:solidFill>
                <a:latin typeface="Aptos Narrow" panose="020B0004020202020204" pitchFamily="34" charset="0"/>
                <a:ea typeface="Calibri"/>
                <a:cs typeface="Calibri"/>
                <a:sym typeface="Calibri"/>
              </a:rPr>
              <a:t>Recommendations</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On the Road break every 2 hrs (15 mins min).</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Check tyres (pressure, tread ≥ 1.6mm, no cracks/bulges).</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Top up oil, coolant, fuel, screen wash.</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Ensure AC &amp; cooling system work.</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Avoid speeding and adjust for conditions.</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Use two-second gap rule (more in poor conditions).</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Wear sunglasses to reduce glare.</a:t>
            </a:r>
          </a:p>
          <a:p>
            <a:pPr marL="914400" lvl="1" indent="-342900">
              <a:lnSpc>
                <a:spcPct val="80000"/>
              </a:lnSpc>
              <a:spcBef>
                <a:spcPts val="500"/>
              </a:spcBef>
              <a:buClr>
                <a:srgbClr val="00B0F0"/>
              </a:buClr>
              <a:buSzPts val="1800"/>
              <a:buFont typeface="Noto Sans Symbols"/>
              <a:buChar char="▪"/>
            </a:pPr>
            <a:r>
              <a:rPr lang="en-GB" sz="1600">
                <a:solidFill>
                  <a:schemeClr val="dk1"/>
                </a:solidFill>
                <a:latin typeface="Aptos Narrow" panose="020B0004020202020204" pitchFamily="34" charset="0"/>
                <a:ea typeface="Calibri"/>
                <a:cs typeface="Calibri"/>
                <a:sym typeface="Calibri"/>
              </a:rPr>
              <a:t>Remember TRIP</a:t>
            </a:r>
          </a:p>
        </p:txBody>
      </p:sp>
      <p:sp>
        <p:nvSpPr>
          <p:cNvPr id="7" name="TextBox 6">
            <a:extLst>
              <a:ext uri="{FF2B5EF4-FFF2-40B4-BE49-F238E27FC236}">
                <a16:creationId xmlns:a16="http://schemas.microsoft.com/office/drawing/2014/main" id="{67FF8FC0-5F65-4EDD-54B8-725EF4CA0995}"/>
              </a:ext>
            </a:extLst>
          </p:cNvPr>
          <p:cNvSpPr txBox="1"/>
          <p:nvPr/>
        </p:nvSpPr>
        <p:spPr>
          <a:xfrm>
            <a:off x="-5086" y="6645702"/>
            <a:ext cx="11998960" cy="215444"/>
          </a:xfrm>
          <a:prstGeom prst="rect">
            <a:avLst/>
          </a:prstGeom>
          <a:noFill/>
        </p:spPr>
        <p:txBody>
          <a:bodyPr wrap="square">
            <a:spAutoFit/>
          </a:bodyPr>
          <a:lstStyle/>
          <a:p>
            <a:r>
              <a:rPr lang="en-US" sz="800" b="1" i="1">
                <a:solidFill>
                  <a:schemeClr val="accent5"/>
                </a:solidFill>
                <a:latin typeface="Aptos Narrow" panose="020B0004020202020204" pitchFamily="34" charset="0"/>
                <a:hlinkClick r:id="rId2">
                  <a:extLst>
                    <a:ext uri="{A12FA001-AC4F-418D-AE19-62706E023703}">
                      <ahyp:hlinkClr xmlns:ahyp="http://schemas.microsoft.com/office/drawing/2018/hyperlinkcolor" val="tx"/>
                    </a:ext>
                  </a:extLst>
                </a:hlinkClick>
              </a:rPr>
              <a:t>[1] National Highways urges drivers to plan memory-making breaks as fatigue-related collisions surge over summer - National Highways</a:t>
            </a:r>
            <a:r>
              <a:rPr lang="en-US" sz="800" b="1" i="1">
                <a:solidFill>
                  <a:schemeClr val="accent5"/>
                </a:solidFill>
                <a:latin typeface="Aptos Narrow" panose="020B0004020202020204" pitchFamily="34" charset="0"/>
              </a:rPr>
              <a:t> / [2] </a:t>
            </a:r>
            <a:r>
              <a:rPr lang="en-US" sz="800" b="1" i="1">
                <a:solidFill>
                  <a:schemeClr val="accent5"/>
                </a:solidFill>
                <a:latin typeface="Aptos Narrow" panose="020B0004020202020204" pitchFamily="34" charset="0"/>
                <a:hlinkClick r:id="rId3">
                  <a:extLst>
                    <a:ext uri="{A12FA001-AC4F-418D-AE19-62706E023703}">
                      <ahyp:hlinkClr xmlns:ahyp="http://schemas.microsoft.com/office/drawing/2018/hyperlinkcolor" val="tx"/>
                    </a:ext>
                  </a:extLst>
                </a:hlinkClick>
              </a:rPr>
              <a:t>Beware these 8 summer driving risks – Ageas</a:t>
            </a:r>
            <a:r>
              <a:rPr lang="en-US" sz="800" b="1" i="1">
                <a:solidFill>
                  <a:schemeClr val="accent5"/>
                </a:solidFill>
                <a:latin typeface="Aptos Narrow" panose="020B0004020202020204" pitchFamily="34" charset="0"/>
              </a:rPr>
              <a:t> / [3] </a:t>
            </a:r>
            <a:r>
              <a:rPr lang="en-US" sz="800" b="1" i="1">
                <a:solidFill>
                  <a:schemeClr val="accent5"/>
                </a:solidFill>
                <a:latin typeface="Aptos Narrow" panose="020B0004020202020204" pitchFamily="34" charset="0"/>
                <a:hlinkClick r:id="rId4">
                  <a:extLst>
                    <a:ext uri="{A12FA001-AC4F-418D-AE19-62706E023703}">
                      <ahyp:hlinkClr xmlns:ahyp="http://schemas.microsoft.com/office/drawing/2018/hyperlinkcolor" val="tx"/>
                    </a:ext>
                  </a:extLst>
                </a:hlinkClick>
              </a:rPr>
              <a:t>Road safety questions and answers</a:t>
            </a:r>
            <a:endParaRPr lang="en-GB" sz="800" b="1" i="1">
              <a:solidFill>
                <a:schemeClr val="accent5"/>
              </a:solidFill>
              <a:latin typeface="Aptos Narrow" panose="020B0004020202020204" pitchFamily="34" charset="0"/>
            </a:endParaRPr>
          </a:p>
        </p:txBody>
      </p:sp>
      <p:sp>
        <p:nvSpPr>
          <p:cNvPr id="10" name="TextBox 9">
            <a:extLst>
              <a:ext uri="{FF2B5EF4-FFF2-40B4-BE49-F238E27FC236}">
                <a16:creationId xmlns:a16="http://schemas.microsoft.com/office/drawing/2014/main" id="{DA420A98-C44F-DE4E-B034-7674DF3A5912}"/>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July - August 2025 </a:t>
            </a:r>
            <a:endParaRPr lang="en-GB" sz="2000" b="1"/>
          </a:p>
        </p:txBody>
      </p:sp>
      <p:grpSp>
        <p:nvGrpSpPr>
          <p:cNvPr id="25" name="Group 24">
            <a:extLst>
              <a:ext uri="{FF2B5EF4-FFF2-40B4-BE49-F238E27FC236}">
                <a16:creationId xmlns:a16="http://schemas.microsoft.com/office/drawing/2014/main" id="{672D67D4-A714-4337-19C3-F95BF8637AC3}"/>
              </a:ext>
            </a:extLst>
          </p:cNvPr>
          <p:cNvGrpSpPr/>
          <p:nvPr/>
        </p:nvGrpSpPr>
        <p:grpSpPr>
          <a:xfrm>
            <a:off x="7305039" y="4110281"/>
            <a:ext cx="4114801" cy="2291486"/>
            <a:chOff x="6929119" y="4268040"/>
            <a:chExt cx="5034275" cy="2291486"/>
          </a:xfrm>
        </p:grpSpPr>
        <p:sp>
          <p:nvSpPr>
            <p:cNvPr id="12" name="TextBox 11">
              <a:extLst>
                <a:ext uri="{FF2B5EF4-FFF2-40B4-BE49-F238E27FC236}">
                  <a16:creationId xmlns:a16="http://schemas.microsoft.com/office/drawing/2014/main" id="{7100F18A-D040-58B7-96B3-4BE0A211CA97}"/>
                </a:ext>
              </a:extLst>
            </p:cNvPr>
            <p:cNvSpPr txBox="1"/>
            <p:nvPr/>
          </p:nvSpPr>
          <p:spPr>
            <a:xfrm>
              <a:off x="7658788" y="6105769"/>
              <a:ext cx="4304606" cy="369332"/>
            </a:xfrm>
            <a:prstGeom prst="rect">
              <a:avLst/>
            </a:prstGeom>
            <a:noFill/>
          </p:spPr>
          <p:txBody>
            <a:bodyPr wrap="square">
              <a:spAutoFit/>
            </a:bodyPr>
            <a:lstStyle/>
            <a:p>
              <a:r>
                <a:rPr lang="en-US" sz="1800">
                  <a:latin typeface="Aptos Narrow" panose="020B0004020202020204" pitchFamily="34" charset="0"/>
                </a:rPr>
                <a:t>repare for weather/route changes</a:t>
              </a:r>
              <a:endParaRPr lang="en-GB" sz="1800">
                <a:latin typeface="Aptos Narrow" panose="020B0004020202020204" pitchFamily="34" charset="0"/>
              </a:endParaRPr>
            </a:p>
          </p:txBody>
        </p:sp>
        <p:sp>
          <p:nvSpPr>
            <p:cNvPr id="16" name="Rectangle 15">
              <a:extLst>
                <a:ext uri="{FF2B5EF4-FFF2-40B4-BE49-F238E27FC236}">
                  <a16:creationId xmlns:a16="http://schemas.microsoft.com/office/drawing/2014/main" id="{54AE6345-5C9A-EFAF-D803-EEF104821103}"/>
                </a:ext>
              </a:extLst>
            </p:cNvPr>
            <p:cNvSpPr/>
            <p:nvPr/>
          </p:nvSpPr>
          <p:spPr>
            <a:xfrm>
              <a:off x="6929119" y="4268040"/>
              <a:ext cx="784176" cy="508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latin typeface="Aptos Narrow" panose="020B0004020202020204" pitchFamily="34" charset="0"/>
                </a:rPr>
                <a:t>T</a:t>
              </a:r>
              <a:endParaRPr lang="en-GB" sz="3600">
                <a:latin typeface="Aptos Narrow" panose="020B0004020202020204" pitchFamily="34" charset="0"/>
              </a:endParaRPr>
            </a:p>
          </p:txBody>
        </p:sp>
        <p:sp>
          <p:nvSpPr>
            <p:cNvPr id="17" name="Rectangle 16">
              <a:extLst>
                <a:ext uri="{FF2B5EF4-FFF2-40B4-BE49-F238E27FC236}">
                  <a16:creationId xmlns:a16="http://schemas.microsoft.com/office/drawing/2014/main" id="{5C98EC79-DA37-1122-69BC-637D71D49DBE}"/>
                </a:ext>
              </a:extLst>
            </p:cNvPr>
            <p:cNvSpPr/>
            <p:nvPr/>
          </p:nvSpPr>
          <p:spPr>
            <a:xfrm>
              <a:off x="6929119" y="4854035"/>
              <a:ext cx="784176" cy="5080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latin typeface="Aptos Narrow" panose="020B0004020202020204" pitchFamily="34" charset="0"/>
                </a:rPr>
                <a:t>R</a:t>
              </a:r>
              <a:endParaRPr lang="en-GB" sz="3600">
                <a:latin typeface="Aptos Narrow" panose="020B0004020202020204" pitchFamily="34" charset="0"/>
              </a:endParaRPr>
            </a:p>
          </p:txBody>
        </p:sp>
        <p:sp>
          <p:nvSpPr>
            <p:cNvPr id="18" name="Rectangle 17">
              <a:extLst>
                <a:ext uri="{FF2B5EF4-FFF2-40B4-BE49-F238E27FC236}">
                  <a16:creationId xmlns:a16="http://schemas.microsoft.com/office/drawing/2014/main" id="{D0335D51-F015-93BC-C69A-76364F1A09CF}"/>
                </a:ext>
              </a:extLst>
            </p:cNvPr>
            <p:cNvSpPr/>
            <p:nvPr/>
          </p:nvSpPr>
          <p:spPr>
            <a:xfrm>
              <a:off x="6951053" y="5457630"/>
              <a:ext cx="784176" cy="50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latin typeface="Aptos Narrow" panose="020B0004020202020204" pitchFamily="34" charset="0"/>
                </a:rPr>
                <a:t>I</a:t>
              </a:r>
              <a:endParaRPr lang="en-GB" sz="3600">
                <a:latin typeface="Aptos Narrow" panose="020B0004020202020204" pitchFamily="34" charset="0"/>
              </a:endParaRPr>
            </a:p>
          </p:txBody>
        </p:sp>
        <p:sp>
          <p:nvSpPr>
            <p:cNvPr id="19" name="Rectangle 18">
              <a:extLst>
                <a:ext uri="{FF2B5EF4-FFF2-40B4-BE49-F238E27FC236}">
                  <a16:creationId xmlns:a16="http://schemas.microsoft.com/office/drawing/2014/main" id="{F302BB03-3696-EFA7-EBAB-E8EB3461A930}"/>
                </a:ext>
              </a:extLst>
            </p:cNvPr>
            <p:cNvSpPr/>
            <p:nvPr/>
          </p:nvSpPr>
          <p:spPr>
            <a:xfrm>
              <a:off x="6951053" y="6051526"/>
              <a:ext cx="784176" cy="5080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latin typeface="Aptos Narrow" panose="020B0004020202020204" pitchFamily="34" charset="0"/>
                </a:rPr>
                <a:t>P</a:t>
              </a:r>
              <a:endParaRPr lang="en-GB" sz="3600">
                <a:latin typeface="Aptos Narrow" panose="020B0004020202020204" pitchFamily="34" charset="0"/>
              </a:endParaRPr>
            </a:p>
          </p:txBody>
        </p:sp>
        <p:sp>
          <p:nvSpPr>
            <p:cNvPr id="21" name="TextBox 20">
              <a:extLst>
                <a:ext uri="{FF2B5EF4-FFF2-40B4-BE49-F238E27FC236}">
                  <a16:creationId xmlns:a16="http://schemas.microsoft.com/office/drawing/2014/main" id="{22E7A35C-8754-6309-51BB-E519F7AE2E93}"/>
                </a:ext>
              </a:extLst>
            </p:cNvPr>
            <p:cNvSpPr txBox="1"/>
            <p:nvPr/>
          </p:nvSpPr>
          <p:spPr>
            <a:xfrm>
              <a:off x="7650478" y="4357274"/>
              <a:ext cx="4043681" cy="369332"/>
            </a:xfrm>
            <a:prstGeom prst="rect">
              <a:avLst/>
            </a:prstGeom>
            <a:noFill/>
          </p:spPr>
          <p:txBody>
            <a:bodyPr wrap="square">
              <a:spAutoFit/>
            </a:bodyPr>
            <a:lstStyle/>
            <a:p>
              <a:r>
                <a:rPr lang="en-US" sz="1800">
                  <a:latin typeface="Aptos Narrow" panose="020B0004020202020204" pitchFamily="34" charset="0"/>
                </a:rPr>
                <a:t>op-up fluids/fuel</a:t>
              </a:r>
            </a:p>
          </p:txBody>
        </p:sp>
        <p:sp>
          <p:nvSpPr>
            <p:cNvPr id="23" name="TextBox 22">
              <a:extLst>
                <a:ext uri="{FF2B5EF4-FFF2-40B4-BE49-F238E27FC236}">
                  <a16:creationId xmlns:a16="http://schemas.microsoft.com/office/drawing/2014/main" id="{1FA2BC61-A578-ECC4-BD44-794914D4CF42}"/>
                </a:ext>
              </a:extLst>
            </p:cNvPr>
            <p:cNvSpPr txBox="1"/>
            <p:nvPr/>
          </p:nvSpPr>
          <p:spPr>
            <a:xfrm>
              <a:off x="7643789" y="4909451"/>
              <a:ext cx="3831930" cy="369332"/>
            </a:xfrm>
            <a:prstGeom prst="rect">
              <a:avLst/>
            </a:prstGeom>
            <a:noFill/>
          </p:spPr>
          <p:txBody>
            <a:bodyPr wrap="square">
              <a:spAutoFit/>
            </a:bodyPr>
            <a:lstStyle/>
            <a:p>
              <a:r>
                <a:rPr lang="en-US" sz="1800">
                  <a:latin typeface="Aptos Narrow" panose="020B0004020202020204" pitchFamily="34" charset="0"/>
                </a:rPr>
                <a:t>est regularly </a:t>
              </a:r>
            </a:p>
          </p:txBody>
        </p:sp>
        <p:sp>
          <p:nvSpPr>
            <p:cNvPr id="24" name="TextBox 23">
              <a:extLst>
                <a:ext uri="{FF2B5EF4-FFF2-40B4-BE49-F238E27FC236}">
                  <a16:creationId xmlns:a16="http://schemas.microsoft.com/office/drawing/2014/main" id="{912EE3F9-52F0-50F8-CEE7-9F1ACFCC7AFD}"/>
                </a:ext>
              </a:extLst>
            </p:cNvPr>
            <p:cNvSpPr txBox="1"/>
            <p:nvPr/>
          </p:nvSpPr>
          <p:spPr>
            <a:xfrm>
              <a:off x="7662495" y="5518154"/>
              <a:ext cx="3035984" cy="369332"/>
            </a:xfrm>
            <a:prstGeom prst="rect">
              <a:avLst/>
            </a:prstGeom>
            <a:noFill/>
          </p:spPr>
          <p:txBody>
            <a:bodyPr wrap="square">
              <a:spAutoFit/>
            </a:bodyPr>
            <a:lstStyle/>
            <a:p>
              <a:r>
                <a:rPr lang="en-US" sz="1800">
                  <a:latin typeface="Aptos Narrow" panose="020B0004020202020204" pitchFamily="34" charset="0"/>
                </a:rPr>
                <a:t>nspect tyres/lights</a:t>
              </a:r>
              <a:endParaRPr lang="en-GB" sz="1800">
                <a:latin typeface="Aptos Narrow" panose="020B0004020202020204" pitchFamily="34" charset="0"/>
              </a:endParaRPr>
            </a:p>
          </p:txBody>
        </p:sp>
      </p:grpSp>
    </p:spTree>
    <p:extLst>
      <p:ext uri="{BB962C8B-B14F-4D97-AF65-F5344CB8AC3E}">
        <p14:creationId xmlns:p14="http://schemas.microsoft.com/office/powerpoint/2010/main" val="3111690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2BCE6-99F1-8CF3-5119-B336D628403E}"/>
              </a:ext>
            </a:extLst>
          </p:cNvPr>
          <p:cNvSpPr>
            <a:spLocks noGrp="1"/>
          </p:cNvSpPr>
          <p:nvPr>
            <p:ph type="title"/>
          </p:nvPr>
        </p:nvSpPr>
        <p:spPr/>
        <p:txBody>
          <a:bodyPr/>
          <a:lstStyle/>
          <a:p>
            <a:r>
              <a:rPr lang="en-US" sz="4000">
                <a:latin typeface="Aptos Narrow" panose="020B0004020202020204" pitchFamily="34" charset="0"/>
              </a:rPr>
              <a:t>H&amp;S Message: “Mental health is everything”</a:t>
            </a:r>
            <a:endParaRPr lang="en-GB">
              <a:latin typeface="Aptos Narrow" panose="020B0004020202020204" pitchFamily="34" charset="0"/>
            </a:endParaRPr>
          </a:p>
        </p:txBody>
      </p:sp>
      <p:sp>
        <p:nvSpPr>
          <p:cNvPr id="3" name="Text Placeholder 2">
            <a:extLst>
              <a:ext uri="{FF2B5EF4-FFF2-40B4-BE49-F238E27FC236}">
                <a16:creationId xmlns:a16="http://schemas.microsoft.com/office/drawing/2014/main" id="{F13568A0-44FC-8555-4483-BC2CC15BB03C}"/>
              </a:ext>
            </a:extLst>
          </p:cNvPr>
          <p:cNvSpPr>
            <a:spLocks noGrp="1"/>
          </p:cNvSpPr>
          <p:nvPr>
            <p:ph type="body" idx="1"/>
          </p:nvPr>
        </p:nvSpPr>
        <p:spPr>
          <a:xfrm>
            <a:off x="828152" y="1423711"/>
            <a:ext cx="7323667" cy="4351338"/>
          </a:xfrm>
        </p:spPr>
        <p:txBody>
          <a:bodyPr>
            <a:normAutofit/>
          </a:bodyPr>
          <a:lstStyle/>
          <a:p>
            <a:pPr>
              <a:buFont typeface="Wingdings" panose="05000000000000000000" pitchFamily="2" charset="2"/>
              <a:buChar char="§"/>
            </a:pPr>
            <a:r>
              <a:rPr lang="en-US" sz="2000">
                <a:solidFill>
                  <a:schemeClr val="tx1"/>
                </a:solidFill>
                <a:latin typeface="Aptos Narrow" panose="020B0004020202020204" pitchFamily="34" charset="0"/>
              </a:rPr>
              <a:t>Mental health is everything, everywhere, everyone. </a:t>
            </a:r>
          </a:p>
          <a:p>
            <a:pPr>
              <a:buFont typeface="Wingdings" panose="05000000000000000000" pitchFamily="2" charset="2"/>
              <a:buChar char="§"/>
            </a:pPr>
            <a:r>
              <a:rPr lang="en-US" sz="2000">
                <a:solidFill>
                  <a:schemeClr val="tx1"/>
                </a:solidFill>
                <a:latin typeface="Aptos Narrow" panose="020B0004020202020204" pitchFamily="34" charset="0"/>
              </a:rPr>
              <a:t>It’s connected to every little thing we do, every place we go and every person around us. </a:t>
            </a:r>
          </a:p>
          <a:p>
            <a:pPr>
              <a:buFont typeface="Wingdings" panose="05000000000000000000" pitchFamily="2" charset="2"/>
              <a:buChar char="§"/>
            </a:pPr>
            <a:r>
              <a:rPr lang="en-US" sz="2000">
                <a:solidFill>
                  <a:schemeClr val="tx1"/>
                </a:solidFill>
                <a:latin typeface="Aptos Narrow" panose="020B0004020202020204" pitchFamily="34" charset="0"/>
              </a:rPr>
              <a:t>Mental Health Awareness Week 2025 is running from the 12th to 18th May. </a:t>
            </a:r>
          </a:p>
          <a:p>
            <a:pPr>
              <a:buFont typeface="Wingdings" panose="05000000000000000000" pitchFamily="2" charset="2"/>
              <a:buChar char="§"/>
            </a:pPr>
            <a:r>
              <a:rPr lang="en-US" sz="2000">
                <a:solidFill>
                  <a:schemeClr val="tx1"/>
                </a:solidFill>
                <a:latin typeface="Aptos Narrow" panose="020B0004020202020204" pitchFamily="34" charset="0"/>
              </a:rPr>
              <a:t>This year's theme is “Community” </a:t>
            </a:r>
          </a:p>
          <a:p>
            <a:pPr>
              <a:buFont typeface="Wingdings" panose="05000000000000000000" pitchFamily="2" charset="2"/>
              <a:buChar char="§"/>
            </a:pPr>
            <a:r>
              <a:rPr lang="en-US" sz="2000">
                <a:solidFill>
                  <a:schemeClr val="tx1"/>
                </a:solidFill>
                <a:latin typeface="Aptos Narrow" panose="020B0004020202020204" pitchFamily="34" charset="0"/>
              </a:rPr>
              <a:t>Our social connections both within and outside of NucCol along with our supportive environments for mental well-being are so very important.</a:t>
            </a:r>
          </a:p>
          <a:p>
            <a:pPr>
              <a:buFont typeface="Wingdings" panose="05000000000000000000" pitchFamily="2" charset="2"/>
              <a:buChar char="§"/>
            </a:pPr>
            <a:r>
              <a:rPr lang="en-US" sz="2000">
                <a:solidFill>
                  <a:schemeClr val="tx1"/>
                </a:solidFill>
                <a:latin typeface="Aptos Narrow" panose="020B0004020202020204" pitchFamily="34" charset="0"/>
              </a:rPr>
              <a:t>For more information and support locally:</a:t>
            </a:r>
          </a:p>
        </p:txBody>
      </p:sp>
      <p:grpSp>
        <p:nvGrpSpPr>
          <p:cNvPr id="42" name="Group 41">
            <a:extLst>
              <a:ext uri="{FF2B5EF4-FFF2-40B4-BE49-F238E27FC236}">
                <a16:creationId xmlns:a16="http://schemas.microsoft.com/office/drawing/2014/main" id="{C2223E13-5E1D-CB53-37C7-FD235997670B}"/>
              </a:ext>
            </a:extLst>
          </p:cNvPr>
          <p:cNvGrpSpPr/>
          <p:nvPr/>
        </p:nvGrpSpPr>
        <p:grpSpPr>
          <a:xfrm>
            <a:off x="8777287" y="1690688"/>
            <a:ext cx="3112673" cy="3684477"/>
            <a:chOff x="8575459" y="1580156"/>
            <a:chExt cx="3112673" cy="3684477"/>
          </a:xfrm>
        </p:grpSpPr>
        <p:pic>
          <p:nvPicPr>
            <p:cNvPr id="5" name="Picture 4">
              <a:extLst>
                <a:ext uri="{FF2B5EF4-FFF2-40B4-BE49-F238E27FC236}">
                  <a16:creationId xmlns:a16="http://schemas.microsoft.com/office/drawing/2014/main" id="{715846D8-F17A-BF15-9C89-703CDDCEEB5A}"/>
                </a:ext>
              </a:extLst>
            </p:cNvPr>
            <p:cNvPicPr>
              <a:picLocks noChangeAspect="1"/>
            </p:cNvPicPr>
            <p:nvPr/>
          </p:nvPicPr>
          <p:blipFill>
            <a:blip r:embed="rId3"/>
            <a:stretch>
              <a:fillRect/>
            </a:stretch>
          </p:blipFill>
          <p:spPr>
            <a:xfrm>
              <a:off x="8575459" y="1580156"/>
              <a:ext cx="3112673" cy="3148206"/>
            </a:xfrm>
            <a:prstGeom prst="rect">
              <a:avLst/>
            </a:prstGeom>
          </p:spPr>
        </p:pic>
        <p:sp>
          <p:nvSpPr>
            <p:cNvPr id="16" name="TextBox 15">
              <a:extLst>
                <a:ext uri="{FF2B5EF4-FFF2-40B4-BE49-F238E27FC236}">
                  <a16:creationId xmlns:a16="http://schemas.microsoft.com/office/drawing/2014/main" id="{C4AB6BC3-FCF2-8266-75BB-406D3CCF7FB4}"/>
                </a:ext>
              </a:extLst>
            </p:cNvPr>
            <p:cNvSpPr txBox="1"/>
            <p:nvPr/>
          </p:nvSpPr>
          <p:spPr>
            <a:xfrm>
              <a:off x="8575459" y="4741413"/>
              <a:ext cx="3112673" cy="523220"/>
            </a:xfrm>
            <a:prstGeom prst="rect">
              <a:avLst/>
            </a:prstGeom>
            <a:noFill/>
          </p:spPr>
          <p:txBody>
            <a:bodyPr wrap="square">
              <a:spAutoFit/>
            </a:bodyPr>
            <a:lstStyle/>
            <a:p>
              <a:pPr algn="ctr"/>
              <a:r>
                <a:rPr lang="en-GB" b="1">
                  <a:latin typeface="Aptos Narrow" panose="020B0004020202020204" pitchFamily="34" charset="0"/>
                </a:rPr>
                <a:t>mind.org.uk/get-involved/mental-health-awareness-week/#assets</a:t>
              </a:r>
            </a:p>
          </p:txBody>
        </p:sp>
      </p:grpSp>
      <p:sp>
        <p:nvSpPr>
          <p:cNvPr id="34" name="TextBox 33">
            <a:extLst>
              <a:ext uri="{FF2B5EF4-FFF2-40B4-BE49-F238E27FC236}">
                <a16:creationId xmlns:a16="http://schemas.microsoft.com/office/drawing/2014/main" id="{84A318CB-7E73-E349-D6A7-745308E1CFA7}"/>
              </a:ext>
            </a:extLst>
          </p:cNvPr>
          <p:cNvSpPr txBox="1"/>
          <p:nvPr/>
        </p:nvSpPr>
        <p:spPr>
          <a:xfrm>
            <a:off x="-35566" y="558"/>
            <a:ext cx="6096000" cy="400110"/>
          </a:xfrm>
          <a:prstGeom prst="rect">
            <a:avLst/>
          </a:prstGeom>
          <a:noFill/>
        </p:spPr>
        <p:txBody>
          <a:bodyPr wrap="square">
            <a:spAutoFit/>
          </a:bodyPr>
          <a:lstStyle/>
          <a:p>
            <a:r>
              <a:rPr lang="en-US" sz="2000" b="1">
                <a:latin typeface="Aptos Narrow" panose="020B0004020202020204" pitchFamily="34" charset="0"/>
              </a:rPr>
              <a:t>May – June 2025 </a:t>
            </a:r>
            <a:endParaRPr lang="en-GB" sz="2000" b="1"/>
          </a:p>
        </p:txBody>
      </p:sp>
      <p:grpSp>
        <p:nvGrpSpPr>
          <p:cNvPr id="32" name="Group 31">
            <a:extLst>
              <a:ext uri="{FF2B5EF4-FFF2-40B4-BE49-F238E27FC236}">
                <a16:creationId xmlns:a16="http://schemas.microsoft.com/office/drawing/2014/main" id="{9C7C763C-266D-F7BB-B74E-BACEE8F29875}"/>
              </a:ext>
            </a:extLst>
          </p:cNvPr>
          <p:cNvGrpSpPr/>
          <p:nvPr/>
        </p:nvGrpSpPr>
        <p:grpSpPr>
          <a:xfrm>
            <a:off x="3963390" y="5073501"/>
            <a:ext cx="2223045" cy="790071"/>
            <a:chOff x="8886154" y="5506158"/>
            <a:chExt cx="2223045" cy="790071"/>
          </a:xfrm>
        </p:grpSpPr>
        <p:pic>
          <p:nvPicPr>
            <p:cNvPr id="27" name="Picture 26">
              <a:extLst>
                <a:ext uri="{FF2B5EF4-FFF2-40B4-BE49-F238E27FC236}">
                  <a16:creationId xmlns:a16="http://schemas.microsoft.com/office/drawing/2014/main" id="{C23494B8-F128-CE18-4F9A-4F46E73BF8DF}"/>
                </a:ext>
              </a:extLst>
            </p:cNvPr>
            <p:cNvPicPr>
              <a:picLocks noChangeAspect="1"/>
            </p:cNvPicPr>
            <p:nvPr/>
          </p:nvPicPr>
          <p:blipFill>
            <a:blip r:embed="rId4"/>
            <a:stretch>
              <a:fillRect/>
            </a:stretch>
          </p:blipFill>
          <p:spPr>
            <a:xfrm>
              <a:off x="8941814" y="5506158"/>
              <a:ext cx="2111723" cy="512554"/>
            </a:xfrm>
            <a:prstGeom prst="rect">
              <a:avLst/>
            </a:prstGeom>
          </p:spPr>
        </p:pic>
        <p:sp>
          <p:nvSpPr>
            <p:cNvPr id="31" name="TextBox 30">
              <a:extLst>
                <a:ext uri="{FF2B5EF4-FFF2-40B4-BE49-F238E27FC236}">
                  <a16:creationId xmlns:a16="http://schemas.microsoft.com/office/drawing/2014/main" id="{98819C21-DB51-E3B0-155E-BF6AE77C0AFA}"/>
                </a:ext>
              </a:extLst>
            </p:cNvPr>
            <p:cNvSpPr txBox="1"/>
            <p:nvPr/>
          </p:nvSpPr>
          <p:spPr>
            <a:xfrm>
              <a:off x="8886154" y="5988452"/>
              <a:ext cx="2223045" cy="307777"/>
            </a:xfrm>
            <a:prstGeom prst="rect">
              <a:avLst/>
            </a:prstGeom>
            <a:noFill/>
          </p:spPr>
          <p:txBody>
            <a:bodyPr wrap="square">
              <a:spAutoFit/>
            </a:bodyPr>
            <a:lstStyle/>
            <a:p>
              <a:r>
                <a:rPr lang="en-GB" b="1">
                  <a:latin typeface="Aptos Narrow" panose="020B0004020202020204" pitchFamily="34" charset="0"/>
                </a:rPr>
                <a:t>www.sheffieldmind.co.uk/</a:t>
              </a:r>
            </a:p>
          </p:txBody>
        </p:sp>
      </p:grpSp>
      <p:grpSp>
        <p:nvGrpSpPr>
          <p:cNvPr id="40" name="Group 39">
            <a:extLst>
              <a:ext uri="{FF2B5EF4-FFF2-40B4-BE49-F238E27FC236}">
                <a16:creationId xmlns:a16="http://schemas.microsoft.com/office/drawing/2014/main" id="{2F5E7C16-AFC2-533B-79E7-93F8F3648CEA}"/>
              </a:ext>
            </a:extLst>
          </p:cNvPr>
          <p:cNvGrpSpPr/>
          <p:nvPr/>
        </p:nvGrpSpPr>
        <p:grpSpPr>
          <a:xfrm>
            <a:off x="1048632" y="5013071"/>
            <a:ext cx="3033023" cy="840453"/>
            <a:chOff x="1106311" y="5946488"/>
            <a:chExt cx="3033023" cy="840453"/>
          </a:xfrm>
        </p:grpSpPr>
        <p:sp>
          <p:nvSpPr>
            <p:cNvPr id="20" name="TextBox 19">
              <a:extLst>
                <a:ext uri="{FF2B5EF4-FFF2-40B4-BE49-F238E27FC236}">
                  <a16:creationId xmlns:a16="http://schemas.microsoft.com/office/drawing/2014/main" id="{E01FF454-FB97-959C-2E27-F12BD7A1FAD2}"/>
                </a:ext>
              </a:extLst>
            </p:cNvPr>
            <p:cNvSpPr txBox="1"/>
            <p:nvPr/>
          </p:nvSpPr>
          <p:spPr>
            <a:xfrm>
              <a:off x="1106311" y="6479164"/>
              <a:ext cx="3033023" cy="307777"/>
            </a:xfrm>
            <a:prstGeom prst="rect">
              <a:avLst/>
            </a:prstGeom>
            <a:noFill/>
          </p:spPr>
          <p:txBody>
            <a:bodyPr wrap="square">
              <a:spAutoFit/>
            </a:bodyPr>
            <a:lstStyle/>
            <a:p>
              <a:pPr algn="ctr"/>
              <a:r>
                <a:rPr lang="en-GB" b="1">
                  <a:latin typeface="Aptos Narrow" panose="020B0004020202020204" pitchFamily="34" charset="0"/>
                </a:rPr>
                <a:t>www.derbyshiremind.org.uk/</a:t>
              </a:r>
            </a:p>
          </p:txBody>
        </p:sp>
        <p:pic>
          <p:nvPicPr>
            <p:cNvPr id="39" name="Picture 38">
              <a:extLst>
                <a:ext uri="{FF2B5EF4-FFF2-40B4-BE49-F238E27FC236}">
                  <a16:creationId xmlns:a16="http://schemas.microsoft.com/office/drawing/2014/main" id="{A2997B98-80C3-44CA-22DC-2E2E51AB3B60}"/>
                </a:ext>
              </a:extLst>
            </p:cNvPr>
            <p:cNvPicPr>
              <a:picLocks noChangeAspect="1"/>
            </p:cNvPicPr>
            <p:nvPr/>
          </p:nvPicPr>
          <p:blipFill>
            <a:blip r:embed="rId5"/>
            <a:stretch>
              <a:fillRect/>
            </a:stretch>
          </p:blipFill>
          <p:spPr>
            <a:xfrm>
              <a:off x="1511299" y="5946488"/>
              <a:ext cx="2223045" cy="546387"/>
            </a:xfrm>
            <a:prstGeom prst="rect">
              <a:avLst/>
            </a:prstGeom>
          </p:spPr>
        </p:pic>
      </p:grpSp>
    </p:spTree>
    <p:extLst>
      <p:ext uri="{BB962C8B-B14F-4D97-AF65-F5344CB8AC3E}">
        <p14:creationId xmlns:p14="http://schemas.microsoft.com/office/powerpoint/2010/main" val="340746354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igrationSourceID xmlns="ecb9c8fd-b149-4da5-ae47-4cb2a6f921f7">1jIpSgD_2_UeaIrENZqSaWf_i_-iM6Sua</MigrationSourceID>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9D2B43-6E6A-411E-ABA4-C534F1B05224}">
  <ds:schemaRefs>
    <ds:schemaRef ds:uri="http://schemas.microsoft.com/office/2006/documentManagement/types"/>
    <ds:schemaRef ds:uri="http://purl.org/dc/terms/"/>
    <ds:schemaRef ds:uri="ecb9c8fd-b149-4da5-ae47-4cb2a6f921f7"/>
    <ds:schemaRef ds:uri="http://www.w3.org/XML/1998/namespace"/>
    <ds:schemaRef ds:uri="http://schemas.openxmlformats.org/package/2006/metadata/core-properties"/>
    <ds:schemaRef ds:uri="a57c75ee-0d51-4c06-b83a-21883992ef88"/>
    <ds:schemaRef ds:uri="http://purl.org/dc/elements/1.1/"/>
    <ds:schemaRef ds:uri="http://purl.org/dc/dcmityp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29147D2D-13AA-49B9-B54B-C981E471934C}">
  <ds:schemaRefs>
    <ds:schemaRef ds:uri="http://schemas.microsoft.com/sharepoint/v3/contenttype/forms"/>
  </ds:schemaRefs>
</ds:datastoreItem>
</file>

<file path=customXml/itemProps3.xml><?xml version="1.0" encoding="utf-8"?>
<ds:datastoreItem xmlns:ds="http://schemas.openxmlformats.org/officeDocument/2006/customXml" ds:itemID="{207A0FE5-DBDD-41C9-A88D-0E3566090EBE}">
  <ds:schemaRefs>
    <ds:schemaRef ds:uri="a57c75ee-0d51-4c06-b83a-21883992ef88"/>
    <ds:schemaRef ds:uri="ecb9c8fd-b149-4da5-ae47-4cb2a6f921f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67</TotalTime>
  <Words>3298</Words>
  <Application>Microsoft Macintosh PowerPoint</Application>
  <PresentationFormat>Widescreen</PresentationFormat>
  <Paragraphs>380</Paragraphs>
  <Slides>16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Narrow</vt:lpstr>
      <vt:lpstr>Arial</vt:lpstr>
      <vt:lpstr>Calibri</vt:lpstr>
      <vt:lpstr>Noto Sans Symbols</vt:lpstr>
      <vt:lpstr>Times New Roman</vt:lpstr>
      <vt:lpstr>Wingdings</vt:lpstr>
      <vt:lpstr>Office Theme</vt:lpstr>
      <vt:lpstr>PowerPoint Presentation</vt:lpstr>
      <vt:lpstr>2026 Calendar</vt:lpstr>
      <vt:lpstr>PowerPoint Presentation</vt:lpstr>
      <vt:lpstr>PowerPoint Presentation</vt:lpstr>
      <vt:lpstr>Health, Safety &amp; Wellbeing Focus:  Driving for Work &amp; Fatigue Management</vt:lpstr>
      <vt:lpstr>Health, Safety &amp; Wellbeing Focus:  Manual Handling &amp; Office Safety</vt:lpstr>
      <vt:lpstr>Health, Safety &amp; Wellbeing Focus:  Manual Handling &amp; Office Safety</vt:lpstr>
      <vt:lpstr>Health, Safety &amp; Wellbeing Focus: Stress Awareness &amp; Workload Management</vt:lpstr>
      <vt:lpstr>Health, Safety &amp; Wellbeing Focus: Display Screen Equipment (DSE) &amp; Home Working Safety</vt:lpstr>
      <vt:lpstr>Health, Safety &amp; Wellbeing January Focus: Winter Working &amp; Travel Safety</vt:lpstr>
      <vt:lpstr>PowerPoint Presentation</vt:lpstr>
      <vt:lpstr>Health, Safety &amp; Wellbeing December Focus: Supporting Mental Health Over the Christmas Period</vt:lpstr>
      <vt:lpstr>Health, Safety &amp; Wellbeing Message: Ergonomics &amp; Posture</vt:lpstr>
      <vt:lpstr>Health &amp; Safety Message:   Seasonal change brings new risks</vt:lpstr>
      <vt:lpstr>H&amp;S Message: “Have a safe TRIP this summer”</vt:lpstr>
      <vt:lpstr>H&amp;S Message: “Mental health is everything”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Stephen Kinsey</dc:creator>
  <cp:lastModifiedBy>Stephen Kinsey</cp:lastModifiedBy>
  <cp:revision>1</cp:revision>
  <cp:lastPrinted>2026-01-30T09:05:40Z</cp:lastPrinted>
  <dcterms:created xsi:type="dcterms:W3CDTF">2024-10-18T06:54:39Z</dcterms:created>
  <dcterms:modified xsi:type="dcterms:W3CDTF">2026-07-10T09:50:02Z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y fmtid="{D5CDD505-2E9C-101B-9397-08002B2CF9AE}" pid="3" name="MediaServiceImageTags">
    <vt:lpwstr/>
  </property>
</Properties>
</file>